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Arial"/>
              </a:defRPr>
            </a:pPr>
            <a:r>
              <a:rPr sz="1100" b="0" i="0" u="none" strike="noStrike">
                <a:solidFill>
                  <a:srgbClr val="000000"/>
                </a:solidFill>
                <a:latin typeface="Arial"/>
              </a:rPr>
              <a:t>Project Budget Allocation ($K)</a:t>
            </a:r>
          </a:p>
        </c:rich>
      </c:tx>
      <c:layout/>
      <c:overlay val="0"/>
    </c:title>
    <c:autoTitleDeleted val="0"/>
    <c:plotArea>
      <c:layout/>
      <c:barChart>
        <c:barDir val="col"/>
        <c:grouping val="clustered"/>
        <c:varyColors val="0"/>
        <c:ser>
          <c:idx val="0"/>
          <c:order val="0"/>
          <c:tx>
            <c:strRef>
              <c:f>Sheet1!$B$1</c:f>
              <c:strCache>
                <c:ptCount val="1"/>
                <c:pt idx="0">
                  <c:v>Budget ($K)</c:v>
                </c:pt>
              </c:strCache>
            </c:strRef>
          </c:tx>
          <c:spPr>
            <a:solidFill>
              <a:srgbClr val="1CACBD"/>
            </a:solidFill>
            <a:effectLst/>
          </c:spPr>
          <c:invertIfNegative val="0"/>
          <c:dLbls>
            <c:numFmt formatCode="#,##0" sourceLinked="0"/>
            <c:txPr>
              <a:bodyPr/>
              <a:lstStyle/>
              <a:p>
                <a:pPr>
                  <a:defRPr b="0" i="0" strike="noStrike" sz="1000" u="none">
                    <a:solidFill>
                      <a:srgbClr val="0B2C5D"/>
                    </a:solidFill>
                    <a:latin typeface="Arial"/>
                  </a:defRPr>
                </a:pPr>
              </a:p>
            </c:txPr>
            <c:showLegendKey val="0"/>
            <c:showVal val="1"/>
            <c:showCatName val="0"/>
            <c:showSerName val="0"/>
            <c:showPercent val="0"/>
            <c:showBubbleSize val="0"/>
            <c:showLeaderLines val="0"/>
          </c:dLbls>
          <c:cat>
            <c:multiLvlStrRef>
              <c:f>Sheet1!$A$2:$A$4</c:f>
              <c:multiLvlStrCache>
                <c:ptCount val="3"/>
                <c:lvl>
                  <c:pt idx="0">
                    <c:v>OTA Firmware</c:v>
                  </c:pt>
                  <c:pt idx="1">
                    <c:v>Cert &amp; QA</c:v>
                  </c:pt>
                  <c:pt idx="2">
                    <c:v>Field Rollout</c:v>
                  </c:pt>
                </c:lvl>
              </c:multiLvlStrCache>
            </c:multiLvlStrRef>
          </c:cat>
          <c:val>
            <c:numRef>
              <c:f>Sheet1!$B$2:$B$4</c:f>
              <c:numCache>
                <c:formatCode>General</c:formatCode>
                <c:ptCount val="3"/>
                <c:pt idx="0">
                  <c:v>520</c:v>
                </c:pt>
                <c:pt idx="1">
                  <c:v>310</c:v>
                </c:pt>
                <c:pt idx="2">
                  <c:v>570</c:v>
                </c:pt>
              </c:numCache>
            </c:numRef>
          </c:val>
        </c:ser>
        <c:dLbls>
          <c:numFmt formatCode="#,##0" sourceLinked="0"/>
          <c:txPr>
            <a:bodyPr/>
            <a:lstStyle/>
            <a:p>
              <a:pPr>
                <a:defRPr b="0" i="0" strike="noStrike" sz="1000" u="none">
                  <a:solidFill>
                    <a:srgbClr val="0B2C5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7E1D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4"/>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DFAF3"/>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Lecture 1 covered what a project is and the basics of the PM lifecycle. Today we zoom out one level: before a project ever gets a charter, someone has to decide it's worth doing at all. That decision is driven by organizational strategy, made concrete through stakeholders and a PMO, and formalized through selection criteria and priority systems. We'll carry one running example throughout — NexCore Embedded Systems, a fictional embedded-controller maker for smart-home OEMs — so every abstract concept has a concrete, computer-engineering-flavored anchor. By the end of this lecture you should be able to take a business strategy and trace it, step by step, down to a ranked, funded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roughly 8-10 minutes each. Every card is a clickable link — click the title or the page number to jump straight there, and use the 'Agenda' link in the top-right corner of any slide to jump back here. Mention up front that the assignment at the end asks students to repeat this whole strategy-to-selection chain for an organization of their own choosing, so encourage them to take notes on the NexCore example as a template they can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stakeholder role and ask students who plays that role on a student group project (that mapping usually clicks fastest). The power/interest grid on the right is the classic Mendelow stakeholder-management tool, plotting each person's formal power to affect the project against their day-to-day interest in it. High power + high interest (typically the sponsor) must be managed closely with frequent, detailed updates. High power + lower interest (senior/functional managers who allocate shared resources) should be kept satisfied — informed enough that they don't block you, without drowning them in detail. High interest + lower formal power (the project team, and often the client's day-to-day contact) should be kept informed. Low power + low interest gets monitored with minimal effort. Emphasize that misjudging this grid — over-communicating with a low-power/low-interest stakeholder while under-communicating with the sponsor — is one of the most common real-world PM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PMO models sit on a spectrum of authority, not a ladder of 'better.' A startup with a handful of strong senior engineers often does fine with a purely supportive PMO — a shared template library and a Slack channel for lessons learned. A controlling PMO adds teeth: it can require a design review gate or a specific test-coverage threshold before a project moves forward. A directive PMO is the most centralized — project managers report into the PMO itself rather than into a business unit, common in large enterprises running many similar projects (e.g., a portfolio of client engagements). Use the table to have students place their own group project, internship, or thesis lab into one of the three categories, then debate whether NexCore's controlling-style choice is right for a company its size — is it under- or over-governed?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this slide with a rhetorical question: 'Why does a 300-person engineering org even need a strategy document?' Because without it, project selection defaults to whoever shouts loudest or whichever manager has the most political capital. The chain diagram on the right is worth tracing slowly, top to bottom — mission sets direction, objectives make it measurable, strategy picks the path, the project portfolio is the full candidate list, and selected projects are what actually gets funded and staffed. Point out that most of this lecture is really about the bottom two boxes of that chain — how a portfolio narrows down to selected projects — and everything above it (mission, objectives, strategy) is context we need before we can select intelligently.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options come from Porter's generic strategies, extended with retrenchment as the 'contract instead of grow' option. Stress that a company should usually commit to ONE primary option — trying to be both cheapest and most differentiated at once ('stuck in the middle') tends to satisfy nobody. Walk through each NexCore example and ask students to predict what KIND of projects each strategy would fund: cost leadership funds automation and yield-improvement projects; differentiation funds R&amp;D-heavy feature projects like OTA updates; focus funds projects that deepen expertise in one narrow niche; retrenchment funds projects that cut costs or sunset product lines rather than grow them. This sets up slide 7's quadrant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quadrant is a visual recap of slide 6 — same four options, now plotted on two axes so students can see how they relate rather than treating them as an unordered list. The x-axis is competitive scope (how narrow or broad the target market is) and the y-axis is differentiation (how distinctive the offering is). Ask students where they'd place a company they know — a local bakery is usually bottom-right (narrow scope, some differentiation = focus/niche); a mass-market retailer is bottom-left (broad scope, low differentiation = cost leadership). This mapping exercise tends to make the four options stick better than definitions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cycle, not a one-time exercise — organizations revisit it annually or whenever the competitive landscape shifts materially (a new entrant, a supply shock, a regulatory change). Walk the ring in order: (1) start from mission/vision/values as the fixed anchor; (2) look inward at strengths and weaknesses; (3) look outward at opportunities and threats — steps 2 and 3 together are the SWOT analysis coming up next; (4) convert that analysis into long-range objectives; (5) generate and evaluate candidate strategies to reach those objectives; (6) implement the chosen strategy — and the only way to implement a strategy is through projects, which brings us right back to project selection. Emphasize the center label 'Strategic Fit': every one of the six steps exists to answer one question — does this decision fit where we're trying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NexCore mission statement aloud, then ask: does it pass the four tests on the right? It names the customer implicitly (device makers), the product (embedded controllers), the philosophy (power-efficiency, reliability), and the edge (smallest/most efficient). Contrast it with a bad mission statement like 'we strive to deliver excellence and innovation to all stakeholders' — technically true of almost any company and therefore useless for decision-making. A good test: could a direct competitor claim the exact same mission statement word-for-word? If yes, it isn't distinctive enough to guide project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Strengths and weaknesses are INTERNAL — things NexCore controls directly. Opportunities and threats are EXTERNAL — market forces NexCore can only react to. A common student mistake is putting an external factor ('competitors are cheaper') into weaknesses instead of threats — ask the class to sanity-check each bullet against that internal/external test. The real pedagogical payoff is the next slide: a SWOT analysis is not the deliverable, it's raw material. Each strength should suggest a strategy to exploit it, each weakness a strategy to shore it up, each opportunity a strategy to capture it, and each threat a strategy to defend against it. We're about to turn the top-right opportunity ('OTA update tech opens subscription revenue') directly into a SMART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five letters quickly — most students have seen SMART before — then spend the real time on the table, which is where the concept actually gets tested. For each weak objective, ask the class BEFORE revealing the rewrite: what's missing? 'Improve firmware quality' fails Specific (quality how?), Measurable (by how much?), and Time-bound (by when?). The rewrite fixes all three by naming a metric (defects per 1,000 units), a target (≤1.0), a baseline (4.2), and a deadline (2 quarters). Push students to notice that SMART objectives usually get LONGER and more specific, not shorter — a common misconception is that 'smart' means 'concise.'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chart shows where the $1.4M actually goes — Field Rollout is the biggest line item because it includes tooling and OEM integration support, not just engineering hours. The new mini-table on the left grounds the abstraction in real accountability: every funded project needs a named owner and a target quarter, or it's not really 'funded,' it's just approved on paper. Ask students: if you were the Engineering Director, which of these three would you check on weekly versus monthly, and why? (Hint: OTA Firmware sits on the critical path for the Q3 OEM commitment, so it deserves the tightest cadence.)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tiers form a rough hierarchy but NOT a strict ranking — a Compliance project (like a certification fix) can be objectively smaller in scope than a Strategic one, yet it still gets funded first because the business literally cannot ship without it. Use the percentage badges to talk about portfolio balance: NexCore deliberately caps Operational work around 40% so it doesn't crowd out the Strategic work that actually grows the business — a common failure mode in engineering orgs is letting 'keep the lights on' work silently consume 80%+ of capacity. Ask students what would happen to NexCore's competitive position if that ratio flipped.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answers 'what KIND of project is this?' while priority (previous slide) answers 'how urgently does it need resources RIGHT NOW?' The two usually correlate but can diverge — the highlighted note gives a concrete case: a Strategic project can still get de-prioritized for a quarter if cash is tight, even though its classification hasn't changed. This is a good moment to poll the room: is a university's own IT-security patching effort Compliance, Strategic, or Operational? (Most classify it as Compliance/Operational hybrid — it's often contractually or legally required AND keeps daily operations running, but rarely differentiates the university competitively.)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criteria are the rules of the game — they need to be published and stable BEFORE proposals are evaluated, not invented afterward to justify whichever project a manager already wanted. The four-family framework on the right (financial, strategic fit, risk, capability) is a checklist against a checklist: when students design their own selection criteria for the assignment, they should be able to point to at least one criterion in each family. Ask why financial return alone is a trap — because a project with great ROI but zero strategic fit (say, an unrelated side business) can crowd out projects that build long-term competitive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model is universally 'better' — the choice depends on the decision's stakes. NexCore uses the checklist model to filter incoming feature requests down to a shortlist (fast, cheap, good enough for low-stakes triage), then uses weighted scoring on that shortlist to decide which 2-3 get funded (slower, but defensible when real money and headcount are on the line). Ask the class: would it make sense to run every low-stakes ticket through a full weighted-scoring exercise? Almost never — the overhead of calibrating weights isn't worth it for a decision that doesn't matter much. This sets up the worked example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OTA Controller column live: 9×0.35=3.15, 7×0.30=2.10, 6×0.20=1.20, 8×0.15=1.20, summing to 7.65. Note the weights sum to 1.00 — that's a hard requirement, not a suggestion, or the scores stop being comparable across projects. The most common exam mistake is multiplying the raw scores together instead of summing the weighted products, or forgetting to invert the risk score (a LOWER risk should produce a HIGHER contribution, which is why 'Risk (inverse)' is labeled that way — a raw risk rating of 6 out of 10 here means moderate risk, scored as if it were a positive attribute worth 6 points). Ask students to spot why Legacy Refresh scores well on capability (9) but still loses overall — because capability only carries a 0.15 weight versus strategic fit's 0.35.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rules apply to BOTH the checklist and weighted-scoring models — they're about criteria quality, not the scoring mechanism. 'Few and vital' fights scope creep in the criteria themselves — a 20-item checklist gets rubber-stamped, not actually applied. 'Measurable' rules out vague criteria like 'strategic alignment' unless it's tied to a defined 1-10 rubric with anchor descriptions for each score. 'Discriminating' is the one students most often overlook: if every candidate project scores an 8 or 9 on a criterion, that criterion is doing no work and should be dropped or reweighted. 'Weighted by strategy' ties back to the entire lecture — the weights in the scoring table two slides ago (0.35 / 0.30 / 0.20 / 0.15) aren't arbitrary; they should shift year to year as NexCore's strategic priorities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payoff moment — pause here and have students trace the arrows themselves before you narrate. Strategy (differentiate via OTA updates) came from the four generic options; SWOT &amp; SMART turned a raw opportunity into the measurable target now shown in the table (4.2 to ≤1.0 defects); Priority classified it as Strategic tier; Selection scored it highest of three competing candidates using the exact weighted-scoring math from two slides ago. The point isn't that NexCore is real — it's that this same four-step chain (strategy → measurable objective → priority → score) is exactly what the assignment asks students to reproduce for an organization of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all four bullets before releasing students to start, and flag the grading emphasis: the weighted-scoring math (bullet 4) should show the full arithmetic, not just final totals, since that's the part most prone to error (see the worked example on slide 17 for the expected format). Suggest students reuse the NexCore worked examples as templates — a mission statement in the same one-sentence style, a SWOT table with the same 4-quadrant layout, a SMART objective following the same before/after rewrite pattern. Mention that a strong submission usually stays anchored in ONE consistent organization end-to-end, the same way this lecture stayed anchored in NexCore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rapid-fire recap rather than re-teaching each point — ask the class to explain each card in their own words before you move on. If time is short, these four cards are the minimum bar for what a student should be able to state cold in an exam: (1) projects must trace to strategy, (2) SWOT only becomes useful once converted into a SMART objective, (3) priority classification is a separate dimension from urgency, and (4) weighted scoring beats gut-feel because it forces explicit, defensible trade-offs. Bridge into the assignment by reminding them this whole lecture was one continuous example of applying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If discussion runs dry, prompt with: 'Pick any project you've heard about recently — a phone feature, a campus initiative, a startup pivot — and try to name the strategic objective it's supposed to serve.' That exercise usually surfaces the lecture's core idea again naturally: most people can describe WHAT a project does, but struggle to say WHY it was selected over alternatives, which is exactly the gap this lecture's frameworks are meant to close. Remind students the assignment is due next lecture and that office hours are available for questions on the weighted-scoring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REAM">
    <p:bg>
      <p:bgPr>
        <a:solidFill>
          <a:srgbClr val="FDFAF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A224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3.xml"/><Relationship Id="rId7" Type="http://schemas.openxmlformats.org/officeDocument/2006/relationships/slide" Target="slide5.xml"/><Relationship Id="rId8" Type="http://schemas.openxmlformats.org/officeDocument/2006/relationships/slide" Target="slide5.xml"/><Relationship Id="rId10" Type="http://schemas.openxmlformats.org/officeDocument/2006/relationships/slide" Target="slide9.xml"/><Relationship Id="rId11" Type="http://schemas.openxmlformats.org/officeDocument/2006/relationships/slide" Target="slide9.xml"/><Relationship Id="rId13" Type="http://schemas.openxmlformats.org/officeDocument/2006/relationships/slide" Target="slide13.xml"/><Relationship Id="rId14" Type="http://schemas.openxmlformats.org/officeDocument/2006/relationships/slide" Target="slide13.xml"/><Relationship Id="rId16" Type="http://schemas.openxmlformats.org/officeDocument/2006/relationships/slide" Target="slide15.xml"/><Relationship Id="rId17" Type="http://schemas.openxmlformats.org/officeDocument/2006/relationships/slide" Target="slide15.xml"/><Relationship Id="rId19" Type="http://schemas.openxmlformats.org/officeDocument/2006/relationships/slide" Target="slide19.xml"/><Relationship Id="rId20" Type="http://schemas.openxmlformats.org/officeDocument/2006/relationships/slide" Target="slide19.xml"/><Relationship Id="rId1" Type="http://schemas.openxmlformats.org/officeDocument/2006/relationships/image" Target="../media/image-2-1.png"/><Relationship Id="rId3" Type="http://schemas.openxmlformats.org/officeDocument/2006/relationships/image" Target="../media/image-2-2.png"/><Relationship Id="rId6" Type="http://schemas.openxmlformats.org/officeDocument/2006/relationships/image" Target="../media/image-2-3.png"/><Relationship Id="rId9" Type="http://schemas.openxmlformats.org/officeDocument/2006/relationships/image" Target="../media/image-2-4.png"/><Relationship Id="rId12" Type="http://schemas.openxmlformats.org/officeDocument/2006/relationships/image" Target="../media/image-2-5.png"/><Relationship Id="rId15" Type="http://schemas.openxmlformats.org/officeDocument/2006/relationships/image" Target="../media/image-2-6.png"/><Relationship Id="rId18" Type="http://schemas.openxmlformats.org/officeDocument/2006/relationships/image" Target="../media/image-2-7.png"/><Relationship Id="rId21" Type="http://schemas.openxmlformats.org/officeDocument/2006/relationships/slideLayout" Target="../slideLayouts/slideLayout2.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4-1.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6-5.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2.png"/><Relationship Id="rId5" Type="http://schemas.openxmlformats.org/officeDocument/2006/relationships/image" Target="../media/image-9-2.png"/><Relationship Id="rId6" Type="http://schemas.openxmlformats.org/officeDocument/2006/relationships/image" Target="../media/image-9-2.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chart" Target="/ppt/charts/chart1.xml"/><Relationship Id="rId1" Type="http://schemas.openxmlformats.org/officeDocument/2006/relationships/image" Target="../media/image-12-1.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3-1.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6-1.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7-1.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8-1.png"/><Relationship Id="rId3" Type="http://schemas.openxmlformats.org/officeDocument/2006/relationships/image" Target="../media/image-18-2.png"/><Relationship Id="rId4" Type="http://schemas.openxmlformats.org/officeDocument/2006/relationships/image" Target="../media/image-18-3.png"/><Relationship Id="rId5" Type="http://schemas.openxmlformats.org/officeDocument/2006/relationships/image" Target="../media/image-18-4.png"/><Relationship Id="rId6" Type="http://schemas.openxmlformats.org/officeDocument/2006/relationships/image" Target="../media/image-18-5.png"/><Relationship Id="rId7" Type="http://schemas.openxmlformats.org/officeDocument/2006/relationships/slideLayout" Target="../slideLayouts/slideLayout2.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9-1.png"/><Relationship Id="rId3" Type="http://schemas.openxmlformats.org/officeDocument/2006/relationships/image" Target="../media/image-19-2.png"/><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19-5.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21-1.png"/><Relationship Id="rId3" Type="http://schemas.openxmlformats.org/officeDocument/2006/relationships/image" Target="../media/image-21-2.png"/><Relationship Id="rId4" Type="http://schemas.openxmlformats.org/officeDocument/2006/relationships/image" Target="../media/image-21-3.png"/><Relationship Id="rId5" Type="http://schemas.openxmlformats.org/officeDocument/2006/relationships/image" Target="../media/image-21-4.png"/><Relationship Id="rId6" Type="http://schemas.openxmlformats.org/officeDocument/2006/relationships/image" Target="../media/image-21-5.png"/><Relationship Id="rId7" Type="http://schemas.openxmlformats.org/officeDocument/2006/relationships/slideLayout" Target="../slideLayouts/slideLayout3.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1990527" y="0"/>
            <a:ext cx="201168" cy="1920240"/>
          </a:xfrm>
          <a:prstGeom prst="rect">
            <a:avLst/>
          </a:prstGeom>
          <a:solidFill>
            <a:srgbClr val="1CACBD"/>
          </a:solidFill>
          <a:ln/>
        </p:spPr>
      </p:sp>
      <p:sp>
        <p:nvSpPr>
          <p:cNvPr id="3" name="Shape 1"/>
          <p:cNvSpPr/>
          <p:nvPr/>
        </p:nvSpPr>
        <p:spPr>
          <a:xfrm>
            <a:off x="11990527" y="1920240"/>
            <a:ext cx="201168" cy="1714500"/>
          </a:xfrm>
          <a:prstGeom prst="rect">
            <a:avLst/>
          </a:prstGeom>
          <a:solidFill>
            <a:srgbClr val="FC7468"/>
          </a:solidFill>
          <a:ln/>
        </p:spPr>
      </p:sp>
      <p:sp>
        <p:nvSpPr>
          <p:cNvPr id="4" name="Shape 2"/>
          <p:cNvSpPr/>
          <p:nvPr/>
        </p:nvSpPr>
        <p:spPr>
          <a:xfrm>
            <a:off x="11990527" y="3634740"/>
            <a:ext cx="201168" cy="1714500"/>
          </a:xfrm>
          <a:prstGeom prst="rect">
            <a:avLst/>
          </a:prstGeom>
          <a:solidFill>
            <a:srgbClr val="FBC850"/>
          </a:solidFill>
          <a:ln/>
        </p:spPr>
      </p:sp>
      <p:sp>
        <p:nvSpPr>
          <p:cNvPr id="5" name="Shape 3"/>
          <p:cNvSpPr/>
          <p:nvPr/>
        </p:nvSpPr>
        <p:spPr>
          <a:xfrm>
            <a:off x="11990527" y="5349240"/>
            <a:ext cx="201168" cy="1508760"/>
          </a:xfrm>
          <a:prstGeom prst="rect">
            <a:avLst/>
          </a:prstGeom>
          <a:solidFill>
            <a:srgbClr val="0B2C5D"/>
          </a:solidFill>
          <a:ln/>
        </p:spPr>
      </p:sp>
      <p:sp>
        <p:nvSpPr>
          <p:cNvPr id="6" name="Shape 4"/>
          <p:cNvSpPr/>
          <p:nvPr/>
        </p:nvSpPr>
        <p:spPr>
          <a:xfrm>
            <a:off x="-1234440" y="5623560"/>
            <a:ext cx="2468880" cy="2468880"/>
          </a:xfrm>
          <a:prstGeom prst="ellipse">
            <a:avLst/>
          </a:prstGeom>
          <a:solidFill>
            <a:srgbClr val="FC7468"/>
          </a:solidFill>
          <a:ln/>
        </p:spPr>
      </p:sp>
      <p:sp>
        <p:nvSpPr>
          <p:cNvPr id="7" name="Shape 5"/>
          <p:cNvSpPr/>
          <p:nvPr/>
        </p:nvSpPr>
        <p:spPr>
          <a:xfrm>
            <a:off x="-1417320" y="6080760"/>
            <a:ext cx="1828800" cy="1828800"/>
          </a:xfrm>
          <a:prstGeom prst="ellipse">
            <a:avLst/>
          </a:prstGeom>
          <a:ln w="31750">
            <a:solidFill>
              <a:srgbClr val="FBC850"/>
            </a:solidFill>
            <a:prstDash val="solid"/>
          </a:ln>
        </p:spPr>
      </p:sp>
      <p:sp>
        <p:nvSpPr>
          <p:cNvPr id="8" name="Shape 6"/>
          <p:cNvSpPr/>
          <p:nvPr/>
        </p:nvSpPr>
        <p:spPr>
          <a:xfrm>
            <a:off x="8778240" y="-1463040"/>
            <a:ext cx="4754880" cy="4754880"/>
          </a:xfrm>
          <a:prstGeom prst="ellipse">
            <a:avLst/>
          </a:prstGeom>
          <a:solidFill>
            <a:srgbClr val="13315C"/>
          </a:solidFill>
          <a:ln/>
        </p:spPr>
      </p:sp>
      <p:sp>
        <p:nvSpPr>
          <p:cNvPr id="9" name="Shape 7"/>
          <p:cNvSpPr/>
          <p:nvPr/>
        </p:nvSpPr>
        <p:spPr>
          <a:xfrm>
            <a:off x="9692640" y="-640080"/>
            <a:ext cx="2926080" cy="2926080"/>
          </a:xfrm>
          <a:prstGeom prst="ellipse">
            <a:avLst/>
          </a:prstGeom>
          <a:ln w="25400">
            <a:solidFill>
              <a:srgbClr val="1CACBD"/>
            </a:solidFill>
            <a:prstDash val="solid"/>
          </a:ln>
        </p:spPr>
      </p:sp>
      <p:sp>
        <p:nvSpPr>
          <p:cNvPr id="10" name="Shape 8"/>
          <p:cNvSpPr/>
          <p:nvPr/>
        </p:nvSpPr>
        <p:spPr>
          <a:xfrm>
            <a:off x="9601200" y="4206240"/>
            <a:ext cx="82296" cy="82296"/>
          </a:xfrm>
          <a:prstGeom prst="ellipse">
            <a:avLst/>
          </a:prstGeom>
          <a:solidFill>
            <a:srgbClr val="FBC850"/>
          </a:solidFill>
          <a:ln/>
        </p:spPr>
      </p:sp>
      <p:sp>
        <p:nvSpPr>
          <p:cNvPr id="11" name="Shape 9"/>
          <p:cNvSpPr/>
          <p:nvPr/>
        </p:nvSpPr>
        <p:spPr>
          <a:xfrm>
            <a:off x="9619488" y="3931920"/>
            <a:ext cx="73152" cy="73152"/>
          </a:xfrm>
          <a:prstGeom prst="ellipse">
            <a:avLst/>
          </a:prstGeom>
          <a:solidFill>
            <a:srgbClr val="FBC850"/>
          </a:solidFill>
          <a:ln/>
        </p:spPr>
      </p:sp>
      <p:sp>
        <p:nvSpPr>
          <p:cNvPr id="12" name="Shape 10"/>
          <p:cNvSpPr/>
          <p:nvPr/>
        </p:nvSpPr>
        <p:spPr>
          <a:xfrm>
            <a:off x="9637776" y="3657600"/>
            <a:ext cx="64008" cy="64008"/>
          </a:xfrm>
          <a:prstGeom prst="ellipse">
            <a:avLst/>
          </a:prstGeom>
          <a:solidFill>
            <a:srgbClr val="FBC850"/>
          </a:solidFill>
          <a:ln/>
        </p:spPr>
      </p:sp>
      <p:sp>
        <p:nvSpPr>
          <p:cNvPr id="13" name="Shape 11"/>
          <p:cNvSpPr/>
          <p:nvPr/>
        </p:nvSpPr>
        <p:spPr>
          <a:xfrm>
            <a:off x="9656064" y="3383280"/>
            <a:ext cx="54864" cy="54864"/>
          </a:xfrm>
          <a:prstGeom prst="ellipse">
            <a:avLst/>
          </a:prstGeom>
          <a:solidFill>
            <a:srgbClr val="FBC850"/>
          </a:solidFill>
          <a:ln/>
        </p:spPr>
      </p:sp>
      <p:sp>
        <p:nvSpPr>
          <p:cNvPr id="14" name="Text 12"/>
          <p:cNvSpPr txBox="1"/>
          <p:nvPr/>
        </p:nvSpPr>
        <p:spPr>
          <a:xfrm>
            <a:off x="777240" y="1554480"/>
            <a:ext cx="7315200" cy="365760"/>
          </a:xfrm>
          <a:prstGeom prst="rect">
            <a:avLst/>
          </a:prstGeom>
          <a:noFill/>
          <a:ln/>
        </p:spPr>
        <p:txBody>
          <a:bodyPr wrap="square" lIns="0" tIns="0" rIns="0" bIns="0" rtlCol="0" anchor="ctr"/>
          <a:lstStyle/>
          <a:p>
            <a:pPr indent="0" marL="0">
              <a:buNone/>
            </a:pPr>
            <a:r>
              <a:rPr lang="en-US" sz="1300" b="1" spc="150" kern="0" dirty="0">
                <a:solidFill>
                  <a:srgbClr val="1CACBD"/>
                </a:solidFill>
                <a:latin typeface="Calibri" pitchFamily="34" charset="0"/>
                <a:ea typeface="Calibri" pitchFamily="34" charset="-122"/>
                <a:cs typeface="Calibri" pitchFamily="34" charset="-120"/>
              </a:rPr>
              <a:t>26CPE4602  ·  PROJECT MANAGEMENT</a:t>
            </a:r>
            <a:endParaRPr lang="en-US" sz="1300" dirty="0"/>
          </a:p>
        </p:txBody>
      </p:sp>
      <p:sp>
        <p:nvSpPr>
          <p:cNvPr id="15" name="Text 13"/>
          <p:cNvSpPr txBox="1"/>
          <p:nvPr/>
        </p:nvSpPr>
        <p:spPr>
          <a:xfrm>
            <a:off x="777240" y="1965960"/>
            <a:ext cx="822960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Lecture 2</a:t>
            </a:r>
            <a:endParaRPr lang="en-US" sz="4000" dirty="0"/>
          </a:p>
        </p:txBody>
      </p:sp>
      <p:sp>
        <p:nvSpPr>
          <p:cNvPr id="16" name="Text 14"/>
          <p:cNvSpPr txBox="1"/>
          <p:nvPr/>
        </p:nvSpPr>
        <p:spPr>
          <a:xfrm>
            <a:off x="777240" y="2788920"/>
            <a:ext cx="8778240" cy="914400"/>
          </a:xfrm>
          <a:prstGeom prst="rect">
            <a:avLst/>
          </a:prstGeom>
          <a:noFill/>
          <a:ln/>
        </p:spPr>
        <p:txBody>
          <a:bodyPr wrap="square" lIns="0" tIns="0" rIns="0" bIns="0" rtlCol="0" anchor="ctr"/>
          <a:lstStyle/>
          <a:p>
            <a:pPr indent="0" marL="0">
              <a:buNone/>
            </a:pPr>
            <a:r>
              <a:rPr lang="en-US" sz="2400" dirty="0">
                <a:solidFill>
                  <a:srgbClr val="C9D8EC"/>
                </a:solidFill>
                <a:latin typeface="Calibri" pitchFamily="34" charset="0"/>
                <a:ea typeface="Calibri" pitchFamily="34" charset="-122"/>
                <a:cs typeface="Calibri" pitchFamily="34" charset="-120"/>
              </a:rPr>
              <a:t>Organization Strategy &amp; Project Selection</a:t>
            </a:r>
            <a:endParaRPr lang="en-US" sz="2400" dirty="0"/>
          </a:p>
        </p:txBody>
      </p:sp>
      <p:sp>
        <p:nvSpPr>
          <p:cNvPr id="17" name="Shape 15"/>
          <p:cNvSpPr/>
          <p:nvPr/>
        </p:nvSpPr>
        <p:spPr>
          <a:xfrm>
            <a:off x="795528" y="3794760"/>
            <a:ext cx="2926080" cy="0"/>
          </a:xfrm>
          <a:prstGeom prst="line">
            <a:avLst/>
          </a:prstGeom>
          <a:noFill/>
          <a:ln w="38100">
            <a:solidFill>
              <a:srgbClr val="FC7468"/>
            </a:solidFill>
            <a:prstDash val="solid"/>
          </a:ln>
        </p:spPr>
      </p:sp>
      <p:sp>
        <p:nvSpPr>
          <p:cNvPr id="18" name="Text 16"/>
          <p:cNvSpPr txBox="1"/>
          <p:nvPr/>
        </p:nvSpPr>
        <p:spPr>
          <a:xfrm>
            <a:off x="777240" y="4023360"/>
            <a:ext cx="7498080" cy="640080"/>
          </a:xfrm>
          <a:prstGeom prst="rect">
            <a:avLst/>
          </a:prstGeom>
          <a:noFill/>
          <a:ln/>
        </p:spPr>
        <p:txBody>
          <a:bodyPr wrap="square" lIns="0" tIns="0" rIns="0" bIns="0" rtlCol="0" anchor="ctr"/>
          <a:lstStyle/>
          <a:p>
            <a:pPr indent="0" marL="0">
              <a:lnSpc>
                <a:spcPct val="130000"/>
              </a:lnSpc>
              <a:buNone/>
            </a:pPr>
            <a:r>
              <a:rPr lang="en-US" sz="1350" dirty="0">
                <a:solidFill>
                  <a:srgbClr val="9FB3CC"/>
                </a:solidFill>
                <a:latin typeface="Calibri" pitchFamily="34" charset="0"/>
                <a:ea typeface="Calibri" pitchFamily="34" charset="-122"/>
                <a:cs typeface="Calibri" pitchFamily="34" charset="-120"/>
              </a:rPr>
              <a:t>How organizations translate strategy into a portfolio of chosen projects — with a running case study from embedded computer-engineering practice.</a:t>
            </a:r>
            <a:endParaRPr lang="en-US" sz="1350" dirty="0"/>
          </a:p>
        </p:txBody>
      </p:sp>
      <p:sp>
        <p:nvSpPr>
          <p:cNvPr id="19" name="Text 17"/>
          <p:cNvSpPr txBox="1"/>
          <p:nvPr/>
        </p:nvSpPr>
        <p:spPr>
          <a:xfrm>
            <a:off x="777240" y="6172200"/>
            <a:ext cx="5486400" cy="320040"/>
          </a:xfrm>
          <a:prstGeom prst="rect">
            <a:avLst/>
          </a:prstGeom>
          <a:noFill/>
          <a:ln/>
        </p:spPr>
        <p:txBody>
          <a:bodyPr wrap="square" lIns="0" tIns="0" rIns="0" bIns="0" rtlCol="0" anchor="ctr"/>
          <a:lstStyle/>
          <a:p>
            <a:pPr indent="0" marL="0">
              <a:buNone/>
            </a:pPr>
            <a:r>
              <a:rPr lang="en-US" sz="1200" dirty="0">
                <a:solidFill>
                  <a:srgbClr val="6C84A6"/>
                </a:solidFill>
                <a:latin typeface="Calibri" pitchFamily="34" charset="0"/>
                <a:ea typeface="Calibri" pitchFamily="34" charset="-122"/>
                <a:cs typeface="Calibri" pitchFamily="34" charset="-120"/>
              </a:rPr>
              <a:t>Dr. Zahraa Ismail   ·   British University in Egypt</a:t>
            </a:r>
            <a:endParaRPr lang="en-US" sz="1200" dirty="0"/>
          </a:p>
        </p:txBody>
      </p:sp>
      <p:sp>
        <p:nvSpPr>
          <p:cNvPr id="20" name="Text 18"/>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6C84A6"/>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2</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WHERE WE'RE HEADED</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Agenda</a:t>
            </a:r>
            <a:endParaRPr lang="en-US" sz="2700" dirty="0"/>
          </a:p>
        </p:txBody>
      </p:sp>
      <p:sp>
        <p:nvSpPr>
          <p:cNvPr id="36" name="Shape 33"/>
          <p:cNvSpPr/>
          <p:nvPr/>
        </p:nvSpPr>
        <p:spPr>
          <a:xfrm>
            <a:off x="777240" y="2468880"/>
            <a:ext cx="5166360" cy="1207008"/>
          </a:xfrm>
          <a:prstGeom prst="roundRect">
            <a:avLst>
              <a:gd name="adj" fmla="val 7576"/>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37" name="Shape 34"/>
          <p:cNvSpPr/>
          <p:nvPr/>
        </p:nvSpPr>
        <p:spPr>
          <a:xfrm>
            <a:off x="978408" y="2820924"/>
            <a:ext cx="502920" cy="502920"/>
          </a:xfrm>
          <a:prstGeom prst="ellipse">
            <a:avLst/>
          </a:prstGeom>
          <a:solidFill>
            <a:srgbClr val="DCF3F2"/>
          </a:solidFill>
          <a:ln/>
        </p:spPr>
      </p:sp>
      <p:pic>
        <p:nvPicPr>
          <p:cNvPr id="38" name="Image 1" descr="/home/claude/work/build/icons/users.png">    </p:cNvPr>
          <p:cNvPicPr>
            <a:picLocks noChangeAspect="1"/>
          </p:cNvPicPr>
          <p:nvPr/>
        </p:nvPicPr>
        <p:blipFill>
          <a:blip r:embed="rId3"/>
          <a:stretch>
            <a:fillRect/>
          </a:stretch>
        </p:blipFill>
        <p:spPr>
          <a:xfrm>
            <a:off x="1104138" y="2946654"/>
            <a:ext cx="251460" cy="251460"/>
          </a:xfrm>
          <a:prstGeom prst="rect">
            <a:avLst/>
          </a:prstGeom>
        </p:spPr>
      </p:pic>
      <p:sp>
        <p:nvSpPr>
          <p:cNvPr id="39" name="Text 35">
            <a:hlinkClick r:id="rId4" tooltip="" action="ppaction://hlinksldjump"/>
          </p:cNvPr>
          <p:cNvSpPr txBox="1"/>
          <p:nvPr/>
        </p:nvSpPr>
        <p:spPr>
          <a:xfrm>
            <a:off x="1645920" y="2606040"/>
            <a:ext cx="3429000" cy="320040"/>
          </a:xfrm>
          <a:prstGeom prst="rect">
            <a:avLst/>
          </a:prstGeom>
          <a:noFill/>
          <a:ln/>
        </p:spPr>
        <p:txBody>
          <a:bodyPr wrap="square" lIns="0" tIns="0" rIns="0" bIns="0" rtlCol="0" anchor="ctr"/>
          <a:lstStyle/>
          <a:p>
            <a:pPr indent="0" marL="0">
              <a:buNone/>
            </a:pPr>
            <a:r>
              <a:rPr lang="en-US" sz="1350" b="1" u="sng" dirty="0">
                <a:solidFill>
                  <a:srgbClr val="0B2C5D"/>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Stakeholders &amp; the PMO</a:t>
            </a:r>
            <a:endParaRPr lang="en-US" sz="1350" dirty="0"/>
          </a:p>
        </p:txBody>
      </p:sp>
      <p:sp>
        <p:nvSpPr>
          <p:cNvPr id="40" name="Text 36"/>
          <p:cNvSpPr txBox="1"/>
          <p:nvPr/>
        </p:nvSpPr>
        <p:spPr>
          <a:xfrm>
            <a:off x="1645920" y="2944368"/>
            <a:ext cx="3429000" cy="594360"/>
          </a:xfrm>
          <a:prstGeom prst="rect">
            <a:avLst/>
          </a:prstGeom>
          <a:noFill/>
          <a:ln/>
        </p:spPr>
        <p:txBody>
          <a:bodyPr wrap="square" lIns="0" tIns="0" rIns="0" bIns="0" rtlCol="0" anchor="ctr"/>
          <a:lstStyle/>
          <a:p>
            <a:pPr indent="0" marL="0">
              <a:lnSpc>
                <a:spcPct val="115000"/>
              </a:lnSpc>
              <a:buNone/>
            </a:pPr>
            <a:r>
              <a:rPr lang="en-US" sz="1050" dirty="0">
                <a:solidFill>
                  <a:srgbClr val="5B6B84"/>
                </a:solidFill>
                <a:latin typeface="Calibri" pitchFamily="34" charset="0"/>
                <a:ea typeface="Calibri" pitchFamily="34" charset="-122"/>
                <a:cs typeface="Calibri" pitchFamily="34" charset="-120"/>
              </a:rPr>
              <a:t>Who shapes a project's fate — and how project offices apply.</a:t>
            </a:r>
            <a:endParaRPr lang="en-US" sz="1050" dirty="0"/>
          </a:p>
        </p:txBody>
      </p:sp>
      <p:sp>
        <p:nvSpPr>
          <p:cNvPr id="41" name="Text 37">
            <a:hlinkClick r:id="rId5" tooltip="" action="ppaction://hlinksldjump"/>
          </p:cNvPr>
          <p:cNvSpPr txBox="1"/>
          <p:nvPr/>
        </p:nvSpPr>
        <p:spPr>
          <a:xfrm>
            <a:off x="5257800" y="2606040"/>
            <a:ext cx="548640" cy="274320"/>
          </a:xfrm>
          <a:prstGeom prst="rect">
            <a:avLst/>
          </a:prstGeom>
          <a:noFill/>
          <a:ln/>
        </p:spPr>
        <p:txBody>
          <a:bodyPr wrap="square" lIns="0" tIns="0" rIns="0" bIns="0" rtlCol="0" anchor="ctr"/>
          <a:lstStyle/>
          <a:p>
            <a:pPr algn="r" indent="0" marL="0">
              <a:buNone/>
            </a:pPr>
            <a:r>
              <a:rPr lang="en-US" sz="1000" b="1" u="sng" dirty="0">
                <a:solidFill>
                  <a:srgbClr val="FC7468"/>
                </a:solidFill>
                <a:latin typeface="Calibri" pitchFamily="34" charset="0"/>
                <a:ea typeface="Calibri" pitchFamily="34" charset="-122"/>
                <a:cs typeface="Calibri" pitchFamily="34" charset="-120"/>
                <a:hlinkClick r:id="rId5" action="ppaction://hlinksldjump" tooltip="">
                  <a:extLst>
                    <a:ext uri="{A12FA001-AC4F-418D-AE19-62706E023703}">
                      <ahyp:hlinkClr xmlns:ahyp="http://schemas.microsoft.com/office/drawing/2018/hyperlinkcolor" val="tx"/>
                    </a:ext>
                  </a:extLst>
                </a:hlinkClick>
              </a:rPr>
              <a:t>p.3</a:t>
            </a:r>
            <a:endParaRPr lang="en-US" sz="1000" dirty="0"/>
          </a:p>
        </p:txBody>
      </p:sp>
      <p:sp>
        <p:nvSpPr>
          <p:cNvPr id="42" name="Shape 38"/>
          <p:cNvSpPr/>
          <p:nvPr/>
        </p:nvSpPr>
        <p:spPr>
          <a:xfrm>
            <a:off x="6217920" y="2468880"/>
            <a:ext cx="5166360" cy="1207008"/>
          </a:xfrm>
          <a:prstGeom prst="roundRect">
            <a:avLst>
              <a:gd name="adj" fmla="val 7576"/>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43" name="Shape 39"/>
          <p:cNvSpPr/>
          <p:nvPr/>
        </p:nvSpPr>
        <p:spPr>
          <a:xfrm>
            <a:off x="6419088" y="2820924"/>
            <a:ext cx="502920" cy="502920"/>
          </a:xfrm>
          <a:prstGeom prst="ellipse">
            <a:avLst/>
          </a:prstGeom>
          <a:solidFill>
            <a:srgbClr val="DCF3F2"/>
          </a:solidFill>
          <a:ln/>
        </p:spPr>
      </p:sp>
      <p:pic>
        <p:nvPicPr>
          <p:cNvPr id="44" name="Image 2" descr="/home/claude/work/build/icons/compass.png">    </p:cNvPr>
          <p:cNvPicPr>
            <a:picLocks noChangeAspect="1"/>
          </p:cNvPicPr>
          <p:nvPr/>
        </p:nvPicPr>
        <p:blipFill>
          <a:blip r:embed="rId6"/>
          <a:stretch>
            <a:fillRect/>
          </a:stretch>
        </p:blipFill>
        <p:spPr>
          <a:xfrm>
            <a:off x="6544818" y="2946654"/>
            <a:ext cx="251460" cy="251460"/>
          </a:xfrm>
          <a:prstGeom prst="rect">
            <a:avLst/>
          </a:prstGeom>
        </p:spPr>
      </p:pic>
      <p:sp>
        <p:nvSpPr>
          <p:cNvPr id="45" name="Text 40">
            <a:hlinkClick r:id="rId7" tooltip="" action="ppaction://hlinksldjump"/>
          </p:cNvPr>
          <p:cNvSpPr txBox="1"/>
          <p:nvPr/>
        </p:nvSpPr>
        <p:spPr>
          <a:xfrm>
            <a:off x="7086600" y="2606040"/>
            <a:ext cx="3429000" cy="320040"/>
          </a:xfrm>
          <a:prstGeom prst="rect">
            <a:avLst/>
          </a:prstGeom>
          <a:noFill/>
          <a:ln/>
        </p:spPr>
        <p:txBody>
          <a:bodyPr wrap="square" lIns="0" tIns="0" rIns="0" bIns="0" rtlCol="0" anchor="ctr"/>
          <a:lstStyle/>
          <a:p>
            <a:pPr indent="0" marL="0">
              <a:buNone/>
            </a:pPr>
            <a:r>
              <a:rPr lang="en-US" sz="1350" b="1" u="sng" dirty="0">
                <a:solidFill>
                  <a:srgbClr val="0B2C5D"/>
                </a:solidFill>
                <a:latin typeface="Calibri" pitchFamily="34" charset="0"/>
                <a:ea typeface="Calibri" pitchFamily="34" charset="-122"/>
                <a:cs typeface="Calibri" pitchFamily="34" charset="-120"/>
                <a:hlinkClick r:id="rId7" action="ppaction://hlinksldjump" tooltip="">
                  <a:extLst>
                    <a:ext uri="{A12FA001-AC4F-418D-AE19-62706E023703}">
                      <ahyp:hlinkClr xmlns:ahyp="http://schemas.microsoft.com/office/drawing/2018/hyperlinkcolor" val="tx"/>
                    </a:ext>
                  </a:extLst>
                </a:hlinkClick>
              </a:rPr>
              <a:t>Organizational strategy</a:t>
            </a:r>
            <a:endParaRPr lang="en-US" sz="1350" dirty="0"/>
          </a:p>
        </p:txBody>
      </p:sp>
      <p:sp>
        <p:nvSpPr>
          <p:cNvPr id="46" name="Text 41"/>
          <p:cNvSpPr txBox="1"/>
          <p:nvPr/>
        </p:nvSpPr>
        <p:spPr>
          <a:xfrm>
            <a:off x="7086600" y="2944368"/>
            <a:ext cx="3429000" cy="594360"/>
          </a:xfrm>
          <a:prstGeom prst="rect">
            <a:avLst/>
          </a:prstGeom>
          <a:noFill/>
          <a:ln/>
        </p:spPr>
        <p:txBody>
          <a:bodyPr wrap="square" lIns="0" tIns="0" rIns="0" bIns="0" rtlCol="0" anchor="ctr"/>
          <a:lstStyle/>
          <a:p>
            <a:pPr indent="0" marL="0">
              <a:lnSpc>
                <a:spcPct val="115000"/>
              </a:lnSpc>
              <a:buNone/>
            </a:pPr>
            <a:r>
              <a:rPr lang="en-US" sz="1050" dirty="0">
                <a:solidFill>
                  <a:srgbClr val="5B6B84"/>
                </a:solidFill>
                <a:latin typeface="Calibri" pitchFamily="34" charset="0"/>
                <a:ea typeface="Calibri" pitchFamily="34" charset="-122"/>
                <a:cs typeface="Calibri" pitchFamily="34" charset="-120"/>
              </a:rPr>
              <a:t>The four strategic options and the strategic management process.</a:t>
            </a:r>
            <a:endParaRPr lang="en-US" sz="1050" dirty="0"/>
          </a:p>
        </p:txBody>
      </p:sp>
      <p:sp>
        <p:nvSpPr>
          <p:cNvPr id="47" name="Text 42">
            <a:hlinkClick r:id="rId8" tooltip="" action="ppaction://hlinksldjump"/>
          </p:cNvPr>
          <p:cNvSpPr txBox="1"/>
          <p:nvPr/>
        </p:nvSpPr>
        <p:spPr>
          <a:xfrm>
            <a:off x="10698480" y="2606040"/>
            <a:ext cx="548640" cy="274320"/>
          </a:xfrm>
          <a:prstGeom prst="rect">
            <a:avLst/>
          </a:prstGeom>
          <a:noFill/>
          <a:ln/>
        </p:spPr>
        <p:txBody>
          <a:bodyPr wrap="square" lIns="0" tIns="0" rIns="0" bIns="0" rtlCol="0" anchor="ctr"/>
          <a:lstStyle/>
          <a:p>
            <a:pPr algn="r" indent="0" marL="0">
              <a:buNone/>
            </a:pPr>
            <a:r>
              <a:rPr lang="en-US" sz="1000" b="1" u="sng" dirty="0">
                <a:solidFill>
                  <a:srgbClr val="FC7468"/>
                </a:solidFill>
                <a:latin typeface="Calibri" pitchFamily="34" charset="0"/>
                <a:ea typeface="Calibri" pitchFamily="34" charset="-122"/>
                <a:cs typeface="Calibri" pitchFamily="34" charset="-120"/>
                <a:hlinkClick r:id="rId8" action="ppaction://hlinksldjump" tooltip="">
                  <a:extLst>
                    <a:ext uri="{A12FA001-AC4F-418D-AE19-62706E023703}">
                      <ahyp:hlinkClr xmlns:ahyp="http://schemas.microsoft.com/office/drawing/2018/hyperlinkcolor" val="tx"/>
                    </a:ext>
                  </a:extLst>
                </a:hlinkClick>
              </a:rPr>
              <a:t>p.5</a:t>
            </a:r>
            <a:endParaRPr lang="en-US" sz="1000" dirty="0"/>
          </a:p>
        </p:txBody>
      </p:sp>
      <p:sp>
        <p:nvSpPr>
          <p:cNvPr id="48" name="Shape 43"/>
          <p:cNvSpPr/>
          <p:nvPr/>
        </p:nvSpPr>
        <p:spPr>
          <a:xfrm>
            <a:off x="777240" y="3840480"/>
            <a:ext cx="5166360" cy="1207008"/>
          </a:xfrm>
          <a:prstGeom prst="roundRect">
            <a:avLst>
              <a:gd name="adj" fmla="val 7576"/>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49" name="Shape 44"/>
          <p:cNvSpPr/>
          <p:nvPr/>
        </p:nvSpPr>
        <p:spPr>
          <a:xfrm>
            <a:off x="978408" y="4192524"/>
            <a:ext cx="502920" cy="502920"/>
          </a:xfrm>
          <a:prstGeom prst="ellipse">
            <a:avLst/>
          </a:prstGeom>
          <a:solidFill>
            <a:srgbClr val="DCF3F2"/>
          </a:solidFill>
          <a:ln/>
        </p:spPr>
      </p:sp>
      <p:pic>
        <p:nvPicPr>
          <p:cNvPr id="50" name="Image 3" descr="/home/claude/work/build/icons/target.png">    </p:cNvPr>
          <p:cNvPicPr>
            <a:picLocks noChangeAspect="1"/>
          </p:cNvPicPr>
          <p:nvPr/>
        </p:nvPicPr>
        <p:blipFill>
          <a:blip r:embed="rId9"/>
          <a:stretch>
            <a:fillRect/>
          </a:stretch>
        </p:blipFill>
        <p:spPr>
          <a:xfrm>
            <a:off x="1104138" y="4318254"/>
            <a:ext cx="251460" cy="251460"/>
          </a:xfrm>
          <a:prstGeom prst="rect">
            <a:avLst/>
          </a:prstGeom>
        </p:spPr>
      </p:pic>
      <p:sp>
        <p:nvSpPr>
          <p:cNvPr id="51" name="Text 45">
            <a:hlinkClick r:id="rId10" tooltip="" action="ppaction://hlinksldjump"/>
          </p:cNvPr>
          <p:cNvSpPr txBox="1"/>
          <p:nvPr/>
        </p:nvSpPr>
        <p:spPr>
          <a:xfrm>
            <a:off x="1645920" y="3977640"/>
            <a:ext cx="3429000" cy="320040"/>
          </a:xfrm>
          <a:prstGeom prst="rect">
            <a:avLst/>
          </a:prstGeom>
          <a:noFill/>
          <a:ln/>
        </p:spPr>
        <p:txBody>
          <a:bodyPr wrap="square" lIns="0" tIns="0" rIns="0" bIns="0" rtlCol="0" anchor="ctr"/>
          <a:lstStyle/>
          <a:p>
            <a:pPr indent="0" marL="0">
              <a:buNone/>
            </a:pPr>
            <a:r>
              <a:rPr lang="en-US" sz="1350" b="1" u="sng" dirty="0">
                <a:solidFill>
                  <a:srgbClr val="0B2C5D"/>
                </a:solidFill>
                <a:latin typeface="Calibri" pitchFamily="34" charset="0"/>
                <a:ea typeface="Calibri" pitchFamily="34" charset="-122"/>
                <a:cs typeface="Calibri" pitchFamily="34" charset="-120"/>
                <a:hlinkClick r:id="rId10" action="ppaction://hlinksldjump" tooltip="">
                  <a:extLst>
                    <a:ext uri="{A12FA001-AC4F-418D-AE19-62706E023703}">
                      <ahyp:hlinkClr xmlns:ahyp="http://schemas.microsoft.com/office/drawing/2018/hyperlinkcolor" val="tx"/>
                    </a:ext>
                  </a:extLst>
                </a:hlinkClick>
              </a:rPr>
              <a:t>Mission, SWOT &amp; SMART</a:t>
            </a:r>
            <a:endParaRPr lang="en-US" sz="1350" dirty="0"/>
          </a:p>
        </p:txBody>
      </p:sp>
      <p:sp>
        <p:nvSpPr>
          <p:cNvPr id="52" name="Text 46"/>
          <p:cNvSpPr txBox="1"/>
          <p:nvPr/>
        </p:nvSpPr>
        <p:spPr>
          <a:xfrm>
            <a:off x="1645920" y="4315968"/>
            <a:ext cx="3429000" cy="594360"/>
          </a:xfrm>
          <a:prstGeom prst="rect">
            <a:avLst/>
          </a:prstGeom>
          <a:noFill/>
          <a:ln/>
        </p:spPr>
        <p:txBody>
          <a:bodyPr wrap="square" lIns="0" tIns="0" rIns="0" bIns="0" rtlCol="0" anchor="ctr"/>
          <a:lstStyle/>
          <a:p>
            <a:pPr indent="0" marL="0">
              <a:lnSpc>
                <a:spcPct val="115000"/>
              </a:lnSpc>
              <a:buNone/>
            </a:pPr>
            <a:r>
              <a:rPr lang="en-US" sz="1050" dirty="0">
                <a:solidFill>
                  <a:srgbClr val="5B6B84"/>
                </a:solidFill>
                <a:latin typeface="Calibri" pitchFamily="34" charset="0"/>
                <a:ea typeface="Calibri" pitchFamily="34" charset="-122"/>
                <a:cs typeface="Calibri" pitchFamily="34" charset="-120"/>
              </a:rPr>
              <a:t>Turning strategy into measurable objectives.</a:t>
            </a:r>
            <a:endParaRPr lang="en-US" sz="1050" dirty="0"/>
          </a:p>
        </p:txBody>
      </p:sp>
      <p:sp>
        <p:nvSpPr>
          <p:cNvPr id="53" name="Text 47">
            <a:hlinkClick r:id="rId11" tooltip="" action="ppaction://hlinksldjump"/>
          </p:cNvPr>
          <p:cNvSpPr txBox="1"/>
          <p:nvPr/>
        </p:nvSpPr>
        <p:spPr>
          <a:xfrm>
            <a:off x="5257800" y="3977640"/>
            <a:ext cx="548640" cy="274320"/>
          </a:xfrm>
          <a:prstGeom prst="rect">
            <a:avLst/>
          </a:prstGeom>
          <a:noFill/>
          <a:ln/>
        </p:spPr>
        <p:txBody>
          <a:bodyPr wrap="square" lIns="0" tIns="0" rIns="0" bIns="0" rtlCol="0" anchor="ctr"/>
          <a:lstStyle/>
          <a:p>
            <a:pPr algn="r" indent="0" marL="0">
              <a:buNone/>
            </a:pPr>
            <a:r>
              <a:rPr lang="en-US" sz="1000" b="1" u="sng" dirty="0">
                <a:solidFill>
                  <a:srgbClr val="FC7468"/>
                </a:solidFill>
                <a:latin typeface="Calibri" pitchFamily="34" charset="0"/>
                <a:ea typeface="Calibri" pitchFamily="34" charset="-122"/>
                <a:cs typeface="Calibri" pitchFamily="34" charset="-120"/>
                <a:hlinkClick r:id="rId11" action="ppaction://hlinksldjump" tooltip="">
                  <a:extLst>
                    <a:ext uri="{A12FA001-AC4F-418D-AE19-62706E023703}">
                      <ahyp:hlinkClr xmlns:ahyp="http://schemas.microsoft.com/office/drawing/2018/hyperlinkcolor" val="tx"/>
                    </a:ext>
                  </a:extLst>
                </a:hlinkClick>
              </a:rPr>
              <a:t>p.9</a:t>
            </a:r>
            <a:endParaRPr lang="en-US" sz="1000" dirty="0"/>
          </a:p>
        </p:txBody>
      </p:sp>
      <p:sp>
        <p:nvSpPr>
          <p:cNvPr id="54" name="Shape 48"/>
          <p:cNvSpPr/>
          <p:nvPr/>
        </p:nvSpPr>
        <p:spPr>
          <a:xfrm>
            <a:off x="6217920" y="3840480"/>
            <a:ext cx="5166360" cy="1207008"/>
          </a:xfrm>
          <a:prstGeom prst="roundRect">
            <a:avLst>
              <a:gd name="adj" fmla="val 7576"/>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55" name="Shape 49"/>
          <p:cNvSpPr/>
          <p:nvPr/>
        </p:nvSpPr>
        <p:spPr>
          <a:xfrm>
            <a:off x="6419088" y="4192524"/>
            <a:ext cx="502920" cy="502920"/>
          </a:xfrm>
          <a:prstGeom prst="ellipse">
            <a:avLst/>
          </a:prstGeom>
          <a:solidFill>
            <a:srgbClr val="DCF3F2"/>
          </a:solidFill>
          <a:ln/>
        </p:spPr>
      </p:sp>
      <p:pic>
        <p:nvPicPr>
          <p:cNvPr id="56" name="Image 4" descr="/home/claude/work/build/icons/sliders.png">    </p:cNvPr>
          <p:cNvPicPr>
            <a:picLocks noChangeAspect="1"/>
          </p:cNvPicPr>
          <p:nvPr/>
        </p:nvPicPr>
        <p:blipFill>
          <a:blip r:embed="rId12"/>
          <a:stretch>
            <a:fillRect/>
          </a:stretch>
        </p:blipFill>
        <p:spPr>
          <a:xfrm>
            <a:off x="6544818" y="4318254"/>
            <a:ext cx="251460" cy="251460"/>
          </a:xfrm>
          <a:prstGeom prst="rect">
            <a:avLst/>
          </a:prstGeom>
        </p:spPr>
      </p:pic>
      <p:sp>
        <p:nvSpPr>
          <p:cNvPr id="57" name="Text 50">
            <a:hlinkClick r:id="rId13" tooltip="" action="ppaction://hlinksldjump"/>
          </p:cNvPr>
          <p:cNvSpPr txBox="1"/>
          <p:nvPr/>
        </p:nvSpPr>
        <p:spPr>
          <a:xfrm>
            <a:off x="7086600" y="3977640"/>
            <a:ext cx="3429000" cy="320040"/>
          </a:xfrm>
          <a:prstGeom prst="rect">
            <a:avLst/>
          </a:prstGeom>
          <a:noFill/>
          <a:ln/>
        </p:spPr>
        <p:txBody>
          <a:bodyPr wrap="square" lIns="0" tIns="0" rIns="0" bIns="0" rtlCol="0" anchor="ctr"/>
          <a:lstStyle/>
          <a:p>
            <a:pPr indent="0" marL="0">
              <a:buNone/>
            </a:pPr>
            <a:r>
              <a:rPr lang="en-US" sz="1350" b="1" u="sng" dirty="0">
                <a:solidFill>
                  <a:srgbClr val="0B2C5D"/>
                </a:solidFill>
                <a:latin typeface="Calibri" pitchFamily="34" charset="0"/>
                <a:ea typeface="Calibri" pitchFamily="34" charset="-122"/>
                <a:cs typeface="Calibri" pitchFamily="34" charset="-120"/>
                <a:hlinkClick r:id="rId13" action="ppaction://hlinksldjump" tooltip="">
                  <a:extLst>
                    <a:ext uri="{A12FA001-AC4F-418D-AE19-62706E023703}">
                      <ahyp:hlinkClr xmlns:ahyp="http://schemas.microsoft.com/office/drawing/2018/hyperlinkcolor" val="tx"/>
                    </a:ext>
                  </a:extLst>
                </a:hlinkClick>
              </a:rPr>
              <a:t>Priority systems</a:t>
            </a:r>
            <a:endParaRPr lang="en-US" sz="1350" dirty="0"/>
          </a:p>
        </p:txBody>
      </p:sp>
      <p:sp>
        <p:nvSpPr>
          <p:cNvPr id="58" name="Text 51"/>
          <p:cNvSpPr txBox="1"/>
          <p:nvPr/>
        </p:nvSpPr>
        <p:spPr>
          <a:xfrm>
            <a:off x="7086600" y="4315968"/>
            <a:ext cx="3429000" cy="594360"/>
          </a:xfrm>
          <a:prstGeom prst="rect">
            <a:avLst/>
          </a:prstGeom>
          <a:noFill/>
          <a:ln/>
        </p:spPr>
        <p:txBody>
          <a:bodyPr wrap="square" lIns="0" tIns="0" rIns="0" bIns="0" rtlCol="0" anchor="ctr"/>
          <a:lstStyle/>
          <a:p>
            <a:pPr indent="0" marL="0">
              <a:lnSpc>
                <a:spcPct val="115000"/>
              </a:lnSpc>
              <a:buNone/>
            </a:pPr>
            <a:r>
              <a:rPr lang="en-US" sz="1050" dirty="0">
                <a:solidFill>
                  <a:srgbClr val="5B6B84"/>
                </a:solidFill>
                <a:latin typeface="Calibri" pitchFamily="34" charset="0"/>
                <a:ea typeface="Calibri" pitchFamily="34" charset="-122"/>
                <a:cs typeface="Calibri" pitchFamily="34" charset="-120"/>
              </a:rPr>
              <a:t>Ranking work: George Doran's 4 project classes.</a:t>
            </a:r>
            <a:endParaRPr lang="en-US" sz="1050" dirty="0"/>
          </a:p>
        </p:txBody>
      </p:sp>
      <p:sp>
        <p:nvSpPr>
          <p:cNvPr id="59" name="Text 52">
            <a:hlinkClick r:id="rId14" tooltip="" action="ppaction://hlinksldjump"/>
          </p:cNvPr>
          <p:cNvSpPr txBox="1"/>
          <p:nvPr/>
        </p:nvSpPr>
        <p:spPr>
          <a:xfrm>
            <a:off x="10698480" y="3977640"/>
            <a:ext cx="548640" cy="274320"/>
          </a:xfrm>
          <a:prstGeom prst="rect">
            <a:avLst/>
          </a:prstGeom>
          <a:noFill/>
          <a:ln/>
        </p:spPr>
        <p:txBody>
          <a:bodyPr wrap="square" lIns="0" tIns="0" rIns="0" bIns="0" rtlCol="0" anchor="ctr"/>
          <a:lstStyle/>
          <a:p>
            <a:pPr algn="r" indent="0" marL="0">
              <a:buNone/>
            </a:pPr>
            <a:r>
              <a:rPr lang="en-US" sz="1000" b="1" u="sng" dirty="0">
                <a:solidFill>
                  <a:srgbClr val="FC7468"/>
                </a:solidFill>
                <a:latin typeface="Calibri" pitchFamily="34" charset="0"/>
                <a:ea typeface="Calibri" pitchFamily="34" charset="-122"/>
                <a:cs typeface="Calibri" pitchFamily="34" charset="-120"/>
                <a:hlinkClick r:id="rId14" action="ppaction://hlinksldjump" tooltip="">
                  <a:extLst>
                    <a:ext uri="{A12FA001-AC4F-418D-AE19-62706E023703}">
                      <ahyp:hlinkClr xmlns:ahyp="http://schemas.microsoft.com/office/drawing/2018/hyperlinkcolor" val="tx"/>
                    </a:ext>
                  </a:extLst>
                </a:hlinkClick>
              </a:rPr>
              <a:t>p.13</a:t>
            </a:r>
            <a:endParaRPr lang="en-US" sz="1000" dirty="0"/>
          </a:p>
        </p:txBody>
      </p:sp>
      <p:sp>
        <p:nvSpPr>
          <p:cNvPr id="60" name="Shape 53"/>
          <p:cNvSpPr/>
          <p:nvPr/>
        </p:nvSpPr>
        <p:spPr>
          <a:xfrm>
            <a:off x="777240" y="5212080"/>
            <a:ext cx="5166360" cy="1207008"/>
          </a:xfrm>
          <a:prstGeom prst="roundRect">
            <a:avLst>
              <a:gd name="adj" fmla="val 7576"/>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61" name="Shape 54"/>
          <p:cNvSpPr/>
          <p:nvPr/>
        </p:nvSpPr>
        <p:spPr>
          <a:xfrm>
            <a:off x="978408" y="5564124"/>
            <a:ext cx="502920" cy="502920"/>
          </a:xfrm>
          <a:prstGeom prst="ellipse">
            <a:avLst/>
          </a:prstGeom>
          <a:solidFill>
            <a:srgbClr val="DCF3F2"/>
          </a:solidFill>
          <a:ln/>
        </p:spPr>
      </p:sp>
      <p:pic>
        <p:nvPicPr>
          <p:cNvPr id="62" name="Image 5" descr="/home/claude/work/build/icons/checksquare.png">    </p:cNvPr>
          <p:cNvPicPr>
            <a:picLocks noChangeAspect="1"/>
          </p:cNvPicPr>
          <p:nvPr/>
        </p:nvPicPr>
        <p:blipFill>
          <a:blip r:embed="rId15"/>
          <a:stretch>
            <a:fillRect/>
          </a:stretch>
        </p:blipFill>
        <p:spPr>
          <a:xfrm>
            <a:off x="1104138" y="5689854"/>
            <a:ext cx="251460" cy="251460"/>
          </a:xfrm>
          <a:prstGeom prst="rect">
            <a:avLst/>
          </a:prstGeom>
        </p:spPr>
      </p:pic>
      <p:sp>
        <p:nvSpPr>
          <p:cNvPr id="63" name="Text 55">
            <a:hlinkClick r:id="rId16" tooltip="" action="ppaction://hlinksldjump"/>
          </p:cNvPr>
          <p:cNvSpPr txBox="1"/>
          <p:nvPr/>
        </p:nvSpPr>
        <p:spPr>
          <a:xfrm>
            <a:off x="1645920" y="5349240"/>
            <a:ext cx="3429000" cy="320040"/>
          </a:xfrm>
          <a:prstGeom prst="rect">
            <a:avLst/>
          </a:prstGeom>
          <a:noFill/>
          <a:ln/>
        </p:spPr>
        <p:txBody>
          <a:bodyPr wrap="square" lIns="0" tIns="0" rIns="0" bIns="0" rtlCol="0" anchor="ctr"/>
          <a:lstStyle/>
          <a:p>
            <a:pPr indent="0" marL="0">
              <a:buNone/>
            </a:pPr>
            <a:r>
              <a:rPr lang="en-US" sz="1350" b="1" u="sng" dirty="0">
                <a:solidFill>
                  <a:srgbClr val="0B2C5D"/>
                </a:solidFill>
                <a:latin typeface="Calibri" pitchFamily="34" charset="0"/>
                <a:ea typeface="Calibri" pitchFamily="34" charset="-122"/>
                <a:cs typeface="Calibri" pitchFamily="34" charset="-120"/>
                <a:hlinkClick r:id="rId16" action="ppaction://hlinksldjump" tooltip="">
                  <a:extLst>
                    <a:ext uri="{A12FA001-AC4F-418D-AE19-62706E023703}">
                      <ahyp:hlinkClr xmlns:ahyp="http://schemas.microsoft.com/office/drawing/2018/hyperlinkcolor" val="tx"/>
                    </a:ext>
                  </a:extLst>
                </a:hlinkClick>
              </a:rPr>
              <a:t>Selection criteria &amp; scoring</a:t>
            </a:r>
            <a:endParaRPr lang="en-US" sz="1350" dirty="0"/>
          </a:p>
        </p:txBody>
      </p:sp>
      <p:sp>
        <p:nvSpPr>
          <p:cNvPr id="64" name="Text 56"/>
          <p:cNvSpPr txBox="1"/>
          <p:nvPr/>
        </p:nvSpPr>
        <p:spPr>
          <a:xfrm>
            <a:off x="1645920" y="5687568"/>
            <a:ext cx="3429000" cy="594360"/>
          </a:xfrm>
          <a:prstGeom prst="rect">
            <a:avLst/>
          </a:prstGeom>
          <a:noFill/>
          <a:ln/>
        </p:spPr>
        <p:txBody>
          <a:bodyPr wrap="square" lIns="0" tIns="0" rIns="0" bIns="0" rtlCol="0" anchor="ctr"/>
          <a:lstStyle/>
          <a:p>
            <a:pPr indent="0" marL="0">
              <a:lnSpc>
                <a:spcPct val="115000"/>
              </a:lnSpc>
              <a:buNone/>
            </a:pPr>
            <a:r>
              <a:rPr lang="en-US" sz="1050" dirty="0">
                <a:solidFill>
                  <a:srgbClr val="5B6B84"/>
                </a:solidFill>
                <a:latin typeface="Calibri" pitchFamily="34" charset="0"/>
                <a:ea typeface="Calibri" pitchFamily="34" charset="-122"/>
                <a:cs typeface="Calibri" pitchFamily="34" charset="-120"/>
              </a:rPr>
              <a:t>Checklists vs. weighted scoring — and a worked example.</a:t>
            </a:r>
            <a:endParaRPr lang="en-US" sz="1050" dirty="0"/>
          </a:p>
        </p:txBody>
      </p:sp>
      <p:sp>
        <p:nvSpPr>
          <p:cNvPr id="65" name="Text 57">
            <a:hlinkClick r:id="rId17" tooltip="" action="ppaction://hlinksldjump"/>
          </p:cNvPr>
          <p:cNvSpPr txBox="1"/>
          <p:nvPr/>
        </p:nvSpPr>
        <p:spPr>
          <a:xfrm>
            <a:off x="5257800" y="5349240"/>
            <a:ext cx="548640" cy="274320"/>
          </a:xfrm>
          <a:prstGeom prst="rect">
            <a:avLst/>
          </a:prstGeom>
          <a:noFill/>
          <a:ln/>
        </p:spPr>
        <p:txBody>
          <a:bodyPr wrap="square" lIns="0" tIns="0" rIns="0" bIns="0" rtlCol="0" anchor="ctr"/>
          <a:lstStyle/>
          <a:p>
            <a:pPr algn="r" indent="0" marL="0">
              <a:buNone/>
            </a:pPr>
            <a:r>
              <a:rPr lang="en-US" sz="1000" b="1" u="sng" dirty="0">
                <a:solidFill>
                  <a:srgbClr val="FC7468"/>
                </a:solidFill>
                <a:latin typeface="Calibri" pitchFamily="34" charset="0"/>
                <a:ea typeface="Calibri" pitchFamily="34" charset="-122"/>
                <a:cs typeface="Calibri" pitchFamily="34" charset="-120"/>
                <a:hlinkClick r:id="rId17" action="ppaction://hlinksldjump" tooltip="">
                  <a:extLst>
                    <a:ext uri="{A12FA001-AC4F-418D-AE19-62706E023703}">
                      <ahyp:hlinkClr xmlns:ahyp="http://schemas.microsoft.com/office/drawing/2018/hyperlinkcolor" val="tx"/>
                    </a:ext>
                  </a:extLst>
                </a:hlinkClick>
              </a:rPr>
              <a:t>p.15</a:t>
            </a:r>
            <a:endParaRPr lang="en-US" sz="1000" dirty="0"/>
          </a:p>
        </p:txBody>
      </p:sp>
      <p:sp>
        <p:nvSpPr>
          <p:cNvPr id="66" name="Shape 58"/>
          <p:cNvSpPr/>
          <p:nvPr/>
        </p:nvSpPr>
        <p:spPr>
          <a:xfrm>
            <a:off x="6217920" y="5212080"/>
            <a:ext cx="5166360" cy="1207008"/>
          </a:xfrm>
          <a:prstGeom prst="roundRect">
            <a:avLst>
              <a:gd name="adj" fmla="val 7576"/>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67" name="Shape 59"/>
          <p:cNvSpPr/>
          <p:nvPr/>
        </p:nvSpPr>
        <p:spPr>
          <a:xfrm>
            <a:off x="6419088" y="5564124"/>
            <a:ext cx="502920" cy="502920"/>
          </a:xfrm>
          <a:prstGeom prst="ellipse">
            <a:avLst/>
          </a:prstGeom>
          <a:solidFill>
            <a:srgbClr val="DCF3F2"/>
          </a:solidFill>
          <a:ln/>
        </p:spPr>
      </p:sp>
      <p:pic>
        <p:nvPicPr>
          <p:cNvPr id="68" name="Image 6" descr="/home/claude/work/build/icons/clipboard.png">    </p:cNvPr>
          <p:cNvPicPr>
            <a:picLocks noChangeAspect="1"/>
          </p:cNvPicPr>
          <p:nvPr/>
        </p:nvPicPr>
        <p:blipFill>
          <a:blip r:embed="rId18"/>
          <a:stretch>
            <a:fillRect/>
          </a:stretch>
        </p:blipFill>
        <p:spPr>
          <a:xfrm>
            <a:off x="6544818" y="5689854"/>
            <a:ext cx="251460" cy="251460"/>
          </a:xfrm>
          <a:prstGeom prst="rect">
            <a:avLst/>
          </a:prstGeom>
        </p:spPr>
      </p:pic>
      <p:sp>
        <p:nvSpPr>
          <p:cNvPr id="69" name="Text 60">
            <a:hlinkClick r:id="rId19" tooltip="" action="ppaction://hlinksldjump"/>
          </p:cNvPr>
          <p:cNvSpPr txBox="1"/>
          <p:nvPr/>
        </p:nvSpPr>
        <p:spPr>
          <a:xfrm>
            <a:off x="7086600" y="5349240"/>
            <a:ext cx="3429000" cy="320040"/>
          </a:xfrm>
          <a:prstGeom prst="rect">
            <a:avLst/>
          </a:prstGeom>
          <a:noFill/>
          <a:ln/>
        </p:spPr>
        <p:txBody>
          <a:bodyPr wrap="square" lIns="0" tIns="0" rIns="0" bIns="0" rtlCol="0" anchor="ctr"/>
          <a:lstStyle/>
          <a:p>
            <a:pPr indent="0" marL="0">
              <a:buNone/>
            </a:pPr>
            <a:r>
              <a:rPr lang="en-US" sz="1350" b="1" u="sng" dirty="0">
                <a:solidFill>
                  <a:srgbClr val="0B2C5D"/>
                </a:solidFill>
                <a:latin typeface="Calibri" pitchFamily="34" charset="0"/>
                <a:ea typeface="Calibri" pitchFamily="34" charset="-122"/>
                <a:cs typeface="Calibri" pitchFamily="34" charset="-120"/>
                <a:hlinkClick r:id="rId19" action="ppaction://hlinksldjump" tooltip="">
                  <a:extLst>
                    <a:ext uri="{A12FA001-AC4F-418D-AE19-62706E023703}">
                      <ahyp:hlinkClr xmlns:ahyp="http://schemas.microsoft.com/office/drawing/2018/hyperlinkcolor" val="tx"/>
                    </a:ext>
                  </a:extLst>
                </a:hlinkClick>
              </a:rPr>
              <a:t>Case study &amp; assignment</a:t>
            </a:r>
            <a:endParaRPr lang="en-US" sz="1350" dirty="0"/>
          </a:p>
        </p:txBody>
      </p:sp>
      <p:sp>
        <p:nvSpPr>
          <p:cNvPr id="70" name="Text 61"/>
          <p:cNvSpPr txBox="1"/>
          <p:nvPr/>
        </p:nvSpPr>
        <p:spPr>
          <a:xfrm>
            <a:off x="7086600" y="5687568"/>
            <a:ext cx="3429000" cy="594360"/>
          </a:xfrm>
          <a:prstGeom prst="rect">
            <a:avLst/>
          </a:prstGeom>
          <a:noFill/>
          <a:ln/>
        </p:spPr>
        <p:txBody>
          <a:bodyPr wrap="square" lIns="0" tIns="0" rIns="0" bIns="0" rtlCol="0" anchor="ctr"/>
          <a:lstStyle/>
          <a:p>
            <a:pPr indent="0" marL="0">
              <a:lnSpc>
                <a:spcPct val="115000"/>
              </a:lnSpc>
              <a:buNone/>
            </a:pPr>
            <a:r>
              <a:rPr lang="en-US" sz="1050" dirty="0">
                <a:solidFill>
                  <a:srgbClr val="5B6B84"/>
                </a:solidFill>
                <a:latin typeface="Calibri" pitchFamily="34" charset="0"/>
                <a:ea typeface="Calibri" pitchFamily="34" charset="-122"/>
                <a:cs typeface="Calibri" pitchFamily="34" charset="-120"/>
              </a:rPr>
              <a:t>NexCore Embedded Systems, key takeaways, and your task.</a:t>
            </a:r>
            <a:endParaRPr lang="en-US" sz="1050" dirty="0"/>
          </a:p>
        </p:txBody>
      </p:sp>
      <p:sp>
        <p:nvSpPr>
          <p:cNvPr id="71" name="Text 62">
            <a:hlinkClick r:id="rId20" tooltip="" action="ppaction://hlinksldjump"/>
          </p:cNvPr>
          <p:cNvSpPr txBox="1"/>
          <p:nvPr/>
        </p:nvSpPr>
        <p:spPr>
          <a:xfrm>
            <a:off x="10698480" y="5349240"/>
            <a:ext cx="548640" cy="274320"/>
          </a:xfrm>
          <a:prstGeom prst="rect">
            <a:avLst/>
          </a:prstGeom>
          <a:noFill/>
          <a:ln/>
        </p:spPr>
        <p:txBody>
          <a:bodyPr wrap="square" lIns="0" tIns="0" rIns="0" bIns="0" rtlCol="0" anchor="ctr"/>
          <a:lstStyle/>
          <a:p>
            <a:pPr algn="r" indent="0" marL="0">
              <a:buNone/>
            </a:pPr>
            <a:r>
              <a:rPr lang="en-US" sz="1000" b="1" u="sng" dirty="0">
                <a:solidFill>
                  <a:srgbClr val="FC7468"/>
                </a:solidFill>
                <a:latin typeface="Calibri" pitchFamily="34" charset="0"/>
                <a:ea typeface="Calibri" pitchFamily="34" charset="-122"/>
                <a:cs typeface="Calibri" pitchFamily="34" charset="-120"/>
                <a:hlinkClick r:id="rId20" action="ppaction://hlinksldjump" tooltip="">
                  <a:extLst>
                    <a:ext uri="{A12FA001-AC4F-418D-AE19-62706E023703}">
                      <ahyp:hlinkClr xmlns:ahyp="http://schemas.microsoft.com/office/drawing/2018/hyperlinkcolor" val="tx"/>
                    </a:ext>
                  </a:extLst>
                </a:hlinkClick>
              </a:rPr>
              <a:t>p.19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3</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1 · PEOPLE &amp; GOVERNANCE</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Project Stakeholders</a:t>
            </a:r>
            <a:endParaRPr lang="en-US" sz="2700" dirty="0"/>
          </a:p>
        </p:txBody>
      </p:sp>
      <p:sp>
        <p:nvSpPr>
          <p:cNvPr id="36" name="Text 33"/>
          <p:cNvSpPr txBox="1"/>
          <p:nvPr/>
        </p:nvSpPr>
        <p:spPr>
          <a:xfrm>
            <a:off x="777240" y="2212848"/>
            <a:ext cx="8138160" cy="502920"/>
          </a:xfrm>
          <a:prstGeom prst="rect">
            <a:avLst/>
          </a:prstGeom>
          <a:noFill/>
          <a:ln/>
        </p:spPr>
        <p:txBody>
          <a:bodyPr wrap="square" lIns="0" tIns="0" rIns="0" bIns="0" rtlCol="0" anchor="ctr"/>
          <a:lstStyle/>
          <a:p>
            <a:pPr indent="0" marL="0">
              <a:lnSpc>
                <a:spcPct val="115000"/>
              </a:lnSpc>
              <a:buNone/>
            </a:pPr>
            <a:r>
              <a:rPr lang="en-US" sz="1150" i="1" dirty="0">
                <a:solidFill>
                  <a:srgbClr val="5B6B84"/>
                </a:solidFill>
                <a:latin typeface="Calibri" pitchFamily="34" charset="0"/>
                <a:ea typeface="Calibri" pitchFamily="34" charset="-122"/>
                <a:cs typeface="Calibri" pitchFamily="34" charset="-120"/>
              </a:rPr>
              <a:t>Anyone who has a vested interest in the project's outcome — and the power to help or hinder it. The same roles recur everywhere: Apple's silicon team, Tesla's Gigafactory engineers, TSMC's fab operations directors.</a:t>
            </a:r>
            <a:endParaRPr lang="en-US" sz="1150" dirty="0"/>
          </a:p>
        </p:txBody>
      </p:sp>
      <p:sp>
        <p:nvSpPr>
          <p:cNvPr id="37" name="Shape 34"/>
          <p:cNvSpPr/>
          <p:nvPr/>
        </p:nvSpPr>
        <p:spPr>
          <a:xfrm>
            <a:off x="777240" y="2743200"/>
            <a:ext cx="457200" cy="457200"/>
          </a:xfrm>
          <a:prstGeom prst="ellipse">
            <a:avLst/>
          </a:prstGeom>
          <a:solidFill>
            <a:srgbClr val="DCF3F2"/>
          </a:solidFill>
          <a:ln/>
        </p:spPr>
      </p:sp>
      <p:pic>
        <p:nvPicPr>
          <p:cNvPr id="38" name="Image 1" descr="/home/claude/work/build/icons/users.png">    </p:cNvPr>
          <p:cNvPicPr>
            <a:picLocks noChangeAspect="1"/>
          </p:cNvPicPr>
          <p:nvPr/>
        </p:nvPicPr>
        <p:blipFill>
          <a:blip r:embed="rId3"/>
          <a:stretch>
            <a:fillRect/>
          </a:stretch>
        </p:blipFill>
        <p:spPr>
          <a:xfrm>
            <a:off x="891540" y="2857500"/>
            <a:ext cx="228600" cy="228600"/>
          </a:xfrm>
          <a:prstGeom prst="rect">
            <a:avLst/>
          </a:prstGeom>
        </p:spPr>
      </p:pic>
      <p:sp>
        <p:nvSpPr>
          <p:cNvPr id="39" name="Text 35"/>
          <p:cNvSpPr txBox="1"/>
          <p:nvPr/>
        </p:nvSpPr>
        <p:spPr>
          <a:xfrm>
            <a:off x="1417320" y="2724912"/>
            <a:ext cx="2468880" cy="45720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Project team</a:t>
            </a:r>
            <a:endParaRPr lang="en-US" sz="1300" dirty="0"/>
          </a:p>
        </p:txBody>
      </p:sp>
      <p:sp>
        <p:nvSpPr>
          <p:cNvPr id="40" name="Text 36"/>
          <p:cNvSpPr txBox="1"/>
          <p:nvPr/>
        </p:nvSpPr>
        <p:spPr>
          <a:xfrm>
            <a:off x="3977640" y="2724912"/>
            <a:ext cx="5120640" cy="530352"/>
          </a:xfrm>
          <a:prstGeom prst="rect">
            <a:avLst/>
          </a:prstGeom>
          <a:noFill/>
          <a:ln/>
        </p:spPr>
        <p:txBody>
          <a:bodyPr wrap="square" lIns="0" tIns="0" rIns="0" bIns="0" rtlCol="0" anchor="ctr"/>
          <a:lstStyle/>
          <a:p>
            <a:pPr indent="0" marL="0">
              <a:lnSpc>
                <a:spcPct val="110000"/>
              </a:lnSpc>
              <a:buNone/>
            </a:pPr>
            <a:r>
              <a:rPr lang="en-US" sz="1100" dirty="0">
                <a:solidFill>
                  <a:srgbClr val="5B6B84"/>
                </a:solidFill>
                <a:latin typeface="Calibri" pitchFamily="34" charset="0"/>
                <a:ea typeface="Calibri" pitchFamily="34" charset="-122"/>
                <a:cs typeface="Calibri" pitchFamily="34" charset="-120"/>
              </a:rPr>
              <a:t>Firmware, hardware, and QA engineers building NexCore's smart-thermostat controller.</a:t>
            </a:r>
            <a:endParaRPr lang="en-US" sz="1100" dirty="0"/>
          </a:p>
        </p:txBody>
      </p:sp>
      <p:sp>
        <p:nvSpPr>
          <p:cNvPr id="41" name="Shape 37"/>
          <p:cNvSpPr/>
          <p:nvPr/>
        </p:nvSpPr>
        <p:spPr>
          <a:xfrm>
            <a:off x="777240" y="3493008"/>
            <a:ext cx="457200" cy="457200"/>
          </a:xfrm>
          <a:prstGeom prst="ellipse">
            <a:avLst/>
          </a:prstGeom>
          <a:solidFill>
            <a:srgbClr val="DCF3F2"/>
          </a:solidFill>
          <a:ln/>
        </p:spPr>
      </p:sp>
      <p:pic>
        <p:nvPicPr>
          <p:cNvPr id="42" name="Image 2" descr="/home/claude/work/build/icons/usercheck.png">    </p:cNvPr>
          <p:cNvPicPr>
            <a:picLocks noChangeAspect="1"/>
          </p:cNvPicPr>
          <p:nvPr/>
        </p:nvPicPr>
        <p:blipFill>
          <a:blip r:embed="rId4"/>
          <a:stretch>
            <a:fillRect/>
          </a:stretch>
        </p:blipFill>
        <p:spPr>
          <a:xfrm>
            <a:off x="891540" y="3607308"/>
            <a:ext cx="228600" cy="228600"/>
          </a:xfrm>
          <a:prstGeom prst="rect">
            <a:avLst/>
          </a:prstGeom>
        </p:spPr>
      </p:pic>
      <p:sp>
        <p:nvSpPr>
          <p:cNvPr id="43" name="Text 38"/>
          <p:cNvSpPr txBox="1"/>
          <p:nvPr/>
        </p:nvSpPr>
        <p:spPr>
          <a:xfrm>
            <a:off x="1417320" y="3474720"/>
            <a:ext cx="2468880" cy="45720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Project manager</a:t>
            </a:r>
            <a:endParaRPr lang="en-US" sz="1300" dirty="0"/>
          </a:p>
        </p:txBody>
      </p:sp>
      <p:sp>
        <p:nvSpPr>
          <p:cNvPr id="44" name="Text 39"/>
          <p:cNvSpPr txBox="1"/>
          <p:nvPr/>
        </p:nvSpPr>
        <p:spPr>
          <a:xfrm>
            <a:off x="3977640" y="3474720"/>
            <a:ext cx="5120640" cy="530352"/>
          </a:xfrm>
          <a:prstGeom prst="rect">
            <a:avLst/>
          </a:prstGeom>
          <a:noFill/>
          <a:ln/>
        </p:spPr>
        <p:txBody>
          <a:bodyPr wrap="square" lIns="0" tIns="0" rIns="0" bIns="0" rtlCol="0" anchor="ctr"/>
          <a:lstStyle/>
          <a:p>
            <a:pPr indent="0" marL="0">
              <a:lnSpc>
                <a:spcPct val="110000"/>
              </a:lnSpc>
              <a:buNone/>
            </a:pPr>
            <a:r>
              <a:rPr lang="en-US" sz="1100" dirty="0">
                <a:solidFill>
                  <a:srgbClr val="5B6B84"/>
                </a:solidFill>
                <a:latin typeface="Calibri" pitchFamily="34" charset="0"/>
                <a:ea typeface="Calibri" pitchFamily="34" charset="-122"/>
                <a:cs typeface="Calibri" pitchFamily="34" charset="-120"/>
              </a:rPr>
              <a:t>Owns scope, schedule, and budget; the hub between sponsor and team.</a:t>
            </a:r>
            <a:endParaRPr lang="en-US" sz="1100" dirty="0"/>
          </a:p>
        </p:txBody>
      </p:sp>
      <p:sp>
        <p:nvSpPr>
          <p:cNvPr id="45" name="Shape 40"/>
          <p:cNvSpPr/>
          <p:nvPr/>
        </p:nvSpPr>
        <p:spPr>
          <a:xfrm>
            <a:off x="777240" y="4242816"/>
            <a:ext cx="457200" cy="457200"/>
          </a:xfrm>
          <a:prstGeom prst="ellipse">
            <a:avLst/>
          </a:prstGeom>
          <a:solidFill>
            <a:srgbClr val="DCF3F2"/>
          </a:solidFill>
          <a:ln/>
        </p:spPr>
      </p:sp>
      <p:pic>
        <p:nvPicPr>
          <p:cNvPr id="46" name="Image 3" descr="/home/claude/work/build/icons/dollar.png">    </p:cNvPr>
          <p:cNvPicPr>
            <a:picLocks noChangeAspect="1"/>
          </p:cNvPicPr>
          <p:nvPr/>
        </p:nvPicPr>
        <p:blipFill>
          <a:blip r:embed="rId5"/>
          <a:stretch>
            <a:fillRect/>
          </a:stretch>
        </p:blipFill>
        <p:spPr>
          <a:xfrm>
            <a:off x="891540" y="4357116"/>
            <a:ext cx="228600" cy="228600"/>
          </a:xfrm>
          <a:prstGeom prst="rect">
            <a:avLst/>
          </a:prstGeom>
        </p:spPr>
      </p:pic>
      <p:sp>
        <p:nvSpPr>
          <p:cNvPr id="47" name="Text 41"/>
          <p:cNvSpPr txBox="1"/>
          <p:nvPr/>
        </p:nvSpPr>
        <p:spPr>
          <a:xfrm>
            <a:off x="1417320" y="4224528"/>
            <a:ext cx="2468880" cy="45720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Project sponsor</a:t>
            </a:r>
            <a:endParaRPr lang="en-US" sz="1300" dirty="0"/>
          </a:p>
        </p:txBody>
      </p:sp>
      <p:sp>
        <p:nvSpPr>
          <p:cNvPr id="48" name="Text 42"/>
          <p:cNvSpPr txBox="1"/>
          <p:nvPr/>
        </p:nvSpPr>
        <p:spPr>
          <a:xfrm>
            <a:off x="3977640" y="4224528"/>
            <a:ext cx="5120640" cy="530352"/>
          </a:xfrm>
          <a:prstGeom prst="rect">
            <a:avLst/>
          </a:prstGeom>
          <a:noFill/>
          <a:ln/>
        </p:spPr>
        <p:txBody>
          <a:bodyPr wrap="square" lIns="0" tIns="0" rIns="0" bIns="0" rtlCol="0" anchor="ctr"/>
          <a:lstStyle/>
          <a:p>
            <a:pPr indent="0" marL="0">
              <a:lnSpc>
                <a:spcPct val="110000"/>
              </a:lnSpc>
              <a:buNone/>
            </a:pPr>
            <a:r>
              <a:rPr lang="en-US" sz="1100" dirty="0">
                <a:solidFill>
                  <a:srgbClr val="5B6B84"/>
                </a:solidFill>
                <a:latin typeface="Calibri" pitchFamily="34" charset="0"/>
                <a:ea typeface="Calibri" pitchFamily="34" charset="-122"/>
                <a:cs typeface="Calibri" pitchFamily="34" charset="-120"/>
              </a:rPr>
              <a:t>VP of Product — champions the project and secures funding.</a:t>
            </a:r>
            <a:endParaRPr lang="en-US" sz="1100" dirty="0"/>
          </a:p>
        </p:txBody>
      </p:sp>
      <p:sp>
        <p:nvSpPr>
          <p:cNvPr id="49" name="Shape 43"/>
          <p:cNvSpPr/>
          <p:nvPr/>
        </p:nvSpPr>
        <p:spPr>
          <a:xfrm>
            <a:off x="777240" y="4992624"/>
            <a:ext cx="457200" cy="457200"/>
          </a:xfrm>
          <a:prstGeom prst="ellipse">
            <a:avLst/>
          </a:prstGeom>
          <a:solidFill>
            <a:srgbClr val="DCF3F2"/>
          </a:solidFill>
          <a:ln/>
        </p:spPr>
      </p:sp>
      <p:pic>
        <p:nvPicPr>
          <p:cNvPr id="50" name="Image 4" descr="/home/claude/work/build/icons/cart.png">    </p:cNvPr>
          <p:cNvPicPr>
            <a:picLocks noChangeAspect="1"/>
          </p:cNvPicPr>
          <p:nvPr/>
        </p:nvPicPr>
        <p:blipFill>
          <a:blip r:embed="rId6"/>
          <a:stretch>
            <a:fillRect/>
          </a:stretch>
        </p:blipFill>
        <p:spPr>
          <a:xfrm>
            <a:off x="891540" y="5106924"/>
            <a:ext cx="228600" cy="228600"/>
          </a:xfrm>
          <a:prstGeom prst="rect">
            <a:avLst/>
          </a:prstGeom>
        </p:spPr>
      </p:pic>
      <p:sp>
        <p:nvSpPr>
          <p:cNvPr id="51" name="Text 44"/>
          <p:cNvSpPr txBox="1"/>
          <p:nvPr/>
        </p:nvSpPr>
        <p:spPr>
          <a:xfrm>
            <a:off x="1417320" y="4974336"/>
            <a:ext cx="2468880" cy="45720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Client / customer</a:t>
            </a:r>
            <a:endParaRPr lang="en-US" sz="1300" dirty="0"/>
          </a:p>
        </p:txBody>
      </p:sp>
      <p:sp>
        <p:nvSpPr>
          <p:cNvPr id="52" name="Text 45"/>
          <p:cNvSpPr txBox="1"/>
          <p:nvPr/>
        </p:nvSpPr>
        <p:spPr>
          <a:xfrm>
            <a:off x="3977640" y="4974336"/>
            <a:ext cx="5120640" cy="530352"/>
          </a:xfrm>
          <a:prstGeom prst="rect">
            <a:avLst/>
          </a:prstGeom>
          <a:noFill/>
          <a:ln/>
        </p:spPr>
        <p:txBody>
          <a:bodyPr wrap="square" lIns="0" tIns="0" rIns="0" bIns="0" rtlCol="0" anchor="ctr"/>
          <a:lstStyle/>
          <a:p>
            <a:pPr indent="0" marL="0">
              <a:lnSpc>
                <a:spcPct val="110000"/>
              </a:lnSpc>
              <a:buNone/>
            </a:pPr>
            <a:r>
              <a:rPr lang="en-US" sz="1100" dirty="0">
                <a:solidFill>
                  <a:srgbClr val="5B6B84"/>
                </a:solidFill>
                <a:latin typeface="Calibri" pitchFamily="34" charset="0"/>
                <a:ea typeface="Calibri" pitchFamily="34" charset="-122"/>
                <a:cs typeface="Calibri" pitchFamily="34" charset="-120"/>
              </a:rPr>
              <a:t>The OEM appliance maker that will integrate NexCore's controller board.</a:t>
            </a:r>
            <a:endParaRPr lang="en-US" sz="1100" dirty="0"/>
          </a:p>
        </p:txBody>
      </p:sp>
      <p:sp>
        <p:nvSpPr>
          <p:cNvPr id="53" name="Shape 46"/>
          <p:cNvSpPr/>
          <p:nvPr/>
        </p:nvSpPr>
        <p:spPr>
          <a:xfrm>
            <a:off x="777240" y="5742432"/>
            <a:ext cx="457200" cy="457200"/>
          </a:xfrm>
          <a:prstGeom prst="ellipse">
            <a:avLst/>
          </a:prstGeom>
          <a:solidFill>
            <a:srgbClr val="DCF3F2"/>
          </a:solidFill>
          <a:ln/>
        </p:spPr>
      </p:sp>
      <p:pic>
        <p:nvPicPr>
          <p:cNvPr id="54" name="Image 5" descr="/home/claude/work/build/icons/shield.png">    </p:cNvPr>
          <p:cNvPicPr>
            <a:picLocks noChangeAspect="1"/>
          </p:cNvPicPr>
          <p:nvPr/>
        </p:nvPicPr>
        <p:blipFill>
          <a:blip r:embed="rId7"/>
          <a:stretch>
            <a:fillRect/>
          </a:stretch>
        </p:blipFill>
        <p:spPr>
          <a:xfrm>
            <a:off x="891540" y="5856732"/>
            <a:ext cx="228600" cy="228600"/>
          </a:xfrm>
          <a:prstGeom prst="rect">
            <a:avLst/>
          </a:prstGeom>
        </p:spPr>
      </p:pic>
      <p:sp>
        <p:nvSpPr>
          <p:cNvPr id="55" name="Text 47"/>
          <p:cNvSpPr txBox="1"/>
          <p:nvPr/>
        </p:nvSpPr>
        <p:spPr>
          <a:xfrm>
            <a:off x="1417320" y="5724144"/>
            <a:ext cx="2468880" cy="45720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Functional / senior managers</a:t>
            </a:r>
            <a:endParaRPr lang="en-US" sz="1300" dirty="0"/>
          </a:p>
        </p:txBody>
      </p:sp>
      <p:sp>
        <p:nvSpPr>
          <p:cNvPr id="56" name="Text 48"/>
          <p:cNvSpPr txBox="1"/>
          <p:nvPr/>
        </p:nvSpPr>
        <p:spPr>
          <a:xfrm>
            <a:off x="3977640" y="5724144"/>
            <a:ext cx="5120640" cy="530352"/>
          </a:xfrm>
          <a:prstGeom prst="rect">
            <a:avLst/>
          </a:prstGeom>
          <a:noFill/>
          <a:ln/>
        </p:spPr>
        <p:txBody>
          <a:bodyPr wrap="square" lIns="0" tIns="0" rIns="0" bIns="0" rtlCol="0" anchor="ctr"/>
          <a:lstStyle/>
          <a:p>
            <a:pPr indent="0" marL="0">
              <a:lnSpc>
                <a:spcPct val="110000"/>
              </a:lnSpc>
              <a:buNone/>
            </a:pPr>
            <a:r>
              <a:rPr lang="en-US" sz="1100" dirty="0">
                <a:solidFill>
                  <a:srgbClr val="5B6B84"/>
                </a:solidFill>
                <a:latin typeface="Calibri" pitchFamily="34" charset="0"/>
                <a:ea typeface="Calibri" pitchFamily="34" charset="-122"/>
                <a:cs typeface="Calibri" pitchFamily="34" charset="-120"/>
              </a:rPr>
              <a:t>Engineering director, procurement, and manufacturing leads who allocate shared resources.</a:t>
            </a:r>
            <a:endParaRPr lang="en-US" sz="1100" dirty="0"/>
          </a:p>
        </p:txBody>
      </p:sp>
      <p:sp>
        <p:nvSpPr>
          <p:cNvPr id="57" name="Shape 49"/>
          <p:cNvSpPr/>
          <p:nvPr/>
        </p:nvSpPr>
        <p:spPr>
          <a:xfrm>
            <a:off x="9189720" y="2743200"/>
            <a:ext cx="2148840" cy="3566160"/>
          </a:xfrm>
          <a:prstGeom prst="roundRect">
            <a:avLst>
              <a:gd name="adj" fmla="val 4255"/>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58" name="Text 50"/>
          <p:cNvSpPr txBox="1"/>
          <p:nvPr/>
        </p:nvSpPr>
        <p:spPr>
          <a:xfrm>
            <a:off x="9299448" y="2834640"/>
            <a:ext cx="1929384" cy="256032"/>
          </a:xfrm>
          <a:prstGeom prst="rect">
            <a:avLst/>
          </a:prstGeom>
          <a:noFill/>
          <a:ln/>
        </p:spPr>
        <p:txBody>
          <a:bodyPr wrap="square" lIns="0" tIns="0" rIns="0" bIns="0" rtlCol="0" anchor="ctr"/>
          <a:lstStyle/>
          <a:p>
            <a:pPr algn="ctr" indent="0" marL="0">
              <a:buNone/>
            </a:pPr>
            <a:r>
              <a:rPr lang="en-US" sz="850" b="1" spc="50" kern="0" dirty="0">
                <a:solidFill>
                  <a:srgbClr val="FC7468"/>
                </a:solidFill>
                <a:latin typeface="Calibri" pitchFamily="34" charset="0"/>
                <a:ea typeface="Calibri" pitchFamily="34" charset="-122"/>
                <a:cs typeface="Calibri" pitchFamily="34" charset="-120"/>
              </a:rPr>
              <a:t>POWER × INTEREST</a:t>
            </a:r>
            <a:endParaRPr lang="en-US" sz="850" dirty="0"/>
          </a:p>
        </p:txBody>
      </p:sp>
      <p:sp>
        <p:nvSpPr>
          <p:cNvPr id="59" name="Shape 51"/>
          <p:cNvSpPr/>
          <p:nvPr/>
        </p:nvSpPr>
        <p:spPr>
          <a:xfrm>
            <a:off x="9509760" y="4114800"/>
            <a:ext cx="1600200" cy="0"/>
          </a:xfrm>
          <a:prstGeom prst="line">
            <a:avLst/>
          </a:prstGeom>
          <a:noFill/>
          <a:ln w="12700">
            <a:solidFill>
              <a:srgbClr val="E7E1D3"/>
            </a:solidFill>
            <a:prstDash val="solid"/>
          </a:ln>
        </p:spPr>
      </p:sp>
      <p:sp>
        <p:nvSpPr>
          <p:cNvPr id="60" name="Shape 52"/>
          <p:cNvSpPr/>
          <p:nvPr/>
        </p:nvSpPr>
        <p:spPr>
          <a:xfrm>
            <a:off x="10309860" y="3200400"/>
            <a:ext cx="0" cy="1828800"/>
          </a:xfrm>
          <a:prstGeom prst="line">
            <a:avLst/>
          </a:prstGeom>
          <a:noFill/>
          <a:ln w="12700">
            <a:solidFill>
              <a:srgbClr val="E7E1D3"/>
            </a:solidFill>
            <a:prstDash val="solid"/>
          </a:ln>
        </p:spPr>
      </p:sp>
      <p:sp>
        <p:nvSpPr>
          <p:cNvPr id="61" name="Shape 53"/>
          <p:cNvSpPr/>
          <p:nvPr/>
        </p:nvSpPr>
        <p:spPr>
          <a:xfrm>
            <a:off x="10588752" y="3639312"/>
            <a:ext cx="146304" cy="146304"/>
          </a:xfrm>
          <a:prstGeom prst="ellipse">
            <a:avLst/>
          </a:prstGeom>
          <a:solidFill>
            <a:srgbClr val="1CACBD"/>
          </a:solidFill>
          <a:ln w="12700">
            <a:solidFill>
              <a:srgbClr val="FFFFFF"/>
            </a:solidFill>
            <a:prstDash val="solid"/>
          </a:ln>
        </p:spPr>
      </p:sp>
      <p:sp>
        <p:nvSpPr>
          <p:cNvPr id="62" name="Text 54"/>
          <p:cNvSpPr txBox="1"/>
          <p:nvPr/>
        </p:nvSpPr>
        <p:spPr>
          <a:xfrm>
            <a:off x="10250424" y="3794760"/>
            <a:ext cx="822960" cy="292608"/>
          </a:xfrm>
          <a:prstGeom prst="rect">
            <a:avLst/>
          </a:prstGeom>
          <a:noFill/>
          <a:ln/>
        </p:spPr>
        <p:txBody>
          <a:bodyPr wrap="square" lIns="0" tIns="0" rIns="0" bIns="0" rtlCol="0" anchor="ctr"/>
          <a:lstStyle/>
          <a:p>
            <a:pPr algn="ctr" indent="0" marL="0">
              <a:lnSpc>
                <a:spcPct val="100000"/>
              </a:lnSpc>
              <a:buNone/>
            </a:pPr>
            <a:r>
              <a:rPr lang="en-US" sz="700" b="1" dirty="0">
                <a:solidFill>
                  <a:srgbClr val="0B2C5D"/>
                </a:solidFill>
                <a:latin typeface="Calibri" pitchFamily="34" charset="0"/>
                <a:ea typeface="Calibri" pitchFamily="34" charset="-122"/>
                <a:cs typeface="Calibri" pitchFamily="34" charset="-120"/>
              </a:rPr>
              <a:t>Manage</a:t>
            </a:r>
            <a:endParaRPr lang="en-US" sz="700" dirty="0"/>
          </a:p>
          <a:p>
            <a:pPr algn="ctr" indent="0" marL="0">
              <a:lnSpc>
                <a:spcPct val="100000"/>
              </a:lnSpc>
              <a:buNone/>
            </a:pPr>
            <a:r>
              <a:rPr lang="en-US" sz="700" b="1" dirty="0">
                <a:solidFill>
                  <a:srgbClr val="0B2C5D"/>
                </a:solidFill>
                <a:latin typeface="Calibri" pitchFamily="34" charset="0"/>
                <a:ea typeface="Calibri" pitchFamily="34" charset="-122"/>
                <a:cs typeface="Calibri" pitchFamily="34" charset="-120"/>
              </a:rPr>
              <a:t>closely</a:t>
            </a:r>
            <a:endParaRPr lang="en-US" sz="700" dirty="0"/>
          </a:p>
        </p:txBody>
      </p:sp>
      <p:sp>
        <p:nvSpPr>
          <p:cNvPr id="63" name="Shape 55"/>
          <p:cNvSpPr/>
          <p:nvPr/>
        </p:nvSpPr>
        <p:spPr>
          <a:xfrm>
            <a:off x="9884664" y="3639312"/>
            <a:ext cx="146304" cy="146304"/>
          </a:xfrm>
          <a:prstGeom prst="ellipse">
            <a:avLst/>
          </a:prstGeom>
          <a:solidFill>
            <a:srgbClr val="FC7468"/>
          </a:solidFill>
          <a:ln w="12700">
            <a:solidFill>
              <a:srgbClr val="FFFFFF"/>
            </a:solidFill>
            <a:prstDash val="solid"/>
          </a:ln>
        </p:spPr>
      </p:sp>
      <p:sp>
        <p:nvSpPr>
          <p:cNvPr id="64" name="Text 56"/>
          <p:cNvSpPr txBox="1"/>
          <p:nvPr/>
        </p:nvSpPr>
        <p:spPr>
          <a:xfrm>
            <a:off x="9546336" y="3794760"/>
            <a:ext cx="822960" cy="292608"/>
          </a:xfrm>
          <a:prstGeom prst="rect">
            <a:avLst/>
          </a:prstGeom>
          <a:noFill/>
          <a:ln/>
        </p:spPr>
        <p:txBody>
          <a:bodyPr wrap="square" lIns="0" tIns="0" rIns="0" bIns="0" rtlCol="0" anchor="ctr"/>
          <a:lstStyle/>
          <a:p>
            <a:pPr algn="ctr" indent="0" marL="0">
              <a:lnSpc>
                <a:spcPct val="100000"/>
              </a:lnSpc>
              <a:buNone/>
            </a:pPr>
            <a:r>
              <a:rPr lang="en-US" sz="700" b="1" dirty="0">
                <a:solidFill>
                  <a:srgbClr val="0B2C5D"/>
                </a:solidFill>
                <a:latin typeface="Calibri" pitchFamily="34" charset="0"/>
                <a:ea typeface="Calibri" pitchFamily="34" charset="-122"/>
                <a:cs typeface="Calibri" pitchFamily="34" charset="-120"/>
              </a:rPr>
              <a:t>Keep</a:t>
            </a:r>
            <a:endParaRPr lang="en-US" sz="700" dirty="0"/>
          </a:p>
          <a:p>
            <a:pPr algn="ctr" indent="0" marL="0">
              <a:lnSpc>
                <a:spcPct val="100000"/>
              </a:lnSpc>
              <a:buNone/>
            </a:pPr>
            <a:r>
              <a:rPr lang="en-US" sz="700" b="1" dirty="0">
                <a:solidFill>
                  <a:srgbClr val="0B2C5D"/>
                </a:solidFill>
                <a:latin typeface="Calibri" pitchFamily="34" charset="0"/>
                <a:ea typeface="Calibri" pitchFamily="34" charset="-122"/>
                <a:cs typeface="Calibri" pitchFamily="34" charset="-120"/>
              </a:rPr>
              <a:t>satisfied</a:t>
            </a:r>
            <a:endParaRPr lang="en-US" sz="700" dirty="0"/>
          </a:p>
        </p:txBody>
      </p:sp>
      <p:sp>
        <p:nvSpPr>
          <p:cNvPr id="65" name="Shape 57"/>
          <p:cNvSpPr/>
          <p:nvPr/>
        </p:nvSpPr>
        <p:spPr>
          <a:xfrm>
            <a:off x="10588752" y="4443984"/>
            <a:ext cx="146304" cy="146304"/>
          </a:xfrm>
          <a:prstGeom prst="ellipse">
            <a:avLst/>
          </a:prstGeom>
          <a:solidFill>
            <a:srgbClr val="FBC850"/>
          </a:solidFill>
          <a:ln w="12700">
            <a:solidFill>
              <a:srgbClr val="FFFFFF"/>
            </a:solidFill>
            <a:prstDash val="solid"/>
          </a:ln>
        </p:spPr>
      </p:sp>
      <p:sp>
        <p:nvSpPr>
          <p:cNvPr id="66" name="Text 58"/>
          <p:cNvSpPr txBox="1"/>
          <p:nvPr/>
        </p:nvSpPr>
        <p:spPr>
          <a:xfrm>
            <a:off x="10250424" y="4599432"/>
            <a:ext cx="822960" cy="292608"/>
          </a:xfrm>
          <a:prstGeom prst="rect">
            <a:avLst/>
          </a:prstGeom>
          <a:noFill/>
          <a:ln/>
        </p:spPr>
        <p:txBody>
          <a:bodyPr wrap="square" lIns="0" tIns="0" rIns="0" bIns="0" rtlCol="0" anchor="ctr"/>
          <a:lstStyle/>
          <a:p>
            <a:pPr algn="ctr" indent="0" marL="0">
              <a:lnSpc>
                <a:spcPct val="100000"/>
              </a:lnSpc>
              <a:buNone/>
            </a:pPr>
            <a:r>
              <a:rPr lang="en-US" sz="700" b="1" dirty="0">
                <a:solidFill>
                  <a:srgbClr val="0B2C5D"/>
                </a:solidFill>
                <a:latin typeface="Calibri" pitchFamily="34" charset="0"/>
                <a:ea typeface="Calibri" pitchFamily="34" charset="-122"/>
                <a:cs typeface="Calibri" pitchFamily="34" charset="-120"/>
              </a:rPr>
              <a:t>Keep</a:t>
            </a:r>
            <a:endParaRPr lang="en-US" sz="700" dirty="0"/>
          </a:p>
          <a:p>
            <a:pPr algn="ctr" indent="0" marL="0">
              <a:lnSpc>
                <a:spcPct val="100000"/>
              </a:lnSpc>
              <a:buNone/>
            </a:pPr>
            <a:r>
              <a:rPr lang="en-US" sz="700" b="1" dirty="0">
                <a:solidFill>
                  <a:srgbClr val="0B2C5D"/>
                </a:solidFill>
                <a:latin typeface="Calibri" pitchFamily="34" charset="0"/>
                <a:ea typeface="Calibri" pitchFamily="34" charset="-122"/>
                <a:cs typeface="Calibri" pitchFamily="34" charset="-120"/>
              </a:rPr>
              <a:t>informed</a:t>
            </a:r>
            <a:endParaRPr lang="en-US" sz="700" dirty="0"/>
          </a:p>
        </p:txBody>
      </p:sp>
      <p:sp>
        <p:nvSpPr>
          <p:cNvPr id="67" name="Shape 59"/>
          <p:cNvSpPr/>
          <p:nvPr/>
        </p:nvSpPr>
        <p:spPr>
          <a:xfrm>
            <a:off x="9884664" y="4443984"/>
            <a:ext cx="146304" cy="146304"/>
          </a:xfrm>
          <a:prstGeom prst="ellipse">
            <a:avLst/>
          </a:prstGeom>
          <a:solidFill>
            <a:srgbClr val="5B6B84"/>
          </a:solidFill>
          <a:ln w="12700">
            <a:solidFill>
              <a:srgbClr val="FFFFFF"/>
            </a:solidFill>
            <a:prstDash val="solid"/>
          </a:ln>
        </p:spPr>
      </p:sp>
      <p:sp>
        <p:nvSpPr>
          <p:cNvPr id="68" name="Text 60"/>
          <p:cNvSpPr txBox="1"/>
          <p:nvPr/>
        </p:nvSpPr>
        <p:spPr>
          <a:xfrm>
            <a:off x="9546336" y="4599432"/>
            <a:ext cx="822960" cy="292608"/>
          </a:xfrm>
          <a:prstGeom prst="rect">
            <a:avLst/>
          </a:prstGeom>
          <a:noFill/>
          <a:ln/>
        </p:spPr>
        <p:txBody>
          <a:bodyPr wrap="square" lIns="0" tIns="0" rIns="0" bIns="0" rtlCol="0" anchor="ctr"/>
          <a:lstStyle/>
          <a:p>
            <a:pPr algn="ctr" indent="0" marL="0">
              <a:lnSpc>
                <a:spcPct val="100000"/>
              </a:lnSpc>
              <a:buNone/>
            </a:pPr>
            <a:r>
              <a:rPr lang="en-US" sz="700" b="1" dirty="0">
                <a:solidFill>
                  <a:srgbClr val="0B2C5D"/>
                </a:solidFill>
                <a:latin typeface="Calibri" pitchFamily="34" charset="0"/>
                <a:ea typeface="Calibri" pitchFamily="34" charset="-122"/>
                <a:cs typeface="Calibri" pitchFamily="34" charset="-120"/>
              </a:rPr>
              <a:t>Monitor</a:t>
            </a:r>
            <a:endParaRPr lang="en-US" sz="700" dirty="0"/>
          </a:p>
        </p:txBody>
      </p:sp>
      <p:sp>
        <p:nvSpPr>
          <p:cNvPr id="69" name="Text 61"/>
          <p:cNvSpPr txBox="1"/>
          <p:nvPr/>
        </p:nvSpPr>
        <p:spPr>
          <a:xfrm>
            <a:off x="9217152" y="3182112"/>
            <a:ext cx="274320" cy="182880"/>
          </a:xfrm>
          <a:prstGeom prst="rect">
            <a:avLst/>
          </a:prstGeom>
          <a:noFill/>
          <a:ln/>
        </p:spPr>
        <p:txBody>
          <a:bodyPr wrap="square" lIns="0" tIns="0" rIns="0" bIns="0" rtlCol="0" anchor="ctr"/>
          <a:lstStyle/>
          <a:p>
            <a:pPr indent="0" marL="0">
              <a:buNone/>
            </a:pPr>
            <a:r>
              <a:rPr lang="en-US" sz="700" dirty="0">
                <a:solidFill>
                  <a:srgbClr val="5B6B84"/>
                </a:solidFill>
                <a:latin typeface="Calibri" pitchFamily="34" charset="0"/>
                <a:ea typeface="Calibri" pitchFamily="34" charset="-122"/>
                <a:cs typeface="Calibri" pitchFamily="34" charset="-120"/>
              </a:rPr>
              <a:t>Power ↑</a:t>
            </a:r>
            <a:endParaRPr lang="en-US" sz="700" dirty="0"/>
          </a:p>
        </p:txBody>
      </p:sp>
      <p:sp>
        <p:nvSpPr>
          <p:cNvPr id="70" name="Text 62"/>
          <p:cNvSpPr txBox="1"/>
          <p:nvPr/>
        </p:nvSpPr>
        <p:spPr>
          <a:xfrm>
            <a:off x="10607040" y="5084064"/>
            <a:ext cx="548640" cy="164592"/>
          </a:xfrm>
          <a:prstGeom prst="rect">
            <a:avLst/>
          </a:prstGeom>
          <a:noFill/>
          <a:ln/>
        </p:spPr>
        <p:txBody>
          <a:bodyPr wrap="square" lIns="0" tIns="0" rIns="0" bIns="0" rtlCol="0" anchor="ctr"/>
          <a:lstStyle/>
          <a:p>
            <a:pPr indent="0" marL="0">
              <a:buNone/>
            </a:pPr>
            <a:r>
              <a:rPr lang="en-US" sz="700" dirty="0">
                <a:solidFill>
                  <a:srgbClr val="5B6B84"/>
                </a:solidFill>
                <a:latin typeface="Calibri" pitchFamily="34" charset="0"/>
                <a:ea typeface="Calibri" pitchFamily="34" charset="-122"/>
                <a:cs typeface="Calibri" pitchFamily="34" charset="-120"/>
              </a:rPr>
              <a:t>Interest →</a:t>
            </a:r>
            <a:endParaRPr lang="en-US" sz="700" dirty="0"/>
          </a:p>
        </p:txBody>
      </p:sp>
      <p:sp>
        <p:nvSpPr>
          <p:cNvPr id="71" name="Text 63"/>
          <p:cNvSpPr txBox="1"/>
          <p:nvPr/>
        </p:nvSpPr>
        <p:spPr>
          <a:xfrm>
            <a:off x="9326880" y="5321808"/>
            <a:ext cx="1874520" cy="777240"/>
          </a:xfrm>
          <a:prstGeom prst="rect">
            <a:avLst/>
          </a:prstGeom>
          <a:noFill/>
          <a:ln/>
        </p:spPr>
        <p:txBody>
          <a:bodyPr wrap="square" lIns="0" tIns="0" rIns="0" bIns="0" rtlCol="0" anchor="ctr"/>
          <a:lstStyle/>
          <a:p>
            <a:pPr indent="0" marL="0">
              <a:lnSpc>
                <a:spcPct val="110000"/>
              </a:lnSpc>
              <a:buNone/>
            </a:pPr>
            <a:r>
              <a:rPr lang="en-US" sz="750" i="1" dirty="0">
                <a:solidFill>
                  <a:srgbClr val="5B6B84"/>
                </a:solidFill>
                <a:latin typeface="Calibri" pitchFamily="34" charset="0"/>
                <a:ea typeface="Calibri" pitchFamily="34" charset="-122"/>
                <a:cs typeface="Calibri" pitchFamily="34" charset="-120"/>
              </a:rPr>
              <a:t>Sponsor: manage closely. Client: keep satisfied → informed. Team: keep informed.</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3A5578"/>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3A5578"/>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9FB3CC"/>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6C84A6"/>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6C84A6"/>
                </a:solidFill>
                <a:latin typeface="Calibri" pitchFamily="34" charset="0"/>
                <a:ea typeface="Calibri" pitchFamily="34" charset="-122"/>
                <a:cs typeface="Calibri" pitchFamily="34" charset="-120"/>
              </a:rPr>
              <a:t>4</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1 · PEOPLE &amp; GOVERNANCE</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The Project Management Office (PMO)</a:t>
            </a:r>
            <a:endParaRPr lang="en-US" sz="2700" dirty="0"/>
          </a:p>
        </p:txBody>
      </p:sp>
      <p:sp>
        <p:nvSpPr>
          <p:cNvPr id="36" name="Text 33"/>
          <p:cNvSpPr txBox="1"/>
          <p:nvPr/>
        </p:nvSpPr>
        <p:spPr>
          <a:xfrm>
            <a:off x="777240" y="2212848"/>
            <a:ext cx="8778240" cy="411480"/>
          </a:xfrm>
          <a:prstGeom prst="rect">
            <a:avLst/>
          </a:prstGeom>
          <a:noFill/>
          <a:ln/>
        </p:spPr>
        <p:txBody>
          <a:bodyPr wrap="square" lIns="0" tIns="0" rIns="0" bIns="0" rtlCol="0" anchor="ctr"/>
          <a:lstStyle/>
          <a:p>
            <a:pPr indent="0" marL="0">
              <a:buNone/>
            </a:pPr>
            <a:r>
              <a:rPr lang="en-US" sz="1200" dirty="0">
                <a:solidFill>
                  <a:srgbClr val="9FB3CC"/>
                </a:solidFill>
                <a:latin typeface="Calibri" pitchFamily="34" charset="0"/>
                <a:ea typeface="Calibri" pitchFamily="34" charset="-122"/>
                <a:cs typeface="Calibri" pitchFamily="34" charset="-120"/>
              </a:rPr>
              <a:t>A PMO's authority ranges from purely advisory to fully directive — and NexCore's PMO sits at the coaching level.</a:t>
            </a:r>
            <a:endParaRPr lang="en-US" sz="1200" dirty="0"/>
          </a:p>
        </p:txBody>
      </p:sp>
      <p:sp>
        <p:nvSpPr>
          <p:cNvPr id="37" name="Shape 34"/>
          <p:cNvSpPr/>
          <p:nvPr/>
        </p:nvSpPr>
        <p:spPr>
          <a:xfrm>
            <a:off x="777240" y="2880360"/>
            <a:ext cx="3246120" cy="1920240"/>
          </a:xfrm>
          <a:prstGeom prst="roundRect">
            <a:avLst>
              <a:gd name="adj" fmla="val 4762"/>
            </a:avLst>
          </a:prstGeom>
          <a:solidFill>
            <a:srgbClr val="13315C"/>
          </a:solidFill>
          <a:ln w="12700">
            <a:solidFill>
              <a:srgbClr val="24466F"/>
            </a:solidFill>
            <a:prstDash val="solid"/>
          </a:ln>
        </p:spPr>
      </p:sp>
      <p:sp>
        <p:nvSpPr>
          <p:cNvPr id="38" name="Shape 35"/>
          <p:cNvSpPr/>
          <p:nvPr/>
        </p:nvSpPr>
        <p:spPr>
          <a:xfrm>
            <a:off x="777240" y="2880360"/>
            <a:ext cx="3246120" cy="73152"/>
          </a:xfrm>
          <a:prstGeom prst="rect">
            <a:avLst/>
          </a:prstGeom>
          <a:solidFill>
            <a:srgbClr val="1CACBD"/>
          </a:solidFill>
          <a:ln/>
        </p:spPr>
      </p:sp>
      <p:sp>
        <p:nvSpPr>
          <p:cNvPr id="39" name="Text 36"/>
          <p:cNvSpPr txBox="1"/>
          <p:nvPr/>
        </p:nvSpPr>
        <p:spPr>
          <a:xfrm>
            <a:off x="978408" y="3099816"/>
            <a:ext cx="2843784"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Supportive</a:t>
            </a:r>
            <a:endParaRPr lang="en-US" sz="1500" dirty="0"/>
          </a:p>
        </p:txBody>
      </p:sp>
      <p:sp>
        <p:nvSpPr>
          <p:cNvPr id="40" name="Text 37"/>
          <p:cNvSpPr txBox="1"/>
          <p:nvPr/>
        </p:nvSpPr>
        <p:spPr>
          <a:xfrm>
            <a:off x="978408" y="3502152"/>
            <a:ext cx="2843784" cy="822960"/>
          </a:xfrm>
          <a:prstGeom prst="rect">
            <a:avLst/>
          </a:prstGeom>
          <a:noFill/>
          <a:ln/>
        </p:spPr>
        <p:txBody>
          <a:bodyPr wrap="square" lIns="0" tIns="0" rIns="0" bIns="0" rtlCol="0" anchor="ctr"/>
          <a:lstStyle/>
          <a:p>
            <a:pPr indent="0" marL="0">
              <a:lnSpc>
                <a:spcPct val="125000"/>
              </a:lnSpc>
              <a:buNone/>
            </a:pPr>
            <a:r>
              <a:rPr lang="en-US" sz="1100" dirty="0">
                <a:solidFill>
                  <a:srgbClr val="AFC0D8"/>
                </a:solidFill>
                <a:latin typeface="Calibri" pitchFamily="34" charset="0"/>
                <a:ea typeface="Calibri" pitchFamily="34" charset="-122"/>
                <a:cs typeface="Calibri" pitchFamily="34" charset="-120"/>
              </a:rPr>
              <a:t>Consulting, templates, lessons learned</a:t>
            </a:r>
            <a:endParaRPr lang="en-US" sz="1100" dirty="0"/>
          </a:p>
        </p:txBody>
      </p:sp>
      <p:sp>
        <p:nvSpPr>
          <p:cNvPr id="41" name="Text 38"/>
          <p:cNvSpPr txBox="1"/>
          <p:nvPr/>
        </p:nvSpPr>
        <p:spPr>
          <a:xfrm>
            <a:off x="978408" y="4343400"/>
            <a:ext cx="2843784" cy="292608"/>
          </a:xfrm>
          <a:prstGeom prst="rect">
            <a:avLst/>
          </a:prstGeom>
          <a:noFill/>
          <a:ln/>
        </p:spPr>
        <p:txBody>
          <a:bodyPr wrap="square" lIns="0" tIns="0" rIns="0" bIns="0" rtlCol="0" anchor="ctr"/>
          <a:lstStyle/>
          <a:p>
            <a:pPr indent="0" marL="0">
              <a:buNone/>
            </a:pPr>
            <a:r>
              <a:rPr lang="en-US" sz="1050" b="1" dirty="0">
                <a:solidFill>
                  <a:srgbClr val="1CACBD"/>
                </a:solidFill>
                <a:latin typeface="Calibri" pitchFamily="34" charset="0"/>
                <a:ea typeface="Calibri" pitchFamily="34" charset="-122"/>
                <a:cs typeface="Calibri" pitchFamily="34" charset="-120"/>
              </a:rPr>
              <a:t>Low control</a:t>
            </a:r>
            <a:endParaRPr lang="en-US" sz="1050" dirty="0"/>
          </a:p>
        </p:txBody>
      </p:sp>
      <p:sp>
        <p:nvSpPr>
          <p:cNvPr id="42" name="Shape 39"/>
          <p:cNvSpPr/>
          <p:nvPr/>
        </p:nvSpPr>
        <p:spPr>
          <a:xfrm>
            <a:off x="4114800" y="3840480"/>
            <a:ext cx="182880" cy="0"/>
          </a:xfrm>
          <a:prstGeom prst="line">
            <a:avLst/>
          </a:prstGeom>
          <a:noFill/>
          <a:ln w="19050">
            <a:solidFill>
              <a:srgbClr val="3A5578"/>
            </a:solidFill>
            <a:prstDash val="solid"/>
            <a:tailEnd type="triangle"/>
          </a:ln>
        </p:spPr>
      </p:sp>
      <p:sp>
        <p:nvSpPr>
          <p:cNvPr id="43" name="Shape 40"/>
          <p:cNvSpPr/>
          <p:nvPr/>
        </p:nvSpPr>
        <p:spPr>
          <a:xfrm>
            <a:off x="4206240" y="2880360"/>
            <a:ext cx="3246120" cy="1920240"/>
          </a:xfrm>
          <a:prstGeom prst="roundRect">
            <a:avLst>
              <a:gd name="adj" fmla="val 4762"/>
            </a:avLst>
          </a:prstGeom>
          <a:solidFill>
            <a:srgbClr val="13315C"/>
          </a:solidFill>
          <a:ln w="12700">
            <a:solidFill>
              <a:srgbClr val="24466F"/>
            </a:solidFill>
            <a:prstDash val="solid"/>
          </a:ln>
        </p:spPr>
      </p:sp>
      <p:sp>
        <p:nvSpPr>
          <p:cNvPr id="44" name="Shape 41"/>
          <p:cNvSpPr/>
          <p:nvPr/>
        </p:nvSpPr>
        <p:spPr>
          <a:xfrm>
            <a:off x="4206240" y="2880360"/>
            <a:ext cx="3246120" cy="73152"/>
          </a:xfrm>
          <a:prstGeom prst="rect">
            <a:avLst/>
          </a:prstGeom>
          <a:solidFill>
            <a:srgbClr val="FBC850"/>
          </a:solidFill>
          <a:ln/>
        </p:spPr>
      </p:sp>
      <p:sp>
        <p:nvSpPr>
          <p:cNvPr id="45" name="Text 42"/>
          <p:cNvSpPr txBox="1"/>
          <p:nvPr/>
        </p:nvSpPr>
        <p:spPr>
          <a:xfrm>
            <a:off x="4407408" y="3099816"/>
            <a:ext cx="2843784"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Controlling</a:t>
            </a:r>
            <a:endParaRPr lang="en-US" sz="1500" dirty="0"/>
          </a:p>
        </p:txBody>
      </p:sp>
      <p:sp>
        <p:nvSpPr>
          <p:cNvPr id="46" name="Text 43"/>
          <p:cNvSpPr txBox="1"/>
          <p:nvPr/>
        </p:nvSpPr>
        <p:spPr>
          <a:xfrm>
            <a:off x="4407408" y="3502152"/>
            <a:ext cx="2843784" cy="822960"/>
          </a:xfrm>
          <a:prstGeom prst="rect">
            <a:avLst/>
          </a:prstGeom>
          <a:noFill/>
          <a:ln/>
        </p:spPr>
        <p:txBody>
          <a:bodyPr wrap="square" lIns="0" tIns="0" rIns="0" bIns="0" rtlCol="0" anchor="ctr"/>
          <a:lstStyle/>
          <a:p>
            <a:pPr indent="0" marL="0">
              <a:lnSpc>
                <a:spcPct val="125000"/>
              </a:lnSpc>
              <a:buNone/>
            </a:pPr>
            <a:r>
              <a:rPr lang="en-US" sz="1100" dirty="0">
                <a:solidFill>
                  <a:srgbClr val="AFC0D8"/>
                </a:solidFill>
                <a:latin typeface="Calibri" pitchFamily="34" charset="0"/>
                <a:ea typeface="Calibri" pitchFamily="34" charset="-122"/>
                <a:cs typeface="Calibri" pitchFamily="34" charset="-120"/>
              </a:rPr>
              <a:t>Compliance, methodology, governance</a:t>
            </a:r>
            <a:endParaRPr lang="en-US" sz="1100" dirty="0"/>
          </a:p>
        </p:txBody>
      </p:sp>
      <p:sp>
        <p:nvSpPr>
          <p:cNvPr id="47" name="Text 44"/>
          <p:cNvSpPr txBox="1"/>
          <p:nvPr/>
        </p:nvSpPr>
        <p:spPr>
          <a:xfrm>
            <a:off x="4407408" y="4343400"/>
            <a:ext cx="2843784" cy="292608"/>
          </a:xfrm>
          <a:prstGeom prst="rect">
            <a:avLst/>
          </a:prstGeom>
          <a:noFill/>
          <a:ln/>
        </p:spPr>
        <p:txBody>
          <a:bodyPr wrap="square" lIns="0" tIns="0" rIns="0" bIns="0" rtlCol="0" anchor="ctr"/>
          <a:lstStyle/>
          <a:p>
            <a:pPr indent="0" marL="0">
              <a:buNone/>
            </a:pPr>
            <a:r>
              <a:rPr lang="en-US" sz="1050" b="1" dirty="0">
                <a:solidFill>
                  <a:srgbClr val="FBC850"/>
                </a:solidFill>
                <a:latin typeface="Calibri" pitchFamily="34" charset="0"/>
                <a:ea typeface="Calibri" pitchFamily="34" charset="-122"/>
                <a:cs typeface="Calibri" pitchFamily="34" charset="-120"/>
              </a:rPr>
              <a:t>Moderate control</a:t>
            </a:r>
            <a:endParaRPr lang="en-US" sz="1050" dirty="0"/>
          </a:p>
        </p:txBody>
      </p:sp>
      <p:sp>
        <p:nvSpPr>
          <p:cNvPr id="48" name="Shape 45"/>
          <p:cNvSpPr/>
          <p:nvPr/>
        </p:nvSpPr>
        <p:spPr>
          <a:xfrm>
            <a:off x="7543800" y="3840480"/>
            <a:ext cx="182880" cy="0"/>
          </a:xfrm>
          <a:prstGeom prst="line">
            <a:avLst/>
          </a:prstGeom>
          <a:noFill/>
          <a:ln w="19050">
            <a:solidFill>
              <a:srgbClr val="3A5578"/>
            </a:solidFill>
            <a:prstDash val="solid"/>
            <a:tailEnd type="triangle"/>
          </a:ln>
        </p:spPr>
      </p:sp>
      <p:sp>
        <p:nvSpPr>
          <p:cNvPr id="49" name="Shape 46"/>
          <p:cNvSpPr/>
          <p:nvPr/>
        </p:nvSpPr>
        <p:spPr>
          <a:xfrm>
            <a:off x="7635240" y="2880360"/>
            <a:ext cx="3246120" cy="1920240"/>
          </a:xfrm>
          <a:prstGeom prst="roundRect">
            <a:avLst>
              <a:gd name="adj" fmla="val 4762"/>
            </a:avLst>
          </a:prstGeom>
          <a:solidFill>
            <a:srgbClr val="13315C"/>
          </a:solidFill>
          <a:ln w="12700">
            <a:solidFill>
              <a:srgbClr val="24466F"/>
            </a:solidFill>
            <a:prstDash val="solid"/>
          </a:ln>
        </p:spPr>
      </p:sp>
      <p:sp>
        <p:nvSpPr>
          <p:cNvPr id="50" name="Shape 47"/>
          <p:cNvSpPr/>
          <p:nvPr/>
        </p:nvSpPr>
        <p:spPr>
          <a:xfrm>
            <a:off x="7635240" y="2880360"/>
            <a:ext cx="3246120" cy="73152"/>
          </a:xfrm>
          <a:prstGeom prst="rect">
            <a:avLst/>
          </a:prstGeom>
          <a:solidFill>
            <a:srgbClr val="FC7468"/>
          </a:solidFill>
          <a:ln/>
        </p:spPr>
      </p:sp>
      <p:sp>
        <p:nvSpPr>
          <p:cNvPr id="51" name="Text 48"/>
          <p:cNvSpPr txBox="1"/>
          <p:nvPr/>
        </p:nvSpPr>
        <p:spPr>
          <a:xfrm>
            <a:off x="7836408" y="3099816"/>
            <a:ext cx="2843784"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Directive</a:t>
            </a:r>
            <a:endParaRPr lang="en-US" sz="1500" dirty="0"/>
          </a:p>
        </p:txBody>
      </p:sp>
      <p:sp>
        <p:nvSpPr>
          <p:cNvPr id="52" name="Text 49"/>
          <p:cNvSpPr txBox="1"/>
          <p:nvPr/>
        </p:nvSpPr>
        <p:spPr>
          <a:xfrm>
            <a:off x="7836408" y="3502152"/>
            <a:ext cx="2843784" cy="822960"/>
          </a:xfrm>
          <a:prstGeom prst="rect">
            <a:avLst/>
          </a:prstGeom>
          <a:noFill/>
          <a:ln/>
        </p:spPr>
        <p:txBody>
          <a:bodyPr wrap="square" lIns="0" tIns="0" rIns="0" bIns="0" rtlCol="0" anchor="ctr"/>
          <a:lstStyle/>
          <a:p>
            <a:pPr indent="0" marL="0">
              <a:lnSpc>
                <a:spcPct val="125000"/>
              </a:lnSpc>
              <a:buNone/>
            </a:pPr>
            <a:r>
              <a:rPr lang="en-US" sz="1100" dirty="0">
                <a:solidFill>
                  <a:srgbClr val="AFC0D8"/>
                </a:solidFill>
                <a:latin typeface="Calibri" pitchFamily="34" charset="0"/>
                <a:ea typeface="Calibri" pitchFamily="34" charset="-122"/>
                <a:cs typeface="Calibri" pitchFamily="34" charset="-120"/>
              </a:rPr>
              <a:t>Directly manages the projects</a:t>
            </a:r>
            <a:endParaRPr lang="en-US" sz="1100" dirty="0"/>
          </a:p>
        </p:txBody>
      </p:sp>
      <p:sp>
        <p:nvSpPr>
          <p:cNvPr id="53" name="Text 50"/>
          <p:cNvSpPr txBox="1"/>
          <p:nvPr/>
        </p:nvSpPr>
        <p:spPr>
          <a:xfrm>
            <a:off x="7836408" y="4343400"/>
            <a:ext cx="2843784" cy="292608"/>
          </a:xfrm>
          <a:prstGeom prst="rect">
            <a:avLst/>
          </a:prstGeom>
          <a:noFill/>
          <a:ln/>
        </p:spPr>
        <p:txBody>
          <a:bodyPr wrap="square" lIns="0" tIns="0" rIns="0" bIns="0" rtlCol="0" anchor="ctr"/>
          <a:lstStyle/>
          <a:p>
            <a:pPr indent="0" marL="0">
              <a:buNone/>
            </a:pPr>
            <a:r>
              <a:rPr lang="en-US" sz="1050" b="1" dirty="0">
                <a:solidFill>
                  <a:srgbClr val="FC7468"/>
                </a:solidFill>
                <a:latin typeface="Calibri" pitchFamily="34" charset="0"/>
                <a:ea typeface="Calibri" pitchFamily="34" charset="-122"/>
                <a:cs typeface="Calibri" pitchFamily="34" charset="-120"/>
              </a:rPr>
              <a:t>High control</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4983480"/>
          <a:ext cx="10607040" cy="1051560"/>
        </p:xfrm>
        <a:graphic>
          <a:graphicData uri="http://schemas.openxmlformats.org/drawingml/2006/table">
            <a:tbl>
              <a:tblPr/>
              <a:tblGrid>
                <a:gridCol w="1828800"/>
                <a:gridCol w="2926080"/>
                <a:gridCol w="2926080"/>
                <a:gridCol w="2926080"/>
              </a:tblGrid>
              <a:tr h="262890">
                <a:tc>
                  <a:txBody>
                    <a:bodyPr/>
                    <a:lstStyle/>
                    <a:p>
                      <a:pPr indent="0" marL="0">
                        <a:buNone/>
                      </a:pPr>
                      <a:endParaRPr lang="en-US" sz="120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13315C"/>
                    </a:solidFill>
                  </a:tcPr>
                </a:tc>
                <a:tc>
                  <a:txBody>
                    <a:bodyPr/>
                    <a:lstStyle/>
                    <a:p>
                      <a:pPr algn="ctr" indent="0" marL="0">
                        <a:buNone/>
                      </a:pPr>
                      <a:r>
                        <a:rPr lang="en-US" sz="950" b="1" dirty="0">
                          <a:solidFill>
                            <a:srgbClr val="9FB3CC"/>
                          </a:solidFill>
                        </a:rPr>
                        <a:t>Typical org size</a:t>
                      </a:r>
                      <a:endParaRPr lang="en-US" sz="95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13315C"/>
                    </a:solidFill>
                  </a:tcPr>
                </a:tc>
                <a:tc>
                  <a:txBody>
                    <a:bodyPr/>
                    <a:lstStyle/>
                    <a:p>
                      <a:pPr algn="ctr" indent="0" marL="0">
                        <a:buNone/>
                      </a:pPr>
                      <a:r>
                        <a:rPr lang="en-US" sz="950" b="1" dirty="0">
                          <a:solidFill>
                            <a:srgbClr val="9FB3CC"/>
                          </a:solidFill>
                        </a:rPr>
                        <a:t>Decision authority</a:t>
                      </a:r>
                      <a:endParaRPr lang="en-US" sz="95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13315C"/>
                    </a:solidFill>
                  </a:tcPr>
                </a:tc>
                <a:tc>
                  <a:txBody>
                    <a:bodyPr/>
                    <a:lstStyle/>
                    <a:p>
                      <a:pPr algn="ctr" indent="0" marL="0">
                        <a:buNone/>
                      </a:pPr>
                      <a:r>
                        <a:rPr lang="en-US" sz="950" b="1" dirty="0">
                          <a:solidFill>
                            <a:srgbClr val="9FB3CC"/>
                          </a:solidFill>
                        </a:rPr>
                        <a:t>Best fit when…</a:t>
                      </a:r>
                      <a:endParaRPr lang="en-US" sz="95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13315C"/>
                    </a:solidFill>
                  </a:tcPr>
                </a:tc>
              </a:tr>
              <a:tr h="262890">
                <a:tc>
                  <a:txBody>
                    <a:bodyPr/>
                    <a:lstStyle/>
                    <a:p>
                      <a:pPr indent="0" marL="0">
                        <a:buNone/>
                      </a:pPr>
                      <a:r>
                        <a:rPr lang="en-US" sz="1000" b="1" dirty="0">
                          <a:solidFill>
                            <a:srgbClr val="1CACBD"/>
                          </a:solidFill>
                        </a:rPr>
                        <a:t>Supportive</a:t>
                      </a:r>
                      <a:endParaRPr lang="en-US" sz="100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c>
                  <a:txBody>
                    <a:bodyPr/>
                    <a:lstStyle/>
                    <a:p>
                      <a:pPr algn="ctr" indent="0" marL="0">
                        <a:buNone/>
                      </a:pPr>
                      <a:r>
                        <a:rPr lang="en-US" sz="950" dirty="0">
                          <a:solidFill>
                            <a:srgbClr val="FFFFFF"/>
                          </a:solidFill>
                        </a:rPr>
                        <a:t>Small / startup</a:t>
                      </a:r>
                      <a:endParaRPr lang="en-US" sz="95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c>
                  <a:txBody>
                    <a:bodyPr/>
                    <a:lstStyle/>
                    <a:p>
                      <a:pPr algn="ctr" indent="0" marL="0">
                        <a:buNone/>
                      </a:pPr>
                      <a:r>
                        <a:rPr lang="en-US" sz="950" dirty="0">
                          <a:solidFill>
                            <a:srgbClr val="FFFFFF"/>
                          </a:solidFill>
                        </a:rPr>
                        <a:t>None — advisory only</a:t>
                      </a:r>
                      <a:endParaRPr lang="en-US" sz="95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c>
                  <a:txBody>
                    <a:bodyPr/>
                    <a:lstStyle/>
                    <a:p>
                      <a:pPr algn="ctr" indent="0" marL="0">
                        <a:buNone/>
                      </a:pPr>
                      <a:r>
                        <a:rPr lang="en-US" sz="950" dirty="0">
                          <a:solidFill>
                            <a:srgbClr val="FFFFFF"/>
                          </a:solidFill>
                        </a:rPr>
                        <a:t>Skilled teams, low process need</a:t>
                      </a:r>
                      <a:endParaRPr lang="en-US" sz="95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r>
              <a:tr h="262890">
                <a:tc>
                  <a:txBody>
                    <a:bodyPr/>
                    <a:lstStyle/>
                    <a:p>
                      <a:pPr indent="0" marL="0">
                        <a:buNone/>
                      </a:pPr>
                      <a:r>
                        <a:rPr lang="en-US" sz="1000" b="1" dirty="0">
                          <a:solidFill>
                            <a:srgbClr val="FBC850"/>
                          </a:solidFill>
                        </a:rPr>
                        <a:t>Controlling</a:t>
                      </a:r>
                      <a:endParaRPr lang="en-US" sz="100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c>
                  <a:txBody>
                    <a:bodyPr/>
                    <a:lstStyle/>
                    <a:p>
                      <a:pPr algn="ctr" indent="0" marL="0">
                        <a:buNone/>
                      </a:pPr>
                      <a:r>
                        <a:rPr lang="en-US" sz="950" dirty="0">
                          <a:solidFill>
                            <a:srgbClr val="FFFFFF"/>
                          </a:solidFill>
                        </a:rPr>
                        <a:t>Mid-size</a:t>
                      </a:r>
                      <a:endParaRPr lang="en-US" sz="95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c>
                  <a:txBody>
                    <a:bodyPr/>
                    <a:lstStyle/>
                    <a:p>
                      <a:pPr algn="ctr" indent="0" marL="0">
                        <a:buNone/>
                      </a:pPr>
                      <a:r>
                        <a:rPr lang="en-US" sz="950" dirty="0">
                          <a:solidFill>
                            <a:srgbClr val="FFFFFF"/>
                          </a:solidFill>
                        </a:rPr>
                        <a:t>Enforces methodology</a:t>
                      </a:r>
                      <a:endParaRPr lang="en-US" sz="95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c>
                  <a:txBody>
                    <a:bodyPr/>
                    <a:lstStyle/>
                    <a:p>
                      <a:pPr algn="ctr" indent="0" marL="0">
                        <a:buNone/>
                      </a:pPr>
                      <a:r>
                        <a:rPr lang="en-US" sz="950" dirty="0">
                          <a:solidFill>
                            <a:srgbClr val="FFFFFF"/>
                          </a:solidFill>
                        </a:rPr>
                        <a:t>Consistency matters across teams</a:t>
                      </a:r>
                      <a:endParaRPr lang="en-US" sz="95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r>
              <a:tr h="262890">
                <a:tc>
                  <a:txBody>
                    <a:bodyPr/>
                    <a:lstStyle/>
                    <a:p>
                      <a:pPr indent="0" marL="0">
                        <a:buNone/>
                      </a:pPr>
                      <a:r>
                        <a:rPr lang="en-US" sz="1000" b="1" dirty="0">
                          <a:solidFill>
                            <a:srgbClr val="FC7468"/>
                          </a:solidFill>
                        </a:rPr>
                        <a:t>Directive</a:t>
                      </a:r>
                      <a:endParaRPr lang="en-US" sz="100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c>
                  <a:txBody>
                    <a:bodyPr/>
                    <a:lstStyle/>
                    <a:p>
                      <a:pPr algn="ctr" indent="0" marL="0">
                        <a:buNone/>
                      </a:pPr>
                      <a:r>
                        <a:rPr lang="en-US" sz="950" dirty="0">
                          <a:solidFill>
                            <a:srgbClr val="FFFFFF"/>
                          </a:solidFill>
                        </a:rPr>
                        <a:t>Large enterprise</a:t>
                      </a:r>
                      <a:endParaRPr lang="en-US" sz="95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c>
                  <a:txBody>
                    <a:bodyPr/>
                    <a:lstStyle/>
                    <a:p>
                      <a:pPr algn="ctr" indent="0" marL="0">
                        <a:buNone/>
                      </a:pPr>
                      <a:r>
                        <a:rPr lang="en-US" sz="950" dirty="0">
                          <a:solidFill>
                            <a:srgbClr val="FFFFFF"/>
                          </a:solidFill>
                        </a:rPr>
                        <a:t>Owns &amp; runs projects</a:t>
                      </a:r>
                      <a:endParaRPr lang="en-US" sz="95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c>
                  <a:txBody>
                    <a:bodyPr/>
                    <a:lstStyle/>
                    <a:p>
                      <a:pPr algn="ctr" indent="0" marL="0">
                        <a:buNone/>
                      </a:pPr>
                      <a:r>
                        <a:rPr lang="en-US" sz="950" dirty="0">
                          <a:solidFill>
                            <a:srgbClr val="FFFFFF"/>
                          </a:solidFill>
                        </a:rPr>
                        <a:t>High-risk, cross-division work</a:t>
                      </a:r>
                      <a:endParaRPr lang="en-US" sz="950" dirty="0"/>
                    </a:p>
                  </a:txBody>
                  <a:tcPr marL="76200" marR="76200" marT="25400" marB="254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r>
            </a:tbl>
          </a:graphicData>
        </a:graphic>
      </p:graphicFrame>
      <p:sp>
        <p:nvSpPr>
          <p:cNvPr id="55" name="Text 51"/>
          <p:cNvSpPr txBox="1"/>
          <p:nvPr/>
        </p:nvSpPr>
        <p:spPr>
          <a:xfrm>
            <a:off x="777240" y="6108192"/>
            <a:ext cx="10607040" cy="320040"/>
          </a:xfrm>
          <a:prstGeom prst="rect">
            <a:avLst/>
          </a:prstGeom>
          <a:noFill/>
          <a:ln/>
        </p:spPr>
        <p:txBody>
          <a:bodyPr wrap="square" lIns="0" tIns="0" rIns="0" bIns="0" rtlCol="0" anchor="ctr"/>
          <a:lstStyle/>
          <a:p>
            <a:pPr indent="0" marL="0">
              <a:lnSpc>
                <a:spcPct val="110000"/>
              </a:lnSpc>
              <a:buNone/>
            </a:pPr>
            <a:r>
              <a:rPr lang="en-US" sz="900" i="1" dirty="0">
                <a:solidFill>
                  <a:srgbClr val="9FB3CC"/>
                </a:solidFill>
                <a:latin typeface="Calibri" pitchFamily="34" charset="0"/>
                <a:ea typeface="Calibri" pitchFamily="34" charset="-122"/>
                <a:cs typeface="Calibri" pitchFamily="34" charset="-120"/>
              </a:rPr>
              <a:t>NexCore application:  the Embedded Systems PMO maintains the reusable RTOS scheduling library, coaches new firmware leads on estimation, and audits milestone gates — a controlling-style office.  Industry parallels: early-stage startups often run supportive PMOs; most mid-size SaaS companies run controlling PMOs; large aerospace primes and NASA/JPL run directive PMOs.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5</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2 · ORGANIZATIONAL STRATEGY</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Why Strategy Drives Project Selection</a:t>
            </a:r>
            <a:endParaRPr lang="en-US" sz="2700" dirty="0"/>
          </a:p>
        </p:txBody>
      </p:sp>
      <p:sp>
        <p:nvSpPr>
          <p:cNvPr id="36" name="Text 33"/>
          <p:cNvSpPr txBox="1"/>
          <p:nvPr/>
        </p:nvSpPr>
        <p:spPr>
          <a:xfrm>
            <a:off x="777240" y="2514600"/>
            <a:ext cx="6309360" cy="3566160"/>
          </a:xfrm>
          <a:prstGeom prst="rect">
            <a:avLst/>
          </a:prstGeom>
          <a:noFill/>
          <a:ln/>
        </p:spPr>
        <p:txBody>
          <a:bodyPr wrap="square" lIns="0" tIns="0" rIns="0" bIns="0" rtlCol="0" anchor="ctr"/>
          <a:lstStyle/>
          <a:p>
            <a:pPr marL="228600" indent="-228600">
              <a:lnSpc>
                <a:spcPct val="118000"/>
              </a:lnSpc>
              <a:spcAft>
                <a:spcPts val="1000"/>
              </a:spcAft>
              <a:buSzPct val="100000"/>
              <a:buChar char="•"/>
            </a:pPr>
            <a:r>
              <a:rPr lang="en-US" sz="1350" dirty="0">
                <a:solidFill>
                  <a:srgbClr val="0B2C5D"/>
                </a:solidFill>
                <a:latin typeface="Calibri" pitchFamily="34" charset="0"/>
                <a:ea typeface="Calibri" pitchFamily="34" charset="-122"/>
                <a:cs typeface="Calibri" pitchFamily="34" charset="-120"/>
              </a:rPr>
              <a:t>A project is a means to execute organizational strategy — not an end in itself.</a:t>
            </a:r>
            <a:endParaRPr lang="en-US" sz="1350" dirty="0"/>
          </a:p>
          <a:p>
            <a:pPr marL="228600" indent="-228600">
              <a:lnSpc>
                <a:spcPct val="118000"/>
              </a:lnSpc>
              <a:spcAft>
                <a:spcPts val="1000"/>
              </a:spcAft>
              <a:buSzPct val="100000"/>
              <a:buChar char="•"/>
            </a:pPr>
            <a:r>
              <a:rPr lang="en-US" sz="1350" dirty="0">
                <a:solidFill>
                  <a:srgbClr val="0B2C5D"/>
                </a:solidFill>
                <a:latin typeface="Calibri" pitchFamily="34" charset="0"/>
                <a:ea typeface="Calibri" pitchFamily="34" charset="-122"/>
                <a:cs typeface="Calibri" pitchFamily="34" charset="-120"/>
              </a:rPr>
              <a:t>Every project should trace back to a strategic objective; if it can't, it shouldn't be funded.</a:t>
            </a:r>
            <a:endParaRPr lang="en-US" sz="1350" dirty="0"/>
          </a:p>
          <a:p>
            <a:pPr marL="228600" indent="-228600">
              <a:lnSpc>
                <a:spcPct val="118000"/>
              </a:lnSpc>
              <a:spcAft>
                <a:spcPts val="1000"/>
              </a:spcAft>
              <a:buSzPct val="100000"/>
              <a:buChar char="•"/>
            </a:pPr>
            <a:r>
              <a:rPr lang="en-US" sz="1350" dirty="0">
                <a:solidFill>
                  <a:srgbClr val="0B2C5D"/>
                </a:solidFill>
                <a:latin typeface="Calibri" pitchFamily="34" charset="0"/>
                <a:ea typeface="Calibri" pitchFamily="34" charset="-122"/>
                <a:cs typeface="Calibri" pitchFamily="34" charset="-120"/>
              </a:rPr>
              <a:t>Strategy answers "where do we compete and how do we win"; project selection answers "which initiatives get us there fastest, cheapest, safest."</a:t>
            </a:r>
            <a:endParaRPr lang="en-US" sz="1350" dirty="0"/>
          </a:p>
          <a:p>
            <a:pPr marL="228600" indent="-228600">
              <a:lnSpc>
                <a:spcPct val="118000"/>
              </a:lnSpc>
              <a:spcAft>
                <a:spcPts val="1000"/>
              </a:spcAft>
              <a:buSzPct val="100000"/>
              <a:buChar char="•"/>
            </a:pPr>
            <a:r>
              <a:rPr lang="en-US" sz="1350" dirty="0">
                <a:solidFill>
                  <a:srgbClr val="0B2C5D"/>
                </a:solidFill>
                <a:latin typeface="Calibri" pitchFamily="34" charset="0"/>
                <a:ea typeface="Calibri" pitchFamily="34" charset="-122"/>
                <a:cs typeface="Calibri" pitchFamily="34" charset="-120"/>
              </a:rPr>
              <a:t>At NexCore, the strategic objective "become the OEM's preferred embedded-controller supplier" filters every proposed project.</a:t>
            </a:r>
            <a:endParaRPr lang="en-US" sz="1350" dirty="0"/>
          </a:p>
          <a:p>
            <a:pPr marL="228600" indent="-228600">
              <a:lnSpc>
                <a:spcPct val="118000"/>
              </a:lnSpc>
              <a:spcAft>
                <a:spcPts val="1000"/>
              </a:spcAft>
              <a:buSzPct val="100000"/>
              <a:buChar char="•"/>
            </a:pPr>
            <a:r>
              <a:rPr lang="en-US" sz="1350" dirty="0">
                <a:solidFill>
                  <a:srgbClr val="0B2C5D"/>
                </a:solidFill>
                <a:latin typeface="Calibri" pitchFamily="34" charset="0"/>
                <a:ea typeface="Calibri" pitchFamily="34" charset="-122"/>
                <a:cs typeface="Calibri" pitchFamily="34" charset="-120"/>
              </a:rPr>
              <a:t>Real-world parallel: in 1997 Steve Jobs cut Apple's product line from ~40 SKUs to 4, killing projects that didn't fit the new strategy — however promising they looked individually.</a:t>
            </a:r>
            <a:endParaRPr lang="en-US" sz="1350" dirty="0"/>
          </a:p>
        </p:txBody>
      </p:sp>
      <p:sp>
        <p:nvSpPr>
          <p:cNvPr id="37" name="Shape 34"/>
          <p:cNvSpPr/>
          <p:nvPr/>
        </p:nvSpPr>
        <p:spPr>
          <a:xfrm>
            <a:off x="7498080" y="2514600"/>
            <a:ext cx="3886200" cy="3429000"/>
          </a:xfrm>
          <a:prstGeom prst="roundRect">
            <a:avLst>
              <a:gd name="adj" fmla="val 2667"/>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38" name="Shape 35"/>
          <p:cNvSpPr/>
          <p:nvPr/>
        </p:nvSpPr>
        <p:spPr>
          <a:xfrm>
            <a:off x="7498080" y="2514600"/>
            <a:ext cx="3886200" cy="73152"/>
          </a:xfrm>
          <a:prstGeom prst="rect">
            <a:avLst/>
          </a:prstGeom>
          <a:solidFill>
            <a:srgbClr val="1CACBD"/>
          </a:solidFill>
          <a:ln/>
        </p:spPr>
      </p:sp>
      <p:sp>
        <p:nvSpPr>
          <p:cNvPr id="39" name="Text 36"/>
          <p:cNvSpPr txBox="1"/>
          <p:nvPr/>
        </p:nvSpPr>
        <p:spPr>
          <a:xfrm>
            <a:off x="7726680" y="2743200"/>
            <a:ext cx="3383280" cy="274320"/>
          </a:xfrm>
          <a:prstGeom prst="rect">
            <a:avLst/>
          </a:prstGeom>
          <a:noFill/>
          <a:ln/>
        </p:spPr>
        <p:txBody>
          <a:bodyPr wrap="square" lIns="0" tIns="0" rIns="0" bIns="0" rtlCol="0" anchor="ctr"/>
          <a:lstStyle/>
          <a:p>
            <a:pPr indent="0" marL="0">
              <a:buNone/>
            </a:pPr>
            <a:r>
              <a:rPr lang="en-US" sz="1050" b="1" spc="100" kern="0" dirty="0">
                <a:solidFill>
                  <a:srgbClr val="FC7468"/>
                </a:solidFill>
                <a:latin typeface="Calibri" pitchFamily="34" charset="0"/>
                <a:ea typeface="Calibri" pitchFamily="34" charset="-122"/>
                <a:cs typeface="Calibri" pitchFamily="34" charset="-120"/>
              </a:rPr>
              <a:t>STRATEGY → PROJECT CHAIN</a:t>
            </a:r>
            <a:endParaRPr lang="en-US" sz="1050" dirty="0"/>
          </a:p>
        </p:txBody>
      </p:sp>
      <p:sp>
        <p:nvSpPr>
          <p:cNvPr id="40" name="Shape 37"/>
          <p:cNvSpPr/>
          <p:nvPr/>
        </p:nvSpPr>
        <p:spPr>
          <a:xfrm>
            <a:off x="7726680" y="3108960"/>
            <a:ext cx="3246120" cy="411480"/>
          </a:xfrm>
          <a:prstGeom prst="roundRect">
            <a:avLst>
              <a:gd name="adj" fmla="val 13333"/>
            </a:avLst>
          </a:prstGeom>
          <a:solidFill>
            <a:srgbClr val="FDFAF3"/>
          </a:solidFill>
          <a:ln w="12700">
            <a:solidFill>
              <a:srgbClr val="E7E1D3"/>
            </a:solidFill>
            <a:prstDash val="solid"/>
          </a:ln>
        </p:spPr>
      </p:sp>
      <p:sp>
        <p:nvSpPr>
          <p:cNvPr id="41" name="Text 38"/>
          <p:cNvSpPr txBox="1"/>
          <p:nvPr/>
        </p:nvSpPr>
        <p:spPr>
          <a:xfrm>
            <a:off x="7726680" y="3108960"/>
            <a:ext cx="3246120" cy="411480"/>
          </a:xfrm>
          <a:prstGeom prst="rect">
            <a:avLst/>
          </a:prstGeom>
          <a:noFill/>
          <a:ln/>
        </p:spPr>
        <p:txBody>
          <a:bodyPr wrap="square" lIns="0" tIns="0" rIns="0" bIns="0" rtlCol="0" anchor="ctr"/>
          <a:lstStyle/>
          <a:p>
            <a:pPr algn="ctr" indent="0" marL="0">
              <a:buNone/>
            </a:pPr>
            <a:r>
              <a:rPr lang="en-US" sz="1150" dirty="0">
                <a:solidFill>
                  <a:srgbClr val="0B2C5D"/>
                </a:solidFill>
                <a:latin typeface="Calibri" pitchFamily="34" charset="0"/>
                <a:ea typeface="Calibri" pitchFamily="34" charset="-122"/>
                <a:cs typeface="Calibri" pitchFamily="34" charset="-120"/>
              </a:rPr>
              <a:t>Mission</a:t>
            </a:r>
            <a:endParaRPr lang="en-US" sz="1150" dirty="0"/>
          </a:p>
        </p:txBody>
      </p:sp>
      <p:sp>
        <p:nvSpPr>
          <p:cNvPr id="42" name="Shape 39"/>
          <p:cNvSpPr/>
          <p:nvPr/>
        </p:nvSpPr>
        <p:spPr>
          <a:xfrm>
            <a:off x="9349740" y="3520440"/>
            <a:ext cx="0" cy="155448"/>
          </a:xfrm>
          <a:prstGeom prst="line">
            <a:avLst/>
          </a:prstGeom>
          <a:noFill/>
          <a:ln w="19050">
            <a:solidFill>
              <a:srgbClr val="5B6B84"/>
            </a:solidFill>
            <a:prstDash val="solid"/>
            <a:tailEnd type="triangle"/>
          </a:ln>
        </p:spPr>
      </p:sp>
      <p:sp>
        <p:nvSpPr>
          <p:cNvPr id="43" name="Shape 40"/>
          <p:cNvSpPr/>
          <p:nvPr/>
        </p:nvSpPr>
        <p:spPr>
          <a:xfrm>
            <a:off x="7726680" y="3675888"/>
            <a:ext cx="3246120" cy="411480"/>
          </a:xfrm>
          <a:prstGeom prst="roundRect">
            <a:avLst>
              <a:gd name="adj" fmla="val 13333"/>
            </a:avLst>
          </a:prstGeom>
          <a:solidFill>
            <a:srgbClr val="FDFAF3"/>
          </a:solidFill>
          <a:ln w="12700">
            <a:solidFill>
              <a:srgbClr val="E7E1D3"/>
            </a:solidFill>
            <a:prstDash val="solid"/>
          </a:ln>
        </p:spPr>
      </p:sp>
      <p:sp>
        <p:nvSpPr>
          <p:cNvPr id="44" name="Text 41"/>
          <p:cNvSpPr txBox="1"/>
          <p:nvPr/>
        </p:nvSpPr>
        <p:spPr>
          <a:xfrm>
            <a:off x="7726680" y="3675888"/>
            <a:ext cx="3246120" cy="411480"/>
          </a:xfrm>
          <a:prstGeom prst="rect">
            <a:avLst/>
          </a:prstGeom>
          <a:noFill/>
          <a:ln/>
        </p:spPr>
        <p:txBody>
          <a:bodyPr wrap="square" lIns="0" tIns="0" rIns="0" bIns="0" rtlCol="0" anchor="ctr"/>
          <a:lstStyle/>
          <a:p>
            <a:pPr algn="ctr" indent="0" marL="0">
              <a:buNone/>
            </a:pPr>
            <a:r>
              <a:rPr lang="en-US" sz="1150" dirty="0">
                <a:solidFill>
                  <a:srgbClr val="0B2C5D"/>
                </a:solidFill>
                <a:latin typeface="Calibri" pitchFamily="34" charset="0"/>
                <a:ea typeface="Calibri" pitchFamily="34" charset="-122"/>
                <a:cs typeface="Calibri" pitchFamily="34" charset="-120"/>
              </a:rPr>
              <a:t>Objectives</a:t>
            </a:r>
            <a:endParaRPr lang="en-US" sz="1150" dirty="0"/>
          </a:p>
        </p:txBody>
      </p:sp>
      <p:sp>
        <p:nvSpPr>
          <p:cNvPr id="45" name="Shape 42"/>
          <p:cNvSpPr/>
          <p:nvPr/>
        </p:nvSpPr>
        <p:spPr>
          <a:xfrm>
            <a:off x="9349740" y="4087368"/>
            <a:ext cx="0" cy="155448"/>
          </a:xfrm>
          <a:prstGeom prst="line">
            <a:avLst/>
          </a:prstGeom>
          <a:noFill/>
          <a:ln w="19050">
            <a:solidFill>
              <a:srgbClr val="5B6B84"/>
            </a:solidFill>
            <a:prstDash val="solid"/>
            <a:tailEnd type="triangle"/>
          </a:ln>
        </p:spPr>
      </p:sp>
      <p:sp>
        <p:nvSpPr>
          <p:cNvPr id="46" name="Shape 43"/>
          <p:cNvSpPr/>
          <p:nvPr/>
        </p:nvSpPr>
        <p:spPr>
          <a:xfrm>
            <a:off x="7726680" y="4242816"/>
            <a:ext cx="3246120" cy="411480"/>
          </a:xfrm>
          <a:prstGeom prst="roundRect">
            <a:avLst>
              <a:gd name="adj" fmla="val 13333"/>
            </a:avLst>
          </a:prstGeom>
          <a:solidFill>
            <a:srgbClr val="FDFAF3"/>
          </a:solidFill>
          <a:ln w="12700">
            <a:solidFill>
              <a:srgbClr val="E7E1D3"/>
            </a:solidFill>
            <a:prstDash val="solid"/>
          </a:ln>
        </p:spPr>
      </p:sp>
      <p:sp>
        <p:nvSpPr>
          <p:cNvPr id="47" name="Text 44"/>
          <p:cNvSpPr txBox="1"/>
          <p:nvPr/>
        </p:nvSpPr>
        <p:spPr>
          <a:xfrm>
            <a:off x="7726680" y="4242816"/>
            <a:ext cx="3246120" cy="411480"/>
          </a:xfrm>
          <a:prstGeom prst="rect">
            <a:avLst/>
          </a:prstGeom>
          <a:noFill/>
          <a:ln/>
        </p:spPr>
        <p:txBody>
          <a:bodyPr wrap="square" lIns="0" tIns="0" rIns="0" bIns="0" rtlCol="0" anchor="ctr"/>
          <a:lstStyle/>
          <a:p>
            <a:pPr algn="ctr" indent="0" marL="0">
              <a:buNone/>
            </a:pPr>
            <a:r>
              <a:rPr lang="en-US" sz="1150" dirty="0">
                <a:solidFill>
                  <a:srgbClr val="0B2C5D"/>
                </a:solidFill>
                <a:latin typeface="Calibri" pitchFamily="34" charset="0"/>
                <a:ea typeface="Calibri" pitchFamily="34" charset="-122"/>
                <a:cs typeface="Calibri" pitchFamily="34" charset="-120"/>
              </a:rPr>
              <a:t>Strategy</a:t>
            </a:r>
            <a:endParaRPr lang="en-US" sz="1150" dirty="0"/>
          </a:p>
        </p:txBody>
      </p:sp>
      <p:sp>
        <p:nvSpPr>
          <p:cNvPr id="48" name="Shape 45"/>
          <p:cNvSpPr/>
          <p:nvPr/>
        </p:nvSpPr>
        <p:spPr>
          <a:xfrm>
            <a:off x="9349740" y="4654296"/>
            <a:ext cx="0" cy="155448"/>
          </a:xfrm>
          <a:prstGeom prst="line">
            <a:avLst/>
          </a:prstGeom>
          <a:noFill/>
          <a:ln w="19050">
            <a:solidFill>
              <a:srgbClr val="5B6B84"/>
            </a:solidFill>
            <a:prstDash val="solid"/>
            <a:tailEnd type="triangle"/>
          </a:ln>
        </p:spPr>
      </p:sp>
      <p:sp>
        <p:nvSpPr>
          <p:cNvPr id="49" name="Shape 46"/>
          <p:cNvSpPr/>
          <p:nvPr/>
        </p:nvSpPr>
        <p:spPr>
          <a:xfrm>
            <a:off x="7726680" y="4809744"/>
            <a:ext cx="3246120" cy="411480"/>
          </a:xfrm>
          <a:prstGeom prst="roundRect">
            <a:avLst>
              <a:gd name="adj" fmla="val 13333"/>
            </a:avLst>
          </a:prstGeom>
          <a:solidFill>
            <a:srgbClr val="FDFAF3"/>
          </a:solidFill>
          <a:ln w="12700">
            <a:solidFill>
              <a:srgbClr val="E7E1D3"/>
            </a:solidFill>
            <a:prstDash val="solid"/>
          </a:ln>
        </p:spPr>
      </p:sp>
      <p:sp>
        <p:nvSpPr>
          <p:cNvPr id="50" name="Text 47"/>
          <p:cNvSpPr txBox="1"/>
          <p:nvPr/>
        </p:nvSpPr>
        <p:spPr>
          <a:xfrm>
            <a:off x="7726680" y="4809744"/>
            <a:ext cx="3246120" cy="411480"/>
          </a:xfrm>
          <a:prstGeom prst="rect">
            <a:avLst/>
          </a:prstGeom>
          <a:noFill/>
          <a:ln/>
        </p:spPr>
        <p:txBody>
          <a:bodyPr wrap="square" lIns="0" tIns="0" rIns="0" bIns="0" rtlCol="0" anchor="ctr"/>
          <a:lstStyle/>
          <a:p>
            <a:pPr algn="ctr" indent="0" marL="0">
              <a:buNone/>
            </a:pPr>
            <a:r>
              <a:rPr lang="en-US" sz="1150" dirty="0">
                <a:solidFill>
                  <a:srgbClr val="0B2C5D"/>
                </a:solidFill>
                <a:latin typeface="Calibri" pitchFamily="34" charset="0"/>
                <a:ea typeface="Calibri" pitchFamily="34" charset="-122"/>
                <a:cs typeface="Calibri" pitchFamily="34" charset="-120"/>
              </a:rPr>
              <a:t>Project Portfolio</a:t>
            </a:r>
            <a:endParaRPr lang="en-US" sz="1150" dirty="0"/>
          </a:p>
        </p:txBody>
      </p:sp>
      <p:sp>
        <p:nvSpPr>
          <p:cNvPr id="51" name="Shape 48"/>
          <p:cNvSpPr/>
          <p:nvPr/>
        </p:nvSpPr>
        <p:spPr>
          <a:xfrm>
            <a:off x="9349740" y="5221224"/>
            <a:ext cx="0" cy="155448"/>
          </a:xfrm>
          <a:prstGeom prst="line">
            <a:avLst/>
          </a:prstGeom>
          <a:noFill/>
          <a:ln w="19050">
            <a:solidFill>
              <a:srgbClr val="5B6B84"/>
            </a:solidFill>
            <a:prstDash val="solid"/>
            <a:tailEnd type="triangle"/>
          </a:ln>
        </p:spPr>
      </p:sp>
      <p:sp>
        <p:nvSpPr>
          <p:cNvPr id="52" name="Shape 49"/>
          <p:cNvSpPr/>
          <p:nvPr/>
        </p:nvSpPr>
        <p:spPr>
          <a:xfrm>
            <a:off x="7726680" y="5376672"/>
            <a:ext cx="3246120" cy="411480"/>
          </a:xfrm>
          <a:prstGeom prst="roundRect">
            <a:avLst>
              <a:gd name="adj" fmla="val 13333"/>
            </a:avLst>
          </a:prstGeom>
          <a:solidFill>
            <a:srgbClr val="1CACBD"/>
          </a:solidFill>
          <a:ln w="12700">
            <a:solidFill>
              <a:srgbClr val="E7E1D3"/>
            </a:solidFill>
            <a:prstDash val="solid"/>
          </a:ln>
        </p:spPr>
      </p:sp>
      <p:sp>
        <p:nvSpPr>
          <p:cNvPr id="53" name="Text 50"/>
          <p:cNvSpPr txBox="1"/>
          <p:nvPr/>
        </p:nvSpPr>
        <p:spPr>
          <a:xfrm>
            <a:off x="7726680" y="5376672"/>
            <a:ext cx="3246120" cy="41148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Selected Projects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6</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2 · ORGANIZATIONAL STRATEGY</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Four Generic Strategic Options</a:t>
            </a:r>
            <a:endParaRPr lang="en-US" sz="2700" dirty="0"/>
          </a:p>
        </p:txBody>
      </p:sp>
      <p:sp>
        <p:nvSpPr>
          <p:cNvPr id="36" name="Shape 33"/>
          <p:cNvSpPr/>
          <p:nvPr/>
        </p:nvSpPr>
        <p:spPr>
          <a:xfrm>
            <a:off x="777240" y="2514600"/>
            <a:ext cx="2542032" cy="3429000"/>
          </a:xfrm>
          <a:prstGeom prst="roundRect">
            <a:avLst>
              <a:gd name="adj" fmla="val 3597"/>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37" name="Shape 34"/>
          <p:cNvSpPr/>
          <p:nvPr/>
        </p:nvSpPr>
        <p:spPr>
          <a:xfrm>
            <a:off x="777240" y="2514600"/>
            <a:ext cx="2542032" cy="73152"/>
          </a:xfrm>
          <a:prstGeom prst="rect">
            <a:avLst/>
          </a:prstGeom>
          <a:solidFill>
            <a:srgbClr val="1CACBD"/>
          </a:solidFill>
          <a:ln/>
        </p:spPr>
      </p:sp>
      <p:sp>
        <p:nvSpPr>
          <p:cNvPr id="38" name="Shape 35"/>
          <p:cNvSpPr/>
          <p:nvPr/>
        </p:nvSpPr>
        <p:spPr>
          <a:xfrm>
            <a:off x="1796796" y="2715768"/>
            <a:ext cx="502920" cy="502920"/>
          </a:xfrm>
          <a:prstGeom prst="ellipse">
            <a:avLst/>
          </a:prstGeom>
          <a:solidFill>
            <a:srgbClr val="1CACBD"/>
          </a:solidFill>
          <a:ln/>
        </p:spPr>
      </p:sp>
      <p:pic>
        <p:nvPicPr>
          <p:cNvPr id="39" name="Image 1" descr="/home/claude/work/build/icons/trenddown.png">    </p:cNvPr>
          <p:cNvPicPr>
            <a:picLocks noChangeAspect="1"/>
          </p:cNvPicPr>
          <p:nvPr/>
        </p:nvPicPr>
        <p:blipFill>
          <a:blip r:embed="rId3"/>
          <a:stretch>
            <a:fillRect/>
          </a:stretch>
        </p:blipFill>
        <p:spPr>
          <a:xfrm>
            <a:off x="1922526" y="2841498"/>
            <a:ext cx="251460" cy="251460"/>
          </a:xfrm>
          <a:prstGeom prst="rect">
            <a:avLst/>
          </a:prstGeom>
        </p:spPr>
      </p:pic>
      <p:sp>
        <p:nvSpPr>
          <p:cNvPr id="40" name="Text 36"/>
          <p:cNvSpPr txBox="1"/>
          <p:nvPr/>
        </p:nvSpPr>
        <p:spPr>
          <a:xfrm>
            <a:off x="886968" y="3319272"/>
            <a:ext cx="2322576" cy="457200"/>
          </a:xfrm>
          <a:prstGeom prst="rect">
            <a:avLst/>
          </a:prstGeom>
          <a:noFill/>
          <a:ln/>
        </p:spPr>
        <p:txBody>
          <a:bodyPr wrap="square" lIns="0" tIns="0" rIns="0" bIns="0" rtlCol="0" anchor="ctr"/>
          <a:lstStyle/>
          <a:p>
            <a:pPr algn="ctr" indent="0" marL="0">
              <a:buNone/>
            </a:pPr>
            <a:r>
              <a:rPr lang="en-US" sz="1250" b="1" dirty="0">
                <a:solidFill>
                  <a:srgbClr val="0B2C5D"/>
                </a:solidFill>
                <a:latin typeface="Calibri" pitchFamily="34" charset="0"/>
                <a:ea typeface="Calibri" pitchFamily="34" charset="-122"/>
                <a:cs typeface="Calibri" pitchFamily="34" charset="-120"/>
              </a:rPr>
              <a:t>Cost leadership</a:t>
            </a:r>
            <a:endParaRPr lang="en-US" sz="1250" dirty="0"/>
          </a:p>
        </p:txBody>
      </p:sp>
      <p:sp>
        <p:nvSpPr>
          <p:cNvPr id="41" name="Text 37"/>
          <p:cNvSpPr txBox="1"/>
          <p:nvPr/>
        </p:nvSpPr>
        <p:spPr>
          <a:xfrm>
            <a:off x="914400" y="3776472"/>
            <a:ext cx="2267712" cy="621792"/>
          </a:xfrm>
          <a:prstGeom prst="rect">
            <a:avLst/>
          </a:prstGeom>
          <a:noFill/>
          <a:ln/>
        </p:spPr>
        <p:txBody>
          <a:bodyPr wrap="square" lIns="0" tIns="0" rIns="0" bIns="0" rtlCol="0" anchor="ctr"/>
          <a:lstStyle/>
          <a:p>
            <a:pPr algn="ctr" indent="0" marL="0">
              <a:lnSpc>
                <a:spcPct val="115000"/>
              </a:lnSpc>
              <a:buNone/>
            </a:pPr>
            <a:r>
              <a:rPr lang="en-US" sz="900" dirty="0">
                <a:solidFill>
                  <a:srgbClr val="5B6B84"/>
                </a:solidFill>
                <a:latin typeface="Calibri" pitchFamily="34" charset="0"/>
                <a:ea typeface="Calibri" pitchFamily="34" charset="-122"/>
                <a:cs typeface="Calibri" pitchFamily="34" charset="-120"/>
              </a:rPr>
              <a:t>Compete on price via operational efficiency.</a:t>
            </a:r>
            <a:endParaRPr lang="en-US" sz="900" dirty="0"/>
          </a:p>
        </p:txBody>
      </p:sp>
      <p:sp>
        <p:nvSpPr>
          <p:cNvPr id="42" name="Shape 38"/>
          <p:cNvSpPr/>
          <p:nvPr/>
        </p:nvSpPr>
        <p:spPr>
          <a:xfrm>
            <a:off x="1051560" y="4453128"/>
            <a:ext cx="1993392" cy="0"/>
          </a:xfrm>
          <a:prstGeom prst="line">
            <a:avLst/>
          </a:prstGeom>
          <a:noFill/>
          <a:ln w="12700">
            <a:solidFill>
              <a:srgbClr val="E7E1D3"/>
            </a:solidFill>
            <a:prstDash val="solid"/>
          </a:ln>
        </p:spPr>
      </p:sp>
      <p:sp>
        <p:nvSpPr>
          <p:cNvPr id="43" name="Text 39"/>
          <p:cNvSpPr txBox="1"/>
          <p:nvPr/>
        </p:nvSpPr>
        <p:spPr>
          <a:xfrm>
            <a:off x="914400" y="4526280"/>
            <a:ext cx="2267712" cy="182880"/>
          </a:xfrm>
          <a:prstGeom prst="rect">
            <a:avLst/>
          </a:prstGeom>
          <a:noFill/>
          <a:ln/>
        </p:spPr>
        <p:txBody>
          <a:bodyPr wrap="square" lIns="0" tIns="0" rIns="0" bIns="0" rtlCol="0" anchor="ctr"/>
          <a:lstStyle/>
          <a:p>
            <a:pPr indent="0" marL="0">
              <a:buNone/>
            </a:pPr>
            <a:r>
              <a:rPr lang="en-US" sz="750" b="1" spc="80" kern="0" dirty="0">
                <a:solidFill>
                  <a:srgbClr val="1CACBD"/>
                </a:solidFill>
                <a:latin typeface="Calibri" pitchFamily="34" charset="0"/>
                <a:ea typeface="Calibri" pitchFamily="34" charset="-122"/>
                <a:cs typeface="Calibri" pitchFamily="34" charset="-120"/>
              </a:rPr>
              <a:t>NEXCORE:</a:t>
            </a:r>
            <a:endParaRPr lang="en-US" sz="750" dirty="0"/>
          </a:p>
        </p:txBody>
      </p:sp>
      <p:sp>
        <p:nvSpPr>
          <p:cNvPr id="44" name="Text 40"/>
          <p:cNvSpPr txBox="1"/>
          <p:nvPr/>
        </p:nvSpPr>
        <p:spPr>
          <a:xfrm>
            <a:off x="914400" y="4709160"/>
            <a:ext cx="2267712" cy="502920"/>
          </a:xfrm>
          <a:prstGeom prst="rect">
            <a:avLst/>
          </a:prstGeom>
          <a:noFill/>
          <a:ln/>
        </p:spPr>
        <p:txBody>
          <a:bodyPr wrap="square" lIns="0" tIns="0" rIns="0" bIns="0" rtlCol="0" anchor="ctr"/>
          <a:lstStyle/>
          <a:p>
            <a:pPr indent="0" marL="0">
              <a:lnSpc>
                <a:spcPct val="110000"/>
              </a:lnSpc>
              <a:buNone/>
            </a:pPr>
            <a:r>
              <a:rPr lang="en-US" sz="850" i="1" dirty="0">
                <a:solidFill>
                  <a:srgbClr val="0B2C5D"/>
                </a:solidFill>
                <a:latin typeface="Calibri" pitchFamily="34" charset="0"/>
                <a:ea typeface="Calibri" pitchFamily="34" charset="-122"/>
                <a:cs typeface="Calibri" pitchFamily="34" charset="-120"/>
              </a:rPr>
              <a:t>Automate PCB testing to cut per-unit QA cost.</a:t>
            </a:r>
            <a:endParaRPr lang="en-US" sz="850" dirty="0"/>
          </a:p>
        </p:txBody>
      </p:sp>
      <p:sp>
        <p:nvSpPr>
          <p:cNvPr id="45" name="Shape 41"/>
          <p:cNvSpPr/>
          <p:nvPr/>
        </p:nvSpPr>
        <p:spPr>
          <a:xfrm>
            <a:off x="1051560" y="5239512"/>
            <a:ext cx="1993392" cy="0"/>
          </a:xfrm>
          <a:prstGeom prst="line">
            <a:avLst/>
          </a:prstGeom>
          <a:noFill/>
          <a:ln w="12700">
            <a:solidFill>
              <a:srgbClr val="E7E1D3"/>
            </a:solidFill>
            <a:prstDash val="solid"/>
          </a:ln>
        </p:spPr>
      </p:sp>
      <p:sp>
        <p:nvSpPr>
          <p:cNvPr id="46" name="Text 42"/>
          <p:cNvSpPr txBox="1"/>
          <p:nvPr/>
        </p:nvSpPr>
        <p:spPr>
          <a:xfrm>
            <a:off x="914400" y="5312664"/>
            <a:ext cx="2267712" cy="182880"/>
          </a:xfrm>
          <a:prstGeom prst="rect">
            <a:avLst/>
          </a:prstGeom>
          <a:noFill/>
          <a:ln/>
        </p:spPr>
        <p:txBody>
          <a:bodyPr wrap="square" lIns="0" tIns="0" rIns="0" bIns="0" rtlCol="0" anchor="ctr"/>
          <a:lstStyle/>
          <a:p>
            <a:pPr indent="0" marL="0">
              <a:buNone/>
            </a:pPr>
            <a:r>
              <a:rPr lang="en-US" sz="750" b="1" spc="80" kern="0" dirty="0">
                <a:solidFill>
                  <a:srgbClr val="5B6B84"/>
                </a:solidFill>
                <a:latin typeface="Calibri" pitchFamily="34" charset="0"/>
                <a:ea typeface="Calibri" pitchFamily="34" charset="-122"/>
                <a:cs typeface="Calibri" pitchFamily="34" charset="-120"/>
              </a:rPr>
              <a:t>INDUSTRY:</a:t>
            </a:r>
            <a:endParaRPr lang="en-US" sz="750" dirty="0"/>
          </a:p>
        </p:txBody>
      </p:sp>
      <p:sp>
        <p:nvSpPr>
          <p:cNvPr id="47" name="Text 43"/>
          <p:cNvSpPr txBox="1"/>
          <p:nvPr/>
        </p:nvSpPr>
        <p:spPr>
          <a:xfrm>
            <a:off x="914400" y="5495544"/>
            <a:ext cx="2267712" cy="411480"/>
          </a:xfrm>
          <a:prstGeom prst="rect">
            <a:avLst/>
          </a:prstGeom>
          <a:noFill/>
          <a:ln/>
        </p:spPr>
        <p:txBody>
          <a:bodyPr wrap="square" lIns="0" tIns="0" rIns="0" bIns="0" rtlCol="0" anchor="ctr"/>
          <a:lstStyle/>
          <a:p>
            <a:pPr indent="0" marL="0">
              <a:lnSpc>
                <a:spcPct val="110000"/>
              </a:lnSpc>
              <a:buNone/>
            </a:pPr>
            <a:r>
              <a:rPr lang="en-US" sz="850" i="1" dirty="0">
                <a:solidFill>
                  <a:srgbClr val="0B2C5D"/>
                </a:solidFill>
                <a:latin typeface="Calibri" pitchFamily="34" charset="0"/>
                <a:ea typeface="Calibri" pitchFamily="34" charset="-122"/>
                <a:cs typeface="Calibri" pitchFamily="34" charset="-120"/>
              </a:rPr>
              <a:t>Intel Atom: low-cost fabs at scale</a:t>
            </a:r>
            <a:endParaRPr lang="en-US" sz="850" dirty="0"/>
          </a:p>
        </p:txBody>
      </p:sp>
      <p:sp>
        <p:nvSpPr>
          <p:cNvPr id="48" name="Shape 44"/>
          <p:cNvSpPr/>
          <p:nvPr/>
        </p:nvSpPr>
        <p:spPr>
          <a:xfrm>
            <a:off x="3465576" y="2514600"/>
            <a:ext cx="2542032" cy="3429000"/>
          </a:xfrm>
          <a:prstGeom prst="roundRect">
            <a:avLst>
              <a:gd name="adj" fmla="val 3597"/>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49" name="Shape 45"/>
          <p:cNvSpPr/>
          <p:nvPr/>
        </p:nvSpPr>
        <p:spPr>
          <a:xfrm>
            <a:off x="3465576" y="2514600"/>
            <a:ext cx="2542032" cy="73152"/>
          </a:xfrm>
          <a:prstGeom prst="rect">
            <a:avLst/>
          </a:prstGeom>
          <a:solidFill>
            <a:srgbClr val="FC7468"/>
          </a:solidFill>
          <a:ln/>
        </p:spPr>
      </p:sp>
      <p:sp>
        <p:nvSpPr>
          <p:cNvPr id="50" name="Shape 46"/>
          <p:cNvSpPr/>
          <p:nvPr/>
        </p:nvSpPr>
        <p:spPr>
          <a:xfrm>
            <a:off x="4485132" y="2715768"/>
            <a:ext cx="502920" cy="502920"/>
          </a:xfrm>
          <a:prstGeom prst="ellipse">
            <a:avLst/>
          </a:prstGeom>
          <a:solidFill>
            <a:srgbClr val="FC7468"/>
          </a:solidFill>
          <a:ln/>
        </p:spPr>
      </p:sp>
      <p:pic>
        <p:nvPicPr>
          <p:cNvPr id="51" name="Image 2" descr="/home/claude/work/build/icons/star.png">    </p:cNvPr>
          <p:cNvPicPr>
            <a:picLocks noChangeAspect="1"/>
          </p:cNvPicPr>
          <p:nvPr/>
        </p:nvPicPr>
        <p:blipFill>
          <a:blip r:embed="rId4"/>
          <a:stretch>
            <a:fillRect/>
          </a:stretch>
        </p:blipFill>
        <p:spPr>
          <a:xfrm>
            <a:off x="4610862" y="2841498"/>
            <a:ext cx="251460" cy="251460"/>
          </a:xfrm>
          <a:prstGeom prst="rect">
            <a:avLst/>
          </a:prstGeom>
        </p:spPr>
      </p:pic>
      <p:sp>
        <p:nvSpPr>
          <p:cNvPr id="52" name="Text 47"/>
          <p:cNvSpPr txBox="1"/>
          <p:nvPr/>
        </p:nvSpPr>
        <p:spPr>
          <a:xfrm>
            <a:off x="3575304" y="3319272"/>
            <a:ext cx="2322576" cy="457200"/>
          </a:xfrm>
          <a:prstGeom prst="rect">
            <a:avLst/>
          </a:prstGeom>
          <a:noFill/>
          <a:ln/>
        </p:spPr>
        <p:txBody>
          <a:bodyPr wrap="square" lIns="0" tIns="0" rIns="0" bIns="0" rtlCol="0" anchor="ctr"/>
          <a:lstStyle/>
          <a:p>
            <a:pPr algn="ctr" indent="0" marL="0">
              <a:buNone/>
            </a:pPr>
            <a:r>
              <a:rPr lang="en-US" sz="1250" b="1" dirty="0">
                <a:solidFill>
                  <a:srgbClr val="0B2C5D"/>
                </a:solidFill>
                <a:latin typeface="Calibri" pitchFamily="34" charset="0"/>
                <a:ea typeface="Calibri" pitchFamily="34" charset="-122"/>
                <a:cs typeface="Calibri" pitchFamily="34" charset="-120"/>
              </a:rPr>
              <a:t>Differentiation</a:t>
            </a:r>
            <a:endParaRPr lang="en-US" sz="1250" dirty="0"/>
          </a:p>
        </p:txBody>
      </p:sp>
      <p:sp>
        <p:nvSpPr>
          <p:cNvPr id="53" name="Text 48"/>
          <p:cNvSpPr txBox="1"/>
          <p:nvPr/>
        </p:nvSpPr>
        <p:spPr>
          <a:xfrm>
            <a:off x="3602736" y="3776472"/>
            <a:ext cx="2267712" cy="621792"/>
          </a:xfrm>
          <a:prstGeom prst="rect">
            <a:avLst/>
          </a:prstGeom>
          <a:noFill/>
          <a:ln/>
        </p:spPr>
        <p:txBody>
          <a:bodyPr wrap="square" lIns="0" tIns="0" rIns="0" bIns="0" rtlCol="0" anchor="ctr"/>
          <a:lstStyle/>
          <a:p>
            <a:pPr algn="ctr" indent="0" marL="0">
              <a:lnSpc>
                <a:spcPct val="115000"/>
              </a:lnSpc>
              <a:buNone/>
            </a:pPr>
            <a:r>
              <a:rPr lang="en-US" sz="900" dirty="0">
                <a:solidFill>
                  <a:srgbClr val="5B6B84"/>
                </a:solidFill>
                <a:latin typeface="Calibri" pitchFamily="34" charset="0"/>
                <a:ea typeface="Calibri" pitchFamily="34" charset="-122"/>
                <a:cs typeface="Calibri" pitchFamily="34" charset="-120"/>
              </a:rPr>
              <a:t>Win on unique features, quality, or brand.</a:t>
            </a:r>
            <a:endParaRPr lang="en-US" sz="900" dirty="0"/>
          </a:p>
        </p:txBody>
      </p:sp>
      <p:sp>
        <p:nvSpPr>
          <p:cNvPr id="54" name="Shape 49"/>
          <p:cNvSpPr/>
          <p:nvPr/>
        </p:nvSpPr>
        <p:spPr>
          <a:xfrm>
            <a:off x="3739896" y="4453128"/>
            <a:ext cx="1993392" cy="0"/>
          </a:xfrm>
          <a:prstGeom prst="line">
            <a:avLst/>
          </a:prstGeom>
          <a:noFill/>
          <a:ln w="12700">
            <a:solidFill>
              <a:srgbClr val="E7E1D3"/>
            </a:solidFill>
            <a:prstDash val="solid"/>
          </a:ln>
        </p:spPr>
      </p:sp>
      <p:sp>
        <p:nvSpPr>
          <p:cNvPr id="55" name="Text 50"/>
          <p:cNvSpPr txBox="1"/>
          <p:nvPr/>
        </p:nvSpPr>
        <p:spPr>
          <a:xfrm>
            <a:off x="3602736" y="4526280"/>
            <a:ext cx="2267712" cy="182880"/>
          </a:xfrm>
          <a:prstGeom prst="rect">
            <a:avLst/>
          </a:prstGeom>
          <a:noFill/>
          <a:ln/>
        </p:spPr>
        <p:txBody>
          <a:bodyPr wrap="square" lIns="0" tIns="0" rIns="0" bIns="0" rtlCol="0" anchor="ctr"/>
          <a:lstStyle/>
          <a:p>
            <a:pPr indent="0" marL="0">
              <a:buNone/>
            </a:pPr>
            <a:r>
              <a:rPr lang="en-US" sz="750" b="1" spc="80" kern="0" dirty="0">
                <a:solidFill>
                  <a:srgbClr val="FC7468"/>
                </a:solidFill>
                <a:latin typeface="Calibri" pitchFamily="34" charset="0"/>
                <a:ea typeface="Calibri" pitchFamily="34" charset="-122"/>
                <a:cs typeface="Calibri" pitchFamily="34" charset="-120"/>
              </a:rPr>
              <a:t>NEXCORE:</a:t>
            </a:r>
            <a:endParaRPr lang="en-US" sz="750" dirty="0"/>
          </a:p>
        </p:txBody>
      </p:sp>
      <p:sp>
        <p:nvSpPr>
          <p:cNvPr id="56" name="Text 51"/>
          <p:cNvSpPr txBox="1"/>
          <p:nvPr/>
        </p:nvSpPr>
        <p:spPr>
          <a:xfrm>
            <a:off x="3602736" y="4709160"/>
            <a:ext cx="2267712" cy="502920"/>
          </a:xfrm>
          <a:prstGeom prst="rect">
            <a:avLst/>
          </a:prstGeom>
          <a:noFill/>
          <a:ln/>
        </p:spPr>
        <p:txBody>
          <a:bodyPr wrap="square" lIns="0" tIns="0" rIns="0" bIns="0" rtlCol="0" anchor="ctr"/>
          <a:lstStyle/>
          <a:p>
            <a:pPr indent="0" marL="0">
              <a:lnSpc>
                <a:spcPct val="110000"/>
              </a:lnSpc>
              <a:buNone/>
            </a:pPr>
            <a:r>
              <a:rPr lang="en-US" sz="850" i="1" dirty="0">
                <a:solidFill>
                  <a:srgbClr val="0B2C5D"/>
                </a:solidFill>
                <a:latin typeface="Calibri" pitchFamily="34" charset="0"/>
                <a:ea typeface="Calibri" pitchFamily="34" charset="-122"/>
                <a:cs typeface="Calibri" pitchFamily="34" charset="-120"/>
              </a:rPr>
              <a:t>Add over-the-air firmware updates competitors lack.</a:t>
            </a:r>
            <a:endParaRPr lang="en-US" sz="850" dirty="0"/>
          </a:p>
        </p:txBody>
      </p:sp>
      <p:sp>
        <p:nvSpPr>
          <p:cNvPr id="57" name="Shape 52"/>
          <p:cNvSpPr/>
          <p:nvPr/>
        </p:nvSpPr>
        <p:spPr>
          <a:xfrm>
            <a:off x="3739896" y="5239512"/>
            <a:ext cx="1993392" cy="0"/>
          </a:xfrm>
          <a:prstGeom prst="line">
            <a:avLst/>
          </a:prstGeom>
          <a:noFill/>
          <a:ln w="12700">
            <a:solidFill>
              <a:srgbClr val="E7E1D3"/>
            </a:solidFill>
            <a:prstDash val="solid"/>
          </a:ln>
        </p:spPr>
      </p:sp>
      <p:sp>
        <p:nvSpPr>
          <p:cNvPr id="58" name="Text 53"/>
          <p:cNvSpPr txBox="1"/>
          <p:nvPr/>
        </p:nvSpPr>
        <p:spPr>
          <a:xfrm>
            <a:off x="3602736" y="5312664"/>
            <a:ext cx="2267712" cy="182880"/>
          </a:xfrm>
          <a:prstGeom prst="rect">
            <a:avLst/>
          </a:prstGeom>
          <a:noFill/>
          <a:ln/>
        </p:spPr>
        <p:txBody>
          <a:bodyPr wrap="square" lIns="0" tIns="0" rIns="0" bIns="0" rtlCol="0" anchor="ctr"/>
          <a:lstStyle/>
          <a:p>
            <a:pPr indent="0" marL="0">
              <a:buNone/>
            </a:pPr>
            <a:r>
              <a:rPr lang="en-US" sz="750" b="1" spc="80" kern="0" dirty="0">
                <a:solidFill>
                  <a:srgbClr val="5B6B84"/>
                </a:solidFill>
                <a:latin typeface="Calibri" pitchFamily="34" charset="0"/>
                <a:ea typeface="Calibri" pitchFamily="34" charset="-122"/>
                <a:cs typeface="Calibri" pitchFamily="34" charset="-120"/>
              </a:rPr>
              <a:t>INDUSTRY:</a:t>
            </a:r>
            <a:endParaRPr lang="en-US" sz="750" dirty="0"/>
          </a:p>
        </p:txBody>
      </p:sp>
      <p:sp>
        <p:nvSpPr>
          <p:cNvPr id="59" name="Text 54"/>
          <p:cNvSpPr txBox="1"/>
          <p:nvPr/>
        </p:nvSpPr>
        <p:spPr>
          <a:xfrm>
            <a:off x="3602736" y="5495544"/>
            <a:ext cx="2267712" cy="411480"/>
          </a:xfrm>
          <a:prstGeom prst="rect">
            <a:avLst/>
          </a:prstGeom>
          <a:noFill/>
          <a:ln/>
        </p:spPr>
        <p:txBody>
          <a:bodyPr wrap="square" lIns="0" tIns="0" rIns="0" bIns="0" rtlCol="0" anchor="ctr"/>
          <a:lstStyle/>
          <a:p>
            <a:pPr indent="0" marL="0">
              <a:lnSpc>
                <a:spcPct val="110000"/>
              </a:lnSpc>
              <a:buNone/>
            </a:pPr>
            <a:r>
              <a:rPr lang="en-US" sz="850" i="1" dirty="0">
                <a:solidFill>
                  <a:srgbClr val="0B2C5D"/>
                </a:solidFill>
                <a:latin typeface="Calibri" pitchFamily="34" charset="0"/>
                <a:ea typeface="Calibri" pitchFamily="34" charset="-122"/>
                <a:cs typeface="Calibri" pitchFamily="34" charset="-120"/>
              </a:rPr>
              <a:t>Apple Silicon: custom SoC performance</a:t>
            </a:r>
            <a:endParaRPr lang="en-US" sz="850" dirty="0"/>
          </a:p>
        </p:txBody>
      </p:sp>
      <p:sp>
        <p:nvSpPr>
          <p:cNvPr id="60" name="Shape 55"/>
          <p:cNvSpPr/>
          <p:nvPr/>
        </p:nvSpPr>
        <p:spPr>
          <a:xfrm>
            <a:off x="6153912" y="2514600"/>
            <a:ext cx="2542032" cy="3429000"/>
          </a:xfrm>
          <a:prstGeom prst="roundRect">
            <a:avLst>
              <a:gd name="adj" fmla="val 3597"/>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61" name="Shape 56"/>
          <p:cNvSpPr/>
          <p:nvPr/>
        </p:nvSpPr>
        <p:spPr>
          <a:xfrm>
            <a:off x="6153912" y="2514600"/>
            <a:ext cx="2542032" cy="73152"/>
          </a:xfrm>
          <a:prstGeom prst="rect">
            <a:avLst/>
          </a:prstGeom>
          <a:solidFill>
            <a:srgbClr val="FBC850"/>
          </a:solidFill>
          <a:ln/>
        </p:spPr>
      </p:sp>
      <p:sp>
        <p:nvSpPr>
          <p:cNvPr id="62" name="Shape 57"/>
          <p:cNvSpPr/>
          <p:nvPr/>
        </p:nvSpPr>
        <p:spPr>
          <a:xfrm>
            <a:off x="7173468" y="2715768"/>
            <a:ext cx="502920" cy="502920"/>
          </a:xfrm>
          <a:prstGeom prst="ellipse">
            <a:avLst/>
          </a:prstGeom>
          <a:solidFill>
            <a:srgbClr val="FBC850"/>
          </a:solidFill>
          <a:ln/>
        </p:spPr>
      </p:sp>
      <p:pic>
        <p:nvPicPr>
          <p:cNvPr id="63" name="Image 3" descr="/home/claude/work/build/icons/target.png">    </p:cNvPr>
          <p:cNvPicPr>
            <a:picLocks noChangeAspect="1"/>
          </p:cNvPicPr>
          <p:nvPr/>
        </p:nvPicPr>
        <p:blipFill>
          <a:blip r:embed="rId5"/>
          <a:stretch>
            <a:fillRect/>
          </a:stretch>
        </p:blipFill>
        <p:spPr>
          <a:xfrm>
            <a:off x="7299198" y="2841498"/>
            <a:ext cx="251460" cy="251460"/>
          </a:xfrm>
          <a:prstGeom prst="rect">
            <a:avLst/>
          </a:prstGeom>
        </p:spPr>
      </p:pic>
      <p:sp>
        <p:nvSpPr>
          <p:cNvPr id="64" name="Text 58"/>
          <p:cNvSpPr txBox="1"/>
          <p:nvPr/>
        </p:nvSpPr>
        <p:spPr>
          <a:xfrm>
            <a:off x="6263640" y="3319272"/>
            <a:ext cx="2322576" cy="457200"/>
          </a:xfrm>
          <a:prstGeom prst="rect">
            <a:avLst/>
          </a:prstGeom>
          <a:noFill/>
          <a:ln/>
        </p:spPr>
        <p:txBody>
          <a:bodyPr wrap="square" lIns="0" tIns="0" rIns="0" bIns="0" rtlCol="0" anchor="ctr"/>
          <a:lstStyle/>
          <a:p>
            <a:pPr algn="ctr" indent="0" marL="0">
              <a:buNone/>
            </a:pPr>
            <a:r>
              <a:rPr lang="en-US" sz="1250" b="1" dirty="0">
                <a:solidFill>
                  <a:srgbClr val="0B2C5D"/>
                </a:solidFill>
                <a:latin typeface="Calibri" pitchFamily="34" charset="0"/>
                <a:ea typeface="Calibri" pitchFamily="34" charset="-122"/>
                <a:cs typeface="Calibri" pitchFamily="34" charset="-120"/>
              </a:rPr>
              <a:t>Focus / niche</a:t>
            </a:r>
            <a:endParaRPr lang="en-US" sz="1250" dirty="0"/>
          </a:p>
        </p:txBody>
      </p:sp>
      <p:sp>
        <p:nvSpPr>
          <p:cNvPr id="65" name="Text 59"/>
          <p:cNvSpPr txBox="1"/>
          <p:nvPr/>
        </p:nvSpPr>
        <p:spPr>
          <a:xfrm>
            <a:off x="6291072" y="3776472"/>
            <a:ext cx="2267712" cy="621792"/>
          </a:xfrm>
          <a:prstGeom prst="rect">
            <a:avLst/>
          </a:prstGeom>
          <a:noFill/>
          <a:ln/>
        </p:spPr>
        <p:txBody>
          <a:bodyPr wrap="square" lIns="0" tIns="0" rIns="0" bIns="0" rtlCol="0" anchor="ctr"/>
          <a:lstStyle/>
          <a:p>
            <a:pPr algn="ctr" indent="0" marL="0">
              <a:lnSpc>
                <a:spcPct val="115000"/>
              </a:lnSpc>
              <a:buNone/>
            </a:pPr>
            <a:r>
              <a:rPr lang="en-US" sz="900" dirty="0">
                <a:solidFill>
                  <a:srgbClr val="5B6B84"/>
                </a:solidFill>
                <a:latin typeface="Calibri" pitchFamily="34" charset="0"/>
                <a:ea typeface="Calibri" pitchFamily="34" charset="-122"/>
                <a:cs typeface="Calibri" pitchFamily="34" charset="-120"/>
              </a:rPr>
              <a:t>Serve a narrow segment exceptionally well.</a:t>
            </a:r>
            <a:endParaRPr lang="en-US" sz="900" dirty="0"/>
          </a:p>
        </p:txBody>
      </p:sp>
      <p:sp>
        <p:nvSpPr>
          <p:cNvPr id="66" name="Shape 60"/>
          <p:cNvSpPr/>
          <p:nvPr/>
        </p:nvSpPr>
        <p:spPr>
          <a:xfrm>
            <a:off x="6428232" y="4453128"/>
            <a:ext cx="1993392" cy="0"/>
          </a:xfrm>
          <a:prstGeom prst="line">
            <a:avLst/>
          </a:prstGeom>
          <a:noFill/>
          <a:ln w="12700">
            <a:solidFill>
              <a:srgbClr val="E7E1D3"/>
            </a:solidFill>
            <a:prstDash val="solid"/>
          </a:ln>
        </p:spPr>
      </p:sp>
      <p:sp>
        <p:nvSpPr>
          <p:cNvPr id="67" name="Text 61"/>
          <p:cNvSpPr txBox="1"/>
          <p:nvPr/>
        </p:nvSpPr>
        <p:spPr>
          <a:xfrm>
            <a:off x="6291072" y="4526280"/>
            <a:ext cx="2267712" cy="182880"/>
          </a:xfrm>
          <a:prstGeom prst="rect">
            <a:avLst/>
          </a:prstGeom>
          <a:noFill/>
          <a:ln/>
        </p:spPr>
        <p:txBody>
          <a:bodyPr wrap="square" lIns="0" tIns="0" rIns="0" bIns="0" rtlCol="0" anchor="ctr"/>
          <a:lstStyle/>
          <a:p>
            <a:pPr indent="0" marL="0">
              <a:buNone/>
            </a:pPr>
            <a:r>
              <a:rPr lang="en-US" sz="750" b="1" spc="80" kern="0" dirty="0">
                <a:solidFill>
                  <a:srgbClr val="FBC850"/>
                </a:solidFill>
                <a:latin typeface="Calibri" pitchFamily="34" charset="0"/>
                <a:ea typeface="Calibri" pitchFamily="34" charset="-122"/>
                <a:cs typeface="Calibri" pitchFamily="34" charset="-120"/>
              </a:rPr>
              <a:t>NEXCORE:</a:t>
            </a:r>
            <a:endParaRPr lang="en-US" sz="750" dirty="0"/>
          </a:p>
        </p:txBody>
      </p:sp>
      <p:sp>
        <p:nvSpPr>
          <p:cNvPr id="68" name="Text 62"/>
          <p:cNvSpPr txBox="1"/>
          <p:nvPr/>
        </p:nvSpPr>
        <p:spPr>
          <a:xfrm>
            <a:off x="6291072" y="4709160"/>
            <a:ext cx="2267712" cy="502920"/>
          </a:xfrm>
          <a:prstGeom prst="rect">
            <a:avLst/>
          </a:prstGeom>
          <a:noFill/>
          <a:ln/>
        </p:spPr>
        <p:txBody>
          <a:bodyPr wrap="square" lIns="0" tIns="0" rIns="0" bIns="0" rtlCol="0" anchor="ctr"/>
          <a:lstStyle/>
          <a:p>
            <a:pPr indent="0" marL="0">
              <a:lnSpc>
                <a:spcPct val="110000"/>
              </a:lnSpc>
              <a:buNone/>
            </a:pPr>
            <a:r>
              <a:rPr lang="en-US" sz="850" i="1" dirty="0">
                <a:solidFill>
                  <a:srgbClr val="0B2C5D"/>
                </a:solidFill>
                <a:latin typeface="Calibri" pitchFamily="34" charset="0"/>
                <a:ea typeface="Calibri" pitchFamily="34" charset="-122"/>
                <a:cs typeface="Calibri" pitchFamily="34" charset="-120"/>
              </a:rPr>
              <a:t>Specialize in ultra-low-power sensors for wearables.</a:t>
            </a:r>
            <a:endParaRPr lang="en-US" sz="850" dirty="0"/>
          </a:p>
        </p:txBody>
      </p:sp>
      <p:sp>
        <p:nvSpPr>
          <p:cNvPr id="69" name="Shape 63"/>
          <p:cNvSpPr/>
          <p:nvPr/>
        </p:nvSpPr>
        <p:spPr>
          <a:xfrm>
            <a:off x="6428232" y="5239512"/>
            <a:ext cx="1993392" cy="0"/>
          </a:xfrm>
          <a:prstGeom prst="line">
            <a:avLst/>
          </a:prstGeom>
          <a:noFill/>
          <a:ln w="12700">
            <a:solidFill>
              <a:srgbClr val="E7E1D3"/>
            </a:solidFill>
            <a:prstDash val="solid"/>
          </a:ln>
        </p:spPr>
      </p:sp>
      <p:sp>
        <p:nvSpPr>
          <p:cNvPr id="70" name="Text 64"/>
          <p:cNvSpPr txBox="1"/>
          <p:nvPr/>
        </p:nvSpPr>
        <p:spPr>
          <a:xfrm>
            <a:off x="6291072" y="5312664"/>
            <a:ext cx="2267712" cy="182880"/>
          </a:xfrm>
          <a:prstGeom prst="rect">
            <a:avLst/>
          </a:prstGeom>
          <a:noFill/>
          <a:ln/>
        </p:spPr>
        <p:txBody>
          <a:bodyPr wrap="square" lIns="0" tIns="0" rIns="0" bIns="0" rtlCol="0" anchor="ctr"/>
          <a:lstStyle/>
          <a:p>
            <a:pPr indent="0" marL="0">
              <a:buNone/>
            </a:pPr>
            <a:r>
              <a:rPr lang="en-US" sz="750" b="1" spc="80" kern="0" dirty="0">
                <a:solidFill>
                  <a:srgbClr val="5B6B84"/>
                </a:solidFill>
                <a:latin typeface="Calibri" pitchFamily="34" charset="0"/>
                <a:ea typeface="Calibri" pitchFamily="34" charset="-122"/>
                <a:cs typeface="Calibri" pitchFamily="34" charset="-120"/>
              </a:rPr>
              <a:t>INDUSTRY:</a:t>
            </a:r>
            <a:endParaRPr lang="en-US" sz="750" dirty="0"/>
          </a:p>
        </p:txBody>
      </p:sp>
      <p:sp>
        <p:nvSpPr>
          <p:cNvPr id="71" name="Text 65"/>
          <p:cNvSpPr txBox="1"/>
          <p:nvPr/>
        </p:nvSpPr>
        <p:spPr>
          <a:xfrm>
            <a:off x="6291072" y="5495544"/>
            <a:ext cx="2267712" cy="411480"/>
          </a:xfrm>
          <a:prstGeom prst="rect">
            <a:avLst/>
          </a:prstGeom>
          <a:noFill/>
          <a:ln/>
        </p:spPr>
        <p:txBody>
          <a:bodyPr wrap="square" lIns="0" tIns="0" rIns="0" bIns="0" rtlCol="0" anchor="ctr"/>
          <a:lstStyle/>
          <a:p>
            <a:pPr indent="0" marL="0">
              <a:lnSpc>
                <a:spcPct val="110000"/>
              </a:lnSpc>
              <a:buNone/>
            </a:pPr>
            <a:r>
              <a:rPr lang="en-US" sz="850" i="1" dirty="0">
                <a:solidFill>
                  <a:srgbClr val="0B2C5D"/>
                </a:solidFill>
                <a:latin typeface="Calibri" pitchFamily="34" charset="0"/>
                <a:ea typeface="Calibri" pitchFamily="34" charset="-122"/>
                <a:cs typeface="Calibri" pitchFamily="34" charset="-120"/>
              </a:rPr>
              <a:t>ARM Cortex-M: MCU niche dominance</a:t>
            </a:r>
            <a:endParaRPr lang="en-US" sz="850" dirty="0"/>
          </a:p>
        </p:txBody>
      </p:sp>
      <p:sp>
        <p:nvSpPr>
          <p:cNvPr id="72" name="Shape 66"/>
          <p:cNvSpPr/>
          <p:nvPr/>
        </p:nvSpPr>
        <p:spPr>
          <a:xfrm>
            <a:off x="8842248" y="2514600"/>
            <a:ext cx="2542032" cy="3429000"/>
          </a:xfrm>
          <a:prstGeom prst="roundRect">
            <a:avLst>
              <a:gd name="adj" fmla="val 3597"/>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73" name="Shape 67"/>
          <p:cNvSpPr/>
          <p:nvPr/>
        </p:nvSpPr>
        <p:spPr>
          <a:xfrm>
            <a:off x="8842248" y="2514600"/>
            <a:ext cx="2542032" cy="73152"/>
          </a:xfrm>
          <a:prstGeom prst="rect">
            <a:avLst/>
          </a:prstGeom>
          <a:solidFill>
            <a:srgbClr val="5B6B84"/>
          </a:solidFill>
          <a:ln/>
        </p:spPr>
      </p:sp>
      <p:sp>
        <p:nvSpPr>
          <p:cNvPr id="74" name="Shape 68"/>
          <p:cNvSpPr/>
          <p:nvPr/>
        </p:nvSpPr>
        <p:spPr>
          <a:xfrm>
            <a:off x="9861804" y="2715768"/>
            <a:ext cx="502920" cy="502920"/>
          </a:xfrm>
          <a:prstGeom prst="ellipse">
            <a:avLst/>
          </a:prstGeom>
          <a:solidFill>
            <a:srgbClr val="E7E1D3"/>
          </a:solidFill>
          <a:ln/>
        </p:spPr>
      </p:sp>
      <p:pic>
        <p:nvPicPr>
          <p:cNvPr id="75" name="Image 4" descr="/home/claude/work/build/icons/shield.png">    </p:cNvPr>
          <p:cNvPicPr>
            <a:picLocks noChangeAspect="1"/>
          </p:cNvPicPr>
          <p:nvPr/>
        </p:nvPicPr>
        <p:blipFill>
          <a:blip r:embed="rId6"/>
          <a:stretch>
            <a:fillRect/>
          </a:stretch>
        </p:blipFill>
        <p:spPr>
          <a:xfrm>
            <a:off x="9987534" y="2841498"/>
            <a:ext cx="251460" cy="251460"/>
          </a:xfrm>
          <a:prstGeom prst="rect">
            <a:avLst/>
          </a:prstGeom>
        </p:spPr>
      </p:pic>
      <p:sp>
        <p:nvSpPr>
          <p:cNvPr id="76" name="Text 69"/>
          <p:cNvSpPr txBox="1"/>
          <p:nvPr/>
        </p:nvSpPr>
        <p:spPr>
          <a:xfrm>
            <a:off x="8951976" y="3319272"/>
            <a:ext cx="2322576" cy="457200"/>
          </a:xfrm>
          <a:prstGeom prst="rect">
            <a:avLst/>
          </a:prstGeom>
          <a:noFill/>
          <a:ln/>
        </p:spPr>
        <p:txBody>
          <a:bodyPr wrap="square" lIns="0" tIns="0" rIns="0" bIns="0" rtlCol="0" anchor="ctr"/>
          <a:lstStyle/>
          <a:p>
            <a:pPr algn="ctr" indent="0" marL="0">
              <a:buNone/>
            </a:pPr>
            <a:r>
              <a:rPr lang="en-US" sz="1250" b="1" dirty="0">
                <a:solidFill>
                  <a:srgbClr val="0B2C5D"/>
                </a:solidFill>
                <a:latin typeface="Calibri" pitchFamily="34" charset="0"/>
                <a:ea typeface="Calibri" pitchFamily="34" charset="-122"/>
                <a:cs typeface="Calibri" pitchFamily="34" charset="-120"/>
              </a:rPr>
              <a:t>Retrenchment</a:t>
            </a:r>
            <a:endParaRPr lang="en-US" sz="1250" dirty="0"/>
          </a:p>
        </p:txBody>
      </p:sp>
      <p:sp>
        <p:nvSpPr>
          <p:cNvPr id="77" name="Text 70"/>
          <p:cNvSpPr txBox="1"/>
          <p:nvPr/>
        </p:nvSpPr>
        <p:spPr>
          <a:xfrm>
            <a:off x="8979408" y="3776472"/>
            <a:ext cx="2267712" cy="621792"/>
          </a:xfrm>
          <a:prstGeom prst="rect">
            <a:avLst/>
          </a:prstGeom>
          <a:noFill/>
          <a:ln/>
        </p:spPr>
        <p:txBody>
          <a:bodyPr wrap="square" lIns="0" tIns="0" rIns="0" bIns="0" rtlCol="0" anchor="ctr"/>
          <a:lstStyle/>
          <a:p>
            <a:pPr algn="ctr" indent="0" marL="0">
              <a:lnSpc>
                <a:spcPct val="115000"/>
              </a:lnSpc>
              <a:buNone/>
            </a:pPr>
            <a:r>
              <a:rPr lang="en-US" sz="900" dirty="0">
                <a:solidFill>
                  <a:srgbClr val="5B6B84"/>
                </a:solidFill>
                <a:latin typeface="Calibri" pitchFamily="34" charset="0"/>
                <a:ea typeface="Calibri" pitchFamily="34" charset="-122"/>
                <a:cs typeface="Calibri" pitchFamily="34" charset="-120"/>
              </a:rPr>
              <a:t>Contract or divest to stabilize the business.</a:t>
            </a:r>
            <a:endParaRPr lang="en-US" sz="900" dirty="0"/>
          </a:p>
        </p:txBody>
      </p:sp>
      <p:sp>
        <p:nvSpPr>
          <p:cNvPr id="78" name="Shape 71"/>
          <p:cNvSpPr/>
          <p:nvPr/>
        </p:nvSpPr>
        <p:spPr>
          <a:xfrm>
            <a:off x="9116568" y="4453128"/>
            <a:ext cx="1993392" cy="0"/>
          </a:xfrm>
          <a:prstGeom prst="line">
            <a:avLst/>
          </a:prstGeom>
          <a:noFill/>
          <a:ln w="12700">
            <a:solidFill>
              <a:srgbClr val="E7E1D3"/>
            </a:solidFill>
            <a:prstDash val="solid"/>
          </a:ln>
        </p:spPr>
      </p:sp>
      <p:sp>
        <p:nvSpPr>
          <p:cNvPr id="79" name="Text 72"/>
          <p:cNvSpPr txBox="1"/>
          <p:nvPr/>
        </p:nvSpPr>
        <p:spPr>
          <a:xfrm>
            <a:off x="8979408" y="4526280"/>
            <a:ext cx="2267712" cy="182880"/>
          </a:xfrm>
          <a:prstGeom prst="rect">
            <a:avLst/>
          </a:prstGeom>
          <a:noFill/>
          <a:ln/>
        </p:spPr>
        <p:txBody>
          <a:bodyPr wrap="square" lIns="0" tIns="0" rIns="0" bIns="0" rtlCol="0" anchor="ctr"/>
          <a:lstStyle/>
          <a:p>
            <a:pPr indent="0" marL="0">
              <a:buNone/>
            </a:pPr>
            <a:r>
              <a:rPr lang="en-US" sz="750" b="1" spc="80" kern="0" dirty="0">
                <a:solidFill>
                  <a:srgbClr val="5B6B84"/>
                </a:solidFill>
                <a:latin typeface="Calibri" pitchFamily="34" charset="0"/>
                <a:ea typeface="Calibri" pitchFamily="34" charset="-122"/>
                <a:cs typeface="Calibri" pitchFamily="34" charset="-120"/>
              </a:rPr>
              <a:t>NEXCORE:</a:t>
            </a:r>
            <a:endParaRPr lang="en-US" sz="750" dirty="0"/>
          </a:p>
        </p:txBody>
      </p:sp>
      <p:sp>
        <p:nvSpPr>
          <p:cNvPr id="80" name="Text 73"/>
          <p:cNvSpPr txBox="1"/>
          <p:nvPr/>
        </p:nvSpPr>
        <p:spPr>
          <a:xfrm>
            <a:off x="8979408" y="4709160"/>
            <a:ext cx="2267712" cy="502920"/>
          </a:xfrm>
          <a:prstGeom prst="rect">
            <a:avLst/>
          </a:prstGeom>
          <a:noFill/>
          <a:ln/>
        </p:spPr>
        <p:txBody>
          <a:bodyPr wrap="square" lIns="0" tIns="0" rIns="0" bIns="0" rtlCol="0" anchor="ctr"/>
          <a:lstStyle/>
          <a:p>
            <a:pPr indent="0" marL="0">
              <a:lnSpc>
                <a:spcPct val="110000"/>
              </a:lnSpc>
              <a:buNone/>
            </a:pPr>
            <a:r>
              <a:rPr lang="en-US" sz="850" i="1" dirty="0">
                <a:solidFill>
                  <a:srgbClr val="0B2C5D"/>
                </a:solidFill>
                <a:latin typeface="Calibri" pitchFamily="34" charset="0"/>
                <a:ea typeface="Calibri" pitchFamily="34" charset="-122"/>
                <a:cs typeface="Calibri" pitchFamily="34" charset="-120"/>
              </a:rPr>
              <a:t>Sunset the legacy 8-bit controller product line.</a:t>
            </a:r>
            <a:endParaRPr lang="en-US" sz="850" dirty="0"/>
          </a:p>
        </p:txBody>
      </p:sp>
      <p:sp>
        <p:nvSpPr>
          <p:cNvPr id="81" name="Shape 74"/>
          <p:cNvSpPr/>
          <p:nvPr/>
        </p:nvSpPr>
        <p:spPr>
          <a:xfrm>
            <a:off x="9116568" y="5239512"/>
            <a:ext cx="1993392" cy="0"/>
          </a:xfrm>
          <a:prstGeom prst="line">
            <a:avLst/>
          </a:prstGeom>
          <a:noFill/>
          <a:ln w="12700">
            <a:solidFill>
              <a:srgbClr val="E7E1D3"/>
            </a:solidFill>
            <a:prstDash val="solid"/>
          </a:ln>
        </p:spPr>
      </p:sp>
      <p:sp>
        <p:nvSpPr>
          <p:cNvPr id="82" name="Text 75"/>
          <p:cNvSpPr txBox="1"/>
          <p:nvPr/>
        </p:nvSpPr>
        <p:spPr>
          <a:xfrm>
            <a:off x="8979408" y="5312664"/>
            <a:ext cx="2267712" cy="182880"/>
          </a:xfrm>
          <a:prstGeom prst="rect">
            <a:avLst/>
          </a:prstGeom>
          <a:noFill/>
          <a:ln/>
        </p:spPr>
        <p:txBody>
          <a:bodyPr wrap="square" lIns="0" tIns="0" rIns="0" bIns="0" rtlCol="0" anchor="ctr"/>
          <a:lstStyle/>
          <a:p>
            <a:pPr indent="0" marL="0">
              <a:buNone/>
            </a:pPr>
            <a:r>
              <a:rPr lang="en-US" sz="750" b="1" spc="80" kern="0" dirty="0">
                <a:solidFill>
                  <a:srgbClr val="5B6B84"/>
                </a:solidFill>
                <a:latin typeface="Calibri" pitchFamily="34" charset="0"/>
                <a:ea typeface="Calibri" pitchFamily="34" charset="-122"/>
                <a:cs typeface="Calibri" pitchFamily="34" charset="-120"/>
              </a:rPr>
              <a:t>INDUSTRY:</a:t>
            </a:r>
            <a:endParaRPr lang="en-US" sz="750" dirty="0"/>
          </a:p>
        </p:txBody>
      </p:sp>
      <p:sp>
        <p:nvSpPr>
          <p:cNvPr id="83" name="Text 76"/>
          <p:cNvSpPr txBox="1"/>
          <p:nvPr/>
        </p:nvSpPr>
        <p:spPr>
          <a:xfrm>
            <a:off x="8979408" y="5495544"/>
            <a:ext cx="2267712" cy="411480"/>
          </a:xfrm>
          <a:prstGeom prst="rect">
            <a:avLst/>
          </a:prstGeom>
          <a:noFill/>
          <a:ln/>
        </p:spPr>
        <p:txBody>
          <a:bodyPr wrap="square" lIns="0" tIns="0" rIns="0" bIns="0" rtlCol="0" anchor="ctr"/>
          <a:lstStyle/>
          <a:p>
            <a:pPr indent="0" marL="0">
              <a:lnSpc>
                <a:spcPct val="110000"/>
              </a:lnSpc>
              <a:buNone/>
            </a:pPr>
            <a:r>
              <a:rPr lang="en-US" sz="850" i="1" dirty="0">
                <a:solidFill>
                  <a:srgbClr val="0B2C5D"/>
                </a:solidFill>
                <a:latin typeface="Calibri" pitchFamily="34" charset="0"/>
                <a:ea typeface="Calibri" pitchFamily="34" charset="-122"/>
                <a:cs typeface="Calibri" pitchFamily="34" charset="-120"/>
              </a:rPr>
              <a:t>IBM exiting the PC business (2005)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7</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2 · ORGANIZATIONAL STRATEGY</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Positioning: Competitive Scope × Advantage</a:t>
            </a:r>
            <a:endParaRPr lang="en-US" sz="2700" dirty="0"/>
          </a:p>
        </p:txBody>
      </p:sp>
      <p:sp>
        <p:nvSpPr>
          <p:cNvPr id="36" name="Shape 33"/>
          <p:cNvSpPr/>
          <p:nvPr/>
        </p:nvSpPr>
        <p:spPr>
          <a:xfrm>
            <a:off x="777240" y="2468880"/>
            <a:ext cx="6035040" cy="3749040"/>
          </a:xfrm>
          <a:prstGeom prst="roundRect">
            <a:avLst>
              <a:gd name="adj" fmla="val 2439"/>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37" name="Shape 34"/>
          <p:cNvSpPr/>
          <p:nvPr/>
        </p:nvSpPr>
        <p:spPr>
          <a:xfrm>
            <a:off x="1280160" y="4206240"/>
            <a:ext cx="5166360" cy="0"/>
          </a:xfrm>
          <a:prstGeom prst="line">
            <a:avLst/>
          </a:prstGeom>
          <a:noFill/>
          <a:ln w="19050">
            <a:solidFill>
              <a:srgbClr val="E7E1D3"/>
            </a:solidFill>
            <a:prstDash val="solid"/>
          </a:ln>
        </p:spPr>
      </p:sp>
      <p:sp>
        <p:nvSpPr>
          <p:cNvPr id="38" name="Shape 35"/>
          <p:cNvSpPr/>
          <p:nvPr/>
        </p:nvSpPr>
        <p:spPr>
          <a:xfrm>
            <a:off x="3863340" y="2788920"/>
            <a:ext cx="0" cy="2834640"/>
          </a:xfrm>
          <a:prstGeom prst="line">
            <a:avLst/>
          </a:prstGeom>
          <a:noFill/>
          <a:ln w="19050">
            <a:solidFill>
              <a:srgbClr val="E7E1D3"/>
            </a:solidFill>
            <a:prstDash val="solid"/>
          </a:ln>
        </p:spPr>
      </p:sp>
      <p:sp>
        <p:nvSpPr>
          <p:cNvPr id="39" name="Shape 36"/>
          <p:cNvSpPr/>
          <p:nvPr/>
        </p:nvSpPr>
        <p:spPr>
          <a:xfrm>
            <a:off x="1280160" y="5623560"/>
            <a:ext cx="5166360" cy="0"/>
          </a:xfrm>
          <a:prstGeom prst="line">
            <a:avLst/>
          </a:prstGeom>
          <a:noFill/>
          <a:ln w="19050">
            <a:solidFill>
              <a:srgbClr val="5B6B84"/>
            </a:solidFill>
            <a:prstDash val="solid"/>
            <a:tailEnd type="triangle"/>
          </a:ln>
        </p:spPr>
      </p:sp>
      <p:sp>
        <p:nvSpPr>
          <p:cNvPr id="40" name="Shape 37"/>
          <p:cNvSpPr/>
          <p:nvPr/>
        </p:nvSpPr>
        <p:spPr>
          <a:xfrm>
            <a:off x="1280160" y="5623560"/>
            <a:ext cx="0" cy="-2834640"/>
          </a:xfrm>
          <a:prstGeom prst="line">
            <a:avLst/>
          </a:prstGeom>
          <a:noFill/>
          <a:ln w="19050">
            <a:solidFill>
              <a:srgbClr val="5B6B84"/>
            </a:solidFill>
            <a:prstDash val="solid"/>
            <a:tailEnd type="triangle"/>
          </a:ln>
        </p:spPr>
      </p:sp>
      <p:sp>
        <p:nvSpPr>
          <p:cNvPr id="41" name="Text 38"/>
          <p:cNvSpPr txBox="1"/>
          <p:nvPr/>
        </p:nvSpPr>
        <p:spPr>
          <a:xfrm>
            <a:off x="1280160" y="5678424"/>
            <a:ext cx="5166360" cy="228600"/>
          </a:xfrm>
          <a:prstGeom prst="rect">
            <a:avLst/>
          </a:prstGeom>
          <a:noFill/>
          <a:ln/>
        </p:spPr>
        <p:txBody>
          <a:bodyPr wrap="square" lIns="0" tIns="0" rIns="0" bIns="0" rtlCol="0" anchor="ctr"/>
          <a:lstStyle/>
          <a:p>
            <a:pPr algn="ctr" indent="0" marL="0">
              <a:buNone/>
            </a:pPr>
            <a:r>
              <a:rPr lang="en-US" sz="950" dirty="0">
                <a:solidFill>
                  <a:srgbClr val="5B6B84"/>
                </a:solidFill>
                <a:latin typeface="Calibri" pitchFamily="34" charset="0"/>
                <a:ea typeface="Calibri" pitchFamily="34" charset="-122"/>
                <a:cs typeface="Calibri" pitchFamily="34" charset="-120"/>
              </a:rPr>
              <a:t>Competitive scope →</a:t>
            </a:r>
            <a:endParaRPr lang="en-US" sz="950" dirty="0"/>
          </a:p>
        </p:txBody>
      </p:sp>
      <p:sp>
        <p:nvSpPr>
          <p:cNvPr id="42" name="Text 39"/>
          <p:cNvSpPr txBox="1"/>
          <p:nvPr/>
        </p:nvSpPr>
        <p:spPr>
          <a:xfrm rot="16200000">
            <a:off x="822960" y="2679192"/>
            <a:ext cx="457200" cy="2834640"/>
          </a:xfrm>
          <a:prstGeom prst="rect">
            <a:avLst/>
          </a:prstGeom>
          <a:noFill/>
          <a:ln/>
        </p:spPr>
        <p:txBody>
          <a:bodyPr wrap="square" lIns="0" tIns="0" rIns="0" bIns="0" rtlCol="0" anchor="t"/>
          <a:lstStyle/>
          <a:p>
            <a:pPr algn="ctr" indent="0" marL="0">
              <a:buNone/>
            </a:pPr>
            <a:r>
              <a:rPr lang="en-US" sz="950" dirty="0">
                <a:solidFill>
                  <a:srgbClr val="5B6B84"/>
                </a:solidFill>
                <a:latin typeface="Calibri" pitchFamily="34" charset="0"/>
                <a:ea typeface="Calibri" pitchFamily="34" charset="-122"/>
                <a:cs typeface="Calibri" pitchFamily="34" charset="-120"/>
              </a:rPr>
              <a:t>Differentiation →</a:t>
            </a:r>
            <a:endParaRPr lang="en-US" sz="950" dirty="0"/>
          </a:p>
        </p:txBody>
      </p:sp>
      <p:sp>
        <p:nvSpPr>
          <p:cNvPr id="43" name="Shape 40"/>
          <p:cNvSpPr/>
          <p:nvPr/>
        </p:nvSpPr>
        <p:spPr>
          <a:xfrm>
            <a:off x="2297887" y="4427525"/>
            <a:ext cx="237744" cy="237744"/>
          </a:xfrm>
          <a:prstGeom prst="ellipse">
            <a:avLst/>
          </a:prstGeom>
          <a:solidFill>
            <a:srgbClr val="1CACBD"/>
          </a:solidFill>
          <a:ln w="19050">
            <a:solidFill>
              <a:srgbClr val="FFFFFF"/>
            </a:solidFill>
            <a:prstDash val="solid"/>
          </a:ln>
        </p:spPr>
      </p:sp>
      <p:sp>
        <p:nvSpPr>
          <p:cNvPr id="44" name="Text 41"/>
          <p:cNvSpPr txBox="1"/>
          <p:nvPr/>
        </p:nvSpPr>
        <p:spPr>
          <a:xfrm>
            <a:off x="1913839" y="4692701"/>
            <a:ext cx="1005840" cy="365760"/>
          </a:xfrm>
          <a:prstGeom prst="rect">
            <a:avLst/>
          </a:prstGeom>
          <a:noFill/>
          <a:ln/>
        </p:spPr>
        <p:txBody>
          <a:bodyPr wrap="square" lIns="0" tIns="0" rIns="0" bIns="0" rtlCol="0" anchor="ctr"/>
          <a:lstStyle/>
          <a:p>
            <a:pPr algn="ctr" indent="0" marL="0">
              <a:lnSpc>
                <a:spcPct val="100000"/>
              </a:lnSpc>
              <a:buNone/>
            </a:pPr>
            <a:r>
              <a:rPr lang="en-US" sz="850" b="1" dirty="0">
                <a:solidFill>
                  <a:srgbClr val="0B2C5D"/>
                </a:solidFill>
                <a:latin typeface="Calibri" pitchFamily="34" charset="0"/>
                <a:ea typeface="Calibri" pitchFamily="34" charset="-122"/>
                <a:cs typeface="Calibri" pitchFamily="34" charset="-120"/>
              </a:rPr>
              <a:t>Cost</a:t>
            </a:r>
            <a:endParaRPr lang="en-US" sz="850" dirty="0"/>
          </a:p>
          <a:p>
            <a:pPr algn="ctr" indent="0" marL="0">
              <a:lnSpc>
                <a:spcPct val="100000"/>
              </a:lnSpc>
              <a:buNone/>
            </a:pPr>
            <a:r>
              <a:rPr lang="en-US" sz="850" b="1" dirty="0">
                <a:solidFill>
                  <a:srgbClr val="0B2C5D"/>
                </a:solidFill>
                <a:latin typeface="Calibri" pitchFamily="34" charset="0"/>
                <a:ea typeface="Calibri" pitchFamily="34" charset="-122"/>
                <a:cs typeface="Calibri" pitchFamily="34" charset="-120"/>
              </a:rPr>
              <a:t>leadership</a:t>
            </a:r>
            <a:endParaRPr lang="en-US" sz="850" dirty="0"/>
          </a:p>
        </p:txBody>
      </p:sp>
      <p:sp>
        <p:nvSpPr>
          <p:cNvPr id="45" name="Text 42"/>
          <p:cNvSpPr txBox="1"/>
          <p:nvPr/>
        </p:nvSpPr>
        <p:spPr>
          <a:xfrm>
            <a:off x="1913839" y="5021885"/>
            <a:ext cx="1005840" cy="182880"/>
          </a:xfrm>
          <a:prstGeom prst="rect">
            <a:avLst/>
          </a:prstGeom>
          <a:noFill/>
          <a:ln/>
        </p:spPr>
        <p:txBody>
          <a:bodyPr wrap="square" lIns="0" tIns="0" rIns="0" bIns="0" rtlCol="0" anchor="ctr"/>
          <a:lstStyle/>
          <a:p>
            <a:pPr algn="ctr" indent="0" marL="0">
              <a:buNone/>
            </a:pPr>
            <a:r>
              <a:rPr lang="en-US" sz="700" dirty="0">
                <a:solidFill>
                  <a:srgbClr val="5B6B84"/>
                </a:solidFill>
                <a:latin typeface="Calibri" pitchFamily="34" charset="0"/>
                <a:ea typeface="Calibri" pitchFamily="34" charset="-122"/>
                <a:cs typeface="Calibri" pitchFamily="34" charset="-120"/>
              </a:rPr>
              <a:t>(Intel Atom)</a:t>
            </a:r>
            <a:endParaRPr lang="en-US" sz="700" dirty="0"/>
          </a:p>
        </p:txBody>
      </p:sp>
      <p:sp>
        <p:nvSpPr>
          <p:cNvPr id="46" name="Shape 43"/>
          <p:cNvSpPr/>
          <p:nvPr/>
        </p:nvSpPr>
        <p:spPr>
          <a:xfrm>
            <a:off x="5191049" y="4427525"/>
            <a:ext cx="237744" cy="237744"/>
          </a:xfrm>
          <a:prstGeom prst="ellipse">
            <a:avLst/>
          </a:prstGeom>
          <a:solidFill>
            <a:srgbClr val="FC7468"/>
          </a:solidFill>
          <a:ln w="19050">
            <a:solidFill>
              <a:srgbClr val="FFFFFF"/>
            </a:solidFill>
            <a:prstDash val="solid"/>
          </a:ln>
        </p:spPr>
      </p:sp>
      <p:sp>
        <p:nvSpPr>
          <p:cNvPr id="47" name="Text 44"/>
          <p:cNvSpPr txBox="1"/>
          <p:nvPr/>
        </p:nvSpPr>
        <p:spPr>
          <a:xfrm>
            <a:off x="4807001" y="4692701"/>
            <a:ext cx="1005840" cy="365760"/>
          </a:xfrm>
          <a:prstGeom prst="rect">
            <a:avLst/>
          </a:prstGeom>
          <a:noFill/>
          <a:ln/>
        </p:spPr>
        <p:txBody>
          <a:bodyPr wrap="square" lIns="0" tIns="0" rIns="0" bIns="0" rtlCol="0" anchor="ctr"/>
          <a:lstStyle/>
          <a:p>
            <a:pPr algn="ctr" indent="0" marL="0">
              <a:lnSpc>
                <a:spcPct val="100000"/>
              </a:lnSpc>
              <a:buNone/>
            </a:pPr>
            <a:r>
              <a:rPr lang="en-US" sz="850" b="1" dirty="0">
                <a:solidFill>
                  <a:srgbClr val="0B2C5D"/>
                </a:solidFill>
                <a:latin typeface="Calibri" pitchFamily="34" charset="0"/>
                <a:ea typeface="Calibri" pitchFamily="34" charset="-122"/>
                <a:cs typeface="Calibri" pitchFamily="34" charset="-120"/>
              </a:rPr>
              <a:t>Focus /</a:t>
            </a:r>
            <a:endParaRPr lang="en-US" sz="850" dirty="0"/>
          </a:p>
          <a:p>
            <a:pPr algn="ctr" indent="0" marL="0">
              <a:lnSpc>
                <a:spcPct val="100000"/>
              </a:lnSpc>
              <a:buNone/>
            </a:pPr>
            <a:r>
              <a:rPr lang="en-US" sz="850" b="1" dirty="0">
                <a:solidFill>
                  <a:srgbClr val="0B2C5D"/>
                </a:solidFill>
                <a:latin typeface="Calibri" pitchFamily="34" charset="0"/>
                <a:ea typeface="Calibri" pitchFamily="34" charset="-122"/>
                <a:cs typeface="Calibri" pitchFamily="34" charset="-120"/>
              </a:rPr>
              <a:t>niche</a:t>
            </a:r>
            <a:endParaRPr lang="en-US" sz="850" dirty="0"/>
          </a:p>
        </p:txBody>
      </p:sp>
      <p:sp>
        <p:nvSpPr>
          <p:cNvPr id="48" name="Text 45"/>
          <p:cNvSpPr txBox="1"/>
          <p:nvPr/>
        </p:nvSpPr>
        <p:spPr>
          <a:xfrm>
            <a:off x="4807001" y="5021885"/>
            <a:ext cx="1005840" cy="182880"/>
          </a:xfrm>
          <a:prstGeom prst="rect">
            <a:avLst/>
          </a:prstGeom>
          <a:noFill/>
          <a:ln/>
        </p:spPr>
        <p:txBody>
          <a:bodyPr wrap="square" lIns="0" tIns="0" rIns="0" bIns="0" rtlCol="0" anchor="ctr"/>
          <a:lstStyle/>
          <a:p>
            <a:pPr algn="ctr" indent="0" marL="0">
              <a:buNone/>
            </a:pPr>
            <a:r>
              <a:rPr lang="en-US" sz="700" dirty="0">
                <a:solidFill>
                  <a:srgbClr val="5B6B84"/>
                </a:solidFill>
                <a:latin typeface="Calibri" pitchFamily="34" charset="0"/>
                <a:ea typeface="Calibri" pitchFamily="34" charset="-122"/>
                <a:cs typeface="Calibri" pitchFamily="34" charset="-120"/>
              </a:rPr>
              <a:t>(ARM Cortex-M)</a:t>
            </a:r>
            <a:endParaRPr lang="en-US" sz="700" dirty="0"/>
          </a:p>
        </p:txBody>
      </p:sp>
      <p:sp>
        <p:nvSpPr>
          <p:cNvPr id="49" name="Shape 46"/>
          <p:cNvSpPr/>
          <p:nvPr/>
        </p:nvSpPr>
        <p:spPr>
          <a:xfrm>
            <a:off x="5191049" y="3095244"/>
            <a:ext cx="237744" cy="237744"/>
          </a:xfrm>
          <a:prstGeom prst="ellipse">
            <a:avLst/>
          </a:prstGeom>
          <a:solidFill>
            <a:srgbClr val="FBC850"/>
          </a:solidFill>
          <a:ln w="19050">
            <a:solidFill>
              <a:srgbClr val="FFFFFF"/>
            </a:solidFill>
            <a:prstDash val="solid"/>
          </a:ln>
        </p:spPr>
      </p:sp>
      <p:sp>
        <p:nvSpPr>
          <p:cNvPr id="50" name="Text 47"/>
          <p:cNvSpPr txBox="1"/>
          <p:nvPr/>
        </p:nvSpPr>
        <p:spPr>
          <a:xfrm>
            <a:off x="4807001" y="3360420"/>
            <a:ext cx="1005840" cy="365760"/>
          </a:xfrm>
          <a:prstGeom prst="rect">
            <a:avLst/>
          </a:prstGeom>
          <a:noFill/>
          <a:ln/>
        </p:spPr>
        <p:txBody>
          <a:bodyPr wrap="square" lIns="0" tIns="0" rIns="0" bIns="0" rtlCol="0" anchor="ctr"/>
          <a:lstStyle/>
          <a:p>
            <a:pPr algn="ctr" indent="0" marL="0">
              <a:lnSpc>
                <a:spcPct val="100000"/>
              </a:lnSpc>
              <a:buNone/>
            </a:pPr>
            <a:r>
              <a:rPr lang="en-US" sz="850" b="1" dirty="0">
                <a:solidFill>
                  <a:srgbClr val="0B2C5D"/>
                </a:solidFill>
                <a:latin typeface="Calibri" pitchFamily="34" charset="0"/>
                <a:ea typeface="Calibri" pitchFamily="34" charset="-122"/>
                <a:cs typeface="Calibri" pitchFamily="34" charset="-120"/>
              </a:rPr>
              <a:t>Differ-</a:t>
            </a:r>
            <a:endParaRPr lang="en-US" sz="850" dirty="0"/>
          </a:p>
          <a:p>
            <a:pPr algn="ctr" indent="0" marL="0">
              <a:lnSpc>
                <a:spcPct val="100000"/>
              </a:lnSpc>
              <a:buNone/>
            </a:pPr>
            <a:r>
              <a:rPr lang="en-US" sz="850" b="1" dirty="0">
                <a:solidFill>
                  <a:srgbClr val="0B2C5D"/>
                </a:solidFill>
                <a:latin typeface="Calibri" pitchFamily="34" charset="0"/>
                <a:ea typeface="Calibri" pitchFamily="34" charset="-122"/>
                <a:cs typeface="Calibri" pitchFamily="34" charset="-120"/>
              </a:rPr>
              <a:t>entiation</a:t>
            </a:r>
            <a:endParaRPr lang="en-US" sz="850" dirty="0"/>
          </a:p>
        </p:txBody>
      </p:sp>
      <p:sp>
        <p:nvSpPr>
          <p:cNvPr id="51" name="Text 48"/>
          <p:cNvSpPr txBox="1"/>
          <p:nvPr/>
        </p:nvSpPr>
        <p:spPr>
          <a:xfrm>
            <a:off x="4807001" y="3689604"/>
            <a:ext cx="1005840" cy="182880"/>
          </a:xfrm>
          <a:prstGeom prst="rect">
            <a:avLst/>
          </a:prstGeom>
          <a:noFill/>
          <a:ln/>
        </p:spPr>
        <p:txBody>
          <a:bodyPr wrap="square" lIns="0" tIns="0" rIns="0" bIns="0" rtlCol="0" anchor="ctr"/>
          <a:lstStyle/>
          <a:p>
            <a:pPr algn="ctr" indent="0" marL="0">
              <a:buNone/>
            </a:pPr>
            <a:r>
              <a:rPr lang="en-US" sz="700" dirty="0">
                <a:solidFill>
                  <a:srgbClr val="5B6B84"/>
                </a:solidFill>
                <a:latin typeface="Calibri" pitchFamily="34" charset="0"/>
                <a:ea typeface="Calibri" pitchFamily="34" charset="-122"/>
                <a:cs typeface="Calibri" pitchFamily="34" charset="-120"/>
              </a:rPr>
              <a:t>(Apple Silicon)</a:t>
            </a:r>
            <a:endParaRPr lang="en-US" sz="700" dirty="0"/>
          </a:p>
        </p:txBody>
      </p:sp>
      <p:sp>
        <p:nvSpPr>
          <p:cNvPr id="52" name="Shape 49"/>
          <p:cNvSpPr/>
          <p:nvPr/>
        </p:nvSpPr>
        <p:spPr>
          <a:xfrm>
            <a:off x="2297887" y="5221224"/>
            <a:ext cx="237744" cy="237744"/>
          </a:xfrm>
          <a:prstGeom prst="ellipse">
            <a:avLst/>
          </a:prstGeom>
          <a:solidFill>
            <a:srgbClr val="5B6B84"/>
          </a:solidFill>
          <a:ln w="19050">
            <a:solidFill>
              <a:srgbClr val="FFFFFF"/>
            </a:solidFill>
            <a:prstDash val="solid"/>
          </a:ln>
        </p:spPr>
      </p:sp>
      <p:sp>
        <p:nvSpPr>
          <p:cNvPr id="53" name="Text 50"/>
          <p:cNvSpPr txBox="1"/>
          <p:nvPr/>
        </p:nvSpPr>
        <p:spPr>
          <a:xfrm>
            <a:off x="1913839" y="5486400"/>
            <a:ext cx="1005840" cy="365760"/>
          </a:xfrm>
          <a:prstGeom prst="rect">
            <a:avLst/>
          </a:prstGeom>
          <a:noFill/>
          <a:ln/>
        </p:spPr>
        <p:txBody>
          <a:bodyPr wrap="square" lIns="0" tIns="0" rIns="0" bIns="0" rtlCol="0" anchor="ctr"/>
          <a:lstStyle/>
          <a:p>
            <a:pPr algn="ctr" indent="0" marL="0">
              <a:lnSpc>
                <a:spcPct val="100000"/>
              </a:lnSpc>
              <a:buNone/>
            </a:pPr>
            <a:r>
              <a:rPr lang="en-US" sz="850" b="1" dirty="0">
                <a:solidFill>
                  <a:srgbClr val="0B2C5D"/>
                </a:solidFill>
                <a:latin typeface="Calibri" pitchFamily="34" charset="0"/>
                <a:ea typeface="Calibri" pitchFamily="34" charset="-122"/>
                <a:cs typeface="Calibri" pitchFamily="34" charset="-120"/>
              </a:rPr>
              <a:t>Retrench-</a:t>
            </a:r>
            <a:endParaRPr lang="en-US" sz="850" dirty="0"/>
          </a:p>
          <a:p>
            <a:pPr algn="ctr" indent="0" marL="0">
              <a:lnSpc>
                <a:spcPct val="100000"/>
              </a:lnSpc>
              <a:buNone/>
            </a:pPr>
            <a:r>
              <a:rPr lang="en-US" sz="850" b="1" dirty="0">
                <a:solidFill>
                  <a:srgbClr val="0B2C5D"/>
                </a:solidFill>
                <a:latin typeface="Calibri" pitchFamily="34" charset="0"/>
                <a:ea typeface="Calibri" pitchFamily="34" charset="-122"/>
                <a:cs typeface="Calibri" pitchFamily="34" charset="-120"/>
              </a:rPr>
              <a:t>ment</a:t>
            </a:r>
            <a:endParaRPr lang="en-US" sz="850" dirty="0"/>
          </a:p>
        </p:txBody>
      </p:sp>
      <p:sp>
        <p:nvSpPr>
          <p:cNvPr id="54" name="Text 51"/>
          <p:cNvSpPr txBox="1"/>
          <p:nvPr/>
        </p:nvSpPr>
        <p:spPr>
          <a:xfrm>
            <a:off x="1913839" y="5815584"/>
            <a:ext cx="1005840" cy="182880"/>
          </a:xfrm>
          <a:prstGeom prst="rect">
            <a:avLst/>
          </a:prstGeom>
          <a:noFill/>
          <a:ln/>
        </p:spPr>
        <p:txBody>
          <a:bodyPr wrap="square" lIns="0" tIns="0" rIns="0" bIns="0" rtlCol="0" anchor="ctr"/>
          <a:lstStyle/>
          <a:p>
            <a:pPr algn="ctr" indent="0" marL="0">
              <a:buNone/>
            </a:pPr>
            <a:r>
              <a:rPr lang="en-US" sz="700" dirty="0">
                <a:solidFill>
                  <a:srgbClr val="5B6B84"/>
                </a:solidFill>
                <a:latin typeface="Calibri" pitchFamily="34" charset="0"/>
                <a:ea typeface="Calibri" pitchFamily="34" charset="-122"/>
                <a:cs typeface="Calibri" pitchFamily="34" charset="-120"/>
              </a:rPr>
              <a:t>(IBM PC exit)</a:t>
            </a:r>
            <a:endParaRPr lang="en-US" sz="700" dirty="0"/>
          </a:p>
        </p:txBody>
      </p:sp>
      <p:sp>
        <p:nvSpPr>
          <p:cNvPr id="55" name="Text 52"/>
          <p:cNvSpPr txBox="1"/>
          <p:nvPr/>
        </p:nvSpPr>
        <p:spPr>
          <a:xfrm>
            <a:off x="1280160" y="2578608"/>
            <a:ext cx="5166360" cy="228600"/>
          </a:xfrm>
          <a:prstGeom prst="rect">
            <a:avLst/>
          </a:prstGeom>
          <a:noFill/>
          <a:ln/>
        </p:spPr>
        <p:txBody>
          <a:bodyPr wrap="square" lIns="0" tIns="0" rIns="0" bIns="0" rtlCol="0" anchor="ctr"/>
          <a:lstStyle/>
          <a:p>
            <a:pPr algn="ctr" indent="0" marL="0">
              <a:buNone/>
            </a:pPr>
            <a:r>
              <a:rPr lang="en-US" sz="1050" b="1" dirty="0">
                <a:solidFill>
                  <a:srgbClr val="0B2C5D"/>
                </a:solidFill>
                <a:latin typeface="Calibri" pitchFamily="34" charset="0"/>
                <a:ea typeface="Calibri" pitchFamily="34" charset="-122"/>
                <a:cs typeface="Calibri" pitchFamily="34" charset="-120"/>
              </a:rPr>
              <a:t>Cost vs. Differentiation focus</a:t>
            </a:r>
            <a:endParaRPr lang="en-US" sz="1050" dirty="0"/>
          </a:p>
        </p:txBody>
      </p:sp>
      <p:sp>
        <p:nvSpPr>
          <p:cNvPr id="56" name="Shape 53"/>
          <p:cNvSpPr/>
          <p:nvPr/>
        </p:nvSpPr>
        <p:spPr>
          <a:xfrm>
            <a:off x="7086600" y="2468880"/>
            <a:ext cx="4297680" cy="3749040"/>
          </a:xfrm>
          <a:prstGeom prst="roundRect">
            <a:avLst>
              <a:gd name="adj" fmla="val 2439"/>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57" name="Text 54"/>
          <p:cNvSpPr txBox="1"/>
          <p:nvPr/>
        </p:nvSpPr>
        <p:spPr>
          <a:xfrm>
            <a:off x="7315200" y="2670048"/>
            <a:ext cx="3840480" cy="274320"/>
          </a:xfrm>
          <a:prstGeom prst="rect">
            <a:avLst/>
          </a:prstGeom>
          <a:noFill/>
          <a:ln/>
        </p:spPr>
        <p:txBody>
          <a:bodyPr wrap="square" lIns="0" tIns="0" rIns="0" bIns="0" rtlCol="0" anchor="ctr"/>
          <a:lstStyle/>
          <a:p>
            <a:pPr indent="0" marL="0">
              <a:buNone/>
            </a:pPr>
            <a:r>
              <a:rPr lang="en-US" sz="1050" b="1" spc="100" kern="0" dirty="0">
                <a:solidFill>
                  <a:srgbClr val="FC7468"/>
                </a:solidFill>
                <a:latin typeface="Calibri" pitchFamily="34" charset="0"/>
                <a:ea typeface="Calibri" pitchFamily="34" charset="-122"/>
                <a:cs typeface="Calibri" pitchFamily="34" charset="-120"/>
              </a:rPr>
              <a:t>READING THE MAP</a:t>
            </a:r>
            <a:endParaRPr lang="en-US" sz="1050" dirty="0"/>
          </a:p>
        </p:txBody>
      </p:sp>
      <p:sp>
        <p:nvSpPr>
          <p:cNvPr id="58" name="Text 55"/>
          <p:cNvSpPr txBox="1"/>
          <p:nvPr/>
        </p:nvSpPr>
        <p:spPr>
          <a:xfrm>
            <a:off x="7315200" y="3017520"/>
            <a:ext cx="3886200" cy="3017520"/>
          </a:xfrm>
          <a:prstGeom prst="rect">
            <a:avLst/>
          </a:prstGeom>
          <a:noFill/>
          <a:ln/>
        </p:spPr>
        <p:txBody>
          <a:bodyPr wrap="square" lIns="0" tIns="0" rIns="0" bIns="0" rtlCol="0" anchor="ctr"/>
          <a:lstStyle/>
          <a:p>
            <a:pPr marL="228600" indent="-228600">
              <a:lnSpc>
                <a:spcPct val="118000"/>
              </a:lnSpc>
              <a:spcAft>
                <a:spcPts val="1000"/>
              </a:spcAft>
              <a:buSzPct val="100000"/>
              <a:buChar char="•"/>
            </a:pPr>
            <a:r>
              <a:rPr lang="en-US" sz="1100" dirty="0">
                <a:solidFill>
                  <a:srgbClr val="0B2C5D"/>
                </a:solidFill>
                <a:latin typeface="Calibri" pitchFamily="34" charset="0"/>
                <a:ea typeface="Calibri" pitchFamily="34" charset="-122"/>
                <a:cs typeface="Calibri" pitchFamily="34" charset="-120"/>
              </a:rPr>
              <a:t>Bottom-left: cost leadership — lean, narrow, efficient.</a:t>
            </a:r>
            <a:endParaRPr lang="en-US" sz="1100" dirty="0"/>
          </a:p>
          <a:p>
            <a:pPr marL="228600" indent="-228600">
              <a:lnSpc>
                <a:spcPct val="118000"/>
              </a:lnSpc>
              <a:spcAft>
                <a:spcPts val="1000"/>
              </a:spcAft>
              <a:buSzPct val="100000"/>
              <a:buChar char="•"/>
            </a:pPr>
            <a:r>
              <a:rPr lang="en-US" sz="1100" dirty="0">
                <a:solidFill>
                  <a:srgbClr val="0B2C5D"/>
                </a:solidFill>
                <a:latin typeface="Calibri" pitchFamily="34" charset="0"/>
                <a:ea typeface="Calibri" pitchFamily="34" charset="-122"/>
                <a:cs typeface="Calibri" pitchFamily="34" charset="-120"/>
              </a:rPr>
              <a:t>Bottom-right: focus/niche — narrow but distinctive.</a:t>
            </a:r>
            <a:endParaRPr lang="en-US" sz="1100" dirty="0"/>
          </a:p>
          <a:p>
            <a:pPr marL="228600" indent="-228600">
              <a:lnSpc>
                <a:spcPct val="118000"/>
              </a:lnSpc>
              <a:spcAft>
                <a:spcPts val="1000"/>
              </a:spcAft>
              <a:buSzPct val="100000"/>
              <a:buChar char="•"/>
            </a:pPr>
            <a:r>
              <a:rPr lang="en-US" sz="1100" dirty="0">
                <a:solidFill>
                  <a:srgbClr val="0B2C5D"/>
                </a:solidFill>
                <a:latin typeface="Calibri" pitchFamily="34" charset="0"/>
                <a:ea typeface="Calibri" pitchFamily="34" charset="-122"/>
                <a:cs typeface="Calibri" pitchFamily="34" charset="-120"/>
              </a:rPr>
              <a:t>Top-right: differentiation — broad and distinctive.</a:t>
            </a:r>
            <a:endParaRPr lang="en-US" sz="1100" dirty="0"/>
          </a:p>
          <a:p>
            <a:pPr marL="228600" indent="-228600">
              <a:lnSpc>
                <a:spcPct val="118000"/>
              </a:lnSpc>
              <a:spcAft>
                <a:spcPts val="1000"/>
              </a:spcAft>
              <a:buSzPct val="100000"/>
              <a:buChar char="•"/>
            </a:pPr>
            <a:r>
              <a:rPr lang="en-US" sz="1100" dirty="0">
                <a:solidFill>
                  <a:srgbClr val="0B2C5D"/>
                </a:solidFill>
                <a:latin typeface="Calibri" pitchFamily="34" charset="0"/>
                <a:ea typeface="Calibri" pitchFamily="34" charset="-122"/>
                <a:cs typeface="Calibri" pitchFamily="34" charset="-120"/>
              </a:rPr>
              <a:t>Top-left: retrenchment — pulling back from a broad, low-margin position.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3A5578"/>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3A5578"/>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9FB3CC"/>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6C84A6"/>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6C84A6"/>
                </a:solidFill>
                <a:latin typeface="Calibri" pitchFamily="34" charset="0"/>
                <a:ea typeface="Calibri" pitchFamily="34" charset="-122"/>
                <a:cs typeface="Calibri" pitchFamily="34" charset="-120"/>
              </a:rPr>
              <a:t>8</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2 · ORGANIZATIONAL STRATEGY</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The Strategic Management Process</a:t>
            </a:r>
            <a:endParaRPr lang="en-US" sz="2700" dirty="0"/>
          </a:p>
        </p:txBody>
      </p:sp>
      <p:sp>
        <p:nvSpPr>
          <p:cNvPr id="36" name="Shape 33"/>
          <p:cNvSpPr/>
          <p:nvPr/>
        </p:nvSpPr>
        <p:spPr>
          <a:xfrm>
            <a:off x="5303520" y="3703320"/>
            <a:ext cx="1554480" cy="1554480"/>
          </a:xfrm>
          <a:prstGeom prst="ellipse">
            <a:avLst/>
          </a:prstGeom>
          <a:solidFill>
            <a:srgbClr val="13315C"/>
          </a:solidFill>
          <a:ln w="25400">
            <a:solidFill>
              <a:srgbClr val="1CACBD"/>
            </a:solidFill>
            <a:prstDash val="solid"/>
          </a:ln>
        </p:spPr>
      </p:sp>
      <p:sp>
        <p:nvSpPr>
          <p:cNvPr id="37" name="Text 34"/>
          <p:cNvSpPr txBox="1"/>
          <p:nvPr/>
        </p:nvSpPr>
        <p:spPr>
          <a:xfrm>
            <a:off x="5303520" y="4187952"/>
            <a:ext cx="1554480" cy="585216"/>
          </a:xfrm>
          <a:prstGeom prst="rect">
            <a:avLst/>
          </a:prstGeom>
          <a:noFill/>
          <a:ln/>
        </p:spPr>
        <p:txBody>
          <a:bodyPr wrap="square" lIns="0" tIns="0" rIns="0" bIns="0" rtlCol="0" anchor="ctr"/>
          <a:lstStyle/>
          <a:p>
            <a:pPr algn="ctr" indent="0" marL="0">
              <a:lnSpc>
                <a:spcPct val="100000"/>
              </a:lnSpc>
              <a:buNone/>
            </a:pPr>
            <a:r>
              <a:rPr lang="en-US" sz="1250" b="1" dirty="0">
                <a:solidFill>
                  <a:srgbClr val="FFFFFF"/>
                </a:solidFill>
                <a:latin typeface="Calibri" pitchFamily="34" charset="0"/>
                <a:ea typeface="Calibri" pitchFamily="34" charset="-122"/>
                <a:cs typeface="Calibri" pitchFamily="34" charset="-120"/>
              </a:rPr>
              <a:t>STRATEGIC</a:t>
            </a:r>
            <a:endParaRPr lang="en-US" sz="1250" dirty="0"/>
          </a:p>
          <a:p>
            <a:pPr algn="ctr" indent="0" marL="0">
              <a:lnSpc>
                <a:spcPct val="100000"/>
              </a:lnSpc>
              <a:buNone/>
            </a:pPr>
            <a:r>
              <a:rPr lang="en-US" sz="1250" b="1" dirty="0">
                <a:solidFill>
                  <a:srgbClr val="FFFFFF"/>
                </a:solidFill>
                <a:latin typeface="Calibri" pitchFamily="34" charset="0"/>
                <a:ea typeface="Calibri" pitchFamily="34" charset="-122"/>
                <a:cs typeface="Calibri" pitchFamily="34" charset="-120"/>
              </a:rPr>
              <a:t>FIT</a:t>
            </a:r>
            <a:endParaRPr lang="en-US" sz="1250" dirty="0"/>
          </a:p>
        </p:txBody>
      </p:sp>
      <p:sp>
        <p:nvSpPr>
          <p:cNvPr id="38" name="Shape 35"/>
          <p:cNvSpPr/>
          <p:nvPr/>
        </p:nvSpPr>
        <p:spPr>
          <a:xfrm>
            <a:off x="5870448" y="2808122"/>
            <a:ext cx="420624" cy="420624"/>
          </a:xfrm>
          <a:prstGeom prst="ellipse">
            <a:avLst/>
          </a:prstGeom>
          <a:solidFill>
            <a:srgbClr val="1CACBD"/>
          </a:solidFill>
          <a:ln w="25400">
            <a:solidFill>
              <a:srgbClr val="0A2247"/>
            </a:solidFill>
            <a:prstDash val="solid"/>
          </a:ln>
        </p:spPr>
      </p:sp>
      <p:sp>
        <p:nvSpPr>
          <p:cNvPr id="39" name="Text 36"/>
          <p:cNvSpPr txBox="1"/>
          <p:nvPr/>
        </p:nvSpPr>
        <p:spPr>
          <a:xfrm>
            <a:off x="5870448" y="2808122"/>
            <a:ext cx="420624" cy="420624"/>
          </a:xfrm>
          <a:prstGeom prst="rect">
            <a:avLst/>
          </a:prstGeom>
          <a:noFill/>
          <a:ln/>
        </p:spPr>
        <p:txBody>
          <a:bodyPr wrap="square" lIns="0" tIns="0" rIns="0" bIns="0" rtlCol="0" anchor="ctr"/>
          <a:lstStyle/>
          <a:p>
            <a:pPr algn="ctr" indent="0" marL="0">
              <a:buNone/>
            </a:pPr>
            <a:r>
              <a:rPr lang="en-US" sz="1300" b="1" dirty="0">
                <a:solidFill>
                  <a:srgbClr val="0A2247"/>
                </a:solidFill>
                <a:latin typeface="Calibri" pitchFamily="34" charset="0"/>
                <a:ea typeface="Calibri" pitchFamily="34" charset="-122"/>
                <a:cs typeface="Calibri" pitchFamily="34" charset="-120"/>
              </a:rPr>
              <a:t>1</a:t>
            </a:r>
            <a:endParaRPr lang="en-US" sz="1300" dirty="0"/>
          </a:p>
        </p:txBody>
      </p:sp>
      <p:sp>
        <p:nvSpPr>
          <p:cNvPr id="40" name="Text 37"/>
          <p:cNvSpPr txBox="1"/>
          <p:nvPr/>
        </p:nvSpPr>
        <p:spPr>
          <a:xfrm>
            <a:off x="5234940" y="3292754"/>
            <a:ext cx="16916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Review &amp; define</a:t>
            </a:r>
            <a:endParaRPr lang="en-US" sz="1000" dirty="0"/>
          </a:p>
        </p:txBody>
      </p:sp>
      <p:sp>
        <p:nvSpPr>
          <p:cNvPr id="41" name="Text 38"/>
          <p:cNvSpPr txBox="1"/>
          <p:nvPr/>
        </p:nvSpPr>
        <p:spPr>
          <a:xfrm>
            <a:off x="5234940" y="3548786"/>
            <a:ext cx="1691640" cy="320040"/>
          </a:xfrm>
          <a:prstGeom prst="rect">
            <a:avLst/>
          </a:prstGeom>
          <a:noFill/>
          <a:ln/>
        </p:spPr>
        <p:txBody>
          <a:bodyPr wrap="square" lIns="0" tIns="0" rIns="0" bIns="0" rtlCol="0" anchor="ctr"/>
          <a:lstStyle/>
          <a:p>
            <a:pPr algn="ctr" indent="0" marL="0">
              <a:buNone/>
            </a:pPr>
            <a:r>
              <a:rPr lang="en-US" sz="850" dirty="0">
                <a:solidFill>
                  <a:srgbClr val="9FB3CC"/>
                </a:solidFill>
                <a:latin typeface="Calibri" pitchFamily="34" charset="0"/>
                <a:ea typeface="Calibri" pitchFamily="34" charset="-122"/>
                <a:cs typeface="Calibri" pitchFamily="34" charset="-120"/>
              </a:rPr>
              <a:t>mission, vision, values</a:t>
            </a:r>
            <a:endParaRPr lang="en-US" sz="850" dirty="0"/>
          </a:p>
        </p:txBody>
      </p:sp>
      <p:sp>
        <p:nvSpPr>
          <p:cNvPr id="42" name="Shape 39"/>
          <p:cNvSpPr/>
          <p:nvPr/>
        </p:nvSpPr>
        <p:spPr>
          <a:xfrm>
            <a:off x="7493830" y="3539185"/>
            <a:ext cx="420624" cy="420624"/>
          </a:xfrm>
          <a:prstGeom prst="ellipse">
            <a:avLst/>
          </a:prstGeom>
          <a:solidFill>
            <a:srgbClr val="FBC850"/>
          </a:solidFill>
          <a:ln w="25400">
            <a:solidFill>
              <a:srgbClr val="0A2247"/>
            </a:solidFill>
            <a:prstDash val="solid"/>
          </a:ln>
        </p:spPr>
      </p:sp>
      <p:sp>
        <p:nvSpPr>
          <p:cNvPr id="43" name="Text 40"/>
          <p:cNvSpPr txBox="1"/>
          <p:nvPr/>
        </p:nvSpPr>
        <p:spPr>
          <a:xfrm>
            <a:off x="7493830" y="3539185"/>
            <a:ext cx="420624" cy="420624"/>
          </a:xfrm>
          <a:prstGeom prst="rect">
            <a:avLst/>
          </a:prstGeom>
          <a:noFill/>
          <a:ln/>
        </p:spPr>
        <p:txBody>
          <a:bodyPr wrap="square" lIns="0" tIns="0" rIns="0" bIns="0" rtlCol="0" anchor="ctr"/>
          <a:lstStyle/>
          <a:p>
            <a:pPr algn="ctr" indent="0" marL="0">
              <a:buNone/>
            </a:pPr>
            <a:r>
              <a:rPr lang="en-US" sz="1300" b="1" dirty="0">
                <a:solidFill>
                  <a:srgbClr val="0A2247"/>
                </a:solidFill>
                <a:latin typeface="Calibri" pitchFamily="34" charset="0"/>
                <a:ea typeface="Calibri" pitchFamily="34" charset="-122"/>
                <a:cs typeface="Calibri" pitchFamily="34" charset="-120"/>
              </a:rPr>
              <a:t>2</a:t>
            </a:r>
            <a:endParaRPr lang="en-US" sz="1300" dirty="0"/>
          </a:p>
        </p:txBody>
      </p:sp>
      <p:sp>
        <p:nvSpPr>
          <p:cNvPr id="44" name="Text 41"/>
          <p:cNvSpPr txBox="1"/>
          <p:nvPr/>
        </p:nvSpPr>
        <p:spPr>
          <a:xfrm>
            <a:off x="7996750" y="3530041"/>
            <a:ext cx="1691640"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Analyze internal</a:t>
            </a:r>
            <a:endParaRPr lang="en-US" sz="1000" dirty="0"/>
          </a:p>
        </p:txBody>
      </p:sp>
      <p:sp>
        <p:nvSpPr>
          <p:cNvPr id="45" name="Text 42"/>
          <p:cNvSpPr txBox="1"/>
          <p:nvPr/>
        </p:nvSpPr>
        <p:spPr>
          <a:xfrm>
            <a:off x="7996750" y="3786073"/>
            <a:ext cx="1691640" cy="320040"/>
          </a:xfrm>
          <a:prstGeom prst="rect">
            <a:avLst/>
          </a:prstGeom>
          <a:noFill/>
          <a:ln/>
        </p:spPr>
        <p:txBody>
          <a:bodyPr wrap="square" lIns="0" tIns="0" rIns="0" bIns="0" rtlCol="0" anchor="ctr"/>
          <a:lstStyle/>
          <a:p>
            <a:pPr algn="l" indent="0" marL="0">
              <a:buNone/>
            </a:pPr>
            <a:r>
              <a:rPr lang="en-US" sz="850" dirty="0">
                <a:solidFill>
                  <a:srgbClr val="9FB3CC"/>
                </a:solidFill>
                <a:latin typeface="Calibri" pitchFamily="34" charset="0"/>
                <a:ea typeface="Calibri" pitchFamily="34" charset="-122"/>
                <a:cs typeface="Calibri" pitchFamily="34" charset="-120"/>
              </a:rPr>
              <a:t>strengths &amp; weaknesses</a:t>
            </a:r>
            <a:endParaRPr lang="en-US" sz="850" dirty="0"/>
          </a:p>
        </p:txBody>
      </p:sp>
      <p:sp>
        <p:nvSpPr>
          <p:cNvPr id="46" name="Shape 43"/>
          <p:cNvSpPr/>
          <p:nvPr/>
        </p:nvSpPr>
        <p:spPr>
          <a:xfrm>
            <a:off x="7493830" y="5001311"/>
            <a:ext cx="420624" cy="420624"/>
          </a:xfrm>
          <a:prstGeom prst="ellipse">
            <a:avLst/>
          </a:prstGeom>
          <a:solidFill>
            <a:srgbClr val="FC7468"/>
          </a:solidFill>
          <a:ln w="25400">
            <a:solidFill>
              <a:srgbClr val="0A2247"/>
            </a:solidFill>
            <a:prstDash val="solid"/>
          </a:ln>
        </p:spPr>
      </p:sp>
      <p:sp>
        <p:nvSpPr>
          <p:cNvPr id="47" name="Text 44"/>
          <p:cNvSpPr txBox="1"/>
          <p:nvPr/>
        </p:nvSpPr>
        <p:spPr>
          <a:xfrm>
            <a:off x="7493830" y="5001311"/>
            <a:ext cx="420624" cy="420624"/>
          </a:xfrm>
          <a:prstGeom prst="rect">
            <a:avLst/>
          </a:prstGeom>
          <a:noFill/>
          <a:ln/>
        </p:spPr>
        <p:txBody>
          <a:bodyPr wrap="square" lIns="0" tIns="0" rIns="0" bIns="0" rtlCol="0" anchor="ctr"/>
          <a:lstStyle/>
          <a:p>
            <a:pPr algn="ctr" indent="0" marL="0">
              <a:buNone/>
            </a:pPr>
            <a:r>
              <a:rPr lang="en-US" sz="1300" b="1" dirty="0">
                <a:solidFill>
                  <a:srgbClr val="0A2247"/>
                </a:solidFill>
                <a:latin typeface="Calibri" pitchFamily="34" charset="0"/>
                <a:ea typeface="Calibri" pitchFamily="34" charset="-122"/>
                <a:cs typeface="Calibri" pitchFamily="34" charset="-120"/>
              </a:rPr>
              <a:t>3</a:t>
            </a:r>
            <a:endParaRPr lang="en-US" sz="1300" dirty="0"/>
          </a:p>
        </p:txBody>
      </p:sp>
      <p:sp>
        <p:nvSpPr>
          <p:cNvPr id="48" name="Text 45"/>
          <p:cNvSpPr txBox="1"/>
          <p:nvPr/>
        </p:nvSpPr>
        <p:spPr>
          <a:xfrm>
            <a:off x="7996750" y="4992167"/>
            <a:ext cx="1691640"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Analyze external</a:t>
            </a:r>
            <a:endParaRPr lang="en-US" sz="1000" dirty="0"/>
          </a:p>
        </p:txBody>
      </p:sp>
      <p:sp>
        <p:nvSpPr>
          <p:cNvPr id="49" name="Text 46"/>
          <p:cNvSpPr txBox="1"/>
          <p:nvPr/>
        </p:nvSpPr>
        <p:spPr>
          <a:xfrm>
            <a:off x="7996750" y="5248199"/>
            <a:ext cx="1691640" cy="320040"/>
          </a:xfrm>
          <a:prstGeom prst="rect">
            <a:avLst/>
          </a:prstGeom>
          <a:noFill/>
          <a:ln/>
        </p:spPr>
        <p:txBody>
          <a:bodyPr wrap="square" lIns="0" tIns="0" rIns="0" bIns="0" rtlCol="0" anchor="ctr"/>
          <a:lstStyle/>
          <a:p>
            <a:pPr algn="l" indent="0" marL="0">
              <a:buNone/>
            </a:pPr>
            <a:r>
              <a:rPr lang="en-US" sz="850" dirty="0">
                <a:solidFill>
                  <a:srgbClr val="9FB3CC"/>
                </a:solidFill>
                <a:latin typeface="Calibri" pitchFamily="34" charset="0"/>
                <a:ea typeface="Calibri" pitchFamily="34" charset="-122"/>
                <a:cs typeface="Calibri" pitchFamily="34" charset="-120"/>
              </a:rPr>
              <a:t>opportunities &amp; threats</a:t>
            </a:r>
            <a:endParaRPr lang="en-US" sz="850" dirty="0"/>
          </a:p>
        </p:txBody>
      </p:sp>
      <p:sp>
        <p:nvSpPr>
          <p:cNvPr id="50" name="Shape 47"/>
          <p:cNvSpPr/>
          <p:nvPr/>
        </p:nvSpPr>
        <p:spPr>
          <a:xfrm>
            <a:off x="5870448" y="5732374"/>
            <a:ext cx="420624" cy="420624"/>
          </a:xfrm>
          <a:prstGeom prst="ellipse">
            <a:avLst/>
          </a:prstGeom>
          <a:solidFill>
            <a:srgbClr val="1CACBD"/>
          </a:solidFill>
          <a:ln w="25400">
            <a:solidFill>
              <a:srgbClr val="0A2247"/>
            </a:solidFill>
            <a:prstDash val="solid"/>
          </a:ln>
        </p:spPr>
      </p:sp>
      <p:sp>
        <p:nvSpPr>
          <p:cNvPr id="51" name="Text 48"/>
          <p:cNvSpPr txBox="1"/>
          <p:nvPr/>
        </p:nvSpPr>
        <p:spPr>
          <a:xfrm>
            <a:off x="5870448" y="5732374"/>
            <a:ext cx="420624" cy="420624"/>
          </a:xfrm>
          <a:prstGeom prst="rect">
            <a:avLst/>
          </a:prstGeom>
          <a:noFill/>
          <a:ln/>
        </p:spPr>
        <p:txBody>
          <a:bodyPr wrap="square" lIns="0" tIns="0" rIns="0" bIns="0" rtlCol="0" anchor="ctr"/>
          <a:lstStyle/>
          <a:p>
            <a:pPr algn="ctr" indent="0" marL="0">
              <a:buNone/>
            </a:pPr>
            <a:r>
              <a:rPr lang="en-US" sz="1300" b="1" dirty="0">
                <a:solidFill>
                  <a:srgbClr val="0A2247"/>
                </a:solidFill>
                <a:latin typeface="Calibri" pitchFamily="34" charset="0"/>
                <a:ea typeface="Calibri" pitchFamily="34" charset="-122"/>
                <a:cs typeface="Calibri" pitchFamily="34" charset="-120"/>
              </a:rPr>
              <a:t>4</a:t>
            </a:r>
            <a:endParaRPr lang="en-US" sz="1300" dirty="0"/>
          </a:p>
        </p:txBody>
      </p:sp>
      <p:sp>
        <p:nvSpPr>
          <p:cNvPr id="52" name="Text 49"/>
          <p:cNvSpPr txBox="1"/>
          <p:nvPr/>
        </p:nvSpPr>
        <p:spPr>
          <a:xfrm>
            <a:off x="5234940" y="5320894"/>
            <a:ext cx="16916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Set long-range</a:t>
            </a:r>
            <a:endParaRPr lang="en-US" sz="1000" dirty="0"/>
          </a:p>
        </p:txBody>
      </p:sp>
      <p:sp>
        <p:nvSpPr>
          <p:cNvPr id="53" name="Text 50"/>
          <p:cNvSpPr txBox="1"/>
          <p:nvPr/>
        </p:nvSpPr>
        <p:spPr>
          <a:xfrm>
            <a:off x="5234940" y="5576926"/>
            <a:ext cx="1691640" cy="320040"/>
          </a:xfrm>
          <a:prstGeom prst="rect">
            <a:avLst/>
          </a:prstGeom>
          <a:noFill/>
          <a:ln/>
        </p:spPr>
        <p:txBody>
          <a:bodyPr wrap="square" lIns="0" tIns="0" rIns="0" bIns="0" rtlCol="0" anchor="ctr"/>
          <a:lstStyle/>
          <a:p>
            <a:pPr algn="ctr" indent="0" marL="0">
              <a:buNone/>
            </a:pPr>
            <a:r>
              <a:rPr lang="en-US" sz="850" dirty="0">
                <a:solidFill>
                  <a:srgbClr val="9FB3CC"/>
                </a:solidFill>
                <a:latin typeface="Calibri" pitchFamily="34" charset="0"/>
                <a:ea typeface="Calibri" pitchFamily="34" charset="-122"/>
                <a:cs typeface="Calibri" pitchFamily="34" charset="-120"/>
              </a:rPr>
              <a:t>objectives</a:t>
            </a:r>
            <a:endParaRPr lang="en-US" sz="850" dirty="0"/>
          </a:p>
        </p:txBody>
      </p:sp>
      <p:sp>
        <p:nvSpPr>
          <p:cNvPr id="54" name="Shape 51"/>
          <p:cNvSpPr/>
          <p:nvPr/>
        </p:nvSpPr>
        <p:spPr>
          <a:xfrm>
            <a:off x="4247066" y="5001311"/>
            <a:ext cx="420624" cy="420624"/>
          </a:xfrm>
          <a:prstGeom prst="ellipse">
            <a:avLst/>
          </a:prstGeom>
          <a:solidFill>
            <a:srgbClr val="FBC850"/>
          </a:solidFill>
          <a:ln w="25400">
            <a:solidFill>
              <a:srgbClr val="0A2247"/>
            </a:solidFill>
            <a:prstDash val="solid"/>
          </a:ln>
        </p:spPr>
      </p:sp>
      <p:sp>
        <p:nvSpPr>
          <p:cNvPr id="55" name="Text 52"/>
          <p:cNvSpPr txBox="1"/>
          <p:nvPr/>
        </p:nvSpPr>
        <p:spPr>
          <a:xfrm>
            <a:off x="4247066" y="5001311"/>
            <a:ext cx="420624" cy="420624"/>
          </a:xfrm>
          <a:prstGeom prst="rect">
            <a:avLst/>
          </a:prstGeom>
          <a:noFill/>
          <a:ln/>
        </p:spPr>
        <p:txBody>
          <a:bodyPr wrap="square" lIns="0" tIns="0" rIns="0" bIns="0" rtlCol="0" anchor="ctr"/>
          <a:lstStyle/>
          <a:p>
            <a:pPr algn="ctr" indent="0" marL="0">
              <a:buNone/>
            </a:pPr>
            <a:r>
              <a:rPr lang="en-US" sz="1300" b="1" dirty="0">
                <a:solidFill>
                  <a:srgbClr val="0A2247"/>
                </a:solidFill>
                <a:latin typeface="Calibri" pitchFamily="34" charset="0"/>
                <a:ea typeface="Calibri" pitchFamily="34" charset="-122"/>
                <a:cs typeface="Calibri" pitchFamily="34" charset="-120"/>
              </a:rPr>
              <a:t>5</a:t>
            </a:r>
            <a:endParaRPr lang="en-US" sz="1300" dirty="0"/>
          </a:p>
        </p:txBody>
      </p:sp>
      <p:sp>
        <p:nvSpPr>
          <p:cNvPr id="56" name="Text 53"/>
          <p:cNvSpPr txBox="1"/>
          <p:nvPr/>
        </p:nvSpPr>
        <p:spPr>
          <a:xfrm>
            <a:off x="2473130" y="4992167"/>
            <a:ext cx="1691640" cy="274320"/>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Generate &amp; evaluate</a:t>
            </a:r>
            <a:endParaRPr lang="en-US" sz="1000" dirty="0"/>
          </a:p>
        </p:txBody>
      </p:sp>
      <p:sp>
        <p:nvSpPr>
          <p:cNvPr id="57" name="Text 54"/>
          <p:cNvSpPr txBox="1"/>
          <p:nvPr/>
        </p:nvSpPr>
        <p:spPr>
          <a:xfrm>
            <a:off x="2473130" y="5248199"/>
            <a:ext cx="1691640" cy="320040"/>
          </a:xfrm>
          <a:prstGeom prst="rect">
            <a:avLst/>
          </a:prstGeom>
          <a:noFill/>
          <a:ln/>
        </p:spPr>
        <p:txBody>
          <a:bodyPr wrap="square" lIns="0" tIns="0" rIns="0" bIns="0" rtlCol="0" anchor="ctr"/>
          <a:lstStyle/>
          <a:p>
            <a:pPr algn="r" indent="0" marL="0">
              <a:buNone/>
            </a:pPr>
            <a:r>
              <a:rPr lang="en-US" sz="850" dirty="0">
                <a:solidFill>
                  <a:srgbClr val="9FB3CC"/>
                </a:solidFill>
                <a:latin typeface="Calibri" pitchFamily="34" charset="0"/>
                <a:ea typeface="Calibri" pitchFamily="34" charset="-122"/>
                <a:cs typeface="Calibri" pitchFamily="34" charset="-120"/>
              </a:rPr>
              <a:t>strategies</a:t>
            </a:r>
            <a:endParaRPr lang="en-US" sz="850" dirty="0"/>
          </a:p>
        </p:txBody>
      </p:sp>
      <p:sp>
        <p:nvSpPr>
          <p:cNvPr id="58" name="Shape 55"/>
          <p:cNvSpPr/>
          <p:nvPr/>
        </p:nvSpPr>
        <p:spPr>
          <a:xfrm>
            <a:off x="4247066" y="3539185"/>
            <a:ext cx="420624" cy="420624"/>
          </a:xfrm>
          <a:prstGeom prst="ellipse">
            <a:avLst/>
          </a:prstGeom>
          <a:solidFill>
            <a:srgbClr val="FC7468"/>
          </a:solidFill>
          <a:ln w="25400">
            <a:solidFill>
              <a:srgbClr val="0A2247"/>
            </a:solidFill>
            <a:prstDash val="solid"/>
          </a:ln>
        </p:spPr>
      </p:sp>
      <p:sp>
        <p:nvSpPr>
          <p:cNvPr id="59" name="Text 56"/>
          <p:cNvSpPr txBox="1"/>
          <p:nvPr/>
        </p:nvSpPr>
        <p:spPr>
          <a:xfrm>
            <a:off x="4247066" y="3539185"/>
            <a:ext cx="420624" cy="420624"/>
          </a:xfrm>
          <a:prstGeom prst="rect">
            <a:avLst/>
          </a:prstGeom>
          <a:noFill/>
          <a:ln/>
        </p:spPr>
        <p:txBody>
          <a:bodyPr wrap="square" lIns="0" tIns="0" rIns="0" bIns="0" rtlCol="0" anchor="ctr"/>
          <a:lstStyle/>
          <a:p>
            <a:pPr algn="ctr" indent="0" marL="0">
              <a:buNone/>
            </a:pPr>
            <a:r>
              <a:rPr lang="en-US" sz="1300" b="1" dirty="0">
                <a:solidFill>
                  <a:srgbClr val="0A2247"/>
                </a:solidFill>
                <a:latin typeface="Calibri" pitchFamily="34" charset="0"/>
                <a:ea typeface="Calibri" pitchFamily="34" charset="-122"/>
                <a:cs typeface="Calibri" pitchFamily="34" charset="-120"/>
              </a:rPr>
              <a:t>6</a:t>
            </a:r>
            <a:endParaRPr lang="en-US" sz="1300" dirty="0"/>
          </a:p>
        </p:txBody>
      </p:sp>
      <p:sp>
        <p:nvSpPr>
          <p:cNvPr id="60" name="Text 57"/>
          <p:cNvSpPr txBox="1"/>
          <p:nvPr/>
        </p:nvSpPr>
        <p:spPr>
          <a:xfrm>
            <a:off x="2473130" y="3530041"/>
            <a:ext cx="1691640" cy="274320"/>
          </a:xfrm>
          <a:prstGeom prst="rect">
            <a:avLst/>
          </a:prstGeom>
          <a:noFill/>
          <a:ln/>
        </p:spPr>
        <p:txBody>
          <a:bodyPr wrap="square" lIns="0" tIns="0" rIns="0" bIns="0"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Implement via</a:t>
            </a:r>
            <a:endParaRPr lang="en-US" sz="1000" dirty="0"/>
          </a:p>
        </p:txBody>
      </p:sp>
      <p:sp>
        <p:nvSpPr>
          <p:cNvPr id="61" name="Text 58"/>
          <p:cNvSpPr txBox="1"/>
          <p:nvPr/>
        </p:nvSpPr>
        <p:spPr>
          <a:xfrm>
            <a:off x="2473130" y="3786073"/>
            <a:ext cx="1691640" cy="320040"/>
          </a:xfrm>
          <a:prstGeom prst="rect">
            <a:avLst/>
          </a:prstGeom>
          <a:noFill/>
          <a:ln/>
        </p:spPr>
        <p:txBody>
          <a:bodyPr wrap="square" lIns="0" tIns="0" rIns="0" bIns="0" rtlCol="0" anchor="ctr"/>
          <a:lstStyle/>
          <a:p>
            <a:pPr algn="r" indent="0" marL="0">
              <a:buNone/>
            </a:pPr>
            <a:r>
              <a:rPr lang="en-US" sz="850" dirty="0">
                <a:solidFill>
                  <a:srgbClr val="9FB3CC"/>
                </a:solidFill>
                <a:latin typeface="Calibri" pitchFamily="34" charset="0"/>
                <a:ea typeface="Calibri" pitchFamily="34" charset="-122"/>
                <a:cs typeface="Calibri" pitchFamily="34" charset="-120"/>
              </a:rPr>
              <a:t>selected projects</a:t>
            </a:r>
            <a:endParaRPr lang="en-US" sz="850" dirty="0"/>
          </a:p>
        </p:txBody>
      </p:sp>
      <p:sp>
        <p:nvSpPr>
          <p:cNvPr id="62" name="Text 59"/>
          <p:cNvSpPr txBox="1"/>
          <p:nvPr/>
        </p:nvSpPr>
        <p:spPr>
          <a:xfrm>
            <a:off x="777240" y="6080760"/>
            <a:ext cx="10607040" cy="320040"/>
          </a:xfrm>
          <a:prstGeom prst="rect">
            <a:avLst/>
          </a:prstGeom>
          <a:noFill/>
          <a:ln/>
        </p:spPr>
        <p:txBody>
          <a:bodyPr wrap="square" lIns="0" tIns="0" rIns="0" bIns="0" rtlCol="0" anchor="ctr"/>
          <a:lstStyle/>
          <a:p>
            <a:pPr indent="0" marL="0">
              <a:buNone/>
            </a:pPr>
            <a:r>
              <a:rPr lang="en-US" sz="950" i="1" dirty="0">
                <a:solidFill>
                  <a:srgbClr val="9FB3CC"/>
                </a:solidFill>
                <a:latin typeface="Calibri" pitchFamily="34" charset="0"/>
                <a:ea typeface="Calibri" pitchFamily="34" charset="-122"/>
                <a:cs typeface="Calibri" pitchFamily="34" charset="-120"/>
              </a:rPr>
              <a:t>Real-world parallel:  Intel and Toyota both run a formal strategic-planning cycle much like this one annually — and revisit it sooner after a major market shift.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9</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3 · FROM STRATEGY TO OBJECTIVES</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Mission Statements</a:t>
            </a:r>
            <a:endParaRPr lang="en-US" sz="2700" dirty="0"/>
          </a:p>
        </p:txBody>
      </p:sp>
      <p:sp>
        <p:nvSpPr>
          <p:cNvPr id="36" name="Text 33"/>
          <p:cNvSpPr txBox="1"/>
          <p:nvPr/>
        </p:nvSpPr>
        <p:spPr>
          <a:xfrm>
            <a:off x="777240" y="2514600"/>
            <a:ext cx="5212080" cy="2103120"/>
          </a:xfrm>
          <a:prstGeom prst="rect">
            <a:avLst/>
          </a:prstGeom>
          <a:noFill/>
          <a:ln/>
        </p:spPr>
        <p:txBody>
          <a:bodyPr wrap="square" lIns="0" tIns="0" rIns="0" bIns="0" rtlCol="0" anchor="ctr"/>
          <a:lstStyle/>
          <a:p>
            <a:pPr marL="228600" indent="-228600">
              <a:lnSpc>
                <a:spcPct val="118000"/>
              </a:lnSpc>
              <a:spcAft>
                <a:spcPts val="1000"/>
              </a:spcAft>
              <a:buSzPct val="100000"/>
              <a:buChar char="•"/>
            </a:pPr>
            <a:r>
              <a:rPr lang="en-US" sz="1400" dirty="0">
                <a:solidFill>
                  <a:srgbClr val="0B2C5D"/>
                </a:solidFill>
                <a:latin typeface="Calibri" pitchFamily="34" charset="0"/>
                <a:ea typeface="Calibri" pitchFamily="34" charset="-122"/>
                <a:cs typeface="Calibri" pitchFamily="34" charset="-120"/>
              </a:rPr>
              <a:t>Defines the organization's business, its customers, and how it will run.</a:t>
            </a:r>
            <a:endParaRPr lang="en-US" sz="1400" dirty="0"/>
          </a:p>
          <a:p>
            <a:pPr marL="228600" indent="-228600">
              <a:lnSpc>
                <a:spcPct val="118000"/>
              </a:lnSpc>
              <a:spcAft>
                <a:spcPts val="1000"/>
              </a:spcAft>
              <a:buSzPct val="100000"/>
              <a:buChar char="•"/>
            </a:pPr>
            <a:r>
              <a:rPr lang="en-US" sz="1400" dirty="0">
                <a:solidFill>
                  <a:srgbClr val="0B2C5D"/>
                </a:solidFill>
                <a:latin typeface="Calibri" pitchFamily="34" charset="0"/>
                <a:ea typeface="Calibri" pitchFamily="34" charset="-122"/>
                <a:cs typeface="Calibri" pitchFamily="34" charset="-120"/>
              </a:rPr>
              <a:t>Should be brief, memorable, and distinctive — not interchangeable with a competitor's.</a:t>
            </a:r>
            <a:endParaRPr lang="en-US" sz="1400" dirty="0"/>
          </a:p>
          <a:p>
            <a:pPr marL="228600" indent="-228600">
              <a:lnSpc>
                <a:spcPct val="118000"/>
              </a:lnSpc>
              <a:spcAft>
                <a:spcPts val="1000"/>
              </a:spcAft>
              <a:buSzPct val="100000"/>
              <a:buChar char="•"/>
            </a:pPr>
            <a:r>
              <a:rPr lang="en-US" sz="1400" dirty="0">
                <a:solidFill>
                  <a:srgbClr val="0B2C5D"/>
                </a:solidFill>
                <a:latin typeface="Calibri" pitchFamily="34" charset="0"/>
                <a:ea typeface="Calibri" pitchFamily="34" charset="-122"/>
                <a:cs typeface="Calibri" pitchFamily="34" charset="-120"/>
              </a:rPr>
              <a:t>Every objective and project charter should be traceable to the mission.</a:t>
            </a:r>
            <a:endParaRPr lang="en-US" sz="1400" dirty="0"/>
          </a:p>
        </p:txBody>
      </p:sp>
      <p:sp>
        <p:nvSpPr>
          <p:cNvPr id="37" name="Shape 34"/>
          <p:cNvSpPr/>
          <p:nvPr/>
        </p:nvSpPr>
        <p:spPr>
          <a:xfrm>
            <a:off x="777240" y="4709160"/>
            <a:ext cx="5212080" cy="1371600"/>
          </a:xfrm>
          <a:prstGeom prst="roundRect">
            <a:avLst>
              <a:gd name="adj" fmla="val 6667"/>
            </a:avLst>
          </a:prstGeom>
          <a:solidFill>
            <a:srgbClr val="DCF3F2"/>
          </a:solidFill>
          <a:ln w="12700">
            <a:solidFill>
              <a:srgbClr val="1CACBD"/>
            </a:solidFill>
            <a:prstDash val="solid"/>
          </a:ln>
          <a:effectLst>
            <a:outerShdw sx="100000" sy="100000" kx="0" ky="0" algn="bl" rotWithShape="0" blurRad="88900" dist="25400" dir="5400000">
              <a:srgbClr val="0B2C5D">
                <a:alpha val="14000"/>
              </a:srgbClr>
            </a:outerShdw>
          </a:effectLst>
        </p:spPr>
      </p:sp>
      <p:sp>
        <p:nvSpPr>
          <p:cNvPr id="38" name="Text 35"/>
          <p:cNvSpPr txBox="1"/>
          <p:nvPr/>
        </p:nvSpPr>
        <p:spPr>
          <a:xfrm>
            <a:off x="1005840" y="4846320"/>
            <a:ext cx="4754880" cy="822960"/>
          </a:xfrm>
          <a:prstGeom prst="rect">
            <a:avLst/>
          </a:prstGeom>
          <a:noFill/>
          <a:ln/>
        </p:spPr>
        <p:txBody>
          <a:bodyPr wrap="square" lIns="0" tIns="0" rIns="0" bIns="0" rtlCol="0" anchor="ctr"/>
          <a:lstStyle/>
          <a:p>
            <a:pPr indent="0" marL="0">
              <a:lnSpc>
                <a:spcPct val="125000"/>
              </a:lnSpc>
              <a:buNone/>
            </a:pPr>
            <a:r>
              <a:rPr lang="en-US" sz="1250" i="1" dirty="0">
                <a:solidFill>
                  <a:srgbClr val="0B2C5D"/>
                </a:solidFill>
                <a:latin typeface="Georgia" pitchFamily="34" charset="0"/>
                <a:ea typeface="Georgia" pitchFamily="34" charset="-122"/>
                <a:cs typeface="Georgia" pitchFamily="34" charset="-120"/>
              </a:rPr>
              <a:t>“We engineer the smallest, most power-efficient embedded controllers that let any device think for itself.”</a:t>
            </a:r>
            <a:endParaRPr lang="en-US" sz="1250" dirty="0"/>
          </a:p>
        </p:txBody>
      </p:sp>
      <p:sp>
        <p:nvSpPr>
          <p:cNvPr id="39" name="Text 36"/>
          <p:cNvSpPr txBox="1"/>
          <p:nvPr/>
        </p:nvSpPr>
        <p:spPr>
          <a:xfrm>
            <a:off x="1005840" y="5669280"/>
            <a:ext cx="4754880" cy="320040"/>
          </a:xfrm>
          <a:prstGeom prst="rect">
            <a:avLst/>
          </a:prstGeom>
          <a:noFill/>
          <a:ln/>
        </p:spPr>
        <p:txBody>
          <a:bodyPr wrap="square" lIns="0" tIns="0" rIns="0" bIns="0" rtlCol="0" anchor="ctr"/>
          <a:lstStyle/>
          <a:p>
            <a:pPr indent="0" marL="0">
              <a:buNone/>
            </a:pPr>
            <a:r>
              <a:rPr lang="en-US" sz="950" dirty="0">
                <a:solidFill>
                  <a:srgbClr val="5B6B84"/>
                </a:solidFill>
                <a:latin typeface="Calibri" pitchFamily="34" charset="0"/>
                <a:ea typeface="Calibri" pitchFamily="34" charset="-122"/>
                <a:cs typeface="Calibri" pitchFamily="34" charset="-120"/>
              </a:rPr>
              <a:t>— NexCore Embedded Systems, mission statement</a:t>
            </a:r>
            <a:endParaRPr lang="en-US" sz="950" dirty="0"/>
          </a:p>
        </p:txBody>
      </p:sp>
      <p:sp>
        <p:nvSpPr>
          <p:cNvPr id="40" name="Text 37"/>
          <p:cNvSpPr txBox="1"/>
          <p:nvPr/>
        </p:nvSpPr>
        <p:spPr>
          <a:xfrm>
            <a:off x="777240" y="6144768"/>
            <a:ext cx="5212080" cy="384048"/>
          </a:xfrm>
          <a:prstGeom prst="rect">
            <a:avLst/>
          </a:prstGeom>
          <a:noFill/>
          <a:ln/>
        </p:spPr>
        <p:txBody>
          <a:bodyPr wrap="square" lIns="0" tIns="0" rIns="0" bIns="0" rtlCol="0" anchor="ctr"/>
          <a:lstStyle/>
          <a:p>
            <a:pPr indent="0" marL="0">
              <a:lnSpc>
                <a:spcPct val="110000"/>
              </a:lnSpc>
              <a:buNone/>
            </a:pPr>
            <a:r>
              <a:rPr lang="en-US" sz="850" i="1" dirty="0">
                <a:solidFill>
                  <a:srgbClr val="5B6B84"/>
                </a:solidFill>
                <a:latin typeface="Calibri" pitchFamily="34" charset="0"/>
                <a:ea typeface="Calibri" pitchFamily="34" charset="-122"/>
                <a:cs typeface="Calibri" pitchFamily="34" charset="-120"/>
              </a:rPr>
              <a:t>Compare: Tesla's mission — “to accelerate the world's transition to sustainable energy” — is equally short, specific, and hard for a rival to claim word-for-word.</a:t>
            </a:r>
            <a:endParaRPr lang="en-US" sz="850" dirty="0"/>
          </a:p>
        </p:txBody>
      </p:sp>
      <p:sp>
        <p:nvSpPr>
          <p:cNvPr id="41" name="Shape 38"/>
          <p:cNvSpPr/>
          <p:nvPr/>
        </p:nvSpPr>
        <p:spPr>
          <a:xfrm>
            <a:off x="6309360" y="2514600"/>
            <a:ext cx="5577840" cy="3657600"/>
          </a:xfrm>
          <a:prstGeom prst="roundRect">
            <a:avLst>
              <a:gd name="adj" fmla="val 2500"/>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42" name="Text 39"/>
          <p:cNvSpPr txBox="1"/>
          <p:nvPr/>
        </p:nvSpPr>
        <p:spPr>
          <a:xfrm>
            <a:off x="6537960" y="2724912"/>
            <a:ext cx="5120640" cy="274320"/>
          </a:xfrm>
          <a:prstGeom prst="rect">
            <a:avLst/>
          </a:prstGeom>
          <a:noFill/>
          <a:ln/>
        </p:spPr>
        <p:txBody>
          <a:bodyPr wrap="square" lIns="0" tIns="0" rIns="0" bIns="0" rtlCol="0" anchor="ctr"/>
          <a:lstStyle/>
          <a:p>
            <a:pPr indent="0" marL="0">
              <a:buNone/>
            </a:pPr>
            <a:r>
              <a:rPr lang="en-US" sz="1050" b="1" spc="100" kern="0" dirty="0">
                <a:solidFill>
                  <a:srgbClr val="FC7468"/>
                </a:solidFill>
                <a:latin typeface="Calibri" pitchFamily="34" charset="0"/>
                <a:ea typeface="Calibri" pitchFamily="34" charset="-122"/>
                <a:cs typeface="Calibri" pitchFamily="34" charset="-120"/>
              </a:rPr>
              <a:t>A GOOD MISSION STATEMENT ANSWERS</a:t>
            </a:r>
            <a:endParaRPr lang="en-US" sz="1050" dirty="0"/>
          </a:p>
        </p:txBody>
      </p:sp>
      <p:sp>
        <p:nvSpPr>
          <p:cNvPr id="43" name="Shape 40"/>
          <p:cNvSpPr/>
          <p:nvPr/>
        </p:nvSpPr>
        <p:spPr>
          <a:xfrm>
            <a:off x="6537960" y="3108960"/>
            <a:ext cx="384048" cy="384048"/>
          </a:xfrm>
          <a:prstGeom prst="ellipse">
            <a:avLst/>
          </a:prstGeom>
          <a:solidFill>
            <a:srgbClr val="FDF1D9"/>
          </a:solidFill>
          <a:ln/>
        </p:spPr>
      </p:sp>
      <p:pic>
        <p:nvPicPr>
          <p:cNvPr id="44" name="Image 1" descr="/home/claude/work/build/icons/help.png">    </p:cNvPr>
          <p:cNvPicPr>
            <a:picLocks noChangeAspect="1"/>
          </p:cNvPicPr>
          <p:nvPr/>
        </p:nvPicPr>
        <p:blipFill>
          <a:blip r:embed="rId3"/>
          <a:stretch>
            <a:fillRect/>
          </a:stretch>
        </p:blipFill>
        <p:spPr>
          <a:xfrm>
            <a:off x="6633972" y="3204972"/>
            <a:ext cx="192024" cy="192024"/>
          </a:xfrm>
          <a:prstGeom prst="rect">
            <a:avLst/>
          </a:prstGeom>
        </p:spPr>
      </p:pic>
      <p:sp>
        <p:nvSpPr>
          <p:cNvPr id="45" name="Text 41"/>
          <p:cNvSpPr txBox="1"/>
          <p:nvPr/>
        </p:nvSpPr>
        <p:spPr>
          <a:xfrm>
            <a:off x="7040880" y="3090672"/>
            <a:ext cx="4663440" cy="310896"/>
          </a:xfrm>
          <a:prstGeom prst="rect">
            <a:avLst/>
          </a:prstGeom>
          <a:noFill/>
          <a:ln/>
        </p:spPr>
        <p:txBody>
          <a:bodyPr wrap="square" lIns="0" tIns="0" rIns="0" bIns="0" rtlCol="0" anchor="ctr"/>
          <a:lstStyle/>
          <a:p>
            <a:pPr indent="0" marL="0">
              <a:buNone/>
            </a:pPr>
            <a:r>
              <a:rPr lang="en-US" sz="1150" b="1" dirty="0">
                <a:solidFill>
                  <a:srgbClr val="0B2C5D"/>
                </a:solidFill>
                <a:latin typeface="Calibri" pitchFamily="34" charset="0"/>
                <a:ea typeface="Calibri" pitchFamily="34" charset="-122"/>
                <a:cs typeface="Calibri" pitchFamily="34" charset="-120"/>
              </a:rPr>
              <a:t>Who is our customer?</a:t>
            </a:r>
            <a:endParaRPr lang="en-US" sz="1150" dirty="0"/>
          </a:p>
        </p:txBody>
      </p:sp>
      <p:sp>
        <p:nvSpPr>
          <p:cNvPr id="46" name="Text 42"/>
          <p:cNvSpPr txBox="1"/>
          <p:nvPr/>
        </p:nvSpPr>
        <p:spPr>
          <a:xfrm>
            <a:off x="7040880" y="3401568"/>
            <a:ext cx="4663440" cy="365760"/>
          </a:xfrm>
          <a:prstGeom prst="rect">
            <a:avLst/>
          </a:prstGeom>
          <a:noFill/>
          <a:ln/>
        </p:spPr>
        <p:txBody>
          <a:bodyPr wrap="square" lIns="0" tIns="0" rIns="0" bIns="0" rtlCol="0" anchor="ctr"/>
          <a:lstStyle/>
          <a:p>
            <a:pPr indent="0" marL="0">
              <a:buNone/>
            </a:pPr>
            <a:r>
              <a:rPr lang="en-US" sz="1000" dirty="0">
                <a:solidFill>
                  <a:srgbClr val="5B6B84"/>
                </a:solidFill>
                <a:latin typeface="Calibri" pitchFamily="34" charset="0"/>
                <a:ea typeface="Calibri" pitchFamily="34" charset="-122"/>
                <a:cs typeface="Calibri" pitchFamily="34" charset="-120"/>
              </a:rPr>
              <a:t>OEM appliance &amp; IoT device makers.</a:t>
            </a:r>
            <a:endParaRPr lang="en-US" sz="1000" dirty="0"/>
          </a:p>
        </p:txBody>
      </p:sp>
      <p:sp>
        <p:nvSpPr>
          <p:cNvPr id="47" name="Shape 43"/>
          <p:cNvSpPr/>
          <p:nvPr/>
        </p:nvSpPr>
        <p:spPr>
          <a:xfrm>
            <a:off x="6537960" y="3886200"/>
            <a:ext cx="384048" cy="384048"/>
          </a:xfrm>
          <a:prstGeom prst="ellipse">
            <a:avLst/>
          </a:prstGeom>
          <a:solidFill>
            <a:srgbClr val="FDF1D9"/>
          </a:solidFill>
          <a:ln/>
        </p:spPr>
      </p:sp>
      <p:pic>
        <p:nvPicPr>
          <p:cNvPr id="48" name="Image 2" descr="/home/claude/work/build/icons/help.png">    </p:cNvPr>
          <p:cNvPicPr>
            <a:picLocks noChangeAspect="1"/>
          </p:cNvPicPr>
          <p:nvPr/>
        </p:nvPicPr>
        <p:blipFill>
          <a:blip r:embed="rId4"/>
          <a:stretch>
            <a:fillRect/>
          </a:stretch>
        </p:blipFill>
        <p:spPr>
          <a:xfrm>
            <a:off x="6633972" y="3982212"/>
            <a:ext cx="192024" cy="192024"/>
          </a:xfrm>
          <a:prstGeom prst="rect">
            <a:avLst/>
          </a:prstGeom>
        </p:spPr>
      </p:pic>
      <p:sp>
        <p:nvSpPr>
          <p:cNvPr id="49" name="Text 44"/>
          <p:cNvSpPr txBox="1"/>
          <p:nvPr/>
        </p:nvSpPr>
        <p:spPr>
          <a:xfrm>
            <a:off x="7040880" y="3867912"/>
            <a:ext cx="4663440" cy="310896"/>
          </a:xfrm>
          <a:prstGeom prst="rect">
            <a:avLst/>
          </a:prstGeom>
          <a:noFill/>
          <a:ln/>
        </p:spPr>
        <p:txBody>
          <a:bodyPr wrap="square" lIns="0" tIns="0" rIns="0" bIns="0" rtlCol="0" anchor="ctr"/>
          <a:lstStyle/>
          <a:p>
            <a:pPr indent="0" marL="0">
              <a:buNone/>
            </a:pPr>
            <a:r>
              <a:rPr lang="en-US" sz="1150" b="1" dirty="0">
                <a:solidFill>
                  <a:srgbClr val="0B2C5D"/>
                </a:solidFill>
                <a:latin typeface="Calibri" pitchFamily="34" charset="0"/>
                <a:ea typeface="Calibri" pitchFamily="34" charset="-122"/>
                <a:cs typeface="Calibri" pitchFamily="34" charset="-120"/>
              </a:rPr>
              <a:t>What is our product/service?</a:t>
            </a:r>
            <a:endParaRPr lang="en-US" sz="1150" dirty="0"/>
          </a:p>
        </p:txBody>
      </p:sp>
      <p:sp>
        <p:nvSpPr>
          <p:cNvPr id="50" name="Text 45"/>
          <p:cNvSpPr txBox="1"/>
          <p:nvPr/>
        </p:nvSpPr>
        <p:spPr>
          <a:xfrm>
            <a:off x="7040880" y="4178808"/>
            <a:ext cx="4663440" cy="365760"/>
          </a:xfrm>
          <a:prstGeom prst="rect">
            <a:avLst/>
          </a:prstGeom>
          <a:noFill/>
          <a:ln/>
        </p:spPr>
        <p:txBody>
          <a:bodyPr wrap="square" lIns="0" tIns="0" rIns="0" bIns="0" rtlCol="0" anchor="ctr"/>
          <a:lstStyle/>
          <a:p>
            <a:pPr indent="0" marL="0">
              <a:buNone/>
            </a:pPr>
            <a:r>
              <a:rPr lang="en-US" sz="1000" dirty="0">
                <a:solidFill>
                  <a:srgbClr val="5B6B84"/>
                </a:solidFill>
                <a:latin typeface="Calibri" pitchFamily="34" charset="0"/>
                <a:ea typeface="Calibri" pitchFamily="34" charset="-122"/>
                <a:cs typeface="Calibri" pitchFamily="34" charset="-120"/>
              </a:rPr>
              <a:t>Embedded controller boards &amp; firmware.</a:t>
            </a:r>
            <a:endParaRPr lang="en-US" sz="1000" dirty="0"/>
          </a:p>
        </p:txBody>
      </p:sp>
      <p:sp>
        <p:nvSpPr>
          <p:cNvPr id="51" name="Shape 46"/>
          <p:cNvSpPr/>
          <p:nvPr/>
        </p:nvSpPr>
        <p:spPr>
          <a:xfrm>
            <a:off x="6537960" y="4663440"/>
            <a:ext cx="384048" cy="384048"/>
          </a:xfrm>
          <a:prstGeom prst="ellipse">
            <a:avLst/>
          </a:prstGeom>
          <a:solidFill>
            <a:srgbClr val="FDF1D9"/>
          </a:solidFill>
          <a:ln/>
        </p:spPr>
      </p:sp>
      <p:pic>
        <p:nvPicPr>
          <p:cNvPr id="52" name="Image 3" descr="/home/claude/work/build/icons/help.png">    </p:cNvPr>
          <p:cNvPicPr>
            <a:picLocks noChangeAspect="1"/>
          </p:cNvPicPr>
          <p:nvPr/>
        </p:nvPicPr>
        <p:blipFill>
          <a:blip r:embed="rId5"/>
          <a:stretch>
            <a:fillRect/>
          </a:stretch>
        </p:blipFill>
        <p:spPr>
          <a:xfrm>
            <a:off x="6633972" y="4759452"/>
            <a:ext cx="192024" cy="192024"/>
          </a:xfrm>
          <a:prstGeom prst="rect">
            <a:avLst/>
          </a:prstGeom>
        </p:spPr>
      </p:pic>
      <p:sp>
        <p:nvSpPr>
          <p:cNvPr id="53" name="Text 47"/>
          <p:cNvSpPr txBox="1"/>
          <p:nvPr/>
        </p:nvSpPr>
        <p:spPr>
          <a:xfrm>
            <a:off x="7040880" y="4645152"/>
            <a:ext cx="4663440" cy="310896"/>
          </a:xfrm>
          <a:prstGeom prst="rect">
            <a:avLst/>
          </a:prstGeom>
          <a:noFill/>
          <a:ln/>
        </p:spPr>
        <p:txBody>
          <a:bodyPr wrap="square" lIns="0" tIns="0" rIns="0" bIns="0" rtlCol="0" anchor="ctr"/>
          <a:lstStyle/>
          <a:p>
            <a:pPr indent="0" marL="0">
              <a:buNone/>
            </a:pPr>
            <a:r>
              <a:rPr lang="en-US" sz="1150" b="1" dirty="0">
                <a:solidFill>
                  <a:srgbClr val="0B2C5D"/>
                </a:solidFill>
                <a:latin typeface="Calibri" pitchFamily="34" charset="0"/>
                <a:ea typeface="Calibri" pitchFamily="34" charset="-122"/>
                <a:cs typeface="Calibri" pitchFamily="34" charset="-120"/>
              </a:rPr>
              <a:t>What is our operating philosophy?</a:t>
            </a:r>
            <a:endParaRPr lang="en-US" sz="1150" dirty="0"/>
          </a:p>
        </p:txBody>
      </p:sp>
      <p:sp>
        <p:nvSpPr>
          <p:cNvPr id="54" name="Text 48"/>
          <p:cNvSpPr txBox="1"/>
          <p:nvPr/>
        </p:nvSpPr>
        <p:spPr>
          <a:xfrm>
            <a:off x="7040880" y="4956048"/>
            <a:ext cx="4663440" cy="365760"/>
          </a:xfrm>
          <a:prstGeom prst="rect">
            <a:avLst/>
          </a:prstGeom>
          <a:noFill/>
          <a:ln/>
        </p:spPr>
        <p:txBody>
          <a:bodyPr wrap="square" lIns="0" tIns="0" rIns="0" bIns="0" rtlCol="0" anchor="ctr"/>
          <a:lstStyle/>
          <a:p>
            <a:pPr indent="0" marL="0">
              <a:buNone/>
            </a:pPr>
            <a:r>
              <a:rPr lang="en-US" sz="1000" dirty="0">
                <a:solidFill>
                  <a:srgbClr val="5B6B84"/>
                </a:solidFill>
                <a:latin typeface="Calibri" pitchFamily="34" charset="0"/>
                <a:ea typeface="Calibri" pitchFamily="34" charset="-122"/>
                <a:cs typeface="Calibri" pitchFamily="34" charset="-120"/>
              </a:rPr>
              <a:t>Reliability-first, low-power engineering.</a:t>
            </a:r>
            <a:endParaRPr lang="en-US" sz="1000" dirty="0"/>
          </a:p>
        </p:txBody>
      </p:sp>
      <p:sp>
        <p:nvSpPr>
          <p:cNvPr id="55" name="Shape 49"/>
          <p:cNvSpPr/>
          <p:nvPr/>
        </p:nvSpPr>
        <p:spPr>
          <a:xfrm>
            <a:off x="6537960" y="5440680"/>
            <a:ext cx="384048" cy="384048"/>
          </a:xfrm>
          <a:prstGeom prst="ellipse">
            <a:avLst/>
          </a:prstGeom>
          <a:solidFill>
            <a:srgbClr val="FDF1D9"/>
          </a:solidFill>
          <a:ln/>
        </p:spPr>
      </p:sp>
      <p:pic>
        <p:nvPicPr>
          <p:cNvPr id="56" name="Image 4" descr="/home/claude/work/build/icons/help.png">    </p:cNvPr>
          <p:cNvPicPr>
            <a:picLocks noChangeAspect="1"/>
          </p:cNvPicPr>
          <p:nvPr/>
        </p:nvPicPr>
        <p:blipFill>
          <a:blip r:embed="rId6"/>
          <a:stretch>
            <a:fillRect/>
          </a:stretch>
        </p:blipFill>
        <p:spPr>
          <a:xfrm>
            <a:off x="6633972" y="5536692"/>
            <a:ext cx="192024" cy="192024"/>
          </a:xfrm>
          <a:prstGeom prst="rect">
            <a:avLst/>
          </a:prstGeom>
        </p:spPr>
      </p:pic>
      <p:sp>
        <p:nvSpPr>
          <p:cNvPr id="57" name="Text 50"/>
          <p:cNvSpPr txBox="1"/>
          <p:nvPr/>
        </p:nvSpPr>
        <p:spPr>
          <a:xfrm>
            <a:off x="7040880" y="5422392"/>
            <a:ext cx="4663440" cy="310896"/>
          </a:xfrm>
          <a:prstGeom prst="rect">
            <a:avLst/>
          </a:prstGeom>
          <a:noFill/>
          <a:ln/>
        </p:spPr>
        <p:txBody>
          <a:bodyPr wrap="square" lIns="0" tIns="0" rIns="0" bIns="0" rtlCol="0" anchor="ctr"/>
          <a:lstStyle/>
          <a:p>
            <a:pPr indent="0" marL="0">
              <a:buNone/>
            </a:pPr>
            <a:r>
              <a:rPr lang="en-US" sz="1150" b="1" dirty="0">
                <a:solidFill>
                  <a:srgbClr val="0B2C5D"/>
                </a:solidFill>
                <a:latin typeface="Calibri" pitchFamily="34" charset="0"/>
                <a:ea typeface="Calibri" pitchFamily="34" charset="-122"/>
                <a:cs typeface="Calibri" pitchFamily="34" charset="-120"/>
              </a:rPr>
              <a:t>What core competency gives us an edge?</a:t>
            </a:r>
            <a:endParaRPr lang="en-US" sz="1150" dirty="0"/>
          </a:p>
        </p:txBody>
      </p:sp>
      <p:sp>
        <p:nvSpPr>
          <p:cNvPr id="58" name="Text 51"/>
          <p:cNvSpPr txBox="1"/>
          <p:nvPr/>
        </p:nvSpPr>
        <p:spPr>
          <a:xfrm>
            <a:off x="7040880" y="5733288"/>
            <a:ext cx="4663440" cy="365760"/>
          </a:xfrm>
          <a:prstGeom prst="rect">
            <a:avLst/>
          </a:prstGeom>
          <a:noFill/>
          <a:ln/>
        </p:spPr>
        <p:txBody>
          <a:bodyPr wrap="square" lIns="0" tIns="0" rIns="0" bIns="0" rtlCol="0" anchor="ctr"/>
          <a:lstStyle/>
          <a:p>
            <a:pPr indent="0" marL="0">
              <a:buNone/>
            </a:pPr>
            <a:r>
              <a:rPr lang="en-US" sz="1000" dirty="0">
                <a:solidFill>
                  <a:srgbClr val="5B6B84"/>
                </a:solidFill>
                <a:latin typeface="Calibri" pitchFamily="34" charset="0"/>
                <a:ea typeface="Calibri" pitchFamily="34" charset="-122"/>
                <a:cs typeface="Calibri" pitchFamily="34" charset="-120"/>
              </a:rPr>
              <a:t>Ultra-low-power RTOS scheduling IP.</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10</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3 · FROM STRATEGY TO OBJECTIVES</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SWOT Analysis — NexCore Embedded Systems</a:t>
            </a:r>
            <a:endParaRPr lang="en-US" sz="2700" dirty="0"/>
          </a:p>
        </p:txBody>
      </p:sp>
      <p:sp>
        <p:nvSpPr>
          <p:cNvPr id="36" name="Shape 33"/>
          <p:cNvSpPr/>
          <p:nvPr/>
        </p:nvSpPr>
        <p:spPr>
          <a:xfrm>
            <a:off x="777240" y="2487168"/>
            <a:ext cx="5166360" cy="1627632"/>
          </a:xfrm>
          <a:prstGeom prst="roundRect">
            <a:avLst>
              <a:gd name="adj" fmla="val 5618"/>
            </a:avLst>
          </a:prstGeom>
          <a:solidFill>
            <a:srgbClr val="DCF3F2"/>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37" name="Shape 34"/>
          <p:cNvSpPr/>
          <p:nvPr/>
        </p:nvSpPr>
        <p:spPr>
          <a:xfrm>
            <a:off x="941832" y="2651760"/>
            <a:ext cx="384048" cy="384048"/>
          </a:xfrm>
          <a:prstGeom prst="ellipse">
            <a:avLst/>
          </a:prstGeom>
          <a:solidFill>
            <a:srgbClr val="1CACBD"/>
          </a:solidFill>
          <a:ln/>
        </p:spPr>
      </p:sp>
      <p:pic>
        <p:nvPicPr>
          <p:cNvPr id="38" name="Image 1" descr="/home/claude/work/build/icons/checkcircle.png">    </p:cNvPr>
          <p:cNvPicPr>
            <a:picLocks noChangeAspect="1"/>
          </p:cNvPicPr>
          <p:nvPr/>
        </p:nvPicPr>
        <p:blipFill>
          <a:blip r:embed="rId3"/>
          <a:stretch>
            <a:fillRect/>
          </a:stretch>
        </p:blipFill>
        <p:spPr>
          <a:xfrm>
            <a:off x="1037844" y="2747772"/>
            <a:ext cx="192024" cy="192024"/>
          </a:xfrm>
          <a:prstGeom prst="rect">
            <a:avLst/>
          </a:prstGeom>
        </p:spPr>
      </p:pic>
      <p:sp>
        <p:nvSpPr>
          <p:cNvPr id="39" name="Text 35"/>
          <p:cNvSpPr txBox="1"/>
          <p:nvPr/>
        </p:nvSpPr>
        <p:spPr>
          <a:xfrm>
            <a:off x="1417320" y="2633472"/>
            <a:ext cx="2743200" cy="384048"/>
          </a:xfrm>
          <a:prstGeom prst="rect">
            <a:avLst/>
          </a:prstGeom>
          <a:noFill/>
          <a:ln/>
        </p:spPr>
        <p:txBody>
          <a:bodyPr wrap="square" lIns="0" tIns="0" rIns="0" bIns="0" rtlCol="0" anchor="ctr"/>
          <a:lstStyle/>
          <a:p>
            <a:pPr indent="0" marL="0">
              <a:buNone/>
            </a:pPr>
            <a:r>
              <a:rPr lang="en-US" sz="1400" b="1" dirty="0">
                <a:solidFill>
                  <a:srgbClr val="0B2C5D"/>
                </a:solidFill>
                <a:latin typeface="Calibri" pitchFamily="34" charset="0"/>
                <a:ea typeface="Calibri" pitchFamily="34" charset="-122"/>
                <a:cs typeface="Calibri" pitchFamily="34" charset="-120"/>
              </a:rPr>
              <a:t>Strengths</a:t>
            </a:r>
            <a:endParaRPr lang="en-US" sz="1400" dirty="0"/>
          </a:p>
        </p:txBody>
      </p:sp>
      <p:sp>
        <p:nvSpPr>
          <p:cNvPr id="40" name="Text 36"/>
          <p:cNvSpPr txBox="1"/>
          <p:nvPr/>
        </p:nvSpPr>
        <p:spPr>
          <a:xfrm>
            <a:off x="1005840" y="3108960"/>
            <a:ext cx="4709160" cy="896112"/>
          </a:xfrm>
          <a:prstGeom prst="rect">
            <a:avLst/>
          </a:prstGeom>
          <a:noFill/>
          <a:ln/>
        </p:spPr>
        <p:txBody>
          <a:bodyPr wrap="square" lIns="0" tIns="0" rIns="0" bIns="0" rtlCol="0" anchor="ctr"/>
          <a:lstStyle/>
          <a:p>
            <a:pPr marL="342900" indent="-342900">
              <a:lnSpc>
                <a:spcPct val="105000"/>
              </a:lnSpc>
              <a:spcAft>
                <a:spcPts val="300"/>
              </a:spcAft>
              <a:buSzPct val="100000"/>
              <a:buChar char="•"/>
            </a:pPr>
            <a:r>
              <a:rPr lang="en-US" sz="950" dirty="0">
                <a:solidFill>
                  <a:srgbClr val="0B2C5D"/>
                </a:solidFill>
                <a:latin typeface="Calibri" pitchFamily="34" charset="0"/>
                <a:ea typeface="Calibri" pitchFamily="34" charset="-122"/>
                <a:cs typeface="Calibri" pitchFamily="34" charset="-120"/>
              </a:rPr>
              <a:t>Proprietary low-power RTOS scheduler</a:t>
            </a:r>
            <a:endParaRPr lang="en-US" sz="950" dirty="0"/>
          </a:p>
          <a:p>
            <a:pPr marL="342900" indent="-342900">
              <a:lnSpc>
                <a:spcPct val="105000"/>
              </a:lnSpc>
              <a:spcAft>
                <a:spcPts val="300"/>
              </a:spcAft>
              <a:buSzPct val="100000"/>
              <a:buChar char="•"/>
            </a:pPr>
            <a:r>
              <a:rPr lang="en-US" sz="950" dirty="0">
                <a:solidFill>
                  <a:srgbClr val="0B2C5D"/>
                </a:solidFill>
                <a:latin typeface="Calibri" pitchFamily="34" charset="0"/>
                <a:ea typeface="Calibri" pitchFamily="34" charset="-122"/>
                <a:cs typeface="Calibri" pitchFamily="34" charset="-120"/>
              </a:rPr>
              <a:t>Deep OEM relationships (5-yr avg. tenure)</a:t>
            </a:r>
            <a:endParaRPr lang="en-US" sz="950" dirty="0"/>
          </a:p>
          <a:p>
            <a:pPr marL="342900" indent="-342900">
              <a:lnSpc>
                <a:spcPct val="105000"/>
              </a:lnSpc>
              <a:spcAft>
                <a:spcPts val="300"/>
              </a:spcAft>
              <a:buSzPct val="100000"/>
              <a:buChar char="•"/>
            </a:pPr>
            <a:r>
              <a:rPr lang="en-US" sz="950" dirty="0">
                <a:solidFill>
                  <a:srgbClr val="0B2C5D"/>
                </a:solidFill>
                <a:latin typeface="Calibri" pitchFamily="34" charset="0"/>
                <a:ea typeface="Calibri" pitchFamily="34" charset="-122"/>
                <a:cs typeface="Calibri" pitchFamily="34" charset="-120"/>
              </a:rPr>
              <a:t>In-house PCB fab reduces lead time</a:t>
            </a:r>
            <a:endParaRPr lang="en-US" sz="950" dirty="0"/>
          </a:p>
        </p:txBody>
      </p:sp>
      <p:sp>
        <p:nvSpPr>
          <p:cNvPr id="41" name="Shape 37"/>
          <p:cNvSpPr/>
          <p:nvPr/>
        </p:nvSpPr>
        <p:spPr>
          <a:xfrm>
            <a:off x="6080760" y="2487168"/>
            <a:ext cx="5166360" cy="1627632"/>
          </a:xfrm>
          <a:prstGeom prst="roundRect">
            <a:avLst>
              <a:gd name="adj" fmla="val 5618"/>
            </a:avLst>
          </a:prstGeom>
          <a:solidFill>
            <a:srgbClr val="FDE4E1"/>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42" name="Shape 38"/>
          <p:cNvSpPr/>
          <p:nvPr/>
        </p:nvSpPr>
        <p:spPr>
          <a:xfrm>
            <a:off x="6245352" y="2651760"/>
            <a:ext cx="384048" cy="384048"/>
          </a:xfrm>
          <a:prstGeom prst="ellipse">
            <a:avLst/>
          </a:prstGeom>
          <a:solidFill>
            <a:srgbClr val="FC7468"/>
          </a:solidFill>
          <a:ln/>
        </p:spPr>
      </p:sp>
      <p:pic>
        <p:nvPicPr>
          <p:cNvPr id="43" name="Image 2" descr="/home/claude/work/build/icons/alert.png">    </p:cNvPr>
          <p:cNvPicPr>
            <a:picLocks noChangeAspect="1"/>
          </p:cNvPicPr>
          <p:nvPr/>
        </p:nvPicPr>
        <p:blipFill>
          <a:blip r:embed="rId4"/>
          <a:stretch>
            <a:fillRect/>
          </a:stretch>
        </p:blipFill>
        <p:spPr>
          <a:xfrm>
            <a:off x="6341364" y="2747772"/>
            <a:ext cx="192024" cy="192024"/>
          </a:xfrm>
          <a:prstGeom prst="rect">
            <a:avLst/>
          </a:prstGeom>
        </p:spPr>
      </p:pic>
      <p:sp>
        <p:nvSpPr>
          <p:cNvPr id="44" name="Text 39"/>
          <p:cNvSpPr txBox="1"/>
          <p:nvPr/>
        </p:nvSpPr>
        <p:spPr>
          <a:xfrm>
            <a:off x="6720840" y="2633472"/>
            <a:ext cx="2743200" cy="384048"/>
          </a:xfrm>
          <a:prstGeom prst="rect">
            <a:avLst/>
          </a:prstGeom>
          <a:noFill/>
          <a:ln/>
        </p:spPr>
        <p:txBody>
          <a:bodyPr wrap="square" lIns="0" tIns="0" rIns="0" bIns="0" rtlCol="0" anchor="ctr"/>
          <a:lstStyle/>
          <a:p>
            <a:pPr indent="0" marL="0">
              <a:buNone/>
            </a:pPr>
            <a:r>
              <a:rPr lang="en-US" sz="1400" b="1" dirty="0">
                <a:solidFill>
                  <a:srgbClr val="0B2C5D"/>
                </a:solidFill>
                <a:latin typeface="Calibri" pitchFamily="34" charset="0"/>
                <a:ea typeface="Calibri" pitchFamily="34" charset="-122"/>
                <a:cs typeface="Calibri" pitchFamily="34" charset="-120"/>
              </a:rPr>
              <a:t>Weaknesses</a:t>
            </a:r>
            <a:endParaRPr lang="en-US" sz="1400" dirty="0"/>
          </a:p>
        </p:txBody>
      </p:sp>
      <p:sp>
        <p:nvSpPr>
          <p:cNvPr id="45" name="Text 40"/>
          <p:cNvSpPr txBox="1"/>
          <p:nvPr/>
        </p:nvSpPr>
        <p:spPr>
          <a:xfrm>
            <a:off x="6309360" y="3108960"/>
            <a:ext cx="4709160" cy="896112"/>
          </a:xfrm>
          <a:prstGeom prst="rect">
            <a:avLst/>
          </a:prstGeom>
          <a:noFill/>
          <a:ln/>
        </p:spPr>
        <p:txBody>
          <a:bodyPr wrap="square" lIns="0" tIns="0" rIns="0" bIns="0" rtlCol="0" anchor="ctr"/>
          <a:lstStyle/>
          <a:p>
            <a:pPr marL="342900" indent="-342900">
              <a:lnSpc>
                <a:spcPct val="105000"/>
              </a:lnSpc>
              <a:spcAft>
                <a:spcPts val="300"/>
              </a:spcAft>
              <a:buSzPct val="100000"/>
              <a:buChar char="•"/>
            </a:pPr>
            <a:r>
              <a:rPr lang="en-US" sz="950" dirty="0">
                <a:solidFill>
                  <a:srgbClr val="0B2C5D"/>
                </a:solidFill>
                <a:latin typeface="Calibri" pitchFamily="34" charset="0"/>
                <a:ea typeface="Calibri" pitchFamily="34" charset="-122"/>
                <a:cs typeface="Calibri" pitchFamily="34" charset="-120"/>
              </a:rPr>
              <a:t>Small firmware QA team (bottleneck)</a:t>
            </a:r>
            <a:endParaRPr lang="en-US" sz="950" dirty="0"/>
          </a:p>
          <a:p>
            <a:pPr marL="342900" indent="-342900">
              <a:lnSpc>
                <a:spcPct val="105000"/>
              </a:lnSpc>
              <a:spcAft>
                <a:spcPts val="300"/>
              </a:spcAft>
              <a:buSzPct val="100000"/>
              <a:buChar char="•"/>
            </a:pPr>
            <a:r>
              <a:rPr lang="en-US" sz="950" dirty="0">
                <a:solidFill>
                  <a:srgbClr val="0B2C5D"/>
                </a:solidFill>
                <a:latin typeface="Calibri" pitchFamily="34" charset="0"/>
                <a:ea typeface="Calibri" pitchFamily="34" charset="-122"/>
                <a:cs typeface="Calibri" pitchFamily="34" charset="-120"/>
              </a:rPr>
              <a:t>Limited presence outside HVAC/appliance</a:t>
            </a:r>
            <a:endParaRPr lang="en-US" sz="950" dirty="0"/>
          </a:p>
          <a:p>
            <a:pPr marL="342900" indent="-342900">
              <a:lnSpc>
                <a:spcPct val="105000"/>
              </a:lnSpc>
              <a:spcAft>
                <a:spcPts val="300"/>
              </a:spcAft>
              <a:buSzPct val="100000"/>
              <a:buChar char="•"/>
            </a:pPr>
            <a:r>
              <a:rPr lang="en-US" sz="950" dirty="0">
                <a:solidFill>
                  <a:srgbClr val="0B2C5D"/>
                </a:solidFill>
                <a:latin typeface="Calibri" pitchFamily="34" charset="0"/>
                <a:ea typeface="Calibri" pitchFamily="34" charset="-122"/>
                <a:cs typeface="Calibri" pitchFamily="34" charset="-120"/>
              </a:rPr>
              <a:t>Legacy 8-bit line drags margins</a:t>
            </a:r>
            <a:endParaRPr lang="en-US" sz="950" dirty="0"/>
          </a:p>
        </p:txBody>
      </p:sp>
      <p:sp>
        <p:nvSpPr>
          <p:cNvPr id="46" name="Shape 41"/>
          <p:cNvSpPr/>
          <p:nvPr/>
        </p:nvSpPr>
        <p:spPr>
          <a:xfrm>
            <a:off x="777240" y="4251960"/>
            <a:ext cx="5166360" cy="1627632"/>
          </a:xfrm>
          <a:prstGeom prst="roundRect">
            <a:avLst>
              <a:gd name="adj" fmla="val 5618"/>
            </a:avLst>
          </a:prstGeom>
          <a:solidFill>
            <a:srgbClr val="FDF1D9"/>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47" name="Shape 42"/>
          <p:cNvSpPr/>
          <p:nvPr/>
        </p:nvSpPr>
        <p:spPr>
          <a:xfrm>
            <a:off x="941832" y="4416552"/>
            <a:ext cx="384048" cy="384048"/>
          </a:xfrm>
          <a:prstGeom prst="ellipse">
            <a:avLst/>
          </a:prstGeom>
          <a:solidFill>
            <a:srgbClr val="FBC850"/>
          </a:solidFill>
          <a:ln/>
        </p:spPr>
      </p:sp>
      <p:pic>
        <p:nvPicPr>
          <p:cNvPr id="48" name="Image 3" descr="/home/claude/work/build/icons/trenddown.png">    </p:cNvPr>
          <p:cNvPicPr>
            <a:picLocks noChangeAspect="1"/>
          </p:cNvPicPr>
          <p:nvPr/>
        </p:nvPicPr>
        <p:blipFill>
          <a:blip r:embed="rId5"/>
          <a:stretch>
            <a:fillRect/>
          </a:stretch>
        </p:blipFill>
        <p:spPr>
          <a:xfrm>
            <a:off x="1037844" y="4512564"/>
            <a:ext cx="192024" cy="192024"/>
          </a:xfrm>
          <a:prstGeom prst="rect">
            <a:avLst/>
          </a:prstGeom>
        </p:spPr>
      </p:pic>
      <p:sp>
        <p:nvSpPr>
          <p:cNvPr id="49" name="Text 43"/>
          <p:cNvSpPr txBox="1"/>
          <p:nvPr/>
        </p:nvSpPr>
        <p:spPr>
          <a:xfrm>
            <a:off x="1417320" y="4398264"/>
            <a:ext cx="2743200" cy="384048"/>
          </a:xfrm>
          <a:prstGeom prst="rect">
            <a:avLst/>
          </a:prstGeom>
          <a:noFill/>
          <a:ln/>
        </p:spPr>
        <p:txBody>
          <a:bodyPr wrap="square" lIns="0" tIns="0" rIns="0" bIns="0" rtlCol="0" anchor="ctr"/>
          <a:lstStyle/>
          <a:p>
            <a:pPr indent="0" marL="0">
              <a:buNone/>
            </a:pPr>
            <a:r>
              <a:rPr lang="en-US" sz="1400" b="1" dirty="0">
                <a:solidFill>
                  <a:srgbClr val="0B2C5D"/>
                </a:solidFill>
                <a:latin typeface="Calibri" pitchFamily="34" charset="0"/>
                <a:ea typeface="Calibri" pitchFamily="34" charset="-122"/>
                <a:cs typeface="Calibri" pitchFamily="34" charset="-120"/>
              </a:rPr>
              <a:t>Opportunities</a:t>
            </a:r>
            <a:endParaRPr lang="en-US" sz="1400" dirty="0"/>
          </a:p>
        </p:txBody>
      </p:sp>
      <p:sp>
        <p:nvSpPr>
          <p:cNvPr id="50" name="Text 44"/>
          <p:cNvSpPr txBox="1"/>
          <p:nvPr/>
        </p:nvSpPr>
        <p:spPr>
          <a:xfrm>
            <a:off x="1005840" y="4873752"/>
            <a:ext cx="4709160" cy="896112"/>
          </a:xfrm>
          <a:prstGeom prst="rect">
            <a:avLst/>
          </a:prstGeom>
          <a:noFill/>
          <a:ln/>
        </p:spPr>
        <p:txBody>
          <a:bodyPr wrap="square" lIns="0" tIns="0" rIns="0" bIns="0" rtlCol="0" anchor="ctr"/>
          <a:lstStyle/>
          <a:p>
            <a:pPr marL="342900" indent="-342900">
              <a:lnSpc>
                <a:spcPct val="105000"/>
              </a:lnSpc>
              <a:spcAft>
                <a:spcPts val="300"/>
              </a:spcAft>
              <a:buSzPct val="100000"/>
              <a:buChar char="•"/>
            </a:pPr>
            <a:r>
              <a:rPr lang="en-US" sz="950" dirty="0">
                <a:solidFill>
                  <a:srgbClr val="0B2C5D"/>
                </a:solidFill>
                <a:latin typeface="Calibri" pitchFamily="34" charset="0"/>
                <a:ea typeface="Calibri" pitchFamily="34" charset="-122"/>
                <a:cs typeface="Calibri" pitchFamily="34" charset="-120"/>
              </a:rPr>
              <a:t>Smart-home IoT demand growing 18%/yr</a:t>
            </a:r>
            <a:endParaRPr lang="en-US" sz="950" dirty="0"/>
          </a:p>
          <a:p>
            <a:pPr marL="342900" indent="-342900">
              <a:lnSpc>
                <a:spcPct val="105000"/>
              </a:lnSpc>
              <a:spcAft>
                <a:spcPts val="300"/>
              </a:spcAft>
              <a:buSzPct val="100000"/>
              <a:buChar char="•"/>
            </a:pPr>
            <a:r>
              <a:rPr lang="en-US" sz="950" dirty="0">
                <a:solidFill>
                  <a:srgbClr val="0B2C5D"/>
                </a:solidFill>
                <a:latin typeface="Calibri" pitchFamily="34" charset="0"/>
                <a:ea typeface="Calibri" pitchFamily="34" charset="-122"/>
                <a:cs typeface="Calibri" pitchFamily="34" charset="-120"/>
              </a:rPr>
              <a:t>OTA update tech opens subscription revenue</a:t>
            </a:r>
            <a:endParaRPr lang="en-US" sz="950" dirty="0"/>
          </a:p>
          <a:p>
            <a:pPr marL="342900" indent="-342900">
              <a:lnSpc>
                <a:spcPct val="105000"/>
              </a:lnSpc>
              <a:spcAft>
                <a:spcPts val="300"/>
              </a:spcAft>
              <a:buSzPct val="100000"/>
              <a:buChar char="•"/>
            </a:pPr>
            <a:r>
              <a:rPr lang="en-US" sz="950" dirty="0">
                <a:solidFill>
                  <a:srgbClr val="0B2C5D"/>
                </a:solidFill>
                <a:latin typeface="Calibri" pitchFamily="34" charset="0"/>
                <a:ea typeface="Calibri" pitchFamily="34" charset="-122"/>
                <a:cs typeface="Calibri" pitchFamily="34" charset="-120"/>
              </a:rPr>
              <a:t>New OEM RFP for thermostat controllers</a:t>
            </a:r>
            <a:endParaRPr lang="en-US" sz="950" dirty="0"/>
          </a:p>
        </p:txBody>
      </p:sp>
      <p:sp>
        <p:nvSpPr>
          <p:cNvPr id="51" name="Shape 45"/>
          <p:cNvSpPr/>
          <p:nvPr/>
        </p:nvSpPr>
        <p:spPr>
          <a:xfrm>
            <a:off x="6080760" y="4251960"/>
            <a:ext cx="5166360" cy="1627632"/>
          </a:xfrm>
          <a:prstGeom prst="roundRect">
            <a:avLst>
              <a:gd name="adj" fmla="val 5618"/>
            </a:avLst>
          </a:prstGeom>
          <a:solidFill>
            <a:srgbClr val="EFEFE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52" name="Shape 46"/>
          <p:cNvSpPr/>
          <p:nvPr/>
        </p:nvSpPr>
        <p:spPr>
          <a:xfrm>
            <a:off x="6245352" y="4416552"/>
            <a:ext cx="384048" cy="384048"/>
          </a:xfrm>
          <a:prstGeom prst="ellipse">
            <a:avLst/>
          </a:prstGeom>
          <a:solidFill>
            <a:srgbClr val="5B6B84"/>
          </a:solidFill>
          <a:ln/>
        </p:spPr>
      </p:sp>
      <p:pic>
        <p:nvPicPr>
          <p:cNvPr id="53" name="Image 4" descr="/home/claude/work/build/icons/shield.png">    </p:cNvPr>
          <p:cNvPicPr>
            <a:picLocks noChangeAspect="1"/>
          </p:cNvPicPr>
          <p:nvPr/>
        </p:nvPicPr>
        <p:blipFill>
          <a:blip r:embed="rId6"/>
          <a:stretch>
            <a:fillRect/>
          </a:stretch>
        </p:blipFill>
        <p:spPr>
          <a:xfrm>
            <a:off x="6341364" y="4512564"/>
            <a:ext cx="192024" cy="192024"/>
          </a:xfrm>
          <a:prstGeom prst="rect">
            <a:avLst/>
          </a:prstGeom>
        </p:spPr>
      </p:pic>
      <p:sp>
        <p:nvSpPr>
          <p:cNvPr id="54" name="Text 47"/>
          <p:cNvSpPr txBox="1"/>
          <p:nvPr/>
        </p:nvSpPr>
        <p:spPr>
          <a:xfrm>
            <a:off x="6720840" y="4398264"/>
            <a:ext cx="2743200" cy="384048"/>
          </a:xfrm>
          <a:prstGeom prst="rect">
            <a:avLst/>
          </a:prstGeom>
          <a:noFill/>
          <a:ln/>
        </p:spPr>
        <p:txBody>
          <a:bodyPr wrap="square" lIns="0" tIns="0" rIns="0" bIns="0" rtlCol="0" anchor="ctr"/>
          <a:lstStyle/>
          <a:p>
            <a:pPr indent="0" marL="0">
              <a:buNone/>
            </a:pPr>
            <a:r>
              <a:rPr lang="en-US" sz="1400" b="1" dirty="0">
                <a:solidFill>
                  <a:srgbClr val="0B2C5D"/>
                </a:solidFill>
                <a:latin typeface="Calibri" pitchFamily="34" charset="0"/>
                <a:ea typeface="Calibri" pitchFamily="34" charset="-122"/>
                <a:cs typeface="Calibri" pitchFamily="34" charset="-120"/>
              </a:rPr>
              <a:t>Threats</a:t>
            </a:r>
            <a:endParaRPr lang="en-US" sz="1400" dirty="0"/>
          </a:p>
        </p:txBody>
      </p:sp>
      <p:sp>
        <p:nvSpPr>
          <p:cNvPr id="55" name="Text 48"/>
          <p:cNvSpPr txBox="1"/>
          <p:nvPr/>
        </p:nvSpPr>
        <p:spPr>
          <a:xfrm>
            <a:off x="6309360" y="4873752"/>
            <a:ext cx="4709160" cy="896112"/>
          </a:xfrm>
          <a:prstGeom prst="rect">
            <a:avLst/>
          </a:prstGeom>
          <a:noFill/>
          <a:ln/>
        </p:spPr>
        <p:txBody>
          <a:bodyPr wrap="square" lIns="0" tIns="0" rIns="0" bIns="0" rtlCol="0" anchor="ctr"/>
          <a:lstStyle/>
          <a:p>
            <a:pPr marL="342900" indent="-342900">
              <a:lnSpc>
                <a:spcPct val="105000"/>
              </a:lnSpc>
              <a:spcAft>
                <a:spcPts val="300"/>
              </a:spcAft>
              <a:buSzPct val="100000"/>
              <a:buChar char="•"/>
            </a:pPr>
            <a:r>
              <a:rPr lang="en-US" sz="950" dirty="0">
                <a:solidFill>
                  <a:srgbClr val="0B2C5D"/>
                </a:solidFill>
                <a:latin typeface="Calibri" pitchFamily="34" charset="0"/>
                <a:ea typeface="Calibri" pitchFamily="34" charset="-122"/>
                <a:cs typeface="Calibri" pitchFamily="34" charset="-120"/>
              </a:rPr>
              <a:t>Chip shortage risk on key MCU part</a:t>
            </a:r>
            <a:endParaRPr lang="en-US" sz="950" dirty="0"/>
          </a:p>
          <a:p>
            <a:pPr marL="342900" indent="-342900">
              <a:lnSpc>
                <a:spcPct val="105000"/>
              </a:lnSpc>
              <a:spcAft>
                <a:spcPts val="300"/>
              </a:spcAft>
              <a:buSzPct val="100000"/>
              <a:buChar char="•"/>
            </a:pPr>
            <a:r>
              <a:rPr lang="en-US" sz="950" dirty="0">
                <a:solidFill>
                  <a:srgbClr val="0B2C5D"/>
                </a:solidFill>
                <a:latin typeface="Calibri" pitchFamily="34" charset="0"/>
                <a:ea typeface="Calibri" pitchFamily="34" charset="-122"/>
                <a:cs typeface="Calibri" pitchFamily="34" charset="-120"/>
              </a:rPr>
              <a:t>Low-cost Asian competitors entering</a:t>
            </a:r>
            <a:endParaRPr lang="en-US" sz="950" dirty="0"/>
          </a:p>
          <a:p>
            <a:pPr marL="342900" indent="-342900">
              <a:lnSpc>
                <a:spcPct val="105000"/>
              </a:lnSpc>
              <a:spcAft>
                <a:spcPts val="300"/>
              </a:spcAft>
              <a:buSzPct val="100000"/>
              <a:buChar char="•"/>
            </a:pPr>
            <a:r>
              <a:rPr lang="en-US" sz="950" dirty="0">
                <a:solidFill>
                  <a:srgbClr val="0B2C5D"/>
                </a:solidFill>
                <a:latin typeface="Calibri" pitchFamily="34" charset="0"/>
                <a:ea typeface="Calibri" pitchFamily="34" charset="-122"/>
                <a:cs typeface="Calibri" pitchFamily="34" charset="-120"/>
              </a:rPr>
              <a:t>Rising certification/compliance costs</a:t>
            </a:r>
            <a:endParaRPr lang="en-US" sz="950" dirty="0"/>
          </a:p>
        </p:txBody>
      </p:sp>
      <p:sp>
        <p:nvSpPr>
          <p:cNvPr id="56" name="Text 49"/>
          <p:cNvSpPr txBox="1"/>
          <p:nvPr/>
        </p:nvSpPr>
        <p:spPr>
          <a:xfrm>
            <a:off x="777240" y="5925312"/>
            <a:ext cx="10607040" cy="320040"/>
          </a:xfrm>
          <a:prstGeom prst="rect">
            <a:avLst/>
          </a:prstGeom>
          <a:noFill/>
          <a:ln/>
        </p:spPr>
        <p:txBody>
          <a:bodyPr wrap="square" lIns="0" tIns="0" rIns="0" bIns="0" rtlCol="0" anchor="ctr"/>
          <a:lstStyle/>
          <a:p>
            <a:pPr indent="0" marL="0">
              <a:buNone/>
            </a:pPr>
            <a:r>
              <a:rPr lang="en-US" sz="900" i="1" dirty="0">
                <a:solidFill>
                  <a:srgbClr val="5B6B84"/>
                </a:solidFill>
                <a:latin typeface="Calibri" pitchFamily="34" charset="0"/>
                <a:ea typeface="Calibri" pitchFamily="34" charset="-122"/>
                <a:cs typeface="Calibri" pitchFamily="34" charset="-120"/>
              </a:rPr>
              <a:t>Cautionary real-world example:  Nokia's early-2000s SWOT listed its hardware brand as a strength but underrated the smartphone-software threat — a reminder that Threats deserve the same rigor as Strengths.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11</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3 · FROM STRATEGY TO OBJECTIVES</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SMART Objectives</a:t>
            </a:r>
            <a:endParaRPr lang="en-US" sz="2700" dirty="0"/>
          </a:p>
        </p:txBody>
      </p:sp>
      <p:sp>
        <p:nvSpPr>
          <p:cNvPr id="36" name="Shape 33"/>
          <p:cNvSpPr/>
          <p:nvPr/>
        </p:nvSpPr>
        <p:spPr>
          <a:xfrm>
            <a:off x="777240" y="2468880"/>
            <a:ext cx="685800" cy="685800"/>
          </a:xfrm>
          <a:prstGeom prst="ellipse">
            <a:avLst/>
          </a:prstGeom>
          <a:solidFill>
            <a:srgbClr val="1CACBD"/>
          </a:solidFill>
          <a:ln/>
        </p:spPr>
      </p:sp>
      <p:sp>
        <p:nvSpPr>
          <p:cNvPr id="37" name="Text 34"/>
          <p:cNvSpPr txBox="1"/>
          <p:nvPr/>
        </p:nvSpPr>
        <p:spPr>
          <a:xfrm>
            <a:off x="777240" y="24688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a:t>
            </a:r>
            <a:endParaRPr lang="en-US" sz="2200" dirty="0"/>
          </a:p>
        </p:txBody>
      </p:sp>
      <p:sp>
        <p:nvSpPr>
          <p:cNvPr id="38" name="Text 35"/>
          <p:cNvSpPr txBox="1"/>
          <p:nvPr/>
        </p:nvSpPr>
        <p:spPr>
          <a:xfrm>
            <a:off x="640080" y="3200400"/>
            <a:ext cx="960120" cy="457200"/>
          </a:xfrm>
          <a:prstGeom prst="rect">
            <a:avLst/>
          </a:prstGeom>
          <a:noFill/>
          <a:ln/>
        </p:spPr>
        <p:txBody>
          <a:bodyPr wrap="square" lIns="0" tIns="0" rIns="0" bIns="0" rtlCol="0" anchor="ctr"/>
          <a:lstStyle/>
          <a:p>
            <a:pPr algn="ctr" indent="0" marL="0">
              <a:buNone/>
            </a:pPr>
            <a:r>
              <a:rPr lang="en-US" sz="900" b="1" dirty="0">
                <a:solidFill>
                  <a:srgbClr val="0B2C5D"/>
                </a:solidFill>
                <a:latin typeface="Calibri" pitchFamily="34" charset="0"/>
                <a:ea typeface="Calibri" pitchFamily="34" charset="-122"/>
                <a:cs typeface="Calibri" pitchFamily="34" charset="-120"/>
              </a:rPr>
              <a:t>Specific</a:t>
            </a:r>
            <a:endParaRPr lang="en-US" sz="900" dirty="0"/>
          </a:p>
        </p:txBody>
      </p:sp>
      <p:sp>
        <p:nvSpPr>
          <p:cNvPr id="39" name="Shape 36"/>
          <p:cNvSpPr/>
          <p:nvPr/>
        </p:nvSpPr>
        <p:spPr>
          <a:xfrm>
            <a:off x="1737360" y="2468880"/>
            <a:ext cx="685800" cy="685800"/>
          </a:xfrm>
          <a:prstGeom prst="ellipse">
            <a:avLst/>
          </a:prstGeom>
          <a:solidFill>
            <a:srgbClr val="FC7468"/>
          </a:solidFill>
          <a:ln/>
        </p:spPr>
      </p:sp>
      <p:sp>
        <p:nvSpPr>
          <p:cNvPr id="40" name="Text 37"/>
          <p:cNvSpPr txBox="1"/>
          <p:nvPr/>
        </p:nvSpPr>
        <p:spPr>
          <a:xfrm>
            <a:off x="1737360" y="24688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M</a:t>
            </a:r>
            <a:endParaRPr lang="en-US" sz="2200" dirty="0"/>
          </a:p>
        </p:txBody>
      </p:sp>
      <p:sp>
        <p:nvSpPr>
          <p:cNvPr id="41" name="Text 38"/>
          <p:cNvSpPr txBox="1"/>
          <p:nvPr/>
        </p:nvSpPr>
        <p:spPr>
          <a:xfrm>
            <a:off x="1600200" y="3200400"/>
            <a:ext cx="960120" cy="457200"/>
          </a:xfrm>
          <a:prstGeom prst="rect">
            <a:avLst/>
          </a:prstGeom>
          <a:noFill/>
          <a:ln/>
        </p:spPr>
        <p:txBody>
          <a:bodyPr wrap="square" lIns="0" tIns="0" rIns="0" bIns="0" rtlCol="0" anchor="ctr"/>
          <a:lstStyle/>
          <a:p>
            <a:pPr algn="ctr" indent="0" marL="0">
              <a:buNone/>
            </a:pPr>
            <a:r>
              <a:rPr lang="en-US" sz="900" b="1" dirty="0">
                <a:solidFill>
                  <a:srgbClr val="0B2C5D"/>
                </a:solidFill>
                <a:latin typeface="Calibri" pitchFamily="34" charset="0"/>
                <a:ea typeface="Calibri" pitchFamily="34" charset="-122"/>
                <a:cs typeface="Calibri" pitchFamily="34" charset="-120"/>
              </a:rPr>
              <a:t>Measurable</a:t>
            </a:r>
            <a:endParaRPr lang="en-US" sz="900" dirty="0"/>
          </a:p>
        </p:txBody>
      </p:sp>
      <p:sp>
        <p:nvSpPr>
          <p:cNvPr id="42" name="Shape 39"/>
          <p:cNvSpPr/>
          <p:nvPr/>
        </p:nvSpPr>
        <p:spPr>
          <a:xfrm>
            <a:off x="2697480" y="2468880"/>
            <a:ext cx="685800" cy="685800"/>
          </a:xfrm>
          <a:prstGeom prst="ellipse">
            <a:avLst/>
          </a:prstGeom>
          <a:solidFill>
            <a:srgbClr val="FBC850"/>
          </a:solidFill>
          <a:ln/>
        </p:spPr>
      </p:sp>
      <p:sp>
        <p:nvSpPr>
          <p:cNvPr id="43" name="Text 40"/>
          <p:cNvSpPr txBox="1"/>
          <p:nvPr/>
        </p:nvSpPr>
        <p:spPr>
          <a:xfrm>
            <a:off x="2697480" y="24688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44" name="Text 41"/>
          <p:cNvSpPr txBox="1"/>
          <p:nvPr/>
        </p:nvSpPr>
        <p:spPr>
          <a:xfrm>
            <a:off x="2560320" y="3200400"/>
            <a:ext cx="960120" cy="457200"/>
          </a:xfrm>
          <a:prstGeom prst="rect">
            <a:avLst/>
          </a:prstGeom>
          <a:noFill/>
          <a:ln/>
        </p:spPr>
        <p:txBody>
          <a:bodyPr wrap="square" lIns="0" tIns="0" rIns="0" bIns="0" rtlCol="0" anchor="ctr"/>
          <a:lstStyle/>
          <a:p>
            <a:pPr algn="ctr" indent="0" marL="0">
              <a:buNone/>
            </a:pPr>
            <a:r>
              <a:rPr lang="en-US" sz="900" b="1" dirty="0">
                <a:solidFill>
                  <a:srgbClr val="0B2C5D"/>
                </a:solidFill>
                <a:latin typeface="Calibri" pitchFamily="34" charset="0"/>
                <a:ea typeface="Calibri" pitchFamily="34" charset="-122"/>
                <a:cs typeface="Calibri" pitchFamily="34" charset="-120"/>
              </a:rPr>
              <a:t>Achievable</a:t>
            </a:r>
            <a:endParaRPr lang="en-US" sz="900" dirty="0"/>
          </a:p>
        </p:txBody>
      </p:sp>
      <p:sp>
        <p:nvSpPr>
          <p:cNvPr id="45" name="Shape 42"/>
          <p:cNvSpPr/>
          <p:nvPr/>
        </p:nvSpPr>
        <p:spPr>
          <a:xfrm>
            <a:off x="3657600" y="2468880"/>
            <a:ext cx="685800" cy="685800"/>
          </a:xfrm>
          <a:prstGeom prst="ellipse">
            <a:avLst/>
          </a:prstGeom>
          <a:solidFill>
            <a:srgbClr val="1CACBD"/>
          </a:solidFill>
          <a:ln/>
        </p:spPr>
      </p:sp>
      <p:sp>
        <p:nvSpPr>
          <p:cNvPr id="46" name="Text 43"/>
          <p:cNvSpPr txBox="1"/>
          <p:nvPr/>
        </p:nvSpPr>
        <p:spPr>
          <a:xfrm>
            <a:off x="3657600" y="24688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a:t>
            </a:r>
            <a:endParaRPr lang="en-US" sz="2200" dirty="0"/>
          </a:p>
        </p:txBody>
      </p:sp>
      <p:sp>
        <p:nvSpPr>
          <p:cNvPr id="47" name="Text 44"/>
          <p:cNvSpPr txBox="1"/>
          <p:nvPr/>
        </p:nvSpPr>
        <p:spPr>
          <a:xfrm>
            <a:off x="3520440" y="3200400"/>
            <a:ext cx="960120" cy="457200"/>
          </a:xfrm>
          <a:prstGeom prst="rect">
            <a:avLst/>
          </a:prstGeom>
          <a:noFill/>
          <a:ln/>
        </p:spPr>
        <p:txBody>
          <a:bodyPr wrap="square" lIns="0" tIns="0" rIns="0" bIns="0" rtlCol="0" anchor="ctr"/>
          <a:lstStyle/>
          <a:p>
            <a:pPr algn="ctr" indent="0" marL="0">
              <a:buNone/>
            </a:pPr>
            <a:r>
              <a:rPr lang="en-US" sz="900" b="1" dirty="0">
                <a:solidFill>
                  <a:srgbClr val="0B2C5D"/>
                </a:solidFill>
                <a:latin typeface="Calibri" pitchFamily="34" charset="0"/>
                <a:ea typeface="Calibri" pitchFamily="34" charset="-122"/>
                <a:cs typeface="Calibri" pitchFamily="34" charset="-120"/>
              </a:rPr>
              <a:t>Relevant</a:t>
            </a:r>
            <a:endParaRPr lang="en-US" sz="900" dirty="0"/>
          </a:p>
        </p:txBody>
      </p:sp>
      <p:sp>
        <p:nvSpPr>
          <p:cNvPr id="48" name="Shape 45"/>
          <p:cNvSpPr/>
          <p:nvPr/>
        </p:nvSpPr>
        <p:spPr>
          <a:xfrm>
            <a:off x="4617720" y="2468880"/>
            <a:ext cx="685800" cy="685800"/>
          </a:xfrm>
          <a:prstGeom prst="ellipse">
            <a:avLst/>
          </a:prstGeom>
          <a:solidFill>
            <a:srgbClr val="FC7468"/>
          </a:solidFill>
          <a:ln/>
        </p:spPr>
      </p:sp>
      <p:sp>
        <p:nvSpPr>
          <p:cNvPr id="49" name="Text 46"/>
          <p:cNvSpPr txBox="1"/>
          <p:nvPr/>
        </p:nvSpPr>
        <p:spPr>
          <a:xfrm>
            <a:off x="4617720" y="24688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T</a:t>
            </a:r>
            <a:endParaRPr lang="en-US" sz="2200" dirty="0"/>
          </a:p>
        </p:txBody>
      </p:sp>
      <p:sp>
        <p:nvSpPr>
          <p:cNvPr id="50" name="Text 47"/>
          <p:cNvSpPr txBox="1"/>
          <p:nvPr/>
        </p:nvSpPr>
        <p:spPr>
          <a:xfrm>
            <a:off x="4480560" y="3200400"/>
            <a:ext cx="960120" cy="457200"/>
          </a:xfrm>
          <a:prstGeom prst="rect">
            <a:avLst/>
          </a:prstGeom>
          <a:noFill/>
          <a:ln/>
        </p:spPr>
        <p:txBody>
          <a:bodyPr wrap="square" lIns="0" tIns="0" rIns="0" bIns="0" rtlCol="0" anchor="ctr"/>
          <a:lstStyle/>
          <a:p>
            <a:pPr algn="ctr" indent="0" marL="0">
              <a:buNone/>
            </a:pPr>
            <a:r>
              <a:rPr lang="en-US" sz="900" b="1" dirty="0">
                <a:solidFill>
                  <a:srgbClr val="0B2C5D"/>
                </a:solidFill>
                <a:latin typeface="Calibri" pitchFamily="34" charset="0"/>
                <a:ea typeface="Calibri" pitchFamily="34" charset="-122"/>
                <a:cs typeface="Calibri" pitchFamily="34" charset="-120"/>
              </a:rPr>
              <a:t>Time-bound</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3931920"/>
          <a:ext cx="10607040" cy="2286000"/>
        </p:xfrm>
        <a:graphic>
          <a:graphicData uri="http://schemas.openxmlformats.org/drawingml/2006/table">
            <a:tbl>
              <a:tblPr/>
              <a:tblGrid>
                <a:gridCol w="4206240"/>
                <a:gridCol w="6400800"/>
              </a:tblGrid>
              <a:tr h="571500">
                <a:tc>
                  <a:txBody>
                    <a:bodyPr/>
                    <a:lstStyle/>
                    <a:p>
                      <a:pPr indent="0" marL="0">
                        <a:buNone/>
                      </a:pPr>
                      <a:r>
                        <a:rPr lang="en-US" sz="1100" b="1" dirty="0">
                          <a:solidFill>
                            <a:srgbClr val="FFFFFF"/>
                          </a:solidFill>
                        </a:rPr>
                        <a:t>Weak objective</a:t>
                      </a:r>
                      <a:endParaRPr lang="en-US" sz="1100" dirty="0"/>
                    </a:p>
                  </a:txBody>
                  <a:tcPr marL="101600" marR="101600" marT="63500" marB="635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0B2C5D"/>
                    </a:solidFill>
                  </a:tcPr>
                </a:tc>
                <a:tc>
                  <a:txBody>
                    <a:bodyPr/>
                    <a:lstStyle/>
                    <a:p>
                      <a:pPr indent="0" marL="0">
                        <a:buNone/>
                      </a:pPr>
                      <a:r>
                        <a:rPr lang="en-US" sz="1100" b="1" dirty="0">
                          <a:solidFill>
                            <a:srgbClr val="FFFFFF"/>
                          </a:solidFill>
                        </a:rPr>
                        <a:t>SMART rewrite (NexCore)</a:t>
                      </a:r>
                      <a:endParaRPr lang="en-US" sz="1100" dirty="0"/>
                    </a:p>
                  </a:txBody>
                  <a:tcPr marL="101600" marR="101600" marT="63500" marB="635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0B2C5D"/>
                    </a:solidFill>
                  </a:tcPr>
                </a:tc>
              </a:tr>
              <a:tr h="571500">
                <a:tc>
                  <a:txBody>
                    <a:bodyPr/>
                    <a:lstStyle/>
                    <a:p>
                      <a:pPr indent="0" marL="0">
                        <a:buNone/>
                      </a:pPr>
                      <a:r>
                        <a:rPr lang="en-US" sz="1050" dirty="0">
                          <a:solidFill>
                            <a:srgbClr val="0B2C5D"/>
                          </a:solidFill>
                        </a:rPr>
                        <a:t>“Improve firmware quality.”</a:t>
                      </a:r>
                      <a:endParaRPr lang="en-US" sz="1050" dirty="0"/>
                    </a:p>
                  </a:txBody>
                  <a:tcPr marL="101600" marR="101600" marT="63500" marB="635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indent="0" marL="0">
                        <a:buNone/>
                      </a:pPr>
                      <a:r>
                        <a:rPr lang="en-US" sz="1050" dirty="0">
                          <a:solidFill>
                            <a:srgbClr val="0B2C5D"/>
                          </a:solidFill>
                        </a:rPr>
                        <a:t>“Reduce field firmware defects per 1,000 units from 4.2 to ≤1.0 within 2 quarters by adding automated regression testing.”</a:t>
                      </a:r>
                      <a:endParaRPr lang="en-US" sz="1050" dirty="0"/>
                    </a:p>
                  </a:txBody>
                  <a:tcPr marL="101600" marR="101600" marT="63500" marB="635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r>
              <a:tr h="571500">
                <a:tc>
                  <a:txBody>
                    <a:bodyPr/>
                    <a:lstStyle/>
                    <a:p>
                      <a:pPr indent="0" marL="0">
                        <a:buNone/>
                      </a:pPr>
                      <a:r>
                        <a:rPr lang="en-US" sz="1050" dirty="0">
                          <a:solidFill>
                            <a:srgbClr val="0B2C5D"/>
                          </a:solidFill>
                        </a:rPr>
                        <a:t>“Launch a new product.”</a:t>
                      </a:r>
                      <a:endParaRPr lang="en-US" sz="1050" dirty="0"/>
                    </a:p>
                  </a:txBody>
                  <a:tcPr marL="101600" marR="101600" marT="63500" marB="635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indent="0" marL="0">
                        <a:buNone/>
                      </a:pPr>
                      <a:r>
                        <a:rPr lang="en-US" sz="1050" dirty="0">
                          <a:solidFill>
                            <a:srgbClr val="0B2C5D"/>
                          </a:solidFill>
                        </a:rPr>
                        <a:t>“Ship the OTA-capable thermostat controller (Rev C) to the lead OEM by Q3, passing UL certification.”</a:t>
                      </a:r>
                      <a:endParaRPr lang="en-US" sz="1050" dirty="0"/>
                    </a:p>
                  </a:txBody>
                  <a:tcPr marL="101600" marR="101600" marT="63500" marB="635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r>
              <a:tr h="571500">
                <a:tc>
                  <a:txBody>
                    <a:bodyPr/>
                    <a:lstStyle/>
                    <a:p>
                      <a:pPr indent="0" marL="0">
                        <a:buNone/>
                      </a:pPr>
                      <a:r>
                        <a:rPr lang="en-US" sz="1000" i="1" dirty="0">
                          <a:solidFill>
                            <a:srgbClr val="0B2C5D"/>
                          </a:solidFill>
                        </a:rPr>
                        <a:t>“Cut cloud costs.” (real-world example)</a:t>
                      </a:r>
                      <a:endParaRPr lang="en-US" sz="1000" dirty="0"/>
                    </a:p>
                  </a:txBody>
                  <a:tcPr marL="101600" marR="101600" marT="63500" marB="635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indent="0" marL="0">
                        <a:buNone/>
                      </a:pPr>
                      <a:r>
                        <a:rPr lang="en-US" sz="1000" i="1" dirty="0">
                          <a:solidFill>
                            <a:srgbClr val="0B2C5D"/>
                          </a:solidFill>
                        </a:rPr>
                        <a:t>“Reduce AWS spend 20% by end of Q2 by migrating steady-state workloads to reserved instances.” — a pattern common at any engineering org, not just NexCore.</a:t>
                      </a:r>
                      <a:endParaRPr lang="en-US" sz="1000" dirty="0"/>
                    </a:p>
                  </a:txBody>
                  <a:tcPr marL="101600" marR="101600" marT="63500" marB="635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12</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3 · FROM STRATEGY TO OBJECTIVES</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Implementing Strategy Through Projects</a:t>
            </a:r>
            <a:endParaRPr lang="en-US" sz="2700" dirty="0"/>
          </a:p>
        </p:txBody>
      </p:sp>
      <p:sp>
        <p:nvSpPr>
          <p:cNvPr id="36" name="Text 33"/>
          <p:cNvSpPr txBox="1"/>
          <p:nvPr/>
        </p:nvSpPr>
        <p:spPr>
          <a:xfrm>
            <a:off x="777240" y="2514600"/>
            <a:ext cx="5120640" cy="2103120"/>
          </a:xfrm>
          <a:prstGeom prst="rect">
            <a:avLst/>
          </a:prstGeom>
          <a:noFill/>
          <a:ln/>
        </p:spPr>
        <p:txBody>
          <a:bodyPr wrap="square" lIns="0" tIns="0" rIns="0" bIns="0" rtlCol="0" anchor="ctr"/>
          <a:lstStyle/>
          <a:p>
            <a:pPr marL="228600" indent="-228600">
              <a:lnSpc>
                <a:spcPct val="118000"/>
              </a:lnSpc>
              <a:spcAft>
                <a:spcPts val="1000"/>
              </a:spcAft>
              <a:buSzPct val="100000"/>
              <a:buChar char="•"/>
            </a:pPr>
            <a:r>
              <a:rPr lang="en-US" sz="1350" dirty="0">
                <a:solidFill>
                  <a:srgbClr val="0B2C5D"/>
                </a:solidFill>
                <a:latin typeface="Calibri" pitchFamily="34" charset="0"/>
                <a:ea typeface="Calibri" pitchFamily="34" charset="-122"/>
                <a:cs typeface="Calibri" pitchFamily="34" charset="-120"/>
              </a:rPr>
              <a:t>Objectives are realized only when funded, staffed, and executed as projects.</a:t>
            </a:r>
            <a:endParaRPr lang="en-US" sz="1350" dirty="0"/>
          </a:p>
          <a:p>
            <a:pPr marL="228600" indent="-228600">
              <a:lnSpc>
                <a:spcPct val="118000"/>
              </a:lnSpc>
              <a:spcAft>
                <a:spcPts val="1000"/>
              </a:spcAft>
              <a:buSzPct val="100000"/>
              <a:buChar char="•"/>
            </a:pPr>
            <a:r>
              <a:rPr lang="en-US" sz="1350" dirty="0">
                <a:solidFill>
                  <a:srgbClr val="0B2C5D"/>
                </a:solidFill>
                <a:latin typeface="Calibri" pitchFamily="34" charset="0"/>
                <a:ea typeface="Calibri" pitchFamily="34" charset="-122"/>
                <a:cs typeface="Calibri" pitchFamily="34" charset="-120"/>
              </a:rPr>
              <a:t>A strategy with no project pipeline behind it is aspiration, not strategy.</a:t>
            </a:r>
            <a:endParaRPr lang="en-US" sz="1350" dirty="0"/>
          </a:p>
          <a:p>
            <a:pPr marL="228600" indent="-228600">
              <a:lnSpc>
                <a:spcPct val="118000"/>
              </a:lnSpc>
              <a:spcAft>
                <a:spcPts val="1000"/>
              </a:spcAft>
              <a:buSzPct val="100000"/>
              <a:buChar char="•"/>
            </a:pPr>
            <a:r>
              <a:rPr lang="en-US" sz="1350" dirty="0">
                <a:solidFill>
                  <a:srgbClr val="0B2C5D"/>
                </a:solidFill>
                <a:latin typeface="Calibri" pitchFamily="34" charset="0"/>
                <a:ea typeface="Calibri" pitchFamily="34" charset="-122"/>
                <a:cs typeface="Calibri" pitchFamily="34" charset="-120"/>
              </a:rPr>
              <a:t>NexCore's OTA-controller objective decomposed into 3 funded projects this fiscal year.</a:t>
            </a:r>
            <a:endParaRPr lang="en-US" sz="1350" dirty="0"/>
          </a:p>
        </p:txBody>
      </p:sp>
      <p:sp>
        <p:nvSpPr>
          <p:cNvPr id="37" name="Shape 34"/>
          <p:cNvSpPr/>
          <p:nvPr/>
        </p:nvSpPr>
        <p:spPr>
          <a:xfrm>
            <a:off x="777240" y="4709160"/>
            <a:ext cx="1627632" cy="960120"/>
          </a:xfrm>
          <a:prstGeom prst="roundRect">
            <a:avLst>
              <a:gd name="adj" fmla="val 8571"/>
            </a:avLst>
          </a:prstGeom>
          <a:solidFill>
            <a:srgbClr val="FDFAF3"/>
          </a:solidFill>
          <a:ln w="12700">
            <a:solidFill>
              <a:srgbClr val="E7E1D3"/>
            </a:solidFill>
            <a:prstDash val="solid"/>
          </a:ln>
        </p:spPr>
      </p:sp>
      <p:sp>
        <p:nvSpPr>
          <p:cNvPr id="38" name="Text 35"/>
          <p:cNvSpPr txBox="1"/>
          <p:nvPr/>
        </p:nvSpPr>
        <p:spPr>
          <a:xfrm>
            <a:off x="914400" y="4782312"/>
            <a:ext cx="1353312" cy="457200"/>
          </a:xfrm>
          <a:prstGeom prst="rect">
            <a:avLst/>
          </a:prstGeom>
          <a:noFill/>
          <a:ln/>
        </p:spPr>
        <p:txBody>
          <a:bodyPr wrap="square" lIns="0" tIns="0" rIns="0" bIns="0" rtlCol="0" anchor="ctr"/>
          <a:lstStyle/>
          <a:p>
            <a:pPr indent="0" marL="0">
              <a:buNone/>
            </a:pPr>
            <a:r>
              <a:rPr lang="en-US" sz="2200" b="1" dirty="0">
                <a:solidFill>
                  <a:srgbClr val="1CACBD"/>
                </a:solidFill>
                <a:latin typeface="Calibri" pitchFamily="34" charset="0"/>
                <a:ea typeface="Calibri" pitchFamily="34" charset="-122"/>
                <a:cs typeface="Calibri" pitchFamily="34" charset="-120"/>
              </a:rPr>
              <a:t>3</a:t>
            </a:r>
            <a:endParaRPr lang="en-US" sz="2200" dirty="0"/>
          </a:p>
        </p:txBody>
      </p:sp>
      <p:sp>
        <p:nvSpPr>
          <p:cNvPr id="39" name="Text 36"/>
          <p:cNvSpPr txBox="1"/>
          <p:nvPr/>
        </p:nvSpPr>
        <p:spPr>
          <a:xfrm>
            <a:off x="914400" y="5239512"/>
            <a:ext cx="1353312" cy="365760"/>
          </a:xfrm>
          <a:prstGeom prst="rect">
            <a:avLst/>
          </a:prstGeom>
          <a:noFill/>
          <a:ln/>
        </p:spPr>
        <p:txBody>
          <a:bodyPr wrap="square" lIns="0" tIns="0" rIns="0" bIns="0" rtlCol="0" anchor="ctr"/>
          <a:lstStyle/>
          <a:p>
            <a:pPr indent="0" marL="0">
              <a:buNone/>
            </a:pPr>
            <a:r>
              <a:rPr lang="en-US" sz="1050" dirty="0">
                <a:solidFill>
                  <a:srgbClr val="5B6B84"/>
                </a:solidFill>
                <a:latin typeface="Calibri" pitchFamily="34" charset="0"/>
                <a:ea typeface="Calibri" pitchFamily="34" charset="-122"/>
                <a:cs typeface="Calibri" pitchFamily="34" charset="-120"/>
              </a:rPr>
              <a:t>Funded projects</a:t>
            </a:r>
            <a:endParaRPr lang="en-US" sz="1050" dirty="0"/>
          </a:p>
        </p:txBody>
      </p:sp>
      <p:sp>
        <p:nvSpPr>
          <p:cNvPr id="40" name="Shape 37"/>
          <p:cNvSpPr/>
          <p:nvPr/>
        </p:nvSpPr>
        <p:spPr>
          <a:xfrm>
            <a:off x="2487168" y="4709160"/>
            <a:ext cx="1627632" cy="960120"/>
          </a:xfrm>
          <a:prstGeom prst="roundRect">
            <a:avLst>
              <a:gd name="adj" fmla="val 8571"/>
            </a:avLst>
          </a:prstGeom>
          <a:solidFill>
            <a:srgbClr val="FDFAF3"/>
          </a:solidFill>
          <a:ln w="12700">
            <a:solidFill>
              <a:srgbClr val="E7E1D3"/>
            </a:solidFill>
            <a:prstDash val="solid"/>
          </a:ln>
        </p:spPr>
      </p:sp>
      <p:sp>
        <p:nvSpPr>
          <p:cNvPr id="41" name="Text 38"/>
          <p:cNvSpPr txBox="1"/>
          <p:nvPr/>
        </p:nvSpPr>
        <p:spPr>
          <a:xfrm>
            <a:off x="2624328" y="4782312"/>
            <a:ext cx="1353312" cy="457200"/>
          </a:xfrm>
          <a:prstGeom prst="rect">
            <a:avLst/>
          </a:prstGeom>
          <a:noFill/>
          <a:ln/>
        </p:spPr>
        <p:txBody>
          <a:bodyPr wrap="square" lIns="0" tIns="0" rIns="0" bIns="0" rtlCol="0" anchor="ctr"/>
          <a:lstStyle/>
          <a:p>
            <a:pPr indent="0" marL="0">
              <a:buNone/>
            </a:pPr>
            <a:r>
              <a:rPr lang="en-US" sz="2200" b="1" dirty="0">
                <a:solidFill>
                  <a:srgbClr val="FC7468"/>
                </a:solidFill>
                <a:latin typeface="Calibri" pitchFamily="34" charset="0"/>
                <a:ea typeface="Calibri" pitchFamily="34" charset="-122"/>
                <a:cs typeface="Calibri" pitchFamily="34" charset="-120"/>
              </a:rPr>
              <a:t>$1.4M</a:t>
            </a:r>
            <a:endParaRPr lang="en-US" sz="2200" dirty="0"/>
          </a:p>
        </p:txBody>
      </p:sp>
      <p:sp>
        <p:nvSpPr>
          <p:cNvPr id="42" name="Text 39"/>
          <p:cNvSpPr txBox="1"/>
          <p:nvPr/>
        </p:nvSpPr>
        <p:spPr>
          <a:xfrm>
            <a:off x="2624328" y="5239512"/>
            <a:ext cx="1353312" cy="365760"/>
          </a:xfrm>
          <a:prstGeom prst="rect">
            <a:avLst/>
          </a:prstGeom>
          <a:noFill/>
          <a:ln/>
        </p:spPr>
        <p:txBody>
          <a:bodyPr wrap="square" lIns="0" tIns="0" rIns="0" bIns="0" rtlCol="0" anchor="ctr"/>
          <a:lstStyle/>
          <a:p>
            <a:pPr indent="0" marL="0">
              <a:buNone/>
            </a:pPr>
            <a:r>
              <a:rPr lang="en-US" sz="1050" dirty="0">
                <a:solidFill>
                  <a:srgbClr val="5B6B84"/>
                </a:solidFill>
                <a:latin typeface="Calibri" pitchFamily="34" charset="0"/>
                <a:ea typeface="Calibri" pitchFamily="34" charset="-122"/>
                <a:cs typeface="Calibri" pitchFamily="34" charset="-120"/>
              </a:rPr>
              <a:t>Combined budget</a:t>
            </a:r>
            <a:endParaRPr lang="en-US" sz="1050" dirty="0"/>
          </a:p>
        </p:txBody>
      </p:sp>
      <p:sp>
        <p:nvSpPr>
          <p:cNvPr id="43" name="Shape 40"/>
          <p:cNvSpPr/>
          <p:nvPr/>
        </p:nvSpPr>
        <p:spPr>
          <a:xfrm>
            <a:off x="4197096" y="4709160"/>
            <a:ext cx="1700784" cy="960120"/>
          </a:xfrm>
          <a:prstGeom prst="roundRect">
            <a:avLst>
              <a:gd name="adj" fmla="val 8571"/>
            </a:avLst>
          </a:prstGeom>
          <a:solidFill>
            <a:srgbClr val="FDFAF3"/>
          </a:solidFill>
          <a:ln w="12700">
            <a:solidFill>
              <a:srgbClr val="E7E1D3"/>
            </a:solidFill>
            <a:prstDash val="solid"/>
          </a:ln>
        </p:spPr>
      </p:sp>
      <p:sp>
        <p:nvSpPr>
          <p:cNvPr id="44" name="Text 41"/>
          <p:cNvSpPr txBox="1"/>
          <p:nvPr/>
        </p:nvSpPr>
        <p:spPr>
          <a:xfrm>
            <a:off x="4334256" y="4782312"/>
            <a:ext cx="1426464" cy="457200"/>
          </a:xfrm>
          <a:prstGeom prst="rect">
            <a:avLst/>
          </a:prstGeom>
          <a:noFill/>
          <a:ln/>
        </p:spPr>
        <p:txBody>
          <a:bodyPr wrap="square" lIns="0" tIns="0" rIns="0" bIns="0" rtlCol="0" anchor="ctr"/>
          <a:lstStyle/>
          <a:p>
            <a:pPr indent="0" marL="0">
              <a:buNone/>
            </a:pPr>
            <a:r>
              <a:rPr lang="en-US" sz="2200" b="1" dirty="0">
                <a:solidFill>
                  <a:srgbClr val="FBC850"/>
                </a:solidFill>
                <a:latin typeface="Calibri" pitchFamily="34" charset="0"/>
                <a:ea typeface="Calibri" pitchFamily="34" charset="-122"/>
                <a:cs typeface="Calibri" pitchFamily="34" charset="-120"/>
              </a:rPr>
              <a:t>9 mo</a:t>
            </a:r>
            <a:endParaRPr lang="en-US" sz="2200" dirty="0"/>
          </a:p>
        </p:txBody>
      </p:sp>
      <p:sp>
        <p:nvSpPr>
          <p:cNvPr id="45" name="Text 42"/>
          <p:cNvSpPr txBox="1"/>
          <p:nvPr/>
        </p:nvSpPr>
        <p:spPr>
          <a:xfrm>
            <a:off x="4334256" y="5239512"/>
            <a:ext cx="1426464" cy="365760"/>
          </a:xfrm>
          <a:prstGeom prst="rect">
            <a:avLst/>
          </a:prstGeom>
          <a:noFill/>
          <a:ln/>
        </p:spPr>
        <p:txBody>
          <a:bodyPr wrap="square" lIns="0" tIns="0" rIns="0" bIns="0" rtlCol="0" anchor="ctr"/>
          <a:lstStyle/>
          <a:p>
            <a:pPr indent="0" marL="0">
              <a:buNone/>
            </a:pPr>
            <a:r>
              <a:rPr lang="en-US" sz="1050" dirty="0">
                <a:solidFill>
                  <a:srgbClr val="5B6B84"/>
                </a:solidFill>
                <a:latin typeface="Calibri" pitchFamily="34" charset="0"/>
                <a:ea typeface="Calibri" pitchFamily="34" charset="-122"/>
                <a:cs typeface="Calibri" pitchFamily="34" charset="-120"/>
              </a:rPr>
              <a:t>Longest timeline</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5687568"/>
          <a:ext cx="5120640" cy="658368"/>
        </p:xfrm>
        <a:graphic>
          <a:graphicData uri="http://schemas.openxmlformats.org/drawingml/2006/table">
            <a:tbl>
              <a:tblPr/>
              <a:tblGrid>
                <a:gridCol w="2011680"/>
                <a:gridCol w="1737360"/>
                <a:gridCol w="1371600"/>
              </a:tblGrid>
              <a:tr h="164592">
                <a:tc>
                  <a:txBody>
                    <a:bodyPr/>
                    <a:lstStyle/>
                    <a:p>
                      <a:pPr indent="0" marL="0">
                        <a:buNone/>
                      </a:pPr>
                      <a:r>
                        <a:rPr lang="en-US" sz="850" b="1" dirty="0">
                          <a:solidFill>
                            <a:srgbClr val="FFFFFF"/>
                          </a:solidFill>
                        </a:rPr>
                        <a:t>Project</a:t>
                      </a:r>
                      <a:endParaRPr lang="en-US" sz="850" dirty="0"/>
                    </a:p>
                  </a:txBody>
                  <a:tcPr marL="38100" marR="38100" marT="12700" marB="127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0B2C5D"/>
                    </a:solidFill>
                  </a:tcPr>
                </a:tc>
                <a:tc>
                  <a:txBody>
                    <a:bodyPr/>
                    <a:lstStyle/>
                    <a:p>
                      <a:pPr algn="ctr" indent="0" marL="0">
                        <a:buNone/>
                      </a:pPr>
                      <a:r>
                        <a:rPr lang="en-US" sz="850" b="1" dirty="0">
                          <a:solidFill>
                            <a:srgbClr val="FFFFFF"/>
                          </a:solidFill>
                        </a:rPr>
                        <a:t>Owner</a:t>
                      </a:r>
                      <a:endParaRPr lang="en-US" sz="850" dirty="0"/>
                    </a:p>
                  </a:txBody>
                  <a:tcPr marL="38100" marR="38100" marT="12700" marB="127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0B2C5D"/>
                    </a:solidFill>
                  </a:tcPr>
                </a:tc>
                <a:tc>
                  <a:txBody>
                    <a:bodyPr/>
                    <a:lstStyle/>
                    <a:p>
                      <a:pPr algn="ctr" indent="0" marL="0">
                        <a:buNone/>
                      </a:pPr>
                      <a:r>
                        <a:rPr lang="en-US" sz="850" b="1" dirty="0">
                          <a:solidFill>
                            <a:srgbClr val="FFFFFF"/>
                          </a:solidFill>
                        </a:rPr>
                        <a:t>Target</a:t>
                      </a:r>
                      <a:endParaRPr lang="en-US" sz="850" dirty="0"/>
                    </a:p>
                  </a:txBody>
                  <a:tcPr marL="38100" marR="38100" marT="12700" marB="127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0B2C5D"/>
                    </a:solidFill>
                  </a:tcPr>
                </a:tc>
              </a:tr>
              <a:tr h="164592">
                <a:tc>
                  <a:txBody>
                    <a:bodyPr/>
                    <a:lstStyle/>
                    <a:p>
                      <a:pPr indent="0" marL="0">
                        <a:buNone/>
                      </a:pPr>
                      <a:r>
                        <a:rPr lang="en-US" sz="850" dirty="0">
                          <a:solidFill>
                            <a:srgbClr val="000000"/>
                          </a:solidFill>
                        </a:rPr>
                        <a:t>OTA Firmware</a:t>
                      </a:r>
                      <a:endParaRPr lang="en-US" sz="850" dirty="0"/>
                    </a:p>
                  </a:txBody>
                  <a:tcPr marL="38100" marR="38100" marT="12700" marB="127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850" dirty="0">
                          <a:solidFill>
                            <a:srgbClr val="000000"/>
                          </a:solidFill>
                        </a:rPr>
                        <a:t>Firmware Lead</a:t>
                      </a:r>
                      <a:endParaRPr lang="en-US" sz="850" dirty="0"/>
                    </a:p>
                  </a:txBody>
                  <a:tcPr marL="38100" marR="38100" marT="12700" marB="127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850" dirty="0">
                          <a:solidFill>
                            <a:srgbClr val="000000"/>
                          </a:solidFill>
                        </a:rPr>
                        <a:t>Q3</a:t>
                      </a:r>
                      <a:endParaRPr lang="en-US" sz="850" dirty="0"/>
                    </a:p>
                  </a:txBody>
                  <a:tcPr marL="38100" marR="38100" marT="12700" marB="127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r>
              <a:tr h="164592">
                <a:tc>
                  <a:txBody>
                    <a:bodyPr/>
                    <a:lstStyle/>
                    <a:p>
                      <a:pPr indent="0" marL="0">
                        <a:buNone/>
                      </a:pPr>
                      <a:r>
                        <a:rPr lang="en-US" sz="850" dirty="0">
                          <a:solidFill>
                            <a:srgbClr val="000000"/>
                          </a:solidFill>
                        </a:rPr>
                        <a:t>Cert &amp; QA</a:t>
                      </a:r>
                      <a:endParaRPr lang="en-US" sz="850" dirty="0"/>
                    </a:p>
                  </a:txBody>
                  <a:tcPr marL="38100" marR="38100" marT="12700" marB="127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850" dirty="0">
                          <a:solidFill>
                            <a:srgbClr val="000000"/>
                          </a:solidFill>
                        </a:rPr>
                        <a:t>QA Manager</a:t>
                      </a:r>
                      <a:endParaRPr lang="en-US" sz="850" dirty="0"/>
                    </a:p>
                  </a:txBody>
                  <a:tcPr marL="38100" marR="38100" marT="12700" marB="127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850" dirty="0">
                          <a:solidFill>
                            <a:srgbClr val="000000"/>
                          </a:solidFill>
                        </a:rPr>
                        <a:t>Q3</a:t>
                      </a:r>
                      <a:endParaRPr lang="en-US" sz="850" dirty="0"/>
                    </a:p>
                  </a:txBody>
                  <a:tcPr marL="38100" marR="38100" marT="12700" marB="127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r>
              <a:tr h="164592">
                <a:tc>
                  <a:txBody>
                    <a:bodyPr/>
                    <a:lstStyle/>
                    <a:p>
                      <a:pPr indent="0" marL="0">
                        <a:buNone/>
                      </a:pPr>
                      <a:r>
                        <a:rPr lang="en-US" sz="850" dirty="0">
                          <a:solidFill>
                            <a:srgbClr val="000000"/>
                          </a:solidFill>
                        </a:rPr>
                        <a:t>Field Rollout</a:t>
                      </a:r>
                      <a:endParaRPr lang="en-US" sz="850" dirty="0"/>
                    </a:p>
                  </a:txBody>
                  <a:tcPr marL="38100" marR="38100" marT="12700" marB="127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850" dirty="0">
                          <a:solidFill>
                            <a:srgbClr val="000000"/>
                          </a:solidFill>
                        </a:rPr>
                        <a:t>PM (NexCore)</a:t>
                      </a:r>
                      <a:endParaRPr lang="en-US" sz="850" dirty="0"/>
                    </a:p>
                  </a:txBody>
                  <a:tcPr marL="38100" marR="38100" marT="12700" marB="127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850" dirty="0">
                          <a:solidFill>
                            <a:srgbClr val="000000"/>
                          </a:solidFill>
                        </a:rPr>
                        <a:t>Q4</a:t>
                      </a:r>
                      <a:endParaRPr lang="en-US" sz="850" dirty="0"/>
                    </a:p>
                  </a:txBody>
                  <a:tcPr marL="38100" marR="38100" marT="12700" marB="127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r>
            </a:tbl>
          </a:graphicData>
        </a:graphic>
      </p:graphicFrame>
      <p:graphicFrame>
        <p:nvGraphicFramePr>
          <p:cNvPr id="47" name="Chart 0" descr=""/>
          <p:cNvGraphicFramePr/>
          <p:nvPr/>
        </p:nvGraphicFramePr>
        <p:xfrm>
          <a:off x="6309360" y="2514600"/>
          <a:ext cx="5577840" cy="3657600"/>
        </p:xfrm>
        <a:graphic xmlns:a="http://schemas.openxmlformats.org/drawingml/2006/main">
          <a:graphicData uri="http://schemas.openxmlformats.org/drawingml/2006/chart">
            <c:chart xmlns:c="http://schemas.openxmlformats.org/drawingml/2006/chart"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13</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4 · PRIORITY SYSTEMS</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The Priority System</a:t>
            </a:r>
            <a:endParaRPr lang="en-US" sz="2700" dirty="0"/>
          </a:p>
        </p:txBody>
      </p:sp>
      <p:sp>
        <p:nvSpPr>
          <p:cNvPr id="36" name="Text 33"/>
          <p:cNvSpPr txBox="1"/>
          <p:nvPr/>
        </p:nvSpPr>
        <p:spPr>
          <a:xfrm>
            <a:off x="777240" y="2212848"/>
            <a:ext cx="9692640" cy="457200"/>
          </a:xfrm>
          <a:prstGeom prst="rect">
            <a:avLst/>
          </a:prstGeom>
          <a:noFill/>
          <a:ln/>
        </p:spPr>
        <p:txBody>
          <a:bodyPr wrap="square" lIns="0" tIns="0" rIns="0" bIns="0" rtlCol="0" anchor="ctr"/>
          <a:lstStyle/>
          <a:p>
            <a:pPr indent="0" marL="0">
              <a:buNone/>
            </a:pPr>
            <a:r>
              <a:rPr lang="en-US" sz="1250" i="1" dirty="0">
                <a:solidFill>
                  <a:srgbClr val="5B6B84"/>
                </a:solidFill>
                <a:latin typeface="Calibri" pitchFamily="34" charset="0"/>
                <a:ea typeface="Calibri" pitchFamily="34" charset="-122"/>
                <a:cs typeface="Calibri" pitchFamily="34" charset="-120"/>
              </a:rPr>
              <a:t>Organizations classify projects into a small number of priority levels so resource conflicts are resolved consistently, not politically.</a:t>
            </a:r>
            <a:endParaRPr lang="en-US" sz="1250" dirty="0"/>
          </a:p>
        </p:txBody>
      </p:sp>
      <p:sp>
        <p:nvSpPr>
          <p:cNvPr id="37" name="Shape 34"/>
          <p:cNvSpPr/>
          <p:nvPr/>
        </p:nvSpPr>
        <p:spPr>
          <a:xfrm>
            <a:off x="777240" y="2788920"/>
            <a:ext cx="10607040" cy="960120"/>
          </a:xfrm>
          <a:prstGeom prst="roundRect">
            <a:avLst>
              <a:gd name="adj" fmla="val 9524"/>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38" name="Shape 35"/>
          <p:cNvSpPr/>
          <p:nvPr/>
        </p:nvSpPr>
        <p:spPr>
          <a:xfrm>
            <a:off x="777240" y="2788920"/>
            <a:ext cx="109728" cy="960120"/>
          </a:xfrm>
          <a:prstGeom prst="rect">
            <a:avLst/>
          </a:prstGeom>
          <a:solidFill>
            <a:srgbClr val="FC7468"/>
          </a:solidFill>
          <a:ln/>
        </p:spPr>
      </p:sp>
      <p:sp>
        <p:nvSpPr>
          <p:cNvPr id="39" name="Text 36"/>
          <p:cNvSpPr txBox="1"/>
          <p:nvPr/>
        </p:nvSpPr>
        <p:spPr>
          <a:xfrm>
            <a:off x="1143000" y="2880360"/>
            <a:ext cx="1965960" cy="384048"/>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Compliance / Must</a:t>
            </a:r>
            <a:endParaRPr lang="en-US" sz="1300" dirty="0"/>
          </a:p>
        </p:txBody>
      </p:sp>
      <p:sp>
        <p:nvSpPr>
          <p:cNvPr id="40" name="Shape 37"/>
          <p:cNvSpPr/>
          <p:nvPr/>
        </p:nvSpPr>
        <p:spPr>
          <a:xfrm>
            <a:off x="3108960" y="2898648"/>
            <a:ext cx="731520" cy="292608"/>
          </a:xfrm>
          <a:prstGeom prst="roundRect">
            <a:avLst>
              <a:gd name="adj" fmla="val 50000"/>
            </a:avLst>
          </a:prstGeom>
          <a:solidFill>
            <a:srgbClr val="FC7468"/>
          </a:solidFill>
          <a:ln/>
        </p:spPr>
      </p:sp>
      <p:sp>
        <p:nvSpPr>
          <p:cNvPr id="41" name="Text 38"/>
          <p:cNvSpPr txBox="1"/>
          <p:nvPr/>
        </p:nvSpPr>
        <p:spPr>
          <a:xfrm>
            <a:off x="3108960" y="2898648"/>
            <a:ext cx="7315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~15%</a:t>
            </a:r>
            <a:endParaRPr lang="en-US" sz="900" dirty="0"/>
          </a:p>
        </p:txBody>
      </p:sp>
      <p:sp>
        <p:nvSpPr>
          <p:cNvPr id="42" name="Text 39"/>
          <p:cNvSpPr txBox="1"/>
          <p:nvPr/>
        </p:nvSpPr>
        <p:spPr>
          <a:xfrm>
            <a:off x="4069080" y="2843784"/>
            <a:ext cx="3611880" cy="850392"/>
          </a:xfrm>
          <a:prstGeom prst="rect">
            <a:avLst/>
          </a:prstGeom>
          <a:noFill/>
          <a:ln/>
        </p:spPr>
        <p:txBody>
          <a:bodyPr wrap="square" lIns="0" tIns="0" rIns="0" bIns="0" rtlCol="0" anchor="ctr"/>
          <a:lstStyle/>
          <a:p>
            <a:pPr indent="0" marL="0">
              <a:lnSpc>
                <a:spcPct val="115000"/>
              </a:lnSpc>
              <a:buNone/>
            </a:pPr>
            <a:r>
              <a:rPr lang="en-US" sz="1000" dirty="0">
                <a:solidFill>
                  <a:srgbClr val="5B6B84"/>
                </a:solidFill>
                <a:latin typeface="Calibri" pitchFamily="34" charset="0"/>
                <a:ea typeface="Calibri" pitchFamily="34" charset="-122"/>
                <a:cs typeface="Calibri" pitchFamily="34" charset="-120"/>
              </a:rPr>
              <a:t>Legally or contractually mandatory.</a:t>
            </a:r>
            <a:endParaRPr lang="en-US" sz="1000" dirty="0"/>
          </a:p>
        </p:txBody>
      </p:sp>
      <p:sp>
        <p:nvSpPr>
          <p:cNvPr id="43" name="Text 40"/>
          <p:cNvSpPr txBox="1"/>
          <p:nvPr/>
        </p:nvSpPr>
        <p:spPr>
          <a:xfrm>
            <a:off x="7863840" y="2889504"/>
            <a:ext cx="3291840" cy="201168"/>
          </a:xfrm>
          <a:prstGeom prst="rect">
            <a:avLst/>
          </a:prstGeom>
          <a:noFill/>
          <a:ln/>
        </p:spPr>
        <p:txBody>
          <a:bodyPr wrap="square" lIns="0" tIns="0" rIns="0" bIns="0" rtlCol="0" anchor="ctr"/>
          <a:lstStyle/>
          <a:p>
            <a:pPr indent="0" marL="0">
              <a:buNone/>
            </a:pPr>
            <a:r>
              <a:rPr lang="en-US" sz="800" b="1" spc="100" kern="0" dirty="0">
                <a:solidFill>
                  <a:srgbClr val="FC7468"/>
                </a:solidFill>
                <a:latin typeface="Calibri" pitchFamily="34" charset="0"/>
                <a:ea typeface="Calibri" pitchFamily="34" charset="-122"/>
                <a:cs typeface="Calibri" pitchFamily="34" charset="-120"/>
              </a:rPr>
              <a:t>EXAMPLE</a:t>
            </a:r>
            <a:endParaRPr lang="en-US" sz="800" dirty="0"/>
          </a:p>
        </p:txBody>
      </p:sp>
      <p:sp>
        <p:nvSpPr>
          <p:cNvPr id="44" name="Text 41"/>
          <p:cNvSpPr txBox="1"/>
          <p:nvPr/>
        </p:nvSpPr>
        <p:spPr>
          <a:xfrm>
            <a:off x="7863840" y="3099816"/>
            <a:ext cx="3291840" cy="594360"/>
          </a:xfrm>
          <a:prstGeom prst="rect">
            <a:avLst/>
          </a:prstGeom>
          <a:noFill/>
          <a:ln/>
        </p:spPr>
        <p:txBody>
          <a:bodyPr wrap="square" lIns="0" tIns="0" rIns="0" bIns="0" rtlCol="0" anchor="ctr"/>
          <a:lstStyle/>
          <a:p>
            <a:pPr indent="0" marL="0">
              <a:lnSpc>
                <a:spcPct val="110000"/>
              </a:lnSpc>
              <a:buNone/>
            </a:pPr>
            <a:r>
              <a:rPr lang="en-US" sz="950" i="1" dirty="0">
                <a:solidFill>
                  <a:srgbClr val="0B2C5D"/>
                </a:solidFill>
                <a:latin typeface="Calibri" pitchFamily="34" charset="0"/>
                <a:ea typeface="Calibri" pitchFamily="34" charset="-122"/>
                <a:cs typeface="Calibri" pitchFamily="34" charset="-120"/>
              </a:rPr>
              <a:t>UL/FCC certification firmware fixes</a:t>
            </a:r>
            <a:endParaRPr lang="en-US" sz="950" dirty="0"/>
          </a:p>
        </p:txBody>
      </p:sp>
      <p:sp>
        <p:nvSpPr>
          <p:cNvPr id="45" name="Shape 42"/>
          <p:cNvSpPr/>
          <p:nvPr/>
        </p:nvSpPr>
        <p:spPr>
          <a:xfrm>
            <a:off x="777240" y="3858768"/>
            <a:ext cx="10607040" cy="960120"/>
          </a:xfrm>
          <a:prstGeom prst="roundRect">
            <a:avLst>
              <a:gd name="adj" fmla="val 9524"/>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46" name="Shape 43"/>
          <p:cNvSpPr/>
          <p:nvPr/>
        </p:nvSpPr>
        <p:spPr>
          <a:xfrm>
            <a:off x="777240" y="3858768"/>
            <a:ext cx="109728" cy="960120"/>
          </a:xfrm>
          <a:prstGeom prst="rect">
            <a:avLst/>
          </a:prstGeom>
          <a:solidFill>
            <a:srgbClr val="1CACBD"/>
          </a:solidFill>
          <a:ln/>
        </p:spPr>
      </p:sp>
      <p:sp>
        <p:nvSpPr>
          <p:cNvPr id="47" name="Text 44"/>
          <p:cNvSpPr txBox="1"/>
          <p:nvPr/>
        </p:nvSpPr>
        <p:spPr>
          <a:xfrm>
            <a:off x="1143000" y="3950208"/>
            <a:ext cx="1965960" cy="384048"/>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Strategic</a:t>
            </a:r>
            <a:endParaRPr lang="en-US" sz="1300" dirty="0"/>
          </a:p>
        </p:txBody>
      </p:sp>
      <p:sp>
        <p:nvSpPr>
          <p:cNvPr id="48" name="Shape 45"/>
          <p:cNvSpPr/>
          <p:nvPr/>
        </p:nvSpPr>
        <p:spPr>
          <a:xfrm>
            <a:off x="3108960" y="3968496"/>
            <a:ext cx="731520" cy="292608"/>
          </a:xfrm>
          <a:prstGeom prst="roundRect">
            <a:avLst>
              <a:gd name="adj" fmla="val 50000"/>
            </a:avLst>
          </a:prstGeom>
          <a:solidFill>
            <a:srgbClr val="1CACBD"/>
          </a:solidFill>
          <a:ln/>
        </p:spPr>
      </p:sp>
      <p:sp>
        <p:nvSpPr>
          <p:cNvPr id="49" name="Text 46"/>
          <p:cNvSpPr txBox="1"/>
          <p:nvPr/>
        </p:nvSpPr>
        <p:spPr>
          <a:xfrm>
            <a:off x="3108960" y="3968496"/>
            <a:ext cx="7315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~45%</a:t>
            </a:r>
            <a:endParaRPr lang="en-US" sz="900" dirty="0"/>
          </a:p>
        </p:txBody>
      </p:sp>
      <p:sp>
        <p:nvSpPr>
          <p:cNvPr id="50" name="Text 47"/>
          <p:cNvSpPr txBox="1"/>
          <p:nvPr/>
        </p:nvSpPr>
        <p:spPr>
          <a:xfrm>
            <a:off x="4069080" y="3913632"/>
            <a:ext cx="3611880" cy="850392"/>
          </a:xfrm>
          <a:prstGeom prst="rect">
            <a:avLst/>
          </a:prstGeom>
          <a:noFill/>
          <a:ln/>
        </p:spPr>
        <p:txBody>
          <a:bodyPr wrap="square" lIns="0" tIns="0" rIns="0" bIns="0" rtlCol="0" anchor="ctr"/>
          <a:lstStyle/>
          <a:p>
            <a:pPr indent="0" marL="0">
              <a:lnSpc>
                <a:spcPct val="115000"/>
              </a:lnSpc>
              <a:buNone/>
            </a:pPr>
            <a:r>
              <a:rPr lang="en-US" sz="1000" dirty="0">
                <a:solidFill>
                  <a:srgbClr val="5B6B84"/>
                </a:solidFill>
                <a:latin typeface="Calibri" pitchFamily="34" charset="0"/>
                <a:ea typeface="Calibri" pitchFamily="34" charset="-122"/>
                <a:cs typeface="Calibri" pitchFamily="34" charset="-120"/>
              </a:rPr>
              <a:t>Directly advances a core strategic objective.</a:t>
            </a:r>
            <a:endParaRPr lang="en-US" sz="1000" dirty="0"/>
          </a:p>
        </p:txBody>
      </p:sp>
      <p:sp>
        <p:nvSpPr>
          <p:cNvPr id="51" name="Text 48"/>
          <p:cNvSpPr txBox="1"/>
          <p:nvPr/>
        </p:nvSpPr>
        <p:spPr>
          <a:xfrm>
            <a:off x="7863840" y="3959352"/>
            <a:ext cx="3291840" cy="201168"/>
          </a:xfrm>
          <a:prstGeom prst="rect">
            <a:avLst/>
          </a:prstGeom>
          <a:noFill/>
          <a:ln/>
        </p:spPr>
        <p:txBody>
          <a:bodyPr wrap="square" lIns="0" tIns="0" rIns="0" bIns="0" rtlCol="0" anchor="ctr"/>
          <a:lstStyle/>
          <a:p>
            <a:pPr indent="0" marL="0">
              <a:buNone/>
            </a:pPr>
            <a:r>
              <a:rPr lang="en-US" sz="800" b="1" spc="100" kern="0" dirty="0">
                <a:solidFill>
                  <a:srgbClr val="1CACBD"/>
                </a:solidFill>
                <a:latin typeface="Calibri" pitchFamily="34" charset="0"/>
                <a:ea typeface="Calibri" pitchFamily="34" charset="-122"/>
                <a:cs typeface="Calibri" pitchFamily="34" charset="-120"/>
              </a:rPr>
              <a:t>EXAMPLE</a:t>
            </a:r>
            <a:endParaRPr lang="en-US" sz="800" dirty="0"/>
          </a:p>
        </p:txBody>
      </p:sp>
      <p:sp>
        <p:nvSpPr>
          <p:cNvPr id="52" name="Text 49"/>
          <p:cNvSpPr txBox="1"/>
          <p:nvPr/>
        </p:nvSpPr>
        <p:spPr>
          <a:xfrm>
            <a:off x="7863840" y="4169664"/>
            <a:ext cx="3291840" cy="594360"/>
          </a:xfrm>
          <a:prstGeom prst="rect">
            <a:avLst/>
          </a:prstGeom>
          <a:noFill/>
          <a:ln/>
        </p:spPr>
        <p:txBody>
          <a:bodyPr wrap="square" lIns="0" tIns="0" rIns="0" bIns="0" rtlCol="0" anchor="ctr"/>
          <a:lstStyle/>
          <a:p>
            <a:pPr indent="0" marL="0">
              <a:lnSpc>
                <a:spcPct val="110000"/>
              </a:lnSpc>
              <a:buNone/>
            </a:pPr>
            <a:r>
              <a:rPr lang="en-US" sz="950" i="1" dirty="0">
                <a:solidFill>
                  <a:srgbClr val="0B2C5D"/>
                </a:solidFill>
                <a:latin typeface="Calibri" pitchFamily="34" charset="0"/>
                <a:ea typeface="Calibri" pitchFamily="34" charset="-122"/>
                <a:cs typeface="Calibri" pitchFamily="34" charset="-120"/>
              </a:rPr>
              <a:t>OTA update capability for the flagship line</a:t>
            </a:r>
            <a:endParaRPr lang="en-US" sz="950" dirty="0"/>
          </a:p>
        </p:txBody>
      </p:sp>
      <p:sp>
        <p:nvSpPr>
          <p:cNvPr id="53" name="Shape 50"/>
          <p:cNvSpPr/>
          <p:nvPr/>
        </p:nvSpPr>
        <p:spPr>
          <a:xfrm>
            <a:off x="777240" y="4928616"/>
            <a:ext cx="10607040" cy="960120"/>
          </a:xfrm>
          <a:prstGeom prst="roundRect">
            <a:avLst>
              <a:gd name="adj" fmla="val 9524"/>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54" name="Shape 51"/>
          <p:cNvSpPr/>
          <p:nvPr/>
        </p:nvSpPr>
        <p:spPr>
          <a:xfrm>
            <a:off x="777240" y="4928616"/>
            <a:ext cx="109728" cy="960120"/>
          </a:xfrm>
          <a:prstGeom prst="rect">
            <a:avLst/>
          </a:prstGeom>
          <a:solidFill>
            <a:srgbClr val="FBC850"/>
          </a:solidFill>
          <a:ln/>
        </p:spPr>
      </p:sp>
      <p:sp>
        <p:nvSpPr>
          <p:cNvPr id="55" name="Text 52"/>
          <p:cNvSpPr txBox="1"/>
          <p:nvPr/>
        </p:nvSpPr>
        <p:spPr>
          <a:xfrm>
            <a:off x="1143000" y="5020056"/>
            <a:ext cx="1965960" cy="384048"/>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Operational</a:t>
            </a:r>
            <a:endParaRPr lang="en-US" sz="1300" dirty="0"/>
          </a:p>
        </p:txBody>
      </p:sp>
      <p:sp>
        <p:nvSpPr>
          <p:cNvPr id="56" name="Shape 53"/>
          <p:cNvSpPr/>
          <p:nvPr/>
        </p:nvSpPr>
        <p:spPr>
          <a:xfrm>
            <a:off x="3108960" y="5038344"/>
            <a:ext cx="731520" cy="292608"/>
          </a:xfrm>
          <a:prstGeom prst="roundRect">
            <a:avLst>
              <a:gd name="adj" fmla="val 50000"/>
            </a:avLst>
          </a:prstGeom>
          <a:solidFill>
            <a:srgbClr val="FBC850"/>
          </a:solidFill>
          <a:ln/>
        </p:spPr>
      </p:sp>
      <p:sp>
        <p:nvSpPr>
          <p:cNvPr id="57" name="Text 54"/>
          <p:cNvSpPr txBox="1"/>
          <p:nvPr/>
        </p:nvSpPr>
        <p:spPr>
          <a:xfrm>
            <a:off x="3108960" y="5038344"/>
            <a:ext cx="73152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~40%</a:t>
            </a:r>
            <a:endParaRPr lang="en-US" sz="900" dirty="0"/>
          </a:p>
        </p:txBody>
      </p:sp>
      <p:sp>
        <p:nvSpPr>
          <p:cNvPr id="58" name="Text 55"/>
          <p:cNvSpPr txBox="1"/>
          <p:nvPr/>
        </p:nvSpPr>
        <p:spPr>
          <a:xfrm>
            <a:off x="4069080" y="4983480"/>
            <a:ext cx="3611880" cy="850392"/>
          </a:xfrm>
          <a:prstGeom prst="rect">
            <a:avLst/>
          </a:prstGeom>
          <a:noFill/>
          <a:ln/>
        </p:spPr>
        <p:txBody>
          <a:bodyPr wrap="square" lIns="0" tIns="0" rIns="0" bIns="0" rtlCol="0" anchor="ctr"/>
          <a:lstStyle/>
          <a:p>
            <a:pPr indent="0" marL="0">
              <a:lnSpc>
                <a:spcPct val="115000"/>
              </a:lnSpc>
              <a:buNone/>
            </a:pPr>
            <a:r>
              <a:rPr lang="en-US" sz="1000" dirty="0">
                <a:solidFill>
                  <a:srgbClr val="5B6B84"/>
                </a:solidFill>
                <a:latin typeface="Calibri" pitchFamily="34" charset="0"/>
                <a:ea typeface="Calibri" pitchFamily="34" charset="-122"/>
                <a:cs typeface="Calibri" pitchFamily="34" charset="-120"/>
              </a:rPr>
              <a:t>Keeps the current business running efficiently.</a:t>
            </a:r>
            <a:endParaRPr lang="en-US" sz="1000" dirty="0"/>
          </a:p>
        </p:txBody>
      </p:sp>
      <p:sp>
        <p:nvSpPr>
          <p:cNvPr id="59" name="Text 56"/>
          <p:cNvSpPr txBox="1"/>
          <p:nvPr/>
        </p:nvSpPr>
        <p:spPr>
          <a:xfrm>
            <a:off x="7863840" y="5029200"/>
            <a:ext cx="3291840" cy="201168"/>
          </a:xfrm>
          <a:prstGeom prst="rect">
            <a:avLst/>
          </a:prstGeom>
          <a:noFill/>
          <a:ln/>
        </p:spPr>
        <p:txBody>
          <a:bodyPr wrap="square" lIns="0" tIns="0" rIns="0" bIns="0" rtlCol="0" anchor="ctr"/>
          <a:lstStyle/>
          <a:p>
            <a:pPr indent="0" marL="0">
              <a:buNone/>
            </a:pPr>
            <a:r>
              <a:rPr lang="en-US" sz="800" b="1" spc="100" kern="0" dirty="0">
                <a:solidFill>
                  <a:srgbClr val="FBC850"/>
                </a:solidFill>
                <a:latin typeface="Calibri" pitchFamily="34" charset="0"/>
                <a:ea typeface="Calibri" pitchFamily="34" charset="-122"/>
                <a:cs typeface="Calibri" pitchFamily="34" charset="-120"/>
              </a:rPr>
              <a:t>EXAMPLE</a:t>
            </a:r>
            <a:endParaRPr lang="en-US" sz="800" dirty="0"/>
          </a:p>
        </p:txBody>
      </p:sp>
      <p:sp>
        <p:nvSpPr>
          <p:cNvPr id="60" name="Text 57"/>
          <p:cNvSpPr txBox="1"/>
          <p:nvPr/>
        </p:nvSpPr>
        <p:spPr>
          <a:xfrm>
            <a:off x="7863840" y="5239512"/>
            <a:ext cx="3291840" cy="594360"/>
          </a:xfrm>
          <a:prstGeom prst="rect">
            <a:avLst/>
          </a:prstGeom>
          <a:noFill/>
          <a:ln/>
        </p:spPr>
        <p:txBody>
          <a:bodyPr wrap="square" lIns="0" tIns="0" rIns="0" bIns="0" rtlCol="0" anchor="ctr"/>
          <a:lstStyle/>
          <a:p>
            <a:pPr indent="0" marL="0">
              <a:lnSpc>
                <a:spcPct val="110000"/>
              </a:lnSpc>
              <a:buNone/>
            </a:pPr>
            <a:r>
              <a:rPr lang="en-US" sz="950" i="1" dirty="0">
                <a:solidFill>
                  <a:srgbClr val="0B2C5D"/>
                </a:solidFill>
                <a:latin typeface="Calibri" pitchFamily="34" charset="0"/>
                <a:ea typeface="Calibri" pitchFamily="34" charset="-122"/>
                <a:cs typeface="Calibri" pitchFamily="34" charset="-120"/>
              </a:rPr>
              <a:t>PCB test-jig automation</a:t>
            </a:r>
            <a:endParaRPr lang="en-US" sz="950" dirty="0"/>
          </a:p>
        </p:txBody>
      </p:sp>
      <p:sp>
        <p:nvSpPr>
          <p:cNvPr id="61" name="Text 58"/>
          <p:cNvSpPr txBox="1"/>
          <p:nvPr/>
        </p:nvSpPr>
        <p:spPr>
          <a:xfrm>
            <a:off x="777240" y="6035040"/>
            <a:ext cx="10607040" cy="274320"/>
          </a:xfrm>
          <a:prstGeom prst="rect">
            <a:avLst/>
          </a:prstGeom>
          <a:noFill/>
          <a:ln/>
        </p:spPr>
        <p:txBody>
          <a:bodyPr wrap="square" lIns="0" tIns="0" rIns="0" bIns="0" rtlCol="0" anchor="ctr"/>
          <a:lstStyle/>
          <a:p>
            <a:pPr indent="0" marL="0">
              <a:buNone/>
            </a:pPr>
            <a:r>
              <a:rPr lang="en-US" sz="950" i="1" dirty="0">
                <a:solidFill>
                  <a:srgbClr val="5B6B84"/>
                </a:solidFill>
                <a:latin typeface="Calibri" pitchFamily="34" charset="0"/>
                <a:ea typeface="Calibri" pitchFamily="34" charset="-122"/>
                <a:cs typeface="Calibri" pitchFamily="34" charset="-120"/>
              </a:rPr>
              <a:t>Portfolio share badges reflect NexCore's typical annual mix — the ~45% strategic share is a deliberate choice to keep growth-driving work dominant over pure upkeep.</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14</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4 · PRIORITY SYSTEMS</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Classifying Projects by Type</a:t>
            </a:r>
            <a:endParaRPr lang="en-US" sz="2700" dirty="0"/>
          </a:p>
        </p:txBody>
      </p:sp>
      <p:sp>
        <p:nvSpPr>
          <p:cNvPr id="36" name="Shape 33"/>
          <p:cNvSpPr/>
          <p:nvPr/>
        </p:nvSpPr>
        <p:spPr>
          <a:xfrm>
            <a:off x="777240" y="2560320"/>
            <a:ext cx="3383280" cy="2148840"/>
          </a:xfrm>
          <a:prstGeom prst="roundRect">
            <a:avLst>
              <a:gd name="adj" fmla="val 4255"/>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37" name="Shape 34"/>
          <p:cNvSpPr/>
          <p:nvPr/>
        </p:nvSpPr>
        <p:spPr>
          <a:xfrm>
            <a:off x="2194560" y="2761488"/>
            <a:ext cx="548640" cy="548640"/>
          </a:xfrm>
          <a:prstGeom prst="ellipse">
            <a:avLst/>
          </a:prstGeom>
          <a:solidFill>
            <a:srgbClr val="1CACBD"/>
          </a:solidFill>
          <a:ln/>
        </p:spPr>
      </p:sp>
      <p:pic>
        <p:nvPicPr>
          <p:cNvPr id="38" name="Image 1" descr="/home/claude/work/build/icons/cpu.png">    </p:cNvPr>
          <p:cNvPicPr>
            <a:picLocks noChangeAspect="1"/>
          </p:cNvPicPr>
          <p:nvPr/>
        </p:nvPicPr>
        <p:blipFill>
          <a:blip r:embed="rId3"/>
          <a:stretch>
            <a:fillRect/>
          </a:stretch>
        </p:blipFill>
        <p:spPr>
          <a:xfrm>
            <a:off x="2331720" y="2898648"/>
            <a:ext cx="274320" cy="274320"/>
          </a:xfrm>
          <a:prstGeom prst="rect">
            <a:avLst/>
          </a:prstGeom>
        </p:spPr>
      </p:pic>
      <p:sp>
        <p:nvSpPr>
          <p:cNvPr id="39" name="Text 35"/>
          <p:cNvSpPr txBox="1"/>
          <p:nvPr/>
        </p:nvSpPr>
        <p:spPr>
          <a:xfrm>
            <a:off x="914400" y="3419856"/>
            <a:ext cx="3108960" cy="329184"/>
          </a:xfrm>
          <a:prstGeom prst="rect">
            <a:avLst/>
          </a:prstGeom>
          <a:noFill/>
          <a:ln/>
        </p:spPr>
        <p:txBody>
          <a:bodyPr wrap="square" lIns="0" tIns="0" rIns="0" bIns="0" rtlCol="0" anchor="ctr"/>
          <a:lstStyle/>
          <a:p>
            <a:pPr algn="ctr" indent="0" marL="0">
              <a:buNone/>
            </a:pPr>
            <a:r>
              <a:rPr lang="en-US" sz="1350" b="1" dirty="0">
                <a:solidFill>
                  <a:srgbClr val="0B2C5D"/>
                </a:solidFill>
                <a:latin typeface="Calibri" pitchFamily="34" charset="0"/>
                <a:ea typeface="Calibri" pitchFamily="34" charset="-122"/>
                <a:cs typeface="Calibri" pitchFamily="34" charset="-120"/>
              </a:rPr>
              <a:t>Compliance</a:t>
            </a:r>
            <a:endParaRPr lang="en-US" sz="1350" dirty="0"/>
          </a:p>
        </p:txBody>
      </p:sp>
      <p:sp>
        <p:nvSpPr>
          <p:cNvPr id="40" name="Text 36"/>
          <p:cNvSpPr txBox="1"/>
          <p:nvPr/>
        </p:nvSpPr>
        <p:spPr>
          <a:xfrm>
            <a:off x="960120" y="3749040"/>
            <a:ext cx="3017520" cy="457200"/>
          </a:xfrm>
          <a:prstGeom prst="rect">
            <a:avLst/>
          </a:prstGeom>
          <a:noFill/>
          <a:ln/>
        </p:spPr>
        <p:txBody>
          <a:bodyPr wrap="square" lIns="0" tIns="0" rIns="0" bIns="0" rtlCol="0" anchor="ctr"/>
          <a:lstStyle/>
          <a:p>
            <a:pPr algn="ctr" indent="0" marL="0">
              <a:lnSpc>
                <a:spcPct val="110000"/>
              </a:lnSpc>
              <a:buNone/>
            </a:pPr>
            <a:r>
              <a:rPr lang="en-US" sz="950" dirty="0">
                <a:solidFill>
                  <a:srgbClr val="5B6B84"/>
                </a:solidFill>
                <a:latin typeface="Calibri" pitchFamily="34" charset="0"/>
                <a:ea typeface="Calibri" pitchFamily="34" charset="-122"/>
                <a:cs typeface="Calibri" pitchFamily="34" charset="-120"/>
              </a:rPr>
              <a:t>Required to keep operating legally.</a:t>
            </a:r>
            <a:endParaRPr lang="en-US" sz="950" dirty="0"/>
          </a:p>
        </p:txBody>
      </p:sp>
      <p:sp>
        <p:nvSpPr>
          <p:cNvPr id="41" name="Shape 37"/>
          <p:cNvSpPr/>
          <p:nvPr/>
        </p:nvSpPr>
        <p:spPr>
          <a:xfrm>
            <a:off x="1143000" y="4224528"/>
            <a:ext cx="2651760" cy="0"/>
          </a:xfrm>
          <a:prstGeom prst="line">
            <a:avLst/>
          </a:prstGeom>
          <a:noFill/>
          <a:ln w="12700">
            <a:solidFill>
              <a:srgbClr val="E7E1D3"/>
            </a:solidFill>
            <a:prstDash val="solid"/>
          </a:ln>
        </p:spPr>
      </p:sp>
      <p:sp>
        <p:nvSpPr>
          <p:cNvPr id="42" name="Text 38"/>
          <p:cNvSpPr txBox="1"/>
          <p:nvPr/>
        </p:nvSpPr>
        <p:spPr>
          <a:xfrm>
            <a:off x="960120" y="4297680"/>
            <a:ext cx="3017520" cy="365760"/>
          </a:xfrm>
          <a:prstGeom prst="rect">
            <a:avLst/>
          </a:prstGeom>
          <a:noFill/>
          <a:ln/>
        </p:spPr>
        <p:txBody>
          <a:bodyPr wrap="square" lIns="0" tIns="0" rIns="0" bIns="0" rtlCol="0" anchor="ctr"/>
          <a:lstStyle/>
          <a:p>
            <a:pPr algn="ctr" indent="0" marL="0">
              <a:lnSpc>
                <a:spcPct val="110000"/>
              </a:lnSpc>
              <a:buNone/>
            </a:pPr>
            <a:r>
              <a:rPr lang="en-US" sz="850" i="1" dirty="0">
                <a:solidFill>
                  <a:srgbClr val="1CACBD"/>
                </a:solidFill>
                <a:latin typeface="Calibri" pitchFamily="34" charset="0"/>
                <a:ea typeface="Calibri" pitchFamily="34" charset="-122"/>
                <a:cs typeface="Calibri" pitchFamily="34" charset="-120"/>
              </a:rPr>
              <a:t>e.g., GDPR/CE compliance work at any tech company</a:t>
            </a:r>
            <a:endParaRPr lang="en-US" sz="850" dirty="0"/>
          </a:p>
        </p:txBody>
      </p:sp>
      <p:sp>
        <p:nvSpPr>
          <p:cNvPr id="43" name="Shape 39"/>
          <p:cNvSpPr/>
          <p:nvPr/>
        </p:nvSpPr>
        <p:spPr>
          <a:xfrm>
            <a:off x="4343400" y="2560320"/>
            <a:ext cx="3383280" cy="2148840"/>
          </a:xfrm>
          <a:prstGeom prst="roundRect">
            <a:avLst>
              <a:gd name="adj" fmla="val 4255"/>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44" name="Shape 40"/>
          <p:cNvSpPr/>
          <p:nvPr/>
        </p:nvSpPr>
        <p:spPr>
          <a:xfrm>
            <a:off x="5760720" y="2761488"/>
            <a:ext cx="548640" cy="548640"/>
          </a:xfrm>
          <a:prstGeom prst="ellipse">
            <a:avLst/>
          </a:prstGeom>
          <a:solidFill>
            <a:srgbClr val="FC7468"/>
          </a:solidFill>
          <a:ln/>
        </p:spPr>
      </p:sp>
      <p:pic>
        <p:nvPicPr>
          <p:cNvPr id="45" name="Image 2" descr="/home/claude/work/build/icons/trenddown.png">    </p:cNvPr>
          <p:cNvPicPr>
            <a:picLocks noChangeAspect="1"/>
          </p:cNvPicPr>
          <p:nvPr/>
        </p:nvPicPr>
        <p:blipFill>
          <a:blip r:embed="rId4"/>
          <a:stretch>
            <a:fillRect/>
          </a:stretch>
        </p:blipFill>
        <p:spPr>
          <a:xfrm>
            <a:off x="5897880" y="2898648"/>
            <a:ext cx="274320" cy="274320"/>
          </a:xfrm>
          <a:prstGeom prst="rect">
            <a:avLst/>
          </a:prstGeom>
        </p:spPr>
      </p:pic>
      <p:sp>
        <p:nvSpPr>
          <p:cNvPr id="46" name="Text 41"/>
          <p:cNvSpPr txBox="1"/>
          <p:nvPr/>
        </p:nvSpPr>
        <p:spPr>
          <a:xfrm>
            <a:off x="4480560" y="3419856"/>
            <a:ext cx="3108960" cy="329184"/>
          </a:xfrm>
          <a:prstGeom prst="rect">
            <a:avLst/>
          </a:prstGeom>
          <a:noFill/>
          <a:ln/>
        </p:spPr>
        <p:txBody>
          <a:bodyPr wrap="square" lIns="0" tIns="0" rIns="0" bIns="0" rtlCol="0" anchor="ctr"/>
          <a:lstStyle/>
          <a:p>
            <a:pPr algn="ctr" indent="0" marL="0">
              <a:buNone/>
            </a:pPr>
            <a:r>
              <a:rPr lang="en-US" sz="1350" b="1" dirty="0">
                <a:solidFill>
                  <a:srgbClr val="0B2C5D"/>
                </a:solidFill>
                <a:latin typeface="Calibri" pitchFamily="34" charset="0"/>
                <a:ea typeface="Calibri" pitchFamily="34" charset="-122"/>
                <a:cs typeface="Calibri" pitchFamily="34" charset="-120"/>
              </a:rPr>
              <a:t>Strategic</a:t>
            </a:r>
            <a:endParaRPr lang="en-US" sz="1350" dirty="0"/>
          </a:p>
        </p:txBody>
      </p:sp>
      <p:sp>
        <p:nvSpPr>
          <p:cNvPr id="47" name="Text 42"/>
          <p:cNvSpPr txBox="1"/>
          <p:nvPr/>
        </p:nvSpPr>
        <p:spPr>
          <a:xfrm>
            <a:off x="4526280" y="3749040"/>
            <a:ext cx="3017520" cy="457200"/>
          </a:xfrm>
          <a:prstGeom prst="rect">
            <a:avLst/>
          </a:prstGeom>
          <a:noFill/>
          <a:ln/>
        </p:spPr>
        <p:txBody>
          <a:bodyPr wrap="square" lIns="0" tIns="0" rIns="0" bIns="0" rtlCol="0" anchor="ctr"/>
          <a:lstStyle/>
          <a:p>
            <a:pPr algn="ctr" indent="0" marL="0">
              <a:lnSpc>
                <a:spcPct val="110000"/>
              </a:lnSpc>
              <a:buNone/>
            </a:pPr>
            <a:r>
              <a:rPr lang="en-US" sz="950" dirty="0">
                <a:solidFill>
                  <a:srgbClr val="5B6B84"/>
                </a:solidFill>
                <a:latin typeface="Calibri" pitchFamily="34" charset="0"/>
                <a:ea typeface="Calibri" pitchFamily="34" charset="-122"/>
                <a:cs typeface="Calibri" pitchFamily="34" charset="-120"/>
              </a:rPr>
              <a:t>Directly supports competitive positioning.</a:t>
            </a:r>
            <a:endParaRPr lang="en-US" sz="950" dirty="0"/>
          </a:p>
        </p:txBody>
      </p:sp>
      <p:sp>
        <p:nvSpPr>
          <p:cNvPr id="48" name="Shape 43"/>
          <p:cNvSpPr/>
          <p:nvPr/>
        </p:nvSpPr>
        <p:spPr>
          <a:xfrm>
            <a:off x="4709160" y="4224528"/>
            <a:ext cx="2651760" cy="0"/>
          </a:xfrm>
          <a:prstGeom prst="line">
            <a:avLst/>
          </a:prstGeom>
          <a:noFill/>
          <a:ln w="12700">
            <a:solidFill>
              <a:srgbClr val="E7E1D3"/>
            </a:solidFill>
            <a:prstDash val="solid"/>
          </a:ln>
        </p:spPr>
      </p:sp>
      <p:sp>
        <p:nvSpPr>
          <p:cNvPr id="49" name="Text 44"/>
          <p:cNvSpPr txBox="1"/>
          <p:nvPr/>
        </p:nvSpPr>
        <p:spPr>
          <a:xfrm>
            <a:off x="4526280" y="4297680"/>
            <a:ext cx="3017520" cy="365760"/>
          </a:xfrm>
          <a:prstGeom prst="rect">
            <a:avLst/>
          </a:prstGeom>
          <a:noFill/>
          <a:ln/>
        </p:spPr>
        <p:txBody>
          <a:bodyPr wrap="square" lIns="0" tIns="0" rIns="0" bIns="0" rtlCol="0" anchor="ctr"/>
          <a:lstStyle/>
          <a:p>
            <a:pPr algn="ctr" indent="0" marL="0">
              <a:lnSpc>
                <a:spcPct val="110000"/>
              </a:lnSpc>
              <a:buNone/>
            </a:pPr>
            <a:r>
              <a:rPr lang="en-US" sz="850" i="1" dirty="0">
                <a:solidFill>
                  <a:srgbClr val="FC7468"/>
                </a:solidFill>
                <a:latin typeface="Calibri" pitchFamily="34" charset="0"/>
                <a:ea typeface="Calibri" pitchFamily="34" charset="-122"/>
                <a:cs typeface="Calibri" pitchFamily="34" charset="-120"/>
              </a:rPr>
              <a:t>e.g., Google's Gemini investment; Tesla's Gigafactories</a:t>
            </a:r>
            <a:endParaRPr lang="en-US" sz="850" dirty="0"/>
          </a:p>
        </p:txBody>
      </p:sp>
      <p:sp>
        <p:nvSpPr>
          <p:cNvPr id="50" name="Shape 45"/>
          <p:cNvSpPr/>
          <p:nvPr/>
        </p:nvSpPr>
        <p:spPr>
          <a:xfrm>
            <a:off x="7909560" y="2560320"/>
            <a:ext cx="3383280" cy="2148840"/>
          </a:xfrm>
          <a:prstGeom prst="roundRect">
            <a:avLst>
              <a:gd name="adj" fmla="val 4255"/>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51" name="Shape 46"/>
          <p:cNvSpPr/>
          <p:nvPr/>
        </p:nvSpPr>
        <p:spPr>
          <a:xfrm>
            <a:off x="9326880" y="2761488"/>
            <a:ext cx="548640" cy="548640"/>
          </a:xfrm>
          <a:prstGeom prst="ellipse">
            <a:avLst/>
          </a:prstGeom>
          <a:solidFill>
            <a:srgbClr val="FBC850"/>
          </a:solidFill>
          <a:ln/>
        </p:spPr>
      </p:sp>
      <p:pic>
        <p:nvPicPr>
          <p:cNvPr id="52" name="Image 3" descr="/home/claude/work/build/icons/settings.png">    </p:cNvPr>
          <p:cNvPicPr>
            <a:picLocks noChangeAspect="1"/>
          </p:cNvPicPr>
          <p:nvPr/>
        </p:nvPicPr>
        <p:blipFill>
          <a:blip r:embed="rId5"/>
          <a:stretch>
            <a:fillRect/>
          </a:stretch>
        </p:blipFill>
        <p:spPr>
          <a:xfrm>
            <a:off x="9464040" y="2898648"/>
            <a:ext cx="274320" cy="274320"/>
          </a:xfrm>
          <a:prstGeom prst="rect">
            <a:avLst/>
          </a:prstGeom>
        </p:spPr>
      </p:pic>
      <p:sp>
        <p:nvSpPr>
          <p:cNvPr id="53" name="Text 47"/>
          <p:cNvSpPr txBox="1"/>
          <p:nvPr/>
        </p:nvSpPr>
        <p:spPr>
          <a:xfrm>
            <a:off x="8046720" y="3419856"/>
            <a:ext cx="3108960" cy="329184"/>
          </a:xfrm>
          <a:prstGeom prst="rect">
            <a:avLst/>
          </a:prstGeom>
          <a:noFill/>
          <a:ln/>
        </p:spPr>
        <p:txBody>
          <a:bodyPr wrap="square" lIns="0" tIns="0" rIns="0" bIns="0" rtlCol="0" anchor="ctr"/>
          <a:lstStyle/>
          <a:p>
            <a:pPr algn="ctr" indent="0" marL="0">
              <a:buNone/>
            </a:pPr>
            <a:r>
              <a:rPr lang="en-US" sz="1350" b="1" dirty="0">
                <a:solidFill>
                  <a:srgbClr val="0B2C5D"/>
                </a:solidFill>
                <a:latin typeface="Calibri" pitchFamily="34" charset="0"/>
                <a:ea typeface="Calibri" pitchFamily="34" charset="-122"/>
                <a:cs typeface="Calibri" pitchFamily="34" charset="-120"/>
              </a:rPr>
              <a:t>Operational</a:t>
            </a:r>
            <a:endParaRPr lang="en-US" sz="1350" dirty="0"/>
          </a:p>
        </p:txBody>
      </p:sp>
      <p:sp>
        <p:nvSpPr>
          <p:cNvPr id="54" name="Text 48"/>
          <p:cNvSpPr txBox="1"/>
          <p:nvPr/>
        </p:nvSpPr>
        <p:spPr>
          <a:xfrm>
            <a:off x="8092440" y="3749040"/>
            <a:ext cx="3017520" cy="457200"/>
          </a:xfrm>
          <a:prstGeom prst="rect">
            <a:avLst/>
          </a:prstGeom>
          <a:noFill/>
          <a:ln/>
        </p:spPr>
        <p:txBody>
          <a:bodyPr wrap="square" lIns="0" tIns="0" rIns="0" bIns="0" rtlCol="0" anchor="ctr"/>
          <a:lstStyle/>
          <a:p>
            <a:pPr algn="ctr" indent="0" marL="0">
              <a:lnSpc>
                <a:spcPct val="110000"/>
              </a:lnSpc>
              <a:buNone/>
            </a:pPr>
            <a:r>
              <a:rPr lang="en-US" sz="950" dirty="0">
                <a:solidFill>
                  <a:srgbClr val="5B6B84"/>
                </a:solidFill>
                <a:latin typeface="Calibri" pitchFamily="34" charset="0"/>
                <a:ea typeface="Calibri" pitchFamily="34" charset="-122"/>
                <a:cs typeface="Calibri" pitchFamily="34" charset="-120"/>
              </a:rPr>
              <a:t>Efficiency and maintenance of current ops.</a:t>
            </a:r>
            <a:endParaRPr lang="en-US" sz="950" dirty="0"/>
          </a:p>
        </p:txBody>
      </p:sp>
      <p:sp>
        <p:nvSpPr>
          <p:cNvPr id="55" name="Shape 49"/>
          <p:cNvSpPr/>
          <p:nvPr/>
        </p:nvSpPr>
        <p:spPr>
          <a:xfrm>
            <a:off x="8275320" y="4224528"/>
            <a:ext cx="2651760" cy="0"/>
          </a:xfrm>
          <a:prstGeom prst="line">
            <a:avLst/>
          </a:prstGeom>
          <a:noFill/>
          <a:ln w="12700">
            <a:solidFill>
              <a:srgbClr val="E7E1D3"/>
            </a:solidFill>
            <a:prstDash val="solid"/>
          </a:ln>
        </p:spPr>
      </p:sp>
      <p:sp>
        <p:nvSpPr>
          <p:cNvPr id="56" name="Text 50"/>
          <p:cNvSpPr txBox="1"/>
          <p:nvPr/>
        </p:nvSpPr>
        <p:spPr>
          <a:xfrm>
            <a:off x="8092440" y="4297680"/>
            <a:ext cx="3017520" cy="365760"/>
          </a:xfrm>
          <a:prstGeom prst="rect">
            <a:avLst/>
          </a:prstGeom>
          <a:noFill/>
          <a:ln/>
        </p:spPr>
        <p:txBody>
          <a:bodyPr wrap="square" lIns="0" tIns="0" rIns="0" bIns="0" rtlCol="0" anchor="ctr"/>
          <a:lstStyle/>
          <a:p>
            <a:pPr algn="ctr" indent="0" marL="0">
              <a:lnSpc>
                <a:spcPct val="110000"/>
              </a:lnSpc>
              <a:buNone/>
            </a:pPr>
            <a:r>
              <a:rPr lang="en-US" sz="850" i="1" dirty="0">
                <a:solidFill>
                  <a:srgbClr val="FBC850"/>
                </a:solidFill>
                <a:latin typeface="Calibri" pitchFamily="34" charset="0"/>
                <a:ea typeface="Calibri" pitchFamily="34" charset="-122"/>
                <a:cs typeface="Calibri" pitchFamily="34" charset="-120"/>
              </a:rPr>
              <a:t>e.g., a CI/CD pipeline upgrade; routine server patching</a:t>
            </a:r>
            <a:endParaRPr lang="en-US" sz="850" dirty="0"/>
          </a:p>
        </p:txBody>
      </p:sp>
      <p:sp>
        <p:nvSpPr>
          <p:cNvPr id="57" name="Shape 51"/>
          <p:cNvSpPr/>
          <p:nvPr/>
        </p:nvSpPr>
        <p:spPr>
          <a:xfrm>
            <a:off x="777240" y="4892040"/>
            <a:ext cx="10607040" cy="1188720"/>
          </a:xfrm>
          <a:prstGeom prst="roundRect">
            <a:avLst>
              <a:gd name="adj" fmla="val 7692"/>
            </a:avLst>
          </a:prstGeom>
          <a:solidFill>
            <a:srgbClr val="0B2C5D"/>
          </a:solidFill>
          <a:ln w="12700">
            <a:solidFill>
              <a:srgbClr val="0B2C5D"/>
            </a:solidFill>
            <a:prstDash val="solid"/>
          </a:ln>
          <a:effectLst>
            <a:outerShdw sx="100000" sy="100000" kx="0" ky="0" algn="bl" rotWithShape="0" blurRad="88900" dist="25400" dir="5400000">
              <a:srgbClr val="0B2C5D">
                <a:alpha val="14000"/>
              </a:srgbClr>
            </a:outerShdw>
          </a:effectLst>
        </p:spPr>
      </p:sp>
      <p:sp>
        <p:nvSpPr>
          <p:cNvPr id="58" name="Text 52"/>
          <p:cNvSpPr txBox="1"/>
          <p:nvPr/>
        </p:nvSpPr>
        <p:spPr>
          <a:xfrm>
            <a:off x="1051560" y="5074920"/>
            <a:ext cx="10058400" cy="822960"/>
          </a:xfrm>
          <a:prstGeom prst="rect">
            <a:avLst/>
          </a:prstGeom>
          <a:noFill/>
          <a:ln/>
        </p:spPr>
        <p:txBody>
          <a:bodyPr wrap="square" lIns="0" tIns="0" rIns="0" bIns="0" rtlCol="0" anchor="ctr"/>
          <a:lstStyle/>
          <a:p>
            <a:pPr indent="0" marL="0">
              <a:lnSpc>
                <a:spcPct val="125000"/>
              </a:lnSpc>
              <a:buNone/>
            </a:pPr>
            <a:r>
              <a:rPr lang="en-US" sz="1150" dirty="0">
                <a:solidFill>
                  <a:srgbClr val="FFFFFF"/>
                </a:solidFill>
                <a:latin typeface="Calibri" pitchFamily="34" charset="0"/>
                <a:ea typeface="Calibri" pitchFamily="34" charset="-122"/>
                <a:cs typeface="Calibri" pitchFamily="34" charset="-120"/>
              </a:rPr>
              <a:t>Doran's framework note:  classification and priority are related but distinct — a project can be strategic yet low priority this quarter if budget is constrained.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15</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5 · SELECTING PROJECTS</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Project Selection Criteria</a:t>
            </a:r>
            <a:endParaRPr lang="en-US" sz="2700" dirty="0"/>
          </a:p>
        </p:txBody>
      </p:sp>
      <p:sp>
        <p:nvSpPr>
          <p:cNvPr id="36" name="Text 33"/>
          <p:cNvSpPr txBox="1"/>
          <p:nvPr/>
        </p:nvSpPr>
        <p:spPr>
          <a:xfrm>
            <a:off x="777240" y="2514600"/>
            <a:ext cx="5303520" cy="2377440"/>
          </a:xfrm>
          <a:prstGeom prst="rect">
            <a:avLst/>
          </a:prstGeom>
          <a:noFill/>
          <a:ln/>
        </p:spPr>
        <p:txBody>
          <a:bodyPr wrap="square" lIns="0" tIns="0" rIns="0" bIns="0" rtlCol="0" anchor="ctr"/>
          <a:lstStyle/>
          <a:p>
            <a:pPr marL="228600" indent="-228600">
              <a:lnSpc>
                <a:spcPct val="118000"/>
              </a:lnSpc>
              <a:spcAft>
                <a:spcPts val="1000"/>
              </a:spcAft>
              <a:buSzPct val="100000"/>
              <a:buChar char="•"/>
            </a:pPr>
            <a:r>
              <a:rPr lang="en-US" sz="1400" dirty="0">
                <a:solidFill>
                  <a:srgbClr val="0B2C5D"/>
                </a:solidFill>
                <a:latin typeface="Calibri" pitchFamily="34" charset="0"/>
                <a:ea typeface="Calibri" pitchFamily="34" charset="-122"/>
                <a:cs typeface="Calibri" pitchFamily="34" charset="-120"/>
              </a:rPr>
              <a:t>Selection criteria translate strategy into a repeatable, defensible decision process.</a:t>
            </a:r>
            <a:endParaRPr lang="en-US" sz="1400" dirty="0"/>
          </a:p>
          <a:p>
            <a:pPr marL="228600" indent="-228600">
              <a:lnSpc>
                <a:spcPct val="118000"/>
              </a:lnSpc>
              <a:spcAft>
                <a:spcPts val="1000"/>
              </a:spcAft>
              <a:buSzPct val="100000"/>
              <a:buChar char="•"/>
            </a:pPr>
            <a:r>
              <a:rPr lang="en-US" sz="1400" dirty="0">
                <a:solidFill>
                  <a:srgbClr val="0B2C5D"/>
                </a:solidFill>
                <a:latin typeface="Calibri" pitchFamily="34" charset="0"/>
                <a:ea typeface="Calibri" pitchFamily="34" charset="-122"/>
                <a:cs typeface="Calibri" pitchFamily="34" charset="-120"/>
              </a:rPr>
              <a:t>Good criteria are limited in number, measurable, and weighted by strategic importance.</a:t>
            </a:r>
            <a:endParaRPr lang="en-US" sz="1400" dirty="0"/>
          </a:p>
          <a:p>
            <a:pPr marL="228600" indent="-228600">
              <a:lnSpc>
                <a:spcPct val="118000"/>
              </a:lnSpc>
              <a:spcAft>
                <a:spcPts val="1000"/>
              </a:spcAft>
              <a:buSzPct val="100000"/>
              <a:buChar char="•"/>
            </a:pPr>
            <a:r>
              <a:rPr lang="en-US" sz="1400" dirty="0">
                <a:solidFill>
                  <a:srgbClr val="0B2C5D"/>
                </a:solidFill>
                <a:latin typeface="Calibri" pitchFamily="34" charset="0"/>
                <a:ea typeface="Calibri" pitchFamily="34" charset="-122"/>
                <a:cs typeface="Calibri" pitchFamily="34" charset="-120"/>
              </a:rPr>
              <a:t>Two common models: the checklist model and the weighted-scoring (multi-criteria) model.</a:t>
            </a:r>
            <a:endParaRPr lang="en-US" sz="1400" dirty="0"/>
          </a:p>
        </p:txBody>
      </p:sp>
      <p:sp>
        <p:nvSpPr>
          <p:cNvPr id="37" name="Shape 34"/>
          <p:cNvSpPr/>
          <p:nvPr/>
        </p:nvSpPr>
        <p:spPr>
          <a:xfrm>
            <a:off x="777240" y="4892040"/>
            <a:ext cx="457200" cy="457200"/>
          </a:xfrm>
          <a:prstGeom prst="ellipse">
            <a:avLst/>
          </a:prstGeom>
          <a:solidFill>
            <a:srgbClr val="1CACBD"/>
          </a:solidFill>
          <a:ln/>
        </p:spPr>
      </p:sp>
      <p:pic>
        <p:nvPicPr>
          <p:cNvPr id="38" name="Image 1" descr="/home/claude/work/build/icons/dollar.png">    </p:cNvPr>
          <p:cNvPicPr>
            <a:picLocks noChangeAspect="1"/>
          </p:cNvPicPr>
          <p:nvPr/>
        </p:nvPicPr>
        <p:blipFill>
          <a:blip r:embed="rId3"/>
          <a:stretch>
            <a:fillRect/>
          </a:stretch>
        </p:blipFill>
        <p:spPr>
          <a:xfrm>
            <a:off x="891540" y="5006340"/>
            <a:ext cx="228600" cy="228600"/>
          </a:xfrm>
          <a:prstGeom prst="rect">
            <a:avLst/>
          </a:prstGeom>
        </p:spPr>
      </p:pic>
      <p:sp>
        <p:nvSpPr>
          <p:cNvPr id="39" name="Text 35"/>
          <p:cNvSpPr txBox="1"/>
          <p:nvPr/>
        </p:nvSpPr>
        <p:spPr>
          <a:xfrm>
            <a:off x="1344168" y="4937760"/>
            <a:ext cx="2011680" cy="365760"/>
          </a:xfrm>
          <a:prstGeom prst="rect">
            <a:avLst/>
          </a:prstGeom>
          <a:noFill/>
          <a:ln/>
        </p:spPr>
        <p:txBody>
          <a:bodyPr wrap="square" lIns="0" tIns="0" rIns="0" bIns="0" rtlCol="0" anchor="ctr"/>
          <a:lstStyle/>
          <a:p>
            <a:pPr indent="0" marL="0">
              <a:buNone/>
            </a:pPr>
            <a:r>
              <a:rPr lang="en-US" sz="1150" b="1" dirty="0">
                <a:solidFill>
                  <a:srgbClr val="0B2C5D"/>
                </a:solidFill>
                <a:latin typeface="Calibri" pitchFamily="34" charset="0"/>
                <a:ea typeface="Calibri" pitchFamily="34" charset="-122"/>
                <a:cs typeface="Calibri" pitchFamily="34" charset="-120"/>
              </a:rPr>
              <a:t>Financial</a:t>
            </a:r>
            <a:endParaRPr lang="en-US" sz="1150" dirty="0"/>
          </a:p>
        </p:txBody>
      </p:sp>
      <p:sp>
        <p:nvSpPr>
          <p:cNvPr id="40" name="Shape 36"/>
          <p:cNvSpPr/>
          <p:nvPr/>
        </p:nvSpPr>
        <p:spPr>
          <a:xfrm>
            <a:off x="3520440" y="4892040"/>
            <a:ext cx="457200" cy="457200"/>
          </a:xfrm>
          <a:prstGeom prst="ellipse">
            <a:avLst/>
          </a:prstGeom>
          <a:solidFill>
            <a:srgbClr val="FC7468"/>
          </a:solidFill>
          <a:ln/>
        </p:spPr>
      </p:sp>
      <p:pic>
        <p:nvPicPr>
          <p:cNvPr id="41" name="Image 2" descr="/home/claude/work/build/icons/users.png">    </p:cNvPr>
          <p:cNvPicPr>
            <a:picLocks noChangeAspect="1"/>
          </p:cNvPicPr>
          <p:nvPr/>
        </p:nvPicPr>
        <p:blipFill>
          <a:blip r:embed="rId4"/>
          <a:stretch>
            <a:fillRect/>
          </a:stretch>
        </p:blipFill>
        <p:spPr>
          <a:xfrm>
            <a:off x="3634740" y="5006340"/>
            <a:ext cx="228600" cy="228600"/>
          </a:xfrm>
          <a:prstGeom prst="rect">
            <a:avLst/>
          </a:prstGeom>
        </p:spPr>
      </p:pic>
      <p:sp>
        <p:nvSpPr>
          <p:cNvPr id="42" name="Text 37"/>
          <p:cNvSpPr txBox="1"/>
          <p:nvPr/>
        </p:nvSpPr>
        <p:spPr>
          <a:xfrm>
            <a:off x="4087368" y="4937760"/>
            <a:ext cx="2011680" cy="365760"/>
          </a:xfrm>
          <a:prstGeom prst="rect">
            <a:avLst/>
          </a:prstGeom>
          <a:noFill/>
          <a:ln/>
        </p:spPr>
        <p:txBody>
          <a:bodyPr wrap="square" lIns="0" tIns="0" rIns="0" bIns="0" rtlCol="0" anchor="ctr"/>
          <a:lstStyle/>
          <a:p>
            <a:pPr indent="0" marL="0">
              <a:buNone/>
            </a:pPr>
            <a:r>
              <a:rPr lang="en-US" sz="1150" b="1" dirty="0">
                <a:solidFill>
                  <a:srgbClr val="0B2C5D"/>
                </a:solidFill>
                <a:latin typeface="Calibri" pitchFamily="34" charset="0"/>
                <a:ea typeface="Calibri" pitchFamily="34" charset="-122"/>
                <a:cs typeface="Calibri" pitchFamily="34" charset="-120"/>
              </a:rPr>
              <a:t>Strategic fit</a:t>
            </a:r>
            <a:endParaRPr lang="en-US" sz="1150" dirty="0"/>
          </a:p>
        </p:txBody>
      </p:sp>
      <p:sp>
        <p:nvSpPr>
          <p:cNvPr id="43" name="Shape 38"/>
          <p:cNvSpPr/>
          <p:nvPr/>
        </p:nvSpPr>
        <p:spPr>
          <a:xfrm>
            <a:off x="777240" y="5669280"/>
            <a:ext cx="457200" cy="457200"/>
          </a:xfrm>
          <a:prstGeom prst="ellipse">
            <a:avLst/>
          </a:prstGeom>
          <a:solidFill>
            <a:srgbClr val="FBC850"/>
          </a:solidFill>
          <a:ln/>
        </p:spPr>
      </p:sp>
      <p:pic>
        <p:nvPicPr>
          <p:cNvPr id="44" name="Image 3" descr="/home/claude/work/build/icons/shield.png">    </p:cNvPr>
          <p:cNvPicPr>
            <a:picLocks noChangeAspect="1"/>
          </p:cNvPicPr>
          <p:nvPr/>
        </p:nvPicPr>
        <p:blipFill>
          <a:blip r:embed="rId5"/>
          <a:stretch>
            <a:fillRect/>
          </a:stretch>
        </p:blipFill>
        <p:spPr>
          <a:xfrm>
            <a:off x="891540" y="5783580"/>
            <a:ext cx="228600" cy="228600"/>
          </a:xfrm>
          <a:prstGeom prst="rect">
            <a:avLst/>
          </a:prstGeom>
        </p:spPr>
      </p:pic>
      <p:sp>
        <p:nvSpPr>
          <p:cNvPr id="45" name="Text 39"/>
          <p:cNvSpPr txBox="1"/>
          <p:nvPr/>
        </p:nvSpPr>
        <p:spPr>
          <a:xfrm>
            <a:off x="1344168" y="5715000"/>
            <a:ext cx="2011680" cy="365760"/>
          </a:xfrm>
          <a:prstGeom prst="rect">
            <a:avLst/>
          </a:prstGeom>
          <a:noFill/>
          <a:ln/>
        </p:spPr>
        <p:txBody>
          <a:bodyPr wrap="square" lIns="0" tIns="0" rIns="0" bIns="0" rtlCol="0" anchor="ctr"/>
          <a:lstStyle/>
          <a:p>
            <a:pPr indent="0" marL="0">
              <a:buNone/>
            </a:pPr>
            <a:r>
              <a:rPr lang="en-US" sz="1150" b="1" dirty="0">
                <a:solidFill>
                  <a:srgbClr val="0B2C5D"/>
                </a:solidFill>
                <a:latin typeface="Calibri" pitchFamily="34" charset="0"/>
                <a:ea typeface="Calibri" pitchFamily="34" charset="-122"/>
                <a:cs typeface="Calibri" pitchFamily="34" charset="-120"/>
              </a:rPr>
              <a:t>Risk</a:t>
            </a:r>
            <a:endParaRPr lang="en-US" sz="1150" dirty="0"/>
          </a:p>
        </p:txBody>
      </p:sp>
      <p:sp>
        <p:nvSpPr>
          <p:cNvPr id="46" name="Shape 40"/>
          <p:cNvSpPr/>
          <p:nvPr/>
        </p:nvSpPr>
        <p:spPr>
          <a:xfrm>
            <a:off x="3520440" y="5669280"/>
            <a:ext cx="457200" cy="457200"/>
          </a:xfrm>
          <a:prstGeom prst="ellipse">
            <a:avLst/>
          </a:prstGeom>
          <a:solidFill>
            <a:srgbClr val="E7E1D3"/>
          </a:solidFill>
          <a:ln/>
        </p:spPr>
      </p:sp>
      <p:pic>
        <p:nvPicPr>
          <p:cNvPr id="47" name="Image 4" descr="/home/claude/work/build/icons/layers.png">    </p:cNvPr>
          <p:cNvPicPr>
            <a:picLocks noChangeAspect="1"/>
          </p:cNvPicPr>
          <p:nvPr/>
        </p:nvPicPr>
        <p:blipFill>
          <a:blip r:embed="rId6"/>
          <a:stretch>
            <a:fillRect/>
          </a:stretch>
        </p:blipFill>
        <p:spPr>
          <a:xfrm>
            <a:off x="3634740" y="5783580"/>
            <a:ext cx="228600" cy="228600"/>
          </a:xfrm>
          <a:prstGeom prst="rect">
            <a:avLst/>
          </a:prstGeom>
        </p:spPr>
      </p:pic>
      <p:sp>
        <p:nvSpPr>
          <p:cNvPr id="48" name="Text 41"/>
          <p:cNvSpPr txBox="1"/>
          <p:nvPr/>
        </p:nvSpPr>
        <p:spPr>
          <a:xfrm>
            <a:off x="4087368" y="5715000"/>
            <a:ext cx="2011680" cy="365760"/>
          </a:xfrm>
          <a:prstGeom prst="rect">
            <a:avLst/>
          </a:prstGeom>
          <a:noFill/>
          <a:ln/>
        </p:spPr>
        <p:txBody>
          <a:bodyPr wrap="square" lIns="0" tIns="0" rIns="0" bIns="0" rtlCol="0" anchor="ctr"/>
          <a:lstStyle/>
          <a:p>
            <a:pPr indent="0" marL="0">
              <a:buNone/>
            </a:pPr>
            <a:r>
              <a:rPr lang="en-US" sz="1150" b="1" dirty="0">
                <a:solidFill>
                  <a:srgbClr val="0B2C5D"/>
                </a:solidFill>
                <a:latin typeface="Calibri" pitchFamily="34" charset="0"/>
                <a:ea typeface="Calibri" pitchFamily="34" charset="-122"/>
                <a:cs typeface="Calibri" pitchFamily="34" charset="-120"/>
              </a:rPr>
              <a:t>Capability</a:t>
            </a:r>
            <a:endParaRPr lang="en-US" sz="1150" dirty="0"/>
          </a:p>
        </p:txBody>
      </p:sp>
      <p:sp>
        <p:nvSpPr>
          <p:cNvPr id="49" name="Shape 42"/>
          <p:cNvSpPr/>
          <p:nvPr/>
        </p:nvSpPr>
        <p:spPr>
          <a:xfrm>
            <a:off x="6309360" y="2514600"/>
            <a:ext cx="5577840" cy="3657600"/>
          </a:xfrm>
          <a:prstGeom prst="roundRect">
            <a:avLst>
              <a:gd name="adj" fmla="val 2500"/>
            </a:avLst>
          </a:prstGeom>
          <a:solidFill>
            <a:srgbClr val="0B2C5D"/>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50" name="Text 43"/>
          <p:cNvSpPr txBox="1"/>
          <p:nvPr/>
        </p:nvSpPr>
        <p:spPr>
          <a:xfrm>
            <a:off x="6537960" y="2724912"/>
            <a:ext cx="5120640" cy="274320"/>
          </a:xfrm>
          <a:prstGeom prst="rect">
            <a:avLst/>
          </a:prstGeom>
          <a:noFill/>
          <a:ln/>
        </p:spPr>
        <p:txBody>
          <a:bodyPr wrap="square" lIns="0" tIns="0" rIns="0" bIns="0" rtlCol="0" anchor="ctr"/>
          <a:lstStyle/>
          <a:p>
            <a:pPr indent="0" marL="0">
              <a:buNone/>
            </a:pPr>
            <a:r>
              <a:rPr lang="en-US" sz="1050" b="1" spc="100" kern="0" dirty="0">
                <a:solidFill>
                  <a:srgbClr val="FBC850"/>
                </a:solidFill>
                <a:latin typeface="Calibri" pitchFamily="34" charset="0"/>
                <a:ea typeface="Calibri" pitchFamily="34" charset="-122"/>
                <a:cs typeface="Calibri" pitchFamily="34" charset="-120"/>
              </a:rPr>
              <a:t>FOUR CRITERIA FAMILIES</a:t>
            </a:r>
            <a:endParaRPr lang="en-US" sz="1050" dirty="0"/>
          </a:p>
        </p:txBody>
      </p:sp>
      <p:sp>
        <p:nvSpPr>
          <p:cNvPr id="51" name="Text 44"/>
          <p:cNvSpPr txBox="1"/>
          <p:nvPr/>
        </p:nvSpPr>
        <p:spPr>
          <a:xfrm>
            <a:off x="6537960" y="3035808"/>
            <a:ext cx="5120640" cy="658368"/>
          </a:xfrm>
          <a:prstGeom prst="rect">
            <a:avLst/>
          </a:prstGeom>
          <a:noFill/>
          <a:ln/>
        </p:spPr>
        <p:txBody>
          <a:bodyPr wrap="square" lIns="0" tIns="0" rIns="0" bIns="0" rtlCol="0" anchor="ctr"/>
          <a:lstStyle/>
          <a:p>
            <a:pPr indent="0" marL="0">
              <a:lnSpc>
                <a:spcPct val="120000"/>
              </a:lnSpc>
              <a:buNone/>
            </a:pPr>
            <a:r>
              <a:rPr lang="en-US" sz="1000" i="1" dirty="0">
                <a:solidFill>
                  <a:srgbClr val="C9D8EC"/>
                </a:solidFill>
                <a:latin typeface="Calibri" pitchFamily="34" charset="0"/>
                <a:ea typeface="Calibri" pitchFamily="34" charset="-122"/>
                <a:cs typeface="Calibri" pitchFamily="34" charset="-120"/>
              </a:rPr>
              <a:t>Great selection criteria almost always sample from all four families below — never financial return alone. Real-world parallel: Google explicitly scores project reviews on OKR alignment alongside projected ROI.</a:t>
            </a:r>
            <a:endParaRPr lang="en-US" sz="1000" dirty="0"/>
          </a:p>
        </p:txBody>
      </p:sp>
      <p:sp>
        <p:nvSpPr>
          <p:cNvPr id="52" name="Shape 45"/>
          <p:cNvSpPr/>
          <p:nvPr/>
        </p:nvSpPr>
        <p:spPr>
          <a:xfrm>
            <a:off x="6537960" y="3849624"/>
            <a:ext cx="109728" cy="109728"/>
          </a:xfrm>
          <a:prstGeom prst="ellipse">
            <a:avLst/>
          </a:prstGeom>
          <a:solidFill>
            <a:srgbClr val="1CACBD"/>
          </a:solidFill>
          <a:ln/>
        </p:spPr>
      </p:sp>
      <p:sp>
        <p:nvSpPr>
          <p:cNvPr id="53" name="Text 46"/>
          <p:cNvSpPr txBox="1"/>
          <p:nvPr/>
        </p:nvSpPr>
        <p:spPr>
          <a:xfrm>
            <a:off x="6766560" y="3794760"/>
            <a:ext cx="1737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Financial:</a:t>
            </a:r>
            <a:endParaRPr lang="en-US" sz="1100" dirty="0"/>
          </a:p>
        </p:txBody>
      </p:sp>
      <p:sp>
        <p:nvSpPr>
          <p:cNvPr id="54" name="Text 47"/>
          <p:cNvSpPr txBox="1"/>
          <p:nvPr/>
        </p:nvSpPr>
        <p:spPr>
          <a:xfrm>
            <a:off x="6766560" y="4041648"/>
            <a:ext cx="4023360" cy="274320"/>
          </a:xfrm>
          <a:prstGeom prst="rect">
            <a:avLst/>
          </a:prstGeom>
          <a:noFill/>
          <a:ln/>
        </p:spPr>
        <p:txBody>
          <a:bodyPr wrap="square" lIns="0" tIns="0" rIns="0" bIns="0" rtlCol="0" anchor="ctr"/>
          <a:lstStyle/>
          <a:p>
            <a:pPr indent="0" marL="0">
              <a:buNone/>
            </a:pPr>
            <a:r>
              <a:rPr lang="en-US" sz="950" dirty="0">
                <a:solidFill>
                  <a:srgbClr val="9FB3CC"/>
                </a:solidFill>
                <a:latin typeface="Calibri" pitchFamily="34" charset="0"/>
                <a:ea typeface="Calibri" pitchFamily="34" charset="-122"/>
                <a:cs typeface="Calibri" pitchFamily="34" charset="-120"/>
              </a:rPr>
              <a:t>ROI, payback period, NPV</a:t>
            </a:r>
            <a:endParaRPr lang="en-US" sz="950" dirty="0"/>
          </a:p>
        </p:txBody>
      </p:sp>
      <p:sp>
        <p:nvSpPr>
          <p:cNvPr id="55" name="Shape 48"/>
          <p:cNvSpPr/>
          <p:nvPr/>
        </p:nvSpPr>
        <p:spPr>
          <a:xfrm>
            <a:off x="6537960" y="4416552"/>
            <a:ext cx="109728" cy="109728"/>
          </a:xfrm>
          <a:prstGeom prst="ellipse">
            <a:avLst/>
          </a:prstGeom>
          <a:solidFill>
            <a:srgbClr val="FC7468"/>
          </a:solidFill>
          <a:ln/>
        </p:spPr>
      </p:sp>
      <p:sp>
        <p:nvSpPr>
          <p:cNvPr id="56" name="Text 49"/>
          <p:cNvSpPr txBox="1"/>
          <p:nvPr/>
        </p:nvSpPr>
        <p:spPr>
          <a:xfrm>
            <a:off x="6766560" y="4361688"/>
            <a:ext cx="1737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Strategic fit:</a:t>
            </a:r>
            <a:endParaRPr lang="en-US" sz="1100" dirty="0"/>
          </a:p>
        </p:txBody>
      </p:sp>
      <p:sp>
        <p:nvSpPr>
          <p:cNvPr id="57" name="Text 50"/>
          <p:cNvSpPr txBox="1"/>
          <p:nvPr/>
        </p:nvSpPr>
        <p:spPr>
          <a:xfrm>
            <a:off x="6766560" y="4608576"/>
            <a:ext cx="4023360" cy="274320"/>
          </a:xfrm>
          <a:prstGeom prst="rect">
            <a:avLst/>
          </a:prstGeom>
          <a:noFill/>
          <a:ln/>
        </p:spPr>
        <p:txBody>
          <a:bodyPr wrap="square" lIns="0" tIns="0" rIns="0" bIns="0" rtlCol="0" anchor="ctr"/>
          <a:lstStyle/>
          <a:p>
            <a:pPr indent="0" marL="0">
              <a:buNone/>
            </a:pPr>
            <a:r>
              <a:rPr lang="en-US" sz="950" dirty="0">
                <a:solidFill>
                  <a:srgbClr val="9FB3CC"/>
                </a:solidFill>
                <a:latin typeface="Calibri" pitchFamily="34" charset="0"/>
                <a:ea typeface="Calibri" pitchFamily="34" charset="-122"/>
                <a:cs typeface="Calibri" pitchFamily="34" charset="-120"/>
              </a:rPr>
              <a:t>Alignment to mission &amp; objectives</a:t>
            </a:r>
            <a:endParaRPr lang="en-US" sz="950" dirty="0"/>
          </a:p>
        </p:txBody>
      </p:sp>
      <p:sp>
        <p:nvSpPr>
          <p:cNvPr id="58" name="Shape 51"/>
          <p:cNvSpPr/>
          <p:nvPr/>
        </p:nvSpPr>
        <p:spPr>
          <a:xfrm>
            <a:off x="6537960" y="4983480"/>
            <a:ext cx="109728" cy="109728"/>
          </a:xfrm>
          <a:prstGeom prst="ellipse">
            <a:avLst/>
          </a:prstGeom>
          <a:solidFill>
            <a:srgbClr val="FBC850"/>
          </a:solidFill>
          <a:ln/>
        </p:spPr>
      </p:sp>
      <p:sp>
        <p:nvSpPr>
          <p:cNvPr id="59" name="Text 52"/>
          <p:cNvSpPr txBox="1"/>
          <p:nvPr/>
        </p:nvSpPr>
        <p:spPr>
          <a:xfrm>
            <a:off x="6766560" y="4928616"/>
            <a:ext cx="1737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Risk:</a:t>
            </a:r>
            <a:endParaRPr lang="en-US" sz="1100" dirty="0"/>
          </a:p>
        </p:txBody>
      </p:sp>
      <p:sp>
        <p:nvSpPr>
          <p:cNvPr id="60" name="Text 53"/>
          <p:cNvSpPr txBox="1"/>
          <p:nvPr/>
        </p:nvSpPr>
        <p:spPr>
          <a:xfrm>
            <a:off x="6766560" y="5175504"/>
            <a:ext cx="4023360" cy="274320"/>
          </a:xfrm>
          <a:prstGeom prst="rect">
            <a:avLst/>
          </a:prstGeom>
          <a:noFill/>
          <a:ln/>
        </p:spPr>
        <p:txBody>
          <a:bodyPr wrap="square" lIns="0" tIns="0" rIns="0" bIns="0" rtlCol="0" anchor="ctr"/>
          <a:lstStyle/>
          <a:p>
            <a:pPr indent="0" marL="0">
              <a:buNone/>
            </a:pPr>
            <a:r>
              <a:rPr lang="en-US" sz="950" dirty="0">
                <a:solidFill>
                  <a:srgbClr val="9FB3CC"/>
                </a:solidFill>
                <a:latin typeface="Calibri" pitchFamily="34" charset="0"/>
                <a:ea typeface="Calibri" pitchFamily="34" charset="-122"/>
                <a:cs typeface="Calibri" pitchFamily="34" charset="-120"/>
              </a:rPr>
              <a:t>Technical, market, and execution risk</a:t>
            </a:r>
            <a:endParaRPr lang="en-US" sz="950" dirty="0"/>
          </a:p>
        </p:txBody>
      </p:sp>
      <p:sp>
        <p:nvSpPr>
          <p:cNvPr id="61" name="Shape 54"/>
          <p:cNvSpPr/>
          <p:nvPr/>
        </p:nvSpPr>
        <p:spPr>
          <a:xfrm>
            <a:off x="6537960" y="5550408"/>
            <a:ext cx="109728" cy="109728"/>
          </a:xfrm>
          <a:prstGeom prst="ellipse">
            <a:avLst/>
          </a:prstGeom>
          <a:solidFill>
            <a:srgbClr val="9FB3CC"/>
          </a:solidFill>
          <a:ln/>
        </p:spPr>
      </p:sp>
      <p:sp>
        <p:nvSpPr>
          <p:cNvPr id="62" name="Text 55"/>
          <p:cNvSpPr txBox="1"/>
          <p:nvPr/>
        </p:nvSpPr>
        <p:spPr>
          <a:xfrm>
            <a:off x="6766560" y="5495544"/>
            <a:ext cx="1737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Capability:</a:t>
            </a:r>
            <a:endParaRPr lang="en-US" sz="1100" dirty="0"/>
          </a:p>
        </p:txBody>
      </p:sp>
      <p:sp>
        <p:nvSpPr>
          <p:cNvPr id="63" name="Text 56"/>
          <p:cNvSpPr txBox="1"/>
          <p:nvPr/>
        </p:nvSpPr>
        <p:spPr>
          <a:xfrm>
            <a:off x="6766560" y="5742432"/>
            <a:ext cx="4023360" cy="274320"/>
          </a:xfrm>
          <a:prstGeom prst="rect">
            <a:avLst/>
          </a:prstGeom>
          <a:noFill/>
          <a:ln/>
        </p:spPr>
        <p:txBody>
          <a:bodyPr wrap="square" lIns="0" tIns="0" rIns="0" bIns="0" rtlCol="0" anchor="ctr"/>
          <a:lstStyle/>
          <a:p>
            <a:pPr indent="0" marL="0">
              <a:buNone/>
            </a:pPr>
            <a:r>
              <a:rPr lang="en-US" sz="950" dirty="0">
                <a:solidFill>
                  <a:srgbClr val="9FB3CC"/>
                </a:solidFill>
                <a:latin typeface="Calibri" pitchFamily="34" charset="0"/>
                <a:ea typeface="Calibri" pitchFamily="34" charset="-122"/>
                <a:cs typeface="Calibri" pitchFamily="34" charset="-120"/>
              </a:rPr>
              <a:t>Team skill and capacity available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16</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5 · SELECTING PROJECTS</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Checklist Model vs. Weighted Scoring Model</a:t>
            </a:r>
            <a:endParaRPr lang="en-US" sz="2700" dirty="0"/>
          </a:p>
        </p:txBody>
      </p:sp>
      <p:sp>
        <p:nvSpPr>
          <p:cNvPr id="36" name="Shape 33"/>
          <p:cNvSpPr/>
          <p:nvPr/>
        </p:nvSpPr>
        <p:spPr>
          <a:xfrm>
            <a:off x="777240" y="2514600"/>
            <a:ext cx="5166360" cy="3017520"/>
          </a:xfrm>
          <a:prstGeom prst="roundRect">
            <a:avLst>
              <a:gd name="adj" fmla="val 3030"/>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37" name="Shape 34"/>
          <p:cNvSpPr/>
          <p:nvPr/>
        </p:nvSpPr>
        <p:spPr>
          <a:xfrm>
            <a:off x="777240" y="2514600"/>
            <a:ext cx="5166360" cy="457200"/>
          </a:xfrm>
          <a:prstGeom prst="rect">
            <a:avLst/>
          </a:prstGeom>
          <a:solidFill>
            <a:srgbClr val="1CACBD"/>
          </a:solidFill>
          <a:ln/>
        </p:spPr>
      </p:sp>
      <p:sp>
        <p:nvSpPr>
          <p:cNvPr id="38" name="Text 35"/>
          <p:cNvSpPr txBox="1"/>
          <p:nvPr/>
        </p:nvSpPr>
        <p:spPr>
          <a:xfrm>
            <a:off x="777240" y="2514600"/>
            <a:ext cx="51663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Checklist Model</a:t>
            </a:r>
            <a:endParaRPr lang="en-US" sz="1400" dirty="0"/>
          </a:p>
        </p:txBody>
      </p:sp>
      <p:sp>
        <p:nvSpPr>
          <p:cNvPr id="39" name="Text 36"/>
          <p:cNvSpPr txBox="1"/>
          <p:nvPr/>
        </p:nvSpPr>
        <p:spPr>
          <a:xfrm>
            <a:off x="1051560" y="3136392"/>
            <a:ext cx="4617720" cy="219456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150" dirty="0">
                <a:solidFill>
                  <a:srgbClr val="0B2C5D"/>
                </a:solidFill>
                <a:latin typeface="Calibri" pitchFamily="34" charset="0"/>
                <a:ea typeface="Calibri" pitchFamily="34" charset="-122"/>
                <a:cs typeface="Calibri" pitchFamily="34" charset="-120"/>
              </a:rPr>
              <a:t>Simple yes/no or pass/fail criteria list</a:t>
            </a:r>
            <a:endParaRPr lang="en-US" sz="1150" dirty="0"/>
          </a:p>
          <a:p>
            <a:pPr marL="342900" indent="-342900">
              <a:lnSpc>
                <a:spcPct val="120000"/>
              </a:lnSpc>
              <a:spcAft>
                <a:spcPts val="1000"/>
              </a:spcAft>
              <a:buSzPct val="100000"/>
              <a:buChar char="•"/>
            </a:pPr>
            <a:r>
              <a:rPr lang="en-US" sz="1150" dirty="0">
                <a:solidFill>
                  <a:srgbClr val="0B2C5D"/>
                </a:solidFill>
                <a:latin typeface="Calibri" pitchFamily="34" charset="0"/>
                <a:ea typeface="Calibri" pitchFamily="34" charset="-122"/>
                <a:cs typeface="Calibri" pitchFamily="34" charset="-120"/>
              </a:rPr>
              <a:t>Fast, easy to communicate</a:t>
            </a:r>
            <a:endParaRPr lang="en-US" sz="1150" dirty="0"/>
          </a:p>
          <a:p>
            <a:pPr marL="342900" indent="-342900">
              <a:lnSpc>
                <a:spcPct val="120000"/>
              </a:lnSpc>
              <a:spcAft>
                <a:spcPts val="1000"/>
              </a:spcAft>
              <a:buSzPct val="100000"/>
              <a:buChar char="•"/>
            </a:pPr>
            <a:r>
              <a:rPr lang="en-US" sz="1150" dirty="0">
                <a:solidFill>
                  <a:srgbClr val="0B2C5D"/>
                </a:solidFill>
                <a:latin typeface="Calibri" pitchFamily="34" charset="0"/>
                <a:ea typeface="Calibri" pitchFamily="34" charset="-122"/>
                <a:cs typeface="Calibri" pitchFamily="34" charset="-120"/>
              </a:rPr>
              <a:t>No sense of relative importance</a:t>
            </a:r>
            <a:endParaRPr lang="en-US" sz="1150" dirty="0"/>
          </a:p>
          <a:p>
            <a:pPr marL="342900" indent="-342900">
              <a:lnSpc>
                <a:spcPct val="120000"/>
              </a:lnSpc>
              <a:spcAft>
                <a:spcPts val="1000"/>
              </a:spcAft>
              <a:buSzPct val="100000"/>
              <a:buChar char="•"/>
            </a:pPr>
            <a:r>
              <a:rPr lang="en-US" sz="1150" dirty="0">
                <a:solidFill>
                  <a:srgbClr val="0B2C5D"/>
                </a:solidFill>
                <a:latin typeface="Calibri" pitchFamily="34" charset="0"/>
                <a:ea typeface="Calibri" pitchFamily="34" charset="-122"/>
                <a:cs typeface="Calibri" pitchFamily="34" charset="-120"/>
              </a:rPr>
              <a:t>Can't compare two “passing” projects</a:t>
            </a:r>
            <a:endParaRPr lang="en-US" sz="1150" dirty="0"/>
          </a:p>
        </p:txBody>
      </p:sp>
      <p:sp>
        <p:nvSpPr>
          <p:cNvPr id="40" name="Shape 37"/>
          <p:cNvSpPr/>
          <p:nvPr/>
        </p:nvSpPr>
        <p:spPr>
          <a:xfrm>
            <a:off x="6217920" y="2514600"/>
            <a:ext cx="5166360" cy="3017520"/>
          </a:xfrm>
          <a:prstGeom prst="roundRect">
            <a:avLst>
              <a:gd name="adj" fmla="val 3030"/>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41" name="Shape 38"/>
          <p:cNvSpPr/>
          <p:nvPr/>
        </p:nvSpPr>
        <p:spPr>
          <a:xfrm>
            <a:off x="6217920" y="2514600"/>
            <a:ext cx="5166360" cy="457200"/>
          </a:xfrm>
          <a:prstGeom prst="rect">
            <a:avLst/>
          </a:prstGeom>
          <a:solidFill>
            <a:srgbClr val="FC7468"/>
          </a:solidFill>
          <a:ln/>
        </p:spPr>
      </p:sp>
      <p:sp>
        <p:nvSpPr>
          <p:cNvPr id="42" name="Text 39"/>
          <p:cNvSpPr txBox="1"/>
          <p:nvPr/>
        </p:nvSpPr>
        <p:spPr>
          <a:xfrm>
            <a:off x="6217920" y="2514600"/>
            <a:ext cx="51663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Weighted Scoring Model</a:t>
            </a:r>
            <a:endParaRPr lang="en-US" sz="1400" dirty="0"/>
          </a:p>
        </p:txBody>
      </p:sp>
      <p:sp>
        <p:nvSpPr>
          <p:cNvPr id="43" name="Text 40"/>
          <p:cNvSpPr txBox="1"/>
          <p:nvPr/>
        </p:nvSpPr>
        <p:spPr>
          <a:xfrm>
            <a:off x="6492240" y="3136392"/>
            <a:ext cx="4617720" cy="219456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150" dirty="0">
                <a:solidFill>
                  <a:srgbClr val="0B2C5D"/>
                </a:solidFill>
                <a:latin typeface="Calibri" pitchFamily="34" charset="0"/>
                <a:ea typeface="Calibri" pitchFamily="34" charset="-122"/>
                <a:cs typeface="Calibri" pitchFamily="34" charset="-120"/>
              </a:rPr>
              <a:t>Criteria weighted by strategic importance</a:t>
            </a:r>
            <a:endParaRPr lang="en-US" sz="1150" dirty="0"/>
          </a:p>
          <a:p>
            <a:pPr marL="342900" indent="-342900">
              <a:lnSpc>
                <a:spcPct val="120000"/>
              </a:lnSpc>
              <a:spcAft>
                <a:spcPts val="1000"/>
              </a:spcAft>
              <a:buSzPct val="100000"/>
              <a:buChar char="•"/>
            </a:pPr>
            <a:r>
              <a:rPr lang="en-US" sz="1150" dirty="0">
                <a:solidFill>
                  <a:srgbClr val="0B2C5D"/>
                </a:solidFill>
                <a:latin typeface="Calibri" pitchFamily="34" charset="0"/>
                <a:ea typeface="Calibri" pitchFamily="34" charset="-122"/>
                <a:cs typeface="Calibri" pitchFamily="34" charset="-120"/>
              </a:rPr>
              <a:t>Produces a ranked, numeric score</a:t>
            </a:r>
            <a:endParaRPr lang="en-US" sz="1150" dirty="0"/>
          </a:p>
          <a:p>
            <a:pPr marL="342900" indent="-342900">
              <a:lnSpc>
                <a:spcPct val="120000"/>
              </a:lnSpc>
              <a:spcAft>
                <a:spcPts val="1000"/>
              </a:spcAft>
              <a:buSzPct val="100000"/>
              <a:buChar char="•"/>
            </a:pPr>
            <a:r>
              <a:rPr lang="en-US" sz="1150" dirty="0">
                <a:solidFill>
                  <a:srgbClr val="0B2C5D"/>
                </a:solidFill>
                <a:latin typeface="Calibri" pitchFamily="34" charset="0"/>
                <a:ea typeface="Calibri" pitchFamily="34" charset="-122"/>
                <a:cs typeface="Calibri" pitchFamily="34" charset="-120"/>
              </a:rPr>
              <a:t>Forces explicit trade-off discussion</a:t>
            </a:r>
            <a:endParaRPr lang="en-US" sz="1150" dirty="0"/>
          </a:p>
          <a:p>
            <a:pPr marL="342900" indent="-342900">
              <a:lnSpc>
                <a:spcPct val="120000"/>
              </a:lnSpc>
              <a:spcAft>
                <a:spcPts val="1000"/>
              </a:spcAft>
              <a:buSzPct val="100000"/>
              <a:buChar char="•"/>
            </a:pPr>
            <a:r>
              <a:rPr lang="en-US" sz="1150" dirty="0">
                <a:solidFill>
                  <a:srgbClr val="0B2C5D"/>
                </a:solidFill>
                <a:latin typeface="Calibri" pitchFamily="34" charset="0"/>
                <a:ea typeface="Calibri" pitchFamily="34" charset="-122"/>
                <a:cs typeface="Calibri" pitchFamily="34" charset="-120"/>
              </a:rPr>
              <a:t>Takes more effort to set up and calibrate</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77240" y="5669280"/>
          <a:ext cx="10607040" cy="777240"/>
        </p:xfrm>
        <a:graphic>
          <a:graphicData uri="http://schemas.openxmlformats.org/drawingml/2006/table">
            <a:tbl>
              <a:tblPr/>
              <a:tblGrid>
                <a:gridCol w="2377440"/>
                <a:gridCol w="4114800"/>
                <a:gridCol w="4114800"/>
              </a:tblGrid>
              <a:tr h="259080">
                <a:tc>
                  <a:txBody>
                    <a:bodyPr/>
                    <a:lstStyle/>
                    <a:p>
                      <a:pPr indent="0" marL="0">
                        <a:buNone/>
                      </a:pPr>
                      <a:endParaRPr lang="en-US" sz="1200" dirty="0"/>
                    </a:p>
                  </a:txBody>
                  <a:tcPr marL="76200" marR="76200" marT="38100" marB="381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FDFAF3"/>
                    </a:solidFill>
                  </a:tcPr>
                </a:tc>
                <a:tc>
                  <a:txBody>
                    <a:bodyPr/>
                    <a:lstStyle/>
                    <a:p>
                      <a:pPr algn="ctr" indent="0" marL="0">
                        <a:buNone/>
                      </a:pPr>
                      <a:r>
                        <a:rPr lang="en-US" sz="1000" b="1" dirty="0">
                          <a:solidFill>
                            <a:srgbClr val="0B2C5D"/>
                          </a:solidFill>
                        </a:rPr>
                        <a:t>Checklist Model</a:t>
                      </a:r>
                      <a:endParaRPr lang="en-US" sz="1000" dirty="0"/>
                    </a:p>
                  </a:txBody>
                  <a:tcPr marL="76200" marR="76200" marT="38100" marB="381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DCF3F2"/>
                    </a:solidFill>
                  </a:tcPr>
                </a:tc>
                <a:tc>
                  <a:txBody>
                    <a:bodyPr/>
                    <a:lstStyle/>
                    <a:p>
                      <a:pPr algn="ctr" indent="0" marL="0">
                        <a:buNone/>
                      </a:pPr>
                      <a:r>
                        <a:rPr lang="en-US" sz="1000" b="1" dirty="0">
                          <a:solidFill>
                            <a:srgbClr val="0B2C5D"/>
                          </a:solidFill>
                        </a:rPr>
                        <a:t>Weighted Scoring Model</a:t>
                      </a:r>
                      <a:endParaRPr lang="en-US" sz="1000" dirty="0"/>
                    </a:p>
                  </a:txBody>
                  <a:tcPr marL="76200" marR="76200" marT="38100" marB="381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FDE4E1"/>
                    </a:solidFill>
                  </a:tcPr>
                </a:tc>
              </a:tr>
              <a:tr h="259080">
                <a:tc>
                  <a:txBody>
                    <a:bodyPr/>
                    <a:lstStyle/>
                    <a:p>
                      <a:pPr indent="0" marL="0">
                        <a:buNone/>
                      </a:pPr>
                      <a:r>
                        <a:rPr lang="en-US" sz="950" b="1" dirty="0">
                          <a:solidFill>
                            <a:srgbClr val="0B2C5D"/>
                          </a:solidFill>
                        </a:rPr>
                        <a:t>Best used when…</a:t>
                      </a:r>
                      <a:endParaRPr lang="en-US" sz="950" dirty="0"/>
                    </a:p>
                  </a:txBody>
                  <a:tcPr marL="76200" marR="76200" marT="38100" marB="381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950" dirty="0">
                          <a:solidFill>
                            <a:srgbClr val="0B2C5D"/>
                          </a:solidFill>
                        </a:rPr>
                        <a:t>Screening a large intake of low-stakes requests</a:t>
                      </a:r>
                      <a:endParaRPr lang="en-US" sz="950" dirty="0"/>
                    </a:p>
                  </a:txBody>
                  <a:tcPr marL="76200" marR="76200" marT="38100" marB="381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950" dirty="0">
                          <a:solidFill>
                            <a:srgbClr val="0B2C5D"/>
                          </a:solidFill>
                        </a:rPr>
                        <a:t>Ranking a shortlist of competing, high-stakes projects</a:t>
                      </a:r>
                      <a:endParaRPr lang="en-US" sz="950" dirty="0"/>
                    </a:p>
                  </a:txBody>
                  <a:tcPr marL="76200" marR="76200" marT="38100" marB="381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r>
              <a:tr h="259080">
                <a:tc>
                  <a:txBody>
                    <a:bodyPr/>
                    <a:lstStyle/>
                    <a:p>
                      <a:pPr indent="0" marL="0">
                        <a:buNone/>
                      </a:pPr>
                      <a:r>
                        <a:rPr lang="en-US" sz="950" b="1" dirty="0">
                          <a:solidFill>
                            <a:srgbClr val="0B2C5D"/>
                          </a:solidFill>
                        </a:rPr>
                        <a:t>Typical time to set up</a:t>
                      </a:r>
                      <a:endParaRPr lang="en-US" sz="950" dirty="0"/>
                    </a:p>
                  </a:txBody>
                  <a:tcPr marL="76200" marR="76200" marT="38100" marB="381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950" dirty="0">
                          <a:solidFill>
                            <a:srgbClr val="0B2C5D"/>
                          </a:solidFill>
                        </a:rPr>
                        <a:t>Minutes — reuse a standard list</a:t>
                      </a:r>
                      <a:endParaRPr lang="en-US" sz="950" dirty="0"/>
                    </a:p>
                  </a:txBody>
                  <a:tcPr marL="76200" marR="76200" marT="38100" marB="381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950" dirty="0">
                          <a:solidFill>
                            <a:srgbClr val="0B2C5D"/>
                          </a:solidFill>
                        </a:rPr>
                        <a:t>Hours to days — needs weight calibration</a:t>
                      </a:r>
                      <a:endParaRPr lang="en-US" sz="950" dirty="0"/>
                    </a:p>
                  </a:txBody>
                  <a:tcPr marL="76200" marR="76200" marT="38100" marB="381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17</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5 · SELECTING PROJECTS</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Weighted Scoring — NexCore Worked Example</a:t>
            </a:r>
            <a:endParaRPr lang="en-US" sz="27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2560320"/>
          <a:ext cx="10607040" cy="2926080"/>
        </p:xfrm>
        <a:graphic>
          <a:graphicData uri="http://schemas.openxmlformats.org/drawingml/2006/table">
            <a:tbl>
              <a:tblPr/>
              <a:tblGrid>
                <a:gridCol w="2743200"/>
                <a:gridCol w="1280160"/>
                <a:gridCol w="2194560"/>
                <a:gridCol w="2194560"/>
                <a:gridCol w="2194560"/>
              </a:tblGrid>
              <a:tr h="487680">
                <a:tc>
                  <a:txBody>
                    <a:bodyPr/>
                    <a:lstStyle/>
                    <a:p>
                      <a:pPr indent="0" marL="0">
                        <a:buNone/>
                      </a:pPr>
                      <a:r>
                        <a:rPr lang="en-US" sz="1050" b="1" dirty="0">
                          <a:solidFill>
                            <a:srgbClr val="FFFFFF"/>
                          </a:solidFill>
                        </a:rPr>
                        <a:t>Criterion</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0B2C5D"/>
                    </a:solidFill>
                  </a:tcPr>
                </a:tc>
                <a:tc>
                  <a:txBody>
                    <a:bodyPr/>
                    <a:lstStyle/>
                    <a:p>
                      <a:pPr algn="ctr" indent="0" marL="0">
                        <a:buNone/>
                      </a:pPr>
                      <a:r>
                        <a:rPr lang="en-US" sz="1050" b="1" dirty="0">
                          <a:solidFill>
                            <a:srgbClr val="FFFFFF"/>
                          </a:solidFill>
                        </a:rPr>
                        <a:t>Weight</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0B2C5D"/>
                    </a:solidFill>
                  </a:tcPr>
                </a:tc>
                <a:tc>
                  <a:txBody>
                    <a:bodyPr/>
                    <a:lstStyle/>
                    <a:p>
                      <a:pPr algn="ctr" indent="0" marL="0">
                        <a:buNone/>
                      </a:pPr>
                      <a:r>
                        <a:rPr lang="en-US" sz="1050" b="1" dirty="0">
                          <a:solidFill>
                            <a:srgbClr val="FFFFFF"/>
                          </a:solidFill>
                        </a:rPr>
                        <a:t>OTA Controller</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0B2C5D"/>
                    </a:solidFill>
                  </a:tcPr>
                </a:tc>
                <a:tc>
                  <a:txBody>
                    <a:bodyPr/>
                    <a:lstStyle/>
                    <a:p>
                      <a:pPr algn="ctr" indent="0" marL="0">
                        <a:buNone/>
                      </a:pPr>
                      <a:r>
                        <a:rPr lang="en-US" sz="1050" b="1" dirty="0">
                          <a:solidFill>
                            <a:srgbClr val="FFFFFF"/>
                          </a:solidFill>
                        </a:rPr>
                        <a:t>Legacy Refresh</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0B2C5D"/>
                    </a:solidFill>
                  </a:tcPr>
                </a:tc>
                <a:tc>
                  <a:txBody>
                    <a:bodyPr/>
                    <a:lstStyle/>
                    <a:p>
                      <a:pPr algn="ctr" indent="0" marL="0">
                        <a:buNone/>
                      </a:pPr>
                      <a:r>
                        <a:rPr lang="en-US" sz="1050" b="1" dirty="0">
                          <a:solidFill>
                            <a:srgbClr val="FFFFFF"/>
                          </a:solidFill>
                        </a:rPr>
                        <a:t>Sensor Add-on</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0B2C5D"/>
                    </a:solidFill>
                  </a:tcPr>
                </a:tc>
              </a:tr>
              <a:tr h="487680">
                <a:tc>
                  <a:txBody>
                    <a:bodyPr/>
                    <a:lstStyle/>
                    <a:p>
                      <a:pPr indent="0" marL="0">
                        <a:buNone/>
                      </a:pPr>
                      <a:r>
                        <a:rPr lang="en-US" sz="1050" dirty="0">
                          <a:solidFill>
                            <a:srgbClr val="000000"/>
                          </a:solidFill>
                        </a:rPr>
                        <a:t>Strategic fit</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dirty="0">
                          <a:solidFill>
                            <a:srgbClr val="000000"/>
                          </a:solidFill>
                        </a:rPr>
                        <a:t>0.35</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b="1" dirty="0">
                          <a:solidFill>
                            <a:srgbClr val="000000"/>
                          </a:solidFill>
                        </a:rPr>
                        <a:t>9 → 3.15</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dirty="0">
                          <a:solidFill>
                            <a:srgbClr val="000000"/>
                          </a:solidFill>
                        </a:rPr>
                        <a:t>3 → 1.05</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dirty="0">
                          <a:solidFill>
                            <a:srgbClr val="000000"/>
                          </a:solidFill>
                        </a:rPr>
                        <a:t>5 → 1.75</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r>
              <a:tr h="487680">
                <a:tc>
                  <a:txBody>
                    <a:bodyPr/>
                    <a:lstStyle/>
                    <a:p>
                      <a:pPr indent="0" marL="0">
                        <a:buNone/>
                      </a:pPr>
                      <a:r>
                        <a:rPr lang="en-US" sz="1050" dirty="0">
                          <a:solidFill>
                            <a:srgbClr val="000000"/>
                          </a:solidFill>
                        </a:rPr>
                        <a:t>Financial return</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dirty="0">
                          <a:solidFill>
                            <a:srgbClr val="000000"/>
                          </a:solidFill>
                        </a:rPr>
                        <a:t>0.30</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dirty="0">
                          <a:solidFill>
                            <a:srgbClr val="000000"/>
                          </a:solidFill>
                        </a:rPr>
                        <a:t>7 → 2.10</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dirty="0">
                          <a:solidFill>
                            <a:srgbClr val="000000"/>
                          </a:solidFill>
                        </a:rPr>
                        <a:t>6 → 1.80</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dirty="0">
                          <a:solidFill>
                            <a:srgbClr val="000000"/>
                          </a:solidFill>
                        </a:rPr>
                        <a:t>4 → 1.20</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r>
              <a:tr h="487680">
                <a:tc>
                  <a:txBody>
                    <a:bodyPr/>
                    <a:lstStyle/>
                    <a:p>
                      <a:pPr indent="0" marL="0">
                        <a:buNone/>
                      </a:pPr>
                      <a:r>
                        <a:rPr lang="en-US" sz="1050" dirty="0">
                          <a:solidFill>
                            <a:srgbClr val="000000"/>
                          </a:solidFill>
                        </a:rPr>
                        <a:t>Risk (inverse)</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dirty="0">
                          <a:solidFill>
                            <a:srgbClr val="000000"/>
                          </a:solidFill>
                        </a:rPr>
                        <a:t>0.20</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dirty="0">
                          <a:solidFill>
                            <a:srgbClr val="000000"/>
                          </a:solidFill>
                        </a:rPr>
                        <a:t>6 → 1.20</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dirty="0">
                          <a:solidFill>
                            <a:srgbClr val="000000"/>
                          </a:solidFill>
                        </a:rPr>
                        <a:t>8 → 1.60</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dirty="0">
                          <a:solidFill>
                            <a:srgbClr val="000000"/>
                          </a:solidFill>
                        </a:rPr>
                        <a:t>5 → 1.00</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r>
              <a:tr h="487680">
                <a:tc>
                  <a:txBody>
                    <a:bodyPr/>
                    <a:lstStyle/>
                    <a:p>
                      <a:pPr indent="0" marL="0">
                        <a:buNone/>
                      </a:pPr>
                      <a:r>
                        <a:rPr lang="en-US" sz="1050" dirty="0">
                          <a:solidFill>
                            <a:srgbClr val="000000"/>
                          </a:solidFill>
                        </a:rPr>
                        <a:t>Team capability</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dirty="0">
                          <a:solidFill>
                            <a:srgbClr val="000000"/>
                          </a:solidFill>
                        </a:rPr>
                        <a:t>0.15</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dirty="0">
                          <a:solidFill>
                            <a:srgbClr val="000000"/>
                          </a:solidFill>
                        </a:rPr>
                        <a:t>8 → 1.20</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dirty="0">
                          <a:solidFill>
                            <a:srgbClr val="000000"/>
                          </a:solidFill>
                        </a:rPr>
                        <a:t>9 → 1.35</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c>
                  <a:txBody>
                    <a:bodyPr/>
                    <a:lstStyle/>
                    <a:p>
                      <a:pPr algn="ctr" indent="0" marL="0">
                        <a:buNone/>
                      </a:pPr>
                      <a:r>
                        <a:rPr lang="en-US" sz="1050" dirty="0">
                          <a:solidFill>
                            <a:srgbClr val="000000"/>
                          </a:solidFill>
                        </a:rPr>
                        <a:t>6 → 0.90</a:t>
                      </a:r>
                      <a:endParaRPr lang="en-US" sz="105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tcPr>
                </a:tc>
              </a:tr>
              <a:tr h="487680">
                <a:tc>
                  <a:txBody>
                    <a:bodyPr/>
                    <a:lstStyle/>
                    <a:p>
                      <a:pPr indent="0" marL="0">
                        <a:buNone/>
                      </a:pPr>
                      <a:r>
                        <a:rPr lang="en-US" sz="1100" b="1" dirty="0">
                          <a:solidFill>
                            <a:srgbClr val="000000"/>
                          </a:solidFill>
                        </a:rPr>
                        <a:t>Total score</a:t>
                      </a:r>
                      <a:endParaRPr lang="en-US" sz="110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DCF3F2"/>
                    </a:solidFill>
                  </a:tcPr>
                </a:tc>
                <a:tc>
                  <a:txBody>
                    <a:bodyPr/>
                    <a:lstStyle/>
                    <a:p>
                      <a:pPr algn="ctr" indent="0" marL="0">
                        <a:buNone/>
                      </a:pPr>
                      <a:r>
                        <a:rPr lang="en-US" sz="1100" b="1" dirty="0">
                          <a:solidFill>
                            <a:srgbClr val="000000"/>
                          </a:solidFill>
                        </a:rPr>
                        <a:t>1.00</a:t>
                      </a:r>
                      <a:endParaRPr lang="en-US" sz="110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DCF3F2"/>
                    </a:solidFill>
                  </a:tcPr>
                </a:tc>
                <a:tc>
                  <a:txBody>
                    <a:bodyPr/>
                    <a:lstStyle/>
                    <a:p>
                      <a:pPr algn="ctr" indent="0" marL="0">
                        <a:buNone/>
                      </a:pPr>
                      <a:r>
                        <a:rPr lang="en-US" sz="1200" b="1" dirty="0">
                          <a:solidFill>
                            <a:srgbClr val="1CACBD"/>
                          </a:solidFill>
                        </a:rPr>
                        <a:t>7.65</a:t>
                      </a:r>
                      <a:endParaRPr lang="en-US" sz="120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DCF3F2"/>
                    </a:solidFill>
                  </a:tcPr>
                </a:tc>
                <a:tc>
                  <a:txBody>
                    <a:bodyPr/>
                    <a:lstStyle/>
                    <a:p>
                      <a:pPr algn="ctr" indent="0" marL="0">
                        <a:buNone/>
                      </a:pPr>
                      <a:r>
                        <a:rPr lang="en-US" sz="1100" b="1" dirty="0">
                          <a:solidFill>
                            <a:srgbClr val="000000"/>
                          </a:solidFill>
                        </a:rPr>
                        <a:t>5.80</a:t>
                      </a:r>
                      <a:endParaRPr lang="en-US" sz="110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DCF3F2"/>
                    </a:solidFill>
                  </a:tcPr>
                </a:tc>
                <a:tc>
                  <a:txBody>
                    <a:bodyPr/>
                    <a:lstStyle/>
                    <a:p>
                      <a:pPr algn="ctr" indent="0" marL="0">
                        <a:buNone/>
                      </a:pPr>
                      <a:r>
                        <a:rPr lang="en-US" sz="1100" b="1" dirty="0">
                          <a:solidFill>
                            <a:srgbClr val="000000"/>
                          </a:solidFill>
                        </a:rPr>
                        <a:t>4.85</a:t>
                      </a:r>
                      <a:endParaRPr lang="en-US" sz="1100" dirty="0"/>
                    </a:p>
                  </a:txBody>
                  <a:tcPr marL="76200" marR="76200" marT="50800" marB="50800" anchor="ctr">
                    <a:lnL w="12700" cap="flat" cmpd="sng" algn="ctr">
                      <a:solidFill>
                        <a:srgbClr val="E7E1D3"/>
                      </a:solidFill>
                      <a:prstDash val="solid"/>
                      <a:round/>
                      <a:headEnd type="none" w="med" len="med"/>
                      <a:tailEnd type="none" w="med" len="med"/>
                    </a:lnL>
                    <a:lnR w="12700" cap="flat" cmpd="sng" algn="ctr">
                      <a:solidFill>
                        <a:srgbClr val="E7E1D3"/>
                      </a:solidFill>
                      <a:prstDash val="solid"/>
                      <a:round/>
                      <a:headEnd type="none" w="med" len="med"/>
                      <a:tailEnd type="none" w="med" len="med"/>
                    </a:lnR>
                    <a:lnT w="12700" cap="flat" cmpd="sng" algn="ctr">
                      <a:solidFill>
                        <a:srgbClr val="E7E1D3"/>
                      </a:solidFill>
                      <a:prstDash val="solid"/>
                      <a:round/>
                      <a:headEnd type="none" w="med" len="med"/>
                      <a:tailEnd type="none" w="med" len="med"/>
                    </a:lnT>
                    <a:lnB w="12700" cap="flat" cmpd="sng" algn="ctr">
                      <a:solidFill>
                        <a:srgbClr val="E7E1D3"/>
                      </a:solidFill>
                      <a:prstDash val="solid"/>
                      <a:round/>
                      <a:headEnd type="none" w="med" len="med"/>
                      <a:tailEnd type="none" w="med" len="med"/>
                    </a:lnB>
                    <a:solidFill>
                      <a:srgbClr val="DCF3F2"/>
                    </a:solidFill>
                  </a:tcPr>
                </a:tc>
              </a:tr>
            </a:tbl>
          </a:graphicData>
        </a:graphic>
      </p:graphicFrame>
      <p:sp>
        <p:nvSpPr>
          <p:cNvPr id="37" name="Text 33"/>
          <p:cNvSpPr txBox="1"/>
          <p:nvPr/>
        </p:nvSpPr>
        <p:spPr>
          <a:xfrm>
            <a:off x="777240" y="5623560"/>
            <a:ext cx="10607040" cy="594360"/>
          </a:xfrm>
          <a:prstGeom prst="rect">
            <a:avLst/>
          </a:prstGeom>
          <a:noFill/>
          <a:ln/>
        </p:spPr>
        <p:txBody>
          <a:bodyPr wrap="square" lIns="0" tIns="0" rIns="0" bIns="0" rtlCol="0" anchor="ctr"/>
          <a:lstStyle/>
          <a:p>
            <a:pPr indent="0" marL="0">
              <a:lnSpc>
                <a:spcPct val="115000"/>
              </a:lnSpc>
              <a:buNone/>
            </a:pPr>
            <a:r>
              <a:rPr lang="en-US" sz="1000" i="1" dirty="0">
                <a:solidFill>
                  <a:srgbClr val="5B6B84"/>
                </a:solidFill>
                <a:latin typeface="Calibri" pitchFamily="34" charset="0"/>
                <a:ea typeface="Calibri" pitchFamily="34" charset="-122"/>
                <a:cs typeface="Calibri" pitchFamily="34" charset="-120"/>
              </a:rPr>
              <a:t>Scores are rated 1–10 by a review panel, then multiplied by each criterion's weight. The OTA Controller wins on strategic fit and financial return — it is funded first. The same weighted logic underlies real frameworks like RICE and ICE scoring, used by product teams at companies like Intercom and Airbnb.</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18</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5 · SELECTING PROJECTS</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Choosing Good Selection Criteria</a:t>
            </a:r>
            <a:endParaRPr lang="en-US" sz="2700" dirty="0"/>
          </a:p>
        </p:txBody>
      </p:sp>
      <p:sp>
        <p:nvSpPr>
          <p:cNvPr id="36" name="Shape 33"/>
          <p:cNvSpPr/>
          <p:nvPr/>
        </p:nvSpPr>
        <p:spPr>
          <a:xfrm>
            <a:off x="777240" y="2606040"/>
            <a:ext cx="2542032" cy="3291840"/>
          </a:xfrm>
          <a:prstGeom prst="roundRect">
            <a:avLst>
              <a:gd name="adj" fmla="val 3597"/>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37" name="Shape 34"/>
          <p:cNvSpPr/>
          <p:nvPr/>
        </p:nvSpPr>
        <p:spPr>
          <a:xfrm>
            <a:off x="777240" y="2606040"/>
            <a:ext cx="2542032" cy="73152"/>
          </a:xfrm>
          <a:prstGeom prst="rect">
            <a:avLst/>
          </a:prstGeom>
          <a:solidFill>
            <a:srgbClr val="1CACBD"/>
          </a:solidFill>
          <a:ln/>
        </p:spPr>
      </p:sp>
      <p:sp>
        <p:nvSpPr>
          <p:cNvPr id="38" name="Shape 35"/>
          <p:cNvSpPr/>
          <p:nvPr/>
        </p:nvSpPr>
        <p:spPr>
          <a:xfrm>
            <a:off x="1773936" y="2898648"/>
            <a:ext cx="548640" cy="548640"/>
          </a:xfrm>
          <a:prstGeom prst="ellipse">
            <a:avLst/>
          </a:prstGeom>
          <a:solidFill>
            <a:srgbClr val="1CACBD"/>
          </a:solidFill>
          <a:ln/>
        </p:spPr>
      </p:sp>
      <p:pic>
        <p:nvPicPr>
          <p:cNvPr id="39" name="Image 1" descr="/home/claude/work/build/icons/checksquare.png">    </p:cNvPr>
          <p:cNvPicPr>
            <a:picLocks noChangeAspect="1"/>
          </p:cNvPicPr>
          <p:nvPr/>
        </p:nvPicPr>
        <p:blipFill>
          <a:blip r:embed="rId3"/>
          <a:stretch>
            <a:fillRect/>
          </a:stretch>
        </p:blipFill>
        <p:spPr>
          <a:xfrm>
            <a:off x="1911096" y="3035808"/>
            <a:ext cx="274320" cy="274320"/>
          </a:xfrm>
          <a:prstGeom prst="rect">
            <a:avLst/>
          </a:prstGeom>
        </p:spPr>
      </p:pic>
      <p:sp>
        <p:nvSpPr>
          <p:cNvPr id="40" name="Text 36"/>
          <p:cNvSpPr txBox="1"/>
          <p:nvPr/>
        </p:nvSpPr>
        <p:spPr>
          <a:xfrm>
            <a:off x="886968" y="3611880"/>
            <a:ext cx="2322576" cy="594360"/>
          </a:xfrm>
          <a:prstGeom prst="rect">
            <a:avLst/>
          </a:prstGeom>
          <a:noFill/>
          <a:ln/>
        </p:spPr>
        <p:txBody>
          <a:bodyPr wrap="square" lIns="0" tIns="0" rIns="0" bIns="0" rtlCol="0" anchor="ctr"/>
          <a:lstStyle/>
          <a:p>
            <a:pPr algn="ctr" indent="0" marL="0">
              <a:buNone/>
            </a:pPr>
            <a:r>
              <a:rPr lang="en-US" sz="1300" b="1" dirty="0">
                <a:solidFill>
                  <a:srgbClr val="0B2C5D"/>
                </a:solidFill>
                <a:latin typeface="Calibri" pitchFamily="34" charset="0"/>
                <a:ea typeface="Calibri" pitchFamily="34" charset="-122"/>
                <a:cs typeface="Calibri" pitchFamily="34" charset="-120"/>
              </a:rPr>
              <a:t>Few and vital</a:t>
            </a:r>
            <a:endParaRPr lang="en-US" sz="1300" dirty="0"/>
          </a:p>
        </p:txBody>
      </p:sp>
      <p:sp>
        <p:nvSpPr>
          <p:cNvPr id="41" name="Text 37"/>
          <p:cNvSpPr txBox="1"/>
          <p:nvPr/>
        </p:nvSpPr>
        <p:spPr>
          <a:xfrm>
            <a:off x="941832" y="4297680"/>
            <a:ext cx="2212848" cy="1371600"/>
          </a:xfrm>
          <a:prstGeom prst="rect">
            <a:avLst/>
          </a:prstGeom>
          <a:noFill/>
          <a:ln/>
        </p:spPr>
        <p:txBody>
          <a:bodyPr wrap="square" lIns="0" tIns="0" rIns="0" bIns="0" rtlCol="0" anchor="ctr"/>
          <a:lstStyle/>
          <a:p>
            <a:pPr algn="ctr" indent="0" marL="0">
              <a:lnSpc>
                <a:spcPct val="125000"/>
              </a:lnSpc>
              <a:buNone/>
            </a:pPr>
            <a:r>
              <a:rPr lang="en-US" sz="1050" dirty="0">
                <a:solidFill>
                  <a:srgbClr val="5B6B84"/>
                </a:solidFill>
                <a:latin typeface="Calibri" pitchFamily="34" charset="0"/>
                <a:ea typeface="Calibri" pitchFamily="34" charset="-122"/>
                <a:cs typeface="Calibri" pitchFamily="34" charset="-120"/>
              </a:rPr>
              <a:t>5–8 criteria max — more invites gaming and noise.</a:t>
            </a:r>
            <a:endParaRPr lang="en-US" sz="1050" dirty="0"/>
          </a:p>
        </p:txBody>
      </p:sp>
      <p:sp>
        <p:nvSpPr>
          <p:cNvPr id="42" name="Shape 38"/>
          <p:cNvSpPr/>
          <p:nvPr/>
        </p:nvSpPr>
        <p:spPr>
          <a:xfrm>
            <a:off x="3465576" y="2606040"/>
            <a:ext cx="2542032" cy="3291840"/>
          </a:xfrm>
          <a:prstGeom prst="roundRect">
            <a:avLst>
              <a:gd name="adj" fmla="val 3597"/>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43" name="Shape 39"/>
          <p:cNvSpPr/>
          <p:nvPr/>
        </p:nvSpPr>
        <p:spPr>
          <a:xfrm>
            <a:off x="3465576" y="2606040"/>
            <a:ext cx="2542032" cy="73152"/>
          </a:xfrm>
          <a:prstGeom prst="rect">
            <a:avLst/>
          </a:prstGeom>
          <a:solidFill>
            <a:srgbClr val="FC7468"/>
          </a:solidFill>
          <a:ln/>
        </p:spPr>
      </p:sp>
      <p:sp>
        <p:nvSpPr>
          <p:cNvPr id="44" name="Shape 40"/>
          <p:cNvSpPr/>
          <p:nvPr/>
        </p:nvSpPr>
        <p:spPr>
          <a:xfrm>
            <a:off x="4462272" y="2898648"/>
            <a:ext cx="548640" cy="548640"/>
          </a:xfrm>
          <a:prstGeom prst="ellipse">
            <a:avLst/>
          </a:prstGeom>
          <a:solidFill>
            <a:srgbClr val="FC7468"/>
          </a:solidFill>
          <a:ln/>
        </p:spPr>
      </p:sp>
      <p:pic>
        <p:nvPicPr>
          <p:cNvPr id="45" name="Image 2" descr="/home/claude/work/build/icons/barchart.png">    </p:cNvPr>
          <p:cNvPicPr>
            <a:picLocks noChangeAspect="1"/>
          </p:cNvPicPr>
          <p:nvPr/>
        </p:nvPicPr>
        <p:blipFill>
          <a:blip r:embed="rId4"/>
          <a:stretch>
            <a:fillRect/>
          </a:stretch>
        </p:blipFill>
        <p:spPr>
          <a:xfrm>
            <a:off x="4599432" y="3035808"/>
            <a:ext cx="274320" cy="274320"/>
          </a:xfrm>
          <a:prstGeom prst="rect">
            <a:avLst/>
          </a:prstGeom>
        </p:spPr>
      </p:pic>
      <p:sp>
        <p:nvSpPr>
          <p:cNvPr id="46" name="Text 41"/>
          <p:cNvSpPr txBox="1"/>
          <p:nvPr/>
        </p:nvSpPr>
        <p:spPr>
          <a:xfrm>
            <a:off x="3575304" y="3611880"/>
            <a:ext cx="2322576" cy="594360"/>
          </a:xfrm>
          <a:prstGeom prst="rect">
            <a:avLst/>
          </a:prstGeom>
          <a:noFill/>
          <a:ln/>
        </p:spPr>
        <p:txBody>
          <a:bodyPr wrap="square" lIns="0" tIns="0" rIns="0" bIns="0" rtlCol="0" anchor="ctr"/>
          <a:lstStyle/>
          <a:p>
            <a:pPr algn="ctr" indent="0" marL="0">
              <a:buNone/>
            </a:pPr>
            <a:r>
              <a:rPr lang="en-US" sz="1300" b="1" dirty="0">
                <a:solidFill>
                  <a:srgbClr val="0B2C5D"/>
                </a:solidFill>
                <a:latin typeface="Calibri" pitchFamily="34" charset="0"/>
                <a:ea typeface="Calibri" pitchFamily="34" charset="-122"/>
                <a:cs typeface="Calibri" pitchFamily="34" charset="-120"/>
              </a:rPr>
              <a:t>Measurable</a:t>
            </a:r>
            <a:endParaRPr lang="en-US" sz="1300" dirty="0"/>
          </a:p>
        </p:txBody>
      </p:sp>
      <p:sp>
        <p:nvSpPr>
          <p:cNvPr id="47" name="Text 42"/>
          <p:cNvSpPr txBox="1"/>
          <p:nvPr/>
        </p:nvSpPr>
        <p:spPr>
          <a:xfrm>
            <a:off x="3630168" y="4297680"/>
            <a:ext cx="2212848" cy="1371600"/>
          </a:xfrm>
          <a:prstGeom prst="rect">
            <a:avLst/>
          </a:prstGeom>
          <a:noFill/>
          <a:ln/>
        </p:spPr>
        <p:txBody>
          <a:bodyPr wrap="square" lIns="0" tIns="0" rIns="0" bIns="0" rtlCol="0" anchor="ctr"/>
          <a:lstStyle/>
          <a:p>
            <a:pPr algn="ctr" indent="0" marL="0">
              <a:lnSpc>
                <a:spcPct val="125000"/>
              </a:lnSpc>
              <a:buNone/>
            </a:pPr>
            <a:r>
              <a:rPr lang="en-US" sz="1050" dirty="0">
                <a:solidFill>
                  <a:srgbClr val="5B6B84"/>
                </a:solidFill>
                <a:latin typeface="Calibri" pitchFamily="34" charset="0"/>
                <a:ea typeface="Calibri" pitchFamily="34" charset="-122"/>
                <a:cs typeface="Calibri" pitchFamily="34" charset="-120"/>
              </a:rPr>
              <a:t>Each criterion needs a defined scale (e.g., 1–10).</a:t>
            </a:r>
            <a:endParaRPr lang="en-US" sz="1050" dirty="0"/>
          </a:p>
        </p:txBody>
      </p:sp>
      <p:sp>
        <p:nvSpPr>
          <p:cNvPr id="48" name="Shape 43"/>
          <p:cNvSpPr/>
          <p:nvPr/>
        </p:nvSpPr>
        <p:spPr>
          <a:xfrm>
            <a:off x="6153912" y="2606040"/>
            <a:ext cx="2542032" cy="3291840"/>
          </a:xfrm>
          <a:prstGeom prst="roundRect">
            <a:avLst>
              <a:gd name="adj" fmla="val 3597"/>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49" name="Shape 44"/>
          <p:cNvSpPr/>
          <p:nvPr/>
        </p:nvSpPr>
        <p:spPr>
          <a:xfrm>
            <a:off x="6153912" y="2606040"/>
            <a:ext cx="2542032" cy="73152"/>
          </a:xfrm>
          <a:prstGeom prst="rect">
            <a:avLst/>
          </a:prstGeom>
          <a:solidFill>
            <a:srgbClr val="FBC850"/>
          </a:solidFill>
          <a:ln/>
        </p:spPr>
      </p:sp>
      <p:sp>
        <p:nvSpPr>
          <p:cNvPr id="50" name="Shape 45"/>
          <p:cNvSpPr/>
          <p:nvPr/>
        </p:nvSpPr>
        <p:spPr>
          <a:xfrm>
            <a:off x="7150608" y="2898648"/>
            <a:ext cx="548640" cy="548640"/>
          </a:xfrm>
          <a:prstGeom prst="ellipse">
            <a:avLst/>
          </a:prstGeom>
          <a:solidFill>
            <a:srgbClr val="FBC850"/>
          </a:solidFill>
          <a:ln/>
        </p:spPr>
      </p:sp>
      <p:pic>
        <p:nvPicPr>
          <p:cNvPr id="51" name="Image 3" descr="/home/claude/work/build/icons/compass.png">    </p:cNvPr>
          <p:cNvPicPr>
            <a:picLocks noChangeAspect="1"/>
          </p:cNvPicPr>
          <p:nvPr/>
        </p:nvPicPr>
        <p:blipFill>
          <a:blip r:embed="rId5"/>
          <a:stretch>
            <a:fillRect/>
          </a:stretch>
        </p:blipFill>
        <p:spPr>
          <a:xfrm>
            <a:off x="7287768" y="3035808"/>
            <a:ext cx="274320" cy="274320"/>
          </a:xfrm>
          <a:prstGeom prst="rect">
            <a:avLst/>
          </a:prstGeom>
        </p:spPr>
      </p:pic>
      <p:sp>
        <p:nvSpPr>
          <p:cNvPr id="52" name="Text 46"/>
          <p:cNvSpPr txBox="1"/>
          <p:nvPr/>
        </p:nvSpPr>
        <p:spPr>
          <a:xfrm>
            <a:off x="6263640" y="3611880"/>
            <a:ext cx="2322576" cy="594360"/>
          </a:xfrm>
          <a:prstGeom prst="rect">
            <a:avLst/>
          </a:prstGeom>
          <a:noFill/>
          <a:ln/>
        </p:spPr>
        <p:txBody>
          <a:bodyPr wrap="square" lIns="0" tIns="0" rIns="0" bIns="0" rtlCol="0" anchor="ctr"/>
          <a:lstStyle/>
          <a:p>
            <a:pPr algn="ctr" indent="0" marL="0">
              <a:buNone/>
            </a:pPr>
            <a:r>
              <a:rPr lang="en-US" sz="1300" b="1" dirty="0">
                <a:solidFill>
                  <a:srgbClr val="0B2C5D"/>
                </a:solidFill>
                <a:latin typeface="Calibri" pitchFamily="34" charset="0"/>
                <a:ea typeface="Calibri" pitchFamily="34" charset="-122"/>
                <a:cs typeface="Calibri" pitchFamily="34" charset="-120"/>
              </a:rPr>
              <a:t>Discriminating</a:t>
            </a:r>
            <a:endParaRPr lang="en-US" sz="1300" dirty="0"/>
          </a:p>
        </p:txBody>
      </p:sp>
      <p:sp>
        <p:nvSpPr>
          <p:cNvPr id="53" name="Text 47"/>
          <p:cNvSpPr txBox="1"/>
          <p:nvPr/>
        </p:nvSpPr>
        <p:spPr>
          <a:xfrm>
            <a:off x="6318504" y="4297680"/>
            <a:ext cx="2212848" cy="1371600"/>
          </a:xfrm>
          <a:prstGeom prst="rect">
            <a:avLst/>
          </a:prstGeom>
          <a:noFill/>
          <a:ln/>
        </p:spPr>
        <p:txBody>
          <a:bodyPr wrap="square" lIns="0" tIns="0" rIns="0" bIns="0" rtlCol="0" anchor="ctr"/>
          <a:lstStyle/>
          <a:p>
            <a:pPr algn="ctr" indent="0" marL="0">
              <a:lnSpc>
                <a:spcPct val="125000"/>
              </a:lnSpc>
              <a:buNone/>
            </a:pPr>
            <a:r>
              <a:rPr lang="en-US" sz="1050" dirty="0">
                <a:solidFill>
                  <a:srgbClr val="5B6B84"/>
                </a:solidFill>
                <a:latin typeface="Calibri" pitchFamily="34" charset="0"/>
                <a:ea typeface="Calibri" pitchFamily="34" charset="-122"/>
                <a:cs typeface="Calibri" pitchFamily="34" charset="-120"/>
              </a:rPr>
              <a:t>Criteria should actually separate strong from weak projects.</a:t>
            </a:r>
            <a:endParaRPr lang="en-US" sz="1050" dirty="0"/>
          </a:p>
        </p:txBody>
      </p:sp>
      <p:sp>
        <p:nvSpPr>
          <p:cNvPr id="54" name="Shape 48"/>
          <p:cNvSpPr/>
          <p:nvPr/>
        </p:nvSpPr>
        <p:spPr>
          <a:xfrm>
            <a:off x="8842248" y="2606040"/>
            <a:ext cx="2542032" cy="3291840"/>
          </a:xfrm>
          <a:prstGeom prst="roundRect">
            <a:avLst>
              <a:gd name="adj" fmla="val 3597"/>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55" name="Shape 49"/>
          <p:cNvSpPr/>
          <p:nvPr/>
        </p:nvSpPr>
        <p:spPr>
          <a:xfrm>
            <a:off x="8842248" y="2606040"/>
            <a:ext cx="2542032" cy="73152"/>
          </a:xfrm>
          <a:prstGeom prst="rect">
            <a:avLst/>
          </a:prstGeom>
          <a:solidFill>
            <a:srgbClr val="5B6B84"/>
          </a:solidFill>
          <a:ln/>
        </p:spPr>
      </p:sp>
      <p:sp>
        <p:nvSpPr>
          <p:cNvPr id="56" name="Shape 50"/>
          <p:cNvSpPr/>
          <p:nvPr/>
        </p:nvSpPr>
        <p:spPr>
          <a:xfrm>
            <a:off x="9838944" y="2898648"/>
            <a:ext cx="548640" cy="548640"/>
          </a:xfrm>
          <a:prstGeom prst="ellipse">
            <a:avLst/>
          </a:prstGeom>
          <a:solidFill>
            <a:srgbClr val="E7E1D3"/>
          </a:solidFill>
          <a:ln/>
        </p:spPr>
      </p:sp>
      <p:pic>
        <p:nvPicPr>
          <p:cNvPr id="57" name="Image 4" descr="/home/claude/work/build/icons/award.png">    </p:cNvPr>
          <p:cNvPicPr>
            <a:picLocks noChangeAspect="1"/>
          </p:cNvPicPr>
          <p:nvPr/>
        </p:nvPicPr>
        <p:blipFill>
          <a:blip r:embed="rId6"/>
          <a:stretch>
            <a:fillRect/>
          </a:stretch>
        </p:blipFill>
        <p:spPr>
          <a:xfrm>
            <a:off x="9976104" y="3035808"/>
            <a:ext cx="274320" cy="274320"/>
          </a:xfrm>
          <a:prstGeom prst="rect">
            <a:avLst/>
          </a:prstGeom>
        </p:spPr>
      </p:pic>
      <p:sp>
        <p:nvSpPr>
          <p:cNvPr id="58" name="Text 51"/>
          <p:cNvSpPr txBox="1"/>
          <p:nvPr/>
        </p:nvSpPr>
        <p:spPr>
          <a:xfrm>
            <a:off x="8951976" y="3611880"/>
            <a:ext cx="2322576" cy="594360"/>
          </a:xfrm>
          <a:prstGeom prst="rect">
            <a:avLst/>
          </a:prstGeom>
          <a:noFill/>
          <a:ln/>
        </p:spPr>
        <p:txBody>
          <a:bodyPr wrap="square" lIns="0" tIns="0" rIns="0" bIns="0" rtlCol="0" anchor="ctr"/>
          <a:lstStyle/>
          <a:p>
            <a:pPr algn="ctr" indent="0" marL="0">
              <a:buNone/>
            </a:pPr>
            <a:r>
              <a:rPr lang="en-US" sz="1300" b="1" dirty="0">
                <a:solidFill>
                  <a:srgbClr val="0B2C5D"/>
                </a:solidFill>
                <a:latin typeface="Calibri" pitchFamily="34" charset="0"/>
                <a:ea typeface="Calibri" pitchFamily="34" charset="-122"/>
                <a:cs typeface="Calibri" pitchFamily="34" charset="-120"/>
              </a:rPr>
              <a:t>Weighted by strategy</a:t>
            </a:r>
            <a:endParaRPr lang="en-US" sz="1300" dirty="0"/>
          </a:p>
        </p:txBody>
      </p:sp>
      <p:sp>
        <p:nvSpPr>
          <p:cNvPr id="59" name="Text 52"/>
          <p:cNvSpPr txBox="1"/>
          <p:nvPr/>
        </p:nvSpPr>
        <p:spPr>
          <a:xfrm>
            <a:off x="9006840" y="4297680"/>
            <a:ext cx="2212848" cy="1371600"/>
          </a:xfrm>
          <a:prstGeom prst="rect">
            <a:avLst/>
          </a:prstGeom>
          <a:noFill/>
          <a:ln/>
        </p:spPr>
        <p:txBody>
          <a:bodyPr wrap="square" lIns="0" tIns="0" rIns="0" bIns="0" rtlCol="0" anchor="ctr"/>
          <a:lstStyle/>
          <a:p>
            <a:pPr algn="ctr" indent="0" marL="0">
              <a:lnSpc>
                <a:spcPct val="125000"/>
              </a:lnSpc>
              <a:buNone/>
            </a:pPr>
            <a:r>
              <a:rPr lang="en-US" sz="1050" dirty="0">
                <a:solidFill>
                  <a:srgbClr val="5B6B84"/>
                </a:solidFill>
                <a:latin typeface="Calibri" pitchFamily="34" charset="0"/>
                <a:ea typeface="Calibri" pitchFamily="34" charset="-122"/>
                <a:cs typeface="Calibri" pitchFamily="34" charset="-120"/>
              </a:rPr>
              <a:t>Weights should mirror this year's strategic priorities.</a:t>
            </a:r>
            <a:endParaRPr lang="en-US" sz="1050" dirty="0"/>
          </a:p>
        </p:txBody>
      </p:sp>
      <p:sp>
        <p:nvSpPr>
          <p:cNvPr id="60" name="Text 53"/>
          <p:cNvSpPr txBox="1"/>
          <p:nvPr/>
        </p:nvSpPr>
        <p:spPr>
          <a:xfrm>
            <a:off x="777240" y="5989320"/>
            <a:ext cx="10607040" cy="365760"/>
          </a:xfrm>
          <a:prstGeom prst="rect">
            <a:avLst/>
          </a:prstGeom>
          <a:noFill/>
          <a:ln/>
        </p:spPr>
        <p:txBody>
          <a:bodyPr wrap="square" lIns="0" tIns="0" rIns="0" bIns="0" rtlCol="0" anchor="ctr"/>
          <a:lstStyle/>
          <a:p>
            <a:pPr indent="0" marL="0">
              <a:buNone/>
            </a:pPr>
            <a:r>
              <a:rPr lang="en-US" sz="950" i="1" dirty="0">
                <a:solidFill>
                  <a:srgbClr val="5B6B84"/>
                </a:solidFill>
                <a:latin typeface="Calibri" pitchFamily="34" charset="0"/>
                <a:ea typeface="Calibri" pitchFamily="34" charset="-122"/>
                <a:cs typeface="Calibri" pitchFamily="34" charset="-120"/>
              </a:rPr>
              <a:t>These four rules mirror well-known industry frameworks — RICE (Reach, Impact, Confidence, Effort) at Intercom and ICE scoring used by many growth teams both boil down to the same principles.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3A5578"/>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3A5578"/>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9FB3CC"/>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6C84A6"/>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6C84A6"/>
                </a:solidFill>
                <a:latin typeface="Calibri" pitchFamily="34" charset="0"/>
                <a:ea typeface="Calibri" pitchFamily="34" charset="-122"/>
                <a:cs typeface="Calibri" pitchFamily="34" charset="-120"/>
              </a:rPr>
              <a:t>19</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6 · CASE STUDY &amp; ASSIGNMENT</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Case Study Recap: NexCore Embedded Systems</a:t>
            </a:r>
            <a:endParaRPr lang="en-US" sz="2700" dirty="0"/>
          </a:p>
        </p:txBody>
      </p:sp>
      <p:sp>
        <p:nvSpPr>
          <p:cNvPr id="36" name="Text 33"/>
          <p:cNvSpPr txBox="1"/>
          <p:nvPr/>
        </p:nvSpPr>
        <p:spPr>
          <a:xfrm>
            <a:off x="777240" y="2212848"/>
            <a:ext cx="9601200" cy="457200"/>
          </a:xfrm>
          <a:prstGeom prst="rect">
            <a:avLst/>
          </a:prstGeom>
          <a:noFill/>
          <a:ln/>
        </p:spPr>
        <p:txBody>
          <a:bodyPr wrap="square" lIns="0" tIns="0" rIns="0" bIns="0" rtlCol="0" anchor="ctr"/>
          <a:lstStyle/>
          <a:p>
            <a:pPr indent="0" marL="0">
              <a:buNone/>
            </a:pPr>
            <a:r>
              <a:rPr lang="en-US" sz="1250" dirty="0">
                <a:solidFill>
                  <a:srgbClr val="9FB3CC"/>
                </a:solidFill>
                <a:latin typeface="Calibri" pitchFamily="34" charset="0"/>
                <a:ea typeface="Calibri" pitchFamily="34" charset="-122"/>
                <a:cs typeface="Calibri" pitchFamily="34" charset="-120"/>
              </a:rPr>
              <a:t>Across this lecture, every concept was grounded in one running scenario — an embedded-controller maker choosing which projects to fund.</a:t>
            </a:r>
            <a:endParaRPr lang="en-US" sz="1250" dirty="0"/>
          </a:p>
        </p:txBody>
      </p:sp>
      <p:sp>
        <p:nvSpPr>
          <p:cNvPr id="37" name="Shape 34"/>
          <p:cNvSpPr/>
          <p:nvPr/>
        </p:nvSpPr>
        <p:spPr>
          <a:xfrm>
            <a:off x="777240" y="2834640"/>
            <a:ext cx="2542032" cy="1828800"/>
          </a:xfrm>
          <a:prstGeom prst="roundRect">
            <a:avLst>
              <a:gd name="adj" fmla="val 5000"/>
            </a:avLst>
          </a:prstGeom>
          <a:solidFill>
            <a:srgbClr val="13315C"/>
          </a:solidFill>
          <a:ln w="12700">
            <a:solidFill>
              <a:srgbClr val="24466F"/>
            </a:solidFill>
            <a:prstDash val="solid"/>
          </a:ln>
        </p:spPr>
      </p:sp>
      <p:sp>
        <p:nvSpPr>
          <p:cNvPr id="38" name="Shape 35"/>
          <p:cNvSpPr/>
          <p:nvPr/>
        </p:nvSpPr>
        <p:spPr>
          <a:xfrm>
            <a:off x="1796796" y="3063240"/>
            <a:ext cx="502920" cy="502920"/>
          </a:xfrm>
          <a:prstGeom prst="ellipse">
            <a:avLst/>
          </a:prstGeom>
          <a:solidFill>
            <a:srgbClr val="1CACBD"/>
          </a:solidFill>
          <a:ln/>
        </p:spPr>
      </p:sp>
      <p:pic>
        <p:nvPicPr>
          <p:cNvPr id="39" name="Image 1" descr="/home/claude/work/build/icons/compass.png">    </p:cNvPr>
          <p:cNvPicPr>
            <a:picLocks noChangeAspect="1"/>
          </p:cNvPicPr>
          <p:nvPr/>
        </p:nvPicPr>
        <p:blipFill>
          <a:blip r:embed="rId3"/>
          <a:stretch>
            <a:fillRect/>
          </a:stretch>
        </p:blipFill>
        <p:spPr>
          <a:xfrm>
            <a:off x="1922526" y="3188970"/>
            <a:ext cx="251460" cy="251460"/>
          </a:xfrm>
          <a:prstGeom prst="rect">
            <a:avLst/>
          </a:prstGeom>
        </p:spPr>
      </p:pic>
      <p:sp>
        <p:nvSpPr>
          <p:cNvPr id="40" name="Text 36"/>
          <p:cNvSpPr txBox="1"/>
          <p:nvPr/>
        </p:nvSpPr>
        <p:spPr>
          <a:xfrm>
            <a:off x="886968" y="3703320"/>
            <a:ext cx="2322576"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Strategy</a:t>
            </a:r>
            <a:endParaRPr lang="en-US" sz="1250" dirty="0"/>
          </a:p>
        </p:txBody>
      </p:sp>
      <p:sp>
        <p:nvSpPr>
          <p:cNvPr id="41" name="Text 37"/>
          <p:cNvSpPr txBox="1"/>
          <p:nvPr/>
        </p:nvSpPr>
        <p:spPr>
          <a:xfrm>
            <a:off x="914400" y="4041648"/>
            <a:ext cx="2267712" cy="548640"/>
          </a:xfrm>
          <a:prstGeom prst="rect">
            <a:avLst/>
          </a:prstGeom>
          <a:noFill/>
          <a:ln/>
        </p:spPr>
        <p:txBody>
          <a:bodyPr wrap="square" lIns="0" tIns="0" rIns="0" bIns="0" rtlCol="0" anchor="ctr"/>
          <a:lstStyle/>
          <a:p>
            <a:pPr algn="ctr" indent="0" marL="0">
              <a:lnSpc>
                <a:spcPct val="115000"/>
              </a:lnSpc>
              <a:buNone/>
            </a:pPr>
            <a:r>
              <a:rPr lang="en-US" sz="950" dirty="0">
                <a:solidFill>
                  <a:srgbClr val="AFC0D8"/>
                </a:solidFill>
                <a:latin typeface="Calibri" pitchFamily="34" charset="0"/>
                <a:ea typeface="Calibri" pitchFamily="34" charset="-122"/>
                <a:cs typeface="Calibri" pitchFamily="34" charset="-120"/>
              </a:rPr>
              <a:t>Differentiate via OTA firmware updates</a:t>
            </a:r>
            <a:endParaRPr lang="en-US" sz="950" dirty="0"/>
          </a:p>
        </p:txBody>
      </p:sp>
      <p:sp>
        <p:nvSpPr>
          <p:cNvPr id="42" name="Shape 38"/>
          <p:cNvSpPr/>
          <p:nvPr/>
        </p:nvSpPr>
        <p:spPr>
          <a:xfrm>
            <a:off x="3337560" y="3749040"/>
            <a:ext cx="128016" cy="0"/>
          </a:xfrm>
          <a:prstGeom prst="line">
            <a:avLst/>
          </a:prstGeom>
          <a:noFill/>
          <a:ln w="19050">
            <a:solidFill>
              <a:srgbClr val="1CACBD"/>
            </a:solidFill>
            <a:prstDash val="solid"/>
            <a:tailEnd type="triangle"/>
          </a:ln>
        </p:spPr>
      </p:sp>
      <p:sp>
        <p:nvSpPr>
          <p:cNvPr id="43" name="Shape 39"/>
          <p:cNvSpPr/>
          <p:nvPr/>
        </p:nvSpPr>
        <p:spPr>
          <a:xfrm>
            <a:off x="3483864" y="2834640"/>
            <a:ext cx="2542032" cy="1828800"/>
          </a:xfrm>
          <a:prstGeom prst="roundRect">
            <a:avLst>
              <a:gd name="adj" fmla="val 5000"/>
            </a:avLst>
          </a:prstGeom>
          <a:solidFill>
            <a:srgbClr val="13315C"/>
          </a:solidFill>
          <a:ln w="12700">
            <a:solidFill>
              <a:srgbClr val="24466F"/>
            </a:solidFill>
            <a:prstDash val="solid"/>
          </a:ln>
        </p:spPr>
      </p:sp>
      <p:sp>
        <p:nvSpPr>
          <p:cNvPr id="44" name="Shape 40"/>
          <p:cNvSpPr/>
          <p:nvPr/>
        </p:nvSpPr>
        <p:spPr>
          <a:xfrm>
            <a:off x="4503420" y="3063240"/>
            <a:ext cx="502920" cy="502920"/>
          </a:xfrm>
          <a:prstGeom prst="ellipse">
            <a:avLst/>
          </a:prstGeom>
          <a:solidFill>
            <a:srgbClr val="FC7468"/>
          </a:solidFill>
          <a:ln/>
        </p:spPr>
      </p:sp>
      <p:pic>
        <p:nvPicPr>
          <p:cNvPr id="45" name="Image 2" descr="/home/claude/work/build/icons/target.png">    </p:cNvPr>
          <p:cNvPicPr>
            <a:picLocks noChangeAspect="1"/>
          </p:cNvPicPr>
          <p:nvPr/>
        </p:nvPicPr>
        <p:blipFill>
          <a:blip r:embed="rId4"/>
          <a:stretch>
            <a:fillRect/>
          </a:stretch>
        </p:blipFill>
        <p:spPr>
          <a:xfrm>
            <a:off x="4629150" y="3188970"/>
            <a:ext cx="251460" cy="251460"/>
          </a:xfrm>
          <a:prstGeom prst="rect">
            <a:avLst/>
          </a:prstGeom>
        </p:spPr>
      </p:pic>
      <p:sp>
        <p:nvSpPr>
          <p:cNvPr id="46" name="Text 41"/>
          <p:cNvSpPr txBox="1"/>
          <p:nvPr/>
        </p:nvSpPr>
        <p:spPr>
          <a:xfrm>
            <a:off x="3593592" y="3703320"/>
            <a:ext cx="2322576"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SWOT &amp; SMART</a:t>
            </a:r>
            <a:endParaRPr lang="en-US" sz="1250" dirty="0"/>
          </a:p>
        </p:txBody>
      </p:sp>
      <p:sp>
        <p:nvSpPr>
          <p:cNvPr id="47" name="Text 42"/>
          <p:cNvSpPr txBox="1"/>
          <p:nvPr/>
        </p:nvSpPr>
        <p:spPr>
          <a:xfrm>
            <a:off x="3621024" y="4041648"/>
            <a:ext cx="2267712" cy="548640"/>
          </a:xfrm>
          <a:prstGeom prst="rect">
            <a:avLst/>
          </a:prstGeom>
          <a:noFill/>
          <a:ln/>
        </p:spPr>
        <p:txBody>
          <a:bodyPr wrap="square" lIns="0" tIns="0" rIns="0" bIns="0" rtlCol="0" anchor="ctr"/>
          <a:lstStyle/>
          <a:p>
            <a:pPr algn="ctr" indent="0" marL="0">
              <a:lnSpc>
                <a:spcPct val="115000"/>
              </a:lnSpc>
              <a:buNone/>
            </a:pPr>
            <a:r>
              <a:rPr lang="en-US" sz="950" dirty="0">
                <a:solidFill>
                  <a:srgbClr val="AFC0D8"/>
                </a:solidFill>
                <a:latin typeface="Calibri" pitchFamily="34" charset="0"/>
                <a:ea typeface="Calibri" pitchFamily="34" charset="-122"/>
                <a:cs typeface="Calibri" pitchFamily="34" charset="-120"/>
              </a:rPr>
              <a:t>Turn strengths/gaps into a measurable goal</a:t>
            </a:r>
            <a:endParaRPr lang="en-US" sz="950" dirty="0"/>
          </a:p>
        </p:txBody>
      </p:sp>
      <p:sp>
        <p:nvSpPr>
          <p:cNvPr id="48" name="Shape 43"/>
          <p:cNvSpPr/>
          <p:nvPr/>
        </p:nvSpPr>
        <p:spPr>
          <a:xfrm>
            <a:off x="6044184" y="3749040"/>
            <a:ext cx="128016" cy="0"/>
          </a:xfrm>
          <a:prstGeom prst="line">
            <a:avLst/>
          </a:prstGeom>
          <a:noFill/>
          <a:ln w="19050">
            <a:solidFill>
              <a:srgbClr val="1CACBD"/>
            </a:solidFill>
            <a:prstDash val="solid"/>
            <a:tailEnd type="triangle"/>
          </a:ln>
        </p:spPr>
      </p:sp>
      <p:sp>
        <p:nvSpPr>
          <p:cNvPr id="49" name="Shape 44"/>
          <p:cNvSpPr/>
          <p:nvPr/>
        </p:nvSpPr>
        <p:spPr>
          <a:xfrm>
            <a:off x="6190488" y="2834640"/>
            <a:ext cx="2542032" cy="1828800"/>
          </a:xfrm>
          <a:prstGeom prst="roundRect">
            <a:avLst>
              <a:gd name="adj" fmla="val 5000"/>
            </a:avLst>
          </a:prstGeom>
          <a:solidFill>
            <a:srgbClr val="13315C"/>
          </a:solidFill>
          <a:ln w="12700">
            <a:solidFill>
              <a:srgbClr val="24466F"/>
            </a:solidFill>
            <a:prstDash val="solid"/>
          </a:ln>
        </p:spPr>
      </p:sp>
      <p:sp>
        <p:nvSpPr>
          <p:cNvPr id="50" name="Shape 45"/>
          <p:cNvSpPr/>
          <p:nvPr/>
        </p:nvSpPr>
        <p:spPr>
          <a:xfrm>
            <a:off x="7210044" y="3063240"/>
            <a:ext cx="502920" cy="502920"/>
          </a:xfrm>
          <a:prstGeom prst="ellipse">
            <a:avLst/>
          </a:prstGeom>
          <a:solidFill>
            <a:srgbClr val="FBC850"/>
          </a:solidFill>
          <a:ln/>
        </p:spPr>
      </p:sp>
      <p:pic>
        <p:nvPicPr>
          <p:cNvPr id="51" name="Image 3" descr="/home/claude/work/build/icons/sliders.png">    </p:cNvPr>
          <p:cNvPicPr>
            <a:picLocks noChangeAspect="1"/>
          </p:cNvPicPr>
          <p:nvPr/>
        </p:nvPicPr>
        <p:blipFill>
          <a:blip r:embed="rId5"/>
          <a:stretch>
            <a:fillRect/>
          </a:stretch>
        </p:blipFill>
        <p:spPr>
          <a:xfrm>
            <a:off x="7335774" y="3188970"/>
            <a:ext cx="251460" cy="251460"/>
          </a:xfrm>
          <a:prstGeom prst="rect">
            <a:avLst/>
          </a:prstGeom>
        </p:spPr>
      </p:pic>
      <p:sp>
        <p:nvSpPr>
          <p:cNvPr id="52" name="Text 46"/>
          <p:cNvSpPr txBox="1"/>
          <p:nvPr/>
        </p:nvSpPr>
        <p:spPr>
          <a:xfrm>
            <a:off x="6300216" y="3703320"/>
            <a:ext cx="2322576"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Priority</a:t>
            </a:r>
            <a:endParaRPr lang="en-US" sz="1250" dirty="0"/>
          </a:p>
        </p:txBody>
      </p:sp>
      <p:sp>
        <p:nvSpPr>
          <p:cNvPr id="53" name="Text 47"/>
          <p:cNvSpPr txBox="1"/>
          <p:nvPr/>
        </p:nvSpPr>
        <p:spPr>
          <a:xfrm>
            <a:off x="6327648" y="4041648"/>
            <a:ext cx="2267712" cy="548640"/>
          </a:xfrm>
          <a:prstGeom prst="rect">
            <a:avLst/>
          </a:prstGeom>
          <a:noFill/>
          <a:ln/>
        </p:spPr>
        <p:txBody>
          <a:bodyPr wrap="square" lIns="0" tIns="0" rIns="0" bIns="0" rtlCol="0" anchor="ctr"/>
          <a:lstStyle/>
          <a:p>
            <a:pPr algn="ctr" indent="0" marL="0">
              <a:lnSpc>
                <a:spcPct val="115000"/>
              </a:lnSpc>
              <a:buNone/>
            </a:pPr>
            <a:r>
              <a:rPr lang="en-US" sz="950" dirty="0">
                <a:solidFill>
                  <a:srgbClr val="AFC0D8"/>
                </a:solidFill>
                <a:latin typeface="Calibri" pitchFamily="34" charset="0"/>
                <a:ea typeface="Calibri" pitchFamily="34" charset="-122"/>
                <a:cs typeface="Calibri" pitchFamily="34" charset="-120"/>
              </a:rPr>
              <a:t>Ranked as a Strategic-tier project</a:t>
            </a:r>
            <a:endParaRPr lang="en-US" sz="950" dirty="0"/>
          </a:p>
        </p:txBody>
      </p:sp>
      <p:sp>
        <p:nvSpPr>
          <p:cNvPr id="54" name="Shape 48"/>
          <p:cNvSpPr/>
          <p:nvPr/>
        </p:nvSpPr>
        <p:spPr>
          <a:xfrm>
            <a:off x="8750808" y="3749040"/>
            <a:ext cx="128016" cy="0"/>
          </a:xfrm>
          <a:prstGeom prst="line">
            <a:avLst/>
          </a:prstGeom>
          <a:noFill/>
          <a:ln w="19050">
            <a:solidFill>
              <a:srgbClr val="1CACBD"/>
            </a:solidFill>
            <a:prstDash val="solid"/>
            <a:tailEnd type="triangle"/>
          </a:ln>
        </p:spPr>
      </p:sp>
      <p:sp>
        <p:nvSpPr>
          <p:cNvPr id="55" name="Shape 49"/>
          <p:cNvSpPr/>
          <p:nvPr/>
        </p:nvSpPr>
        <p:spPr>
          <a:xfrm>
            <a:off x="8897112" y="2834640"/>
            <a:ext cx="2542032" cy="1828800"/>
          </a:xfrm>
          <a:prstGeom prst="roundRect">
            <a:avLst>
              <a:gd name="adj" fmla="val 5000"/>
            </a:avLst>
          </a:prstGeom>
          <a:solidFill>
            <a:srgbClr val="13315C"/>
          </a:solidFill>
          <a:ln w="12700">
            <a:solidFill>
              <a:srgbClr val="24466F"/>
            </a:solidFill>
            <a:prstDash val="solid"/>
          </a:ln>
        </p:spPr>
      </p:sp>
      <p:sp>
        <p:nvSpPr>
          <p:cNvPr id="56" name="Shape 50"/>
          <p:cNvSpPr/>
          <p:nvPr/>
        </p:nvSpPr>
        <p:spPr>
          <a:xfrm>
            <a:off x="9916668" y="3063240"/>
            <a:ext cx="502920" cy="502920"/>
          </a:xfrm>
          <a:prstGeom prst="ellipse">
            <a:avLst/>
          </a:prstGeom>
          <a:solidFill>
            <a:srgbClr val="1CACBD"/>
          </a:solidFill>
          <a:ln/>
        </p:spPr>
      </p:sp>
      <p:pic>
        <p:nvPicPr>
          <p:cNvPr id="57" name="Image 4" descr="/home/claude/work/build/icons/checksquare.png">    </p:cNvPr>
          <p:cNvPicPr>
            <a:picLocks noChangeAspect="1"/>
          </p:cNvPicPr>
          <p:nvPr/>
        </p:nvPicPr>
        <p:blipFill>
          <a:blip r:embed="rId6"/>
          <a:stretch>
            <a:fillRect/>
          </a:stretch>
        </p:blipFill>
        <p:spPr>
          <a:xfrm>
            <a:off x="10042398" y="3188970"/>
            <a:ext cx="251460" cy="251460"/>
          </a:xfrm>
          <a:prstGeom prst="rect">
            <a:avLst/>
          </a:prstGeom>
        </p:spPr>
      </p:pic>
      <p:sp>
        <p:nvSpPr>
          <p:cNvPr id="58" name="Text 51"/>
          <p:cNvSpPr txBox="1"/>
          <p:nvPr/>
        </p:nvSpPr>
        <p:spPr>
          <a:xfrm>
            <a:off x="9006840" y="3703320"/>
            <a:ext cx="2322576"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Selection</a:t>
            </a:r>
            <a:endParaRPr lang="en-US" sz="1250" dirty="0"/>
          </a:p>
        </p:txBody>
      </p:sp>
      <p:sp>
        <p:nvSpPr>
          <p:cNvPr id="59" name="Text 52"/>
          <p:cNvSpPr txBox="1"/>
          <p:nvPr/>
        </p:nvSpPr>
        <p:spPr>
          <a:xfrm>
            <a:off x="9034272" y="4041648"/>
            <a:ext cx="2267712" cy="548640"/>
          </a:xfrm>
          <a:prstGeom prst="rect">
            <a:avLst/>
          </a:prstGeom>
          <a:noFill/>
          <a:ln/>
        </p:spPr>
        <p:txBody>
          <a:bodyPr wrap="square" lIns="0" tIns="0" rIns="0" bIns="0" rtlCol="0" anchor="ctr"/>
          <a:lstStyle/>
          <a:p>
            <a:pPr algn="ctr" indent="0" marL="0">
              <a:lnSpc>
                <a:spcPct val="115000"/>
              </a:lnSpc>
              <a:buNone/>
            </a:pPr>
            <a:r>
              <a:rPr lang="en-US" sz="950" dirty="0">
                <a:solidFill>
                  <a:srgbClr val="AFC0D8"/>
                </a:solidFill>
                <a:latin typeface="Calibri" pitchFamily="34" charset="0"/>
                <a:ea typeface="Calibri" pitchFamily="34" charset="-122"/>
                <a:cs typeface="Calibri" pitchFamily="34" charset="-120"/>
              </a:rPr>
              <a:t>Won weighted scoring at 7.65 / 10</a:t>
            </a: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4892040"/>
          <a:ext cx="9692640" cy="777240"/>
        </p:xfrm>
        <a:graphic>
          <a:graphicData uri="http://schemas.openxmlformats.org/drawingml/2006/table">
            <a:tbl>
              <a:tblPr/>
              <a:tblGrid>
                <a:gridCol w="4206240"/>
                <a:gridCol w="2743200"/>
                <a:gridCol w="2743200"/>
              </a:tblGrid>
              <a:tr h="259080">
                <a:tc>
                  <a:txBody>
                    <a:bodyPr/>
                    <a:lstStyle/>
                    <a:p>
                      <a:pPr indent="0" marL="0">
                        <a:buNone/>
                      </a:pPr>
                      <a:r>
                        <a:rPr lang="en-US" sz="950" b="1" dirty="0">
                          <a:solidFill>
                            <a:srgbClr val="9FB3CC"/>
                          </a:solidFill>
                        </a:rPr>
                        <a:t>Metric</a:t>
                      </a:r>
                      <a:endParaRPr lang="en-US" sz="950" dirty="0"/>
                    </a:p>
                  </a:txBody>
                  <a:tcPr marL="76200" marR="76200" marT="38100" marB="381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13315C"/>
                    </a:solidFill>
                  </a:tcPr>
                </a:tc>
                <a:tc>
                  <a:txBody>
                    <a:bodyPr/>
                    <a:lstStyle/>
                    <a:p>
                      <a:pPr algn="ctr" indent="0" marL="0">
                        <a:buNone/>
                      </a:pPr>
                      <a:r>
                        <a:rPr lang="en-US" sz="950" b="1" dirty="0">
                          <a:solidFill>
                            <a:srgbClr val="9FB3CC"/>
                          </a:solidFill>
                        </a:rPr>
                        <a:t>Before</a:t>
                      </a:r>
                      <a:endParaRPr lang="en-US" sz="950" dirty="0"/>
                    </a:p>
                  </a:txBody>
                  <a:tcPr marL="76200" marR="76200" marT="38100" marB="381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13315C"/>
                    </a:solidFill>
                  </a:tcPr>
                </a:tc>
                <a:tc>
                  <a:txBody>
                    <a:bodyPr/>
                    <a:lstStyle/>
                    <a:p>
                      <a:pPr algn="ctr" indent="0" marL="0">
                        <a:buNone/>
                      </a:pPr>
                      <a:r>
                        <a:rPr lang="en-US" sz="950" b="1" dirty="0">
                          <a:solidFill>
                            <a:srgbClr val="FBC850"/>
                          </a:solidFill>
                        </a:rPr>
                        <a:t>SMART target</a:t>
                      </a:r>
                      <a:endParaRPr lang="en-US" sz="950" dirty="0"/>
                    </a:p>
                  </a:txBody>
                  <a:tcPr marL="76200" marR="76200" marT="38100" marB="381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13315C"/>
                    </a:solidFill>
                  </a:tcPr>
                </a:tc>
              </a:tr>
              <a:tr h="259080">
                <a:tc>
                  <a:txBody>
                    <a:bodyPr/>
                    <a:lstStyle/>
                    <a:p>
                      <a:pPr indent="0" marL="0">
                        <a:buNone/>
                      </a:pPr>
                      <a:r>
                        <a:rPr lang="en-US" sz="950" dirty="0">
                          <a:solidFill>
                            <a:srgbClr val="FFFFFF"/>
                          </a:solidFill>
                        </a:rPr>
                        <a:t>Firmware defects / 1,000 units</a:t>
                      </a:r>
                      <a:endParaRPr lang="en-US" sz="950" dirty="0"/>
                    </a:p>
                  </a:txBody>
                  <a:tcPr marL="76200" marR="76200" marT="38100" marB="381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c>
                  <a:txBody>
                    <a:bodyPr/>
                    <a:lstStyle/>
                    <a:p>
                      <a:pPr algn="ctr" indent="0" marL="0">
                        <a:buNone/>
                      </a:pPr>
                      <a:r>
                        <a:rPr lang="en-US" sz="950" dirty="0">
                          <a:solidFill>
                            <a:srgbClr val="FFFFFF"/>
                          </a:solidFill>
                        </a:rPr>
                        <a:t>4.2</a:t>
                      </a:r>
                      <a:endParaRPr lang="en-US" sz="950" dirty="0"/>
                    </a:p>
                  </a:txBody>
                  <a:tcPr marL="76200" marR="76200" marT="38100" marB="381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c>
                  <a:txBody>
                    <a:bodyPr/>
                    <a:lstStyle/>
                    <a:p>
                      <a:pPr algn="ctr" indent="0" marL="0">
                        <a:buNone/>
                      </a:pPr>
                      <a:r>
                        <a:rPr lang="en-US" sz="950" b="1" dirty="0">
                          <a:solidFill>
                            <a:srgbClr val="FBC850"/>
                          </a:solidFill>
                        </a:rPr>
                        <a:t>≤ 1.0 in 2 quarters</a:t>
                      </a:r>
                      <a:endParaRPr lang="en-US" sz="950" dirty="0"/>
                    </a:p>
                  </a:txBody>
                  <a:tcPr marL="76200" marR="76200" marT="38100" marB="381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r>
              <a:tr h="259080">
                <a:tc>
                  <a:txBody>
                    <a:bodyPr/>
                    <a:lstStyle/>
                    <a:p>
                      <a:pPr indent="0" marL="0">
                        <a:buNone/>
                      </a:pPr>
                      <a:r>
                        <a:rPr lang="en-US" sz="950" dirty="0">
                          <a:solidFill>
                            <a:srgbClr val="FFFFFF"/>
                          </a:solidFill>
                        </a:rPr>
                        <a:t>Weighted score vs. alternatives</a:t>
                      </a:r>
                      <a:endParaRPr lang="en-US" sz="950" dirty="0"/>
                    </a:p>
                  </a:txBody>
                  <a:tcPr marL="76200" marR="76200" marT="38100" marB="381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c>
                  <a:txBody>
                    <a:bodyPr/>
                    <a:lstStyle/>
                    <a:p>
                      <a:pPr algn="ctr" indent="0" marL="0">
                        <a:buNone/>
                      </a:pPr>
                      <a:r>
                        <a:rPr lang="en-US" sz="950" dirty="0">
                          <a:solidFill>
                            <a:srgbClr val="FFFFFF"/>
                          </a:solidFill>
                        </a:rPr>
                        <a:t>—</a:t>
                      </a:r>
                      <a:endParaRPr lang="en-US" sz="950" dirty="0"/>
                    </a:p>
                  </a:txBody>
                  <a:tcPr marL="76200" marR="76200" marT="38100" marB="381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c>
                  <a:txBody>
                    <a:bodyPr/>
                    <a:lstStyle/>
                    <a:p>
                      <a:pPr algn="ctr" indent="0" marL="0">
                        <a:buNone/>
                      </a:pPr>
                      <a:r>
                        <a:rPr lang="en-US" sz="950" b="1" dirty="0">
                          <a:solidFill>
                            <a:srgbClr val="FBC850"/>
                          </a:solidFill>
                        </a:rPr>
                        <a:t>7.65 / 10 (highest of 3)</a:t>
                      </a:r>
                      <a:endParaRPr lang="en-US" sz="950" dirty="0"/>
                    </a:p>
                  </a:txBody>
                  <a:tcPr marL="76200" marR="76200" marT="38100" marB="38100" anchor="ctr">
                    <a:lnL w="12700" cap="flat" cmpd="sng" algn="ctr">
                      <a:solidFill>
                        <a:srgbClr val="24466F"/>
                      </a:solidFill>
                      <a:prstDash val="solid"/>
                      <a:round/>
                      <a:headEnd type="none" w="med" len="med"/>
                      <a:tailEnd type="none" w="med" len="med"/>
                    </a:lnL>
                    <a:lnR w="12700" cap="flat" cmpd="sng" algn="ctr">
                      <a:solidFill>
                        <a:srgbClr val="24466F"/>
                      </a:solidFill>
                      <a:prstDash val="solid"/>
                      <a:round/>
                      <a:headEnd type="none" w="med" len="med"/>
                      <a:tailEnd type="none" w="med" len="med"/>
                    </a:lnR>
                    <a:lnT w="12700" cap="flat" cmpd="sng" algn="ctr">
                      <a:solidFill>
                        <a:srgbClr val="24466F"/>
                      </a:solidFill>
                      <a:prstDash val="solid"/>
                      <a:round/>
                      <a:headEnd type="none" w="med" len="med"/>
                      <a:tailEnd type="none" w="med" len="med"/>
                    </a:lnT>
                    <a:lnB w="12700" cap="flat" cmpd="sng" algn="ctr">
                      <a:solidFill>
                        <a:srgbClr val="24466F"/>
                      </a:solidFill>
                      <a:prstDash val="solid"/>
                      <a:round/>
                      <a:headEnd type="none" w="med" len="med"/>
                      <a:tailEnd type="none" w="med" len="med"/>
                    </a:lnB>
                    <a:solidFill>
                      <a:srgbClr val="0F2A50"/>
                    </a:solidFill>
                  </a:tcPr>
                </a:tc>
              </a:tr>
            </a:tbl>
          </a:graphicData>
        </a:graphic>
      </p:graphicFrame>
      <p:sp>
        <p:nvSpPr>
          <p:cNvPr id="61" name="Text 53"/>
          <p:cNvSpPr txBox="1"/>
          <p:nvPr/>
        </p:nvSpPr>
        <p:spPr>
          <a:xfrm>
            <a:off x="777240" y="5760720"/>
            <a:ext cx="9692640" cy="457200"/>
          </a:xfrm>
          <a:prstGeom prst="rect">
            <a:avLst/>
          </a:prstGeom>
          <a:noFill/>
          <a:ln/>
        </p:spPr>
        <p:txBody>
          <a:bodyPr wrap="square" lIns="0" tIns="0" rIns="0" bIns="0" rtlCol="0" anchor="ctr"/>
          <a:lstStyle/>
          <a:p>
            <a:pPr indent="0" marL="0">
              <a:buNone/>
            </a:pPr>
            <a:r>
              <a:rPr lang="en-US" sz="1150" b="1" i="1" dirty="0">
                <a:solidFill>
                  <a:srgbClr val="FBC850"/>
                </a:solidFill>
                <a:latin typeface="Calibri" pitchFamily="34" charset="0"/>
                <a:ea typeface="Calibri" pitchFamily="34" charset="-122"/>
                <a:cs typeface="Calibri" pitchFamily="34" charset="-120"/>
              </a:rPr>
              <a:t>Outcome:  the OTA-capable thermostat controller (Rev C) was greenlit for Q3 delivery — directly traceable from mission to funded project.</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C9C2AE"/>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0B2C5D"/>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C9C2AE"/>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0B2C5D"/>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5B6B84"/>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5B6B84"/>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5B6B84"/>
                </a:solidFill>
                <a:latin typeface="Calibri" pitchFamily="34" charset="0"/>
                <a:ea typeface="Calibri" pitchFamily="34" charset="-122"/>
                <a:cs typeface="Calibri" pitchFamily="34" charset="-120"/>
              </a:rPr>
              <a:t>20</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SECTION 6 · CASE STUDY &amp; ASSIGNMENT</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0B2C5D"/>
                </a:solidFill>
                <a:latin typeface="Calibri" pitchFamily="34" charset="0"/>
                <a:ea typeface="Calibri" pitchFamily="34" charset="-122"/>
                <a:cs typeface="Calibri" pitchFamily="34" charset="-120"/>
              </a:rPr>
              <a:t>Assignment</a:t>
            </a:r>
            <a:endParaRPr lang="en-US" sz="2700" dirty="0"/>
          </a:p>
        </p:txBody>
      </p:sp>
      <p:sp>
        <p:nvSpPr>
          <p:cNvPr id="36" name="Shape 33"/>
          <p:cNvSpPr/>
          <p:nvPr/>
        </p:nvSpPr>
        <p:spPr>
          <a:xfrm>
            <a:off x="777240" y="2514600"/>
            <a:ext cx="10607040" cy="3246120"/>
          </a:xfrm>
          <a:prstGeom prst="roundRect">
            <a:avLst>
              <a:gd name="adj" fmla="val 2817"/>
            </a:avLst>
          </a:prstGeom>
          <a:solidFill>
            <a:srgbClr val="FFFFFF"/>
          </a:solidFill>
          <a:ln w="12700">
            <a:solidFill>
              <a:srgbClr val="E7E1D3"/>
            </a:solidFill>
            <a:prstDash val="solid"/>
          </a:ln>
          <a:effectLst>
            <a:outerShdw sx="100000" sy="100000" kx="0" ky="0" algn="bl" rotWithShape="0" blurRad="88900" dist="25400" dir="5400000">
              <a:srgbClr val="0B2C5D">
                <a:alpha val="14000"/>
              </a:srgbClr>
            </a:outerShdw>
          </a:effectLst>
        </p:spPr>
      </p:sp>
      <p:sp>
        <p:nvSpPr>
          <p:cNvPr id="37" name="Shape 34"/>
          <p:cNvSpPr/>
          <p:nvPr/>
        </p:nvSpPr>
        <p:spPr>
          <a:xfrm>
            <a:off x="777240" y="2514600"/>
            <a:ext cx="10607040" cy="73152"/>
          </a:xfrm>
          <a:prstGeom prst="rect">
            <a:avLst/>
          </a:prstGeom>
          <a:solidFill>
            <a:srgbClr val="FC7468"/>
          </a:solidFill>
          <a:ln/>
        </p:spPr>
      </p:sp>
      <p:sp>
        <p:nvSpPr>
          <p:cNvPr id="38" name="Text 35"/>
          <p:cNvSpPr txBox="1"/>
          <p:nvPr/>
        </p:nvSpPr>
        <p:spPr>
          <a:xfrm>
            <a:off x="1051560" y="2724912"/>
            <a:ext cx="10058400" cy="292608"/>
          </a:xfrm>
          <a:prstGeom prst="rect">
            <a:avLst/>
          </a:prstGeom>
          <a:noFill/>
          <a:ln/>
        </p:spPr>
        <p:txBody>
          <a:bodyPr wrap="square" lIns="0" tIns="0" rIns="0" bIns="0" rtlCol="0" anchor="ctr"/>
          <a:lstStyle/>
          <a:p>
            <a:pPr indent="0" marL="0">
              <a:buNone/>
            </a:pPr>
            <a:r>
              <a:rPr lang="en-US" sz="1300" b="1" dirty="0">
                <a:solidFill>
                  <a:srgbClr val="0B2C5D"/>
                </a:solidFill>
                <a:latin typeface="Calibri" pitchFamily="34" charset="0"/>
                <a:ea typeface="Calibri" pitchFamily="34" charset="-122"/>
                <a:cs typeface="Calibri" pitchFamily="34" charset="-120"/>
              </a:rPr>
              <a:t>Pick a real or hypothetical engineering organization and:</a:t>
            </a:r>
            <a:endParaRPr lang="en-US" sz="1300" dirty="0"/>
          </a:p>
        </p:txBody>
      </p:sp>
      <p:sp>
        <p:nvSpPr>
          <p:cNvPr id="39" name="Text 36"/>
          <p:cNvSpPr txBox="1"/>
          <p:nvPr/>
        </p:nvSpPr>
        <p:spPr>
          <a:xfrm>
            <a:off x="1051560" y="2999232"/>
            <a:ext cx="9966960" cy="274320"/>
          </a:xfrm>
          <a:prstGeom prst="rect">
            <a:avLst/>
          </a:prstGeom>
          <a:noFill/>
          <a:ln/>
        </p:spPr>
        <p:txBody>
          <a:bodyPr wrap="square" lIns="0" tIns="0" rIns="0" bIns="0" rtlCol="0" anchor="ctr"/>
          <a:lstStyle/>
          <a:p>
            <a:pPr indent="0" marL="0">
              <a:buNone/>
            </a:pPr>
            <a:r>
              <a:rPr lang="en-US" sz="1000" i="1" dirty="0">
                <a:solidFill>
                  <a:srgbClr val="5B6B84"/>
                </a:solidFill>
                <a:latin typeface="Calibri" pitchFamily="34" charset="0"/>
                <a:ea typeface="Calibri" pitchFamily="34" charset="-122"/>
                <a:cs typeface="Calibri" pitchFamily="34" charset="-120"/>
              </a:rPr>
              <a:t>Need inspiration? Consider Tesla, ARM, the Raspberry Pi Foundation, a campus club, a startup idea, or your own thesis lab.</a:t>
            </a:r>
            <a:endParaRPr lang="en-US" sz="1000" dirty="0"/>
          </a:p>
        </p:txBody>
      </p:sp>
      <p:sp>
        <p:nvSpPr>
          <p:cNvPr id="40" name="Text 37"/>
          <p:cNvSpPr txBox="1"/>
          <p:nvPr/>
        </p:nvSpPr>
        <p:spPr>
          <a:xfrm>
            <a:off x="1051560" y="3364992"/>
            <a:ext cx="9966960" cy="2331720"/>
          </a:xfrm>
          <a:prstGeom prst="rect">
            <a:avLst/>
          </a:prstGeom>
          <a:noFill/>
          <a:ln/>
        </p:spPr>
        <p:txBody>
          <a:bodyPr wrap="square" lIns="0" tIns="0" rIns="0" bIns="0" rtlCol="0" anchor="ctr"/>
          <a:lstStyle/>
          <a:p>
            <a:pPr marL="228600" indent="-228600">
              <a:lnSpc>
                <a:spcPct val="118000"/>
              </a:lnSpc>
              <a:spcAft>
                <a:spcPts val="1000"/>
              </a:spcAft>
              <a:buSzPct val="100000"/>
              <a:buChar char="•"/>
            </a:pPr>
            <a:r>
              <a:rPr lang="en-US" sz="1200" dirty="0">
                <a:solidFill>
                  <a:srgbClr val="0B2C5D"/>
                </a:solidFill>
                <a:latin typeface="Calibri" pitchFamily="34" charset="0"/>
                <a:ea typeface="Calibri" pitchFamily="34" charset="-122"/>
                <a:cs typeface="Calibri" pitchFamily="34" charset="-120"/>
              </a:rPr>
              <a:t>Write a one-paragraph mission statement and identify its generic strategic option.</a:t>
            </a:r>
            <a:endParaRPr lang="en-US" sz="1200" dirty="0"/>
          </a:p>
          <a:p>
            <a:pPr marL="228600" indent="-228600">
              <a:lnSpc>
                <a:spcPct val="118000"/>
              </a:lnSpc>
              <a:spcAft>
                <a:spcPts val="1000"/>
              </a:spcAft>
              <a:buSzPct val="100000"/>
              <a:buChar char="•"/>
            </a:pPr>
            <a:r>
              <a:rPr lang="en-US" sz="1200" dirty="0">
                <a:solidFill>
                  <a:srgbClr val="0B2C5D"/>
                </a:solidFill>
                <a:latin typeface="Calibri" pitchFamily="34" charset="0"/>
                <a:ea typeface="Calibri" pitchFamily="34" charset="-122"/>
                <a:cs typeface="Calibri" pitchFamily="34" charset="-120"/>
              </a:rPr>
              <a:t>Produce a 4-quadrant SWOT analysis with at least 3 points per quadrant.</a:t>
            </a:r>
            <a:endParaRPr lang="en-US" sz="1200" dirty="0"/>
          </a:p>
          <a:p>
            <a:pPr marL="228600" indent="-228600">
              <a:lnSpc>
                <a:spcPct val="118000"/>
              </a:lnSpc>
              <a:spcAft>
                <a:spcPts val="1000"/>
              </a:spcAft>
              <a:buSzPct val="100000"/>
              <a:buChar char="•"/>
            </a:pPr>
            <a:r>
              <a:rPr lang="en-US" sz="1200" dirty="0">
                <a:solidFill>
                  <a:srgbClr val="0B2C5D"/>
                </a:solidFill>
                <a:latin typeface="Calibri" pitchFamily="34" charset="0"/>
                <a:ea typeface="Calibri" pitchFamily="34" charset="-122"/>
                <a:cs typeface="Calibri" pitchFamily="34" charset="-120"/>
              </a:rPr>
              <a:t>Write one SMART objective derived from an opportunity you identified.</a:t>
            </a:r>
            <a:endParaRPr lang="en-US" sz="1200" dirty="0"/>
          </a:p>
          <a:p>
            <a:pPr marL="228600" indent="-228600">
              <a:lnSpc>
                <a:spcPct val="118000"/>
              </a:lnSpc>
              <a:spcAft>
                <a:spcPts val="1000"/>
              </a:spcAft>
              <a:buSzPct val="100000"/>
              <a:buChar char="•"/>
            </a:pPr>
            <a:r>
              <a:rPr lang="en-US" sz="1200" dirty="0">
                <a:solidFill>
                  <a:srgbClr val="0B2C5D"/>
                </a:solidFill>
                <a:latin typeface="Calibri" pitchFamily="34" charset="0"/>
                <a:ea typeface="Calibri" pitchFamily="34" charset="-122"/>
                <a:cs typeface="Calibri" pitchFamily="34" charset="-120"/>
              </a:rPr>
              <a:t>Propose 3 candidate projects and score them with a 4-criterion weighted-scoring model (show your weights and math).</a:t>
            </a:r>
            <a:endParaRPr lang="en-US" sz="1200" dirty="0"/>
          </a:p>
        </p:txBody>
      </p:sp>
      <p:sp>
        <p:nvSpPr>
          <p:cNvPr id="41" name="Shape 38"/>
          <p:cNvSpPr/>
          <p:nvPr/>
        </p:nvSpPr>
        <p:spPr>
          <a:xfrm>
            <a:off x="777240" y="5897880"/>
            <a:ext cx="3291840" cy="457200"/>
          </a:xfrm>
          <a:prstGeom prst="roundRect">
            <a:avLst>
              <a:gd name="adj" fmla="val 18000"/>
            </a:avLst>
          </a:prstGeom>
          <a:solidFill>
            <a:srgbClr val="FDE4E1"/>
          </a:solidFill>
          <a:ln w="12700">
            <a:solidFill>
              <a:srgbClr val="FC7468"/>
            </a:solidFill>
            <a:prstDash val="solid"/>
          </a:ln>
        </p:spPr>
      </p:sp>
      <p:sp>
        <p:nvSpPr>
          <p:cNvPr id="42" name="Text 39"/>
          <p:cNvSpPr txBox="1"/>
          <p:nvPr/>
        </p:nvSpPr>
        <p:spPr>
          <a:xfrm>
            <a:off x="960120" y="5897880"/>
            <a:ext cx="640080" cy="457200"/>
          </a:xfrm>
          <a:prstGeom prst="rect">
            <a:avLst/>
          </a:prstGeom>
          <a:noFill/>
          <a:ln/>
        </p:spPr>
        <p:txBody>
          <a:bodyPr wrap="square" lIns="0" tIns="0" rIns="0" bIns="0" rtlCol="0" anchor="ctr"/>
          <a:lstStyle/>
          <a:p>
            <a:pPr indent="0" marL="0">
              <a:buNone/>
            </a:pPr>
            <a:r>
              <a:rPr lang="en-US" sz="1100" b="1" dirty="0">
                <a:solidFill>
                  <a:srgbClr val="FC7468"/>
                </a:solidFill>
                <a:latin typeface="Calibri" pitchFamily="34" charset="0"/>
                <a:ea typeface="Calibri" pitchFamily="34" charset="-122"/>
                <a:cs typeface="Calibri" pitchFamily="34" charset="-120"/>
              </a:rPr>
              <a:t>DUE:</a:t>
            </a:r>
            <a:endParaRPr lang="en-US" sz="1100" dirty="0"/>
          </a:p>
        </p:txBody>
      </p:sp>
      <p:sp>
        <p:nvSpPr>
          <p:cNvPr id="43" name="Text 40"/>
          <p:cNvSpPr txBox="1"/>
          <p:nvPr/>
        </p:nvSpPr>
        <p:spPr>
          <a:xfrm>
            <a:off x="1508760" y="5897880"/>
            <a:ext cx="2468880" cy="457200"/>
          </a:xfrm>
          <a:prstGeom prst="rect">
            <a:avLst/>
          </a:prstGeom>
          <a:noFill/>
          <a:ln/>
        </p:spPr>
        <p:txBody>
          <a:bodyPr wrap="square" lIns="0" tIns="0" rIns="0" bIns="0" rtlCol="0" anchor="ctr"/>
          <a:lstStyle/>
          <a:p>
            <a:pPr indent="0" marL="0">
              <a:buNone/>
            </a:pPr>
            <a:r>
              <a:rPr lang="en-US" sz="1100" dirty="0">
                <a:solidFill>
                  <a:srgbClr val="0B2C5D"/>
                </a:solidFill>
                <a:latin typeface="Calibri" pitchFamily="34" charset="0"/>
                <a:ea typeface="Calibri" pitchFamily="34" charset="-122"/>
                <a:cs typeface="Calibri" pitchFamily="34" charset="-120"/>
              </a:rPr>
              <a:t>Next lecture, in class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1874520" y="356616"/>
            <a:ext cx="365760" cy="365760"/>
          </a:xfrm>
          <a:prstGeom prst="ellipse">
            <a:avLst/>
          </a:prstGeom>
          <a:solidFill>
            <a:srgbClr val="1CACBD"/>
          </a:solidFill>
          <a:ln/>
        </p:spPr>
      </p:sp>
      <p:pic>
        <p:nvPicPr>
          <p:cNvPr id="3" name="Image 0" descr="/home/claude/work/build/icons/monitor.png">    </p:cNvPr>
          <p:cNvPicPr>
            <a:picLocks noChangeAspect="1"/>
          </p:cNvPicPr>
          <p:nvPr/>
        </p:nvPicPr>
        <p:blipFill>
          <a:blip r:embed="rId1"/>
          <a:stretch>
            <a:fillRect/>
          </a:stretch>
        </p:blipFill>
        <p:spPr>
          <a:xfrm>
            <a:off x="1956816" y="438912"/>
            <a:ext cx="201168" cy="201168"/>
          </a:xfrm>
          <a:prstGeom prst="rect">
            <a:avLst/>
          </a:prstGeom>
        </p:spPr>
      </p:pic>
      <p:sp>
        <p:nvSpPr>
          <p:cNvPr id="4" name="Text 1"/>
          <p:cNvSpPr txBox="1"/>
          <p:nvPr/>
        </p:nvSpPr>
        <p:spPr>
          <a:xfrm>
            <a:off x="2331720" y="329184"/>
            <a:ext cx="13716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26CPE4602</a:t>
            </a:r>
            <a:endParaRPr lang="en-US" sz="1300" dirty="0"/>
          </a:p>
        </p:txBody>
      </p:sp>
      <p:sp>
        <p:nvSpPr>
          <p:cNvPr id="5" name="Shape 2"/>
          <p:cNvSpPr/>
          <p:nvPr/>
        </p:nvSpPr>
        <p:spPr>
          <a:xfrm>
            <a:off x="3977640" y="292608"/>
            <a:ext cx="0" cy="384048"/>
          </a:xfrm>
          <a:prstGeom prst="line">
            <a:avLst/>
          </a:prstGeom>
          <a:noFill/>
          <a:ln w="12700">
            <a:solidFill>
              <a:srgbClr val="3A5578"/>
            </a:solidFill>
            <a:prstDash val="solid"/>
          </a:ln>
        </p:spPr>
      </p:sp>
      <p:sp>
        <p:nvSpPr>
          <p:cNvPr id="6" name="Text 3"/>
          <p:cNvSpPr txBox="1"/>
          <p:nvPr/>
        </p:nvSpPr>
        <p:spPr>
          <a:xfrm>
            <a:off x="4206240" y="329184"/>
            <a:ext cx="3931920" cy="365760"/>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Lecture 2: Organization Strategy &amp; Project Selection</a:t>
            </a:r>
            <a:endParaRPr lang="en-US" sz="1250" dirty="0"/>
          </a:p>
        </p:txBody>
      </p:sp>
      <p:sp>
        <p:nvSpPr>
          <p:cNvPr id="7" name="Shape 4"/>
          <p:cNvSpPr/>
          <p:nvPr/>
        </p:nvSpPr>
        <p:spPr>
          <a:xfrm>
            <a:off x="8366760" y="292608"/>
            <a:ext cx="0" cy="384048"/>
          </a:xfrm>
          <a:prstGeom prst="line">
            <a:avLst/>
          </a:prstGeom>
          <a:noFill/>
          <a:ln w="12700">
            <a:solidFill>
              <a:srgbClr val="3A5578"/>
            </a:solidFill>
            <a:prstDash val="solid"/>
          </a:ln>
        </p:spPr>
      </p:sp>
      <p:sp>
        <p:nvSpPr>
          <p:cNvPr id="8" name="Text 5"/>
          <p:cNvSpPr txBox="1"/>
          <p:nvPr/>
        </p:nvSpPr>
        <p:spPr>
          <a:xfrm>
            <a:off x="8595360" y="329184"/>
            <a:ext cx="310896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Dr. Zahraa Ismail</a:t>
            </a:r>
            <a:endParaRPr lang="en-US" sz="1250" dirty="0"/>
          </a:p>
        </p:txBody>
      </p:sp>
      <p:sp>
        <p:nvSpPr>
          <p:cNvPr id="9" name="Text 6">
            <a:hlinkClick r:id="rId2" tooltip="" action="ppaction://hlinksldjump"/>
          </p:cNvPr>
          <p:cNvSpPr txBox="1"/>
          <p:nvPr/>
        </p:nvSpPr>
        <p:spPr>
          <a:xfrm>
            <a:off x="10271455" y="384048"/>
            <a:ext cx="1417320" cy="274320"/>
          </a:xfrm>
          <a:prstGeom prst="rect">
            <a:avLst/>
          </a:prstGeom>
          <a:noFill/>
          <a:ln/>
        </p:spPr>
        <p:txBody>
          <a:bodyPr wrap="square" lIns="0" tIns="0" rIns="0" bIns="0" rtlCol="0" anchor="ctr"/>
          <a:lstStyle/>
          <a:p>
            <a:pPr algn="r" indent="0" marL="0">
              <a:buNone/>
            </a:pPr>
            <a:r>
              <a:rPr lang="en-US" sz="1050" b="1" u="sng" dirty="0">
                <a:solidFill>
                  <a:srgbClr val="9FB3CC"/>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050" dirty="0"/>
          </a:p>
        </p:txBody>
      </p:sp>
      <p:sp>
        <p:nvSpPr>
          <p:cNvPr id="10" name="Shape 7"/>
          <p:cNvSpPr/>
          <p:nvPr/>
        </p:nvSpPr>
        <p:spPr>
          <a:xfrm>
            <a:off x="11990527" y="0"/>
            <a:ext cx="201168" cy="1920240"/>
          </a:xfrm>
          <a:prstGeom prst="rect">
            <a:avLst/>
          </a:prstGeom>
          <a:solidFill>
            <a:srgbClr val="1CACBD"/>
          </a:solidFill>
          <a:ln/>
        </p:spPr>
      </p:sp>
      <p:sp>
        <p:nvSpPr>
          <p:cNvPr id="11" name="Shape 8"/>
          <p:cNvSpPr/>
          <p:nvPr/>
        </p:nvSpPr>
        <p:spPr>
          <a:xfrm>
            <a:off x="11990527" y="1920240"/>
            <a:ext cx="201168" cy="1714500"/>
          </a:xfrm>
          <a:prstGeom prst="rect">
            <a:avLst/>
          </a:prstGeom>
          <a:solidFill>
            <a:srgbClr val="FC7468"/>
          </a:solidFill>
          <a:ln/>
        </p:spPr>
      </p:sp>
      <p:sp>
        <p:nvSpPr>
          <p:cNvPr id="12" name="Shape 9"/>
          <p:cNvSpPr/>
          <p:nvPr/>
        </p:nvSpPr>
        <p:spPr>
          <a:xfrm>
            <a:off x="11990527" y="3634740"/>
            <a:ext cx="201168" cy="1714500"/>
          </a:xfrm>
          <a:prstGeom prst="rect">
            <a:avLst/>
          </a:prstGeom>
          <a:solidFill>
            <a:srgbClr val="FBC850"/>
          </a:solidFill>
          <a:ln/>
        </p:spPr>
      </p:sp>
      <p:sp>
        <p:nvSpPr>
          <p:cNvPr id="13" name="Shape 10"/>
          <p:cNvSpPr/>
          <p:nvPr/>
        </p:nvSpPr>
        <p:spPr>
          <a:xfrm>
            <a:off x="11990527" y="5349240"/>
            <a:ext cx="201168" cy="1508760"/>
          </a:xfrm>
          <a:prstGeom prst="rect">
            <a:avLst/>
          </a:prstGeom>
          <a:solidFill>
            <a:srgbClr val="0B2C5D"/>
          </a:solidFill>
          <a:ln/>
        </p:spPr>
      </p:sp>
      <p:sp>
        <p:nvSpPr>
          <p:cNvPr id="14" name="Shape 11"/>
          <p:cNvSpPr/>
          <p:nvPr/>
        </p:nvSpPr>
        <p:spPr>
          <a:xfrm>
            <a:off x="320040" y="274320"/>
            <a:ext cx="41148" cy="41148"/>
          </a:xfrm>
          <a:prstGeom prst="ellipse">
            <a:avLst/>
          </a:prstGeom>
          <a:solidFill>
            <a:srgbClr val="1CACBD"/>
          </a:solidFill>
          <a:ln/>
        </p:spPr>
      </p:sp>
      <p:sp>
        <p:nvSpPr>
          <p:cNvPr id="15" name="Shape 12"/>
          <p:cNvSpPr/>
          <p:nvPr/>
        </p:nvSpPr>
        <p:spPr>
          <a:xfrm>
            <a:off x="448056" y="274320"/>
            <a:ext cx="41148" cy="41148"/>
          </a:xfrm>
          <a:prstGeom prst="ellipse">
            <a:avLst/>
          </a:prstGeom>
          <a:solidFill>
            <a:srgbClr val="1CACBD"/>
          </a:solidFill>
          <a:ln/>
        </p:spPr>
      </p:sp>
      <p:sp>
        <p:nvSpPr>
          <p:cNvPr id="16" name="Shape 13"/>
          <p:cNvSpPr/>
          <p:nvPr/>
        </p:nvSpPr>
        <p:spPr>
          <a:xfrm>
            <a:off x="576072" y="274320"/>
            <a:ext cx="41148" cy="41148"/>
          </a:xfrm>
          <a:prstGeom prst="ellipse">
            <a:avLst/>
          </a:prstGeom>
          <a:solidFill>
            <a:srgbClr val="1CACBD"/>
          </a:solidFill>
          <a:ln/>
        </p:spPr>
      </p:sp>
      <p:sp>
        <p:nvSpPr>
          <p:cNvPr id="17" name="Shape 14"/>
          <p:cNvSpPr/>
          <p:nvPr/>
        </p:nvSpPr>
        <p:spPr>
          <a:xfrm>
            <a:off x="704088" y="274320"/>
            <a:ext cx="41148" cy="41148"/>
          </a:xfrm>
          <a:prstGeom prst="ellipse">
            <a:avLst/>
          </a:prstGeom>
          <a:solidFill>
            <a:srgbClr val="1CACBD"/>
          </a:solidFill>
          <a:ln/>
        </p:spPr>
      </p:sp>
      <p:sp>
        <p:nvSpPr>
          <p:cNvPr id="18" name="Shape 15"/>
          <p:cNvSpPr/>
          <p:nvPr/>
        </p:nvSpPr>
        <p:spPr>
          <a:xfrm>
            <a:off x="320040" y="402336"/>
            <a:ext cx="41148" cy="41148"/>
          </a:xfrm>
          <a:prstGeom prst="ellipse">
            <a:avLst/>
          </a:prstGeom>
          <a:solidFill>
            <a:srgbClr val="1CACBD"/>
          </a:solidFill>
          <a:ln/>
        </p:spPr>
      </p:sp>
      <p:sp>
        <p:nvSpPr>
          <p:cNvPr id="19" name="Shape 16"/>
          <p:cNvSpPr/>
          <p:nvPr/>
        </p:nvSpPr>
        <p:spPr>
          <a:xfrm>
            <a:off x="448056" y="402336"/>
            <a:ext cx="41148" cy="41148"/>
          </a:xfrm>
          <a:prstGeom prst="ellipse">
            <a:avLst/>
          </a:prstGeom>
          <a:solidFill>
            <a:srgbClr val="1CACBD"/>
          </a:solidFill>
          <a:ln/>
        </p:spPr>
      </p:sp>
      <p:sp>
        <p:nvSpPr>
          <p:cNvPr id="20" name="Shape 17"/>
          <p:cNvSpPr/>
          <p:nvPr/>
        </p:nvSpPr>
        <p:spPr>
          <a:xfrm>
            <a:off x="576072" y="402336"/>
            <a:ext cx="41148" cy="41148"/>
          </a:xfrm>
          <a:prstGeom prst="ellipse">
            <a:avLst/>
          </a:prstGeom>
          <a:solidFill>
            <a:srgbClr val="1CACBD"/>
          </a:solidFill>
          <a:ln/>
        </p:spPr>
      </p:sp>
      <p:sp>
        <p:nvSpPr>
          <p:cNvPr id="21" name="Shape 18"/>
          <p:cNvSpPr/>
          <p:nvPr/>
        </p:nvSpPr>
        <p:spPr>
          <a:xfrm>
            <a:off x="704088" y="402336"/>
            <a:ext cx="41148" cy="41148"/>
          </a:xfrm>
          <a:prstGeom prst="ellipse">
            <a:avLst/>
          </a:prstGeom>
          <a:solidFill>
            <a:srgbClr val="1CACBD"/>
          </a:solidFill>
          <a:ln/>
        </p:spPr>
      </p:sp>
      <p:sp>
        <p:nvSpPr>
          <p:cNvPr id="22" name="Shape 19"/>
          <p:cNvSpPr/>
          <p:nvPr/>
        </p:nvSpPr>
        <p:spPr>
          <a:xfrm>
            <a:off x="320040" y="530352"/>
            <a:ext cx="41148" cy="41148"/>
          </a:xfrm>
          <a:prstGeom prst="ellipse">
            <a:avLst/>
          </a:prstGeom>
          <a:solidFill>
            <a:srgbClr val="1CACBD"/>
          </a:solidFill>
          <a:ln/>
        </p:spPr>
      </p:sp>
      <p:sp>
        <p:nvSpPr>
          <p:cNvPr id="23" name="Shape 20"/>
          <p:cNvSpPr/>
          <p:nvPr/>
        </p:nvSpPr>
        <p:spPr>
          <a:xfrm>
            <a:off x="448056" y="530352"/>
            <a:ext cx="41148" cy="41148"/>
          </a:xfrm>
          <a:prstGeom prst="ellipse">
            <a:avLst/>
          </a:prstGeom>
          <a:solidFill>
            <a:srgbClr val="1CACBD"/>
          </a:solidFill>
          <a:ln/>
        </p:spPr>
      </p:sp>
      <p:sp>
        <p:nvSpPr>
          <p:cNvPr id="24" name="Shape 21"/>
          <p:cNvSpPr/>
          <p:nvPr/>
        </p:nvSpPr>
        <p:spPr>
          <a:xfrm>
            <a:off x="576072" y="530352"/>
            <a:ext cx="41148" cy="41148"/>
          </a:xfrm>
          <a:prstGeom prst="ellipse">
            <a:avLst/>
          </a:prstGeom>
          <a:solidFill>
            <a:srgbClr val="1CACBD"/>
          </a:solidFill>
          <a:ln/>
        </p:spPr>
      </p:sp>
      <p:sp>
        <p:nvSpPr>
          <p:cNvPr id="25" name="Shape 22"/>
          <p:cNvSpPr/>
          <p:nvPr/>
        </p:nvSpPr>
        <p:spPr>
          <a:xfrm>
            <a:off x="704088" y="530352"/>
            <a:ext cx="41148" cy="41148"/>
          </a:xfrm>
          <a:prstGeom prst="ellipse">
            <a:avLst/>
          </a:prstGeom>
          <a:solidFill>
            <a:srgbClr val="1CACBD"/>
          </a:solidFill>
          <a:ln/>
        </p:spPr>
      </p:sp>
      <p:sp>
        <p:nvSpPr>
          <p:cNvPr id="26" name="Shape 23"/>
          <p:cNvSpPr/>
          <p:nvPr/>
        </p:nvSpPr>
        <p:spPr>
          <a:xfrm>
            <a:off x="320040" y="658368"/>
            <a:ext cx="41148" cy="41148"/>
          </a:xfrm>
          <a:prstGeom prst="ellipse">
            <a:avLst/>
          </a:prstGeom>
          <a:solidFill>
            <a:srgbClr val="1CACBD"/>
          </a:solidFill>
          <a:ln/>
        </p:spPr>
      </p:sp>
      <p:sp>
        <p:nvSpPr>
          <p:cNvPr id="27" name="Shape 24"/>
          <p:cNvSpPr/>
          <p:nvPr/>
        </p:nvSpPr>
        <p:spPr>
          <a:xfrm>
            <a:off x="448056" y="658368"/>
            <a:ext cx="41148" cy="41148"/>
          </a:xfrm>
          <a:prstGeom prst="ellipse">
            <a:avLst/>
          </a:prstGeom>
          <a:solidFill>
            <a:srgbClr val="1CACBD"/>
          </a:solidFill>
          <a:ln/>
        </p:spPr>
      </p:sp>
      <p:sp>
        <p:nvSpPr>
          <p:cNvPr id="28" name="Shape 25"/>
          <p:cNvSpPr/>
          <p:nvPr/>
        </p:nvSpPr>
        <p:spPr>
          <a:xfrm>
            <a:off x="576072" y="658368"/>
            <a:ext cx="41148" cy="41148"/>
          </a:xfrm>
          <a:prstGeom prst="ellipse">
            <a:avLst/>
          </a:prstGeom>
          <a:solidFill>
            <a:srgbClr val="1CACBD"/>
          </a:solidFill>
          <a:ln/>
        </p:spPr>
      </p:sp>
      <p:sp>
        <p:nvSpPr>
          <p:cNvPr id="29" name="Shape 26"/>
          <p:cNvSpPr/>
          <p:nvPr/>
        </p:nvSpPr>
        <p:spPr>
          <a:xfrm>
            <a:off x="704088" y="658368"/>
            <a:ext cx="41148" cy="41148"/>
          </a:xfrm>
          <a:prstGeom prst="ellipse">
            <a:avLst/>
          </a:prstGeom>
          <a:solidFill>
            <a:srgbClr val="1CACBD"/>
          </a:solidFill>
          <a:ln/>
        </p:spPr>
      </p:sp>
      <p:sp>
        <p:nvSpPr>
          <p:cNvPr id="30" name="Shape 27"/>
          <p:cNvSpPr/>
          <p:nvPr/>
        </p:nvSpPr>
        <p:spPr>
          <a:xfrm>
            <a:off x="1051560" y="274320"/>
            <a:ext cx="219456" cy="219456"/>
          </a:xfrm>
          <a:prstGeom prst="ellipse">
            <a:avLst/>
          </a:prstGeom>
          <a:ln w="19050">
            <a:solidFill>
              <a:srgbClr val="1CACBD"/>
            </a:solidFill>
            <a:prstDash val="solid"/>
          </a:ln>
        </p:spPr>
      </p:sp>
      <p:sp>
        <p:nvSpPr>
          <p:cNvPr id="31" name="Text 28"/>
          <p:cNvSpPr txBox="1"/>
          <p:nvPr/>
        </p:nvSpPr>
        <p:spPr>
          <a:xfrm>
            <a:off x="548640" y="6473952"/>
            <a:ext cx="7772400" cy="256032"/>
          </a:xfrm>
          <a:prstGeom prst="rect">
            <a:avLst/>
          </a:prstGeom>
          <a:noFill/>
          <a:ln/>
        </p:spPr>
        <p:txBody>
          <a:bodyPr wrap="square" lIns="0" tIns="0" rIns="0" bIns="0" rtlCol="0" anchor="ctr"/>
          <a:lstStyle/>
          <a:p>
            <a:pPr indent="0" marL="0">
              <a:buNone/>
            </a:pPr>
            <a:r>
              <a:rPr lang="en-US" sz="900" dirty="0">
                <a:solidFill>
                  <a:srgbClr val="6C84A6"/>
                </a:solidFill>
                <a:latin typeface="Calibri" pitchFamily="34" charset="0"/>
                <a:ea typeface="Calibri" pitchFamily="34" charset="-122"/>
                <a:cs typeface="Calibri" pitchFamily="34" charset="-120"/>
              </a:rPr>
              <a:t>26CPE4602  ·  Lecture 2: Organization Strategy &amp; Project Selection  ·  Dr. Zahraa Ismail</a:t>
            </a:r>
            <a:endParaRPr lang="en-US" sz="900" dirty="0"/>
          </a:p>
        </p:txBody>
      </p:sp>
      <p:sp>
        <p:nvSpPr>
          <p:cNvPr id="32" name="Text 29"/>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6C84A6"/>
                </a:solidFill>
                <a:latin typeface="Calibri" pitchFamily="34" charset="0"/>
                <a:ea typeface="Calibri" pitchFamily="34" charset="-122"/>
                <a:cs typeface="Calibri" pitchFamily="34" charset="-120"/>
              </a:rPr>
              <a:t>21</a:t>
            </a:r>
            <a:endParaRPr lang="en-US" sz="1000" dirty="0"/>
          </a:p>
        </p:txBody>
      </p:sp>
      <p:sp>
        <p:nvSpPr>
          <p:cNvPr id="33" name="Text 30"/>
          <p:cNvSpPr txBox="1"/>
          <p:nvPr/>
        </p:nvSpPr>
        <p:spPr>
          <a:xfrm>
            <a:off x="548640" y="1188720"/>
            <a:ext cx="7315200" cy="292608"/>
          </a:xfrm>
          <a:prstGeom prst="rect">
            <a:avLst/>
          </a:prstGeom>
          <a:noFill/>
          <a:ln/>
        </p:spPr>
        <p:txBody>
          <a:bodyPr wrap="square" lIns="0" tIns="0" rIns="0" bIns="0" rtlCol="0" anchor="ctr"/>
          <a:lstStyle/>
          <a:p>
            <a:pPr indent="0" marL="0">
              <a:buNone/>
            </a:pPr>
            <a:r>
              <a:rPr lang="en-US" sz="1200" b="1" spc="130" kern="0" dirty="0">
                <a:solidFill>
                  <a:srgbClr val="FC7468"/>
                </a:solidFill>
                <a:latin typeface="Calibri" pitchFamily="34" charset="0"/>
                <a:ea typeface="Calibri" pitchFamily="34" charset="-122"/>
                <a:cs typeface="Calibri" pitchFamily="34" charset="-120"/>
              </a:rPr>
              <a:t>WRAP-UP</a:t>
            </a:r>
            <a:endParaRPr lang="en-US" sz="1200" dirty="0"/>
          </a:p>
        </p:txBody>
      </p:sp>
      <p:sp>
        <p:nvSpPr>
          <p:cNvPr id="34" name="Shape 31"/>
          <p:cNvSpPr/>
          <p:nvPr/>
        </p:nvSpPr>
        <p:spPr>
          <a:xfrm>
            <a:off x="548640" y="1591056"/>
            <a:ext cx="0" cy="713232"/>
          </a:xfrm>
          <a:prstGeom prst="line">
            <a:avLst/>
          </a:prstGeom>
          <a:noFill/>
          <a:ln w="50800">
            <a:solidFill>
              <a:srgbClr val="1CACBD"/>
            </a:solidFill>
            <a:prstDash val="solid"/>
          </a:ln>
        </p:spPr>
      </p:sp>
      <p:sp>
        <p:nvSpPr>
          <p:cNvPr id="35" name="Text 32"/>
          <p:cNvSpPr txBox="1"/>
          <p:nvPr/>
        </p:nvSpPr>
        <p:spPr>
          <a:xfrm>
            <a:off x="777240" y="1536192"/>
            <a:ext cx="9692640" cy="822960"/>
          </a:xfrm>
          <a:prstGeom prst="rect">
            <a:avLst/>
          </a:prstGeom>
          <a:noFill/>
          <a:ln/>
        </p:spPr>
        <p:txBody>
          <a:bodyPr wrap="square" lIns="0" tIns="0" rIns="0" bIns="0" rtlCol="0" anchor="ctr"/>
          <a:lstStyle/>
          <a:p>
            <a:pPr indent="0" marL="0">
              <a:buNone/>
            </a:pPr>
            <a:r>
              <a:rPr lang="en-US" sz="2700" b="1" dirty="0">
                <a:solidFill>
                  <a:srgbClr val="FFFFFF"/>
                </a:solidFill>
                <a:latin typeface="Calibri" pitchFamily="34" charset="0"/>
                <a:ea typeface="Calibri" pitchFamily="34" charset="-122"/>
                <a:cs typeface="Calibri" pitchFamily="34" charset="-120"/>
              </a:rPr>
              <a:t>Key Takeaways</a:t>
            </a:r>
            <a:endParaRPr lang="en-US" sz="2700" dirty="0"/>
          </a:p>
        </p:txBody>
      </p:sp>
      <p:sp>
        <p:nvSpPr>
          <p:cNvPr id="36" name="Shape 33"/>
          <p:cNvSpPr/>
          <p:nvPr/>
        </p:nvSpPr>
        <p:spPr>
          <a:xfrm>
            <a:off x="777240" y="2606040"/>
            <a:ext cx="5120640" cy="1600200"/>
          </a:xfrm>
          <a:prstGeom prst="roundRect">
            <a:avLst>
              <a:gd name="adj" fmla="val 5714"/>
            </a:avLst>
          </a:prstGeom>
          <a:solidFill>
            <a:srgbClr val="13315C"/>
          </a:solidFill>
          <a:ln w="12700">
            <a:solidFill>
              <a:srgbClr val="24466F"/>
            </a:solidFill>
            <a:prstDash val="solid"/>
          </a:ln>
        </p:spPr>
      </p:sp>
      <p:sp>
        <p:nvSpPr>
          <p:cNvPr id="37" name="Shape 34"/>
          <p:cNvSpPr/>
          <p:nvPr/>
        </p:nvSpPr>
        <p:spPr>
          <a:xfrm>
            <a:off x="1005840" y="3131820"/>
            <a:ext cx="548640" cy="548640"/>
          </a:xfrm>
          <a:prstGeom prst="ellipse">
            <a:avLst/>
          </a:prstGeom>
          <a:solidFill>
            <a:srgbClr val="1CACBD"/>
          </a:solidFill>
          <a:ln/>
        </p:spPr>
      </p:sp>
      <p:pic>
        <p:nvPicPr>
          <p:cNvPr id="38" name="Image 1" descr="/home/claude/work/build/icons/compass.png">    </p:cNvPr>
          <p:cNvPicPr>
            <a:picLocks noChangeAspect="1"/>
          </p:cNvPicPr>
          <p:nvPr/>
        </p:nvPicPr>
        <p:blipFill>
          <a:blip r:embed="rId3"/>
          <a:stretch>
            <a:fillRect/>
          </a:stretch>
        </p:blipFill>
        <p:spPr>
          <a:xfrm>
            <a:off x="1143000" y="3268980"/>
            <a:ext cx="274320" cy="274320"/>
          </a:xfrm>
          <a:prstGeom prst="rect">
            <a:avLst/>
          </a:prstGeom>
        </p:spPr>
      </p:pic>
      <p:sp>
        <p:nvSpPr>
          <p:cNvPr id="39" name="Text 35"/>
          <p:cNvSpPr txBox="1"/>
          <p:nvPr/>
        </p:nvSpPr>
        <p:spPr>
          <a:xfrm>
            <a:off x="1737360" y="2807208"/>
            <a:ext cx="39319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Strategy first</a:t>
            </a:r>
            <a:endParaRPr lang="en-US" sz="1400" dirty="0"/>
          </a:p>
        </p:txBody>
      </p:sp>
      <p:sp>
        <p:nvSpPr>
          <p:cNvPr id="40" name="Text 36"/>
          <p:cNvSpPr txBox="1"/>
          <p:nvPr/>
        </p:nvSpPr>
        <p:spPr>
          <a:xfrm>
            <a:off x="1737360" y="3200400"/>
            <a:ext cx="3931920" cy="868680"/>
          </a:xfrm>
          <a:prstGeom prst="rect">
            <a:avLst/>
          </a:prstGeom>
          <a:noFill/>
          <a:ln/>
        </p:spPr>
        <p:txBody>
          <a:bodyPr wrap="square" lIns="0" tIns="0" rIns="0" bIns="0" rtlCol="0" anchor="ctr"/>
          <a:lstStyle/>
          <a:p>
            <a:pPr indent="0" marL="0">
              <a:lnSpc>
                <a:spcPct val="125000"/>
              </a:lnSpc>
              <a:buNone/>
            </a:pPr>
            <a:r>
              <a:rPr lang="en-US" sz="1100" dirty="0">
                <a:solidFill>
                  <a:srgbClr val="AFC0D8"/>
                </a:solidFill>
                <a:latin typeface="Calibri" pitchFamily="34" charset="0"/>
                <a:ea typeface="Calibri" pitchFamily="34" charset="-122"/>
                <a:cs typeface="Calibri" pitchFamily="34" charset="-120"/>
              </a:rPr>
              <a:t>Every project must trace to a strategic objective — no exceptions.</a:t>
            </a:r>
            <a:endParaRPr lang="en-US" sz="1100" dirty="0"/>
          </a:p>
        </p:txBody>
      </p:sp>
      <p:sp>
        <p:nvSpPr>
          <p:cNvPr id="41" name="Shape 37"/>
          <p:cNvSpPr/>
          <p:nvPr/>
        </p:nvSpPr>
        <p:spPr>
          <a:xfrm>
            <a:off x="6172200" y="2606040"/>
            <a:ext cx="5120640" cy="1600200"/>
          </a:xfrm>
          <a:prstGeom prst="roundRect">
            <a:avLst>
              <a:gd name="adj" fmla="val 5714"/>
            </a:avLst>
          </a:prstGeom>
          <a:solidFill>
            <a:srgbClr val="13315C"/>
          </a:solidFill>
          <a:ln w="12700">
            <a:solidFill>
              <a:srgbClr val="24466F"/>
            </a:solidFill>
            <a:prstDash val="solid"/>
          </a:ln>
        </p:spPr>
      </p:sp>
      <p:sp>
        <p:nvSpPr>
          <p:cNvPr id="42" name="Shape 38"/>
          <p:cNvSpPr/>
          <p:nvPr/>
        </p:nvSpPr>
        <p:spPr>
          <a:xfrm>
            <a:off x="6400800" y="3131820"/>
            <a:ext cx="548640" cy="548640"/>
          </a:xfrm>
          <a:prstGeom prst="ellipse">
            <a:avLst/>
          </a:prstGeom>
          <a:solidFill>
            <a:srgbClr val="FC7468"/>
          </a:solidFill>
          <a:ln/>
        </p:spPr>
      </p:sp>
      <p:pic>
        <p:nvPicPr>
          <p:cNvPr id="43" name="Image 2" descr="/home/claude/work/build/icons/target.png">    </p:cNvPr>
          <p:cNvPicPr>
            <a:picLocks noChangeAspect="1"/>
          </p:cNvPicPr>
          <p:nvPr/>
        </p:nvPicPr>
        <p:blipFill>
          <a:blip r:embed="rId4"/>
          <a:stretch>
            <a:fillRect/>
          </a:stretch>
        </p:blipFill>
        <p:spPr>
          <a:xfrm>
            <a:off x="6537960" y="3268980"/>
            <a:ext cx="274320" cy="274320"/>
          </a:xfrm>
          <a:prstGeom prst="rect">
            <a:avLst/>
          </a:prstGeom>
        </p:spPr>
      </p:pic>
      <p:sp>
        <p:nvSpPr>
          <p:cNvPr id="44" name="Text 39"/>
          <p:cNvSpPr txBox="1"/>
          <p:nvPr/>
        </p:nvSpPr>
        <p:spPr>
          <a:xfrm>
            <a:off x="7132320" y="2807208"/>
            <a:ext cx="39319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SWOT → SMART</a:t>
            </a:r>
            <a:endParaRPr lang="en-US" sz="1400" dirty="0"/>
          </a:p>
        </p:txBody>
      </p:sp>
      <p:sp>
        <p:nvSpPr>
          <p:cNvPr id="45" name="Text 40"/>
          <p:cNvSpPr txBox="1"/>
          <p:nvPr/>
        </p:nvSpPr>
        <p:spPr>
          <a:xfrm>
            <a:off x="7132320" y="3200400"/>
            <a:ext cx="3931920" cy="868680"/>
          </a:xfrm>
          <a:prstGeom prst="rect">
            <a:avLst/>
          </a:prstGeom>
          <a:noFill/>
          <a:ln/>
        </p:spPr>
        <p:txBody>
          <a:bodyPr wrap="square" lIns="0" tIns="0" rIns="0" bIns="0" rtlCol="0" anchor="ctr"/>
          <a:lstStyle/>
          <a:p>
            <a:pPr indent="0" marL="0">
              <a:lnSpc>
                <a:spcPct val="125000"/>
              </a:lnSpc>
              <a:buNone/>
            </a:pPr>
            <a:r>
              <a:rPr lang="en-US" sz="1100" dirty="0">
                <a:solidFill>
                  <a:srgbClr val="AFC0D8"/>
                </a:solidFill>
                <a:latin typeface="Calibri" pitchFamily="34" charset="0"/>
                <a:ea typeface="Calibri" pitchFamily="34" charset="-122"/>
                <a:cs typeface="Calibri" pitchFamily="34" charset="-120"/>
              </a:rPr>
              <a:t>Analysis is only useful once it becomes a measurable objective.</a:t>
            </a:r>
            <a:endParaRPr lang="en-US" sz="1100" dirty="0"/>
          </a:p>
        </p:txBody>
      </p:sp>
      <p:sp>
        <p:nvSpPr>
          <p:cNvPr id="46" name="Shape 41"/>
          <p:cNvSpPr/>
          <p:nvPr/>
        </p:nvSpPr>
        <p:spPr>
          <a:xfrm>
            <a:off x="777240" y="4389120"/>
            <a:ext cx="5120640" cy="1600200"/>
          </a:xfrm>
          <a:prstGeom prst="roundRect">
            <a:avLst>
              <a:gd name="adj" fmla="val 5714"/>
            </a:avLst>
          </a:prstGeom>
          <a:solidFill>
            <a:srgbClr val="13315C"/>
          </a:solidFill>
          <a:ln w="12700">
            <a:solidFill>
              <a:srgbClr val="24466F"/>
            </a:solidFill>
            <a:prstDash val="solid"/>
          </a:ln>
        </p:spPr>
      </p:sp>
      <p:sp>
        <p:nvSpPr>
          <p:cNvPr id="47" name="Shape 42"/>
          <p:cNvSpPr/>
          <p:nvPr/>
        </p:nvSpPr>
        <p:spPr>
          <a:xfrm>
            <a:off x="1005840" y="4914900"/>
            <a:ext cx="548640" cy="548640"/>
          </a:xfrm>
          <a:prstGeom prst="ellipse">
            <a:avLst/>
          </a:prstGeom>
          <a:solidFill>
            <a:srgbClr val="FBC850"/>
          </a:solidFill>
          <a:ln/>
        </p:spPr>
      </p:sp>
      <p:pic>
        <p:nvPicPr>
          <p:cNvPr id="48" name="Image 3" descr="/home/claude/work/build/icons/sliders.png">    </p:cNvPr>
          <p:cNvPicPr>
            <a:picLocks noChangeAspect="1"/>
          </p:cNvPicPr>
          <p:nvPr/>
        </p:nvPicPr>
        <p:blipFill>
          <a:blip r:embed="rId5"/>
          <a:stretch>
            <a:fillRect/>
          </a:stretch>
        </p:blipFill>
        <p:spPr>
          <a:xfrm>
            <a:off x="1143000" y="5052060"/>
            <a:ext cx="274320" cy="274320"/>
          </a:xfrm>
          <a:prstGeom prst="rect">
            <a:avLst/>
          </a:prstGeom>
        </p:spPr>
      </p:pic>
      <p:sp>
        <p:nvSpPr>
          <p:cNvPr id="49" name="Text 43"/>
          <p:cNvSpPr txBox="1"/>
          <p:nvPr/>
        </p:nvSpPr>
        <p:spPr>
          <a:xfrm>
            <a:off x="1737360" y="4590288"/>
            <a:ext cx="39319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Priority ≠ urgency</a:t>
            </a:r>
            <a:endParaRPr lang="en-US" sz="1400" dirty="0"/>
          </a:p>
        </p:txBody>
      </p:sp>
      <p:sp>
        <p:nvSpPr>
          <p:cNvPr id="50" name="Text 44"/>
          <p:cNvSpPr txBox="1"/>
          <p:nvPr/>
        </p:nvSpPr>
        <p:spPr>
          <a:xfrm>
            <a:off x="1737360" y="4983480"/>
            <a:ext cx="3931920" cy="868680"/>
          </a:xfrm>
          <a:prstGeom prst="rect">
            <a:avLst/>
          </a:prstGeom>
          <a:noFill/>
          <a:ln/>
        </p:spPr>
        <p:txBody>
          <a:bodyPr wrap="square" lIns="0" tIns="0" rIns="0" bIns="0" rtlCol="0" anchor="ctr"/>
          <a:lstStyle/>
          <a:p>
            <a:pPr indent="0" marL="0">
              <a:lnSpc>
                <a:spcPct val="125000"/>
              </a:lnSpc>
              <a:buNone/>
            </a:pPr>
            <a:r>
              <a:rPr lang="en-US" sz="1100" dirty="0">
                <a:solidFill>
                  <a:srgbClr val="AFC0D8"/>
                </a:solidFill>
                <a:latin typeface="Calibri" pitchFamily="34" charset="0"/>
                <a:ea typeface="Calibri" pitchFamily="34" charset="-122"/>
                <a:cs typeface="Calibri" pitchFamily="34" charset="-120"/>
              </a:rPr>
              <a:t>Classification (compliance/strategic/operational) drives resourcing.</a:t>
            </a:r>
            <a:endParaRPr lang="en-US" sz="1100" dirty="0"/>
          </a:p>
        </p:txBody>
      </p:sp>
      <p:sp>
        <p:nvSpPr>
          <p:cNvPr id="51" name="Shape 45"/>
          <p:cNvSpPr/>
          <p:nvPr/>
        </p:nvSpPr>
        <p:spPr>
          <a:xfrm>
            <a:off x="6172200" y="4389120"/>
            <a:ext cx="5120640" cy="1600200"/>
          </a:xfrm>
          <a:prstGeom prst="roundRect">
            <a:avLst>
              <a:gd name="adj" fmla="val 5714"/>
            </a:avLst>
          </a:prstGeom>
          <a:solidFill>
            <a:srgbClr val="13315C"/>
          </a:solidFill>
          <a:ln w="12700">
            <a:solidFill>
              <a:srgbClr val="24466F"/>
            </a:solidFill>
            <a:prstDash val="solid"/>
          </a:ln>
        </p:spPr>
      </p:sp>
      <p:sp>
        <p:nvSpPr>
          <p:cNvPr id="52" name="Shape 46"/>
          <p:cNvSpPr/>
          <p:nvPr/>
        </p:nvSpPr>
        <p:spPr>
          <a:xfrm>
            <a:off x="6400800" y="4914900"/>
            <a:ext cx="548640" cy="548640"/>
          </a:xfrm>
          <a:prstGeom prst="ellipse">
            <a:avLst/>
          </a:prstGeom>
          <a:solidFill>
            <a:srgbClr val="1CACBD"/>
          </a:solidFill>
          <a:ln/>
        </p:spPr>
      </p:sp>
      <p:pic>
        <p:nvPicPr>
          <p:cNvPr id="53" name="Image 4" descr="/home/claude/work/build/icons/checksquare.png">    </p:cNvPr>
          <p:cNvPicPr>
            <a:picLocks noChangeAspect="1"/>
          </p:cNvPicPr>
          <p:nvPr/>
        </p:nvPicPr>
        <p:blipFill>
          <a:blip r:embed="rId6"/>
          <a:stretch>
            <a:fillRect/>
          </a:stretch>
        </p:blipFill>
        <p:spPr>
          <a:xfrm>
            <a:off x="6537960" y="5052060"/>
            <a:ext cx="274320" cy="274320"/>
          </a:xfrm>
          <a:prstGeom prst="rect">
            <a:avLst/>
          </a:prstGeom>
        </p:spPr>
      </p:pic>
      <p:sp>
        <p:nvSpPr>
          <p:cNvPr id="54" name="Text 47"/>
          <p:cNvSpPr txBox="1"/>
          <p:nvPr/>
        </p:nvSpPr>
        <p:spPr>
          <a:xfrm>
            <a:off x="7132320" y="4590288"/>
            <a:ext cx="39319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Score, don't guess</a:t>
            </a:r>
            <a:endParaRPr lang="en-US" sz="1400" dirty="0"/>
          </a:p>
        </p:txBody>
      </p:sp>
      <p:sp>
        <p:nvSpPr>
          <p:cNvPr id="55" name="Text 48"/>
          <p:cNvSpPr txBox="1"/>
          <p:nvPr/>
        </p:nvSpPr>
        <p:spPr>
          <a:xfrm>
            <a:off x="7132320" y="4983480"/>
            <a:ext cx="3931920" cy="868680"/>
          </a:xfrm>
          <a:prstGeom prst="rect">
            <a:avLst/>
          </a:prstGeom>
          <a:noFill/>
          <a:ln/>
        </p:spPr>
        <p:txBody>
          <a:bodyPr wrap="square" lIns="0" tIns="0" rIns="0" bIns="0" rtlCol="0" anchor="ctr"/>
          <a:lstStyle/>
          <a:p>
            <a:pPr indent="0" marL="0">
              <a:lnSpc>
                <a:spcPct val="125000"/>
              </a:lnSpc>
              <a:buNone/>
            </a:pPr>
            <a:r>
              <a:rPr lang="en-US" sz="1100" dirty="0">
                <a:solidFill>
                  <a:srgbClr val="AFC0D8"/>
                </a:solidFill>
                <a:latin typeface="Calibri" pitchFamily="34" charset="0"/>
                <a:ea typeface="Calibri" pitchFamily="34" charset="-122"/>
                <a:cs typeface="Calibri" pitchFamily="34" charset="-120"/>
              </a:rPr>
              <a:t>Weighted scoring makes trade-offs explicit and defensible.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11990527" y="0"/>
            <a:ext cx="201168" cy="1920240"/>
          </a:xfrm>
          <a:prstGeom prst="rect">
            <a:avLst/>
          </a:prstGeom>
          <a:solidFill>
            <a:srgbClr val="1CACBD"/>
          </a:solidFill>
          <a:ln/>
        </p:spPr>
      </p:sp>
      <p:sp>
        <p:nvSpPr>
          <p:cNvPr id="3" name="Shape 1"/>
          <p:cNvSpPr/>
          <p:nvPr/>
        </p:nvSpPr>
        <p:spPr>
          <a:xfrm>
            <a:off x="11990527" y="1920240"/>
            <a:ext cx="201168" cy="1714500"/>
          </a:xfrm>
          <a:prstGeom prst="rect">
            <a:avLst/>
          </a:prstGeom>
          <a:solidFill>
            <a:srgbClr val="FC7468"/>
          </a:solidFill>
          <a:ln/>
        </p:spPr>
      </p:sp>
      <p:sp>
        <p:nvSpPr>
          <p:cNvPr id="4" name="Shape 2"/>
          <p:cNvSpPr/>
          <p:nvPr/>
        </p:nvSpPr>
        <p:spPr>
          <a:xfrm>
            <a:off x="11990527" y="3634740"/>
            <a:ext cx="201168" cy="1714500"/>
          </a:xfrm>
          <a:prstGeom prst="rect">
            <a:avLst/>
          </a:prstGeom>
          <a:solidFill>
            <a:srgbClr val="FBC850"/>
          </a:solidFill>
          <a:ln/>
        </p:spPr>
      </p:sp>
      <p:sp>
        <p:nvSpPr>
          <p:cNvPr id="5" name="Shape 3"/>
          <p:cNvSpPr/>
          <p:nvPr/>
        </p:nvSpPr>
        <p:spPr>
          <a:xfrm>
            <a:off x="11990527" y="5349240"/>
            <a:ext cx="201168" cy="1508760"/>
          </a:xfrm>
          <a:prstGeom prst="rect">
            <a:avLst/>
          </a:prstGeom>
          <a:solidFill>
            <a:srgbClr val="0B2C5D"/>
          </a:solidFill>
          <a:ln/>
        </p:spPr>
      </p:sp>
      <p:sp>
        <p:nvSpPr>
          <p:cNvPr id="6" name="Shape 4"/>
          <p:cNvSpPr/>
          <p:nvPr/>
        </p:nvSpPr>
        <p:spPr>
          <a:xfrm>
            <a:off x="-1234440" y="5623560"/>
            <a:ext cx="2468880" cy="2468880"/>
          </a:xfrm>
          <a:prstGeom prst="ellipse">
            <a:avLst/>
          </a:prstGeom>
          <a:solidFill>
            <a:srgbClr val="FC7468"/>
          </a:solidFill>
          <a:ln/>
        </p:spPr>
      </p:sp>
      <p:sp>
        <p:nvSpPr>
          <p:cNvPr id="7" name="Shape 5"/>
          <p:cNvSpPr/>
          <p:nvPr/>
        </p:nvSpPr>
        <p:spPr>
          <a:xfrm>
            <a:off x="-1417320" y="6080760"/>
            <a:ext cx="1828800" cy="1828800"/>
          </a:xfrm>
          <a:prstGeom prst="ellipse">
            <a:avLst/>
          </a:prstGeom>
          <a:ln w="31750">
            <a:solidFill>
              <a:srgbClr val="FBC850"/>
            </a:solidFill>
            <a:prstDash val="solid"/>
          </a:ln>
        </p:spPr>
      </p:sp>
      <p:sp>
        <p:nvSpPr>
          <p:cNvPr id="8" name="Text 6"/>
          <p:cNvSpPr txBox="1"/>
          <p:nvPr/>
        </p:nvSpPr>
        <p:spPr>
          <a:xfrm>
            <a:off x="777240" y="182880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Thank You</a:t>
            </a:r>
            <a:endParaRPr lang="en-US" sz="3400" dirty="0"/>
          </a:p>
        </p:txBody>
      </p:sp>
      <p:sp>
        <p:nvSpPr>
          <p:cNvPr id="9" name="Shape 7"/>
          <p:cNvSpPr/>
          <p:nvPr/>
        </p:nvSpPr>
        <p:spPr>
          <a:xfrm>
            <a:off x="795528" y="2606040"/>
            <a:ext cx="2377440" cy="0"/>
          </a:xfrm>
          <a:prstGeom prst="line">
            <a:avLst/>
          </a:prstGeom>
          <a:noFill/>
          <a:ln w="38100">
            <a:solidFill>
              <a:srgbClr val="1CACBD"/>
            </a:solidFill>
            <a:prstDash val="solid"/>
          </a:ln>
        </p:spPr>
      </p:sp>
      <p:sp>
        <p:nvSpPr>
          <p:cNvPr id="10" name="Text 8"/>
          <p:cNvSpPr txBox="1"/>
          <p:nvPr/>
        </p:nvSpPr>
        <p:spPr>
          <a:xfrm>
            <a:off x="777240" y="2743200"/>
            <a:ext cx="7315200" cy="457200"/>
          </a:xfrm>
          <a:prstGeom prst="rect">
            <a:avLst/>
          </a:prstGeom>
          <a:noFill/>
          <a:ln/>
        </p:spPr>
        <p:txBody>
          <a:bodyPr wrap="square" lIns="0" tIns="0" rIns="0" bIns="0" rtlCol="0" anchor="ctr"/>
          <a:lstStyle/>
          <a:p>
            <a:pPr indent="0" marL="0">
              <a:buNone/>
            </a:pPr>
            <a:r>
              <a:rPr lang="en-US" sz="1600" dirty="0">
                <a:solidFill>
                  <a:srgbClr val="C9D8EC"/>
                </a:solidFill>
                <a:latin typeface="Calibri" pitchFamily="34" charset="0"/>
                <a:ea typeface="Calibri" pitchFamily="34" charset="-122"/>
                <a:cs typeface="Calibri" pitchFamily="34" charset="-120"/>
              </a:rPr>
              <a:t>Questions &amp; discussion</a:t>
            </a:r>
            <a:endParaRPr lang="en-US" sz="1600" dirty="0"/>
          </a:p>
        </p:txBody>
      </p:sp>
      <p:sp>
        <p:nvSpPr>
          <p:cNvPr id="11" name="Shape 9"/>
          <p:cNvSpPr/>
          <p:nvPr/>
        </p:nvSpPr>
        <p:spPr>
          <a:xfrm>
            <a:off x="777240" y="3566160"/>
            <a:ext cx="10607040" cy="2194560"/>
          </a:xfrm>
          <a:prstGeom prst="roundRect">
            <a:avLst>
              <a:gd name="adj" fmla="val 4167"/>
            </a:avLst>
          </a:prstGeom>
          <a:solidFill>
            <a:srgbClr val="13315C"/>
          </a:solidFill>
          <a:ln w="12700">
            <a:solidFill>
              <a:srgbClr val="24466F"/>
            </a:solidFill>
            <a:prstDash val="solid"/>
          </a:ln>
          <a:effectLst>
            <a:outerShdw sx="100000" sy="100000" kx="0" ky="0" algn="bl" rotWithShape="0" blurRad="88900" dist="25400" dir="5400000">
              <a:srgbClr val="0B2C5D">
                <a:alpha val="14000"/>
              </a:srgbClr>
            </a:outerShdw>
          </a:effectLst>
        </p:spPr>
      </p:sp>
      <p:sp>
        <p:nvSpPr>
          <p:cNvPr id="12" name="Text 10"/>
          <p:cNvSpPr txBox="1"/>
          <p:nvPr/>
        </p:nvSpPr>
        <p:spPr>
          <a:xfrm>
            <a:off x="1005840" y="3749040"/>
            <a:ext cx="4572000" cy="274320"/>
          </a:xfrm>
          <a:prstGeom prst="rect">
            <a:avLst/>
          </a:prstGeom>
          <a:noFill/>
          <a:ln/>
        </p:spPr>
        <p:txBody>
          <a:bodyPr wrap="square" lIns="0" tIns="0" rIns="0" bIns="0" rtlCol="0" anchor="ctr"/>
          <a:lstStyle/>
          <a:p>
            <a:pPr indent="0" marL="0">
              <a:buNone/>
            </a:pPr>
            <a:r>
              <a:rPr lang="en-US" sz="1050" b="1" spc="100" kern="0" dirty="0">
                <a:solidFill>
                  <a:srgbClr val="FBC850"/>
                </a:solidFill>
                <a:latin typeface="Calibri" pitchFamily="34" charset="0"/>
                <a:ea typeface="Calibri" pitchFamily="34" charset="-122"/>
                <a:cs typeface="Calibri" pitchFamily="34" charset="-120"/>
              </a:rPr>
              <a:t>REFERENCES</a:t>
            </a:r>
            <a:endParaRPr lang="en-US" sz="1050" dirty="0"/>
          </a:p>
        </p:txBody>
      </p:sp>
      <p:sp>
        <p:nvSpPr>
          <p:cNvPr id="13" name="Text 11"/>
          <p:cNvSpPr txBox="1"/>
          <p:nvPr/>
        </p:nvSpPr>
        <p:spPr>
          <a:xfrm>
            <a:off x="1005840" y="4069080"/>
            <a:ext cx="10058400" cy="1554480"/>
          </a:xfrm>
          <a:prstGeom prst="rect">
            <a:avLst/>
          </a:prstGeom>
          <a:noFill/>
          <a:ln/>
        </p:spPr>
        <p:txBody>
          <a:bodyPr wrap="square" lIns="0" tIns="0" rIns="0" bIns="0" rtlCol="0" anchor="ctr"/>
          <a:lstStyle/>
          <a:p>
            <a:pPr marL="228600" indent="-228600">
              <a:lnSpc>
                <a:spcPct val="118000"/>
              </a:lnSpc>
              <a:spcAft>
                <a:spcPts val="1000"/>
              </a:spcAft>
              <a:buSzPct val="100000"/>
              <a:buChar char="•"/>
            </a:pPr>
            <a:r>
              <a:rPr lang="en-US" sz="1100" dirty="0">
                <a:solidFill>
                  <a:srgbClr val="DCE6F2"/>
                </a:solidFill>
                <a:latin typeface="Calibri" pitchFamily="34" charset="0"/>
                <a:ea typeface="Calibri" pitchFamily="34" charset="-122"/>
                <a:cs typeface="Calibri" pitchFamily="34" charset="-120"/>
              </a:rPr>
              <a:t>Pinto, J. K. Project Management: Achieving Competitive Advantage.</a:t>
            </a:r>
            <a:endParaRPr lang="en-US" sz="1100" dirty="0"/>
          </a:p>
          <a:p>
            <a:pPr marL="228600" indent="-228600">
              <a:lnSpc>
                <a:spcPct val="118000"/>
              </a:lnSpc>
              <a:spcAft>
                <a:spcPts val="1000"/>
              </a:spcAft>
              <a:buSzPct val="100000"/>
              <a:buChar char="•"/>
            </a:pPr>
            <a:r>
              <a:rPr lang="en-US" sz="1100" dirty="0">
                <a:solidFill>
                  <a:srgbClr val="DCE6F2"/>
                </a:solidFill>
                <a:latin typeface="Calibri" pitchFamily="34" charset="0"/>
                <a:ea typeface="Calibri" pitchFamily="34" charset="-122"/>
                <a:cs typeface="Calibri" pitchFamily="34" charset="-120"/>
              </a:rPr>
              <a:t>Kerzner, H. Project Management: A Systems Approach to Planning, Scheduling, and Controlling.</a:t>
            </a:r>
            <a:endParaRPr lang="en-US" sz="1100" dirty="0"/>
          </a:p>
          <a:p>
            <a:pPr marL="228600" indent="-228600">
              <a:lnSpc>
                <a:spcPct val="118000"/>
              </a:lnSpc>
              <a:spcAft>
                <a:spcPts val="1000"/>
              </a:spcAft>
              <a:buSzPct val="100000"/>
              <a:buChar char="•"/>
            </a:pPr>
            <a:r>
              <a:rPr lang="en-US" sz="1100" dirty="0">
                <a:solidFill>
                  <a:srgbClr val="DCE6F2"/>
                </a:solidFill>
                <a:latin typeface="Calibri" pitchFamily="34" charset="0"/>
                <a:ea typeface="Calibri" pitchFamily="34" charset="-122"/>
                <a:cs typeface="Calibri" pitchFamily="34" charset="-120"/>
              </a:rPr>
              <a:t>PMI. A Guide to the Project Management Body of Knowledge (PMBOK® Guide).</a:t>
            </a:r>
            <a:endParaRPr lang="en-US" sz="1100" dirty="0"/>
          </a:p>
          <a:p>
            <a:pPr marL="228600" indent="-228600">
              <a:lnSpc>
                <a:spcPct val="118000"/>
              </a:lnSpc>
              <a:spcAft>
                <a:spcPts val="1000"/>
              </a:spcAft>
              <a:buSzPct val="100000"/>
              <a:buChar char="•"/>
            </a:pPr>
            <a:r>
              <a:rPr lang="en-US" sz="1100" dirty="0">
                <a:solidFill>
                  <a:srgbClr val="DCE6F2"/>
                </a:solidFill>
                <a:latin typeface="Calibri" pitchFamily="34" charset="0"/>
                <a:ea typeface="Calibri" pitchFamily="34" charset="-122"/>
                <a:cs typeface="Calibri" pitchFamily="34" charset="-120"/>
              </a:rPr>
              <a:t>Doran, G. T. “There's a S.M.A.R.T. Way to Write Management's Goals and Objectives.”</a:t>
            </a:r>
            <a:endParaRPr lang="en-US" sz="1100" dirty="0"/>
          </a:p>
        </p:txBody>
      </p:sp>
      <p:sp>
        <p:nvSpPr>
          <p:cNvPr id="14" name="Text 12"/>
          <p:cNvSpPr txBox="1"/>
          <p:nvPr/>
        </p:nvSpPr>
        <p:spPr>
          <a:xfrm>
            <a:off x="777240" y="6172200"/>
            <a:ext cx="7315200" cy="320040"/>
          </a:xfrm>
          <a:prstGeom prst="rect">
            <a:avLst/>
          </a:prstGeom>
          <a:noFill/>
          <a:ln/>
        </p:spPr>
        <p:txBody>
          <a:bodyPr wrap="square" lIns="0" tIns="0" rIns="0" bIns="0" rtlCol="0" anchor="ctr"/>
          <a:lstStyle/>
          <a:p>
            <a:pPr indent="0" marL="0">
              <a:buNone/>
            </a:pPr>
            <a:r>
              <a:rPr lang="en-US" sz="1100" dirty="0">
                <a:solidFill>
                  <a:srgbClr val="6C84A6"/>
                </a:solidFill>
                <a:latin typeface="Calibri" pitchFamily="34" charset="0"/>
                <a:ea typeface="Calibri" pitchFamily="34" charset="-122"/>
                <a:cs typeface="Calibri" pitchFamily="34" charset="-120"/>
              </a:rPr>
              <a:t>26CPE4602  ·  Dr. Zahraa Ismail  ·  British University in Egypt</a:t>
            </a:r>
            <a:endParaRPr lang="en-US" sz="1100" dirty="0"/>
          </a:p>
        </p:txBody>
      </p:sp>
      <p:sp>
        <p:nvSpPr>
          <p:cNvPr id="15" name="Text 13"/>
          <p:cNvSpPr txBox="1"/>
          <p:nvPr/>
        </p:nvSpPr>
        <p:spPr>
          <a:xfrm>
            <a:off x="11505895" y="6473952"/>
            <a:ext cx="365760" cy="256032"/>
          </a:xfrm>
          <a:prstGeom prst="rect">
            <a:avLst/>
          </a:prstGeom>
          <a:noFill/>
          <a:ln/>
        </p:spPr>
        <p:txBody>
          <a:bodyPr wrap="square" lIns="0" tIns="0" rIns="0" bIns="0" rtlCol="0" anchor="ctr"/>
          <a:lstStyle/>
          <a:p>
            <a:pPr algn="r" indent="0" marL="0">
              <a:buNone/>
            </a:pPr>
            <a:r>
              <a:rPr lang="en-US" sz="1000" dirty="0">
                <a:solidFill>
                  <a:srgbClr val="6C84A6"/>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2026-09-24T15:57:43Z</dcterms:created>
  <dcterms:modified xsi:type="dcterms:W3CDTF">2026-09-24T15:57:43Z</dcterms:modified>
</cp:coreProperties>
</file>