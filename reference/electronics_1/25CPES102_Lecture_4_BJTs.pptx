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media/audio1.wav" ContentType="audio/wav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1"/>
  </p:notesMasterIdLst>
  <p:sldIdLst>
    <p:sldId id="345" r:id="rId2"/>
    <p:sldId id="486" r:id="rId3"/>
    <p:sldId id="517" r:id="rId4"/>
    <p:sldId id="538" r:id="rId5"/>
    <p:sldId id="520" r:id="rId6"/>
    <p:sldId id="522" r:id="rId7"/>
    <p:sldId id="523" r:id="rId8"/>
    <p:sldId id="524" r:id="rId9"/>
    <p:sldId id="525" r:id="rId10"/>
    <p:sldId id="526" r:id="rId11"/>
    <p:sldId id="527" r:id="rId12"/>
    <p:sldId id="531" r:id="rId13"/>
    <p:sldId id="528" r:id="rId14"/>
    <p:sldId id="529" r:id="rId15"/>
    <p:sldId id="530" r:id="rId16"/>
    <p:sldId id="532" r:id="rId17"/>
    <p:sldId id="533" r:id="rId18"/>
    <p:sldId id="535" r:id="rId19"/>
    <p:sldId id="299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meh Abdellatif" initials="SA" lastIdx="3" clrIdx="0"/>
  <p:cmAuthor id="1" name="sameh abdellatif" initials="sa" lastIdx="1" clrIdx="1">
    <p:extLst>
      <p:ext uri="{19B8F6BF-5375-455C-9EA6-DF929625EA0E}">
        <p15:presenceInfo xmlns:p15="http://schemas.microsoft.com/office/powerpoint/2012/main" userId="7d49f645c213de6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3EE"/>
    <a:srgbClr val="3588B1"/>
    <a:srgbClr val="66FF66"/>
    <a:srgbClr val="99FF99"/>
    <a:srgbClr val="CCFF99"/>
    <a:srgbClr val="00CC66"/>
    <a:srgbClr val="00FF99"/>
    <a:srgbClr val="00FF00"/>
    <a:srgbClr val="322941"/>
    <a:srgbClr val="3865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34" autoAdjust="0"/>
    <p:restoredTop sz="94660"/>
  </p:normalViewPr>
  <p:slideViewPr>
    <p:cSldViewPr snapToGrid="0">
      <p:cViewPr>
        <p:scale>
          <a:sx n="18" d="100"/>
          <a:sy n="18" d="100"/>
        </p:scale>
        <p:origin x="1584" y="1080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939597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>
            <a:spLocks noGrp="1"/>
          </p:cNvSpPr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12495609" y="892968"/>
            <a:ext cx="7500938" cy="1157287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>
            <a:spLocks noGrp="1"/>
          </p:cNvSpPr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>
            <a:spLocks noGrp="1"/>
          </p:cNvSpPr>
          <p:nvPr>
            <p:ph type="body" sz="quarter" idx="1"/>
          </p:nvPr>
        </p:nvSpPr>
        <p:spPr>
          <a:xfrm>
            <a:off x="4387453" y="6697265"/>
            <a:ext cx="7500938" cy="576857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quarter" idx="13"/>
          </p:nvPr>
        </p:nvSpPr>
        <p:spPr>
          <a:xfrm>
            <a:off x="12495609" y="3661171"/>
            <a:ext cx="7500938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>
            <a:spLocks noGrp="1"/>
          </p:cNvSpPr>
          <p:nvPr>
            <p:ph type="body" sz="quarter" idx="1"/>
          </p:nvPr>
        </p:nvSpPr>
        <p:spPr>
          <a:xfrm>
            <a:off x="4387453" y="3661171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spcBef>
                <a:spcPts val="4500"/>
              </a:spcBef>
              <a:defRPr sz="3800"/>
            </a:lvl1pPr>
            <a:lvl2pPr marL="808264" indent="-465364">
              <a:spcBef>
                <a:spcPts val="4500"/>
              </a:spcBef>
              <a:defRPr sz="3800"/>
            </a:lvl2pPr>
            <a:lvl3pPr marL="1151164" indent="-465364">
              <a:spcBef>
                <a:spcPts val="4500"/>
              </a:spcBef>
              <a:defRPr sz="3800"/>
            </a:lvl3pPr>
            <a:lvl4pPr marL="1494064" indent="-465364">
              <a:spcBef>
                <a:spcPts val="4500"/>
              </a:spcBef>
              <a:defRPr sz="3800"/>
            </a:lvl4pPr>
            <a:lvl5pPr marL="1836964" indent="-465364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>
            <a:spLocks noGrp="1"/>
          </p:cNvSpPr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12495609" y="7161609"/>
            <a:ext cx="7500938" cy="530423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12504353" y="1250156"/>
            <a:ext cx="7500939" cy="530423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half" idx="15"/>
          </p:nvPr>
        </p:nvSpPr>
        <p:spPr>
          <a:xfrm>
            <a:off x="4387453" y="1250156"/>
            <a:ext cx="7500938" cy="1121568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4833937" y="8947546"/>
            <a:ext cx="14716126" cy="660798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4833937" y="6000353"/>
            <a:ext cx="14716126" cy="965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5200"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3048000" y="0"/>
            <a:ext cx="18288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>
            <a:spLocks noGrp="1"/>
          </p:cNvSpPr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>
            <a:spLocks noGrp="1"/>
          </p:cNvSpPr>
          <p:nvPr>
            <p:ph type="body" idx="1"/>
          </p:nvPr>
        </p:nvSpPr>
        <p:spPr>
          <a:xfrm>
            <a:off x="4387453" y="3661171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transition spd="med"/>
  <p:hf hdr="0" ftr="0" dt="0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617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061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506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950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395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839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284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728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173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3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audio" Target="../media/audio1.wav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wmf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13.png"/><Relationship Id="rId7" Type="http://schemas.openxmlformats.org/officeDocument/2006/relationships/image" Target="../media/image15.wmf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wmf"/><Relationship Id="rId11" Type="http://schemas.openxmlformats.org/officeDocument/2006/relationships/image" Target="../media/image7.png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0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8.jpeg"/><Relationship Id="rId5" Type="http://schemas.openxmlformats.org/officeDocument/2006/relationships/image" Target="../media/image15.wmf"/><Relationship Id="rId10" Type="http://schemas.openxmlformats.org/officeDocument/2006/relationships/image" Target="../media/image7.png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19.jpeg"/><Relationship Id="rId5" Type="http://schemas.openxmlformats.org/officeDocument/2006/relationships/image" Target="../media/image15.wmf"/><Relationship Id="rId10" Type="http://schemas.openxmlformats.org/officeDocument/2006/relationships/image" Target="../media/image7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emf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emf"/><Relationship Id="rId9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70075" y="-27607"/>
            <a:ext cx="24407318" cy="237874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</a:t>
            </a:fld>
            <a:endParaRPr lang="en-US" dirty="0"/>
          </a:p>
        </p:txBody>
      </p:sp>
      <p:pic>
        <p:nvPicPr>
          <p:cNvPr id="1028" name="Picture 4" descr="14th Materials Science School for Young Scientists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0076" y="2372677"/>
            <a:ext cx="24407318" cy="12337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6"/>
          <p:cNvSpPr/>
          <p:nvPr/>
        </p:nvSpPr>
        <p:spPr>
          <a:xfrm>
            <a:off x="16433080" y="10141925"/>
            <a:ext cx="9325576" cy="1744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>
              <a:spcBef>
                <a:spcPts val="1400"/>
              </a:spcBef>
              <a:defRPr sz="3800">
                <a:solidFill>
                  <a:srgbClr val="FFFFFF"/>
                </a:solidFill>
              </a:defRPr>
            </a:pPr>
            <a:r>
              <a:rPr lang="en-US" sz="2800" dirty="0">
                <a:solidFill>
                  <a:schemeClr val="bg1"/>
                </a:solidFill>
              </a:rPr>
              <a:t>Prepared by:</a:t>
            </a:r>
          </a:p>
          <a:p>
            <a:pPr algn="l">
              <a:defRPr sz="4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2800" dirty="0">
                <a:solidFill>
                  <a:schemeClr val="bg1"/>
                </a:solidFill>
              </a:rPr>
              <a:t>Dr. Sameh Osama Ezzat Abdellatif</a:t>
            </a:r>
          </a:p>
          <a:p>
            <a:pPr algn="l">
              <a:defRPr sz="3200"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PhD, Nano-semiconductor devices and photonics</a:t>
            </a:r>
          </a:p>
          <a:p>
            <a:pPr algn="l">
              <a:defRPr sz="3200"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Lecturer @ BUE </a:t>
            </a:r>
          </a:p>
        </p:txBody>
      </p:sp>
      <p:sp>
        <p:nvSpPr>
          <p:cNvPr id="12" name="‘‘Study of the Photovoltaic Behavior of Coaxial Nanowires’’"/>
          <p:cNvSpPr/>
          <p:nvPr/>
        </p:nvSpPr>
        <p:spPr>
          <a:xfrm>
            <a:off x="1450401" y="4984564"/>
            <a:ext cx="21779713" cy="2426945"/>
          </a:xfrm>
          <a:prstGeom prst="rect">
            <a:avLst/>
          </a:prstGeom>
          <a:ln w="12700">
            <a:miter lim="400000"/>
          </a:ln>
          <a:effectLst>
            <a:outerShdw blurRad="279400" dist="952500" dir="8100000" sx="101000" sy="101000" algn="tr" rotWithShape="0">
              <a:prstClr val="black">
                <a:alpha val="54000"/>
              </a:prst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algn="r" defTabSz="914400">
              <a:spcBef>
                <a:spcPts val="600"/>
              </a:spcBef>
              <a:defRPr sz="4200" b="1">
                <a:solidFill>
                  <a:srgbClr val="FFFFFF"/>
                </a:solidFill>
                <a:latin typeface="Gabriola"/>
                <a:ea typeface="Gabriola"/>
                <a:cs typeface="Gabriola"/>
                <a:sym typeface="Gabriola"/>
              </a:defRPr>
            </a:lvl1pPr>
          </a:lstStyle>
          <a:p>
            <a:pPr algn="ctr">
              <a:lnSpc>
                <a:spcPts val="4000"/>
              </a:lnSpc>
              <a:spcBef>
                <a:spcPts val="0"/>
              </a:spcBef>
            </a:pPr>
            <a:r>
              <a:rPr lang="en-GB" sz="8000" b="0" dirty="0">
                <a:ln w="0"/>
                <a:solidFill>
                  <a:schemeClr val="bg1"/>
                </a:solidFill>
                <a:effectLst/>
                <a:latin typeface="Arial"/>
                <a:ea typeface="Times New Roman"/>
              </a:rPr>
              <a:t>Lecture </a:t>
            </a:r>
            <a:r>
              <a:rPr lang="" sz="8000" b="0" dirty="0">
                <a:ln w="0"/>
                <a:solidFill>
                  <a:schemeClr val="bg1"/>
                </a:solidFill>
                <a:latin typeface="Arial"/>
                <a:ea typeface="Times New Roman"/>
              </a:rPr>
              <a:t>4</a:t>
            </a:r>
            <a:endParaRPr lang="en-GB" sz="8000" b="0" dirty="0">
              <a:ln w="0"/>
              <a:solidFill>
                <a:schemeClr val="bg1"/>
              </a:solidFill>
              <a:effectLst/>
              <a:latin typeface="Arial"/>
              <a:ea typeface="Times New Roman"/>
            </a:endParaRPr>
          </a:p>
          <a:p>
            <a:pPr algn="ctr">
              <a:spcBef>
                <a:spcPts val="0"/>
              </a:spcBef>
            </a:pPr>
            <a:r>
              <a:rPr lang="en-GB" sz="11500" dirty="0">
                <a:ln w="0"/>
                <a:solidFill>
                  <a:schemeClr val="bg1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Bipolar Junction Transistor  `</a:t>
            </a:r>
          </a:p>
        </p:txBody>
      </p:sp>
      <p:pic>
        <p:nvPicPr>
          <p:cNvPr id="14" name="MS900388269[1]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 cstate="print"/>
          <a:stretch>
            <a:fillRect/>
          </a:stretch>
        </p:blipFill>
        <p:spPr>
          <a:xfrm>
            <a:off x="11894166" y="12701592"/>
            <a:ext cx="384043" cy="288032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378523" y="10735523"/>
            <a:ext cx="15609094" cy="3036094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Starting in 15 minutes 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2582353" y="12620507"/>
            <a:ext cx="17758832" cy="504826"/>
          </a:xfrm>
          <a:prstGeom prst="rect">
            <a:avLst/>
          </a:prstGeom>
          <a:gradFill rotWithShape="1">
            <a:gsLst>
              <a:gs pos="0">
                <a:srgbClr val="FFFF66"/>
              </a:gs>
              <a:gs pos="100000">
                <a:srgbClr val="FF3300"/>
              </a:gs>
            </a:gsLst>
            <a:lin ang="0" scaled="1"/>
          </a:gradFill>
          <a:ln w="28575">
            <a:noFill/>
            <a:miter lim="800000"/>
            <a:headEnd/>
            <a:tailEnd/>
          </a:ln>
          <a:effectLst/>
        </p:spPr>
        <p:txBody>
          <a:bodyPr wrap="none" lIns="217709" tIns="108855" rIns="217709" bIns="108855" anchor="ctr"/>
          <a:lstStyle/>
          <a:p>
            <a:endParaRPr lang="en-GB" dirty="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2582353" y="12620507"/>
            <a:ext cx="17758832" cy="504826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217709" tIns="108855" rIns="217709" bIns="108855" anchor="ctr"/>
          <a:lstStyle/>
          <a:p>
            <a:endParaRPr lang="en-GB" dirty="0"/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11281255" y="11276752"/>
            <a:ext cx="1609862" cy="835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217709" tIns="108855" rIns="217709" bIns="108855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Start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BB92C6C1-7478-D333-F1A4-0F6B5B63D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-50000"/>
                    </a14:imgEffect>
                    <a14:imgEffect>
                      <a14:saturation sat="0"/>
                    </a14:imgEffect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06154" y="116558"/>
            <a:ext cx="5150202" cy="213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65F110B0-2B57-E173-3C9B-B1375862ADBF}"/>
              </a:ext>
            </a:extLst>
          </p:cNvPr>
          <p:cNvSpPr/>
          <p:nvPr/>
        </p:nvSpPr>
        <p:spPr>
          <a:xfrm>
            <a:off x="14342622" y="235608"/>
            <a:ext cx="10272279" cy="1898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71437" tIns="71437" rIns="71437" bIns="71437" anchor="ctr">
            <a:spAutoFit/>
          </a:bodyPr>
          <a:lstStyle/>
          <a:p>
            <a:pPr algn="l">
              <a:defRPr sz="3800">
                <a:solidFill>
                  <a:srgbClr val="FFFFFF"/>
                </a:solidFill>
              </a:defRPr>
            </a:pPr>
            <a:r>
              <a:rPr lang="en-GB" sz="3800" b="1" dirty="0">
                <a:solidFill>
                  <a:schemeClr val="bg1"/>
                </a:solidFill>
              </a:rPr>
              <a:t>Electrical Engineering Department </a:t>
            </a:r>
          </a:p>
          <a:p>
            <a:pPr algn="l">
              <a:defRPr sz="3800">
                <a:solidFill>
                  <a:srgbClr val="FFFFFF"/>
                </a:solidFill>
              </a:defRPr>
            </a:pPr>
            <a:r>
              <a:rPr lang="en-GB" sz="3800" b="1" dirty="0">
                <a:solidFill>
                  <a:schemeClr val="bg1"/>
                </a:solidFill>
              </a:rPr>
              <a:t>Academic Year: 2025/2026</a:t>
            </a:r>
          </a:p>
          <a:p>
            <a:pPr algn="l">
              <a:defRPr sz="3800">
                <a:solidFill>
                  <a:srgbClr val="FFFFFF"/>
                </a:solidFill>
              </a:defRPr>
            </a:pPr>
            <a:r>
              <a:rPr lang="en-GB" sz="3800" b="1" dirty="0">
                <a:solidFill>
                  <a:schemeClr val="bg1"/>
                </a:solidFill>
              </a:rPr>
              <a:t>Semester: One </a:t>
            </a:r>
          </a:p>
        </p:txBody>
      </p:sp>
      <p:sp>
        <p:nvSpPr>
          <p:cNvPr id="6" name="‘‘Study of the Photovoltaic Behavior of Coaxial Nanowires’’">
            <a:extLst>
              <a:ext uri="{FF2B5EF4-FFF2-40B4-BE49-F238E27FC236}">
                <a16:creationId xmlns:a16="http://schemas.microsoft.com/office/drawing/2014/main" id="{972E3176-47CF-3CEC-1BB3-9006AAF64872}"/>
              </a:ext>
            </a:extLst>
          </p:cNvPr>
          <p:cNvSpPr/>
          <p:nvPr/>
        </p:nvSpPr>
        <p:spPr>
          <a:xfrm>
            <a:off x="399357" y="474081"/>
            <a:ext cx="21261608" cy="137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algn="r" defTabSz="914400">
              <a:spcBef>
                <a:spcPts val="600"/>
              </a:spcBef>
              <a:defRPr sz="4200" b="1">
                <a:solidFill>
                  <a:srgbClr val="FFFFFF"/>
                </a:solidFill>
                <a:latin typeface="Gabriola"/>
                <a:ea typeface="Gabriola"/>
                <a:cs typeface="Gabriola"/>
                <a:sym typeface="Gabriola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GB" sz="4000" dirty="0">
                <a:solidFill>
                  <a:schemeClr val="bg1"/>
                </a:solidFill>
                <a:latin typeface="Arial"/>
                <a:ea typeface="Times New Roman"/>
              </a:rPr>
              <a:t>25CPES102</a:t>
            </a:r>
            <a:endParaRPr lang="en-GB" sz="8800" dirty="0">
              <a:solidFill>
                <a:schemeClr val="bg1"/>
              </a:solidFill>
              <a:latin typeface="Arial"/>
              <a:ea typeface="Times New Roman"/>
            </a:endParaRPr>
          </a:p>
          <a:p>
            <a:pPr algn="l"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Arial"/>
                <a:ea typeface="Times New Roman"/>
              </a:rPr>
              <a:t>Electronic material and Devices </a:t>
            </a:r>
            <a:endParaRPr lang="en-GB" sz="4000" dirty="0">
              <a:solidFill>
                <a:schemeClr val="bg1"/>
              </a:solidFill>
              <a:latin typeface="Arial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437268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7047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1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15" grpId="0" animBg="1"/>
      <p:bldP spid="16" grpId="0" animBg="1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Bipolar Junction Transistor 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74" y="3001169"/>
            <a:ext cx="12281319" cy="4687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 descr="5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0525" y="5155016"/>
            <a:ext cx="10150474" cy="8336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3140049" y="9709265"/>
            <a:ext cx="790367" cy="698267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n</a:t>
            </a:r>
            <a:r>
              <a:rPr kumimoji="0" lang="en-US" sz="3600" b="0" i="0" u="none" strike="noStrike" cap="none" spc="0" normalizeH="0" baseline="30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+</a:t>
            </a:r>
            <a:endParaRPr kumimoji="0" lang="en-US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432649" y="10559932"/>
            <a:ext cx="790367" cy="698267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97378" y="9415653"/>
            <a:ext cx="395184" cy="575156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p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1" r="50000" b="-3621"/>
          <a:stretch/>
        </p:blipFill>
        <p:spPr bwMode="auto">
          <a:xfrm>
            <a:off x="3455988" y="7865738"/>
            <a:ext cx="4406106" cy="4867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00044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Bipolar Junction Transistor 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7303"/>
            <a:ext cx="12801600" cy="4735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 descr="5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0525" y="5155016"/>
            <a:ext cx="10150474" cy="8336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63" t="416" b="-416"/>
          <a:stretch/>
        </p:blipFill>
        <p:spPr bwMode="auto">
          <a:xfrm>
            <a:off x="3556000" y="8132329"/>
            <a:ext cx="3962400" cy="472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63204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A3710-D218-B797-3B68-CCDD03447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5C940-CB7E-7A01-CAF3-A4921EAF54A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92939E-8106-C128-E3D0-1A35DF4D13F6}"/>
              </a:ext>
            </a:extLst>
          </p:cNvPr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Bipolar Junction Transistor </a:t>
            </a:r>
          </a:p>
        </p:txBody>
      </p:sp>
      <p:pic>
        <p:nvPicPr>
          <p:cNvPr id="7" name="Picture 2" descr="5-1">
            <a:extLst>
              <a:ext uri="{FF2B5EF4-FFF2-40B4-BE49-F238E27FC236}">
                <a16:creationId xmlns:a16="http://schemas.microsoft.com/office/drawing/2014/main" id="{21ADA6AE-3A85-ADB2-306B-5BFB527C7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0525" y="5155016"/>
            <a:ext cx="10150474" cy="8336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E35CC5-D188-8B99-AC0B-82352D977084}"/>
              </a:ext>
            </a:extLst>
          </p:cNvPr>
          <p:cNvSpPr txBox="1"/>
          <p:nvPr/>
        </p:nvSpPr>
        <p:spPr>
          <a:xfrm>
            <a:off x="13140049" y="9709265"/>
            <a:ext cx="790367" cy="698267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n</a:t>
            </a:r>
            <a:r>
              <a:rPr kumimoji="0" lang="en-US" sz="3600" b="0" i="0" u="none" strike="noStrike" cap="none" spc="0" normalizeH="0" baseline="30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+</a:t>
            </a:r>
            <a:endParaRPr kumimoji="0" lang="en-US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B40B59-0761-E748-519D-95F293A447DC}"/>
              </a:ext>
            </a:extLst>
          </p:cNvPr>
          <p:cNvSpPr txBox="1"/>
          <p:nvPr/>
        </p:nvSpPr>
        <p:spPr>
          <a:xfrm>
            <a:off x="17432649" y="10559932"/>
            <a:ext cx="790367" cy="698267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6E0188-3328-6ABE-9DEB-F68C76477A18}"/>
              </a:ext>
            </a:extLst>
          </p:cNvPr>
          <p:cNvSpPr txBox="1"/>
          <p:nvPr/>
        </p:nvSpPr>
        <p:spPr>
          <a:xfrm>
            <a:off x="16297378" y="9415653"/>
            <a:ext cx="395184" cy="575156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p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DA7E7F79-E255-E0EA-49A7-41BD85B8AF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1" r="50000" b="-3621"/>
          <a:stretch/>
        </p:blipFill>
        <p:spPr bwMode="auto">
          <a:xfrm>
            <a:off x="3455988" y="7865738"/>
            <a:ext cx="4406106" cy="4867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BA448A5-460B-F093-5798-E741217F8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832" y="2533303"/>
            <a:ext cx="8961120" cy="5152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32414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Bipolar Junction Transistor </a:t>
            </a:r>
          </a:p>
        </p:txBody>
      </p:sp>
      <p:pic>
        <p:nvPicPr>
          <p:cNvPr id="10" name="Picture 3" descr="L:\Clients\Oxford\PPT\Ch_4\8212n04_0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2336800"/>
            <a:ext cx="89154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fig_3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4722811"/>
            <a:ext cx="10972800" cy="80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705580" y="8753635"/>
            <a:ext cx="1004752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Active mode </a:t>
            </a:r>
          </a:p>
        </p:txBody>
      </p:sp>
    </p:spTree>
    <p:extLst>
      <p:ext uri="{BB962C8B-B14F-4D97-AF65-F5344CB8AC3E}">
        <p14:creationId xmlns:p14="http://schemas.microsoft.com/office/powerpoint/2010/main" val="28519041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Bipolar Junction Transistor </a:t>
            </a:r>
          </a:p>
        </p:txBody>
      </p:sp>
      <p:pic>
        <p:nvPicPr>
          <p:cNvPr id="10" name="Picture 3" descr="L:\Clients\Oxford\PPT\Ch_4\8212n04_0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2336800"/>
            <a:ext cx="89154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fig_4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4289482"/>
            <a:ext cx="12573000" cy="9234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1074400" y="4849467"/>
            <a:ext cx="1422400" cy="9137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+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2827000" y="4289482"/>
            <a:ext cx="1930400" cy="0"/>
          </a:xfrm>
          <a:prstGeom prst="straightConnector1">
            <a:avLst/>
          </a:prstGeom>
          <a:noFill/>
          <a:ln w="76200" cap="flat">
            <a:solidFill>
              <a:srgbClr val="FF0000"/>
            </a:solidFill>
            <a:prstDash val="solid"/>
            <a:miter lim="400000"/>
            <a:headEnd type="arrow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017226"/>
              </p:ext>
            </p:extLst>
          </p:nvPr>
        </p:nvGraphicFramePr>
        <p:xfrm>
          <a:off x="1244600" y="8082915"/>
          <a:ext cx="4876800" cy="1393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00100" imgH="228600" progId="Equation.DSMT4">
                  <p:embed/>
                </p:oleObj>
              </mc:Choice>
              <mc:Fallback>
                <p:oleObj r:id="rId4" imgW="8001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8082915"/>
                        <a:ext cx="4876800" cy="13937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0" y="4191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48403" y="10178903"/>
            <a:ext cx="836639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/>
              <a:t>The common-emitter current gain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954982" y="9448800"/>
            <a:ext cx="1634836" cy="73010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426517"/>
              </p:ext>
            </p:extLst>
          </p:nvPr>
        </p:nvGraphicFramePr>
        <p:xfrm>
          <a:off x="6821488" y="7942263"/>
          <a:ext cx="2500312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45863" imgH="418918" progId="Equation.DSMT4">
                  <p:embed/>
                </p:oleObj>
              </mc:Choice>
              <mc:Fallback>
                <p:oleObj r:id="rId6" imgW="545863" imgH="41891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1488" y="7942263"/>
                        <a:ext cx="2500312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85951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Bipolar Junction Transistor </a:t>
            </a:r>
          </a:p>
        </p:txBody>
      </p:sp>
      <p:pic>
        <p:nvPicPr>
          <p:cNvPr id="10" name="Picture 3" descr="L:\Clients\Oxford\PPT\Ch_4\8212n04_0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2336800"/>
            <a:ext cx="89154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fig_4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4289482"/>
            <a:ext cx="12573000" cy="9234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1074400" y="4849467"/>
            <a:ext cx="1422400" cy="9137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+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2827000" y="4289482"/>
            <a:ext cx="1930400" cy="0"/>
          </a:xfrm>
          <a:prstGeom prst="straightConnector1">
            <a:avLst/>
          </a:prstGeom>
          <a:noFill/>
          <a:ln w="76200" cap="flat">
            <a:solidFill>
              <a:srgbClr val="FF0000"/>
            </a:solidFill>
            <a:prstDash val="solid"/>
            <a:miter lim="400000"/>
            <a:headEnd type="arrow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727630"/>
              </p:ext>
            </p:extLst>
          </p:nvPr>
        </p:nvGraphicFramePr>
        <p:xfrm>
          <a:off x="1244600" y="8082915"/>
          <a:ext cx="4876800" cy="1393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00100" imgH="228600" progId="Equation.DSMT4">
                  <p:embed/>
                </p:oleObj>
              </mc:Choice>
              <mc:Fallback>
                <p:oleObj r:id="rId4" imgW="800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8082915"/>
                        <a:ext cx="4876800" cy="13937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7024776"/>
              </p:ext>
            </p:extLst>
          </p:nvPr>
        </p:nvGraphicFramePr>
        <p:xfrm>
          <a:off x="6821053" y="7941627"/>
          <a:ext cx="2500747" cy="1930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45863" imgH="418918" progId="Equation.DSMT4">
                  <p:embed/>
                </p:oleObj>
              </mc:Choice>
              <mc:Fallback>
                <p:oleObj r:id="rId6" imgW="545863" imgH="4189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1053" y="7941627"/>
                        <a:ext cx="2500747" cy="19304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0" y="4191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" y="1524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894711"/>
              </p:ext>
            </p:extLst>
          </p:nvPr>
        </p:nvGraphicFramePr>
        <p:xfrm>
          <a:off x="1735942" y="9750221"/>
          <a:ext cx="3366313" cy="1683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838200" imgH="419100" progId="Equation.DSMT4">
                  <p:embed/>
                </p:oleObj>
              </mc:Choice>
              <mc:Fallback>
                <p:oleObj r:id="rId8" imgW="838200" imgH="4191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942" y="9750221"/>
                        <a:ext cx="3366313" cy="16831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2400" y="5715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04800" y="3048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86077"/>
              </p:ext>
            </p:extLst>
          </p:nvPr>
        </p:nvGraphicFramePr>
        <p:xfrm>
          <a:off x="1413163" y="11482937"/>
          <a:ext cx="6123710" cy="204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257300" imgH="419100" progId="Equation.DSMT4">
                  <p:embed/>
                </p:oleObj>
              </mc:Choice>
              <mc:Fallback>
                <p:oleObj r:id="rId10" imgW="1257300" imgH="419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163" y="11482937"/>
                        <a:ext cx="6123710" cy="2041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304800" y="7239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122998" y="10627605"/>
            <a:ext cx="485920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common-base current gain</a:t>
            </a:r>
          </a:p>
        </p:txBody>
      </p:sp>
    </p:spTree>
    <p:extLst>
      <p:ext uri="{BB962C8B-B14F-4D97-AF65-F5344CB8AC3E}">
        <p14:creationId xmlns:p14="http://schemas.microsoft.com/office/powerpoint/2010/main" val="30441922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Bipolar Junction Transistor </a:t>
            </a:r>
          </a:p>
        </p:txBody>
      </p:sp>
      <p:pic>
        <p:nvPicPr>
          <p:cNvPr id="10" name="Picture 3" descr="L:\Clients\Oxford\PPT\Ch_4\8212n04_0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2336800"/>
            <a:ext cx="89154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9158910"/>
              </p:ext>
            </p:extLst>
          </p:nvPr>
        </p:nvGraphicFramePr>
        <p:xfrm>
          <a:off x="1244600" y="8082915"/>
          <a:ext cx="4876800" cy="1393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00100" imgH="228600" progId="Equation.DSMT4">
                  <p:embed/>
                </p:oleObj>
              </mc:Choice>
              <mc:Fallback>
                <p:oleObj r:id="rId3" imgW="800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8082915"/>
                        <a:ext cx="4876800" cy="13937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074694"/>
              </p:ext>
            </p:extLst>
          </p:nvPr>
        </p:nvGraphicFramePr>
        <p:xfrm>
          <a:off x="6821053" y="7941627"/>
          <a:ext cx="2500747" cy="1930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45863" imgH="418918" progId="Equation.DSMT4">
                  <p:embed/>
                </p:oleObj>
              </mc:Choice>
              <mc:Fallback>
                <p:oleObj r:id="rId5" imgW="545863" imgH="4189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1053" y="7941627"/>
                        <a:ext cx="2500747" cy="19304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0" y="4191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" y="1524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258887"/>
              </p:ext>
            </p:extLst>
          </p:nvPr>
        </p:nvGraphicFramePr>
        <p:xfrm>
          <a:off x="1735942" y="9750221"/>
          <a:ext cx="3366313" cy="1683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838200" imgH="419100" progId="Equation.DSMT4">
                  <p:embed/>
                </p:oleObj>
              </mc:Choice>
              <mc:Fallback>
                <p:oleObj r:id="rId7" imgW="8382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942" y="9750221"/>
                        <a:ext cx="3366313" cy="16831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2400" y="5715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04800" y="3048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872681"/>
              </p:ext>
            </p:extLst>
          </p:nvPr>
        </p:nvGraphicFramePr>
        <p:xfrm>
          <a:off x="1413163" y="11482937"/>
          <a:ext cx="6123710" cy="204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257300" imgH="419100" progId="Equation.DSMT4">
                  <p:embed/>
                </p:oleObj>
              </mc:Choice>
              <mc:Fallback>
                <p:oleObj r:id="rId9" imgW="12573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163" y="11482937"/>
                        <a:ext cx="6123710" cy="2041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304800" y="7239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1" r="50000" b="-3621"/>
          <a:stretch/>
        </p:blipFill>
        <p:spPr bwMode="auto">
          <a:xfrm>
            <a:off x="11325369" y="4596065"/>
            <a:ext cx="6519285" cy="7201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901065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Bipolar Junction Transistor </a:t>
            </a: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515461"/>
              </p:ext>
            </p:extLst>
          </p:nvPr>
        </p:nvGraphicFramePr>
        <p:xfrm>
          <a:off x="1244600" y="8082915"/>
          <a:ext cx="4876800" cy="1393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00100" imgH="228600" progId="Equation.DSMT4">
                  <p:embed/>
                </p:oleObj>
              </mc:Choice>
              <mc:Fallback>
                <p:oleObj r:id="rId2" imgW="800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8082915"/>
                        <a:ext cx="4876800" cy="13937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2569158"/>
              </p:ext>
            </p:extLst>
          </p:nvPr>
        </p:nvGraphicFramePr>
        <p:xfrm>
          <a:off x="6821053" y="7941627"/>
          <a:ext cx="2500747" cy="1930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45863" imgH="418918" progId="Equation.DSMT4">
                  <p:embed/>
                </p:oleObj>
              </mc:Choice>
              <mc:Fallback>
                <p:oleObj r:id="rId4" imgW="545863" imgH="4189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1053" y="7941627"/>
                        <a:ext cx="2500747" cy="19304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0" y="4191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" y="1524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45476"/>
              </p:ext>
            </p:extLst>
          </p:nvPr>
        </p:nvGraphicFramePr>
        <p:xfrm>
          <a:off x="1735942" y="9750221"/>
          <a:ext cx="3366313" cy="1683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38200" imgH="419100" progId="Equation.DSMT4">
                  <p:embed/>
                </p:oleObj>
              </mc:Choice>
              <mc:Fallback>
                <p:oleObj r:id="rId6" imgW="8382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942" y="9750221"/>
                        <a:ext cx="3366313" cy="16831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2400" y="5715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04800" y="3048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197144"/>
              </p:ext>
            </p:extLst>
          </p:nvPr>
        </p:nvGraphicFramePr>
        <p:xfrm>
          <a:off x="1413163" y="11482937"/>
          <a:ext cx="6123710" cy="204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57300" imgH="419100" progId="Equation.DSMT4">
                  <p:embed/>
                </p:oleObj>
              </mc:Choice>
              <mc:Fallback>
                <p:oleObj r:id="rId8" imgW="12573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163" y="11482937"/>
                        <a:ext cx="6123710" cy="2041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304800" y="7239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1" r="50000" b="-3621"/>
          <a:stretch/>
        </p:blipFill>
        <p:spPr bwMode="auto">
          <a:xfrm>
            <a:off x="2264497" y="2533303"/>
            <a:ext cx="4856740" cy="5365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4" descr="F:\chp4\8212n04_05b.jpg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78"/>
          <a:stretch/>
        </p:blipFill>
        <p:spPr bwMode="auto">
          <a:xfrm>
            <a:off x="13465562" y="2533303"/>
            <a:ext cx="5930802" cy="907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82663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Bipolar Junction Transistor </a:t>
            </a: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695854"/>
              </p:ext>
            </p:extLst>
          </p:nvPr>
        </p:nvGraphicFramePr>
        <p:xfrm>
          <a:off x="1244600" y="8082915"/>
          <a:ext cx="4876800" cy="1393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00100" imgH="228600" progId="Equation.DSMT4">
                  <p:embed/>
                </p:oleObj>
              </mc:Choice>
              <mc:Fallback>
                <p:oleObj r:id="rId2" imgW="800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8082915"/>
                        <a:ext cx="4876800" cy="13937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783904"/>
              </p:ext>
            </p:extLst>
          </p:nvPr>
        </p:nvGraphicFramePr>
        <p:xfrm>
          <a:off x="6821053" y="7941627"/>
          <a:ext cx="2500747" cy="1930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45863" imgH="418918" progId="Equation.DSMT4">
                  <p:embed/>
                </p:oleObj>
              </mc:Choice>
              <mc:Fallback>
                <p:oleObj r:id="rId4" imgW="545863" imgH="4189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1053" y="7941627"/>
                        <a:ext cx="2500747" cy="19304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0" y="4191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" y="1524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813492"/>
              </p:ext>
            </p:extLst>
          </p:nvPr>
        </p:nvGraphicFramePr>
        <p:xfrm>
          <a:off x="1735942" y="9750221"/>
          <a:ext cx="3366313" cy="1683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38200" imgH="419100" progId="Equation.DSMT4">
                  <p:embed/>
                </p:oleObj>
              </mc:Choice>
              <mc:Fallback>
                <p:oleObj r:id="rId6" imgW="8382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942" y="9750221"/>
                        <a:ext cx="3366313" cy="16831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2400" y="5715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04800" y="3048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796755"/>
              </p:ext>
            </p:extLst>
          </p:nvPr>
        </p:nvGraphicFramePr>
        <p:xfrm>
          <a:off x="1413163" y="11482937"/>
          <a:ext cx="6123710" cy="204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57300" imgH="419100" progId="Equation.DSMT4">
                  <p:embed/>
                </p:oleObj>
              </mc:Choice>
              <mc:Fallback>
                <p:oleObj r:id="rId8" imgW="12573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163" y="11482937"/>
                        <a:ext cx="6123710" cy="2041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304800" y="7239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1" r="50000" b="-3621"/>
          <a:stretch/>
        </p:blipFill>
        <p:spPr bwMode="auto">
          <a:xfrm>
            <a:off x="2264497" y="2533303"/>
            <a:ext cx="4856740" cy="5365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6" descr="F:\chp4\8212n04_05d.jp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0" y="4114725"/>
            <a:ext cx="8672945" cy="7567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24632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BJT modes of operation 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0" y="4191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" y="1524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2400" y="5715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04800" y="3048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304800" y="7239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" name="Picture 3" descr="E:\Oxford PPT\CHP4\8212n04_15ab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0"/>
          <a:stretch/>
        </p:blipFill>
        <p:spPr bwMode="auto">
          <a:xfrm>
            <a:off x="7353788" y="4800601"/>
            <a:ext cx="15339958" cy="8555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2888673"/>
            <a:ext cx="11359849" cy="301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08" y="6640599"/>
            <a:ext cx="12494354" cy="1106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009332"/>
            <a:ext cx="9656618" cy="164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55817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BJT Configurations  </a:t>
            </a:r>
          </a:p>
        </p:txBody>
      </p:sp>
      <p:pic>
        <p:nvPicPr>
          <p:cNvPr id="26628" name="Picture 4" descr="Bipolar Transistor Tutorial, The BJT Transis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812" y="4703618"/>
            <a:ext cx="20531015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030726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BJT: DC Circuits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0" y="4191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" y="1524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2400" y="5715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04800" y="3048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304800" y="7239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81890" y="2886763"/>
            <a:ext cx="2324792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</a:rPr>
              <a:t>Example: </a:t>
            </a:r>
            <a:r>
              <a:rPr lang="en-US" dirty="0"/>
              <a:t>Analyze the shown circuit to determine all node voltages and branch currents. Assume </a:t>
            </a:r>
            <a:r>
              <a:rPr lang="el-GR" dirty="0">
                <a:latin typeface="Times New Roman"/>
                <a:cs typeface="Times New Roman"/>
              </a:rPr>
              <a:t>β</a:t>
            </a:r>
            <a:r>
              <a:rPr lang="en-US" dirty="0"/>
              <a:t>  = 100. 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0" y="4517979"/>
            <a:ext cx="7512627" cy="737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245790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BJT: DC Circuits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0" y="4191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" y="1524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2400" y="5715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04800" y="3048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304800" y="7239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26473" y="2859054"/>
            <a:ext cx="2236123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</a:rPr>
              <a:t>Example: </a:t>
            </a:r>
            <a:r>
              <a:rPr lang="en-US" dirty="0"/>
              <a:t>Analyze the shown circuit to determine all node voltages and branch currents. Assume </a:t>
            </a:r>
            <a:r>
              <a:rPr lang="el-GR" dirty="0">
                <a:latin typeface="Times New Roman"/>
                <a:cs typeface="Times New Roman"/>
              </a:rPr>
              <a:t>β</a:t>
            </a:r>
            <a:r>
              <a:rPr lang="en-US" dirty="0"/>
              <a:t>  = 100. 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1531" y="3674662"/>
            <a:ext cx="6253595" cy="956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14879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BJT: DC Circuits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0" y="4191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" y="1524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2400" y="5715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04800" y="3048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304800" y="7239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799" y="2533303"/>
            <a:ext cx="2208414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</a:rPr>
              <a:t>Example</a:t>
            </a:r>
            <a:r>
              <a:rPr lang="en-US" dirty="0"/>
              <a:t>: Analyze the shown circuit to determine all node voltages and branch currents. Assume   </a:t>
            </a:r>
            <a:r>
              <a:rPr lang="el-GR" dirty="0">
                <a:latin typeface="Times New Roman"/>
                <a:cs typeface="Times New Roman"/>
              </a:rPr>
              <a:t>β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/>
              <a:t>= 100. 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0647" y="3751118"/>
            <a:ext cx="6732443" cy="8567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845629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0" y="4191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" y="1524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2400" y="5715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04800" y="3048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304800" y="7239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4763" y="1748473"/>
            <a:ext cx="11282362" cy="11592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Small signal operation 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4763" y="9714708"/>
            <a:ext cx="4738687" cy="1286667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>
            <a:outerShdw blurRad="508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44" t="62561" r="12241" b="26340"/>
          <a:stretch/>
        </p:blipFill>
        <p:spPr bwMode="auto">
          <a:xfrm>
            <a:off x="13139114" y="9743283"/>
            <a:ext cx="2314575" cy="1286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38" r="-1"/>
          <a:stretch/>
        </p:blipFill>
        <p:spPr bwMode="auto">
          <a:xfrm>
            <a:off x="1213999" y="2916555"/>
            <a:ext cx="5644001" cy="989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3048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535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99" t="-398"/>
          <a:stretch/>
        </p:blipFill>
        <p:spPr bwMode="auto">
          <a:xfrm>
            <a:off x="1213999" y="5334953"/>
            <a:ext cx="4078910" cy="1122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0" y="6096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0" y="434975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20"/>
          <p:cNvSpPr>
            <a:spLocks noChangeArrowheads="1"/>
          </p:cNvSpPr>
          <p:nvPr/>
        </p:nvSpPr>
        <p:spPr bwMode="auto">
          <a:xfrm>
            <a:off x="0" y="2286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057212" y="9743283"/>
            <a:ext cx="7015062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The transconductance</a:t>
            </a: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152400" y="1524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3"/>
          <p:cNvSpPr>
            <a:spLocks noChangeArrowheads="1"/>
          </p:cNvSpPr>
          <p:nvPr/>
        </p:nvSpPr>
        <p:spPr bwMode="auto">
          <a:xfrm>
            <a:off x="152400" y="587375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553" name="Picture 2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152" y="4251325"/>
            <a:ext cx="9251950" cy="86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55" name="Picture 2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152" y="6535738"/>
            <a:ext cx="3033713" cy="137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57" name="Picture 2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937" y="8205788"/>
            <a:ext cx="1912937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59" name="Picture 3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999" y="9636682"/>
            <a:ext cx="2843213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62" name="Picture 3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830" y="11029950"/>
            <a:ext cx="2703170" cy="2007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59841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The hybrid-</a:t>
            </a:r>
            <a:r>
              <a:rPr lang="el-GR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π</a:t>
            </a:r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 model </a:t>
            </a:r>
          </a:p>
        </p:txBody>
      </p:sp>
      <p:pic>
        <p:nvPicPr>
          <p:cNvPr id="31" name="Picture 3" descr="E:\Oxford PPT\CHP4\8212n04_26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4318000"/>
            <a:ext cx="10795000" cy="631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E:\Oxford PPT\CHP4\8212n04_26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00" y="4318000"/>
            <a:ext cx="8915400" cy="6349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71511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532406" y="963643"/>
            <a:ext cx="1644139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The common emitter (CE) amplifier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4010631"/>
            <a:ext cx="15486062" cy="8618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034385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927267" y="5686918"/>
            <a:ext cx="13977257" cy="24525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5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Gabriola" panose="04040605051002020D02" pitchFamily="82" charset="0"/>
                <a:sym typeface="Helvetica Light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798" y="8819114"/>
            <a:ext cx="2246019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accent1">
                    <a:lumMod val="75000"/>
                  </a:schemeClr>
                </a:solidFill>
                <a:latin typeface="Franklin Gothic Book" panose="020B0503020102020204" pitchFamily="34" charset="0"/>
              </a:rPr>
              <a:t>See You Next Lecture:</a:t>
            </a:r>
          </a:p>
          <a:p>
            <a:r>
              <a:rPr lang="en-US" sz="13800" b="1" dirty="0">
                <a:solidFill>
                  <a:schemeClr val="accent1">
                    <a:lumMod val="75000"/>
                  </a:schemeClr>
                </a:solidFill>
                <a:latin typeface="Gabriola" panose="04040605051002020D02" pitchFamily="82" charset="0"/>
              </a:rPr>
              <a:t>Op Amps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642" y="1151595"/>
            <a:ext cx="3678999" cy="3855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896262" y="12561094"/>
            <a:ext cx="80392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18ECE05C; Electronics (1), Dr. Sameh Osama </a:t>
            </a:r>
          </a:p>
        </p:txBody>
      </p:sp>
    </p:spTree>
    <p:extLst>
      <p:ext uri="{BB962C8B-B14F-4D97-AF65-F5344CB8AC3E}">
        <p14:creationId xmlns:p14="http://schemas.microsoft.com/office/powerpoint/2010/main" val="4162937906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5704</TotalTime>
  <Words>214</Words>
  <Application>Microsoft Macintosh PowerPoint</Application>
  <PresentationFormat>Custom</PresentationFormat>
  <Paragraphs>60</Paragraphs>
  <Slides>19</Slides>
  <Notes>0</Notes>
  <HiddenSlides>0</HiddenSlides>
  <MMClips>1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Franklin Gothic Book</vt:lpstr>
      <vt:lpstr>Gabriola</vt:lpstr>
      <vt:lpstr>Helvetica</vt:lpstr>
      <vt:lpstr>Helvetica Light</vt:lpstr>
      <vt:lpstr>Helvetica Neue</vt:lpstr>
      <vt:lpstr>Times New Roman</vt:lpstr>
      <vt:lpstr>White</vt:lpstr>
      <vt:lpstr>Equation.DSMT4</vt:lpstr>
      <vt:lpstr>Starting in 15 minutes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sameh</dc:creator>
  <cp:lastModifiedBy>Sameh Osama</cp:lastModifiedBy>
  <cp:revision>515</cp:revision>
  <dcterms:modified xsi:type="dcterms:W3CDTF">2025-11-21T16:55:24Z</dcterms:modified>
</cp:coreProperties>
</file>