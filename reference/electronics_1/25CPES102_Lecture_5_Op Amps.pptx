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audio1.wav" ContentType="audio/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5"/>
  </p:notesMasterIdLst>
  <p:sldIdLst>
    <p:sldId id="345" r:id="rId2"/>
    <p:sldId id="486" r:id="rId3"/>
    <p:sldId id="487" r:id="rId4"/>
    <p:sldId id="489" r:id="rId5"/>
    <p:sldId id="488" r:id="rId6"/>
    <p:sldId id="490" r:id="rId7"/>
    <p:sldId id="491" r:id="rId8"/>
    <p:sldId id="492" r:id="rId9"/>
    <p:sldId id="495" r:id="rId10"/>
    <p:sldId id="496" r:id="rId11"/>
    <p:sldId id="497" r:id="rId12"/>
    <p:sldId id="499" r:id="rId13"/>
    <p:sldId id="500" r:id="rId14"/>
    <p:sldId id="501" r:id="rId15"/>
    <p:sldId id="502" r:id="rId16"/>
    <p:sldId id="503" r:id="rId17"/>
    <p:sldId id="504" r:id="rId18"/>
    <p:sldId id="507" r:id="rId19"/>
    <p:sldId id="508" r:id="rId20"/>
    <p:sldId id="509" r:id="rId21"/>
    <p:sldId id="510" r:id="rId22"/>
    <p:sldId id="493" r:id="rId23"/>
    <p:sldId id="511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meh Abdellatif" initials="SA" lastIdx="3" clrIdx="0"/>
  <p:cmAuthor id="1" name="sameh abdellatif" initials="sa" lastIdx="1" clrIdx="1">
    <p:extLst>
      <p:ext uri="{19B8F6BF-5375-455C-9EA6-DF929625EA0E}">
        <p15:presenceInfo xmlns:p15="http://schemas.microsoft.com/office/powerpoint/2012/main" userId="7d49f645c213de6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3865AE"/>
    <a:srgbClr val="DBE3EE"/>
    <a:srgbClr val="3588B1"/>
    <a:srgbClr val="66FF66"/>
    <a:srgbClr val="99FF99"/>
    <a:srgbClr val="CCFF99"/>
    <a:srgbClr val="00CC66"/>
    <a:srgbClr val="00FF9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34" autoAdjust="0"/>
    <p:restoredTop sz="94660"/>
  </p:normalViewPr>
  <p:slideViewPr>
    <p:cSldViewPr snapToGrid="0">
      <p:cViewPr>
        <p:scale>
          <a:sx n="33" d="100"/>
          <a:sy n="33" d="100"/>
        </p:scale>
        <p:origin x="408" y="42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939597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2495609" y="892968"/>
            <a:ext cx="7500938" cy="1157287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quarter" idx="13"/>
          </p:nvPr>
        </p:nvSpPr>
        <p:spPr>
          <a:xfrm>
            <a:off x="12495609" y="3661171"/>
            <a:ext cx="7500938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>
            <a:spLocks noGrp="1"/>
          </p:cNvSpPr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2495609" y="7161609"/>
            <a:ext cx="7500938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2504353" y="1250156"/>
            <a:ext cx="7500939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4387453" y="1250156"/>
            <a:ext cx="7500938" cy="112156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3048000" y="0"/>
            <a:ext cx="18288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ransition spd="med"/>
  <p:hf hdr="0" ftr="0" dt="0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audio" Target="../media/audio1.wav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gif"/><Relationship Id="rId5" Type="http://schemas.openxmlformats.org/officeDocument/2006/relationships/image" Target="../media/image25.w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gif"/><Relationship Id="rId5" Type="http://schemas.openxmlformats.org/officeDocument/2006/relationships/image" Target="../media/image28.wmf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70076" y="-27607"/>
            <a:ext cx="25145737" cy="237874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 dirty="0"/>
          </a:p>
        </p:txBody>
      </p:sp>
      <p:pic>
        <p:nvPicPr>
          <p:cNvPr id="1028" name="Picture 4" descr="14th Materials Science School for Young Scientists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0076" y="2372677"/>
            <a:ext cx="25145736" cy="1233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/>
          <p:cNvSpPr/>
          <p:nvPr/>
        </p:nvSpPr>
        <p:spPr>
          <a:xfrm>
            <a:off x="15289325" y="235608"/>
            <a:ext cx="9325576" cy="1898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defRPr sz="3800">
                <a:solidFill>
                  <a:srgbClr val="FFFFFF"/>
                </a:solidFill>
              </a:defRPr>
            </a:pPr>
            <a:r>
              <a:rPr lang="en-GB" sz="3800" b="1" dirty="0">
                <a:solidFill>
                  <a:schemeClr val="bg1"/>
                </a:solidFill>
              </a:rPr>
              <a:t>Electrical Engineering Department </a:t>
            </a:r>
          </a:p>
          <a:p>
            <a:pPr algn="l">
              <a:defRPr sz="3800">
                <a:solidFill>
                  <a:srgbClr val="FFFFFF"/>
                </a:solidFill>
              </a:defRPr>
            </a:pPr>
            <a:r>
              <a:rPr lang="en-GB" sz="3800" b="1" dirty="0">
                <a:solidFill>
                  <a:schemeClr val="bg1"/>
                </a:solidFill>
              </a:rPr>
              <a:t>Academic Year: 2025/2026</a:t>
            </a:r>
          </a:p>
          <a:p>
            <a:pPr algn="l">
              <a:defRPr sz="3800">
                <a:solidFill>
                  <a:srgbClr val="FFFFFF"/>
                </a:solidFill>
              </a:defRPr>
            </a:pPr>
            <a:r>
              <a:rPr lang="en-GB" sz="3800" b="1" dirty="0">
                <a:solidFill>
                  <a:schemeClr val="bg1"/>
                </a:solidFill>
              </a:rPr>
              <a:t>Semester: One </a:t>
            </a:r>
          </a:p>
        </p:txBody>
      </p:sp>
      <p:sp>
        <p:nvSpPr>
          <p:cNvPr id="10" name="‘‘Study of the Photovoltaic Behavior of Coaxial Nanowires’’"/>
          <p:cNvSpPr/>
          <p:nvPr/>
        </p:nvSpPr>
        <p:spPr>
          <a:xfrm>
            <a:off x="399357" y="504859"/>
            <a:ext cx="21261608" cy="1313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r" defTabSz="914400">
              <a:spcBef>
                <a:spcPts val="600"/>
              </a:spcBef>
              <a:defRPr sz="4200" b="1">
                <a:solidFill>
                  <a:srgbClr val="FFFFFF"/>
                </a:solidFill>
                <a:latin typeface="Gabriola"/>
                <a:ea typeface="Gabriola"/>
                <a:cs typeface="Gabriola"/>
                <a:sym typeface="Gabriola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GB" sz="4000" dirty="0">
                <a:solidFill>
                  <a:schemeClr val="bg1"/>
                </a:solidFill>
                <a:latin typeface="Arial"/>
                <a:ea typeface="Times New Roman"/>
              </a:rPr>
              <a:t>25CPES102</a:t>
            </a:r>
            <a:endParaRPr lang="en-GB" sz="8800" dirty="0">
              <a:solidFill>
                <a:schemeClr val="bg1"/>
              </a:solidFill>
              <a:latin typeface="Arial"/>
              <a:ea typeface="Times New Roman"/>
            </a:endParaRPr>
          </a:p>
          <a:p>
            <a:pPr algn="l"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Arial"/>
                <a:ea typeface="Times New Roman"/>
              </a:rPr>
              <a:t>Electronic Materials and Devices  </a:t>
            </a:r>
            <a:endParaRPr lang="en-GB" sz="3600" dirty="0">
              <a:solidFill>
                <a:schemeClr val="bg1"/>
              </a:solidFill>
              <a:latin typeface="Arial"/>
              <a:ea typeface="Times New Roman"/>
            </a:endParaRPr>
          </a:p>
        </p:txBody>
      </p:sp>
      <p:sp>
        <p:nvSpPr>
          <p:cNvPr id="11" name="Rectangle 6"/>
          <p:cNvSpPr/>
          <p:nvPr/>
        </p:nvSpPr>
        <p:spPr>
          <a:xfrm>
            <a:off x="16433080" y="10141925"/>
            <a:ext cx="9325576" cy="1744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 sz="3800">
                <a:solidFill>
                  <a:srgbClr val="FFFFFF"/>
                </a:solidFill>
              </a:defRPr>
            </a:pPr>
            <a:r>
              <a:rPr lang="en-US" sz="2800" dirty="0">
                <a:solidFill>
                  <a:schemeClr val="bg1"/>
                </a:solidFill>
              </a:rPr>
              <a:t>Prepared by:</a:t>
            </a:r>
          </a:p>
          <a:p>
            <a:pPr algn="l">
              <a:defRPr sz="4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2800" dirty="0">
                <a:solidFill>
                  <a:schemeClr val="bg1"/>
                </a:solidFill>
              </a:rPr>
              <a:t>Dr. Sameh Osama Ezzat Abdellatif</a:t>
            </a:r>
          </a:p>
          <a:p>
            <a:pPr algn="l">
              <a:defRPr sz="32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PhD, Nano-semiconductor devices and photonics</a:t>
            </a:r>
          </a:p>
          <a:p>
            <a:pPr algn="l">
              <a:defRPr sz="32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Lecturer @ BUE </a:t>
            </a:r>
          </a:p>
        </p:txBody>
      </p:sp>
      <p:sp>
        <p:nvSpPr>
          <p:cNvPr id="12" name="‘‘Study of the Photovoltaic Behavior of Coaxial Nanowires’’"/>
          <p:cNvSpPr/>
          <p:nvPr/>
        </p:nvSpPr>
        <p:spPr>
          <a:xfrm>
            <a:off x="1450401" y="4984564"/>
            <a:ext cx="21779713" cy="2426945"/>
          </a:xfrm>
          <a:prstGeom prst="rect">
            <a:avLst/>
          </a:prstGeom>
          <a:ln w="12700">
            <a:miter lim="400000"/>
          </a:ln>
          <a:effectLst>
            <a:outerShdw blurRad="279400" dist="952500" dir="8100000" sx="101000" sy="101000" algn="tr" rotWithShape="0">
              <a:prstClr val="black">
                <a:alpha val="54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r" defTabSz="914400">
              <a:spcBef>
                <a:spcPts val="600"/>
              </a:spcBef>
              <a:defRPr sz="4200" b="1">
                <a:solidFill>
                  <a:srgbClr val="FFFFFF"/>
                </a:solidFill>
                <a:latin typeface="Gabriola"/>
                <a:ea typeface="Gabriola"/>
                <a:cs typeface="Gabriola"/>
                <a:sym typeface="Gabriola"/>
              </a:defRPr>
            </a:lvl1pPr>
          </a:lstStyle>
          <a:p>
            <a:pPr algn="ctr">
              <a:lnSpc>
                <a:spcPts val="4000"/>
              </a:lnSpc>
              <a:spcBef>
                <a:spcPts val="0"/>
              </a:spcBef>
            </a:pPr>
            <a:r>
              <a:rPr lang="en-GB" sz="8000" b="0" dirty="0">
                <a:ln w="0"/>
                <a:solidFill>
                  <a:schemeClr val="bg1"/>
                </a:solidFill>
                <a:effectLst/>
                <a:latin typeface="Arial"/>
                <a:ea typeface="Times New Roman"/>
              </a:rPr>
              <a:t>Lecture 5</a:t>
            </a:r>
          </a:p>
          <a:p>
            <a:pPr algn="ctr">
              <a:spcBef>
                <a:spcPts val="0"/>
              </a:spcBef>
            </a:pPr>
            <a:r>
              <a:rPr lang="en-GB" sz="11500" dirty="0">
                <a:ln w="0"/>
                <a:solidFill>
                  <a:schemeClr val="bg1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Operational Amplifiers </a:t>
            </a:r>
          </a:p>
        </p:txBody>
      </p:sp>
      <p:pic>
        <p:nvPicPr>
          <p:cNvPr id="14" name="MS900388269[1]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 cstate="print"/>
          <a:stretch>
            <a:fillRect/>
          </a:stretch>
        </p:blipFill>
        <p:spPr>
          <a:xfrm>
            <a:off x="11894166" y="12701592"/>
            <a:ext cx="384043" cy="288032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378523" y="10735523"/>
            <a:ext cx="15609094" cy="3036094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Starting in 15 minutes 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582353" y="12620507"/>
            <a:ext cx="17758832" cy="504826"/>
          </a:xfrm>
          <a:prstGeom prst="rect">
            <a:avLst/>
          </a:prstGeom>
          <a:gradFill rotWithShape="1">
            <a:gsLst>
              <a:gs pos="0">
                <a:srgbClr val="FFFF66"/>
              </a:gs>
              <a:gs pos="100000">
                <a:srgbClr val="FF3300"/>
              </a:gs>
            </a:gsLst>
            <a:lin ang="0" scaled="1"/>
          </a:gradFill>
          <a:ln w="28575">
            <a:noFill/>
            <a:miter lim="800000"/>
            <a:headEnd/>
            <a:tailEnd/>
          </a:ln>
          <a:effectLst/>
        </p:spPr>
        <p:txBody>
          <a:bodyPr wrap="none" lIns="217709" tIns="108855" rIns="217709" bIns="108855" anchor="ctr"/>
          <a:lstStyle/>
          <a:p>
            <a:endParaRPr lang="en-GB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582353" y="12620507"/>
            <a:ext cx="17758832" cy="50482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217709" tIns="108855" rIns="217709" bIns="108855" anchor="ctr"/>
          <a:lstStyle/>
          <a:p>
            <a:endParaRPr lang="en-GB" dirty="0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11281255" y="11276752"/>
            <a:ext cx="1609862" cy="835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217709" tIns="108855" rIns="217709" bIns="108855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Start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5A33BD-4020-C041-EE1A-F1FAFABC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50000"/>
                    </a14:imgEffect>
                    <a14:imgEffect>
                      <a14:saturation sat="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4660" y="-27608"/>
            <a:ext cx="5464477" cy="226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7268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704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1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15" grpId="0" animBg="1"/>
      <p:bldP spid="16" grpId="0" animBg="1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Electronics Levels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07" y="3097183"/>
            <a:ext cx="11462994" cy="4355937"/>
          </a:xfrm>
          <a:prstGeom prst="rect">
            <a:avLst/>
          </a:prstGeom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304" y="7999411"/>
            <a:ext cx="3167063" cy="4503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4" descr="Operational Amplifier Basics - Op-amp tutoria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0" y="7059505"/>
            <a:ext cx="11634055" cy="544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7206435" y="3097183"/>
            <a:ext cx="109291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60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Sub-transistor Level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672714" y="7707120"/>
            <a:ext cx="109291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60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Transistor Level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42801" y="6043842"/>
            <a:ext cx="109291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60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Gate/IC Level </a:t>
            </a:r>
          </a:p>
        </p:txBody>
      </p:sp>
    </p:spTree>
    <p:extLst>
      <p:ext uri="{BB962C8B-B14F-4D97-AF65-F5344CB8AC3E}">
        <p14:creationId xmlns:p14="http://schemas.microsoft.com/office/powerpoint/2010/main" val="21500044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What’s inside?</a:t>
            </a:r>
          </a:p>
        </p:txBody>
      </p:sp>
      <p:pic>
        <p:nvPicPr>
          <p:cNvPr id="22532" name="Picture 4" descr="Operational Amplifier Basics - Op-amp tutori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0" y="7059505"/>
            <a:ext cx="11634055" cy="544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2242801" y="6043842"/>
            <a:ext cx="109291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60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Op Amp</a:t>
            </a:r>
          </a:p>
        </p:txBody>
      </p:sp>
      <p:pic>
        <p:nvPicPr>
          <p:cNvPr id="23554" name="Picture 2" descr="ملف:OpAmpTransistorLevel Colored Labeled.svg - ويكيبيديا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55" y="3198657"/>
            <a:ext cx="10893045" cy="670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285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Op Amp as an IC</a:t>
            </a:r>
          </a:p>
        </p:txBody>
      </p:sp>
      <p:pic>
        <p:nvPicPr>
          <p:cNvPr id="22532" name="Picture 4" descr="Operational Amplifier Basics - Op-amp tutori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0" y="7059505"/>
            <a:ext cx="11634055" cy="544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2242801" y="6043842"/>
            <a:ext cx="109291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60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Op Amp</a:t>
            </a:r>
          </a:p>
        </p:txBody>
      </p:sp>
      <p:pic>
        <p:nvPicPr>
          <p:cNvPr id="24578" name="Picture 2" descr="IC 741 Op Amp Basics and Circuit Working with Characterist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93" y="3710215"/>
            <a:ext cx="9035707" cy="664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8783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Op Amp</a:t>
            </a:r>
          </a:p>
        </p:txBody>
      </p:sp>
      <p:pic>
        <p:nvPicPr>
          <p:cNvPr id="22532" name="Picture 4" descr="Operational Amplifier Basics - Op-amp tutori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074" y="3287605"/>
            <a:ext cx="16914456" cy="7913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541636" y="3836313"/>
            <a:ext cx="5843266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The open loop gain 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12534900" y="4698087"/>
            <a:ext cx="4495800" cy="139791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725546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Ideal</a:t>
            </a:r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 Op Amp</a:t>
            </a:r>
          </a:p>
        </p:txBody>
      </p:sp>
      <p:pic>
        <p:nvPicPr>
          <p:cNvPr id="26626" name="Picture 2" descr="Basics Of Operational Amplifier - Tutorialspoin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2" t="2273" r="4121" b="3789"/>
          <a:stretch/>
        </p:blipFill>
        <p:spPr bwMode="auto">
          <a:xfrm>
            <a:off x="3251200" y="3543299"/>
            <a:ext cx="8242300" cy="474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Operational Amplifier Basics - Op-amp tutori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900" y="6238722"/>
            <a:ext cx="13538494" cy="633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8668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The Inverting Configuration</a:t>
            </a:r>
            <a:endParaRPr lang="en-GB" sz="9600" b="1" dirty="0">
              <a:ln w="0"/>
              <a:solidFill>
                <a:srgbClr val="FF0000"/>
              </a:solidFill>
              <a:effectLst>
                <a:glow rad="101600">
                  <a:schemeClr val="bg1">
                    <a:lumMod val="75000"/>
                    <a:alpha val="40000"/>
                  </a:schemeClr>
                </a:glow>
                <a:outerShdw blurRad="38100" dist="25400" dir="5400000" algn="ctr" rotWithShape="0">
                  <a:schemeClr val="bg1">
                    <a:alpha val="43000"/>
                  </a:schemeClr>
                </a:outerShdw>
              </a:effectLst>
              <a:latin typeface="Arial"/>
              <a:ea typeface="Times New Roman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27652" name="Picture 4" descr="Inverting Operational Amplifier - The Inverting Op-a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300" y="3962400"/>
            <a:ext cx="14064925" cy="865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29900" y="6179867"/>
            <a:ext cx="3771900" cy="97526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</a:t>
            </a:r>
            <a:r>
              <a:rPr kumimoji="0" lang="en-US" sz="54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1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976762" y="3962400"/>
            <a:ext cx="3771900" cy="97526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</a:t>
            </a:r>
            <a:r>
              <a:rPr kumimoji="0" lang="en-US" sz="54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2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4891899"/>
            <a:ext cx="6523037" cy="576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59326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64413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The Inverting Configuration</a:t>
            </a:r>
            <a:endParaRPr lang="en-GB" sz="9600" b="1" dirty="0">
              <a:ln w="0"/>
              <a:solidFill>
                <a:srgbClr val="FF0000"/>
              </a:solidFill>
              <a:effectLst>
                <a:glow rad="101600">
                  <a:schemeClr val="bg1">
                    <a:lumMod val="75000"/>
                    <a:alpha val="40000"/>
                  </a:schemeClr>
                </a:glow>
                <a:outerShdw blurRad="38100" dist="25400" dir="5400000" algn="ctr" rotWithShape="0">
                  <a:schemeClr val="bg1">
                    <a:alpha val="43000"/>
                  </a:schemeClr>
                </a:outerShdw>
              </a:effectLst>
              <a:latin typeface="Arial"/>
              <a:ea typeface="Times New Roman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28674" name="Picture 2" descr="Inverting Operational Amplifier - The Inverting Op-a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51" y="3962400"/>
            <a:ext cx="13662709" cy="871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1201400" y="6294167"/>
            <a:ext cx="2400300" cy="97526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</a:t>
            </a:r>
            <a:r>
              <a:rPr kumimoji="0" lang="en-US" sz="54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1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705605" y="4076700"/>
            <a:ext cx="3771900" cy="97526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</a:t>
            </a:r>
            <a:r>
              <a:rPr kumimoji="0" lang="en-US" sz="54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2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425" y="3954463"/>
            <a:ext cx="5059363" cy="832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702436" y="12283805"/>
            <a:ext cx="6729727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The closed loop gain </a:t>
            </a:r>
          </a:p>
        </p:txBody>
      </p:sp>
    </p:spTree>
    <p:extLst>
      <p:ext uri="{BB962C8B-B14F-4D97-AF65-F5344CB8AC3E}">
        <p14:creationId xmlns:p14="http://schemas.microsoft.com/office/powerpoint/2010/main" val="2242788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The Inverting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31" y="2937925"/>
            <a:ext cx="5092669" cy="1375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/>
                <a:cs typeface="Times New Roman"/>
                <a:sym typeface="Helvetica Light"/>
              </a:rPr>
              <a:t>Example </a:t>
            </a:r>
            <a:endParaRPr kumimoji="0" lang="en-US" sz="80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sym typeface="Helvetica Light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3213847"/>
            <a:ext cx="14478000" cy="8729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091103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The Weighted Summer </a:t>
            </a:r>
          </a:p>
        </p:txBody>
      </p:sp>
      <p:pic>
        <p:nvPicPr>
          <p:cNvPr id="32770" name="Picture 2" descr="Summing Amplifier is an Op-amp Voltage Ad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3048000"/>
            <a:ext cx="19828090" cy="937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57300" y="3048000"/>
            <a:ext cx="6248400" cy="80391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>
            <a:outerShdw blurRad="508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96400" y="2819400"/>
            <a:ext cx="2400300" cy="97526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</a:t>
            </a:r>
            <a:r>
              <a:rPr kumimoji="0" lang="en-US" sz="54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1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96400" y="4800600"/>
            <a:ext cx="2400300" cy="97526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</a:t>
            </a:r>
            <a:r>
              <a:rPr kumimoji="0" lang="en-US" sz="54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2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72600" y="6618017"/>
            <a:ext cx="2400300" cy="97526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</a:t>
            </a:r>
            <a:r>
              <a:rPr kumimoji="0" lang="en-US" sz="54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3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72600" y="8648700"/>
            <a:ext cx="2400300" cy="97526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</a:t>
            </a:r>
            <a:r>
              <a:rPr kumimoji="0" lang="en-US" sz="5400" b="1" i="0" u="none" strike="noStrike" cap="none" spc="0" normalizeH="0" baseline="-2500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n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883117"/>
              </p:ext>
            </p:extLst>
          </p:nvPr>
        </p:nvGraphicFramePr>
        <p:xfrm>
          <a:off x="570256" y="3414713"/>
          <a:ext cx="7037611" cy="6209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00300" imgH="2120900" progId="Equation.DSMT4">
                  <p:embed/>
                </p:oleObj>
              </mc:Choice>
              <mc:Fallback>
                <p:oleObj r:id="rId3" imgW="2400300" imgH="2120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256" y="3414713"/>
                        <a:ext cx="7037611" cy="6209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07382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The Non-inverting Configuration</a:t>
            </a:r>
          </a:p>
        </p:txBody>
      </p:sp>
      <p:pic>
        <p:nvPicPr>
          <p:cNvPr id="33794" name="Picture 2" descr="Non-inverting Operational Amplifier Configu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4974" y="4343400"/>
            <a:ext cx="11045505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917558"/>
              </p:ext>
            </p:extLst>
          </p:nvPr>
        </p:nvGraphicFramePr>
        <p:xfrm>
          <a:off x="1104900" y="4343400"/>
          <a:ext cx="8680260" cy="537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79600" imgH="1168400" progId="Equation.DSMT4">
                  <p:embed/>
                </p:oleObj>
              </mc:Choice>
              <mc:Fallback>
                <p:oleObj r:id="rId3" imgW="1879600" imgH="1168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4343400"/>
                        <a:ext cx="8680260" cy="5372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2379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The Voltage Follower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3496945"/>
            <a:ext cx="10858873" cy="8830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167826"/>
              </p:ext>
            </p:extLst>
          </p:nvPr>
        </p:nvGraphicFramePr>
        <p:xfrm>
          <a:off x="1102658" y="5029200"/>
          <a:ext cx="7855266" cy="3684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33500" imgH="622300" progId="Equation.DSMT4">
                  <p:embed/>
                </p:oleObj>
              </mc:Choice>
              <mc:Fallback>
                <p:oleObj r:id="rId3" imgW="1333500" imgH="622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2658" y="5029200"/>
                        <a:ext cx="7855266" cy="36844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64332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Difference Amplifiers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8" name="Picture 2" descr="Differential Amplifier - The Voltage Subtra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644" y="3174215"/>
            <a:ext cx="12726708" cy="91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ifferential amplifier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28" y="2943644"/>
            <a:ext cx="7294096" cy="934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345026" y="3174215"/>
            <a:ext cx="1228724" cy="91371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0" y="7161642"/>
            <a:ext cx="1228724" cy="91371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R3</a:t>
            </a:r>
          </a:p>
        </p:txBody>
      </p:sp>
    </p:spTree>
    <p:extLst>
      <p:ext uri="{BB962C8B-B14F-4D97-AF65-F5344CB8AC3E}">
        <p14:creationId xmlns:p14="http://schemas.microsoft.com/office/powerpoint/2010/main" val="16264099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Difference Amplifiers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1" y="-1"/>
            <a:ext cx="1159561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367269"/>
              </p:ext>
            </p:extLst>
          </p:nvPr>
        </p:nvGraphicFramePr>
        <p:xfrm>
          <a:off x="1343024" y="3174215"/>
          <a:ext cx="5195047" cy="1640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23586" imgH="228501" progId="Equation.DSMT4">
                  <p:embed/>
                </p:oleObj>
              </mc:Choice>
              <mc:Fallback>
                <p:oleObj r:id="rId2" imgW="723586" imgH="22850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4" y="3174215"/>
                        <a:ext cx="5195047" cy="16405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005858"/>
              </p:ext>
            </p:extLst>
          </p:nvPr>
        </p:nvGraphicFramePr>
        <p:xfrm>
          <a:off x="1343024" y="4814756"/>
          <a:ext cx="5966460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04900" imgH="393700" progId="Equation.DSMT4">
                  <p:embed/>
                </p:oleObj>
              </mc:Choice>
              <mc:Fallback>
                <p:oleObj r:id="rId4" imgW="11049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4" y="4814756"/>
                        <a:ext cx="5966460" cy="2143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823196" y="6957881"/>
            <a:ext cx="1279513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" name="Picture 2" descr="Differential Amplifier - The Voltage Subtracto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644" y="3174215"/>
            <a:ext cx="12726708" cy="91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7345026" y="3174215"/>
            <a:ext cx="1228724" cy="91371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0" y="7161642"/>
            <a:ext cx="1228724" cy="91371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R3</a:t>
            </a:r>
          </a:p>
        </p:txBody>
      </p:sp>
    </p:spTree>
    <p:extLst>
      <p:ext uri="{BB962C8B-B14F-4D97-AF65-F5344CB8AC3E}">
        <p14:creationId xmlns:p14="http://schemas.microsoft.com/office/powerpoint/2010/main" val="9313969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Difference Amplifiers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1" y="-1"/>
            <a:ext cx="1159561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823196" y="6957881"/>
            <a:ext cx="1279513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9020" y="4142718"/>
            <a:ext cx="1320746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Common Mode Rejection Ratio CMRR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0075" y="6675462"/>
            <a:ext cx="953941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770450"/>
              </p:ext>
            </p:extLst>
          </p:nvPr>
        </p:nvGraphicFramePr>
        <p:xfrm>
          <a:off x="600074" y="6675463"/>
          <a:ext cx="7548903" cy="2533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09700" imgH="469900" progId="Equation.DSMT4">
                  <p:embed/>
                </p:oleObj>
              </mc:Choice>
              <mc:Fallback>
                <p:oleObj r:id="rId2" imgW="1409700" imgH="4699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4" y="6675463"/>
                        <a:ext cx="7548903" cy="25333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2" descr="Differential Amplifier - The Voltage Subtrac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644" y="3174215"/>
            <a:ext cx="12726708" cy="91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7345026" y="3174215"/>
            <a:ext cx="1228724" cy="91371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0" y="7161642"/>
            <a:ext cx="1228724" cy="91371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R3</a:t>
            </a:r>
          </a:p>
        </p:txBody>
      </p:sp>
    </p:spTree>
    <p:extLst>
      <p:ext uri="{BB962C8B-B14F-4D97-AF65-F5344CB8AC3E}">
        <p14:creationId xmlns:p14="http://schemas.microsoft.com/office/powerpoint/2010/main" val="3787547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Difference Amplifiers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1" y="-1"/>
            <a:ext cx="1159561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823196" y="6957881"/>
            <a:ext cx="1279513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25601" y="4142718"/>
            <a:ext cx="447430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Superposition 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0075" y="6675462"/>
            <a:ext cx="953941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308077" y="6456066"/>
            <a:ext cx="93349715" cy="68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373649"/>
              </p:ext>
            </p:extLst>
          </p:nvPr>
        </p:nvGraphicFramePr>
        <p:xfrm>
          <a:off x="1308078" y="6456067"/>
          <a:ext cx="6435046" cy="2402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67893" imgH="431613" progId="Equation.DSMT4">
                  <p:embed/>
                </p:oleObj>
              </mc:Choice>
              <mc:Fallback>
                <p:oleObj r:id="rId2" imgW="1167893" imgH="431613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078" y="6456067"/>
                        <a:ext cx="6435046" cy="24021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533531"/>
              </p:ext>
            </p:extLst>
          </p:nvPr>
        </p:nvGraphicFramePr>
        <p:xfrm>
          <a:off x="2532406" y="9445466"/>
          <a:ext cx="4264440" cy="27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60113" imgH="431613" progId="Equation.DSMT4">
                  <p:embed/>
                </p:oleObj>
              </mc:Choice>
              <mc:Fallback>
                <p:oleObj r:id="rId4" imgW="660113" imgH="43161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406" y="9445466"/>
                        <a:ext cx="4264440" cy="2795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2" descr="Differential Amplifier - The Voltage Subtracto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644" y="3174215"/>
            <a:ext cx="12726708" cy="91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7345026" y="3174215"/>
            <a:ext cx="1228724" cy="91371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0" y="7161642"/>
            <a:ext cx="1228724" cy="91371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5114" y="12230719"/>
            <a:ext cx="1468863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same gain is seen by the two input terminals 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244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Difference Amplifiers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1" y="-1"/>
            <a:ext cx="1159561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823196" y="6957881"/>
            <a:ext cx="1279513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054325" y="4142718"/>
            <a:ext cx="541686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Differential Gain 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0075" y="6675462"/>
            <a:ext cx="953941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308077" y="6456066"/>
            <a:ext cx="93349715" cy="68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457575" y="5255847"/>
            <a:ext cx="15805693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950461"/>
              </p:ext>
            </p:extLst>
          </p:nvPr>
        </p:nvGraphicFramePr>
        <p:xfrm>
          <a:off x="3457575" y="5255848"/>
          <a:ext cx="4054325" cy="2819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2030" imgH="431613" progId="Equation.DSMT4">
                  <p:embed/>
                </p:oleObj>
              </mc:Choice>
              <mc:Fallback>
                <p:oleObj r:id="rId2" imgW="622030" imgH="431613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75" y="5255848"/>
                        <a:ext cx="4054325" cy="28195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768200" y="9082038"/>
            <a:ext cx="836166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9826" y="2633184"/>
            <a:ext cx="9335851" cy="678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9262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Output Voltage Saturation </a:t>
            </a:r>
            <a:endParaRPr lang="en-US" sz="9600" b="1" dirty="0">
              <a:ln w="0"/>
              <a:solidFill>
                <a:srgbClr val="7030A0"/>
              </a:solidFill>
              <a:effectLst>
                <a:glow rad="101600">
                  <a:schemeClr val="bg1">
                    <a:lumMod val="75000"/>
                    <a:alpha val="40000"/>
                  </a:schemeClr>
                </a:glow>
                <a:outerShdw blurRad="38100" dist="25400" dir="5400000" algn="ctr" rotWithShape="0">
                  <a:schemeClr val="bg1">
                    <a:alpha val="43000"/>
                  </a:schemeClr>
                </a:outerShdw>
              </a:effectLst>
              <a:latin typeface="Arial"/>
              <a:ea typeface="Times New Roman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1" y="-1"/>
            <a:ext cx="1159561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823196" y="6957881"/>
            <a:ext cx="1279513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0075" y="6675462"/>
            <a:ext cx="953941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308077" y="6456066"/>
            <a:ext cx="93349715" cy="68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457575" y="5255847"/>
            <a:ext cx="15805693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768200" y="9082038"/>
            <a:ext cx="836166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208218" y="5418318"/>
            <a:ext cx="152535286" cy="66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" name="Picture 2" descr="Op-amp Comparator and the Op-amp Comparator Circu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496" y="3451228"/>
            <a:ext cx="16366477" cy="758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00761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Output Voltage Saturation </a:t>
            </a:r>
            <a:endParaRPr lang="en-US" sz="9600" b="1" dirty="0">
              <a:ln w="0"/>
              <a:solidFill>
                <a:srgbClr val="7030A0"/>
              </a:solidFill>
              <a:effectLst>
                <a:glow rad="101600">
                  <a:schemeClr val="bg1">
                    <a:lumMod val="75000"/>
                    <a:alpha val="40000"/>
                  </a:schemeClr>
                </a:glow>
                <a:outerShdw blurRad="38100" dist="25400" dir="5400000" algn="ctr" rotWithShape="0">
                  <a:schemeClr val="bg1">
                    <a:alpha val="43000"/>
                  </a:schemeClr>
                </a:outerShdw>
              </a:effectLst>
              <a:latin typeface="Arial"/>
              <a:ea typeface="Times New Roman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1" y="-1"/>
            <a:ext cx="1159561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823196" y="6957881"/>
            <a:ext cx="1279513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0075" y="6675462"/>
            <a:ext cx="953941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308077" y="6456066"/>
            <a:ext cx="93349715" cy="68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457575" y="5255847"/>
            <a:ext cx="15805693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768200" y="9082038"/>
            <a:ext cx="836166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208218" y="5418318"/>
            <a:ext cx="152535286" cy="66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42" name="Picture 2" descr="Op Amp Ideal Dev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25" y="4148676"/>
            <a:ext cx="20011330" cy="733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83028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The Inverting Integrator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1" y="-1"/>
            <a:ext cx="1159561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823196" y="6957881"/>
            <a:ext cx="1279513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0075" y="6675462"/>
            <a:ext cx="953941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308077" y="6456066"/>
            <a:ext cx="93349715" cy="68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457575" y="5255847"/>
            <a:ext cx="15805693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768200" y="9082038"/>
            <a:ext cx="836166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208218" y="5418318"/>
            <a:ext cx="152535286" cy="66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266" name="Picture 2" descr="Op-amp Integrator, Operational Amplifier Integ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0" y="4407517"/>
            <a:ext cx="13545450" cy="690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68200" y="3687802"/>
            <a:ext cx="7674963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868930"/>
              </p:ext>
            </p:extLst>
          </p:nvPr>
        </p:nvGraphicFramePr>
        <p:xfrm>
          <a:off x="768200" y="3687803"/>
          <a:ext cx="13198033" cy="2722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24100" imgH="482600" progId="Equation.DSMT4">
                  <p:embed/>
                </p:oleObj>
              </mc:Choice>
              <mc:Fallback>
                <p:oleObj r:id="rId3" imgW="23241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200" y="3687803"/>
                        <a:ext cx="13198033" cy="27225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20172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The Op Amp Differentiator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1" y="-1"/>
            <a:ext cx="1159561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823196" y="6957881"/>
            <a:ext cx="1279513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0075" y="6675462"/>
            <a:ext cx="953941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308077" y="6456066"/>
            <a:ext cx="93349715" cy="68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457575" y="5255847"/>
            <a:ext cx="15805693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768200" y="9082038"/>
            <a:ext cx="836166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208218" y="5418318"/>
            <a:ext cx="152535286" cy="66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68200" y="3687802"/>
            <a:ext cx="7674963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290" name="Picture 2" descr="Differentiator Amplifier - The Op-amp Differenti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758" y="3733521"/>
            <a:ext cx="13443735" cy="658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600074" y="3230433"/>
            <a:ext cx="10187590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636143"/>
              </p:ext>
            </p:extLst>
          </p:nvPr>
        </p:nvGraphicFramePr>
        <p:xfrm>
          <a:off x="600075" y="3230434"/>
          <a:ext cx="12044993" cy="276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26451" imgH="393529" progId="Equation.DSMT4">
                  <p:embed/>
                </p:oleObj>
              </mc:Choice>
              <mc:Fallback>
                <p:oleObj r:id="rId3" imgW="1726451" imgH="393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" y="3230434"/>
                        <a:ext cx="12044993" cy="2762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0966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32406" y="963643"/>
            <a:ext cx="19489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n w="0"/>
                <a:solidFill>
                  <a:srgbClr val="7030A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Effect Of  Finite Open Loop Gain</a:t>
            </a:r>
            <a:endParaRPr lang="en-GB" sz="9600" b="1" dirty="0">
              <a:ln w="0"/>
              <a:solidFill>
                <a:srgbClr val="FF0000"/>
              </a:solidFill>
              <a:effectLst>
                <a:glow rad="101600">
                  <a:schemeClr val="bg1">
                    <a:lumMod val="75000"/>
                    <a:alpha val="40000"/>
                  </a:schemeClr>
                </a:glow>
                <a:outerShdw blurRad="38100" dist="25400" dir="5400000" algn="ctr" rotWithShape="0">
                  <a:schemeClr val="bg1">
                    <a:alpha val="43000"/>
                  </a:schemeClr>
                </a:outerShdw>
              </a:effectLst>
              <a:latin typeface="Arial"/>
              <a:ea typeface="Times New Roman"/>
            </a:endParaRPr>
          </a:p>
        </p:txBody>
      </p:sp>
      <p:pic>
        <p:nvPicPr>
          <p:cNvPr id="12" name="Picture 2" descr="Inverting Operational Amplifier - The Inverting Op-a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51" y="3962400"/>
            <a:ext cx="13662709" cy="871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1201400" y="6294167"/>
            <a:ext cx="2400300" cy="97526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</a:t>
            </a:r>
            <a:r>
              <a:rPr kumimoji="0" lang="en-US" sz="54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1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05605" y="4076700"/>
            <a:ext cx="3771900" cy="97526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</a:t>
            </a:r>
            <a:r>
              <a:rPr kumimoji="0" lang="en-US" sz="54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2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29"/>
          <a:stretch/>
        </p:blipFill>
        <p:spPr bwMode="auto">
          <a:xfrm>
            <a:off x="1008065" y="3874265"/>
            <a:ext cx="8866186" cy="5815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10290799" y="3314700"/>
            <a:ext cx="4805704" cy="2499266"/>
          </a:xfrm>
          <a:prstGeom prst="ellipse">
            <a:avLst/>
          </a:prstGeom>
          <a:noFill/>
          <a:ln w="57150" cap="flat">
            <a:solidFill>
              <a:srgbClr val="3865AE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300231" y="2937925"/>
            <a:ext cx="8582647" cy="1375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/>
                <a:cs typeface="Times New Roman"/>
                <a:sym typeface="Helvetica Light"/>
              </a:rPr>
              <a:t>Wrong assumption </a:t>
            </a:r>
            <a:endParaRPr kumimoji="0" lang="en-US" sz="80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3033164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27267" y="5686918"/>
            <a:ext cx="13977257" cy="24525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5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Gabriola" panose="04040605051002020D02" pitchFamily="82" charset="0"/>
                <a:sym typeface="Helvetica Light"/>
              </a:rPr>
              <a:t>Thank You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642" y="1151595"/>
            <a:ext cx="3678999" cy="3855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18149" y="12663852"/>
            <a:ext cx="140679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© 20ECE05C; Electronics (1), Dr. Sameh Osama </a:t>
            </a:r>
          </a:p>
        </p:txBody>
      </p:sp>
    </p:spTree>
    <p:extLst>
      <p:ext uri="{BB962C8B-B14F-4D97-AF65-F5344CB8AC3E}">
        <p14:creationId xmlns:p14="http://schemas.microsoft.com/office/powerpoint/2010/main" val="341373086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5844</TotalTime>
  <Words>178</Words>
  <Application>Microsoft Macintosh PowerPoint</Application>
  <PresentationFormat>Custom</PresentationFormat>
  <Paragraphs>68</Paragraphs>
  <Slides>23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Gabriola</vt:lpstr>
      <vt:lpstr>Helvetica</vt:lpstr>
      <vt:lpstr>Helvetica Light</vt:lpstr>
      <vt:lpstr>Helvetica Neue</vt:lpstr>
      <vt:lpstr>Times New Roman</vt:lpstr>
      <vt:lpstr>White</vt:lpstr>
      <vt:lpstr>Equation.DSMT4</vt:lpstr>
      <vt:lpstr>Starting in 15 minutes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sameh</dc:creator>
  <cp:lastModifiedBy>Sameh Osama</cp:lastModifiedBy>
  <cp:revision>545</cp:revision>
  <dcterms:modified xsi:type="dcterms:W3CDTF">2025-11-29T11:34:13Z</dcterms:modified>
</cp:coreProperties>
</file>