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1.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58" r:id="rId4"/>
    <p:sldId id="280" r:id="rId5"/>
    <p:sldId id="281" r:id="rId6"/>
    <p:sldId id="259" r:id="rId7"/>
    <p:sldId id="260" r:id="rId8"/>
    <p:sldId id="261" r:id="rId9"/>
    <p:sldId id="282" r:id="rId10"/>
    <p:sldId id="262" r:id="rId11"/>
    <p:sldId id="263" r:id="rId12"/>
    <p:sldId id="287" r:id="rId13"/>
    <p:sldId id="283" r:id="rId14"/>
    <p:sldId id="284" r:id="rId15"/>
    <p:sldId id="285" r:id="rId16"/>
    <p:sldId id="264" r:id="rId17"/>
    <p:sldId id="265" r:id="rId18"/>
    <p:sldId id="266" r:id="rId19"/>
    <p:sldId id="267" r:id="rId20"/>
    <p:sldId id="268" r:id="rId21"/>
    <p:sldId id="286" r:id="rId22"/>
    <p:sldId id="269" r:id="rId23"/>
    <p:sldId id="270" r:id="rId24"/>
    <p:sldId id="271" r:id="rId25"/>
    <p:sldId id="272" r:id="rId26"/>
    <p:sldId id="273" r:id="rId27"/>
    <p:sldId id="274" r:id="rId28"/>
    <p:sldId id="288" r:id="rId29"/>
    <p:sldId id="275" r:id="rId30"/>
    <p:sldId id="276" r:id="rId31"/>
    <p:sldId id="277" r:id="rId32"/>
    <p:sldId id="278" r:id="rId33"/>
    <p:sldId id="291" r:id="rId34"/>
    <p:sldId id="289" r:id="rId35"/>
    <p:sldId id="290" r:id="rId36"/>
    <p:sldId id="279" r:id="rId3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099" autoAdjust="0"/>
  </p:normalViewPr>
  <p:slideViewPr>
    <p:cSldViewPr>
      <p:cViewPr varScale="1">
        <p:scale>
          <a:sx n="57" d="100"/>
          <a:sy n="57" d="100"/>
        </p:scale>
        <p:origin x="1824"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192755D-E186-4ED1-82CA-5D9E5BA5B334}" type="datetimeFigureOut">
              <a:rPr lang="en-US" smtClean="0"/>
              <a:t>10/5/2025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F5E58E8-2A57-4EB4-9654-5B9CFE406948}" type="slidenum">
              <a:rPr lang="en-US" smtClean="0"/>
              <a:t>‹#›</a:t>
            </a:fld>
            <a:endParaRPr lang="en-US"/>
          </a:p>
        </p:txBody>
      </p:sp>
    </p:spTree>
    <p:extLst>
      <p:ext uri="{BB962C8B-B14F-4D97-AF65-F5344CB8AC3E}">
        <p14:creationId xmlns:p14="http://schemas.microsoft.com/office/powerpoint/2010/main" val="3702116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www.geeksforgeeks.org/software-engineering/project-management-life-cycle/" TargetMode="External"/><Relationship Id="rId3" Type="http://schemas.openxmlformats.org/officeDocument/2006/relationships/hyperlink" Target="https://www.geeksforgeeks.org/software-engineering/software-engineering-software-project-management-spm/" TargetMode="External"/><Relationship Id="rId7" Type="http://schemas.openxmlformats.org/officeDocument/2006/relationships/hyperlink" Target="https://www.geeksforgeeks.org/business-studies/what-are-strategies-for-managing-multiple-projects/"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www.geeksforgeeks.org/software-engineering/waterfall-model/" TargetMode="External"/><Relationship Id="rId5" Type="http://schemas.openxmlformats.org/officeDocument/2006/relationships/hyperlink" Target="https://www.geeksforgeeks.org/software-testing/what-is-agile-methodology/" TargetMode="External"/><Relationship Id="rId4" Type="http://schemas.openxmlformats.org/officeDocument/2006/relationships/hyperlink" Target="https://www.geeksforgeeks.org/business-studies/what-is-estimate-at-completion-in-project-management-eac/" TargetMode="External"/><Relationship Id="rId9" Type="http://schemas.openxmlformats.org/officeDocument/2006/relationships/hyperlink" Target="https://www.geeksforgeeks.org/software-engineering/11-major-causes-of-project-failure/"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business-to-you.com/terms/economies-of-scale/"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business-to-you.com/terms/penetration-pricing/"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thestrategyinstitute.org/insights/what-is-business-strategy-definition-importance-levels-and-examples"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s://www.thestrategyinstitute.org/insights/discover-types-of-business-strategies-for-your-organization" TargetMode="External"/><Relationship Id="rId4" Type="http://schemas.openxmlformats.org/officeDocument/2006/relationships/hyperlink" Target="https://www.thestrategyinstitute.org/insights/unlocking-business-growth-through-innovative-strategies"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saylordotorg.github.io/text_mastering-strategic-management/ketchen_1.0-ch06#ketchen_1.0-ch06" TargetMode="External"/><Relationship Id="rId3" Type="http://schemas.openxmlformats.org/officeDocument/2006/relationships/hyperlink" Target="https://saylordotorg.github.io/text_mastering-strategic-management/ketchen_1.0-ch02#ketchen_1.0-ch02" TargetMode="External"/><Relationship Id="rId7" Type="http://schemas.openxmlformats.org/officeDocument/2006/relationships/hyperlink" Target="https://saylordotorg.github.io/text_mastering-strategic-management/ketchen_1.0-ch05#ketchen_1.0-ch05"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www.insidecrm.com/features/strategies-apple-loyal-customers" TargetMode="External"/><Relationship Id="rId11" Type="http://schemas.openxmlformats.org/officeDocument/2006/relationships/hyperlink" Target="https://saylordotorg.github.io/text_mastering-strategic-management/ketchen_1.0-ch09#ketchen_1.0-ch09" TargetMode="External"/><Relationship Id="rId5" Type="http://schemas.openxmlformats.org/officeDocument/2006/relationships/hyperlink" Target="https://saylordotorg.github.io/text_mastering-strategic-management/ketchen_1.0-ch04#ketchen_1.0-ch04" TargetMode="External"/><Relationship Id="rId10" Type="http://schemas.openxmlformats.org/officeDocument/2006/relationships/hyperlink" Target="https://saylordotorg.github.io/text_mastering-strategic-management/ketchen_1.0-ch08#ketchen_1.0-ch08" TargetMode="External"/><Relationship Id="rId4" Type="http://schemas.openxmlformats.org/officeDocument/2006/relationships/hyperlink" Target="https://saylordotorg.github.io/text_mastering-strategic-management/ketchen_1.0-ch03#ketchen_1.0-ch03" TargetMode="External"/><Relationship Id="rId9" Type="http://schemas.openxmlformats.org/officeDocument/2006/relationships/hyperlink" Target="https://saylordotorg.github.io/text_mastering-strategic-management/ketchen_1.0-ch07#ketchen_1.0-ch07"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8" Type="http://schemas.openxmlformats.org/officeDocument/2006/relationships/hyperlink" Target="https://www.planview.com/resources/articles/using-artificial-intelligence-for-project-management/" TargetMode="External"/><Relationship Id="rId3" Type="http://schemas.openxmlformats.org/officeDocument/2006/relationships/hyperlink" Target="https://www.6sigma.us/six-sigma-in-focus/quantitative-data-analysis/" TargetMode="External"/><Relationship Id="rId7" Type="http://schemas.openxmlformats.org/officeDocument/2006/relationships/hyperlink" Target="https://www.6sigma.us/six-sigma-in-focus/analytic-hierarchy-process-ahp/" TargetMode="External"/><Relationship Id="rId12" Type="http://schemas.openxmlformats.org/officeDocument/2006/relationships/hyperlink" Target="https://www.6sigma.us/six-sigma-green-belt.php?utm_source=key-project-selection-methods&amp;utm_medium=article-project-selection-criteria" TargetMode="External"/><Relationship Id="rId2" Type="http://schemas.openxmlformats.org/officeDocument/2006/relationships/slide" Target="../slides/slide35.xml"/><Relationship Id="rId1" Type="http://schemas.openxmlformats.org/officeDocument/2006/relationships/notesMaster" Target="../notesMasters/notesMaster1.xml"/><Relationship Id="rId6" Type="http://schemas.openxmlformats.org/officeDocument/2006/relationships/hyperlink" Target="https://www.6sigma.us/six-sigma-in-focus/weighted-scoring-prioritization/" TargetMode="External"/><Relationship Id="rId11" Type="http://schemas.openxmlformats.org/officeDocument/2006/relationships/hyperlink" Target="https://www.snowflake.com/guides/ai-data-analytics-insights-scale/" TargetMode="External"/><Relationship Id="rId5" Type="http://schemas.openxmlformats.org/officeDocument/2006/relationships/hyperlink" Target="https://www.6sigma.us/six-sigma-in-focus/cost-of-non-conformance/#:~:text=Cost%2DBenefit%20Analysis%20and%20Quality%20Improvement" TargetMode="External"/><Relationship Id="rId10" Type="http://schemas.openxmlformats.org/officeDocument/2006/relationships/hyperlink" Target="https://www.vanta.com/collection/grc/risk-management-automation" TargetMode="External"/><Relationship Id="rId4" Type="http://schemas.openxmlformats.org/officeDocument/2006/relationships/hyperlink" Target="https://www.6sigma.us/six-sigma-in-focus/qualitative-data-analysis/" TargetMode="External"/><Relationship Id="rId9" Type="http://schemas.openxmlformats.org/officeDocument/2006/relationships/hyperlink" Target="https://en.wikipedia.org/wiki/Predictive_analytics"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b="0" i="0" dirty="0">
                <a:solidFill>
                  <a:srgbClr val="273239"/>
                </a:solidFill>
                <a:effectLst/>
                <a:latin typeface="Nunito" pitchFamily="2" charset="0"/>
              </a:rPr>
              <a:t>A PMO(Project Management Office) is a centralized body that supports the successful management of projects. It helps set up </a:t>
            </a:r>
            <a:r>
              <a:rPr lang="en-US" b="0" i="0" u="sng" dirty="0">
                <a:solidFill>
                  <a:srgbClr val="357960"/>
                </a:solidFill>
                <a:effectLst/>
                <a:latin typeface="Nunito" pitchFamily="2" charset="0"/>
                <a:hlinkClick r:id="rId3"/>
              </a:rPr>
              <a:t>project management standards</a:t>
            </a:r>
            <a:r>
              <a:rPr lang="en-US" b="0" i="0" dirty="0">
                <a:solidFill>
                  <a:srgbClr val="273239"/>
                </a:solidFill>
                <a:effectLst/>
                <a:latin typeface="Nunito" pitchFamily="2" charset="0"/>
              </a:rPr>
              <a:t>, resources, and oversight to ensure on-time, in-scoped, and budgeted </a:t>
            </a:r>
            <a:r>
              <a:rPr lang="en-US" b="0" i="0" u="sng" dirty="0">
                <a:solidFill>
                  <a:srgbClr val="357960"/>
                </a:solidFill>
                <a:effectLst/>
                <a:latin typeface="Nunito" pitchFamily="2" charset="0"/>
                <a:hlinkClick r:id="rId4"/>
              </a:rPr>
              <a:t>completion of projects.</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PMOs can be supportive or directive depending upon the needs of an organization.</a:t>
            </a:r>
          </a:p>
          <a:p>
            <a:endParaRPr lang="en-US" dirty="0"/>
          </a:p>
          <a:p>
            <a:endParaRPr lang="en-US" dirty="0"/>
          </a:p>
          <a:p>
            <a:pPr algn="l" fontAlgn="base">
              <a:buFont typeface="Arial" panose="020B0604020202020204" pitchFamily="34" charset="0"/>
              <a:buChar char="•"/>
            </a:pPr>
            <a:r>
              <a:rPr lang="en-US" b="1" i="0" dirty="0">
                <a:solidFill>
                  <a:srgbClr val="273239"/>
                </a:solidFill>
                <a:effectLst/>
                <a:latin typeface="Nunito" pitchFamily="2" charset="0"/>
              </a:rPr>
              <a:t>Governance and Standards:</a:t>
            </a:r>
            <a:r>
              <a:rPr lang="en-US" b="0" i="0" dirty="0">
                <a:solidFill>
                  <a:srgbClr val="273239"/>
                </a:solidFill>
                <a:effectLst/>
                <a:latin typeface="Nunito" pitchFamily="2" charset="0"/>
              </a:rPr>
              <a:t> The PMOs create and maintain a set of standardized methodologies (</a:t>
            </a:r>
            <a:r>
              <a:rPr lang="en-US" b="0" i="0" u="sng" dirty="0">
                <a:solidFill>
                  <a:srgbClr val="357960"/>
                </a:solidFill>
                <a:effectLst/>
                <a:latin typeface="Nunito" pitchFamily="2" charset="0"/>
                <a:hlinkClick r:id="rId5"/>
              </a:rPr>
              <a:t>Agile</a:t>
            </a:r>
            <a:r>
              <a:rPr lang="en-US" b="0" i="0" dirty="0">
                <a:solidFill>
                  <a:srgbClr val="273239"/>
                </a:solidFill>
                <a:effectLst/>
                <a:latin typeface="Nunito" pitchFamily="2" charset="0"/>
              </a:rPr>
              <a:t>, </a:t>
            </a:r>
            <a:r>
              <a:rPr lang="en-US" b="0" i="0" u="sng" dirty="0">
                <a:solidFill>
                  <a:srgbClr val="357960"/>
                </a:solidFill>
                <a:effectLst/>
                <a:latin typeface="Nunito" pitchFamily="2" charset="0"/>
                <a:hlinkClick r:id="rId6"/>
              </a:rPr>
              <a:t>Waterfall</a:t>
            </a:r>
            <a:r>
              <a:rPr lang="en-US" b="0" i="0" dirty="0">
                <a:solidFill>
                  <a:srgbClr val="273239"/>
                </a:solidFill>
                <a:effectLst/>
                <a:latin typeface="Nunito" pitchFamily="2" charset="0"/>
              </a:rPr>
              <a:t>, etc.), so that there is an ensured consistency in the </a:t>
            </a:r>
            <a:r>
              <a:rPr lang="en-US" b="0" i="0" u="sng" dirty="0">
                <a:solidFill>
                  <a:srgbClr val="357960"/>
                </a:solidFill>
                <a:effectLst/>
                <a:latin typeface="Nunito" pitchFamily="2" charset="0"/>
                <a:hlinkClick r:id="rId7"/>
              </a:rPr>
              <a:t>managing projects.</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Resource Management: </a:t>
            </a:r>
            <a:r>
              <a:rPr lang="en-US" b="0" i="0" dirty="0">
                <a:solidFill>
                  <a:srgbClr val="273239"/>
                </a:solidFill>
                <a:effectLst/>
                <a:latin typeface="Nunito" pitchFamily="2" charset="0"/>
              </a:rPr>
              <a:t>The PMO also handles the resource allocation across the various projects so that the teams are provided with all the necessary tools and personnel on board.</a:t>
            </a:r>
          </a:p>
          <a:p>
            <a:pPr algn="l" fontAlgn="base">
              <a:buFont typeface="Arial" panose="020B0604020202020204" pitchFamily="34" charset="0"/>
              <a:buChar char="•"/>
            </a:pPr>
            <a:r>
              <a:rPr lang="en-US" b="1" i="0" dirty="0">
                <a:solidFill>
                  <a:srgbClr val="273239"/>
                </a:solidFill>
                <a:effectLst/>
                <a:latin typeface="Nunito" pitchFamily="2" charset="0"/>
              </a:rPr>
              <a:t>Performance Tracking:</a:t>
            </a:r>
            <a:r>
              <a:rPr lang="en-US" b="0" i="0" dirty="0">
                <a:solidFill>
                  <a:srgbClr val="273239"/>
                </a:solidFill>
                <a:effectLst/>
                <a:latin typeface="Nunito" pitchFamily="2" charset="0"/>
              </a:rPr>
              <a:t> They track progress based upon KPIs on timelines, costs, and quality; hence they make sure that all the projects are working on the proposed plan.</a:t>
            </a:r>
          </a:p>
          <a:p>
            <a:pPr algn="l" fontAlgn="base">
              <a:buFont typeface="Arial" panose="020B0604020202020204" pitchFamily="34" charset="0"/>
              <a:buChar char="•"/>
            </a:pPr>
            <a:r>
              <a:rPr lang="en-US" b="0" i="0" dirty="0">
                <a:solidFill>
                  <a:srgbClr val="273239"/>
                </a:solidFill>
                <a:effectLst/>
                <a:latin typeface="Nunito" pitchFamily="2" charset="0"/>
              </a:rPr>
              <a:t>Risk Management: A PMO identifies risks way back in the </a:t>
            </a:r>
            <a:r>
              <a:rPr lang="en-US" b="0" i="0" u="sng" dirty="0">
                <a:solidFill>
                  <a:srgbClr val="357960"/>
                </a:solidFill>
                <a:effectLst/>
                <a:latin typeface="Nunito" pitchFamily="2" charset="0"/>
                <a:hlinkClick r:id="rId8"/>
              </a:rPr>
              <a:t>project lifecycle </a:t>
            </a:r>
            <a:r>
              <a:rPr lang="en-US" b="0" i="0" dirty="0">
                <a:solidFill>
                  <a:srgbClr val="273239"/>
                </a:solidFill>
                <a:effectLst/>
                <a:latin typeface="Nunito" pitchFamily="2" charset="0"/>
              </a:rPr>
              <a:t>and comes up with strategies to manage the same, which would therefore reduce the chances of </a:t>
            </a:r>
            <a:r>
              <a:rPr lang="en-US" b="0" i="0" u="sng" dirty="0">
                <a:solidFill>
                  <a:srgbClr val="357960"/>
                </a:solidFill>
                <a:effectLst/>
                <a:latin typeface="Nunito" pitchFamily="2" charset="0"/>
                <a:hlinkClick r:id="rId9"/>
              </a:rPr>
              <a:t>project failure.</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Training and Support: </a:t>
            </a:r>
            <a:r>
              <a:rPr lang="en-US" b="0" i="0" dirty="0">
                <a:solidFill>
                  <a:srgbClr val="273239"/>
                </a:solidFill>
                <a:effectLst/>
                <a:latin typeface="Nunito" pitchFamily="2" charset="0"/>
              </a:rPr>
              <a:t>PMOs provide training on project management tools and techniques which helps project managers as well as teams enhance their skills.</a:t>
            </a:r>
          </a:p>
          <a:p>
            <a:pPr algn="l" fontAlgn="base">
              <a:buFont typeface="Arial" panose="020B0604020202020204" pitchFamily="34" charset="0"/>
              <a:buChar char="•"/>
            </a:pPr>
            <a:r>
              <a:rPr lang="en-US" b="1" i="0" dirty="0">
                <a:solidFill>
                  <a:srgbClr val="273239"/>
                </a:solidFill>
                <a:effectLst/>
                <a:latin typeface="Nunito" pitchFamily="2" charset="0"/>
              </a:rPr>
              <a:t>Prioritization of Projects:</a:t>
            </a:r>
            <a:r>
              <a:rPr lang="en-US" b="0" i="0" dirty="0">
                <a:solidFill>
                  <a:srgbClr val="273239"/>
                </a:solidFill>
                <a:effectLst/>
                <a:latin typeface="Nunito" pitchFamily="2" charset="0"/>
              </a:rPr>
              <a:t> PMOs help senior leadership to prioritize projects that align with strategic goals so that high-value initiatives gain needed resources.</a:t>
            </a:r>
          </a:p>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3</a:t>
            </a:fld>
            <a:endParaRPr lang="en-US"/>
          </a:p>
        </p:txBody>
      </p:sp>
    </p:spTree>
    <p:extLst>
      <p:ext uri="{BB962C8B-B14F-4D97-AF65-F5344CB8AC3E}">
        <p14:creationId xmlns:p14="http://schemas.microsoft.com/office/powerpoint/2010/main" val="2514864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1" i="0" dirty="0">
                <a:solidFill>
                  <a:srgbClr val="273239"/>
                </a:solidFill>
                <a:effectLst/>
                <a:latin typeface="Nunito" pitchFamily="2" charset="0"/>
              </a:rPr>
              <a:t>Advantage of a PMO(Project Management Office)</a:t>
            </a:r>
          </a:p>
          <a:p>
            <a:pPr algn="l" rtl="0" fontAlgn="base"/>
            <a:r>
              <a:rPr lang="en-US" b="0" i="0" dirty="0">
                <a:solidFill>
                  <a:srgbClr val="273239"/>
                </a:solidFill>
                <a:effectLst/>
                <a:latin typeface="Nunito" pitchFamily="2" charset="0"/>
              </a:rPr>
              <a:t>Here are the following Advantage of a PMO(Project Management Office):</a:t>
            </a:r>
          </a:p>
          <a:p>
            <a:pPr algn="l" fontAlgn="base">
              <a:buFont typeface="Arial" panose="020B0604020202020204" pitchFamily="34" charset="0"/>
              <a:buChar char="•"/>
            </a:pPr>
            <a:r>
              <a:rPr lang="en-US" b="1" i="0" dirty="0">
                <a:solidFill>
                  <a:srgbClr val="273239"/>
                </a:solidFill>
                <a:effectLst/>
                <a:latin typeface="Nunito" pitchFamily="2" charset="0"/>
              </a:rPr>
              <a:t>Process Standardization:</a:t>
            </a:r>
            <a:r>
              <a:rPr lang="en-US" b="0" i="0" dirty="0">
                <a:solidFill>
                  <a:srgbClr val="273239"/>
                </a:solidFill>
                <a:effectLst/>
                <a:latin typeface="Nunito" pitchFamily="2" charset="0"/>
              </a:rPr>
              <a:t> A PMO ensures standard processing of all its projects following a uniform methodology that obviates confusion, enhances communication, and leads to predictable results.</a:t>
            </a:r>
          </a:p>
          <a:p>
            <a:pPr algn="l" fontAlgn="base">
              <a:buFont typeface="Arial" panose="020B0604020202020204" pitchFamily="34" charset="0"/>
              <a:buChar char="•"/>
            </a:pPr>
            <a:r>
              <a:rPr lang="en-US" b="0" i="0" dirty="0">
                <a:solidFill>
                  <a:srgbClr val="273239"/>
                </a:solidFill>
                <a:effectLst/>
                <a:latin typeface="Nunito" pitchFamily="2" charset="0"/>
              </a:rPr>
              <a:t>It helps in centralizing the management of resources and ensuring best practices, reducing redundancy and avoiding misallocation of resources, which often leads to effective project execution.</a:t>
            </a:r>
          </a:p>
          <a:p>
            <a:pPr algn="l" fontAlgn="base">
              <a:buFont typeface="Arial" panose="020B0604020202020204" pitchFamily="34" charset="0"/>
              <a:buChar char="•"/>
            </a:pPr>
            <a:r>
              <a:rPr lang="en-US" b="1" i="0" dirty="0">
                <a:solidFill>
                  <a:srgbClr val="273239"/>
                </a:solidFill>
                <a:effectLst/>
                <a:latin typeface="Nunito" pitchFamily="2" charset="0"/>
              </a:rPr>
              <a:t>Probable Risk of Enhancing Success:</a:t>
            </a:r>
            <a:r>
              <a:rPr lang="en-US" b="0" i="0" dirty="0">
                <a:solidFill>
                  <a:srgbClr val="273239"/>
                </a:solidFill>
                <a:effectLst/>
                <a:latin typeface="Nunito" pitchFamily="2" charset="0"/>
              </a:rPr>
              <a:t> PMOs identify risks early. PMOs deal with well-thought-out strategies for an early solution to risks, which heightens the probability of successful execution.</a:t>
            </a:r>
          </a:p>
          <a:p>
            <a:pPr algn="l" fontAlgn="base">
              <a:buFont typeface="Arial" panose="020B0604020202020204" pitchFamily="34" charset="0"/>
              <a:buChar char="•"/>
            </a:pPr>
            <a:r>
              <a:rPr lang="en-US" b="1" i="0" dirty="0">
                <a:solidFill>
                  <a:srgbClr val="273239"/>
                </a:solidFill>
                <a:effectLst/>
                <a:latin typeface="Nunito" pitchFamily="2" charset="0"/>
              </a:rPr>
              <a:t>More Accountability: </a:t>
            </a:r>
            <a:r>
              <a:rPr lang="en-US" b="0" i="0" dirty="0">
                <a:solidFill>
                  <a:srgbClr val="273239"/>
                </a:solidFill>
                <a:effectLst/>
                <a:latin typeface="Nunito" pitchFamily="2" charset="0"/>
              </a:rPr>
              <a:t>PMOs make the project manager and teams responsible for what they do and what they don't do. </a:t>
            </a:r>
            <a:r>
              <a:rPr lang="en-US" b="0" i="0" dirty="0" err="1">
                <a:solidFill>
                  <a:srgbClr val="273239"/>
                </a:solidFill>
                <a:effectLst/>
                <a:latin typeface="Nunito" pitchFamily="2" charset="0"/>
              </a:rPr>
              <a:t>Reportings</a:t>
            </a:r>
            <a:r>
              <a:rPr lang="en-US" b="0" i="0" dirty="0">
                <a:solidFill>
                  <a:srgbClr val="273239"/>
                </a:solidFill>
                <a:effectLst/>
                <a:latin typeface="Nunito" pitchFamily="2" charset="0"/>
              </a:rPr>
              <a:t> are very frequent, so monitoring is transparent and prevents blockages.</a:t>
            </a:r>
          </a:p>
          <a:p>
            <a:pPr algn="l" fontAlgn="base">
              <a:buFont typeface="Arial" panose="020B0604020202020204" pitchFamily="34" charset="0"/>
              <a:buChar char="•"/>
            </a:pPr>
            <a:r>
              <a:rPr lang="en-US" b="1" i="0" dirty="0">
                <a:solidFill>
                  <a:srgbClr val="273239"/>
                </a:solidFill>
                <a:effectLst/>
                <a:latin typeface="Nunito" pitchFamily="2" charset="0"/>
              </a:rPr>
              <a:t>Alignment with Strategic Objectives: </a:t>
            </a:r>
            <a:r>
              <a:rPr lang="en-US" b="0" i="0" dirty="0">
                <a:solidFill>
                  <a:srgbClr val="273239"/>
                </a:solidFill>
                <a:effectLst/>
                <a:latin typeface="Nunito" pitchFamily="2" charset="0"/>
              </a:rPr>
              <a:t>The role of a PMO is to ensure that every project makes value towards the larger objectives of the organization. In doing this, the value brought by the overall projects to the company is increased.</a:t>
            </a:r>
          </a:p>
          <a:p>
            <a:pPr algn="l" fontAlgn="base">
              <a:buFont typeface="Arial" panose="020B0604020202020204" pitchFamily="34" charset="0"/>
              <a:buChar char="•"/>
            </a:pPr>
            <a:r>
              <a:rPr lang="en-US" b="1" i="0" dirty="0">
                <a:solidFill>
                  <a:srgbClr val="273239"/>
                </a:solidFill>
                <a:effectLst/>
                <a:latin typeface="Nunito" pitchFamily="2" charset="0"/>
              </a:rPr>
              <a:t>Knowledge Sharing: </a:t>
            </a:r>
            <a:r>
              <a:rPr lang="en-US" b="0" i="0" dirty="0">
                <a:solidFill>
                  <a:srgbClr val="273239"/>
                </a:solidFill>
                <a:effectLst/>
                <a:latin typeface="Nunito" pitchFamily="2" charset="0"/>
              </a:rPr>
              <a:t>PMOs create the opportunity to share lessons learned and best practices across the organization. This can drive a continuous process improvement in project management processes.</a:t>
            </a:r>
          </a:p>
          <a:p>
            <a:pPr algn="l" fontAlgn="base"/>
            <a:r>
              <a:rPr lang="en-US" b="1" i="0" dirty="0">
                <a:solidFill>
                  <a:srgbClr val="273239"/>
                </a:solidFill>
                <a:effectLst/>
                <a:latin typeface="Nunito" pitchFamily="2" charset="0"/>
              </a:rPr>
              <a:t>Disadvantages of a PMO</a:t>
            </a:r>
          </a:p>
          <a:p>
            <a:pPr algn="l" rtl="0" fontAlgn="base"/>
            <a:r>
              <a:rPr lang="en-US" b="0" i="0" dirty="0">
                <a:solidFill>
                  <a:srgbClr val="273239"/>
                </a:solidFill>
                <a:effectLst/>
                <a:latin typeface="Nunito" pitchFamily="2" charset="0"/>
              </a:rPr>
              <a:t>Here are the disadvantage of PMO(Project Management Office):</a:t>
            </a:r>
          </a:p>
          <a:p>
            <a:pPr algn="l" fontAlgn="base">
              <a:buFont typeface="Arial" panose="020B0604020202020204" pitchFamily="34" charset="0"/>
              <a:buChar char="•"/>
            </a:pPr>
            <a:r>
              <a:rPr lang="en-US" b="1" i="0" dirty="0">
                <a:solidFill>
                  <a:srgbClr val="273239"/>
                </a:solidFill>
                <a:effectLst/>
                <a:latin typeface="Nunito" pitchFamily="2" charset="0"/>
              </a:rPr>
              <a:t>Resistance to Change:</a:t>
            </a:r>
            <a:r>
              <a:rPr lang="en-US" b="0" i="0" dirty="0">
                <a:solidFill>
                  <a:srgbClr val="273239"/>
                </a:solidFill>
                <a:effectLst/>
                <a:latin typeface="Nunito" pitchFamily="2" charset="0"/>
              </a:rPr>
              <a:t> Introducing a PMO can resist as there may be an apprehension from personnel that the new process is increasing bureaucracy and reducing flexibility.</a:t>
            </a:r>
          </a:p>
          <a:p>
            <a:pPr algn="l" fontAlgn="base">
              <a:buFont typeface="Arial" panose="020B0604020202020204" pitchFamily="34" charset="0"/>
              <a:buChar char="•"/>
            </a:pPr>
            <a:r>
              <a:rPr lang="en-US" b="1" i="0" dirty="0">
                <a:solidFill>
                  <a:srgbClr val="273239"/>
                </a:solidFill>
                <a:effectLst/>
                <a:latin typeface="Nunito" pitchFamily="2" charset="0"/>
              </a:rPr>
              <a:t>Increased Overhead :</a:t>
            </a:r>
            <a:r>
              <a:rPr lang="en-US" b="0" i="0" dirty="0">
                <a:solidFill>
                  <a:srgbClr val="273239"/>
                </a:solidFill>
                <a:effectLst/>
                <a:latin typeface="Nunito" pitchFamily="2" charset="0"/>
              </a:rPr>
              <a:t> Enabling and operating a PMO incurs cost in terms of skilled human resources, tools, and infrastructure, which has the effect of increasing overhead costs of an organization.</a:t>
            </a:r>
          </a:p>
          <a:p>
            <a:pPr algn="l" fontAlgn="base">
              <a:buFont typeface="Arial" panose="020B0604020202020204" pitchFamily="34" charset="0"/>
              <a:buChar char="•"/>
            </a:pPr>
            <a:r>
              <a:rPr lang="en-US" b="1" i="0" dirty="0">
                <a:solidFill>
                  <a:srgbClr val="273239"/>
                </a:solidFill>
                <a:effectLst/>
                <a:latin typeface="Nunito" pitchFamily="2" charset="0"/>
              </a:rPr>
              <a:t>Potentially Bureaucratic:</a:t>
            </a:r>
            <a:r>
              <a:rPr lang="en-US" b="0" i="0" dirty="0">
                <a:solidFill>
                  <a:srgbClr val="273239"/>
                </a:solidFill>
                <a:effectLst/>
                <a:latin typeface="Nunito" pitchFamily="2" charset="0"/>
              </a:rPr>
              <a:t> PMOs become ridiculously bureaucratic because the management of a PMO may lead to red </a:t>
            </a:r>
            <a:r>
              <a:rPr lang="en-US" b="0" i="0" dirty="0" err="1">
                <a:solidFill>
                  <a:srgbClr val="273239"/>
                </a:solidFill>
                <a:effectLst/>
                <a:latin typeface="Nunito" pitchFamily="2" charset="0"/>
              </a:rPr>
              <a:t>tapism</a:t>
            </a:r>
            <a:r>
              <a:rPr lang="en-US" b="0" i="0" dirty="0">
                <a:solidFill>
                  <a:srgbClr val="273239"/>
                </a:solidFill>
                <a:effectLst/>
                <a:latin typeface="Nunito" pitchFamily="2" charset="0"/>
              </a:rPr>
              <a:t>, if not acutely managed, thereby hindering innovation and slowing the executions of projects due to unnecessary paper work and adherence to rules of procedures.</a:t>
            </a:r>
          </a:p>
          <a:p>
            <a:pPr algn="l" fontAlgn="base">
              <a:buFont typeface="Arial" panose="020B0604020202020204" pitchFamily="34" charset="0"/>
              <a:buChar char="•"/>
            </a:pPr>
            <a:r>
              <a:rPr lang="en-US" b="1" i="0" dirty="0">
                <a:solidFill>
                  <a:srgbClr val="273239"/>
                </a:solidFill>
                <a:effectLst/>
                <a:latin typeface="Nunito" pitchFamily="2" charset="0"/>
              </a:rPr>
              <a:t>Scalability Issues</a:t>
            </a:r>
            <a:r>
              <a:rPr lang="en-US" b="0" i="0" dirty="0">
                <a:solidFill>
                  <a:srgbClr val="273239"/>
                </a:solidFill>
                <a:effectLst/>
                <a:latin typeface="Nunito" pitchFamily="2" charset="0"/>
              </a:rPr>
              <a:t>: An approach of one size fits all may not work for all projects, especially in a very diversified or a very fast changing environment. PMOs need to be sensitive to the needs of different types of projects.</a:t>
            </a:r>
          </a:p>
          <a:p>
            <a:pPr algn="l" fontAlgn="base">
              <a:buFont typeface="Arial" panose="020B0604020202020204" pitchFamily="34" charset="0"/>
              <a:buChar char="•"/>
            </a:pPr>
            <a:r>
              <a:rPr lang="en-US" b="1" i="0" dirty="0">
                <a:solidFill>
                  <a:srgbClr val="273239"/>
                </a:solidFill>
                <a:effectLst/>
                <a:latin typeface="Nunito" pitchFamily="2" charset="0"/>
              </a:rPr>
              <a:t>Decision-Making Slowdown:</a:t>
            </a:r>
            <a:r>
              <a:rPr lang="en-US" b="0" i="0" dirty="0">
                <a:solidFill>
                  <a:srgbClr val="273239"/>
                </a:solidFill>
                <a:effectLst/>
                <a:latin typeface="Nunito" pitchFamily="2" charset="0"/>
              </a:rPr>
              <a:t> Central oversight sometimes slows down decision making-processes-in directive PMOs in particular, where all decisions are filtered and approved by the PMO.</a:t>
            </a:r>
          </a:p>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4</a:t>
            </a:fld>
            <a:endParaRPr lang="en-US"/>
          </a:p>
        </p:txBody>
      </p:sp>
    </p:spTree>
    <p:extLst>
      <p:ext uri="{BB962C8B-B14F-4D97-AF65-F5344CB8AC3E}">
        <p14:creationId xmlns:p14="http://schemas.microsoft.com/office/powerpoint/2010/main" val="3019358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Arial" panose="020B0604020202020204" pitchFamily="34" charset="0"/>
              <a:buChar char="•"/>
            </a:pPr>
            <a:r>
              <a:rPr lang="en-US" b="1" i="0" dirty="0">
                <a:solidFill>
                  <a:srgbClr val="273239"/>
                </a:solidFill>
                <a:effectLst/>
                <a:latin typeface="Nunito" pitchFamily="2" charset="0"/>
              </a:rPr>
              <a:t>Large Enterprises:</a:t>
            </a:r>
            <a:r>
              <a:rPr lang="en-US" b="0" i="0" dirty="0">
                <a:solidFill>
                  <a:srgbClr val="273239"/>
                </a:solidFill>
                <a:effectLst/>
                <a:latin typeface="Nunito" pitchFamily="2" charset="0"/>
              </a:rPr>
              <a:t> Companies that have many sophisticated projects spanning boundaries of departments would be ideal for a PMO in the pursuit of harmonizing departmental work towards standardization.</a:t>
            </a:r>
          </a:p>
          <a:p>
            <a:pPr algn="l" fontAlgn="base">
              <a:buFont typeface="Arial" panose="020B0604020202020204" pitchFamily="34" charset="0"/>
              <a:buChar char="•"/>
            </a:pPr>
            <a:r>
              <a:rPr lang="en-US" b="1" i="0" dirty="0">
                <a:solidFill>
                  <a:srgbClr val="273239"/>
                </a:solidFill>
                <a:effectLst/>
                <a:latin typeface="Nunito" pitchFamily="2" charset="0"/>
              </a:rPr>
              <a:t>Highly Regulated Industries:</a:t>
            </a:r>
            <a:r>
              <a:rPr lang="en-US" b="0" i="0" dirty="0">
                <a:solidFill>
                  <a:srgbClr val="273239"/>
                </a:solidFill>
                <a:effectLst/>
                <a:latin typeface="Nunito" pitchFamily="2" charset="0"/>
              </a:rPr>
              <a:t> In finance, healthcare, government, and similar industries where the basic requirement is compliance with legal and regulatory parameters, PMOs can ensure that all projects align within the premise of such regulations.</a:t>
            </a:r>
          </a:p>
          <a:p>
            <a:pPr algn="l" fontAlgn="base">
              <a:buFont typeface="Arial" panose="020B0604020202020204" pitchFamily="34" charset="0"/>
              <a:buChar char="•"/>
            </a:pPr>
            <a:r>
              <a:rPr lang="en-US" b="1" i="0" dirty="0">
                <a:solidFill>
                  <a:srgbClr val="273239"/>
                </a:solidFill>
                <a:effectLst/>
                <a:latin typeface="Nunito" pitchFamily="2" charset="0"/>
              </a:rPr>
              <a:t>Organizations Under Transformation: </a:t>
            </a:r>
            <a:r>
              <a:rPr lang="en-US" b="0" i="0" dirty="0">
                <a:solidFill>
                  <a:srgbClr val="273239"/>
                </a:solidFill>
                <a:effectLst/>
                <a:latin typeface="Nunito" pitchFamily="2" charset="0"/>
              </a:rPr>
              <a:t>The company is undergoing a transformation process, such as a merger or acquisition, or the introduction of new technologies. In such situations, PMOs ensure delivery of projects that are consistent with and in support of organizational strategic objectives.</a:t>
            </a:r>
          </a:p>
          <a:p>
            <a:pPr algn="l" fontAlgn="base">
              <a:buFont typeface="Arial" panose="020B0604020202020204" pitchFamily="34" charset="0"/>
              <a:buChar char="•"/>
            </a:pPr>
            <a:r>
              <a:rPr lang="en-US" b="1" i="0" dirty="0">
                <a:solidFill>
                  <a:srgbClr val="273239"/>
                </a:solidFill>
                <a:effectLst/>
                <a:latin typeface="Nunito" pitchFamily="2" charset="0"/>
              </a:rPr>
              <a:t>Project Intensive Organizations:</a:t>
            </a:r>
            <a:r>
              <a:rPr lang="en-US" b="0" i="0" dirty="0">
                <a:solidFill>
                  <a:srgbClr val="273239"/>
                </a:solidFill>
                <a:effectLst/>
                <a:latin typeface="Nunito" pitchFamily="2" charset="0"/>
              </a:rPr>
              <a:t> Companies undertaking many projects, like software companies, construction firms, and engineering companies will benefit more from a PMO in ensuring their centralized control and resource allocation.</a:t>
            </a:r>
          </a:p>
          <a:p>
            <a:pPr algn="l" fontAlgn="base">
              <a:buFont typeface="Arial" panose="020B0604020202020204" pitchFamily="34" charset="0"/>
              <a:buChar char="•"/>
            </a:pPr>
            <a:r>
              <a:rPr lang="en-US" b="1" i="0" dirty="0">
                <a:solidFill>
                  <a:srgbClr val="273239"/>
                </a:solidFill>
                <a:effectLst/>
                <a:latin typeface="Nunito" pitchFamily="2" charset="0"/>
              </a:rPr>
              <a:t>Global Teams:</a:t>
            </a:r>
            <a:r>
              <a:rPr lang="en-US" b="0" i="0" dirty="0">
                <a:solidFill>
                  <a:srgbClr val="273239"/>
                </a:solidFill>
                <a:effectLst/>
                <a:latin typeface="Nunito" pitchFamily="2" charset="0"/>
              </a:rPr>
              <a:t> An organization with dispersed teams benefits from a PMO due to standardization and coordination, which in effect enables effective communication in a dispersed organization across locations and time zones.</a:t>
            </a:r>
          </a:p>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5</a:t>
            </a:fld>
            <a:endParaRPr lang="en-US"/>
          </a:p>
        </p:txBody>
      </p:sp>
    </p:spTree>
    <p:extLst>
      <p:ext uri="{BB962C8B-B14F-4D97-AF65-F5344CB8AC3E}">
        <p14:creationId xmlns:p14="http://schemas.microsoft.com/office/powerpoint/2010/main" val="1235393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6</a:t>
            </a:fld>
            <a:endParaRPr lang="en-US"/>
          </a:p>
        </p:txBody>
      </p:sp>
    </p:spTree>
    <p:extLst>
      <p:ext uri="{BB962C8B-B14F-4D97-AF65-F5344CB8AC3E}">
        <p14:creationId xmlns:p14="http://schemas.microsoft.com/office/powerpoint/2010/main" val="1376444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ar-EG" sz="1200" b="0" kern="1200" dirty="0">
                <a:solidFill>
                  <a:schemeClr val="tx1"/>
                </a:solidFill>
                <a:effectLst/>
                <a:latin typeface="+mn-lt"/>
                <a:ea typeface="+mn-ea"/>
                <a:cs typeface="+mn-cs"/>
              </a:rPr>
              <a:t>من المرجح أن تكون هذه الإستراتيجية قابلة للتحقيق في الأسواق الكبيرة، والتي تتطلب استثمارات رأسمالية ضخمة، حيث تكون أحجام الإنتاج أو الخدمات عالية ويمكن تحقيق اقتصاديات الحجم من الإنتاج بكميات كبيرة.</a:t>
            </a:r>
          </a:p>
          <a:p>
            <a:br>
              <a:rPr lang="ar-EG" dirty="0"/>
            </a:br>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7</a:t>
            </a:fld>
            <a:endParaRPr lang="en-US"/>
          </a:p>
        </p:txBody>
      </p:sp>
    </p:spTree>
    <p:extLst>
      <p:ext uri="{BB962C8B-B14F-4D97-AF65-F5344CB8AC3E}">
        <p14:creationId xmlns:p14="http://schemas.microsoft.com/office/powerpoint/2010/main" val="961995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sz="1200" b="0" i="0" kern="1200" dirty="0">
                <a:solidFill>
                  <a:schemeClr val="tx1"/>
                </a:solidFill>
                <a:effectLst/>
                <a:latin typeface="+mn-lt"/>
                <a:ea typeface="+mn-ea"/>
                <a:cs typeface="+mn-cs"/>
              </a:rPr>
              <a:t>فهم عميق لما يريده العملاء حقًا ويحتاجونه، والأهم من ذلك، ما هم مستعدون لدفع المزيد مقابله.كانت استراتيجية آبل الابتدائية مبنية على نظام تشغيل 'مرِح' قائم على الرموز</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ar-EG" sz="1200" b="0" i="0" kern="1200">
                <a:solidFill>
                  <a:schemeClr val="tx1"/>
                </a:solidFill>
                <a:effectLst/>
                <a:latin typeface="+mn-lt"/>
                <a:ea typeface="+mn-ea"/>
                <a:cs typeface="+mn-cs"/>
              </a:rPr>
              <a:t>لتركيز على شريحة محددة ضيقة سواء مع ميزة التكلفة أو التمايز.</a:t>
            </a:r>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8</a:t>
            </a:fld>
            <a:endParaRPr lang="en-US"/>
          </a:p>
        </p:txBody>
      </p:sp>
    </p:spTree>
    <p:extLst>
      <p:ext uri="{BB962C8B-B14F-4D97-AF65-F5344CB8AC3E}">
        <p14:creationId xmlns:p14="http://schemas.microsoft.com/office/powerpoint/2010/main" val="1798870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1" i="0" dirty="0">
                <a:solidFill>
                  <a:srgbClr val="27272A"/>
                </a:solidFill>
                <a:effectLst/>
                <a:latin typeface="inherit"/>
              </a:rPr>
              <a:t>Differentiation</a:t>
            </a:r>
            <a:endParaRPr lang="en-US" b="0" i="0" dirty="0">
              <a:solidFill>
                <a:srgbClr val="27272A"/>
              </a:solidFill>
              <a:effectLst/>
              <a:latin typeface="Open Sans" panose="020B0606030504020204" pitchFamily="34" charset="0"/>
            </a:endParaRPr>
          </a:p>
          <a:p>
            <a:pPr algn="just" fontAlgn="base"/>
            <a:r>
              <a:rPr lang="en-US" b="0" i="0" dirty="0">
                <a:solidFill>
                  <a:srgbClr val="3F3F46"/>
                </a:solidFill>
                <a:effectLst/>
                <a:latin typeface="Open Sans" panose="020B0606030504020204" pitchFamily="34" charset="0"/>
              </a:rPr>
              <a:t>Differentiation is a type of competitive strategy with which a company seeks to distinguish its products or services from that of competitors: the goal is to be unique. A company may use creative advertising, distinctive product features, higher quality, better performance, exceptional service or new technology to achieve a product being perceived as unique. A differentiation strategy can reduce rivalry with competitors if buyers are loyal to a company’s brand. Companies with a differentiation strategy therefore rely largely on customer loyalty. Because of the uniqueness, companies with this type of strategy usually price their products higher than competitors. Examples of companies with differentiated products and services are: Apple, Harley-Davidson, Nespresso, LEGO, Nike and Starbucks.</a:t>
            </a:r>
          </a:p>
          <a:p>
            <a:pPr algn="l" fontAlgn="base"/>
            <a:r>
              <a:rPr lang="en-US" b="1" i="0" dirty="0">
                <a:solidFill>
                  <a:srgbClr val="27272A"/>
                </a:solidFill>
                <a:effectLst/>
                <a:latin typeface="inherit"/>
              </a:rPr>
              <a:t>Cost Leadership</a:t>
            </a:r>
            <a:endParaRPr lang="en-US" b="0" i="0" dirty="0">
              <a:solidFill>
                <a:srgbClr val="27272A"/>
              </a:solidFill>
              <a:effectLst/>
              <a:latin typeface="Open Sans" panose="020B0606030504020204" pitchFamily="34" charset="0"/>
            </a:endParaRPr>
          </a:p>
          <a:p>
            <a:pPr algn="just" fontAlgn="base"/>
            <a:r>
              <a:rPr lang="en-US" b="0" i="0" dirty="0">
                <a:solidFill>
                  <a:srgbClr val="3F3F46"/>
                </a:solidFill>
                <a:effectLst/>
                <a:latin typeface="Open Sans" panose="020B0606030504020204" pitchFamily="34" charset="0"/>
              </a:rPr>
              <a:t>Cost Leadership is a type of competitive strategy with which a company aggressively seeks efficient large-scale production facilities, cuts costs, uses </a:t>
            </a:r>
            <a:r>
              <a:rPr lang="en-US" b="0" i="0" u="none" strike="noStrike" dirty="0">
                <a:solidFill>
                  <a:srgbClr val="000000"/>
                </a:solidFill>
                <a:effectLst/>
                <a:latin typeface="inherit"/>
                <a:hlinkClick r:id="rId3"/>
              </a:rPr>
              <a:t>economies of scale</a:t>
            </a:r>
            <a:r>
              <a:rPr lang="en-US" b="0" i="0" dirty="0">
                <a:solidFill>
                  <a:srgbClr val="3F3F46"/>
                </a:solidFill>
                <a:effectLst/>
                <a:latin typeface="Open Sans" panose="020B0606030504020204" pitchFamily="34" charset="0"/>
              </a:rPr>
              <a:t>, gains production experience and employs tight cost controls to be more efficient in the production of products or the offering of services than competitors: the goal is to be the low-cost producer in the industry. A low-cost position also means that a company can undercut competitors’ prices through for example </a:t>
            </a:r>
            <a:r>
              <a:rPr lang="en-US" b="0" i="0" u="none" strike="noStrike" dirty="0">
                <a:solidFill>
                  <a:srgbClr val="000000"/>
                </a:solidFill>
                <a:effectLst/>
                <a:latin typeface="inherit"/>
                <a:hlinkClick r:id="rId4"/>
              </a:rPr>
              <a:t>penetration pricing</a:t>
            </a:r>
            <a:r>
              <a:rPr lang="en-US" b="0" i="0" dirty="0">
                <a:solidFill>
                  <a:srgbClr val="3F3F46"/>
                </a:solidFill>
                <a:effectLst/>
                <a:latin typeface="Open Sans" panose="020B0606030504020204" pitchFamily="34" charset="0"/>
              </a:rPr>
              <a:t> and can still offer comparable quality against reasonable profits. Low-cost producers typically sell standard </a:t>
            </a:r>
            <a:r>
              <a:rPr lang="en-US" b="0" i="1" dirty="0">
                <a:solidFill>
                  <a:srgbClr val="3F3F46"/>
                </a:solidFill>
                <a:effectLst/>
                <a:latin typeface="inherit"/>
              </a:rPr>
              <a:t>no-frills</a:t>
            </a:r>
            <a:r>
              <a:rPr lang="en-US" b="0" i="0" dirty="0">
                <a:solidFill>
                  <a:srgbClr val="3F3F46"/>
                </a:solidFill>
                <a:effectLst/>
                <a:latin typeface="Open Sans" panose="020B0606030504020204" pitchFamily="34" charset="0"/>
              </a:rPr>
              <a:t> products or services. Examples of companies with cost leadership positions are: Southwest Airlines, Wal-Mart, McDonald’s, EasyJet, Costco and Amazon.</a:t>
            </a:r>
          </a:p>
          <a:p>
            <a:pPr algn="l" fontAlgn="base"/>
            <a:r>
              <a:rPr lang="en-US" b="1" i="0" dirty="0">
                <a:solidFill>
                  <a:srgbClr val="27272A"/>
                </a:solidFill>
                <a:effectLst/>
                <a:latin typeface="inherit"/>
              </a:rPr>
              <a:t>Focus</a:t>
            </a:r>
            <a:endParaRPr lang="en-US" b="0" i="0" dirty="0">
              <a:solidFill>
                <a:srgbClr val="27272A"/>
              </a:solidFill>
              <a:effectLst/>
              <a:latin typeface="Open Sans" panose="020B0606030504020204" pitchFamily="34" charset="0"/>
            </a:endParaRPr>
          </a:p>
          <a:p>
            <a:pPr algn="just" fontAlgn="base"/>
            <a:r>
              <a:rPr lang="en-US" b="0" i="0" dirty="0">
                <a:solidFill>
                  <a:srgbClr val="3F3F46"/>
                </a:solidFill>
                <a:effectLst/>
                <a:latin typeface="Open Sans" panose="020B0606030504020204" pitchFamily="34" charset="0"/>
              </a:rPr>
              <a:t>Focus is a type of competitive strategy that emphasizes concentration on a specific regional market or buyer group: a niche. The company will either use a differentiation or cost leadership strategy, but only for a narrow target market rather than offering it industry-wide. The company first selects a segment or group of segments in an industry and then tailors its strategy to serve those segments best to the exclusion of others. Like mentioned, the focus strategy has two variants: Differentiation Focus and Cost Focus. These two strategies differ only from Differentiation and Cost Leadership in terms of their competitive scope. Examples of companies with a differentiation focus strategy are: Rolls Royce, Omega, Prada and Razer. Examples of companies with a cost focus strategy are: Claire’s, Home Depot and Smart.</a:t>
            </a:r>
          </a:p>
          <a:p>
            <a:pPr algn="l" fontAlgn="base"/>
            <a:r>
              <a:rPr lang="en-US" b="0" i="0" dirty="0">
                <a:solidFill>
                  <a:srgbClr val="3F3F46"/>
                </a:solidFill>
                <a:effectLst/>
                <a:latin typeface="Open Sans" panose="020B0606030504020204" pitchFamily="34" charset="0"/>
              </a:rPr>
              <a:t> </a:t>
            </a:r>
          </a:p>
          <a:p>
            <a:pPr algn="l" fontAlgn="base"/>
            <a:r>
              <a:rPr lang="en-US" b="1" i="0" dirty="0">
                <a:solidFill>
                  <a:srgbClr val="27272A"/>
                </a:solidFill>
                <a:effectLst/>
                <a:latin typeface="inherit"/>
              </a:rPr>
              <a:t>Stuck in the Middle</a:t>
            </a:r>
            <a:endParaRPr lang="en-US" b="0" i="0" dirty="0">
              <a:solidFill>
                <a:srgbClr val="27272A"/>
              </a:solidFill>
              <a:effectLst/>
              <a:latin typeface="Open Sans" panose="020B0606030504020204" pitchFamily="34" charset="0"/>
            </a:endParaRPr>
          </a:p>
          <a:p>
            <a:pPr algn="just" fontAlgn="base"/>
            <a:r>
              <a:rPr lang="en-US" b="0" i="0" dirty="0">
                <a:solidFill>
                  <a:srgbClr val="3F3F46"/>
                </a:solidFill>
                <a:effectLst/>
                <a:latin typeface="Open Sans" panose="020B0606030504020204" pitchFamily="34" charset="0"/>
              </a:rPr>
              <a:t>A company that tries to engage in each generic strategy but fails to achieve any of them, is considered ‘stuck in the middle’. Such a company has no competitive advantage regardless of the industry it is in. As a matter of fact, such a company will compete at a disadvantage because the ‘cost leader’, the ‘differentiators’ and the ‘focusers’ in the industry will be better positioned to compete. It may be the case, however, that a company that is stuck in the middle still earns interesting profits simply because it is operating in a highly attractive industry or because its competitors are stuck in the middle as well. If one of the two exceptions are not present it will be very hard for companies to engage in both differentiation </a:t>
            </a:r>
            <a:r>
              <a:rPr lang="en-US" b="0" i="1" dirty="0">
                <a:solidFill>
                  <a:srgbClr val="3F3F46"/>
                </a:solidFill>
                <a:effectLst/>
                <a:latin typeface="inherit"/>
              </a:rPr>
              <a:t>and</a:t>
            </a:r>
            <a:r>
              <a:rPr lang="en-US" b="0" i="0" dirty="0">
                <a:solidFill>
                  <a:srgbClr val="3F3F46"/>
                </a:solidFill>
                <a:effectLst/>
                <a:latin typeface="Open Sans" panose="020B0606030504020204" pitchFamily="34" charset="0"/>
              </a:rPr>
              <a:t> cost leadership, Porter argues, because differentiation is usually costly. Each generic strategy is a fundamentally different approach to creating and sustaining superior performance and requires a different operating model.  </a:t>
            </a:r>
          </a:p>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9</a:t>
            </a:fld>
            <a:endParaRPr lang="en-US"/>
          </a:p>
        </p:txBody>
      </p:sp>
    </p:spTree>
    <p:extLst>
      <p:ext uri="{BB962C8B-B14F-4D97-AF65-F5344CB8AC3E}">
        <p14:creationId xmlns:p14="http://schemas.microsoft.com/office/powerpoint/2010/main" val="3885612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Oswald" panose="020B0604020202020204" pitchFamily="2" charset="0"/>
              </a:rPr>
              <a:t>Understanding the Red Ocean vs. Blue Ocean Strategies</a:t>
            </a:r>
          </a:p>
          <a:p>
            <a:pPr algn="l"/>
            <a:r>
              <a:rPr lang="en-US" b="0" i="0" dirty="0">
                <a:solidFill>
                  <a:srgbClr val="333333"/>
                </a:solidFill>
                <a:effectLst/>
                <a:latin typeface="Sharp Sans No1 Book"/>
              </a:rPr>
              <a:t> </a:t>
            </a:r>
            <a:r>
              <a:rPr lang="en-US" b="1" i="0" dirty="0">
                <a:solidFill>
                  <a:srgbClr val="333333"/>
                </a:solidFill>
                <a:effectLst/>
                <a:latin typeface="Sharp Sans No1 Book"/>
              </a:rPr>
              <a:t>November 30, 2023</a:t>
            </a:r>
            <a:r>
              <a:rPr lang="en-US" b="0" i="0" dirty="0">
                <a:solidFill>
                  <a:srgbClr val="333333"/>
                </a:solidFill>
                <a:effectLst/>
                <a:latin typeface="Sharp Sans No1 Book"/>
              </a:rPr>
              <a:t>  </a:t>
            </a:r>
          </a:p>
          <a:p>
            <a:pPr algn="l"/>
            <a:r>
              <a:rPr lang="en-US" b="0" i="0" dirty="0">
                <a:solidFill>
                  <a:srgbClr val="333333"/>
                </a:solidFill>
                <a:effectLst/>
                <a:latin typeface="Sharp Sans No1 Book"/>
              </a:rPr>
              <a:t>Strategies are essential for succeeding in the business world. Companies navigate the competitive seas with the help of two essential approaches: the Red Ocean and Blue Ocean strategies. </a:t>
            </a:r>
            <a:r>
              <a:rPr lang="en-US" b="1" i="0" dirty="0">
                <a:solidFill>
                  <a:srgbClr val="333333"/>
                </a:solidFill>
                <a:effectLst/>
                <a:latin typeface="Arial" panose="020B0604020202020204" pitchFamily="34" charset="0"/>
              </a:rPr>
              <a:t>The Red Ocean strategy</a:t>
            </a:r>
            <a:r>
              <a:rPr lang="en-US" b="0" i="0" dirty="0">
                <a:solidFill>
                  <a:srgbClr val="333333"/>
                </a:solidFill>
                <a:effectLst/>
                <a:latin typeface="Sharp Sans No1 Book"/>
              </a:rPr>
              <a:t> emphasizes competition and gradual improvements while taking on established competitors in a well-known market. On the other hand, the </a:t>
            </a:r>
            <a:r>
              <a:rPr lang="en-US" b="1" i="0" dirty="0">
                <a:solidFill>
                  <a:srgbClr val="333333"/>
                </a:solidFill>
                <a:effectLst/>
                <a:latin typeface="Arial" panose="020B0604020202020204" pitchFamily="34" charset="0"/>
              </a:rPr>
              <a:t>Blue Ocean strategy</a:t>
            </a:r>
            <a:r>
              <a:rPr lang="en-US" b="0" i="0" dirty="0">
                <a:solidFill>
                  <a:srgbClr val="333333"/>
                </a:solidFill>
                <a:effectLst/>
                <a:latin typeface="Sharp Sans No1 Book"/>
              </a:rPr>
              <a:t> stimulates businesses to venture into uncharted territory, establishing new markets through creative thinking and originality. These strategic decisions set the direction for a company's journey through the vast ocean of business opportunities and influence how it deals with the difficulties of competition and market development.</a:t>
            </a:r>
          </a:p>
          <a:p>
            <a:pPr algn="l"/>
            <a:r>
              <a:rPr lang="en-US" b="0" i="0" dirty="0">
                <a:solidFill>
                  <a:srgbClr val="333333"/>
                </a:solidFill>
                <a:effectLst/>
                <a:latin typeface="Oswald" panose="020B0604020202020204" pitchFamily="2" charset="0"/>
              </a:rPr>
              <a:t>What is the Red Ocean Strategy and Its Benefits</a:t>
            </a:r>
          </a:p>
          <a:p>
            <a:pPr algn="l"/>
            <a:r>
              <a:rPr lang="en-US" b="0" i="0" dirty="0">
                <a:solidFill>
                  <a:srgbClr val="333333"/>
                </a:solidFill>
                <a:effectLst/>
                <a:latin typeface="Sharp Sans No1 Book"/>
              </a:rPr>
              <a:t>The traditional </a:t>
            </a:r>
            <a:r>
              <a:rPr lang="en-US" b="1" i="0" u="sng" dirty="0">
                <a:solidFill>
                  <a:srgbClr val="7A231C"/>
                </a:solidFill>
                <a:effectLst/>
                <a:latin typeface="Arial" panose="020B0604020202020204" pitchFamily="34" charset="0"/>
                <a:hlinkClick r:id="rId3"/>
              </a:rPr>
              <a:t>business strategy</a:t>
            </a:r>
            <a:r>
              <a:rPr lang="en-US" b="0" i="0" dirty="0">
                <a:solidFill>
                  <a:srgbClr val="333333"/>
                </a:solidFill>
                <a:effectLst/>
                <a:latin typeface="Sharp Sans No1 Book"/>
              </a:rPr>
              <a:t> known as the "Red Ocean" strategy is when businesses compete in their current markets to outperform competitors and capture a larger market share. This frequently entails emphasizing differentiation, price, or a mix of the two. The phrase "Red Ocean" refers to a metaphorical situation in which competitors are engaged in a fierce battle for the same customer base. This tactic has advantages even though it might seem obvious.</a:t>
            </a:r>
          </a:p>
          <a:p>
            <a:pPr algn="l"/>
            <a:r>
              <a:rPr lang="en-US" b="1" i="1" dirty="0">
                <a:solidFill>
                  <a:srgbClr val="333333"/>
                </a:solidFill>
                <a:effectLst/>
                <a:latin typeface="Arial" panose="020B0604020202020204" pitchFamily="34" charset="0"/>
              </a:rPr>
              <a:t>Benefits</a:t>
            </a:r>
            <a:endParaRPr lang="en-US" b="0" i="0" dirty="0">
              <a:solidFill>
                <a:srgbClr val="333333"/>
              </a:solidFill>
              <a:effectLst/>
              <a:latin typeface="Sharp Sans No1 Book"/>
            </a:endParaRPr>
          </a:p>
          <a:p>
            <a:pPr algn="l">
              <a:buFont typeface="Arial" panose="020B0604020202020204" pitchFamily="34" charset="0"/>
              <a:buChar char="•"/>
            </a:pPr>
            <a:r>
              <a:rPr lang="en-US" b="0" i="0" dirty="0">
                <a:solidFill>
                  <a:srgbClr val="333333"/>
                </a:solidFill>
                <a:effectLst/>
                <a:latin typeface="Sharp Sans No1 Book"/>
              </a:rPr>
              <a:t>Competes in the current market.</a:t>
            </a:r>
          </a:p>
          <a:p>
            <a:pPr algn="l">
              <a:buFont typeface="Arial" panose="020B0604020202020204" pitchFamily="34" charset="0"/>
              <a:buChar char="•"/>
            </a:pPr>
            <a:r>
              <a:rPr lang="en-US" b="0" i="0" dirty="0">
                <a:solidFill>
                  <a:srgbClr val="333333"/>
                </a:solidFill>
                <a:effectLst/>
                <a:latin typeface="Sharp Sans No1 Book"/>
              </a:rPr>
              <a:t>Outperforms the opposition.</a:t>
            </a:r>
          </a:p>
          <a:p>
            <a:pPr algn="l">
              <a:buFont typeface="Arial" panose="020B0604020202020204" pitchFamily="34" charset="0"/>
              <a:buChar char="•"/>
            </a:pPr>
            <a:r>
              <a:rPr lang="en-US" b="0" i="0" dirty="0">
                <a:solidFill>
                  <a:srgbClr val="333333"/>
                </a:solidFill>
                <a:effectLst/>
                <a:latin typeface="Sharp Sans No1 Book"/>
              </a:rPr>
              <a:t>Takes advantage of the current demand.</a:t>
            </a:r>
          </a:p>
          <a:p>
            <a:pPr algn="l">
              <a:buFont typeface="Arial" panose="020B0604020202020204" pitchFamily="34" charset="0"/>
              <a:buChar char="•"/>
            </a:pPr>
            <a:r>
              <a:rPr lang="en-US" b="0" i="0" dirty="0">
                <a:solidFill>
                  <a:srgbClr val="333333"/>
                </a:solidFill>
                <a:effectLst/>
                <a:latin typeface="Sharp Sans No1 Book"/>
              </a:rPr>
              <a:t>Makes the trade-off between value and cost.</a:t>
            </a:r>
          </a:p>
          <a:p>
            <a:pPr algn="l">
              <a:buFont typeface="Arial" panose="020B0604020202020204" pitchFamily="34" charset="0"/>
              <a:buChar char="•"/>
            </a:pPr>
            <a:r>
              <a:rPr lang="en-US" b="0" i="0" dirty="0">
                <a:solidFill>
                  <a:srgbClr val="333333"/>
                </a:solidFill>
                <a:effectLst/>
                <a:latin typeface="Sharp Sans No1 Book"/>
              </a:rPr>
              <a:t>Synchronizes a company's entire operational system with its low-cost or differentiation strategy choice.</a:t>
            </a:r>
          </a:p>
          <a:p>
            <a:pPr algn="l"/>
            <a:r>
              <a:rPr lang="en-US" b="0" i="0" dirty="0">
                <a:solidFill>
                  <a:srgbClr val="333333"/>
                </a:solidFill>
                <a:effectLst/>
                <a:latin typeface="Oswald" panose="020B0604020202020204" pitchFamily="2" charset="0"/>
              </a:rPr>
              <a:t>Red Ocean Strategies and Examples</a:t>
            </a:r>
          </a:p>
          <a:p>
            <a:pPr algn="l"/>
            <a:r>
              <a:rPr lang="en-US" b="0" i="0" dirty="0">
                <a:solidFill>
                  <a:srgbClr val="333333"/>
                </a:solidFill>
                <a:effectLst/>
                <a:latin typeface="Sharp Sans No1 Book"/>
              </a:rPr>
              <a:t>Red Ocean's strategies usually center on using well-known tactics to compete in already-established market spaces. Cost leadership, for instance, entails lowering production costs within the sector to draw in price-conscious clients. In contrast, product differentiation emphasizes providing distinctive features to make a name for yourself in a crowded market.</a:t>
            </a:r>
          </a:p>
          <a:p>
            <a:pPr algn="l"/>
            <a:r>
              <a:rPr lang="en-US" b="0" i="0" dirty="0">
                <a:solidFill>
                  <a:srgbClr val="333333"/>
                </a:solidFill>
                <a:effectLst/>
                <a:latin typeface="Sharp Sans No1 Book"/>
              </a:rPr>
              <a:t>The fast-food market is highly competitive, with high-profile ads, aggressive pricing, and new product varieties. McDonald's is a prime example of a company that has successfully used the red ocean approach. All that McDonald's accomplished was to stay under the radar while providing excellent burgers made with fresh ingredients in a restaurant with a conventional aesthetic. When it comes to the food industry, McDonald's delivers on authenticity.</a:t>
            </a:r>
          </a:p>
          <a:p>
            <a:pPr algn="l"/>
            <a:r>
              <a:rPr lang="en-US" b="0" i="0" dirty="0">
                <a:solidFill>
                  <a:srgbClr val="333333"/>
                </a:solidFill>
                <a:effectLst/>
                <a:latin typeface="Oswald" panose="020B0604020202020204" pitchFamily="2" charset="0"/>
              </a:rPr>
              <a:t>What is the Blue Ocean Strategy and Its Benefits</a:t>
            </a:r>
          </a:p>
          <a:p>
            <a:pPr algn="l"/>
            <a:r>
              <a:rPr lang="en-US" b="0" i="0" dirty="0">
                <a:solidFill>
                  <a:srgbClr val="333333"/>
                </a:solidFill>
                <a:effectLst/>
                <a:latin typeface="Sharp Sans No1 Book"/>
              </a:rPr>
              <a:t>The Blue Ocean Strategy is an </a:t>
            </a:r>
            <a:r>
              <a:rPr lang="en-US" b="1" i="0" u="sng" dirty="0">
                <a:solidFill>
                  <a:srgbClr val="7A231C"/>
                </a:solidFill>
                <a:effectLst/>
                <a:latin typeface="Arial" panose="020B0604020202020204" pitchFamily="34" charset="0"/>
                <a:hlinkClick r:id="rId4"/>
              </a:rPr>
              <a:t>innovative</a:t>
            </a:r>
            <a:r>
              <a:rPr lang="en-US" b="0" i="0" dirty="0">
                <a:solidFill>
                  <a:srgbClr val="333333"/>
                </a:solidFill>
                <a:effectLst/>
                <a:latin typeface="Sharp Sans No1 Book"/>
              </a:rPr>
              <a:t> marketing technique that emphasizes innovation over direct competition to revive companies. The strategy, which was first introduced in 2005 by W. Chan Kim and Renée Mauborgne, entails creating new market niches and increasing customer demand to eliminate the need for competition.</a:t>
            </a:r>
          </a:p>
          <a:p>
            <a:pPr algn="l"/>
            <a:r>
              <a:rPr lang="en-US" b="1" i="1" dirty="0">
                <a:solidFill>
                  <a:srgbClr val="333333"/>
                </a:solidFill>
                <a:effectLst/>
                <a:latin typeface="Arial" panose="020B0604020202020204" pitchFamily="34" charset="0"/>
              </a:rPr>
              <a:t>Benefits</a:t>
            </a:r>
            <a:endParaRPr lang="en-US" b="0" i="0" dirty="0">
              <a:solidFill>
                <a:srgbClr val="333333"/>
              </a:solidFill>
              <a:effectLst/>
              <a:latin typeface="Sharp Sans No1 Book"/>
            </a:endParaRPr>
          </a:p>
          <a:p>
            <a:pPr algn="l">
              <a:buFont typeface="Arial" panose="020B0604020202020204" pitchFamily="34" charset="0"/>
              <a:buChar char="•"/>
            </a:pPr>
            <a:r>
              <a:rPr lang="en-US" b="0" i="0" dirty="0">
                <a:solidFill>
                  <a:srgbClr val="333333"/>
                </a:solidFill>
                <a:effectLst/>
                <a:latin typeface="Sharp Sans No1 Book"/>
              </a:rPr>
              <a:t>Makes market space uncontested.</a:t>
            </a:r>
          </a:p>
          <a:p>
            <a:pPr algn="l">
              <a:buFont typeface="Arial" panose="020B0604020202020204" pitchFamily="34" charset="0"/>
              <a:buChar char="•"/>
            </a:pPr>
            <a:r>
              <a:rPr lang="en-US" b="0" i="0" dirty="0">
                <a:solidFill>
                  <a:srgbClr val="333333"/>
                </a:solidFill>
                <a:effectLst/>
                <a:latin typeface="Sharp Sans No1 Book"/>
              </a:rPr>
              <a:t>Renders the rivalry meaningless.</a:t>
            </a:r>
          </a:p>
          <a:p>
            <a:pPr algn="l">
              <a:buFont typeface="Arial" panose="020B0604020202020204" pitchFamily="34" charset="0"/>
              <a:buChar char="•"/>
            </a:pPr>
            <a:r>
              <a:rPr lang="en-US" b="0" i="0" dirty="0">
                <a:solidFill>
                  <a:srgbClr val="333333"/>
                </a:solidFill>
                <a:effectLst/>
                <a:latin typeface="Sharp Sans No1 Book"/>
              </a:rPr>
              <a:t>Generates and seizes additional requests.</a:t>
            </a:r>
          </a:p>
          <a:p>
            <a:pPr algn="l">
              <a:buFont typeface="Arial" panose="020B0604020202020204" pitchFamily="34" charset="0"/>
              <a:buChar char="•"/>
            </a:pPr>
            <a:r>
              <a:rPr lang="en-US" b="0" i="0" dirty="0">
                <a:solidFill>
                  <a:srgbClr val="333333"/>
                </a:solidFill>
                <a:effectLst/>
                <a:latin typeface="Sharp Sans No1 Book"/>
              </a:rPr>
              <a:t>Overcomes the value-cost trade-offs to achieve low cost and uniqueness by coordinating with all of a firm's operations.</a:t>
            </a:r>
          </a:p>
          <a:p>
            <a:pPr algn="l"/>
            <a:r>
              <a:rPr lang="en-US" b="0" i="0" dirty="0">
                <a:solidFill>
                  <a:srgbClr val="333333"/>
                </a:solidFill>
                <a:effectLst/>
                <a:latin typeface="Oswald" panose="020B0604020202020204" pitchFamily="2" charset="0"/>
              </a:rPr>
              <a:t>Blue Ocean Strategies and Examples</a:t>
            </a:r>
          </a:p>
          <a:p>
            <a:pPr algn="l"/>
            <a:r>
              <a:rPr lang="en-US" b="0" i="0" dirty="0">
                <a:solidFill>
                  <a:srgbClr val="333333"/>
                </a:solidFill>
                <a:effectLst/>
                <a:latin typeface="Sharp Sans No1 Book"/>
              </a:rPr>
              <a:t>Instead of competing for a piece of the market that already exists, Blue Ocean's strategies focus on generating new value for their clients. For instance, Cirque du Soleil transformed the business of circus around the world, by fusing theater and circus elements, making it appealing to a broader audience than just traditional circus visitors. By carving out a new market niche, this calculated action helped the company break away from the fierce rivalry within the established circus sector.</a:t>
            </a:r>
          </a:p>
          <a:p>
            <a:pPr algn="l"/>
            <a:r>
              <a:rPr lang="en-US" b="0" i="0" dirty="0">
                <a:solidFill>
                  <a:srgbClr val="333333"/>
                </a:solidFill>
                <a:effectLst/>
                <a:latin typeface="Sharp Sans No1 Book"/>
              </a:rPr>
              <a:t>Meta (Formerly Facebook): CEO Mark Zuckerberg declared in October 2021 that Facebook would now go by the name Meta. When Facebook first launched, social networks were a completely new industry. After more than ten years, social networking has grown into a monopoly. By changing its name, Meta can focus its product offerings on the "metaverse," an uncharted territory that is thrilling and novel. Although the strategy shift has yet to be proven, it is clear that the idea of moving from the red ocean of social media to the blue ocean of the metaverse influenced the decision.</a:t>
            </a:r>
          </a:p>
          <a:p>
            <a:pPr algn="l"/>
            <a:r>
              <a:rPr lang="en-US" b="0" i="0" dirty="0">
                <a:solidFill>
                  <a:srgbClr val="333333"/>
                </a:solidFill>
                <a:effectLst/>
                <a:latin typeface="Oswald" panose="020B0604020202020204" pitchFamily="2" charset="0"/>
              </a:rPr>
              <a:t>Blue Ocean vs. Red Ocean Strategy: Main Differences</a:t>
            </a:r>
          </a:p>
          <a:p>
            <a:pPr algn="l"/>
            <a:r>
              <a:rPr lang="en-US" b="0" i="0" dirty="0">
                <a:solidFill>
                  <a:srgbClr val="333333"/>
                </a:solidFill>
                <a:effectLst/>
                <a:latin typeface="Sharp Sans No1 Book"/>
              </a:rPr>
              <a:t>The two concepts that outline different market </a:t>
            </a:r>
            <a:r>
              <a:rPr lang="en-US" b="1" i="0" u="sng" dirty="0">
                <a:solidFill>
                  <a:srgbClr val="7A231C"/>
                </a:solidFill>
                <a:effectLst/>
                <a:latin typeface="Arial" panose="020B0604020202020204" pitchFamily="34" charset="0"/>
                <a:hlinkClick r:id="rId5"/>
              </a:rPr>
              <a:t>strategies</a:t>
            </a:r>
            <a:r>
              <a:rPr lang="en-US" b="0" i="0" dirty="0">
                <a:solidFill>
                  <a:srgbClr val="333333"/>
                </a:solidFill>
                <a:effectLst/>
                <a:latin typeface="Sharp Sans No1 Book"/>
              </a:rPr>
              <a:t> are the Red Ocean Strategy and the Blue Ocean Strategy. Here's a table comparing them:</a:t>
            </a:r>
          </a:p>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10</a:t>
            </a:fld>
            <a:endParaRPr lang="en-US"/>
          </a:p>
        </p:txBody>
      </p:sp>
    </p:spTree>
    <p:extLst>
      <p:ext uri="{BB962C8B-B14F-4D97-AF65-F5344CB8AC3E}">
        <p14:creationId xmlns:p14="http://schemas.microsoft.com/office/powerpoint/2010/main" val="2120766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18135" marR="5080" indent="-306070">
              <a:lnSpc>
                <a:spcPct val="100400"/>
              </a:lnSpc>
              <a:spcBef>
                <a:spcPts val="1255"/>
              </a:spcBef>
              <a:buChar char="•"/>
              <a:tabLst>
                <a:tab pos="320675" algn="l"/>
              </a:tabLst>
            </a:pPr>
            <a:endParaRPr lang="en-US" sz="1200" dirty="0">
              <a:latin typeface="Arial MT"/>
              <a:cs typeface="Arial MT"/>
            </a:endParaRPr>
          </a:p>
          <a:p>
            <a:pPr marL="318135" marR="5080" indent="-306070">
              <a:lnSpc>
                <a:spcPct val="100400"/>
              </a:lnSpc>
              <a:spcBef>
                <a:spcPts val="1255"/>
              </a:spcBef>
              <a:buChar char="•"/>
              <a:tabLst>
                <a:tab pos="320675" algn="l"/>
              </a:tabLst>
            </a:pPr>
            <a:endParaRPr lang="en-US" sz="1200" dirty="0">
              <a:latin typeface="Arial MT"/>
              <a:cs typeface="Arial MT"/>
            </a:endParaRPr>
          </a:p>
          <a:p>
            <a:pPr marL="318135" marR="5080" indent="-306070">
              <a:lnSpc>
                <a:spcPct val="100400"/>
              </a:lnSpc>
              <a:spcBef>
                <a:spcPts val="1255"/>
              </a:spcBef>
              <a:buChar char="•"/>
              <a:tabLst>
                <a:tab pos="320675" algn="l"/>
              </a:tabLst>
            </a:pPr>
            <a:endParaRPr lang="en-US" sz="1200" dirty="0">
              <a:latin typeface="Arial MT"/>
              <a:cs typeface="Arial MT"/>
            </a:endParaRPr>
          </a:p>
          <a:p>
            <a:pPr marL="445134" indent="-432434">
              <a:lnSpc>
                <a:spcPct val="100000"/>
              </a:lnSpc>
              <a:spcBef>
                <a:spcPts val="790"/>
              </a:spcBef>
              <a:buClr>
                <a:srgbClr val="FD0100"/>
              </a:buClr>
              <a:buAutoNum type="arabicPeriod"/>
              <a:tabLst>
                <a:tab pos="445134" algn="l"/>
                <a:tab pos="4400550" algn="l"/>
              </a:tabLst>
            </a:pPr>
            <a:r>
              <a:rPr lang="en-US" sz="3050" dirty="0">
                <a:solidFill>
                  <a:srgbClr val="FB0103"/>
                </a:solidFill>
                <a:latin typeface="Arial MT"/>
                <a:cs typeface="Arial MT"/>
              </a:rPr>
              <a:t>Review</a:t>
            </a:r>
            <a:r>
              <a:rPr lang="en-US" sz="3050" spc="140" dirty="0">
                <a:solidFill>
                  <a:srgbClr val="FB0103"/>
                </a:solidFill>
                <a:latin typeface="Arial MT"/>
                <a:cs typeface="Arial MT"/>
              </a:rPr>
              <a:t> </a:t>
            </a:r>
            <a:r>
              <a:rPr lang="en-US" sz="3050" dirty="0">
                <a:solidFill>
                  <a:srgbClr val="FB0100"/>
                </a:solidFill>
                <a:latin typeface="Arial MT"/>
                <a:cs typeface="Arial MT"/>
              </a:rPr>
              <a:t>and</a:t>
            </a:r>
            <a:r>
              <a:rPr lang="en-US" sz="3050" spc="-15" dirty="0">
                <a:solidFill>
                  <a:srgbClr val="FB0100"/>
                </a:solidFill>
                <a:latin typeface="Arial MT"/>
                <a:cs typeface="Arial MT"/>
              </a:rPr>
              <a:t> </a:t>
            </a:r>
            <a:r>
              <a:rPr lang="en-US" sz="3050" dirty="0">
                <a:solidFill>
                  <a:srgbClr val="FB0300"/>
                </a:solidFill>
                <a:latin typeface="Arial MT"/>
                <a:cs typeface="Arial MT"/>
              </a:rPr>
              <a:t>define</a:t>
            </a:r>
            <a:r>
              <a:rPr lang="en-US" sz="3050" spc="114" dirty="0">
                <a:solidFill>
                  <a:srgbClr val="FB0300"/>
                </a:solidFill>
                <a:latin typeface="Arial MT"/>
                <a:cs typeface="Arial MT"/>
              </a:rPr>
              <a:t> </a:t>
            </a:r>
            <a:r>
              <a:rPr lang="en-US" sz="3050" spc="-25" dirty="0">
                <a:solidFill>
                  <a:srgbClr val="FD0300"/>
                </a:solidFill>
                <a:latin typeface="Arial MT"/>
                <a:cs typeface="Arial MT"/>
              </a:rPr>
              <a:t>or</a:t>
            </a:r>
            <a:r>
              <a:rPr lang="en-US" sz="3050" dirty="0">
                <a:solidFill>
                  <a:srgbClr val="FD0300"/>
                </a:solidFill>
                <a:latin typeface="Arial MT"/>
                <a:cs typeface="Arial MT"/>
              </a:rPr>
              <a:t>	</a:t>
            </a:r>
            <a:r>
              <a:rPr lang="en-US" sz="3050" dirty="0" err="1">
                <a:solidFill>
                  <a:srgbClr val="F40500"/>
                </a:solidFill>
                <a:latin typeface="Arial MT"/>
                <a:cs typeface="Arial MT"/>
              </a:rPr>
              <a:t>anizational</a:t>
            </a:r>
            <a:r>
              <a:rPr lang="en-US" sz="3050" spc="375" dirty="0">
                <a:solidFill>
                  <a:srgbClr val="F40500"/>
                </a:solidFill>
                <a:latin typeface="Arial MT"/>
                <a:cs typeface="Arial MT"/>
              </a:rPr>
              <a:t> </a:t>
            </a:r>
            <a:r>
              <a:rPr lang="en-US" sz="3050" spc="50" dirty="0">
                <a:solidFill>
                  <a:srgbClr val="FD0100"/>
                </a:solidFill>
                <a:latin typeface="Arial MT"/>
                <a:cs typeface="Arial MT"/>
              </a:rPr>
              <a:t>mission:</a:t>
            </a:r>
            <a:endParaRPr lang="en-US" sz="3050" dirty="0">
              <a:latin typeface="Arial MT"/>
              <a:cs typeface="Arial MT"/>
            </a:endParaRPr>
          </a:p>
          <a:p>
            <a:pPr marL="795020" lvl="1" indent="-292735">
              <a:lnSpc>
                <a:spcPct val="100000"/>
              </a:lnSpc>
              <a:spcBef>
                <a:spcPts val="935"/>
              </a:spcBef>
              <a:buClr>
                <a:srgbClr val="C10000"/>
              </a:buClr>
              <a:buChar char="•"/>
              <a:tabLst>
                <a:tab pos="795020" algn="l"/>
              </a:tabLst>
            </a:pPr>
            <a:r>
              <a:rPr lang="en-US" sz="2650" u="dbl" dirty="0">
                <a:solidFill>
                  <a:srgbClr val="C60005"/>
                </a:solidFill>
                <a:uFill>
                  <a:solidFill>
                    <a:srgbClr val="5B6423"/>
                  </a:solidFill>
                </a:uFill>
                <a:latin typeface="Arial MT"/>
                <a:cs typeface="Arial MT"/>
              </a:rPr>
              <a:t>Mission</a:t>
            </a:r>
            <a:r>
              <a:rPr lang="en-US" sz="2650" spc="150" dirty="0">
                <a:solidFill>
                  <a:srgbClr val="C60005"/>
                </a:solidFill>
                <a:latin typeface="Arial MT"/>
                <a:cs typeface="Arial MT"/>
              </a:rPr>
              <a:t> </a:t>
            </a:r>
            <a:r>
              <a:rPr lang="en-US" sz="2650" u="heavy" dirty="0">
                <a:solidFill>
                  <a:srgbClr val="03AE46"/>
                </a:solidFill>
                <a:uFill>
                  <a:solidFill>
                    <a:srgbClr val="5B6423"/>
                  </a:solidFill>
                </a:uFill>
                <a:latin typeface="Arial MT"/>
                <a:cs typeface="Arial MT"/>
              </a:rPr>
              <a:t>identifies</a:t>
            </a:r>
            <a:r>
              <a:rPr lang="en-US" sz="2650" spc="315" dirty="0">
                <a:solidFill>
                  <a:srgbClr val="03AE46"/>
                </a:solidFill>
                <a:latin typeface="Arial MT"/>
                <a:cs typeface="Arial MT"/>
              </a:rPr>
              <a:t> </a:t>
            </a:r>
            <a:r>
              <a:rPr lang="en-US" sz="2650" spc="70" dirty="0">
                <a:solidFill>
                  <a:srgbClr val="BC0008"/>
                </a:solidFill>
                <a:latin typeface="Arial MT"/>
                <a:cs typeface="Arial MT"/>
              </a:rPr>
              <a:t>“what</a:t>
            </a:r>
            <a:r>
              <a:rPr lang="en-US" sz="2650" spc="110" dirty="0">
                <a:solidFill>
                  <a:srgbClr val="BC0008"/>
                </a:solidFill>
                <a:latin typeface="Arial MT"/>
                <a:cs typeface="Arial MT"/>
              </a:rPr>
              <a:t> </a:t>
            </a:r>
            <a:r>
              <a:rPr lang="en-US" sz="2650" dirty="0">
                <a:solidFill>
                  <a:srgbClr val="C10000"/>
                </a:solidFill>
                <a:latin typeface="Arial MT"/>
                <a:cs typeface="Arial MT"/>
              </a:rPr>
              <a:t>we</a:t>
            </a:r>
            <a:r>
              <a:rPr lang="en-US" sz="2650" spc="30" dirty="0">
                <a:solidFill>
                  <a:srgbClr val="C10000"/>
                </a:solidFill>
                <a:latin typeface="Arial MT"/>
                <a:cs typeface="Arial MT"/>
              </a:rPr>
              <a:t> </a:t>
            </a:r>
            <a:r>
              <a:rPr lang="en-US" sz="2650" dirty="0">
                <a:solidFill>
                  <a:srgbClr val="BA0500"/>
                </a:solidFill>
                <a:latin typeface="Arial MT"/>
                <a:cs typeface="Arial MT"/>
              </a:rPr>
              <a:t>want</a:t>
            </a:r>
            <a:r>
              <a:rPr lang="en-US" sz="2650" spc="45" dirty="0">
                <a:solidFill>
                  <a:srgbClr val="BA0500"/>
                </a:solidFill>
                <a:latin typeface="Arial MT"/>
                <a:cs typeface="Arial MT"/>
              </a:rPr>
              <a:t> </a:t>
            </a:r>
            <a:r>
              <a:rPr lang="en-US" sz="2650" spc="114" dirty="0">
                <a:solidFill>
                  <a:srgbClr val="BD0005"/>
                </a:solidFill>
                <a:latin typeface="Arial MT"/>
                <a:cs typeface="Arial MT"/>
              </a:rPr>
              <a:t>to</a:t>
            </a:r>
            <a:r>
              <a:rPr lang="en-US" sz="2650" spc="-60" dirty="0">
                <a:solidFill>
                  <a:srgbClr val="BD0005"/>
                </a:solidFill>
                <a:latin typeface="Arial MT"/>
                <a:cs typeface="Arial MT"/>
              </a:rPr>
              <a:t> </a:t>
            </a:r>
            <a:r>
              <a:rPr lang="en-US" sz="2650" spc="-10" dirty="0">
                <a:solidFill>
                  <a:srgbClr val="C10008"/>
                </a:solidFill>
                <a:latin typeface="Arial MT"/>
                <a:cs typeface="Arial MT"/>
              </a:rPr>
              <a:t>become.”</a:t>
            </a:r>
            <a:endParaRPr lang="en-US" sz="2650" dirty="0">
              <a:latin typeface="Arial MT"/>
              <a:cs typeface="Arial MT"/>
            </a:endParaRPr>
          </a:p>
          <a:p>
            <a:pPr marL="796925" marR="5080" lvl="1" indent="-293370">
              <a:lnSpc>
                <a:spcPct val="100400"/>
              </a:lnSpc>
              <a:spcBef>
                <a:spcPts val="975"/>
              </a:spcBef>
              <a:buClr>
                <a:srgbClr val="C80001"/>
              </a:buClr>
              <a:buChar char="•"/>
              <a:tabLst>
                <a:tab pos="798830" algn="l"/>
              </a:tabLst>
            </a:pPr>
            <a:r>
              <a:rPr lang="en-US" sz="2500" spc="100" dirty="0">
                <a:solidFill>
                  <a:srgbClr val="BC0005"/>
                </a:solidFill>
                <a:latin typeface="Arial MT"/>
                <a:cs typeface="Arial MT"/>
              </a:rPr>
              <a:t>Mission</a:t>
            </a:r>
            <a:r>
              <a:rPr lang="en-US" sz="2500" spc="90" dirty="0">
                <a:solidFill>
                  <a:srgbClr val="BC0005"/>
                </a:solidFill>
                <a:latin typeface="Arial MT"/>
                <a:cs typeface="Arial MT"/>
              </a:rPr>
              <a:t> </a:t>
            </a:r>
            <a:r>
              <a:rPr lang="en-US" sz="2500" spc="55" dirty="0">
                <a:solidFill>
                  <a:srgbClr val="BC0100"/>
                </a:solidFill>
                <a:latin typeface="Arial MT"/>
                <a:cs typeface="Arial MT"/>
              </a:rPr>
              <a:t>statement</a:t>
            </a:r>
            <a:r>
              <a:rPr lang="en-US" sz="2500" spc="315" dirty="0">
                <a:solidFill>
                  <a:srgbClr val="BC0100"/>
                </a:solidFill>
                <a:latin typeface="Arial MT"/>
                <a:cs typeface="Arial MT"/>
              </a:rPr>
              <a:t> </a:t>
            </a:r>
            <a:r>
              <a:rPr lang="en-US" sz="2500" u="heavy" spc="85" dirty="0">
                <a:solidFill>
                  <a:srgbClr val="00B14D"/>
                </a:solidFill>
                <a:uFill>
                  <a:solidFill>
                    <a:srgbClr val="08A84F"/>
                  </a:solidFill>
                </a:uFill>
                <a:latin typeface="Arial MT"/>
                <a:cs typeface="Arial MT"/>
              </a:rPr>
              <a:t>identifies</a:t>
            </a:r>
            <a:r>
              <a:rPr lang="en-US" sz="2500" spc="200" dirty="0">
                <a:solidFill>
                  <a:srgbClr val="00B14D"/>
                </a:solidFill>
                <a:latin typeface="Arial MT"/>
                <a:cs typeface="Arial MT"/>
              </a:rPr>
              <a:t> </a:t>
            </a:r>
            <a:r>
              <a:rPr lang="en-US" sz="2500" spc="85" dirty="0">
                <a:solidFill>
                  <a:srgbClr val="B30501"/>
                </a:solidFill>
                <a:latin typeface="Arial MT"/>
                <a:cs typeface="Arial MT"/>
              </a:rPr>
              <a:t>scope</a:t>
            </a:r>
            <a:r>
              <a:rPr lang="en-US" sz="2500" spc="100" dirty="0">
                <a:solidFill>
                  <a:srgbClr val="B30501"/>
                </a:solidFill>
                <a:latin typeface="Arial MT"/>
                <a:cs typeface="Arial MT"/>
              </a:rPr>
              <a:t> </a:t>
            </a:r>
            <a:r>
              <a:rPr lang="en-US" sz="2500" dirty="0">
                <a:latin typeface="Arial MT"/>
                <a:cs typeface="Arial MT"/>
              </a:rPr>
              <a:t>of</a:t>
            </a:r>
            <a:r>
              <a:rPr lang="en-US" sz="2500" spc="75" dirty="0">
                <a:latin typeface="Arial MT"/>
                <a:cs typeface="Arial MT"/>
              </a:rPr>
              <a:t> </a:t>
            </a:r>
            <a:r>
              <a:rPr lang="en-US" sz="2500" spc="70" dirty="0">
                <a:solidFill>
                  <a:srgbClr val="0100CD"/>
                </a:solidFill>
                <a:latin typeface="Arial MT"/>
                <a:cs typeface="Arial MT"/>
              </a:rPr>
              <a:t>organization</a:t>
            </a:r>
            <a:r>
              <a:rPr lang="en-US" sz="2500" spc="260" dirty="0">
                <a:solidFill>
                  <a:srgbClr val="0100CD"/>
                </a:solidFill>
                <a:latin typeface="Arial MT"/>
                <a:cs typeface="Arial MT"/>
              </a:rPr>
              <a:t> </a:t>
            </a:r>
            <a:r>
              <a:rPr lang="en-US" sz="2500" u="heavy" spc="45" dirty="0">
                <a:solidFill>
                  <a:srgbClr val="00B352"/>
                </a:solidFill>
                <a:uFill>
                  <a:solidFill>
                    <a:srgbClr val="08A84F"/>
                  </a:solidFill>
                </a:uFill>
                <a:latin typeface="Arial MT"/>
                <a:cs typeface="Arial MT"/>
              </a:rPr>
              <a:t>in</a:t>
            </a:r>
            <a:r>
              <a:rPr lang="en-US" sz="2500" spc="45" dirty="0">
                <a:solidFill>
                  <a:srgbClr val="00B352"/>
                </a:solidFill>
                <a:latin typeface="Arial MT"/>
                <a:cs typeface="Arial MT"/>
              </a:rPr>
              <a:t> 	</a:t>
            </a:r>
            <a:r>
              <a:rPr lang="en-US" sz="2500" u="heavy" spc="75" dirty="0">
                <a:solidFill>
                  <a:srgbClr val="00AE52"/>
                </a:solidFill>
                <a:uFill>
                  <a:solidFill>
                    <a:srgbClr val="08A84F"/>
                  </a:solidFill>
                </a:uFill>
                <a:latin typeface="Arial MT"/>
                <a:cs typeface="Arial MT"/>
              </a:rPr>
              <a:t>terms</a:t>
            </a:r>
            <a:r>
              <a:rPr lang="en-US" sz="2500" u="heavy" spc="170" dirty="0">
                <a:solidFill>
                  <a:srgbClr val="00AE52"/>
                </a:solidFill>
                <a:uFill>
                  <a:solidFill>
                    <a:srgbClr val="08A84F"/>
                  </a:solidFill>
                </a:uFill>
                <a:latin typeface="Arial MT"/>
                <a:cs typeface="Arial MT"/>
              </a:rPr>
              <a:t> </a:t>
            </a:r>
            <a:r>
              <a:rPr lang="en-US" sz="2500" u="heavy" spc="90" dirty="0">
                <a:solidFill>
                  <a:srgbClr val="00AF52"/>
                </a:solidFill>
                <a:uFill>
                  <a:solidFill>
                    <a:srgbClr val="08A84F"/>
                  </a:solidFill>
                </a:uFill>
                <a:latin typeface="Arial MT"/>
                <a:cs typeface="Arial MT"/>
              </a:rPr>
              <a:t>of</a:t>
            </a:r>
            <a:r>
              <a:rPr lang="en-US" sz="2500" spc="45" dirty="0">
                <a:solidFill>
                  <a:srgbClr val="00AF52"/>
                </a:solidFill>
                <a:latin typeface="Arial MT"/>
                <a:cs typeface="Arial MT"/>
              </a:rPr>
              <a:t> </a:t>
            </a:r>
            <a:r>
              <a:rPr lang="en-US" sz="2500" dirty="0">
                <a:latin typeface="Arial MT"/>
                <a:cs typeface="Arial MT"/>
              </a:rPr>
              <a:t>its</a:t>
            </a:r>
            <a:r>
              <a:rPr lang="en-US" sz="2500" spc="25" dirty="0">
                <a:latin typeface="Arial MT"/>
                <a:cs typeface="Arial MT"/>
              </a:rPr>
              <a:t> </a:t>
            </a:r>
            <a:r>
              <a:rPr lang="en-US" sz="2500" spc="110" dirty="0">
                <a:solidFill>
                  <a:srgbClr val="0003C6"/>
                </a:solidFill>
                <a:latin typeface="Arial MT"/>
                <a:cs typeface="Arial MT"/>
              </a:rPr>
              <a:t>product</a:t>
            </a:r>
            <a:r>
              <a:rPr lang="en-US" sz="2500" spc="105" dirty="0">
                <a:solidFill>
                  <a:srgbClr val="0003C6"/>
                </a:solidFill>
                <a:latin typeface="Arial MT"/>
                <a:cs typeface="Arial MT"/>
              </a:rPr>
              <a:t> </a:t>
            </a:r>
            <a:r>
              <a:rPr lang="en-US" sz="2500" dirty="0">
                <a:latin typeface="Arial MT"/>
                <a:cs typeface="Arial MT"/>
              </a:rPr>
              <a:t>and</a:t>
            </a:r>
            <a:r>
              <a:rPr lang="en-US" sz="2500" spc="80" dirty="0">
                <a:latin typeface="Arial MT"/>
                <a:cs typeface="Arial MT"/>
              </a:rPr>
              <a:t> </a:t>
            </a:r>
            <a:r>
              <a:rPr lang="en-US" sz="2500" spc="45" dirty="0">
                <a:latin typeface="Arial MT"/>
                <a:cs typeface="Arial MT"/>
              </a:rPr>
              <a:t>service.</a:t>
            </a:r>
            <a:endParaRPr lang="en-US" sz="2500" dirty="0">
              <a:latin typeface="Arial MT"/>
              <a:cs typeface="Arial MT"/>
            </a:endParaRPr>
          </a:p>
          <a:p>
            <a:pPr marL="447675" indent="-422909">
              <a:lnSpc>
                <a:spcPct val="100000"/>
              </a:lnSpc>
              <a:spcBef>
                <a:spcPts val="1020"/>
              </a:spcBef>
              <a:buClr>
                <a:srgbClr val="FD0001"/>
              </a:buClr>
              <a:buAutoNum type="arabicPeriod"/>
              <a:tabLst>
                <a:tab pos="447675" algn="l"/>
                <a:tab pos="1454150" algn="l"/>
              </a:tabLst>
            </a:pPr>
            <a:r>
              <a:rPr lang="en-US" sz="2950" spc="60" dirty="0">
                <a:solidFill>
                  <a:srgbClr val="FD0100"/>
                </a:solidFill>
                <a:latin typeface="Arial MT"/>
                <a:cs typeface="Arial MT"/>
              </a:rPr>
              <a:t>Anal</a:t>
            </a:r>
            <a:r>
              <a:rPr lang="en-US" sz="2950" dirty="0">
                <a:solidFill>
                  <a:srgbClr val="FD0100"/>
                </a:solidFill>
                <a:latin typeface="Arial MT"/>
                <a:cs typeface="Arial MT"/>
              </a:rPr>
              <a:t>	</a:t>
            </a:r>
            <a:r>
              <a:rPr lang="en-US" sz="2950" dirty="0" err="1">
                <a:solidFill>
                  <a:srgbClr val="FD0100"/>
                </a:solidFill>
                <a:latin typeface="Arial MT"/>
                <a:cs typeface="Arial MT"/>
              </a:rPr>
              <a:t>ze</a:t>
            </a:r>
            <a:r>
              <a:rPr lang="en-US" sz="2950" spc="85" dirty="0">
                <a:solidFill>
                  <a:srgbClr val="FD0100"/>
                </a:solidFill>
                <a:latin typeface="Arial MT"/>
                <a:cs typeface="Arial MT"/>
              </a:rPr>
              <a:t> </a:t>
            </a:r>
            <a:r>
              <a:rPr lang="en-US" sz="2950" spc="75" dirty="0">
                <a:solidFill>
                  <a:srgbClr val="FB0300"/>
                </a:solidFill>
                <a:latin typeface="Arial MT"/>
                <a:cs typeface="Arial MT"/>
              </a:rPr>
              <a:t>and</a:t>
            </a:r>
            <a:r>
              <a:rPr lang="en-US" sz="2950" spc="25" dirty="0">
                <a:solidFill>
                  <a:srgbClr val="FB0300"/>
                </a:solidFill>
                <a:latin typeface="Arial MT"/>
                <a:cs typeface="Arial MT"/>
              </a:rPr>
              <a:t> </a:t>
            </a:r>
            <a:r>
              <a:rPr lang="en-US" sz="2950" spc="75" dirty="0">
                <a:solidFill>
                  <a:srgbClr val="FB0105"/>
                </a:solidFill>
                <a:latin typeface="Arial MT"/>
                <a:cs typeface="Arial MT"/>
              </a:rPr>
              <a:t>formulate</a:t>
            </a:r>
            <a:r>
              <a:rPr lang="en-US" sz="2950" spc="185" dirty="0">
                <a:solidFill>
                  <a:srgbClr val="FB0105"/>
                </a:solidFill>
                <a:latin typeface="Arial MT"/>
                <a:cs typeface="Arial MT"/>
              </a:rPr>
              <a:t> </a:t>
            </a:r>
            <a:r>
              <a:rPr lang="en-US" sz="2950" spc="55" dirty="0" err="1">
                <a:solidFill>
                  <a:srgbClr val="FD0003"/>
                </a:solidFill>
                <a:latin typeface="Arial MT"/>
                <a:cs typeface="Arial MT"/>
              </a:rPr>
              <a:t>strateoies</a:t>
            </a:r>
            <a:r>
              <a:rPr lang="en-US" sz="2950" spc="55" dirty="0">
                <a:solidFill>
                  <a:srgbClr val="FD0003"/>
                </a:solidFill>
                <a:latin typeface="Arial MT"/>
                <a:cs typeface="Arial MT"/>
              </a:rPr>
              <a:t>:</a:t>
            </a:r>
          </a:p>
          <a:p>
            <a:pPr marL="447675" marR="0" lvl="0" indent="-422909" algn="l" defTabSz="914400" rtl="0" eaLnBrk="1" fontAlgn="auto" latinLnBrk="0" hangingPunct="1">
              <a:lnSpc>
                <a:spcPct val="100000"/>
              </a:lnSpc>
              <a:spcBef>
                <a:spcPts val="1020"/>
              </a:spcBef>
              <a:spcAft>
                <a:spcPts val="0"/>
              </a:spcAft>
              <a:buClr>
                <a:srgbClr val="FD0001"/>
              </a:buClr>
              <a:buSzTx/>
              <a:buFontTx/>
              <a:buAutoNum type="arabicPeriod"/>
              <a:tabLst>
                <a:tab pos="447675" algn="l"/>
                <a:tab pos="1454150" algn="l"/>
              </a:tabLst>
              <a:defRPr/>
            </a:pPr>
            <a:r>
              <a:rPr lang="en-US" sz="3200" spc="80" dirty="0" err="1">
                <a:solidFill>
                  <a:srgbClr val="00AF49"/>
                </a:solidFill>
                <a:latin typeface="Calibri"/>
                <a:cs typeface="Calibri"/>
              </a:rPr>
              <a:t>Formulatin</a:t>
            </a:r>
            <a:r>
              <a:rPr lang="en-US" sz="3200" dirty="0">
                <a:solidFill>
                  <a:srgbClr val="00AF49"/>
                </a:solidFill>
                <a:latin typeface="Calibri"/>
                <a:cs typeface="Calibri"/>
              </a:rPr>
              <a:t>	</a:t>
            </a:r>
            <a:r>
              <a:rPr lang="en-US" sz="3200" spc="75" dirty="0" err="1">
                <a:solidFill>
                  <a:srgbClr val="BC0005"/>
                </a:solidFill>
                <a:latin typeface="Calibri"/>
                <a:cs typeface="Calibri"/>
              </a:rPr>
              <a:t>strate</a:t>
            </a:r>
            <a:r>
              <a:rPr lang="en-US" sz="3200" spc="75" dirty="0">
                <a:solidFill>
                  <a:srgbClr val="BC0005"/>
                </a:solidFill>
                <a:latin typeface="Calibri"/>
                <a:cs typeface="Calibri"/>
              </a:rPr>
              <a:t> </a:t>
            </a:r>
            <a:r>
              <a:rPr lang="en-US" sz="3200" u="heavy" spc="145" dirty="0">
                <a:solidFill>
                  <a:srgbClr val="00B154"/>
                </a:solidFill>
                <a:uFill>
                  <a:solidFill>
                    <a:srgbClr val="03AC48"/>
                  </a:solidFill>
                </a:uFill>
                <a:latin typeface="Calibri"/>
                <a:cs typeface="Calibri"/>
              </a:rPr>
              <a:t>answers</a:t>
            </a:r>
            <a:r>
              <a:rPr lang="en-US" sz="3200" spc="155" dirty="0">
                <a:solidFill>
                  <a:srgbClr val="00B154"/>
                </a:solidFill>
                <a:latin typeface="Calibri"/>
                <a:cs typeface="Calibri"/>
              </a:rPr>
              <a:t> </a:t>
            </a:r>
            <a:r>
              <a:rPr lang="en-US" sz="3200" spc="110" dirty="0">
                <a:solidFill>
                  <a:srgbClr val="0001CA"/>
                </a:solidFill>
                <a:latin typeface="Calibri"/>
                <a:cs typeface="Calibri"/>
              </a:rPr>
              <a:t>question</a:t>
            </a:r>
            <a:r>
              <a:rPr lang="en-US" sz="3200" spc="125" dirty="0">
                <a:solidFill>
                  <a:srgbClr val="0001CA"/>
                </a:solidFill>
                <a:latin typeface="Calibri"/>
                <a:cs typeface="Calibri"/>
              </a:rPr>
              <a:t> </a:t>
            </a:r>
            <a:r>
              <a:rPr lang="en-US" sz="3200" dirty="0">
                <a:latin typeface="Calibri"/>
                <a:cs typeface="Calibri"/>
              </a:rPr>
              <a:t>of</a:t>
            </a:r>
            <a:r>
              <a:rPr lang="en-US" sz="3200" spc="40" dirty="0">
                <a:latin typeface="Calibri"/>
                <a:cs typeface="Calibri"/>
              </a:rPr>
              <a:t> </a:t>
            </a:r>
            <a:r>
              <a:rPr lang="en-US" sz="3200" spc="75" dirty="0">
                <a:solidFill>
                  <a:srgbClr val="AF0505"/>
                </a:solidFill>
                <a:latin typeface="Calibri"/>
                <a:cs typeface="Calibri"/>
              </a:rPr>
              <a:t>“what </a:t>
            </a:r>
            <a:r>
              <a:rPr lang="en-US" sz="3200" u="heavy" spc="145" dirty="0">
                <a:solidFill>
                  <a:srgbClr val="00B154"/>
                </a:solidFill>
                <a:uFill>
                  <a:solidFill>
                    <a:srgbClr val="03AC48"/>
                  </a:solidFill>
                </a:uFill>
                <a:latin typeface="Calibri"/>
                <a:cs typeface="Calibri"/>
              </a:rPr>
              <a:t>answers</a:t>
            </a:r>
            <a:r>
              <a:rPr lang="en-US" sz="3200" spc="155" dirty="0">
                <a:solidFill>
                  <a:srgbClr val="00B154"/>
                </a:solidFill>
                <a:latin typeface="Calibri"/>
                <a:cs typeface="Calibri"/>
              </a:rPr>
              <a:t> </a:t>
            </a:r>
            <a:r>
              <a:rPr lang="en-US" sz="3200" spc="110" dirty="0">
                <a:solidFill>
                  <a:srgbClr val="0001CA"/>
                </a:solidFill>
                <a:latin typeface="Calibri"/>
                <a:cs typeface="Calibri"/>
              </a:rPr>
              <a:t>question</a:t>
            </a:r>
            <a:r>
              <a:rPr lang="en-US" sz="3200" spc="125" dirty="0">
                <a:solidFill>
                  <a:srgbClr val="0001CA"/>
                </a:solidFill>
                <a:latin typeface="Calibri"/>
                <a:cs typeface="Calibri"/>
              </a:rPr>
              <a:t> </a:t>
            </a:r>
            <a:r>
              <a:rPr lang="en-US" sz="3200" dirty="0">
                <a:latin typeface="Calibri"/>
                <a:cs typeface="Calibri"/>
              </a:rPr>
              <a:t>of</a:t>
            </a:r>
            <a:r>
              <a:rPr lang="en-US" sz="3200" spc="40" dirty="0">
                <a:latin typeface="Calibri"/>
                <a:cs typeface="Calibri"/>
              </a:rPr>
              <a:t> </a:t>
            </a:r>
            <a:r>
              <a:rPr lang="en-US" sz="3200" spc="75" dirty="0">
                <a:solidFill>
                  <a:srgbClr val="AF0505"/>
                </a:solidFill>
                <a:latin typeface="Calibri"/>
                <a:cs typeface="Calibri"/>
              </a:rPr>
              <a:t>“what</a:t>
            </a:r>
            <a:endParaRPr lang="en-US" sz="3200" dirty="0">
              <a:latin typeface="Calibri"/>
              <a:cs typeface="Calibri"/>
            </a:endParaRPr>
          </a:p>
          <a:p>
            <a:pPr marL="447675" marR="0" lvl="0" indent="-422909" algn="l" defTabSz="914400" rtl="0" eaLnBrk="1" fontAlgn="auto" latinLnBrk="0" hangingPunct="1">
              <a:lnSpc>
                <a:spcPct val="100000"/>
              </a:lnSpc>
              <a:spcBef>
                <a:spcPts val="1020"/>
              </a:spcBef>
              <a:spcAft>
                <a:spcPts val="0"/>
              </a:spcAft>
              <a:buClr>
                <a:srgbClr val="FD0001"/>
              </a:buClr>
              <a:buSzTx/>
              <a:buFontTx/>
              <a:buAutoNum type="arabicPeriod"/>
              <a:tabLst>
                <a:tab pos="447675" algn="l"/>
                <a:tab pos="1454150" algn="l"/>
              </a:tabLst>
              <a:defRPr/>
            </a:pPr>
            <a:endParaRPr lang="en-US" sz="3200" dirty="0">
              <a:latin typeface="Calibri"/>
              <a:cs typeface="Calibri"/>
            </a:endParaRPr>
          </a:p>
          <a:p>
            <a:pPr marL="431165" indent="-418465">
              <a:lnSpc>
                <a:spcPct val="100000"/>
              </a:lnSpc>
              <a:spcBef>
                <a:spcPts val="1285"/>
              </a:spcBef>
              <a:buClr>
                <a:srgbClr val="FD0001"/>
              </a:buClr>
              <a:buAutoNum type="arabicPeriod" startAt="3"/>
              <a:tabLst>
                <a:tab pos="431165" algn="l"/>
                <a:tab pos="1119505" algn="l"/>
                <a:tab pos="2215515" algn="l"/>
                <a:tab pos="2520950" algn="l"/>
                <a:tab pos="3169920" algn="l"/>
                <a:tab pos="3918585" algn="l"/>
                <a:tab pos="4657725" algn="l"/>
                <a:tab pos="5452110" algn="l"/>
                <a:tab pos="6217920" algn="l"/>
              </a:tabLst>
            </a:pPr>
            <a:r>
              <a:rPr lang="en-US" sz="3300" spc="-25" dirty="0">
                <a:solidFill>
                  <a:srgbClr val="F90300"/>
                </a:solidFill>
                <a:latin typeface="Arial MT"/>
                <a:cs typeface="Arial MT"/>
              </a:rPr>
              <a:t>Se</a:t>
            </a:r>
            <a:r>
              <a:rPr lang="en-US" sz="3300" dirty="0">
                <a:solidFill>
                  <a:srgbClr val="F90300"/>
                </a:solidFill>
                <a:latin typeface="Arial MT"/>
                <a:cs typeface="Arial MT"/>
              </a:rPr>
              <a:t>	</a:t>
            </a:r>
            <a:r>
              <a:rPr lang="en-US" sz="3300" spc="-45" dirty="0" err="1">
                <a:solidFill>
                  <a:srgbClr val="F40501"/>
                </a:solidFill>
                <a:latin typeface="Arial MT"/>
                <a:cs typeface="Arial MT"/>
              </a:rPr>
              <a:t>ob</a:t>
            </a:r>
            <a:r>
              <a:rPr lang="en-US" sz="3300" spc="-195" dirty="0">
                <a:solidFill>
                  <a:srgbClr val="F40501"/>
                </a:solidFill>
                <a:latin typeface="Arial MT"/>
                <a:cs typeface="Arial MT"/>
              </a:rPr>
              <a:t> </a:t>
            </a:r>
            <a:r>
              <a:rPr lang="en-US" sz="3300" spc="-50" dirty="0">
                <a:solidFill>
                  <a:srgbClr val="FD0003"/>
                </a:solidFill>
                <a:latin typeface="Arial MT"/>
                <a:cs typeface="Arial MT"/>
              </a:rPr>
              <a:t>e</a:t>
            </a:r>
            <a:r>
              <a:rPr lang="en-US" sz="3300" dirty="0">
                <a:solidFill>
                  <a:srgbClr val="FD0003"/>
                </a:solidFill>
                <a:latin typeface="Arial MT"/>
                <a:cs typeface="Arial MT"/>
              </a:rPr>
              <a:t>	</a:t>
            </a:r>
            <a:r>
              <a:rPr lang="en-US" sz="3300" spc="-50" dirty="0" err="1">
                <a:solidFill>
                  <a:srgbClr val="F9000C"/>
                </a:solidFill>
                <a:latin typeface="Arial MT"/>
                <a:cs typeface="Arial MT"/>
              </a:rPr>
              <a:t>i</a:t>
            </a:r>
            <a:r>
              <a:rPr lang="en-US" sz="3300" dirty="0">
                <a:solidFill>
                  <a:srgbClr val="F9000C"/>
                </a:solidFill>
                <a:latin typeface="Arial MT"/>
                <a:cs typeface="Arial MT"/>
              </a:rPr>
              <a:t>	</a:t>
            </a:r>
            <a:r>
              <a:rPr lang="en-US" sz="3300" spc="-25" dirty="0">
                <a:solidFill>
                  <a:srgbClr val="F20000"/>
                </a:solidFill>
                <a:latin typeface="Arial MT"/>
                <a:cs typeface="Arial MT"/>
              </a:rPr>
              <a:t>es</a:t>
            </a:r>
            <a:r>
              <a:rPr lang="en-US" sz="3300" dirty="0">
                <a:solidFill>
                  <a:srgbClr val="F20000"/>
                </a:solidFill>
                <a:latin typeface="Arial MT"/>
                <a:cs typeface="Arial MT"/>
              </a:rPr>
              <a:t>	</a:t>
            </a:r>
            <a:r>
              <a:rPr lang="en-US" sz="3300" dirty="0">
                <a:solidFill>
                  <a:srgbClr val="F60500"/>
                </a:solidFill>
                <a:latin typeface="Arial MT"/>
                <a:cs typeface="Arial MT"/>
              </a:rPr>
              <a:t>o</a:t>
            </a:r>
            <a:r>
              <a:rPr lang="en-US" sz="3300" spc="-140" dirty="0">
                <a:solidFill>
                  <a:srgbClr val="F60500"/>
                </a:solidFill>
                <a:latin typeface="Arial MT"/>
                <a:cs typeface="Arial MT"/>
              </a:rPr>
              <a:t> </a:t>
            </a:r>
            <a:r>
              <a:rPr lang="en-US" sz="3300" spc="-50" dirty="0">
                <a:solidFill>
                  <a:srgbClr val="FB0300"/>
                </a:solidFill>
                <a:latin typeface="Arial MT"/>
                <a:cs typeface="Arial MT"/>
              </a:rPr>
              <a:t>a</a:t>
            </a:r>
            <a:r>
              <a:rPr lang="en-US" sz="3300" dirty="0">
                <a:solidFill>
                  <a:srgbClr val="FB0300"/>
                </a:solidFill>
                <a:latin typeface="Arial MT"/>
                <a:cs typeface="Arial MT"/>
              </a:rPr>
              <a:t>	</a:t>
            </a:r>
            <a:r>
              <a:rPr lang="en-US" sz="3300" spc="-25" dirty="0">
                <a:solidFill>
                  <a:srgbClr val="FB0300"/>
                </a:solidFill>
                <a:latin typeface="Arial MT"/>
                <a:cs typeface="Arial MT"/>
              </a:rPr>
              <a:t>hie</a:t>
            </a:r>
            <a:r>
              <a:rPr lang="en-US" sz="3300" dirty="0">
                <a:solidFill>
                  <a:srgbClr val="FB0300"/>
                </a:solidFill>
                <a:latin typeface="Arial MT"/>
                <a:cs typeface="Arial MT"/>
              </a:rPr>
              <a:t>	</a:t>
            </a:r>
            <a:r>
              <a:rPr lang="en-US" sz="3300" spc="-135" dirty="0">
                <a:solidFill>
                  <a:srgbClr val="F20501"/>
                </a:solidFill>
                <a:latin typeface="Arial MT"/>
                <a:cs typeface="Arial MT"/>
              </a:rPr>
              <a:t>e</a:t>
            </a:r>
            <a:r>
              <a:rPr lang="en-US" sz="3300" spc="-150" dirty="0">
                <a:solidFill>
                  <a:srgbClr val="F20501"/>
                </a:solidFill>
                <a:latin typeface="Arial MT"/>
                <a:cs typeface="Arial MT"/>
              </a:rPr>
              <a:t> </a:t>
            </a:r>
            <a:r>
              <a:rPr lang="en-US" sz="3300" spc="-50" dirty="0">
                <a:solidFill>
                  <a:srgbClr val="F60305"/>
                </a:solidFill>
                <a:latin typeface="Arial MT"/>
                <a:cs typeface="Arial MT"/>
              </a:rPr>
              <a:t>s</a:t>
            </a:r>
            <a:r>
              <a:rPr lang="en-US" sz="3300" dirty="0">
                <a:solidFill>
                  <a:srgbClr val="F60305"/>
                </a:solidFill>
                <a:latin typeface="Arial MT"/>
                <a:cs typeface="Arial MT"/>
              </a:rPr>
              <a:t>	</a:t>
            </a:r>
            <a:r>
              <a:rPr lang="en-US" sz="3300" dirty="0">
                <a:solidFill>
                  <a:srgbClr val="F70103"/>
                </a:solidFill>
                <a:latin typeface="Arial MT"/>
                <a:cs typeface="Arial MT"/>
              </a:rPr>
              <a:t>a</a:t>
            </a:r>
            <a:r>
              <a:rPr lang="en-US" sz="3300" spc="-185" dirty="0">
                <a:solidFill>
                  <a:srgbClr val="F70103"/>
                </a:solidFill>
                <a:latin typeface="Arial MT"/>
                <a:cs typeface="Arial MT"/>
              </a:rPr>
              <a:t> </a:t>
            </a:r>
            <a:r>
              <a:rPr lang="en-US" sz="3300" spc="-50" dirty="0">
                <a:solidFill>
                  <a:srgbClr val="F60301"/>
                </a:solidFill>
                <a:latin typeface="Arial MT"/>
                <a:cs typeface="Arial MT"/>
              </a:rPr>
              <a:t>e</a:t>
            </a:r>
            <a:r>
              <a:rPr lang="en-US" sz="3300" dirty="0">
                <a:solidFill>
                  <a:srgbClr val="F60301"/>
                </a:solidFill>
                <a:latin typeface="Arial MT"/>
                <a:cs typeface="Arial MT"/>
              </a:rPr>
              <a:t>	</a:t>
            </a:r>
            <a:r>
              <a:rPr lang="en-US" sz="3300" spc="-25" dirty="0" err="1">
                <a:solidFill>
                  <a:srgbClr val="F70108"/>
                </a:solidFill>
                <a:latin typeface="Arial MT"/>
                <a:cs typeface="Arial MT"/>
              </a:rPr>
              <a:t>ies</a:t>
            </a:r>
            <a:endParaRPr lang="en-US" sz="3300" dirty="0">
              <a:latin typeface="Arial MT"/>
              <a:cs typeface="Arial MT"/>
            </a:endParaRPr>
          </a:p>
          <a:p>
            <a:pPr marL="785495" lvl="1" indent="-292100">
              <a:lnSpc>
                <a:spcPts val="3135"/>
              </a:lnSpc>
              <a:spcBef>
                <a:spcPts val="985"/>
              </a:spcBef>
              <a:buClr>
                <a:srgbClr val="BF0000"/>
              </a:buClr>
              <a:buChar char="•"/>
              <a:tabLst>
                <a:tab pos="785495" algn="l"/>
              </a:tabLst>
            </a:pPr>
            <a:r>
              <a:rPr lang="en-US" sz="2650" dirty="0">
                <a:solidFill>
                  <a:srgbClr val="BF0100"/>
                </a:solidFill>
                <a:latin typeface="Arial MT"/>
                <a:cs typeface="Arial MT"/>
              </a:rPr>
              <a:t>Objectives</a:t>
            </a:r>
            <a:r>
              <a:rPr lang="en-US" sz="2650" spc="190" dirty="0">
                <a:solidFill>
                  <a:srgbClr val="BF0100"/>
                </a:solidFill>
                <a:latin typeface="Arial MT"/>
                <a:cs typeface="Arial MT"/>
              </a:rPr>
              <a:t> </a:t>
            </a:r>
            <a:r>
              <a:rPr lang="en-US" sz="2650" u="heavy" dirty="0">
                <a:solidFill>
                  <a:srgbClr val="00B14F"/>
                </a:solidFill>
                <a:uFill>
                  <a:solidFill>
                    <a:srgbClr val="08A84F"/>
                  </a:solidFill>
                </a:uFill>
                <a:latin typeface="Arial MT"/>
                <a:cs typeface="Arial MT"/>
              </a:rPr>
              <a:t>translate</a:t>
            </a:r>
            <a:r>
              <a:rPr lang="en-US" sz="2650" spc="170" dirty="0">
                <a:solidFill>
                  <a:srgbClr val="00B14F"/>
                </a:solidFill>
                <a:latin typeface="Arial MT"/>
                <a:cs typeface="Arial MT"/>
              </a:rPr>
              <a:t> </a:t>
            </a:r>
            <a:r>
              <a:rPr lang="en-US" sz="2650" spc="-70" dirty="0">
                <a:latin typeface="Arial MT"/>
                <a:cs typeface="Arial MT"/>
              </a:rPr>
              <a:t>organization</a:t>
            </a:r>
            <a:r>
              <a:rPr lang="en-US" sz="2650" spc="250" dirty="0">
                <a:latin typeface="Arial MT"/>
                <a:cs typeface="Arial MT"/>
              </a:rPr>
              <a:t> </a:t>
            </a:r>
            <a:r>
              <a:rPr lang="en-US" sz="2650" dirty="0">
                <a:solidFill>
                  <a:srgbClr val="C30000"/>
                </a:solidFill>
                <a:latin typeface="Arial MT"/>
                <a:cs typeface="Arial MT"/>
              </a:rPr>
              <a:t>strateg</a:t>
            </a:r>
            <a:r>
              <a:rPr lang="en-US" sz="3975" baseline="2096" dirty="0">
                <a:solidFill>
                  <a:srgbClr val="C30000"/>
                </a:solidFill>
                <a:latin typeface="Arial MT"/>
                <a:cs typeface="Arial MT"/>
              </a:rPr>
              <a:t>y</a:t>
            </a:r>
            <a:r>
              <a:rPr lang="en-US" sz="3975" spc="67" baseline="2096" dirty="0">
                <a:solidFill>
                  <a:srgbClr val="C30000"/>
                </a:solidFill>
                <a:latin typeface="Arial MT"/>
                <a:cs typeface="Arial MT"/>
              </a:rPr>
              <a:t> </a:t>
            </a:r>
            <a:r>
              <a:rPr lang="en-US" sz="2650" u="heavy" spc="70" dirty="0">
                <a:solidFill>
                  <a:srgbClr val="08AA4D"/>
                </a:solidFill>
                <a:uFill>
                  <a:solidFill>
                    <a:srgbClr val="08A84F"/>
                  </a:solidFill>
                </a:uFill>
                <a:latin typeface="Arial MT"/>
                <a:cs typeface="Arial MT"/>
              </a:rPr>
              <a:t>into</a:t>
            </a:r>
            <a:r>
              <a:rPr lang="en-US" sz="2650" spc="-45" dirty="0">
                <a:solidFill>
                  <a:srgbClr val="08AA4D"/>
                </a:solidFill>
                <a:latin typeface="Arial MT"/>
                <a:cs typeface="Arial MT"/>
              </a:rPr>
              <a:t> </a:t>
            </a:r>
            <a:r>
              <a:rPr lang="en-US" sz="2650" spc="-10" dirty="0">
                <a:solidFill>
                  <a:srgbClr val="0000CA"/>
                </a:solidFill>
                <a:latin typeface="Arial MT"/>
                <a:cs typeface="Arial MT"/>
              </a:rPr>
              <a:t>specific,</a:t>
            </a:r>
            <a:endParaRPr lang="en-US" sz="2650" dirty="0">
              <a:latin typeface="Arial MT"/>
              <a:cs typeface="Arial MT"/>
            </a:endParaRPr>
          </a:p>
          <a:p>
            <a:pPr marL="789305">
              <a:lnSpc>
                <a:spcPts val="3015"/>
              </a:lnSpc>
            </a:pPr>
            <a:r>
              <a:rPr lang="en-US" sz="2550" spc="50" dirty="0">
                <a:solidFill>
                  <a:srgbClr val="0100D1"/>
                </a:solidFill>
                <a:latin typeface="Arial MT"/>
                <a:cs typeface="Arial MT"/>
              </a:rPr>
              <a:t>concrete,</a:t>
            </a:r>
            <a:r>
              <a:rPr lang="en-US" sz="2550" spc="200" dirty="0">
                <a:solidFill>
                  <a:srgbClr val="0100D1"/>
                </a:solidFill>
                <a:latin typeface="Arial MT"/>
                <a:cs typeface="Arial MT"/>
              </a:rPr>
              <a:t> </a:t>
            </a:r>
            <a:r>
              <a:rPr lang="en-US" sz="2550" dirty="0">
                <a:solidFill>
                  <a:srgbClr val="0100C8"/>
                </a:solidFill>
                <a:latin typeface="Arial MT"/>
                <a:cs typeface="Arial MT"/>
              </a:rPr>
              <a:t>measurable</a:t>
            </a:r>
            <a:r>
              <a:rPr lang="en-US" sz="2550" spc="415" dirty="0">
                <a:solidFill>
                  <a:srgbClr val="0100C8"/>
                </a:solidFill>
                <a:latin typeface="Arial MT"/>
                <a:cs typeface="Arial MT"/>
              </a:rPr>
              <a:t> </a:t>
            </a:r>
            <a:r>
              <a:rPr lang="en-US" sz="2550" spc="40" dirty="0">
                <a:solidFill>
                  <a:srgbClr val="0000C1"/>
                </a:solidFill>
                <a:latin typeface="Arial MT"/>
                <a:cs typeface="Arial MT"/>
              </a:rPr>
              <a:t>terms.</a:t>
            </a:r>
            <a:endParaRPr lang="en-US" sz="2550" dirty="0">
              <a:latin typeface="Arial MT"/>
              <a:cs typeface="Arial MT"/>
            </a:endParaRPr>
          </a:p>
          <a:p>
            <a:pPr marL="779780" indent="-292100">
              <a:lnSpc>
                <a:spcPts val="3040"/>
              </a:lnSpc>
              <a:spcBef>
                <a:spcPts val="135"/>
              </a:spcBef>
              <a:buClr>
                <a:srgbClr val="BF0000"/>
              </a:buClr>
              <a:buChar char="•"/>
              <a:tabLst>
                <a:tab pos="779780" algn="l"/>
                <a:tab pos="5273675" algn="l"/>
                <a:tab pos="6496050" algn="l"/>
              </a:tabLst>
            </a:pPr>
            <a:r>
              <a:rPr lang="en-US" sz="3200" u="dbl" dirty="0">
                <a:solidFill>
                  <a:srgbClr val="B50301"/>
                </a:solidFill>
                <a:uFill>
                  <a:solidFill>
                    <a:srgbClr val="744F1C"/>
                  </a:solidFill>
                </a:uFill>
                <a:latin typeface="Arial MT"/>
                <a:cs typeface="Arial MT"/>
              </a:rPr>
              <a:t>Objectives</a:t>
            </a:r>
            <a:r>
              <a:rPr lang="en-US" sz="3200" spc="155" dirty="0">
                <a:solidFill>
                  <a:srgbClr val="B50301"/>
                </a:solidFill>
                <a:latin typeface="Arial MT"/>
                <a:cs typeface="Arial MT"/>
              </a:rPr>
              <a:t> </a:t>
            </a:r>
            <a:r>
              <a:rPr lang="en-US" sz="3200" u="heavy" dirty="0">
                <a:solidFill>
                  <a:srgbClr val="00AF4D"/>
                </a:solidFill>
                <a:uFill>
                  <a:solidFill>
                    <a:srgbClr val="744F1C"/>
                  </a:solidFill>
                </a:uFill>
                <a:latin typeface="Arial MT"/>
                <a:cs typeface="Arial MT"/>
              </a:rPr>
              <a:t>answer</a:t>
            </a:r>
            <a:r>
              <a:rPr lang="en-US" sz="3200" spc="310" dirty="0">
                <a:solidFill>
                  <a:srgbClr val="00AF4D"/>
                </a:solidFill>
                <a:latin typeface="Arial MT"/>
                <a:cs typeface="Arial MT"/>
              </a:rPr>
              <a:t> </a:t>
            </a:r>
            <a:r>
              <a:rPr lang="en-US" sz="3200" dirty="0">
                <a:latin typeface="Arial MT"/>
                <a:cs typeface="Arial MT"/>
              </a:rPr>
              <a:t>in</a:t>
            </a:r>
            <a:r>
              <a:rPr lang="en-US" sz="3200" spc="140" dirty="0">
                <a:latin typeface="Arial MT"/>
                <a:cs typeface="Arial MT"/>
              </a:rPr>
              <a:t> </a:t>
            </a:r>
            <a:r>
              <a:rPr lang="en-US" sz="3200" spc="-10" dirty="0">
                <a:latin typeface="Arial MT"/>
                <a:cs typeface="Arial MT"/>
              </a:rPr>
              <a:t>detail</a:t>
            </a:r>
            <a:r>
              <a:rPr lang="en-US" sz="3200" dirty="0">
                <a:latin typeface="Arial MT"/>
                <a:cs typeface="Arial MT"/>
              </a:rPr>
              <a:t>	</a:t>
            </a:r>
            <a:r>
              <a:rPr lang="en-US" sz="3200" spc="-50" dirty="0">
                <a:solidFill>
                  <a:srgbClr val="BD0003"/>
                </a:solidFill>
                <a:latin typeface="Arial MT"/>
                <a:cs typeface="Arial MT"/>
              </a:rPr>
              <a:t>h</a:t>
            </a:r>
            <a:r>
              <a:rPr lang="en-US" sz="3200" dirty="0">
                <a:solidFill>
                  <a:srgbClr val="BD0003"/>
                </a:solidFill>
                <a:latin typeface="Arial MT"/>
                <a:cs typeface="Arial MT"/>
              </a:rPr>
              <a:t>	</a:t>
            </a:r>
            <a:r>
              <a:rPr lang="en-US" sz="3200" spc="-50" dirty="0">
                <a:solidFill>
                  <a:srgbClr val="CA0008"/>
                </a:solidFill>
                <a:latin typeface="Arial MT"/>
                <a:cs typeface="Arial MT"/>
              </a:rPr>
              <a:t>o</a:t>
            </a:r>
            <a:endParaRPr lang="en-US" sz="3200" dirty="0">
              <a:latin typeface="Arial MT"/>
              <a:cs typeface="Arial MT"/>
            </a:endParaRPr>
          </a:p>
          <a:p>
            <a:pPr marL="782320">
              <a:lnSpc>
                <a:spcPts val="3160"/>
              </a:lnSpc>
              <a:tabLst>
                <a:tab pos="3585845" algn="l"/>
              </a:tabLst>
            </a:pPr>
            <a:r>
              <a:rPr lang="en-US" sz="3200" dirty="0">
                <a:solidFill>
                  <a:srgbClr val="B30000"/>
                </a:solidFill>
                <a:latin typeface="Arial MT"/>
                <a:cs typeface="Arial MT"/>
              </a:rPr>
              <a:t>headed"</a:t>
            </a:r>
            <a:r>
              <a:rPr lang="en-US" sz="3200" spc="-20" dirty="0">
                <a:solidFill>
                  <a:srgbClr val="B30000"/>
                </a:solidFill>
                <a:latin typeface="Arial MT"/>
                <a:cs typeface="Arial MT"/>
              </a:rPr>
              <a:t> </a:t>
            </a:r>
            <a:r>
              <a:rPr lang="en-US" sz="3200" u="heavy" spc="-35" dirty="0">
                <a:solidFill>
                  <a:srgbClr val="00B15B"/>
                </a:solidFill>
                <a:uFill>
                  <a:solidFill>
                    <a:srgbClr val="08AC3F"/>
                  </a:solidFill>
                </a:uFill>
                <a:latin typeface="Arial MT"/>
                <a:cs typeface="Arial MT"/>
              </a:rPr>
              <a:t>and</a:t>
            </a:r>
            <a:r>
              <a:rPr lang="en-US" sz="3200" spc="-150" dirty="0">
                <a:solidFill>
                  <a:srgbClr val="00B15B"/>
                </a:solidFill>
                <a:latin typeface="Arial MT"/>
                <a:cs typeface="Arial MT"/>
              </a:rPr>
              <a:t> </a:t>
            </a:r>
            <a:r>
              <a:rPr lang="en-US" sz="3200" spc="-25" dirty="0" err="1">
                <a:solidFill>
                  <a:srgbClr val="BC0005"/>
                </a:solidFill>
                <a:latin typeface="Arial MT"/>
                <a:cs typeface="Arial MT"/>
              </a:rPr>
              <a:t>Uh</a:t>
            </a:r>
            <a:r>
              <a:rPr lang="en-US" sz="3200" spc="-25" dirty="0" err="1">
                <a:solidFill>
                  <a:srgbClr val="C10005"/>
                </a:solidFill>
                <a:latin typeface="Arial MT"/>
                <a:cs typeface="Arial MT"/>
              </a:rPr>
              <a:t>h</a:t>
            </a:r>
            <a:r>
              <a:rPr lang="en-US" sz="3200" dirty="0">
                <a:solidFill>
                  <a:srgbClr val="C10005"/>
                </a:solidFill>
                <a:latin typeface="Arial MT"/>
                <a:cs typeface="Arial MT"/>
              </a:rPr>
              <a:t>	</a:t>
            </a:r>
            <a:r>
              <a:rPr lang="en-US" sz="3200" spc="-50" dirty="0">
                <a:solidFill>
                  <a:srgbClr val="BF0303"/>
                </a:solidFill>
                <a:latin typeface="Arial MT"/>
                <a:cs typeface="Arial MT"/>
              </a:rPr>
              <a:t>n</a:t>
            </a:r>
            <a:endParaRPr lang="en-US" sz="3200" dirty="0">
              <a:latin typeface="Arial MT"/>
              <a:cs typeface="Arial MT"/>
            </a:endParaRPr>
          </a:p>
          <a:p>
            <a:pPr marL="447675" marR="0" lvl="0" indent="-422909" algn="l" defTabSz="914400" rtl="0" eaLnBrk="1" fontAlgn="auto" latinLnBrk="0" hangingPunct="1">
              <a:lnSpc>
                <a:spcPct val="100000"/>
              </a:lnSpc>
              <a:spcBef>
                <a:spcPts val="1020"/>
              </a:spcBef>
              <a:spcAft>
                <a:spcPts val="0"/>
              </a:spcAft>
              <a:buClr>
                <a:srgbClr val="FD0001"/>
              </a:buClr>
              <a:buSzTx/>
              <a:buFontTx/>
              <a:buAutoNum type="arabicPeriod"/>
              <a:tabLst>
                <a:tab pos="447675" algn="l"/>
                <a:tab pos="1454150" algn="l"/>
              </a:tabLst>
              <a:defRPr/>
            </a:pPr>
            <a:endParaRPr lang="en-US" sz="3200" dirty="0">
              <a:latin typeface="Calibri"/>
              <a:cs typeface="Calibri"/>
            </a:endParaRPr>
          </a:p>
          <a:p>
            <a:pPr marL="447675" marR="0" lvl="0" indent="-422909" algn="l" defTabSz="914400" rtl="0" eaLnBrk="1" fontAlgn="auto" latinLnBrk="0" hangingPunct="1">
              <a:lnSpc>
                <a:spcPct val="100000"/>
              </a:lnSpc>
              <a:spcBef>
                <a:spcPts val="1020"/>
              </a:spcBef>
              <a:spcAft>
                <a:spcPts val="0"/>
              </a:spcAft>
              <a:buClr>
                <a:srgbClr val="FD0001"/>
              </a:buClr>
              <a:buSzTx/>
              <a:buFontTx/>
              <a:buAutoNum type="arabicPeriod"/>
              <a:tabLst>
                <a:tab pos="447675" algn="l"/>
                <a:tab pos="1454150" algn="l"/>
              </a:tabLst>
              <a:defRPr/>
            </a:pPr>
            <a:endParaRPr lang="en-US" sz="3200" dirty="0">
              <a:latin typeface="Calibri"/>
              <a:cs typeface="Calibri"/>
            </a:endParaRPr>
          </a:p>
          <a:p>
            <a:pPr marL="447675" indent="-422909">
              <a:lnSpc>
                <a:spcPct val="100000"/>
              </a:lnSpc>
              <a:spcBef>
                <a:spcPts val="1020"/>
              </a:spcBef>
              <a:buClr>
                <a:srgbClr val="FD0001"/>
              </a:buClr>
              <a:buAutoNum type="arabicPeriod"/>
              <a:tabLst>
                <a:tab pos="447675" algn="l"/>
                <a:tab pos="1454150" algn="l"/>
              </a:tabLst>
            </a:pPr>
            <a:endParaRPr lang="en-US" sz="2950" dirty="0">
              <a:latin typeface="Arial MT"/>
              <a:cs typeface="Arial MT"/>
            </a:endParaRPr>
          </a:p>
          <a:p>
            <a:pPr marL="318135" marR="5080" indent="-306070">
              <a:lnSpc>
                <a:spcPct val="100400"/>
              </a:lnSpc>
              <a:spcBef>
                <a:spcPts val="1255"/>
              </a:spcBef>
              <a:buChar char="•"/>
              <a:tabLst>
                <a:tab pos="320675" algn="l"/>
              </a:tabLst>
            </a:pPr>
            <a:endParaRPr lang="en-US" sz="1200" dirty="0">
              <a:latin typeface="Arial MT"/>
              <a:cs typeface="Arial MT"/>
            </a:endParaRPr>
          </a:p>
          <a:p>
            <a:pPr marL="318135" marR="5080" indent="-306070">
              <a:lnSpc>
                <a:spcPct val="100400"/>
              </a:lnSpc>
              <a:spcBef>
                <a:spcPts val="1255"/>
              </a:spcBef>
              <a:buChar char="•"/>
              <a:tabLst>
                <a:tab pos="320675" algn="l"/>
              </a:tabLst>
            </a:pPr>
            <a:endParaRPr lang="en-US" sz="1200" dirty="0">
              <a:latin typeface="Arial MT"/>
              <a:cs typeface="Arial MT"/>
            </a:endParaRPr>
          </a:p>
          <a:p>
            <a:pPr marL="318135" marR="5080" indent="-306070">
              <a:lnSpc>
                <a:spcPct val="100400"/>
              </a:lnSpc>
              <a:spcBef>
                <a:spcPts val="1255"/>
              </a:spcBef>
              <a:buChar char="•"/>
              <a:tabLst>
                <a:tab pos="320675" algn="l"/>
              </a:tabLst>
            </a:pPr>
            <a:r>
              <a:rPr lang="en-US" sz="1200" dirty="0">
                <a:latin typeface="Arial MT"/>
                <a:cs typeface="Arial MT"/>
              </a:rPr>
              <a:t>It is</a:t>
            </a:r>
            <a:r>
              <a:rPr lang="en-US" sz="1200" spc="10" dirty="0">
                <a:latin typeface="Arial MT"/>
                <a:cs typeface="Arial MT"/>
              </a:rPr>
              <a:t> </a:t>
            </a:r>
            <a:r>
              <a:rPr lang="en-US" sz="1200" dirty="0">
                <a:latin typeface="Arial MT"/>
                <a:cs typeface="Arial MT"/>
              </a:rPr>
              <a:t>a</a:t>
            </a:r>
            <a:r>
              <a:rPr lang="en-US" sz="1200" spc="35" dirty="0">
                <a:latin typeface="Arial MT"/>
                <a:cs typeface="Arial MT"/>
              </a:rPr>
              <a:t> </a:t>
            </a:r>
            <a:r>
              <a:rPr lang="en-US" sz="1200" spc="100" dirty="0">
                <a:latin typeface="Arial MT"/>
                <a:cs typeface="Arial MT"/>
              </a:rPr>
              <a:t>continuous,</a:t>
            </a:r>
            <a:r>
              <a:rPr lang="en-US" sz="1200" spc="165" dirty="0">
                <a:latin typeface="Arial MT"/>
                <a:cs typeface="Arial MT"/>
              </a:rPr>
              <a:t> </a:t>
            </a:r>
            <a:r>
              <a:rPr lang="en-US" sz="1200" spc="70" dirty="0">
                <a:solidFill>
                  <a:srgbClr val="0000D4"/>
                </a:solidFill>
                <a:latin typeface="Arial MT"/>
                <a:cs typeface="Arial MT"/>
              </a:rPr>
              <a:t>iterative</a:t>
            </a:r>
            <a:r>
              <a:rPr lang="en-US" sz="1200" spc="110" dirty="0">
                <a:solidFill>
                  <a:srgbClr val="0000D4"/>
                </a:solidFill>
                <a:latin typeface="Arial MT"/>
                <a:cs typeface="Arial MT"/>
              </a:rPr>
              <a:t> </a:t>
            </a:r>
            <a:r>
              <a:rPr lang="en-US" sz="1200" spc="85" dirty="0">
                <a:solidFill>
                  <a:srgbClr val="0001D1"/>
                </a:solidFill>
                <a:latin typeface="Arial MT"/>
                <a:cs typeface="Arial MT"/>
              </a:rPr>
              <a:t>process</a:t>
            </a:r>
            <a:r>
              <a:rPr lang="en-US" sz="1200" spc="165" dirty="0">
                <a:solidFill>
                  <a:srgbClr val="0001D1"/>
                </a:solidFill>
                <a:latin typeface="Arial MT"/>
                <a:cs typeface="Arial MT"/>
              </a:rPr>
              <a:t> </a:t>
            </a:r>
            <a:r>
              <a:rPr lang="en-US" sz="1200" dirty="0">
                <a:latin typeface="Arial MT"/>
                <a:cs typeface="Arial MT"/>
              </a:rPr>
              <a:t>aim</a:t>
            </a:r>
            <a:r>
              <a:rPr lang="en-US" sz="1200" spc="45" dirty="0">
                <a:latin typeface="Arial MT"/>
                <a:cs typeface="Arial MT"/>
              </a:rPr>
              <a:t> </a:t>
            </a:r>
            <a:r>
              <a:rPr lang="en-US" sz="1200" dirty="0">
                <a:latin typeface="Arial MT"/>
                <a:cs typeface="Arial MT"/>
              </a:rPr>
              <a:t>to</a:t>
            </a:r>
            <a:r>
              <a:rPr lang="en-US" sz="1200" spc="20" dirty="0">
                <a:latin typeface="Arial MT"/>
                <a:cs typeface="Arial MT"/>
              </a:rPr>
              <a:t> </a:t>
            </a:r>
            <a:r>
              <a:rPr lang="en-US" sz="1200" u="heavy" spc="55" dirty="0">
                <a:solidFill>
                  <a:srgbClr val="01AF4D"/>
                </a:solidFill>
                <a:uFill>
                  <a:solidFill>
                    <a:srgbClr val="08A84F"/>
                  </a:solidFill>
                </a:uFill>
                <a:latin typeface="Arial MT"/>
                <a:cs typeface="Arial MT"/>
              </a:rPr>
              <a:t>develop</a:t>
            </a:r>
            <a:r>
              <a:rPr lang="en-US" sz="1200" spc="55" dirty="0">
                <a:solidFill>
                  <a:srgbClr val="01AF4D"/>
                </a:solidFill>
                <a:latin typeface="Arial MT"/>
                <a:cs typeface="Arial MT"/>
              </a:rPr>
              <a:t> 	</a:t>
            </a:r>
            <a:r>
              <a:rPr lang="en-US" sz="1200" spc="70" dirty="0">
                <a:solidFill>
                  <a:srgbClr val="0100C8"/>
                </a:solidFill>
                <a:latin typeface="Arial MT"/>
                <a:cs typeface="Arial MT"/>
              </a:rPr>
              <a:t>integrated</a:t>
            </a:r>
            <a:r>
              <a:rPr lang="en-US" sz="1200" spc="160" dirty="0">
                <a:solidFill>
                  <a:srgbClr val="0100C8"/>
                </a:solidFill>
                <a:latin typeface="Arial MT"/>
                <a:cs typeface="Arial MT"/>
              </a:rPr>
              <a:t> </a:t>
            </a:r>
            <a:r>
              <a:rPr lang="en-US" sz="1200" dirty="0">
                <a:latin typeface="Arial MT"/>
                <a:cs typeface="Arial MT"/>
              </a:rPr>
              <a:t>and</a:t>
            </a:r>
            <a:r>
              <a:rPr lang="en-US" sz="1200" spc="90" dirty="0">
                <a:latin typeface="Arial MT"/>
                <a:cs typeface="Arial MT"/>
              </a:rPr>
              <a:t> </a:t>
            </a:r>
            <a:r>
              <a:rPr lang="en-US" sz="1200" spc="90" dirty="0">
                <a:solidFill>
                  <a:srgbClr val="0001C3"/>
                </a:solidFill>
                <a:latin typeface="Arial MT"/>
                <a:cs typeface="Arial MT"/>
              </a:rPr>
              <a:t>coordinated</a:t>
            </a:r>
            <a:r>
              <a:rPr lang="en-US" sz="1200" spc="180" dirty="0">
                <a:solidFill>
                  <a:srgbClr val="0001C3"/>
                </a:solidFill>
                <a:latin typeface="Arial MT"/>
                <a:cs typeface="Arial MT"/>
              </a:rPr>
              <a:t> </a:t>
            </a:r>
            <a:r>
              <a:rPr lang="en-US" sz="1200" spc="75" dirty="0">
                <a:solidFill>
                  <a:srgbClr val="0100CD"/>
                </a:solidFill>
                <a:latin typeface="Arial MT"/>
                <a:cs typeface="Arial MT"/>
              </a:rPr>
              <a:t>long-</a:t>
            </a:r>
            <a:r>
              <a:rPr lang="en-US" sz="1200" spc="85" dirty="0">
                <a:solidFill>
                  <a:srgbClr val="0100CD"/>
                </a:solidFill>
                <a:latin typeface="Arial MT"/>
                <a:cs typeface="Arial MT"/>
              </a:rPr>
              <a:t>term</a:t>
            </a:r>
            <a:r>
              <a:rPr lang="en-US" sz="1200" spc="200" dirty="0">
                <a:solidFill>
                  <a:srgbClr val="0100CD"/>
                </a:solidFill>
                <a:latin typeface="Arial MT"/>
                <a:cs typeface="Arial MT"/>
              </a:rPr>
              <a:t> </a:t>
            </a:r>
            <a:r>
              <a:rPr lang="en-US" sz="1200" spc="75" dirty="0">
                <a:solidFill>
                  <a:srgbClr val="CD0000"/>
                </a:solidFill>
                <a:latin typeface="Arial MT"/>
                <a:cs typeface="Arial MT"/>
              </a:rPr>
              <a:t>plan</a:t>
            </a:r>
            <a:r>
              <a:rPr lang="en-US" sz="1200" spc="40" dirty="0">
                <a:solidFill>
                  <a:srgbClr val="CD0000"/>
                </a:solidFill>
                <a:latin typeface="Arial MT"/>
                <a:cs typeface="Arial MT"/>
              </a:rPr>
              <a:t> </a:t>
            </a:r>
            <a:r>
              <a:rPr lang="en-US" sz="1200" spc="90" dirty="0">
                <a:solidFill>
                  <a:srgbClr val="BC0100"/>
                </a:solidFill>
                <a:latin typeface="Arial MT"/>
                <a:cs typeface="Arial MT"/>
              </a:rPr>
              <a:t>of</a:t>
            </a:r>
            <a:r>
              <a:rPr lang="en-US" sz="1200" spc="65" dirty="0">
                <a:solidFill>
                  <a:srgbClr val="BC0100"/>
                </a:solidFill>
                <a:latin typeface="Arial MT"/>
                <a:cs typeface="Arial MT"/>
              </a:rPr>
              <a:t> </a:t>
            </a:r>
            <a:r>
              <a:rPr lang="en-US" sz="1200" spc="65" dirty="0">
                <a:solidFill>
                  <a:srgbClr val="D30000"/>
                </a:solidFill>
                <a:latin typeface="Arial MT"/>
                <a:cs typeface="Arial MT"/>
              </a:rPr>
              <a:t>action.</a:t>
            </a:r>
            <a:endParaRPr lang="en-US" sz="1200" dirty="0">
              <a:latin typeface="Arial MT"/>
              <a:cs typeface="Arial MT"/>
            </a:endParaRPr>
          </a:p>
          <a:p>
            <a:pPr marL="316865" indent="-304165">
              <a:lnSpc>
                <a:spcPct val="100000"/>
              </a:lnSpc>
              <a:spcBef>
                <a:spcPts val="645"/>
              </a:spcBef>
              <a:buChar char="•"/>
              <a:tabLst>
                <a:tab pos="316865" algn="l"/>
              </a:tabLst>
            </a:pPr>
            <a:r>
              <a:rPr lang="en-US" sz="1200" spc="60" dirty="0">
                <a:latin typeface="Arial MT"/>
                <a:cs typeface="Arial MT"/>
              </a:rPr>
              <a:t>Requires</a:t>
            </a:r>
            <a:r>
              <a:rPr lang="en-US" sz="1200" spc="180" dirty="0">
                <a:latin typeface="Arial MT"/>
                <a:cs typeface="Arial MT"/>
              </a:rPr>
              <a:t> </a:t>
            </a:r>
            <a:r>
              <a:rPr lang="en-US" sz="1200" spc="120" dirty="0">
                <a:latin typeface="Arial MT"/>
                <a:cs typeface="Arial MT"/>
              </a:rPr>
              <a:t>strong</a:t>
            </a:r>
            <a:r>
              <a:rPr lang="en-US" sz="1200" spc="130" dirty="0">
                <a:latin typeface="Arial MT"/>
                <a:cs typeface="Arial MT"/>
              </a:rPr>
              <a:t> </a:t>
            </a:r>
            <a:r>
              <a:rPr lang="en-US" sz="1200" spc="114" dirty="0">
                <a:latin typeface="Arial MT"/>
                <a:cs typeface="Arial MT"/>
              </a:rPr>
              <a:t>links</a:t>
            </a:r>
            <a:r>
              <a:rPr lang="en-US" sz="1200" spc="90" dirty="0">
                <a:latin typeface="Arial MT"/>
                <a:cs typeface="Arial MT"/>
              </a:rPr>
              <a:t> </a:t>
            </a:r>
            <a:r>
              <a:rPr lang="en-US" sz="1200" spc="85" dirty="0">
                <a:latin typeface="Arial MT"/>
                <a:cs typeface="Arial MT"/>
              </a:rPr>
              <a:t>among</a:t>
            </a:r>
            <a:r>
              <a:rPr lang="en-US" sz="1200" spc="90" dirty="0">
                <a:latin typeface="Arial MT"/>
                <a:cs typeface="Arial MT"/>
              </a:rPr>
              <a:t> </a:t>
            </a:r>
            <a:r>
              <a:rPr lang="en-US" sz="1200" spc="80" dirty="0">
                <a:latin typeface="Arial MT"/>
                <a:cs typeface="Arial MT"/>
              </a:rPr>
              <a:t>items,</a:t>
            </a:r>
            <a:r>
              <a:rPr lang="en-US" sz="1200" spc="15" dirty="0">
                <a:latin typeface="Arial MT"/>
                <a:cs typeface="Arial MT"/>
              </a:rPr>
              <a:t> </a:t>
            </a:r>
            <a:r>
              <a:rPr lang="en-US" sz="1200" spc="125" dirty="0">
                <a:latin typeface="Arial MT"/>
                <a:cs typeface="Arial MT"/>
              </a:rPr>
              <a:t>such</a:t>
            </a:r>
            <a:r>
              <a:rPr lang="en-US" sz="1200" spc="75" dirty="0">
                <a:latin typeface="Arial MT"/>
                <a:cs typeface="Arial MT"/>
              </a:rPr>
              <a:t> </a:t>
            </a:r>
            <a:r>
              <a:rPr lang="en-US" sz="1200" spc="35" dirty="0">
                <a:latin typeface="Arial MT"/>
                <a:cs typeface="Arial MT"/>
              </a:rPr>
              <a:t>as:</a:t>
            </a:r>
            <a:endParaRPr lang="en-US" sz="1200" dirty="0">
              <a:latin typeface="Arial MT"/>
              <a:cs typeface="Arial MT"/>
            </a:endParaRPr>
          </a:p>
          <a:p>
            <a:pPr marL="520700">
              <a:lnSpc>
                <a:spcPct val="100000"/>
              </a:lnSpc>
              <a:spcBef>
                <a:spcPts val="640"/>
              </a:spcBef>
            </a:pPr>
            <a:r>
              <a:rPr lang="en-US" sz="1200" dirty="0">
                <a:solidFill>
                  <a:srgbClr val="B80301"/>
                </a:solidFill>
                <a:latin typeface="Arial MT"/>
                <a:cs typeface="Arial MT"/>
              </a:rPr>
              <a:t>\•</a:t>
            </a:r>
            <a:r>
              <a:rPr lang="en-US" sz="1200" spc="300" dirty="0">
                <a:solidFill>
                  <a:srgbClr val="B80301"/>
                </a:solidFill>
                <a:latin typeface="Arial MT"/>
                <a:cs typeface="Arial MT"/>
              </a:rPr>
              <a:t> </a:t>
            </a:r>
            <a:r>
              <a:rPr lang="en-US" sz="1200" spc="114" dirty="0">
                <a:solidFill>
                  <a:srgbClr val="C40007"/>
                </a:solidFill>
                <a:latin typeface="Arial MT"/>
                <a:cs typeface="Arial MT"/>
              </a:rPr>
              <a:t>mission</a:t>
            </a:r>
            <a:r>
              <a:rPr lang="en-US" sz="1200" spc="140" dirty="0">
                <a:solidFill>
                  <a:srgbClr val="C40007"/>
                </a:solidFill>
                <a:latin typeface="Arial MT"/>
                <a:cs typeface="Arial MT"/>
              </a:rPr>
              <a:t> </a:t>
            </a:r>
            <a:r>
              <a:rPr lang="en-US" sz="1200" spc="55" dirty="0">
                <a:solidFill>
                  <a:srgbClr val="05A749"/>
                </a:solidFill>
                <a:latin typeface="Arial MT"/>
                <a:cs typeface="Arial MT"/>
              </a:rPr>
              <a:t>(message/scope),</a:t>
            </a:r>
            <a:endParaRPr lang="en-US" sz="1200" dirty="0">
              <a:latin typeface="Arial MT"/>
              <a:cs typeface="Arial MT"/>
            </a:endParaRPr>
          </a:p>
          <a:p>
            <a:pPr marL="520700">
              <a:lnSpc>
                <a:spcPct val="100000"/>
              </a:lnSpc>
              <a:spcBef>
                <a:spcPts val="640"/>
              </a:spcBef>
            </a:pPr>
            <a:r>
              <a:rPr lang="en-US" sz="1200" dirty="0">
                <a:solidFill>
                  <a:srgbClr val="BF0705"/>
                </a:solidFill>
                <a:latin typeface="Arial MT"/>
                <a:cs typeface="Arial MT"/>
              </a:rPr>
              <a:t>\•</a:t>
            </a:r>
            <a:r>
              <a:rPr lang="en-US" sz="1200" spc="310" dirty="0">
                <a:solidFill>
                  <a:srgbClr val="BF0705"/>
                </a:solidFill>
                <a:latin typeface="Arial MT"/>
                <a:cs typeface="Arial MT"/>
              </a:rPr>
              <a:t> </a:t>
            </a:r>
            <a:r>
              <a:rPr lang="en-US" sz="1200" spc="75" dirty="0">
                <a:solidFill>
                  <a:srgbClr val="B80300"/>
                </a:solidFill>
                <a:latin typeface="Arial MT"/>
                <a:cs typeface="Arial MT"/>
              </a:rPr>
              <a:t>strategy</a:t>
            </a:r>
            <a:r>
              <a:rPr lang="en-US" sz="1200" spc="210" dirty="0">
                <a:solidFill>
                  <a:srgbClr val="B80300"/>
                </a:solidFill>
                <a:latin typeface="Arial MT"/>
                <a:cs typeface="Arial MT"/>
              </a:rPr>
              <a:t> </a:t>
            </a:r>
            <a:r>
              <a:rPr lang="en-US" sz="1200" spc="70" dirty="0">
                <a:solidFill>
                  <a:srgbClr val="03AC4F"/>
                </a:solidFill>
                <a:latin typeface="Arial MT"/>
                <a:cs typeface="Arial MT"/>
              </a:rPr>
              <a:t>(long-</a:t>
            </a:r>
            <a:r>
              <a:rPr lang="en-US" sz="1200" spc="85" dirty="0">
                <a:solidFill>
                  <a:srgbClr val="03AC4F"/>
                </a:solidFill>
                <a:latin typeface="Arial MT"/>
                <a:cs typeface="Arial MT"/>
              </a:rPr>
              <a:t>term</a:t>
            </a:r>
            <a:r>
              <a:rPr lang="en-US" sz="1200" spc="215" dirty="0">
                <a:solidFill>
                  <a:srgbClr val="03AC4F"/>
                </a:solidFill>
                <a:latin typeface="Arial MT"/>
                <a:cs typeface="Arial MT"/>
              </a:rPr>
              <a:t> </a:t>
            </a:r>
            <a:r>
              <a:rPr lang="en-US" sz="1200" spc="75" dirty="0">
                <a:solidFill>
                  <a:srgbClr val="01AE52"/>
                </a:solidFill>
                <a:latin typeface="Arial MT"/>
                <a:cs typeface="Arial MT"/>
              </a:rPr>
              <a:t>plan</a:t>
            </a:r>
            <a:r>
              <a:rPr lang="en-US" sz="1200" spc="95" dirty="0">
                <a:solidFill>
                  <a:srgbClr val="01AE52"/>
                </a:solidFill>
                <a:latin typeface="Arial MT"/>
                <a:cs typeface="Arial MT"/>
              </a:rPr>
              <a:t> </a:t>
            </a:r>
            <a:r>
              <a:rPr lang="en-US" sz="1200" spc="90" dirty="0">
                <a:solidFill>
                  <a:srgbClr val="00B14F"/>
                </a:solidFill>
                <a:latin typeface="Arial MT"/>
                <a:cs typeface="Arial MT"/>
              </a:rPr>
              <a:t>of</a:t>
            </a:r>
            <a:r>
              <a:rPr lang="en-US" sz="1200" spc="95" dirty="0">
                <a:solidFill>
                  <a:srgbClr val="00B14F"/>
                </a:solidFill>
                <a:latin typeface="Arial MT"/>
                <a:cs typeface="Arial MT"/>
              </a:rPr>
              <a:t> </a:t>
            </a:r>
            <a:r>
              <a:rPr lang="en-US" sz="1200" spc="55" dirty="0">
                <a:solidFill>
                  <a:srgbClr val="00B14F"/>
                </a:solidFill>
                <a:latin typeface="Arial MT"/>
                <a:cs typeface="Arial MT"/>
              </a:rPr>
              <a:t>action),</a:t>
            </a:r>
            <a:endParaRPr lang="en-US" sz="1200" dirty="0">
              <a:latin typeface="Arial MT"/>
              <a:cs typeface="Arial MT"/>
            </a:endParaRPr>
          </a:p>
          <a:p>
            <a:pPr marL="520700">
              <a:lnSpc>
                <a:spcPct val="100000"/>
              </a:lnSpc>
              <a:spcBef>
                <a:spcPts val="640"/>
              </a:spcBef>
            </a:pPr>
            <a:r>
              <a:rPr lang="en-US" sz="1200" dirty="0">
                <a:solidFill>
                  <a:srgbClr val="0001C3"/>
                </a:solidFill>
                <a:latin typeface="Arial MT"/>
                <a:cs typeface="Arial MT"/>
              </a:rPr>
              <a:t>\•</a:t>
            </a:r>
            <a:r>
              <a:rPr lang="en-US" sz="1200" spc="340" dirty="0">
                <a:solidFill>
                  <a:srgbClr val="0001C3"/>
                </a:solidFill>
                <a:latin typeface="Arial MT"/>
                <a:cs typeface="Arial MT"/>
              </a:rPr>
              <a:t> </a:t>
            </a:r>
            <a:r>
              <a:rPr lang="en-US" sz="1200" spc="80" dirty="0">
                <a:solidFill>
                  <a:srgbClr val="0001C6"/>
                </a:solidFill>
                <a:latin typeface="Arial MT"/>
                <a:cs typeface="Arial MT"/>
              </a:rPr>
              <a:t>goals</a:t>
            </a:r>
            <a:r>
              <a:rPr lang="en-US" sz="1200" spc="135" dirty="0">
                <a:solidFill>
                  <a:srgbClr val="0001C6"/>
                </a:solidFill>
                <a:latin typeface="Arial MT"/>
                <a:cs typeface="Arial MT"/>
              </a:rPr>
              <a:t> </a:t>
            </a:r>
            <a:r>
              <a:rPr lang="en-US" sz="1200" spc="70" dirty="0">
                <a:solidFill>
                  <a:srgbClr val="03AE4D"/>
                </a:solidFill>
                <a:latin typeface="Arial MT"/>
                <a:cs typeface="Arial MT"/>
              </a:rPr>
              <a:t>(long-</a:t>
            </a:r>
            <a:r>
              <a:rPr lang="en-US" sz="1200" spc="85" dirty="0">
                <a:solidFill>
                  <a:srgbClr val="03AE4D"/>
                </a:solidFill>
                <a:latin typeface="Arial MT"/>
                <a:cs typeface="Arial MT"/>
              </a:rPr>
              <a:t>term</a:t>
            </a:r>
            <a:r>
              <a:rPr lang="en-US" sz="1200" spc="190" dirty="0">
                <a:solidFill>
                  <a:srgbClr val="03AE4D"/>
                </a:solidFill>
                <a:latin typeface="Arial MT"/>
                <a:cs typeface="Arial MT"/>
              </a:rPr>
              <a:t> </a:t>
            </a:r>
            <a:r>
              <a:rPr lang="en-US" sz="1200" spc="-10" dirty="0">
                <a:solidFill>
                  <a:srgbClr val="00B34F"/>
                </a:solidFill>
                <a:latin typeface="Arial MT"/>
                <a:cs typeface="Arial MT"/>
              </a:rPr>
              <a:t>aim),</a:t>
            </a:r>
            <a:endParaRPr lang="en-US" sz="1200" dirty="0">
              <a:latin typeface="Arial MT"/>
              <a:cs typeface="Arial MT"/>
            </a:endParaRPr>
          </a:p>
          <a:p>
            <a:pPr marL="520700">
              <a:lnSpc>
                <a:spcPct val="100000"/>
              </a:lnSpc>
              <a:spcBef>
                <a:spcPts val="640"/>
              </a:spcBef>
            </a:pPr>
            <a:r>
              <a:rPr lang="en-US" sz="1200" dirty="0">
                <a:solidFill>
                  <a:srgbClr val="0001CA"/>
                </a:solidFill>
                <a:latin typeface="Arial MT"/>
                <a:cs typeface="Arial MT"/>
              </a:rPr>
              <a:t>\•</a:t>
            </a:r>
            <a:r>
              <a:rPr lang="en-US" sz="1200" spc="395" dirty="0">
                <a:solidFill>
                  <a:srgbClr val="0001CA"/>
                </a:solidFill>
                <a:latin typeface="Arial MT"/>
                <a:cs typeface="Arial MT"/>
              </a:rPr>
              <a:t> </a:t>
            </a:r>
            <a:r>
              <a:rPr lang="en-US" sz="1200" spc="85" dirty="0">
                <a:solidFill>
                  <a:srgbClr val="0003DA"/>
                </a:solidFill>
                <a:latin typeface="Arial MT"/>
                <a:cs typeface="Arial MT"/>
              </a:rPr>
              <a:t>objectives</a:t>
            </a:r>
            <a:r>
              <a:rPr lang="en-US" sz="1200" spc="280" dirty="0">
                <a:solidFill>
                  <a:srgbClr val="0003DA"/>
                </a:solidFill>
                <a:latin typeface="Arial MT"/>
                <a:cs typeface="Arial MT"/>
              </a:rPr>
              <a:t> </a:t>
            </a:r>
            <a:r>
              <a:rPr lang="en-US" sz="1200" dirty="0">
                <a:solidFill>
                  <a:srgbClr val="00B154"/>
                </a:solidFill>
                <a:latin typeface="Arial MT"/>
                <a:cs typeface="Arial MT"/>
              </a:rPr>
              <a:t>(time-</a:t>
            </a:r>
            <a:r>
              <a:rPr lang="en-US" sz="1200" spc="50" dirty="0">
                <a:solidFill>
                  <a:srgbClr val="00B154"/>
                </a:solidFill>
                <a:latin typeface="Arial MT"/>
                <a:cs typeface="Arial MT"/>
              </a:rPr>
              <a:t>based</a:t>
            </a:r>
            <a:r>
              <a:rPr lang="en-US" sz="1200" spc="365" dirty="0">
                <a:solidFill>
                  <a:srgbClr val="00B154"/>
                </a:solidFill>
                <a:latin typeface="Arial MT"/>
                <a:cs typeface="Arial MT"/>
              </a:rPr>
              <a:t> </a:t>
            </a:r>
            <a:r>
              <a:rPr lang="en-US" sz="1200" spc="75" dirty="0">
                <a:solidFill>
                  <a:srgbClr val="00AF52"/>
                </a:solidFill>
                <a:latin typeface="Arial MT"/>
                <a:cs typeface="Arial MT"/>
              </a:rPr>
              <a:t>milestones),</a:t>
            </a:r>
            <a:r>
              <a:rPr lang="en-US" sz="1200" spc="245" dirty="0">
                <a:solidFill>
                  <a:srgbClr val="00AF52"/>
                </a:solidFill>
                <a:latin typeface="Arial MT"/>
                <a:cs typeface="Arial MT"/>
              </a:rPr>
              <a:t> </a:t>
            </a:r>
            <a:r>
              <a:rPr lang="en-US" sz="1200" spc="-25" dirty="0">
                <a:latin typeface="Arial MT"/>
                <a:cs typeface="Arial MT"/>
              </a:rPr>
              <a:t>and</a:t>
            </a:r>
            <a:endParaRPr lang="en-US" sz="1200" dirty="0">
              <a:latin typeface="Arial MT"/>
              <a:cs typeface="Arial MT"/>
            </a:endParaRPr>
          </a:p>
          <a:p>
            <a:pPr marL="520700">
              <a:lnSpc>
                <a:spcPct val="100000"/>
              </a:lnSpc>
              <a:spcBef>
                <a:spcPts val="620"/>
              </a:spcBef>
            </a:pPr>
            <a:r>
              <a:rPr lang="en-US" sz="1200" dirty="0">
                <a:solidFill>
                  <a:srgbClr val="0100D1"/>
                </a:solidFill>
                <a:latin typeface="Arial MT"/>
                <a:cs typeface="Arial MT"/>
              </a:rPr>
              <a:t>\•</a:t>
            </a:r>
            <a:r>
              <a:rPr lang="en-US" sz="1200" spc="335" dirty="0">
                <a:solidFill>
                  <a:srgbClr val="0100D1"/>
                </a:solidFill>
                <a:latin typeface="Arial MT"/>
                <a:cs typeface="Arial MT"/>
              </a:rPr>
              <a:t> </a:t>
            </a:r>
            <a:r>
              <a:rPr lang="en-US" sz="1200" spc="90" dirty="0">
                <a:solidFill>
                  <a:srgbClr val="0000D1"/>
                </a:solidFill>
                <a:latin typeface="Arial MT"/>
                <a:cs typeface="Arial MT"/>
              </a:rPr>
              <a:t>implementation.</a:t>
            </a:r>
            <a:endParaRPr lang="en-US" sz="1200" dirty="0">
              <a:latin typeface="Arial MT"/>
              <a:cs typeface="Arial MT"/>
            </a:endParaRPr>
          </a:p>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11</a:t>
            </a:fld>
            <a:endParaRPr lang="en-US"/>
          </a:p>
        </p:txBody>
      </p:sp>
    </p:spTree>
    <p:extLst>
      <p:ext uri="{BB962C8B-B14F-4D97-AF65-F5344CB8AC3E}">
        <p14:creationId xmlns:p14="http://schemas.microsoft.com/office/powerpoint/2010/main" val="1653877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333333"/>
                </a:solidFill>
                <a:effectLst/>
                <a:latin typeface="Georgia" panose="02040502050405020303" pitchFamily="18" charset="0"/>
              </a:rPr>
              <a:t>The strategic management process begins with an understanding of strategy and performance. As we have noted in this introductory chapter, strategic management is both an art and a science, and it involves multiple conceptualizations of the notion of strategy drawn from recent and ancient history. In </a:t>
            </a:r>
            <a:r>
              <a:rPr lang="en-US" b="0" i="0" u="sng" dirty="0">
                <a:solidFill>
                  <a:srgbClr val="000000"/>
                </a:solidFill>
                <a:effectLst/>
                <a:latin typeface="Georgia" panose="02040502050405020303" pitchFamily="18" charset="0"/>
                <a:hlinkClick r:id="rId3"/>
              </a:rPr>
              <a:t>Chapter 2 "Leading Strategically"</a:t>
            </a:r>
            <a:r>
              <a:rPr lang="en-US" b="0" i="0" dirty="0">
                <a:solidFill>
                  <a:srgbClr val="333333"/>
                </a:solidFill>
                <a:effectLst/>
                <a:latin typeface="Georgia" panose="02040502050405020303" pitchFamily="18" charset="0"/>
              </a:rPr>
              <a:t>, we focus on how leading strategically is needed if the firm is to achieve the long-term strong performance companies such as Apple have attained. Consequently, how managers understand and interpret the performance of their firms is often central to understanding strategy.</a:t>
            </a:r>
          </a:p>
          <a:p>
            <a:pPr algn="l"/>
            <a:r>
              <a:rPr lang="en-US" b="0" i="0" dirty="0">
                <a:solidFill>
                  <a:srgbClr val="333333"/>
                </a:solidFill>
                <a:effectLst/>
                <a:latin typeface="Georgia" panose="02040502050405020303" pitchFamily="18" charset="0"/>
              </a:rPr>
              <a:t>Environmental and internal scanning is the next stage in the process. Managers must constantly scan the external environment for trends and events that affect the overall economy, and they must monitor changes in the particular industry in which the firm operates. For example, Apple’s decision to create the iPhone demonstrates its ability to interpret that traditional industry boundaries that distinguished the cellular phone industry and the computer industry were beginning to blur. At the same time, firms must evaluate their own resources to understand how they might react to changes in the environment. For example, intellectual property is a vital resource for Apple. Between 2008 and 2010, Apple filed more than 350 cases with the US Patent and Trademark Office to protect its use of such terms as </a:t>
            </a:r>
            <a:r>
              <a:rPr lang="en-US" b="0" i="1" dirty="0">
                <a:solidFill>
                  <a:srgbClr val="333333"/>
                </a:solidFill>
                <a:effectLst/>
                <a:latin typeface="Georgia" panose="02040502050405020303" pitchFamily="18" charset="0"/>
              </a:rPr>
              <a:t>apple</a:t>
            </a:r>
            <a:r>
              <a:rPr lang="en-US" b="0" i="0" dirty="0">
                <a:solidFill>
                  <a:srgbClr val="333333"/>
                </a:solidFill>
                <a:effectLst/>
                <a:latin typeface="Georgia" panose="02040502050405020303" pitchFamily="18" charset="0"/>
              </a:rPr>
              <a:t>, </a:t>
            </a:r>
            <a:r>
              <a:rPr lang="en-US" b="0" i="1" dirty="0">
                <a:solidFill>
                  <a:srgbClr val="333333"/>
                </a:solidFill>
                <a:effectLst/>
                <a:latin typeface="Georgia" panose="02040502050405020303" pitchFamily="18" charset="0"/>
              </a:rPr>
              <a:t>pod</a:t>
            </a:r>
            <a:r>
              <a:rPr lang="en-US" b="0" i="0" dirty="0">
                <a:solidFill>
                  <a:srgbClr val="333333"/>
                </a:solidFill>
                <a:effectLst/>
                <a:latin typeface="Georgia" panose="02040502050405020303" pitchFamily="18" charset="0"/>
              </a:rPr>
              <a:t>, and </a:t>
            </a:r>
            <a:r>
              <a:rPr lang="en-US" b="0" i="1" dirty="0" err="1">
                <a:solidFill>
                  <a:srgbClr val="333333"/>
                </a:solidFill>
                <a:effectLst/>
                <a:latin typeface="Georgia" panose="02040502050405020303" pitchFamily="18" charset="0"/>
              </a:rPr>
              <a:t>safari</a:t>
            </a:r>
            <a:r>
              <a:rPr lang="en-US" b="0" i="0" dirty="0" err="1">
                <a:solidFill>
                  <a:srgbClr val="333333"/>
                </a:solidFill>
                <a:effectLst/>
                <a:latin typeface="Georgia" panose="02040502050405020303" pitchFamily="18" charset="0"/>
              </a:rPr>
              <a:t>.Apple</a:t>
            </a:r>
            <a:r>
              <a:rPr lang="en-US" b="0" i="0" dirty="0">
                <a:solidFill>
                  <a:srgbClr val="333333"/>
                </a:solidFill>
                <a:effectLst/>
                <a:latin typeface="Georgia" panose="02040502050405020303" pitchFamily="18" charset="0"/>
              </a:rPr>
              <a:t> Inc. litigation. Wikipedia. Retrieved from en.wikipedia.org/wiki/</a:t>
            </a:r>
            <a:r>
              <a:rPr lang="en-US" b="0" i="0" dirty="0" err="1">
                <a:solidFill>
                  <a:srgbClr val="333333"/>
                </a:solidFill>
                <a:effectLst/>
                <a:latin typeface="Georgia" panose="02040502050405020303" pitchFamily="18" charset="0"/>
              </a:rPr>
              <a:t>Apple_Inc</a:t>
            </a:r>
            <a:r>
              <a:rPr lang="en-US" b="0" i="0" dirty="0">
                <a:solidFill>
                  <a:srgbClr val="333333"/>
                </a:solidFill>
                <a:effectLst/>
                <a:latin typeface="Georgia" panose="02040502050405020303" pitchFamily="18" charset="0"/>
              </a:rPr>
              <a:t>._ litigation</a:t>
            </a:r>
          </a:p>
          <a:p>
            <a:pPr algn="l"/>
            <a:r>
              <a:rPr lang="en-US" b="0" i="0" dirty="0">
                <a:solidFill>
                  <a:srgbClr val="333333"/>
                </a:solidFill>
                <a:effectLst/>
                <a:latin typeface="Georgia" panose="02040502050405020303" pitchFamily="18" charset="0"/>
              </a:rPr>
              <a:t>A classic management tool that incorporates the idea of scanning elements both external and internal to the firm is SWOT (strengths, weaknesses, opportunities, and threats) analysis. Strengths and weaknesses are assessed by examining the firm’s resources, while opportunities and threats refer to external events and trends. The value of SWOT analysis parallels ideas from classic military strategists such as Sun Tzu, who noted the value of knowing yourself as well as your opponent. </a:t>
            </a:r>
            <a:r>
              <a:rPr lang="en-US" b="0" i="0" u="sng" dirty="0">
                <a:solidFill>
                  <a:srgbClr val="000000"/>
                </a:solidFill>
                <a:effectLst/>
                <a:latin typeface="Georgia" panose="02040502050405020303" pitchFamily="18" charset="0"/>
                <a:hlinkClick r:id="rId4"/>
              </a:rPr>
              <a:t>Chapter 3 "Evaluating the External Environment"</a:t>
            </a:r>
            <a:r>
              <a:rPr lang="en-US" b="0" i="0" dirty="0">
                <a:solidFill>
                  <a:srgbClr val="333333"/>
                </a:solidFill>
                <a:effectLst/>
                <a:latin typeface="Georgia" panose="02040502050405020303" pitchFamily="18" charset="0"/>
              </a:rPr>
              <a:t> examines the topic of evaluating the external environment in detail, and </a:t>
            </a:r>
            <a:r>
              <a:rPr lang="en-US" b="0" i="0" u="sng" dirty="0">
                <a:solidFill>
                  <a:srgbClr val="000000"/>
                </a:solidFill>
                <a:effectLst/>
                <a:latin typeface="Georgia" panose="02040502050405020303" pitchFamily="18" charset="0"/>
                <a:hlinkClick r:id="rId5"/>
              </a:rPr>
              <a:t>Chapter 4 "Managing Firm Resources"</a:t>
            </a:r>
            <a:r>
              <a:rPr lang="en-US" b="0" i="0" dirty="0">
                <a:solidFill>
                  <a:srgbClr val="333333"/>
                </a:solidFill>
                <a:effectLst/>
                <a:latin typeface="Georgia" panose="02040502050405020303" pitchFamily="18" charset="0"/>
              </a:rPr>
              <a:t> presents concepts and tools for managing firm resources.</a:t>
            </a:r>
          </a:p>
          <a:p>
            <a:pPr algn="l"/>
            <a:r>
              <a:rPr lang="en-US" b="0" i="1" dirty="0">
                <a:solidFill>
                  <a:srgbClr val="333333"/>
                </a:solidFill>
                <a:effectLst/>
                <a:latin typeface="Georgia" panose="02040502050405020303" pitchFamily="18" charset="0"/>
              </a:rPr>
              <a:t>The importance of knowing yourself and your opponent is applicable to the knowledge of strategic management for business, military strategy, and classic strategy games such as chess.</a:t>
            </a:r>
          </a:p>
          <a:p>
            <a:pPr algn="l"/>
            <a:r>
              <a:rPr lang="en-US" b="0" i="0" dirty="0">
                <a:solidFill>
                  <a:srgbClr val="333333"/>
                </a:solidFill>
                <a:effectLst/>
                <a:latin typeface="Georgia" panose="02040502050405020303" pitchFamily="18" charset="0"/>
              </a:rPr>
              <a:t> </a:t>
            </a:r>
          </a:p>
          <a:p>
            <a:pPr algn="l"/>
            <a:r>
              <a:rPr lang="en-US" b="0" i="0" dirty="0">
                <a:solidFill>
                  <a:srgbClr val="333333"/>
                </a:solidFill>
                <a:effectLst/>
                <a:latin typeface="Georgia" panose="02040502050405020303" pitchFamily="18" charset="0"/>
              </a:rPr>
              <a:t>Strategy formulation is the next step in the strategic management process. This involves developing specific strategies and actions. Certainly, part of Apple’s success is due to the unique products it offers the market, as well as how these products complement one another. A customer can buy an iPod that plays music from iTunes—all of which can be stored in Apple’s Mac </a:t>
            </a:r>
            <a:r>
              <a:rPr lang="en-US" b="0" i="0" dirty="0" err="1">
                <a:solidFill>
                  <a:srgbClr val="333333"/>
                </a:solidFill>
                <a:effectLst/>
                <a:latin typeface="Georgia" panose="02040502050405020303" pitchFamily="18" charset="0"/>
              </a:rPr>
              <a:t>computer.Inside</a:t>
            </a:r>
            <a:r>
              <a:rPr lang="en-US" b="0" i="0" dirty="0">
                <a:solidFill>
                  <a:srgbClr val="333333"/>
                </a:solidFill>
                <a:effectLst/>
                <a:latin typeface="Georgia" panose="02040502050405020303" pitchFamily="18" charset="0"/>
              </a:rPr>
              <a:t> CRM Editors. Effective strategies Apple uses to create loyal customers [Online article]. Retrieved from </a:t>
            </a:r>
            <a:r>
              <a:rPr lang="en-US" b="0" i="0" u="sng" dirty="0">
                <a:solidFill>
                  <a:srgbClr val="000000"/>
                </a:solidFill>
                <a:effectLst/>
                <a:latin typeface="Georgia" panose="02040502050405020303" pitchFamily="18" charset="0"/>
                <a:hlinkClick r:id="rId6"/>
              </a:rPr>
              <a:t>http://www.insidecrm.com/features/strategies-apple-loyal -customers</a:t>
            </a:r>
            <a:r>
              <a:rPr lang="en-US" b="0" i="0" dirty="0">
                <a:solidFill>
                  <a:srgbClr val="333333"/>
                </a:solidFill>
                <a:effectLst/>
                <a:latin typeface="Georgia" panose="02040502050405020303" pitchFamily="18" charset="0"/>
              </a:rPr>
              <a:t> In </a:t>
            </a:r>
            <a:r>
              <a:rPr lang="en-US" b="0" i="0" u="sng" dirty="0">
                <a:solidFill>
                  <a:srgbClr val="000000"/>
                </a:solidFill>
                <a:effectLst/>
                <a:latin typeface="Georgia" panose="02040502050405020303" pitchFamily="18" charset="0"/>
                <a:hlinkClick r:id="rId7"/>
              </a:rPr>
              <a:t>Chapter 5 "Selecting Business-Level Strategies"</a:t>
            </a:r>
            <a:r>
              <a:rPr lang="en-US" b="0" i="0" dirty="0">
                <a:solidFill>
                  <a:srgbClr val="333333"/>
                </a:solidFill>
                <a:effectLst/>
                <a:latin typeface="Georgia" panose="02040502050405020303" pitchFamily="18" charset="0"/>
              </a:rPr>
              <a:t>, we discuss how selecting business-level strategies helps to provide firms with a recipe that can be followed that will increase the likelihood that their strategies will be successful. In </a:t>
            </a:r>
            <a:r>
              <a:rPr lang="en-US" b="0" i="0" u="sng" dirty="0">
                <a:solidFill>
                  <a:srgbClr val="000000"/>
                </a:solidFill>
                <a:effectLst/>
                <a:latin typeface="Georgia" panose="02040502050405020303" pitchFamily="18" charset="0"/>
                <a:hlinkClick r:id="rId8"/>
              </a:rPr>
              <a:t>Chapter 6 "Supporting the Business-Level Strategy: Competitive and Cooperative Moves"</a:t>
            </a:r>
            <a:r>
              <a:rPr lang="en-US" b="0" i="0" dirty="0">
                <a:solidFill>
                  <a:srgbClr val="333333"/>
                </a:solidFill>
                <a:effectLst/>
                <a:latin typeface="Georgia" panose="02040502050405020303" pitchFamily="18" charset="0"/>
              </a:rPr>
              <a:t>, we present insights on how firms can support the business-level strategy through competitive and cooperative moves. </a:t>
            </a:r>
            <a:r>
              <a:rPr lang="en-US" b="0" i="0" u="sng" dirty="0">
                <a:solidFill>
                  <a:srgbClr val="000000"/>
                </a:solidFill>
                <a:effectLst/>
                <a:latin typeface="Georgia" panose="02040502050405020303" pitchFamily="18" charset="0"/>
                <a:hlinkClick r:id="rId9"/>
              </a:rPr>
              <a:t>Chapter 7 "Competing in International Markets"</a:t>
            </a:r>
            <a:r>
              <a:rPr lang="en-US" b="0" i="0" dirty="0">
                <a:solidFill>
                  <a:srgbClr val="333333"/>
                </a:solidFill>
                <a:effectLst/>
                <a:latin typeface="Georgia" panose="02040502050405020303" pitchFamily="18" charset="0"/>
              </a:rPr>
              <a:t> presents possibilities for firms competing in international markets, and </a:t>
            </a:r>
            <a:r>
              <a:rPr lang="en-US" b="0" i="0" u="sng" dirty="0">
                <a:solidFill>
                  <a:srgbClr val="000000"/>
                </a:solidFill>
                <a:effectLst/>
                <a:latin typeface="Georgia" panose="02040502050405020303" pitchFamily="18" charset="0"/>
                <a:hlinkClick r:id="rId10"/>
              </a:rPr>
              <a:t>Chapter 8 "Selecting Corporate-Level Strategies"</a:t>
            </a:r>
            <a:r>
              <a:rPr lang="en-US" b="0" i="0" dirty="0">
                <a:solidFill>
                  <a:srgbClr val="333333"/>
                </a:solidFill>
                <a:effectLst/>
                <a:latin typeface="Georgia" panose="02040502050405020303" pitchFamily="18" charset="0"/>
              </a:rPr>
              <a:t> focuses on selecting corporate-level strategies.</a:t>
            </a:r>
          </a:p>
          <a:p>
            <a:pPr algn="l"/>
            <a:r>
              <a:rPr lang="en-US" b="0" i="0" dirty="0">
                <a:solidFill>
                  <a:srgbClr val="333333"/>
                </a:solidFill>
                <a:effectLst/>
                <a:latin typeface="Georgia" panose="02040502050405020303" pitchFamily="18" charset="0"/>
              </a:rPr>
              <a:t>Strategy implementation is the final stage of the process. One important element of strategy implementation entails crafting an effective organizational structure and corporate culture. For example, part of Apple’s success is due to its consistent focus on innovation and creativity that Steve Jobs described as similar to that of a start-up. </a:t>
            </a:r>
            <a:r>
              <a:rPr lang="en-US" b="0" i="0" u="sng" dirty="0">
                <a:solidFill>
                  <a:srgbClr val="000000"/>
                </a:solidFill>
                <a:effectLst/>
                <a:latin typeface="Georgia" panose="02040502050405020303" pitchFamily="18" charset="0"/>
                <a:hlinkClick r:id="rId11"/>
              </a:rPr>
              <a:t>Chapter 9 "Executing Strategy through Organizational Design"</a:t>
            </a:r>
            <a:r>
              <a:rPr lang="en-US" b="0" i="0" dirty="0">
                <a:solidFill>
                  <a:srgbClr val="333333"/>
                </a:solidFill>
                <a:effectLst/>
                <a:latin typeface="Georgia" panose="02040502050405020303" pitchFamily="18" charset="0"/>
              </a:rPr>
              <a:t> offers ideas on how to manage these elements of implementation. The final chapter explores how to lead an ethical organization through corporate governance, social responsibility, and sustainability.</a:t>
            </a:r>
          </a:p>
          <a:p>
            <a:pPr algn="ctr"/>
            <a:r>
              <a:rPr lang="en-US" b="1" i="0" cap="all" dirty="0">
                <a:solidFill>
                  <a:srgbClr val="FFFFFF"/>
                </a:solidFill>
                <a:effectLst/>
                <a:latin typeface="Calibri2"/>
              </a:rPr>
              <a:t>Key Takeaway</a:t>
            </a:r>
          </a:p>
          <a:p>
            <a:pPr algn="l">
              <a:buFont typeface="Arial" panose="020B0604020202020204" pitchFamily="34" charset="0"/>
              <a:buChar char="•"/>
            </a:pPr>
            <a:r>
              <a:rPr lang="en-US" b="0" i="0" dirty="0">
                <a:solidFill>
                  <a:srgbClr val="333333"/>
                </a:solidFill>
                <a:effectLst/>
                <a:latin typeface="Calibri2"/>
              </a:rPr>
              <a:t>Strategic management is a process that requires the ability to manage change. Consequently, executives must be careful to monitor </a:t>
            </a:r>
          </a:p>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12</a:t>
            </a:fld>
            <a:endParaRPr lang="en-US"/>
          </a:p>
        </p:txBody>
      </p:sp>
    </p:spTree>
    <p:extLst>
      <p:ext uri="{BB962C8B-B14F-4D97-AF65-F5344CB8AC3E}">
        <p14:creationId xmlns:p14="http://schemas.microsoft.com/office/powerpoint/2010/main" val="1124139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Arial" panose="020B0604020202020204" pitchFamily="34" charset="0"/>
              <a:buChar char="•"/>
            </a:pPr>
            <a:r>
              <a:rPr lang="en-US" b="1" i="0" u="sng" dirty="0">
                <a:solidFill>
                  <a:srgbClr val="666666"/>
                </a:solidFill>
                <a:effectLst/>
                <a:latin typeface="Open Sans" panose="020B0606030504020204" pitchFamily="34" charset="0"/>
              </a:rPr>
              <a:t>S</a:t>
            </a:r>
            <a:r>
              <a:rPr lang="en-US" b="0" i="0" dirty="0">
                <a:solidFill>
                  <a:srgbClr val="666666"/>
                </a:solidFill>
                <a:effectLst/>
                <a:latin typeface="Open Sans" panose="020B0606030504020204" pitchFamily="34" charset="0"/>
              </a:rPr>
              <a:t>pecific: What really needs to be accomplished? Limit resolutions and PRIORITIZE!</a:t>
            </a:r>
          </a:p>
          <a:p>
            <a:pPr algn="l" fontAlgn="base">
              <a:buFont typeface="Arial" panose="020B0604020202020204" pitchFamily="34" charset="0"/>
              <a:buChar char="•"/>
            </a:pPr>
            <a:r>
              <a:rPr lang="en-US" b="1" i="0" u="sng" dirty="0">
                <a:solidFill>
                  <a:srgbClr val="666666"/>
                </a:solidFill>
                <a:effectLst/>
                <a:latin typeface="Open Sans" panose="020B0606030504020204" pitchFamily="34" charset="0"/>
              </a:rPr>
              <a:t>M</a:t>
            </a:r>
            <a:r>
              <a:rPr lang="en-US" b="0" i="0" dirty="0">
                <a:solidFill>
                  <a:srgbClr val="666666"/>
                </a:solidFill>
                <a:effectLst/>
                <a:latin typeface="Open Sans" panose="020B0606030504020204" pitchFamily="34" charset="0"/>
              </a:rPr>
              <a:t>easurable: Before you begin, establish milestones and keep track of them.</a:t>
            </a:r>
          </a:p>
          <a:p>
            <a:pPr algn="l" fontAlgn="base">
              <a:buFont typeface="Arial" panose="020B0604020202020204" pitchFamily="34" charset="0"/>
              <a:buChar char="•"/>
            </a:pPr>
            <a:r>
              <a:rPr lang="en-US" b="1" i="0" u="sng" dirty="0">
                <a:solidFill>
                  <a:srgbClr val="666666"/>
                </a:solidFill>
                <a:effectLst/>
                <a:latin typeface="Open Sans" panose="020B0606030504020204" pitchFamily="34" charset="0"/>
              </a:rPr>
              <a:t>A</a:t>
            </a:r>
            <a:r>
              <a:rPr lang="en-US" b="0" i="0" dirty="0">
                <a:solidFill>
                  <a:srgbClr val="666666"/>
                </a:solidFill>
                <a:effectLst/>
                <a:latin typeface="Open Sans" panose="020B0606030504020204" pitchFamily="34" charset="0"/>
              </a:rPr>
              <a:t>chievable: Be honest—is the resolution reasonable? Perhaps start with a smaller goal.</a:t>
            </a:r>
          </a:p>
          <a:p>
            <a:pPr algn="l" fontAlgn="base">
              <a:buFont typeface="Arial" panose="020B0604020202020204" pitchFamily="34" charset="0"/>
              <a:buChar char="•"/>
            </a:pPr>
            <a:r>
              <a:rPr lang="en-US" b="1" i="0" u="sng" dirty="0">
                <a:solidFill>
                  <a:srgbClr val="666666"/>
                </a:solidFill>
                <a:effectLst/>
                <a:latin typeface="Open Sans" panose="020B0606030504020204" pitchFamily="34" charset="0"/>
              </a:rPr>
              <a:t>R</a:t>
            </a:r>
            <a:r>
              <a:rPr lang="en-US" b="0" i="0" dirty="0">
                <a:solidFill>
                  <a:srgbClr val="666666"/>
                </a:solidFill>
                <a:effectLst/>
                <a:latin typeface="Open Sans" panose="020B0606030504020204" pitchFamily="34" charset="0"/>
              </a:rPr>
              <a:t>elevant: Ask yourself why you are setting this goal. Is it important enough to motivate you to achieve it?</a:t>
            </a:r>
          </a:p>
          <a:p>
            <a:pPr algn="l" fontAlgn="base">
              <a:buFont typeface="Arial" panose="020B0604020202020204" pitchFamily="34" charset="0"/>
              <a:buChar char="•"/>
            </a:pPr>
            <a:r>
              <a:rPr lang="en-US" b="1" i="0" u="sng" dirty="0">
                <a:solidFill>
                  <a:srgbClr val="666666"/>
                </a:solidFill>
                <a:effectLst/>
                <a:latin typeface="Open Sans" panose="020B0606030504020204" pitchFamily="34" charset="0"/>
              </a:rPr>
              <a:t>T</a:t>
            </a:r>
            <a:r>
              <a:rPr lang="en-US" b="0" i="0" dirty="0">
                <a:solidFill>
                  <a:srgbClr val="666666"/>
                </a:solidFill>
                <a:effectLst/>
                <a:latin typeface="Open Sans" panose="020B0606030504020204" pitchFamily="34" charset="0"/>
              </a:rPr>
              <a:t>ime-bound: Set realistic time frames to achieve your goals. </a:t>
            </a:r>
          </a:p>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15</a:t>
            </a:fld>
            <a:endParaRPr lang="en-US"/>
          </a:p>
        </p:txBody>
      </p:sp>
    </p:spTree>
    <p:extLst>
      <p:ext uri="{BB962C8B-B14F-4D97-AF65-F5344CB8AC3E}">
        <p14:creationId xmlns:p14="http://schemas.microsoft.com/office/powerpoint/2010/main" val="1533206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effectLst/>
                <a:latin typeface="Satoshi"/>
              </a:rPr>
              <a:t>Strengths</a:t>
            </a:r>
            <a:r>
              <a:rPr lang="en-US" b="0" i="0" dirty="0">
                <a:effectLst/>
                <a:latin typeface="Satoshi"/>
              </a:rPr>
              <a:t>: Internal attributes that contribute positively to achieving goals. For students, these could include skills, knowledge, and personal traits.</a:t>
            </a:r>
          </a:p>
          <a:p>
            <a:pPr algn="l"/>
            <a:r>
              <a:rPr lang="en-US" b="1" i="0" dirty="0">
                <a:effectLst/>
                <a:latin typeface="Satoshi"/>
              </a:rPr>
              <a:t>Weaknesses</a:t>
            </a:r>
            <a:r>
              <a:rPr lang="en-US" b="0" i="0" dirty="0">
                <a:effectLst/>
                <a:latin typeface="Satoshi"/>
              </a:rPr>
              <a:t>: Internal factors that hinder progress. These might be areas where students need improvement or lack resources.</a:t>
            </a:r>
          </a:p>
          <a:p>
            <a:pPr algn="l"/>
            <a:r>
              <a:rPr lang="en-US" b="1" i="0" dirty="0">
                <a:effectLst/>
                <a:latin typeface="Satoshi"/>
              </a:rPr>
              <a:t>Opportunities</a:t>
            </a:r>
            <a:r>
              <a:rPr lang="en-US" b="0" i="0" dirty="0">
                <a:effectLst/>
                <a:latin typeface="Satoshi"/>
              </a:rPr>
              <a:t>: External factors that can be leveraged for success. These include trends, events, or circumstances that can be beneficial.</a:t>
            </a:r>
          </a:p>
          <a:p>
            <a:pPr algn="l"/>
            <a:r>
              <a:rPr lang="en-US" b="1" i="0" dirty="0">
                <a:effectLst/>
                <a:latin typeface="Satoshi"/>
              </a:rPr>
              <a:t>Threats</a:t>
            </a:r>
            <a:r>
              <a:rPr lang="en-US" b="0" i="0" dirty="0">
                <a:effectLst/>
                <a:latin typeface="Satoshi"/>
              </a:rPr>
              <a:t>: External factors that could cause problems or obstacles. These might be competition, changes in the academic environment, or personal challenges</a:t>
            </a:r>
          </a:p>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20</a:t>
            </a:fld>
            <a:endParaRPr lang="en-US"/>
          </a:p>
        </p:txBody>
      </p:sp>
    </p:spTree>
    <p:extLst>
      <p:ext uri="{BB962C8B-B14F-4D97-AF65-F5344CB8AC3E}">
        <p14:creationId xmlns:p14="http://schemas.microsoft.com/office/powerpoint/2010/main" val="588650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effectLst/>
                <a:latin typeface="Satoshi"/>
              </a:rPr>
              <a:t>Example 1: Undergraduate Student Seeking Internship</a:t>
            </a:r>
            <a:endParaRPr lang="en-US" b="0" i="0" dirty="0">
              <a:effectLst/>
              <a:latin typeface="Satoshi"/>
            </a:endParaRPr>
          </a:p>
          <a:p>
            <a:pPr algn="l"/>
            <a:r>
              <a:rPr lang="en-US" b="1" i="0" dirty="0">
                <a:effectLst/>
                <a:latin typeface="Satoshi"/>
              </a:rPr>
              <a:t>Strengths✨✨:</a:t>
            </a:r>
            <a:endParaRPr lang="en-US" b="0" i="0" dirty="0">
              <a:effectLst/>
              <a:latin typeface="Satoshi"/>
            </a:endParaRPr>
          </a:p>
          <a:p>
            <a:pPr algn="l"/>
            <a:r>
              <a:rPr lang="en-US" b="1" i="0" dirty="0">
                <a:effectLst/>
                <a:latin typeface="Satoshi"/>
              </a:rPr>
              <a:t>-Analytical Skills:</a:t>
            </a:r>
            <a:r>
              <a:rPr lang="en-US" b="0" i="0" dirty="0">
                <a:effectLst/>
                <a:latin typeface="Satoshi"/>
              </a:rPr>
              <a:t> Strong problem-solving abilities demonstrated through high grades in mathematics and computer science courses.</a:t>
            </a:r>
          </a:p>
          <a:p>
            <a:pPr algn="l"/>
            <a:r>
              <a:rPr lang="en-US" b="1" i="0" dirty="0">
                <a:effectLst/>
                <a:latin typeface="Satoshi"/>
              </a:rPr>
              <a:t>-Technical Proficiency:</a:t>
            </a:r>
            <a:r>
              <a:rPr lang="en-US" b="0" i="0" dirty="0">
                <a:effectLst/>
                <a:latin typeface="Satoshi"/>
              </a:rPr>
              <a:t> Proficient in programming languages such as Python, Java, and C++.</a:t>
            </a:r>
          </a:p>
          <a:p>
            <a:pPr algn="l"/>
            <a:r>
              <a:rPr lang="en-US" b="1" i="0" dirty="0">
                <a:effectLst/>
                <a:latin typeface="Satoshi"/>
              </a:rPr>
              <a:t>-Communication Skills:</a:t>
            </a:r>
            <a:r>
              <a:rPr lang="en-US" b="0" i="0" dirty="0">
                <a:effectLst/>
                <a:latin typeface="Satoshi"/>
              </a:rPr>
              <a:t> Excellent verbal and written communication skills, evidenced by presentations and essays.</a:t>
            </a:r>
          </a:p>
          <a:p>
            <a:pPr algn="l"/>
            <a:r>
              <a:rPr lang="en-US" b="1" i="0" dirty="0">
                <a:effectLst/>
                <a:latin typeface="Satoshi"/>
              </a:rPr>
              <a:t>-Teamwork:</a:t>
            </a:r>
            <a:r>
              <a:rPr lang="en-US" b="0" i="0" dirty="0">
                <a:effectLst/>
                <a:latin typeface="Satoshi"/>
              </a:rPr>
              <a:t> Experience in working effectively within team projects and group studies.</a:t>
            </a:r>
          </a:p>
          <a:p>
            <a:pPr algn="l"/>
            <a:r>
              <a:rPr lang="en-US" b="1" i="0" dirty="0">
                <a:effectLst/>
                <a:latin typeface="Satoshi"/>
              </a:rPr>
              <a:t>Weaknesses:</a:t>
            </a:r>
            <a:endParaRPr lang="en-US" b="0" i="0" dirty="0">
              <a:effectLst/>
              <a:latin typeface="Satoshi"/>
            </a:endParaRPr>
          </a:p>
          <a:p>
            <a:pPr algn="l"/>
            <a:r>
              <a:rPr lang="en-US" b="0" i="0" dirty="0">
                <a:effectLst/>
                <a:latin typeface="Satoshi"/>
              </a:rPr>
              <a:t>-</a:t>
            </a:r>
            <a:r>
              <a:rPr lang="en-US" b="1" i="0" dirty="0">
                <a:effectLst/>
                <a:latin typeface="Satoshi"/>
              </a:rPr>
              <a:t>Limited Professional Experience:</a:t>
            </a:r>
            <a:r>
              <a:rPr lang="en-US" b="0" i="0" dirty="0">
                <a:effectLst/>
                <a:latin typeface="Satoshi"/>
              </a:rPr>
              <a:t> Only a few short-term internships and volunteer work relevant to the field.</a:t>
            </a:r>
          </a:p>
          <a:p>
            <a:pPr algn="l"/>
            <a:r>
              <a:rPr lang="en-US" b="0" i="0" dirty="0">
                <a:effectLst/>
                <a:latin typeface="Satoshi"/>
              </a:rPr>
              <a:t>-</a:t>
            </a:r>
            <a:r>
              <a:rPr lang="en-US" b="1" i="0" dirty="0">
                <a:effectLst/>
                <a:latin typeface="Satoshi"/>
              </a:rPr>
              <a:t>Time Management:</a:t>
            </a:r>
            <a:r>
              <a:rPr lang="en-US" b="0" i="0" dirty="0">
                <a:effectLst/>
                <a:latin typeface="Satoshi"/>
              </a:rPr>
              <a:t> Tendency to procrastinate, especially on long-term assignments.</a:t>
            </a:r>
          </a:p>
          <a:p>
            <a:pPr algn="l"/>
            <a:r>
              <a:rPr lang="en-US" b="0" i="0" dirty="0">
                <a:effectLst/>
                <a:latin typeface="Satoshi"/>
              </a:rPr>
              <a:t>-</a:t>
            </a:r>
            <a:r>
              <a:rPr lang="en-US" b="1" i="0" dirty="0">
                <a:effectLst/>
                <a:latin typeface="Satoshi"/>
              </a:rPr>
              <a:t>Public Speaking Anxiety:</a:t>
            </a:r>
            <a:r>
              <a:rPr lang="en-US" b="0" i="0" dirty="0">
                <a:effectLst/>
                <a:latin typeface="Satoshi"/>
              </a:rPr>
              <a:t> Nervousness during public speaking or large presentations.</a:t>
            </a:r>
          </a:p>
          <a:p>
            <a:pPr algn="l"/>
            <a:r>
              <a:rPr lang="en-US" b="0" i="0" dirty="0">
                <a:effectLst/>
                <a:latin typeface="Satoshi"/>
              </a:rPr>
              <a:t>-</a:t>
            </a:r>
            <a:r>
              <a:rPr lang="en-US" b="1" i="0" dirty="0">
                <a:effectLst/>
                <a:latin typeface="Satoshi"/>
              </a:rPr>
              <a:t>Networking Skills:</a:t>
            </a:r>
            <a:r>
              <a:rPr lang="en-US" b="0" i="0" dirty="0">
                <a:effectLst/>
                <a:latin typeface="Satoshi"/>
              </a:rPr>
              <a:t> Limited professional network within the desired industry.</a:t>
            </a:r>
          </a:p>
          <a:p>
            <a:pPr algn="l"/>
            <a:r>
              <a:rPr lang="en-US" b="1" i="0" dirty="0">
                <a:effectLst/>
                <a:latin typeface="Satoshi"/>
              </a:rPr>
              <a:t>Opportunities:</a:t>
            </a:r>
            <a:endParaRPr lang="en-US" b="0" i="0" dirty="0">
              <a:effectLst/>
              <a:latin typeface="Satoshi"/>
            </a:endParaRPr>
          </a:p>
          <a:p>
            <a:pPr algn="l"/>
            <a:r>
              <a:rPr lang="en-US" b="0" i="0" dirty="0">
                <a:effectLst/>
                <a:latin typeface="Satoshi"/>
              </a:rPr>
              <a:t>-</a:t>
            </a:r>
            <a:r>
              <a:rPr lang="en-US" b="1" i="0" dirty="0">
                <a:effectLst/>
                <a:latin typeface="Satoshi"/>
              </a:rPr>
              <a:t>Internship Programs:</a:t>
            </a:r>
            <a:r>
              <a:rPr lang="en-US" b="0" i="0" dirty="0">
                <a:effectLst/>
                <a:latin typeface="Satoshi"/>
              </a:rPr>
              <a:t> Availability of internship programs at leading tech companies.</a:t>
            </a:r>
          </a:p>
          <a:p>
            <a:pPr algn="l"/>
            <a:r>
              <a:rPr lang="en-US" b="0" i="0" dirty="0">
                <a:effectLst/>
                <a:latin typeface="Satoshi"/>
              </a:rPr>
              <a:t>-</a:t>
            </a:r>
            <a:r>
              <a:rPr lang="en-US" b="1" i="0" dirty="0">
                <a:effectLst/>
                <a:latin typeface="Satoshi"/>
              </a:rPr>
              <a:t>University Resources:</a:t>
            </a:r>
            <a:r>
              <a:rPr lang="en-US" b="0" i="0" dirty="0">
                <a:effectLst/>
                <a:latin typeface="Satoshi"/>
              </a:rPr>
              <a:t> Access to career services, networking events, and mentorship programs through the university.</a:t>
            </a:r>
          </a:p>
          <a:p>
            <a:pPr algn="l"/>
            <a:r>
              <a:rPr lang="en-US" b="0" i="0" dirty="0">
                <a:effectLst/>
                <a:latin typeface="Satoshi"/>
              </a:rPr>
              <a:t>-</a:t>
            </a:r>
            <a:r>
              <a:rPr lang="en-US" b="1" i="0" dirty="0">
                <a:effectLst/>
                <a:latin typeface="Satoshi"/>
              </a:rPr>
              <a:t>Industry Trends:</a:t>
            </a:r>
            <a:r>
              <a:rPr lang="en-US" b="0" i="0" dirty="0">
                <a:effectLst/>
                <a:latin typeface="Satoshi"/>
              </a:rPr>
              <a:t> Growing demand for software developers and data analysts in the tech industry.</a:t>
            </a:r>
          </a:p>
          <a:p>
            <a:pPr algn="l"/>
            <a:r>
              <a:rPr lang="en-US" b="1" i="0" dirty="0">
                <a:effectLst/>
                <a:latin typeface="Satoshi"/>
              </a:rPr>
              <a:t>Threats:</a:t>
            </a:r>
            <a:endParaRPr lang="en-US" b="0" i="0" dirty="0">
              <a:effectLst/>
              <a:latin typeface="Satoshi"/>
            </a:endParaRPr>
          </a:p>
          <a:p>
            <a:pPr algn="l"/>
            <a:r>
              <a:rPr lang="en-US" b="0" i="0" dirty="0">
                <a:effectLst/>
                <a:latin typeface="Satoshi"/>
              </a:rPr>
              <a:t>-</a:t>
            </a:r>
            <a:r>
              <a:rPr lang="en-US" b="1" i="0" dirty="0">
                <a:effectLst/>
                <a:latin typeface="Satoshi"/>
              </a:rPr>
              <a:t>High Competition:</a:t>
            </a:r>
            <a:r>
              <a:rPr lang="en-US" b="0" i="0" dirty="0">
                <a:effectLst/>
                <a:latin typeface="Satoshi"/>
              </a:rPr>
              <a:t> Intense competition for internship positions at top companies.</a:t>
            </a:r>
          </a:p>
          <a:p>
            <a:pPr algn="l"/>
            <a:r>
              <a:rPr lang="en-US" b="0" i="0" dirty="0">
                <a:effectLst/>
                <a:latin typeface="Satoshi"/>
              </a:rPr>
              <a:t>-</a:t>
            </a:r>
            <a:r>
              <a:rPr lang="en-US" b="1" i="0" dirty="0">
                <a:effectLst/>
                <a:latin typeface="Satoshi"/>
              </a:rPr>
              <a:t>Rapid Technological Change:</a:t>
            </a:r>
            <a:r>
              <a:rPr lang="en-US" b="0" i="0" dirty="0">
                <a:effectLst/>
                <a:latin typeface="Satoshi"/>
              </a:rPr>
              <a:t> Need to continuously update skills to keep up with fast-evolving technology.</a:t>
            </a:r>
          </a:p>
          <a:p>
            <a:pPr algn="l"/>
            <a:r>
              <a:rPr lang="en-US" b="0" i="0" dirty="0">
                <a:effectLst/>
                <a:latin typeface="Satoshi"/>
              </a:rPr>
              <a:t>-</a:t>
            </a:r>
            <a:r>
              <a:rPr lang="en-US" b="1" i="0" dirty="0">
                <a:effectLst/>
                <a:latin typeface="Satoshi"/>
              </a:rPr>
              <a:t>Economic Factors:</a:t>
            </a:r>
            <a:r>
              <a:rPr lang="en-US" b="0" i="0" dirty="0">
                <a:effectLst/>
                <a:latin typeface="Satoshi"/>
              </a:rPr>
              <a:t> Potential economic downturn affecting hiring rates and internship availability.</a:t>
            </a:r>
          </a:p>
          <a:p>
            <a:pPr algn="l"/>
            <a:r>
              <a:rPr lang="en-US" b="1" i="0" dirty="0">
                <a:effectLst/>
                <a:latin typeface="Satoshi"/>
              </a:rPr>
              <a:t>Example 2: High School Student Preparing for College Applications</a:t>
            </a:r>
            <a:endParaRPr lang="en-US" b="0" i="0" dirty="0">
              <a:effectLst/>
              <a:latin typeface="Satoshi"/>
            </a:endParaRPr>
          </a:p>
          <a:p>
            <a:pPr algn="l"/>
            <a:r>
              <a:rPr lang="en-US" b="1" i="0" dirty="0">
                <a:effectLst/>
                <a:latin typeface="Satoshi"/>
              </a:rPr>
              <a:t>Strengths✨✨:</a:t>
            </a:r>
            <a:endParaRPr lang="en-US" b="0" i="0" dirty="0">
              <a:effectLst/>
              <a:latin typeface="Satoshi"/>
            </a:endParaRPr>
          </a:p>
          <a:p>
            <a:pPr algn="l"/>
            <a:r>
              <a:rPr lang="en-US" b="0" i="0" dirty="0">
                <a:effectLst/>
                <a:latin typeface="Satoshi"/>
              </a:rPr>
              <a:t>-</a:t>
            </a:r>
            <a:r>
              <a:rPr lang="en-US" b="1" i="0" dirty="0">
                <a:effectLst/>
                <a:latin typeface="Satoshi"/>
              </a:rPr>
              <a:t>Academic Performance:</a:t>
            </a:r>
            <a:r>
              <a:rPr lang="en-US" b="0" i="0" dirty="0">
                <a:effectLst/>
                <a:latin typeface="Satoshi"/>
              </a:rPr>
              <a:t> High GPA and strong performance in advanced placement (AP) courses.</a:t>
            </a:r>
          </a:p>
          <a:p>
            <a:pPr algn="l"/>
            <a:r>
              <a:rPr lang="en-US" b="0" i="0" dirty="0">
                <a:effectLst/>
                <a:latin typeface="Satoshi"/>
              </a:rPr>
              <a:t>-</a:t>
            </a:r>
            <a:r>
              <a:rPr lang="en-US" b="1" i="0" dirty="0">
                <a:effectLst/>
                <a:latin typeface="Satoshi"/>
              </a:rPr>
              <a:t>Leadership:</a:t>
            </a:r>
            <a:r>
              <a:rPr lang="en-US" b="0" i="0" dirty="0">
                <a:effectLst/>
                <a:latin typeface="Satoshi"/>
              </a:rPr>
              <a:t> Leadership roles in student government and other school organizations.</a:t>
            </a:r>
          </a:p>
          <a:p>
            <a:pPr algn="l"/>
            <a:r>
              <a:rPr lang="en-US" b="0" i="0" dirty="0">
                <a:effectLst/>
                <a:latin typeface="Satoshi"/>
              </a:rPr>
              <a:t>-</a:t>
            </a:r>
            <a:r>
              <a:rPr lang="en-US" b="1" i="0" dirty="0">
                <a:effectLst/>
                <a:latin typeface="Satoshi"/>
              </a:rPr>
              <a:t>Resilience:</a:t>
            </a:r>
            <a:r>
              <a:rPr lang="en-US" b="0" i="0" dirty="0">
                <a:effectLst/>
                <a:latin typeface="Satoshi"/>
              </a:rPr>
              <a:t> Ability to handle academic and personal challenges effectively.</a:t>
            </a:r>
          </a:p>
          <a:p>
            <a:pPr algn="l"/>
            <a:r>
              <a:rPr lang="en-US" b="1" i="0" dirty="0">
                <a:effectLst/>
                <a:latin typeface="Satoshi"/>
              </a:rPr>
              <a:t>Weaknesses:</a:t>
            </a:r>
            <a:endParaRPr lang="en-US" b="0" i="0" dirty="0">
              <a:effectLst/>
              <a:latin typeface="Satoshi"/>
            </a:endParaRPr>
          </a:p>
          <a:p>
            <a:pPr algn="l"/>
            <a:r>
              <a:rPr lang="en-US" b="0" i="0" dirty="0">
                <a:effectLst/>
                <a:latin typeface="Satoshi"/>
              </a:rPr>
              <a:t>-</a:t>
            </a:r>
            <a:r>
              <a:rPr lang="en-US" b="1" i="0" dirty="0">
                <a:effectLst/>
                <a:latin typeface="Satoshi"/>
              </a:rPr>
              <a:t>Standardized Testing:</a:t>
            </a:r>
            <a:r>
              <a:rPr lang="en-US" b="0" i="0" dirty="0">
                <a:effectLst/>
                <a:latin typeface="Satoshi"/>
              </a:rPr>
              <a:t> Moderate scores on SAT/ACT compared to peers.</a:t>
            </a:r>
          </a:p>
          <a:p>
            <a:pPr algn="l"/>
            <a:r>
              <a:rPr lang="en-US" b="0" i="0" dirty="0">
                <a:effectLst/>
                <a:latin typeface="Satoshi"/>
              </a:rPr>
              <a:t>-</a:t>
            </a:r>
            <a:r>
              <a:rPr lang="en-US" b="1" i="0" dirty="0">
                <a:effectLst/>
                <a:latin typeface="Satoshi"/>
              </a:rPr>
              <a:t>Volunteering:</a:t>
            </a:r>
            <a:r>
              <a:rPr lang="en-US" b="0" i="0" dirty="0">
                <a:effectLst/>
                <a:latin typeface="Satoshi"/>
              </a:rPr>
              <a:t> Limited volunteer and community service experience.</a:t>
            </a:r>
          </a:p>
          <a:p>
            <a:pPr algn="l"/>
            <a:r>
              <a:rPr lang="en-US" b="0" i="0" dirty="0">
                <a:effectLst/>
                <a:latin typeface="Satoshi"/>
              </a:rPr>
              <a:t>-</a:t>
            </a:r>
            <a:r>
              <a:rPr lang="en-US" b="1" i="0" dirty="0">
                <a:effectLst/>
                <a:latin typeface="Satoshi"/>
              </a:rPr>
              <a:t>Application Skills:</a:t>
            </a:r>
            <a:r>
              <a:rPr lang="en-US" b="0" i="0" dirty="0">
                <a:effectLst/>
                <a:latin typeface="Satoshi"/>
              </a:rPr>
              <a:t> Lack of experience in writing college application essays and preparing for interviews.</a:t>
            </a:r>
          </a:p>
          <a:p>
            <a:pPr algn="l"/>
            <a:r>
              <a:rPr lang="en-US" b="1" i="0" dirty="0">
                <a:effectLst/>
                <a:latin typeface="Satoshi"/>
              </a:rPr>
              <a:t>Opportunities:</a:t>
            </a:r>
            <a:endParaRPr lang="en-US" b="0" i="0" dirty="0">
              <a:effectLst/>
              <a:latin typeface="Satoshi"/>
            </a:endParaRPr>
          </a:p>
          <a:p>
            <a:pPr algn="l"/>
            <a:r>
              <a:rPr lang="en-US" b="0" i="0" dirty="0">
                <a:effectLst/>
                <a:latin typeface="Satoshi"/>
              </a:rPr>
              <a:t>-</a:t>
            </a:r>
            <a:r>
              <a:rPr lang="en-US" b="1" i="0" dirty="0">
                <a:effectLst/>
                <a:latin typeface="Satoshi"/>
              </a:rPr>
              <a:t>Scholarships:</a:t>
            </a:r>
            <a:r>
              <a:rPr lang="en-US" b="0" i="0" dirty="0">
                <a:effectLst/>
                <a:latin typeface="Satoshi"/>
              </a:rPr>
              <a:t> Various scholarships are available for students with strong academic and extracurricular records.</a:t>
            </a:r>
          </a:p>
          <a:p>
            <a:pPr algn="l"/>
            <a:r>
              <a:rPr lang="en-US" b="0" i="0" dirty="0">
                <a:effectLst/>
                <a:latin typeface="Satoshi"/>
              </a:rPr>
              <a:t>-</a:t>
            </a:r>
            <a:r>
              <a:rPr lang="en-US" b="1" i="0" dirty="0">
                <a:effectLst/>
                <a:latin typeface="Satoshi"/>
              </a:rPr>
              <a:t>Networking:</a:t>
            </a:r>
            <a:r>
              <a:rPr lang="en-US" b="0" i="0" dirty="0">
                <a:effectLst/>
                <a:latin typeface="Satoshi"/>
              </a:rPr>
              <a:t> Opportunities to connect with alumni and professionals through school events and online platforms.</a:t>
            </a:r>
          </a:p>
          <a:p>
            <a:pPr algn="l"/>
            <a:r>
              <a:rPr lang="en-US" b="0" i="0" dirty="0">
                <a:effectLst/>
                <a:latin typeface="Satoshi"/>
              </a:rPr>
              <a:t>-</a:t>
            </a:r>
            <a:r>
              <a:rPr lang="en-US" b="1" i="0" dirty="0">
                <a:effectLst/>
                <a:latin typeface="Satoshi"/>
              </a:rPr>
              <a:t>Mentorship:</a:t>
            </a:r>
            <a:r>
              <a:rPr lang="en-US" b="0" i="0" dirty="0">
                <a:effectLst/>
                <a:latin typeface="Satoshi"/>
              </a:rPr>
              <a:t> Availability of mentorship programs to guide through the college application process.</a:t>
            </a:r>
          </a:p>
          <a:p>
            <a:pPr algn="l"/>
            <a:r>
              <a:rPr lang="en-US" b="1" i="0" dirty="0">
                <a:effectLst/>
                <a:latin typeface="Satoshi"/>
              </a:rPr>
              <a:t>Threats:</a:t>
            </a:r>
            <a:endParaRPr lang="en-US" b="0" i="0" dirty="0">
              <a:effectLst/>
              <a:latin typeface="Satoshi"/>
            </a:endParaRPr>
          </a:p>
          <a:p>
            <a:pPr algn="l"/>
            <a:r>
              <a:rPr lang="en-US" b="0" i="0" dirty="0">
                <a:effectLst/>
                <a:latin typeface="Satoshi"/>
              </a:rPr>
              <a:t>-</a:t>
            </a:r>
            <a:r>
              <a:rPr lang="en-US" b="1" i="0" dirty="0">
                <a:effectLst/>
                <a:latin typeface="Satoshi"/>
              </a:rPr>
              <a:t>Increasing Competition:</a:t>
            </a:r>
            <a:r>
              <a:rPr lang="en-US" b="0" i="0" dirty="0">
                <a:effectLst/>
                <a:latin typeface="Satoshi"/>
              </a:rPr>
              <a:t> Rising number of applicants to top-tier colleges.</a:t>
            </a:r>
          </a:p>
          <a:p>
            <a:pPr algn="l"/>
            <a:r>
              <a:rPr lang="en-US" b="0" i="0" dirty="0">
                <a:effectLst/>
                <a:latin typeface="Satoshi"/>
              </a:rPr>
              <a:t>-</a:t>
            </a:r>
            <a:r>
              <a:rPr lang="en-US" b="1" i="0" dirty="0">
                <a:effectLst/>
                <a:latin typeface="Satoshi"/>
              </a:rPr>
              <a:t>Financial Constraints:</a:t>
            </a:r>
            <a:r>
              <a:rPr lang="en-US" b="0" i="0" dirty="0">
                <a:effectLst/>
                <a:latin typeface="Satoshi"/>
              </a:rPr>
              <a:t> Potential financial challenges in affording out-of-state or private colleges.</a:t>
            </a:r>
          </a:p>
          <a:p>
            <a:pPr algn="l"/>
            <a:r>
              <a:rPr lang="en-US" b="0" i="0" dirty="0">
                <a:effectLst/>
                <a:latin typeface="Satoshi"/>
              </a:rPr>
              <a:t>-</a:t>
            </a:r>
            <a:r>
              <a:rPr lang="en-US" b="1" i="0" dirty="0">
                <a:effectLst/>
                <a:latin typeface="Satoshi"/>
              </a:rPr>
              <a:t>Admission Policies:</a:t>
            </a:r>
            <a:r>
              <a:rPr lang="en-US" b="0" i="0" dirty="0">
                <a:effectLst/>
                <a:latin typeface="Satoshi"/>
              </a:rPr>
              <a:t> Changing admission policies and criteria due to external factors like the pandemic.</a:t>
            </a:r>
          </a:p>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21</a:t>
            </a:fld>
            <a:endParaRPr lang="en-US"/>
          </a:p>
        </p:txBody>
      </p:sp>
    </p:spTree>
    <p:extLst>
      <p:ext uri="{BB962C8B-B14F-4D97-AF65-F5344CB8AC3E}">
        <p14:creationId xmlns:p14="http://schemas.microsoft.com/office/powerpoint/2010/main" val="3057041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34</a:t>
            </a:fld>
            <a:endParaRPr lang="en-US"/>
          </a:p>
        </p:txBody>
      </p:sp>
    </p:spTree>
    <p:extLst>
      <p:ext uri="{BB962C8B-B14F-4D97-AF65-F5344CB8AC3E}">
        <p14:creationId xmlns:p14="http://schemas.microsoft.com/office/powerpoint/2010/main" val="22235877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B588F"/>
                </a:solidFill>
                <a:effectLst/>
                <a:latin typeface="Raleway" pitchFamily="2" charset="0"/>
              </a:rPr>
              <a:t>Cost-Benefit Analysis</a:t>
            </a:r>
          </a:p>
          <a:p>
            <a:pPr algn="l" latinLnBrk="0"/>
            <a:r>
              <a:rPr lang="en-US" b="0" i="0" dirty="0">
                <a:solidFill>
                  <a:srgbClr val="191A19"/>
                </a:solidFill>
                <a:effectLst/>
                <a:latin typeface="Roboto" panose="02000000000000000000" pitchFamily="2" charset="0"/>
              </a:rPr>
              <a:t>The cost-benefit analysis remains one of the most reliable project selection methods I’ve used throughout my career. Refine this approach to include both </a:t>
            </a:r>
            <a:r>
              <a:rPr lang="en-US" b="0" i="0" u="sng" dirty="0">
                <a:solidFill>
                  <a:srgbClr val="0B588F"/>
                </a:solidFill>
                <a:effectLst/>
                <a:latin typeface="Roboto" panose="02000000000000000000" pitchFamily="2" charset="0"/>
                <a:hlinkClick r:id="rId3"/>
              </a:rPr>
              <a:t>quantitative</a:t>
            </a:r>
            <a:r>
              <a:rPr lang="en-US" b="0" i="0" dirty="0">
                <a:solidFill>
                  <a:srgbClr val="191A19"/>
                </a:solidFill>
                <a:effectLst/>
                <a:latin typeface="Roboto" panose="02000000000000000000" pitchFamily="2" charset="0"/>
              </a:rPr>
              <a:t> and </a:t>
            </a:r>
            <a:r>
              <a:rPr lang="en-US" b="0" i="0" u="sng" dirty="0">
                <a:solidFill>
                  <a:srgbClr val="0B588F"/>
                </a:solidFill>
                <a:effectLst/>
                <a:latin typeface="Roboto" panose="02000000000000000000" pitchFamily="2" charset="0"/>
                <a:hlinkClick r:id="rId4"/>
              </a:rPr>
              <a:t>qualitative</a:t>
            </a:r>
            <a:r>
              <a:rPr lang="en-US" b="0" i="0" dirty="0">
                <a:solidFill>
                  <a:srgbClr val="191A19"/>
                </a:solidFill>
                <a:effectLst/>
                <a:latin typeface="Roboto" panose="02000000000000000000" pitchFamily="2" charset="0"/>
              </a:rPr>
              <a:t> factors.</a:t>
            </a:r>
          </a:p>
          <a:p>
            <a:pPr algn="l" latinLnBrk="0"/>
            <a:r>
              <a:rPr lang="en-US" b="0" i="0" dirty="0">
                <a:solidFill>
                  <a:srgbClr val="191A19"/>
                </a:solidFill>
                <a:effectLst/>
                <a:latin typeface="Roboto" panose="02000000000000000000" pitchFamily="2" charset="0"/>
              </a:rPr>
              <a:t>Here’s a practical example from my consulting work:</a:t>
            </a:r>
          </a:p>
          <a:p>
            <a:pPr algn="l" latinLnBrk="0"/>
            <a:r>
              <a:rPr lang="en-US" b="0" i="0" dirty="0">
                <a:solidFill>
                  <a:srgbClr val="191A19"/>
                </a:solidFill>
                <a:effectLst/>
                <a:latin typeface="Roboto" panose="02000000000000000000" pitchFamily="2" charset="0"/>
              </a:rPr>
              <a:t>When helping a manufacturing client evaluate a new automation project, we analyzed:</a:t>
            </a:r>
          </a:p>
          <a:p>
            <a:pPr algn="l">
              <a:buFont typeface="Arial" panose="020B0604020202020204" pitchFamily="34" charset="0"/>
              <a:buChar char="•"/>
            </a:pPr>
            <a:r>
              <a:rPr lang="en-US" b="0" i="0" dirty="0">
                <a:solidFill>
                  <a:srgbClr val="191A19"/>
                </a:solidFill>
                <a:effectLst/>
                <a:latin typeface="Roboto" panose="02000000000000000000" pitchFamily="2" charset="0"/>
              </a:rPr>
              <a:t>Initial investment: $2.5M</a:t>
            </a:r>
          </a:p>
          <a:p>
            <a:pPr algn="l">
              <a:buFont typeface="Arial" panose="020B0604020202020204" pitchFamily="34" charset="0"/>
              <a:buChar char="•"/>
            </a:pPr>
            <a:r>
              <a:rPr lang="en-US" b="0" i="0" dirty="0">
                <a:solidFill>
                  <a:srgbClr val="191A19"/>
                </a:solidFill>
                <a:effectLst/>
                <a:latin typeface="Roboto" panose="02000000000000000000" pitchFamily="2" charset="0"/>
              </a:rPr>
              <a:t>Annual labor savings: $800K</a:t>
            </a:r>
          </a:p>
          <a:p>
            <a:pPr algn="l">
              <a:buFont typeface="Arial" panose="020B0604020202020204" pitchFamily="34" charset="0"/>
              <a:buChar char="•"/>
            </a:pPr>
            <a:r>
              <a:rPr lang="en-US" b="0" i="0" dirty="0">
                <a:solidFill>
                  <a:srgbClr val="191A19"/>
                </a:solidFill>
                <a:effectLst/>
                <a:latin typeface="Roboto" panose="02000000000000000000" pitchFamily="2" charset="0"/>
              </a:rPr>
              <a:t>Quality improvement savings: $400K</a:t>
            </a:r>
          </a:p>
          <a:p>
            <a:pPr algn="l">
              <a:buFont typeface="Arial" panose="020B0604020202020204" pitchFamily="34" charset="0"/>
              <a:buChar char="•"/>
            </a:pPr>
            <a:r>
              <a:rPr lang="en-US" b="0" i="0" dirty="0">
                <a:solidFill>
                  <a:srgbClr val="191A19"/>
                </a:solidFill>
                <a:effectLst/>
                <a:latin typeface="Roboto" panose="02000000000000000000" pitchFamily="2" charset="0"/>
              </a:rPr>
              <a:t>Maintenance costs: $150K/year</a:t>
            </a:r>
          </a:p>
          <a:p>
            <a:pPr algn="l">
              <a:buFont typeface="Arial" panose="020B0604020202020204" pitchFamily="34" charset="0"/>
              <a:buChar char="•"/>
            </a:pPr>
            <a:r>
              <a:rPr lang="en-US" b="0" i="0" dirty="0">
                <a:solidFill>
                  <a:srgbClr val="191A19"/>
                </a:solidFill>
                <a:effectLst/>
                <a:latin typeface="Roboto" panose="02000000000000000000" pitchFamily="2" charset="0"/>
              </a:rPr>
              <a:t>Training requirements: $100K</a:t>
            </a:r>
          </a:p>
          <a:p>
            <a:pPr algn="l" latinLnBrk="0"/>
            <a:r>
              <a:rPr lang="en-US" b="0" i="0" dirty="0">
                <a:solidFill>
                  <a:srgbClr val="191A19"/>
                </a:solidFill>
                <a:effectLst/>
                <a:latin typeface="Roboto" panose="02000000000000000000" pitchFamily="2" charset="0"/>
              </a:rPr>
              <a:t>The ROI calculation showed a 3-year payback period, but we also considered intangible benefits like improved employee satisfaction and reduced safety risks. I’ve found that successful </a:t>
            </a:r>
            <a:r>
              <a:rPr lang="en-US" b="0" i="0" u="sng" dirty="0">
                <a:solidFill>
                  <a:srgbClr val="0B588F"/>
                </a:solidFill>
                <a:effectLst/>
                <a:latin typeface="Roboto" panose="02000000000000000000" pitchFamily="2" charset="0"/>
                <a:hlinkClick r:id="rId5"/>
              </a:rPr>
              <a:t>cost-benefit analyses</a:t>
            </a:r>
            <a:r>
              <a:rPr lang="en-US" b="0" i="0" dirty="0">
                <a:solidFill>
                  <a:srgbClr val="191A19"/>
                </a:solidFill>
                <a:effectLst/>
                <a:latin typeface="Roboto" panose="02000000000000000000" pitchFamily="2" charset="0"/>
              </a:rPr>
              <a:t> must look beyond pure numbers.</a:t>
            </a:r>
          </a:p>
          <a:p>
            <a:pPr algn="l"/>
            <a:r>
              <a:rPr lang="en-US" b="1" i="0" dirty="0">
                <a:solidFill>
                  <a:srgbClr val="0B588F"/>
                </a:solidFill>
                <a:effectLst/>
                <a:latin typeface="Raleway" pitchFamily="2" charset="0"/>
              </a:rPr>
              <a:t>Scoring Models</a:t>
            </a:r>
          </a:p>
          <a:p>
            <a:pPr algn="l" latinLnBrk="0"/>
            <a:r>
              <a:rPr lang="en-US" b="0" i="0" dirty="0">
                <a:solidFill>
                  <a:srgbClr val="191A19"/>
                </a:solidFill>
                <a:effectLst/>
                <a:latin typeface="Roboto" panose="02000000000000000000" pitchFamily="2" charset="0"/>
              </a:rPr>
              <a:t>In our workshops, I often emphasize that </a:t>
            </a:r>
            <a:r>
              <a:rPr lang="en-US" b="0" i="0" u="sng" dirty="0">
                <a:solidFill>
                  <a:srgbClr val="0B588F"/>
                </a:solidFill>
                <a:effectLst/>
                <a:latin typeface="Roboto" panose="02000000000000000000" pitchFamily="2" charset="0"/>
                <a:hlinkClick r:id="rId6"/>
              </a:rPr>
              <a:t>scoring models</a:t>
            </a:r>
            <a:r>
              <a:rPr lang="en-US" b="0" i="0" dirty="0">
                <a:solidFill>
                  <a:srgbClr val="191A19"/>
                </a:solidFill>
                <a:effectLst/>
                <a:latin typeface="Roboto" panose="02000000000000000000" pitchFamily="2" charset="0"/>
              </a:rPr>
              <a:t> are particularly effective for comparing dissimilar projects.</a:t>
            </a:r>
          </a:p>
          <a:p>
            <a:pPr algn="l" latinLnBrk="0"/>
            <a:r>
              <a:rPr lang="en-US" b="1" i="0" dirty="0">
                <a:solidFill>
                  <a:srgbClr val="191A19"/>
                </a:solidFill>
                <a:effectLst/>
                <a:latin typeface="Roboto" panose="02000000000000000000" pitchFamily="2" charset="0"/>
              </a:rPr>
              <a:t>Step-by-Step Guide to Creating a Scoring Model:</a:t>
            </a:r>
            <a:endParaRPr lang="en-US" b="0" i="0" dirty="0">
              <a:solidFill>
                <a:srgbClr val="191A19"/>
              </a:solidFill>
              <a:effectLst/>
              <a:latin typeface="Roboto" panose="02000000000000000000" pitchFamily="2" charset="0"/>
            </a:endParaRPr>
          </a:p>
          <a:p>
            <a:pPr algn="l">
              <a:buFont typeface="+mj-lt"/>
              <a:buAutoNum type="arabicPeriod"/>
            </a:pPr>
            <a:r>
              <a:rPr lang="en-US" b="0" i="0" dirty="0">
                <a:solidFill>
                  <a:srgbClr val="191A19"/>
                </a:solidFill>
                <a:effectLst/>
                <a:latin typeface="Roboto" panose="02000000000000000000" pitchFamily="2" charset="0"/>
              </a:rPr>
              <a:t>Identify key criteria (strategic alignment, risk, resource requirements)</a:t>
            </a:r>
          </a:p>
          <a:p>
            <a:pPr algn="l">
              <a:buFont typeface="+mj-lt"/>
              <a:buAutoNum type="arabicPeriod"/>
            </a:pPr>
            <a:r>
              <a:rPr lang="en-US" b="0" i="0" dirty="0">
                <a:solidFill>
                  <a:srgbClr val="191A19"/>
                </a:solidFill>
                <a:effectLst/>
                <a:latin typeface="Roboto" panose="02000000000000000000" pitchFamily="2" charset="0"/>
              </a:rPr>
              <a:t>Assign weights to each criterion (typically 1-5)</a:t>
            </a:r>
          </a:p>
          <a:p>
            <a:pPr algn="l">
              <a:buFont typeface="+mj-lt"/>
              <a:buAutoNum type="arabicPeriod"/>
            </a:pPr>
            <a:r>
              <a:rPr lang="en-US" b="0" i="0" dirty="0">
                <a:solidFill>
                  <a:srgbClr val="191A19"/>
                </a:solidFill>
                <a:effectLst/>
                <a:latin typeface="Roboto" panose="02000000000000000000" pitchFamily="2" charset="0"/>
              </a:rPr>
              <a:t>Develop scoring scales (1-10) for each criterion</a:t>
            </a:r>
          </a:p>
          <a:p>
            <a:pPr algn="l">
              <a:buFont typeface="+mj-lt"/>
              <a:buAutoNum type="arabicPeriod"/>
            </a:pPr>
            <a:r>
              <a:rPr lang="en-US" b="0" i="0" dirty="0">
                <a:solidFill>
                  <a:srgbClr val="191A19"/>
                </a:solidFill>
                <a:effectLst/>
                <a:latin typeface="Roboto" panose="02000000000000000000" pitchFamily="2" charset="0"/>
              </a:rPr>
              <a:t>Create evaluation matrices</a:t>
            </a:r>
          </a:p>
          <a:p>
            <a:pPr algn="l">
              <a:buFont typeface="+mj-lt"/>
              <a:buAutoNum type="arabicPeriod"/>
            </a:pPr>
            <a:r>
              <a:rPr lang="en-US" b="0" i="0" dirty="0">
                <a:solidFill>
                  <a:srgbClr val="191A19"/>
                </a:solidFill>
                <a:effectLst/>
                <a:latin typeface="Roboto" panose="02000000000000000000" pitchFamily="2" charset="0"/>
              </a:rPr>
              <a:t>Calculate weighted scores</a:t>
            </a:r>
          </a:p>
          <a:p>
            <a:pPr algn="l"/>
            <a:r>
              <a:rPr lang="en-US" b="1" i="0" dirty="0">
                <a:solidFill>
                  <a:srgbClr val="0B588F"/>
                </a:solidFill>
                <a:effectLst/>
                <a:latin typeface="Raleway" pitchFamily="2" charset="0"/>
              </a:rPr>
              <a:t>Analytical Hierarchy Process (AHP)</a:t>
            </a:r>
          </a:p>
          <a:p>
            <a:pPr algn="l" latinLnBrk="0"/>
            <a:r>
              <a:rPr lang="en-US" b="0" i="0" dirty="0">
                <a:solidFill>
                  <a:srgbClr val="191A19"/>
                </a:solidFill>
                <a:effectLst/>
                <a:latin typeface="Roboto" panose="02000000000000000000" pitchFamily="2" charset="0"/>
              </a:rPr>
              <a:t>The </a:t>
            </a:r>
            <a:r>
              <a:rPr lang="en-US" b="0" i="0" u="sng" dirty="0">
                <a:solidFill>
                  <a:srgbClr val="0B588F"/>
                </a:solidFill>
                <a:effectLst/>
                <a:latin typeface="Roboto" panose="02000000000000000000" pitchFamily="2" charset="0"/>
                <a:hlinkClick r:id="rId7"/>
              </a:rPr>
              <a:t>AHP method</a:t>
            </a:r>
            <a:r>
              <a:rPr lang="en-US" b="0" i="0" dirty="0">
                <a:solidFill>
                  <a:srgbClr val="191A19"/>
                </a:solidFill>
                <a:effectLst/>
                <a:latin typeface="Roboto" panose="02000000000000000000" pitchFamily="2" charset="0"/>
              </a:rPr>
              <a:t> has been particularly valuable in complex decision-making scenarios. During a project, we used AHP to prioritize R&amp;D projects, resulting in a 40% improvement in project success rates.</a:t>
            </a:r>
          </a:p>
          <a:p>
            <a:pPr algn="l" latinLnBrk="0"/>
            <a:r>
              <a:rPr lang="en-US" b="1" i="0" dirty="0">
                <a:solidFill>
                  <a:srgbClr val="191A19"/>
                </a:solidFill>
                <a:effectLst/>
                <a:latin typeface="Roboto" panose="02000000000000000000" pitchFamily="2" charset="0"/>
              </a:rPr>
              <a:t>Case Study</a:t>
            </a:r>
            <a:r>
              <a:rPr lang="en-US" b="0" i="0" dirty="0">
                <a:solidFill>
                  <a:srgbClr val="191A19"/>
                </a:solidFill>
                <a:effectLst/>
                <a:latin typeface="Roboto" panose="02000000000000000000" pitchFamily="2" charset="0"/>
              </a:rPr>
              <a:t>: Technology Investment at a technology company</a:t>
            </a:r>
          </a:p>
          <a:p>
            <a:pPr algn="l" latinLnBrk="0"/>
            <a:r>
              <a:rPr lang="en-US" b="0" i="0" dirty="0">
                <a:solidFill>
                  <a:srgbClr val="191A19"/>
                </a:solidFill>
                <a:effectLst/>
                <a:latin typeface="Roboto" panose="02000000000000000000" pitchFamily="2" charset="0"/>
              </a:rPr>
              <a:t>We used AHP to evaluate competing infrastructure projects:</a:t>
            </a:r>
          </a:p>
          <a:p>
            <a:pPr algn="l">
              <a:buFont typeface="Arial" panose="020B0604020202020204" pitchFamily="34" charset="0"/>
              <a:buChar char="•"/>
            </a:pPr>
            <a:r>
              <a:rPr lang="en-US" b="1" i="0" dirty="0">
                <a:solidFill>
                  <a:srgbClr val="191A19"/>
                </a:solidFill>
                <a:effectLst/>
                <a:latin typeface="Roboto" panose="02000000000000000000" pitchFamily="2" charset="0"/>
              </a:rPr>
              <a:t>Criteria</a:t>
            </a:r>
            <a:r>
              <a:rPr lang="en-US" b="0" i="0" dirty="0">
                <a:solidFill>
                  <a:srgbClr val="191A19"/>
                </a:solidFill>
                <a:effectLst/>
                <a:latin typeface="Roboto" panose="02000000000000000000" pitchFamily="2" charset="0"/>
              </a:rPr>
              <a:t>: Technical feasibility, market potential, resource availability</a:t>
            </a:r>
          </a:p>
          <a:p>
            <a:pPr algn="l">
              <a:buFont typeface="Arial" panose="020B0604020202020204" pitchFamily="34" charset="0"/>
              <a:buChar char="•"/>
            </a:pPr>
            <a:r>
              <a:rPr lang="en-US" b="1" i="0" dirty="0">
                <a:solidFill>
                  <a:srgbClr val="191A19"/>
                </a:solidFill>
                <a:effectLst/>
                <a:latin typeface="Roboto" panose="02000000000000000000" pitchFamily="2" charset="0"/>
              </a:rPr>
              <a:t>Alternatives</a:t>
            </a:r>
            <a:r>
              <a:rPr lang="en-US" b="0" i="0" dirty="0">
                <a:solidFill>
                  <a:srgbClr val="191A19"/>
                </a:solidFill>
                <a:effectLst/>
                <a:latin typeface="Roboto" panose="02000000000000000000" pitchFamily="2" charset="0"/>
              </a:rPr>
              <a:t>: Three different technology platforms</a:t>
            </a:r>
          </a:p>
          <a:p>
            <a:pPr algn="l">
              <a:buFont typeface="Arial" panose="020B0604020202020204" pitchFamily="34" charset="0"/>
              <a:buChar char="•"/>
            </a:pPr>
            <a:r>
              <a:rPr lang="en-US" b="1" i="0" dirty="0">
                <a:solidFill>
                  <a:srgbClr val="191A19"/>
                </a:solidFill>
                <a:effectLst/>
                <a:latin typeface="Roboto" panose="02000000000000000000" pitchFamily="2" charset="0"/>
              </a:rPr>
              <a:t>Outcome</a:t>
            </a:r>
            <a:r>
              <a:rPr lang="en-US" b="0" i="0" dirty="0">
                <a:solidFill>
                  <a:srgbClr val="191A19"/>
                </a:solidFill>
                <a:effectLst/>
                <a:latin typeface="Roboto" panose="02000000000000000000" pitchFamily="2" charset="0"/>
              </a:rPr>
              <a:t>: Selected project delivered 25% higher ROI than the historical average</a:t>
            </a:r>
          </a:p>
          <a:p>
            <a:pPr algn="l"/>
            <a:r>
              <a:rPr lang="en-US" b="1" i="0" dirty="0">
                <a:solidFill>
                  <a:srgbClr val="0B588F"/>
                </a:solidFill>
                <a:effectLst/>
                <a:latin typeface="Raleway" pitchFamily="2" charset="0"/>
              </a:rPr>
              <a:t>Emerging Trends: AI-Assisted Selection Methods</a:t>
            </a:r>
          </a:p>
          <a:p>
            <a:pPr algn="l" latinLnBrk="0"/>
            <a:r>
              <a:rPr lang="en-US" b="0" i="0" dirty="0">
                <a:solidFill>
                  <a:srgbClr val="191A19"/>
                </a:solidFill>
                <a:effectLst/>
                <a:latin typeface="Roboto" panose="02000000000000000000" pitchFamily="2" charset="0"/>
              </a:rPr>
              <a:t>Having worked with cutting-edge technologies throughout my career, I’m particularly excited about </a:t>
            </a:r>
            <a:r>
              <a:rPr lang="en-US" b="0" i="0" u="sng" dirty="0">
                <a:solidFill>
                  <a:srgbClr val="0B588F"/>
                </a:solidFill>
                <a:effectLst/>
                <a:latin typeface="Roboto" panose="02000000000000000000" pitchFamily="2" charset="0"/>
                <a:hlinkClick r:id="rId8"/>
              </a:rPr>
              <a:t>AI’s role in project selection</a:t>
            </a:r>
            <a:r>
              <a:rPr lang="en-US" b="0" i="0" dirty="0">
                <a:solidFill>
                  <a:srgbClr val="191A19"/>
                </a:solidFill>
                <a:effectLst/>
                <a:latin typeface="Roboto" panose="02000000000000000000" pitchFamily="2" charset="0"/>
              </a:rPr>
              <a:t>. </a:t>
            </a:r>
          </a:p>
          <a:p>
            <a:pPr algn="l" latinLnBrk="0"/>
            <a:r>
              <a:rPr lang="en-US" b="1" i="0" dirty="0">
                <a:solidFill>
                  <a:srgbClr val="191A19"/>
                </a:solidFill>
                <a:effectLst/>
                <a:latin typeface="Roboto" panose="02000000000000000000" pitchFamily="2" charset="0"/>
              </a:rPr>
              <a:t>Key AI Applications in Project Selection:</a:t>
            </a:r>
            <a:endParaRPr lang="en-US" b="0" i="0" dirty="0">
              <a:solidFill>
                <a:srgbClr val="191A19"/>
              </a:solidFill>
              <a:effectLst/>
              <a:latin typeface="Roboto" panose="02000000000000000000" pitchFamily="2" charset="0"/>
            </a:endParaRPr>
          </a:p>
          <a:p>
            <a:pPr algn="l">
              <a:buFont typeface="Arial" panose="020B0604020202020204" pitchFamily="34" charset="0"/>
              <a:buChar char="•"/>
            </a:pPr>
            <a:r>
              <a:rPr lang="en-US" b="0" i="0" u="sng" dirty="0">
                <a:solidFill>
                  <a:srgbClr val="0B588F"/>
                </a:solidFill>
                <a:effectLst/>
                <a:latin typeface="Roboto" panose="02000000000000000000" pitchFamily="2" charset="0"/>
                <a:hlinkClick r:id="rId9"/>
              </a:rPr>
              <a:t>Predictive analytics</a:t>
            </a:r>
            <a:r>
              <a:rPr lang="en-US" b="0" i="0" dirty="0">
                <a:solidFill>
                  <a:srgbClr val="191A19"/>
                </a:solidFill>
                <a:effectLst/>
                <a:latin typeface="Roboto" panose="02000000000000000000" pitchFamily="2" charset="0"/>
              </a:rPr>
              <a:t> for project success probability</a:t>
            </a:r>
          </a:p>
          <a:p>
            <a:pPr algn="l">
              <a:buFont typeface="Arial" panose="020B0604020202020204" pitchFamily="34" charset="0"/>
              <a:buChar char="•"/>
            </a:pPr>
            <a:r>
              <a:rPr lang="en-US" b="0" i="0" dirty="0">
                <a:solidFill>
                  <a:srgbClr val="191A19"/>
                </a:solidFill>
                <a:effectLst/>
                <a:latin typeface="Roboto" panose="02000000000000000000" pitchFamily="2" charset="0"/>
              </a:rPr>
              <a:t>Pattern recognition in historical project data</a:t>
            </a:r>
          </a:p>
          <a:p>
            <a:pPr algn="l">
              <a:buFont typeface="Arial" panose="020B0604020202020204" pitchFamily="34" charset="0"/>
              <a:buChar char="•"/>
            </a:pPr>
            <a:r>
              <a:rPr lang="en-US" b="0" i="0" u="sng" dirty="0">
                <a:solidFill>
                  <a:srgbClr val="0B588F"/>
                </a:solidFill>
                <a:effectLst/>
                <a:latin typeface="Roboto" panose="02000000000000000000" pitchFamily="2" charset="0"/>
                <a:hlinkClick r:id="rId10"/>
              </a:rPr>
              <a:t>Risk assessment automation</a:t>
            </a:r>
            <a:endParaRPr lang="en-US" b="0" i="0" dirty="0">
              <a:solidFill>
                <a:srgbClr val="191A19"/>
              </a:solidFill>
              <a:effectLst/>
              <a:latin typeface="Roboto" panose="02000000000000000000" pitchFamily="2" charset="0"/>
            </a:endParaRPr>
          </a:p>
          <a:p>
            <a:pPr algn="l">
              <a:buFont typeface="Arial" panose="020B0604020202020204" pitchFamily="34" charset="0"/>
              <a:buChar char="•"/>
            </a:pPr>
            <a:r>
              <a:rPr lang="en-US" b="0" i="0" dirty="0">
                <a:solidFill>
                  <a:srgbClr val="191A19"/>
                </a:solidFill>
                <a:effectLst/>
                <a:latin typeface="Roboto" panose="02000000000000000000" pitchFamily="2" charset="0"/>
              </a:rPr>
              <a:t>Resource optimization algorithms</a:t>
            </a:r>
          </a:p>
          <a:p>
            <a:pPr algn="l" latinLnBrk="0"/>
            <a:r>
              <a:rPr lang="en-US" b="0" i="0" dirty="0">
                <a:solidFill>
                  <a:srgbClr val="191A19"/>
                </a:solidFill>
                <a:effectLst/>
                <a:latin typeface="Roboto" panose="02000000000000000000" pitchFamily="2" charset="0"/>
              </a:rPr>
              <a:t>However, I always caution my clients that AI should complement, not replace, human judgment. The most effective approach I’ve found is a hybrid model that combines:</a:t>
            </a:r>
          </a:p>
          <a:p>
            <a:pPr algn="l">
              <a:buFont typeface="Arial" panose="020B0604020202020204" pitchFamily="34" charset="0"/>
              <a:buChar char="•"/>
            </a:pPr>
            <a:r>
              <a:rPr lang="en-US" b="0" i="0" u="sng" dirty="0">
                <a:solidFill>
                  <a:srgbClr val="0B588F"/>
                </a:solidFill>
                <a:effectLst/>
                <a:latin typeface="Roboto" panose="02000000000000000000" pitchFamily="2" charset="0"/>
                <a:hlinkClick r:id="rId11"/>
              </a:rPr>
              <a:t>AI-driven data analysis</a:t>
            </a:r>
            <a:endParaRPr lang="en-US" b="0" i="0" dirty="0">
              <a:solidFill>
                <a:srgbClr val="191A19"/>
              </a:solidFill>
              <a:effectLst/>
              <a:latin typeface="Roboto" panose="02000000000000000000" pitchFamily="2" charset="0"/>
            </a:endParaRPr>
          </a:p>
          <a:p>
            <a:pPr algn="l">
              <a:buFont typeface="Arial" panose="020B0604020202020204" pitchFamily="34" charset="0"/>
              <a:buChar char="•"/>
            </a:pPr>
            <a:r>
              <a:rPr lang="en-US" b="0" i="0" dirty="0">
                <a:solidFill>
                  <a:srgbClr val="191A19"/>
                </a:solidFill>
                <a:effectLst/>
                <a:latin typeface="Roboto" panose="02000000000000000000" pitchFamily="2" charset="0"/>
              </a:rPr>
              <a:t>Traditional selection methods</a:t>
            </a:r>
          </a:p>
          <a:p>
            <a:pPr algn="l">
              <a:buFont typeface="Arial" panose="020B0604020202020204" pitchFamily="34" charset="0"/>
              <a:buChar char="•"/>
            </a:pPr>
            <a:r>
              <a:rPr lang="en-US" b="0" i="0" dirty="0">
                <a:solidFill>
                  <a:srgbClr val="191A19"/>
                </a:solidFill>
                <a:effectLst/>
                <a:latin typeface="Roboto" panose="02000000000000000000" pitchFamily="2" charset="0"/>
              </a:rPr>
              <a:t>Expert judgment</a:t>
            </a:r>
          </a:p>
          <a:p>
            <a:pPr algn="l">
              <a:buFont typeface="Arial" panose="020B0604020202020204" pitchFamily="34" charset="0"/>
              <a:buChar char="•"/>
            </a:pPr>
            <a:r>
              <a:rPr lang="en-US" b="0" i="0" dirty="0">
                <a:solidFill>
                  <a:srgbClr val="191A19"/>
                </a:solidFill>
                <a:effectLst/>
                <a:latin typeface="Roboto" panose="02000000000000000000" pitchFamily="2" charset="0"/>
              </a:rPr>
              <a:t>Stakeholder input</a:t>
            </a:r>
          </a:p>
          <a:p>
            <a:pPr algn="l" latinLnBrk="0"/>
            <a:r>
              <a:rPr lang="en-US" b="1" i="0" dirty="0">
                <a:solidFill>
                  <a:srgbClr val="191A19"/>
                </a:solidFill>
                <a:effectLst/>
                <a:latin typeface="Roboto" panose="02000000000000000000" pitchFamily="2" charset="0"/>
              </a:rPr>
              <a:t>Pro Tip</a:t>
            </a:r>
            <a:r>
              <a:rPr lang="en-US" b="0" i="0" dirty="0">
                <a:solidFill>
                  <a:srgbClr val="191A19"/>
                </a:solidFill>
                <a:effectLst/>
                <a:latin typeface="Roboto" panose="02000000000000000000" pitchFamily="2" charset="0"/>
              </a:rPr>
              <a:t>: When implementing AI-assisted methods, start with a pilot program focusing on smaller, less critical projects to build confidence in the system.</a:t>
            </a:r>
          </a:p>
          <a:p>
            <a:pPr algn="l" latinLnBrk="0"/>
            <a:r>
              <a:rPr lang="en-US" b="1" i="0" dirty="0">
                <a:solidFill>
                  <a:srgbClr val="191A19"/>
                </a:solidFill>
                <a:effectLst/>
                <a:latin typeface="Raleway" pitchFamily="2" charset="0"/>
              </a:rPr>
              <a:t>Master the essential tools for effective project selection and analysis.</a:t>
            </a:r>
          </a:p>
          <a:p>
            <a:pPr algn="l"/>
            <a:r>
              <a:rPr lang="en-US" b="1" i="0" u="none" strike="noStrike" dirty="0">
                <a:solidFill>
                  <a:srgbClr val="FFFFFF"/>
                </a:solidFill>
                <a:effectLst/>
                <a:latin typeface="Raleway" pitchFamily="2" charset="0"/>
                <a:hlinkClick r:id="rId12"/>
              </a:rPr>
              <a:t>Start Learning</a:t>
            </a:r>
            <a:endParaRPr lang="en-US" b="0" i="0" dirty="0">
              <a:solidFill>
                <a:srgbClr val="191A19"/>
              </a:solidFill>
              <a:effectLst/>
              <a:latin typeface="Roboto" panose="02000000000000000000" pitchFamily="2" charset="0"/>
            </a:endParaRPr>
          </a:p>
          <a:p>
            <a:pPr algn="l" latinLnBrk="0"/>
            <a:r>
              <a:rPr lang="en-US" b="0" i="0" dirty="0">
                <a:solidFill>
                  <a:srgbClr val="191A19"/>
                </a:solidFill>
                <a:effectLst/>
                <a:latin typeface="Roboto" panose="02000000000000000000" pitchFamily="2" charset="0"/>
              </a:rPr>
              <a:t>Lean Six Sigma Green Belt certification equips you with practical skills in process mapping, C&amp;E Matrix, FMEA, and more.</a:t>
            </a:r>
          </a:p>
          <a:p>
            <a:pPr algn="l" latinLnBrk="0"/>
            <a:r>
              <a:rPr lang="en-US" b="1" i="0" dirty="0">
                <a:solidFill>
                  <a:srgbClr val="191A19"/>
                </a:solidFill>
                <a:effectLst/>
                <a:latin typeface="Raleway" pitchFamily="2" charset="0"/>
              </a:rPr>
              <a:t>The Project Selection Process</a:t>
            </a:r>
          </a:p>
          <a:p>
            <a:pPr algn="l" latinLnBrk="0"/>
            <a:r>
              <a:rPr lang="en-US" b="0" i="0" dirty="0">
                <a:solidFill>
                  <a:srgbClr val="191A19"/>
                </a:solidFill>
                <a:effectLst/>
                <a:latin typeface="Roboto" panose="02000000000000000000" pitchFamily="2" charset="0"/>
              </a:rPr>
              <a:t>Having led countless Six Sigma deployments across organizations, I’ve learned that a structured project selection process is crucial for success.</a:t>
            </a:r>
          </a:p>
          <a:p>
            <a:br>
              <a:rPr lang="en-US" dirty="0"/>
            </a:br>
            <a:endParaRPr lang="en-US" dirty="0"/>
          </a:p>
        </p:txBody>
      </p:sp>
      <p:sp>
        <p:nvSpPr>
          <p:cNvPr id="4" name="Slide Number Placeholder 3"/>
          <p:cNvSpPr>
            <a:spLocks noGrp="1"/>
          </p:cNvSpPr>
          <p:nvPr>
            <p:ph type="sldNum" sz="quarter" idx="5"/>
          </p:nvPr>
        </p:nvSpPr>
        <p:spPr/>
        <p:txBody>
          <a:bodyPr/>
          <a:lstStyle/>
          <a:p>
            <a:fld id="{FF5E58E8-2A57-4EB4-9654-5B9CFE406948}" type="slidenum">
              <a:rPr lang="en-US" smtClean="0"/>
              <a:t>35</a:t>
            </a:fld>
            <a:endParaRPr lang="en-US"/>
          </a:p>
        </p:txBody>
      </p:sp>
    </p:spTree>
    <p:extLst>
      <p:ext uri="{BB962C8B-B14F-4D97-AF65-F5344CB8AC3E}">
        <p14:creationId xmlns:p14="http://schemas.microsoft.com/office/powerpoint/2010/main" val="1867693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10/5/2025</a:t>
            </a:fld>
            <a:endParaRPr lang="en-US"/>
          </a:p>
        </p:txBody>
      </p:sp>
      <p:sp>
        <p:nvSpPr>
          <p:cNvPr id="6" name="Holder 6"/>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10/5/2025</a:t>
            </a:fld>
            <a:endParaRPr lang="en-US"/>
          </a:p>
        </p:txBody>
      </p:sp>
      <p:sp>
        <p:nvSpPr>
          <p:cNvPr id="7" name="Holder 7"/>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10/5/2025</a:t>
            </a:fld>
            <a:endParaRPr lang="en-US"/>
          </a:p>
        </p:txBody>
      </p:sp>
      <p:sp>
        <p:nvSpPr>
          <p:cNvPr id="5" name="Holder 5"/>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10/5/2025</a:t>
            </a:fld>
            <a:endParaRPr lang="en-US"/>
          </a:p>
        </p:txBody>
      </p:sp>
      <p:sp>
        <p:nvSpPr>
          <p:cNvPr id="4" name="Holder 4"/>
          <p:cNvSpPr>
            <a:spLocks noGrp="1"/>
          </p:cNvSpPr>
          <p:nvPr>
            <p:ph type="sldNum" sz="quarter" idx="7"/>
          </p:nvPr>
        </p:nvSpPr>
        <p:spPr/>
        <p:txBody>
          <a:bodyPr lIns="0" tIns="0" rIns="0" bIns="0"/>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533377"/>
            <a:ext cx="9959975" cy="0"/>
          </a:xfrm>
          <a:custGeom>
            <a:avLst/>
            <a:gdLst/>
            <a:ahLst/>
            <a:cxnLst/>
            <a:rect l="l" t="t" r="r" b="b"/>
            <a:pathLst>
              <a:path w="9959975">
                <a:moveTo>
                  <a:pt x="0" y="0"/>
                </a:moveTo>
                <a:lnTo>
                  <a:pt x="9959926" y="1"/>
                </a:lnTo>
              </a:path>
            </a:pathLst>
          </a:custGeom>
          <a:ln w="57150">
            <a:solidFill>
              <a:srgbClr val="4472C4"/>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10631358" y="58331"/>
            <a:ext cx="1491574" cy="534930"/>
          </a:xfrm>
          <a:prstGeom prst="rect">
            <a:avLst/>
          </a:prstGeom>
        </p:spPr>
      </p:pic>
      <p:sp>
        <p:nvSpPr>
          <p:cNvPr id="2" name="Holder 2"/>
          <p:cNvSpPr>
            <a:spLocks noGrp="1"/>
          </p:cNvSpPr>
          <p:nvPr>
            <p:ph type="title"/>
          </p:nvPr>
        </p:nvSpPr>
        <p:spPr>
          <a:xfrm>
            <a:off x="916939" y="615856"/>
            <a:ext cx="10358120" cy="683260"/>
          </a:xfrm>
          <a:prstGeom prst="rect">
            <a:avLst/>
          </a:prstGeom>
        </p:spPr>
        <p:txBody>
          <a:bodyPr wrap="square" lIns="0" tIns="0" rIns="0" bIns="0">
            <a:spAutoFit/>
          </a:bodyPr>
          <a:lstStyle>
            <a:lvl1pPr>
              <a:defRPr sz="43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628139"/>
            <a:ext cx="10358120" cy="479552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10/5/2025</a:t>
            </a:fld>
            <a:endParaRPr lang="en-US"/>
          </a:p>
        </p:txBody>
      </p:sp>
      <p:sp>
        <p:nvSpPr>
          <p:cNvPr id="6" name="Holder 6"/>
          <p:cNvSpPr>
            <a:spLocks noGrp="1"/>
          </p:cNvSpPr>
          <p:nvPr>
            <p:ph type="sldNum" sz="quarter" idx="7"/>
          </p:nvPr>
        </p:nvSpPr>
        <p:spPr>
          <a:xfrm>
            <a:off x="11713804" y="6428920"/>
            <a:ext cx="244475" cy="211454"/>
          </a:xfrm>
          <a:prstGeom prst="rect">
            <a:avLst/>
          </a:prstGeom>
        </p:spPr>
        <p:txBody>
          <a:bodyPr wrap="square" lIns="0" tIns="0" rIns="0" bIns="0">
            <a:spAutoFit/>
          </a:bodyPr>
          <a:lstStyle>
            <a:lvl1pPr>
              <a:defRPr sz="1200" b="1" i="0">
                <a:solidFill>
                  <a:srgbClr val="898989"/>
                </a:solidFill>
                <a:latin typeface="Calibri"/>
                <a:cs typeface="Calibri"/>
              </a:defRPr>
            </a:lvl1pPr>
          </a:lstStyle>
          <a:p>
            <a:pPr marL="115570">
              <a:lnSpc>
                <a:spcPct val="100000"/>
              </a:lnSpc>
              <a:spcBef>
                <a:spcPts val="4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business-studies/what-is-deliverable-in-project-managemen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fema.gov/grants/tools/benefit-cost-analysi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6sigma.us/six-sigma-in-focus/pillars-of-risk-management/"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00782" y="1133228"/>
            <a:ext cx="7616190" cy="1570355"/>
          </a:xfrm>
          <a:prstGeom prst="rect">
            <a:avLst/>
          </a:prstGeom>
        </p:spPr>
        <p:txBody>
          <a:bodyPr vert="horz" wrap="square" lIns="0" tIns="93980" rIns="0" bIns="0" rtlCol="0">
            <a:spAutoFit/>
          </a:bodyPr>
          <a:lstStyle/>
          <a:p>
            <a:pPr marL="1391285" marR="5080" indent="-1379220">
              <a:lnSpc>
                <a:spcPts val="5810"/>
              </a:lnSpc>
              <a:spcBef>
                <a:spcPts val="740"/>
              </a:spcBef>
            </a:pPr>
            <a:r>
              <a:rPr sz="5300" spc="100" dirty="0">
                <a:solidFill>
                  <a:srgbClr val="C00000"/>
                </a:solidFill>
              </a:rPr>
              <a:t>Organization:</a:t>
            </a:r>
            <a:r>
              <a:rPr sz="5300" spc="150" dirty="0">
                <a:solidFill>
                  <a:srgbClr val="C00000"/>
                </a:solidFill>
              </a:rPr>
              <a:t> </a:t>
            </a:r>
            <a:r>
              <a:rPr sz="5300" spc="90" dirty="0">
                <a:solidFill>
                  <a:srgbClr val="C00000"/>
                </a:solidFill>
              </a:rPr>
              <a:t>Strategy</a:t>
            </a:r>
            <a:r>
              <a:rPr sz="5300" spc="155" dirty="0">
                <a:solidFill>
                  <a:srgbClr val="C00000"/>
                </a:solidFill>
              </a:rPr>
              <a:t> </a:t>
            </a:r>
            <a:r>
              <a:rPr sz="5300" spc="105" dirty="0">
                <a:solidFill>
                  <a:srgbClr val="C00000"/>
                </a:solidFill>
              </a:rPr>
              <a:t>and </a:t>
            </a:r>
            <a:r>
              <a:rPr sz="5300" spc="100" dirty="0">
                <a:solidFill>
                  <a:srgbClr val="C00000"/>
                </a:solidFill>
              </a:rPr>
              <a:t>Project</a:t>
            </a:r>
            <a:r>
              <a:rPr sz="5300" spc="150" dirty="0">
                <a:solidFill>
                  <a:srgbClr val="C00000"/>
                </a:solidFill>
              </a:rPr>
              <a:t> </a:t>
            </a:r>
            <a:r>
              <a:rPr sz="5300" spc="110" dirty="0">
                <a:solidFill>
                  <a:srgbClr val="C00000"/>
                </a:solidFill>
              </a:rPr>
              <a:t>Selection</a:t>
            </a:r>
            <a:endParaRPr sz="5300"/>
          </a:p>
        </p:txBody>
      </p:sp>
      <p:sp>
        <p:nvSpPr>
          <p:cNvPr id="3" name="object 3"/>
          <p:cNvSpPr txBox="1"/>
          <p:nvPr/>
        </p:nvSpPr>
        <p:spPr>
          <a:xfrm>
            <a:off x="4254436" y="2526822"/>
            <a:ext cx="3683635" cy="2605200"/>
          </a:xfrm>
          <a:prstGeom prst="rect">
            <a:avLst/>
          </a:prstGeom>
        </p:spPr>
        <p:txBody>
          <a:bodyPr vert="horz" wrap="square" lIns="0" tIns="167005" rIns="0" bIns="0" rtlCol="0">
            <a:spAutoFit/>
          </a:bodyPr>
          <a:lstStyle/>
          <a:p>
            <a:pPr marL="19685" algn="ctr">
              <a:lnSpc>
                <a:spcPct val="100000"/>
              </a:lnSpc>
              <a:spcBef>
                <a:spcPts val="1315"/>
              </a:spcBef>
            </a:pPr>
            <a:r>
              <a:rPr lang="en-US" sz="2400" spc="50" dirty="0">
                <a:latin typeface="Calibri Light"/>
                <a:cs typeface="Calibri Light"/>
              </a:rPr>
              <a:t>(25CPE4602)</a:t>
            </a:r>
            <a:endParaRPr lang="en-US" sz="2400" dirty="0">
              <a:latin typeface="Calibri Light"/>
              <a:cs typeface="Calibri Light"/>
            </a:endParaRPr>
          </a:p>
          <a:p>
            <a:pPr marL="25400" algn="ctr">
              <a:lnSpc>
                <a:spcPct val="100000"/>
              </a:lnSpc>
              <a:spcBef>
                <a:spcPts val="2065"/>
              </a:spcBef>
            </a:pPr>
            <a:r>
              <a:rPr sz="4000" b="1" dirty="0">
                <a:solidFill>
                  <a:srgbClr val="2F5597"/>
                </a:solidFill>
                <a:latin typeface="Calibri"/>
                <a:cs typeface="Calibri"/>
              </a:rPr>
              <a:t>Lecture</a:t>
            </a:r>
            <a:r>
              <a:rPr sz="4000" b="1" spc="-135" dirty="0">
                <a:solidFill>
                  <a:srgbClr val="2F5597"/>
                </a:solidFill>
                <a:latin typeface="Calibri"/>
                <a:cs typeface="Calibri"/>
              </a:rPr>
              <a:t> </a:t>
            </a:r>
            <a:r>
              <a:rPr sz="4000" b="1" spc="-50" dirty="0">
                <a:solidFill>
                  <a:srgbClr val="2F5597"/>
                </a:solidFill>
                <a:latin typeface="Calibri"/>
                <a:cs typeface="Calibri"/>
              </a:rPr>
              <a:t>2</a:t>
            </a:r>
            <a:endParaRPr sz="4000" dirty="0">
              <a:latin typeface="Calibri"/>
              <a:cs typeface="Calibri"/>
            </a:endParaRPr>
          </a:p>
          <a:p>
            <a:pPr algn="ctr">
              <a:lnSpc>
                <a:spcPts val="3279"/>
              </a:lnSpc>
              <a:spcBef>
                <a:spcPts val="2660"/>
              </a:spcBef>
            </a:pPr>
            <a:r>
              <a:rPr lang="en-US" sz="2400" spc="150" dirty="0">
                <a:latin typeface="Georgia"/>
                <a:cs typeface="Georgia"/>
              </a:rPr>
              <a:t>Dr.</a:t>
            </a:r>
            <a:r>
              <a:rPr lang="en-US" sz="2400" spc="254" dirty="0">
                <a:latin typeface="Georgia"/>
                <a:cs typeface="Georgia"/>
              </a:rPr>
              <a:t> </a:t>
            </a:r>
            <a:r>
              <a:rPr lang="en-US" sz="2400" spc="210" dirty="0">
                <a:latin typeface="Georgia"/>
                <a:cs typeface="Georgia"/>
              </a:rPr>
              <a:t>Zahraa Ismail</a:t>
            </a:r>
            <a:endParaRPr lang="en-US" sz="2400" dirty="0">
              <a:latin typeface="Georgia"/>
              <a:cs typeface="Georgia"/>
            </a:endParaRPr>
          </a:p>
          <a:p>
            <a:pPr>
              <a:lnSpc>
                <a:spcPct val="100000"/>
              </a:lnSpc>
              <a:spcBef>
                <a:spcPts val="114"/>
              </a:spcBef>
            </a:pPr>
            <a:endParaRPr sz="2600" dirty="0">
              <a:latin typeface="Calibri"/>
              <a:cs typeface="Calibri"/>
            </a:endParaRPr>
          </a:p>
        </p:txBody>
      </p:sp>
      <p:pic>
        <p:nvPicPr>
          <p:cNvPr id="4" name="object 4"/>
          <p:cNvPicPr/>
          <p:nvPr/>
        </p:nvPicPr>
        <p:blipFill>
          <a:blip r:embed="rId2" cstate="print"/>
          <a:stretch>
            <a:fillRect/>
          </a:stretch>
        </p:blipFill>
        <p:spPr>
          <a:xfrm>
            <a:off x="3770143" y="4722458"/>
            <a:ext cx="4677468" cy="2004628"/>
          </a:xfrm>
          <a:prstGeom prst="rect">
            <a:avLst/>
          </a:prstGeom>
        </p:spPr>
      </p:pic>
      <p:pic>
        <p:nvPicPr>
          <p:cNvPr id="6" name="Picture 5">
            <a:extLst>
              <a:ext uri="{FF2B5EF4-FFF2-40B4-BE49-F238E27FC236}">
                <a16:creationId xmlns:a16="http://schemas.microsoft.com/office/drawing/2014/main" id="{F2A7C123-C454-6286-151A-DB7C41935C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95" dirty="0">
                <a:solidFill>
                  <a:srgbClr val="FF0000"/>
                </a:solidFill>
              </a:rPr>
              <a:t>Definitions</a:t>
            </a:r>
          </a:p>
        </p:txBody>
      </p:sp>
      <p:sp>
        <p:nvSpPr>
          <p:cNvPr id="3" name="object 3"/>
          <p:cNvSpPr txBox="1"/>
          <p:nvPr/>
        </p:nvSpPr>
        <p:spPr>
          <a:xfrm>
            <a:off x="574686" y="1547367"/>
            <a:ext cx="10700385" cy="49784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 pos="2687955" algn="l"/>
                <a:tab pos="4007485" algn="l"/>
                <a:tab pos="4581525" algn="l"/>
                <a:tab pos="7044055" algn="l"/>
                <a:tab pos="7968615" algn="l"/>
                <a:tab pos="8750300" algn="l"/>
                <a:tab pos="9381490" algn="l"/>
              </a:tabLst>
            </a:pPr>
            <a:r>
              <a:rPr sz="3100" b="1" spc="-10" dirty="0">
                <a:solidFill>
                  <a:srgbClr val="C00000"/>
                </a:solidFill>
                <a:latin typeface="Calibri"/>
                <a:cs typeface="Calibri"/>
              </a:rPr>
              <a:t>Stakeholders:</a:t>
            </a:r>
            <a:r>
              <a:rPr sz="3100" b="1" dirty="0">
                <a:solidFill>
                  <a:srgbClr val="C00000"/>
                </a:solidFill>
                <a:latin typeface="Calibri"/>
                <a:cs typeface="Calibri"/>
              </a:rPr>
              <a:t>	</a:t>
            </a:r>
            <a:r>
              <a:rPr sz="3100" spc="-10" dirty="0">
                <a:latin typeface="Calibri"/>
                <a:cs typeface="Calibri"/>
              </a:rPr>
              <a:t>People</a:t>
            </a:r>
            <a:r>
              <a:rPr sz="3100" dirty="0">
                <a:latin typeface="Calibri"/>
                <a:cs typeface="Calibri"/>
              </a:rPr>
              <a:t>	</a:t>
            </a:r>
            <a:r>
              <a:rPr sz="3100" spc="-25" dirty="0">
                <a:latin typeface="Calibri"/>
                <a:cs typeface="Calibri"/>
              </a:rPr>
              <a:t>or</a:t>
            </a:r>
            <a:r>
              <a:rPr sz="3100" dirty="0">
                <a:latin typeface="Calibri"/>
                <a:cs typeface="Calibri"/>
              </a:rPr>
              <a:t>	</a:t>
            </a:r>
            <a:r>
              <a:rPr sz="3100" spc="-10" dirty="0">
                <a:latin typeface="Calibri"/>
                <a:cs typeface="Calibri"/>
              </a:rPr>
              <a:t>organizations;</a:t>
            </a:r>
            <a:r>
              <a:rPr sz="3100" dirty="0">
                <a:latin typeface="Calibri"/>
                <a:cs typeface="Calibri"/>
              </a:rPr>
              <a:t>	</a:t>
            </a:r>
            <a:r>
              <a:rPr sz="3100" spc="-25" dirty="0">
                <a:latin typeface="Calibri"/>
                <a:cs typeface="Calibri"/>
              </a:rPr>
              <a:t>who</a:t>
            </a:r>
            <a:r>
              <a:rPr sz="3100" dirty="0">
                <a:latin typeface="Calibri"/>
                <a:cs typeface="Calibri"/>
              </a:rPr>
              <a:t>	</a:t>
            </a:r>
            <a:r>
              <a:rPr sz="3100" spc="-20" dirty="0">
                <a:latin typeface="Calibri"/>
                <a:cs typeface="Calibri"/>
              </a:rPr>
              <a:t>will</a:t>
            </a:r>
            <a:r>
              <a:rPr sz="3100" dirty="0">
                <a:latin typeface="Calibri"/>
                <a:cs typeface="Calibri"/>
              </a:rPr>
              <a:t>	</a:t>
            </a:r>
            <a:r>
              <a:rPr sz="3100" spc="-25" dirty="0">
                <a:latin typeface="Calibri"/>
                <a:cs typeface="Calibri"/>
              </a:rPr>
              <a:t>be</a:t>
            </a:r>
            <a:r>
              <a:rPr sz="3100" dirty="0">
                <a:latin typeface="Calibri"/>
                <a:cs typeface="Calibri"/>
              </a:rPr>
              <a:t>	</a:t>
            </a:r>
            <a:r>
              <a:rPr sz="3100" spc="-20" dirty="0">
                <a:latin typeface="Calibri"/>
                <a:cs typeface="Calibri"/>
              </a:rPr>
              <a:t>affected</a:t>
            </a:r>
            <a:endParaRPr sz="3100">
              <a:latin typeface="Calibri"/>
              <a:cs typeface="Calibri"/>
            </a:endParaRPr>
          </a:p>
        </p:txBody>
      </p:sp>
      <p:sp>
        <p:nvSpPr>
          <p:cNvPr id="4" name="object 4"/>
          <p:cNvSpPr txBox="1"/>
          <p:nvPr/>
        </p:nvSpPr>
        <p:spPr>
          <a:xfrm>
            <a:off x="803286" y="1876551"/>
            <a:ext cx="10472420" cy="497840"/>
          </a:xfrm>
          <a:prstGeom prst="rect">
            <a:avLst/>
          </a:prstGeom>
        </p:spPr>
        <p:txBody>
          <a:bodyPr vert="horz" wrap="square" lIns="0" tIns="12700" rIns="0" bIns="0" rtlCol="0">
            <a:spAutoFit/>
          </a:bodyPr>
          <a:lstStyle/>
          <a:p>
            <a:pPr marL="12700">
              <a:lnSpc>
                <a:spcPct val="100000"/>
              </a:lnSpc>
              <a:spcBef>
                <a:spcPts val="100"/>
              </a:spcBef>
              <a:tabLst>
                <a:tab pos="1795145" algn="l"/>
                <a:tab pos="2285365" algn="l"/>
                <a:tab pos="4174490" algn="l"/>
                <a:tab pos="4702175" algn="l"/>
                <a:tab pos="5571490" algn="l"/>
                <a:tab pos="6849109" algn="l"/>
                <a:tab pos="7311390" algn="l"/>
                <a:tab pos="8022590" algn="l"/>
                <a:tab pos="9006840" algn="l"/>
                <a:tab pos="9449435" algn="l"/>
                <a:tab pos="9970770" algn="l"/>
              </a:tabLst>
            </a:pPr>
            <a:r>
              <a:rPr sz="3100" spc="-10" dirty="0">
                <a:latin typeface="Calibri"/>
                <a:cs typeface="Calibri"/>
              </a:rPr>
              <a:t>(positively</a:t>
            </a:r>
            <a:r>
              <a:rPr sz="3100" dirty="0">
                <a:latin typeface="Calibri"/>
                <a:cs typeface="Calibri"/>
              </a:rPr>
              <a:t>	</a:t>
            </a:r>
            <a:r>
              <a:rPr sz="3100" spc="-25" dirty="0">
                <a:latin typeface="Calibri"/>
                <a:cs typeface="Calibri"/>
              </a:rPr>
              <a:t>or</a:t>
            </a:r>
            <a:r>
              <a:rPr sz="3100" dirty="0">
                <a:latin typeface="Calibri"/>
                <a:cs typeface="Calibri"/>
              </a:rPr>
              <a:t>	</a:t>
            </a:r>
            <a:r>
              <a:rPr sz="3100" spc="-10" dirty="0">
                <a:latin typeface="Calibri"/>
                <a:cs typeface="Calibri"/>
              </a:rPr>
              <a:t>negatively)</a:t>
            </a:r>
            <a:r>
              <a:rPr sz="3100" dirty="0">
                <a:latin typeface="Calibri"/>
                <a:cs typeface="Calibri"/>
              </a:rPr>
              <a:t>	</a:t>
            </a:r>
            <a:r>
              <a:rPr sz="3100" spc="-25" dirty="0">
                <a:latin typeface="Calibri"/>
                <a:cs typeface="Calibri"/>
              </a:rPr>
              <a:t>by</a:t>
            </a:r>
            <a:r>
              <a:rPr sz="3100" dirty="0">
                <a:latin typeface="Calibri"/>
                <a:cs typeface="Calibri"/>
              </a:rPr>
              <a:t>	</a:t>
            </a:r>
            <a:r>
              <a:rPr sz="3100" spc="-20" dirty="0">
                <a:latin typeface="Calibri"/>
                <a:cs typeface="Calibri"/>
              </a:rPr>
              <a:t>your</a:t>
            </a:r>
            <a:r>
              <a:rPr sz="3100" dirty="0">
                <a:latin typeface="Calibri"/>
                <a:cs typeface="Calibri"/>
              </a:rPr>
              <a:t>	</a:t>
            </a:r>
            <a:r>
              <a:rPr sz="3100" spc="-10" dirty="0">
                <a:latin typeface="Calibri"/>
                <a:cs typeface="Calibri"/>
              </a:rPr>
              <a:t>project</a:t>
            </a:r>
            <a:r>
              <a:rPr sz="3100" dirty="0">
                <a:latin typeface="Calibri"/>
                <a:cs typeface="Calibri"/>
              </a:rPr>
              <a:t>	</a:t>
            </a:r>
            <a:r>
              <a:rPr sz="3100" spc="-25" dirty="0">
                <a:latin typeface="Calibri"/>
                <a:cs typeface="Calibri"/>
              </a:rPr>
              <a:t>at</a:t>
            </a:r>
            <a:r>
              <a:rPr sz="3100" dirty="0">
                <a:latin typeface="Calibri"/>
                <a:cs typeface="Calibri"/>
              </a:rPr>
              <a:t>	</a:t>
            </a:r>
            <a:r>
              <a:rPr sz="3100" spc="-25" dirty="0">
                <a:latin typeface="Calibri"/>
                <a:cs typeface="Calibri"/>
              </a:rPr>
              <a:t>any</a:t>
            </a:r>
            <a:r>
              <a:rPr sz="3100" dirty="0">
                <a:latin typeface="Calibri"/>
                <a:cs typeface="Calibri"/>
              </a:rPr>
              <a:t>	</a:t>
            </a:r>
            <a:r>
              <a:rPr sz="3100" spc="-10" dirty="0">
                <a:latin typeface="Calibri"/>
                <a:cs typeface="Calibri"/>
              </a:rPr>
              <a:t>point</a:t>
            </a:r>
            <a:r>
              <a:rPr sz="3100" dirty="0">
                <a:latin typeface="Calibri"/>
                <a:cs typeface="Calibri"/>
              </a:rPr>
              <a:t>	</a:t>
            </a:r>
            <a:r>
              <a:rPr sz="3100" spc="-25" dirty="0">
                <a:latin typeface="Calibri"/>
                <a:cs typeface="Calibri"/>
              </a:rPr>
              <a:t>in</a:t>
            </a:r>
            <a:r>
              <a:rPr sz="3100" dirty="0">
                <a:latin typeface="Calibri"/>
                <a:cs typeface="Calibri"/>
              </a:rPr>
              <a:t>	</a:t>
            </a:r>
            <a:r>
              <a:rPr sz="3100" spc="-25" dirty="0">
                <a:latin typeface="Calibri"/>
                <a:cs typeface="Calibri"/>
              </a:rPr>
              <a:t>its</a:t>
            </a:r>
            <a:r>
              <a:rPr sz="3100" dirty="0">
                <a:latin typeface="Calibri"/>
                <a:cs typeface="Calibri"/>
              </a:rPr>
              <a:t>	</a:t>
            </a:r>
            <a:r>
              <a:rPr sz="3100" spc="-20" dirty="0">
                <a:latin typeface="Calibri"/>
                <a:cs typeface="Calibri"/>
              </a:rPr>
              <a:t>life</a:t>
            </a:r>
            <a:endParaRPr sz="3100">
              <a:latin typeface="Calibri"/>
              <a:cs typeface="Calibri"/>
            </a:endParaRPr>
          </a:p>
        </p:txBody>
      </p:sp>
      <p:sp>
        <p:nvSpPr>
          <p:cNvPr id="5" name="object 5"/>
          <p:cNvSpPr txBox="1"/>
          <p:nvPr/>
        </p:nvSpPr>
        <p:spPr>
          <a:xfrm>
            <a:off x="803286" y="2208783"/>
            <a:ext cx="8733155" cy="497840"/>
          </a:xfrm>
          <a:prstGeom prst="rect">
            <a:avLst/>
          </a:prstGeom>
        </p:spPr>
        <p:txBody>
          <a:bodyPr vert="horz" wrap="square" lIns="0" tIns="12700" rIns="0" bIns="0" rtlCol="0">
            <a:spAutoFit/>
          </a:bodyPr>
          <a:lstStyle/>
          <a:p>
            <a:pPr marL="12700">
              <a:lnSpc>
                <a:spcPct val="100000"/>
              </a:lnSpc>
              <a:spcBef>
                <a:spcPts val="100"/>
              </a:spcBef>
            </a:pPr>
            <a:r>
              <a:rPr sz="3100" dirty="0">
                <a:latin typeface="Calibri"/>
                <a:cs typeface="Calibri"/>
              </a:rPr>
              <a:t>cycle,</a:t>
            </a:r>
            <a:r>
              <a:rPr sz="3100" spc="-45" dirty="0">
                <a:latin typeface="Calibri"/>
                <a:cs typeface="Calibri"/>
              </a:rPr>
              <a:t> </a:t>
            </a:r>
            <a:r>
              <a:rPr sz="3100" dirty="0">
                <a:latin typeface="Calibri"/>
                <a:cs typeface="Calibri"/>
              </a:rPr>
              <a:t>and</a:t>
            </a:r>
            <a:r>
              <a:rPr sz="3100" spc="-45" dirty="0">
                <a:latin typeface="Calibri"/>
                <a:cs typeface="Calibri"/>
              </a:rPr>
              <a:t> </a:t>
            </a:r>
            <a:r>
              <a:rPr sz="3100" dirty="0">
                <a:latin typeface="Calibri"/>
                <a:cs typeface="Calibri"/>
              </a:rPr>
              <a:t>their</a:t>
            </a:r>
            <a:r>
              <a:rPr sz="3100" spc="-40" dirty="0">
                <a:latin typeface="Calibri"/>
                <a:cs typeface="Calibri"/>
              </a:rPr>
              <a:t> </a:t>
            </a:r>
            <a:r>
              <a:rPr sz="3100" dirty="0">
                <a:latin typeface="Calibri"/>
                <a:cs typeface="Calibri"/>
              </a:rPr>
              <a:t>input</a:t>
            </a:r>
            <a:r>
              <a:rPr sz="3100" spc="-40" dirty="0">
                <a:latin typeface="Calibri"/>
                <a:cs typeface="Calibri"/>
              </a:rPr>
              <a:t> </a:t>
            </a:r>
            <a:r>
              <a:rPr sz="3100" dirty="0">
                <a:latin typeface="Calibri"/>
                <a:cs typeface="Calibri"/>
              </a:rPr>
              <a:t>can</a:t>
            </a:r>
            <a:r>
              <a:rPr sz="3100" spc="-50" dirty="0">
                <a:latin typeface="Calibri"/>
                <a:cs typeface="Calibri"/>
              </a:rPr>
              <a:t> </a:t>
            </a:r>
            <a:r>
              <a:rPr sz="3100" dirty="0">
                <a:latin typeface="Calibri"/>
                <a:cs typeface="Calibri"/>
              </a:rPr>
              <a:t>directly</a:t>
            </a:r>
            <a:r>
              <a:rPr sz="3100" spc="-45" dirty="0">
                <a:latin typeface="Calibri"/>
                <a:cs typeface="Calibri"/>
              </a:rPr>
              <a:t> </a:t>
            </a:r>
            <a:r>
              <a:rPr sz="3100" dirty="0">
                <a:latin typeface="Calibri"/>
                <a:cs typeface="Calibri"/>
              </a:rPr>
              <a:t>impact</a:t>
            </a:r>
            <a:r>
              <a:rPr sz="3100" spc="-45" dirty="0">
                <a:latin typeface="Calibri"/>
                <a:cs typeface="Calibri"/>
              </a:rPr>
              <a:t> </a:t>
            </a:r>
            <a:r>
              <a:rPr sz="3100" dirty="0">
                <a:latin typeface="Calibri"/>
                <a:cs typeface="Calibri"/>
              </a:rPr>
              <a:t>the</a:t>
            </a:r>
            <a:r>
              <a:rPr sz="3100" spc="-45" dirty="0">
                <a:latin typeface="Calibri"/>
                <a:cs typeface="Calibri"/>
              </a:rPr>
              <a:t> </a:t>
            </a:r>
            <a:r>
              <a:rPr sz="3100" spc="-10" dirty="0">
                <a:latin typeface="Calibri"/>
                <a:cs typeface="Calibri"/>
              </a:rPr>
              <a:t>outcome.</a:t>
            </a:r>
            <a:endParaRPr sz="3100">
              <a:latin typeface="Calibri"/>
              <a:cs typeface="Calibri"/>
            </a:endParaRPr>
          </a:p>
        </p:txBody>
      </p:sp>
      <p:sp>
        <p:nvSpPr>
          <p:cNvPr id="6" name="object 6"/>
          <p:cNvSpPr txBox="1"/>
          <p:nvPr/>
        </p:nvSpPr>
        <p:spPr>
          <a:xfrm>
            <a:off x="574686" y="2918967"/>
            <a:ext cx="10700385" cy="49784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 pos="935990" algn="l"/>
                <a:tab pos="2562225" algn="l"/>
                <a:tab pos="3121025" algn="l"/>
                <a:tab pos="4618990" algn="l"/>
                <a:tab pos="5647690" algn="l"/>
                <a:tab pos="7741284" algn="l"/>
                <a:tab pos="10085070" algn="l"/>
              </a:tabLst>
            </a:pPr>
            <a:r>
              <a:rPr sz="3100" spc="-20" dirty="0">
                <a:latin typeface="Calibri"/>
                <a:cs typeface="Calibri"/>
              </a:rPr>
              <a:t>It's</a:t>
            </a:r>
            <a:r>
              <a:rPr sz="3100" dirty="0">
                <a:latin typeface="Calibri"/>
                <a:cs typeface="Calibri"/>
              </a:rPr>
              <a:t>	</a:t>
            </a:r>
            <a:r>
              <a:rPr sz="3100" spc="-10" dirty="0">
                <a:latin typeface="Calibri"/>
                <a:cs typeface="Calibri"/>
              </a:rPr>
              <a:t>essential</a:t>
            </a:r>
            <a:r>
              <a:rPr sz="3100" dirty="0">
                <a:latin typeface="Calibri"/>
                <a:cs typeface="Calibri"/>
              </a:rPr>
              <a:t>	</a:t>
            </a:r>
            <a:r>
              <a:rPr sz="3100" spc="-25" dirty="0">
                <a:latin typeface="Calibri"/>
                <a:cs typeface="Calibri"/>
              </a:rPr>
              <a:t>to</a:t>
            </a:r>
            <a:r>
              <a:rPr sz="3100" dirty="0">
                <a:latin typeface="Calibri"/>
                <a:cs typeface="Calibri"/>
              </a:rPr>
              <a:t>	</a:t>
            </a:r>
            <a:r>
              <a:rPr sz="3100" spc="-10" dirty="0">
                <a:latin typeface="Calibri"/>
                <a:cs typeface="Calibri"/>
              </a:rPr>
              <a:t>practice</a:t>
            </a:r>
            <a:r>
              <a:rPr sz="3100" dirty="0">
                <a:latin typeface="Calibri"/>
                <a:cs typeface="Calibri"/>
              </a:rPr>
              <a:t>	</a:t>
            </a:r>
            <a:r>
              <a:rPr sz="3100" spc="-20" dirty="0">
                <a:latin typeface="Calibri"/>
                <a:cs typeface="Calibri"/>
              </a:rPr>
              <a:t>good</a:t>
            </a:r>
            <a:r>
              <a:rPr sz="3100" dirty="0">
                <a:latin typeface="Calibri"/>
                <a:cs typeface="Calibri"/>
              </a:rPr>
              <a:t>	</a:t>
            </a:r>
            <a:r>
              <a:rPr sz="3100" spc="-10" dirty="0">
                <a:latin typeface="Calibri"/>
                <a:cs typeface="Calibri"/>
              </a:rPr>
              <a:t>stakeholder</a:t>
            </a:r>
            <a:r>
              <a:rPr sz="3100" dirty="0">
                <a:latin typeface="Calibri"/>
                <a:cs typeface="Calibri"/>
              </a:rPr>
              <a:t>	</a:t>
            </a:r>
            <a:r>
              <a:rPr sz="3100" spc="-10" dirty="0">
                <a:latin typeface="Calibri"/>
                <a:cs typeface="Calibri"/>
              </a:rPr>
              <a:t>management</a:t>
            </a:r>
            <a:r>
              <a:rPr sz="3100" dirty="0">
                <a:latin typeface="Calibri"/>
                <a:cs typeface="Calibri"/>
              </a:rPr>
              <a:t>	</a:t>
            </a:r>
            <a:r>
              <a:rPr sz="3100" spc="-25" dirty="0">
                <a:latin typeface="Calibri"/>
                <a:cs typeface="Calibri"/>
              </a:rPr>
              <a:t>and</a:t>
            </a:r>
            <a:endParaRPr sz="3100">
              <a:latin typeface="Calibri"/>
              <a:cs typeface="Calibri"/>
            </a:endParaRPr>
          </a:p>
        </p:txBody>
      </p:sp>
      <p:sp>
        <p:nvSpPr>
          <p:cNvPr id="7" name="object 7"/>
          <p:cNvSpPr txBox="1"/>
          <p:nvPr/>
        </p:nvSpPr>
        <p:spPr>
          <a:xfrm>
            <a:off x="574686" y="3007359"/>
            <a:ext cx="9315450" cy="3814445"/>
          </a:xfrm>
          <a:prstGeom prst="rect">
            <a:avLst/>
          </a:prstGeom>
        </p:spPr>
        <p:txBody>
          <a:bodyPr vert="horz" wrap="square" lIns="0" tIns="253365" rIns="0" bIns="0" rtlCol="0">
            <a:spAutoFit/>
          </a:bodyPr>
          <a:lstStyle/>
          <a:p>
            <a:pPr marL="241300">
              <a:lnSpc>
                <a:spcPct val="100000"/>
              </a:lnSpc>
              <a:spcBef>
                <a:spcPts val="1995"/>
              </a:spcBef>
            </a:pPr>
            <a:r>
              <a:rPr sz="3100" dirty="0">
                <a:latin typeface="Calibri"/>
                <a:cs typeface="Calibri"/>
              </a:rPr>
              <a:t>continuously</a:t>
            </a:r>
            <a:r>
              <a:rPr sz="3100" spc="-90" dirty="0">
                <a:latin typeface="Calibri"/>
                <a:cs typeface="Calibri"/>
              </a:rPr>
              <a:t> </a:t>
            </a:r>
            <a:r>
              <a:rPr sz="3100" spc="-10" dirty="0">
                <a:latin typeface="Calibri"/>
                <a:cs typeface="Calibri"/>
              </a:rPr>
              <a:t>communicate</a:t>
            </a:r>
            <a:r>
              <a:rPr sz="3100" spc="-85" dirty="0">
                <a:latin typeface="Calibri"/>
                <a:cs typeface="Calibri"/>
              </a:rPr>
              <a:t> </a:t>
            </a:r>
            <a:r>
              <a:rPr sz="3100" dirty="0">
                <a:latin typeface="Calibri"/>
                <a:cs typeface="Calibri"/>
              </a:rPr>
              <a:t>to</a:t>
            </a:r>
            <a:r>
              <a:rPr sz="3100" spc="-80" dirty="0">
                <a:latin typeface="Calibri"/>
                <a:cs typeface="Calibri"/>
              </a:rPr>
              <a:t> </a:t>
            </a:r>
            <a:r>
              <a:rPr sz="3100" spc="-10" dirty="0">
                <a:latin typeface="Calibri"/>
                <a:cs typeface="Calibri"/>
              </a:rPr>
              <a:t>collaborate</a:t>
            </a:r>
            <a:r>
              <a:rPr sz="3100" spc="-90" dirty="0">
                <a:latin typeface="Calibri"/>
                <a:cs typeface="Calibri"/>
              </a:rPr>
              <a:t> </a:t>
            </a:r>
            <a:r>
              <a:rPr sz="3100" dirty="0">
                <a:latin typeface="Calibri"/>
                <a:cs typeface="Calibri"/>
              </a:rPr>
              <a:t>on</a:t>
            </a:r>
            <a:r>
              <a:rPr sz="3100" spc="-80" dirty="0">
                <a:latin typeface="Calibri"/>
                <a:cs typeface="Calibri"/>
              </a:rPr>
              <a:t> </a:t>
            </a:r>
            <a:r>
              <a:rPr sz="3100" dirty="0">
                <a:latin typeface="Calibri"/>
                <a:cs typeface="Calibri"/>
              </a:rPr>
              <a:t>the</a:t>
            </a:r>
            <a:r>
              <a:rPr sz="3100" spc="-85" dirty="0">
                <a:latin typeface="Calibri"/>
                <a:cs typeface="Calibri"/>
              </a:rPr>
              <a:t> </a:t>
            </a:r>
            <a:r>
              <a:rPr sz="3100" spc="-10" dirty="0">
                <a:latin typeface="Calibri"/>
                <a:cs typeface="Calibri"/>
              </a:rPr>
              <a:t>project.</a:t>
            </a:r>
            <a:endParaRPr sz="3100" dirty="0">
              <a:latin typeface="Calibri"/>
              <a:cs typeface="Calibri"/>
            </a:endParaRPr>
          </a:p>
          <a:p>
            <a:pPr marL="240665" indent="-227965">
              <a:lnSpc>
                <a:spcPts val="3410"/>
              </a:lnSpc>
              <a:spcBef>
                <a:spcPts val="1895"/>
              </a:spcBef>
              <a:buFont typeface="Arial MT"/>
              <a:buChar char="•"/>
              <a:tabLst>
                <a:tab pos="240665" algn="l"/>
              </a:tabLst>
            </a:pPr>
            <a:r>
              <a:rPr sz="3100" spc="-10" dirty="0">
                <a:latin typeface="Calibri"/>
                <a:cs typeface="Calibri"/>
              </a:rPr>
              <a:t>Examples:</a:t>
            </a:r>
            <a:endParaRPr sz="3100" dirty="0">
              <a:latin typeface="Calibri"/>
              <a:cs typeface="Calibri"/>
            </a:endParaRPr>
          </a:p>
          <a:p>
            <a:pPr marL="697230" lvl="1" indent="-227965">
              <a:lnSpc>
                <a:spcPts val="3095"/>
              </a:lnSpc>
              <a:buFont typeface="Arial MT"/>
              <a:buChar char="•"/>
              <a:tabLst>
                <a:tab pos="697230" algn="l"/>
              </a:tabLst>
            </a:pPr>
            <a:r>
              <a:rPr sz="3100" dirty="0">
                <a:latin typeface="Calibri"/>
                <a:cs typeface="Calibri"/>
              </a:rPr>
              <a:t>Members</a:t>
            </a:r>
            <a:r>
              <a:rPr sz="3100" spc="-75" dirty="0">
                <a:latin typeface="Calibri"/>
                <a:cs typeface="Calibri"/>
              </a:rPr>
              <a:t> </a:t>
            </a:r>
            <a:r>
              <a:rPr sz="3100" dirty="0">
                <a:latin typeface="Calibri"/>
                <a:cs typeface="Calibri"/>
              </a:rPr>
              <a:t>of</a:t>
            </a:r>
            <a:r>
              <a:rPr sz="3100" spc="-60" dirty="0">
                <a:latin typeface="Calibri"/>
                <a:cs typeface="Calibri"/>
              </a:rPr>
              <a:t> </a:t>
            </a:r>
            <a:r>
              <a:rPr sz="3100" dirty="0">
                <a:latin typeface="Calibri"/>
                <a:cs typeface="Calibri"/>
              </a:rPr>
              <a:t>a</a:t>
            </a:r>
            <a:r>
              <a:rPr sz="3100" spc="-60" dirty="0">
                <a:latin typeface="Calibri"/>
                <a:cs typeface="Calibri"/>
              </a:rPr>
              <a:t> </a:t>
            </a:r>
            <a:r>
              <a:rPr sz="3100" dirty="0">
                <a:latin typeface="Calibri"/>
                <a:cs typeface="Calibri"/>
              </a:rPr>
              <a:t>project</a:t>
            </a:r>
            <a:r>
              <a:rPr sz="3100" spc="-70" dirty="0">
                <a:latin typeface="Calibri"/>
                <a:cs typeface="Calibri"/>
              </a:rPr>
              <a:t> </a:t>
            </a:r>
            <a:r>
              <a:rPr sz="3100" spc="-10" dirty="0">
                <a:latin typeface="Calibri"/>
                <a:cs typeface="Calibri"/>
              </a:rPr>
              <a:t>team.</a:t>
            </a:r>
            <a:endParaRPr sz="3100" dirty="0">
              <a:latin typeface="Calibri"/>
              <a:cs typeface="Calibri"/>
            </a:endParaRPr>
          </a:p>
          <a:p>
            <a:pPr marL="697230" lvl="1" indent="-227965">
              <a:lnSpc>
                <a:spcPts val="3095"/>
              </a:lnSpc>
              <a:buFont typeface="Arial MT"/>
              <a:buChar char="•"/>
              <a:tabLst>
                <a:tab pos="697230" algn="l"/>
              </a:tabLst>
            </a:pPr>
            <a:r>
              <a:rPr sz="3100" dirty="0">
                <a:latin typeface="Calibri"/>
                <a:cs typeface="Calibri"/>
              </a:rPr>
              <a:t>Project</a:t>
            </a:r>
            <a:r>
              <a:rPr sz="3100" spc="-110" dirty="0">
                <a:latin typeface="Calibri"/>
                <a:cs typeface="Calibri"/>
              </a:rPr>
              <a:t> </a:t>
            </a:r>
            <a:r>
              <a:rPr sz="3100" spc="-10" dirty="0">
                <a:latin typeface="Calibri"/>
                <a:cs typeface="Calibri"/>
              </a:rPr>
              <a:t>managers.</a:t>
            </a:r>
            <a:endParaRPr sz="3100" dirty="0">
              <a:latin typeface="Calibri"/>
              <a:cs typeface="Calibri"/>
            </a:endParaRPr>
          </a:p>
          <a:p>
            <a:pPr marL="697230" lvl="1" indent="-227965">
              <a:lnSpc>
                <a:spcPts val="3095"/>
              </a:lnSpc>
              <a:buFont typeface="Arial MT"/>
              <a:buChar char="•"/>
              <a:tabLst>
                <a:tab pos="697230" algn="l"/>
              </a:tabLst>
            </a:pPr>
            <a:r>
              <a:rPr sz="3100" spc="-10" dirty="0">
                <a:latin typeface="Calibri"/>
                <a:cs typeface="Calibri"/>
              </a:rPr>
              <a:t>Executives.</a:t>
            </a:r>
            <a:endParaRPr sz="3100" dirty="0">
              <a:latin typeface="Calibri"/>
              <a:cs typeface="Calibri"/>
            </a:endParaRPr>
          </a:p>
          <a:p>
            <a:pPr marL="697230" lvl="1" indent="-227965">
              <a:lnSpc>
                <a:spcPts val="3110"/>
              </a:lnSpc>
              <a:buFont typeface="Arial MT"/>
              <a:buChar char="•"/>
              <a:tabLst>
                <a:tab pos="697230" algn="l"/>
              </a:tabLst>
            </a:pPr>
            <a:r>
              <a:rPr sz="3100" dirty="0">
                <a:latin typeface="Calibri"/>
                <a:cs typeface="Calibri"/>
              </a:rPr>
              <a:t>Project</a:t>
            </a:r>
            <a:r>
              <a:rPr sz="3100" spc="-110" dirty="0">
                <a:latin typeface="Calibri"/>
                <a:cs typeface="Calibri"/>
              </a:rPr>
              <a:t> </a:t>
            </a:r>
            <a:r>
              <a:rPr sz="3100" spc="-10" dirty="0">
                <a:latin typeface="Calibri"/>
                <a:cs typeface="Calibri"/>
              </a:rPr>
              <a:t>sponsors</a:t>
            </a:r>
            <a:endParaRPr sz="3100" dirty="0">
              <a:latin typeface="Calibri"/>
              <a:cs typeface="Calibri"/>
            </a:endParaRPr>
          </a:p>
          <a:p>
            <a:pPr marL="697230" lvl="1" indent="-227965">
              <a:lnSpc>
                <a:spcPts val="3110"/>
              </a:lnSpc>
              <a:buFont typeface="Arial MT"/>
              <a:buChar char="•"/>
              <a:tabLst>
                <a:tab pos="697230" algn="l"/>
              </a:tabLst>
            </a:pPr>
            <a:r>
              <a:rPr sz="3100" spc="-10" dirty="0">
                <a:latin typeface="Calibri"/>
                <a:cs typeface="Calibri"/>
              </a:rPr>
              <a:t>Customers</a:t>
            </a:r>
            <a:endParaRPr sz="3100" dirty="0">
              <a:latin typeface="Calibri"/>
              <a:cs typeface="Calibri"/>
            </a:endParaRPr>
          </a:p>
          <a:p>
            <a:pPr marL="697230" lvl="1" indent="-227965">
              <a:lnSpc>
                <a:spcPts val="3410"/>
              </a:lnSpc>
              <a:buFont typeface="Arial MT"/>
              <a:buChar char="•"/>
              <a:tabLst>
                <a:tab pos="697230" algn="l"/>
              </a:tabLst>
            </a:pPr>
            <a:r>
              <a:rPr sz="3100" spc="-10" dirty="0">
                <a:latin typeface="Calibri"/>
                <a:cs typeface="Calibri"/>
              </a:rPr>
              <a:t>Users.</a:t>
            </a:r>
            <a:endParaRPr sz="3100" dirty="0">
              <a:latin typeface="Calibri"/>
              <a:cs typeface="Calibri"/>
            </a:endParaRPr>
          </a:p>
        </p:txBody>
      </p:sp>
      <p:sp>
        <p:nvSpPr>
          <p:cNvPr id="8" name="object 8"/>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2</a:t>
            </a:r>
            <a:endParaRPr sz="1200">
              <a:latin typeface="Calibri"/>
              <a:cs typeface="Calibri"/>
            </a:endParaRPr>
          </a:p>
        </p:txBody>
      </p:sp>
      <p:pic>
        <p:nvPicPr>
          <p:cNvPr id="9" name="Picture 2">
            <a:extLst>
              <a:ext uri="{FF2B5EF4-FFF2-40B4-BE49-F238E27FC236}">
                <a16:creationId xmlns:a16="http://schemas.microsoft.com/office/drawing/2014/main" id="{9B62B639-5849-E8DA-64A2-5336A6F25E8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8296" y="1782063"/>
            <a:ext cx="11271885" cy="1276985"/>
          </a:xfrm>
          <a:prstGeom prst="rect">
            <a:avLst/>
          </a:prstGeom>
        </p:spPr>
        <p:txBody>
          <a:bodyPr vert="horz" wrap="square" lIns="0" tIns="91440" rIns="0" bIns="0" rtlCol="0">
            <a:spAutoFit/>
          </a:bodyPr>
          <a:lstStyle/>
          <a:p>
            <a:pPr marL="241300" marR="5080" indent="-228600" algn="just">
              <a:lnSpc>
                <a:spcPts val="3100"/>
              </a:lnSpc>
              <a:spcBef>
                <a:spcPts val="720"/>
              </a:spcBef>
              <a:buFont typeface="Arial MT"/>
              <a:buChar char="•"/>
              <a:tabLst>
                <a:tab pos="241300" algn="l"/>
              </a:tabLst>
            </a:pPr>
            <a:r>
              <a:rPr sz="3100" b="1" dirty="0">
                <a:solidFill>
                  <a:srgbClr val="C00000"/>
                </a:solidFill>
                <a:latin typeface="Calibri"/>
                <a:cs typeface="Calibri"/>
              </a:rPr>
              <a:t>PMO</a:t>
            </a:r>
            <a:r>
              <a:rPr sz="3100" b="1" spc="35" dirty="0">
                <a:solidFill>
                  <a:srgbClr val="C00000"/>
                </a:solidFill>
                <a:latin typeface="Calibri"/>
                <a:cs typeface="Calibri"/>
              </a:rPr>
              <a:t> </a:t>
            </a:r>
            <a:r>
              <a:rPr sz="2800" dirty="0">
                <a:latin typeface="Calibri"/>
                <a:cs typeface="Calibri"/>
              </a:rPr>
              <a:t>is</a:t>
            </a:r>
            <a:r>
              <a:rPr sz="2800" spc="105" dirty="0">
                <a:latin typeface="Calibri"/>
                <a:cs typeface="Calibri"/>
              </a:rPr>
              <a:t> </a:t>
            </a:r>
            <a:r>
              <a:rPr sz="2800" dirty="0">
                <a:latin typeface="Calibri"/>
                <a:cs typeface="Calibri"/>
              </a:rPr>
              <a:t>a</a:t>
            </a:r>
            <a:r>
              <a:rPr sz="2800" spc="100" dirty="0">
                <a:latin typeface="Calibri"/>
                <a:cs typeface="Calibri"/>
              </a:rPr>
              <a:t> </a:t>
            </a:r>
            <a:r>
              <a:rPr sz="2800" dirty="0">
                <a:latin typeface="Calibri"/>
                <a:cs typeface="Calibri"/>
              </a:rPr>
              <a:t>permanent</a:t>
            </a:r>
            <a:r>
              <a:rPr sz="2800" spc="95" dirty="0">
                <a:latin typeface="Calibri"/>
                <a:cs typeface="Calibri"/>
              </a:rPr>
              <a:t> </a:t>
            </a:r>
            <a:r>
              <a:rPr sz="2800" dirty="0">
                <a:latin typeface="Calibri"/>
                <a:cs typeface="Calibri"/>
              </a:rPr>
              <a:t>organizational</a:t>
            </a:r>
            <a:r>
              <a:rPr sz="2800" spc="95" dirty="0">
                <a:latin typeface="Calibri"/>
                <a:cs typeface="Calibri"/>
              </a:rPr>
              <a:t> </a:t>
            </a:r>
            <a:r>
              <a:rPr sz="2800" dirty="0">
                <a:latin typeface="Calibri"/>
                <a:cs typeface="Calibri"/>
              </a:rPr>
              <a:t>unit</a:t>
            </a:r>
            <a:r>
              <a:rPr sz="2800" spc="100" dirty="0">
                <a:latin typeface="Calibri"/>
                <a:cs typeface="Calibri"/>
              </a:rPr>
              <a:t> </a:t>
            </a:r>
            <a:r>
              <a:rPr sz="2800" dirty="0">
                <a:latin typeface="Calibri"/>
                <a:cs typeface="Calibri"/>
              </a:rPr>
              <a:t>that</a:t>
            </a:r>
            <a:r>
              <a:rPr sz="2800" spc="100" dirty="0">
                <a:latin typeface="Calibri"/>
                <a:cs typeface="Calibri"/>
              </a:rPr>
              <a:t> </a:t>
            </a:r>
            <a:r>
              <a:rPr sz="2800" dirty="0">
                <a:latin typeface="Calibri"/>
                <a:cs typeface="Calibri"/>
              </a:rPr>
              <a:t>is</a:t>
            </a:r>
            <a:r>
              <a:rPr sz="2800" spc="105" dirty="0">
                <a:latin typeface="Calibri"/>
                <a:cs typeface="Calibri"/>
              </a:rPr>
              <a:t> </a:t>
            </a:r>
            <a:r>
              <a:rPr sz="2800" dirty="0">
                <a:latin typeface="Calibri"/>
                <a:cs typeface="Calibri"/>
              </a:rPr>
              <a:t>centrally</a:t>
            </a:r>
            <a:r>
              <a:rPr sz="2800" spc="95" dirty="0">
                <a:latin typeface="Calibri"/>
                <a:cs typeface="Calibri"/>
              </a:rPr>
              <a:t> </a:t>
            </a:r>
            <a:r>
              <a:rPr sz="2800" dirty="0">
                <a:latin typeface="Calibri"/>
                <a:cs typeface="Calibri"/>
              </a:rPr>
              <a:t>responsible</a:t>
            </a:r>
            <a:r>
              <a:rPr sz="2800" spc="90" dirty="0">
                <a:latin typeface="Calibri"/>
                <a:cs typeface="Calibri"/>
              </a:rPr>
              <a:t> </a:t>
            </a:r>
            <a:r>
              <a:rPr sz="2800" dirty="0">
                <a:latin typeface="Calibri"/>
                <a:cs typeface="Calibri"/>
              </a:rPr>
              <a:t>for</a:t>
            </a:r>
            <a:r>
              <a:rPr sz="2800" spc="105" dirty="0">
                <a:latin typeface="Calibri"/>
                <a:cs typeface="Calibri"/>
              </a:rPr>
              <a:t> </a:t>
            </a:r>
            <a:r>
              <a:rPr sz="2800" spc="-25" dirty="0">
                <a:latin typeface="Calibri"/>
                <a:cs typeface="Calibri"/>
              </a:rPr>
              <a:t>all </a:t>
            </a:r>
            <a:r>
              <a:rPr sz="2800" dirty="0">
                <a:latin typeface="Calibri"/>
                <a:cs typeface="Calibri"/>
              </a:rPr>
              <a:t>projects</a:t>
            </a:r>
            <a:r>
              <a:rPr sz="2800" spc="195" dirty="0">
                <a:latin typeface="Calibri"/>
                <a:cs typeface="Calibri"/>
              </a:rPr>
              <a:t> </a:t>
            </a:r>
            <a:r>
              <a:rPr sz="2800" dirty="0">
                <a:latin typeface="Calibri"/>
                <a:cs typeface="Calibri"/>
              </a:rPr>
              <a:t>within</a:t>
            </a:r>
            <a:r>
              <a:rPr sz="2800" spc="204" dirty="0">
                <a:latin typeface="Calibri"/>
                <a:cs typeface="Calibri"/>
              </a:rPr>
              <a:t> </a:t>
            </a:r>
            <a:r>
              <a:rPr sz="2800" dirty="0">
                <a:latin typeface="Calibri"/>
                <a:cs typeface="Calibri"/>
              </a:rPr>
              <a:t>a</a:t>
            </a:r>
            <a:r>
              <a:rPr sz="2800" spc="190" dirty="0">
                <a:latin typeface="Calibri"/>
                <a:cs typeface="Calibri"/>
              </a:rPr>
              <a:t> </a:t>
            </a:r>
            <a:r>
              <a:rPr sz="2800" dirty="0">
                <a:latin typeface="Calibri"/>
                <a:cs typeface="Calibri"/>
              </a:rPr>
              <a:t>company</a:t>
            </a:r>
            <a:r>
              <a:rPr sz="2800" spc="190" dirty="0">
                <a:latin typeface="Calibri"/>
                <a:cs typeface="Calibri"/>
              </a:rPr>
              <a:t> </a:t>
            </a:r>
            <a:r>
              <a:rPr sz="2800" dirty="0">
                <a:latin typeface="Calibri"/>
                <a:cs typeface="Calibri"/>
              </a:rPr>
              <a:t>or</a:t>
            </a:r>
            <a:r>
              <a:rPr sz="2800" spc="190" dirty="0">
                <a:latin typeface="Calibri"/>
                <a:cs typeface="Calibri"/>
              </a:rPr>
              <a:t> </a:t>
            </a:r>
            <a:r>
              <a:rPr sz="2800" dirty="0">
                <a:latin typeface="Calibri"/>
                <a:cs typeface="Calibri"/>
              </a:rPr>
              <a:t>a</a:t>
            </a:r>
            <a:r>
              <a:rPr sz="2800" spc="190" dirty="0">
                <a:latin typeface="Calibri"/>
                <a:cs typeface="Calibri"/>
              </a:rPr>
              <a:t> </a:t>
            </a:r>
            <a:r>
              <a:rPr sz="2800" dirty="0">
                <a:latin typeface="Calibri"/>
                <a:cs typeface="Calibri"/>
              </a:rPr>
              <a:t>department</a:t>
            </a:r>
            <a:r>
              <a:rPr sz="2800" spc="190" dirty="0">
                <a:latin typeface="Calibri"/>
                <a:cs typeface="Calibri"/>
              </a:rPr>
              <a:t> </a:t>
            </a:r>
            <a:r>
              <a:rPr sz="2800" dirty="0">
                <a:latin typeface="Calibri"/>
                <a:cs typeface="Calibri"/>
              </a:rPr>
              <a:t>in</a:t>
            </a:r>
            <a:r>
              <a:rPr sz="2800" spc="200" dirty="0">
                <a:latin typeface="Calibri"/>
                <a:cs typeface="Calibri"/>
              </a:rPr>
              <a:t> </a:t>
            </a:r>
            <a:r>
              <a:rPr sz="2800" dirty="0">
                <a:latin typeface="Calibri"/>
                <a:cs typeface="Calibri"/>
              </a:rPr>
              <a:t>the</a:t>
            </a:r>
            <a:r>
              <a:rPr sz="2800" spc="190" dirty="0">
                <a:latin typeface="Calibri"/>
                <a:cs typeface="Calibri"/>
              </a:rPr>
              <a:t> </a:t>
            </a:r>
            <a:r>
              <a:rPr sz="2800" dirty="0">
                <a:latin typeface="Calibri"/>
                <a:cs typeface="Calibri"/>
              </a:rPr>
              <a:t>context</a:t>
            </a:r>
            <a:r>
              <a:rPr sz="2800" spc="195" dirty="0">
                <a:latin typeface="Calibri"/>
                <a:cs typeface="Calibri"/>
              </a:rPr>
              <a:t> </a:t>
            </a:r>
            <a:r>
              <a:rPr sz="2800" dirty="0">
                <a:latin typeface="Calibri"/>
                <a:cs typeface="Calibri"/>
              </a:rPr>
              <a:t>of</a:t>
            </a:r>
            <a:r>
              <a:rPr sz="2800" spc="190" dirty="0">
                <a:latin typeface="Calibri"/>
                <a:cs typeface="Calibri"/>
              </a:rPr>
              <a:t> </a:t>
            </a:r>
            <a:r>
              <a:rPr sz="2800" spc="-20" dirty="0">
                <a:latin typeface="Calibri"/>
                <a:cs typeface="Calibri"/>
              </a:rPr>
              <a:t>multi-</a:t>
            </a:r>
            <a:r>
              <a:rPr sz="2800" spc="-10" dirty="0">
                <a:latin typeface="Calibri"/>
                <a:cs typeface="Calibri"/>
              </a:rPr>
              <a:t>project management</a:t>
            </a:r>
            <a:endParaRPr sz="2800">
              <a:latin typeface="Calibri"/>
              <a:cs typeface="Calibri"/>
            </a:endParaRPr>
          </a:p>
        </p:txBody>
      </p:sp>
      <p:sp>
        <p:nvSpPr>
          <p:cNvPr id="3" name="object 3"/>
          <p:cNvSpPr txBox="1"/>
          <p:nvPr/>
        </p:nvSpPr>
        <p:spPr>
          <a:xfrm>
            <a:off x="2704249" y="2636263"/>
            <a:ext cx="90170" cy="434340"/>
          </a:xfrm>
          <a:prstGeom prst="rect">
            <a:avLst/>
          </a:prstGeom>
        </p:spPr>
        <p:txBody>
          <a:bodyPr vert="horz" wrap="square" lIns="0" tIns="0" rIns="0" bIns="0" rtlCol="0">
            <a:spAutoFit/>
          </a:bodyPr>
          <a:lstStyle/>
          <a:p>
            <a:pPr>
              <a:lnSpc>
                <a:spcPts val="3225"/>
              </a:lnSpc>
            </a:pPr>
            <a:r>
              <a:rPr sz="2800" spc="-60" dirty="0">
                <a:latin typeface="Calibri"/>
                <a:cs typeface="Calibri"/>
              </a:rPr>
              <a:t>.</a:t>
            </a:r>
            <a:endParaRPr sz="2800">
              <a:latin typeface="Calibri"/>
              <a:cs typeface="Calibri"/>
            </a:endParaRPr>
          </a:p>
        </p:txBody>
      </p:sp>
      <p:sp>
        <p:nvSpPr>
          <p:cNvPr id="4" name="object 4"/>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90" dirty="0">
                <a:solidFill>
                  <a:srgbClr val="FF0000"/>
                </a:solidFill>
              </a:rPr>
              <a:t>Project</a:t>
            </a:r>
            <a:r>
              <a:rPr b="1" u="sng" spc="130" dirty="0">
                <a:solidFill>
                  <a:srgbClr val="FF0000"/>
                </a:solidFill>
              </a:rPr>
              <a:t> </a:t>
            </a:r>
            <a:r>
              <a:rPr b="1" u="sng" spc="114" dirty="0">
                <a:solidFill>
                  <a:srgbClr val="FF0000"/>
                </a:solidFill>
              </a:rPr>
              <a:t>Management</a:t>
            </a:r>
            <a:r>
              <a:rPr b="1" u="sng" spc="130" dirty="0">
                <a:solidFill>
                  <a:srgbClr val="FF0000"/>
                </a:solidFill>
              </a:rPr>
              <a:t> </a:t>
            </a:r>
            <a:r>
              <a:rPr b="1" u="sng" spc="80" dirty="0">
                <a:solidFill>
                  <a:srgbClr val="FF0000"/>
                </a:solidFill>
              </a:rPr>
              <a:t>Office</a:t>
            </a:r>
          </a:p>
        </p:txBody>
      </p:sp>
      <p:pic>
        <p:nvPicPr>
          <p:cNvPr id="5" name="object 5"/>
          <p:cNvPicPr/>
          <p:nvPr/>
        </p:nvPicPr>
        <p:blipFill>
          <a:blip r:embed="rId3" cstate="print"/>
          <a:stretch>
            <a:fillRect/>
          </a:stretch>
        </p:blipFill>
        <p:spPr>
          <a:xfrm>
            <a:off x="2738498" y="2635816"/>
            <a:ext cx="5318105" cy="4085657"/>
          </a:xfrm>
          <a:prstGeom prst="rect">
            <a:avLst/>
          </a:prstGeom>
        </p:spPr>
      </p:pic>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3</a:t>
            </a:fld>
            <a:endParaRPr spc="-50" dirty="0"/>
          </a:p>
        </p:txBody>
      </p:sp>
      <p:pic>
        <p:nvPicPr>
          <p:cNvPr id="7" name="Picture 2">
            <a:extLst>
              <a:ext uri="{FF2B5EF4-FFF2-40B4-BE49-F238E27FC236}">
                <a16:creationId xmlns:a16="http://schemas.microsoft.com/office/drawing/2014/main" id="{DF250F6B-EBB4-7455-C3F3-55429FF5119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783A-8941-4045-9CEC-9A2F6CB9025F}"/>
              </a:ext>
            </a:extLst>
          </p:cNvPr>
          <p:cNvSpPr>
            <a:spLocks noGrp="1"/>
          </p:cNvSpPr>
          <p:nvPr>
            <p:ph type="title"/>
          </p:nvPr>
        </p:nvSpPr>
        <p:spPr>
          <a:xfrm>
            <a:off x="458469" y="762000"/>
            <a:ext cx="11275061" cy="1323439"/>
          </a:xfrm>
        </p:spPr>
        <p:txBody>
          <a:bodyPr/>
          <a:lstStyle/>
          <a:p>
            <a:r>
              <a:rPr lang="en-US" b="1" u="sng" spc="114" dirty="0">
                <a:solidFill>
                  <a:srgbClr val="FF0000"/>
                </a:solidFill>
              </a:rPr>
              <a:t>Types of PMO(Project Management Office)</a:t>
            </a:r>
            <a:br>
              <a:rPr lang="en-US" b="1" u="sng" spc="114" dirty="0">
                <a:solidFill>
                  <a:srgbClr val="FF0000"/>
                </a:solidFill>
              </a:rPr>
            </a:br>
            <a:endParaRPr lang="en-US" b="1" u="sng" spc="114" dirty="0">
              <a:solidFill>
                <a:srgbClr val="FF0000"/>
              </a:solidFill>
            </a:endParaRPr>
          </a:p>
        </p:txBody>
      </p:sp>
      <p:sp>
        <p:nvSpPr>
          <p:cNvPr id="3" name="Text Placeholder 2">
            <a:extLst>
              <a:ext uri="{FF2B5EF4-FFF2-40B4-BE49-F238E27FC236}">
                <a16:creationId xmlns:a16="http://schemas.microsoft.com/office/drawing/2014/main" id="{9EB04F13-30E0-4EC8-8575-C2298D6CA5DD}"/>
              </a:ext>
            </a:extLst>
          </p:cNvPr>
          <p:cNvSpPr>
            <a:spLocks noGrp="1"/>
          </p:cNvSpPr>
          <p:nvPr>
            <p:ph type="body" idx="1"/>
          </p:nvPr>
        </p:nvSpPr>
        <p:spPr>
          <a:xfrm>
            <a:off x="458469" y="1633835"/>
            <a:ext cx="11275059" cy="4124206"/>
          </a:xfrm>
        </p:spPr>
        <p:txBody>
          <a:bodyPr/>
          <a:lstStyle/>
          <a:p>
            <a:pPr algn="l" rtl="0" fontAlgn="base"/>
            <a:r>
              <a:rPr lang="en-US" sz="2400" b="0" i="0" dirty="0">
                <a:solidFill>
                  <a:srgbClr val="273239"/>
                </a:solidFill>
                <a:effectLst/>
                <a:latin typeface="Nunito" pitchFamily="2" charset="0"/>
              </a:rPr>
              <a:t>Here are the following types of PMO(Project Management Office):</a:t>
            </a:r>
          </a:p>
          <a:p>
            <a:pPr algn="l" fontAlgn="base">
              <a:buFont typeface="Arial" panose="020B0604020202020204" pitchFamily="34" charset="0"/>
              <a:buChar char="•"/>
            </a:pPr>
            <a:r>
              <a:rPr lang="en-US" sz="2400" b="1" i="0" dirty="0">
                <a:solidFill>
                  <a:srgbClr val="273239"/>
                </a:solidFill>
                <a:effectLst/>
                <a:latin typeface="Nunito" pitchFamily="2" charset="0"/>
              </a:rPr>
              <a:t>Supportive PMO:</a:t>
            </a:r>
            <a:r>
              <a:rPr lang="en-US" sz="2400" b="0" i="0" dirty="0">
                <a:solidFill>
                  <a:srgbClr val="273239"/>
                </a:solidFill>
                <a:effectLst/>
                <a:latin typeface="Nunito" pitchFamily="2" charset="0"/>
              </a:rPr>
              <a:t> This PMO guides, offers templates and training to the project manager, but enforces only on a less rigid scale. The approach takes the consultative route; thus, it is more lenient for teams.</a:t>
            </a:r>
          </a:p>
          <a:p>
            <a:pPr algn="l" fontAlgn="base">
              <a:buFont typeface="Arial" panose="020B0604020202020204" pitchFamily="34" charset="0"/>
              <a:buChar char="•"/>
            </a:pPr>
            <a:r>
              <a:rPr lang="en-US" sz="2400" b="1" i="0" dirty="0">
                <a:solidFill>
                  <a:srgbClr val="273239"/>
                </a:solidFill>
                <a:effectLst/>
                <a:latin typeface="Nunito" pitchFamily="2" charset="0"/>
              </a:rPr>
              <a:t>Controlling PMO:</a:t>
            </a:r>
            <a:r>
              <a:rPr lang="en-US" sz="2400" b="0" i="0" dirty="0">
                <a:solidFill>
                  <a:srgbClr val="273239"/>
                </a:solidFill>
                <a:effectLst/>
                <a:latin typeface="Nunito" pitchFamily="2" charset="0"/>
              </a:rPr>
              <a:t> The controlling PMO develops and enforces frameworks. There are clear standards set by this PMO and formulated standards to be strictly followed by teams while expecting minimum oversight compared to that of the supporting PMO.</a:t>
            </a:r>
          </a:p>
          <a:p>
            <a:pPr algn="l" fontAlgn="base">
              <a:buFont typeface="Arial" panose="020B0604020202020204" pitchFamily="34" charset="0"/>
              <a:buChar char="•"/>
            </a:pPr>
            <a:r>
              <a:rPr lang="en-US" sz="2400" b="1" i="0" dirty="0">
                <a:solidFill>
                  <a:srgbClr val="273239"/>
                </a:solidFill>
                <a:effectLst/>
                <a:latin typeface="Nunito" pitchFamily="2" charset="0"/>
              </a:rPr>
              <a:t>Directive PMO:</a:t>
            </a:r>
            <a:r>
              <a:rPr lang="en-US" sz="2400" b="0" i="0" dirty="0">
                <a:solidFill>
                  <a:srgbClr val="273239"/>
                </a:solidFill>
                <a:effectLst/>
                <a:latin typeface="Nunito" pitchFamily="2" charset="0"/>
              </a:rPr>
              <a:t> Here, the PMO entirely dominates projects. It controls all key decision-making and is responsible for the execution and </a:t>
            </a:r>
            <a:r>
              <a:rPr lang="en-US" sz="2400" b="0" i="0" u="sng" dirty="0">
                <a:solidFill>
                  <a:srgbClr val="357960"/>
                </a:solidFill>
                <a:effectLst/>
                <a:latin typeface="Nunito" pitchFamily="2" charset="0"/>
                <a:hlinkClick r:id="rId3"/>
              </a:rPr>
              <a:t>outcome of the projects.</a:t>
            </a:r>
            <a:endParaRPr lang="en-US" sz="2400" b="0" i="0" dirty="0">
              <a:solidFill>
                <a:srgbClr val="273239"/>
              </a:solidFill>
              <a:effectLst/>
              <a:latin typeface="Nunito" pitchFamily="2" charset="0"/>
            </a:endParaRPr>
          </a:p>
          <a:p>
            <a:endParaRPr lang="en-US" sz="2400" dirty="0"/>
          </a:p>
        </p:txBody>
      </p:sp>
      <p:pic>
        <p:nvPicPr>
          <p:cNvPr id="4" name="Picture 2">
            <a:extLst>
              <a:ext uri="{FF2B5EF4-FFF2-40B4-BE49-F238E27FC236}">
                <a16:creationId xmlns:a16="http://schemas.microsoft.com/office/drawing/2014/main" id="{EDD1C9E9-A74F-E3C3-27B1-6936931CB2D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9092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1E0F-4795-452A-A396-37E5F1EE015B}"/>
              </a:ext>
            </a:extLst>
          </p:cNvPr>
          <p:cNvSpPr>
            <a:spLocks noGrp="1"/>
          </p:cNvSpPr>
          <p:nvPr>
            <p:ph type="title"/>
          </p:nvPr>
        </p:nvSpPr>
        <p:spPr>
          <a:xfrm>
            <a:off x="916939" y="615856"/>
            <a:ext cx="10358120" cy="1323439"/>
          </a:xfrm>
        </p:spPr>
        <p:txBody>
          <a:bodyPr/>
          <a:lstStyle/>
          <a:p>
            <a:r>
              <a:rPr lang="en-US" b="1" u="sng" spc="114">
                <a:solidFill>
                  <a:srgbClr val="FF0000"/>
                </a:solidFill>
              </a:rPr>
              <a:t>Applications of a PMO</a:t>
            </a:r>
            <a:br>
              <a:rPr lang="en-US" b="1" i="0">
                <a:solidFill>
                  <a:srgbClr val="273239"/>
                </a:solidFill>
                <a:effectLst/>
                <a:latin typeface="Nunito" pitchFamily="2" charset="0"/>
              </a:rPr>
            </a:br>
            <a:endParaRPr lang="en-US" dirty="0"/>
          </a:p>
        </p:txBody>
      </p:sp>
      <p:sp>
        <p:nvSpPr>
          <p:cNvPr id="3" name="Text Placeholder 2">
            <a:extLst>
              <a:ext uri="{FF2B5EF4-FFF2-40B4-BE49-F238E27FC236}">
                <a16:creationId xmlns:a16="http://schemas.microsoft.com/office/drawing/2014/main" id="{9C8D8B9D-A0B3-4352-8DCE-B3268A53B540}"/>
              </a:ext>
            </a:extLst>
          </p:cNvPr>
          <p:cNvSpPr>
            <a:spLocks noGrp="1"/>
          </p:cNvSpPr>
          <p:nvPr>
            <p:ph type="body" idx="1"/>
          </p:nvPr>
        </p:nvSpPr>
        <p:spPr>
          <a:xfrm>
            <a:off x="762000" y="1828800"/>
            <a:ext cx="10358120" cy="2154436"/>
          </a:xfrm>
        </p:spPr>
        <p:txBody>
          <a:bodyPr/>
          <a:lstStyle/>
          <a:p>
            <a:pPr algn="l" fontAlgn="base">
              <a:buFont typeface="Arial" panose="020B0604020202020204" pitchFamily="34" charset="0"/>
              <a:buChar char="•"/>
            </a:pPr>
            <a:r>
              <a:rPr lang="en-US" b="1" i="0" dirty="0">
                <a:solidFill>
                  <a:srgbClr val="273239"/>
                </a:solidFill>
                <a:effectLst/>
                <a:latin typeface="Nunito" pitchFamily="2" charset="0"/>
              </a:rPr>
              <a:t>Large Enterprises</a:t>
            </a:r>
            <a:endParaRPr lang="en-US" b="1" dirty="0">
              <a:solidFill>
                <a:srgbClr val="273239"/>
              </a:solidFill>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Highly Regulated Industries</a:t>
            </a:r>
            <a:endParaRPr lang="en-US" b="1" dirty="0">
              <a:solidFill>
                <a:srgbClr val="273239"/>
              </a:solidFill>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Organizations Under Transformation</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Project Intensive Organizations</a:t>
            </a:r>
            <a:endParaRPr lang="en-US" b="1" dirty="0">
              <a:solidFill>
                <a:srgbClr val="273239"/>
              </a:solidFill>
              <a:latin typeface="Nunito" pitchFamily="2" charset="0"/>
            </a:endParaRPr>
          </a:p>
          <a:p>
            <a:pPr algn="l" fontAlgn="base">
              <a:buFont typeface="Arial" panose="020B0604020202020204" pitchFamily="34" charset="0"/>
              <a:buChar char="•"/>
            </a:pPr>
            <a:r>
              <a:rPr lang="en-US" b="1" i="0" dirty="0">
                <a:solidFill>
                  <a:srgbClr val="273239"/>
                </a:solidFill>
                <a:effectLst/>
                <a:latin typeface="Nunito" pitchFamily="2" charset="0"/>
              </a:rPr>
              <a:t>Global Teams</a:t>
            </a:r>
            <a:endParaRPr lang="en-US" dirty="0"/>
          </a:p>
        </p:txBody>
      </p:sp>
      <p:pic>
        <p:nvPicPr>
          <p:cNvPr id="4" name="Picture 2">
            <a:extLst>
              <a:ext uri="{FF2B5EF4-FFF2-40B4-BE49-F238E27FC236}">
                <a16:creationId xmlns:a16="http://schemas.microsoft.com/office/drawing/2014/main" id="{FE3895A0-6C7E-35DE-CD9D-EC112D4FAE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266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75" dirty="0">
                <a:solidFill>
                  <a:srgbClr val="FF0000"/>
                </a:solidFill>
              </a:rPr>
              <a:t>Stratgey</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6</a:t>
            </a:fld>
            <a:endParaRPr spc="-50" dirty="0"/>
          </a:p>
        </p:txBody>
      </p:sp>
      <p:sp>
        <p:nvSpPr>
          <p:cNvPr id="3" name="object 3"/>
          <p:cNvSpPr txBox="1">
            <a:spLocks noGrp="1"/>
          </p:cNvSpPr>
          <p:nvPr>
            <p:ph type="body" idx="1"/>
          </p:nvPr>
        </p:nvSpPr>
        <p:spPr>
          <a:prstGeom prst="rect">
            <a:avLst/>
          </a:prstGeom>
        </p:spPr>
        <p:txBody>
          <a:bodyPr vert="horz" wrap="square" lIns="0" tIns="55244" rIns="0" bIns="0" rtlCol="0">
            <a:spAutoFit/>
          </a:bodyPr>
          <a:lstStyle/>
          <a:p>
            <a:pPr marL="241300" marR="5080" indent="-228600" algn="just">
              <a:lnSpc>
                <a:spcPct val="90000"/>
              </a:lnSpc>
              <a:spcBef>
                <a:spcPts val="434"/>
              </a:spcBef>
              <a:buFont typeface="Arial MT"/>
              <a:buChar char="•"/>
              <a:tabLst>
                <a:tab pos="241300" algn="l"/>
              </a:tabLst>
            </a:pPr>
            <a:r>
              <a:rPr dirty="0"/>
              <a:t>It</a:t>
            </a:r>
            <a:r>
              <a:rPr spc="280" dirty="0"/>
              <a:t> </a:t>
            </a:r>
            <a:r>
              <a:rPr dirty="0"/>
              <a:t>means</a:t>
            </a:r>
            <a:r>
              <a:rPr spc="285" dirty="0"/>
              <a:t> </a:t>
            </a:r>
            <a:r>
              <a:rPr dirty="0"/>
              <a:t>deciding</a:t>
            </a:r>
            <a:r>
              <a:rPr spc="275" dirty="0"/>
              <a:t> </a:t>
            </a:r>
            <a:r>
              <a:rPr dirty="0"/>
              <a:t>how</a:t>
            </a:r>
            <a:r>
              <a:rPr spc="280" dirty="0"/>
              <a:t> </a:t>
            </a:r>
            <a:r>
              <a:rPr dirty="0"/>
              <a:t>the</a:t>
            </a:r>
            <a:r>
              <a:rPr spc="275" dirty="0"/>
              <a:t> </a:t>
            </a:r>
            <a:r>
              <a:rPr dirty="0"/>
              <a:t>organization</a:t>
            </a:r>
            <a:r>
              <a:rPr spc="285" dirty="0"/>
              <a:t> </a:t>
            </a:r>
            <a:r>
              <a:rPr dirty="0"/>
              <a:t>will</a:t>
            </a:r>
            <a:r>
              <a:rPr spc="280" dirty="0"/>
              <a:t> </a:t>
            </a:r>
            <a:r>
              <a:rPr dirty="0"/>
              <a:t>compete.</a:t>
            </a:r>
            <a:r>
              <a:rPr spc="285" dirty="0"/>
              <a:t> </a:t>
            </a:r>
            <a:r>
              <a:rPr spc="-10" dirty="0"/>
              <a:t>Organizations </a:t>
            </a:r>
            <a:r>
              <a:rPr dirty="0"/>
              <a:t>use</a:t>
            </a:r>
            <a:r>
              <a:rPr spc="690" dirty="0"/>
              <a:t> </a:t>
            </a:r>
            <a:r>
              <a:rPr dirty="0"/>
              <a:t>projects</a:t>
            </a:r>
            <a:r>
              <a:rPr spc="35" dirty="0"/>
              <a:t>  </a:t>
            </a:r>
            <a:r>
              <a:rPr dirty="0"/>
              <a:t>to</a:t>
            </a:r>
            <a:r>
              <a:rPr spc="30" dirty="0"/>
              <a:t>  </a:t>
            </a:r>
            <a:r>
              <a:rPr dirty="0"/>
              <a:t>convert</a:t>
            </a:r>
            <a:r>
              <a:rPr spc="35" dirty="0"/>
              <a:t>  </a:t>
            </a:r>
            <a:r>
              <a:rPr dirty="0"/>
              <a:t>strategy</a:t>
            </a:r>
            <a:r>
              <a:rPr spc="35" dirty="0"/>
              <a:t>  </a:t>
            </a:r>
            <a:r>
              <a:rPr dirty="0"/>
              <a:t>into</a:t>
            </a:r>
            <a:r>
              <a:rPr spc="30" dirty="0"/>
              <a:t>  </a:t>
            </a:r>
            <a:r>
              <a:rPr dirty="0"/>
              <a:t>new</a:t>
            </a:r>
            <a:r>
              <a:rPr spc="30" dirty="0"/>
              <a:t>  </a:t>
            </a:r>
            <a:r>
              <a:rPr dirty="0"/>
              <a:t>products,</a:t>
            </a:r>
            <a:r>
              <a:rPr spc="30" dirty="0"/>
              <a:t>  </a:t>
            </a:r>
            <a:r>
              <a:rPr dirty="0"/>
              <a:t>services.</a:t>
            </a:r>
            <a:r>
              <a:rPr spc="35" dirty="0"/>
              <a:t>  </a:t>
            </a:r>
            <a:r>
              <a:rPr spc="-25" dirty="0"/>
              <a:t>For </a:t>
            </a:r>
            <a:r>
              <a:rPr dirty="0"/>
              <a:t>example,</a:t>
            </a:r>
            <a:r>
              <a:rPr spc="145" dirty="0"/>
              <a:t> </a:t>
            </a:r>
            <a:r>
              <a:rPr dirty="0"/>
              <a:t>Intel’s</a:t>
            </a:r>
            <a:r>
              <a:rPr spc="155" dirty="0"/>
              <a:t> </a:t>
            </a:r>
            <a:r>
              <a:rPr dirty="0"/>
              <a:t>major</a:t>
            </a:r>
            <a:r>
              <a:rPr spc="140" dirty="0"/>
              <a:t> </a:t>
            </a:r>
            <a:r>
              <a:rPr dirty="0"/>
              <a:t>strategy</a:t>
            </a:r>
            <a:r>
              <a:rPr spc="145" dirty="0"/>
              <a:t> </a:t>
            </a:r>
            <a:r>
              <a:rPr dirty="0"/>
              <a:t>is</a:t>
            </a:r>
            <a:r>
              <a:rPr spc="150" dirty="0"/>
              <a:t> </a:t>
            </a:r>
            <a:r>
              <a:rPr spc="-20" dirty="0"/>
              <a:t>“</a:t>
            </a:r>
            <a:r>
              <a:rPr u="heavy" spc="-20" dirty="0">
                <a:solidFill>
                  <a:srgbClr val="262EA4"/>
                </a:solidFill>
                <a:uFill>
                  <a:solidFill>
                    <a:srgbClr val="262EA4"/>
                  </a:solidFill>
                </a:uFill>
              </a:rPr>
              <a:t>differentiation</a:t>
            </a:r>
            <a:r>
              <a:rPr spc="-20" dirty="0"/>
              <a:t>”.</a:t>
            </a:r>
            <a:r>
              <a:rPr spc="145" dirty="0"/>
              <a:t> </a:t>
            </a:r>
            <a:r>
              <a:rPr dirty="0"/>
              <a:t>Its</a:t>
            </a:r>
            <a:r>
              <a:rPr spc="150" dirty="0"/>
              <a:t> </a:t>
            </a:r>
            <a:r>
              <a:rPr dirty="0"/>
              <a:t>projects</a:t>
            </a:r>
            <a:r>
              <a:rPr spc="150" dirty="0"/>
              <a:t> </a:t>
            </a:r>
            <a:r>
              <a:rPr spc="-10" dirty="0"/>
              <a:t>target </a:t>
            </a:r>
            <a:r>
              <a:rPr dirty="0"/>
              <a:t>innovation</a:t>
            </a:r>
            <a:r>
              <a:rPr spc="655" dirty="0"/>
              <a:t> </a:t>
            </a:r>
            <a:r>
              <a:rPr dirty="0"/>
              <a:t>and</a:t>
            </a:r>
            <a:r>
              <a:rPr spc="665" dirty="0"/>
              <a:t> </a:t>
            </a:r>
            <a:r>
              <a:rPr dirty="0"/>
              <a:t>time</a:t>
            </a:r>
            <a:r>
              <a:rPr spc="655" dirty="0"/>
              <a:t> </a:t>
            </a:r>
            <a:r>
              <a:rPr dirty="0"/>
              <a:t>to</a:t>
            </a:r>
            <a:r>
              <a:rPr spc="660" dirty="0"/>
              <a:t> </a:t>
            </a:r>
            <a:r>
              <a:rPr dirty="0"/>
              <a:t>market.</a:t>
            </a:r>
            <a:r>
              <a:rPr spc="665" dirty="0"/>
              <a:t> </a:t>
            </a:r>
            <a:r>
              <a:rPr dirty="0"/>
              <a:t>It</a:t>
            </a:r>
            <a:r>
              <a:rPr spc="660" dirty="0"/>
              <a:t> </a:t>
            </a:r>
            <a:r>
              <a:rPr dirty="0"/>
              <a:t>is</a:t>
            </a:r>
            <a:r>
              <a:rPr spc="665" dirty="0"/>
              <a:t> </a:t>
            </a:r>
            <a:r>
              <a:rPr dirty="0"/>
              <a:t>directing</a:t>
            </a:r>
            <a:r>
              <a:rPr spc="650" dirty="0"/>
              <a:t> </a:t>
            </a:r>
            <a:r>
              <a:rPr dirty="0"/>
              <a:t>its</a:t>
            </a:r>
            <a:r>
              <a:rPr spc="665" dirty="0"/>
              <a:t> </a:t>
            </a:r>
            <a:r>
              <a:rPr dirty="0"/>
              <a:t>strategy</a:t>
            </a:r>
            <a:r>
              <a:rPr spc="655" dirty="0"/>
              <a:t> </a:t>
            </a:r>
            <a:r>
              <a:rPr spc="-10" dirty="0"/>
              <a:t>toward </a:t>
            </a:r>
            <a:r>
              <a:rPr dirty="0"/>
              <a:t>specialty</a:t>
            </a:r>
            <a:r>
              <a:rPr spc="-85" dirty="0"/>
              <a:t> </a:t>
            </a:r>
            <a:r>
              <a:rPr dirty="0"/>
              <a:t>chips</a:t>
            </a:r>
            <a:r>
              <a:rPr spc="-65" dirty="0"/>
              <a:t> </a:t>
            </a:r>
            <a:r>
              <a:rPr dirty="0"/>
              <a:t>for</a:t>
            </a:r>
            <a:r>
              <a:rPr spc="-70" dirty="0"/>
              <a:t> </a:t>
            </a:r>
            <a:r>
              <a:rPr dirty="0"/>
              <a:t>products</a:t>
            </a:r>
            <a:r>
              <a:rPr spc="-70" dirty="0"/>
              <a:t> </a:t>
            </a:r>
            <a:r>
              <a:rPr dirty="0"/>
              <a:t>other</a:t>
            </a:r>
            <a:r>
              <a:rPr spc="-70" dirty="0"/>
              <a:t> </a:t>
            </a:r>
            <a:r>
              <a:rPr dirty="0"/>
              <a:t>than</a:t>
            </a:r>
            <a:r>
              <a:rPr spc="-65" dirty="0"/>
              <a:t> </a:t>
            </a:r>
            <a:r>
              <a:rPr spc="-10" dirty="0"/>
              <a:t>computers.</a:t>
            </a:r>
          </a:p>
          <a:p>
            <a:pPr marL="241300" marR="5080" indent="-228600">
              <a:lnSpc>
                <a:spcPts val="3000"/>
              </a:lnSpc>
              <a:spcBef>
                <a:spcPts val="1045"/>
              </a:spcBef>
              <a:buFont typeface="Arial MT"/>
              <a:buChar char="•"/>
              <a:tabLst>
                <a:tab pos="241300" algn="l"/>
              </a:tabLst>
            </a:pPr>
            <a:r>
              <a:rPr dirty="0">
                <a:solidFill>
                  <a:srgbClr val="C00000"/>
                </a:solidFill>
              </a:rPr>
              <a:t>Aligning</a:t>
            </a:r>
            <a:r>
              <a:rPr spc="45" dirty="0">
                <a:solidFill>
                  <a:srgbClr val="C00000"/>
                </a:solidFill>
              </a:rPr>
              <a:t> </a:t>
            </a:r>
            <a:r>
              <a:rPr dirty="0">
                <a:solidFill>
                  <a:srgbClr val="C00000"/>
                </a:solidFill>
              </a:rPr>
              <a:t>projects</a:t>
            </a:r>
            <a:r>
              <a:rPr spc="45" dirty="0">
                <a:solidFill>
                  <a:srgbClr val="C00000"/>
                </a:solidFill>
              </a:rPr>
              <a:t> </a:t>
            </a:r>
            <a:r>
              <a:rPr dirty="0">
                <a:solidFill>
                  <a:srgbClr val="C00000"/>
                </a:solidFill>
              </a:rPr>
              <a:t>with</a:t>
            </a:r>
            <a:r>
              <a:rPr spc="55" dirty="0">
                <a:solidFill>
                  <a:srgbClr val="C00000"/>
                </a:solidFill>
              </a:rPr>
              <a:t> </a:t>
            </a:r>
            <a:r>
              <a:rPr dirty="0">
                <a:solidFill>
                  <a:srgbClr val="C00000"/>
                </a:solidFill>
              </a:rPr>
              <a:t>the</a:t>
            </a:r>
            <a:r>
              <a:rPr spc="45" dirty="0">
                <a:solidFill>
                  <a:srgbClr val="C00000"/>
                </a:solidFill>
              </a:rPr>
              <a:t> </a:t>
            </a:r>
            <a:r>
              <a:rPr dirty="0">
                <a:solidFill>
                  <a:srgbClr val="C00000"/>
                </a:solidFill>
              </a:rPr>
              <a:t>strategic</a:t>
            </a:r>
            <a:r>
              <a:rPr spc="50" dirty="0">
                <a:solidFill>
                  <a:srgbClr val="C00000"/>
                </a:solidFill>
              </a:rPr>
              <a:t> </a:t>
            </a:r>
            <a:r>
              <a:rPr dirty="0">
                <a:solidFill>
                  <a:srgbClr val="C00000"/>
                </a:solidFill>
              </a:rPr>
              <a:t>goals</a:t>
            </a:r>
            <a:r>
              <a:rPr spc="50" dirty="0">
                <a:solidFill>
                  <a:srgbClr val="C00000"/>
                </a:solidFill>
              </a:rPr>
              <a:t> </a:t>
            </a:r>
            <a:r>
              <a:rPr dirty="0">
                <a:solidFill>
                  <a:srgbClr val="C00000"/>
                </a:solidFill>
              </a:rPr>
              <a:t>of</a:t>
            </a:r>
            <a:r>
              <a:rPr spc="40" dirty="0">
                <a:solidFill>
                  <a:srgbClr val="C00000"/>
                </a:solidFill>
              </a:rPr>
              <a:t> </a:t>
            </a:r>
            <a:r>
              <a:rPr dirty="0">
                <a:solidFill>
                  <a:srgbClr val="C00000"/>
                </a:solidFill>
              </a:rPr>
              <a:t>the</a:t>
            </a:r>
            <a:r>
              <a:rPr spc="45" dirty="0">
                <a:solidFill>
                  <a:srgbClr val="C00000"/>
                </a:solidFill>
              </a:rPr>
              <a:t> </a:t>
            </a:r>
            <a:r>
              <a:rPr dirty="0">
                <a:solidFill>
                  <a:srgbClr val="C00000"/>
                </a:solidFill>
              </a:rPr>
              <a:t>organization</a:t>
            </a:r>
            <a:r>
              <a:rPr spc="45" dirty="0">
                <a:solidFill>
                  <a:srgbClr val="C00000"/>
                </a:solidFill>
              </a:rPr>
              <a:t> </a:t>
            </a:r>
            <a:r>
              <a:rPr dirty="0">
                <a:solidFill>
                  <a:srgbClr val="C00000"/>
                </a:solidFill>
              </a:rPr>
              <a:t>is</a:t>
            </a:r>
            <a:r>
              <a:rPr spc="50" dirty="0">
                <a:solidFill>
                  <a:srgbClr val="C00000"/>
                </a:solidFill>
              </a:rPr>
              <a:t> </a:t>
            </a:r>
            <a:r>
              <a:rPr spc="-10" dirty="0">
                <a:solidFill>
                  <a:srgbClr val="C00000"/>
                </a:solidFill>
              </a:rPr>
              <a:t>crucial </a:t>
            </a:r>
            <a:r>
              <a:rPr dirty="0">
                <a:solidFill>
                  <a:srgbClr val="C00000"/>
                </a:solidFill>
              </a:rPr>
              <a:t>for</a:t>
            </a:r>
            <a:r>
              <a:rPr spc="-80" dirty="0">
                <a:solidFill>
                  <a:srgbClr val="C00000"/>
                </a:solidFill>
              </a:rPr>
              <a:t> </a:t>
            </a:r>
            <a:r>
              <a:rPr dirty="0">
                <a:solidFill>
                  <a:srgbClr val="C00000"/>
                </a:solidFill>
              </a:rPr>
              <a:t>project</a:t>
            </a:r>
            <a:r>
              <a:rPr spc="-80" dirty="0">
                <a:solidFill>
                  <a:srgbClr val="C00000"/>
                </a:solidFill>
              </a:rPr>
              <a:t> </a:t>
            </a:r>
            <a:r>
              <a:rPr spc="-10" dirty="0">
                <a:solidFill>
                  <a:srgbClr val="C00000"/>
                </a:solidFill>
              </a:rPr>
              <a:t>success.</a:t>
            </a:r>
          </a:p>
          <a:p>
            <a:pPr marL="241300" marR="5715" indent="-228600">
              <a:lnSpc>
                <a:spcPts val="3000"/>
              </a:lnSpc>
              <a:spcBef>
                <a:spcPts val="1080"/>
              </a:spcBef>
              <a:buFont typeface="Arial MT"/>
              <a:buChar char="•"/>
              <a:tabLst>
                <a:tab pos="241300" algn="l"/>
              </a:tabLst>
            </a:pPr>
            <a:r>
              <a:rPr dirty="0"/>
              <a:t>How</a:t>
            </a:r>
            <a:r>
              <a:rPr spc="105" dirty="0"/>
              <a:t> </a:t>
            </a:r>
            <a:r>
              <a:rPr dirty="0"/>
              <a:t>can</a:t>
            </a:r>
            <a:r>
              <a:rPr spc="110" dirty="0"/>
              <a:t> </a:t>
            </a:r>
            <a:r>
              <a:rPr dirty="0"/>
              <a:t>an</a:t>
            </a:r>
            <a:r>
              <a:rPr spc="120" dirty="0"/>
              <a:t> </a:t>
            </a:r>
            <a:r>
              <a:rPr dirty="0"/>
              <a:t>organization</a:t>
            </a:r>
            <a:r>
              <a:rPr spc="110" dirty="0"/>
              <a:t> </a:t>
            </a:r>
            <a:r>
              <a:rPr dirty="0"/>
              <a:t>ensure</a:t>
            </a:r>
            <a:r>
              <a:rPr spc="114" dirty="0"/>
              <a:t> </a:t>
            </a:r>
            <a:r>
              <a:rPr dirty="0"/>
              <a:t>this</a:t>
            </a:r>
            <a:r>
              <a:rPr spc="114" dirty="0"/>
              <a:t> </a:t>
            </a:r>
            <a:r>
              <a:rPr dirty="0"/>
              <a:t>link</a:t>
            </a:r>
            <a:r>
              <a:rPr spc="114" dirty="0"/>
              <a:t> </a:t>
            </a:r>
            <a:r>
              <a:rPr dirty="0"/>
              <a:t>and</a:t>
            </a:r>
            <a:r>
              <a:rPr spc="114" dirty="0"/>
              <a:t> </a:t>
            </a:r>
            <a:r>
              <a:rPr dirty="0"/>
              <a:t>alignment?</a:t>
            </a:r>
            <a:r>
              <a:rPr spc="105" dirty="0"/>
              <a:t> </a:t>
            </a:r>
            <a:r>
              <a:rPr dirty="0"/>
              <a:t>The</a:t>
            </a:r>
            <a:r>
              <a:rPr spc="110" dirty="0"/>
              <a:t> </a:t>
            </a:r>
            <a:r>
              <a:rPr spc="-10" dirty="0"/>
              <a:t>answer </a:t>
            </a:r>
            <a:r>
              <a:rPr dirty="0"/>
              <a:t>requires</a:t>
            </a:r>
            <a:r>
              <a:rPr spc="-80" dirty="0"/>
              <a:t> </a:t>
            </a:r>
            <a:r>
              <a:rPr spc="-10" dirty="0"/>
              <a:t>integration</a:t>
            </a:r>
            <a:r>
              <a:rPr spc="-75" dirty="0"/>
              <a:t> </a:t>
            </a:r>
            <a:r>
              <a:rPr dirty="0"/>
              <a:t>of</a:t>
            </a:r>
            <a:r>
              <a:rPr spc="-80" dirty="0"/>
              <a:t> </a:t>
            </a:r>
            <a:r>
              <a:rPr dirty="0"/>
              <a:t>projects</a:t>
            </a:r>
            <a:r>
              <a:rPr spc="-70" dirty="0"/>
              <a:t> </a:t>
            </a:r>
            <a:r>
              <a:rPr dirty="0"/>
              <a:t>with</a:t>
            </a:r>
            <a:r>
              <a:rPr spc="-70" dirty="0"/>
              <a:t> </a:t>
            </a:r>
            <a:r>
              <a:rPr dirty="0"/>
              <a:t>the</a:t>
            </a:r>
            <a:r>
              <a:rPr spc="-80" dirty="0"/>
              <a:t> </a:t>
            </a:r>
            <a:r>
              <a:rPr spc="-10" dirty="0"/>
              <a:t>strategic</a:t>
            </a:r>
            <a:r>
              <a:rPr spc="-70" dirty="0"/>
              <a:t> </a:t>
            </a:r>
            <a:r>
              <a:rPr spc="-10" dirty="0"/>
              <a:t>plan.</a:t>
            </a:r>
          </a:p>
          <a:p>
            <a:pPr marL="241300" marR="5080" indent="-228600">
              <a:lnSpc>
                <a:spcPts val="3000"/>
              </a:lnSpc>
              <a:spcBef>
                <a:spcPts val="1010"/>
              </a:spcBef>
              <a:buFont typeface="Arial MT"/>
              <a:buChar char="•"/>
              <a:tabLst>
                <a:tab pos="241300" algn="l"/>
              </a:tabLst>
            </a:pPr>
            <a:r>
              <a:rPr dirty="0">
                <a:solidFill>
                  <a:srgbClr val="C00000"/>
                </a:solidFill>
              </a:rPr>
              <a:t>Project</a:t>
            </a:r>
            <a:r>
              <a:rPr spc="70" dirty="0">
                <a:solidFill>
                  <a:srgbClr val="C00000"/>
                </a:solidFill>
              </a:rPr>
              <a:t> </a:t>
            </a:r>
            <a:r>
              <a:rPr dirty="0">
                <a:solidFill>
                  <a:srgbClr val="C00000"/>
                </a:solidFill>
              </a:rPr>
              <a:t>managers</a:t>
            </a:r>
            <a:r>
              <a:rPr spc="80" dirty="0">
                <a:solidFill>
                  <a:srgbClr val="C00000"/>
                </a:solidFill>
              </a:rPr>
              <a:t> </a:t>
            </a:r>
            <a:r>
              <a:rPr dirty="0">
                <a:solidFill>
                  <a:srgbClr val="C00000"/>
                </a:solidFill>
              </a:rPr>
              <a:t>need</a:t>
            </a:r>
            <a:r>
              <a:rPr spc="70" dirty="0">
                <a:solidFill>
                  <a:srgbClr val="C00000"/>
                </a:solidFill>
              </a:rPr>
              <a:t> </a:t>
            </a:r>
            <a:r>
              <a:rPr dirty="0">
                <a:solidFill>
                  <a:srgbClr val="C00000"/>
                </a:solidFill>
              </a:rPr>
              <a:t>to</a:t>
            </a:r>
            <a:r>
              <a:rPr spc="75" dirty="0">
                <a:solidFill>
                  <a:srgbClr val="C00000"/>
                </a:solidFill>
              </a:rPr>
              <a:t> </a:t>
            </a:r>
            <a:r>
              <a:rPr dirty="0">
                <a:solidFill>
                  <a:srgbClr val="C00000"/>
                </a:solidFill>
              </a:rPr>
              <a:t>understand</a:t>
            </a:r>
            <a:r>
              <a:rPr spc="65" dirty="0">
                <a:solidFill>
                  <a:srgbClr val="C00000"/>
                </a:solidFill>
              </a:rPr>
              <a:t> </a:t>
            </a:r>
            <a:r>
              <a:rPr dirty="0">
                <a:solidFill>
                  <a:srgbClr val="C00000"/>
                </a:solidFill>
              </a:rPr>
              <a:t>their</a:t>
            </a:r>
            <a:r>
              <a:rPr spc="75" dirty="0">
                <a:solidFill>
                  <a:srgbClr val="C00000"/>
                </a:solidFill>
              </a:rPr>
              <a:t> </a:t>
            </a:r>
            <a:r>
              <a:rPr spc="-20" dirty="0">
                <a:solidFill>
                  <a:srgbClr val="C00000"/>
                </a:solidFill>
              </a:rPr>
              <a:t>organization’s</a:t>
            </a:r>
            <a:r>
              <a:rPr spc="75" dirty="0">
                <a:solidFill>
                  <a:srgbClr val="C00000"/>
                </a:solidFill>
              </a:rPr>
              <a:t> </a:t>
            </a:r>
            <a:r>
              <a:rPr dirty="0">
                <a:solidFill>
                  <a:srgbClr val="C00000"/>
                </a:solidFill>
              </a:rPr>
              <a:t>strategy</a:t>
            </a:r>
            <a:r>
              <a:rPr spc="75" dirty="0">
                <a:solidFill>
                  <a:srgbClr val="C00000"/>
                </a:solidFill>
              </a:rPr>
              <a:t> </a:t>
            </a:r>
            <a:r>
              <a:rPr spc="-25" dirty="0">
                <a:solidFill>
                  <a:srgbClr val="C00000"/>
                </a:solidFill>
              </a:rPr>
              <a:t>so </a:t>
            </a:r>
            <a:r>
              <a:rPr dirty="0">
                <a:solidFill>
                  <a:srgbClr val="C00000"/>
                </a:solidFill>
              </a:rPr>
              <a:t>that</a:t>
            </a:r>
            <a:r>
              <a:rPr spc="-55" dirty="0">
                <a:solidFill>
                  <a:srgbClr val="C00000"/>
                </a:solidFill>
              </a:rPr>
              <a:t> </a:t>
            </a:r>
            <a:r>
              <a:rPr dirty="0">
                <a:solidFill>
                  <a:srgbClr val="C00000"/>
                </a:solidFill>
              </a:rPr>
              <a:t>they</a:t>
            </a:r>
            <a:r>
              <a:rPr spc="-55" dirty="0">
                <a:solidFill>
                  <a:srgbClr val="C00000"/>
                </a:solidFill>
              </a:rPr>
              <a:t> </a:t>
            </a:r>
            <a:r>
              <a:rPr dirty="0">
                <a:solidFill>
                  <a:srgbClr val="C00000"/>
                </a:solidFill>
              </a:rPr>
              <a:t>can</a:t>
            </a:r>
            <a:r>
              <a:rPr spc="-50" dirty="0">
                <a:solidFill>
                  <a:srgbClr val="C00000"/>
                </a:solidFill>
              </a:rPr>
              <a:t> </a:t>
            </a:r>
            <a:r>
              <a:rPr dirty="0">
                <a:solidFill>
                  <a:srgbClr val="C00000"/>
                </a:solidFill>
              </a:rPr>
              <a:t>make</a:t>
            </a:r>
            <a:r>
              <a:rPr spc="-60" dirty="0">
                <a:solidFill>
                  <a:srgbClr val="C00000"/>
                </a:solidFill>
              </a:rPr>
              <a:t> </a:t>
            </a:r>
            <a:r>
              <a:rPr spc="-10" dirty="0">
                <a:solidFill>
                  <a:srgbClr val="C00000"/>
                </a:solidFill>
              </a:rPr>
              <a:t>appropriate</a:t>
            </a:r>
            <a:r>
              <a:rPr spc="-60" dirty="0">
                <a:solidFill>
                  <a:srgbClr val="C00000"/>
                </a:solidFill>
              </a:rPr>
              <a:t> </a:t>
            </a:r>
            <a:r>
              <a:rPr dirty="0">
                <a:solidFill>
                  <a:srgbClr val="C00000"/>
                </a:solidFill>
              </a:rPr>
              <a:t>decisions</a:t>
            </a:r>
            <a:r>
              <a:rPr spc="-50" dirty="0">
                <a:solidFill>
                  <a:srgbClr val="C00000"/>
                </a:solidFill>
              </a:rPr>
              <a:t> </a:t>
            </a:r>
            <a:r>
              <a:rPr dirty="0">
                <a:solidFill>
                  <a:srgbClr val="C00000"/>
                </a:solidFill>
              </a:rPr>
              <a:t>and</a:t>
            </a:r>
            <a:r>
              <a:rPr spc="-50" dirty="0">
                <a:solidFill>
                  <a:srgbClr val="C00000"/>
                </a:solidFill>
              </a:rPr>
              <a:t> </a:t>
            </a:r>
            <a:r>
              <a:rPr spc="-10" dirty="0">
                <a:solidFill>
                  <a:srgbClr val="C00000"/>
                </a:solidFill>
              </a:rPr>
              <a:t>adjustments.</a:t>
            </a:r>
          </a:p>
        </p:txBody>
      </p:sp>
      <p:pic>
        <p:nvPicPr>
          <p:cNvPr id="5" name="Picture 2">
            <a:extLst>
              <a:ext uri="{FF2B5EF4-FFF2-40B4-BE49-F238E27FC236}">
                <a16:creationId xmlns:a16="http://schemas.microsoft.com/office/drawing/2014/main" id="{14624F13-4920-AC0B-10C8-2AA99C8FD4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Strategic</a:t>
            </a:r>
            <a:r>
              <a:rPr b="1" u="sng" spc="135" dirty="0">
                <a:solidFill>
                  <a:srgbClr val="FF0000"/>
                </a:solidFill>
              </a:rPr>
              <a:t> </a:t>
            </a:r>
            <a:r>
              <a:rPr b="1" u="sng" spc="110" dirty="0">
                <a:solidFill>
                  <a:srgbClr val="FF0000"/>
                </a:solidFill>
              </a:rPr>
              <a:t>Options</a:t>
            </a:r>
            <a:r>
              <a:rPr b="1" u="sng" spc="135" dirty="0">
                <a:solidFill>
                  <a:srgbClr val="FF0000"/>
                </a:solidFill>
              </a:rPr>
              <a:t> </a:t>
            </a:r>
            <a:r>
              <a:rPr sz="1950" spc="-10" dirty="0"/>
              <a:t>(1/3)</a:t>
            </a:r>
            <a:endParaRPr sz="1950" dirty="0"/>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115570">
              <a:lnSpc>
                <a:spcPct val="100000"/>
              </a:lnSpc>
              <a:spcBef>
                <a:spcPts val="40"/>
              </a:spcBef>
            </a:pPr>
            <a:fld id="{81D60167-4931-47E6-BA6A-407CBD079E47}" type="slidenum">
              <a:rPr spc="-50" dirty="0"/>
              <a:t>7</a:t>
            </a:fld>
            <a:endParaRPr spc="-50" dirty="0"/>
          </a:p>
        </p:txBody>
      </p:sp>
      <p:sp>
        <p:nvSpPr>
          <p:cNvPr id="3" name="object 3"/>
          <p:cNvSpPr txBox="1">
            <a:spLocks noGrp="1"/>
          </p:cNvSpPr>
          <p:nvPr>
            <p:ph type="body" idx="1"/>
          </p:nvPr>
        </p:nvSpPr>
        <p:spPr>
          <a:prstGeom prst="rect">
            <a:avLst/>
          </a:prstGeom>
        </p:spPr>
        <p:txBody>
          <a:bodyPr vert="horz" wrap="square" lIns="0" tIns="179832" rIns="0" bIns="0" rtlCol="0">
            <a:spAutoFit/>
          </a:bodyPr>
          <a:lstStyle/>
          <a:p>
            <a:pPr marL="504825" indent="-444500" algn="just">
              <a:lnSpc>
                <a:spcPct val="100000"/>
              </a:lnSpc>
              <a:spcBef>
                <a:spcPts val="720"/>
              </a:spcBef>
              <a:buAutoNum type="arabicPeriod"/>
              <a:tabLst>
                <a:tab pos="504825" algn="l"/>
              </a:tabLst>
            </a:pPr>
            <a:r>
              <a:rPr u="heavy" dirty="0">
                <a:uFill>
                  <a:solidFill>
                    <a:srgbClr val="000000"/>
                  </a:solidFill>
                </a:uFill>
              </a:rPr>
              <a:t>Low</a:t>
            </a:r>
            <a:r>
              <a:rPr u="heavy" spc="-60" dirty="0">
                <a:uFill>
                  <a:solidFill>
                    <a:srgbClr val="000000"/>
                  </a:solidFill>
                </a:uFill>
              </a:rPr>
              <a:t> </a:t>
            </a:r>
            <a:r>
              <a:rPr u="heavy" dirty="0">
                <a:uFill>
                  <a:solidFill>
                    <a:srgbClr val="000000"/>
                  </a:solidFill>
                </a:uFill>
              </a:rPr>
              <a:t>cost</a:t>
            </a:r>
            <a:r>
              <a:rPr u="heavy" spc="-60" dirty="0">
                <a:uFill>
                  <a:solidFill>
                    <a:srgbClr val="000000"/>
                  </a:solidFill>
                </a:uFill>
              </a:rPr>
              <a:t> </a:t>
            </a:r>
            <a:r>
              <a:rPr u="heavy" spc="-10" dirty="0">
                <a:uFill>
                  <a:solidFill>
                    <a:srgbClr val="000000"/>
                  </a:solidFill>
                </a:uFill>
              </a:rPr>
              <a:t>Strategy</a:t>
            </a:r>
          </a:p>
          <a:p>
            <a:pPr marL="12700" marR="5080" indent="914400" algn="just">
              <a:lnSpc>
                <a:spcPct val="90500"/>
              </a:lnSpc>
              <a:spcBef>
                <a:spcPts val="944"/>
              </a:spcBef>
            </a:pPr>
            <a:r>
              <a:rPr dirty="0"/>
              <a:t>This</a:t>
            </a:r>
            <a:r>
              <a:rPr spc="540" dirty="0"/>
              <a:t> </a:t>
            </a:r>
            <a:r>
              <a:rPr dirty="0"/>
              <a:t>strategy</a:t>
            </a:r>
            <a:r>
              <a:rPr spc="535" dirty="0"/>
              <a:t> </a:t>
            </a:r>
            <a:r>
              <a:rPr dirty="0"/>
              <a:t>is</a:t>
            </a:r>
            <a:r>
              <a:rPr spc="540" dirty="0"/>
              <a:t> </a:t>
            </a:r>
            <a:r>
              <a:rPr dirty="0"/>
              <a:t>most</a:t>
            </a:r>
            <a:r>
              <a:rPr spc="535" dirty="0"/>
              <a:t> </a:t>
            </a:r>
            <a:r>
              <a:rPr dirty="0"/>
              <a:t>likely</a:t>
            </a:r>
            <a:r>
              <a:rPr spc="525" dirty="0"/>
              <a:t> </a:t>
            </a:r>
            <a:r>
              <a:rPr dirty="0"/>
              <a:t>to</a:t>
            </a:r>
            <a:r>
              <a:rPr spc="535" dirty="0"/>
              <a:t> </a:t>
            </a:r>
            <a:r>
              <a:rPr dirty="0"/>
              <a:t>be</a:t>
            </a:r>
            <a:r>
              <a:rPr spc="535" dirty="0"/>
              <a:t> </a:t>
            </a:r>
            <a:r>
              <a:rPr dirty="0"/>
              <a:t>achievable</a:t>
            </a:r>
            <a:r>
              <a:rPr spc="525" dirty="0"/>
              <a:t> </a:t>
            </a:r>
            <a:r>
              <a:rPr dirty="0"/>
              <a:t>in</a:t>
            </a:r>
            <a:r>
              <a:rPr spc="540" dirty="0"/>
              <a:t> </a:t>
            </a:r>
            <a:r>
              <a:rPr dirty="0"/>
              <a:t>large</a:t>
            </a:r>
            <a:r>
              <a:rPr spc="525" dirty="0"/>
              <a:t> </a:t>
            </a:r>
            <a:r>
              <a:rPr spc="-10" dirty="0"/>
              <a:t>markets, </a:t>
            </a:r>
            <a:r>
              <a:rPr dirty="0"/>
              <a:t>requiring</a:t>
            </a:r>
            <a:r>
              <a:rPr spc="390" dirty="0"/>
              <a:t> </a:t>
            </a:r>
            <a:r>
              <a:rPr spc="-25" dirty="0"/>
              <a:t>large-</a:t>
            </a:r>
            <a:r>
              <a:rPr dirty="0"/>
              <a:t>scale</a:t>
            </a:r>
            <a:r>
              <a:rPr spc="400" dirty="0"/>
              <a:t> </a:t>
            </a:r>
            <a:r>
              <a:rPr dirty="0"/>
              <a:t>capital</a:t>
            </a:r>
            <a:r>
              <a:rPr spc="400" dirty="0"/>
              <a:t> </a:t>
            </a:r>
            <a:r>
              <a:rPr dirty="0"/>
              <a:t>investment,</a:t>
            </a:r>
            <a:r>
              <a:rPr spc="409" dirty="0"/>
              <a:t> </a:t>
            </a:r>
            <a:r>
              <a:rPr dirty="0"/>
              <a:t>where</a:t>
            </a:r>
            <a:r>
              <a:rPr spc="400" dirty="0"/>
              <a:t> </a:t>
            </a:r>
            <a:r>
              <a:rPr dirty="0"/>
              <a:t>production</a:t>
            </a:r>
            <a:r>
              <a:rPr spc="409" dirty="0"/>
              <a:t> </a:t>
            </a:r>
            <a:r>
              <a:rPr dirty="0"/>
              <a:t>or</a:t>
            </a:r>
            <a:r>
              <a:rPr spc="400" dirty="0"/>
              <a:t> </a:t>
            </a:r>
            <a:r>
              <a:rPr spc="-10" dirty="0"/>
              <a:t>service </a:t>
            </a:r>
            <a:r>
              <a:rPr dirty="0"/>
              <a:t>volumes</a:t>
            </a:r>
            <a:r>
              <a:rPr spc="345" dirty="0"/>
              <a:t> </a:t>
            </a:r>
            <a:r>
              <a:rPr dirty="0"/>
              <a:t>are</a:t>
            </a:r>
            <a:r>
              <a:rPr spc="340" dirty="0"/>
              <a:t> </a:t>
            </a:r>
            <a:r>
              <a:rPr dirty="0"/>
              <a:t>high</a:t>
            </a:r>
            <a:r>
              <a:rPr spc="345" dirty="0"/>
              <a:t> </a:t>
            </a:r>
            <a:r>
              <a:rPr dirty="0"/>
              <a:t>and</a:t>
            </a:r>
            <a:r>
              <a:rPr spc="350" dirty="0"/>
              <a:t> </a:t>
            </a:r>
            <a:r>
              <a:rPr dirty="0"/>
              <a:t>economies</a:t>
            </a:r>
            <a:r>
              <a:rPr spc="350" dirty="0"/>
              <a:t> </a:t>
            </a:r>
            <a:r>
              <a:rPr dirty="0"/>
              <a:t>of</a:t>
            </a:r>
            <a:r>
              <a:rPr spc="340" dirty="0"/>
              <a:t> </a:t>
            </a:r>
            <a:r>
              <a:rPr dirty="0"/>
              <a:t>scale</a:t>
            </a:r>
            <a:r>
              <a:rPr spc="335" dirty="0"/>
              <a:t> </a:t>
            </a:r>
            <a:r>
              <a:rPr dirty="0"/>
              <a:t>can</a:t>
            </a:r>
            <a:r>
              <a:rPr spc="350" dirty="0"/>
              <a:t> </a:t>
            </a:r>
            <a:r>
              <a:rPr dirty="0"/>
              <a:t>be</a:t>
            </a:r>
            <a:r>
              <a:rPr spc="335" dirty="0"/>
              <a:t> </a:t>
            </a:r>
            <a:r>
              <a:rPr dirty="0"/>
              <a:t>achieved</a:t>
            </a:r>
            <a:r>
              <a:rPr spc="345" dirty="0"/>
              <a:t> </a:t>
            </a:r>
            <a:r>
              <a:rPr dirty="0"/>
              <a:t>from</a:t>
            </a:r>
            <a:r>
              <a:rPr spc="345" dirty="0"/>
              <a:t> </a:t>
            </a:r>
            <a:r>
              <a:rPr spc="-20" dirty="0"/>
              <a:t>long </a:t>
            </a:r>
            <a:r>
              <a:rPr spc="-10" dirty="0"/>
              <a:t>runs.</a:t>
            </a:r>
          </a:p>
          <a:p>
            <a:pPr marL="697230" lvl="1" indent="-227329">
              <a:lnSpc>
                <a:spcPct val="100000"/>
              </a:lnSpc>
              <a:spcBef>
                <a:spcPts val="234"/>
              </a:spcBef>
              <a:buFont typeface="Arial MT"/>
              <a:buChar char="•"/>
              <a:tabLst>
                <a:tab pos="697230" algn="l"/>
              </a:tabLst>
            </a:pPr>
            <a:r>
              <a:rPr sz="2400" spc="-10" dirty="0">
                <a:latin typeface="Calibri"/>
                <a:cs typeface="Calibri"/>
              </a:rPr>
              <a:t>Operating</a:t>
            </a:r>
            <a:r>
              <a:rPr sz="2400" spc="-50" dirty="0">
                <a:latin typeface="Calibri"/>
                <a:cs typeface="Calibri"/>
              </a:rPr>
              <a:t> </a:t>
            </a:r>
            <a:r>
              <a:rPr sz="2400" spc="-10" dirty="0">
                <a:latin typeface="Calibri"/>
                <a:cs typeface="Calibri"/>
              </a:rPr>
              <a:t>efficiencies</a:t>
            </a:r>
            <a:endParaRPr sz="2400" dirty="0">
              <a:latin typeface="Calibri"/>
              <a:cs typeface="Calibri"/>
            </a:endParaRPr>
          </a:p>
          <a:p>
            <a:pPr marL="697230" lvl="1" indent="-227329">
              <a:lnSpc>
                <a:spcPct val="100000"/>
              </a:lnSpc>
              <a:spcBef>
                <a:spcPts val="215"/>
              </a:spcBef>
              <a:buFont typeface="Arial MT"/>
              <a:buChar char="•"/>
              <a:tabLst>
                <a:tab pos="697230" algn="l"/>
              </a:tabLst>
            </a:pPr>
            <a:r>
              <a:rPr sz="2400" dirty="0">
                <a:latin typeface="Calibri"/>
                <a:cs typeface="Calibri"/>
              </a:rPr>
              <a:t>Product</a:t>
            </a:r>
            <a:r>
              <a:rPr sz="2400" spc="-75" dirty="0">
                <a:latin typeface="Calibri"/>
                <a:cs typeface="Calibri"/>
              </a:rPr>
              <a:t> </a:t>
            </a:r>
            <a:r>
              <a:rPr sz="2400" spc="-10" dirty="0">
                <a:latin typeface="Calibri"/>
                <a:cs typeface="Calibri"/>
              </a:rPr>
              <a:t>redesign</a:t>
            </a:r>
            <a:endParaRPr sz="2400" dirty="0">
              <a:latin typeface="Calibri"/>
              <a:cs typeface="Calibri"/>
            </a:endParaRPr>
          </a:p>
          <a:p>
            <a:pPr marL="697230" lvl="1" indent="-227329">
              <a:lnSpc>
                <a:spcPct val="100000"/>
              </a:lnSpc>
              <a:spcBef>
                <a:spcPts val="215"/>
              </a:spcBef>
              <a:buFont typeface="Arial MT"/>
              <a:buChar char="•"/>
              <a:tabLst>
                <a:tab pos="697230" algn="l"/>
              </a:tabLst>
            </a:pPr>
            <a:r>
              <a:rPr sz="2400" dirty="0">
                <a:latin typeface="Calibri"/>
                <a:cs typeface="Calibri"/>
              </a:rPr>
              <a:t>Product</a:t>
            </a:r>
            <a:r>
              <a:rPr sz="2400" spc="-75" dirty="0">
                <a:latin typeface="Calibri"/>
                <a:cs typeface="Calibri"/>
              </a:rPr>
              <a:t> </a:t>
            </a:r>
            <a:r>
              <a:rPr sz="2400" spc="-10" dirty="0">
                <a:latin typeface="Calibri"/>
                <a:cs typeface="Calibri"/>
              </a:rPr>
              <a:t>standardization</a:t>
            </a:r>
            <a:endParaRPr sz="2400" dirty="0">
              <a:latin typeface="Calibri"/>
              <a:cs typeface="Calibri"/>
            </a:endParaRPr>
          </a:p>
          <a:p>
            <a:pPr marL="697230" lvl="1" indent="-227329">
              <a:lnSpc>
                <a:spcPct val="100000"/>
              </a:lnSpc>
              <a:spcBef>
                <a:spcPts val="215"/>
              </a:spcBef>
              <a:buFont typeface="Arial MT"/>
              <a:buChar char="•"/>
              <a:tabLst>
                <a:tab pos="697230" algn="l"/>
              </a:tabLst>
            </a:pPr>
            <a:r>
              <a:rPr sz="2400" dirty="0">
                <a:latin typeface="Calibri"/>
                <a:cs typeface="Calibri"/>
              </a:rPr>
              <a:t>Economies</a:t>
            </a:r>
            <a:r>
              <a:rPr sz="2400" spc="-80" dirty="0">
                <a:latin typeface="Calibri"/>
                <a:cs typeface="Calibri"/>
              </a:rPr>
              <a:t> </a:t>
            </a:r>
            <a:r>
              <a:rPr sz="2400" dirty="0">
                <a:latin typeface="Calibri"/>
                <a:cs typeface="Calibri"/>
              </a:rPr>
              <a:t>of</a:t>
            </a:r>
            <a:r>
              <a:rPr sz="2400" spc="-75" dirty="0">
                <a:latin typeface="Calibri"/>
                <a:cs typeface="Calibri"/>
              </a:rPr>
              <a:t> </a:t>
            </a:r>
            <a:r>
              <a:rPr sz="2400" spc="-20" dirty="0">
                <a:latin typeface="Calibri"/>
                <a:cs typeface="Calibri"/>
              </a:rPr>
              <a:t>scale</a:t>
            </a:r>
            <a:endParaRPr sz="2400" dirty="0">
              <a:latin typeface="Calibri"/>
              <a:cs typeface="Calibri"/>
            </a:endParaRPr>
          </a:p>
        </p:txBody>
      </p:sp>
      <p:pic>
        <p:nvPicPr>
          <p:cNvPr id="5" name="Picture 2">
            <a:extLst>
              <a:ext uri="{FF2B5EF4-FFF2-40B4-BE49-F238E27FC236}">
                <a16:creationId xmlns:a16="http://schemas.microsoft.com/office/drawing/2014/main" id="{00AE1C1F-23ED-89BF-1C7D-C7A8BA15AB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20596"/>
            <a:ext cx="10357485" cy="4076700"/>
          </a:xfrm>
          <a:prstGeom prst="rect">
            <a:avLst/>
          </a:prstGeom>
        </p:spPr>
        <p:txBody>
          <a:bodyPr vert="horz" wrap="square" lIns="0" tIns="60960" rIns="0" bIns="0" rtlCol="0">
            <a:spAutoFit/>
          </a:bodyPr>
          <a:lstStyle/>
          <a:p>
            <a:pPr marL="526415" indent="-513715">
              <a:lnSpc>
                <a:spcPct val="100000"/>
              </a:lnSpc>
              <a:spcBef>
                <a:spcPts val="480"/>
              </a:spcBef>
              <a:buAutoNum type="arabicPeriod" startAt="2"/>
              <a:tabLst>
                <a:tab pos="526415" algn="l"/>
              </a:tabLst>
            </a:pPr>
            <a:r>
              <a:rPr sz="2600" u="heavy" spc="-20" dirty="0">
                <a:uFill>
                  <a:solidFill>
                    <a:srgbClr val="000000"/>
                  </a:solidFill>
                </a:uFill>
                <a:latin typeface="Calibri"/>
                <a:cs typeface="Calibri"/>
              </a:rPr>
              <a:t>Differentiation</a:t>
            </a:r>
            <a:r>
              <a:rPr sz="2600" u="heavy" dirty="0">
                <a:uFill>
                  <a:solidFill>
                    <a:srgbClr val="000000"/>
                  </a:solidFill>
                </a:uFill>
                <a:latin typeface="Calibri"/>
                <a:cs typeface="Calibri"/>
              </a:rPr>
              <a:t> </a:t>
            </a:r>
            <a:r>
              <a:rPr sz="2600" u="heavy" spc="-10" dirty="0">
                <a:uFill>
                  <a:solidFill>
                    <a:srgbClr val="000000"/>
                  </a:solidFill>
                </a:uFill>
                <a:latin typeface="Calibri"/>
                <a:cs typeface="Calibri"/>
              </a:rPr>
              <a:t>Strategy</a:t>
            </a:r>
            <a:endParaRPr sz="2600" dirty="0">
              <a:latin typeface="Calibri"/>
              <a:cs typeface="Calibri"/>
            </a:endParaRPr>
          </a:p>
          <a:p>
            <a:pPr marL="12700" marR="5080" indent="914400">
              <a:lnSpc>
                <a:spcPts val="2500"/>
              </a:lnSpc>
              <a:spcBef>
                <a:spcPts val="985"/>
              </a:spcBef>
              <a:tabLst>
                <a:tab pos="1771014" algn="l"/>
                <a:tab pos="3846195" algn="l"/>
                <a:tab pos="4262120" algn="l"/>
                <a:tab pos="5079365" algn="l"/>
                <a:tab pos="6606540" algn="l"/>
                <a:tab pos="7482840" algn="l"/>
                <a:tab pos="8296275" algn="l"/>
                <a:tab pos="8942070" algn="l"/>
                <a:tab pos="9838690" algn="l"/>
              </a:tabLst>
            </a:pPr>
            <a:r>
              <a:rPr sz="2600" spc="-20" dirty="0">
                <a:latin typeface="Calibri"/>
                <a:cs typeface="Calibri"/>
              </a:rPr>
              <a:t>Deep</a:t>
            </a:r>
            <a:r>
              <a:rPr sz="2600" dirty="0">
                <a:latin typeface="Calibri"/>
                <a:cs typeface="Calibri"/>
              </a:rPr>
              <a:t>	</a:t>
            </a:r>
            <a:r>
              <a:rPr sz="2600" spc="-10" dirty="0">
                <a:latin typeface="Calibri"/>
                <a:cs typeface="Calibri"/>
              </a:rPr>
              <a:t>understanding</a:t>
            </a:r>
            <a:r>
              <a:rPr sz="2600" dirty="0">
                <a:latin typeface="Calibri"/>
                <a:cs typeface="Calibri"/>
              </a:rPr>
              <a:t>	</a:t>
            </a:r>
            <a:r>
              <a:rPr sz="2600" spc="-25" dirty="0">
                <a:latin typeface="Calibri"/>
                <a:cs typeface="Calibri"/>
              </a:rPr>
              <a:t>of</a:t>
            </a:r>
            <a:r>
              <a:rPr sz="2600" dirty="0">
                <a:latin typeface="Calibri"/>
                <a:cs typeface="Calibri"/>
              </a:rPr>
              <a:t>	</a:t>
            </a:r>
            <a:r>
              <a:rPr sz="2600" spc="-20" dirty="0">
                <a:latin typeface="Calibri"/>
                <a:cs typeface="Calibri"/>
              </a:rPr>
              <a:t>what</a:t>
            </a:r>
            <a:r>
              <a:rPr sz="2600" dirty="0">
                <a:latin typeface="Calibri"/>
                <a:cs typeface="Calibri"/>
              </a:rPr>
              <a:t>	</a:t>
            </a:r>
            <a:r>
              <a:rPr sz="2600" spc="-10" dirty="0">
                <a:latin typeface="Calibri"/>
                <a:cs typeface="Calibri"/>
              </a:rPr>
              <a:t>customers</a:t>
            </a:r>
            <a:r>
              <a:rPr sz="2600" dirty="0">
                <a:latin typeface="Calibri"/>
                <a:cs typeface="Calibri"/>
              </a:rPr>
              <a:t>	</a:t>
            </a:r>
            <a:r>
              <a:rPr sz="2600" spc="-10" dirty="0">
                <a:latin typeface="Calibri"/>
                <a:cs typeface="Calibri"/>
              </a:rPr>
              <a:t>really</a:t>
            </a:r>
            <a:r>
              <a:rPr sz="2600" dirty="0">
                <a:latin typeface="Calibri"/>
                <a:cs typeface="Calibri"/>
              </a:rPr>
              <a:t>	</a:t>
            </a:r>
            <a:r>
              <a:rPr sz="2600" spc="-20" dirty="0">
                <a:latin typeface="Calibri"/>
                <a:cs typeface="Calibri"/>
              </a:rPr>
              <a:t>want</a:t>
            </a:r>
            <a:r>
              <a:rPr sz="2600" dirty="0">
                <a:latin typeface="Calibri"/>
                <a:cs typeface="Calibri"/>
              </a:rPr>
              <a:t>	</a:t>
            </a:r>
            <a:r>
              <a:rPr sz="2600" spc="-25" dirty="0">
                <a:latin typeface="Calibri"/>
                <a:cs typeface="Calibri"/>
              </a:rPr>
              <a:t>and</a:t>
            </a:r>
            <a:r>
              <a:rPr sz="2600" dirty="0">
                <a:latin typeface="Calibri"/>
                <a:cs typeface="Calibri"/>
              </a:rPr>
              <a:t>	</a:t>
            </a:r>
            <a:r>
              <a:rPr sz="2600" spc="-10" dirty="0">
                <a:latin typeface="Calibri"/>
                <a:cs typeface="Calibri"/>
              </a:rPr>
              <a:t>need,</a:t>
            </a:r>
            <a:r>
              <a:rPr sz="2600" dirty="0">
                <a:latin typeface="Calibri"/>
                <a:cs typeface="Calibri"/>
              </a:rPr>
              <a:t>	</a:t>
            </a:r>
            <a:r>
              <a:rPr sz="2600" spc="-25" dirty="0">
                <a:latin typeface="Calibri"/>
                <a:cs typeface="Calibri"/>
              </a:rPr>
              <a:t>and </a:t>
            </a:r>
            <a:r>
              <a:rPr sz="2600" dirty="0">
                <a:latin typeface="Calibri"/>
                <a:cs typeface="Calibri"/>
              </a:rPr>
              <a:t>more</a:t>
            </a:r>
            <a:r>
              <a:rPr sz="2600" spc="-75" dirty="0">
                <a:latin typeface="Calibri"/>
                <a:cs typeface="Calibri"/>
              </a:rPr>
              <a:t> </a:t>
            </a:r>
            <a:r>
              <a:rPr sz="2600" spc="-25" dirty="0">
                <a:latin typeface="Calibri"/>
                <a:cs typeface="Calibri"/>
              </a:rPr>
              <a:t>importantly,</a:t>
            </a:r>
            <a:r>
              <a:rPr sz="2600" spc="-70" dirty="0">
                <a:latin typeface="Calibri"/>
                <a:cs typeface="Calibri"/>
              </a:rPr>
              <a:t> </a:t>
            </a:r>
            <a:r>
              <a:rPr sz="2600" dirty="0">
                <a:latin typeface="Calibri"/>
                <a:cs typeface="Calibri"/>
              </a:rPr>
              <a:t>what</a:t>
            </a:r>
            <a:r>
              <a:rPr sz="2600" spc="-60" dirty="0">
                <a:latin typeface="Calibri"/>
                <a:cs typeface="Calibri"/>
              </a:rPr>
              <a:t> </a:t>
            </a:r>
            <a:r>
              <a:rPr sz="2600" dirty="0">
                <a:latin typeface="Calibri"/>
                <a:cs typeface="Calibri"/>
              </a:rPr>
              <a:t>they</a:t>
            </a:r>
            <a:r>
              <a:rPr sz="2600" spc="-65" dirty="0">
                <a:latin typeface="Calibri"/>
                <a:cs typeface="Calibri"/>
              </a:rPr>
              <a:t> </a:t>
            </a:r>
            <a:r>
              <a:rPr sz="2600" dirty="0">
                <a:latin typeface="Calibri"/>
                <a:cs typeface="Calibri"/>
              </a:rPr>
              <a:t>are</a:t>
            </a:r>
            <a:r>
              <a:rPr sz="2600" spc="-70" dirty="0">
                <a:latin typeface="Calibri"/>
                <a:cs typeface="Calibri"/>
              </a:rPr>
              <a:t> </a:t>
            </a:r>
            <a:r>
              <a:rPr sz="2600" spc="-10" dirty="0">
                <a:latin typeface="Calibri"/>
                <a:cs typeface="Calibri"/>
              </a:rPr>
              <a:t>prepared</a:t>
            </a:r>
            <a:r>
              <a:rPr sz="2600" spc="-75" dirty="0">
                <a:latin typeface="Calibri"/>
                <a:cs typeface="Calibri"/>
              </a:rPr>
              <a:t> </a:t>
            </a:r>
            <a:r>
              <a:rPr sz="2600" dirty="0">
                <a:latin typeface="Calibri"/>
                <a:cs typeface="Calibri"/>
              </a:rPr>
              <a:t>to</a:t>
            </a:r>
            <a:r>
              <a:rPr sz="2600" spc="-65" dirty="0">
                <a:latin typeface="Calibri"/>
                <a:cs typeface="Calibri"/>
              </a:rPr>
              <a:t> </a:t>
            </a:r>
            <a:r>
              <a:rPr sz="2600" dirty="0">
                <a:latin typeface="Calibri"/>
                <a:cs typeface="Calibri"/>
              </a:rPr>
              <a:t>pay</a:t>
            </a:r>
            <a:r>
              <a:rPr sz="2600" spc="-65" dirty="0">
                <a:latin typeface="Calibri"/>
                <a:cs typeface="Calibri"/>
              </a:rPr>
              <a:t> </a:t>
            </a:r>
            <a:r>
              <a:rPr sz="2600" dirty="0">
                <a:latin typeface="Calibri"/>
                <a:cs typeface="Calibri"/>
              </a:rPr>
              <a:t>more</a:t>
            </a:r>
            <a:r>
              <a:rPr sz="2600" spc="-75" dirty="0">
                <a:latin typeface="Calibri"/>
                <a:cs typeface="Calibri"/>
              </a:rPr>
              <a:t> </a:t>
            </a:r>
            <a:r>
              <a:rPr sz="2600" spc="-20" dirty="0">
                <a:latin typeface="Calibri"/>
                <a:cs typeface="Calibri"/>
              </a:rPr>
              <a:t>for.</a:t>
            </a:r>
            <a:endParaRPr sz="2600" dirty="0">
              <a:latin typeface="Calibri"/>
              <a:cs typeface="Calibri"/>
            </a:endParaRPr>
          </a:p>
          <a:p>
            <a:pPr>
              <a:lnSpc>
                <a:spcPct val="100000"/>
              </a:lnSpc>
              <a:spcBef>
                <a:spcPts val="1330"/>
              </a:spcBef>
            </a:pPr>
            <a:endParaRPr sz="2600" dirty="0">
              <a:latin typeface="Calibri"/>
              <a:cs typeface="Calibri"/>
            </a:endParaRPr>
          </a:p>
          <a:p>
            <a:pPr marL="12700" marR="5080">
              <a:lnSpc>
                <a:spcPts val="2500"/>
              </a:lnSpc>
            </a:pPr>
            <a:r>
              <a:rPr sz="2600" dirty="0">
                <a:latin typeface="Calibri"/>
                <a:cs typeface="Calibri"/>
              </a:rPr>
              <a:t>Apple’s</a:t>
            </a:r>
            <a:r>
              <a:rPr sz="2600" spc="190" dirty="0">
                <a:latin typeface="Calibri"/>
                <a:cs typeface="Calibri"/>
              </a:rPr>
              <a:t> </a:t>
            </a:r>
            <a:r>
              <a:rPr sz="2600" dirty="0">
                <a:latin typeface="Calibri"/>
                <a:cs typeface="Calibri"/>
              </a:rPr>
              <a:t>opening</a:t>
            </a:r>
            <a:r>
              <a:rPr sz="2600" spc="195" dirty="0">
                <a:latin typeface="Calibri"/>
                <a:cs typeface="Calibri"/>
              </a:rPr>
              <a:t> </a:t>
            </a:r>
            <a:r>
              <a:rPr sz="2600" dirty="0">
                <a:latin typeface="Calibri"/>
                <a:cs typeface="Calibri"/>
              </a:rPr>
              <a:t>strategy</a:t>
            </a:r>
            <a:r>
              <a:rPr sz="2600" spc="195" dirty="0">
                <a:latin typeface="Calibri"/>
                <a:cs typeface="Calibri"/>
              </a:rPr>
              <a:t> </a:t>
            </a:r>
            <a:r>
              <a:rPr sz="2600" dirty="0">
                <a:latin typeface="Calibri"/>
                <a:cs typeface="Calibri"/>
              </a:rPr>
              <a:t>was</a:t>
            </a:r>
            <a:r>
              <a:rPr sz="2600" spc="185" dirty="0">
                <a:latin typeface="Calibri"/>
                <a:cs typeface="Calibri"/>
              </a:rPr>
              <a:t> </a:t>
            </a:r>
            <a:r>
              <a:rPr sz="2600" dirty="0">
                <a:latin typeface="Calibri"/>
                <a:cs typeface="Calibri"/>
              </a:rPr>
              <a:t>based</a:t>
            </a:r>
            <a:r>
              <a:rPr sz="2600" spc="190" dirty="0">
                <a:latin typeface="Calibri"/>
                <a:cs typeface="Calibri"/>
              </a:rPr>
              <a:t> </a:t>
            </a:r>
            <a:r>
              <a:rPr sz="2600" dirty="0">
                <a:latin typeface="Calibri"/>
                <a:cs typeface="Calibri"/>
              </a:rPr>
              <a:t>around</a:t>
            </a:r>
            <a:r>
              <a:rPr sz="2600" spc="195" dirty="0">
                <a:latin typeface="Calibri"/>
                <a:cs typeface="Calibri"/>
              </a:rPr>
              <a:t> </a:t>
            </a:r>
            <a:r>
              <a:rPr sz="2600" dirty="0">
                <a:latin typeface="Calibri"/>
                <a:cs typeface="Calibri"/>
              </a:rPr>
              <a:t>a</a:t>
            </a:r>
            <a:r>
              <a:rPr sz="2600" spc="200" dirty="0">
                <a:latin typeface="Calibri"/>
                <a:cs typeface="Calibri"/>
              </a:rPr>
              <a:t> </a:t>
            </a:r>
            <a:r>
              <a:rPr sz="2600" dirty="0">
                <a:latin typeface="Calibri"/>
                <a:cs typeface="Calibri"/>
              </a:rPr>
              <a:t>‘fun’</a:t>
            </a:r>
            <a:r>
              <a:rPr sz="2600" spc="195" dirty="0">
                <a:latin typeface="Calibri"/>
                <a:cs typeface="Calibri"/>
              </a:rPr>
              <a:t> </a:t>
            </a:r>
            <a:r>
              <a:rPr sz="2600" dirty="0">
                <a:latin typeface="Calibri"/>
                <a:cs typeface="Calibri"/>
              </a:rPr>
              <a:t>operating</a:t>
            </a:r>
            <a:r>
              <a:rPr sz="2600" spc="195" dirty="0">
                <a:latin typeface="Calibri"/>
                <a:cs typeface="Calibri"/>
              </a:rPr>
              <a:t> </a:t>
            </a:r>
            <a:r>
              <a:rPr sz="2600" dirty="0">
                <a:latin typeface="Calibri"/>
                <a:cs typeface="Calibri"/>
              </a:rPr>
              <a:t>system</a:t>
            </a:r>
            <a:r>
              <a:rPr sz="2600" spc="195" dirty="0">
                <a:latin typeface="Calibri"/>
                <a:cs typeface="Calibri"/>
              </a:rPr>
              <a:t> </a:t>
            </a:r>
            <a:r>
              <a:rPr sz="2600" spc="-10" dirty="0">
                <a:latin typeface="Calibri"/>
                <a:cs typeface="Calibri"/>
              </a:rPr>
              <a:t>based </a:t>
            </a:r>
            <a:r>
              <a:rPr sz="2600" dirty="0">
                <a:latin typeface="Calibri"/>
                <a:cs typeface="Calibri"/>
              </a:rPr>
              <a:t>on</a:t>
            </a:r>
            <a:r>
              <a:rPr sz="2600" spc="-35" dirty="0">
                <a:latin typeface="Calibri"/>
                <a:cs typeface="Calibri"/>
              </a:rPr>
              <a:t> </a:t>
            </a:r>
            <a:r>
              <a:rPr sz="2600" spc="-10" dirty="0">
                <a:latin typeface="Calibri"/>
                <a:cs typeface="Calibri"/>
              </a:rPr>
              <a:t>icons.</a:t>
            </a:r>
            <a:endParaRPr sz="2600" dirty="0">
              <a:latin typeface="Calibri"/>
              <a:cs typeface="Calibri"/>
            </a:endParaRPr>
          </a:p>
          <a:p>
            <a:pPr>
              <a:lnSpc>
                <a:spcPct val="100000"/>
              </a:lnSpc>
              <a:spcBef>
                <a:spcPts val="610"/>
              </a:spcBef>
            </a:pPr>
            <a:endParaRPr sz="2600" dirty="0">
              <a:latin typeface="Calibri"/>
              <a:cs typeface="Calibri"/>
            </a:endParaRPr>
          </a:p>
          <a:p>
            <a:pPr marL="526415" indent="-513715">
              <a:lnSpc>
                <a:spcPct val="100000"/>
              </a:lnSpc>
              <a:buAutoNum type="arabicPeriod" startAt="3"/>
              <a:tabLst>
                <a:tab pos="526415" algn="l"/>
              </a:tabLst>
            </a:pPr>
            <a:r>
              <a:rPr sz="2600" u="heavy" dirty="0">
                <a:uFill>
                  <a:solidFill>
                    <a:srgbClr val="000000"/>
                  </a:solidFill>
                </a:uFill>
                <a:latin typeface="Calibri"/>
                <a:cs typeface="Calibri"/>
              </a:rPr>
              <a:t>Focus</a:t>
            </a:r>
            <a:r>
              <a:rPr sz="2600" u="heavy" spc="-80" dirty="0">
                <a:uFill>
                  <a:solidFill>
                    <a:srgbClr val="000000"/>
                  </a:solidFill>
                </a:uFill>
                <a:latin typeface="Calibri"/>
                <a:cs typeface="Calibri"/>
              </a:rPr>
              <a:t> </a:t>
            </a:r>
            <a:r>
              <a:rPr sz="2600" u="heavy" spc="-10" dirty="0">
                <a:uFill>
                  <a:solidFill>
                    <a:srgbClr val="000000"/>
                  </a:solidFill>
                </a:uFill>
                <a:latin typeface="Calibri"/>
                <a:cs typeface="Calibri"/>
              </a:rPr>
              <a:t>Strategy</a:t>
            </a:r>
            <a:endParaRPr sz="2600" dirty="0">
              <a:latin typeface="Calibri"/>
              <a:cs typeface="Calibri"/>
            </a:endParaRPr>
          </a:p>
          <a:p>
            <a:pPr marL="12700" marR="6350" indent="914400">
              <a:lnSpc>
                <a:spcPct val="80000"/>
              </a:lnSpc>
              <a:spcBef>
                <a:spcPts val="1010"/>
              </a:spcBef>
              <a:tabLst>
                <a:tab pos="3076575" algn="l"/>
                <a:tab pos="3665854" algn="l"/>
                <a:tab pos="4066540" algn="l"/>
                <a:tab pos="5276215" algn="l"/>
                <a:tab pos="6515100" algn="l"/>
                <a:tab pos="7912734" algn="l"/>
                <a:tab pos="8957310" algn="l"/>
                <a:tab pos="9796145" algn="l"/>
              </a:tabLst>
            </a:pPr>
            <a:r>
              <a:rPr sz="2600" spc="-10" dirty="0">
                <a:latin typeface="Calibri"/>
                <a:cs typeface="Calibri"/>
              </a:rPr>
              <a:t>Concentration</a:t>
            </a:r>
            <a:r>
              <a:rPr sz="2600" dirty="0">
                <a:latin typeface="Calibri"/>
                <a:cs typeface="Calibri"/>
              </a:rPr>
              <a:t>	</a:t>
            </a:r>
            <a:r>
              <a:rPr sz="2600" spc="-25" dirty="0">
                <a:latin typeface="Calibri"/>
                <a:cs typeface="Calibri"/>
              </a:rPr>
              <a:t>on</a:t>
            </a:r>
            <a:r>
              <a:rPr sz="2600" dirty="0">
                <a:latin typeface="Calibri"/>
                <a:cs typeface="Calibri"/>
              </a:rPr>
              <a:t>	</a:t>
            </a:r>
            <a:r>
              <a:rPr sz="2600" spc="-50" dirty="0">
                <a:latin typeface="Calibri"/>
                <a:cs typeface="Calibri"/>
              </a:rPr>
              <a:t>a</a:t>
            </a:r>
            <a:r>
              <a:rPr sz="2600" dirty="0">
                <a:latin typeface="Calibri"/>
                <a:cs typeface="Calibri"/>
              </a:rPr>
              <a:t>	</a:t>
            </a:r>
            <a:r>
              <a:rPr sz="2600" spc="-10" dirty="0">
                <a:latin typeface="Calibri"/>
                <a:cs typeface="Calibri"/>
              </a:rPr>
              <a:t>narrow</a:t>
            </a:r>
            <a:r>
              <a:rPr sz="2600" dirty="0">
                <a:latin typeface="Calibri"/>
                <a:cs typeface="Calibri"/>
              </a:rPr>
              <a:t>	</a:t>
            </a:r>
            <a:r>
              <a:rPr sz="2600" spc="-10" dirty="0">
                <a:latin typeface="Calibri"/>
                <a:cs typeface="Calibri"/>
              </a:rPr>
              <a:t>specific</a:t>
            </a:r>
            <a:r>
              <a:rPr sz="2600" dirty="0">
                <a:latin typeface="Calibri"/>
                <a:cs typeface="Calibri"/>
              </a:rPr>
              <a:t>	</a:t>
            </a:r>
            <a:r>
              <a:rPr sz="2600" spc="-10" dirty="0">
                <a:latin typeface="Calibri"/>
                <a:cs typeface="Calibri"/>
              </a:rPr>
              <a:t>segment</a:t>
            </a:r>
            <a:r>
              <a:rPr sz="2600" dirty="0">
                <a:latin typeface="Calibri"/>
                <a:cs typeface="Calibri"/>
              </a:rPr>
              <a:t>	</a:t>
            </a:r>
            <a:r>
              <a:rPr sz="2600" spc="-10" dirty="0">
                <a:latin typeface="Calibri"/>
                <a:cs typeface="Calibri"/>
              </a:rPr>
              <a:t>either</a:t>
            </a:r>
            <a:r>
              <a:rPr sz="2600" dirty="0">
                <a:latin typeface="Calibri"/>
                <a:cs typeface="Calibri"/>
              </a:rPr>
              <a:t>	</a:t>
            </a:r>
            <a:r>
              <a:rPr sz="2600" spc="-20" dirty="0">
                <a:latin typeface="Calibri"/>
                <a:cs typeface="Calibri"/>
              </a:rPr>
              <a:t>with</a:t>
            </a:r>
            <a:r>
              <a:rPr sz="2600" dirty="0">
                <a:latin typeface="Calibri"/>
                <a:cs typeface="Calibri"/>
              </a:rPr>
              <a:t>	</a:t>
            </a:r>
            <a:r>
              <a:rPr sz="2600" spc="-30" dirty="0">
                <a:latin typeface="Calibri"/>
                <a:cs typeface="Calibri"/>
              </a:rPr>
              <a:t>cost </a:t>
            </a:r>
            <a:r>
              <a:rPr sz="2600" spc="-20" dirty="0">
                <a:latin typeface="Calibri"/>
                <a:cs typeface="Calibri"/>
              </a:rPr>
              <a:t>advantage</a:t>
            </a:r>
            <a:r>
              <a:rPr sz="2600" spc="-40" dirty="0">
                <a:latin typeface="Calibri"/>
                <a:cs typeface="Calibri"/>
              </a:rPr>
              <a:t> </a:t>
            </a:r>
            <a:r>
              <a:rPr sz="2600" dirty="0">
                <a:latin typeface="Calibri"/>
                <a:cs typeface="Calibri"/>
              </a:rPr>
              <a:t>or</a:t>
            </a:r>
            <a:r>
              <a:rPr sz="2600" spc="-30" dirty="0">
                <a:latin typeface="Calibri"/>
                <a:cs typeface="Calibri"/>
              </a:rPr>
              <a:t> </a:t>
            </a:r>
            <a:r>
              <a:rPr sz="2600" spc="-10" dirty="0">
                <a:latin typeface="Calibri"/>
                <a:cs typeface="Calibri"/>
              </a:rPr>
              <a:t>differentiation.</a:t>
            </a:r>
            <a:endParaRPr sz="2600" dirty="0">
              <a:latin typeface="Calibri"/>
              <a:cs typeface="Calibri"/>
            </a:endParaRPr>
          </a:p>
        </p:txBody>
      </p:sp>
      <p:sp>
        <p:nvSpPr>
          <p:cNvPr id="3" name="object 3"/>
          <p:cNvSpPr txBox="1"/>
          <p:nvPr/>
        </p:nvSpPr>
        <p:spPr>
          <a:xfrm>
            <a:off x="1364614" y="6265164"/>
            <a:ext cx="3097530" cy="421640"/>
          </a:xfrm>
          <a:prstGeom prst="rect">
            <a:avLst/>
          </a:prstGeom>
        </p:spPr>
        <p:txBody>
          <a:bodyPr vert="horz" wrap="square" lIns="0" tIns="12700" rIns="0" bIns="0" rtlCol="0">
            <a:spAutoFit/>
          </a:bodyPr>
          <a:lstStyle/>
          <a:p>
            <a:pPr marL="12700">
              <a:lnSpc>
                <a:spcPct val="100000"/>
              </a:lnSpc>
              <a:spcBef>
                <a:spcPts val="100"/>
              </a:spcBef>
            </a:pPr>
            <a:r>
              <a:rPr sz="2600" dirty="0">
                <a:latin typeface="Calibri"/>
                <a:cs typeface="Calibri"/>
              </a:rPr>
              <a:t>IKEA</a:t>
            </a:r>
            <a:r>
              <a:rPr sz="2600" spc="-40" dirty="0">
                <a:latin typeface="Calibri"/>
                <a:cs typeface="Calibri"/>
              </a:rPr>
              <a:t> </a:t>
            </a:r>
            <a:r>
              <a:rPr sz="2600" dirty="0">
                <a:latin typeface="Calibri"/>
                <a:cs typeface="Calibri"/>
              </a:rPr>
              <a:t>is</a:t>
            </a:r>
            <a:r>
              <a:rPr sz="2600" spc="-40" dirty="0">
                <a:latin typeface="Calibri"/>
                <a:cs typeface="Calibri"/>
              </a:rPr>
              <a:t> </a:t>
            </a:r>
            <a:r>
              <a:rPr sz="2600" dirty="0">
                <a:latin typeface="Calibri"/>
                <a:cs typeface="Calibri"/>
              </a:rPr>
              <a:t>a</a:t>
            </a:r>
            <a:r>
              <a:rPr sz="2600" spc="-30" dirty="0">
                <a:latin typeface="Calibri"/>
                <a:cs typeface="Calibri"/>
              </a:rPr>
              <a:t> </a:t>
            </a:r>
            <a:r>
              <a:rPr sz="2600" dirty="0">
                <a:latin typeface="Calibri"/>
                <a:cs typeface="Calibri"/>
              </a:rPr>
              <a:t>good</a:t>
            </a:r>
            <a:r>
              <a:rPr sz="2600" spc="-35" dirty="0">
                <a:latin typeface="Calibri"/>
                <a:cs typeface="Calibri"/>
              </a:rPr>
              <a:t> </a:t>
            </a:r>
            <a:r>
              <a:rPr sz="2600" spc="-10" dirty="0">
                <a:latin typeface="Calibri"/>
                <a:cs typeface="Calibri"/>
              </a:rPr>
              <a:t>example</a:t>
            </a:r>
            <a:endParaRPr sz="2600">
              <a:latin typeface="Calibri"/>
              <a:cs typeface="Calibri"/>
            </a:endParaRPr>
          </a:p>
        </p:txBody>
      </p:sp>
      <p:sp>
        <p:nvSpPr>
          <p:cNvPr id="4" name="object 4"/>
          <p:cNvSpPr txBox="1"/>
          <p:nvPr/>
        </p:nvSpPr>
        <p:spPr>
          <a:xfrm>
            <a:off x="11816993" y="6421628"/>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898989"/>
                </a:solidFill>
                <a:latin typeface="Calibri"/>
                <a:cs typeface="Calibri"/>
              </a:rPr>
              <a:t>6</a:t>
            </a:r>
            <a:endParaRPr sz="1200">
              <a:latin typeface="Calibri"/>
              <a:cs typeface="Calibri"/>
            </a:endParaRPr>
          </a:p>
        </p:txBody>
      </p:sp>
      <p:sp>
        <p:nvSpPr>
          <p:cNvPr id="5" name="object 5"/>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Strategic</a:t>
            </a:r>
            <a:r>
              <a:rPr b="1" u="sng" spc="135" dirty="0">
                <a:solidFill>
                  <a:srgbClr val="FF0000"/>
                </a:solidFill>
              </a:rPr>
              <a:t> </a:t>
            </a:r>
            <a:r>
              <a:rPr b="1" u="sng" spc="110" dirty="0">
                <a:solidFill>
                  <a:srgbClr val="FF0000"/>
                </a:solidFill>
              </a:rPr>
              <a:t>Options</a:t>
            </a:r>
            <a:r>
              <a:rPr b="1" u="sng" spc="135" dirty="0">
                <a:solidFill>
                  <a:srgbClr val="FF0000"/>
                </a:solidFill>
              </a:rPr>
              <a:t> </a:t>
            </a:r>
            <a:r>
              <a:rPr sz="1950" spc="-10" dirty="0"/>
              <a:t>(3/3)</a:t>
            </a:r>
            <a:endParaRPr sz="1950" dirty="0"/>
          </a:p>
        </p:txBody>
      </p:sp>
      <p:pic>
        <p:nvPicPr>
          <p:cNvPr id="6" name="object 6"/>
          <p:cNvPicPr/>
          <p:nvPr/>
        </p:nvPicPr>
        <p:blipFill>
          <a:blip r:embed="rId3" cstate="print"/>
          <a:stretch>
            <a:fillRect/>
          </a:stretch>
        </p:blipFill>
        <p:spPr>
          <a:xfrm>
            <a:off x="5267375" y="6386024"/>
            <a:ext cx="918563" cy="367426"/>
          </a:xfrm>
          <a:prstGeom prst="rect">
            <a:avLst/>
          </a:prstGeom>
        </p:spPr>
      </p:pic>
      <p:pic>
        <p:nvPicPr>
          <p:cNvPr id="7" name="object 7"/>
          <p:cNvPicPr/>
          <p:nvPr/>
        </p:nvPicPr>
        <p:blipFill>
          <a:blip r:embed="rId4" cstate="print"/>
          <a:stretch>
            <a:fillRect/>
          </a:stretch>
        </p:blipFill>
        <p:spPr>
          <a:xfrm>
            <a:off x="5117476" y="3758436"/>
            <a:ext cx="1235438" cy="695963"/>
          </a:xfrm>
          <a:prstGeom prst="rect">
            <a:avLst/>
          </a:prstGeom>
        </p:spPr>
      </p:pic>
      <p:pic>
        <p:nvPicPr>
          <p:cNvPr id="8" name="Picture 2">
            <a:extLst>
              <a:ext uri="{FF2B5EF4-FFF2-40B4-BE49-F238E27FC236}">
                <a16:creationId xmlns:a16="http://schemas.microsoft.com/office/drawing/2014/main" id="{F8C6A00C-4D4A-F030-51B1-73E1643E9A2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D71C-F74D-4F43-B0FB-FF881626968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A4D32A5-4FB0-44D1-95A6-66A302399FA3}"/>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1B4DE673-6D81-490C-B95E-7231E7D15A7A}"/>
              </a:ext>
            </a:extLst>
          </p:cNvPr>
          <p:cNvPicPr>
            <a:picLocks noChangeAspect="1"/>
          </p:cNvPicPr>
          <p:nvPr/>
        </p:nvPicPr>
        <p:blipFill>
          <a:blip r:embed="rId3"/>
          <a:stretch>
            <a:fillRect/>
          </a:stretch>
        </p:blipFill>
        <p:spPr>
          <a:xfrm>
            <a:off x="1747837" y="433387"/>
            <a:ext cx="8696325" cy="5991225"/>
          </a:xfrm>
          <a:prstGeom prst="rect">
            <a:avLst/>
          </a:prstGeom>
        </p:spPr>
      </p:pic>
      <p:pic>
        <p:nvPicPr>
          <p:cNvPr id="4" name="Picture 2">
            <a:extLst>
              <a:ext uri="{FF2B5EF4-FFF2-40B4-BE49-F238E27FC236}">
                <a16:creationId xmlns:a16="http://schemas.microsoft.com/office/drawing/2014/main" id="{FA544FB3-F95E-2545-920A-AAF71F56516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950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00" dirty="0">
                <a:solidFill>
                  <a:srgbClr val="FF0000"/>
                </a:solidFill>
              </a:rPr>
              <a:t>Blue</a:t>
            </a:r>
            <a:r>
              <a:rPr b="1" u="sng" spc="120" dirty="0">
                <a:solidFill>
                  <a:srgbClr val="FF0000"/>
                </a:solidFill>
              </a:rPr>
              <a:t> </a:t>
            </a:r>
            <a:r>
              <a:rPr b="1" u="sng" spc="110" dirty="0">
                <a:solidFill>
                  <a:srgbClr val="FF0000"/>
                </a:solidFill>
              </a:rPr>
              <a:t>Ocean</a:t>
            </a:r>
            <a:r>
              <a:rPr b="1" u="sng" spc="130" dirty="0">
                <a:solidFill>
                  <a:srgbClr val="FF0000"/>
                </a:solidFill>
              </a:rPr>
              <a:t> </a:t>
            </a:r>
            <a:r>
              <a:rPr b="1" u="sng" spc="75" dirty="0">
                <a:solidFill>
                  <a:srgbClr val="FF0000"/>
                </a:solidFill>
              </a:rPr>
              <a:t>Strategy</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10</a:t>
            </a:fld>
            <a:endParaRPr spc="-25" dirty="0"/>
          </a:p>
        </p:txBody>
      </p:sp>
      <p:pic>
        <p:nvPicPr>
          <p:cNvPr id="6" name="Picture 5">
            <a:extLst>
              <a:ext uri="{FF2B5EF4-FFF2-40B4-BE49-F238E27FC236}">
                <a16:creationId xmlns:a16="http://schemas.microsoft.com/office/drawing/2014/main" id="{1E9C4043-671B-4D39-80E7-975EFAF75A8B}"/>
              </a:ext>
            </a:extLst>
          </p:cNvPr>
          <p:cNvPicPr>
            <a:picLocks noChangeAspect="1"/>
          </p:cNvPicPr>
          <p:nvPr/>
        </p:nvPicPr>
        <p:blipFill>
          <a:blip r:embed="rId3"/>
          <a:stretch>
            <a:fillRect/>
          </a:stretch>
        </p:blipFill>
        <p:spPr>
          <a:xfrm>
            <a:off x="774787" y="1524000"/>
            <a:ext cx="10296525" cy="5257800"/>
          </a:xfrm>
          <a:prstGeom prst="rect">
            <a:avLst/>
          </a:prstGeom>
        </p:spPr>
      </p:pic>
      <p:pic>
        <p:nvPicPr>
          <p:cNvPr id="3" name="Picture 2">
            <a:extLst>
              <a:ext uri="{FF2B5EF4-FFF2-40B4-BE49-F238E27FC236}">
                <a16:creationId xmlns:a16="http://schemas.microsoft.com/office/drawing/2014/main" id="{C6FE5B73-6E6E-CDA2-09D1-B863B9351B7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Strategic</a:t>
            </a:r>
            <a:r>
              <a:rPr b="1" u="sng" spc="140" dirty="0">
                <a:solidFill>
                  <a:srgbClr val="FF0000"/>
                </a:solidFill>
              </a:rPr>
              <a:t> </a:t>
            </a:r>
            <a:r>
              <a:rPr b="1" u="sng" spc="114" dirty="0">
                <a:solidFill>
                  <a:srgbClr val="FF0000"/>
                </a:solidFill>
              </a:rPr>
              <a:t>Management</a:t>
            </a:r>
            <a:r>
              <a:rPr b="1" u="sng" spc="150" dirty="0">
                <a:solidFill>
                  <a:srgbClr val="FF0000"/>
                </a:solidFill>
              </a:rPr>
              <a:t> </a:t>
            </a:r>
            <a:r>
              <a:rPr b="1" u="sng" spc="80" dirty="0">
                <a:solidFill>
                  <a:srgbClr val="FF0000"/>
                </a:solidFill>
              </a:rPr>
              <a:t>Process</a:t>
            </a: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11</a:t>
            </a:fld>
            <a:endParaRPr spc="-25" dirty="0"/>
          </a:p>
        </p:txBody>
      </p:sp>
      <p:sp>
        <p:nvSpPr>
          <p:cNvPr id="3" name="object 3"/>
          <p:cNvSpPr txBox="1"/>
          <p:nvPr/>
        </p:nvSpPr>
        <p:spPr>
          <a:xfrm>
            <a:off x="916939" y="1781556"/>
            <a:ext cx="10356850" cy="1391285"/>
          </a:xfrm>
          <a:prstGeom prst="rect">
            <a:avLst/>
          </a:prstGeom>
        </p:spPr>
        <p:txBody>
          <a:bodyPr vert="horz" wrap="square" lIns="0" tIns="60960" rIns="0" bIns="0" rtlCol="0">
            <a:spAutoFit/>
          </a:bodyPr>
          <a:lstStyle/>
          <a:p>
            <a:pPr marL="241300" marR="5080" indent="-228600" algn="just">
              <a:lnSpc>
                <a:spcPct val="90000"/>
              </a:lnSpc>
              <a:spcBef>
                <a:spcPts val="480"/>
              </a:spcBef>
              <a:buFont typeface="Arial MT"/>
              <a:buChar char="•"/>
              <a:tabLst>
                <a:tab pos="241300" algn="l"/>
              </a:tabLst>
            </a:pPr>
            <a:r>
              <a:rPr sz="3200" b="1" u="heavy" dirty="0">
                <a:uFill>
                  <a:solidFill>
                    <a:srgbClr val="000000"/>
                  </a:solidFill>
                </a:uFill>
                <a:latin typeface="Calibri"/>
                <a:cs typeface="Calibri"/>
              </a:rPr>
              <a:t>Strategic</a:t>
            </a:r>
            <a:r>
              <a:rPr sz="3200" b="1" u="heavy" spc="160" dirty="0">
                <a:uFill>
                  <a:solidFill>
                    <a:srgbClr val="000000"/>
                  </a:solidFill>
                </a:uFill>
                <a:latin typeface="Calibri"/>
                <a:cs typeface="Calibri"/>
              </a:rPr>
              <a:t> </a:t>
            </a:r>
            <a:r>
              <a:rPr sz="3200" b="1" u="heavy" dirty="0">
                <a:uFill>
                  <a:solidFill>
                    <a:srgbClr val="000000"/>
                  </a:solidFill>
                </a:uFill>
                <a:latin typeface="Calibri"/>
                <a:cs typeface="Calibri"/>
              </a:rPr>
              <a:t>management</a:t>
            </a:r>
            <a:r>
              <a:rPr sz="3200" b="1" spc="160" dirty="0">
                <a:latin typeface="Calibri"/>
                <a:cs typeface="Calibri"/>
              </a:rPr>
              <a:t> </a:t>
            </a:r>
            <a:r>
              <a:rPr sz="3200" dirty="0">
                <a:latin typeface="Calibri"/>
                <a:cs typeface="Calibri"/>
              </a:rPr>
              <a:t>is</a:t>
            </a:r>
            <a:r>
              <a:rPr sz="3200" spc="160" dirty="0">
                <a:latin typeface="Calibri"/>
                <a:cs typeface="Calibri"/>
              </a:rPr>
              <a:t> </a:t>
            </a:r>
            <a:r>
              <a:rPr sz="3200" dirty="0">
                <a:latin typeface="Calibri"/>
                <a:cs typeface="Calibri"/>
              </a:rPr>
              <a:t>the</a:t>
            </a:r>
            <a:r>
              <a:rPr sz="3200" spc="160" dirty="0">
                <a:latin typeface="Calibri"/>
                <a:cs typeface="Calibri"/>
              </a:rPr>
              <a:t> </a:t>
            </a:r>
            <a:r>
              <a:rPr sz="3200" dirty="0">
                <a:latin typeface="Calibri"/>
                <a:cs typeface="Calibri"/>
              </a:rPr>
              <a:t>process</a:t>
            </a:r>
            <a:r>
              <a:rPr sz="3200" spc="155" dirty="0">
                <a:latin typeface="Calibri"/>
                <a:cs typeface="Calibri"/>
              </a:rPr>
              <a:t> </a:t>
            </a:r>
            <a:r>
              <a:rPr sz="3200" dirty="0">
                <a:latin typeface="Calibri"/>
                <a:cs typeface="Calibri"/>
              </a:rPr>
              <a:t>of</a:t>
            </a:r>
            <a:r>
              <a:rPr sz="3200" spc="160" dirty="0">
                <a:latin typeface="Calibri"/>
                <a:cs typeface="Calibri"/>
              </a:rPr>
              <a:t> </a:t>
            </a:r>
            <a:r>
              <a:rPr sz="3200" dirty="0">
                <a:latin typeface="Calibri"/>
                <a:cs typeface="Calibri"/>
              </a:rPr>
              <a:t>assessing</a:t>
            </a:r>
            <a:r>
              <a:rPr sz="3200" spc="165" dirty="0">
                <a:latin typeface="Calibri"/>
                <a:cs typeface="Calibri"/>
              </a:rPr>
              <a:t> </a:t>
            </a:r>
            <a:r>
              <a:rPr sz="3200" dirty="0">
                <a:latin typeface="Calibri"/>
                <a:cs typeface="Calibri"/>
              </a:rPr>
              <a:t>“what</a:t>
            </a:r>
            <a:r>
              <a:rPr sz="3200" spc="165" dirty="0">
                <a:latin typeface="Calibri"/>
                <a:cs typeface="Calibri"/>
              </a:rPr>
              <a:t> </a:t>
            </a:r>
            <a:r>
              <a:rPr sz="3200" spc="-25" dirty="0">
                <a:latin typeface="Calibri"/>
                <a:cs typeface="Calibri"/>
              </a:rPr>
              <a:t>we </a:t>
            </a:r>
            <a:r>
              <a:rPr sz="3200" dirty="0">
                <a:latin typeface="Calibri"/>
                <a:cs typeface="Calibri"/>
              </a:rPr>
              <a:t>are”</a:t>
            </a:r>
            <a:r>
              <a:rPr sz="3200" spc="5" dirty="0">
                <a:latin typeface="Calibri"/>
                <a:cs typeface="Calibri"/>
              </a:rPr>
              <a:t> </a:t>
            </a:r>
            <a:r>
              <a:rPr sz="3200" dirty="0">
                <a:latin typeface="Calibri"/>
                <a:cs typeface="Calibri"/>
              </a:rPr>
              <a:t>and</a:t>
            </a:r>
            <a:r>
              <a:rPr sz="3200" spc="15" dirty="0">
                <a:latin typeface="Calibri"/>
                <a:cs typeface="Calibri"/>
              </a:rPr>
              <a:t> </a:t>
            </a:r>
            <a:r>
              <a:rPr sz="3200" dirty="0">
                <a:latin typeface="Calibri"/>
                <a:cs typeface="Calibri"/>
              </a:rPr>
              <a:t>deciding</a:t>
            </a:r>
            <a:r>
              <a:rPr sz="3200" spc="10" dirty="0">
                <a:latin typeface="Calibri"/>
                <a:cs typeface="Calibri"/>
              </a:rPr>
              <a:t> </a:t>
            </a:r>
            <a:r>
              <a:rPr sz="3200" dirty="0">
                <a:latin typeface="Calibri"/>
                <a:cs typeface="Calibri"/>
              </a:rPr>
              <a:t>and</a:t>
            </a:r>
            <a:r>
              <a:rPr sz="3200" spc="15" dirty="0">
                <a:latin typeface="Calibri"/>
                <a:cs typeface="Calibri"/>
              </a:rPr>
              <a:t> </a:t>
            </a:r>
            <a:r>
              <a:rPr sz="3200" dirty="0">
                <a:latin typeface="Calibri"/>
                <a:cs typeface="Calibri"/>
              </a:rPr>
              <a:t>implementing</a:t>
            </a:r>
            <a:r>
              <a:rPr sz="3200" spc="10" dirty="0">
                <a:latin typeface="Calibri"/>
                <a:cs typeface="Calibri"/>
              </a:rPr>
              <a:t> </a:t>
            </a:r>
            <a:r>
              <a:rPr sz="3200" dirty="0">
                <a:latin typeface="Calibri"/>
                <a:cs typeface="Calibri"/>
              </a:rPr>
              <a:t>“what</a:t>
            </a:r>
            <a:r>
              <a:rPr sz="3200" spc="10" dirty="0">
                <a:latin typeface="Calibri"/>
                <a:cs typeface="Calibri"/>
              </a:rPr>
              <a:t> </a:t>
            </a:r>
            <a:r>
              <a:rPr sz="3200" dirty="0">
                <a:latin typeface="Calibri"/>
                <a:cs typeface="Calibri"/>
              </a:rPr>
              <a:t>we intend</a:t>
            </a:r>
            <a:r>
              <a:rPr sz="3200" spc="15" dirty="0">
                <a:latin typeface="Calibri"/>
                <a:cs typeface="Calibri"/>
              </a:rPr>
              <a:t> </a:t>
            </a:r>
            <a:r>
              <a:rPr sz="3200" dirty="0">
                <a:latin typeface="Calibri"/>
                <a:cs typeface="Calibri"/>
              </a:rPr>
              <a:t>to</a:t>
            </a:r>
            <a:r>
              <a:rPr sz="3200" spc="10" dirty="0">
                <a:latin typeface="Calibri"/>
                <a:cs typeface="Calibri"/>
              </a:rPr>
              <a:t> </a:t>
            </a:r>
            <a:r>
              <a:rPr sz="3200" spc="-20" dirty="0">
                <a:latin typeface="Calibri"/>
                <a:cs typeface="Calibri"/>
              </a:rPr>
              <a:t>be’’ </a:t>
            </a:r>
            <a:r>
              <a:rPr sz="3200" dirty="0">
                <a:latin typeface="Calibri"/>
                <a:cs typeface="Calibri"/>
              </a:rPr>
              <a:t>and</a:t>
            </a:r>
            <a:r>
              <a:rPr sz="3200" spc="-50" dirty="0">
                <a:latin typeface="Calibri"/>
                <a:cs typeface="Calibri"/>
              </a:rPr>
              <a:t> </a:t>
            </a:r>
            <a:r>
              <a:rPr sz="3200" dirty="0">
                <a:latin typeface="Calibri"/>
                <a:cs typeface="Calibri"/>
              </a:rPr>
              <a:t>“</a:t>
            </a:r>
            <a:r>
              <a:rPr sz="3200" spc="-55" dirty="0">
                <a:latin typeface="Calibri"/>
                <a:cs typeface="Calibri"/>
              </a:rPr>
              <a:t> </a:t>
            </a:r>
            <a:r>
              <a:rPr sz="3200" dirty="0">
                <a:latin typeface="Calibri"/>
                <a:cs typeface="Calibri"/>
              </a:rPr>
              <a:t>how</a:t>
            </a:r>
            <a:r>
              <a:rPr sz="3200" spc="-50" dirty="0">
                <a:latin typeface="Calibri"/>
                <a:cs typeface="Calibri"/>
              </a:rPr>
              <a:t> </a:t>
            </a:r>
            <a:r>
              <a:rPr sz="3200" dirty="0">
                <a:latin typeface="Calibri"/>
                <a:cs typeface="Calibri"/>
              </a:rPr>
              <a:t>we</a:t>
            </a:r>
            <a:r>
              <a:rPr sz="3200" spc="-55" dirty="0">
                <a:latin typeface="Calibri"/>
                <a:cs typeface="Calibri"/>
              </a:rPr>
              <a:t> </a:t>
            </a:r>
            <a:r>
              <a:rPr sz="3200" dirty="0">
                <a:latin typeface="Calibri"/>
                <a:cs typeface="Calibri"/>
              </a:rPr>
              <a:t>are</a:t>
            </a:r>
            <a:r>
              <a:rPr sz="3200" spc="-60" dirty="0">
                <a:latin typeface="Calibri"/>
                <a:cs typeface="Calibri"/>
              </a:rPr>
              <a:t> </a:t>
            </a:r>
            <a:r>
              <a:rPr sz="3200" dirty="0">
                <a:latin typeface="Calibri"/>
                <a:cs typeface="Calibri"/>
              </a:rPr>
              <a:t>going</a:t>
            </a:r>
            <a:r>
              <a:rPr sz="3200" spc="-45" dirty="0">
                <a:latin typeface="Calibri"/>
                <a:cs typeface="Calibri"/>
              </a:rPr>
              <a:t> </a:t>
            </a:r>
            <a:r>
              <a:rPr sz="3200" dirty="0">
                <a:latin typeface="Calibri"/>
                <a:cs typeface="Calibri"/>
              </a:rPr>
              <a:t>to</a:t>
            </a:r>
            <a:r>
              <a:rPr sz="3200" spc="-55" dirty="0">
                <a:latin typeface="Calibri"/>
                <a:cs typeface="Calibri"/>
              </a:rPr>
              <a:t> </a:t>
            </a:r>
            <a:r>
              <a:rPr sz="3200" dirty="0">
                <a:latin typeface="Calibri"/>
                <a:cs typeface="Calibri"/>
              </a:rPr>
              <a:t>get</a:t>
            </a:r>
            <a:r>
              <a:rPr sz="3200" spc="-50" dirty="0">
                <a:latin typeface="Calibri"/>
                <a:cs typeface="Calibri"/>
              </a:rPr>
              <a:t> </a:t>
            </a:r>
            <a:r>
              <a:rPr sz="3200" spc="-10" dirty="0">
                <a:latin typeface="Calibri"/>
                <a:cs typeface="Calibri"/>
              </a:rPr>
              <a:t>there”.</a:t>
            </a:r>
            <a:endParaRPr sz="3200">
              <a:latin typeface="Calibri"/>
              <a:cs typeface="Calibri"/>
            </a:endParaRPr>
          </a:p>
        </p:txBody>
      </p:sp>
      <p:sp>
        <p:nvSpPr>
          <p:cNvPr id="4" name="object 4"/>
          <p:cNvSpPr txBox="1"/>
          <p:nvPr/>
        </p:nvSpPr>
        <p:spPr>
          <a:xfrm>
            <a:off x="916939" y="3229356"/>
            <a:ext cx="8562340" cy="2964180"/>
          </a:xfrm>
          <a:prstGeom prst="rect">
            <a:avLst/>
          </a:prstGeom>
        </p:spPr>
        <p:txBody>
          <a:bodyPr vert="horz" wrap="square" lIns="0" tIns="72390" rIns="0" bIns="0" rtlCol="0">
            <a:spAutoFit/>
          </a:bodyPr>
          <a:lstStyle/>
          <a:p>
            <a:pPr marL="241300" marR="5080" indent="-228600">
              <a:lnSpc>
                <a:spcPts val="3410"/>
              </a:lnSpc>
              <a:spcBef>
                <a:spcPts val="570"/>
              </a:spcBef>
              <a:buFont typeface="Arial MT"/>
              <a:buChar char="•"/>
              <a:tabLst>
                <a:tab pos="241300" algn="l"/>
                <a:tab pos="1244600" algn="l"/>
                <a:tab pos="2719705" algn="l"/>
                <a:tab pos="4686935" algn="l"/>
                <a:tab pos="5414010" algn="l"/>
                <a:tab pos="7268845" algn="l"/>
                <a:tab pos="7995920" algn="l"/>
              </a:tabLst>
            </a:pPr>
            <a:r>
              <a:rPr sz="3200" spc="-25" dirty="0">
                <a:latin typeface="Calibri"/>
                <a:cs typeface="Calibri"/>
              </a:rPr>
              <a:t>The</a:t>
            </a:r>
            <a:r>
              <a:rPr sz="3200" dirty="0">
                <a:latin typeface="Calibri"/>
                <a:cs typeface="Calibri"/>
              </a:rPr>
              <a:t>	</a:t>
            </a:r>
            <a:r>
              <a:rPr sz="3200" spc="-10" dirty="0">
                <a:latin typeface="Calibri"/>
                <a:cs typeface="Calibri"/>
              </a:rPr>
              <a:t>typical</a:t>
            </a:r>
            <a:r>
              <a:rPr sz="3200" dirty="0">
                <a:latin typeface="Calibri"/>
                <a:cs typeface="Calibri"/>
              </a:rPr>
              <a:t>	</a:t>
            </a:r>
            <a:r>
              <a:rPr sz="3200" spc="-10" dirty="0">
                <a:latin typeface="Calibri"/>
                <a:cs typeface="Calibri"/>
              </a:rPr>
              <a:t>sequence</a:t>
            </a:r>
            <a:r>
              <a:rPr sz="3200" dirty="0">
                <a:latin typeface="Calibri"/>
                <a:cs typeface="Calibri"/>
              </a:rPr>
              <a:t>	</a:t>
            </a:r>
            <a:r>
              <a:rPr sz="3200" spc="-25" dirty="0">
                <a:latin typeface="Calibri"/>
                <a:cs typeface="Calibri"/>
              </a:rPr>
              <a:t>of</a:t>
            </a:r>
            <a:r>
              <a:rPr sz="3200" dirty="0">
                <a:latin typeface="Calibri"/>
                <a:cs typeface="Calibri"/>
              </a:rPr>
              <a:t>	</a:t>
            </a:r>
            <a:r>
              <a:rPr sz="3200" spc="-10" dirty="0">
                <a:latin typeface="Calibri"/>
                <a:cs typeface="Calibri"/>
              </a:rPr>
              <a:t>activities</a:t>
            </a:r>
            <a:r>
              <a:rPr sz="3200" dirty="0">
                <a:latin typeface="Calibri"/>
                <a:cs typeface="Calibri"/>
              </a:rPr>
              <a:t>	</a:t>
            </a:r>
            <a:r>
              <a:rPr sz="3200" spc="-25" dirty="0">
                <a:latin typeface="Calibri"/>
                <a:cs typeface="Calibri"/>
              </a:rPr>
              <a:t>of</a:t>
            </a:r>
            <a:r>
              <a:rPr sz="3200" dirty="0">
                <a:latin typeface="Calibri"/>
                <a:cs typeface="Calibri"/>
              </a:rPr>
              <a:t>	</a:t>
            </a:r>
            <a:r>
              <a:rPr sz="3200" spc="-25" dirty="0">
                <a:latin typeface="Calibri"/>
                <a:cs typeface="Calibri"/>
              </a:rPr>
              <a:t>the </a:t>
            </a:r>
            <a:r>
              <a:rPr sz="3200" spc="-10" dirty="0">
                <a:latin typeface="Calibri"/>
                <a:cs typeface="Calibri"/>
              </a:rPr>
              <a:t>management</a:t>
            </a:r>
            <a:r>
              <a:rPr sz="3200" spc="-105" dirty="0">
                <a:latin typeface="Calibri"/>
                <a:cs typeface="Calibri"/>
              </a:rPr>
              <a:t> </a:t>
            </a:r>
            <a:r>
              <a:rPr sz="3200" dirty="0">
                <a:latin typeface="Calibri"/>
                <a:cs typeface="Calibri"/>
              </a:rPr>
              <a:t>process</a:t>
            </a:r>
            <a:r>
              <a:rPr sz="3200" spc="-105" dirty="0">
                <a:latin typeface="Calibri"/>
                <a:cs typeface="Calibri"/>
              </a:rPr>
              <a:t> </a:t>
            </a:r>
            <a:r>
              <a:rPr sz="3200" spc="-20" dirty="0">
                <a:latin typeface="Calibri"/>
                <a:cs typeface="Calibri"/>
              </a:rPr>
              <a:t>are:</a:t>
            </a:r>
            <a:endParaRPr sz="3200">
              <a:latin typeface="Calibri"/>
              <a:cs typeface="Calibri"/>
            </a:endParaRPr>
          </a:p>
          <a:p>
            <a:pPr marL="983615" lvl="1" indent="-513715">
              <a:lnSpc>
                <a:spcPct val="100000"/>
              </a:lnSpc>
              <a:spcBef>
                <a:spcPts val="125"/>
              </a:spcBef>
              <a:buAutoNum type="arabicPeriod"/>
              <a:tabLst>
                <a:tab pos="983615" algn="l"/>
              </a:tabLst>
            </a:pPr>
            <a:r>
              <a:rPr sz="3200" dirty="0">
                <a:solidFill>
                  <a:srgbClr val="C00000"/>
                </a:solidFill>
                <a:latin typeface="Calibri"/>
                <a:cs typeface="Calibri"/>
              </a:rPr>
              <a:t>Review</a:t>
            </a:r>
            <a:r>
              <a:rPr sz="3200" spc="-70" dirty="0">
                <a:solidFill>
                  <a:srgbClr val="C00000"/>
                </a:solidFill>
                <a:latin typeface="Calibri"/>
                <a:cs typeface="Calibri"/>
              </a:rPr>
              <a:t> </a:t>
            </a:r>
            <a:r>
              <a:rPr sz="3200" dirty="0">
                <a:solidFill>
                  <a:srgbClr val="C00000"/>
                </a:solidFill>
                <a:latin typeface="Calibri"/>
                <a:cs typeface="Calibri"/>
              </a:rPr>
              <a:t>and</a:t>
            </a:r>
            <a:r>
              <a:rPr sz="3200" spc="-65" dirty="0">
                <a:solidFill>
                  <a:srgbClr val="C00000"/>
                </a:solidFill>
                <a:latin typeface="Calibri"/>
                <a:cs typeface="Calibri"/>
              </a:rPr>
              <a:t> </a:t>
            </a:r>
            <a:r>
              <a:rPr sz="3200" dirty="0">
                <a:solidFill>
                  <a:srgbClr val="C00000"/>
                </a:solidFill>
                <a:latin typeface="Calibri"/>
                <a:cs typeface="Calibri"/>
              </a:rPr>
              <a:t>define</a:t>
            </a:r>
            <a:r>
              <a:rPr sz="3200" spc="-75" dirty="0">
                <a:solidFill>
                  <a:srgbClr val="C00000"/>
                </a:solidFill>
                <a:latin typeface="Calibri"/>
                <a:cs typeface="Calibri"/>
              </a:rPr>
              <a:t> </a:t>
            </a:r>
            <a:r>
              <a:rPr sz="3200" dirty="0">
                <a:solidFill>
                  <a:srgbClr val="C00000"/>
                </a:solidFill>
                <a:latin typeface="Calibri"/>
                <a:cs typeface="Calibri"/>
              </a:rPr>
              <a:t>the</a:t>
            </a:r>
            <a:r>
              <a:rPr sz="3200" spc="-70" dirty="0">
                <a:solidFill>
                  <a:srgbClr val="C00000"/>
                </a:solidFill>
                <a:latin typeface="Calibri"/>
                <a:cs typeface="Calibri"/>
              </a:rPr>
              <a:t> </a:t>
            </a:r>
            <a:r>
              <a:rPr sz="3200" spc="-20" dirty="0">
                <a:solidFill>
                  <a:srgbClr val="C00000"/>
                </a:solidFill>
                <a:latin typeface="Calibri"/>
                <a:cs typeface="Calibri"/>
              </a:rPr>
              <a:t>organizational</a:t>
            </a:r>
            <a:r>
              <a:rPr sz="3200" spc="-70" dirty="0">
                <a:solidFill>
                  <a:srgbClr val="C00000"/>
                </a:solidFill>
                <a:latin typeface="Calibri"/>
                <a:cs typeface="Calibri"/>
              </a:rPr>
              <a:t> </a:t>
            </a:r>
            <a:r>
              <a:rPr sz="3200" spc="-10" dirty="0">
                <a:solidFill>
                  <a:srgbClr val="C00000"/>
                </a:solidFill>
                <a:latin typeface="Calibri"/>
                <a:cs typeface="Calibri"/>
              </a:rPr>
              <a:t>mission.</a:t>
            </a:r>
            <a:endParaRPr sz="3200">
              <a:latin typeface="Calibri"/>
              <a:cs typeface="Calibri"/>
            </a:endParaRPr>
          </a:p>
          <a:p>
            <a:pPr marL="983615" lvl="1" indent="-513715">
              <a:lnSpc>
                <a:spcPct val="100000"/>
              </a:lnSpc>
              <a:spcBef>
                <a:spcPts val="50"/>
              </a:spcBef>
              <a:buAutoNum type="arabicPeriod"/>
              <a:tabLst>
                <a:tab pos="983615" algn="l"/>
              </a:tabLst>
            </a:pPr>
            <a:r>
              <a:rPr sz="3200" dirty="0">
                <a:solidFill>
                  <a:srgbClr val="262EA4"/>
                </a:solidFill>
                <a:latin typeface="Calibri"/>
                <a:cs typeface="Calibri"/>
              </a:rPr>
              <a:t>Analyze</a:t>
            </a:r>
            <a:r>
              <a:rPr sz="3200" spc="-110" dirty="0">
                <a:solidFill>
                  <a:srgbClr val="262EA4"/>
                </a:solidFill>
                <a:latin typeface="Calibri"/>
                <a:cs typeface="Calibri"/>
              </a:rPr>
              <a:t> </a:t>
            </a:r>
            <a:r>
              <a:rPr sz="3200" dirty="0">
                <a:solidFill>
                  <a:srgbClr val="262EA4"/>
                </a:solidFill>
                <a:latin typeface="Calibri"/>
                <a:cs typeface="Calibri"/>
              </a:rPr>
              <a:t>and</a:t>
            </a:r>
            <a:r>
              <a:rPr sz="3200" spc="-105" dirty="0">
                <a:solidFill>
                  <a:srgbClr val="262EA4"/>
                </a:solidFill>
                <a:latin typeface="Calibri"/>
                <a:cs typeface="Calibri"/>
              </a:rPr>
              <a:t> </a:t>
            </a:r>
            <a:r>
              <a:rPr sz="3200" spc="-10" dirty="0">
                <a:solidFill>
                  <a:srgbClr val="262EA4"/>
                </a:solidFill>
                <a:latin typeface="Calibri"/>
                <a:cs typeface="Calibri"/>
              </a:rPr>
              <a:t>formulate</a:t>
            </a:r>
            <a:r>
              <a:rPr sz="3200" spc="-120" dirty="0">
                <a:solidFill>
                  <a:srgbClr val="262EA4"/>
                </a:solidFill>
                <a:latin typeface="Calibri"/>
                <a:cs typeface="Calibri"/>
              </a:rPr>
              <a:t> </a:t>
            </a:r>
            <a:r>
              <a:rPr sz="3200" spc="-10" dirty="0">
                <a:solidFill>
                  <a:srgbClr val="262EA4"/>
                </a:solidFill>
                <a:latin typeface="Calibri"/>
                <a:cs typeface="Calibri"/>
              </a:rPr>
              <a:t>strategies.</a:t>
            </a:r>
            <a:endParaRPr sz="3200">
              <a:latin typeface="Calibri"/>
              <a:cs typeface="Calibri"/>
            </a:endParaRPr>
          </a:p>
          <a:p>
            <a:pPr marL="983615" lvl="1" indent="-513715">
              <a:lnSpc>
                <a:spcPct val="100000"/>
              </a:lnSpc>
              <a:spcBef>
                <a:spcPts val="165"/>
              </a:spcBef>
              <a:buAutoNum type="arabicPeriod"/>
              <a:tabLst>
                <a:tab pos="983615" algn="l"/>
              </a:tabLst>
            </a:pPr>
            <a:r>
              <a:rPr sz="3200" dirty="0">
                <a:solidFill>
                  <a:srgbClr val="C00000"/>
                </a:solidFill>
                <a:latin typeface="Calibri"/>
                <a:cs typeface="Calibri"/>
              </a:rPr>
              <a:t>Set</a:t>
            </a:r>
            <a:r>
              <a:rPr sz="3200" spc="-90" dirty="0">
                <a:solidFill>
                  <a:srgbClr val="C00000"/>
                </a:solidFill>
                <a:latin typeface="Calibri"/>
                <a:cs typeface="Calibri"/>
              </a:rPr>
              <a:t> </a:t>
            </a:r>
            <a:r>
              <a:rPr sz="3200" dirty="0">
                <a:solidFill>
                  <a:srgbClr val="C00000"/>
                </a:solidFill>
                <a:latin typeface="Calibri"/>
                <a:cs typeface="Calibri"/>
              </a:rPr>
              <a:t>objectives</a:t>
            </a:r>
            <a:r>
              <a:rPr sz="3200" spc="-80" dirty="0">
                <a:solidFill>
                  <a:srgbClr val="C00000"/>
                </a:solidFill>
                <a:latin typeface="Calibri"/>
                <a:cs typeface="Calibri"/>
              </a:rPr>
              <a:t> </a:t>
            </a:r>
            <a:r>
              <a:rPr sz="3200" dirty="0">
                <a:solidFill>
                  <a:srgbClr val="C00000"/>
                </a:solidFill>
                <a:latin typeface="Calibri"/>
                <a:cs typeface="Calibri"/>
              </a:rPr>
              <a:t>to</a:t>
            </a:r>
            <a:r>
              <a:rPr sz="3200" spc="-75" dirty="0">
                <a:solidFill>
                  <a:srgbClr val="C00000"/>
                </a:solidFill>
                <a:latin typeface="Calibri"/>
                <a:cs typeface="Calibri"/>
              </a:rPr>
              <a:t> </a:t>
            </a:r>
            <a:r>
              <a:rPr sz="3200" dirty="0">
                <a:solidFill>
                  <a:srgbClr val="C00000"/>
                </a:solidFill>
                <a:latin typeface="Calibri"/>
                <a:cs typeface="Calibri"/>
              </a:rPr>
              <a:t>achieve</a:t>
            </a:r>
            <a:r>
              <a:rPr sz="3200" spc="-85" dirty="0">
                <a:solidFill>
                  <a:srgbClr val="C00000"/>
                </a:solidFill>
                <a:latin typeface="Calibri"/>
                <a:cs typeface="Calibri"/>
              </a:rPr>
              <a:t> </a:t>
            </a:r>
            <a:r>
              <a:rPr sz="3200" spc="-10" dirty="0">
                <a:solidFill>
                  <a:srgbClr val="C00000"/>
                </a:solidFill>
                <a:latin typeface="Calibri"/>
                <a:cs typeface="Calibri"/>
              </a:rPr>
              <a:t>strategy.</a:t>
            </a:r>
            <a:endParaRPr sz="3200">
              <a:latin typeface="Calibri"/>
              <a:cs typeface="Calibri"/>
            </a:endParaRPr>
          </a:p>
          <a:p>
            <a:pPr marL="983615" lvl="1" indent="-513715">
              <a:lnSpc>
                <a:spcPct val="100000"/>
              </a:lnSpc>
              <a:spcBef>
                <a:spcPts val="145"/>
              </a:spcBef>
              <a:buAutoNum type="arabicPeriod"/>
              <a:tabLst>
                <a:tab pos="983615" algn="l"/>
              </a:tabLst>
            </a:pPr>
            <a:r>
              <a:rPr sz="3200" dirty="0">
                <a:solidFill>
                  <a:srgbClr val="262EA4"/>
                </a:solidFill>
                <a:latin typeface="Calibri"/>
                <a:cs typeface="Calibri"/>
              </a:rPr>
              <a:t>Implement</a:t>
            </a:r>
            <a:r>
              <a:rPr sz="3200" spc="-155" dirty="0">
                <a:solidFill>
                  <a:srgbClr val="262EA4"/>
                </a:solidFill>
                <a:latin typeface="Calibri"/>
                <a:cs typeface="Calibri"/>
              </a:rPr>
              <a:t> </a:t>
            </a:r>
            <a:r>
              <a:rPr sz="3200" spc="-10" dirty="0">
                <a:solidFill>
                  <a:srgbClr val="262EA4"/>
                </a:solidFill>
                <a:latin typeface="Calibri"/>
                <a:cs typeface="Calibri"/>
              </a:rPr>
              <a:t>strategies</a:t>
            </a:r>
            <a:r>
              <a:rPr sz="3200" spc="-150" dirty="0">
                <a:solidFill>
                  <a:srgbClr val="262EA4"/>
                </a:solidFill>
                <a:latin typeface="Calibri"/>
                <a:cs typeface="Calibri"/>
              </a:rPr>
              <a:t> </a:t>
            </a:r>
            <a:r>
              <a:rPr sz="3200" dirty="0">
                <a:solidFill>
                  <a:srgbClr val="262EA4"/>
                </a:solidFill>
                <a:latin typeface="Calibri"/>
                <a:cs typeface="Calibri"/>
              </a:rPr>
              <a:t>through</a:t>
            </a:r>
            <a:r>
              <a:rPr sz="3200" spc="-140" dirty="0">
                <a:solidFill>
                  <a:srgbClr val="262EA4"/>
                </a:solidFill>
                <a:latin typeface="Calibri"/>
                <a:cs typeface="Calibri"/>
              </a:rPr>
              <a:t> </a:t>
            </a:r>
            <a:r>
              <a:rPr sz="3200" spc="-10" dirty="0">
                <a:solidFill>
                  <a:srgbClr val="262EA4"/>
                </a:solidFill>
                <a:latin typeface="Calibri"/>
                <a:cs typeface="Calibri"/>
              </a:rPr>
              <a:t>projects.</a:t>
            </a:r>
            <a:endParaRPr sz="3200">
              <a:latin typeface="Calibri"/>
              <a:cs typeface="Calibri"/>
            </a:endParaRPr>
          </a:p>
        </p:txBody>
      </p:sp>
      <p:sp>
        <p:nvSpPr>
          <p:cNvPr id="5" name="object 5"/>
          <p:cNvSpPr txBox="1"/>
          <p:nvPr/>
        </p:nvSpPr>
        <p:spPr>
          <a:xfrm>
            <a:off x="9842245" y="3229356"/>
            <a:ext cx="1432560" cy="513080"/>
          </a:xfrm>
          <a:prstGeom prst="rect">
            <a:avLst/>
          </a:prstGeom>
        </p:spPr>
        <p:txBody>
          <a:bodyPr vert="horz" wrap="square" lIns="0" tIns="12700" rIns="0" bIns="0" rtlCol="0">
            <a:spAutoFit/>
          </a:bodyPr>
          <a:lstStyle/>
          <a:p>
            <a:pPr marL="12700">
              <a:lnSpc>
                <a:spcPct val="100000"/>
              </a:lnSpc>
              <a:spcBef>
                <a:spcPts val="100"/>
              </a:spcBef>
            </a:pPr>
            <a:r>
              <a:rPr sz="3200" spc="-20" dirty="0">
                <a:latin typeface="Calibri"/>
                <a:cs typeface="Calibri"/>
              </a:rPr>
              <a:t>strategic</a:t>
            </a:r>
            <a:endParaRPr sz="3200">
              <a:latin typeface="Calibri"/>
              <a:cs typeface="Calibri"/>
            </a:endParaRPr>
          </a:p>
        </p:txBody>
      </p:sp>
      <p:pic>
        <p:nvPicPr>
          <p:cNvPr id="7" name="Picture 6">
            <a:extLst>
              <a:ext uri="{FF2B5EF4-FFF2-40B4-BE49-F238E27FC236}">
                <a16:creationId xmlns:a16="http://schemas.microsoft.com/office/drawing/2014/main" id="{E2E9E780-C99D-7B54-B63B-562D2D6B4F9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CB8A3-B582-4321-A39E-6F49EF29163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4CA04AA-E350-4A44-B455-E2600E81706B}"/>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195777E7-BF47-49D5-B44F-E9F7A9AAD177}"/>
              </a:ext>
            </a:extLst>
          </p:cNvPr>
          <p:cNvPicPr>
            <a:picLocks noChangeAspect="1"/>
          </p:cNvPicPr>
          <p:nvPr/>
        </p:nvPicPr>
        <p:blipFill>
          <a:blip r:embed="rId3"/>
          <a:stretch>
            <a:fillRect/>
          </a:stretch>
        </p:blipFill>
        <p:spPr>
          <a:xfrm>
            <a:off x="1371600" y="1854106"/>
            <a:ext cx="8915400" cy="4856727"/>
          </a:xfrm>
          <a:prstGeom prst="rect">
            <a:avLst/>
          </a:prstGeom>
        </p:spPr>
      </p:pic>
      <p:pic>
        <p:nvPicPr>
          <p:cNvPr id="4" name="Picture 3">
            <a:extLst>
              <a:ext uri="{FF2B5EF4-FFF2-40B4-BE49-F238E27FC236}">
                <a16:creationId xmlns:a16="http://schemas.microsoft.com/office/drawing/2014/main" id="{CE02E0D9-1A94-58D6-95CA-D92CD75DF09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8390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52167-CC8C-4F36-8662-CF06DDCA91D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2CED313-3436-4B5B-803C-2F03EEA9CC43}"/>
              </a:ext>
            </a:extLst>
          </p:cNvPr>
          <p:cNvSpPr>
            <a:spLocks noGrp="1"/>
          </p:cNvSpPr>
          <p:nvPr>
            <p:ph type="body" idx="1"/>
          </p:nvPr>
        </p:nvSpPr>
        <p:spPr>
          <a:xfrm>
            <a:off x="916939" y="1628139"/>
            <a:ext cx="10358120" cy="3908762"/>
          </a:xfrm>
        </p:spPr>
        <p:txBody>
          <a:bodyPr/>
          <a:lstStyle/>
          <a:p>
            <a:pPr marL="318135" marR="5080" indent="-306070">
              <a:lnSpc>
                <a:spcPct val="100400"/>
              </a:lnSpc>
              <a:spcBef>
                <a:spcPts val="1255"/>
              </a:spcBef>
              <a:buChar char="•"/>
              <a:tabLst>
                <a:tab pos="320675" algn="l"/>
              </a:tabLst>
            </a:pPr>
            <a:r>
              <a:rPr lang="en-US" sz="2800" dirty="0">
                <a:latin typeface="Arial MT"/>
                <a:cs typeface="Arial MT"/>
              </a:rPr>
              <a:t>It is</a:t>
            </a:r>
            <a:r>
              <a:rPr lang="en-US" sz="2800" spc="10" dirty="0">
                <a:latin typeface="Arial MT"/>
                <a:cs typeface="Arial MT"/>
              </a:rPr>
              <a:t> </a:t>
            </a:r>
            <a:r>
              <a:rPr lang="en-US" sz="2800" dirty="0">
                <a:latin typeface="Arial MT"/>
                <a:cs typeface="Arial MT"/>
              </a:rPr>
              <a:t>a</a:t>
            </a:r>
            <a:r>
              <a:rPr lang="en-US" sz="2800" spc="35" dirty="0">
                <a:latin typeface="Arial MT"/>
                <a:cs typeface="Arial MT"/>
              </a:rPr>
              <a:t> </a:t>
            </a:r>
            <a:r>
              <a:rPr lang="en-US" sz="2800" spc="100" dirty="0">
                <a:latin typeface="Arial MT"/>
                <a:cs typeface="Arial MT"/>
              </a:rPr>
              <a:t>continuous,</a:t>
            </a:r>
            <a:r>
              <a:rPr lang="en-US" sz="2800" spc="165" dirty="0">
                <a:latin typeface="Arial MT"/>
                <a:cs typeface="Arial MT"/>
              </a:rPr>
              <a:t> </a:t>
            </a:r>
            <a:r>
              <a:rPr lang="en-US" sz="2800" spc="70" dirty="0">
                <a:solidFill>
                  <a:srgbClr val="0000D4"/>
                </a:solidFill>
                <a:latin typeface="Arial MT"/>
                <a:cs typeface="Arial MT"/>
              </a:rPr>
              <a:t>iterative</a:t>
            </a:r>
            <a:r>
              <a:rPr lang="en-US" sz="2800" spc="110" dirty="0">
                <a:solidFill>
                  <a:srgbClr val="0000D4"/>
                </a:solidFill>
                <a:latin typeface="Arial MT"/>
                <a:cs typeface="Arial MT"/>
              </a:rPr>
              <a:t> </a:t>
            </a:r>
            <a:r>
              <a:rPr lang="en-US" sz="2800" spc="85" dirty="0">
                <a:solidFill>
                  <a:srgbClr val="0001D1"/>
                </a:solidFill>
                <a:latin typeface="Arial MT"/>
                <a:cs typeface="Arial MT"/>
              </a:rPr>
              <a:t>process</a:t>
            </a:r>
            <a:r>
              <a:rPr lang="en-US" sz="2800" spc="165" dirty="0">
                <a:solidFill>
                  <a:srgbClr val="0001D1"/>
                </a:solidFill>
                <a:latin typeface="Arial MT"/>
                <a:cs typeface="Arial MT"/>
              </a:rPr>
              <a:t> </a:t>
            </a:r>
            <a:r>
              <a:rPr lang="en-US" sz="2800" dirty="0">
                <a:latin typeface="Arial MT"/>
                <a:cs typeface="Arial MT"/>
              </a:rPr>
              <a:t>aim</a:t>
            </a:r>
            <a:r>
              <a:rPr lang="en-US" sz="2800" spc="45" dirty="0">
                <a:latin typeface="Arial MT"/>
                <a:cs typeface="Arial MT"/>
              </a:rPr>
              <a:t> </a:t>
            </a:r>
            <a:r>
              <a:rPr lang="en-US" sz="2800" dirty="0">
                <a:latin typeface="Arial MT"/>
                <a:cs typeface="Arial MT"/>
              </a:rPr>
              <a:t>to</a:t>
            </a:r>
            <a:r>
              <a:rPr lang="en-US" sz="2800" spc="20" dirty="0">
                <a:latin typeface="Arial MT"/>
                <a:cs typeface="Arial MT"/>
              </a:rPr>
              <a:t> </a:t>
            </a:r>
            <a:r>
              <a:rPr lang="en-US" sz="2800" u="heavy" spc="55" dirty="0">
                <a:solidFill>
                  <a:srgbClr val="01AF4D"/>
                </a:solidFill>
                <a:uFill>
                  <a:solidFill>
                    <a:srgbClr val="08A84F"/>
                  </a:solidFill>
                </a:uFill>
                <a:latin typeface="Arial MT"/>
                <a:cs typeface="Arial MT"/>
              </a:rPr>
              <a:t>develop</a:t>
            </a:r>
            <a:r>
              <a:rPr lang="en-US" sz="2800" spc="55" dirty="0">
                <a:solidFill>
                  <a:srgbClr val="01AF4D"/>
                </a:solidFill>
                <a:latin typeface="Arial MT"/>
                <a:cs typeface="Arial MT"/>
              </a:rPr>
              <a:t> 	</a:t>
            </a:r>
            <a:r>
              <a:rPr lang="en-US" sz="2800" spc="70" dirty="0">
                <a:solidFill>
                  <a:srgbClr val="0100C8"/>
                </a:solidFill>
                <a:latin typeface="Arial MT"/>
                <a:cs typeface="Arial MT"/>
              </a:rPr>
              <a:t>integrated</a:t>
            </a:r>
            <a:r>
              <a:rPr lang="en-US" sz="2800" spc="160" dirty="0">
                <a:solidFill>
                  <a:srgbClr val="0100C8"/>
                </a:solidFill>
                <a:latin typeface="Arial MT"/>
                <a:cs typeface="Arial MT"/>
              </a:rPr>
              <a:t> </a:t>
            </a:r>
            <a:r>
              <a:rPr lang="en-US" sz="2800" dirty="0">
                <a:latin typeface="Arial MT"/>
                <a:cs typeface="Arial MT"/>
              </a:rPr>
              <a:t>and</a:t>
            </a:r>
            <a:r>
              <a:rPr lang="en-US" sz="2800" spc="90" dirty="0">
                <a:latin typeface="Arial MT"/>
                <a:cs typeface="Arial MT"/>
              </a:rPr>
              <a:t> </a:t>
            </a:r>
            <a:r>
              <a:rPr lang="en-US" sz="2800" spc="90" dirty="0">
                <a:solidFill>
                  <a:srgbClr val="0001C3"/>
                </a:solidFill>
                <a:latin typeface="Arial MT"/>
                <a:cs typeface="Arial MT"/>
              </a:rPr>
              <a:t>coordinated</a:t>
            </a:r>
            <a:r>
              <a:rPr lang="en-US" sz="2800" spc="180" dirty="0">
                <a:solidFill>
                  <a:srgbClr val="0001C3"/>
                </a:solidFill>
                <a:latin typeface="Arial MT"/>
                <a:cs typeface="Arial MT"/>
              </a:rPr>
              <a:t> </a:t>
            </a:r>
            <a:r>
              <a:rPr lang="en-US" sz="2800" spc="75" dirty="0">
                <a:solidFill>
                  <a:srgbClr val="0100CD"/>
                </a:solidFill>
                <a:latin typeface="Arial MT"/>
                <a:cs typeface="Arial MT"/>
              </a:rPr>
              <a:t>long-</a:t>
            </a:r>
            <a:r>
              <a:rPr lang="en-US" sz="2800" spc="85" dirty="0">
                <a:solidFill>
                  <a:srgbClr val="0100CD"/>
                </a:solidFill>
                <a:latin typeface="Arial MT"/>
                <a:cs typeface="Arial MT"/>
              </a:rPr>
              <a:t>term</a:t>
            </a:r>
            <a:r>
              <a:rPr lang="en-US" sz="2800" spc="200" dirty="0">
                <a:solidFill>
                  <a:srgbClr val="0100CD"/>
                </a:solidFill>
                <a:latin typeface="Arial MT"/>
                <a:cs typeface="Arial MT"/>
              </a:rPr>
              <a:t> </a:t>
            </a:r>
            <a:r>
              <a:rPr lang="en-US" sz="2800" spc="75" dirty="0">
                <a:solidFill>
                  <a:srgbClr val="CD0000"/>
                </a:solidFill>
                <a:latin typeface="Arial MT"/>
                <a:cs typeface="Arial MT"/>
              </a:rPr>
              <a:t>plan</a:t>
            </a:r>
            <a:r>
              <a:rPr lang="en-US" sz="2800" spc="40" dirty="0">
                <a:solidFill>
                  <a:srgbClr val="CD0000"/>
                </a:solidFill>
                <a:latin typeface="Arial MT"/>
                <a:cs typeface="Arial MT"/>
              </a:rPr>
              <a:t> </a:t>
            </a:r>
            <a:r>
              <a:rPr lang="en-US" sz="2800" spc="90" dirty="0">
                <a:solidFill>
                  <a:srgbClr val="BC0100"/>
                </a:solidFill>
                <a:latin typeface="Arial MT"/>
                <a:cs typeface="Arial MT"/>
              </a:rPr>
              <a:t>of</a:t>
            </a:r>
            <a:r>
              <a:rPr lang="en-US" sz="2800" spc="65" dirty="0">
                <a:solidFill>
                  <a:srgbClr val="BC0100"/>
                </a:solidFill>
                <a:latin typeface="Arial MT"/>
                <a:cs typeface="Arial MT"/>
              </a:rPr>
              <a:t> </a:t>
            </a:r>
            <a:r>
              <a:rPr lang="en-US" sz="2800" spc="65" dirty="0">
                <a:solidFill>
                  <a:srgbClr val="D30000"/>
                </a:solidFill>
                <a:latin typeface="Arial MT"/>
                <a:cs typeface="Arial MT"/>
              </a:rPr>
              <a:t>action.</a:t>
            </a:r>
            <a:endParaRPr lang="en-US" sz="2800" dirty="0">
              <a:latin typeface="Arial MT"/>
              <a:cs typeface="Arial MT"/>
            </a:endParaRPr>
          </a:p>
          <a:p>
            <a:pPr marL="316865" indent="-304165">
              <a:lnSpc>
                <a:spcPct val="100000"/>
              </a:lnSpc>
              <a:spcBef>
                <a:spcPts val="645"/>
              </a:spcBef>
              <a:buChar char="•"/>
              <a:tabLst>
                <a:tab pos="316865" algn="l"/>
              </a:tabLst>
            </a:pPr>
            <a:r>
              <a:rPr lang="en-US" sz="2800" spc="60" dirty="0">
                <a:latin typeface="Arial MT"/>
                <a:cs typeface="Arial MT"/>
              </a:rPr>
              <a:t>Requires</a:t>
            </a:r>
            <a:r>
              <a:rPr lang="en-US" sz="2800" spc="180" dirty="0">
                <a:latin typeface="Arial MT"/>
                <a:cs typeface="Arial MT"/>
              </a:rPr>
              <a:t> </a:t>
            </a:r>
            <a:r>
              <a:rPr lang="en-US" sz="2800" spc="120" dirty="0">
                <a:latin typeface="Arial MT"/>
                <a:cs typeface="Arial MT"/>
              </a:rPr>
              <a:t>strong</a:t>
            </a:r>
            <a:r>
              <a:rPr lang="en-US" sz="2800" spc="130" dirty="0">
                <a:latin typeface="Arial MT"/>
                <a:cs typeface="Arial MT"/>
              </a:rPr>
              <a:t> </a:t>
            </a:r>
            <a:r>
              <a:rPr lang="en-US" sz="2800" spc="114" dirty="0">
                <a:latin typeface="Arial MT"/>
                <a:cs typeface="Arial MT"/>
              </a:rPr>
              <a:t>links</a:t>
            </a:r>
            <a:r>
              <a:rPr lang="en-US" sz="2800" spc="90" dirty="0">
                <a:latin typeface="Arial MT"/>
                <a:cs typeface="Arial MT"/>
              </a:rPr>
              <a:t> </a:t>
            </a:r>
            <a:r>
              <a:rPr lang="en-US" sz="2800" spc="85" dirty="0">
                <a:latin typeface="Arial MT"/>
                <a:cs typeface="Arial MT"/>
              </a:rPr>
              <a:t>among</a:t>
            </a:r>
            <a:r>
              <a:rPr lang="en-US" sz="2800" spc="90" dirty="0">
                <a:latin typeface="Arial MT"/>
                <a:cs typeface="Arial MT"/>
              </a:rPr>
              <a:t> </a:t>
            </a:r>
            <a:r>
              <a:rPr lang="en-US" sz="2800" spc="80" dirty="0">
                <a:latin typeface="Arial MT"/>
                <a:cs typeface="Arial MT"/>
              </a:rPr>
              <a:t>items,</a:t>
            </a:r>
            <a:r>
              <a:rPr lang="en-US" sz="2800" spc="15" dirty="0">
                <a:latin typeface="Arial MT"/>
                <a:cs typeface="Arial MT"/>
              </a:rPr>
              <a:t> </a:t>
            </a:r>
            <a:r>
              <a:rPr lang="en-US" sz="2800" spc="125" dirty="0">
                <a:latin typeface="Arial MT"/>
                <a:cs typeface="Arial MT"/>
              </a:rPr>
              <a:t>such</a:t>
            </a:r>
            <a:r>
              <a:rPr lang="en-US" sz="2800" spc="75" dirty="0">
                <a:latin typeface="Arial MT"/>
                <a:cs typeface="Arial MT"/>
              </a:rPr>
              <a:t> </a:t>
            </a:r>
            <a:r>
              <a:rPr lang="en-US" sz="2800" spc="35" dirty="0">
                <a:latin typeface="Arial MT"/>
                <a:cs typeface="Arial MT"/>
              </a:rPr>
              <a:t>as:</a:t>
            </a:r>
            <a:endParaRPr lang="en-US" sz="2800" dirty="0">
              <a:latin typeface="Arial MT"/>
              <a:cs typeface="Arial MT"/>
            </a:endParaRPr>
          </a:p>
          <a:p>
            <a:pPr marL="520700">
              <a:lnSpc>
                <a:spcPct val="100000"/>
              </a:lnSpc>
              <a:spcBef>
                <a:spcPts val="640"/>
              </a:spcBef>
            </a:pPr>
            <a:r>
              <a:rPr lang="en-US" sz="2800" dirty="0">
                <a:solidFill>
                  <a:srgbClr val="B80301"/>
                </a:solidFill>
                <a:latin typeface="Arial MT"/>
                <a:cs typeface="Arial MT"/>
              </a:rPr>
              <a:t>•</a:t>
            </a:r>
            <a:r>
              <a:rPr lang="en-US" sz="2800" spc="300" dirty="0">
                <a:solidFill>
                  <a:srgbClr val="B80301"/>
                </a:solidFill>
                <a:latin typeface="Arial MT"/>
                <a:cs typeface="Arial MT"/>
              </a:rPr>
              <a:t> </a:t>
            </a:r>
            <a:r>
              <a:rPr lang="en-US" sz="2800" spc="114" dirty="0">
                <a:solidFill>
                  <a:srgbClr val="C40007"/>
                </a:solidFill>
                <a:latin typeface="Arial MT"/>
                <a:cs typeface="Arial MT"/>
              </a:rPr>
              <a:t>mission</a:t>
            </a:r>
            <a:r>
              <a:rPr lang="en-US" sz="2800" spc="140" dirty="0">
                <a:solidFill>
                  <a:srgbClr val="C40007"/>
                </a:solidFill>
                <a:latin typeface="Arial MT"/>
                <a:cs typeface="Arial MT"/>
              </a:rPr>
              <a:t> </a:t>
            </a:r>
            <a:r>
              <a:rPr lang="en-US" sz="2800" spc="55" dirty="0">
                <a:solidFill>
                  <a:srgbClr val="05A749"/>
                </a:solidFill>
                <a:latin typeface="Arial MT"/>
                <a:cs typeface="Arial MT"/>
              </a:rPr>
              <a:t>(message/scope),</a:t>
            </a:r>
            <a:endParaRPr lang="en-US" sz="2800" dirty="0">
              <a:latin typeface="Arial MT"/>
              <a:cs typeface="Arial MT"/>
            </a:endParaRPr>
          </a:p>
          <a:p>
            <a:pPr marL="520700">
              <a:lnSpc>
                <a:spcPct val="100000"/>
              </a:lnSpc>
              <a:spcBef>
                <a:spcPts val="640"/>
              </a:spcBef>
            </a:pPr>
            <a:r>
              <a:rPr lang="en-US" sz="2800" dirty="0">
                <a:solidFill>
                  <a:srgbClr val="BF0705"/>
                </a:solidFill>
                <a:latin typeface="Arial MT"/>
                <a:cs typeface="Arial MT"/>
              </a:rPr>
              <a:t>•</a:t>
            </a:r>
            <a:r>
              <a:rPr lang="en-US" sz="2800" spc="310" dirty="0">
                <a:solidFill>
                  <a:srgbClr val="BF0705"/>
                </a:solidFill>
                <a:latin typeface="Arial MT"/>
                <a:cs typeface="Arial MT"/>
              </a:rPr>
              <a:t> </a:t>
            </a:r>
            <a:r>
              <a:rPr lang="en-US" sz="2800" spc="75" dirty="0">
                <a:solidFill>
                  <a:srgbClr val="B80300"/>
                </a:solidFill>
                <a:latin typeface="Arial MT"/>
                <a:cs typeface="Arial MT"/>
              </a:rPr>
              <a:t>strategy</a:t>
            </a:r>
            <a:r>
              <a:rPr lang="en-US" sz="2800" spc="210" dirty="0">
                <a:solidFill>
                  <a:srgbClr val="B80300"/>
                </a:solidFill>
                <a:latin typeface="Arial MT"/>
                <a:cs typeface="Arial MT"/>
              </a:rPr>
              <a:t> </a:t>
            </a:r>
            <a:r>
              <a:rPr lang="en-US" sz="2800" spc="70" dirty="0">
                <a:solidFill>
                  <a:srgbClr val="03AC4F"/>
                </a:solidFill>
                <a:latin typeface="Arial MT"/>
                <a:cs typeface="Arial MT"/>
              </a:rPr>
              <a:t>(long-</a:t>
            </a:r>
            <a:r>
              <a:rPr lang="en-US" sz="2800" spc="85" dirty="0">
                <a:solidFill>
                  <a:srgbClr val="03AC4F"/>
                </a:solidFill>
                <a:latin typeface="Arial MT"/>
                <a:cs typeface="Arial MT"/>
              </a:rPr>
              <a:t>term</a:t>
            </a:r>
            <a:r>
              <a:rPr lang="en-US" sz="2800" spc="215" dirty="0">
                <a:solidFill>
                  <a:srgbClr val="03AC4F"/>
                </a:solidFill>
                <a:latin typeface="Arial MT"/>
                <a:cs typeface="Arial MT"/>
              </a:rPr>
              <a:t> </a:t>
            </a:r>
            <a:r>
              <a:rPr lang="en-US" sz="2800" spc="75" dirty="0">
                <a:solidFill>
                  <a:srgbClr val="01AE52"/>
                </a:solidFill>
                <a:latin typeface="Arial MT"/>
                <a:cs typeface="Arial MT"/>
              </a:rPr>
              <a:t>plan</a:t>
            </a:r>
            <a:r>
              <a:rPr lang="en-US" sz="2800" spc="95" dirty="0">
                <a:solidFill>
                  <a:srgbClr val="01AE52"/>
                </a:solidFill>
                <a:latin typeface="Arial MT"/>
                <a:cs typeface="Arial MT"/>
              </a:rPr>
              <a:t> </a:t>
            </a:r>
            <a:r>
              <a:rPr lang="en-US" sz="2800" spc="90" dirty="0">
                <a:solidFill>
                  <a:srgbClr val="00B14F"/>
                </a:solidFill>
                <a:latin typeface="Arial MT"/>
                <a:cs typeface="Arial MT"/>
              </a:rPr>
              <a:t>of</a:t>
            </a:r>
            <a:r>
              <a:rPr lang="en-US" sz="2800" spc="95" dirty="0">
                <a:solidFill>
                  <a:srgbClr val="00B14F"/>
                </a:solidFill>
                <a:latin typeface="Arial MT"/>
                <a:cs typeface="Arial MT"/>
              </a:rPr>
              <a:t> </a:t>
            </a:r>
            <a:r>
              <a:rPr lang="en-US" sz="2800" spc="55" dirty="0">
                <a:solidFill>
                  <a:srgbClr val="00B14F"/>
                </a:solidFill>
                <a:latin typeface="Arial MT"/>
                <a:cs typeface="Arial MT"/>
              </a:rPr>
              <a:t>action),</a:t>
            </a:r>
            <a:endParaRPr lang="en-US" sz="2800" dirty="0">
              <a:latin typeface="Arial MT"/>
              <a:cs typeface="Arial MT"/>
            </a:endParaRPr>
          </a:p>
          <a:p>
            <a:pPr marL="520700">
              <a:lnSpc>
                <a:spcPct val="100000"/>
              </a:lnSpc>
              <a:spcBef>
                <a:spcPts val="640"/>
              </a:spcBef>
            </a:pPr>
            <a:r>
              <a:rPr lang="en-US" sz="2800" dirty="0">
                <a:solidFill>
                  <a:srgbClr val="0001C3"/>
                </a:solidFill>
                <a:latin typeface="Arial MT"/>
                <a:cs typeface="Arial MT"/>
              </a:rPr>
              <a:t>•</a:t>
            </a:r>
            <a:r>
              <a:rPr lang="en-US" sz="2800" spc="340" dirty="0">
                <a:solidFill>
                  <a:srgbClr val="0001C3"/>
                </a:solidFill>
                <a:latin typeface="Arial MT"/>
                <a:cs typeface="Arial MT"/>
              </a:rPr>
              <a:t> </a:t>
            </a:r>
            <a:r>
              <a:rPr lang="en-US" sz="2800" spc="80" dirty="0">
                <a:solidFill>
                  <a:srgbClr val="0001C6"/>
                </a:solidFill>
                <a:latin typeface="Arial MT"/>
                <a:cs typeface="Arial MT"/>
              </a:rPr>
              <a:t>goals</a:t>
            </a:r>
            <a:r>
              <a:rPr lang="en-US" sz="2800" spc="135" dirty="0">
                <a:solidFill>
                  <a:srgbClr val="0001C6"/>
                </a:solidFill>
                <a:latin typeface="Arial MT"/>
                <a:cs typeface="Arial MT"/>
              </a:rPr>
              <a:t> </a:t>
            </a:r>
            <a:r>
              <a:rPr lang="en-US" sz="2800" spc="70" dirty="0">
                <a:solidFill>
                  <a:srgbClr val="03AE4D"/>
                </a:solidFill>
                <a:latin typeface="Arial MT"/>
                <a:cs typeface="Arial MT"/>
              </a:rPr>
              <a:t>(long-</a:t>
            </a:r>
            <a:r>
              <a:rPr lang="en-US" sz="2800" spc="85" dirty="0">
                <a:solidFill>
                  <a:srgbClr val="03AE4D"/>
                </a:solidFill>
                <a:latin typeface="Arial MT"/>
                <a:cs typeface="Arial MT"/>
              </a:rPr>
              <a:t>term</a:t>
            </a:r>
            <a:r>
              <a:rPr lang="en-US" sz="2800" spc="190" dirty="0">
                <a:solidFill>
                  <a:srgbClr val="03AE4D"/>
                </a:solidFill>
                <a:latin typeface="Arial MT"/>
                <a:cs typeface="Arial MT"/>
              </a:rPr>
              <a:t> </a:t>
            </a:r>
            <a:r>
              <a:rPr lang="en-US" sz="2800" spc="-10" dirty="0">
                <a:solidFill>
                  <a:srgbClr val="00B34F"/>
                </a:solidFill>
                <a:latin typeface="Arial MT"/>
                <a:cs typeface="Arial MT"/>
              </a:rPr>
              <a:t>aim),</a:t>
            </a:r>
            <a:endParaRPr lang="en-US" sz="2800" dirty="0">
              <a:latin typeface="Arial MT"/>
              <a:cs typeface="Arial MT"/>
            </a:endParaRPr>
          </a:p>
          <a:p>
            <a:pPr marL="520700">
              <a:lnSpc>
                <a:spcPct val="100000"/>
              </a:lnSpc>
              <a:spcBef>
                <a:spcPts val="640"/>
              </a:spcBef>
            </a:pPr>
            <a:r>
              <a:rPr lang="en-US" sz="2800" dirty="0">
                <a:solidFill>
                  <a:srgbClr val="0001CA"/>
                </a:solidFill>
                <a:latin typeface="Arial MT"/>
                <a:cs typeface="Arial MT"/>
              </a:rPr>
              <a:t>•</a:t>
            </a:r>
            <a:r>
              <a:rPr lang="en-US" sz="2800" spc="395" dirty="0">
                <a:solidFill>
                  <a:srgbClr val="0001CA"/>
                </a:solidFill>
                <a:latin typeface="Arial MT"/>
                <a:cs typeface="Arial MT"/>
              </a:rPr>
              <a:t> </a:t>
            </a:r>
            <a:r>
              <a:rPr lang="en-US" sz="2800" spc="85" dirty="0">
                <a:solidFill>
                  <a:srgbClr val="0003DA"/>
                </a:solidFill>
                <a:latin typeface="Arial MT"/>
                <a:cs typeface="Arial MT"/>
              </a:rPr>
              <a:t>objectives</a:t>
            </a:r>
            <a:r>
              <a:rPr lang="en-US" sz="2800" spc="280" dirty="0">
                <a:solidFill>
                  <a:srgbClr val="0003DA"/>
                </a:solidFill>
                <a:latin typeface="Arial MT"/>
                <a:cs typeface="Arial MT"/>
              </a:rPr>
              <a:t> </a:t>
            </a:r>
            <a:r>
              <a:rPr lang="en-US" sz="2800" dirty="0">
                <a:solidFill>
                  <a:srgbClr val="00B154"/>
                </a:solidFill>
                <a:latin typeface="Arial MT"/>
                <a:cs typeface="Arial MT"/>
              </a:rPr>
              <a:t>(time-</a:t>
            </a:r>
            <a:r>
              <a:rPr lang="en-US" sz="2800" spc="50" dirty="0">
                <a:solidFill>
                  <a:srgbClr val="00B154"/>
                </a:solidFill>
                <a:latin typeface="Arial MT"/>
                <a:cs typeface="Arial MT"/>
              </a:rPr>
              <a:t>based</a:t>
            </a:r>
            <a:r>
              <a:rPr lang="en-US" sz="2800" spc="365" dirty="0">
                <a:solidFill>
                  <a:srgbClr val="00B154"/>
                </a:solidFill>
                <a:latin typeface="Arial MT"/>
                <a:cs typeface="Arial MT"/>
              </a:rPr>
              <a:t> </a:t>
            </a:r>
            <a:r>
              <a:rPr lang="en-US" sz="2800" spc="75" dirty="0">
                <a:solidFill>
                  <a:srgbClr val="00AF52"/>
                </a:solidFill>
                <a:latin typeface="Arial MT"/>
                <a:cs typeface="Arial MT"/>
              </a:rPr>
              <a:t>milestones),</a:t>
            </a:r>
            <a:r>
              <a:rPr lang="en-US" sz="2800" spc="245" dirty="0">
                <a:solidFill>
                  <a:srgbClr val="00AF52"/>
                </a:solidFill>
                <a:latin typeface="Arial MT"/>
                <a:cs typeface="Arial MT"/>
              </a:rPr>
              <a:t> </a:t>
            </a:r>
            <a:r>
              <a:rPr lang="en-US" sz="2800" spc="-25" dirty="0">
                <a:latin typeface="Arial MT"/>
                <a:cs typeface="Arial MT"/>
              </a:rPr>
              <a:t>and</a:t>
            </a:r>
            <a:endParaRPr lang="en-US" sz="2800" dirty="0">
              <a:latin typeface="Arial MT"/>
              <a:cs typeface="Arial MT"/>
            </a:endParaRPr>
          </a:p>
          <a:p>
            <a:pPr marL="520700">
              <a:lnSpc>
                <a:spcPct val="100000"/>
              </a:lnSpc>
              <a:spcBef>
                <a:spcPts val="620"/>
              </a:spcBef>
            </a:pPr>
            <a:r>
              <a:rPr lang="en-US" sz="2800" dirty="0">
                <a:solidFill>
                  <a:srgbClr val="0100D1"/>
                </a:solidFill>
                <a:latin typeface="Arial MT"/>
                <a:cs typeface="Arial MT"/>
              </a:rPr>
              <a:t>•</a:t>
            </a:r>
            <a:r>
              <a:rPr lang="en-US" sz="2800" spc="335" dirty="0">
                <a:solidFill>
                  <a:srgbClr val="0100D1"/>
                </a:solidFill>
                <a:latin typeface="Arial MT"/>
                <a:cs typeface="Arial MT"/>
              </a:rPr>
              <a:t> </a:t>
            </a:r>
            <a:r>
              <a:rPr lang="en-US" sz="2800" spc="90" dirty="0">
                <a:solidFill>
                  <a:srgbClr val="0000D1"/>
                </a:solidFill>
                <a:latin typeface="Arial MT"/>
                <a:cs typeface="Arial MT"/>
              </a:rPr>
              <a:t>implementation</a:t>
            </a:r>
            <a:endParaRPr lang="en-US" dirty="0"/>
          </a:p>
        </p:txBody>
      </p:sp>
      <p:pic>
        <p:nvPicPr>
          <p:cNvPr id="4" name="Picture 3">
            <a:extLst>
              <a:ext uri="{FF2B5EF4-FFF2-40B4-BE49-F238E27FC236}">
                <a16:creationId xmlns:a16="http://schemas.microsoft.com/office/drawing/2014/main" id="{553AF17B-1DD6-20E0-4462-06768A0264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9322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09600" y="462462"/>
            <a:ext cx="9677400" cy="775788"/>
          </a:xfrm>
          <a:prstGeom prst="rect">
            <a:avLst/>
          </a:prstGeom>
        </p:spPr>
        <p:txBody>
          <a:bodyPr vert="horz" wrap="square" lIns="0" tIns="112965" rIns="0" bIns="0" rtlCol="0">
            <a:spAutoFit/>
          </a:bodyPr>
          <a:lstStyle/>
          <a:p>
            <a:pPr marL="10181">
              <a:spcBef>
                <a:spcPts val="83"/>
              </a:spcBef>
            </a:pPr>
            <a:r>
              <a:rPr b="1" u="sng" spc="85" dirty="0">
                <a:solidFill>
                  <a:srgbClr val="FF0000"/>
                </a:solidFill>
              </a:rPr>
              <a:t>Strategic Management Process</a:t>
            </a:r>
          </a:p>
        </p:txBody>
      </p:sp>
      <p:sp>
        <p:nvSpPr>
          <p:cNvPr id="7" name="object 7"/>
          <p:cNvSpPr txBox="1">
            <a:spLocks noGrp="1"/>
          </p:cNvSpPr>
          <p:nvPr>
            <p:ph type="sldNum" sz="quarter" idx="7"/>
          </p:nvPr>
        </p:nvSpPr>
        <p:spPr>
          <a:xfrm>
            <a:off x="12846416" y="4123060"/>
            <a:ext cx="156789" cy="188778"/>
          </a:xfrm>
          <a:prstGeom prst="rect">
            <a:avLst/>
          </a:prstGeom>
        </p:spPr>
        <p:txBody>
          <a:bodyPr vert="horz" wrap="square" lIns="0" tIns="4072" rIns="0" bIns="0" rtlCol="0">
            <a:spAutoFit/>
          </a:bodyPr>
          <a:lstStyle/>
          <a:p>
            <a:pPr marL="61084">
              <a:spcBef>
                <a:spcPts val="32"/>
              </a:spcBef>
            </a:pPr>
            <a:fld id="{81D60167-4931-47E6-BA6A-407CBD079E47}" type="slidenum">
              <a:rPr spc="-32" dirty="0"/>
              <a:pPr marL="61084">
                <a:spcBef>
                  <a:spcPts val="32"/>
                </a:spcBef>
              </a:pPr>
              <a:t>14</a:t>
            </a:fld>
            <a:endParaRPr spc="-32" dirty="0"/>
          </a:p>
        </p:txBody>
      </p:sp>
      <p:sp>
        <p:nvSpPr>
          <p:cNvPr id="4" name="object 4"/>
          <p:cNvSpPr txBox="1"/>
          <p:nvPr/>
        </p:nvSpPr>
        <p:spPr>
          <a:xfrm>
            <a:off x="873901" y="2140717"/>
            <a:ext cx="10937099" cy="1922013"/>
          </a:xfrm>
          <a:prstGeom prst="rect">
            <a:avLst/>
          </a:prstGeom>
        </p:spPr>
        <p:txBody>
          <a:bodyPr vert="horz" wrap="square" lIns="0" tIns="128282" rIns="0" bIns="0" rtlCol="0">
            <a:spAutoFit/>
          </a:bodyPr>
          <a:lstStyle/>
          <a:p>
            <a:pPr marL="8145">
              <a:spcBef>
                <a:spcPts val="1010"/>
              </a:spcBef>
              <a:tabLst>
                <a:tab pos="4788565" algn="l"/>
              </a:tabLst>
            </a:pPr>
            <a:r>
              <a:rPr sz="2400" dirty="0">
                <a:solidFill>
                  <a:srgbClr val="FD0100"/>
                </a:solidFill>
                <a:latin typeface="Arial MT"/>
                <a:cs typeface="Arial MT"/>
              </a:rPr>
              <a:t>Two</a:t>
            </a:r>
            <a:r>
              <a:rPr sz="2400" spc="6" dirty="0">
                <a:solidFill>
                  <a:srgbClr val="FD0100"/>
                </a:solidFill>
                <a:latin typeface="Arial MT"/>
                <a:cs typeface="Arial MT"/>
              </a:rPr>
              <a:t> </a:t>
            </a:r>
            <a:r>
              <a:rPr sz="2400" spc="35" dirty="0">
                <a:solidFill>
                  <a:srgbClr val="FD0000"/>
                </a:solidFill>
                <a:latin typeface="Arial MT"/>
                <a:cs typeface="Arial MT"/>
              </a:rPr>
              <a:t>Maior</a:t>
            </a:r>
            <a:r>
              <a:rPr sz="2400" spc="112" dirty="0">
                <a:solidFill>
                  <a:srgbClr val="FD0000"/>
                </a:solidFill>
                <a:latin typeface="Arial MT"/>
                <a:cs typeface="Arial MT"/>
              </a:rPr>
              <a:t> </a:t>
            </a:r>
            <a:r>
              <a:rPr sz="2400" spc="58" dirty="0">
                <a:solidFill>
                  <a:srgbClr val="FD0000"/>
                </a:solidFill>
                <a:latin typeface="Arial MT"/>
                <a:cs typeface="Arial MT"/>
              </a:rPr>
              <a:t>Dimensions</a:t>
            </a:r>
            <a:r>
              <a:rPr sz="2400" spc="202" dirty="0">
                <a:solidFill>
                  <a:srgbClr val="FD0000"/>
                </a:solidFill>
                <a:latin typeface="Arial MT"/>
                <a:cs typeface="Arial MT"/>
              </a:rPr>
              <a:t> </a:t>
            </a:r>
            <a:r>
              <a:rPr sz="2400" spc="51" dirty="0">
                <a:solidFill>
                  <a:srgbClr val="FD0100"/>
                </a:solidFill>
                <a:latin typeface="Arial MT"/>
                <a:cs typeface="Arial MT"/>
              </a:rPr>
              <a:t>of</a:t>
            </a:r>
            <a:r>
              <a:rPr sz="2400" spc="42" dirty="0">
                <a:solidFill>
                  <a:srgbClr val="FD0100"/>
                </a:solidFill>
                <a:latin typeface="Arial MT"/>
                <a:cs typeface="Arial MT"/>
              </a:rPr>
              <a:t> </a:t>
            </a:r>
            <a:r>
              <a:rPr sz="2400" spc="48" dirty="0">
                <a:solidFill>
                  <a:srgbClr val="FD0000"/>
                </a:solidFill>
                <a:latin typeface="Arial MT"/>
                <a:cs typeface="Arial MT"/>
              </a:rPr>
              <a:t>Strate</a:t>
            </a:r>
            <a:r>
              <a:rPr lang="en-US" sz="2400" spc="48" dirty="0">
                <a:solidFill>
                  <a:srgbClr val="FD0000"/>
                </a:solidFill>
                <a:latin typeface="Arial MT"/>
                <a:cs typeface="Arial MT"/>
              </a:rPr>
              <a:t>g</a:t>
            </a:r>
            <a:r>
              <a:rPr sz="2400" spc="48" dirty="0">
                <a:solidFill>
                  <a:srgbClr val="FD0000"/>
                </a:solidFill>
                <a:latin typeface="Arial MT"/>
                <a:cs typeface="Arial MT"/>
              </a:rPr>
              <a:t>ic</a:t>
            </a:r>
            <a:r>
              <a:rPr sz="2400" spc="144" dirty="0">
                <a:solidFill>
                  <a:srgbClr val="FD0000"/>
                </a:solidFill>
                <a:latin typeface="Arial MT"/>
                <a:cs typeface="Arial MT"/>
              </a:rPr>
              <a:t> </a:t>
            </a:r>
            <a:r>
              <a:rPr sz="2400" spc="-13" dirty="0">
                <a:solidFill>
                  <a:srgbClr val="FD0000"/>
                </a:solidFill>
                <a:latin typeface="Arial MT"/>
                <a:cs typeface="Arial MT"/>
              </a:rPr>
              <a:t>Mana</a:t>
            </a:r>
            <a:r>
              <a:rPr lang="en-US" sz="2400" spc="-13" dirty="0">
                <a:solidFill>
                  <a:srgbClr val="FD0000"/>
                </a:solidFill>
                <a:latin typeface="Arial MT"/>
                <a:cs typeface="Arial MT"/>
              </a:rPr>
              <a:t>g</a:t>
            </a:r>
            <a:r>
              <a:rPr sz="2400" spc="29" dirty="0">
                <a:solidFill>
                  <a:srgbClr val="F90300"/>
                </a:solidFill>
                <a:latin typeface="Arial MT"/>
                <a:cs typeface="Arial MT"/>
              </a:rPr>
              <a:t>ement:</a:t>
            </a:r>
            <a:endParaRPr sz="2400" dirty="0">
              <a:latin typeface="Arial MT"/>
              <a:cs typeface="Arial MT"/>
            </a:endParaRPr>
          </a:p>
          <a:p>
            <a:pPr marL="229675" marR="375869" indent="-188545">
              <a:lnSpc>
                <a:spcPct val="100400"/>
              </a:lnSpc>
              <a:spcBef>
                <a:spcPts val="814"/>
              </a:spcBef>
              <a:buClr>
                <a:srgbClr val="BD0005"/>
              </a:buClr>
              <a:buChar char="•"/>
              <a:tabLst>
                <a:tab pos="234969" algn="l"/>
              </a:tabLst>
            </a:pPr>
            <a:r>
              <a:rPr sz="2000" spc="48" dirty="0">
                <a:solidFill>
                  <a:srgbClr val="B30303"/>
                </a:solidFill>
                <a:latin typeface="Arial MT"/>
                <a:cs typeface="Arial MT"/>
              </a:rPr>
              <a:t>Internal</a:t>
            </a:r>
            <a:r>
              <a:rPr sz="2000" spc="38" dirty="0">
                <a:solidFill>
                  <a:srgbClr val="B30303"/>
                </a:solidFill>
                <a:latin typeface="Arial MT"/>
                <a:cs typeface="Arial MT"/>
              </a:rPr>
              <a:t> </a:t>
            </a:r>
            <a:r>
              <a:rPr sz="2000" spc="48" dirty="0">
                <a:solidFill>
                  <a:srgbClr val="C60008"/>
                </a:solidFill>
                <a:latin typeface="Arial MT"/>
                <a:cs typeface="Arial MT"/>
              </a:rPr>
              <a:t>responses</a:t>
            </a:r>
            <a:r>
              <a:rPr sz="2000" spc="167" dirty="0">
                <a:solidFill>
                  <a:srgbClr val="C60008"/>
                </a:solidFill>
                <a:latin typeface="Arial MT"/>
                <a:cs typeface="Arial MT"/>
              </a:rPr>
              <a:t> </a:t>
            </a:r>
            <a:r>
              <a:rPr sz="2000" spc="38" dirty="0">
                <a:solidFill>
                  <a:srgbClr val="C10008"/>
                </a:solidFill>
                <a:latin typeface="Arial MT"/>
                <a:cs typeface="Arial MT"/>
              </a:rPr>
              <a:t>to</a:t>
            </a:r>
            <a:r>
              <a:rPr sz="2000" spc="112" dirty="0">
                <a:solidFill>
                  <a:srgbClr val="C10008"/>
                </a:solidFill>
                <a:latin typeface="Arial MT"/>
                <a:cs typeface="Arial MT"/>
              </a:rPr>
              <a:t> </a:t>
            </a:r>
            <a:r>
              <a:rPr sz="2000" dirty="0">
                <a:solidFill>
                  <a:srgbClr val="C40001"/>
                </a:solidFill>
                <a:latin typeface="Arial MT"/>
                <a:cs typeface="Arial MT"/>
              </a:rPr>
              <a:t>new</a:t>
            </a:r>
            <a:r>
              <a:rPr sz="2000" spc="71" dirty="0">
                <a:solidFill>
                  <a:srgbClr val="C40001"/>
                </a:solidFill>
                <a:latin typeface="Arial MT"/>
                <a:cs typeface="Arial MT"/>
              </a:rPr>
              <a:t> </a:t>
            </a:r>
            <a:r>
              <a:rPr sz="2000" spc="61" dirty="0">
                <a:solidFill>
                  <a:srgbClr val="B30700"/>
                </a:solidFill>
                <a:latin typeface="Arial MT"/>
                <a:cs typeface="Arial MT"/>
              </a:rPr>
              <a:t>action</a:t>
            </a:r>
            <a:r>
              <a:rPr sz="2000" spc="67" dirty="0">
                <a:solidFill>
                  <a:srgbClr val="B30700"/>
                </a:solidFill>
                <a:latin typeface="Arial MT"/>
                <a:cs typeface="Arial MT"/>
              </a:rPr>
              <a:t> </a:t>
            </a:r>
            <a:r>
              <a:rPr sz="2000" spc="61" dirty="0">
                <a:solidFill>
                  <a:srgbClr val="BF0001"/>
                </a:solidFill>
                <a:latin typeface="Arial MT"/>
                <a:cs typeface="Arial MT"/>
              </a:rPr>
              <a:t>programs:</a:t>
            </a:r>
            <a:r>
              <a:rPr sz="2000" spc="131" dirty="0">
                <a:solidFill>
                  <a:srgbClr val="BF0001"/>
                </a:solidFill>
                <a:latin typeface="Arial MT"/>
                <a:cs typeface="Arial MT"/>
              </a:rPr>
              <a:t> </a:t>
            </a:r>
            <a:r>
              <a:rPr sz="2000" dirty="0">
                <a:latin typeface="Arial MT"/>
                <a:cs typeface="Arial MT"/>
              </a:rPr>
              <a:t>aimed</a:t>
            </a:r>
            <a:r>
              <a:rPr sz="2000" spc="87" dirty="0">
                <a:latin typeface="Arial MT"/>
                <a:cs typeface="Arial MT"/>
              </a:rPr>
              <a:t> </a:t>
            </a:r>
            <a:r>
              <a:rPr sz="2000" spc="-16" dirty="0">
                <a:latin typeface="Arial MT"/>
                <a:cs typeface="Arial MT"/>
              </a:rPr>
              <a:t>at </a:t>
            </a:r>
            <a:r>
              <a:rPr sz="2000" u="heavy" spc="45" dirty="0" err="1">
                <a:solidFill>
                  <a:srgbClr val="00AF4F"/>
                </a:solidFill>
                <a:uFill>
                  <a:solidFill>
                    <a:srgbClr val="03AC4F"/>
                  </a:solidFill>
                </a:uFill>
                <a:latin typeface="Arial MT"/>
                <a:cs typeface="Arial MT"/>
              </a:rPr>
              <a:t>enhancinq</a:t>
            </a:r>
            <a:r>
              <a:rPr sz="2000" spc="151" dirty="0">
                <a:solidFill>
                  <a:srgbClr val="00AF4F"/>
                </a:solidFill>
                <a:latin typeface="Arial MT"/>
                <a:cs typeface="Arial MT"/>
              </a:rPr>
              <a:t> </a:t>
            </a:r>
            <a:r>
              <a:rPr sz="2000" spc="55" dirty="0">
                <a:solidFill>
                  <a:srgbClr val="0001D3"/>
                </a:solidFill>
                <a:latin typeface="Arial MT"/>
                <a:cs typeface="Arial MT"/>
              </a:rPr>
              <a:t>competitive</a:t>
            </a:r>
            <a:r>
              <a:rPr sz="2000" spc="144" dirty="0">
                <a:solidFill>
                  <a:srgbClr val="0001D3"/>
                </a:solidFill>
                <a:latin typeface="Arial MT"/>
                <a:cs typeface="Arial MT"/>
              </a:rPr>
              <a:t> </a:t>
            </a:r>
            <a:r>
              <a:rPr sz="2000" spc="71" dirty="0">
                <a:solidFill>
                  <a:srgbClr val="0003BD"/>
                </a:solidFill>
                <a:latin typeface="Arial MT"/>
                <a:cs typeface="Arial MT"/>
              </a:rPr>
              <a:t>position</a:t>
            </a:r>
            <a:r>
              <a:rPr sz="2000" spc="73" dirty="0">
                <a:solidFill>
                  <a:srgbClr val="0003BD"/>
                </a:solidFill>
                <a:latin typeface="Arial MT"/>
                <a:cs typeface="Arial MT"/>
              </a:rPr>
              <a:t> </a:t>
            </a:r>
            <a:r>
              <a:rPr sz="2000" dirty="0">
                <a:latin typeface="Arial MT"/>
                <a:cs typeface="Arial MT"/>
              </a:rPr>
              <a:t>of</a:t>
            </a:r>
            <a:r>
              <a:rPr sz="2000" spc="48" dirty="0">
                <a:latin typeface="Arial MT"/>
                <a:cs typeface="Arial MT"/>
              </a:rPr>
              <a:t> </a:t>
            </a:r>
            <a:r>
              <a:rPr sz="2000" spc="38" dirty="0">
                <a:solidFill>
                  <a:srgbClr val="0001C8"/>
                </a:solidFill>
                <a:latin typeface="Arial MT"/>
                <a:cs typeface="Arial MT"/>
              </a:rPr>
              <a:t>organization.</a:t>
            </a:r>
            <a:endParaRPr sz="2000" dirty="0">
              <a:latin typeface="Arial MT"/>
              <a:cs typeface="Arial MT"/>
            </a:endParaRPr>
          </a:p>
          <a:p>
            <a:pPr marL="232526" marR="3258" indent="-190989">
              <a:lnSpc>
                <a:spcPct val="100899"/>
              </a:lnSpc>
              <a:spcBef>
                <a:spcPts val="795"/>
              </a:spcBef>
              <a:buClr>
                <a:srgbClr val="C40008"/>
              </a:buClr>
              <a:buChar char="•"/>
              <a:tabLst>
                <a:tab pos="232526" algn="l"/>
              </a:tabLst>
            </a:pPr>
            <a:r>
              <a:rPr sz="2000" spc="32" dirty="0">
                <a:solidFill>
                  <a:srgbClr val="BD0000"/>
                </a:solidFill>
                <a:latin typeface="Arial MT"/>
                <a:cs typeface="Arial MT"/>
              </a:rPr>
              <a:t>Response</a:t>
            </a:r>
            <a:r>
              <a:rPr sz="2000" spc="186" dirty="0">
                <a:solidFill>
                  <a:srgbClr val="BD0000"/>
                </a:solidFill>
                <a:latin typeface="Arial MT"/>
                <a:cs typeface="Arial MT"/>
              </a:rPr>
              <a:t> </a:t>
            </a:r>
            <a:r>
              <a:rPr sz="2000" dirty="0">
                <a:solidFill>
                  <a:srgbClr val="B10A00"/>
                </a:solidFill>
                <a:latin typeface="Arial MT"/>
                <a:cs typeface="Arial MT"/>
              </a:rPr>
              <a:t>to</a:t>
            </a:r>
            <a:r>
              <a:rPr sz="2000" spc="115" dirty="0">
                <a:solidFill>
                  <a:srgbClr val="B10A00"/>
                </a:solidFill>
                <a:latin typeface="Arial MT"/>
                <a:cs typeface="Arial MT"/>
              </a:rPr>
              <a:t> </a:t>
            </a:r>
            <a:r>
              <a:rPr sz="2000" spc="42" dirty="0">
                <a:solidFill>
                  <a:srgbClr val="C10003"/>
                </a:solidFill>
                <a:latin typeface="Arial MT"/>
                <a:cs typeface="Arial MT"/>
              </a:rPr>
              <a:t>changes</a:t>
            </a:r>
            <a:r>
              <a:rPr sz="2000" spc="160" dirty="0">
                <a:solidFill>
                  <a:srgbClr val="C10003"/>
                </a:solidFill>
                <a:latin typeface="Arial MT"/>
                <a:cs typeface="Arial MT"/>
              </a:rPr>
              <a:t> </a:t>
            </a:r>
            <a:r>
              <a:rPr sz="2000" spc="35" dirty="0">
                <a:solidFill>
                  <a:srgbClr val="BC0001"/>
                </a:solidFill>
                <a:latin typeface="Arial MT"/>
                <a:cs typeface="Arial MT"/>
              </a:rPr>
              <a:t>in</a:t>
            </a:r>
            <a:r>
              <a:rPr sz="2000" spc="99" dirty="0">
                <a:solidFill>
                  <a:srgbClr val="BC0001"/>
                </a:solidFill>
                <a:latin typeface="Arial MT"/>
                <a:cs typeface="Arial MT"/>
              </a:rPr>
              <a:t> </a:t>
            </a:r>
            <a:r>
              <a:rPr sz="2000" spc="38" dirty="0">
                <a:solidFill>
                  <a:srgbClr val="C10000"/>
                </a:solidFill>
                <a:latin typeface="Arial MT"/>
                <a:cs typeface="Arial MT"/>
              </a:rPr>
              <a:t>external</a:t>
            </a:r>
            <a:r>
              <a:rPr sz="2000" spc="106" dirty="0">
                <a:solidFill>
                  <a:srgbClr val="C10000"/>
                </a:solidFill>
                <a:latin typeface="Arial MT"/>
                <a:cs typeface="Arial MT"/>
              </a:rPr>
              <a:t> </a:t>
            </a:r>
            <a:r>
              <a:rPr sz="2000" spc="58" dirty="0">
                <a:solidFill>
                  <a:srgbClr val="C10003"/>
                </a:solidFill>
                <a:latin typeface="Arial MT"/>
                <a:cs typeface="Arial MT"/>
              </a:rPr>
              <a:t>environment:</a:t>
            </a:r>
            <a:r>
              <a:rPr sz="2000" spc="196" dirty="0">
                <a:solidFill>
                  <a:srgbClr val="C10003"/>
                </a:solidFill>
                <a:latin typeface="Arial MT"/>
                <a:cs typeface="Arial MT"/>
              </a:rPr>
              <a:t> </a:t>
            </a:r>
            <a:r>
              <a:rPr sz="2000" u="heavy" spc="35" dirty="0">
                <a:solidFill>
                  <a:srgbClr val="03AC52"/>
                </a:solidFill>
                <a:uFill>
                  <a:solidFill>
                    <a:srgbClr val="03AC4F"/>
                  </a:solidFill>
                </a:uFill>
                <a:latin typeface="Arial MT"/>
                <a:cs typeface="Arial MT"/>
              </a:rPr>
              <a:t>allocates</a:t>
            </a:r>
            <a:r>
              <a:rPr sz="2000" spc="35" dirty="0">
                <a:solidFill>
                  <a:srgbClr val="03AC52"/>
                </a:solidFill>
                <a:latin typeface="Arial MT"/>
                <a:cs typeface="Arial MT"/>
              </a:rPr>
              <a:t> </a:t>
            </a:r>
            <a:r>
              <a:rPr sz="2000" u="heavy" spc="42" dirty="0">
                <a:solidFill>
                  <a:srgbClr val="0103D4"/>
                </a:solidFill>
                <a:uFill>
                  <a:solidFill>
                    <a:srgbClr val="0000C3"/>
                  </a:solidFill>
                </a:uFill>
                <a:latin typeface="Arial MT"/>
                <a:cs typeface="Arial MT"/>
              </a:rPr>
              <a:t>scarce</a:t>
            </a:r>
            <a:r>
              <a:rPr sz="2000" spc="93" dirty="0">
                <a:solidFill>
                  <a:srgbClr val="0103D4"/>
                </a:solidFill>
                <a:latin typeface="Arial MT"/>
                <a:cs typeface="Arial MT"/>
              </a:rPr>
              <a:t> </a:t>
            </a:r>
            <a:r>
              <a:rPr sz="2000" spc="32" dirty="0">
                <a:solidFill>
                  <a:srgbClr val="0000DA"/>
                </a:solidFill>
                <a:latin typeface="Arial MT"/>
                <a:cs typeface="Arial MT"/>
              </a:rPr>
              <a:t>(unique)</a:t>
            </a:r>
            <a:r>
              <a:rPr sz="2000" spc="151" dirty="0">
                <a:solidFill>
                  <a:srgbClr val="0000DA"/>
                </a:solidFill>
                <a:latin typeface="Arial MT"/>
                <a:cs typeface="Arial MT"/>
              </a:rPr>
              <a:t> </a:t>
            </a:r>
            <a:r>
              <a:rPr sz="2000" spc="55" dirty="0">
                <a:solidFill>
                  <a:srgbClr val="0001C4"/>
                </a:solidFill>
                <a:latin typeface="Arial MT"/>
                <a:cs typeface="Arial MT"/>
              </a:rPr>
              <a:t>resources</a:t>
            </a:r>
            <a:r>
              <a:rPr sz="2000" spc="115" dirty="0">
                <a:solidFill>
                  <a:srgbClr val="0001C4"/>
                </a:solidFill>
                <a:latin typeface="Arial MT"/>
                <a:cs typeface="Arial MT"/>
              </a:rPr>
              <a:t> </a:t>
            </a:r>
            <a:r>
              <a:rPr sz="2000" dirty="0">
                <a:latin typeface="Arial MT"/>
                <a:cs typeface="Arial MT"/>
              </a:rPr>
              <a:t>of</a:t>
            </a:r>
            <a:r>
              <a:rPr sz="2000" spc="42" dirty="0">
                <a:latin typeface="Arial MT"/>
                <a:cs typeface="Arial MT"/>
              </a:rPr>
              <a:t> </a:t>
            </a:r>
            <a:r>
              <a:rPr sz="2000" spc="45" dirty="0">
                <a:solidFill>
                  <a:srgbClr val="0000DF"/>
                </a:solidFill>
                <a:latin typeface="Arial MT"/>
                <a:cs typeface="Arial MT"/>
              </a:rPr>
              <a:t>organization</a:t>
            </a:r>
            <a:r>
              <a:rPr sz="2000" spc="157" dirty="0">
                <a:solidFill>
                  <a:srgbClr val="0000DF"/>
                </a:solidFill>
                <a:latin typeface="Arial MT"/>
                <a:cs typeface="Arial MT"/>
              </a:rPr>
              <a:t> </a:t>
            </a:r>
            <a:r>
              <a:rPr sz="2000" dirty="0">
                <a:latin typeface="Arial MT"/>
                <a:cs typeface="Arial MT"/>
              </a:rPr>
              <a:t>to</a:t>
            </a:r>
            <a:r>
              <a:rPr sz="2000" spc="26" dirty="0">
                <a:latin typeface="Arial MT"/>
                <a:cs typeface="Arial MT"/>
              </a:rPr>
              <a:t> </a:t>
            </a:r>
            <a:r>
              <a:rPr sz="2000" u="heavy" spc="61" dirty="0">
                <a:solidFill>
                  <a:srgbClr val="00B146"/>
                </a:solidFill>
                <a:uFill>
                  <a:solidFill>
                    <a:srgbClr val="03AC4F"/>
                  </a:solidFill>
                </a:uFill>
                <a:latin typeface="Arial MT"/>
                <a:cs typeface="Arial MT"/>
              </a:rPr>
              <a:t>imgrove</a:t>
            </a:r>
            <a:r>
              <a:rPr sz="2000" spc="83" dirty="0">
                <a:solidFill>
                  <a:srgbClr val="00B146"/>
                </a:solidFill>
                <a:latin typeface="Arial MT"/>
                <a:cs typeface="Arial MT"/>
              </a:rPr>
              <a:t> </a:t>
            </a:r>
            <a:r>
              <a:rPr sz="2000" spc="-16" dirty="0">
                <a:latin typeface="Arial MT"/>
                <a:cs typeface="Arial MT"/>
              </a:rPr>
              <a:t>its </a:t>
            </a:r>
            <a:r>
              <a:rPr spc="67" dirty="0">
                <a:solidFill>
                  <a:srgbClr val="0300D1"/>
                </a:solidFill>
                <a:latin typeface="Arial MT"/>
                <a:cs typeface="Arial MT"/>
              </a:rPr>
              <a:t>competitive</a:t>
            </a:r>
            <a:r>
              <a:rPr spc="202" dirty="0">
                <a:solidFill>
                  <a:srgbClr val="0300D1"/>
                </a:solidFill>
                <a:latin typeface="Arial MT"/>
                <a:cs typeface="Arial MT"/>
              </a:rPr>
              <a:t> </a:t>
            </a:r>
            <a:r>
              <a:rPr spc="73" dirty="0">
                <a:solidFill>
                  <a:srgbClr val="0001CA"/>
                </a:solidFill>
                <a:latin typeface="Arial MT"/>
                <a:cs typeface="Arial MT"/>
              </a:rPr>
              <a:t>position.</a:t>
            </a:r>
            <a:endParaRPr dirty="0">
              <a:latin typeface="Arial MT"/>
              <a:cs typeface="Arial MT"/>
            </a:endParaRPr>
          </a:p>
        </p:txBody>
      </p:sp>
      <p:pic>
        <p:nvPicPr>
          <p:cNvPr id="2" name="Picture 1">
            <a:extLst>
              <a:ext uri="{FF2B5EF4-FFF2-40B4-BE49-F238E27FC236}">
                <a16:creationId xmlns:a16="http://schemas.microsoft.com/office/drawing/2014/main" id="{0DDCD5B0-DFBF-097D-0F4E-BADBBC3D67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5069614" y="4551361"/>
            <a:ext cx="513128" cy="92097"/>
          </a:xfrm>
          <a:prstGeom prst="rect">
            <a:avLst/>
          </a:prstGeom>
        </p:spPr>
        <p:txBody>
          <a:bodyPr vert="horz" wrap="square" lIns="0" tIns="3258" rIns="0" bIns="0" rtlCol="0">
            <a:spAutoFit/>
          </a:bodyPr>
          <a:lstStyle/>
          <a:p>
            <a:pPr marL="8145">
              <a:spcBef>
                <a:spcPts val="26"/>
              </a:spcBef>
            </a:pPr>
            <a:r>
              <a:rPr sz="577" dirty="0">
                <a:solidFill>
                  <a:srgbClr val="7C7C7C"/>
                </a:solidFill>
                <a:latin typeface="Arial MT"/>
                <a:cs typeface="Arial MT"/>
              </a:rPr>
              <a:t>Dr.</a:t>
            </a:r>
            <a:r>
              <a:rPr sz="577" spc="45" dirty="0">
                <a:solidFill>
                  <a:srgbClr val="7C7C7C"/>
                </a:solidFill>
                <a:latin typeface="Arial MT"/>
                <a:cs typeface="Arial MT"/>
              </a:rPr>
              <a:t> </a:t>
            </a:r>
            <a:r>
              <a:rPr sz="577" dirty="0">
                <a:solidFill>
                  <a:srgbClr val="7E7E7E"/>
                </a:solidFill>
                <a:latin typeface="Arial MT"/>
                <a:cs typeface="Arial MT"/>
              </a:rPr>
              <a:t>Murvy</a:t>
            </a:r>
            <a:r>
              <a:rPr sz="577" spc="71" dirty="0">
                <a:solidFill>
                  <a:srgbClr val="7E7E7E"/>
                </a:solidFill>
                <a:latin typeface="Arial MT"/>
                <a:cs typeface="Arial MT"/>
              </a:rPr>
              <a:t> </a:t>
            </a:r>
            <a:r>
              <a:rPr sz="577" spc="-13" dirty="0">
                <a:solidFill>
                  <a:srgbClr val="7E7E7E"/>
                </a:solidFill>
                <a:latin typeface="Arial MT"/>
                <a:cs typeface="Arial MT"/>
              </a:rPr>
              <a:t>Badi</a:t>
            </a:r>
            <a:endParaRPr sz="577">
              <a:latin typeface="Arial MT"/>
              <a:cs typeface="Arial MT"/>
            </a:endParaRPr>
          </a:p>
        </p:txBody>
      </p:sp>
      <p:sp>
        <p:nvSpPr>
          <p:cNvPr id="5" name="object 5"/>
          <p:cNvSpPr txBox="1">
            <a:spLocks noGrp="1"/>
          </p:cNvSpPr>
          <p:nvPr>
            <p:ph type="ftr" sz="quarter" idx="5"/>
          </p:nvPr>
        </p:nvSpPr>
        <p:spPr>
          <a:xfrm>
            <a:off x="5325493" y="4090366"/>
            <a:ext cx="2502111" cy="834287"/>
          </a:xfrm>
          <a:prstGeom prst="rect">
            <a:avLst/>
          </a:prstGeom>
        </p:spPr>
        <p:txBody>
          <a:bodyPr vert="horz" wrap="square" lIns="0" tIns="3258" rIns="0" bIns="0" rtlCol="0">
            <a:spAutoFit/>
          </a:bodyPr>
          <a:lstStyle/>
          <a:p>
            <a:pPr marL="57012">
              <a:spcBef>
                <a:spcPts val="26"/>
              </a:spcBef>
            </a:pPr>
            <a:r>
              <a:rPr spc="-13" dirty="0"/>
              <a:t>Engineei</a:t>
            </a:r>
            <a:r>
              <a:rPr spc="-26" dirty="0"/>
              <a:t> </a:t>
            </a:r>
            <a:r>
              <a:rPr dirty="0"/>
              <a:t>ing</a:t>
            </a:r>
            <a:r>
              <a:rPr spc="58" dirty="0"/>
              <a:t> </a:t>
            </a:r>
            <a:r>
              <a:rPr dirty="0">
                <a:solidFill>
                  <a:srgbClr val="7C7C7C"/>
                </a:solidFill>
              </a:rPr>
              <a:t>Project</a:t>
            </a:r>
            <a:r>
              <a:rPr spc="87" dirty="0">
                <a:solidFill>
                  <a:srgbClr val="7C7C7C"/>
                </a:solidFill>
              </a:rPr>
              <a:t> </a:t>
            </a:r>
            <a:r>
              <a:rPr dirty="0"/>
              <a:t>Management,</a:t>
            </a:r>
            <a:r>
              <a:rPr spc="135" dirty="0"/>
              <a:t> </a:t>
            </a:r>
            <a:r>
              <a:rPr spc="-13" dirty="0">
                <a:solidFill>
                  <a:srgbClr val="7E7E7E"/>
                </a:solidFill>
              </a:rPr>
              <a:t>24ENGG01</a:t>
            </a:r>
            <a:r>
              <a:rPr spc="-13" dirty="0">
                <a:solidFill>
                  <a:srgbClr val="808080"/>
                </a:solidFill>
              </a:rPr>
              <a:t>C</a:t>
            </a:r>
          </a:p>
        </p:txBody>
      </p:sp>
      <p:sp>
        <p:nvSpPr>
          <p:cNvPr id="6" name="object 6"/>
          <p:cNvSpPr txBox="1"/>
          <p:nvPr/>
        </p:nvSpPr>
        <p:spPr>
          <a:xfrm>
            <a:off x="8942711" y="4624353"/>
            <a:ext cx="54571" cy="89768"/>
          </a:xfrm>
          <a:prstGeom prst="rect">
            <a:avLst/>
          </a:prstGeom>
        </p:spPr>
        <p:txBody>
          <a:bodyPr vert="horz" wrap="square" lIns="0" tIns="0" rIns="0" bIns="0" rtlCol="0">
            <a:spAutoFit/>
          </a:bodyPr>
          <a:lstStyle/>
          <a:p>
            <a:pPr marL="8145">
              <a:lnSpc>
                <a:spcPts val="673"/>
              </a:lnSpc>
            </a:pPr>
            <a:r>
              <a:rPr sz="577" spc="-32" dirty="0">
                <a:latin typeface="Courier New"/>
                <a:cs typeface="Courier New"/>
              </a:rPr>
              <a:t>8</a:t>
            </a:r>
            <a:endParaRPr sz="577">
              <a:latin typeface="Courier New"/>
              <a:cs typeface="Courier New"/>
            </a:endParaRPr>
          </a:p>
        </p:txBody>
      </p:sp>
      <p:sp>
        <p:nvSpPr>
          <p:cNvPr id="2" name="object 2"/>
          <p:cNvSpPr txBox="1">
            <a:spLocks noGrp="1"/>
          </p:cNvSpPr>
          <p:nvPr>
            <p:ph type="title"/>
          </p:nvPr>
        </p:nvSpPr>
        <p:spPr>
          <a:xfrm>
            <a:off x="1197095" y="675498"/>
            <a:ext cx="9925277" cy="722216"/>
          </a:xfrm>
          <a:prstGeom prst="rect">
            <a:avLst/>
          </a:prstGeom>
        </p:spPr>
        <p:txBody>
          <a:bodyPr vert="horz" wrap="square" lIns="0" tIns="59911" rIns="0" bIns="0" rtlCol="0">
            <a:spAutoFit/>
          </a:bodyPr>
          <a:lstStyle/>
          <a:p>
            <a:pPr marL="11402">
              <a:spcBef>
                <a:spcPts val="67"/>
              </a:spcBef>
            </a:pPr>
            <a:r>
              <a:rPr b="1" u="sng" spc="85" dirty="0">
                <a:solidFill>
                  <a:srgbClr val="FF0000"/>
                </a:solidFill>
              </a:rPr>
              <a:t>Characteristics of Objectives: SMART</a:t>
            </a:r>
          </a:p>
        </p:txBody>
      </p:sp>
      <p:graphicFrame>
        <p:nvGraphicFramePr>
          <p:cNvPr id="3" name="object 3"/>
          <p:cNvGraphicFramePr>
            <a:graphicFrameLocks noGrp="1"/>
          </p:cNvGraphicFramePr>
          <p:nvPr>
            <p:extLst>
              <p:ext uri="{D42A27DB-BD31-4B8C-83A1-F6EECF244321}">
                <p14:modId xmlns:p14="http://schemas.microsoft.com/office/powerpoint/2010/main" val="3640612505"/>
              </p:ext>
            </p:extLst>
          </p:nvPr>
        </p:nvGraphicFramePr>
        <p:xfrm>
          <a:off x="3255061" y="2090678"/>
          <a:ext cx="5809346" cy="2114027"/>
        </p:xfrm>
        <a:graphic>
          <a:graphicData uri="http://schemas.openxmlformats.org/drawingml/2006/table">
            <a:tbl>
              <a:tblPr firstRow="1" bandRow="1">
                <a:tableStyleId>{2D5ABB26-0587-4C30-8999-92F81FD0307C}</a:tableStyleId>
              </a:tblPr>
              <a:tblGrid>
                <a:gridCol w="267560">
                  <a:extLst>
                    <a:ext uri="{9D8B030D-6E8A-4147-A177-3AD203B41FA5}">
                      <a16:colId xmlns:a16="http://schemas.microsoft.com/office/drawing/2014/main" val="20000"/>
                    </a:ext>
                  </a:extLst>
                </a:gridCol>
                <a:gridCol w="1163091">
                  <a:extLst>
                    <a:ext uri="{9D8B030D-6E8A-4147-A177-3AD203B41FA5}">
                      <a16:colId xmlns:a16="http://schemas.microsoft.com/office/drawing/2014/main" val="20001"/>
                    </a:ext>
                  </a:extLst>
                </a:gridCol>
                <a:gridCol w="4378695">
                  <a:extLst>
                    <a:ext uri="{9D8B030D-6E8A-4147-A177-3AD203B41FA5}">
                      <a16:colId xmlns:a16="http://schemas.microsoft.com/office/drawing/2014/main" val="20002"/>
                    </a:ext>
                  </a:extLst>
                </a:gridCol>
              </a:tblGrid>
              <a:tr h="496431">
                <a:tc>
                  <a:txBody>
                    <a:bodyPr/>
                    <a:lstStyle/>
                    <a:p>
                      <a:pPr marL="31750">
                        <a:lnSpc>
                          <a:spcPts val="2375"/>
                        </a:lnSpc>
                      </a:pPr>
                      <a:r>
                        <a:rPr sz="1400" spc="-50" dirty="0">
                          <a:solidFill>
                            <a:srgbClr val="011F64"/>
                          </a:solidFill>
                          <a:latin typeface="Arial MT"/>
                          <a:cs typeface="Arial MT"/>
                        </a:rPr>
                        <a:t>S</a:t>
                      </a:r>
                      <a:endParaRPr sz="1400">
                        <a:latin typeface="Arial MT"/>
                        <a:cs typeface="Arial MT"/>
                      </a:endParaRPr>
                    </a:p>
                    <a:p>
                      <a:pPr marL="33020">
                        <a:lnSpc>
                          <a:spcPct val="100000"/>
                        </a:lnSpc>
                        <a:spcBef>
                          <a:spcPts val="685"/>
                        </a:spcBef>
                      </a:pPr>
                      <a:r>
                        <a:rPr sz="1400" spc="-50" dirty="0">
                          <a:solidFill>
                            <a:srgbClr val="011F59"/>
                          </a:solidFill>
                          <a:latin typeface="Arial MT"/>
                          <a:cs typeface="Arial MT"/>
                        </a:rPr>
                        <a:t>M</a:t>
                      </a:r>
                      <a:endParaRPr sz="1400">
                        <a:latin typeface="Arial MT"/>
                        <a:cs typeface="Arial MT"/>
                      </a:endParaRPr>
                    </a:p>
                  </a:txBody>
                  <a:tcPr marL="0" marR="0" marT="0" marB="0"/>
                </a:tc>
                <a:tc>
                  <a:txBody>
                    <a:bodyPr/>
                    <a:lstStyle/>
                    <a:p>
                      <a:pPr marL="163195">
                        <a:lnSpc>
                          <a:spcPts val="2375"/>
                        </a:lnSpc>
                      </a:pPr>
                      <a:r>
                        <a:rPr sz="1400" spc="-10" dirty="0">
                          <a:solidFill>
                            <a:srgbClr val="001F59"/>
                          </a:solidFill>
                          <a:latin typeface="Arial MT"/>
                          <a:cs typeface="Arial MT"/>
                        </a:rPr>
                        <a:t>Specific</a:t>
                      </a:r>
                      <a:endParaRPr sz="1400">
                        <a:latin typeface="Arial MT"/>
                        <a:cs typeface="Arial MT"/>
                      </a:endParaRPr>
                    </a:p>
                    <a:p>
                      <a:pPr marL="164465">
                        <a:lnSpc>
                          <a:spcPct val="100000"/>
                        </a:lnSpc>
                        <a:spcBef>
                          <a:spcPts val="685"/>
                        </a:spcBef>
                      </a:pPr>
                      <a:r>
                        <a:rPr sz="1400" spc="-10" dirty="0">
                          <a:solidFill>
                            <a:srgbClr val="011F5D"/>
                          </a:solidFill>
                          <a:latin typeface="Arial MT"/>
                          <a:cs typeface="Arial MT"/>
                        </a:rPr>
                        <a:t>Measurable</a:t>
                      </a:r>
                      <a:endParaRPr sz="1400">
                        <a:latin typeface="Arial MT"/>
                        <a:cs typeface="Arial MT"/>
                      </a:endParaRPr>
                    </a:p>
                  </a:txBody>
                  <a:tcPr marL="0" marR="0" marT="0" marB="0"/>
                </a:tc>
                <a:tc>
                  <a:txBody>
                    <a:bodyPr/>
                    <a:lstStyle/>
                    <a:p>
                      <a:pPr marL="102235">
                        <a:lnSpc>
                          <a:spcPts val="2375"/>
                        </a:lnSpc>
                      </a:pPr>
                      <a:r>
                        <a:rPr sz="1400" dirty="0">
                          <a:latin typeface="Arial MT"/>
                          <a:cs typeface="Arial MT"/>
                        </a:rPr>
                        <a:t>Be</a:t>
                      </a:r>
                      <a:r>
                        <a:rPr sz="1400" spc="-40" dirty="0">
                          <a:latin typeface="Arial MT"/>
                          <a:cs typeface="Arial MT"/>
                        </a:rPr>
                        <a:t> </a:t>
                      </a:r>
                      <a:r>
                        <a:rPr sz="1400" spc="50" dirty="0">
                          <a:solidFill>
                            <a:srgbClr val="C60500"/>
                          </a:solidFill>
                          <a:latin typeface="Arial MT"/>
                          <a:cs typeface="Arial MT"/>
                        </a:rPr>
                        <a:t>specific</a:t>
                      </a:r>
                      <a:r>
                        <a:rPr sz="1400" spc="45" dirty="0">
                          <a:solidFill>
                            <a:srgbClr val="C60500"/>
                          </a:solidFill>
                          <a:latin typeface="Arial MT"/>
                          <a:cs typeface="Arial MT"/>
                        </a:rPr>
                        <a:t> </a:t>
                      </a:r>
                      <a:r>
                        <a:rPr sz="1400" spc="-30" dirty="0">
                          <a:latin typeface="Arial MT"/>
                          <a:cs typeface="Arial MT"/>
                        </a:rPr>
                        <a:t>when</a:t>
                      </a:r>
                      <a:r>
                        <a:rPr sz="1400" spc="10" dirty="0">
                          <a:latin typeface="Arial MT"/>
                          <a:cs typeface="Arial MT"/>
                        </a:rPr>
                        <a:t> </a:t>
                      </a:r>
                      <a:r>
                        <a:rPr sz="1400" u="heavy" spc="50" dirty="0">
                          <a:solidFill>
                            <a:srgbClr val="00B154"/>
                          </a:solidFill>
                          <a:uFill>
                            <a:solidFill>
                              <a:srgbClr val="08A854"/>
                            </a:solidFill>
                          </a:uFill>
                          <a:latin typeface="Arial MT"/>
                          <a:cs typeface="Arial MT"/>
                        </a:rPr>
                        <a:t>settinq</a:t>
                      </a:r>
                      <a:r>
                        <a:rPr sz="1400" spc="-20" dirty="0">
                          <a:solidFill>
                            <a:srgbClr val="00B154"/>
                          </a:solidFill>
                          <a:latin typeface="Arial MT"/>
                          <a:cs typeface="Arial MT"/>
                        </a:rPr>
                        <a:t> </a:t>
                      </a:r>
                      <a:r>
                        <a:rPr sz="1400" spc="-10" dirty="0">
                          <a:solidFill>
                            <a:srgbClr val="0107D1"/>
                          </a:solidFill>
                          <a:latin typeface="Arial MT"/>
                          <a:cs typeface="Arial MT"/>
                        </a:rPr>
                        <a:t>objective.</a:t>
                      </a:r>
                      <a:endParaRPr sz="1400">
                        <a:latin typeface="Arial MT"/>
                        <a:cs typeface="Arial MT"/>
                      </a:endParaRPr>
                    </a:p>
                    <a:p>
                      <a:pPr marL="104139">
                        <a:lnSpc>
                          <a:spcPct val="100000"/>
                        </a:lnSpc>
                        <a:spcBef>
                          <a:spcPts val="685"/>
                        </a:spcBef>
                      </a:pPr>
                      <a:r>
                        <a:rPr sz="1400" spc="-35" dirty="0">
                          <a:latin typeface="Arial MT"/>
                          <a:cs typeface="Arial MT"/>
                        </a:rPr>
                        <a:t>Establish</a:t>
                      </a:r>
                      <a:r>
                        <a:rPr sz="1400" spc="155" dirty="0">
                          <a:latin typeface="Arial MT"/>
                          <a:cs typeface="Arial MT"/>
                        </a:rPr>
                        <a:t> </a:t>
                      </a:r>
                      <a:r>
                        <a:rPr sz="1400" dirty="0">
                          <a:latin typeface="Arial MT"/>
                          <a:cs typeface="Arial MT"/>
                        </a:rPr>
                        <a:t>a </a:t>
                      </a:r>
                      <a:r>
                        <a:rPr sz="1400" dirty="0">
                          <a:solidFill>
                            <a:srgbClr val="BC0500"/>
                          </a:solidFill>
                          <a:latin typeface="Arial MT"/>
                          <a:cs typeface="Arial MT"/>
                        </a:rPr>
                        <a:t>measurable</a:t>
                      </a:r>
                      <a:r>
                        <a:rPr sz="1400" spc="225" dirty="0">
                          <a:solidFill>
                            <a:srgbClr val="BC0500"/>
                          </a:solidFill>
                          <a:latin typeface="Arial MT"/>
                          <a:cs typeface="Arial MT"/>
                        </a:rPr>
                        <a:t> </a:t>
                      </a:r>
                      <a:r>
                        <a:rPr sz="1400" dirty="0">
                          <a:solidFill>
                            <a:srgbClr val="0003CA"/>
                          </a:solidFill>
                          <a:latin typeface="Arial MT"/>
                          <a:cs typeface="Arial MT"/>
                        </a:rPr>
                        <a:t>indicator(s)</a:t>
                      </a:r>
                      <a:r>
                        <a:rPr sz="1400" spc="229" dirty="0">
                          <a:solidFill>
                            <a:srgbClr val="0003CA"/>
                          </a:solidFill>
                          <a:latin typeface="Arial MT"/>
                          <a:cs typeface="Arial MT"/>
                        </a:rPr>
                        <a:t> </a:t>
                      </a:r>
                      <a:r>
                        <a:rPr sz="1400" dirty="0">
                          <a:latin typeface="Arial MT"/>
                          <a:cs typeface="Arial MT"/>
                        </a:rPr>
                        <a:t>of</a:t>
                      </a:r>
                      <a:r>
                        <a:rPr sz="1400" spc="55" dirty="0">
                          <a:latin typeface="Arial MT"/>
                          <a:cs typeface="Arial MT"/>
                        </a:rPr>
                        <a:t> </a:t>
                      </a:r>
                      <a:r>
                        <a:rPr sz="1400" spc="-10" dirty="0">
                          <a:solidFill>
                            <a:srgbClr val="0000E6"/>
                          </a:solidFill>
                          <a:latin typeface="Arial MT"/>
                          <a:cs typeface="Arial MT"/>
                        </a:rPr>
                        <a:t>progress.</a:t>
                      </a:r>
                      <a:endParaRPr sz="1400">
                        <a:latin typeface="Arial MT"/>
                        <a:cs typeface="Arial MT"/>
                      </a:endParaRPr>
                    </a:p>
                  </a:txBody>
                  <a:tcPr marL="0" marR="0" marT="0" marB="0"/>
                </a:tc>
                <a:extLst>
                  <a:ext uri="{0D108BD9-81ED-4DB2-BD59-A6C34878D82A}">
                    <a16:rowId xmlns:a16="http://schemas.microsoft.com/office/drawing/2014/main" val="10000"/>
                  </a:ext>
                </a:extLst>
              </a:tr>
              <a:tr h="234166">
                <a:tc>
                  <a:txBody>
                    <a:bodyPr/>
                    <a:lstStyle/>
                    <a:p>
                      <a:pPr marL="34925">
                        <a:lnSpc>
                          <a:spcPts val="2550"/>
                        </a:lnSpc>
                        <a:spcBef>
                          <a:spcPts val="225"/>
                        </a:spcBef>
                      </a:pPr>
                      <a:r>
                        <a:rPr sz="1400" spc="-50" dirty="0">
                          <a:solidFill>
                            <a:srgbClr val="011F60"/>
                          </a:solidFill>
                          <a:latin typeface="Arial MT"/>
                          <a:cs typeface="Arial MT"/>
                        </a:rPr>
                        <a:t>A</a:t>
                      </a:r>
                      <a:endParaRPr sz="1400">
                        <a:latin typeface="Arial MT"/>
                        <a:cs typeface="Arial MT"/>
                      </a:endParaRPr>
                    </a:p>
                  </a:txBody>
                  <a:tcPr marL="0" marR="0" marT="18326" marB="0"/>
                </a:tc>
                <a:tc>
                  <a:txBody>
                    <a:bodyPr/>
                    <a:lstStyle/>
                    <a:p>
                      <a:pPr marL="166370">
                        <a:lnSpc>
                          <a:spcPts val="2550"/>
                        </a:lnSpc>
                        <a:spcBef>
                          <a:spcPts val="225"/>
                        </a:spcBef>
                      </a:pPr>
                      <a:r>
                        <a:rPr sz="1400" spc="-10" dirty="0">
                          <a:solidFill>
                            <a:srgbClr val="001C5B"/>
                          </a:solidFill>
                          <a:latin typeface="Arial MT"/>
                          <a:cs typeface="Arial MT"/>
                        </a:rPr>
                        <a:t>Assignable</a:t>
                      </a:r>
                      <a:endParaRPr sz="1400">
                        <a:latin typeface="Arial MT"/>
                        <a:cs typeface="Arial MT"/>
                      </a:endParaRPr>
                    </a:p>
                  </a:txBody>
                  <a:tcPr marL="0" marR="0" marT="18326" marB="0"/>
                </a:tc>
                <a:tc>
                  <a:txBody>
                    <a:bodyPr/>
                    <a:lstStyle/>
                    <a:p>
                      <a:pPr marL="102235">
                        <a:lnSpc>
                          <a:spcPts val="2550"/>
                        </a:lnSpc>
                        <a:spcBef>
                          <a:spcPts val="225"/>
                        </a:spcBef>
                      </a:pPr>
                      <a:r>
                        <a:rPr sz="1400" spc="-20" dirty="0">
                          <a:latin typeface="Arial MT"/>
                          <a:cs typeface="Arial MT"/>
                        </a:rPr>
                        <a:t>Make</a:t>
                      </a:r>
                      <a:r>
                        <a:rPr sz="1400" spc="155" dirty="0">
                          <a:latin typeface="Arial MT"/>
                          <a:cs typeface="Arial MT"/>
                        </a:rPr>
                        <a:t> </a:t>
                      </a:r>
                      <a:r>
                        <a:rPr sz="1400" dirty="0">
                          <a:solidFill>
                            <a:srgbClr val="0001C6"/>
                          </a:solidFill>
                          <a:latin typeface="Arial MT"/>
                          <a:cs typeface="Arial MT"/>
                        </a:rPr>
                        <a:t>objective</a:t>
                      </a:r>
                      <a:r>
                        <a:rPr sz="1400" spc="235" dirty="0">
                          <a:solidFill>
                            <a:srgbClr val="0001C6"/>
                          </a:solidFill>
                          <a:latin typeface="Arial MT"/>
                          <a:cs typeface="Arial MT"/>
                        </a:rPr>
                        <a:t> </a:t>
                      </a:r>
                      <a:r>
                        <a:rPr sz="1400" dirty="0">
                          <a:solidFill>
                            <a:srgbClr val="BC0100"/>
                          </a:solidFill>
                          <a:latin typeface="Arial MT"/>
                          <a:cs typeface="Arial MT"/>
                        </a:rPr>
                        <a:t>assignable</a:t>
                      </a:r>
                      <a:r>
                        <a:rPr sz="1400" spc="204" dirty="0">
                          <a:solidFill>
                            <a:srgbClr val="BC0100"/>
                          </a:solidFill>
                          <a:latin typeface="Arial MT"/>
                          <a:cs typeface="Arial MT"/>
                        </a:rPr>
                        <a:t> </a:t>
                      </a:r>
                      <a:r>
                        <a:rPr sz="1400" dirty="0">
                          <a:latin typeface="Arial MT"/>
                          <a:cs typeface="Arial MT"/>
                        </a:rPr>
                        <a:t>to</a:t>
                      </a:r>
                      <a:r>
                        <a:rPr sz="1400" spc="75" dirty="0">
                          <a:latin typeface="Arial MT"/>
                          <a:cs typeface="Arial MT"/>
                        </a:rPr>
                        <a:t> </a:t>
                      </a:r>
                      <a:r>
                        <a:rPr sz="1400" dirty="0">
                          <a:solidFill>
                            <a:srgbClr val="0000C3"/>
                          </a:solidFill>
                          <a:latin typeface="Arial MT"/>
                          <a:cs typeface="Arial MT"/>
                        </a:rPr>
                        <a:t>one</a:t>
                      </a:r>
                      <a:r>
                        <a:rPr sz="1400" spc="130" dirty="0">
                          <a:solidFill>
                            <a:srgbClr val="0000C3"/>
                          </a:solidFill>
                          <a:latin typeface="Arial MT"/>
                          <a:cs typeface="Arial MT"/>
                        </a:rPr>
                        <a:t> </a:t>
                      </a:r>
                      <a:r>
                        <a:rPr sz="1400" dirty="0">
                          <a:solidFill>
                            <a:srgbClr val="0003C3"/>
                          </a:solidFill>
                          <a:latin typeface="Arial MT"/>
                          <a:cs typeface="Arial MT"/>
                        </a:rPr>
                        <a:t>person</a:t>
                      </a:r>
                      <a:r>
                        <a:rPr sz="1400" spc="155" dirty="0">
                          <a:solidFill>
                            <a:srgbClr val="0003C3"/>
                          </a:solidFill>
                          <a:latin typeface="Arial MT"/>
                          <a:cs typeface="Arial MT"/>
                        </a:rPr>
                        <a:t> </a:t>
                      </a:r>
                      <a:r>
                        <a:rPr sz="1400" spc="-25" dirty="0">
                          <a:latin typeface="Arial MT"/>
                          <a:cs typeface="Arial MT"/>
                        </a:rPr>
                        <a:t>for</a:t>
                      </a:r>
                      <a:endParaRPr sz="1400">
                        <a:latin typeface="Arial MT"/>
                        <a:cs typeface="Arial MT"/>
                      </a:endParaRPr>
                    </a:p>
                  </a:txBody>
                  <a:tcPr marL="0" marR="0" marT="18326" marB="0"/>
                </a:tc>
                <a:extLst>
                  <a:ext uri="{0D108BD9-81ED-4DB2-BD59-A6C34878D82A}">
                    <a16:rowId xmlns:a16="http://schemas.microsoft.com/office/drawing/2014/main" val="10001"/>
                  </a:ext>
                </a:extLst>
              </a:tr>
              <a:tr h="233351">
                <a:tc>
                  <a:txBody>
                    <a:bodyPr/>
                    <a:lstStyle/>
                    <a:p>
                      <a:pPr>
                        <a:lnSpc>
                          <a:spcPct val="100000"/>
                        </a:lnSpc>
                      </a:pPr>
                      <a:endParaRPr sz="1300">
                        <a:latin typeface="Times New Roman"/>
                        <a:cs typeface="Times New Roman"/>
                      </a:endParaRPr>
                    </a:p>
                  </a:txBody>
                  <a:tcPr marL="0" marR="0" marT="0" marB="0"/>
                </a:tc>
                <a:tc>
                  <a:txBody>
                    <a:bodyPr/>
                    <a:lstStyle/>
                    <a:p>
                      <a:pPr>
                        <a:lnSpc>
                          <a:spcPct val="100000"/>
                        </a:lnSpc>
                      </a:pPr>
                      <a:endParaRPr sz="1300">
                        <a:latin typeface="Times New Roman"/>
                        <a:cs typeface="Times New Roman"/>
                      </a:endParaRPr>
                    </a:p>
                  </a:txBody>
                  <a:tcPr marL="0" marR="0" marT="0" marB="0"/>
                </a:tc>
                <a:tc>
                  <a:txBody>
                    <a:bodyPr/>
                    <a:lstStyle/>
                    <a:p>
                      <a:pPr marL="105410">
                        <a:lnSpc>
                          <a:spcPts val="2420"/>
                        </a:lnSpc>
                      </a:pPr>
                      <a:r>
                        <a:rPr sz="1400" spc="-10" dirty="0">
                          <a:latin typeface="Arial MT"/>
                          <a:cs typeface="Arial MT"/>
                        </a:rPr>
                        <a:t>completion.</a:t>
                      </a:r>
                      <a:endParaRPr sz="1400">
                        <a:latin typeface="Arial MT"/>
                        <a:cs typeface="Arial MT"/>
                      </a:endParaRPr>
                    </a:p>
                  </a:txBody>
                  <a:tcPr marL="0" marR="0" marT="0" marB="0"/>
                </a:tc>
                <a:extLst>
                  <a:ext uri="{0D108BD9-81ED-4DB2-BD59-A6C34878D82A}">
                    <a16:rowId xmlns:a16="http://schemas.microsoft.com/office/drawing/2014/main" val="10002"/>
                  </a:ext>
                </a:extLst>
              </a:tr>
              <a:tr h="476069">
                <a:tc>
                  <a:txBody>
                    <a:bodyPr/>
                    <a:lstStyle/>
                    <a:p>
                      <a:pPr marL="31750">
                        <a:lnSpc>
                          <a:spcPct val="100000"/>
                        </a:lnSpc>
                        <a:spcBef>
                          <a:spcPts val="210"/>
                        </a:spcBef>
                      </a:pPr>
                      <a:r>
                        <a:rPr sz="1400" spc="-50" dirty="0">
                          <a:solidFill>
                            <a:srgbClr val="011F60"/>
                          </a:solidFill>
                          <a:latin typeface="Arial MT"/>
                          <a:cs typeface="Arial MT"/>
                        </a:rPr>
                        <a:t>R</a:t>
                      </a:r>
                      <a:endParaRPr sz="1400">
                        <a:latin typeface="Arial MT"/>
                        <a:cs typeface="Arial MT"/>
                      </a:endParaRPr>
                    </a:p>
                  </a:txBody>
                  <a:tcPr marL="0" marR="0" marT="17104" marB="0"/>
                </a:tc>
                <a:tc>
                  <a:txBody>
                    <a:bodyPr/>
                    <a:lstStyle/>
                    <a:p>
                      <a:pPr marL="162560">
                        <a:lnSpc>
                          <a:spcPct val="100000"/>
                        </a:lnSpc>
                        <a:spcBef>
                          <a:spcPts val="210"/>
                        </a:spcBef>
                      </a:pPr>
                      <a:r>
                        <a:rPr sz="1400" spc="-10" dirty="0">
                          <a:solidFill>
                            <a:srgbClr val="002166"/>
                          </a:solidFill>
                          <a:latin typeface="Arial MT"/>
                          <a:cs typeface="Arial MT"/>
                        </a:rPr>
                        <a:t>Realistic</a:t>
                      </a:r>
                      <a:endParaRPr sz="1400">
                        <a:latin typeface="Arial MT"/>
                        <a:cs typeface="Arial MT"/>
                      </a:endParaRPr>
                    </a:p>
                  </a:txBody>
                  <a:tcPr marL="0" marR="0" marT="17104" marB="0"/>
                </a:tc>
                <a:tc>
                  <a:txBody>
                    <a:bodyPr/>
                    <a:lstStyle/>
                    <a:p>
                      <a:pPr marL="103505">
                        <a:lnSpc>
                          <a:spcPts val="2565"/>
                        </a:lnSpc>
                        <a:spcBef>
                          <a:spcPts val="210"/>
                        </a:spcBef>
                      </a:pPr>
                      <a:r>
                        <a:rPr sz="1400" spc="-55" dirty="0">
                          <a:latin typeface="Arial MT"/>
                          <a:cs typeface="Arial MT"/>
                        </a:rPr>
                        <a:t>State</a:t>
                      </a:r>
                      <a:r>
                        <a:rPr sz="1400" spc="20" dirty="0">
                          <a:latin typeface="Arial MT"/>
                          <a:cs typeface="Arial MT"/>
                        </a:rPr>
                        <a:t> </a:t>
                      </a:r>
                      <a:r>
                        <a:rPr sz="1400" spc="-65" dirty="0">
                          <a:latin typeface="Arial MT"/>
                          <a:cs typeface="Arial MT"/>
                        </a:rPr>
                        <a:t>what</a:t>
                      </a:r>
                      <a:r>
                        <a:rPr sz="1400" spc="-55" dirty="0">
                          <a:latin typeface="Arial MT"/>
                          <a:cs typeface="Arial MT"/>
                        </a:rPr>
                        <a:t> </a:t>
                      </a:r>
                      <a:r>
                        <a:rPr sz="1400" spc="-40" dirty="0">
                          <a:latin typeface="Arial MT"/>
                          <a:cs typeface="Arial MT"/>
                        </a:rPr>
                        <a:t>can</a:t>
                      </a:r>
                      <a:r>
                        <a:rPr sz="1400" spc="-5" dirty="0">
                          <a:latin typeface="Arial MT"/>
                          <a:cs typeface="Arial MT"/>
                        </a:rPr>
                        <a:t> </a:t>
                      </a:r>
                      <a:r>
                        <a:rPr sz="1400" dirty="0">
                          <a:solidFill>
                            <a:srgbClr val="C10000"/>
                          </a:solidFill>
                          <a:latin typeface="Arial MT"/>
                          <a:cs typeface="Arial MT"/>
                        </a:rPr>
                        <a:t>realistically</a:t>
                      </a:r>
                      <a:r>
                        <a:rPr sz="1400" spc="75" dirty="0">
                          <a:solidFill>
                            <a:srgbClr val="C10000"/>
                          </a:solidFill>
                          <a:latin typeface="Arial MT"/>
                          <a:cs typeface="Arial MT"/>
                        </a:rPr>
                        <a:t> </a:t>
                      </a:r>
                      <a:r>
                        <a:rPr sz="1400" spc="-10" dirty="0">
                          <a:latin typeface="Arial MT"/>
                          <a:cs typeface="Arial MT"/>
                        </a:rPr>
                        <a:t>be</a:t>
                      </a:r>
                      <a:r>
                        <a:rPr sz="1400" spc="-30" dirty="0">
                          <a:latin typeface="Arial MT"/>
                          <a:cs typeface="Arial MT"/>
                        </a:rPr>
                        <a:t> </a:t>
                      </a:r>
                      <a:r>
                        <a:rPr sz="1400" u="heavy" dirty="0">
                          <a:solidFill>
                            <a:srgbClr val="00B14D"/>
                          </a:solidFill>
                          <a:uFill>
                            <a:solidFill>
                              <a:srgbClr val="08A84F"/>
                            </a:solidFill>
                          </a:uFill>
                          <a:latin typeface="Arial MT"/>
                          <a:cs typeface="Arial MT"/>
                        </a:rPr>
                        <a:t>done</a:t>
                      </a:r>
                      <a:r>
                        <a:rPr sz="1400" spc="40" dirty="0">
                          <a:solidFill>
                            <a:srgbClr val="00B14D"/>
                          </a:solidFill>
                          <a:latin typeface="Arial MT"/>
                          <a:cs typeface="Arial MT"/>
                        </a:rPr>
                        <a:t> </a:t>
                      </a:r>
                      <a:r>
                        <a:rPr sz="1400" spc="-55" dirty="0">
                          <a:latin typeface="Arial MT"/>
                          <a:cs typeface="Arial MT"/>
                        </a:rPr>
                        <a:t>with</a:t>
                      </a:r>
                      <a:r>
                        <a:rPr sz="1400" spc="-30" dirty="0">
                          <a:latin typeface="Arial MT"/>
                          <a:cs typeface="Arial MT"/>
                        </a:rPr>
                        <a:t> </a:t>
                      </a:r>
                      <a:r>
                        <a:rPr sz="1400" spc="-10" dirty="0">
                          <a:solidFill>
                            <a:srgbClr val="0000D4"/>
                          </a:solidFill>
                          <a:latin typeface="Arial MT"/>
                          <a:cs typeface="Arial MT"/>
                        </a:rPr>
                        <a:t>available</a:t>
                      </a:r>
                      <a:endParaRPr sz="1400" dirty="0">
                        <a:latin typeface="Arial MT"/>
                        <a:cs typeface="Arial MT"/>
                      </a:endParaRPr>
                    </a:p>
                    <a:p>
                      <a:pPr marL="100965">
                        <a:lnSpc>
                          <a:spcPts val="2625"/>
                        </a:lnSpc>
                      </a:pPr>
                      <a:r>
                        <a:rPr sz="1400" spc="-10" dirty="0">
                          <a:solidFill>
                            <a:srgbClr val="0000CD"/>
                          </a:solidFill>
                          <a:latin typeface="Arial MT"/>
                          <a:cs typeface="Arial MT"/>
                        </a:rPr>
                        <a:t>resources.</a:t>
                      </a:r>
                      <a:endParaRPr sz="1400" dirty="0">
                        <a:latin typeface="Arial MT"/>
                        <a:cs typeface="Arial MT"/>
                      </a:endParaRPr>
                    </a:p>
                  </a:txBody>
                  <a:tcPr marL="0" marR="0" marT="17104" marB="0"/>
                </a:tc>
                <a:extLst>
                  <a:ext uri="{0D108BD9-81ED-4DB2-BD59-A6C34878D82A}">
                    <a16:rowId xmlns:a16="http://schemas.microsoft.com/office/drawing/2014/main" val="10003"/>
                  </a:ext>
                </a:extLst>
              </a:tr>
              <a:tr h="229686">
                <a:tc>
                  <a:txBody>
                    <a:bodyPr/>
                    <a:lstStyle/>
                    <a:p>
                      <a:pPr marL="34290">
                        <a:lnSpc>
                          <a:spcPts val="2505"/>
                        </a:lnSpc>
                        <a:spcBef>
                          <a:spcPts val="215"/>
                        </a:spcBef>
                      </a:pPr>
                      <a:r>
                        <a:rPr sz="1400" spc="-50" dirty="0">
                          <a:solidFill>
                            <a:srgbClr val="00284F"/>
                          </a:solidFill>
                          <a:latin typeface="Arial MT"/>
                          <a:cs typeface="Arial MT"/>
                        </a:rPr>
                        <a:t>T</a:t>
                      </a:r>
                      <a:endParaRPr sz="1400">
                        <a:latin typeface="Arial MT"/>
                        <a:cs typeface="Arial MT"/>
                      </a:endParaRPr>
                    </a:p>
                  </a:txBody>
                  <a:tcPr marL="0" marR="0" marT="17512" marB="0"/>
                </a:tc>
                <a:tc>
                  <a:txBody>
                    <a:bodyPr/>
                    <a:lstStyle/>
                    <a:p>
                      <a:pPr marL="165735">
                        <a:lnSpc>
                          <a:spcPts val="2505"/>
                        </a:lnSpc>
                        <a:spcBef>
                          <a:spcPts val="215"/>
                        </a:spcBef>
                      </a:pPr>
                      <a:r>
                        <a:rPr sz="1400" dirty="0">
                          <a:solidFill>
                            <a:srgbClr val="011F67"/>
                          </a:solidFill>
                          <a:latin typeface="Arial MT"/>
                          <a:cs typeface="Arial MT"/>
                        </a:rPr>
                        <a:t>Time</a:t>
                      </a:r>
                      <a:r>
                        <a:rPr sz="1400" spc="-30" dirty="0">
                          <a:solidFill>
                            <a:srgbClr val="011F67"/>
                          </a:solidFill>
                          <a:latin typeface="Arial MT"/>
                          <a:cs typeface="Arial MT"/>
                        </a:rPr>
                        <a:t> </a:t>
                      </a:r>
                      <a:r>
                        <a:rPr sz="1400" spc="-10" dirty="0">
                          <a:solidFill>
                            <a:srgbClr val="FD0100"/>
                          </a:solidFill>
                          <a:latin typeface="Arial MT"/>
                          <a:cs typeface="Arial MT"/>
                        </a:rPr>
                        <a:t>related</a:t>
                      </a:r>
                      <a:endParaRPr sz="1400">
                        <a:latin typeface="Arial MT"/>
                        <a:cs typeface="Arial MT"/>
                      </a:endParaRPr>
                    </a:p>
                  </a:txBody>
                  <a:tcPr marL="0" marR="0" marT="17512" marB="0"/>
                </a:tc>
                <a:tc>
                  <a:txBody>
                    <a:bodyPr/>
                    <a:lstStyle/>
                    <a:p>
                      <a:pPr marL="104139">
                        <a:lnSpc>
                          <a:spcPts val="2505"/>
                        </a:lnSpc>
                        <a:spcBef>
                          <a:spcPts val="215"/>
                        </a:spcBef>
                      </a:pPr>
                      <a:r>
                        <a:rPr sz="1400" spc="-20" dirty="0">
                          <a:latin typeface="Arial MT"/>
                          <a:cs typeface="Arial MT"/>
                        </a:rPr>
                        <a:t>State</a:t>
                      </a:r>
                      <a:r>
                        <a:rPr sz="1400" spc="-45" dirty="0">
                          <a:latin typeface="Arial MT"/>
                          <a:cs typeface="Arial MT"/>
                        </a:rPr>
                        <a:t> </a:t>
                      </a:r>
                      <a:r>
                        <a:rPr sz="1400" spc="-25" dirty="0">
                          <a:latin typeface="Arial MT"/>
                          <a:cs typeface="Arial MT"/>
                        </a:rPr>
                        <a:t>when</a:t>
                      </a:r>
                      <a:r>
                        <a:rPr sz="1400" spc="-40" dirty="0">
                          <a:latin typeface="Arial MT"/>
                          <a:cs typeface="Arial MT"/>
                        </a:rPr>
                        <a:t> </a:t>
                      </a:r>
                      <a:r>
                        <a:rPr sz="1400" dirty="0">
                          <a:solidFill>
                            <a:srgbClr val="0000CD"/>
                          </a:solidFill>
                          <a:latin typeface="Arial MT"/>
                          <a:cs typeface="Arial MT"/>
                        </a:rPr>
                        <a:t>objective</a:t>
                      </a:r>
                      <a:r>
                        <a:rPr sz="1400" spc="30" dirty="0">
                          <a:solidFill>
                            <a:srgbClr val="0000CD"/>
                          </a:solidFill>
                          <a:latin typeface="Arial MT"/>
                          <a:cs typeface="Arial MT"/>
                        </a:rPr>
                        <a:t> </a:t>
                      </a:r>
                      <a:r>
                        <a:rPr sz="1400" spc="-20" dirty="0">
                          <a:latin typeface="Arial MT"/>
                          <a:cs typeface="Arial MT"/>
                        </a:rPr>
                        <a:t>can</a:t>
                      </a:r>
                      <a:r>
                        <a:rPr sz="1400" spc="-80" dirty="0">
                          <a:latin typeface="Arial MT"/>
                          <a:cs typeface="Arial MT"/>
                        </a:rPr>
                        <a:t> </a:t>
                      </a:r>
                      <a:r>
                        <a:rPr sz="1400" dirty="0">
                          <a:latin typeface="Arial MT"/>
                          <a:cs typeface="Arial MT"/>
                        </a:rPr>
                        <a:t>be</a:t>
                      </a:r>
                      <a:r>
                        <a:rPr sz="1400" spc="-60" dirty="0">
                          <a:latin typeface="Arial MT"/>
                          <a:cs typeface="Arial MT"/>
                        </a:rPr>
                        <a:t> </a:t>
                      </a:r>
                      <a:r>
                        <a:rPr sz="1400" spc="-35" dirty="0">
                          <a:latin typeface="Arial MT"/>
                          <a:cs typeface="Arial MT"/>
                        </a:rPr>
                        <a:t>achieved,</a:t>
                      </a:r>
                      <a:r>
                        <a:rPr sz="1400" spc="-5" dirty="0">
                          <a:latin typeface="Arial MT"/>
                          <a:cs typeface="Arial MT"/>
                        </a:rPr>
                        <a:t> </a:t>
                      </a:r>
                      <a:r>
                        <a:rPr sz="1400" spc="-10" dirty="0">
                          <a:latin typeface="Arial MT"/>
                          <a:cs typeface="Arial MT"/>
                        </a:rPr>
                        <a:t>that</a:t>
                      </a:r>
                      <a:r>
                        <a:rPr sz="1400" spc="-65" dirty="0">
                          <a:latin typeface="Arial MT"/>
                          <a:cs typeface="Arial MT"/>
                        </a:rPr>
                        <a:t> </a:t>
                      </a:r>
                      <a:r>
                        <a:rPr sz="1400" dirty="0">
                          <a:latin typeface="Arial MT"/>
                          <a:cs typeface="Arial MT"/>
                        </a:rPr>
                        <a:t>is,</a:t>
                      </a:r>
                      <a:r>
                        <a:rPr sz="1400" spc="-25" dirty="0">
                          <a:latin typeface="Arial MT"/>
                          <a:cs typeface="Arial MT"/>
                        </a:rPr>
                        <a:t> </a:t>
                      </a:r>
                      <a:r>
                        <a:rPr sz="1400" spc="-10" dirty="0">
                          <a:solidFill>
                            <a:srgbClr val="C10803"/>
                          </a:solidFill>
                          <a:latin typeface="Arial MT"/>
                          <a:cs typeface="Arial MT"/>
                        </a:rPr>
                        <a:t>duration.</a:t>
                      </a:r>
                      <a:endParaRPr sz="1400" dirty="0">
                        <a:latin typeface="Arial MT"/>
                        <a:cs typeface="Arial MT"/>
                      </a:endParaRPr>
                    </a:p>
                  </a:txBody>
                  <a:tcPr marL="0" marR="0" marT="17512" marB="0"/>
                </a:tc>
                <a:extLst>
                  <a:ext uri="{0D108BD9-81ED-4DB2-BD59-A6C34878D82A}">
                    <a16:rowId xmlns:a16="http://schemas.microsoft.com/office/drawing/2014/main" val="10004"/>
                  </a:ext>
                </a:extLst>
              </a:tr>
            </a:tbl>
          </a:graphicData>
        </a:graphic>
      </p:graphicFrame>
      <p:pic>
        <p:nvPicPr>
          <p:cNvPr id="8" name="Picture 7">
            <a:extLst>
              <a:ext uri="{FF2B5EF4-FFF2-40B4-BE49-F238E27FC236}">
                <a16:creationId xmlns:a16="http://schemas.microsoft.com/office/drawing/2014/main" id="{5DAC04A4-C6EF-4A09-8A16-1034FA3278E5}"/>
              </a:ext>
            </a:extLst>
          </p:cNvPr>
          <p:cNvPicPr>
            <a:picLocks noChangeAspect="1"/>
          </p:cNvPicPr>
          <p:nvPr/>
        </p:nvPicPr>
        <p:blipFill>
          <a:blip r:embed="rId3"/>
          <a:stretch>
            <a:fillRect/>
          </a:stretch>
        </p:blipFill>
        <p:spPr>
          <a:xfrm>
            <a:off x="914400" y="1571042"/>
            <a:ext cx="9610725" cy="5267325"/>
          </a:xfrm>
          <a:prstGeom prst="rect">
            <a:avLst/>
          </a:prstGeom>
        </p:spPr>
      </p:pic>
      <p:pic>
        <p:nvPicPr>
          <p:cNvPr id="7" name="Picture 6">
            <a:extLst>
              <a:ext uri="{FF2B5EF4-FFF2-40B4-BE49-F238E27FC236}">
                <a16:creationId xmlns:a16="http://schemas.microsoft.com/office/drawing/2014/main" id="{03BD2282-B11F-4508-8B79-CC7BECF60E2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Mission</a:t>
            </a:r>
          </a:p>
        </p:txBody>
      </p:sp>
      <p:sp>
        <p:nvSpPr>
          <p:cNvPr id="3" name="object 3"/>
          <p:cNvSpPr txBox="1"/>
          <p:nvPr/>
        </p:nvSpPr>
        <p:spPr>
          <a:xfrm>
            <a:off x="916939" y="1795779"/>
            <a:ext cx="10357485" cy="3917950"/>
          </a:xfrm>
          <a:prstGeom prst="rect">
            <a:avLst/>
          </a:prstGeom>
        </p:spPr>
        <p:txBody>
          <a:bodyPr vert="horz" wrap="square" lIns="0" tIns="63500" rIns="0" bIns="0" rtlCol="0">
            <a:spAutoFit/>
          </a:bodyPr>
          <a:lstStyle/>
          <a:p>
            <a:pPr marL="241300" marR="5080" indent="-228600">
              <a:lnSpc>
                <a:spcPts val="3000"/>
              </a:lnSpc>
              <a:spcBef>
                <a:spcPts val="500"/>
              </a:spcBef>
              <a:buFont typeface="Arial MT"/>
              <a:buChar char="•"/>
              <a:tabLst>
                <a:tab pos="241300" algn="l"/>
              </a:tabLst>
            </a:pPr>
            <a:r>
              <a:rPr sz="2800" dirty="0">
                <a:latin typeface="Calibri"/>
                <a:cs typeface="Calibri"/>
              </a:rPr>
              <a:t>Mission</a:t>
            </a:r>
            <a:r>
              <a:rPr sz="2800" spc="65" dirty="0">
                <a:latin typeface="Calibri"/>
                <a:cs typeface="Calibri"/>
              </a:rPr>
              <a:t> </a:t>
            </a:r>
            <a:r>
              <a:rPr sz="2800" dirty="0">
                <a:latin typeface="Calibri"/>
                <a:cs typeface="Calibri"/>
              </a:rPr>
              <a:t>statements</a:t>
            </a:r>
            <a:r>
              <a:rPr sz="2800" spc="65" dirty="0">
                <a:latin typeface="Calibri"/>
                <a:cs typeface="Calibri"/>
              </a:rPr>
              <a:t> </a:t>
            </a:r>
            <a:r>
              <a:rPr sz="2800" dirty="0">
                <a:latin typeface="Calibri"/>
                <a:cs typeface="Calibri"/>
              </a:rPr>
              <a:t>identify</a:t>
            </a:r>
            <a:r>
              <a:rPr sz="2800" spc="50" dirty="0">
                <a:latin typeface="Calibri"/>
                <a:cs typeface="Calibri"/>
              </a:rPr>
              <a:t> </a:t>
            </a:r>
            <a:r>
              <a:rPr sz="2800" dirty="0">
                <a:latin typeface="Calibri"/>
                <a:cs typeface="Calibri"/>
              </a:rPr>
              <a:t>the</a:t>
            </a:r>
            <a:r>
              <a:rPr sz="2800" spc="60" dirty="0">
                <a:latin typeface="Calibri"/>
                <a:cs typeface="Calibri"/>
              </a:rPr>
              <a:t> </a:t>
            </a:r>
            <a:r>
              <a:rPr sz="2800" dirty="0">
                <a:latin typeface="Calibri"/>
                <a:cs typeface="Calibri"/>
              </a:rPr>
              <a:t>scope</a:t>
            </a:r>
            <a:r>
              <a:rPr sz="2800" spc="50" dirty="0">
                <a:latin typeface="Calibri"/>
                <a:cs typeface="Calibri"/>
              </a:rPr>
              <a:t> </a:t>
            </a:r>
            <a:r>
              <a:rPr sz="2800" dirty="0">
                <a:latin typeface="Calibri"/>
                <a:cs typeface="Calibri"/>
              </a:rPr>
              <a:t>of</a:t>
            </a:r>
            <a:r>
              <a:rPr sz="2800" spc="55" dirty="0">
                <a:latin typeface="Calibri"/>
                <a:cs typeface="Calibri"/>
              </a:rPr>
              <a:t> </a:t>
            </a:r>
            <a:r>
              <a:rPr sz="2800" dirty="0">
                <a:latin typeface="Calibri"/>
                <a:cs typeface="Calibri"/>
              </a:rPr>
              <a:t>the</a:t>
            </a:r>
            <a:r>
              <a:rPr sz="2800" spc="60" dirty="0">
                <a:latin typeface="Calibri"/>
                <a:cs typeface="Calibri"/>
              </a:rPr>
              <a:t> </a:t>
            </a:r>
            <a:r>
              <a:rPr sz="2800" dirty="0">
                <a:latin typeface="Calibri"/>
                <a:cs typeface="Calibri"/>
              </a:rPr>
              <a:t>organization</a:t>
            </a:r>
            <a:r>
              <a:rPr sz="2800" spc="60" dirty="0">
                <a:latin typeface="Calibri"/>
                <a:cs typeface="Calibri"/>
              </a:rPr>
              <a:t> </a:t>
            </a:r>
            <a:r>
              <a:rPr sz="2800" dirty="0">
                <a:latin typeface="Calibri"/>
                <a:cs typeface="Calibri"/>
              </a:rPr>
              <a:t>in</a:t>
            </a:r>
            <a:r>
              <a:rPr sz="2800" spc="65" dirty="0">
                <a:latin typeface="Calibri"/>
                <a:cs typeface="Calibri"/>
              </a:rPr>
              <a:t> </a:t>
            </a:r>
            <a:r>
              <a:rPr sz="2800" dirty="0">
                <a:latin typeface="Calibri"/>
                <a:cs typeface="Calibri"/>
              </a:rPr>
              <a:t>terms</a:t>
            </a:r>
            <a:r>
              <a:rPr sz="2800" spc="65" dirty="0">
                <a:latin typeface="Calibri"/>
                <a:cs typeface="Calibri"/>
              </a:rPr>
              <a:t> </a:t>
            </a:r>
            <a:r>
              <a:rPr sz="2800" spc="-25" dirty="0">
                <a:latin typeface="Calibri"/>
                <a:cs typeface="Calibri"/>
              </a:rPr>
              <a:t>of </a:t>
            </a:r>
            <a:r>
              <a:rPr sz="2800" dirty="0">
                <a:latin typeface="Calibri"/>
                <a:cs typeface="Calibri"/>
              </a:rPr>
              <a:t>its</a:t>
            </a:r>
            <a:r>
              <a:rPr sz="2800" spc="-45" dirty="0">
                <a:latin typeface="Calibri"/>
                <a:cs typeface="Calibri"/>
              </a:rPr>
              <a:t> </a:t>
            </a:r>
            <a:r>
              <a:rPr sz="2800" dirty="0">
                <a:latin typeface="Calibri"/>
                <a:cs typeface="Calibri"/>
              </a:rPr>
              <a:t>product</a:t>
            </a:r>
            <a:r>
              <a:rPr sz="2800" spc="-45" dirty="0">
                <a:latin typeface="Calibri"/>
                <a:cs typeface="Calibri"/>
              </a:rPr>
              <a:t> </a:t>
            </a:r>
            <a:r>
              <a:rPr sz="2800" dirty="0">
                <a:latin typeface="Calibri"/>
                <a:cs typeface="Calibri"/>
              </a:rPr>
              <a:t>or</a:t>
            </a:r>
            <a:r>
              <a:rPr sz="2800" spc="-50" dirty="0">
                <a:latin typeface="Calibri"/>
                <a:cs typeface="Calibri"/>
              </a:rPr>
              <a:t> </a:t>
            </a:r>
            <a:r>
              <a:rPr sz="2800" dirty="0">
                <a:latin typeface="Calibri"/>
                <a:cs typeface="Calibri"/>
              </a:rPr>
              <a:t>service.</a:t>
            </a:r>
            <a:r>
              <a:rPr sz="2800" spc="-35" dirty="0">
                <a:latin typeface="Calibri"/>
                <a:cs typeface="Calibri"/>
              </a:rPr>
              <a:t> </a:t>
            </a:r>
            <a:r>
              <a:rPr sz="2800" dirty="0">
                <a:latin typeface="Calibri"/>
                <a:cs typeface="Calibri"/>
              </a:rPr>
              <a:t>“what</a:t>
            </a:r>
            <a:r>
              <a:rPr sz="2800" spc="-50" dirty="0">
                <a:latin typeface="Calibri"/>
                <a:cs typeface="Calibri"/>
              </a:rPr>
              <a:t> </a:t>
            </a:r>
            <a:r>
              <a:rPr sz="2800" dirty="0">
                <a:latin typeface="Calibri"/>
                <a:cs typeface="Calibri"/>
              </a:rPr>
              <a:t>we</a:t>
            </a:r>
            <a:r>
              <a:rPr sz="2800" spc="-50" dirty="0">
                <a:latin typeface="Calibri"/>
                <a:cs typeface="Calibri"/>
              </a:rPr>
              <a:t> </a:t>
            </a:r>
            <a:r>
              <a:rPr sz="2800" dirty="0">
                <a:latin typeface="Calibri"/>
                <a:cs typeface="Calibri"/>
              </a:rPr>
              <a:t>want</a:t>
            </a:r>
            <a:r>
              <a:rPr sz="2800" spc="-45" dirty="0">
                <a:latin typeface="Calibri"/>
                <a:cs typeface="Calibri"/>
              </a:rPr>
              <a:t> </a:t>
            </a:r>
            <a:r>
              <a:rPr sz="2800" dirty="0">
                <a:latin typeface="Calibri"/>
                <a:cs typeface="Calibri"/>
              </a:rPr>
              <a:t>to</a:t>
            </a:r>
            <a:r>
              <a:rPr sz="2800" spc="-50" dirty="0">
                <a:latin typeface="Calibri"/>
                <a:cs typeface="Calibri"/>
              </a:rPr>
              <a:t> </a:t>
            </a:r>
            <a:r>
              <a:rPr sz="2800" spc="-10" dirty="0">
                <a:latin typeface="Calibri"/>
                <a:cs typeface="Calibri"/>
              </a:rPr>
              <a:t>become”.</a:t>
            </a:r>
            <a:endParaRPr sz="2800" dirty="0">
              <a:latin typeface="Calibri"/>
              <a:cs typeface="Calibri"/>
            </a:endParaRPr>
          </a:p>
          <a:p>
            <a:pPr marL="241300" marR="5080" indent="-228600">
              <a:lnSpc>
                <a:spcPts val="3120"/>
              </a:lnSpc>
              <a:spcBef>
                <a:spcPts val="885"/>
              </a:spcBef>
              <a:buFont typeface="Arial MT"/>
              <a:buChar char="•"/>
              <a:tabLst>
                <a:tab pos="241300" algn="l"/>
                <a:tab pos="641985" algn="l"/>
                <a:tab pos="1936750" algn="l"/>
                <a:tab pos="3603625" algn="l"/>
                <a:tab pos="4018915" algn="l"/>
                <a:tab pos="4702175" algn="l"/>
                <a:tab pos="5067300" algn="l"/>
                <a:tab pos="5924550" algn="l"/>
                <a:tab pos="6760209" algn="l"/>
                <a:tab pos="7250430" algn="l"/>
                <a:tab pos="8072120" algn="l"/>
                <a:tab pos="8569960" algn="l"/>
                <a:tab pos="9860915" algn="l"/>
              </a:tabLst>
            </a:pPr>
            <a:r>
              <a:rPr sz="2800" spc="-50" dirty="0">
                <a:latin typeface="Calibri"/>
                <a:cs typeface="Calibri"/>
              </a:rPr>
              <a:t>A</a:t>
            </a:r>
            <a:r>
              <a:rPr sz="2800" dirty="0">
                <a:latin typeface="Calibri"/>
                <a:cs typeface="Calibri"/>
              </a:rPr>
              <a:t>	</a:t>
            </a:r>
            <a:r>
              <a:rPr sz="2800" spc="-10" dirty="0">
                <a:latin typeface="Calibri"/>
                <a:cs typeface="Calibri"/>
              </a:rPr>
              <a:t>mission</a:t>
            </a:r>
            <a:r>
              <a:rPr sz="2800" dirty="0">
                <a:latin typeface="Calibri"/>
                <a:cs typeface="Calibri"/>
              </a:rPr>
              <a:t>	</a:t>
            </a:r>
            <a:r>
              <a:rPr sz="2800" spc="-10" dirty="0">
                <a:latin typeface="Calibri"/>
                <a:cs typeface="Calibri"/>
              </a:rPr>
              <a:t>statement</a:t>
            </a:r>
            <a:r>
              <a:rPr sz="2800" dirty="0">
                <a:latin typeface="Calibri"/>
                <a:cs typeface="Calibri"/>
              </a:rPr>
              <a:t>	</a:t>
            </a:r>
            <a:r>
              <a:rPr sz="2800" spc="-25" dirty="0">
                <a:latin typeface="Calibri"/>
                <a:cs typeface="Calibri"/>
              </a:rPr>
              <a:t>is</a:t>
            </a:r>
            <a:r>
              <a:rPr sz="2800" dirty="0">
                <a:latin typeface="Calibri"/>
                <a:cs typeface="Calibri"/>
              </a:rPr>
              <a:t>	</a:t>
            </a:r>
            <a:r>
              <a:rPr sz="2800" spc="-20" dirty="0">
                <a:latin typeface="Calibri"/>
                <a:cs typeface="Calibri"/>
              </a:rPr>
              <a:t>like</a:t>
            </a:r>
            <a:r>
              <a:rPr sz="2800" dirty="0">
                <a:latin typeface="Calibri"/>
                <a:cs typeface="Calibri"/>
              </a:rPr>
              <a:t>	</a:t>
            </a:r>
            <a:r>
              <a:rPr sz="2800" spc="-50" dirty="0">
                <a:latin typeface="Calibri"/>
                <a:cs typeface="Calibri"/>
              </a:rPr>
              <a:t>a</a:t>
            </a:r>
            <a:r>
              <a:rPr sz="2800" dirty="0">
                <a:latin typeface="Calibri"/>
                <a:cs typeface="Calibri"/>
              </a:rPr>
              <a:t>	</a:t>
            </a:r>
            <a:r>
              <a:rPr sz="2800" spc="-20" dirty="0">
                <a:latin typeface="Calibri"/>
                <a:cs typeface="Calibri"/>
              </a:rPr>
              <a:t>road</a:t>
            </a:r>
            <a:r>
              <a:rPr sz="2800" dirty="0">
                <a:latin typeface="Calibri"/>
                <a:cs typeface="Calibri"/>
              </a:rPr>
              <a:t>	</a:t>
            </a:r>
            <a:r>
              <a:rPr sz="2800" spc="-25" dirty="0">
                <a:latin typeface="Calibri"/>
                <a:cs typeface="Calibri"/>
              </a:rPr>
              <a:t>map</a:t>
            </a:r>
            <a:r>
              <a:rPr sz="2800" dirty="0">
                <a:latin typeface="Calibri"/>
                <a:cs typeface="Calibri"/>
              </a:rPr>
              <a:t>	</a:t>
            </a:r>
            <a:r>
              <a:rPr sz="2800" spc="-25" dirty="0">
                <a:latin typeface="Calibri"/>
                <a:cs typeface="Calibri"/>
              </a:rPr>
              <a:t>of</a:t>
            </a:r>
            <a:r>
              <a:rPr sz="2800" dirty="0">
                <a:latin typeface="Calibri"/>
                <a:cs typeface="Calibri"/>
              </a:rPr>
              <a:t>	</a:t>
            </a:r>
            <a:r>
              <a:rPr sz="2800" spc="-25" dirty="0">
                <a:latin typeface="Calibri"/>
                <a:cs typeface="Calibri"/>
              </a:rPr>
              <a:t>how</a:t>
            </a:r>
            <a:r>
              <a:rPr sz="2800" dirty="0">
                <a:latin typeface="Calibri"/>
                <a:cs typeface="Calibri"/>
              </a:rPr>
              <a:t>	</a:t>
            </a:r>
            <a:r>
              <a:rPr sz="2800" spc="-25" dirty="0">
                <a:latin typeface="Calibri"/>
                <a:cs typeface="Calibri"/>
              </a:rPr>
              <a:t>to</a:t>
            </a:r>
            <a:r>
              <a:rPr sz="2800" dirty="0">
                <a:latin typeface="Calibri"/>
                <a:cs typeface="Calibri"/>
              </a:rPr>
              <a:t>	</a:t>
            </a:r>
            <a:r>
              <a:rPr sz="2800" spc="-10" dirty="0">
                <a:latin typeface="Calibri"/>
                <a:cs typeface="Calibri"/>
              </a:rPr>
              <a:t>achieve</a:t>
            </a:r>
            <a:r>
              <a:rPr sz="2800" dirty="0">
                <a:latin typeface="Calibri"/>
                <a:cs typeface="Calibri"/>
              </a:rPr>
              <a:t>	</a:t>
            </a:r>
            <a:r>
              <a:rPr sz="2800" spc="-25" dirty="0">
                <a:latin typeface="Calibri"/>
                <a:cs typeface="Calibri"/>
              </a:rPr>
              <a:t>the </a:t>
            </a:r>
            <a:r>
              <a:rPr sz="2800" spc="-10" dirty="0">
                <a:latin typeface="Calibri"/>
                <a:cs typeface="Calibri"/>
              </a:rPr>
              <a:t>organization</a:t>
            </a:r>
            <a:r>
              <a:rPr sz="2800" spc="-45" dirty="0">
                <a:latin typeface="Calibri"/>
                <a:cs typeface="Calibri"/>
              </a:rPr>
              <a:t> </a:t>
            </a:r>
            <a:r>
              <a:rPr sz="2800" dirty="0">
                <a:latin typeface="Calibri"/>
                <a:cs typeface="Calibri"/>
              </a:rPr>
              <a:t>goals.</a:t>
            </a:r>
            <a:r>
              <a:rPr sz="2800" spc="-40" dirty="0">
                <a:latin typeface="Calibri"/>
                <a:cs typeface="Calibri"/>
              </a:rPr>
              <a:t> </a:t>
            </a:r>
            <a:r>
              <a:rPr sz="2800" dirty="0">
                <a:latin typeface="Calibri"/>
                <a:cs typeface="Calibri"/>
              </a:rPr>
              <a:t>It</a:t>
            </a:r>
            <a:r>
              <a:rPr sz="2800" spc="-50" dirty="0">
                <a:latin typeface="Calibri"/>
                <a:cs typeface="Calibri"/>
              </a:rPr>
              <a:t> </a:t>
            </a:r>
            <a:r>
              <a:rPr sz="2800" dirty="0">
                <a:latin typeface="Calibri"/>
                <a:cs typeface="Calibri"/>
              </a:rPr>
              <a:t>defines</a:t>
            </a:r>
            <a:r>
              <a:rPr sz="2800" spc="-45" dirty="0">
                <a:latin typeface="Calibri"/>
                <a:cs typeface="Calibri"/>
              </a:rPr>
              <a:t> </a:t>
            </a:r>
            <a:r>
              <a:rPr sz="2800" dirty="0">
                <a:latin typeface="Calibri"/>
                <a:cs typeface="Calibri"/>
              </a:rPr>
              <a:t>the</a:t>
            </a:r>
            <a:r>
              <a:rPr sz="2800" spc="-50" dirty="0">
                <a:latin typeface="Calibri"/>
                <a:cs typeface="Calibri"/>
              </a:rPr>
              <a:t> </a:t>
            </a:r>
            <a:r>
              <a:rPr sz="2800" dirty="0">
                <a:latin typeface="Calibri"/>
                <a:cs typeface="Calibri"/>
              </a:rPr>
              <a:t>purpose</a:t>
            </a:r>
            <a:r>
              <a:rPr sz="2800" spc="-55" dirty="0">
                <a:latin typeface="Calibri"/>
                <a:cs typeface="Calibri"/>
              </a:rPr>
              <a:t> </a:t>
            </a:r>
            <a:r>
              <a:rPr sz="2800" dirty="0">
                <a:latin typeface="Calibri"/>
                <a:cs typeface="Calibri"/>
              </a:rPr>
              <a:t>of</a:t>
            </a:r>
            <a:r>
              <a:rPr sz="2800" spc="-55" dirty="0">
                <a:latin typeface="Calibri"/>
                <a:cs typeface="Calibri"/>
              </a:rPr>
              <a:t> </a:t>
            </a:r>
            <a:r>
              <a:rPr sz="2800" dirty="0">
                <a:latin typeface="Calibri"/>
                <a:cs typeface="Calibri"/>
              </a:rPr>
              <a:t>the</a:t>
            </a:r>
            <a:r>
              <a:rPr sz="2800" spc="-50" dirty="0">
                <a:latin typeface="Calibri"/>
                <a:cs typeface="Calibri"/>
              </a:rPr>
              <a:t> </a:t>
            </a:r>
            <a:r>
              <a:rPr sz="2800" spc="-10" dirty="0">
                <a:latin typeface="Calibri"/>
                <a:cs typeface="Calibri"/>
              </a:rPr>
              <a:t>organization.</a:t>
            </a:r>
            <a:endParaRPr sz="2800" dirty="0">
              <a:latin typeface="Calibri"/>
              <a:cs typeface="Calibri"/>
            </a:endParaRPr>
          </a:p>
          <a:p>
            <a:pPr marL="240665" indent="-227965">
              <a:lnSpc>
                <a:spcPct val="100000"/>
              </a:lnSpc>
              <a:spcBef>
                <a:spcPts val="560"/>
              </a:spcBef>
              <a:buFont typeface="Arial MT"/>
              <a:buChar char="•"/>
              <a:tabLst>
                <a:tab pos="240665" algn="l"/>
              </a:tabLst>
            </a:pPr>
            <a:r>
              <a:rPr sz="2800" dirty="0">
                <a:latin typeface="Calibri"/>
                <a:cs typeface="Calibri"/>
              </a:rPr>
              <a:t>It</a:t>
            </a:r>
            <a:r>
              <a:rPr sz="2800" spc="-55" dirty="0">
                <a:latin typeface="Calibri"/>
                <a:cs typeface="Calibri"/>
              </a:rPr>
              <a:t> </a:t>
            </a:r>
            <a:r>
              <a:rPr sz="2800" dirty="0">
                <a:latin typeface="Calibri"/>
                <a:cs typeface="Calibri"/>
              </a:rPr>
              <a:t>consists</a:t>
            </a:r>
            <a:r>
              <a:rPr sz="2800" spc="-45" dirty="0">
                <a:latin typeface="Calibri"/>
                <a:cs typeface="Calibri"/>
              </a:rPr>
              <a:t> </a:t>
            </a:r>
            <a:r>
              <a:rPr sz="2800" dirty="0">
                <a:latin typeface="Calibri"/>
                <a:cs typeface="Calibri"/>
              </a:rPr>
              <a:t>of</a:t>
            </a:r>
            <a:r>
              <a:rPr sz="2800" spc="-55" dirty="0">
                <a:latin typeface="Calibri"/>
                <a:cs typeface="Calibri"/>
              </a:rPr>
              <a:t> </a:t>
            </a:r>
            <a:r>
              <a:rPr sz="2800" spc="-50" dirty="0">
                <a:latin typeface="Calibri"/>
                <a:cs typeface="Calibri"/>
              </a:rPr>
              <a:t>:</a:t>
            </a:r>
            <a:endParaRPr sz="2800" dirty="0">
              <a:latin typeface="Calibri"/>
              <a:cs typeface="Calibri"/>
            </a:endParaRPr>
          </a:p>
          <a:p>
            <a:pPr marL="697230" lvl="1" indent="-227329">
              <a:lnSpc>
                <a:spcPct val="100000"/>
              </a:lnSpc>
              <a:spcBef>
                <a:spcPts val="259"/>
              </a:spcBef>
              <a:buFont typeface="Arial MT"/>
              <a:buChar char="•"/>
              <a:tabLst>
                <a:tab pos="697230" algn="l"/>
              </a:tabLst>
            </a:pPr>
            <a:r>
              <a:rPr sz="2400" dirty="0">
                <a:latin typeface="Calibri"/>
                <a:cs typeface="Calibri"/>
              </a:rPr>
              <a:t>The</a:t>
            </a:r>
            <a:r>
              <a:rPr sz="2400" spc="-40" dirty="0">
                <a:latin typeface="Calibri"/>
                <a:cs typeface="Calibri"/>
              </a:rPr>
              <a:t> </a:t>
            </a:r>
            <a:r>
              <a:rPr sz="2400" dirty="0">
                <a:latin typeface="Calibri"/>
                <a:cs typeface="Calibri"/>
              </a:rPr>
              <a:t>impact</a:t>
            </a:r>
            <a:r>
              <a:rPr sz="2400" spc="-55" dirty="0">
                <a:latin typeface="Calibri"/>
                <a:cs typeface="Calibri"/>
              </a:rPr>
              <a:t> </a:t>
            </a:r>
            <a:r>
              <a:rPr sz="2400" dirty="0">
                <a:latin typeface="Calibri"/>
                <a:cs typeface="Calibri"/>
              </a:rPr>
              <a:t>or</a:t>
            </a:r>
            <a:r>
              <a:rPr sz="2400" spc="-4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change</a:t>
            </a:r>
            <a:r>
              <a:rPr sz="2400" spc="-40" dirty="0">
                <a:latin typeface="Calibri"/>
                <a:cs typeface="Calibri"/>
              </a:rPr>
              <a:t> </a:t>
            </a:r>
            <a:r>
              <a:rPr sz="2400" dirty="0">
                <a:latin typeface="Calibri"/>
                <a:cs typeface="Calibri"/>
              </a:rPr>
              <a:t>that</a:t>
            </a:r>
            <a:r>
              <a:rPr sz="2400" spc="-45" dirty="0">
                <a:latin typeface="Calibri"/>
                <a:cs typeface="Calibri"/>
              </a:rPr>
              <a:t> </a:t>
            </a:r>
            <a:r>
              <a:rPr sz="2400" dirty="0">
                <a:latin typeface="Calibri"/>
                <a:cs typeface="Calibri"/>
              </a:rPr>
              <a:t>the</a:t>
            </a:r>
            <a:r>
              <a:rPr sz="2400" spc="-40" dirty="0">
                <a:latin typeface="Calibri"/>
                <a:cs typeface="Calibri"/>
              </a:rPr>
              <a:t> </a:t>
            </a:r>
            <a:r>
              <a:rPr sz="2400" spc="-10" dirty="0">
                <a:latin typeface="Calibri"/>
                <a:cs typeface="Calibri"/>
              </a:rPr>
              <a:t>company</a:t>
            </a:r>
            <a:r>
              <a:rPr sz="2400" spc="-45" dirty="0">
                <a:latin typeface="Calibri"/>
                <a:cs typeface="Calibri"/>
              </a:rPr>
              <a:t> </a:t>
            </a:r>
            <a:r>
              <a:rPr sz="2400" dirty="0">
                <a:latin typeface="Calibri"/>
                <a:cs typeface="Calibri"/>
              </a:rPr>
              <a:t>wants</a:t>
            </a:r>
            <a:r>
              <a:rPr sz="2400" spc="-45" dirty="0">
                <a:latin typeface="Calibri"/>
                <a:cs typeface="Calibri"/>
              </a:rPr>
              <a:t> </a:t>
            </a:r>
            <a:r>
              <a:rPr sz="2400" dirty="0">
                <a:latin typeface="Calibri"/>
                <a:cs typeface="Calibri"/>
              </a:rPr>
              <a:t>to</a:t>
            </a:r>
            <a:r>
              <a:rPr sz="2400" spc="-50" dirty="0">
                <a:latin typeface="Calibri"/>
                <a:cs typeface="Calibri"/>
              </a:rPr>
              <a:t> </a:t>
            </a:r>
            <a:r>
              <a:rPr sz="2400" spc="-10" dirty="0">
                <a:latin typeface="Calibri"/>
                <a:cs typeface="Calibri"/>
              </a:rPr>
              <a:t>create.</a:t>
            </a:r>
            <a:endParaRPr sz="2400" dirty="0">
              <a:latin typeface="Calibri"/>
              <a:cs typeface="Calibri"/>
            </a:endParaRPr>
          </a:p>
          <a:p>
            <a:pPr marL="697230" lvl="1" indent="-227329">
              <a:lnSpc>
                <a:spcPct val="100000"/>
              </a:lnSpc>
              <a:spcBef>
                <a:spcPts val="215"/>
              </a:spcBef>
              <a:buFont typeface="Arial MT"/>
              <a:buChar char="•"/>
              <a:tabLst>
                <a:tab pos="697230" algn="l"/>
              </a:tabLst>
            </a:pPr>
            <a:r>
              <a:rPr sz="2400" dirty="0">
                <a:latin typeface="Calibri"/>
                <a:cs typeface="Calibri"/>
              </a:rPr>
              <a:t>How</a:t>
            </a:r>
            <a:r>
              <a:rPr sz="2400" spc="-60" dirty="0">
                <a:latin typeface="Calibri"/>
                <a:cs typeface="Calibri"/>
              </a:rPr>
              <a:t> </a:t>
            </a:r>
            <a:r>
              <a:rPr sz="2400" dirty="0">
                <a:latin typeface="Calibri"/>
                <a:cs typeface="Calibri"/>
              </a:rPr>
              <a:t>the</a:t>
            </a:r>
            <a:r>
              <a:rPr sz="2400" spc="-45" dirty="0">
                <a:latin typeface="Calibri"/>
                <a:cs typeface="Calibri"/>
              </a:rPr>
              <a:t> </a:t>
            </a:r>
            <a:r>
              <a:rPr sz="2400" spc="-10" dirty="0">
                <a:latin typeface="Calibri"/>
                <a:cs typeface="Calibri"/>
              </a:rPr>
              <a:t>company</a:t>
            </a:r>
            <a:r>
              <a:rPr sz="2400" spc="-55" dirty="0">
                <a:latin typeface="Calibri"/>
                <a:cs typeface="Calibri"/>
              </a:rPr>
              <a:t> </a:t>
            </a:r>
            <a:r>
              <a:rPr sz="2400" dirty="0">
                <a:latin typeface="Calibri"/>
                <a:cs typeface="Calibri"/>
              </a:rPr>
              <a:t>will</a:t>
            </a:r>
            <a:r>
              <a:rPr sz="2400" spc="-55" dirty="0">
                <a:latin typeface="Calibri"/>
                <a:cs typeface="Calibri"/>
              </a:rPr>
              <a:t> </a:t>
            </a:r>
            <a:r>
              <a:rPr sz="2400" dirty="0">
                <a:latin typeface="Calibri"/>
                <a:cs typeface="Calibri"/>
              </a:rPr>
              <a:t>create</a:t>
            </a:r>
            <a:r>
              <a:rPr sz="2400" spc="-50" dirty="0">
                <a:latin typeface="Calibri"/>
                <a:cs typeface="Calibri"/>
              </a:rPr>
              <a:t> </a:t>
            </a:r>
            <a:r>
              <a:rPr sz="2400" dirty="0">
                <a:latin typeface="Calibri"/>
                <a:cs typeface="Calibri"/>
              </a:rPr>
              <a:t>that</a:t>
            </a:r>
            <a:r>
              <a:rPr sz="2400" spc="-60" dirty="0">
                <a:latin typeface="Calibri"/>
                <a:cs typeface="Calibri"/>
              </a:rPr>
              <a:t> </a:t>
            </a:r>
            <a:r>
              <a:rPr sz="2400" dirty="0">
                <a:latin typeface="Calibri"/>
                <a:cs typeface="Calibri"/>
              </a:rPr>
              <a:t>change</a:t>
            </a:r>
            <a:r>
              <a:rPr sz="2400" spc="-45" dirty="0">
                <a:latin typeface="Calibri"/>
                <a:cs typeface="Calibri"/>
              </a:rPr>
              <a:t> </a:t>
            </a:r>
            <a:r>
              <a:rPr sz="2400" dirty="0">
                <a:latin typeface="Calibri"/>
                <a:cs typeface="Calibri"/>
              </a:rPr>
              <a:t>or</a:t>
            </a:r>
            <a:r>
              <a:rPr sz="2400" spc="-60" dirty="0">
                <a:latin typeface="Calibri"/>
                <a:cs typeface="Calibri"/>
              </a:rPr>
              <a:t> </a:t>
            </a:r>
            <a:r>
              <a:rPr sz="2400" spc="-10" dirty="0">
                <a:latin typeface="Calibri"/>
                <a:cs typeface="Calibri"/>
              </a:rPr>
              <a:t>impact.</a:t>
            </a:r>
            <a:endParaRPr sz="2400" dirty="0">
              <a:latin typeface="Calibri"/>
              <a:cs typeface="Calibri"/>
            </a:endParaRPr>
          </a:p>
          <a:p>
            <a:pPr marL="241300" marR="5715" indent="-228600">
              <a:lnSpc>
                <a:spcPts val="3000"/>
              </a:lnSpc>
              <a:spcBef>
                <a:spcPts val="1005"/>
              </a:spcBef>
              <a:buFont typeface="Arial MT"/>
              <a:buChar char="•"/>
              <a:tabLst>
                <a:tab pos="241300" algn="l"/>
                <a:tab pos="1680845" algn="l"/>
                <a:tab pos="2382520" algn="l"/>
                <a:tab pos="2844800" algn="l"/>
                <a:tab pos="3552825" algn="l"/>
                <a:tab pos="5238115" algn="l"/>
                <a:tab pos="5981065" algn="l"/>
                <a:tab pos="7184390" algn="l"/>
                <a:tab pos="7930515" algn="l"/>
                <a:tab pos="8564245" algn="l"/>
              </a:tabLst>
            </a:pPr>
            <a:r>
              <a:rPr sz="2800" spc="-10" dirty="0">
                <a:latin typeface="Calibri"/>
                <a:cs typeface="Calibri"/>
              </a:rPr>
              <a:t>Typically,</a:t>
            </a:r>
            <a:r>
              <a:rPr sz="2800" dirty="0">
                <a:latin typeface="Calibri"/>
                <a:cs typeface="Calibri"/>
              </a:rPr>
              <a:t>	</a:t>
            </a:r>
            <a:r>
              <a:rPr sz="2800" spc="-25" dirty="0">
                <a:latin typeface="Calibri"/>
                <a:cs typeface="Calibri"/>
              </a:rPr>
              <a:t>one</a:t>
            </a:r>
            <a:r>
              <a:rPr sz="2800" dirty="0">
                <a:latin typeface="Calibri"/>
                <a:cs typeface="Calibri"/>
              </a:rPr>
              <a:t>	</a:t>
            </a:r>
            <a:r>
              <a:rPr sz="2800" spc="-25" dirty="0">
                <a:latin typeface="Calibri"/>
                <a:cs typeface="Calibri"/>
              </a:rPr>
              <a:t>or</a:t>
            </a:r>
            <a:r>
              <a:rPr sz="2800" dirty="0">
                <a:latin typeface="Calibri"/>
                <a:cs typeface="Calibri"/>
              </a:rPr>
              <a:t>	</a:t>
            </a:r>
            <a:r>
              <a:rPr sz="2800" spc="-25" dirty="0">
                <a:latin typeface="Calibri"/>
                <a:cs typeface="Calibri"/>
              </a:rPr>
              <a:t>two</a:t>
            </a:r>
            <a:r>
              <a:rPr sz="2800" dirty="0">
                <a:latin typeface="Calibri"/>
                <a:cs typeface="Calibri"/>
              </a:rPr>
              <a:t>	</a:t>
            </a:r>
            <a:r>
              <a:rPr sz="2800" spc="-10" dirty="0">
                <a:latin typeface="Calibri"/>
                <a:cs typeface="Calibri"/>
              </a:rPr>
              <a:t>sentences,</a:t>
            </a:r>
            <a:r>
              <a:rPr sz="2800" dirty="0">
                <a:latin typeface="Calibri"/>
                <a:cs typeface="Calibri"/>
              </a:rPr>
              <a:t>	</a:t>
            </a:r>
            <a:r>
              <a:rPr sz="2800" spc="-20" dirty="0">
                <a:latin typeface="Calibri"/>
                <a:cs typeface="Calibri"/>
              </a:rPr>
              <a:t>that</a:t>
            </a:r>
            <a:r>
              <a:rPr sz="2800" dirty="0">
                <a:latin typeface="Calibri"/>
                <a:cs typeface="Calibri"/>
              </a:rPr>
              <a:t>	</a:t>
            </a:r>
            <a:r>
              <a:rPr sz="2800" spc="-10" dirty="0">
                <a:latin typeface="Calibri"/>
                <a:cs typeface="Calibri"/>
              </a:rPr>
              <a:t>defines</a:t>
            </a:r>
            <a:r>
              <a:rPr sz="2800" dirty="0">
                <a:latin typeface="Calibri"/>
                <a:cs typeface="Calibri"/>
              </a:rPr>
              <a:t>	</a:t>
            </a:r>
            <a:r>
              <a:rPr sz="2800" spc="-25" dirty="0">
                <a:latin typeface="Calibri"/>
                <a:cs typeface="Calibri"/>
              </a:rPr>
              <a:t>why</a:t>
            </a:r>
            <a:r>
              <a:rPr sz="2800" dirty="0">
                <a:latin typeface="Calibri"/>
                <a:cs typeface="Calibri"/>
              </a:rPr>
              <a:t>	</a:t>
            </a:r>
            <a:r>
              <a:rPr sz="2800" spc="-25" dirty="0">
                <a:latin typeface="Calibri"/>
                <a:cs typeface="Calibri"/>
              </a:rPr>
              <a:t>the</a:t>
            </a:r>
            <a:r>
              <a:rPr sz="2800" dirty="0">
                <a:latin typeface="Calibri"/>
                <a:cs typeface="Calibri"/>
              </a:rPr>
              <a:t>	</a:t>
            </a:r>
            <a:r>
              <a:rPr sz="2800" spc="-25" dirty="0">
                <a:latin typeface="Calibri"/>
                <a:cs typeface="Calibri"/>
              </a:rPr>
              <a:t>organization </a:t>
            </a:r>
            <a:r>
              <a:rPr sz="2800" dirty="0">
                <a:latin typeface="Calibri"/>
                <a:cs typeface="Calibri"/>
              </a:rPr>
              <a:t>exists,</a:t>
            </a:r>
            <a:r>
              <a:rPr sz="2800" spc="-60" dirty="0">
                <a:latin typeface="Calibri"/>
                <a:cs typeface="Calibri"/>
              </a:rPr>
              <a:t> </a:t>
            </a:r>
            <a:r>
              <a:rPr sz="2800" dirty="0">
                <a:latin typeface="Calibri"/>
                <a:cs typeface="Calibri"/>
              </a:rPr>
              <a:t>especially</a:t>
            </a:r>
            <a:r>
              <a:rPr sz="2800" spc="-60" dirty="0">
                <a:latin typeface="Calibri"/>
                <a:cs typeface="Calibri"/>
              </a:rPr>
              <a:t> </a:t>
            </a:r>
            <a:r>
              <a:rPr sz="2800" dirty="0">
                <a:latin typeface="Calibri"/>
                <a:cs typeface="Calibri"/>
              </a:rPr>
              <a:t>what</a:t>
            </a:r>
            <a:r>
              <a:rPr sz="2800" spc="-60" dirty="0">
                <a:latin typeface="Calibri"/>
                <a:cs typeface="Calibri"/>
              </a:rPr>
              <a:t> </a:t>
            </a:r>
            <a:r>
              <a:rPr sz="2800" dirty="0">
                <a:latin typeface="Calibri"/>
                <a:cs typeface="Calibri"/>
              </a:rPr>
              <a:t>it</a:t>
            </a:r>
            <a:r>
              <a:rPr sz="2800" spc="-65" dirty="0">
                <a:latin typeface="Calibri"/>
                <a:cs typeface="Calibri"/>
              </a:rPr>
              <a:t> </a:t>
            </a:r>
            <a:r>
              <a:rPr sz="2800" spc="-10" dirty="0">
                <a:latin typeface="Calibri"/>
                <a:cs typeface="Calibri"/>
              </a:rPr>
              <a:t>offers</a:t>
            </a:r>
            <a:r>
              <a:rPr sz="2800" spc="-55" dirty="0">
                <a:latin typeface="Calibri"/>
                <a:cs typeface="Calibri"/>
              </a:rPr>
              <a:t> </a:t>
            </a:r>
            <a:r>
              <a:rPr sz="2800" dirty="0">
                <a:latin typeface="Calibri"/>
                <a:cs typeface="Calibri"/>
              </a:rPr>
              <a:t>to</a:t>
            </a:r>
            <a:r>
              <a:rPr sz="2800" spc="-60" dirty="0">
                <a:latin typeface="Calibri"/>
                <a:cs typeface="Calibri"/>
              </a:rPr>
              <a:t> </a:t>
            </a:r>
            <a:r>
              <a:rPr sz="2800" dirty="0">
                <a:latin typeface="Calibri"/>
                <a:cs typeface="Calibri"/>
              </a:rPr>
              <a:t>its</a:t>
            </a:r>
            <a:r>
              <a:rPr sz="2800" spc="-60" dirty="0">
                <a:latin typeface="Calibri"/>
                <a:cs typeface="Calibri"/>
              </a:rPr>
              <a:t> </a:t>
            </a:r>
            <a:r>
              <a:rPr sz="2800" spc="-10" dirty="0">
                <a:latin typeface="Calibri"/>
                <a:cs typeface="Calibri"/>
              </a:rPr>
              <a:t>customers</a:t>
            </a:r>
            <a:r>
              <a:rPr sz="2800" spc="-50" dirty="0">
                <a:latin typeface="Calibri"/>
                <a:cs typeface="Calibri"/>
              </a:rPr>
              <a:t> </a:t>
            </a:r>
            <a:r>
              <a:rPr sz="2800" dirty="0">
                <a:latin typeface="Calibri"/>
                <a:cs typeface="Calibri"/>
              </a:rPr>
              <a:t>and</a:t>
            </a:r>
            <a:r>
              <a:rPr sz="2800" spc="-60" dirty="0">
                <a:latin typeface="Calibri"/>
                <a:cs typeface="Calibri"/>
              </a:rPr>
              <a:t> </a:t>
            </a:r>
            <a:r>
              <a:rPr sz="2800" spc="-10" dirty="0">
                <a:latin typeface="Calibri"/>
                <a:cs typeface="Calibri"/>
              </a:rPr>
              <a:t>clients</a:t>
            </a:r>
            <a:endParaRPr sz="2800" dirty="0">
              <a:latin typeface="Calibri"/>
              <a:cs typeface="Calibri"/>
            </a:endParaRPr>
          </a:p>
        </p:txBody>
      </p:sp>
      <p:pic>
        <p:nvPicPr>
          <p:cNvPr id="4" name="object 4"/>
          <p:cNvPicPr/>
          <p:nvPr/>
        </p:nvPicPr>
        <p:blipFill>
          <a:blip r:embed="rId2" cstate="print"/>
          <a:stretch>
            <a:fillRect/>
          </a:stretch>
        </p:blipFill>
        <p:spPr>
          <a:xfrm>
            <a:off x="10085293" y="3550686"/>
            <a:ext cx="1698995" cy="1297584"/>
          </a:xfrm>
          <a:prstGeom prst="rect">
            <a:avLst/>
          </a:prstGeom>
        </p:spPr>
      </p:pic>
      <p:sp>
        <p:nvSpPr>
          <p:cNvPr id="5" name="object 5"/>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16</a:t>
            </a:fld>
            <a:endParaRPr spc="-25" dirty="0"/>
          </a:p>
        </p:txBody>
      </p:sp>
      <p:pic>
        <p:nvPicPr>
          <p:cNvPr id="6" name="Picture 5">
            <a:extLst>
              <a:ext uri="{FF2B5EF4-FFF2-40B4-BE49-F238E27FC236}">
                <a16:creationId xmlns:a16="http://schemas.microsoft.com/office/drawing/2014/main" id="{27AA99D9-6AF8-9EE6-F500-31BA8F8A3F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Examples</a:t>
            </a:r>
          </a:p>
        </p:txBody>
      </p:sp>
      <p:sp>
        <p:nvSpPr>
          <p:cNvPr id="3" name="object 3"/>
          <p:cNvSpPr txBox="1"/>
          <p:nvPr/>
        </p:nvSpPr>
        <p:spPr>
          <a:xfrm>
            <a:off x="916939" y="3203955"/>
            <a:ext cx="10358120" cy="452120"/>
          </a:xfrm>
          <a:prstGeom prst="rect">
            <a:avLst/>
          </a:prstGeom>
        </p:spPr>
        <p:txBody>
          <a:bodyPr vert="horz" wrap="square" lIns="0" tIns="12700" rIns="0" bIns="0" rtlCol="0">
            <a:spAutoFit/>
          </a:bodyPr>
          <a:lstStyle/>
          <a:p>
            <a:pPr marL="240665" indent="-227965">
              <a:lnSpc>
                <a:spcPct val="100000"/>
              </a:lnSpc>
              <a:spcBef>
                <a:spcPts val="100"/>
              </a:spcBef>
              <a:buFont typeface="Arial MT"/>
              <a:buChar char="•"/>
              <a:tabLst>
                <a:tab pos="240665" algn="l"/>
                <a:tab pos="2400935" algn="l"/>
                <a:tab pos="4213225" algn="l"/>
                <a:tab pos="5726430" algn="l"/>
                <a:tab pos="7411084" algn="l"/>
                <a:tab pos="8738870" algn="l"/>
                <a:tab pos="9367520" algn="l"/>
              </a:tabLst>
            </a:pPr>
            <a:r>
              <a:rPr sz="2800" spc="-10" dirty="0">
                <a:latin typeface="Calibri"/>
                <a:cs typeface="Calibri"/>
              </a:rPr>
              <a:t>SOUTHWEST</a:t>
            </a:r>
            <a:r>
              <a:rPr sz="2800" dirty="0">
                <a:latin typeface="Calibri"/>
                <a:cs typeface="Calibri"/>
              </a:rPr>
              <a:t>	</a:t>
            </a:r>
            <a:r>
              <a:rPr sz="2800" spc="-10" dirty="0">
                <a:latin typeface="Calibri"/>
                <a:cs typeface="Calibri"/>
              </a:rPr>
              <a:t>AIRLINES’s</a:t>
            </a:r>
            <a:r>
              <a:rPr sz="2800" dirty="0">
                <a:latin typeface="Calibri"/>
                <a:cs typeface="Calibri"/>
              </a:rPr>
              <a:t>	</a:t>
            </a:r>
            <a:r>
              <a:rPr sz="2800" spc="-10" dirty="0">
                <a:latin typeface="Calibri"/>
                <a:cs typeface="Calibri"/>
              </a:rPr>
              <a:t>mission:</a:t>
            </a:r>
            <a:r>
              <a:rPr sz="2800" dirty="0">
                <a:latin typeface="Calibri"/>
                <a:cs typeface="Calibri"/>
              </a:rPr>
              <a:t>	</a:t>
            </a:r>
            <a:r>
              <a:rPr sz="2800" b="1" spc="-10" dirty="0">
                <a:latin typeface="Calibri"/>
                <a:cs typeface="Calibri"/>
              </a:rPr>
              <a:t>“Connect</a:t>
            </a:r>
            <a:r>
              <a:rPr sz="2800" b="1" dirty="0">
                <a:latin typeface="Calibri"/>
                <a:cs typeface="Calibri"/>
              </a:rPr>
              <a:t>	</a:t>
            </a:r>
            <a:r>
              <a:rPr sz="2800" b="1" spc="-10" dirty="0">
                <a:latin typeface="Calibri"/>
                <a:cs typeface="Calibri"/>
              </a:rPr>
              <a:t>People</a:t>
            </a:r>
            <a:r>
              <a:rPr sz="2800" b="1" dirty="0">
                <a:latin typeface="Calibri"/>
                <a:cs typeface="Calibri"/>
              </a:rPr>
              <a:t>	</a:t>
            </a:r>
            <a:r>
              <a:rPr sz="2800" b="1" spc="-25" dirty="0">
                <a:latin typeface="Calibri"/>
                <a:cs typeface="Calibri"/>
              </a:rPr>
              <a:t>to</a:t>
            </a:r>
            <a:r>
              <a:rPr sz="2800" b="1" dirty="0">
                <a:latin typeface="Calibri"/>
                <a:cs typeface="Calibri"/>
              </a:rPr>
              <a:t>	</a:t>
            </a:r>
            <a:r>
              <a:rPr sz="2800" b="1" spc="-10" dirty="0">
                <a:latin typeface="Calibri"/>
                <a:cs typeface="Calibri"/>
              </a:rPr>
              <a:t>what's</a:t>
            </a:r>
            <a:endParaRPr sz="2800">
              <a:latin typeface="Calibri"/>
              <a:cs typeface="Calibri"/>
            </a:endParaRPr>
          </a:p>
        </p:txBody>
      </p:sp>
      <p:sp>
        <p:nvSpPr>
          <p:cNvPr id="4" name="object 4"/>
          <p:cNvSpPr txBox="1"/>
          <p:nvPr/>
        </p:nvSpPr>
        <p:spPr>
          <a:xfrm>
            <a:off x="916939" y="4996179"/>
            <a:ext cx="10356850" cy="833119"/>
          </a:xfrm>
          <a:prstGeom prst="rect">
            <a:avLst/>
          </a:prstGeom>
        </p:spPr>
        <p:txBody>
          <a:bodyPr vert="horz" wrap="square" lIns="0" tIns="63500" rIns="0" bIns="0" rtlCol="0">
            <a:spAutoFit/>
          </a:bodyPr>
          <a:lstStyle/>
          <a:p>
            <a:pPr marL="241300" marR="5080" indent="-228600">
              <a:lnSpc>
                <a:spcPts val="3000"/>
              </a:lnSpc>
              <a:spcBef>
                <a:spcPts val="500"/>
              </a:spcBef>
              <a:buFont typeface="Arial MT"/>
              <a:buChar char="•"/>
              <a:tabLst>
                <a:tab pos="241300" algn="l"/>
                <a:tab pos="2011045" algn="l"/>
                <a:tab pos="3406140" algn="l"/>
                <a:tab pos="4916170" algn="l"/>
                <a:tab pos="5609590" algn="l"/>
                <a:tab pos="6890384" algn="l"/>
                <a:tab pos="9035415" algn="l"/>
                <a:tab pos="9537700" algn="l"/>
              </a:tabLst>
            </a:pPr>
            <a:r>
              <a:rPr sz="2800" spc="-10" dirty="0">
                <a:latin typeface="Calibri"/>
                <a:cs typeface="Calibri"/>
              </a:rPr>
              <a:t>LINKEDIN’s</a:t>
            </a:r>
            <a:r>
              <a:rPr sz="2800" dirty="0">
                <a:latin typeface="Calibri"/>
                <a:cs typeface="Calibri"/>
              </a:rPr>
              <a:t>	</a:t>
            </a:r>
            <a:r>
              <a:rPr sz="2800" spc="-10" dirty="0">
                <a:latin typeface="Calibri"/>
                <a:cs typeface="Calibri"/>
              </a:rPr>
              <a:t>mission:</a:t>
            </a:r>
            <a:r>
              <a:rPr sz="2800" dirty="0">
                <a:latin typeface="Calibri"/>
                <a:cs typeface="Calibri"/>
              </a:rPr>
              <a:t>	</a:t>
            </a:r>
            <a:r>
              <a:rPr sz="2800" b="1" spc="-10" dirty="0">
                <a:latin typeface="Calibri"/>
                <a:cs typeface="Calibri"/>
              </a:rPr>
              <a:t>“connect</a:t>
            </a:r>
            <a:r>
              <a:rPr sz="2800" b="1" dirty="0">
                <a:latin typeface="Calibri"/>
                <a:cs typeface="Calibri"/>
              </a:rPr>
              <a:t>	</a:t>
            </a:r>
            <a:r>
              <a:rPr sz="2800" b="1" spc="-25" dirty="0">
                <a:latin typeface="Calibri"/>
                <a:cs typeface="Calibri"/>
              </a:rPr>
              <a:t>the</a:t>
            </a:r>
            <a:r>
              <a:rPr sz="2800" b="1" dirty="0">
                <a:latin typeface="Calibri"/>
                <a:cs typeface="Calibri"/>
              </a:rPr>
              <a:t>	</a:t>
            </a:r>
            <a:r>
              <a:rPr sz="2800" b="1" spc="-10" dirty="0">
                <a:latin typeface="Calibri"/>
                <a:cs typeface="Calibri"/>
              </a:rPr>
              <a:t>world's</a:t>
            </a:r>
            <a:r>
              <a:rPr sz="2800" b="1" dirty="0">
                <a:latin typeface="Calibri"/>
                <a:cs typeface="Calibri"/>
              </a:rPr>
              <a:t>	</a:t>
            </a:r>
            <a:r>
              <a:rPr sz="2800" b="1" spc="-10" dirty="0">
                <a:latin typeface="Calibri"/>
                <a:cs typeface="Calibri"/>
              </a:rPr>
              <a:t>professionals</a:t>
            </a:r>
            <a:r>
              <a:rPr sz="2800" b="1" dirty="0">
                <a:latin typeface="Calibri"/>
                <a:cs typeface="Calibri"/>
              </a:rPr>
              <a:t>	</a:t>
            </a:r>
            <a:r>
              <a:rPr sz="2800" u="heavy" spc="-25" dirty="0">
                <a:uFill>
                  <a:solidFill>
                    <a:srgbClr val="000000"/>
                  </a:solidFill>
                </a:uFill>
                <a:latin typeface="Calibri"/>
                <a:cs typeface="Calibri"/>
              </a:rPr>
              <a:t>to</a:t>
            </a:r>
            <a:r>
              <a:rPr sz="2800" dirty="0">
                <a:latin typeface="Calibri"/>
                <a:cs typeface="Calibri"/>
              </a:rPr>
              <a:t>	</a:t>
            </a:r>
            <a:r>
              <a:rPr sz="2800" b="1" spc="-35" dirty="0">
                <a:latin typeface="Calibri"/>
                <a:cs typeface="Calibri"/>
              </a:rPr>
              <a:t>make </a:t>
            </a:r>
            <a:r>
              <a:rPr sz="2800" b="1" dirty="0">
                <a:latin typeface="Calibri"/>
                <a:cs typeface="Calibri"/>
              </a:rPr>
              <a:t>them</a:t>
            </a:r>
            <a:r>
              <a:rPr sz="2800" b="1" spc="-90" dirty="0">
                <a:latin typeface="Calibri"/>
                <a:cs typeface="Calibri"/>
              </a:rPr>
              <a:t> </a:t>
            </a:r>
            <a:r>
              <a:rPr sz="2800" b="1" dirty="0">
                <a:latin typeface="Calibri"/>
                <a:cs typeface="Calibri"/>
              </a:rPr>
              <a:t>more</a:t>
            </a:r>
            <a:r>
              <a:rPr sz="2800" b="1" spc="-70" dirty="0">
                <a:latin typeface="Calibri"/>
                <a:cs typeface="Calibri"/>
              </a:rPr>
              <a:t> </a:t>
            </a:r>
            <a:r>
              <a:rPr sz="2800" b="1" dirty="0">
                <a:latin typeface="Calibri"/>
                <a:cs typeface="Calibri"/>
              </a:rPr>
              <a:t>productive</a:t>
            </a:r>
            <a:r>
              <a:rPr sz="2800" b="1" spc="-70" dirty="0">
                <a:latin typeface="Calibri"/>
                <a:cs typeface="Calibri"/>
              </a:rPr>
              <a:t> </a:t>
            </a:r>
            <a:r>
              <a:rPr sz="2800" b="1" dirty="0">
                <a:latin typeface="Calibri"/>
                <a:cs typeface="Calibri"/>
              </a:rPr>
              <a:t>and</a:t>
            </a:r>
            <a:r>
              <a:rPr sz="2800" b="1" spc="-75" dirty="0">
                <a:latin typeface="Calibri"/>
                <a:cs typeface="Calibri"/>
              </a:rPr>
              <a:t> </a:t>
            </a:r>
            <a:r>
              <a:rPr sz="2800" b="1" spc="-10" dirty="0">
                <a:latin typeface="Calibri"/>
                <a:cs typeface="Calibri"/>
              </a:rPr>
              <a:t>successful”.</a:t>
            </a:r>
            <a:endParaRPr sz="2800">
              <a:latin typeface="Calibri"/>
              <a:cs typeface="Calibri"/>
            </a:endParaRPr>
          </a:p>
        </p:txBody>
      </p:sp>
      <p:sp>
        <p:nvSpPr>
          <p:cNvPr id="5" name="object 5"/>
          <p:cNvSpPr/>
          <p:nvPr/>
        </p:nvSpPr>
        <p:spPr>
          <a:xfrm>
            <a:off x="6807200" y="2235200"/>
            <a:ext cx="626745" cy="431800"/>
          </a:xfrm>
          <a:custGeom>
            <a:avLst/>
            <a:gdLst/>
            <a:ahLst/>
            <a:cxnLst/>
            <a:rect l="l" t="t" r="r" b="b"/>
            <a:pathLst>
              <a:path w="626745" h="431800">
                <a:moveTo>
                  <a:pt x="167310" y="75289"/>
                </a:moveTo>
                <a:lnTo>
                  <a:pt x="133847" y="125483"/>
                </a:lnTo>
                <a:lnTo>
                  <a:pt x="592869" y="431496"/>
                </a:lnTo>
                <a:lnTo>
                  <a:pt x="626330" y="381303"/>
                </a:lnTo>
                <a:lnTo>
                  <a:pt x="167310" y="75289"/>
                </a:lnTo>
                <a:close/>
              </a:path>
              <a:path w="626745" h="431800">
                <a:moveTo>
                  <a:pt x="0" y="0"/>
                </a:moveTo>
                <a:lnTo>
                  <a:pt x="100385" y="175676"/>
                </a:lnTo>
                <a:lnTo>
                  <a:pt x="133847" y="125483"/>
                </a:lnTo>
                <a:lnTo>
                  <a:pt x="108751" y="108752"/>
                </a:lnTo>
                <a:lnTo>
                  <a:pt x="142214" y="58558"/>
                </a:lnTo>
                <a:lnTo>
                  <a:pt x="178464" y="58558"/>
                </a:lnTo>
                <a:lnTo>
                  <a:pt x="200773" y="25096"/>
                </a:lnTo>
                <a:lnTo>
                  <a:pt x="0" y="0"/>
                </a:lnTo>
                <a:close/>
              </a:path>
              <a:path w="626745" h="431800">
                <a:moveTo>
                  <a:pt x="142214" y="58558"/>
                </a:moveTo>
                <a:lnTo>
                  <a:pt x="108751" y="108752"/>
                </a:lnTo>
                <a:lnTo>
                  <a:pt x="133847" y="125483"/>
                </a:lnTo>
                <a:lnTo>
                  <a:pt x="167310" y="75289"/>
                </a:lnTo>
                <a:lnTo>
                  <a:pt x="142214" y="58558"/>
                </a:lnTo>
                <a:close/>
              </a:path>
              <a:path w="626745" h="431800">
                <a:moveTo>
                  <a:pt x="178464" y="58558"/>
                </a:moveTo>
                <a:lnTo>
                  <a:pt x="142214" y="58558"/>
                </a:lnTo>
                <a:lnTo>
                  <a:pt x="167310" y="75289"/>
                </a:lnTo>
                <a:lnTo>
                  <a:pt x="178464" y="58558"/>
                </a:lnTo>
                <a:close/>
              </a:path>
            </a:pathLst>
          </a:custGeom>
          <a:solidFill>
            <a:srgbClr val="4472C4"/>
          </a:solidFill>
        </p:spPr>
        <p:txBody>
          <a:bodyPr wrap="square" lIns="0" tIns="0" rIns="0" bIns="0" rtlCol="0"/>
          <a:lstStyle/>
          <a:p>
            <a:endParaRPr/>
          </a:p>
        </p:txBody>
      </p:sp>
      <p:sp>
        <p:nvSpPr>
          <p:cNvPr id="6" name="object 6"/>
          <p:cNvSpPr/>
          <p:nvPr/>
        </p:nvSpPr>
        <p:spPr>
          <a:xfrm>
            <a:off x="5384801" y="2612381"/>
            <a:ext cx="626745" cy="431800"/>
          </a:xfrm>
          <a:custGeom>
            <a:avLst/>
            <a:gdLst/>
            <a:ahLst/>
            <a:cxnLst/>
            <a:rect l="l" t="t" r="r" b="b"/>
            <a:pathLst>
              <a:path w="626745" h="431800">
                <a:moveTo>
                  <a:pt x="167310" y="75289"/>
                </a:moveTo>
                <a:lnTo>
                  <a:pt x="133847" y="125483"/>
                </a:lnTo>
                <a:lnTo>
                  <a:pt x="592869" y="431496"/>
                </a:lnTo>
                <a:lnTo>
                  <a:pt x="626330" y="381303"/>
                </a:lnTo>
                <a:lnTo>
                  <a:pt x="167310" y="75289"/>
                </a:lnTo>
                <a:close/>
              </a:path>
              <a:path w="626745" h="431800">
                <a:moveTo>
                  <a:pt x="0" y="0"/>
                </a:moveTo>
                <a:lnTo>
                  <a:pt x="100385" y="175676"/>
                </a:lnTo>
                <a:lnTo>
                  <a:pt x="133847" y="125483"/>
                </a:lnTo>
                <a:lnTo>
                  <a:pt x="108751" y="108752"/>
                </a:lnTo>
                <a:lnTo>
                  <a:pt x="142214" y="58558"/>
                </a:lnTo>
                <a:lnTo>
                  <a:pt x="178464" y="58558"/>
                </a:lnTo>
                <a:lnTo>
                  <a:pt x="200773" y="25096"/>
                </a:lnTo>
                <a:lnTo>
                  <a:pt x="0" y="0"/>
                </a:lnTo>
                <a:close/>
              </a:path>
              <a:path w="626745" h="431800">
                <a:moveTo>
                  <a:pt x="142214" y="58558"/>
                </a:moveTo>
                <a:lnTo>
                  <a:pt x="108751" y="108752"/>
                </a:lnTo>
                <a:lnTo>
                  <a:pt x="133847" y="125483"/>
                </a:lnTo>
                <a:lnTo>
                  <a:pt x="167310" y="75289"/>
                </a:lnTo>
                <a:lnTo>
                  <a:pt x="142214" y="58558"/>
                </a:lnTo>
                <a:close/>
              </a:path>
              <a:path w="626745" h="431800">
                <a:moveTo>
                  <a:pt x="178464" y="58558"/>
                </a:moveTo>
                <a:lnTo>
                  <a:pt x="142214" y="58558"/>
                </a:lnTo>
                <a:lnTo>
                  <a:pt x="167310" y="75289"/>
                </a:lnTo>
                <a:lnTo>
                  <a:pt x="178464" y="58558"/>
                </a:lnTo>
                <a:close/>
              </a:path>
            </a:pathLst>
          </a:custGeom>
          <a:solidFill>
            <a:srgbClr val="4472C4"/>
          </a:solidFill>
        </p:spPr>
        <p:txBody>
          <a:bodyPr wrap="square" lIns="0" tIns="0" rIns="0" bIns="0" rtlCol="0"/>
          <a:lstStyle/>
          <a:p>
            <a:endParaRPr/>
          </a:p>
        </p:txBody>
      </p:sp>
      <p:sp>
        <p:nvSpPr>
          <p:cNvPr id="7" name="object 7"/>
          <p:cNvSpPr txBox="1"/>
          <p:nvPr/>
        </p:nvSpPr>
        <p:spPr>
          <a:xfrm>
            <a:off x="5628641" y="2974340"/>
            <a:ext cx="901065" cy="3911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C00000"/>
                </a:solidFill>
                <a:latin typeface="Calibri"/>
                <a:cs typeface="Calibri"/>
              </a:rPr>
              <a:t>Impact</a:t>
            </a:r>
            <a:endParaRPr sz="2400">
              <a:latin typeface="Calibri"/>
              <a:cs typeface="Calibri"/>
            </a:endParaRPr>
          </a:p>
        </p:txBody>
      </p:sp>
      <p:sp>
        <p:nvSpPr>
          <p:cNvPr id="8" name="object 8"/>
          <p:cNvSpPr txBox="1"/>
          <p:nvPr/>
        </p:nvSpPr>
        <p:spPr>
          <a:xfrm>
            <a:off x="916939" y="1795779"/>
            <a:ext cx="10356850" cy="1256030"/>
          </a:xfrm>
          <a:prstGeom prst="rect">
            <a:avLst/>
          </a:prstGeom>
        </p:spPr>
        <p:txBody>
          <a:bodyPr vert="horz" wrap="square" lIns="0" tIns="12700" rIns="0" bIns="0" rtlCol="0">
            <a:spAutoFit/>
          </a:bodyPr>
          <a:lstStyle/>
          <a:p>
            <a:pPr marL="240665" indent="-227965">
              <a:lnSpc>
                <a:spcPts val="3180"/>
              </a:lnSpc>
              <a:spcBef>
                <a:spcPts val="100"/>
              </a:spcBef>
              <a:buFont typeface="Arial MT"/>
              <a:buChar char="•"/>
              <a:tabLst>
                <a:tab pos="240665" algn="l"/>
              </a:tabLst>
            </a:pPr>
            <a:r>
              <a:rPr sz="2800" dirty="0">
                <a:latin typeface="Calibri"/>
                <a:cs typeface="Calibri"/>
              </a:rPr>
              <a:t>GOOGLE’s</a:t>
            </a:r>
            <a:r>
              <a:rPr sz="2800" spc="60" dirty="0">
                <a:latin typeface="Calibri"/>
                <a:cs typeface="Calibri"/>
              </a:rPr>
              <a:t> </a:t>
            </a:r>
            <a:r>
              <a:rPr sz="2800" dirty="0">
                <a:latin typeface="Calibri"/>
                <a:cs typeface="Calibri"/>
              </a:rPr>
              <a:t>mission:</a:t>
            </a:r>
            <a:r>
              <a:rPr sz="2800" spc="50" dirty="0">
                <a:latin typeface="Calibri"/>
                <a:cs typeface="Calibri"/>
              </a:rPr>
              <a:t> </a:t>
            </a:r>
            <a:r>
              <a:rPr sz="2800" dirty="0">
                <a:latin typeface="Calibri"/>
                <a:cs typeface="Calibri"/>
              </a:rPr>
              <a:t>“</a:t>
            </a:r>
            <a:r>
              <a:rPr sz="2800" b="1" dirty="0">
                <a:latin typeface="Calibri"/>
                <a:cs typeface="Calibri"/>
              </a:rPr>
              <a:t>to</a:t>
            </a:r>
            <a:r>
              <a:rPr sz="2800" b="1" spc="50" dirty="0">
                <a:latin typeface="Calibri"/>
                <a:cs typeface="Calibri"/>
              </a:rPr>
              <a:t> </a:t>
            </a:r>
            <a:r>
              <a:rPr sz="2800" b="1" dirty="0">
                <a:latin typeface="Calibri"/>
                <a:cs typeface="Calibri"/>
              </a:rPr>
              <a:t>organize</a:t>
            </a:r>
            <a:r>
              <a:rPr sz="2800" b="1" spc="55" dirty="0">
                <a:latin typeface="Calibri"/>
                <a:cs typeface="Calibri"/>
              </a:rPr>
              <a:t> </a:t>
            </a:r>
            <a:r>
              <a:rPr sz="2800" b="1" dirty="0">
                <a:latin typeface="Calibri"/>
                <a:cs typeface="Calibri"/>
              </a:rPr>
              <a:t>the</a:t>
            </a:r>
            <a:r>
              <a:rPr sz="2800" b="1" spc="55" dirty="0">
                <a:latin typeface="Calibri"/>
                <a:cs typeface="Calibri"/>
              </a:rPr>
              <a:t> </a:t>
            </a:r>
            <a:r>
              <a:rPr sz="2800" b="1" dirty="0">
                <a:latin typeface="Calibri"/>
                <a:cs typeface="Calibri"/>
              </a:rPr>
              <a:t>world's</a:t>
            </a:r>
            <a:r>
              <a:rPr sz="2800" b="1" spc="50" dirty="0">
                <a:latin typeface="Calibri"/>
                <a:cs typeface="Calibri"/>
              </a:rPr>
              <a:t> </a:t>
            </a:r>
            <a:r>
              <a:rPr sz="2800" b="1" dirty="0">
                <a:latin typeface="Calibri"/>
                <a:cs typeface="Calibri"/>
              </a:rPr>
              <a:t>information</a:t>
            </a:r>
            <a:r>
              <a:rPr sz="2800" b="1" spc="45" dirty="0">
                <a:latin typeface="Calibri"/>
                <a:cs typeface="Calibri"/>
              </a:rPr>
              <a:t> </a:t>
            </a:r>
            <a:r>
              <a:rPr sz="2800" u="heavy" dirty="0">
                <a:uFill>
                  <a:solidFill>
                    <a:srgbClr val="000000"/>
                  </a:solidFill>
                </a:uFill>
                <a:latin typeface="Calibri"/>
                <a:cs typeface="Calibri"/>
              </a:rPr>
              <a:t>and</a:t>
            </a:r>
            <a:r>
              <a:rPr sz="2800" u="heavy" spc="55" dirty="0">
                <a:uFill>
                  <a:solidFill>
                    <a:srgbClr val="000000"/>
                  </a:solidFill>
                </a:uFill>
                <a:latin typeface="Calibri"/>
                <a:cs typeface="Calibri"/>
              </a:rPr>
              <a:t> </a:t>
            </a:r>
            <a:r>
              <a:rPr sz="2800" u="heavy" dirty="0">
                <a:uFill>
                  <a:solidFill>
                    <a:srgbClr val="000000"/>
                  </a:solidFill>
                </a:uFill>
                <a:latin typeface="Calibri"/>
                <a:cs typeface="Calibri"/>
              </a:rPr>
              <a:t>make</a:t>
            </a:r>
            <a:r>
              <a:rPr sz="2800" u="heavy" spc="50" dirty="0">
                <a:uFill>
                  <a:solidFill>
                    <a:srgbClr val="000000"/>
                  </a:solidFill>
                </a:uFill>
                <a:latin typeface="Calibri"/>
                <a:cs typeface="Calibri"/>
              </a:rPr>
              <a:t> </a:t>
            </a:r>
            <a:r>
              <a:rPr sz="2800" u="heavy" spc="-25" dirty="0">
                <a:uFill>
                  <a:solidFill>
                    <a:srgbClr val="000000"/>
                  </a:solidFill>
                </a:uFill>
                <a:latin typeface="Calibri"/>
                <a:cs typeface="Calibri"/>
              </a:rPr>
              <a:t>it</a:t>
            </a:r>
            <a:endParaRPr sz="2800">
              <a:latin typeface="Calibri"/>
              <a:cs typeface="Calibri"/>
            </a:endParaRPr>
          </a:p>
          <a:p>
            <a:pPr marL="241300">
              <a:lnSpc>
                <a:spcPts val="3180"/>
              </a:lnSpc>
            </a:pPr>
            <a:r>
              <a:rPr sz="2800" b="1" dirty="0">
                <a:latin typeface="Calibri"/>
                <a:cs typeface="Calibri"/>
              </a:rPr>
              <a:t>universally</a:t>
            </a:r>
            <a:r>
              <a:rPr sz="2800" b="1" spc="-90" dirty="0">
                <a:latin typeface="Calibri"/>
                <a:cs typeface="Calibri"/>
              </a:rPr>
              <a:t> </a:t>
            </a:r>
            <a:r>
              <a:rPr sz="2800" b="1" dirty="0">
                <a:latin typeface="Calibri"/>
                <a:cs typeface="Calibri"/>
              </a:rPr>
              <a:t>accessible</a:t>
            </a:r>
            <a:r>
              <a:rPr sz="2800" b="1" spc="-90" dirty="0">
                <a:latin typeface="Calibri"/>
                <a:cs typeface="Calibri"/>
              </a:rPr>
              <a:t> </a:t>
            </a:r>
            <a:r>
              <a:rPr sz="2800" b="1" dirty="0">
                <a:latin typeface="Calibri"/>
                <a:cs typeface="Calibri"/>
              </a:rPr>
              <a:t>and</a:t>
            </a:r>
            <a:r>
              <a:rPr sz="2800" b="1" spc="-90" dirty="0">
                <a:latin typeface="Calibri"/>
                <a:cs typeface="Calibri"/>
              </a:rPr>
              <a:t> </a:t>
            </a:r>
            <a:r>
              <a:rPr sz="2800" b="1" spc="-10" dirty="0">
                <a:latin typeface="Calibri"/>
                <a:cs typeface="Calibri"/>
              </a:rPr>
              <a:t>useful”</a:t>
            </a:r>
            <a:endParaRPr sz="2800">
              <a:latin typeface="Calibri"/>
              <a:cs typeface="Calibri"/>
            </a:endParaRPr>
          </a:p>
          <a:p>
            <a:pPr marL="2658110" algn="ctr">
              <a:lnSpc>
                <a:spcPct val="100000"/>
              </a:lnSpc>
              <a:spcBef>
                <a:spcPts val="445"/>
              </a:spcBef>
            </a:pPr>
            <a:r>
              <a:rPr sz="2400" b="1" spc="-25" dirty="0">
                <a:solidFill>
                  <a:srgbClr val="C00000"/>
                </a:solidFill>
                <a:latin typeface="Calibri"/>
                <a:cs typeface="Calibri"/>
              </a:rPr>
              <a:t>How</a:t>
            </a:r>
            <a:endParaRPr sz="2400">
              <a:latin typeface="Calibri"/>
              <a:cs typeface="Calibri"/>
            </a:endParaRPr>
          </a:p>
        </p:txBody>
      </p:sp>
      <p:sp>
        <p:nvSpPr>
          <p:cNvPr id="9" name="object 9"/>
          <p:cNvSpPr/>
          <p:nvPr/>
        </p:nvSpPr>
        <p:spPr>
          <a:xfrm>
            <a:off x="8736369" y="4106834"/>
            <a:ext cx="626745" cy="431800"/>
          </a:xfrm>
          <a:custGeom>
            <a:avLst/>
            <a:gdLst/>
            <a:ahLst/>
            <a:cxnLst/>
            <a:rect l="l" t="t" r="r" b="b"/>
            <a:pathLst>
              <a:path w="626745" h="431800">
                <a:moveTo>
                  <a:pt x="167312" y="75289"/>
                </a:moveTo>
                <a:lnTo>
                  <a:pt x="133849" y="125482"/>
                </a:lnTo>
                <a:lnTo>
                  <a:pt x="592869" y="431496"/>
                </a:lnTo>
                <a:lnTo>
                  <a:pt x="626332" y="381302"/>
                </a:lnTo>
                <a:lnTo>
                  <a:pt x="167312" y="75289"/>
                </a:lnTo>
                <a:close/>
              </a:path>
              <a:path w="626745" h="431800">
                <a:moveTo>
                  <a:pt x="0" y="0"/>
                </a:moveTo>
                <a:lnTo>
                  <a:pt x="100387" y="175676"/>
                </a:lnTo>
                <a:lnTo>
                  <a:pt x="133849" y="125482"/>
                </a:lnTo>
                <a:lnTo>
                  <a:pt x="108752" y="108751"/>
                </a:lnTo>
                <a:lnTo>
                  <a:pt x="142215" y="58558"/>
                </a:lnTo>
                <a:lnTo>
                  <a:pt x="178466" y="58558"/>
                </a:lnTo>
                <a:lnTo>
                  <a:pt x="200774" y="25096"/>
                </a:lnTo>
                <a:lnTo>
                  <a:pt x="0" y="0"/>
                </a:lnTo>
                <a:close/>
              </a:path>
              <a:path w="626745" h="431800">
                <a:moveTo>
                  <a:pt x="142215" y="58558"/>
                </a:moveTo>
                <a:lnTo>
                  <a:pt x="108752" y="108751"/>
                </a:lnTo>
                <a:lnTo>
                  <a:pt x="133849" y="125482"/>
                </a:lnTo>
                <a:lnTo>
                  <a:pt x="167312" y="75289"/>
                </a:lnTo>
                <a:lnTo>
                  <a:pt x="142215" y="58558"/>
                </a:lnTo>
                <a:close/>
              </a:path>
              <a:path w="626745" h="431800">
                <a:moveTo>
                  <a:pt x="178466" y="58558"/>
                </a:moveTo>
                <a:lnTo>
                  <a:pt x="142215" y="58558"/>
                </a:lnTo>
                <a:lnTo>
                  <a:pt x="167312" y="75289"/>
                </a:lnTo>
                <a:lnTo>
                  <a:pt x="178466" y="58558"/>
                </a:lnTo>
                <a:close/>
              </a:path>
            </a:pathLst>
          </a:custGeom>
          <a:solidFill>
            <a:srgbClr val="4472C4"/>
          </a:solidFill>
        </p:spPr>
        <p:txBody>
          <a:bodyPr wrap="square" lIns="0" tIns="0" rIns="0" bIns="0" rtlCol="0"/>
          <a:lstStyle/>
          <a:p>
            <a:endParaRPr/>
          </a:p>
        </p:txBody>
      </p:sp>
      <p:sp>
        <p:nvSpPr>
          <p:cNvPr id="10" name="object 10"/>
          <p:cNvSpPr txBox="1"/>
          <p:nvPr/>
        </p:nvSpPr>
        <p:spPr>
          <a:xfrm>
            <a:off x="1145539" y="3584955"/>
            <a:ext cx="10128250" cy="1338580"/>
          </a:xfrm>
          <a:prstGeom prst="rect">
            <a:avLst/>
          </a:prstGeom>
        </p:spPr>
        <p:txBody>
          <a:bodyPr vert="horz" wrap="square" lIns="0" tIns="63500" rIns="0" bIns="0" rtlCol="0">
            <a:spAutoFit/>
          </a:bodyPr>
          <a:lstStyle/>
          <a:p>
            <a:pPr marL="12700" marR="5080">
              <a:lnSpc>
                <a:spcPts val="3000"/>
              </a:lnSpc>
              <a:spcBef>
                <a:spcPts val="500"/>
              </a:spcBef>
              <a:tabLst>
                <a:tab pos="1637664" algn="l"/>
                <a:tab pos="2049145" algn="l"/>
                <a:tab pos="2890520" algn="l"/>
                <a:tab pos="3684270" algn="l"/>
                <a:tab pos="4971415" algn="l"/>
                <a:tab pos="6318250" algn="l"/>
                <a:tab pos="7654290" algn="l"/>
                <a:tab pos="8345170" algn="l"/>
                <a:tab pos="9724390" algn="l"/>
              </a:tabLst>
            </a:pPr>
            <a:r>
              <a:rPr sz="2800" b="1" spc="-10" dirty="0">
                <a:latin typeface="Calibri"/>
                <a:cs typeface="Calibri"/>
              </a:rPr>
              <a:t>important</a:t>
            </a:r>
            <a:r>
              <a:rPr sz="2800" b="1" dirty="0">
                <a:latin typeface="Calibri"/>
                <a:cs typeface="Calibri"/>
              </a:rPr>
              <a:t>	</a:t>
            </a:r>
            <a:r>
              <a:rPr sz="2800" b="1" spc="-25" dirty="0">
                <a:latin typeface="Calibri"/>
                <a:cs typeface="Calibri"/>
              </a:rPr>
              <a:t>in</a:t>
            </a:r>
            <a:r>
              <a:rPr sz="2800" b="1" dirty="0">
                <a:latin typeface="Calibri"/>
                <a:cs typeface="Calibri"/>
              </a:rPr>
              <a:t>	</a:t>
            </a:r>
            <a:r>
              <a:rPr sz="2800" b="1" spc="-20" dirty="0">
                <a:latin typeface="Calibri"/>
                <a:cs typeface="Calibri"/>
              </a:rPr>
              <a:t>their</a:t>
            </a:r>
            <a:r>
              <a:rPr sz="2800" b="1" dirty="0">
                <a:latin typeface="Calibri"/>
                <a:cs typeface="Calibri"/>
              </a:rPr>
              <a:t>	</a:t>
            </a:r>
            <a:r>
              <a:rPr sz="2800" b="1" spc="-10" dirty="0">
                <a:latin typeface="Calibri"/>
                <a:cs typeface="Calibri"/>
              </a:rPr>
              <a:t>lives</a:t>
            </a:r>
            <a:r>
              <a:rPr sz="2800" b="1" dirty="0">
                <a:latin typeface="Calibri"/>
                <a:cs typeface="Calibri"/>
              </a:rPr>
              <a:t>	</a:t>
            </a:r>
            <a:r>
              <a:rPr sz="2800" u="heavy" spc="-10" dirty="0">
                <a:uFill>
                  <a:solidFill>
                    <a:srgbClr val="000000"/>
                  </a:solidFill>
                </a:uFill>
                <a:latin typeface="Calibri"/>
                <a:cs typeface="Calibri"/>
              </a:rPr>
              <a:t>through</a:t>
            </a:r>
            <a:r>
              <a:rPr sz="2800" dirty="0">
                <a:latin typeface="Calibri"/>
                <a:cs typeface="Calibri"/>
              </a:rPr>
              <a:t>	</a:t>
            </a:r>
            <a:r>
              <a:rPr sz="2800" b="1" spc="-10" dirty="0">
                <a:latin typeface="Calibri"/>
                <a:cs typeface="Calibri"/>
              </a:rPr>
              <a:t>friendly,</a:t>
            </a:r>
            <a:r>
              <a:rPr sz="2800" b="1" dirty="0">
                <a:latin typeface="Calibri"/>
                <a:cs typeface="Calibri"/>
              </a:rPr>
              <a:t>	</a:t>
            </a:r>
            <a:r>
              <a:rPr sz="2800" b="1" spc="-10" dirty="0">
                <a:latin typeface="Calibri"/>
                <a:cs typeface="Calibri"/>
              </a:rPr>
              <a:t>reliable,</a:t>
            </a:r>
            <a:r>
              <a:rPr sz="2800" b="1" dirty="0">
                <a:latin typeface="Calibri"/>
                <a:cs typeface="Calibri"/>
              </a:rPr>
              <a:t>	</a:t>
            </a:r>
            <a:r>
              <a:rPr sz="2800" b="1" spc="-25" dirty="0">
                <a:latin typeface="Calibri"/>
                <a:cs typeface="Calibri"/>
              </a:rPr>
              <a:t>and</a:t>
            </a:r>
            <a:r>
              <a:rPr sz="2800" b="1" dirty="0">
                <a:latin typeface="Calibri"/>
                <a:cs typeface="Calibri"/>
              </a:rPr>
              <a:t>	</a:t>
            </a:r>
            <a:r>
              <a:rPr sz="2800" b="1" spc="-30" dirty="0">
                <a:latin typeface="Calibri"/>
                <a:cs typeface="Calibri"/>
              </a:rPr>
              <a:t>low-</a:t>
            </a:r>
            <a:r>
              <a:rPr sz="2800" b="1" spc="-20" dirty="0">
                <a:latin typeface="Calibri"/>
                <a:cs typeface="Calibri"/>
              </a:rPr>
              <a:t>cost</a:t>
            </a:r>
            <a:r>
              <a:rPr sz="2800" b="1" dirty="0">
                <a:latin typeface="Calibri"/>
                <a:cs typeface="Calibri"/>
              </a:rPr>
              <a:t>	</a:t>
            </a:r>
            <a:r>
              <a:rPr sz="2800" b="1" spc="-25" dirty="0">
                <a:latin typeface="Calibri"/>
                <a:cs typeface="Calibri"/>
              </a:rPr>
              <a:t>air </a:t>
            </a:r>
            <a:r>
              <a:rPr sz="2800" b="1" spc="-10" dirty="0">
                <a:latin typeface="Calibri"/>
                <a:cs typeface="Calibri"/>
              </a:rPr>
              <a:t>travel”.</a:t>
            </a:r>
            <a:endParaRPr sz="2800">
              <a:latin typeface="Calibri"/>
              <a:cs typeface="Calibri"/>
            </a:endParaRPr>
          </a:p>
          <a:p>
            <a:pPr marR="1620520" algn="r">
              <a:lnSpc>
                <a:spcPct val="100000"/>
              </a:lnSpc>
              <a:spcBef>
                <a:spcPts val="1055"/>
              </a:spcBef>
            </a:pPr>
            <a:r>
              <a:rPr sz="2400" b="1" spc="-25" dirty="0">
                <a:solidFill>
                  <a:srgbClr val="C00000"/>
                </a:solidFill>
                <a:latin typeface="Calibri"/>
                <a:cs typeface="Calibri"/>
              </a:rPr>
              <a:t>How</a:t>
            </a:r>
            <a:endParaRPr sz="2400">
              <a:latin typeface="Calibri"/>
              <a:cs typeface="Calibri"/>
            </a:endParaRPr>
          </a:p>
        </p:txBody>
      </p:sp>
      <p:sp>
        <p:nvSpPr>
          <p:cNvPr id="11" name="object 11"/>
          <p:cNvSpPr/>
          <p:nvPr/>
        </p:nvSpPr>
        <p:spPr>
          <a:xfrm>
            <a:off x="11188700" y="3638829"/>
            <a:ext cx="626745" cy="431800"/>
          </a:xfrm>
          <a:custGeom>
            <a:avLst/>
            <a:gdLst/>
            <a:ahLst/>
            <a:cxnLst/>
            <a:rect l="l" t="t" r="r" b="b"/>
            <a:pathLst>
              <a:path w="626745" h="431800">
                <a:moveTo>
                  <a:pt x="167310" y="75290"/>
                </a:moveTo>
                <a:lnTo>
                  <a:pt x="133848" y="125484"/>
                </a:lnTo>
                <a:lnTo>
                  <a:pt x="592867" y="431497"/>
                </a:lnTo>
                <a:lnTo>
                  <a:pt x="626330" y="381303"/>
                </a:lnTo>
                <a:lnTo>
                  <a:pt x="167310" y="75290"/>
                </a:lnTo>
                <a:close/>
              </a:path>
              <a:path w="626745" h="431800">
                <a:moveTo>
                  <a:pt x="0" y="0"/>
                </a:moveTo>
                <a:lnTo>
                  <a:pt x="100385" y="175677"/>
                </a:lnTo>
                <a:lnTo>
                  <a:pt x="133848" y="125484"/>
                </a:lnTo>
                <a:lnTo>
                  <a:pt x="108751" y="108752"/>
                </a:lnTo>
                <a:lnTo>
                  <a:pt x="142214" y="58559"/>
                </a:lnTo>
                <a:lnTo>
                  <a:pt x="178464" y="58559"/>
                </a:lnTo>
                <a:lnTo>
                  <a:pt x="200773" y="25097"/>
                </a:lnTo>
                <a:lnTo>
                  <a:pt x="0" y="0"/>
                </a:lnTo>
                <a:close/>
              </a:path>
              <a:path w="626745" h="431800">
                <a:moveTo>
                  <a:pt x="142214" y="58559"/>
                </a:moveTo>
                <a:lnTo>
                  <a:pt x="108751" y="108752"/>
                </a:lnTo>
                <a:lnTo>
                  <a:pt x="133848" y="125484"/>
                </a:lnTo>
                <a:lnTo>
                  <a:pt x="167310" y="75290"/>
                </a:lnTo>
                <a:lnTo>
                  <a:pt x="142214" y="58559"/>
                </a:lnTo>
                <a:close/>
              </a:path>
              <a:path w="626745" h="431800">
                <a:moveTo>
                  <a:pt x="178464" y="58559"/>
                </a:moveTo>
                <a:lnTo>
                  <a:pt x="142214" y="58559"/>
                </a:lnTo>
                <a:lnTo>
                  <a:pt x="167310" y="75290"/>
                </a:lnTo>
                <a:lnTo>
                  <a:pt x="178464" y="58559"/>
                </a:lnTo>
                <a:close/>
              </a:path>
            </a:pathLst>
          </a:custGeom>
          <a:solidFill>
            <a:srgbClr val="4472C4"/>
          </a:solidFill>
        </p:spPr>
        <p:txBody>
          <a:bodyPr wrap="square" lIns="0" tIns="0" rIns="0" bIns="0" rtlCol="0"/>
          <a:lstStyle/>
          <a:p>
            <a:endParaRPr/>
          </a:p>
        </p:txBody>
      </p:sp>
      <p:sp>
        <p:nvSpPr>
          <p:cNvPr id="12" name="object 12"/>
          <p:cNvSpPr txBox="1"/>
          <p:nvPr/>
        </p:nvSpPr>
        <p:spPr>
          <a:xfrm>
            <a:off x="11290300" y="4001516"/>
            <a:ext cx="901065" cy="3911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C00000"/>
                </a:solidFill>
                <a:latin typeface="Calibri"/>
                <a:cs typeface="Calibri"/>
              </a:rPr>
              <a:t>Impact</a:t>
            </a:r>
            <a:endParaRPr sz="2400">
              <a:latin typeface="Calibri"/>
              <a:cs typeface="Calibri"/>
            </a:endParaRPr>
          </a:p>
        </p:txBody>
      </p:sp>
      <p:sp>
        <p:nvSpPr>
          <p:cNvPr id="13" name="object 13"/>
          <p:cNvSpPr/>
          <p:nvPr/>
        </p:nvSpPr>
        <p:spPr>
          <a:xfrm>
            <a:off x="8239759" y="5478124"/>
            <a:ext cx="626745" cy="431800"/>
          </a:xfrm>
          <a:custGeom>
            <a:avLst/>
            <a:gdLst/>
            <a:ahLst/>
            <a:cxnLst/>
            <a:rect l="l" t="t" r="r" b="b"/>
            <a:pathLst>
              <a:path w="626745" h="431800">
                <a:moveTo>
                  <a:pt x="167310" y="75290"/>
                </a:moveTo>
                <a:lnTo>
                  <a:pt x="133848" y="125483"/>
                </a:lnTo>
                <a:lnTo>
                  <a:pt x="592869" y="431496"/>
                </a:lnTo>
                <a:lnTo>
                  <a:pt x="626330" y="381303"/>
                </a:lnTo>
                <a:lnTo>
                  <a:pt x="167310" y="75290"/>
                </a:lnTo>
                <a:close/>
              </a:path>
              <a:path w="626745" h="431800">
                <a:moveTo>
                  <a:pt x="0" y="0"/>
                </a:moveTo>
                <a:lnTo>
                  <a:pt x="100385" y="175677"/>
                </a:lnTo>
                <a:lnTo>
                  <a:pt x="133848" y="125483"/>
                </a:lnTo>
                <a:lnTo>
                  <a:pt x="108751" y="108752"/>
                </a:lnTo>
                <a:lnTo>
                  <a:pt x="142214" y="58559"/>
                </a:lnTo>
                <a:lnTo>
                  <a:pt x="178464" y="58559"/>
                </a:lnTo>
                <a:lnTo>
                  <a:pt x="200773" y="25096"/>
                </a:lnTo>
                <a:lnTo>
                  <a:pt x="0" y="0"/>
                </a:lnTo>
                <a:close/>
              </a:path>
              <a:path w="626745" h="431800">
                <a:moveTo>
                  <a:pt x="142214" y="58559"/>
                </a:moveTo>
                <a:lnTo>
                  <a:pt x="108751" y="108752"/>
                </a:lnTo>
                <a:lnTo>
                  <a:pt x="133848" y="125483"/>
                </a:lnTo>
                <a:lnTo>
                  <a:pt x="167310" y="75290"/>
                </a:lnTo>
                <a:lnTo>
                  <a:pt x="142214" y="58559"/>
                </a:lnTo>
                <a:close/>
              </a:path>
              <a:path w="626745" h="431800">
                <a:moveTo>
                  <a:pt x="178464" y="58559"/>
                </a:moveTo>
                <a:lnTo>
                  <a:pt x="142214" y="58559"/>
                </a:lnTo>
                <a:lnTo>
                  <a:pt x="167310" y="75290"/>
                </a:lnTo>
                <a:lnTo>
                  <a:pt x="178464" y="58559"/>
                </a:lnTo>
                <a:close/>
              </a:path>
            </a:pathLst>
          </a:custGeom>
          <a:solidFill>
            <a:srgbClr val="4472C4"/>
          </a:solidFill>
        </p:spPr>
        <p:txBody>
          <a:bodyPr wrap="square" lIns="0" tIns="0" rIns="0" bIns="0" rtlCol="0"/>
          <a:lstStyle/>
          <a:p>
            <a:endParaRPr/>
          </a:p>
        </p:txBody>
      </p:sp>
      <p:sp>
        <p:nvSpPr>
          <p:cNvPr id="14" name="object 14"/>
          <p:cNvSpPr txBox="1"/>
          <p:nvPr/>
        </p:nvSpPr>
        <p:spPr>
          <a:xfrm>
            <a:off x="8553409" y="5903467"/>
            <a:ext cx="607695" cy="391160"/>
          </a:xfrm>
          <a:prstGeom prst="rect">
            <a:avLst/>
          </a:prstGeom>
        </p:spPr>
        <p:txBody>
          <a:bodyPr vert="horz" wrap="square" lIns="0" tIns="12700" rIns="0" bIns="0" rtlCol="0">
            <a:spAutoFit/>
          </a:bodyPr>
          <a:lstStyle/>
          <a:p>
            <a:pPr marL="12700">
              <a:lnSpc>
                <a:spcPct val="100000"/>
              </a:lnSpc>
              <a:spcBef>
                <a:spcPts val="100"/>
              </a:spcBef>
            </a:pPr>
            <a:r>
              <a:rPr sz="2400" b="1" spc="-25" dirty="0">
                <a:solidFill>
                  <a:srgbClr val="C00000"/>
                </a:solidFill>
                <a:latin typeface="Calibri"/>
                <a:cs typeface="Calibri"/>
              </a:rPr>
              <a:t>How</a:t>
            </a:r>
            <a:endParaRPr sz="2400">
              <a:latin typeface="Calibri"/>
              <a:cs typeface="Calibri"/>
            </a:endParaRPr>
          </a:p>
        </p:txBody>
      </p:sp>
      <p:sp>
        <p:nvSpPr>
          <p:cNvPr id="15" name="object 15"/>
          <p:cNvSpPr/>
          <p:nvPr/>
        </p:nvSpPr>
        <p:spPr>
          <a:xfrm>
            <a:off x="10981073" y="5529571"/>
            <a:ext cx="626745" cy="431800"/>
          </a:xfrm>
          <a:custGeom>
            <a:avLst/>
            <a:gdLst/>
            <a:ahLst/>
            <a:cxnLst/>
            <a:rect l="l" t="t" r="r" b="b"/>
            <a:pathLst>
              <a:path w="626745" h="431800">
                <a:moveTo>
                  <a:pt x="167311" y="75290"/>
                </a:moveTo>
                <a:lnTo>
                  <a:pt x="133849" y="125483"/>
                </a:lnTo>
                <a:lnTo>
                  <a:pt x="592869" y="431496"/>
                </a:lnTo>
                <a:lnTo>
                  <a:pt x="626332" y="381303"/>
                </a:lnTo>
                <a:lnTo>
                  <a:pt x="167311" y="75290"/>
                </a:lnTo>
                <a:close/>
              </a:path>
              <a:path w="626745" h="431800">
                <a:moveTo>
                  <a:pt x="0" y="0"/>
                </a:moveTo>
                <a:lnTo>
                  <a:pt x="100387" y="175676"/>
                </a:lnTo>
                <a:lnTo>
                  <a:pt x="133849" y="125483"/>
                </a:lnTo>
                <a:lnTo>
                  <a:pt x="108752" y="108752"/>
                </a:lnTo>
                <a:lnTo>
                  <a:pt x="142214" y="58558"/>
                </a:lnTo>
                <a:lnTo>
                  <a:pt x="178466" y="58558"/>
                </a:lnTo>
                <a:lnTo>
                  <a:pt x="200774" y="25096"/>
                </a:lnTo>
                <a:lnTo>
                  <a:pt x="0" y="0"/>
                </a:lnTo>
                <a:close/>
              </a:path>
              <a:path w="626745" h="431800">
                <a:moveTo>
                  <a:pt x="142214" y="58558"/>
                </a:moveTo>
                <a:lnTo>
                  <a:pt x="108752" y="108752"/>
                </a:lnTo>
                <a:lnTo>
                  <a:pt x="133849" y="125483"/>
                </a:lnTo>
                <a:lnTo>
                  <a:pt x="167311" y="75290"/>
                </a:lnTo>
                <a:lnTo>
                  <a:pt x="142214" y="58558"/>
                </a:lnTo>
                <a:close/>
              </a:path>
              <a:path w="626745" h="431800">
                <a:moveTo>
                  <a:pt x="178466" y="58558"/>
                </a:moveTo>
                <a:lnTo>
                  <a:pt x="142214" y="58558"/>
                </a:lnTo>
                <a:lnTo>
                  <a:pt x="167311" y="75290"/>
                </a:lnTo>
                <a:lnTo>
                  <a:pt x="178466" y="58558"/>
                </a:lnTo>
                <a:close/>
              </a:path>
            </a:pathLst>
          </a:custGeom>
          <a:solidFill>
            <a:srgbClr val="4472C4"/>
          </a:solidFill>
        </p:spPr>
        <p:txBody>
          <a:bodyPr wrap="square" lIns="0" tIns="0" rIns="0" bIns="0" rtlCol="0"/>
          <a:lstStyle/>
          <a:p>
            <a:endParaRPr/>
          </a:p>
        </p:txBody>
      </p:sp>
      <p:sp>
        <p:nvSpPr>
          <p:cNvPr id="16" name="object 16"/>
          <p:cNvSpPr txBox="1"/>
          <p:nvPr/>
        </p:nvSpPr>
        <p:spPr>
          <a:xfrm>
            <a:off x="11224915" y="5891276"/>
            <a:ext cx="901065" cy="391160"/>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C00000"/>
                </a:solidFill>
                <a:latin typeface="Calibri"/>
                <a:cs typeface="Calibri"/>
              </a:rPr>
              <a:t>Impact</a:t>
            </a:r>
            <a:endParaRPr sz="2400">
              <a:latin typeface="Calibri"/>
              <a:cs typeface="Calibri"/>
            </a:endParaRPr>
          </a:p>
        </p:txBody>
      </p:sp>
      <p:sp>
        <p:nvSpPr>
          <p:cNvPr id="17" name="object 17"/>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17</a:t>
            </a:fld>
            <a:endParaRPr spc="-25" dirty="0"/>
          </a:p>
        </p:txBody>
      </p:sp>
      <p:pic>
        <p:nvPicPr>
          <p:cNvPr id="18" name="Picture 17">
            <a:extLst>
              <a:ext uri="{FF2B5EF4-FFF2-40B4-BE49-F238E27FC236}">
                <a16:creationId xmlns:a16="http://schemas.microsoft.com/office/drawing/2014/main" id="{E4FEF482-3A8C-654C-812C-B681454AAA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685800"/>
            <a:ext cx="11656061" cy="718666"/>
          </a:xfrm>
          <a:prstGeom prst="rect">
            <a:avLst/>
          </a:prstGeom>
        </p:spPr>
        <p:txBody>
          <a:bodyPr vert="horz" wrap="square" lIns="0" tIns="56396" rIns="0" bIns="0" rtlCol="0">
            <a:spAutoFit/>
          </a:bodyPr>
          <a:lstStyle/>
          <a:p>
            <a:pPr marL="12700">
              <a:lnSpc>
                <a:spcPct val="100000"/>
              </a:lnSpc>
              <a:spcBef>
                <a:spcPts val="120"/>
              </a:spcBef>
            </a:pPr>
            <a:r>
              <a:rPr b="1" u="sng" spc="85" dirty="0">
                <a:solidFill>
                  <a:srgbClr val="FF0000"/>
                </a:solidFill>
              </a:rPr>
              <a:t>1- Review and define the organizational mission</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18</a:t>
            </a:fld>
            <a:endParaRPr spc="-25" dirty="0"/>
          </a:p>
        </p:txBody>
      </p:sp>
      <p:sp>
        <p:nvSpPr>
          <p:cNvPr id="3" name="object 3"/>
          <p:cNvSpPr txBox="1"/>
          <p:nvPr/>
        </p:nvSpPr>
        <p:spPr>
          <a:xfrm>
            <a:off x="916939" y="1795779"/>
            <a:ext cx="10358755" cy="3777615"/>
          </a:xfrm>
          <a:prstGeom prst="rect">
            <a:avLst/>
          </a:prstGeom>
        </p:spPr>
        <p:txBody>
          <a:bodyPr vert="horz" wrap="square" lIns="0" tIns="63500" rIns="0" bIns="0" rtlCol="0">
            <a:spAutoFit/>
          </a:bodyPr>
          <a:lstStyle/>
          <a:p>
            <a:pPr marL="241300" marR="5080" indent="-228600" algn="just">
              <a:lnSpc>
                <a:spcPts val="3000"/>
              </a:lnSpc>
              <a:spcBef>
                <a:spcPts val="500"/>
              </a:spcBef>
              <a:buFont typeface="Arial MT"/>
              <a:buChar char="•"/>
              <a:tabLst>
                <a:tab pos="241300" algn="l"/>
              </a:tabLst>
            </a:pPr>
            <a:r>
              <a:rPr sz="2800" dirty="0">
                <a:solidFill>
                  <a:srgbClr val="262EA4"/>
                </a:solidFill>
                <a:latin typeface="Calibri"/>
                <a:cs typeface="Calibri"/>
              </a:rPr>
              <a:t>Mission</a:t>
            </a:r>
            <a:r>
              <a:rPr sz="2800" spc="215" dirty="0">
                <a:solidFill>
                  <a:srgbClr val="262EA4"/>
                </a:solidFill>
                <a:latin typeface="Calibri"/>
                <a:cs typeface="Calibri"/>
              </a:rPr>
              <a:t> </a:t>
            </a:r>
            <a:r>
              <a:rPr sz="2800" dirty="0">
                <a:solidFill>
                  <a:srgbClr val="262EA4"/>
                </a:solidFill>
                <a:latin typeface="Calibri"/>
                <a:cs typeface="Calibri"/>
              </a:rPr>
              <a:t>statements</a:t>
            </a:r>
            <a:r>
              <a:rPr sz="2800" spc="215" dirty="0">
                <a:solidFill>
                  <a:srgbClr val="262EA4"/>
                </a:solidFill>
                <a:latin typeface="Calibri"/>
                <a:cs typeface="Calibri"/>
              </a:rPr>
              <a:t> </a:t>
            </a:r>
            <a:r>
              <a:rPr sz="2800" dirty="0">
                <a:solidFill>
                  <a:srgbClr val="262EA4"/>
                </a:solidFill>
                <a:latin typeface="Calibri"/>
                <a:cs typeface="Calibri"/>
              </a:rPr>
              <a:t>change</a:t>
            </a:r>
            <a:r>
              <a:rPr sz="2800" spc="204" dirty="0">
                <a:solidFill>
                  <a:srgbClr val="262EA4"/>
                </a:solidFill>
                <a:latin typeface="Calibri"/>
                <a:cs typeface="Calibri"/>
              </a:rPr>
              <a:t> </a:t>
            </a:r>
            <a:r>
              <a:rPr sz="2800" dirty="0">
                <a:solidFill>
                  <a:srgbClr val="262EA4"/>
                </a:solidFill>
                <a:latin typeface="Calibri"/>
                <a:cs typeface="Calibri"/>
              </a:rPr>
              <a:t>infrequently.</a:t>
            </a:r>
            <a:r>
              <a:rPr sz="2800" spc="220" dirty="0">
                <a:solidFill>
                  <a:srgbClr val="262EA4"/>
                </a:solidFill>
                <a:latin typeface="Calibri"/>
                <a:cs typeface="Calibri"/>
              </a:rPr>
              <a:t> </a:t>
            </a:r>
            <a:r>
              <a:rPr sz="2800" dirty="0">
                <a:solidFill>
                  <a:srgbClr val="262EA4"/>
                </a:solidFill>
                <a:latin typeface="Calibri"/>
                <a:cs typeface="Calibri"/>
              </a:rPr>
              <a:t>However,</a:t>
            </a:r>
            <a:r>
              <a:rPr sz="2800" spc="215" dirty="0">
                <a:solidFill>
                  <a:srgbClr val="262EA4"/>
                </a:solidFill>
                <a:latin typeface="Calibri"/>
                <a:cs typeface="Calibri"/>
              </a:rPr>
              <a:t> </a:t>
            </a:r>
            <a:r>
              <a:rPr sz="2800" dirty="0">
                <a:solidFill>
                  <a:srgbClr val="262EA4"/>
                </a:solidFill>
                <a:latin typeface="Calibri"/>
                <a:cs typeface="Calibri"/>
              </a:rPr>
              <a:t>when</a:t>
            </a:r>
            <a:r>
              <a:rPr sz="2800" spc="215" dirty="0">
                <a:solidFill>
                  <a:srgbClr val="262EA4"/>
                </a:solidFill>
                <a:latin typeface="Calibri"/>
                <a:cs typeface="Calibri"/>
              </a:rPr>
              <a:t> </a:t>
            </a:r>
            <a:r>
              <a:rPr sz="2800" dirty="0">
                <a:solidFill>
                  <a:srgbClr val="262EA4"/>
                </a:solidFill>
                <a:latin typeface="Calibri"/>
                <a:cs typeface="Calibri"/>
              </a:rPr>
              <a:t>the</a:t>
            </a:r>
            <a:r>
              <a:rPr sz="2800" spc="210" dirty="0">
                <a:solidFill>
                  <a:srgbClr val="262EA4"/>
                </a:solidFill>
                <a:latin typeface="Calibri"/>
                <a:cs typeface="Calibri"/>
              </a:rPr>
              <a:t> </a:t>
            </a:r>
            <a:r>
              <a:rPr sz="2800" spc="-10" dirty="0">
                <a:solidFill>
                  <a:srgbClr val="262EA4"/>
                </a:solidFill>
                <a:latin typeface="Calibri"/>
                <a:cs typeface="Calibri"/>
              </a:rPr>
              <a:t>nature </a:t>
            </a:r>
            <a:r>
              <a:rPr sz="2800" dirty="0">
                <a:solidFill>
                  <a:srgbClr val="262EA4"/>
                </a:solidFill>
                <a:latin typeface="Calibri"/>
                <a:cs typeface="Calibri"/>
              </a:rPr>
              <a:t>of</a:t>
            </a:r>
            <a:r>
              <a:rPr sz="2800" spc="5" dirty="0">
                <a:solidFill>
                  <a:srgbClr val="262EA4"/>
                </a:solidFill>
                <a:latin typeface="Calibri"/>
                <a:cs typeface="Calibri"/>
              </a:rPr>
              <a:t> </a:t>
            </a:r>
            <a:r>
              <a:rPr sz="2800" dirty="0">
                <a:solidFill>
                  <a:srgbClr val="262EA4"/>
                </a:solidFill>
                <a:latin typeface="Calibri"/>
                <a:cs typeface="Calibri"/>
              </a:rPr>
              <a:t>the</a:t>
            </a:r>
            <a:r>
              <a:rPr sz="2800" spc="10" dirty="0">
                <a:solidFill>
                  <a:srgbClr val="262EA4"/>
                </a:solidFill>
                <a:latin typeface="Calibri"/>
                <a:cs typeface="Calibri"/>
              </a:rPr>
              <a:t> </a:t>
            </a:r>
            <a:r>
              <a:rPr sz="2800" dirty="0">
                <a:solidFill>
                  <a:srgbClr val="262EA4"/>
                </a:solidFill>
                <a:latin typeface="Calibri"/>
                <a:cs typeface="Calibri"/>
              </a:rPr>
              <a:t>business</a:t>
            </a:r>
            <a:r>
              <a:rPr sz="2800" spc="15" dirty="0">
                <a:solidFill>
                  <a:srgbClr val="262EA4"/>
                </a:solidFill>
                <a:latin typeface="Calibri"/>
                <a:cs typeface="Calibri"/>
              </a:rPr>
              <a:t> </a:t>
            </a:r>
            <a:r>
              <a:rPr sz="2800" dirty="0">
                <a:solidFill>
                  <a:srgbClr val="262EA4"/>
                </a:solidFill>
                <a:latin typeface="Calibri"/>
                <a:cs typeface="Calibri"/>
              </a:rPr>
              <a:t>changes</a:t>
            </a:r>
            <a:r>
              <a:rPr sz="2800" spc="20" dirty="0">
                <a:solidFill>
                  <a:srgbClr val="262EA4"/>
                </a:solidFill>
                <a:latin typeface="Calibri"/>
                <a:cs typeface="Calibri"/>
              </a:rPr>
              <a:t> </a:t>
            </a:r>
            <a:r>
              <a:rPr sz="2800" dirty="0">
                <a:solidFill>
                  <a:srgbClr val="262EA4"/>
                </a:solidFill>
                <a:latin typeface="Calibri"/>
                <a:cs typeface="Calibri"/>
              </a:rPr>
              <a:t>or</a:t>
            </a:r>
            <a:r>
              <a:rPr sz="2800" spc="10" dirty="0">
                <a:solidFill>
                  <a:srgbClr val="262EA4"/>
                </a:solidFill>
                <a:latin typeface="Calibri"/>
                <a:cs typeface="Calibri"/>
              </a:rPr>
              <a:t> </a:t>
            </a:r>
            <a:r>
              <a:rPr sz="2800" dirty="0">
                <a:solidFill>
                  <a:srgbClr val="262EA4"/>
                </a:solidFill>
                <a:latin typeface="Calibri"/>
                <a:cs typeface="Calibri"/>
              </a:rPr>
              <a:t>shifts,</a:t>
            </a:r>
            <a:r>
              <a:rPr sz="2800" spc="10" dirty="0">
                <a:solidFill>
                  <a:srgbClr val="262EA4"/>
                </a:solidFill>
                <a:latin typeface="Calibri"/>
                <a:cs typeface="Calibri"/>
              </a:rPr>
              <a:t> </a:t>
            </a:r>
            <a:r>
              <a:rPr sz="2800" dirty="0">
                <a:solidFill>
                  <a:srgbClr val="262EA4"/>
                </a:solidFill>
                <a:latin typeface="Calibri"/>
                <a:cs typeface="Calibri"/>
              </a:rPr>
              <a:t>a</a:t>
            </a:r>
            <a:r>
              <a:rPr sz="2800" spc="10" dirty="0">
                <a:solidFill>
                  <a:srgbClr val="262EA4"/>
                </a:solidFill>
                <a:latin typeface="Calibri"/>
                <a:cs typeface="Calibri"/>
              </a:rPr>
              <a:t> </a:t>
            </a:r>
            <a:r>
              <a:rPr sz="2800" dirty="0">
                <a:solidFill>
                  <a:srgbClr val="262EA4"/>
                </a:solidFill>
                <a:latin typeface="Calibri"/>
                <a:cs typeface="Calibri"/>
              </a:rPr>
              <a:t>revised</a:t>
            </a:r>
            <a:r>
              <a:rPr sz="2800" spc="15" dirty="0">
                <a:solidFill>
                  <a:srgbClr val="262EA4"/>
                </a:solidFill>
                <a:latin typeface="Calibri"/>
                <a:cs typeface="Calibri"/>
              </a:rPr>
              <a:t> </a:t>
            </a:r>
            <a:r>
              <a:rPr sz="2800" dirty="0">
                <a:solidFill>
                  <a:srgbClr val="262EA4"/>
                </a:solidFill>
                <a:latin typeface="Calibri"/>
                <a:cs typeface="Calibri"/>
              </a:rPr>
              <a:t>mission</a:t>
            </a:r>
            <a:r>
              <a:rPr sz="2800" spc="10" dirty="0">
                <a:solidFill>
                  <a:srgbClr val="262EA4"/>
                </a:solidFill>
                <a:latin typeface="Calibri"/>
                <a:cs typeface="Calibri"/>
              </a:rPr>
              <a:t> </a:t>
            </a:r>
            <a:r>
              <a:rPr sz="2800" spc="-10" dirty="0">
                <a:solidFill>
                  <a:srgbClr val="262EA4"/>
                </a:solidFill>
                <a:latin typeface="Calibri"/>
                <a:cs typeface="Calibri"/>
              </a:rPr>
              <a:t>statement</a:t>
            </a:r>
            <a:r>
              <a:rPr sz="2800" spc="15" dirty="0">
                <a:solidFill>
                  <a:srgbClr val="262EA4"/>
                </a:solidFill>
                <a:latin typeface="Calibri"/>
                <a:cs typeface="Calibri"/>
              </a:rPr>
              <a:t> </a:t>
            </a:r>
            <a:r>
              <a:rPr sz="2800" dirty="0">
                <a:solidFill>
                  <a:srgbClr val="262EA4"/>
                </a:solidFill>
                <a:latin typeface="Calibri"/>
                <a:cs typeface="Calibri"/>
              </a:rPr>
              <a:t>may</a:t>
            </a:r>
            <a:r>
              <a:rPr sz="2800" spc="5" dirty="0">
                <a:solidFill>
                  <a:srgbClr val="262EA4"/>
                </a:solidFill>
                <a:latin typeface="Calibri"/>
                <a:cs typeface="Calibri"/>
              </a:rPr>
              <a:t> </a:t>
            </a:r>
            <a:r>
              <a:rPr sz="2800" spc="-25" dirty="0">
                <a:solidFill>
                  <a:srgbClr val="262EA4"/>
                </a:solidFill>
                <a:latin typeface="Calibri"/>
                <a:cs typeface="Calibri"/>
              </a:rPr>
              <a:t>be </a:t>
            </a:r>
            <a:r>
              <a:rPr sz="2800" spc="-10" dirty="0">
                <a:solidFill>
                  <a:srgbClr val="262EA4"/>
                </a:solidFill>
                <a:latin typeface="Calibri"/>
                <a:cs typeface="Calibri"/>
              </a:rPr>
              <a:t>required.</a:t>
            </a:r>
            <a:endParaRPr sz="2800" dirty="0">
              <a:latin typeface="Calibri"/>
              <a:cs typeface="Calibri"/>
            </a:endParaRPr>
          </a:p>
          <a:p>
            <a:pPr marL="241300" marR="5715" indent="-228600" algn="just">
              <a:lnSpc>
                <a:spcPts val="3000"/>
              </a:lnSpc>
              <a:spcBef>
                <a:spcPts val="1105"/>
              </a:spcBef>
              <a:buFont typeface="Arial MT"/>
              <a:buChar char="•"/>
              <a:tabLst>
                <a:tab pos="241300" algn="l"/>
              </a:tabLst>
            </a:pPr>
            <a:r>
              <a:rPr sz="2800" dirty="0">
                <a:latin typeface="Calibri"/>
                <a:cs typeface="Calibri"/>
              </a:rPr>
              <a:t>Everyone</a:t>
            </a:r>
            <a:r>
              <a:rPr sz="2800" spc="335" dirty="0">
                <a:latin typeface="Calibri"/>
                <a:cs typeface="Calibri"/>
              </a:rPr>
              <a:t>  </a:t>
            </a:r>
            <a:r>
              <a:rPr sz="2800" dirty="0">
                <a:latin typeface="Calibri"/>
                <a:cs typeface="Calibri"/>
              </a:rPr>
              <a:t>in</a:t>
            </a:r>
            <a:r>
              <a:rPr sz="2800" spc="340" dirty="0">
                <a:latin typeface="Calibri"/>
                <a:cs typeface="Calibri"/>
              </a:rPr>
              <a:t>  </a:t>
            </a:r>
            <a:r>
              <a:rPr sz="2800" dirty="0">
                <a:latin typeface="Calibri"/>
                <a:cs typeface="Calibri"/>
              </a:rPr>
              <a:t>the</a:t>
            </a:r>
            <a:r>
              <a:rPr sz="2800" spc="340" dirty="0">
                <a:latin typeface="Calibri"/>
                <a:cs typeface="Calibri"/>
              </a:rPr>
              <a:t>  </a:t>
            </a:r>
            <a:r>
              <a:rPr sz="2800" dirty="0">
                <a:latin typeface="Calibri"/>
                <a:cs typeface="Calibri"/>
              </a:rPr>
              <a:t>organization</a:t>
            </a:r>
            <a:r>
              <a:rPr sz="2800" spc="340" dirty="0">
                <a:latin typeface="Calibri"/>
                <a:cs typeface="Calibri"/>
              </a:rPr>
              <a:t>  </a:t>
            </a:r>
            <a:r>
              <a:rPr sz="2800" dirty="0">
                <a:latin typeface="Calibri"/>
                <a:cs typeface="Calibri"/>
              </a:rPr>
              <a:t>should</a:t>
            </a:r>
            <a:r>
              <a:rPr sz="2800" spc="345" dirty="0">
                <a:latin typeface="Calibri"/>
                <a:cs typeface="Calibri"/>
              </a:rPr>
              <a:t>  </a:t>
            </a:r>
            <a:r>
              <a:rPr sz="2800" dirty="0">
                <a:latin typeface="Calibri"/>
                <a:cs typeface="Calibri"/>
              </a:rPr>
              <a:t>be</a:t>
            </a:r>
            <a:r>
              <a:rPr sz="2800" spc="335" dirty="0">
                <a:latin typeface="Calibri"/>
                <a:cs typeface="Calibri"/>
              </a:rPr>
              <a:t>  </a:t>
            </a:r>
            <a:r>
              <a:rPr sz="2800" dirty="0">
                <a:latin typeface="Calibri"/>
                <a:cs typeface="Calibri"/>
              </a:rPr>
              <a:t>keenly</a:t>
            </a:r>
            <a:r>
              <a:rPr sz="2800" spc="335" dirty="0">
                <a:latin typeface="Calibri"/>
                <a:cs typeface="Calibri"/>
              </a:rPr>
              <a:t>  </a:t>
            </a:r>
            <a:r>
              <a:rPr sz="2800" dirty="0">
                <a:latin typeface="Calibri"/>
                <a:cs typeface="Calibri"/>
              </a:rPr>
              <a:t>aware</a:t>
            </a:r>
            <a:r>
              <a:rPr sz="2800" spc="340" dirty="0">
                <a:latin typeface="Calibri"/>
                <a:cs typeface="Calibri"/>
              </a:rPr>
              <a:t>  </a:t>
            </a:r>
            <a:r>
              <a:rPr sz="2800" dirty="0">
                <a:latin typeface="Calibri"/>
                <a:cs typeface="Calibri"/>
              </a:rPr>
              <a:t>of</a:t>
            </a:r>
            <a:r>
              <a:rPr sz="2800" spc="335" dirty="0">
                <a:latin typeface="Calibri"/>
                <a:cs typeface="Calibri"/>
              </a:rPr>
              <a:t>  </a:t>
            </a:r>
            <a:r>
              <a:rPr sz="2800" spc="-25" dirty="0">
                <a:latin typeface="Calibri"/>
                <a:cs typeface="Calibri"/>
              </a:rPr>
              <a:t>the organization’s</a:t>
            </a:r>
            <a:r>
              <a:rPr sz="2800" spc="-90" dirty="0">
                <a:latin typeface="Calibri"/>
                <a:cs typeface="Calibri"/>
              </a:rPr>
              <a:t> </a:t>
            </a:r>
            <a:r>
              <a:rPr sz="2800" spc="-10" dirty="0">
                <a:latin typeface="Calibri"/>
                <a:cs typeface="Calibri"/>
              </a:rPr>
              <a:t>mission</a:t>
            </a:r>
            <a:endParaRPr sz="2800" dirty="0">
              <a:latin typeface="Calibri"/>
              <a:cs typeface="Calibri"/>
            </a:endParaRPr>
          </a:p>
          <a:p>
            <a:pPr marL="241300" marR="5715" indent="-228600" algn="just">
              <a:lnSpc>
                <a:spcPct val="90200"/>
              </a:lnSpc>
              <a:spcBef>
                <a:spcPts val="910"/>
              </a:spcBef>
              <a:buFont typeface="Arial MT"/>
              <a:buChar char="•"/>
              <a:tabLst>
                <a:tab pos="241300" algn="l"/>
              </a:tabLst>
            </a:pPr>
            <a:r>
              <a:rPr sz="2800" dirty="0">
                <a:solidFill>
                  <a:srgbClr val="262EA4"/>
                </a:solidFill>
                <a:latin typeface="Calibri"/>
                <a:cs typeface="Calibri"/>
              </a:rPr>
              <a:t>Example:</a:t>
            </a:r>
            <a:r>
              <a:rPr sz="2800" spc="375" dirty="0">
                <a:solidFill>
                  <a:srgbClr val="262EA4"/>
                </a:solidFill>
                <a:latin typeface="Calibri"/>
                <a:cs typeface="Calibri"/>
              </a:rPr>
              <a:t>  </a:t>
            </a:r>
            <a:r>
              <a:rPr sz="2800" dirty="0">
                <a:solidFill>
                  <a:srgbClr val="262EA4"/>
                </a:solidFill>
                <a:latin typeface="Calibri"/>
                <a:cs typeface="Calibri"/>
              </a:rPr>
              <a:t>‘‘</a:t>
            </a:r>
            <a:r>
              <a:rPr sz="2800" b="1" dirty="0">
                <a:solidFill>
                  <a:srgbClr val="C00000"/>
                </a:solidFill>
                <a:latin typeface="Calibri"/>
                <a:cs typeface="Calibri"/>
              </a:rPr>
              <a:t>Apple</a:t>
            </a:r>
            <a:r>
              <a:rPr sz="2800" b="1" spc="375" dirty="0">
                <a:solidFill>
                  <a:srgbClr val="C00000"/>
                </a:solidFill>
                <a:latin typeface="Calibri"/>
                <a:cs typeface="Calibri"/>
              </a:rPr>
              <a:t>  </a:t>
            </a:r>
            <a:r>
              <a:rPr sz="2800" dirty="0">
                <a:solidFill>
                  <a:srgbClr val="262EA4"/>
                </a:solidFill>
                <a:latin typeface="Calibri"/>
                <a:cs typeface="Calibri"/>
              </a:rPr>
              <a:t>is</a:t>
            </a:r>
            <a:r>
              <a:rPr sz="2800" spc="375" dirty="0">
                <a:solidFill>
                  <a:srgbClr val="262EA4"/>
                </a:solidFill>
                <a:latin typeface="Calibri"/>
                <a:cs typeface="Calibri"/>
              </a:rPr>
              <a:t>  </a:t>
            </a:r>
            <a:r>
              <a:rPr sz="2800" dirty="0">
                <a:solidFill>
                  <a:srgbClr val="262EA4"/>
                </a:solidFill>
                <a:latin typeface="Calibri"/>
                <a:cs typeface="Calibri"/>
              </a:rPr>
              <a:t>committed</a:t>
            </a:r>
            <a:r>
              <a:rPr sz="2800" spc="380" dirty="0">
                <a:solidFill>
                  <a:srgbClr val="262EA4"/>
                </a:solidFill>
                <a:latin typeface="Calibri"/>
                <a:cs typeface="Calibri"/>
              </a:rPr>
              <a:t>  </a:t>
            </a:r>
            <a:r>
              <a:rPr sz="2800" dirty="0">
                <a:solidFill>
                  <a:srgbClr val="262EA4"/>
                </a:solidFill>
                <a:latin typeface="Calibri"/>
                <a:cs typeface="Calibri"/>
              </a:rPr>
              <a:t>to</a:t>
            </a:r>
            <a:r>
              <a:rPr sz="2800" spc="375" dirty="0">
                <a:solidFill>
                  <a:srgbClr val="262EA4"/>
                </a:solidFill>
                <a:latin typeface="Calibri"/>
                <a:cs typeface="Calibri"/>
              </a:rPr>
              <a:t>  </a:t>
            </a:r>
            <a:r>
              <a:rPr sz="2800" u="heavy" dirty="0">
                <a:solidFill>
                  <a:srgbClr val="262EA4"/>
                </a:solidFill>
                <a:uFill>
                  <a:solidFill>
                    <a:srgbClr val="262EA4"/>
                  </a:solidFill>
                </a:uFill>
                <a:latin typeface="Calibri"/>
                <a:cs typeface="Calibri"/>
              </a:rPr>
              <a:t>bringing</a:t>
            </a:r>
            <a:r>
              <a:rPr sz="2800" u="heavy" spc="370" dirty="0">
                <a:solidFill>
                  <a:srgbClr val="262EA4"/>
                </a:solidFill>
                <a:uFill>
                  <a:solidFill>
                    <a:srgbClr val="262EA4"/>
                  </a:solidFill>
                </a:uFill>
                <a:latin typeface="Calibri"/>
                <a:cs typeface="Calibri"/>
              </a:rPr>
              <a:t>  </a:t>
            </a:r>
            <a:r>
              <a:rPr sz="2800" u="heavy" dirty="0">
                <a:solidFill>
                  <a:srgbClr val="262EA4"/>
                </a:solidFill>
                <a:uFill>
                  <a:solidFill>
                    <a:srgbClr val="262EA4"/>
                  </a:solidFill>
                </a:uFill>
                <a:latin typeface="Calibri"/>
                <a:cs typeface="Calibri"/>
              </a:rPr>
              <a:t>the</a:t>
            </a:r>
            <a:r>
              <a:rPr sz="2800" u="heavy" spc="375" dirty="0">
                <a:solidFill>
                  <a:srgbClr val="262EA4"/>
                </a:solidFill>
                <a:uFill>
                  <a:solidFill>
                    <a:srgbClr val="262EA4"/>
                  </a:solidFill>
                </a:uFill>
                <a:latin typeface="Calibri"/>
                <a:cs typeface="Calibri"/>
              </a:rPr>
              <a:t>  </a:t>
            </a:r>
            <a:r>
              <a:rPr sz="2800" u="heavy" spc="-20" dirty="0">
                <a:solidFill>
                  <a:srgbClr val="262EA4"/>
                </a:solidFill>
                <a:uFill>
                  <a:solidFill>
                    <a:srgbClr val="262EA4"/>
                  </a:solidFill>
                </a:uFill>
                <a:latin typeface="Calibri"/>
                <a:cs typeface="Calibri"/>
              </a:rPr>
              <a:t>best</a:t>
            </a:r>
            <a:r>
              <a:rPr sz="2800" u="heavy" spc="700" dirty="0">
                <a:solidFill>
                  <a:srgbClr val="262EA4"/>
                </a:solidFill>
                <a:uFill>
                  <a:solidFill>
                    <a:srgbClr val="262EA4"/>
                  </a:solidFill>
                </a:uFill>
                <a:latin typeface="Calibri"/>
                <a:cs typeface="Calibri"/>
              </a:rPr>
              <a:t>  </a:t>
            </a:r>
            <a:r>
              <a:rPr sz="2800" u="heavy" dirty="0">
                <a:solidFill>
                  <a:srgbClr val="262EA4"/>
                </a:solidFill>
                <a:uFill>
                  <a:solidFill>
                    <a:srgbClr val="262EA4"/>
                  </a:solidFill>
                </a:uFill>
                <a:latin typeface="Calibri"/>
                <a:cs typeface="Calibri"/>
              </a:rPr>
              <a:t>personal</a:t>
            </a:r>
            <a:r>
              <a:rPr sz="2800" spc="-85" dirty="0">
                <a:solidFill>
                  <a:srgbClr val="262EA4"/>
                </a:solidFill>
                <a:latin typeface="Calibri"/>
                <a:cs typeface="Calibri"/>
              </a:rPr>
              <a:t> </a:t>
            </a:r>
            <a:r>
              <a:rPr sz="2800" u="heavy" dirty="0">
                <a:solidFill>
                  <a:srgbClr val="262EA4"/>
                </a:solidFill>
                <a:uFill>
                  <a:solidFill>
                    <a:srgbClr val="262EA4"/>
                  </a:solidFill>
                </a:uFill>
                <a:latin typeface="Calibri"/>
                <a:cs typeface="Calibri"/>
              </a:rPr>
              <a:t>computing</a:t>
            </a:r>
            <a:r>
              <a:rPr sz="2800" u="heavy" spc="245" dirty="0">
                <a:solidFill>
                  <a:srgbClr val="262EA4"/>
                </a:solidFill>
                <a:uFill>
                  <a:solidFill>
                    <a:srgbClr val="262EA4"/>
                  </a:solidFill>
                </a:uFill>
                <a:latin typeface="Calibri"/>
                <a:cs typeface="Calibri"/>
              </a:rPr>
              <a:t> </a:t>
            </a:r>
            <a:r>
              <a:rPr sz="2800" u="heavy" dirty="0">
                <a:solidFill>
                  <a:srgbClr val="262EA4"/>
                </a:solidFill>
                <a:uFill>
                  <a:solidFill>
                    <a:srgbClr val="262EA4"/>
                  </a:solidFill>
                </a:uFill>
                <a:latin typeface="Calibri"/>
                <a:cs typeface="Calibri"/>
              </a:rPr>
              <a:t>experience</a:t>
            </a:r>
            <a:r>
              <a:rPr sz="2800" u="heavy" spc="245" dirty="0">
                <a:solidFill>
                  <a:srgbClr val="262EA4"/>
                </a:solidFill>
                <a:uFill>
                  <a:solidFill>
                    <a:srgbClr val="262EA4"/>
                  </a:solidFill>
                </a:uFill>
                <a:latin typeface="Calibri"/>
                <a:cs typeface="Calibri"/>
              </a:rPr>
              <a:t> </a:t>
            </a:r>
            <a:r>
              <a:rPr sz="2800" u="heavy" dirty="0">
                <a:solidFill>
                  <a:srgbClr val="262EA4"/>
                </a:solidFill>
                <a:uFill>
                  <a:solidFill>
                    <a:srgbClr val="262EA4"/>
                  </a:solidFill>
                </a:uFill>
                <a:latin typeface="Calibri"/>
                <a:cs typeface="Calibri"/>
              </a:rPr>
              <a:t>to</a:t>
            </a:r>
            <a:r>
              <a:rPr sz="2800" u="heavy" spc="250" dirty="0">
                <a:solidFill>
                  <a:srgbClr val="262EA4"/>
                </a:solidFill>
                <a:uFill>
                  <a:solidFill>
                    <a:srgbClr val="262EA4"/>
                  </a:solidFill>
                </a:uFill>
                <a:latin typeface="Calibri"/>
                <a:cs typeface="Calibri"/>
              </a:rPr>
              <a:t> </a:t>
            </a:r>
            <a:r>
              <a:rPr sz="2800" u="heavy" dirty="0">
                <a:solidFill>
                  <a:srgbClr val="262EA4"/>
                </a:solidFill>
                <a:uFill>
                  <a:solidFill>
                    <a:srgbClr val="262EA4"/>
                  </a:solidFill>
                </a:uFill>
                <a:latin typeface="Calibri"/>
                <a:cs typeface="Calibri"/>
              </a:rPr>
              <a:t>students,</a:t>
            </a:r>
            <a:r>
              <a:rPr sz="2800" u="heavy" spc="250" dirty="0">
                <a:solidFill>
                  <a:srgbClr val="262EA4"/>
                </a:solidFill>
                <a:uFill>
                  <a:solidFill>
                    <a:srgbClr val="262EA4"/>
                  </a:solidFill>
                </a:uFill>
                <a:latin typeface="Calibri"/>
                <a:cs typeface="Calibri"/>
              </a:rPr>
              <a:t> </a:t>
            </a:r>
            <a:r>
              <a:rPr sz="2800" u="heavy" dirty="0">
                <a:solidFill>
                  <a:srgbClr val="262EA4"/>
                </a:solidFill>
                <a:uFill>
                  <a:solidFill>
                    <a:srgbClr val="262EA4"/>
                  </a:solidFill>
                </a:uFill>
                <a:latin typeface="Calibri"/>
                <a:cs typeface="Calibri"/>
              </a:rPr>
              <a:t>educators,</a:t>
            </a:r>
            <a:r>
              <a:rPr sz="2800" u="heavy" spc="260" dirty="0">
                <a:solidFill>
                  <a:srgbClr val="262EA4"/>
                </a:solidFill>
                <a:uFill>
                  <a:solidFill>
                    <a:srgbClr val="262EA4"/>
                  </a:solidFill>
                </a:uFill>
                <a:latin typeface="Calibri"/>
                <a:cs typeface="Calibri"/>
              </a:rPr>
              <a:t> </a:t>
            </a:r>
            <a:r>
              <a:rPr sz="2800" u="heavy" spc="-10" dirty="0">
                <a:solidFill>
                  <a:srgbClr val="262EA4"/>
                </a:solidFill>
                <a:uFill>
                  <a:solidFill>
                    <a:srgbClr val="262EA4"/>
                  </a:solidFill>
                </a:uFill>
                <a:latin typeface="Calibri"/>
                <a:cs typeface="Calibri"/>
              </a:rPr>
              <a:t>creative</a:t>
            </a:r>
            <a:r>
              <a:rPr sz="2800" u="heavy" spc="700" dirty="0">
                <a:solidFill>
                  <a:srgbClr val="262EA4"/>
                </a:solidFill>
                <a:uFill>
                  <a:solidFill>
                    <a:srgbClr val="262EA4"/>
                  </a:solidFill>
                </a:uFill>
                <a:latin typeface="Calibri"/>
                <a:cs typeface="Calibri"/>
              </a:rPr>
              <a:t> </a:t>
            </a:r>
            <a:r>
              <a:rPr sz="2800" u="heavy" spc="-10" dirty="0">
                <a:solidFill>
                  <a:srgbClr val="262EA4"/>
                </a:solidFill>
                <a:uFill>
                  <a:solidFill>
                    <a:srgbClr val="262EA4"/>
                  </a:solidFill>
                </a:uFill>
                <a:latin typeface="Calibri"/>
                <a:cs typeface="Calibri"/>
              </a:rPr>
              <a:t>professionals</a:t>
            </a:r>
            <a:r>
              <a:rPr sz="2800" spc="-65" dirty="0">
                <a:solidFill>
                  <a:srgbClr val="262EA4"/>
                </a:solidFill>
                <a:latin typeface="Calibri"/>
                <a:cs typeface="Calibri"/>
              </a:rPr>
              <a:t> </a:t>
            </a:r>
            <a:r>
              <a:rPr sz="2800" u="heavy" dirty="0">
                <a:solidFill>
                  <a:srgbClr val="262EA4"/>
                </a:solidFill>
                <a:uFill>
                  <a:solidFill>
                    <a:srgbClr val="262EA4"/>
                  </a:solidFill>
                </a:uFill>
                <a:latin typeface="Calibri"/>
                <a:cs typeface="Calibri"/>
              </a:rPr>
              <a:t>and</a:t>
            </a:r>
            <a:r>
              <a:rPr sz="2800" u="heavy" spc="430" dirty="0">
                <a:solidFill>
                  <a:srgbClr val="262EA4"/>
                </a:solidFill>
                <a:uFill>
                  <a:solidFill>
                    <a:srgbClr val="262EA4"/>
                  </a:solidFill>
                </a:uFill>
                <a:latin typeface="Calibri"/>
                <a:cs typeface="Calibri"/>
              </a:rPr>
              <a:t> </a:t>
            </a:r>
            <a:r>
              <a:rPr sz="2800" u="heavy" dirty="0">
                <a:solidFill>
                  <a:srgbClr val="262EA4"/>
                </a:solidFill>
                <a:uFill>
                  <a:solidFill>
                    <a:srgbClr val="262EA4"/>
                  </a:solidFill>
                </a:uFill>
                <a:latin typeface="Calibri"/>
                <a:cs typeface="Calibri"/>
              </a:rPr>
              <a:t>consumers</a:t>
            </a:r>
            <a:r>
              <a:rPr sz="2800" u="heavy" spc="434" dirty="0">
                <a:solidFill>
                  <a:srgbClr val="262EA4"/>
                </a:solidFill>
                <a:uFill>
                  <a:solidFill>
                    <a:srgbClr val="262EA4"/>
                  </a:solidFill>
                </a:uFill>
                <a:latin typeface="Calibri"/>
                <a:cs typeface="Calibri"/>
              </a:rPr>
              <a:t> </a:t>
            </a:r>
            <a:r>
              <a:rPr sz="2800" u="heavy" dirty="0">
                <a:solidFill>
                  <a:srgbClr val="262EA4"/>
                </a:solidFill>
                <a:uFill>
                  <a:solidFill>
                    <a:srgbClr val="262EA4"/>
                  </a:solidFill>
                </a:uFill>
                <a:latin typeface="Calibri"/>
                <a:cs typeface="Calibri"/>
              </a:rPr>
              <a:t>around</a:t>
            </a:r>
            <a:r>
              <a:rPr sz="2800" u="heavy" spc="434" dirty="0">
                <a:solidFill>
                  <a:srgbClr val="262EA4"/>
                </a:solidFill>
                <a:uFill>
                  <a:solidFill>
                    <a:srgbClr val="262EA4"/>
                  </a:solidFill>
                </a:uFill>
                <a:latin typeface="Calibri"/>
                <a:cs typeface="Calibri"/>
              </a:rPr>
              <a:t> </a:t>
            </a:r>
            <a:r>
              <a:rPr sz="2800" u="heavy" dirty="0">
                <a:solidFill>
                  <a:srgbClr val="262EA4"/>
                </a:solidFill>
                <a:uFill>
                  <a:solidFill>
                    <a:srgbClr val="262EA4"/>
                  </a:solidFill>
                </a:uFill>
                <a:latin typeface="Calibri"/>
                <a:cs typeface="Calibri"/>
              </a:rPr>
              <a:t>the</a:t>
            </a:r>
            <a:r>
              <a:rPr sz="2800" u="heavy" spc="430" dirty="0">
                <a:solidFill>
                  <a:srgbClr val="262EA4"/>
                </a:solidFill>
                <a:uFill>
                  <a:solidFill>
                    <a:srgbClr val="262EA4"/>
                  </a:solidFill>
                </a:uFill>
                <a:latin typeface="Calibri"/>
                <a:cs typeface="Calibri"/>
              </a:rPr>
              <a:t> </a:t>
            </a:r>
            <a:r>
              <a:rPr sz="2800" u="heavy" dirty="0">
                <a:solidFill>
                  <a:srgbClr val="262EA4"/>
                </a:solidFill>
                <a:uFill>
                  <a:solidFill>
                    <a:srgbClr val="262EA4"/>
                  </a:solidFill>
                </a:uFill>
                <a:latin typeface="Calibri"/>
                <a:cs typeface="Calibri"/>
              </a:rPr>
              <a:t>world</a:t>
            </a:r>
            <a:r>
              <a:rPr sz="2800" spc="430" dirty="0">
                <a:solidFill>
                  <a:srgbClr val="262EA4"/>
                </a:solidFill>
                <a:latin typeface="Calibri"/>
                <a:cs typeface="Calibri"/>
              </a:rPr>
              <a:t> </a:t>
            </a:r>
            <a:r>
              <a:rPr sz="2800" dirty="0">
                <a:solidFill>
                  <a:srgbClr val="548235"/>
                </a:solidFill>
                <a:latin typeface="Calibri"/>
                <a:cs typeface="Calibri"/>
              </a:rPr>
              <a:t>through</a:t>
            </a:r>
            <a:r>
              <a:rPr sz="2800" spc="440" dirty="0">
                <a:solidFill>
                  <a:srgbClr val="548235"/>
                </a:solidFill>
                <a:latin typeface="Calibri"/>
                <a:cs typeface="Calibri"/>
              </a:rPr>
              <a:t> </a:t>
            </a:r>
            <a:r>
              <a:rPr sz="2800" u="heavy" spc="-25" dirty="0">
                <a:solidFill>
                  <a:srgbClr val="262EA4"/>
                </a:solidFill>
                <a:uFill>
                  <a:solidFill>
                    <a:srgbClr val="C00000"/>
                  </a:solidFill>
                </a:uFill>
                <a:latin typeface="Calibri"/>
                <a:cs typeface="Calibri"/>
              </a:rPr>
              <a:t>its</a:t>
            </a:r>
            <a:r>
              <a:rPr sz="2800" u="heavy" spc="700" dirty="0">
                <a:solidFill>
                  <a:srgbClr val="262EA4"/>
                </a:solidFill>
                <a:uFill>
                  <a:solidFill>
                    <a:srgbClr val="C00000"/>
                  </a:solidFill>
                </a:uFill>
                <a:latin typeface="Calibri"/>
                <a:cs typeface="Calibri"/>
              </a:rPr>
              <a:t> </a:t>
            </a:r>
            <a:r>
              <a:rPr sz="2800" u="heavy" dirty="0">
                <a:solidFill>
                  <a:srgbClr val="262EA4"/>
                </a:solidFill>
                <a:uFill>
                  <a:solidFill>
                    <a:srgbClr val="C00000"/>
                  </a:solidFill>
                </a:uFill>
                <a:latin typeface="Calibri"/>
                <a:cs typeface="Calibri"/>
              </a:rPr>
              <a:t>innovative</a:t>
            </a:r>
            <a:r>
              <a:rPr sz="2800" u="heavy" spc="370" dirty="0">
                <a:solidFill>
                  <a:srgbClr val="262EA4"/>
                </a:solidFill>
                <a:uFill>
                  <a:solidFill>
                    <a:srgbClr val="C00000"/>
                  </a:solidFill>
                </a:uFill>
                <a:latin typeface="Calibri"/>
                <a:cs typeface="Calibri"/>
              </a:rPr>
              <a:t> </a:t>
            </a:r>
            <a:r>
              <a:rPr sz="2800" u="heavy" spc="-10" dirty="0">
                <a:solidFill>
                  <a:srgbClr val="262EA4"/>
                </a:solidFill>
                <a:uFill>
                  <a:solidFill>
                    <a:srgbClr val="C00000"/>
                  </a:solidFill>
                </a:uFill>
                <a:latin typeface="Calibri"/>
                <a:cs typeface="Calibri"/>
              </a:rPr>
              <a:t>hardware,</a:t>
            </a:r>
            <a:r>
              <a:rPr sz="2800" spc="-95" dirty="0">
                <a:solidFill>
                  <a:srgbClr val="262EA4"/>
                </a:solidFill>
                <a:latin typeface="Calibri"/>
                <a:cs typeface="Calibri"/>
              </a:rPr>
              <a:t> </a:t>
            </a:r>
            <a:r>
              <a:rPr sz="2800" u="heavy" dirty="0">
                <a:solidFill>
                  <a:srgbClr val="262EA4"/>
                </a:solidFill>
                <a:uFill>
                  <a:solidFill>
                    <a:srgbClr val="C00000"/>
                  </a:solidFill>
                </a:uFill>
                <a:latin typeface="Calibri"/>
                <a:cs typeface="Calibri"/>
              </a:rPr>
              <a:t>software</a:t>
            </a:r>
            <a:r>
              <a:rPr sz="2800" u="heavy" spc="-85" dirty="0">
                <a:solidFill>
                  <a:srgbClr val="262EA4"/>
                </a:solidFill>
                <a:uFill>
                  <a:solidFill>
                    <a:srgbClr val="C00000"/>
                  </a:solidFill>
                </a:uFill>
                <a:latin typeface="Calibri"/>
                <a:cs typeface="Calibri"/>
              </a:rPr>
              <a:t> </a:t>
            </a:r>
            <a:r>
              <a:rPr sz="2800" u="heavy" dirty="0">
                <a:solidFill>
                  <a:srgbClr val="262EA4"/>
                </a:solidFill>
                <a:uFill>
                  <a:solidFill>
                    <a:srgbClr val="C00000"/>
                  </a:solidFill>
                </a:uFill>
                <a:latin typeface="Calibri"/>
                <a:cs typeface="Calibri"/>
              </a:rPr>
              <a:t>and</a:t>
            </a:r>
            <a:r>
              <a:rPr sz="2800" u="heavy" spc="-80" dirty="0">
                <a:solidFill>
                  <a:srgbClr val="262EA4"/>
                </a:solidFill>
                <a:uFill>
                  <a:solidFill>
                    <a:srgbClr val="C00000"/>
                  </a:solidFill>
                </a:uFill>
                <a:latin typeface="Calibri"/>
                <a:cs typeface="Calibri"/>
              </a:rPr>
              <a:t> </a:t>
            </a:r>
            <a:r>
              <a:rPr sz="2800" u="heavy" dirty="0">
                <a:solidFill>
                  <a:srgbClr val="262EA4"/>
                </a:solidFill>
                <a:uFill>
                  <a:solidFill>
                    <a:srgbClr val="C00000"/>
                  </a:solidFill>
                </a:uFill>
                <a:latin typeface="Calibri"/>
                <a:cs typeface="Calibri"/>
              </a:rPr>
              <a:t>Internet</a:t>
            </a:r>
            <a:r>
              <a:rPr sz="2800" u="heavy" spc="-80" dirty="0">
                <a:solidFill>
                  <a:srgbClr val="262EA4"/>
                </a:solidFill>
                <a:uFill>
                  <a:solidFill>
                    <a:srgbClr val="C00000"/>
                  </a:solidFill>
                </a:uFill>
                <a:latin typeface="Calibri"/>
                <a:cs typeface="Calibri"/>
              </a:rPr>
              <a:t> </a:t>
            </a:r>
            <a:r>
              <a:rPr sz="2800" u="heavy" spc="-10" dirty="0">
                <a:solidFill>
                  <a:srgbClr val="262EA4"/>
                </a:solidFill>
                <a:uFill>
                  <a:solidFill>
                    <a:srgbClr val="C00000"/>
                  </a:solidFill>
                </a:uFill>
                <a:latin typeface="Calibri"/>
                <a:cs typeface="Calibri"/>
              </a:rPr>
              <a:t>offerings</a:t>
            </a:r>
            <a:r>
              <a:rPr sz="2800" spc="-10" dirty="0">
                <a:solidFill>
                  <a:srgbClr val="262EA4"/>
                </a:solidFill>
                <a:latin typeface="Calibri"/>
                <a:cs typeface="Calibri"/>
              </a:rPr>
              <a:t>’’.</a:t>
            </a:r>
            <a:endParaRPr sz="2800" dirty="0">
              <a:latin typeface="Calibri"/>
              <a:cs typeface="Calibri"/>
            </a:endParaRPr>
          </a:p>
        </p:txBody>
      </p:sp>
      <p:pic>
        <p:nvPicPr>
          <p:cNvPr id="5" name="Picture 4">
            <a:extLst>
              <a:ext uri="{FF2B5EF4-FFF2-40B4-BE49-F238E27FC236}">
                <a16:creationId xmlns:a16="http://schemas.microsoft.com/office/drawing/2014/main" id="{9EAC9F6E-1D95-69A8-057C-B1A1DC7946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73394" y="42249"/>
            <a:ext cx="1698773" cy="943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2- Analyze and formulate strategies</a:t>
            </a:r>
          </a:p>
        </p:txBody>
      </p:sp>
      <p:sp>
        <p:nvSpPr>
          <p:cNvPr id="3" name="object 3"/>
          <p:cNvSpPr txBox="1"/>
          <p:nvPr/>
        </p:nvSpPr>
        <p:spPr>
          <a:xfrm>
            <a:off x="916939" y="1574291"/>
            <a:ext cx="10861040" cy="3710940"/>
          </a:xfrm>
          <a:prstGeom prst="rect">
            <a:avLst/>
          </a:prstGeom>
        </p:spPr>
        <p:txBody>
          <a:bodyPr vert="horz" wrap="square" lIns="0" tIns="41910" rIns="0" bIns="0" rtlCol="0">
            <a:spAutoFit/>
          </a:bodyPr>
          <a:lstStyle/>
          <a:p>
            <a:pPr marL="239395" marR="5080" indent="-226695" algn="just">
              <a:lnSpc>
                <a:spcPts val="2210"/>
              </a:lnSpc>
              <a:spcBef>
                <a:spcPts val="330"/>
              </a:spcBef>
              <a:buFont typeface="Arial MT"/>
              <a:buChar char="•"/>
              <a:tabLst>
                <a:tab pos="241300" algn="l"/>
              </a:tabLst>
            </a:pPr>
            <a:r>
              <a:rPr sz="2000" dirty="0">
                <a:latin typeface="Calibri"/>
                <a:cs typeface="Calibri"/>
              </a:rPr>
              <a:t>Formulating</a:t>
            </a:r>
            <a:r>
              <a:rPr sz="2000" spc="135" dirty="0">
                <a:latin typeface="Calibri"/>
                <a:cs typeface="Calibri"/>
              </a:rPr>
              <a:t> </a:t>
            </a:r>
            <a:r>
              <a:rPr sz="2000" dirty="0">
                <a:latin typeface="Calibri"/>
                <a:cs typeface="Calibri"/>
              </a:rPr>
              <a:t>strategy</a:t>
            </a:r>
            <a:r>
              <a:rPr sz="2000" spc="135" dirty="0">
                <a:latin typeface="Calibri"/>
                <a:cs typeface="Calibri"/>
              </a:rPr>
              <a:t> </a:t>
            </a:r>
            <a:r>
              <a:rPr sz="2000" dirty="0">
                <a:latin typeface="Calibri"/>
                <a:cs typeface="Calibri"/>
              </a:rPr>
              <a:t>answers</a:t>
            </a:r>
            <a:r>
              <a:rPr sz="2000" spc="145" dirty="0">
                <a:latin typeface="Calibri"/>
                <a:cs typeface="Calibri"/>
              </a:rPr>
              <a:t> </a:t>
            </a:r>
            <a:r>
              <a:rPr sz="2000" dirty="0">
                <a:latin typeface="Calibri"/>
                <a:cs typeface="Calibri"/>
              </a:rPr>
              <a:t>the</a:t>
            </a:r>
            <a:r>
              <a:rPr sz="2000" spc="145" dirty="0">
                <a:latin typeface="Calibri"/>
                <a:cs typeface="Calibri"/>
              </a:rPr>
              <a:t> </a:t>
            </a:r>
            <a:r>
              <a:rPr sz="2000" dirty="0">
                <a:latin typeface="Calibri"/>
                <a:cs typeface="Calibri"/>
              </a:rPr>
              <a:t>question</a:t>
            </a:r>
            <a:r>
              <a:rPr sz="2000" spc="140" dirty="0">
                <a:latin typeface="Calibri"/>
                <a:cs typeface="Calibri"/>
              </a:rPr>
              <a:t> </a:t>
            </a:r>
            <a:r>
              <a:rPr sz="2000" dirty="0">
                <a:latin typeface="Calibri"/>
                <a:cs typeface="Calibri"/>
              </a:rPr>
              <a:t>of</a:t>
            </a:r>
            <a:r>
              <a:rPr sz="2000" spc="145" dirty="0">
                <a:latin typeface="Calibri"/>
                <a:cs typeface="Calibri"/>
              </a:rPr>
              <a:t> </a:t>
            </a:r>
            <a:r>
              <a:rPr sz="2000" dirty="0">
                <a:latin typeface="Calibri"/>
                <a:cs typeface="Calibri"/>
              </a:rPr>
              <a:t>what</a:t>
            </a:r>
            <a:r>
              <a:rPr sz="2000" spc="145" dirty="0">
                <a:latin typeface="Calibri"/>
                <a:cs typeface="Calibri"/>
              </a:rPr>
              <a:t> </a:t>
            </a:r>
            <a:r>
              <a:rPr sz="2000" dirty="0">
                <a:latin typeface="Calibri"/>
                <a:cs typeface="Calibri"/>
              </a:rPr>
              <a:t>needs</a:t>
            </a:r>
            <a:r>
              <a:rPr sz="2000" spc="145" dirty="0">
                <a:latin typeface="Calibri"/>
                <a:cs typeface="Calibri"/>
              </a:rPr>
              <a:t> </a:t>
            </a:r>
            <a:r>
              <a:rPr sz="2000" dirty="0">
                <a:latin typeface="Calibri"/>
                <a:cs typeface="Calibri"/>
              </a:rPr>
              <a:t>to</a:t>
            </a:r>
            <a:r>
              <a:rPr sz="2000" spc="140" dirty="0">
                <a:latin typeface="Calibri"/>
                <a:cs typeface="Calibri"/>
              </a:rPr>
              <a:t> </a:t>
            </a:r>
            <a:r>
              <a:rPr sz="2000" dirty="0">
                <a:latin typeface="Calibri"/>
                <a:cs typeface="Calibri"/>
              </a:rPr>
              <a:t>be</a:t>
            </a:r>
            <a:r>
              <a:rPr sz="2000" spc="145" dirty="0">
                <a:latin typeface="Calibri"/>
                <a:cs typeface="Calibri"/>
              </a:rPr>
              <a:t> </a:t>
            </a:r>
            <a:r>
              <a:rPr sz="2000" dirty="0">
                <a:latin typeface="Calibri"/>
                <a:cs typeface="Calibri"/>
              </a:rPr>
              <a:t>done</a:t>
            </a:r>
            <a:r>
              <a:rPr sz="2000" spc="145" dirty="0">
                <a:latin typeface="Calibri"/>
                <a:cs typeface="Calibri"/>
              </a:rPr>
              <a:t> </a:t>
            </a:r>
            <a:r>
              <a:rPr sz="2000" dirty="0">
                <a:latin typeface="Calibri"/>
                <a:cs typeface="Calibri"/>
              </a:rPr>
              <a:t>to</a:t>
            </a:r>
            <a:r>
              <a:rPr sz="2000" spc="145" dirty="0">
                <a:latin typeface="Calibri"/>
                <a:cs typeface="Calibri"/>
              </a:rPr>
              <a:t> </a:t>
            </a:r>
            <a:r>
              <a:rPr sz="2000" dirty="0">
                <a:latin typeface="Calibri"/>
                <a:cs typeface="Calibri"/>
              </a:rPr>
              <a:t>reach</a:t>
            </a:r>
            <a:r>
              <a:rPr sz="2000" spc="140" dirty="0">
                <a:latin typeface="Calibri"/>
                <a:cs typeface="Calibri"/>
              </a:rPr>
              <a:t> </a:t>
            </a:r>
            <a:r>
              <a:rPr sz="2000" dirty="0">
                <a:latin typeface="Calibri"/>
                <a:cs typeface="Calibri"/>
              </a:rPr>
              <a:t>the</a:t>
            </a:r>
            <a:r>
              <a:rPr sz="2000" spc="145" dirty="0">
                <a:latin typeface="Calibri"/>
                <a:cs typeface="Calibri"/>
              </a:rPr>
              <a:t> </a:t>
            </a:r>
            <a:r>
              <a:rPr sz="2000" dirty="0">
                <a:latin typeface="Calibri"/>
                <a:cs typeface="Calibri"/>
              </a:rPr>
              <a:t>mission.</a:t>
            </a:r>
            <a:r>
              <a:rPr sz="2000" spc="135" dirty="0">
                <a:latin typeface="Calibri"/>
                <a:cs typeface="Calibri"/>
              </a:rPr>
              <a:t> </a:t>
            </a:r>
            <a:r>
              <a:rPr sz="2000" spc="-10" dirty="0">
                <a:latin typeface="Calibri"/>
                <a:cs typeface="Calibri"/>
              </a:rPr>
              <a:t>Strategy 	</a:t>
            </a:r>
            <a:r>
              <a:rPr sz="2000" dirty="0">
                <a:latin typeface="Calibri"/>
                <a:cs typeface="Calibri"/>
              </a:rPr>
              <a:t>formulation</a:t>
            </a:r>
            <a:r>
              <a:rPr sz="2000" spc="200" dirty="0">
                <a:latin typeface="Calibri"/>
                <a:cs typeface="Calibri"/>
              </a:rPr>
              <a:t>  </a:t>
            </a:r>
            <a:r>
              <a:rPr sz="2000" dirty="0">
                <a:latin typeface="Calibri"/>
                <a:cs typeface="Calibri"/>
              </a:rPr>
              <a:t>includes</a:t>
            </a:r>
            <a:r>
              <a:rPr sz="2000" spc="204" dirty="0">
                <a:latin typeface="Calibri"/>
                <a:cs typeface="Calibri"/>
              </a:rPr>
              <a:t>  </a:t>
            </a:r>
            <a:r>
              <a:rPr sz="2000" dirty="0">
                <a:latin typeface="Calibri"/>
                <a:cs typeface="Calibri"/>
              </a:rPr>
              <a:t>determining</a:t>
            </a:r>
            <a:r>
              <a:rPr sz="2000" spc="204" dirty="0">
                <a:latin typeface="Calibri"/>
                <a:cs typeface="Calibri"/>
              </a:rPr>
              <a:t>  </a:t>
            </a:r>
            <a:r>
              <a:rPr sz="2000" dirty="0">
                <a:latin typeface="Calibri"/>
                <a:cs typeface="Calibri"/>
              </a:rPr>
              <a:t>and</a:t>
            </a:r>
            <a:r>
              <a:rPr sz="2000" spc="204" dirty="0">
                <a:latin typeface="Calibri"/>
                <a:cs typeface="Calibri"/>
              </a:rPr>
              <a:t>  </a:t>
            </a:r>
            <a:r>
              <a:rPr sz="2000" dirty="0">
                <a:latin typeface="Calibri"/>
                <a:cs typeface="Calibri"/>
              </a:rPr>
              <a:t>evaluating</a:t>
            </a:r>
            <a:r>
              <a:rPr sz="2000" spc="200" dirty="0">
                <a:latin typeface="Calibri"/>
                <a:cs typeface="Calibri"/>
              </a:rPr>
              <a:t>  </a:t>
            </a:r>
            <a:r>
              <a:rPr sz="2000" dirty="0">
                <a:latin typeface="Calibri"/>
                <a:cs typeface="Calibri"/>
              </a:rPr>
              <a:t>alternatives</a:t>
            </a:r>
            <a:r>
              <a:rPr sz="2000" spc="210" dirty="0">
                <a:latin typeface="Calibri"/>
                <a:cs typeface="Calibri"/>
              </a:rPr>
              <a:t>  </a:t>
            </a:r>
            <a:r>
              <a:rPr sz="2000" dirty="0">
                <a:latin typeface="Calibri"/>
                <a:cs typeface="Calibri"/>
              </a:rPr>
              <a:t>that</a:t>
            </a:r>
            <a:r>
              <a:rPr sz="2000" spc="204" dirty="0">
                <a:latin typeface="Calibri"/>
                <a:cs typeface="Calibri"/>
              </a:rPr>
              <a:t>  </a:t>
            </a:r>
            <a:r>
              <a:rPr sz="2000" dirty="0">
                <a:latin typeface="Calibri"/>
                <a:cs typeface="Calibri"/>
              </a:rPr>
              <a:t>support</a:t>
            </a:r>
            <a:r>
              <a:rPr sz="2000" spc="204" dirty="0">
                <a:latin typeface="Calibri"/>
                <a:cs typeface="Calibri"/>
              </a:rPr>
              <a:t>  </a:t>
            </a:r>
            <a:r>
              <a:rPr sz="2000" dirty="0">
                <a:latin typeface="Calibri"/>
                <a:cs typeface="Calibri"/>
              </a:rPr>
              <a:t>the</a:t>
            </a:r>
            <a:r>
              <a:rPr sz="2000" spc="210" dirty="0">
                <a:latin typeface="Calibri"/>
                <a:cs typeface="Calibri"/>
              </a:rPr>
              <a:t>  </a:t>
            </a:r>
            <a:r>
              <a:rPr sz="2000" spc="-10" dirty="0">
                <a:latin typeface="Calibri"/>
                <a:cs typeface="Calibri"/>
              </a:rPr>
              <a:t>organization’s 	</a:t>
            </a:r>
            <a:r>
              <a:rPr sz="2000" dirty="0">
                <a:latin typeface="Calibri"/>
                <a:cs typeface="Calibri"/>
              </a:rPr>
              <a:t>objectives</a:t>
            </a:r>
            <a:r>
              <a:rPr sz="2000" spc="-45" dirty="0">
                <a:latin typeface="Calibri"/>
                <a:cs typeface="Calibri"/>
              </a:rPr>
              <a:t> </a:t>
            </a:r>
            <a:r>
              <a:rPr sz="2000" dirty="0">
                <a:latin typeface="Calibri"/>
                <a:cs typeface="Calibri"/>
              </a:rPr>
              <a:t>and</a:t>
            </a:r>
            <a:r>
              <a:rPr sz="2000" spc="-50" dirty="0">
                <a:latin typeface="Calibri"/>
                <a:cs typeface="Calibri"/>
              </a:rPr>
              <a:t> </a:t>
            </a:r>
            <a:r>
              <a:rPr sz="2000" dirty="0">
                <a:latin typeface="Calibri"/>
                <a:cs typeface="Calibri"/>
              </a:rPr>
              <a:t>selecting</a:t>
            </a:r>
            <a:r>
              <a:rPr sz="2000" spc="-50"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best</a:t>
            </a:r>
            <a:r>
              <a:rPr sz="2000" spc="-45" dirty="0">
                <a:latin typeface="Calibri"/>
                <a:cs typeface="Calibri"/>
              </a:rPr>
              <a:t> </a:t>
            </a:r>
            <a:r>
              <a:rPr sz="2000" spc="-10" dirty="0">
                <a:latin typeface="Calibri"/>
                <a:cs typeface="Calibri"/>
              </a:rPr>
              <a:t>alternative</a:t>
            </a:r>
            <a:endParaRPr sz="2000" dirty="0">
              <a:latin typeface="Calibri"/>
              <a:cs typeface="Calibri"/>
            </a:endParaRPr>
          </a:p>
          <a:p>
            <a:pPr>
              <a:lnSpc>
                <a:spcPct val="100000"/>
              </a:lnSpc>
              <a:spcBef>
                <a:spcPts val="535"/>
              </a:spcBef>
              <a:buFont typeface="Arial MT"/>
              <a:buChar char="•"/>
            </a:pPr>
            <a:endParaRPr sz="2000" dirty="0">
              <a:latin typeface="Calibri"/>
              <a:cs typeface="Calibri"/>
            </a:endParaRPr>
          </a:p>
          <a:p>
            <a:pPr marL="239395" marR="5080" indent="-226695" algn="just">
              <a:lnSpc>
                <a:spcPct val="90000"/>
              </a:lnSpc>
              <a:buFont typeface="Arial MT"/>
              <a:buChar char="•"/>
              <a:tabLst>
                <a:tab pos="241300" algn="l"/>
              </a:tabLst>
            </a:pPr>
            <a:r>
              <a:rPr sz="2000" dirty="0">
                <a:solidFill>
                  <a:srgbClr val="262EA4"/>
                </a:solidFill>
                <a:latin typeface="Calibri"/>
                <a:cs typeface="Calibri"/>
              </a:rPr>
              <a:t>The</a:t>
            </a:r>
            <a:r>
              <a:rPr sz="2000" spc="280" dirty="0">
                <a:solidFill>
                  <a:srgbClr val="262EA4"/>
                </a:solidFill>
                <a:latin typeface="Calibri"/>
                <a:cs typeface="Calibri"/>
              </a:rPr>
              <a:t> </a:t>
            </a:r>
            <a:r>
              <a:rPr sz="2000" dirty="0">
                <a:solidFill>
                  <a:srgbClr val="262EA4"/>
                </a:solidFill>
                <a:latin typeface="Calibri"/>
                <a:cs typeface="Calibri"/>
              </a:rPr>
              <a:t>first</a:t>
            </a:r>
            <a:r>
              <a:rPr sz="2000" spc="280" dirty="0">
                <a:solidFill>
                  <a:srgbClr val="262EA4"/>
                </a:solidFill>
                <a:latin typeface="Calibri"/>
                <a:cs typeface="Calibri"/>
              </a:rPr>
              <a:t> </a:t>
            </a:r>
            <a:r>
              <a:rPr sz="2000" dirty="0">
                <a:solidFill>
                  <a:srgbClr val="262EA4"/>
                </a:solidFill>
                <a:latin typeface="Calibri"/>
                <a:cs typeface="Calibri"/>
              </a:rPr>
              <a:t>step</a:t>
            </a:r>
            <a:r>
              <a:rPr sz="2000" spc="280" dirty="0">
                <a:solidFill>
                  <a:srgbClr val="262EA4"/>
                </a:solidFill>
                <a:latin typeface="Calibri"/>
                <a:cs typeface="Calibri"/>
              </a:rPr>
              <a:t> </a:t>
            </a:r>
            <a:r>
              <a:rPr sz="2000" dirty="0">
                <a:solidFill>
                  <a:srgbClr val="262EA4"/>
                </a:solidFill>
                <a:latin typeface="Calibri"/>
                <a:cs typeface="Calibri"/>
              </a:rPr>
              <a:t>is</a:t>
            </a:r>
            <a:r>
              <a:rPr sz="2000" spc="280" dirty="0">
                <a:solidFill>
                  <a:srgbClr val="262EA4"/>
                </a:solidFill>
                <a:latin typeface="Calibri"/>
                <a:cs typeface="Calibri"/>
              </a:rPr>
              <a:t> </a:t>
            </a:r>
            <a:r>
              <a:rPr sz="2000" dirty="0">
                <a:solidFill>
                  <a:srgbClr val="262EA4"/>
                </a:solidFill>
                <a:latin typeface="Calibri"/>
                <a:cs typeface="Calibri"/>
              </a:rPr>
              <a:t>a</a:t>
            </a:r>
            <a:r>
              <a:rPr sz="2000" spc="285" dirty="0">
                <a:solidFill>
                  <a:srgbClr val="262EA4"/>
                </a:solidFill>
                <a:latin typeface="Calibri"/>
                <a:cs typeface="Calibri"/>
              </a:rPr>
              <a:t> </a:t>
            </a:r>
            <a:r>
              <a:rPr sz="2000" dirty="0">
                <a:solidFill>
                  <a:srgbClr val="262EA4"/>
                </a:solidFill>
                <a:latin typeface="Calibri"/>
                <a:cs typeface="Calibri"/>
              </a:rPr>
              <a:t>realistic</a:t>
            </a:r>
            <a:r>
              <a:rPr sz="2000" spc="275" dirty="0">
                <a:solidFill>
                  <a:srgbClr val="262EA4"/>
                </a:solidFill>
                <a:latin typeface="Calibri"/>
                <a:cs typeface="Calibri"/>
              </a:rPr>
              <a:t> </a:t>
            </a:r>
            <a:r>
              <a:rPr sz="2000" dirty="0">
                <a:solidFill>
                  <a:srgbClr val="262EA4"/>
                </a:solidFill>
                <a:latin typeface="Calibri"/>
                <a:cs typeface="Calibri"/>
              </a:rPr>
              <a:t>evaluation</a:t>
            </a:r>
            <a:r>
              <a:rPr sz="2000" spc="280" dirty="0">
                <a:solidFill>
                  <a:srgbClr val="262EA4"/>
                </a:solidFill>
                <a:latin typeface="Calibri"/>
                <a:cs typeface="Calibri"/>
              </a:rPr>
              <a:t> </a:t>
            </a:r>
            <a:r>
              <a:rPr sz="2000" dirty="0">
                <a:solidFill>
                  <a:srgbClr val="262EA4"/>
                </a:solidFill>
                <a:latin typeface="Calibri"/>
                <a:cs typeface="Calibri"/>
              </a:rPr>
              <a:t>of</a:t>
            </a:r>
            <a:r>
              <a:rPr sz="2000" spc="280" dirty="0">
                <a:solidFill>
                  <a:srgbClr val="262EA4"/>
                </a:solidFill>
                <a:latin typeface="Calibri"/>
                <a:cs typeface="Calibri"/>
              </a:rPr>
              <a:t> </a:t>
            </a:r>
            <a:r>
              <a:rPr sz="2000" dirty="0">
                <a:solidFill>
                  <a:srgbClr val="262EA4"/>
                </a:solidFill>
                <a:latin typeface="Calibri"/>
                <a:cs typeface="Calibri"/>
              </a:rPr>
              <a:t>the</a:t>
            </a:r>
            <a:r>
              <a:rPr sz="2000" spc="285" dirty="0">
                <a:solidFill>
                  <a:srgbClr val="262EA4"/>
                </a:solidFill>
                <a:latin typeface="Calibri"/>
                <a:cs typeface="Calibri"/>
              </a:rPr>
              <a:t> </a:t>
            </a:r>
            <a:r>
              <a:rPr sz="2000" dirty="0">
                <a:solidFill>
                  <a:srgbClr val="262EA4"/>
                </a:solidFill>
                <a:latin typeface="Calibri"/>
                <a:cs typeface="Calibri"/>
              </a:rPr>
              <a:t>past</a:t>
            </a:r>
            <a:r>
              <a:rPr sz="2000" spc="280" dirty="0">
                <a:solidFill>
                  <a:srgbClr val="262EA4"/>
                </a:solidFill>
                <a:latin typeface="Calibri"/>
                <a:cs typeface="Calibri"/>
              </a:rPr>
              <a:t> </a:t>
            </a:r>
            <a:r>
              <a:rPr sz="2000" dirty="0">
                <a:solidFill>
                  <a:srgbClr val="262EA4"/>
                </a:solidFill>
                <a:latin typeface="Calibri"/>
                <a:cs typeface="Calibri"/>
              </a:rPr>
              <a:t>and</a:t>
            </a:r>
            <a:r>
              <a:rPr sz="2000" spc="280" dirty="0">
                <a:solidFill>
                  <a:srgbClr val="262EA4"/>
                </a:solidFill>
                <a:latin typeface="Calibri"/>
                <a:cs typeface="Calibri"/>
              </a:rPr>
              <a:t> </a:t>
            </a:r>
            <a:r>
              <a:rPr sz="2000" dirty="0">
                <a:solidFill>
                  <a:srgbClr val="262EA4"/>
                </a:solidFill>
                <a:latin typeface="Calibri"/>
                <a:cs typeface="Calibri"/>
              </a:rPr>
              <a:t>current</a:t>
            </a:r>
            <a:r>
              <a:rPr sz="2000" spc="280" dirty="0">
                <a:solidFill>
                  <a:srgbClr val="262EA4"/>
                </a:solidFill>
                <a:latin typeface="Calibri"/>
                <a:cs typeface="Calibri"/>
              </a:rPr>
              <a:t> </a:t>
            </a:r>
            <a:r>
              <a:rPr sz="2000" dirty="0">
                <a:solidFill>
                  <a:srgbClr val="262EA4"/>
                </a:solidFill>
                <a:latin typeface="Calibri"/>
                <a:cs typeface="Calibri"/>
              </a:rPr>
              <a:t>position</a:t>
            </a:r>
            <a:r>
              <a:rPr sz="2000" spc="280" dirty="0">
                <a:solidFill>
                  <a:srgbClr val="262EA4"/>
                </a:solidFill>
                <a:latin typeface="Calibri"/>
                <a:cs typeface="Calibri"/>
              </a:rPr>
              <a:t> </a:t>
            </a:r>
            <a:r>
              <a:rPr sz="2000" dirty="0">
                <a:solidFill>
                  <a:srgbClr val="262EA4"/>
                </a:solidFill>
                <a:latin typeface="Calibri"/>
                <a:cs typeface="Calibri"/>
              </a:rPr>
              <a:t>of</a:t>
            </a:r>
            <a:r>
              <a:rPr sz="2000" spc="280" dirty="0">
                <a:solidFill>
                  <a:srgbClr val="262EA4"/>
                </a:solidFill>
                <a:latin typeface="Calibri"/>
                <a:cs typeface="Calibri"/>
              </a:rPr>
              <a:t> </a:t>
            </a:r>
            <a:r>
              <a:rPr sz="2000" dirty="0">
                <a:solidFill>
                  <a:srgbClr val="262EA4"/>
                </a:solidFill>
                <a:latin typeface="Calibri"/>
                <a:cs typeface="Calibri"/>
              </a:rPr>
              <a:t>the</a:t>
            </a:r>
            <a:r>
              <a:rPr sz="2000" spc="285" dirty="0">
                <a:solidFill>
                  <a:srgbClr val="262EA4"/>
                </a:solidFill>
                <a:latin typeface="Calibri"/>
                <a:cs typeface="Calibri"/>
              </a:rPr>
              <a:t> </a:t>
            </a:r>
            <a:r>
              <a:rPr sz="2000" dirty="0">
                <a:solidFill>
                  <a:srgbClr val="262EA4"/>
                </a:solidFill>
                <a:latin typeface="Calibri"/>
                <a:cs typeface="Calibri"/>
              </a:rPr>
              <a:t>enterprise.</a:t>
            </a:r>
            <a:r>
              <a:rPr sz="2000" spc="270" dirty="0">
                <a:solidFill>
                  <a:srgbClr val="262EA4"/>
                </a:solidFill>
                <a:latin typeface="Calibri"/>
                <a:cs typeface="Calibri"/>
              </a:rPr>
              <a:t> </a:t>
            </a:r>
            <a:r>
              <a:rPr sz="2000" dirty="0">
                <a:solidFill>
                  <a:srgbClr val="262EA4"/>
                </a:solidFill>
                <a:latin typeface="Calibri"/>
                <a:cs typeface="Calibri"/>
              </a:rPr>
              <a:t>This</a:t>
            </a:r>
            <a:r>
              <a:rPr sz="2000" spc="285" dirty="0">
                <a:solidFill>
                  <a:srgbClr val="262EA4"/>
                </a:solidFill>
                <a:latin typeface="Calibri"/>
                <a:cs typeface="Calibri"/>
              </a:rPr>
              <a:t> </a:t>
            </a:r>
            <a:r>
              <a:rPr sz="2000" spc="-20" dirty="0">
                <a:solidFill>
                  <a:srgbClr val="262EA4"/>
                </a:solidFill>
                <a:latin typeface="Calibri"/>
                <a:cs typeface="Calibri"/>
              </a:rPr>
              <a:t>step 	</a:t>
            </a:r>
            <a:r>
              <a:rPr sz="2000" dirty="0">
                <a:solidFill>
                  <a:srgbClr val="262EA4"/>
                </a:solidFill>
                <a:latin typeface="Calibri"/>
                <a:cs typeface="Calibri"/>
              </a:rPr>
              <a:t>typically</a:t>
            </a:r>
            <a:r>
              <a:rPr sz="2000" spc="300" dirty="0">
                <a:solidFill>
                  <a:srgbClr val="262EA4"/>
                </a:solidFill>
                <a:latin typeface="Calibri"/>
                <a:cs typeface="Calibri"/>
              </a:rPr>
              <a:t> </a:t>
            </a:r>
            <a:r>
              <a:rPr sz="2000" dirty="0">
                <a:solidFill>
                  <a:srgbClr val="262EA4"/>
                </a:solidFill>
                <a:latin typeface="Calibri"/>
                <a:cs typeface="Calibri"/>
              </a:rPr>
              <a:t>includes</a:t>
            </a:r>
            <a:r>
              <a:rPr sz="2000" spc="310" dirty="0">
                <a:solidFill>
                  <a:srgbClr val="262EA4"/>
                </a:solidFill>
                <a:latin typeface="Calibri"/>
                <a:cs typeface="Calibri"/>
              </a:rPr>
              <a:t> </a:t>
            </a:r>
            <a:r>
              <a:rPr sz="2000" dirty="0">
                <a:solidFill>
                  <a:srgbClr val="262EA4"/>
                </a:solidFill>
                <a:latin typeface="Calibri"/>
                <a:cs typeface="Calibri"/>
              </a:rPr>
              <a:t>an</a:t>
            </a:r>
            <a:r>
              <a:rPr sz="2000" spc="310" dirty="0">
                <a:solidFill>
                  <a:srgbClr val="262EA4"/>
                </a:solidFill>
                <a:latin typeface="Calibri"/>
                <a:cs typeface="Calibri"/>
              </a:rPr>
              <a:t> </a:t>
            </a:r>
            <a:r>
              <a:rPr sz="2000" dirty="0">
                <a:solidFill>
                  <a:srgbClr val="262EA4"/>
                </a:solidFill>
                <a:latin typeface="Calibri"/>
                <a:cs typeface="Calibri"/>
              </a:rPr>
              <a:t>analysis</a:t>
            </a:r>
            <a:r>
              <a:rPr sz="2000" spc="310" dirty="0">
                <a:solidFill>
                  <a:srgbClr val="262EA4"/>
                </a:solidFill>
                <a:latin typeface="Calibri"/>
                <a:cs typeface="Calibri"/>
              </a:rPr>
              <a:t> </a:t>
            </a:r>
            <a:r>
              <a:rPr sz="2000" dirty="0">
                <a:solidFill>
                  <a:srgbClr val="262EA4"/>
                </a:solidFill>
                <a:latin typeface="Calibri"/>
                <a:cs typeface="Calibri"/>
              </a:rPr>
              <a:t>of</a:t>
            </a:r>
            <a:r>
              <a:rPr sz="2000" spc="310" dirty="0">
                <a:solidFill>
                  <a:srgbClr val="262EA4"/>
                </a:solidFill>
                <a:latin typeface="Calibri"/>
                <a:cs typeface="Calibri"/>
              </a:rPr>
              <a:t> </a:t>
            </a:r>
            <a:r>
              <a:rPr sz="2000" dirty="0">
                <a:solidFill>
                  <a:srgbClr val="262EA4"/>
                </a:solidFill>
                <a:latin typeface="Calibri"/>
                <a:cs typeface="Calibri"/>
              </a:rPr>
              <a:t>“who</a:t>
            </a:r>
            <a:r>
              <a:rPr sz="2000" spc="305" dirty="0">
                <a:solidFill>
                  <a:srgbClr val="262EA4"/>
                </a:solidFill>
                <a:latin typeface="Calibri"/>
                <a:cs typeface="Calibri"/>
              </a:rPr>
              <a:t> </a:t>
            </a:r>
            <a:r>
              <a:rPr sz="2000" dirty="0">
                <a:solidFill>
                  <a:srgbClr val="262EA4"/>
                </a:solidFill>
                <a:latin typeface="Calibri"/>
                <a:cs typeface="Calibri"/>
              </a:rPr>
              <a:t>are</a:t>
            </a:r>
            <a:r>
              <a:rPr sz="2000" spc="310" dirty="0">
                <a:solidFill>
                  <a:srgbClr val="262EA4"/>
                </a:solidFill>
                <a:latin typeface="Calibri"/>
                <a:cs typeface="Calibri"/>
              </a:rPr>
              <a:t> </a:t>
            </a:r>
            <a:r>
              <a:rPr sz="2000" dirty="0">
                <a:solidFill>
                  <a:srgbClr val="262EA4"/>
                </a:solidFill>
                <a:latin typeface="Calibri"/>
                <a:cs typeface="Calibri"/>
              </a:rPr>
              <a:t>the</a:t>
            </a:r>
            <a:r>
              <a:rPr sz="2000" spc="310" dirty="0">
                <a:solidFill>
                  <a:srgbClr val="262EA4"/>
                </a:solidFill>
                <a:latin typeface="Calibri"/>
                <a:cs typeface="Calibri"/>
              </a:rPr>
              <a:t> </a:t>
            </a:r>
            <a:r>
              <a:rPr sz="2000" dirty="0">
                <a:solidFill>
                  <a:srgbClr val="262EA4"/>
                </a:solidFill>
                <a:latin typeface="Calibri"/>
                <a:cs typeface="Calibri"/>
              </a:rPr>
              <a:t>customers”</a:t>
            </a:r>
            <a:r>
              <a:rPr sz="2000" spc="305" dirty="0">
                <a:solidFill>
                  <a:srgbClr val="262EA4"/>
                </a:solidFill>
                <a:latin typeface="Calibri"/>
                <a:cs typeface="Calibri"/>
              </a:rPr>
              <a:t> </a:t>
            </a:r>
            <a:r>
              <a:rPr sz="2000" dirty="0">
                <a:solidFill>
                  <a:srgbClr val="262EA4"/>
                </a:solidFill>
                <a:latin typeface="Calibri"/>
                <a:cs typeface="Calibri"/>
              </a:rPr>
              <a:t>and</a:t>
            </a:r>
            <a:r>
              <a:rPr sz="2000" spc="310" dirty="0">
                <a:solidFill>
                  <a:srgbClr val="262EA4"/>
                </a:solidFill>
                <a:latin typeface="Calibri"/>
                <a:cs typeface="Calibri"/>
              </a:rPr>
              <a:t> </a:t>
            </a:r>
            <a:r>
              <a:rPr sz="2000" dirty="0">
                <a:solidFill>
                  <a:srgbClr val="262EA4"/>
                </a:solidFill>
                <a:latin typeface="Calibri"/>
                <a:cs typeface="Calibri"/>
              </a:rPr>
              <a:t>“what</a:t>
            </a:r>
            <a:r>
              <a:rPr sz="2000" spc="315" dirty="0">
                <a:solidFill>
                  <a:srgbClr val="262EA4"/>
                </a:solidFill>
                <a:latin typeface="Calibri"/>
                <a:cs typeface="Calibri"/>
              </a:rPr>
              <a:t> </a:t>
            </a:r>
            <a:r>
              <a:rPr sz="2000" dirty="0">
                <a:solidFill>
                  <a:srgbClr val="262EA4"/>
                </a:solidFill>
                <a:latin typeface="Calibri"/>
                <a:cs typeface="Calibri"/>
              </a:rPr>
              <a:t>are</a:t>
            </a:r>
            <a:r>
              <a:rPr sz="2000" spc="305" dirty="0">
                <a:solidFill>
                  <a:srgbClr val="262EA4"/>
                </a:solidFill>
                <a:latin typeface="Calibri"/>
                <a:cs typeface="Calibri"/>
              </a:rPr>
              <a:t> </a:t>
            </a:r>
            <a:r>
              <a:rPr sz="2000" dirty="0">
                <a:solidFill>
                  <a:srgbClr val="262EA4"/>
                </a:solidFill>
                <a:latin typeface="Calibri"/>
                <a:cs typeface="Calibri"/>
              </a:rPr>
              <a:t>their</a:t>
            </a:r>
            <a:r>
              <a:rPr sz="2000" spc="310" dirty="0">
                <a:solidFill>
                  <a:srgbClr val="262EA4"/>
                </a:solidFill>
                <a:latin typeface="Calibri"/>
                <a:cs typeface="Calibri"/>
              </a:rPr>
              <a:t> </a:t>
            </a:r>
            <a:r>
              <a:rPr sz="2000" dirty="0">
                <a:solidFill>
                  <a:srgbClr val="262EA4"/>
                </a:solidFill>
                <a:latin typeface="Calibri"/>
                <a:cs typeface="Calibri"/>
              </a:rPr>
              <a:t>needs</a:t>
            </a:r>
            <a:r>
              <a:rPr sz="2000" spc="310" dirty="0">
                <a:solidFill>
                  <a:srgbClr val="262EA4"/>
                </a:solidFill>
                <a:latin typeface="Calibri"/>
                <a:cs typeface="Calibri"/>
              </a:rPr>
              <a:t> </a:t>
            </a:r>
            <a:r>
              <a:rPr sz="2000" dirty="0">
                <a:solidFill>
                  <a:srgbClr val="262EA4"/>
                </a:solidFill>
                <a:latin typeface="Calibri"/>
                <a:cs typeface="Calibri"/>
              </a:rPr>
              <a:t>as</a:t>
            </a:r>
            <a:r>
              <a:rPr sz="2000" spc="315" dirty="0">
                <a:solidFill>
                  <a:srgbClr val="262EA4"/>
                </a:solidFill>
                <a:latin typeface="Calibri"/>
                <a:cs typeface="Calibri"/>
              </a:rPr>
              <a:t> </a:t>
            </a:r>
            <a:r>
              <a:rPr sz="2000" dirty="0">
                <a:solidFill>
                  <a:srgbClr val="262EA4"/>
                </a:solidFill>
                <a:latin typeface="Calibri"/>
                <a:cs typeface="Calibri"/>
              </a:rPr>
              <a:t>they</a:t>
            </a:r>
            <a:r>
              <a:rPr sz="2000" spc="295" dirty="0">
                <a:solidFill>
                  <a:srgbClr val="262EA4"/>
                </a:solidFill>
                <a:latin typeface="Calibri"/>
                <a:cs typeface="Calibri"/>
              </a:rPr>
              <a:t> </a:t>
            </a:r>
            <a:r>
              <a:rPr sz="2000" spc="-20" dirty="0">
                <a:solidFill>
                  <a:srgbClr val="262EA4"/>
                </a:solidFill>
                <a:latin typeface="Calibri"/>
                <a:cs typeface="Calibri"/>
              </a:rPr>
              <a:t>(the 	</a:t>
            </a:r>
            <a:r>
              <a:rPr sz="2000" i="1" spc="-10" dirty="0">
                <a:solidFill>
                  <a:srgbClr val="262EA4"/>
                </a:solidFill>
                <a:latin typeface="Calibri"/>
                <a:cs typeface="Calibri"/>
              </a:rPr>
              <a:t>customers</a:t>
            </a:r>
            <a:r>
              <a:rPr sz="2000" spc="-10" dirty="0">
                <a:solidFill>
                  <a:srgbClr val="262EA4"/>
                </a:solidFill>
                <a:latin typeface="Calibri"/>
                <a:cs typeface="Calibri"/>
              </a:rPr>
              <a:t>)</a:t>
            </a:r>
            <a:r>
              <a:rPr sz="2000" spc="-30" dirty="0">
                <a:solidFill>
                  <a:srgbClr val="262EA4"/>
                </a:solidFill>
                <a:latin typeface="Calibri"/>
                <a:cs typeface="Calibri"/>
              </a:rPr>
              <a:t> </a:t>
            </a:r>
            <a:r>
              <a:rPr sz="2000" dirty="0">
                <a:solidFill>
                  <a:srgbClr val="262EA4"/>
                </a:solidFill>
                <a:latin typeface="Calibri"/>
                <a:cs typeface="Calibri"/>
              </a:rPr>
              <a:t>see</a:t>
            </a:r>
            <a:r>
              <a:rPr sz="2000" spc="-30" dirty="0">
                <a:solidFill>
                  <a:srgbClr val="262EA4"/>
                </a:solidFill>
                <a:latin typeface="Calibri"/>
                <a:cs typeface="Calibri"/>
              </a:rPr>
              <a:t> </a:t>
            </a:r>
            <a:r>
              <a:rPr sz="2000" spc="-10" dirty="0">
                <a:solidFill>
                  <a:srgbClr val="262EA4"/>
                </a:solidFill>
                <a:latin typeface="Calibri"/>
                <a:cs typeface="Calibri"/>
              </a:rPr>
              <a:t>them.”</a:t>
            </a:r>
            <a:endParaRPr sz="2000" dirty="0">
              <a:latin typeface="Calibri"/>
              <a:cs typeface="Calibri"/>
            </a:endParaRPr>
          </a:p>
          <a:p>
            <a:pPr>
              <a:lnSpc>
                <a:spcPct val="100000"/>
              </a:lnSpc>
              <a:spcBef>
                <a:spcPts val="440"/>
              </a:spcBef>
              <a:buFont typeface="Arial MT"/>
              <a:buChar char="•"/>
            </a:pPr>
            <a:endParaRPr sz="2000" dirty="0">
              <a:latin typeface="Calibri"/>
              <a:cs typeface="Calibri"/>
            </a:endParaRPr>
          </a:p>
          <a:p>
            <a:pPr marL="240665" indent="-227965">
              <a:lnSpc>
                <a:spcPct val="100000"/>
              </a:lnSpc>
              <a:buFont typeface="Arial MT"/>
              <a:buChar char="•"/>
              <a:tabLst>
                <a:tab pos="240665" algn="l"/>
              </a:tabLst>
            </a:pPr>
            <a:r>
              <a:rPr sz="2000" dirty="0">
                <a:latin typeface="Calibri"/>
                <a:cs typeface="Calibri"/>
              </a:rPr>
              <a:t>The</a:t>
            </a:r>
            <a:r>
              <a:rPr sz="2000" spc="-50" dirty="0">
                <a:latin typeface="Calibri"/>
                <a:cs typeface="Calibri"/>
              </a:rPr>
              <a:t> </a:t>
            </a:r>
            <a:r>
              <a:rPr sz="2000" dirty="0">
                <a:latin typeface="Calibri"/>
                <a:cs typeface="Calibri"/>
              </a:rPr>
              <a:t>next</a:t>
            </a:r>
            <a:r>
              <a:rPr sz="2000" spc="-45" dirty="0">
                <a:latin typeface="Calibri"/>
                <a:cs typeface="Calibri"/>
              </a:rPr>
              <a:t> </a:t>
            </a:r>
            <a:r>
              <a:rPr sz="2000" dirty="0">
                <a:latin typeface="Calibri"/>
                <a:cs typeface="Calibri"/>
              </a:rPr>
              <a:t>step</a:t>
            </a:r>
            <a:r>
              <a:rPr sz="2000" spc="-60" dirty="0">
                <a:latin typeface="Calibri"/>
                <a:cs typeface="Calibri"/>
              </a:rPr>
              <a:t> </a:t>
            </a:r>
            <a:r>
              <a:rPr sz="2000" dirty="0">
                <a:latin typeface="Calibri"/>
                <a:cs typeface="Calibri"/>
              </a:rPr>
              <a:t>is</a:t>
            </a:r>
            <a:r>
              <a:rPr sz="2000" spc="-45" dirty="0">
                <a:latin typeface="Calibri"/>
                <a:cs typeface="Calibri"/>
              </a:rPr>
              <a:t> </a:t>
            </a:r>
            <a:r>
              <a:rPr sz="2000" dirty="0">
                <a:latin typeface="Calibri"/>
                <a:cs typeface="Calibri"/>
              </a:rPr>
              <a:t>an</a:t>
            </a:r>
            <a:r>
              <a:rPr sz="2000" spc="-55" dirty="0">
                <a:latin typeface="Calibri"/>
                <a:cs typeface="Calibri"/>
              </a:rPr>
              <a:t> </a:t>
            </a:r>
            <a:r>
              <a:rPr sz="2000" dirty="0">
                <a:latin typeface="Calibri"/>
                <a:cs typeface="Calibri"/>
              </a:rPr>
              <a:t>assessment</a:t>
            </a:r>
            <a:r>
              <a:rPr sz="2000" spc="-45" dirty="0">
                <a:latin typeface="Calibri"/>
                <a:cs typeface="Calibri"/>
              </a:rPr>
              <a:t> </a:t>
            </a:r>
            <a:r>
              <a:rPr sz="2000" dirty="0">
                <a:latin typeface="Calibri"/>
                <a:cs typeface="Calibri"/>
              </a:rPr>
              <a:t>of</a:t>
            </a:r>
            <a:r>
              <a:rPr sz="2000" spc="-50"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internal</a:t>
            </a:r>
            <a:r>
              <a:rPr sz="2000" spc="-45" dirty="0">
                <a:latin typeface="Calibri"/>
                <a:cs typeface="Calibri"/>
              </a:rPr>
              <a:t> </a:t>
            </a:r>
            <a:r>
              <a:rPr sz="2000" dirty="0">
                <a:latin typeface="Calibri"/>
                <a:cs typeface="Calibri"/>
              </a:rPr>
              <a:t>and</a:t>
            </a:r>
            <a:r>
              <a:rPr sz="2000" spc="-55" dirty="0">
                <a:latin typeface="Calibri"/>
                <a:cs typeface="Calibri"/>
              </a:rPr>
              <a:t> </a:t>
            </a:r>
            <a:r>
              <a:rPr sz="2000" dirty="0">
                <a:latin typeface="Calibri"/>
                <a:cs typeface="Calibri"/>
              </a:rPr>
              <a:t>external</a:t>
            </a:r>
            <a:r>
              <a:rPr sz="2000" spc="-45" dirty="0">
                <a:latin typeface="Calibri"/>
                <a:cs typeface="Calibri"/>
              </a:rPr>
              <a:t> </a:t>
            </a:r>
            <a:r>
              <a:rPr sz="2000" spc="-10" dirty="0">
                <a:latin typeface="Calibri"/>
                <a:cs typeface="Calibri"/>
              </a:rPr>
              <a:t>environments</a:t>
            </a:r>
            <a:r>
              <a:rPr sz="2000" spc="-50" dirty="0">
                <a:latin typeface="Calibri"/>
                <a:cs typeface="Calibri"/>
              </a:rPr>
              <a:t> </a:t>
            </a:r>
            <a:r>
              <a:rPr sz="2000" spc="-10" dirty="0">
                <a:latin typeface="Calibri"/>
                <a:cs typeface="Calibri"/>
              </a:rPr>
              <a:t>(</a:t>
            </a:r>
            <a:r>
              <a:rPr sz="2000" spc="-10" dirty="0">
                <a:solidFill>
                  <a:srgbClr val="C00000"/>
                </a:solidFill>
                <a:latin typeface="Calibri"/>
                <a:cs typeface="Calibri"/>
              </a:rPr>
              <a:t>SWOT).</a:t>
            </a:r>
            <a:endParaRPr sz="2000" dirty="0">
              <a:latin typeface="Calibri"/>
              <a:cs typeface="Calibri"/>
            </a:endParaRPr>
          </a:p>
          <a:p>
            <a:pPr>
              <a:lnSpc>
                <a:spcPct val="100000"/>
              </a:lnSpc>
              <a:spcBef>
                <a:spcPts val="600"/>
              </a:spcBef>
              <a:buFont typeface="Arial MT"/>
              <a:buChar char="•"/>
            </a:pPr>
            <a:endParaRPr sz="2000" dirty="0">
              <a:latin typeface="Calibri"/>
              <a:cs typeface="Calibri"/>
            </a:endParaRPr>
          </a:p>
          <a:p>
            <a:pPr marL="239395" marR="5080" indent="-226695" algn="just">
              <a:lnSpc>
                <a:spcPts val="2210"/>
              </a:lnSpc>
              <a:buFont typeface="Arial MT"/>
              <a:buChar char="•"/>
              <a:tabLst>
                <a:tab pos="241300" algn="l"/>
              </a:tabLst>
            </a:pPr>
            <a:r>
              <a:rPr sz="2000" dirty="0">
                <a:solidFill>
                  <a:srgbClr val="262EA4"/>
                </a:solidFill>
                <a:latin typeface="Calibri"/>
                <a:cs typeface="Calibri"/>
              </a:rPr>
              <a:t>The</a:t>
            </a:r>
            <a:r>
              <a:rPr sz="2000" spc="-25" dirty="0">
                <a:solidFill>
                  <a:srgbClr val="262EA4"/>
                </a:solidFill>
                <a:latin typeface="Calibri"/>
                <a:cs typeface="Calibri"/>
              </a:rPr>
              <a:t> </a:t>
            </a:r>
            <a:r>
              <a:rPr sz="2000" dirty="0">
                <a:solidFill>
                  <a:srgbClr val="262EA4"/>
                </a:solidFill>
                <a:latin typeface="Calibri"/>
                <a:cs typeface="Calibri"/>
              </a:rPr>
              <a:t>keys</a:t>
            </a:r>
            <a:r>
              <a:rPr sz="2000" spc="-20" dirty="0">
                <a:solidFill>
                  <a:srgbClr val="262EA4"/>
                </a:solidFill>
                <a:latin typeface="Calibri"/>
                <a:cs typeface="Calibri"/>
              </a:rPr>
              <a:t> </a:t>
            </a:r>
            <a:r>
              <a:rPr sz="2000" dirty="0">
                <a:solidFill>
                  <a:srgbClr val="262EA4"/>
                </a:solidFill>
                <a:latin typeface="Calibri"/>
                <a:cs typeface="Calibri"/>
              </a:rPr>
              <a:t>are</a:t>
            </a:r>
            <a:r>
              <a:rPr sz="2000" spc="-20" dirty="0">
                <a:solidFill>
                  <a:srgbClr val="262EA4"/>
                </a:solidFill>
                <a:latin typeface="Calibri"/>
                <a:cs typeface="Calibri"/>
              </a:rPr>
              <a:t> </a:t>
            </a:r>
            <a:r>
              <a:rPr sz="2000" dirty="0">
                <a:solidFill>
                  <a:srgbClr val="262EA4"/>
                </a:solidFill>
                <a:latin typeface="Calibri"/>
                <a:cs typeface="Calibri"/>
              </a:rPr>
              <a:t>to</a:t>
            </a:r>
            <a:r>
              <a:rPr sz="2000" spc="-25" dirty="0">
                <a:solidFill>
                  <a:srgbClr val="262EA4"/>
                </a:solidFill>
                <a:latin typeface="Calibri"/>
                <a:cs typeface="Calibri"/>
              </a:rPr>
              <a:t> </a:t>
            </a:r>
            <a:r>
              <a:rPr sz="2000" dirty="0">
                <a:solidFill>
                  <a:srgbClr val="262EA4"/>
                </a:solidFill>
                <a:latin typeface="Calibri"/>
                <a:cs typeface="Calibri"/>
              </a:rPr>
              <a:t>attempt</a:t>
            </a:r>
            <a:r>
              <a:rPr sz="2000" spc="-25" dirty="0">
                <a:solidFill>
                  <a:srgbClr val="262EA4"/>
                </a:solidFill>
                <a:latin typeface="Calibri"/>
                <a:cs typeface="Calibri"/>
              </a:rPr>
              <a:t> </a:t>
            </a:r>
            <a:r>
              <a:rPr sz="2000" dirty="0">
                <a:solidFill>
                  <a:srgbClr val="262EA4"/>
                </a:solidFill>
                <a:latin typeface="Calibri"/>
                <a:cs typeface="Calibri"/>
              </a:rPr>
              <a:t>to</a:t>
            </a:r>
            <a:r>
              <a:rPr sz="2000" spc="-25" dirty="0">
                <a:solidFill>
                  <a:srgbClr val="262EA4"/>
                </a:solidFill>
                <a:latin typeface="Calibri"/>
                <a:cs typeface="Calibri"/>
              </a:rPr>
              <a:t> </a:t>
            </a:r>
            <a:r>
              <a:rPr sz="2000" dirty="0">
                <a:solidFill>
                  <a:srgbClr val="262EA4"/>
                </a:solidFill>
                <a:latin typeface="Calibri"/>
                <a:cs typeface="Calibri"/>
              </a:rPr>
              <a:t>forecast</a:t>
            </a:r>
            <a:r>
              <a:rPr sz="2000" spc="-20" dirty="0">
                <a:solidFill>
                  <a:srgbClr val="262EA4"/>
                </a:solidFill>
                <a:latin typeface="Calibri"/>
                <a:cs typeface="Calibri"/>
              </a:rPr>
              <a:t> </a:t>
            </a:r>
            <a:r>
              <a:rPr sz="2000" dirty="0">
                <a:solidFill>
                  <a:srgbClr val="262EA4"/>
                </a:solidFill>
                <a:latin typeface="Calibri"/>
                <a:cs typeface="Calibri"/>
              </a:rPr>
              <a:t>fundamental</a:t>
            </a:r>
            <a:r>
              <a:rPr sz="2000" spc="-20" dirty="0">
                <a:solidFill>
                  <a:srgbClr val="262EA4"/>
                </a:solidFill>
                <a:latin typeface="Calibri"/>
                <a:cs typeface="Calibri"/>
              </a:rPr>
              <a:t> </a:t>
            </a:r>
            <a:r>
              <a:rPr sz="2000" dirty="0">
                <a:solidFill>
                  <a:srgbClr val="262EA4"/>
                </a:solidFill>
                <a:latin typeface="Calibri"/>
                <a:cs typeface="Calibri"/>
              </a:rPr>
              <a:t>industry</a:t>
            </a:r>
            <a:r>
              <a:rPr sz="2000" spc="-30" dirty="0">
                <a:solidFill>
                  <a:srgbClr val="262EA4"/>
                </a:solidFill>
                <a:latin typeface="Calibri"/>
                <a:cs typeface="Calibri"/>
              </a:rPr>
              <a:t> </a:t>
            </a:r>
            <a:r>
              <a:rPr sz="2000" dirty="0">
                <a:solidFill>
                  <a:srgbClr val="262EA4"/>
                </a:solidFill>
                <a:latin typeface="Calibri"/>
                <a:cs typeface="Calibri"/>
              </a:rPr>
              <a:t>changes</a:t>
            </a:r>
            <a:r>
              <a:rPr sz="2000" spc="-20" dirty="0">
                <a:solidFill>
                  <a:srgbClr val="262EA4"/>
                </a:solidFill>
                <a:latin typeface="Calibri"/>
                <a:cs typeface="Calibri"/>
              </a:rPr>
              <a:t> </a:t>
            </a:r>
            <a:r>
              <a:rPr sz="2000" dirty="0">
                <a:solidFill>
                  <a:srgbClr val="262EA4"/>
                </a:solidFill>
                <a:latin typeface="Calibri"/>
                <a:cs typeface="Calibri"/>
              </a:rPr>
              <a:t>and</a:t>
            </a:r>
            <a:r>
              <a:rPr sz="2000" spc="-30" dirty="0">
                <a:solidFill>
                  <a:srgbClr val="262EA4"/>
                </a:solidFill>
                <a:latin typeface="Calibri"/>
                <a:cs typeface="Calibri"/>
              </a:rPr>
              <a:t> </a:t>
            </a:r>
            <a:r>
              <a:rPr sz="2000" dirty="0">
                <a:solidFill>
                  <a:srgbClr val="262EA4"/>
                </a:solidFill>
                <a:latin typeface="Calibri"/>
                <a:cs typeface="Calibri"/>
              </a:rPr>
              <a:t>stay</a:t>
            </a:r>
            <a:r>
              <a:rPr sz="2000" spc="-30" dirty="0">
                <a:solidFill>
                  <a:srgbClr val="262EA4"/>
                </a:solidFill>
                <a:latin typeface="Calibri"/>
                <a:cs typeface="Calibri"/>
              </a:rPr>
              <a:t> </a:t>
            </a:r>
            <a:r>
              <a:rPr sz="2000" dirty="0">
                <a:solidFill>
                  <a:srgbClr val="262EA4"/>
                </a:solidFill>
                <a:latin typeface="Calibri"/>
                <a:cs typeface="Calibri"/>
              </a:rPr>
              <a:t>in</a:t>
            </a:r>
            <a:r>
              <a:rPr sz="2000" spc="-25" dirty="0">
                <a:solidFill>
                  <a:srgbClr val="262EA4"/>
                </a:solidFill>
                <a:latin typeface="Calibri"/>
                <a:cs typeface="Calibri"/>
              </a:rPr>
              <a:t> </a:t>
            </a:r>
            <a:r>
              <a:rPr sz="2000" dirty="0">
                <a:solidFill>
                  <a:srgbClr val="262EA4"/>
                </a:solidFill>
                <a:latin typeface="Calibri"/>
                <a:cs typeface="Calibri"/>
              </a:rPr>
              <a:t>a</a:t>
            </a:r>
            <a:r>
              <a:rPr sz="2000" spc="-20" dirty="0">
                <a:solidFill>
                  <a:srgbClr val="262EA4"/>
                </a:solidFill>
                <a:latin typeface="Calibri"/>
                <a:cs typeface="Calibri"/>
              </a:rPr>
              <a:t> </a:t>
            </a:r>
            <a:r>
              <a:rPr sz="2000" dirty="0">
                <a:solidFill>
                  <a:srgbClr val="262EA4"/>
                </a:solidFill>
                <a:latin typeface="Calibri"/>
                <a:cs typeface="Calibri"/>
              </a:rPr>
              <a:t>proactive</a:t>
            </a:r>
            <a:r>
              <a:rPr sz="2000" spc="-20" dirty="0">
                <a:solidFill>
                  <a:srgbClr val="262EA4"/>
                </a:solidFill>
                <a:latin typeface="Calibri"/>
                <a:cs typeface="Calibri"/>
              </a:rPr>
              <a:t> </a:t>
            </a:r>
            <a:r>
              <a:rPr sz="2000" dirty="0">
                <a:solidFill>
                  <a:srgbClr val="262EA4"/>
                </a:solidFill>
                <a:latin typeface="Calibri"/>
                <a:cs typeface="Calibri"/>
              </a:rPr>
              <a:t>mode</a:t>
            </a:r>
            <a:r>
              <a:rPr sz="2000" spc="-20" dirty="0">
                <a:solidFill>
                  <a:srgbClr val="262EA4"/>
                </a:solidFill>
                <a:latin typeface="Calibri"/>
                <a:cs typeface="Calibri"/>
              </a:rPr>
              <a:t> </a:t>
            </a:r>
            <a:r>
              <a:rPr sz="2000" spc="-10" dirty="0">
                <a:solidFill>
                  <a:srgbClr val="262EA4"/>
                </a:solidFill>
                <a:latin typeface="Calibri"/>
                <a:cs typeface="Calibri"/>
              </a:rPr>
              <a:t>rather 	</a:t>
            </a:r>
            <a:r>
              <a:rPr sz="2000" dirty="0">
                <a:solidFill>
                  <a:srgbClr val="262EA4"/>
                </a:solidFill>
                <a:latin typeface="Calibri"/>
                <a:cs typeface="Calibri"/>
              </a:rPr>
              <a:t>than</a:t>
            </a:r>
            <a:r>
              <a:rPr sz="2000" spc="-50" dirty="0">
                <a:solidFill>
                  <a:srgbClr val="262EA4"/>
                </a:solidFill>
                <a:latin typeface="Calibri"/>
                <a:cs typeface="Calibri"/>
              </a:rPr>
              <a:t> </a:t>
            </a:r>
            <a:r>
              <a:rPr sz="2000" dirty="0">
                <a:solidFill>
                  <a:srgbClr val="262EA4"/>
                </a:solidFill>
                <a:latin typeface="Calibri"/>
                <a:cs typeface="Calibri"/>
              </a:rPr>
              <a:t>a</a:t>
            </a:r>
            <a:r>
              <a:rPr sz="2000" spc="-45" dirty="0">
                <a:solidFill>
                  <a:srgbClr val="262EA4"/>
                </a:solidFill>
                <a:latin typeface="Calibri"/>
                <a:cs typeface="Calibri"/>
              </a:rPr>
              <a:t> </a:t>
            </a:r>
            <a:r>
              <a:rPr sz="2000" dirty="0">
                <a:solidFill>
                  <a:srgbClr val="262EA4"/>
                </a:solidFill>
                <a:latin typeface="Calibri"/>
                <a:cs typeface="Calibri"/>
              </a:rPr>
              <a:t>reactive</a:t>
            </a:r>
            <a:r>
              <a:rPr sz="2000" spc="-40" dirty="0">
                <a:solidFill>
                  <a:srgbClr val="262EA4"/>
                </a:solidFill>
                <a:latin typeface="Calibri"/>
                <a:cs typeface="Calibri"/>
              </a:rPr>
              <a:t> </a:t>
            </a:r>
            <a:r>
              <a:rPr sz="2000" spc="-25" dirty="0">
                <a:solidFill>
                  <a:srgbClr val="262EA4"/>
                </a:solidFill>
                <a:latin typeface="Calibri"/>
                <a:cs typeface="Calibri"/>
              </a:rPr>
              <a:t>one</a:t>
            </a:r>
            <a:endParaRPr sz="2000" dirty="0">
              <a:latin typeface="Calibri"/>
              <a:cs typeface="Calibri"/>
            </a:endParaRPr>
          </a:p>
        </p:txBody>
      </p:sp>
      <p:sp>
        <p:nvSpPr>
          <p:cNvPr id="4" name="object 4"/>
          <p:cNvSpPr txBox="1"/>
          <p:nvPr/>
        </p:nvSpPr>
        <p:spPr>
          <a:xfrm>
            <a:off x="916939" y="5612891"/>
            <a:ext cx="10860405" cy="891540"/>
          </a:xfrm>
          <a:prstGeom prst="rect">
            <a:avLst/>
          </a:prstGeom>
        </p:spPr>
        <p:txBody>
          <a:bodyPr vert="horz" wrap="square" lIns="0" tIns="41910" rIns="0" bIns="0" rtlCol="0">
            <a:spAutoFit/>
          </a:bodyPr>
          <a:lstStyle/>
          <a:p>
            <a:pPr marL="239395" marR="5080" indent="-226695" algn="just">
              <a:lnSpc>
                <a:spcPts val="2210"/>
              </a:lnSpc>
              <a:spcBef>
                <a:spcPts val="330"/>
              </a:spcBef>
              <a:buFont typeface="Arial MT"/>
              <a:buChar char="•"/>
              <a:tabLst>
                <a:tab pos="241300" algn="l"/>
              </a:tabLst>
            </a:pPr>
            <a:r>
              <a:rPr sz="2000" dirty="0">
                <a:latin typeface="Calibri"/>
                <a:cs typeface="Calibri"/>
              </a:rPr>
              <a:t>Strategy</a:t>
            </a:r>
            <a:r>
              <a:rPr sz="2000" spc="165" dirty="0">
                <a:latin typeface="Calibri"/>
                <a:cs typeface="Calibri"/>
              </a:rPr>
              <a:t>  </a:t>
            </a:r>
            <a:r>
              <a:rPr sz="2000" dirty="0">
                <a:latin typeface="Calibri"/>
                <a:cs typeface="Calibri"/>
              </a:rPr>
              <a:t>formulation</a:t>
            </a:r>
            <a:r>
              <a:rPr sz="2000" spc="170" dirty="0">
                <a:latin typeface="Calibri"/>
                <a:cs typeface="Calibri"/>
              </a:rPr>
              <a:t>  </a:t>
            </a:r>
            <a:r>
              <a:rPr sz="2000" dirty="0">
                <a:latin typeface="Calibri"/>
                <a:cs typeface="Calibri"/>
              </a:rPr>
              <a:t>ends</a:t>
            </a:r>
            <a:r>
              <a:rPr sz="2000" spc="170" dirty="0">
                <a:latin typeface="Calibri"/>
                <a:cs typeface="Calibri"/>
              </a:rPr>
              <a:t>  </a:t>
            </a:r>
            <a:r>
              <a:rPr sz="2000" dirty="0">
                <a:latin typeface="Calibri"/>
                <a:cs typeface="Calibri"/>
              </a:rPr>
              <a:t>with</a:t>
            </a:r>
            <a:r>
              <a:rPr sz="2000" spc="165" dirty="0">
                <a:latin typeface="Calibri"/>
                <a:cs typeface="Calibri"/>
              </a:rPr>
              <a:t>  </a:t>
            </a:r>
            <a:r>
              <a:rPr sz="2000" dirty="0">
                <a:latin typeface="Calibri"/>
                <a:cs typeface="Calibri"/>
              </a:rPr>
              <a:t>cascading</a:t>
            </a:r>
            <a:r>
              <a:rPr sz="2000" spc="165" dirty="0">
                <a:latin typeface="Calibri"/>
                <a:cs typeface="Calibri"/>
              </a:rPr>
              <a:t>  </a:t>
            </a:r>
            <a:r>
              <a:rPr sz="2000" dirty="0">
                <a:latin typeface="Calibri"/>
                <a:cs typeface="Calibri"/>
              </a:rPr>
              <a:t>objectives</a:t>
            </a:r>
            <a:r>
              <a:rPr sz="2000" spc="170" dirty="0">
                <a:latin typeface="Calibri"/>
                <a:cs typeface="Calibri"/>
              </a:rPr>
              <a:t>  </a:t>
            </a:r>
            <a:r>
              <a:rPr sz="2000" dirty="0">
                <a:latin typeface="Calibri"/>
                <a:cs typeface="Calibri"/>
              </a:rPr>
              <a:t>or</a:t>
            </a:r>
            <a:r>
              <a:rPr sz="2000" spc="170" dirty="0">
                <a:latin typeface="Calibri"/>
                <a:cs typeface="Calibri"/>
              </a:rPr>
              <a:t>  </a:t>
            </a:r>
            <a:r>
              <a:rPr sz="2000" dirty="0">
                <a:latin typeface="Calibri"/>
                <a:cs typeface="Calibri"/>
              </a:rPr>
              <a:t>projects</a:t>
            </a:r>
            <a:r>
              <a:rPr sz="2000" spc="175" dirty="0">
                <a:latin typeface="Calibri"/>
                <a:cs typeface="Calibri"/>
              </a:rPr>
              <a:t>  </a:t>
            </a:r>
            <a:r>
              <a:rPr sz="2000" dirty="0">
                <a:latin typeface="Calibri"/>
                <a:cs typeface="Calibri"/>
              </a:rPr>
              <a:t>assigned</a:t>
            </a:r>
            <a:r>
              <a:rPr sz="2000" spc="165" dirty="0">
                <a:latin typeface="Calibri"/>
                <a:cs typeface="Calibri"/>
              </a:rPr>
              <a:t>  </a:t>
            </a:r>
            <a:r>
              <a:rPr sz="2000" dirty="0">
                <a:latin typeface="Calibri"/>
                <a:cs typeface="Calibri"/>
              </a:rPr>
              <a:t>to</a:t>
            </a:r>
            <a:r>
              <a:rPr sz="2000" spc="170" dirty="0">
                <a:latin typeface="Calibri"/>
                <a:cs typeface="Calibri"/>
              </a:rPr>
              <a:t>  </a:t>
            </a:r>
            <a:r>
              <a:rPr sz="2000" dirty="0">
                <a:latin typeface="Calibri"/>
                <a:cs typeface="Calibri"/>
              </a:rPr>
              <a:t>lower</a:t>
            </a:r>
            <a:r>
              <a:rPr sz="2000" spc="170" dirty="0">
                <a:latin typeface="Calibri"/>
                <a:cs typeface="Calibri"/>
              </a:rPr>
              <a:t>  </a:t>
            </a:r>
            <a:r>
              <a:rPr sz="2000" spc="-10" dirty="0">
                <a:latin typeface="Calibri"/>
                <a:cs typeface="Calibri"/>
              </a:rPr>
              <a:t>divisions, 	</a:t>
            </a:r>
            <a:r>
              <a:rPr sz="2000" dirty="0">
                <a:latin typeface="Calibri"/>
                <a:cs typeface="Calibri"/>
              </a:rPr>
              <a:t>departments,</a:t>
            </a:r>
            <a:r>
              <a:rPr sz="2000" spc="170" dirty="0">
                <a:latin typeface="Calibri"/>
                <a:cs typeface="Calibri"/>
              </a:rPr>
              <a:t> </a:t>
            </a:r>
            <a:r>
              <a:rPr sz="2000" dirty="0">
                <a:latin typeface="Calibri"/>
                <a:cs typeface="Calibri"/>
              </a:rPr>
              <a:t>or</a:t>
            </a:r>
            <a:r>
              <a:rPr sz="2000" spc="175" dirty="0">
                <a:latin typeface="Calibri"/>
                <a:cs typeface="Calibri"/>
              </a:rPr>
              <a:t> </a:t>
            </a:r>
            <a:r>
              <a:rPr sz="2000" dirty="0">
                <a:latin typeface="Calibri"/>
                <a:cs typeface="Calibri"/>
              </a:rPr>
              <a:t>individuals.</a:t>
            </a:r>
            <a:r>
              <a:rPr sz="2000" spc="170" dirty="0">
                <a:latin typeface="Calibri"/>
                <a:cs typeface="Calibri"/>
              </a:rPr>
              <a:t> </a:t>
            </a:r>
            <a:r>
              <a:rPr sz="2000" dirty="0">
                <a:latin typeface="Calibri"/>
                <a:cs typeface="Calibri"/>
              </a:rPr>
              <a:t>Formulating</a:t>
            </a:r>
            <a:r>
              <a:rPr sz="2000" spc="170" dirty="0">
                <a:latin typeface="Calibri"/>
                <a:cs typeface="Calibri"/>
              </a:rPr>
              <a:t> </a:t>
            </a:r>
            <a:r>
              <a:rPr sz="2000" dirty="0">
                <a:latin typeface="Calibri"/>
                <a:cs typeface="Calibri"/>
              </a:rPr>
              <a:t>strategy</a:t>
            </a:r>
            <a:r>
              <a:rPr sz="2000" spc="165" dirty="0">
                <a:latin typeface="Calibri"/>
                <a:cs typeface="Calibri"/>
              </a:rPr>
              <a:t> </a:t>
            </a:r>
            <a:r>
              <a:rPr sz="2000" dirty="0">
                <a:latin typeface="Calibri"/>
                <a:cs typeface="Calibri"/>
              </a:rPr>
              <a:t>might</a:t>
            </a:r>
            <a:r>
              <a:rPr sz="2000" spc="180" dirty="0">
                <a:latin typeface="Calibri"/>
                <a:cs typeface="Calibri"/>
              </a:rPr>
              <a:t> </a:t>
            </a:r>
            <a:r>
              <a:rPr sz="2000" dirty="0">
                <a:latin typeface="Calibri"/>
                <a:cs typeface="Calibri"/>
              </a:rPr>
              <a:t>range</a:t>
            </a:r>
            <a:r>
              <a:rPr sz="2000" spc="175" dirty="0">
                <a:latin typeface="Calibri"/>
                <a:cs typeface="Calibri"/>
              </a:rPr>
              <a:t> </a:t>
            </a:r>
            <a:r>
              <a:rPr sz="2000" dirty="0">
                <a:latin typeface="Calibri"/>
                <a:cs typeface="Calibri"/>
              </a:rPr>
              <a:t>around</a:t>
            </a:r>
            <a:r>
              <a:rPr sz="2000" spc="175" dirty="0">
                <a:latin typeface="Calibri"/>
                <a:cs typeface="Calibri"/>
              </a:rPr>
              <a:t> </a:t>
            </a:r>
            <a:r>
              <a:rPr sz="2000" dirty="0">
                <a:latin typeface="Calibri"/>
                <a:cs typeface="Calibri"/>
              </a:rPr>
              <a:t>20%</a:t>
            </a:r>
            <a:r>
              <a:rPr sz="2000" spc="170" dirty="0">
                <a:latin typeface="Calibri"/>
                <a:cs typeface="Calibri"/>
              </a:rPr>
              <a:t> </a:t>
            </a:r>
            <a:r>
              <a:rPr sz="2000" dirty="0">
                <a:latin typeface="Calibri"/>
                <a:cs typeface="Calibri"/>
              </a:rPr>
              <a:t>of</a:t>
            </a:r>
            <a:r>
              <a:rPr sz="2000" spc="175" dirty="0">
                <a:latin typeface="Calibri"/>
                <a:cs typeface="Calibri"/>
              </a:rPr>
              <a:t> </a:t>
            </a:r>
            <a:r>
              <a:rPr sz="2000" dirty="0">
                <a:latin typeface="Calibri"/>
                <a:cs typeface="Calibri"/>
              </a:rPr>
              <a:t>management’s</a:t>
            </a:r>
            <a:r>
              <a:rPr sz="2000" spc="180" dirty="0">
                <a:latin typeface="Calibri"/>
                <a:cs typeface="Calibri"/>
              </a:rPr>
              <a:t> </a:t>
            </a:r>
            <a:r>
              <a:rPr sz="2000" spc="-10" dirty="0">
                <a:latin typeface="Calibri"/>
                <a:cs typeface="Calibri"/>
              </a:rPr>
              <a:t>effort, 	</a:t>
            </a:r>
            <a:r>
              <a:rPr sz="2000" dirty="0">
                <a:latin typeface="Calibri"/>
                <a:cs typeface="Calibri"/>
              </a:rPr>
              <a:t>while</a:t>
            </a:r>
            <a:r>
              <a:rPr sz="2000" spc="-40" dirty="0">
                <a:latin typeface="Calibri"/>
                <a:cs typeface="Calibri"/>
              </a:rPr>
              <a:t> </a:t>
            </a:r>
            <a:r>
              <a:rPr sz="2000" spc="-10" dirty="0">
                <a:latin typeface="Calibri"/>
                <a:cs typeface="Calibri"/>
              </a:rPr>
              <a:t>determining</a:t>
            </a:r>
            <a:r>
              <a:rPr sz="2000" spc="-45" dirty="0">
                <a:latin typeface="Calibri"/>
                <a:cs typeface="Calibri"/>
              </a:rPr>
              <a:t> </a:t>
            </a:r>
            <a:r>
              <a:rPr sz="2000" i="1" dirty="0">
                <a:solidFill>
                  <a:srgbClr val="C00000"/>
                </a:solidFill>
                <a:latin typeface="Calibri"/>
                <a:cs typeface="Calibri"/>
              </a:rPr>
              <a:t>how</a:t>
            </a:r>
            <a:r>
              <a:rPr sz="2000" i="1" spc="-45" dirty="0">
                <a:solidFill>
                  <a:srgbClr val="C00000"/>
                </a:solidFill>
                <a:latin typeface="Calibri"/>
                <a:cs typeface="Calibri"/>
              </a:rPr>
              <a:t> </a:t>
            </a:r>
            <a:r>
              <a:rPr sz="2000" spc="-10" dirty="0">
                <a:latin typeface="Calibri"/>
                <a:cs typeface="Calibri"/>
              </a:rPr>
              <a:t>strategy</a:t>
            </a:r>
            <a:r>
              <a:rPr sz="2000" spc="-45" dirty="0">
                <a:latin typeface="Calibri"/>
                <a:cs typeface="Calibri"/>
              </a:rPr>
              <a:t> </a:t>
            </a:r>
            <a:r>
              <a:rPr sz="2000" dirty="0">
                <a:latin typeface="Calibri"/>
                <a:cs typeface="Calibri"/>
              </a:rPr>
              <a:t>will</a:t>
            </a:r>
            <a:r>
              <a:rPr sz="2000" spc="-35" dirty="0">
                <a:latin typeface="Calibri"/>
                <a:cs typeface="Calibri"/>
              </a:rPr>
              <a:t> </a:t>
            </a:r>
            <a:r>
              <a:rPr sz="2000" dirty="0">
                <a:latin typeface="Calibri"/>
                <a:cs typeface="Calibri"/>
              </a:rPr>
              <a:t>be</a:t>
            </a:r>
            <a:r>
              <a:rPr sz="2000" spc="-35" dirty="0">
                <a:latin typeface="Calibri"/>
                <a:cs typeface="Calibri"/>
              </a:rPr>
              <a:t> </a:t>
            </a:r>
            <a:r>
              <a:rPr sz="2000" spc="-10" dirty="0">
                <a:latin typeface="Calibri"/>
                <a:cs typeface="Calibri"/>
              </a:rPr>
              <a:t>implemented</a:t>
            </a:r>
            <a:r>
              <a:rPr sz="2000" spc="-40" dirty="0">
                <a:latin typeface="Calibri"/>
                <a:cs typeface="Calibri"/>
              </a:rPr>
              <a:t> </a:t>
            </a:r>
            <a:r>
              <a:rPr sz="2000" dirty="0">
                <a:latin typeface="Calibri"/>
                <a:cs typeface="Calibri"/>
              </a:rPr>
              <a:t>might</a:t>
            </a:r>
            <a:r>
              <a:rPr sz="2000" spc="-40" dirty="0">
                <a:latin typeface="Calibri"/>
                <a:cs typeface="Calibri"/>
              </a:rPr>
              <a:t> </a:t>
            </a:r>
            <a:r>
              <a:rPr sz="2000" dirty="0">
                <a:latin typeface="Calibri"/>
                <a:cs typeface="Calibri"/>
              </a:rPr>
              <a:t>consume</a:t>
            </a:r>
            <a:r>
              <a:rPr sz="2000" spc="-35" dirty="0">
                <a:latin typeface="Calibri"/>
                <a:cs typeface="Calibri"/>
              </a:rPr>
              <a:t> </a:t>
            </a:r>
            <a:r>
              <a:rPr sz="2000" spc="-20" dirty="0">
                <a:latin typeface="Calibri"/>
                <a:cs typeface="Calibri"/>
              </a:rPr>
              <a:t>80%.</a:t>
            </a:r>
            <a:endParaRPr sz="2000">
              <a:latin typeface="Calibri"/>
              <a:cs typeface="Calibri"/>
            </a:endParaRPr>
          </a:p>
        </p:txBody>
      </p:sp>
      <p:grpSp>
        <p:nvGrpSpPr>
          <p:cNvPr id="5" name="object 5"/>
          <p:cNvGrpSpPr/>
          <p:nvPr/>
        </p:nvGrpSpPr>
        <p:grpSpPr>
          <a:xfrm>
            <a:off x="142499" y="5883461"/>
            <a:ext cx="594995" cy="362585"/>
            <a:chOff x="142499" y="5883461"/>
            <a:chExt cx="594995" cy="362585"/>
          </a:xfrm>
        </p:grpSpPr>
        <p:sp>
          <p:nvSpPr>
            <p:cNvPr id="6" name="object 6"/>
            <p:cNvSpPr/>
            <p:nvPr/>
          </p:nvSpPr>
          <p:spPr>
            <a:xfrm>
              <a:off x="148848" y="5889811"/>
              <a:ext cx="582295" cy="349885"/>
            </a:xfrm>
            <a:custGeom>
              <a:avLst/>
              <a:gdLst/>
              <a:ahLst/>
              <a:cxnLst/>
              <a:rect l="l" t="t" r="r" b="b"/>
              <a:pathLst>
                <a:path w="582295" h="349885">
                  <a:moveTo>
                    <a:pt x="174811" y="0"/>
                  </a:moveTo>
                  <a:lnTo>
                    <a:pt x="0" y="174811"/>
                  </a:lnTo>
                  <a:lnTo>
                    <a:pt x="174811" y="349623"/>
                  </a:lnTo>
                  <a:lnTo>
                    <a:pt x="174811" y="262218"/>
                  </a:lnTo>
                  <a:lnTo>
                    <a:pt x="581775" y="262218"/>
                  </a:lnTo>
                  <a:lnTo>
                    <a:pt x="581775" y="87406"/>
                  </a:lnTo>
                  <a:lnTo>
                    <a:pt x="174811" y="87406"/>
                  </a:lnTo>
                  <a:lnTo>
                    <a:pt x="174811" y="0"/>
                  </a:lnTo>
                  <a:close/>
                </a:path>
              </a:pathLst>
            </a:custGeom>
            <a:solidFill>
              <a:srgbClr val="4472C4"/>
            </a:solidFill>
          </p:spPr>
          <p:txBody>
            <a:bodyPr wrap="square" lIns="0" tIns="0" rIns="0" bIns="0" rtlCol="0"/>
            <a:lstStyle/>
            <a:p>
              <a:endParaRPr/>
            </a:p>
          </p:txBody>
        </p:sp>
        <p:sp>
          <p:nvSpPr>
            <p:cNvPr id="7" name="object 7"/>
            <p:cNvSpPr/>
            <p:nvPr/>
          </p:nvSpPr>
          <p:spPr>
            <a:xfrm>
              <a:off x="148849" y="5889811"/>
              <a:ext cx="582295" cy="349885"/>
            </a:xfrm>
            <a:custGeom>
              <a:avLst/>
              <a:gdLst/>
              <a:ahLst/>
              <a:cxnLst/>
              <a:rect l="l" t="t" r="r" b="b"/>
              <a:pathLst>
                <a:path w="582295" h="349885">
                  <a:moveTo>
                    <a:pt x="581775" y="87406"/>
                  </a:moveTo>
                  <a:lnTo>
                    <a:pt x="174811" y="87406"/>
                  </a:lnTo>
                  <a:lnTo>
                    <a:pt x="174811" y="0"/>
                  </a:lnTo>
                  <a:lnTo>
                    <a:pt x="0" y="174812"/>
                  </a:lnTo>
                  <a:lnTo>
                    <a:pt x="174811" y="349624"/>
                  </a:lnTo>
                  <a:lnTo>
                    <a:pt x="174811" y="262218"/>
                  </a:lnTo>
                  <a:lnTo>
                    <a:pt x="581775" y="262218"/>
                  </a:lnTo>
                  <a:lnTo>
                    <a:pt x="581775" y="87406"/>
                  </a:lnTo>
                  <a:close/>
                </a:path>
              </a:pathLst>
            </a:custGeom>
            <a:ln w="12700">
              <a:solidFill>
                <a:srgbClr val="172C51"/>
              </a:solidFill>
            </a:ln>
          </p:spPr>
          <p:txBody>
            <a:bodyPr wrap="square" lIns="0" tIns="0" rIns="0" bIns="0" rtlCol="0"/>
            <a:lstStyle/>
            <a:p>
              <a:endParaRPr/>
            </a:p>
          </p:txBody>
        </p:sp>
      </p:grpSp>
      <p:sp>
        <p:nvSpPr>
          <p:cNvPr id="8" name="object 8"/>
          <p:cNvSpPr txBox="1"/>
          <p:nvPr/>
        </p:nvSpPr>
        <p:spPr>
          <a:xfrm>
            <a:off x="306444" y="5623052"/>
            <a:ext cx="45974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Calibri"/>
                <a:cs typeface="Calibri"/>
              </a:rPr>
              <a:t>Next</a:t>
            </a:r>
            <a:endParaRPr sz="1800">
              <a:latin typeface="Calibri"/>
              <a:cs typeface="Calibri"/>
            </a:endParaRPr>
          </a:p>
        </p:txBody>
      </p:sp>
      <p:sp>
        <p:nvSpPr>
          <p:cNvPr id="10" name="object 10"/>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19</a:t>
            </a:fld>
            <a:endParaRPr spc="-25" dirty="0"/>
          </a:p>
        </p:txBody>
      </p:sp>
      <p:sp>
        <p:nvSpPr>
          <p:cNvPr id="9" name="object 9"/>
          <p:cNvSpPr txBox="1"/>
          <p:nvPr/>
        </p:nvSpPr>
        <p:spPr>
          <a:xfrm>
            <a:off x="306444" y="6168644"/>
            <a:ext cx="438784"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Calibri"/>
                <a:cs typeface="Calibri"/>
              </a:rPr>
              <a:t>Step</a:t>
            </a:r>
            <a:endParaRPr sz="1800">
              <a:latin typeface="Calibri"/>
              <a:cs typeface="Calibri"/>
            </a:endParaRPr>
          </a:p>
        </p:txBody>
      </p:sp>
      <p:pic>
        <p:nvPicPr>
          <p:cNvPr id="11" name="Picture 10">
            <a:extLst>
              <a:ext uri="{FF2B5EF4-FFF2-40B4-BE49-F238E27FC236}">
                <a16:creationId xmlns:a16="http://schemas.microsoft.com/office/drawing/2014/main" id="{07A30C81-C445-3B17-4367-220EDF6B5B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5856"/>
            <a:ext cx="3556000" cy="683260"/>
          </a:xfrm>
          <a:prstGeom prst="rect">
            <a:avLst/>
          </a:prstGeom>
        </p:spPr>
        <p:txBody>
          <a:bodyPr vert="horz" wrap="square" lIns="0" tIns="13970" rIns="0" bIns="0" rtlCol="0">
            <a:spAutoFit/>
          </a:bodyPr>
          <a:lstStyle/>
          <a:p>
            <a:pPr marL="12700">
              <a:lnSpc>
                <a:spcPct val="100000"/>
              </a:lnSpc>
              <a:spcBef>
                <a:spcPts val="110"/>
              </a:spcBef>
              <a:tabLst>
                <a:tab pos="1677035" algn="l"/>
              </a:tabLst>
            </a:pPr>
            <a:r>
              <a:rPr b="1" u="sng" spc="85" dirty="0">
                <a:solidFill>
                  <a:srgbClr val="FF0000"/>
                </a:solidFill>
              </a:rPr>
              <a:t>SWOT	Analysis</a:t>
            </a:r>
          </a:p>
        </p:txBody>
      </p:sp>
      <p:pic>
        <p:nvPicPr>
          <p:cNvPr id="3" name="object 3"/>
          <p:cNvPicPr/>
          <p:nvPr/>
        </p:nvPicPr>
        <p:blipFill>
          <a:blip r:embed="rId3" cstate="print"/>
          <a:stretch>
            <a:fillRect/>
          </a:stretch>
        </p:blipFill>
        <p:spPr>
          <a:xfrm>
            <a:off x="182880" y="1587448"/>
            <a:ext cx="5913120" cy="5270552"/>
          </a:xfrm>
          <a:prstGeom prst="rect">
            <a:avLst/>
          </a:prstGeom>
        </p:spPr>
      </p:pic>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20</a:t>
            </a:fld>
            <a:endParaRPr spc="-25" dirty="0"/>
          </a:p>
        </p:txBody>
      </p:sp>
      <p:pic>
        <p:nvPicPr>
          <p:cNvPr id="6" name="Picture 5">
            <a:extLst>
              <a:ext uri="{FF2B5EF4-FFF2-40B4-BE49-F238E27FC236}">
                <a16:creationId xmlns:a16="http://schemas.microsoft.com/office/drawing/2014/main" id="{D898F91D-84F7-4BEC-BC88-48090B46944D}"/>
              </a:ext>
            </a:extLst>
          </p:cNvPr>
          <p:cNvPicPr>
            <a:picLocks noChangeAspect="1"/>
          </p:cNvPicPr>
          <p:nvPr/>
        </p:nvPicPr>
        <p:blipFill>
          <a:blip r:embed="rId4"/>
          <a:stretch>
            <a:fillRect/>
          </a:stretch>
        </p:blipFill>
        <p:spPr>
          <a:xfrm>
            <a:off x="6096000" y="1620104"/>
            <a:ext cx="4953000" cy="5386673"/>
          </a:xfrm>
          <a:prstGeom prst="rect">
            <a:avLst/>
          </a:prstGeom>
        </p:spPr>
      </p:pic>
      <p:pic>
        <p:nvPicPr>
          <p:cNvPr id="5" name="Picture 4">
            <a:extLst>
              <a:ext uri="{FF2B5EF4-FFF2-40B4-BE49-F238E27FC236}">
                <a16:creationId xmlns:a16="http://schemas.microsoft.com/office/drawing/2014/main" id="{A95D70B6-8E73-C8FD-3BFA-686B68DC9DC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2848E-FA2D-4157-8177-FCB6E20399FE}"/>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8389FB5C-84A4-478F-8232-77650C42267A}"/>
              </a:ext>
            </a:extLst>
          </p:cNvPr>
          <p:cNvPicPr>
            <a:picLocks noChangeAspect="1"/>
          </p:cNvPicPr>
          <p:nvPr/>
        </p:nvPicPr>
        <p:blipFill>
          <a:blip r:embed="rId3"/>
          <a:stretch>
            <a:fillRect/>
          </a:stretch>
        </p:blipFill>
        <p:spPr>
          <a:xfrm>
            <a:off x="743509" y="0"/>
            <a:ext cx="10704982" cy="6858000"/>
          </a:xfrm>
          <a:prstGeom prst="rect">
            <a:avLst/>
          </a:prstGeom>
        </p:spPr>
      </p:pic>
      <p:pic>
        <p:nvPicPr>
          <p:cNvPr id="3" name="Picture 2">
            <a:extLst>
              <a:ext uri="{FF2B5EF4-FFF2-40B4-BE49-F238E27FC236}">
                <a16:creationId xmlns:a16="http://schemas.microsoft.com/office/drawing/2014/main" id="{C7AE8537-47A1-4CC7-3296-BDF1D9577AC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5710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3- Set objectives to achieve strategy</a:t>
            </a:r>
          </a:p>
        </p:txBody>
      </p:sp>
      <p:pic>
        <p:nvPicPr>
          <p:cNvPr id="3" name="object 3"/>
          <p:cNvPicPr/>
          <p:nvPr/>
        </p:nvPicPr>
        <p:blipFill>
          <a:blip r:embed="rId2" cstate="print"/>
          <a:stretch>
            <a:fillRect/>
          </a:stretch>
        </p:blipFill>
        <p:spPr>
          <a:xfrm>
            <a:off x="1051108" y="4019953"/>
            <a:ext cx="10269215" cy="1857625"/>
          </a:xfrm>
          <a:prstGeom prst="rect">
            <a:avLst/>
          </a:prstGeom>
        </p:spPr>
      </p:pic>
      <p:sp>
        <p:nvSpPr>
          <p:cNvPr id="4" name="object 4"/>
          <p:cNvSpPr txBox="1"/>
          <p:nvPr/>
        </p:nvSpPr>
        <p:spPr>
          <a:xfrm>
            <a:off x="4192682" y="5854700"/>
            <a:ext cx="3594100" cy="391160"/>
          </a:xfrm>
          <a:prstGeom prst="rect">
            <a:avLst/>
          </a:prstGeom>
        </p:spPr>
        <p:txBody>
          <a:bodyPr vert="horz" wrap="square" lIns="0" tIns="12700" rIns="0" bIns="0" rtlCol="0">
            <a:spAutoFit/>
          </a:bodyPr>
          <a:lstStyle/>
          <a:p>
            <a:pPr marL="12700">
              <a:lnSpc>
                <a:spcPct val="100000"/>
              </a:lnSpc>
              <a:spcBef>
                <a:spcPts val="100"/>
              </a:spcBef>
            </a:pPr>
            <a:r>
              <a:rPr sz="2400" b="1" spc="-10" dirty="0">
                <a:latin typeface="Calibri"/>
                <a:cs typeface="Calibri"/>
              </a:rPr>
              <a:t>Characteristics</a:t>
            </a:r>
            <a:r>
              <a:rPr sz="2400" b="1" spc="-60" dirty="0">
                <a:latin typeface="Calibri"/>
                <a:cs typeface="Calibri"/>
              </a:rPr>
              <a:t> </a:t>
            </a:r>
            <a:r>
              <a:rPr sz="2400" b="1" dirty="0">
                <a:latin typeface="Calibri"/>
                <a:cs typeface="Calibri"/>
              </a:rPr>
              <a:t>of</a:t>
            </a:r>
            <a:r>
              <a:rPr sz="2400" b="1" spc="-65" dirty="0">
                <a:latin typeface="Calibri"/>
                <a:cs typeface="Calibri"/>
              </a:rPr>
              <a:t> </a:t>
            </a:r>
            <a:r>
              <a:rPr sz="2400" b="1" spc="-10" dirty="0">
                <a:latin typeface="Calibri"/>
                <a:cs typeface="Calibri"/>
              </a:rPr>
              <a:t>Objectives</a:t>
            </a:r>
            <a:endParaRPr sz="2400">
              <a:latin typeface="Calibri"/>
              <a:cs typeface="Calibri"/>
            </a:endParaRPr>
          </a:p>
        </p:txBody>
      </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22</a:t>
            </a:fld>
            <a:endParaRPr spc="-25" dirty="0"/>
          </a:p>
        </p:txBody>
      </p:sp>
      <p:sp>
        <p:nvSpPr>
          <p:cNvPr id="5" name="object 5"/>
          <p:cNvSpPr txBox="1"/>
          <p:nvPr/>
        </p:nvSpPr>
        <p:spPr>
          <a:xfrm>
            <a:off x="916939" y="1772412"/>
            <a:ext cx="10601960" cy="1973580"/>
          </a:xfrm>
          <a:prstGeom prst="rect">
            <a:avLst/>
          </a:prstGeom>
        </p:spPr>
        <p:txBody>
          <a:bodyPr vert="horz" wrap="square" lIns="0" tIns="33655" rIns="0" bIns="0" rtlCol="0">
            <a:spAutoFit/>
          </a:bodyPr>
          <a:lstStyle/>
          <a:p>
            <a:pPr marL="469900" marR="5715" indent="-457200">
              <a:lnSpc>
                <a:spcPts val="3790"/>
              </a:lnSpc>
              <a:spcBef>
                <a:spcPts val="265"/>
              </a:spcBef>
              <a:buFont typeface="Arial MT"/>
              <a:buChar char="•"/>
              <a:tabLst>
                <a:tab pos="469900" algn="l"/>
                <a:tab pos="2367280" algn="l"/>
                <a:tab pos="3996690" algn="l"/>
                <a:tab pos="4721860" algn="l"/>
                <a:tab pos="6936105" algn="l"/>
                <a:tab pos="8434070" algn="l"/>
                <a:tab pos="9257665" algn="l"/>
              </a:tabLst>
            </a:pPr>
            <a:r>
              <a:rPr sz="3200" spc="-10" dirty="0">
                <a:latin typeface="Calibri"/>
                <a:cs typeface="Calibri"/>
              </a:rPr>
              <a:t>Objectives</a:t>
            </a:r>
            <a:r>
              <a:rPr sz="3200" dirty="0">
                <a:latin typeface="Calibri"/>
                <a:cs typeface="Calibri"/>
              </a:rPr>
              <a:t>	</a:t>
            </a:r>
            <a:r>
              <a:rPr sz="3200" spc="-10" dirty="0">
                <a:latin typeface="Calibri"/>
                <a:cs typeface="Calibri"/>
              </a:rPr>
              <a:t>translate</a:t>
            </a:r>
            <a:r>
              <a:rPr sz="3200" dirty="0">
                <a:latin typeface="Calibri"/>
                <a:cs typeface="Calibri"/>
              </a:rPr>
              <a:t>	</a:t>
            </a:r>
            <a:r>
              <a:rPr sz="3200" spc="-25" dirty="0">
                <a:latin typeface="Calibri"/>
                <a:cs typeface="Calibri"/>
              </a:rPr>
              <a:t>the</a:t>
            </a:r>
            <a:r>
              <a:rPr sz="3200" dirty="0">
                <a:latin typeface="Calibri"/>
                <a:cs typeface="Calibri"/>
              </a:rPr>
              <a:t>	</a:t>
            </a:r>
            <a:r>
              <a:rPr sz="3200" spc="-10" dirty="0">
                <a:latin typeface="Calibri"/>
                <a:cs typeface="Calibri"/>
              </a:rPr>
              <a:t>organization</a:t>
            </a:r>
            <a:r>
              <a:rPr sz="3200" dirty="0">
                <a:latin typeface="Calibri"/>
                <a:cs typeface="Calibri"/>
              </a:rPr>
              <a:t>	</a:t>
            </a:r>
            <a:r>
              <a:rPr sz="3200" spc="-10" dirty="0">
                <a:latin typeface="Calibri"/>
                <a:cs typeface="Calibri"/>
              </a:rPr>
              <a:t>strategy</a:t>
            </a:r>
            <a:r>
              <a:rPr sz="3200" dirty="0">
                <a:latin typeface="Calibri"/>
                <a:cs typeface="Calibri"/>
              </a:rPr>
              <a:t>	</a:t>
            </a:r>
            <a:r>
              <a:rPr sz="3200" spc="-20" dirty="0">
                <a:latin typeface="Calibri"/>
                <a:cs typeface="Calibri"/>
              </a:rPr>
              <a:t>into</a:t>
            </a:r>
            <a:r>
              <a:rPr sz="3200" dirty="0">
                <a:latin typeface="Calibri"/>
                <a:cs typeface="Calibri"/>
              </a:rPr>
              <a:t>	</a:t>
            </a:r>
            <a:r>
              <a:rPr sz="3200" spc="-10" dirty="0">
                <a:latin typeface="Calibri"/>
                <a:cs typeface="Calibri"/>
              </a:rPr>
              <a:t>specific, </a:t>
            </a:r>
            <a:r>
              <a:rPr sz="3200" dirty="0">
                <a:latin typeface="Calibri"/>
                <a:cs typeface="Calibri"/>
              </a:rPr>
              <a:t>concrete,</a:t>
            </a:r>
            <a:r>
              <a:rPr sz="3200" spc="-140" dirty="0">
                <a:latin typeface="Calibri"/>
                <a:cs typeface="Calibri"/>
              </a:rPr>
              <a:t> </a:t>
            </a:r>
            <a:r>
              <a:rPr sz="3200" spc="-10" dirty="0">
                <a:latin typeface="Calibri"/>
                <a:cs typeface="Calibri"/>
              </a:rPr>
              <a:t>measurable</a:t>
            </a:r>
            <a:r>
              <a:rPr sz="3200" spc="-150" dirty="0">
                <a:latin typeface="Calibri"/>
                <a:cs typeface="Calibri"/>
              </a:rPr>
              <a:t> </a:t>
            </a:r>
            <a:r>
              <a:rPr sz="3200" spc="-10" dirty="0">
                <a:latin typeface="Calibri"/>
                <a:cs typeface="Calibri"/>
              </a:rPr>
              <a:t>terms.</a:t>
            </a:r>
            <a:endParaRPr sz="3200">
              <a:latin typeface="Calibri"/>
              <a:cs typeface="Calibri"/>
            </a:endParaRPr>
          </a:p>
          <a:p>
            <a:pPr marL="469900" marR="5080" indent="-457200">
              <a:lnSpc>
                <a:spcPts val="3790"/>
              </a:lnSpc>
              <a:spcBef>
                <a:spcPts val="110"/>
              </a:spcBef>
              <a:buFont typeface="Arial MT"/>
              <a:buChar char="•"/>
              <a:tabLst>
                <a:tab pos="469900" algn="l"/>
                <a:tab pos="3074670" algn="l"/>
                <a:tab pos="4962525" algn="l"/>
                <a:tab pos="5676265" algn="l"/>
                <a:tab pos="7041515" algn="l"/>
                <a:tab pos="7731125" algn="l"/>
                <a:tab pos="8332470" algn="l"/>
                <a:tab pos="9478645" algn="l"/>
                <a:tab pos="10035540" algn="l"/>
              </a:tabLst>
            </a:pPr>
            <a:r>
              <a:rPr sz="3200" spc="-10" dirty="0">
                <a:latin typeface="Calibri"/>
                <a:cs typeface="Calibri"/>
              </a:rPr>
              <a:t>Organizational</a:t>
            </a:r>
            <a:r>
              <a:rPr sz="3200" dirty="0">
                <a:latin typeface="Calibri"/>
                <a:cs typeface="Calibri"/>
              </a:rPr>
              <a:t>	</a:t>
            </a:r>
            <a:r>
              <a:rPr sz="3200" spc="-10" dirty="0">
                <a:latin typeface="Calibri"/>
                <a:cs typeface="Calibri"/>
              </a:rPr>
              <a:t>objectives</a:t>
            </a:r>
            <a:r>
              <a:rPr sz="3200" dirty="0">
                <a:latin typeface="Calibri"/>
                <a:cs typeface="Calibri"/>
              </a:rPr>
              <a:t>	</a:t>
            </a:r>
            <a:r>
              <a:rPr sz="3200" spc="-25" dirty="0">
                <a:latin typeface="Calibri"/>
                <a:cs typeface="Calibri"/>
              </a:rPr>
              <a:t>set</a:t>
            </a:r>
            <a:r>
              <a:rPr sz="3200" dirty="0">
                <a:latin typeface="Calibri"/>
                <a:cs typeface="Calibri"/>
              </a:rPr>
              <a:t>	</a:t>
            </a:r>
            <a:r>
              <a:rPr sz="3200" spc="-10" dirty="0">
                <a:latin typeface="Calibri"/>
                <a:cs typeface="Calibri"/>
              </a:rPr>
              <a:t>targets</a:t>
            </a:r>
            <a:r>
              <a:rPr sz="3200" dirty="0">
                <a:latin typeface="Calibri"/>
                <a:cs typeface="Calibri"/>
              </a:rPr>
              <a:t>	</a:t>
            </a:r>
            <a:r>
              <a:rPr sz="3200" spc="-25" dirty="0">
                <a:latin typeface="Calibri"/>
                <a:cs typeface="Calibri"/>
              </a:rPr>
              <a:t>for</a:t>
            </a:r>
            <a:r>
              <a:rPr sz="3200" dirty="0">
                <a:latin typeface="Calibri"/>
                <a:cs typeface="Calibri"/>
              </a:rPr>
              <a:t>	</a:t>
            </a:r>
            <a:r>
              <a:rPr sz="3200" spc="-25" dirty="0">
                <a:latin typeface="Calibri"/>
                <a:cs typeface="Calibri"/>
              </a:rPr>
              <a:t>all</a:t>
            </a:r>
            <a:r>
              <a:rPr sz="3200" dirty="0">
                <a:latin typeface="Calibri"/>
                <a:cs typeface="Calibri"/>
              </a:rPr>
              <a:t>	</a:t>
            </a:r>
            <a:r>
              <a:rPr sz="3200" spc="-10" dirty="0">
                <a:latin typeface="Calibri"/>
                <a:cs typeface="Calibri"/>
              </a:rPr>
              <a:t>levels</a:t>
            </a:r>
            <a:r>
              <a:rPr sz="3200" dirty="0">
                <a:latin typeface="Calibri"/>
                <a:cs typeface="Calibri"/>
              </a:rPr>
              <a:t>	</a:t>
            </a:r>
            <a:r>
              <a:rPr sz="3200" spc="-25" dirty="0">
                <a:latin typeface="Calibri"/>
                <a:cs typeface="Calibri"/>
              </a:rPr>
              <a:t>of</a:t>
            </a:r>
            <a:r>
              <a:rPr sz="3200" dirty="0">
                <a:latin typeface="Calibri"/>
                <a:cs typeface="Calibri"/>
              </a:rPr>
              <a:t>	</a:t>
            </a:r>
            <a:r>
              <a:rPr sz="3200" spc="-25" dirty="0">
                <a:latin typeface="Calibri"/>
                <a:cs typeface="Calibri"/>
              </a:rPr>
              <a:t>the </a:t>
            </a:r>
            <a:r>
              <a:rPr sz="3200" spc="-10" dirty="0">
                <a:latin typeface="Calibri"/>
                <a:cs typeface="Calibri"/>
              </a:rPr>
              <a:t>organization</a:t>
            </a:r>
            <a:endParaRPr sz="3200">
              <a:latin typeface="Calibri"/>
              <a:cs typeface="Calibri"/>
            </a:endParaRPr>
          </a:p>
        </p:txBody>
      </p:sp>
      <p:pic>
        <p:nvPicPr>
          <p:cNvPr id="7" name="Picture 6">
            <a:extLst>
              <a:ext uri="{FF2B5EF4-FFF2-40B4-BE49-F238E27FC236}">
                <a16:creationId xmlns:a16="http://schemas.microsoft.com/office/drawing/2014/main" id="{12D84DAE-1B2C-03B4-D2BB-1C988B9E17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4- Implement strategies through projects</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23</a:t>
            </a:fld>
            <a:endParaRPr spc="-25" dirty="0"/>
          </a:p>
        </p:txBody>
      </p:sp>
      <p:sp>
        <p:nvSpPr>
          <p:cNvPr id="3" name="object 3"/>
          <p:cNvSpPr txBox="1"/>
          <p:nvPr/>
        </p:nvSpPr>
        <p:spPr>
          <a:xfrm>
            <a:off x="916939" y="1888236"/>
            <a:ext cx="10357485" cy="3396615"/>
          </a:xfrm>
          <a:prstGeom prst="rect">
            <a:avLst/>
          </a:prstGeom>
        </p:spPr>
        <p:txBody>
          <a:bodyPr vert="horz" wrap="square" lIns="0" tIns="63500" rIns="0" bIns="0" rtlCol="0">
            <a:spAutoFit/>
          </a:bodyPr>
          <a:lstStyle/>
          <a:p>
            <a:pPr marL="241300" marR="5715" indent="-228600" algn="just">
              <a:lnSpc>
                <a:spcPts val="3500"/>
              </a:lnSpc>
              <a:spcBef>
                <a:spcPts val="500"/>
              </a:spcBef>
              <a:buFont typeface="Arial MT"/>
              <a:buChar char="•"/>
              <a:tabLst>
                <a:tab pos="241300" algn="l"/>
              </a:tabLst>
            </a:pPr>
            <a:r>
              <a:rPr sz="3200" dirty="0">
                <a:latin typeface="Calibri"/>
                <a:cs typeface="Calibri"/>
              </a:rPr>
              <a:t>Implementation</a:t>
            </a:r>
            <a:r>
              <a:rPr sz="3200" spc="130" dirty="0">
                <a:latin typeface="Calibri"/>
                <a:cs typeface="Calibri"/>
              </a:rPr>
              <a:t> </a:t>
            </a:r>
            <a:r>
              <a:rPr sz="3200" dirty="0">
                <a:latin typeface="Calibri"/>
                <a:cs typeface="Calibri"/>
              </a:rPr>
              <a:t>answers</a:t>
            </a:r>
            <a:r>
              <a:rPr sz="3200" spc="135" dirty="0">
                <a:latin typeface="Calibri"/>
                <a:cs typeface="Calibri"/>
              </a:rPr>
              <a:t> </a:t>
            </a:r>
            <a:r>
              <a:rPr sz="3200" dirty="0">
                <a:latin typeface="Calibri"/>
                <a:cs typeface="Calibri"/>
              </a:rPr>
              <a:t>the</a:t>
            </a:r>
            <a:r>
              <a:rPr sz="3200" spc="135" dirty="0">
                <a:latin typeface="Calibri"/>
                <a:cs typeface="Calibri"/>
              </a:rPr>
              <a:t> </a:t>
            </a:r>
            <a:r>
              <a:rPr sz="3200" dirty="0">
                <a:latin typeface="Calibri"/>
                <a:cs typeface="Calibri"/>
              </a:rPr>
              <a:t>question</a:t>
            </a:r>
            <a:r>
              <a:rPr sz="3200" spc="135" dirty="0">
                <a:latin typeface="Calibri"/>
                <a:cs typeface="Calibri"/>
              </a:rPr>
              <a:t> </a:t>
            </a:r>
            <a:r>
              <a:rPr sz="3200" dirty="0">
                <a:latin typeface="Calibri"/>
                <a:cs typeface="Calibri"/>
              </a:rPr>
              <a:t>of</a:t>
            </a:r>
            <a:r>
              <a:rPr sz="3200" spc="135" dirty="0">
                <a:latin typeface="Calibri"/>
                <a:cs typeface="Calibri"/>
              </a:rPr>
              <a:t> </a:t>
            </a:r>
            <a:r>
              <a:rPr sz="3200" dirty="0">
                <a:latin typeface="Calibri"/>
                <a:cs typeface="Calibri"/>
              </a:rPr>
              <a:t>how</a:t>
            </a:r>
            <a:r>
              <a:rPr sz="3200" spc="140" dirty="0">
                <a:latin typeface="Calibri"/>
                <a:cs typeface="Calibri"/>
              </a:rPr>
              <a:t> </a:t>
            </a:r>
            <a:r>
              <a:rPr sz="3200" dirty="0">
                <a:latin typeface="Calibri"/>
                <a:cs typeface="Calibri"/>
              </a:rPr>
              <a:t>strategies</a:t>
            </a:r>
            <a:r>
              <a:rPr sz="3200" spc="125" dirty="0">
                <a:latin typeface="Calibri"/>
                <a:cs typeface="Calibri"/>
              </a:rPr>
              <a:t> </a:t>
            </a:r>
            <a:r>
              <a:rPr sz="3200" spc="-20" dirty="0">
                <a:latin typeface="Calibri"/>
                <a:cs typeface="Calibri"/>
              </a:rPr>
              <a:t>will </a:t>
            </a:r>
            <a:r>
              <a:rPr sz="3200" dirty="0">
                <a:latin typeface="Calibri"/>
                <a:cs typeface="Calibri"/>
              </a:rPr>
              <a:t>be</a:t>
            </a:r>
            <a:r>
              <a:rPr sz="3200" spc="-85" dirty="0">
                <a:latin typeface="Calibri"/>
                <a:cs typeface="Calibri"/>
              </a:rPr>
              <a:t> </a:t>
            </a:r>
            <a:r>
              <a:rPr sz="3200" spc="-10" dirty="0">
                <a:latin typeface="Calibri"/>
                <a:cs typeface="Calibri"/>
              </a:rPr>
              <a:t>realized,</a:t>
            </a:r>
            <a:r>
              <a:rPr sz="3200" spc="-80" dirty="0">
                <a:latin typeface="Calibri"/>
                <a:cs typeface="Calibri"/>
              </a:rPr>
              <a:t> </a:t>
            </a:r>
            <a:r>
              <a:rPr sz="3200" dirty="0">
                <a:latin typeface="Calibri"/>
                <a:cs typeface="Calibri"/>
              </a:rPr>
              <a:t>given</a:t>
            </a:r>
            <a:r>
              <a:rPr sz="3200" spc="-75" dirty="0">
                <a:latin typeface="Calibri"/>
                <a:cs typeface="Calibri"/>
              </a:rPr>
              <a:t> </a:t>
            </a:r>
            <a:r>
              <a:rPr sz="3200" spc="-10" dirty="0">
                <a:latin typeface="Calibri"/>
                <a:cs typeface="Calibri"/>
              </a:rPr>
              <a:t>available</a:t>
            </a:r>
            <a:r>
              <a:rPr sz="3200" spc="-90" dirty="0">
                <a:latin typeface="Calibri"/>
                <a:cs typeface="Calibri"/>
              </a:rPr>
              <a:t> </a:t>
            </a:r>
            <a:r>
              <a:rPr sz="3200" spc="-10" dirty="0">
                <a:latin typeface="Calibri"/>
                <a:cs typeface="Calibri"/>
              </a:rPr>
              <a:t>resources</a:t>
            </a:r>
            <a:endParaRPr sz="3200">
              <a:latin typeface="Calibri"/>
              <a:cs typeface="Calibri"/>
            </a:endParaRPr>
          </a:p>
          <a:p>
            <a:pPr marL="241300" marR="5080" indent="-228600" algn="just">
              <a:lnSpc>
                <a:spcPts val="3500"/>
              </a:lnSpc>
              <a:spcBef>
                <a:spcPts val="894"/>
              </a:spcBef>
              <a:buFont typeface="Arial MT"/>
              <a:buChar char="•"/>
              <a:tabLst>
                <a:tab pos="241300" algn="l"/>
              </a:tabLst>
            </a:pPr>
            <a:r>
              <a:rPr sz="3200" dirty="0">
                <a:solidFill>
                  <a:srgbClr val="262EA4"/>
                </a:solidFill>
                <a:latin typeface="Calibri"/>
                <a:cs typeface="Calibri"/>
              </a:rPr>
              <a:t>Implementation</a:t>
            </a:r>
            <a:r>
              <a:rPr sz="3200" spc="580" dirty="0">
                <a:solidFill>
                  <a:srgbClr val="262EA4"/>
                </a:solidFill>
                <a:latin typeface="Calibri"/>
                <a:cs typeface="Calibri"/>
              </a:rPr>
              <a:t> </a:t>
            </a:r>
            <a:r>
              <a:rPr sz="3200" dirty="0">
                <a:solidFill>
                  <a:srgbClr val="262EA4"/>
                </a:solidFill>
                <a:latin typeface="Calibri"/>
                <a:cs typeface="Calibri"/>
              </a:rPr>
              <a:t>requires</a:t>
            </a:r>
            <a:r>
              <a:rPr sz="3200" spc="580" dirty="0">
                <a:solidFill>
                  <a:srgbClr val="262EA4"/>
                </a:solidFill>
                <a:latin typeface="Calibri"/>
                <a:cs typeface="Calibri"/>
              </a:rPr>
              <a:t> </a:t>
            </a:r>
            <a:r>
              <a:rPr sz="3200" dirty="0">
                <a:solidFill>
                  <a:srgbClr val="262EA4"/>
                </a:solidFill>
                <a:latin typeface="Calibri"/>
                <a:cs typeface="Calibri"/>
              </a:rPr>
              <a:t>action</a:t>
            </a:r>
            <a:r>
              <a:rPr sz="3200" spc="595" dirty="0">
                <a:solidFill>
                  <a:srgbClr val="262EA4"/>
                </a:solidFill>
                <a:latin typeface="Calibri"/>
                <a:cs typeface="Calibri"/>
              </a:rPr>
              <a:t> </a:t>
            </a:r>
            <a:r>
              <a:rPr sz="3200" dirty="0">
                <a:solidFill>
                  <a:srgbClr val="262EA4"/>
                </a:solidFill>
                <a:latin typeface="Calibri"/>
                <a:cs typeface="Calibri"/>
              </a:rPr>
              <a:t>and</a:t>
            </a:r>
            <a:r>
              <a:rPr sz="3200" spc="595" dirty="0">
                <a:solidFill>
                  <a:srgbClr val="262EA4"/>
                </a:solidFill>
                <a:latin typeface="Calibri"/>
                <a:cs typeface="Calibri"/>
              </a:rPr>
              <a:t> </a:t>
            </a:r>
            <a:r>
              <a:rPr sz="3200" dirty="0">
                <a:solidFill>
                  <a:srgbClr val="262EA4"/>
                </a:solidFill>
                <a:latin typeface="Calibri"/>
                <a:cs typeface="Calibri"/>
              </a:rPr>
              <a:t>completing</a:t>
            </a:r>
            <a:r>
              <a:rPr sz="3200" spc="590" dirty="0">
                <a:solidFill>
                  <a:srgbClr val="262EA4"/>
                </a:solidFill>
                <a:latin typeface="Calibri"/>
                <a:cs typeface="Calibri"/>
              </a:rPr>
              <a:t> </a:t>
            </a:r>
            <a:r>
              <a:rPr sz="3200" dirty="0">
                <a:solidFill>
                  <a:srgbClr val="262EA4"/>
                </a:solidFill>
                <a:latin typeface="Calibri"/>
                <a:cs typeface="Calibri"/>
              </a:rPr>
              <a:t>tasks;</a:t>
            </a:r>
            <a:r>
              <a:rPr sz="3200" spc="585" dirty="0">
                <a:solidFill>
                  <a:srgbClr val="262EA4"/>
                </a:solidFill>
                <a:latin typeface="Calibri"/>
                <a:cs typeface="Calibri"/>
              </a:rPr>
              <a:t> </a:t>
            </a:r>
            <a:r>
              <a:rPr sz="3200" spc="-25" dirty="0">
                <a:solidFill>
                  <a:srgbClr val="262EA4"/>
                </a:solidFill>
                <a:latin typeface="Calibri"/>
                <a:cs typeface="Calibri"/>
              </a:rPr>
              <a:t>the </a:t>
            </a:r>
            <a:r>
              <a:rPr sz="3200" dirty="0">
                <a:solidFill>
                  <a:srgbClr val="262EA4"/>
                </a:solidFill>
                <a:latin typeface="Calibri"/>
                <a:cs typeface="Calibri"/>
              </a:rPr>
              <a:t>latter</a:t>
            </a:r>
            <a:r>
              <a:rPr sz="3200" spc="-114" dirty="0">
                <a:solidFill>
                  <a:srgbClr val="262EA4"/>
                </a:solidFill>
                <a:latin typeface="Calibri"/>
                <a:cs typeface="Calibri"/>
              </a:rPr>
              <a:t> </a:t>
            </a:r>
            <a:r>
              <a:rPr sz="3200" dirty="0">
                <a:solidFill>
                  <a:srgbClr val="262EA4"/>
                </a:solidFill>
                <a:latin typeface="Calibri"/>
                <a:cs typeface="Calibri"/>
              </a:rPr>
              <a:t>frequently</a:t>
            </a:r>
            <a:r>
              <a:rPr sz="3200" spc="-105" dirty="0">
                <a:solidFill>
                  <a:srgbClr val="262EA4"/>
                </a:solidFill>
                <a:latin typeface="Calibri"/>
                <a:cs typeface="Calibri"/>
              </a:rPr>
              <a:t> </a:t>
            </a:r>
            <a:r>
              <a:rPr sz="3200" dirty="0">
                <a:solidFill>
                  <a:srgbClr val="262EA4"/>
                </a:solidFill>
                <a:latin typeface="Calibri"/>
                <a:cs typeface="Calibri"/>
              </a:rPr>
              <a:t>means</a:t>
            </a:r>
            <a:r>
              <a:rPr sz="3200" spc="-110" dirty="0">
                <a:solidFill>
                  <a:srgbClr val="262EA4"/>
                </a:solidFill>
                <a:latin typeface="Calibri"/>
                <a:cs typeface="Calibri"/>
              </a:rPr>
              <a:t> </a:t>
            </a:r>
            <a:r>
              <a:rPr sz="3200" spc="-20" dirty="0">
                <a:solidFill>
                  <a:srgbClr val="262EA4"/>
                </a:solidFill>
                <a:latin typeface="Calibri"/>
                <a:cs typeface="Calibri"/>
              </a:rPr>
              <a:t>mission-</a:t>
            </a:r>
            <a:r>
              <a:rPr sz="3200" dirty="0">
                <a:solidFill>
                  <a:srgbClr val="262EA4"/>
                </a:solidFill>
                <a:latin typeface="Calibri"/>
                <a:cs typeface="Calibri"/>
              </a:rPr>
              <a:t>critical</a:t>
            </a:r>
            <a:r>
              <a:rPr sz="3200" spc="-105" dirty="0">
                <a:solidFill>
                  <a:srgbClr val="262EA4"/>
                </a:solidFill>
                <a:latin typeface="Calibri"/>
                <a:cs typeface="Calibri"/>
              </a:rPr>
              <a:t> </a:t>
            </a:r>
            <a:r>
              <a:rPr sz="3200" spc="-10" dirty="0">
                <a:solidFill>
                  <a:srgbClr val="262EA4"/>
                </a:solidFill>
                <a:latin typeface="Calibri"/>
                <a:cs typeface="Calibri"/>
              </a:rPr>
              <a:t>projects</a:t>
            </a:r>
            <a:endParaRPr sz="3200">
              <a:latin typeface="Calibri"/>
              <a:cs typeface="Calibri"/>
            </a:endParaRPr>
          </a:p>
          <a:p>
            <a:pPr marL="241300" marR="5080" indent="-228600" algn="just">
              <a:lnSpc>
                <a:spcPct val="89700"/>
              </a:lnSpc>
              <a:spcBef>
                <a:spcPts val="915"/>
              </a:spcBef>
              <a:buFont typeface="Arial MT"/>
              <a:buChar char="•"/>
              <a:tabLst>
                <a:tab pos="241300" algn="l"/>
              </a:tabLst>
            </a:pPr>
            <a:r>
              <a:rPr sz="3200" dirty="0">
                <a:latin typeface="Calibri"/>
                <a:cs typeface="Calibri"/>
              </a:rPr>
              <a:t>Although</a:t>
            </a:r>
            <a:r>
              <a:rPr sz="3200" spc="-5" dirty="0">
                <a:latin typeface="Calibri"/>
                <a:cs typeface="Calibri"/>
              </a:rPr>
              <a:t> </a:t>
            </a:r>
            <a:r>
              <a:rPr sz="3200" dirty="0">
                <a:latin typeface="Calibri"/>
                <a:cs typeface="Calibri"/>
              </a:rPr>
              <a:t>the</a:t>
            </a:r>
            <a:r>
              <a:rPr sz="3200" spc="-10" dirty="0">
                <a:latin typeface="Calibri"/>
                <a:cs typeface="Calibri"/>
              </a:rPr>
              <a:t> </a:t>
            </a:r>
            <a:r>
              <a:rPr sz="3200" dirty="0">
                <a:latin typeface="Calibri"/>
                <a:cs typeface="Calibri"/>
              </a:rPr>
              <a:t>strategy</a:t>
            </a:r>
            <a:r>
              <a:rPr sz="3200" spc="-15" dirty="0">
                <a:latin typeface="Calibri"/>
                <a:cs typeface="Calibri"/>
              </a:rPr>
              <a:t> </a:t>
            </a:r>
            <a:r>
              <a:rPr sz="3200" dirty="0">
                <a:latin typeface="Calibri"/>
                <a:cs typeface="Calibri"/>
              </a:rPr>
              <a:t>implementation</a:t>
            </a:r>
            <a:r>
              <a:rPr sz="3200" spc="-10" dirty="0">
                <a:latin typeface="Calibri"/>
                <a:cs typeface="Calibri"/>
              </a:rPr>
              <a:t> </a:t>
            </a:r>
            <a:r>
              <a:rPr sz="3200" dirty="0">
                <a:latin typeface="Calibri"/>
                <a:cs typeface="Calibri"/>
              </a:rPr>
              <a:t>process</a:t>
            </a:r>
            <a:r>
              <a:rPr sz="3200" spc="-15" dirty="0">
                <a:latin typeface="Calibri"/>
                <a:cs typeface="Calibri"/>
              </a:rPr>
              <a:t> </a:t>
            </a:r>
            <a:r>
              <a:rPr sz="3200" dirty="0">
                <a:latin typeface="Calibri"/>
                <a:cs typeface="Calibri"/>
              </a:rPr>
              <a:t>is</a:t>
            </a:r>
            <a:r>
              <a:rPr sz="3200" spc="-10" dirty="0">
                <a:latin typeface="Calibri"/>
                <a:cs typeface="Calibri"/>
              </a:rPr>
              <a:t> </a:t>
            </a:r>
            <a:r>
              <a:rPr sz="3200" dirty="0">
                <a:latin typeface="Calibri"/>
                <a:cs typeface="Calibri"/>
              </a:rPr>
              <a:t>not</a:t>
            </a:r>
            <a:r>
              <a:rPr sz="3200" spc="-10" dirty="0">
                <a:latin typeface="Calibri"/>
                <a:cs typeface="Calibri"/>
              </a:rPr>
              <a:t> </a:t>
            </a:r>
            <a:r>
              <a:rPr sz="3200" dirty="0">
                <a:latin typeface="Calibri"/>
                <a:cs typeface="Calibri"/>
              </a:rPr>
              <a:t>as</a:t>
            </a:r>
            <a:r>
              <a:rPr sz="3200" spc="-10" dirty="0">
                <a:latin typeface="Calibri"/>
                <a:cs typeface="Calibri"/>
              </a:rPr>
              <a:t> clear </a:t>
            </a:r>
            <a:r>
              <a:rPr sz="3200" dirty="0">
                <a:latin typeface="Calibri"/>
                <a:cs typeface="Calibri"/>
              </a:rPr>
              <a:t>as</a:t>
            </a:r>
            <a:r>
              <a:rPr sz="3200" spc="509" dirty="0">
                <a:latin typeface="Calibri"/>
                <a:cs typeface="Calibri"/>
              </a:rPr>
              <a:t> </a:t>
            </a:r>
            <a:r>
              <a:rPr sz="3200" dirty="0">
                <a:latin typeface="Calibri"/>
                <a:cs typeface="Calibri"/>
              </a:rPr>
              <a:t>strategy</a:t>
            </a:r>
            <a:r>
              <a:rPr sz="3200" spc="515" dirty="0">
                <a:latin typeface="Calibri"/>
                <a:cs typeface="Calibri"/>
              </a:rPr>
              <a:t> </a:t>
            </a:r>
            <a:r>
              <a:rPr sz="3200" dirty="0">
                <a:latin typeface="Calibri"/>
                <a:cs typeface="Calibri"/>
              </a:rPr>
              <a:t>formulation,</a:t>
            </a:r>
            <a:r>
              <a:rPr sz="3200" spc="509" dirty="0">
                <a:latin typeface="Calibri"/>
                <a:cs typeface="Calibri"/>
              </a:rPr>
              <a:t> </a:t>
            </a:r>
            <a:r>
              <a:rPr sz="3200" dirty="0">
                <a:latin typeface="Calibri"/>
                <a:cs typeface="Calibri"/>
              </a:rPr>
              <a:t>all</a:t>
            </a:r>
            <a:r>
              <a:rPr sz="3200" spc="515" dirty="0">
                <a:latin typeface="Calibri"/>
                <a:cs typeface="Calibri"/>
              </a:rPr>
              <a:t> </a:t>
            </a:r>
            <a:r>
              <a:rPr sz="3200" dirty="0">
                <a:latin typeface="Calibri"/>
                <a:cs typeface="Calibri"/>
              </a:rPr>
              <a:t>managers</a:t>
            </a:r>
            <a:r>
              <a:rPr sz="3200" spc="509" dirty="0">
                <a:latin typeface="Calibri"/>
                <a:cs typeface="Calibri"/>
              </a:rPr>
              <a:t> </a:t>
            </a:r>
            <a:r>
              <a:rPr sz="3200" dirty="0">
                <a:latin typeface="Calibri"/>
                <a:cs typeface="Calibri"/>
              </a:rPr>
              <a:t>realize</a:t>
            </a:r>
            <a:r>
              <a:rPr sz="3200" spc="515" dirty="0">
                <a:latin typeface="Calibri"/>
                <a:cs typeface="Calibri"/>
              </a:rPr>
              <a:t> </a:t>
            </a:r>
            <a:r>
              <a:rPr sz="3200" dirty="0">
                <a:latin typeface="Calibri"/>
                <a:cs typeface="Calibri"/>
              </a:rPr>
              <a:t>that,</a:t>
            </a:r>
            <a:r>
              <a:rPr sz="3200" spc="515" dirty="0">
                <a:latin typeface="Calibri"/>
                <a:cs typeface="Calibri"/>
              </a:rPr>
              <a:t> </a:t>
            </a:r>
            <a:r>
              <a:rPr sz="3200" spc="-10" dirty="0">
                <a:latin typeface="Calibri"/>
                <a:cs typeface="Calibri"/>
              </a:rPr>
              <a:t>without implementation,</a:t>
            </a:r>
            <a:r>
              <a:rPr sz="3200" spc="-75" dirty="0">
                <a:latin typeface="Calibri"/>
                <a:cs typeface="Calibri"/>
              </a:rPr>
              <a:t> </a:t>
            </a:r>
            <a:r>
              <a:rPr sz="3200" dirty="0">
                <a:latin typeface="Calibri"/>
                <a:cs typeface="Calibri"/>
              </a:rPr>
              <a:t>success</a:t>
            </a:r>
            <a:r>
              <a:rPr sz="3200" spc="-65" dirty="0">
                <a:latin typeface="Calibri"/>
                <a:cs typeface="Calibri"/>
              </a:rPr>
              <a:t> </a:t>
            </a:r>
            <a:r>
              <a:rPr sz="3200" dirty="0">
                <a:latin typeface="Calibri"/>
                <a:cs typeface="Calibri"/>
              </a:rPr>
              <a:t>is</a:t>
            </a:r>
            <a:r>
              <a:rPr sz="3200" spc="-70" dirty="0">
                <a:latin typeface="Calibri"/>
                <a:cs typeface="Calibri"/>
              </a:rPr>
              <a:t> </a:t>
            </a:r>
            <a:r>
              <a:rPr sz="3200" spc="-10" dirty="0">
                <a:latin typeface="Calibri"/>
                <a:cs typeface="Calibri"/>
              </a:rPr>
              <a:t>impossible</a:t>
            </a:r>
            <a:endParaRPr sz="3200">
              <a:latin typeface="Calibri"/>
              <a:cs typeface="Calibri"/>
            </a:endParaRPr>
          </a:p>
        </p:txBody>
      </p:sp>
      <p:pic>
        <p:nvPicPr>
          <p:cNvPr id="5" name="Picture 4">
            <a:extLst>
              <a:ext uri="{FF2B5EF4-FFF2-40B4-BE49-F238E27FC236}">
                <a16:creationId xmlns:a16="http://schemas.microsoft.com/office/drawing/2014/main" id="{8D4686DF-FCBB-0827-4B49-112CEF9CFE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11951" y="0"/>
            <a:ext cx="1780049" cy="9889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40039" y="1675891"/>
            <a:ext cx="8512175" cy="3863340"/>
          </a:xfrm>
          <a:prstGeom prst="rect">
            <a:avLst/>
          </a:prstGeom>
        </p:spPr>
        <p:txBody>
          <a:bodyPr vert="horz" wrap="square" lIns="0" tIns="33020" rIns="0" bIns="0" rtlCol="0">
            <a:spAutoFit/>
          </a:bodyPr>
          <a:lstStyle/>
          <a:p>
            <a:pPr marL="438150" marR="431165" algn="ctr">
              <a:lnSpc>
                <a:spcPts val="4300"/>
              </a:lnSpc>
              <a:spcBef>
                <a:spcPts val="260"/>
              </a:spcBef>
            </a:pPr>
            <a:r>
              <a:rPr sz="3600" spc="-10" dirty="0">
                <a:latin typeface="Calibri"/>
                <a:cs typeface="Calibri"/>
              </a:rPr>
              <a:t>Strategy</a:t>
            </a:r>
            <a:r>
              <a:rPr sz="3600" spc="-90" dirty="0">
                <a:latin typeface="Calibri"/>
                <a:cs typeface="Calibri"/>
              </a:rPr>
              <a:t> </a:t>
            </a:r>
            <a:r>
              <a:rPr sz="3600" spc="-10" dirty="0">
                <a:latin typeface="Calibri"/>
                <a:cs typeface="Calibri"/>
              </a:rPr>
              <a:t>formulation</a:t>
            </a:r>
            <a:r>
              <a:rPr sz="3600" spc="-85" dirty="0">
                <a:latin typeface="Calibri"/>
                <a:cs typeface="Calibri"/>
              </a:rPr>
              <a:t> </a:t>
            </a:r>
            <a:r>
              <a:rPr sz="3600" dirty="0">
                <a:latin typeface="Calibri"/>
                <a:cs typeface="Calibri"/>
              </a:rPr>
              <a:t>ends</a:t>
            </a:r>
            <a:r>
              <a:rPr sz="3600" spc="-75" dirty="0">
                <a:latin typeface="Calibri"/>
                <a:cs typeface="Calibri"/>
              </a:rPr>
              <a:t> </a:t>
            </a:r>
            <a:r>
              <a:rPr sz="3600" dirty="0">
                <a:latin typeface="Calibri"/>
                <a:cs typeface="Calibri"/>
              </a:rPr>
              <a:t>with</a:t>
            </a:r>
            <a:r>
              <a:rPr sz="3600" spc="-85" dirty="0">
                <a:latin typeface="Calibri"/>
                <a:cs typeface="Calibri"/>
              </a:rPr>
              <a:t> </a:t>
            </a:r>
            <a:r>
              <a:rPr sz="3600" spc="-10" dirty="0">
                <a:latin typeface="Calibri"/>
                <a:cs typeface="Calibri"/>
              </a:rPr>
              <a:t>cascading </a:t>
            </a:r>
            <a:r>
              <a:rPr sz="3600" dirty="0">
                <a:latin typeface="Calibri"/>
                <a:cs typeface="Calibri"/>
              </a:rPr>
              <a:t>objectives</a:t>
            </a:r>
            <a:r>
              <a:rPr sz="3600" spc="-70" dirty="0">
                <a:latin typeface="Calibri"/>
                <a:cs typeface="Calibri"/>
              </a:rPr>
              <a:t> </a:t>
            </a:r>
            <a:r>
              <a:rPr sz="3600" dirty="0">
                <a:latin typeface="Calibri"/>
                <a:cs typeface="Calibri"/>
              </a:rPr>
              <a:t>or</a:t>
            </a:r>
            <a:r>
              <a:rPr sz="3600" spc="-80" dirty="0">
                <a:latin typeface="Calibri"/>
                <a:cs typeface="Calibri"/>
              </a:rPr>
              <a:t> </a:t>
            </a:r>
            <a:r>
              <a:rPr sz="3600" dirty="0">
                <a:latin typeface="Calibri"/>
                <a:cs typeface="Calibri"/>
              </a:rPr>
              <a:t>projects</a:t>
            </a:r>
            <a:r>
              <a:rPr sz="3600" spc="-65" dirty="0">
                <a:latin typeface="Calibri"/>
                <a:cs typeface="Calibri"/>
              </a:rPr>
              <a:t> </a:t>
            </a:r>
            <a:r>
              <a:rPr sz="3600" dirty="0">
                <a:latin typeface="Calibri"/>
                <a:cs typeface="Calibri"/>
              </a:rPr>
              <a:t>assigned</a:t>
            </a:r>
            <a:r>
              <a:rPr sz="3600" spc="-80" dirty="0">
                <a:latin typeface="Calibri"/>
                <a:cs typeface="Calibri"/>
              </a:rPr>
              <a:t> </a:t>
            </a:r>
            <a:r>
              <a:rPr sz="3600" dirty="0">
                <a:latin typeface="Calibri"/>
                <a:cs typeface="Calibri"/>
              </a:rPr>
              <a:t>to</a:t>
            </a:r>
            <a:r>
              <a:rPr sz="3600" spc="-70" dirty="0">
                <a:latin typeface="Calibri"/>
                <a:cs typeface="Calibri"/>
              </a:rPr>
              <a:t> </a:t>
            </a:r>
            <a:r>
              <a:rPr sz="3600" spc="-10" dirty="0">
                <a:latin typeface="Calibri"/>
                <a:cs typeface="Calibri"/>
              </a:rPr>
              <a:t>lower </a:t>
            </a:r>
            <a:r>
              <a:rPr sz="3600" dirty="0">
                <a:latin typeface="Calibri"/>
                <a:cs typeface="Calibri"/>
              </a:rPr>
              <a:t>divisions,</a:t>
            </a:r>
            <a:r>
              <a:rPr sz="3600" spc="-85" dirty="0">
                <a:latin typeface="Calibri"/>
                <a:cs typeface="Calibri"/>
              </a:rPr>
              <a:t> </a:t>
            </a:r>
            <a:r>
              <a:rPr sz="3600" dirty="0">
                <a:latin typeface="Calibri"/>
                <a:cs typeface="Calibri"/>
              </a:rPr>
              <a:t>departments,</a:t>
            </a:r>
            <a:r>
              <a:rPr sz="3600" spc="-80" dirty="0">
                <a:latin typeface="Calibri"/>
                <a:cs typeface="Calibri"/>
              </a:rPr>
              <a:t> </a:t>
            </a:r>
            <a:r>
              <a:rPr sz="3600" dirty="0">
                <a:latin typeface="Calibri"/>
                <a:cs typeface="Calibri"/>
              </a:rPr>
              <a:t>or</a:t>
            </a:r>
            <a:r>
              <a:rPr sz="3600" spc="-90" dirty="0">
                <a:latin typeface="Calibri"/>
                <a:cs typeface="Calibri"/>
              </a:rPr>
              <a:t> </a:t>
            </a:r>
            <a:r>
              <a:rPr sz="3600" spc="-10" dirty="0">
                <a:latin typeface="Calibri"/>
                <a:cs typeface="Calibri"/>
              </a:rPr>
              <a:t>individuals.</a:t>
            </a:r>
            <a:endParaRPr sz="3600">
              <a:latin typeface="Calibri"/>
              <a:cs typeface="Calibri"/>
            </a:endParaRPr>
          </a:p>
          <a:p>
            <a:pPr algn="ctr">
              <a:lnSpc>
                <a:spcPts val="4150"/>
              </a:lnSpc>
            </a:pPr>
            <a:r>
              <a:rPr sz="3600" dirty="0">
                <a:latin typeface="Calibri"/>
                <a:cs typeface="Calibri"/>
              </a:rPr>
              <a:t>Formulating</a:t>
            </a:r>
            <a:r>
              <a:rPr sz="3600" spc="-130" dirty="0">
                <a:latin typeface="Calibri"/>
                <a:cs typeface="Calibri"/>
              </a:rPr>
              <a:t> </a:t>
            </a:r>
            <a:r>
              <a:rPr sz="3600" spc="-10" dirty="0">
                <a:latin typeface="Calibri"/>
                <a:cs typeface="Calibri"/>
              </a:rPr>
              <a:t>strategy</a:t>
            </a:r>
            <a:r>
              <a:rPr sz="3600" spc="-130" dirty="0">
                <a:latin typeface="Calibri"/>
                <a:cs typeface="Calibri"/>
              </a:rPr>
              <a:t> </a:t>
            </a:r>
            <a:r>
              <a:rPr sz="3600" dirty="0">
                <a:latin typeface="Calibri"/>
                <a:cs typeface="Calibri"/>
              </a:rPr>
              <a:t>might</a:t>
            </a:r>
            <a:r>
              <a:rPr sz="3600" spc="-140" dirty="0">
                <a:latin typeface="Calibri"/>
                <a:cs typeface="Calibri"/>
              </a:rPr>
              <a:t> </a:t>
            </a:r>
            <a:r>
              <a:rPr sz="3600" dirty="0">
                <a:latin typeface="Calibri"/>
                <a:cs typeface="Calibri"/>
              </a:rPr>
              <a:t>range</a:t>
            </a:r>
            <a:r>
              <a:rPr sz="3600" spc="-135" dirty="0">
                <a:latin typeface="Calibri"/>
                <a:cs typeface="Calibri"/>
              </a:rPr>
              <a:t> </a:t>
            </a:r>
            <a:r>
              <a:rPr sz="3600" dirty="0">
                <a:latin typeface="Calibri"/>
                <a:cs typeface="Calibri"/>
              </a:rPr>
              <a:t>around</a:t>
            </a:r>
            <a:r>
              <a:rPr sz="3600" spc="-160" dirty="0">
                <a:latin typeface="Calibri"/>
                <a:cs typeface="Calibri"/>
              </a:rPr>
              <a:t> </a:t>
            </a:r>
            <a:r>
              <a:rPr sz="3600" spc="-25" dirty="0">
                <a:solidFill>
                  <a:srgbClr val="C00000"/>
                </a:solidFill>
                <a:latin typeface="Calibri"/>
                <a:cs typeface="Calibri"/>
              </a:rPr>
              <a:t>20%</a:t>
            </a:r>
            <a:endParaRPr sz="3600">
              <a:latin typeface="Calibri"/>
              <a:cs typeface="Calibri"/>
            </a:endParaRPr>
          </a:p>
          <a:p>
            <a:pPr marL="273685" marR="266700" algn="ctr">
              <a:lnSpc>
                <a:spcPts val="4300"/>
              </a:lnSpc>
              <a:spcBef>
                <a:spcPts val="204"/>
              </a:spcBef>
            </a:pPr>
            <a:r>
              <a:rPr sz="3600" dirty="0">
                <a:latin typeface="Calibri"/>
                <a:cs typeface="Calibri"/>
              </a:rPr>
              <a:t>of</a:t>
            </a:r>
            <a:r>
              <a:rPr sz="3600" spc="-95" dirty="0">
                <a:latin typeface="Calibri"/>
                <a:cs typeface="Calibri"/>
              </a:rPr>
              <a:t> </a:t>
            </a:r>
            <a:r>
              <a:rPr sz="3600" spc="-10" dirty="0">
                <a:latin typeface="Calibri"/>
                <a:cs typeface="Calibri"/>
              </a:rPr>
              <a:t>management’s</a:t>
            </a:r>
            <a:r>
              <a:rPr sz="3600" spc="-95" dirty="0">
                <a:latin typeface="Calibri"/>
                <a:cs typeface="Calibri"/>
              </a:rPr>
              <a:t> </a:t>
            </a:r>
            <a:r>
              <a:rPr sz="3600" spc="-10" dirty="0">
                <a:latin typeface="Calibri"/>
                <a:cs typeface="Calibri"/>
              </a:rPr>
              <a:t>effort,</a:t>
            </a:r>
            <a:r>
              <a:rPr sz="3600" spc="-90" dirty="0">
                <a:latin typeface="Calibri"/>
                <a:cs typeface="Calibri"/>
              </a:rPr>
              <a:t> </a:t>
            </a:r>
            <a:r>
              <a:rPr sz="3600" dirty="0">
                <a:latin typeface="Calibri"/>
                <a:cs typeface="Calibri"/>
              </a:rPr>
              <a:t>while</a:t>
            </a:r>
            <a:r>
              <a:rPr sz="3600" spc="-105" dirty="0">
                <a:latin typeface="Calibri"/>
                <a:cs typeface="Calibri"/>
              </a:rPr>
              <a:t> </a:t>
            </a:r>
            <a:r>
              <a:rPr sz="3600" spc="-10" dirty="0">
                <a:latin typeface="Calibri"/>
                <a:cs typeface="Calibri"/>
              </a:rPr>
              <a:t>determining </a:t>
            </a:r>
            <a:r>
              <a:rPr sz="3600" i="1" dirty="0">
                <a:latin typeface="Calibri"/>
                <a:cs typeface="Calibri"/>
              </a:rPr>
              <a:t>how</a:t>
            </a:r>
            <a:r>
              <a:rPr sz="3600" i="1" spc="-90" dirty="0">
                <a:latin typeface="Calibri"/>
                <a:cs typeface="Calibri"/>
              </a:rPr>
              <a:t> </a:t>
            </a:r>
            <a:r>
              <a:rPr sz="3600" spc="-10" dirty="0">
                <a:latin typeface="Calibri"/>
                <a:cs typeface="Calibri"/>
              </a:rPr>
              <a:t>strategy</a:t>
            </a:r>
            <a:r>
              <a:rPr sz="3600" spc="-100" dirty="0">
                <a:latin typeface="Calibri"/>
                <a:cs typeface="Calibri"/>
              </a:rPr>
              <a:t> </a:t>
            </a:r>
            <a:r>
              <a:rPr sz="3600" dirty="0">
                <a:latin typeface="Calibri"/>
                <a:cs typeface="Calibri"/>
              </a:rPr>
              <a:t>will</a:t>
            </a:r>
            <a:r>
              <a:rPr sz="3600" spc="-90" dirty="0">
                <a:latin typeface="Calibri"/>
                <a:cs typeface="Calibri"/>
              </a:rPr>
              <a:t> </a:t>
            </a:r>
            <a:r>
              <a:rPr sz="3600" dirty="0">
                <a:latin typeface="Calibri"/>
                <a:cs typeface="Calibri"/>
              </a:rPr>
              <a:t>be</a:t>
            </a:r>
            <a:r>
              <a:rPr sz="3600" spc="-100" dirty="0">
                <a:latin typeface="Calibri"/>
                <a:cs typeface="Calibri"/>
              </a:rPr>
              <a:t> </a:t>
            </a:r>
            <a:r>
              <a:rPr sz="3600" dirty="0">
                <a:latin typeface="Calibri"/>
                <a:cs typeface="Calibri"/>
              </a:rPr>
              <a:t>implemented</a:t>
            </a:r>
            <a:r>
              <a:rPr sz="3600" spc="-90" dirty="0">
                <a:latin typeface="Calibri"/>
                <a:cs typeface="Calibri"/>
              </a:rPr>
              <a:t> </a:t>
            </a:r>
            <a:r>
              <a:rPr sz="3600" spc="-10" dirty="0">
                <a:latin typeface="Calibri"/>
                <a:cs typeface="Calibri"/>
              </a:rPr>
              <a:t>might </a:t>
            </a:r>
            <a:r>
              <a:rPr sz="3600" dirty="0">
                <a:latin typeface="Calibri"/>
                <a:cs typeface="Calibri"/>
              </a:rPr>
              <a:t>consume</a:t>
            </a:r>
            <a:r>
              <a:rPr sz="3600" spc="-100" dirty="0">
                <a:latin typeface="Calibri"/>
                <a:cs typeface="Calibri"/>
              </a:rPr>
              <a:t> </a:t>
            </a:r>
            <a:r>
              <a:rPr sz="3600" spc="-25" dirty="0">
                <a:solidFill>
                  <a:srgbClr val="C00000"/>
                </a:solidFill>
                <a:latin typeface="Calibri"/>
                <a:cs typeface="Calibri"/>
              </a:rPr>
              <a:t>80%</a:t>
            </a:r>
            <a:endParaRPr sz="3600">
              <a:latin typeface="Calibri"/>
              <a:cs typeface="Calibri"/>
            </a:endParaRPr>
          </a:p>
        </p:txBody>
      </p:sp>
      <p:grpSp>
        <p:nvGrpSpPr>
          <p:cNvPr id="3" name="object 3"/>
          <p:cNvGrpSpPr/>
          <p:nvPr/>
        </p:nvGrpSpPr>
        <p:grpSpPr>
          <a:xfrm>
            <a:off x="0" y="692895"/>
            <a:ext cx="12192000" cy="1075055"/>
            <a:chOff x="0" y="692895"/>
            <a:chExt cx="12192000" cy="1075055"/>
          </a:xfrm>
        </p:grpSpPr>
        <p:sp>
          <p:nvSpPr>
            <p:cNvPr id="4" name="object 4"/>
            <p:cNvSpPr/>
            <p:nvPr/>
          </p:nvSpPr>
          <p:spPr>
            <a:xfrm>
              <a:off x="0" y="699245"/>
              <a:ext cx="12192000" cy="1062355"/>
            </a:xfrm>
            <a:custGeom>
              <a:avLst/>
              <a:gdLst/>
              <a:ahLst/>
              <a:cxnLst/>
              <a:rect l="l" t="t" r="r" b="b"/>
              <a:pathLst>
                <a:path w="12192000" h="1062355">
                  <a:moveTo>
                    <a:pt x="0" y="1062319"/>
                  </a:moveTo>
                  <a:lnTo>
                    <a:pt x="0" y="0"/>
                  </a:lnTo>
                  <a:lnTo>
                    <a:pt x="12191999" y="0"/>
                  </a:lnTo>
                  <a:lnTo>
                    <a:pt x="12192000" y="1062319"/>
                  </a:lnTo>
                  <a:lnTo>
                    <a:pt x="0" y="1062319"/>
                  </a:lnTo>
                  <a:close/>
                </a:path>
              </a:pathLst>
            </a:custGeom>
            <a:solidFill>
              <a:srgbClr val="FFFFFF"/>
            </a:solidFill>
          </p:spPr>
          <p:txBody>
            <a:bodyPr wrap="square" lIns="0" tIns="0" rIns="0" bIns="0" rtlCol="0"/>
            <a:lstStyle/>
            <a:p>
              <a:endParaRPr/>
            </a:p>
          </p:txBody>
        </p:sp>
        <p:sp>
          <p:nvSpPr>
            <p:cNvPr id="5" name="object 5"/>
            <p:cNvSpPr/>
            <p:nvPr/>
          </p:nvSpPr>
          <p:spPr>
            <a:xfrm>
              <a:off x="0" y="692899"/>
              <a:ext cx="12192000" cy="1075055"/>
            </a:xfrm>
            <a:custGeom>
              <a:avLst/>
              <a:gdLst/>
              <a:ahLst/>
              <a:cxnLst/>
              <a:rect l="l" t="t" r="r" b="b"/>
              <a:pathLst>
                <a:path w="12192000" h="1075055">
                  <a:moveTo>
                    <a:pt x="12191987" y="1062316"/>
                  </a:moveTo>
                  <a:lnTo>
                    <a:pt x="0" y="1062316"/>
                  </a:lnTo>
                  <a:lnTo>
                    <a:pt x="0" y="1075016"/>
                  </a:lnTo>
                  <a:lnTo>
                    <a:pt x="12191987" y="1075016"/>
                  </a:lnTo>
                  <a:lnTo>
                    <a:pt x="12191987" y="1062316"/>
                  </a:lnTo>
                  <a:close/>
                </a:path>
                <a:path w="12192000" h="1075055">
                  <a:moveTo>
                    <a:pt x="12191987" y="0"/>
                  </a:moveTo>
                  <a:lnTo>
                    <a:pt x="0" y="0"/>
                  </a:lnTo>
                  <a:lnTo>
                    <a:pt x="0" y="12700"/>
                  </a:lnTo>
                  <a:lnTo>
                    <a:pt x="12191987" y="12700"/>
                  </a:lnTo>
                  <a:lnTo>
                    <a:pt x="12191987" y="0"/>
                  </a:lnTo>
                  <a:close/>
                </a:path>
              </a:pathLst>
            </a:custGeom>
            <a:solidFill>
              <a:srgbClr val="FFFFFF"/>
            </a:solidFill>
          </p:spPr>
          <p:txBody>
            <a:bodyPr wrap="square" lIns="0" tIns="0" rIns="0" bIns="0" rtlCol="0"/>
            <a:lstStyle/>
            <a:p>
              <a:endParaRPr/>
            </a:p>
          </p:txBody>
        </p:sp>
      </p:grpSp>
      <p:sp>
        <p:nvSpPr>
          <p:cNvPr id="6" name="object 6"/>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24</a:t>
            </a:fld>
            <a:endParaRPr spc="-25" dirty="0"/>
          </a:p>
        </p:txBody>
      </p:sp>
      <p:pic>
        <p:nvPicPr>
          <p:cNvPr id="7" name="Picture 6">
            <a:extLst>
              <a:ext uri="{FF2B5EF4-FFF2-40B4-BE49-F238E27FC236}">
                <a16:creationId xmlns:a16="http://schemas.microsoft.com/office/drawing/2014/main" id="{56BB83AB-D1EE-C43A-8C16-4FF794F637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3150" y="0"/>
            <a:ext cx="2228850" cy="1238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749935"/>
            <a:ext cx="10358120" cy="683260"/>
          </a:xfrm>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Why the Need for a Project Priority System</a:t>
            </a:r>
            <a:r>
              <a:rPr lang="en-US" b="1" u="sng" spc="85" dirty="0">
                <a:solidFill>
                  <a:srgbClr val="FF0000"/>
                </a:solidFill>
              </a:rPr>
              <a:t> ?</a:t>
            </a:r>
            <a:endParaRPr b="1" u="sng" spc="85" dirty="0">
              <a:solidFill>
                <a:srgbClr val="FF0000"/>
              </a:solidFill>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25</a:t>
            </a:fld>
            <a:endParaRPr spc="-25" dirty="0"/>
          </a:p>
        </p:txBody>
      </p:sp>
      <p:sp>
        <p:nvSpPr>
          <p:cNvPr id="3" name="object 3"/>
          <p:cNvSpPr txBox="1">
            <a:spLocks noGrp="1"/>
          </p:cNvSpPr>
          <p:nvPr>
            <p:ph type="body" idx="1"/>
          </p:nvPr>
        </p:nvSpPr>
        <p:spPr>
          <a:prstGeom prst="rect">
            <a:avLst/>
          </a:prstGeom>
        </p:spPr>
        <p:txBody>
          <a:bodyPr vert="horz" wrap="square" lIns="0" tIns="231139" rIns="0" bIns="0" rtlCol="0">
            <a:spAutoFit/>
          </a:bodyPr>
          <a:lstStyle/>
          <a:p>
            <a:pPr marL="469900" marR="5080" indent="-457200" algn="just">
              <a:lnSpc>
                <a:spcPts val="3000"/>
              </a:lnSpc>
              <a:spcBef>
                <a:spcPts val="500"/>
              </a:spcBef>
              <a:buAutoNum type="arabicPeriod"/>
              <a:tabLst>
                <a:tab pos="469900" algn="l"/>
              </a:tabLst>
            </a:pPr>
            <a:r>
              <a:rPr b="1" dirty="0">
                <a:latin typeface="Calibri"/>
                <a:cs typeface="Calibri"/>
              </a:rPr>
              <a:t>The</a:t>
            </a:r>
            <a:r>
              <a:rPr b="1" spc="250" dirty="0">
                <a:latin typeface="Calibri"/>
                <a:cs typeface="Calibri"/>
              </a:rPr>
              <a:t> </a:t>
            </a:r>
            <a:r>
              <a:rPr b="1" dirty="0">
                <a:latin typeface="Calibri"/>
                <a:cs typeface="Calibri"/>
              </a:rPr>
              <a:t>Implementation</a:t>
            </a:r>
            <a:r>
              <a:rPr b="1" spc="245" dirty="0">
                <a:latin typeface="Calibri"/>
                <a:cs typeface="Calibri"/>
              </a:rPr>
              <a:t> </a:t>
            </a:r>
            <a:r>
              <a:rPr b="1" dirty="0">
                <a:latin typeface="Calibri"/>
                <a:cs typeface="Calibri"/>
              </a:rPr>
              <a:t>Gap</a:t>
            </a:r>
            <a:r>
              <a:rPr dirty="0"/>
              <a:t>:</a:t>
            </a:r>
            <a:r>
              <a:rPr spc="250" dirty="0"/>
              <a:t> </a:t>
            </a:r>
            <a:r>
              <a:rPr dirty="0"/>
              <a:t>lack</a:t>
            </a:r>
            <a:r>
              <a:rPr spc="250" dirty="0"/>
              <a:t> </a:t>
            </a:r>
            <a:r>
              <a:rPr dirty="0"/>
              <a:t>of</a:t>
            </a:r>
            <a:r>
              <a:rPr spc="240" dirty="0"/>
              <a:t> </a:t>
            </a:r>
            <a:r>
              <a:rPr dirty="0"/>
              <a:t>understanding</a:t>
            </a:r>
            <a:r>
              <a:rPr spc="235" dirty="0"/>
              <a:t> </a:t>
            </a:r>
            <a:r>
              <a:rPr dirty="0"/>
              <a:t>and</a:t>
            </a:r>
            <a:r>
              <a:rPr spc="250" dirty="0"/>
              <a:t> </a:t>
            </a:r>
            <a:r>
              <a:rPr dirty="0"/>
              <a:t>consensus</a:t>
            </a:r>
            <a:r>
              <a:rPr spc="254" dirty="0"/>
              <a:t> </a:t>
            </a:r>
            <a:r>
              <a:rPr spc="-25" dirty="0"/>
              <a:t>of </a:t>
            </a:r>
            <a:r>
              <a:rPr spc="-10" dirty="0"/>
              <a:t>organization</a:t>
            </a:r>
            <a:r>
              <a:rPr spc="-65" dirty="0"/>
              <a:t> </a:t>
            </a:r>
            <a:r>
              <a:rPr spc="-10" dirty="0"/>
              <a:t>strategy</a:t>
            </a:r>
            <a:r>
              <a:rPr spc="-70" dirty="0"/>
              <a:t> </a:t>
            </a:r>
            <a:r>
              <a:rPr dirty="0"/>
              <a:t>among</a:t>
            </a:r>
            <a:r>
              <a:rPr spc="-70" dirty="0"/>
              <a:t> </a:t>
            </a:r>
            <a:r>
              <a:rPr dirty="0"/>
              <a:t>top</a:t>
            </a:r>
            <a:r>
              <a:rPr spc="-60" dirty="0"/>
              <a:t> </a:t>
            </a:r>
            <a:r>
              <a:rPr dirty="0"/>
              <a:t>and</a:t>
            </a:r>
            <a:r>
              <a:rPr spc="-65" dirty="0"/>
              <a:t> </a:t>
            </a:r>
            <a:r>
              <a:rPr spc="-10" dirty="0"/>
              <a:t>middle-</a:t>
            </a:r>
            <a:r>
              <a:rPr dirty="0"/>
              <a:t>level</a:t>
            </a:r>
            <a:r>
              <a:rPr spc="-75" dirty="0"/>
              <a:t> </a:t>
            </a:r>
            <a:r>
              <a:rPr spc="-10" dirty="0"/>
              <a:t>managers.</a:t>
            </a:r>
          </a:p>
          <a:p>
            <a:pPr marL="469900" marR="5080" indent="-457200" algn="just">
              <a:lnSpc>
                <a:spcPct val="90200"/>
              </a:lnSpc>
              <a:spcBef>
                <a:spcPts val="910"/>
              </a:spcBef>
              <a:buAutoNum type="arabicPeriod"/>
              <a:tabLst>
                <a:tab pos="469900" algn="l"/>
              </a:tabLst>
            </a:pPr>
            <a:r>
              <a:rPr b="1" dirty="0">
                <a:latin typeface="Calibri"/>
                <a:cs typeface="Calibri"/>
              </a:rPr>
              <a:t>Organization</a:t>
            </a:r>
            <a:r>
              <a:rPr b="1" spc="509" dirty="0">
                <a:latin typeface="Calibri"/>
                <a:cs typeface="Calibri"/>
              </a:rPr>
              <a:t> </a:t>
            </a:r>
            <a:r>
              <a:rPr b="1" dirty="0">
                <a:latin typeface="Calibri"/>
                <a:cs typeface="Calibri"/>
              </a:rPr>
              <a:t>Politics:</a:t>
            </a:r>
            <a:r>
              <a:rPr b="1" spc="515" dirty="0">
                <a:latin typeface="Calibri"/>
                <a:cs typeface="Calibri"/>
              </a:rPr>
              <a:t> </a:t>
            </a:r>
            <a:r>
              <a:rPr dirty="0">
                <a:solidFill>
                  <a:srgbClr val="262EA4"/>
                </a:solidFill>
              </a:rPr>
              <a:t>Politics</a:t>
            </a:r>
            <a:r>
              <a:rPr spc="520" dirty="0">
                <a:solidFill>
                  <a:srgbClr val="262EA4"/>
                </a:solidFill>
              </a:rPr>
              <a:t> </a:t>
            </a:r>
            <a:r>
              <a:rPr dirty="0">
                <a:solidFill>
                  <a:srgbClr val="262EA4"/>
                </a:solidFill>
              </a:rPr>
              <a:t>exist</a:t>
            </a:r>
            <a:r>
              <a:rPr spc="515" dirty="0">
                <a:solidFill>
                  <a:srgbClr val="262EA4"/>
                </a:solidFill>
              </a:rPr>
              <a:t> </a:t>
            </a:r>
            <a:r>
              <a:rPr dirty="0">
                <a:solidFill>
                  <a:srgbClr val="262EA4"/>
                </a:solidFill>
              </a:rPr>
              <a:t>in</a:t>
            </a:r>
            <a:r>
              <a:rPr spc="509" dirty="0">
                <a:solidFill>
                  <a:srgbClr val="262EA4"/>
                </a:solidFill>
              </a:rPr>
              <a:t> </a:t>
            </a:r>
            <a:r>
              <a:rPr dirty="0">
                <a:solidFill>
                  <a:srgbClr val="262EA4"/>
                </a:solidFill>
              </a:rPr>
              <a:t>every</a:t>
            </a:r>
            <a:r>
              <a:rPr spc="509" dirty="0">
                <a:solidFill>
                  <a:srgbClr val="262EA4"/>
                </a:solidFill>
              </a:rPr>
              <a:t> </a:t>
            </a:r>
            <a:r>
              <a:rPr dirty="0">
                <a:solidFill>
                  <a:srgbClr val="262EA4"/>
                </a:solidFill>
              </a:rPr>
              <a:t>organization</a:t>
            </a:r>
            <a:r>
              <a:rPr spc="515" dirty="0">
                <a:solidFill>
                  <a:srgbClr val="262EA4"/>
                </a:solidFill>
              </a:rPr>
              <a:t> </a:t>
            </a:r>
            <a:r>
              <a:rPr dirty="0">
                <a:solidFill>
                  <a:srgbClr val="262EA4"/>
                </a:solidFill>
              </a:rPr>
              <a:t>and</a:t>
            </a:r>
            <a:r>
              <a:rPr spc="520" dirty="0">
                <a:solidFill>
                  <a:srgbClr val="262EA4"/>
                </a:solidFill>
              </a:rPr>
              <a:t> </a:t>
            </a:r>
            <a:r>
              <a:rPr spc="-25" dirty="0">
                <a:solidFill>
                  <a:srgbClr val="262EA4"/>
                </a:solidFill>
              </a:rPr>
              <a:t>can </a:t>
            </a:r>
            <a:r>
              <a:rPr dirty="0">
                <a:solidFill>
                  <a:srgbClr val="262EA4"/>
                </a:solidFill>
              </a:rPr>
              <a:t>have</a:t>
            </a:r>
            <a:r>
              <a:rPr spc="285" dirty="0">
                <a:solidFill>
                  <a:srgbClr val="262EA4"/>
                </a:solidFill>
              </a:rPr>
              <a:t> </a:t>
            </a:r>
            <a:r>
              <a:rPr dirty="0">
                <a:solidFill>
                  <a:srgbClr val="262EA4"/>
                </a:solidFill>
              </a:rPr>
              <a:t>a</a:t>
            </a:r>
            <a:r>
              <a:rPr spc="285" dirty="0">
                <a:solidFill>
                  <a:srgbClr val="262EA4"/>
                </a:solidFill>
              </a:rPr>
              <a:t> </a:t>
            </a:r>
            <a:r>
              <a:rPr dirty="0">
                <a:solidFill>
                  <a:srgbClr val="262EA4"/>
                </a:solidFill>
              </a:rPr>
              <a:t>significant</a:t>
            </a:r>
            <a:r>
              <a:rPr spc="285" dirty="0">
                <a:solidFill>
                  <a:srgbClr val="262EA4"/>
                </a:solidFill>
              </a:rPr>
              <a:t> </a:t>
            </a:r>
            <a:r>
              <a:rPr dirty="0">
                <a:solidFill>
                  <a:srgbClr val="262EA4"/>
                </a:solidFill>
              </a:rPr>
              <a:t>influence</a:t>
            </a:r>
            <a:r>
              <a:rPr spc="285" dirty="0">
                <a:solidFill>
                  <a:srgbClr val="262EA4"/>
                </a:solidFill>
              </a:rPr>
              <a:t> </a:t>
            </a:r>
            <a:r>
              <a:rPr dirty="0">
                <a:solidFill>
                  <a:srgbClr val="262EA4"/>
                </a:solidFill>
              </a:rPr>
              <a:t>on</a:t>
            </a:r>
            <a:r>
              <a:rPr spc="295" dirty="0">
                <a:solidFill>
                  <a:srgbClr val="262EA4"/>
                </a:solidFill>
              </a:rPr>
              <a:t> </a:t>
            </a:r>
            <a:r>
              <a:rPr dirty="0">
                <a:solidFill>
                  <a:srgbClr val="262EA4"/>
                </a:solidFill>
              </a:rPr>
              <a:t>which</a:t>
            </a:r>
            <a:r>
              <a:rPr spc="295" dirty="0">
                <a:solidFill>
                  <a:srgbClr val="262EA4"/>
                </a:solidFill>
              </a:rPr>
              <a:t> </a:t>
            </a:r>
            <a:r>
              <a:rPr dirty="0">
                <a:solidFill>
                  <a:srgbClr val="262EA4"/>
                </a:solidFill>
              </a:rPr>
              <a:t>projects</a:t>
            </a:r>
            <a:r>
              <a:rPr spc="295" dirty="0">
                <a:solidFill>
                  <a:srgbClr val="262EA4"/>
                </a:solidFill>
              </a:rPr>
              <a:t> </a:t>
            </a:r>
            <a:r>
              <a:rPr dirty="0">
                <a:solidFill>
                  <a:srgbClr val="262EA4"/>
                </a:solidFill>
              </a:rPr>
              <a:t>receive</a:t>
            </a:r>
            <a:r>
              <a:rPr spc="280" dirty="0">
                <a:solidFill>
                  <a:srgbClr val="262EA4"/>
                </a:solidFill>
              </a:rPr>
              <a:t> </a:t>
            </a:r>
            <a:r>
              <a:rPr dirty="0">
                <a:solidFill>
                  <a:srgbClr val="262EA4"/>
                </a:solidFill>
              </a:rPr>
              <a:t>funding</a:t>
            </a:r>
            <a:r>
              <a:rPr spc="290" dirty="0">
                <a:solidFill>
                  <a:srgbClr val="262EA4"/>
                </a:solidFill>
              </a:rPr>
              <a:t> </a:t>
            </a:r>
            <a:r>
              <a:rPr spc="-25" dirty="0">
                <a:solidFill>
                  <a:srgbClr val="262EA4"/>
                </a:solidFill>
              </a:rPr>
              <a:t>and </a:t>
            </a:r>
            <a:r>
              <a:rPr dirty="0">
                <a:solidFill>
                  <a:srgbClr val="262EA4"/>
                </a:solidFill>
              </a:rPr>
              <a:t>high</a:t>
            </a:r>
            <a:r>
              <a:rPr spc="-15" dirty="0">
                <a:solidFill>
                  <a:srgbClr val="262EA4"/>
                </a:solidFill>
              </a:rPr>
              <a:t> </a:t>
            </a:r>
            <a:r>
              <a:rPr spc="-10" dirty="0">
                <a:solidFill>
                  <a:srgbClr val="262EA4"/>
                </a:solidFill>
              </a:rPr>
              <a:t>priority.</a:t>
            </a:r>
            <a:r>
              <a:rPr spc="-15" dirty="0">
                <a:solidFill>
                  <a:srgbClr val="262EA4"/>
                </a:solidFill>
              </a:rPr>
              <a:t> </a:t>
            </a:r>
            <a:r>
              <a:rPr dirty="0">
                <a:solidFill>
                  <a:srgbClr val="262EA4"/>
                </a:solidFill>
              </a:rPr>
              <a:t>This</a:t>
            </a:r>
            <a:r>
              <a:rPr spc="-15" dirty="0">
                <a:solidFill>
                  <a:srgbClr val="262EA4"/>
                </a:solidFill>
              </a:rPr>
              <a:t> </a:t>
            </a:r>
            <a:r>
              <a:rPr dirty="0">
                <a:solidFill>
                  <a:srgbClr val="262EA4"/>
                </a:solidFill>
              </a:rPr>
              <a:t>is</a:t>
            </a:r>
            <a:r>
              <a:rPr spc="-15" dirty="0">
                <a:solidFill>
                  <a:srgbClr val="262EA4"/>
                </a:solidFill>
              </a:rPr>
              <a:t> </a:t>
            </a:r>
            <a:r>
              <a:rPr dirty="0">
                <a:solidFill>
                  <a:srgbClr val="262EA4"/>
                </a:solidFill>
              </a:rPr>
              <a:t>especially</a:t>
            </a:r>
            <a:r>
              <a:rPr spc="-15" dirty="0">
                <a:solidFill>
                  <a:srgbClr val="262EA4"/>
                </a:solidFill>
              </a:rPr>
              <a:t> </a:t>
            </a:r>
            <a:r>
              <a:rPr dirty="0">
                <a:solidFill>
                  <a:srgbClr val="262EA4"/>
                </a:solidFill>
              </a:rPr>
              <a:t>true</a:t>
            </a:r>
            <a:r>
              <a:rPr spc="-25" dirty="0">
                <a:solidFill>
                  <a:srgbClr val="262EA4"/>
                </a:solidFill>
              </a:rPr>
              <a:t> </a:t>
            </a:r>
            <a:r>
              <a:rPr dirty="0">
                <a:solidFill>
                  <a:srgbClr val="262EA4"/>
                </a:solidFill>
              </a:rPr>
              <a:t>when</a:t>
            </a:r>
            <a:r>
              <a:rPr spc="-15" dirty="0">
                <a:solidFill>
                  <a:srgbClr val="262EA4"/>
                </a:solidFill>
              </a:rPr>
              <a:t> </a:t>
            </a:r>
            <a:r>
              <a:rPr dirty="0">
                <a:solidFill>
                  <a:srgbClr val="262EA4"/>
                </a:solidFill>
              </a:rPr>
              <a:t>the</a:t>
            </a:r>
            <a:r>
              <a:rPr spc="-20" dirty="0">
                <a:solidFill>
                  <a:srgbClr val="262EA4"/>
                </a:solidFill>
              </a:rPr>
              <a:t> </a:t>
            </a:r>
            <a:r>
              <a:rPr dirty="0">
                <a:solidFill>
                  <a:srgbClr val="262EA4"/>
                </a:solidFill>
              </a:rPr>
              <a:t>criteria</a:t>
            </a:r>
            <a:r>
              <a:rPr spc="-25" dirty="0">
                <a:solidFill>
                  <a:srgbClr val="262EA4"/>
                </a:solidFill>
              </a:rPr>
              <a:t> </a:t>
            </a:r>
            <a:r>
              <a:rPr dirty="0">
                <a:solidFill>
                  <a:srgbClr val="262EA4"/>
                </a:solidFill>
              </a:rPr>
              <a:t>and</a:t>
            </a:r>
            <a:r>
              <a:rPr spc="-10" dirty="0">
                <a:solidFill>
                  <a:srgbClr val="262EA4"/>
                </a:solidFill>
              </a:rPr>
              <a:t> </a:t>
            </a:r>
            <a:r>
              <a:rPr dirty="0">
                <a:solidFill>
                  <a:srgbClr val="262EA4"/>
                </a:solidFill>
              </a:rPr>
              <a:t>process</a:t>
            </a:r>
            <a:r>
              <a:rPr spc="-15" dirty="0">
                <a:solidFill>
                  <a:srgbClr val="262EA4"/>
                </a:solidFill>
              </a:rPr>
              <a:t> </a:t>
            </a:r>
            <a:r>
              <a:rPr spc="-25" dirty="0">
                <a:solidFill>
                  <a:srgbClr val="262EA4"/>
                </a:solidFill>
              </a:rPr>
              <a:t>for </a:t>
            </a:r>
            <a:r>
              <a:rPr dirty="0">
                <a:solidFill>
                  <a:srgbClr val="262EA4"/>
                </a:solidFill>
              </a:rPr>
              <a:t>selecting</a:t>
            </a:r>
            <a:r>
              <a:rPr spc="15" dirty="0">
                <a:solidFill>
                  <a:srgbClr val="262EA4"/>
                </a:solidFill>
              </a:rPr>
              <a:t> </a:t>
            </a:r>
            <a:r>
              <a:rPr dirty="0">
                <a:solidFill>
                  <a:srgbClr val="262EA4"/>
                </a:solidFill>
              </a:rPr>
              <a:t>projects</a:t>
            </a:r>
            <a:r>
              <a:rPr spc="35" dirty="0">
                <a:solidFill>
                  <a:srgbClr val="262EA4"/>
                </a:solidFill>
              </a:rPr>
              <a:t> </a:t>
            </a:r>
            <a:r>
              <a:rPr dirty="0">
                <a:solidFill>
                  <a:srgbClr val="262EA4"/>
                </a:solidFill>
              </a:rPr>
              <a:t>are</a:t>
            </a:r>
            <a:r>
              <a:rPr spc="30" dirty="0">
                <a:solidFill>
                  <a:srgbClr val="262EA4"/>
                </a:solidFill>
              </a:rPr>
              <a:t> </a:t>
            </a:r>
            <a:r>
              <a:rPr spc="-10" dirty="0">
                <a:solidFill>
                  <a:srgbClr val="262EA4"/>
                </a:solidFill>
              </a:rPr>
              <a:t>ill-</a:t>
            </a:r>
            <a:r>
              <a:rPr dirty="0">
                <a:solidFill>
                  <a:srgbClr val="262EA4"/>
                </a:solidFill>
              </a:rPr>
              <a:t>defined</a:t>
            </a:r>
            <a:r>
              <a:rPr spc="25" dirty="0">
                <a:solidFill>
                  <a:srgbClr val="262EA4"/>
                </a:solidFill>
              </a:rPr>
              <a:t> </a:t>
            </a:r>
            <a:r>
              <a:rPr dirty="0">
                <a:solidFill>
                  <a:srgbClr val="262EA4"/>
                </a:solidFill>
              </a:rPr>
              <a:t>and</a:t>
            </a:r>
            <a:r>
              <a:rPr spc="40" dirty="0">
                <a:solidFill>
                  <a:srgbClr val="262EA4"/>
                </a:solidFill>
              </a:rPr>
              <a:t> </a:t>
            </a:r>
            <a:r>
              <a:rPr dirty="0">
                <a:solidFill>
                  <a:srgbClr val="262EA4"/>
                </a:solidFill>
              </a:rPr>
              <a:t>not</a:t>
            </a:r>
            <a:r>
              <a:rPr spc="35" dirty="0">
                <a:solidFill>
                  <a:srgbClr val="262EA4"/>
                </a:solidFill>
              </a:rPr>
              <a:t> </a:t>
            </a:r>
            <a:r>
              <a:rPr dirty="0">
                <a:solidFill>
                  <a:srgbClr val="262EA4"/>
                </a:solidFill>
              </a:rPr>
              <a:t>aligned</a:t>
            </a:r>
            <a:r>
              <a:rPr spc="25" dirty="0">
                <a:solidFill>
                  <a:srgbClr val="262EA4"/>
                </a:solidFill>
              </a:rPr>
              <a:t> </a:t>
            </a:r>
            <a:r>
              <a:rPr dirty="0">
                <a:solidFill>
                  <a:srgbClr val="262EA4"/>
                </a:solidFill>
              </a:rPr>
              <a:t>with</a:t>
            </a:r>
            <a:r>
              <a:rPr spc="45" dirty="0">
                <a:solidFill>
                  <a:srgbClr val="262EA4"/>
                </a:solidFill>
              </a:rPr>
              <a:t> </a:t>
            </a:r>
            <a:r>
              <a:rPr dirty="0">
                <a:solidFill>
                  <a:srgbClr val="262EA4"/>
                </a:solidFill>
              </a:rPr>
              <a:t>the</a:t>
            </a:r>
            <a:r>
              <a:rPr spc="30" dirty="0">
                <a:solidFill>
                  <a:srgbClr val="262EA4"/>
                </a:solidFill>
              </a:rPr>
              <a:t> </a:t>
            </a:r>
            <a:r>
              <a:rPr dirty="0">
                <a:solidFill>
                  <a:srgbClr val="262EA4"/>
                </a:solidFill>
              </a:rPr>
              <a:t>mission</a:t>
            </a:r>
            <a:r>
              <a:rPr spc="30" dirty="0">
                <a:solidFill>
                  <a:srgbClr val="262EA4"/>
                </a:solidFill>
              </a:rPr>
              <a:t> </a:t>
            </a:r>
            <a:r>
              <a:rPr spc="-25" dirty="0">
                <a:solidFill>
                  <a:srgbClr val="262EA4"/>
                </a:solidFill>
              </a:rPr>
              <a:t>of </a:t>
            </a:r>
            <a:r>
              <a:rPr dirty="0">
                <a:solidFill>
                  <a:srgbClr val="262EA4"/>
                </a:solidFill>
              </a:rPr>
              <a:t>the</a:t>
            </a:r>
            <a:r>
              <a:rPr spc="-30" dirty="0">
                <a:solidFill>
                  <a:srgbClr val="262EA4"/>
                </a:solidFill>
              </a:rPr>
              <a:t> </a:t>
            </a:r>
            <a:r>
              <a:rPr spc="-20" dirty="0">
                <a:solidFill>
                  <a:srgbClr val="262EA4"/>
                </a:solidFill>
              </a:rPr>
              <a:t>firm</a:t>
            </a:r>
          </a:p>
          <a:p>
            <a:pPr marL="469900" marR="5080" indent="-457200" algn="just">
              <a:lnSpc>
                <a:spcPts val="3000"/>
              </a:lnSpc>
              <a:spcBef>
                <a:spcPts val="1120"/>
              </a:spcBef>
              <a:buAutoNum type="arabicPeriod"/>
              <a:tabLst>
                <a:tab pos="469900" algn="l"/>
              </a:tabLst>
            </a:pPr>
            <a:r>
              <a:rPr b="1" dirty="0">
                <a:latin typeface="Calibri"/>
                <a:cs typeface="Calibri"/>
              </a:rPr>
              <a:t>Resource</a:t>
            </a:r>
            <a:r>
              <a:rPr b="1" spc="660" dirty="0">
                <a:latin typeface="Calibri"/>
                <a:cs typeface="Calibri"/>
              </a:rPr>
              <a:t> </a:t>
            </a:r>
            <a:r>
              <a:rPr b="1" dirty="0">
                <a:latin typeface="Calibri"/>
                <a:cs typeface="Calibri"/>
              </a:rPr>
              <a:t>Conflicts</a:t>
            </a:r>
            <a:r>
              <a:rPr b="1" spc="660" dirty="0">
                <a:latin typeface="Calibri"/>
                <a:cs typeface="Calibri"/>
              </a:rPr>
              <a:t> </a:t>
            </a:r>
            <a:r>
              <a:rPr b="1" dirty="0">
                <a:latin typeface="Calibri"/>
                <a:cs typeface="Calibri"/>
              </a:rPr>
              <a:t>and</a:t>
            </a:r>
            <a:r>
              <a:rPr b="1" spc="660" dirty="0">
                <a:latin typeface="Calibri"/>
                <a:cs typeface="Calibri"/>
              </a:rPr>
              <a:t> </a:t>
            </a:r>
            <a:r>
              <a:rPr b="1" dirty="0">
                <a:latin typeface="Calibri"/>
                <a:cs typeface="Calibri"/>
              </a:rPr>
              <a:t>Multitasking:</a:t>
            </a:r>
            <a:r>
              <a:rPr b="1" spc="660" dirty="0">
                <a:latin typeface="Calibri"/>
                <a:cs typeface="Calibri"/>
              </a:rPr>
              <a:t> </a:t>
            </a:r>
            <a:r>
              <a:rPr dirty="0"/>
              <a:t>Most</a:t>
            </a:r>
            <a:r>
              <a:rPr spc="665" dirty="0"/>
              <a:t> </a:t>
            </a:r>
            <a:r>
              <a:rPr dirty="0"/>
              <a:t>project</a:t>
            </a:r>
            <a:r>
              <a:rPr spc="660" dirty="0"/>
              <a:t> </a:t>
            </a:r>
            <a:r>
              <a:rPr spc="-10" dirty="0"/>
              <a:t>organizations </a:t>
            </a:r>
            <a:r>
              <a:rPr dirty="0"/>
              <a:t>exist</a:t>
            </a:r>
            <a:r>
              <a:rPr spc="325" dirty="0"/>
              <a:t> </a:t>
            </a:r>
            <a:r>
              <a:rPr dirty="0"/>
              <a:t>in</a:t>
            </a:r>
            <a:r>
              <a:rPr spc="335" dirty="0"/>
              <a:t> </a:t>
            </a:r>
            <a:r>
              <a:rPr dirty="0"/>
              <a:t>a</a:t>
            </a:r>
            <a:r>
              <a:rPr spc="325" dirty="0"/>
              <a:t> </a:t>
            </a:r>
            <a:r>
              <a:rPr dirty="0"/>
              <a:t>multiproject</a:t>
            </a:r>
            <a:r>
              <a:rPr spc="325" dirty="0"/>
              <a:t> </a:t>
            </a:r>
            <a:r>
              <a:rPr dirty="0"/>
              <a:t>environment.</a:t>
            </a:r>
            <a:r>
              <a:rPr spc="335" dirty="0"/>
              <a:t> </a:t>
            </a:r>
            <a:r>
              <a:rPr dirty="0"/>
              <a:t>This</a:t>
            </a:r>
            <a:r>
              <a:rPr spc="330" dirty="0"/>
              <a:t> </a:t>
            </a:r>
            <a:r>
              <a:rPr dirty="0"/>
              <a:t>environment</a:t>
            </a:r>
            <a:r>
              <a:rPr spc="335" dirty="0"/>
              <a:t> </a:t>
            </a:r>
            <a:r>
              <a:rPr dirty="0"/>
              <a:t>creates</a:t>
            </a:r>
            <a:r>
              <a:rPr spc="335" dirty="0"/>
              <a:t> </a:t>
            </a:r>
            <a:r>
              <a:rPr spc="-25" dirty="0"/>
              <a:t>the </a:t>
            </a:r>
            <a:r>
              <a:rPr dirty="0"/>
              <a:t>problems</a:t>
            </a:r>
            <a:r>
              <a:rPr spc="265" dirty="0"/>
              <a:t>  </a:t>
            </a:r>
            <a:r>
              <a:rPr dirty="0"/>
              <a:t>of</a:t>
            </a:r>
            <a:r>
              <a:rPr spc="260" dirty="0"/>
              <a:t>  </a:t>
            </a:r>
            <a:r>
              <a:rPr dirty="0"/>
              <a:t>project</a:t>
            </a:r>
            <a:r>
              <a:rPr spc="265" dirty="0"/>
              <a:t>  </a:t>
            </a:r>
            <a:r>
              <a:rPr dirty="0"/>
              <a:t>interdependency</a:t>
            </a:r>
            <a:r>
              <a:rPr spc="265" dirty="0"/>
              <a:t>  </a:t>
            </a:r>
            <a:r>
              <a:rPr dirty="0"/>
              <a:t>and</a:t>
            </a:r>
            <a:r>
              <a:rPr spc="265" dirty="0"/>
              <a:t>  </a:t>
            </a:r>
            <a:r>
              <a:rPr dirty="0"/>
              <a:t>the</a:t>
            </a:r>
            <a:r>
              <a:rPr spc="265" dirty="0"/>
              <a:t>  </a:t>
            </a:r>
            <a:r>
              <a:rPr dirty="0"/>
              <a:t>need</a:t>
            </a:r>
            <a:r>
              <a:rPr spc="265" dirty="0"/>
              <a:t>  </a:t>
            </a:r>
            <a:r>
              <a:rPr dirty="0"/>
              <a:t>to</a:t>
            </a:r>
            <a:r>
              <a:rPr spc="265" dirty="0"/>
              <a:t>  </a:t>
            </a:r>
            <a:r>
              <a:rPr spc="-10" dirty="0"/>
              <a:t>share resources</a:t>
            </a:r>
          </a:p>
        </p:txBody>
      </p:sp>
      <p:pic>
        <p:nvPicPr>
          <p:cNvPr id="5" name="Picture 4">
            <a:extLst>
              <a:ext uri="{FF2B5EF4-FFF2-40B4-BE49-F238E27FC236}">
                <a16:creationId xmlns:a16="http://schemas.microsoft.com/office/drawing/2014/main" id="{72A625B6-1048-A84F-8CBD-5FE60648AA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Classification of the Project</a:t>
            </a: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18</a:t>
            </a:r>
            <a:endParaRPr sz="1200">
              <a:latin typeface="Calibri"/>
              <a:cs typeface="Calibri"/>
            </a:endParaRPr>
          </a:p>
        </p:txBody>
      </p:sp>
      <p:pic>
        <p:nvPicPr>
          <p:cNvPr id="4" name="object 4"/>
          <p:cNvPicPr/>
          <p:nvPr/>
        </p:nvPicPr>
        <p:blipFill>
          <a:blip r:embed="rId2" cstate="print"/>
          <a:stretch>
            <a:fillRect/>
          </a:stretch>
        </p:blipFill>
        <p:spPr>
          <a:xfrm>
            <a:off x="4526279" y="1549877"/>
            <a:ext cx="3536950" cy="2741404"/>
          </a:xfrm>
          <a:prstGeom prst="rect">
            <a:avLst/>
          </a:prstGeom>
        </p:spPr>
      </p:pic>
      <p:sp>
        <p:nvSpPr>
          <p:cNvPr id="5" name="object 5"/>
          <p:cNvSpPr txBox="1"/>
          <p:nvPr/>
        </p:nvSpPr>
        <p:spPr>
          <a:xfrm>
            <a:off x="704213" y="4198620"/>
            <a:ext cx="10967720" cy="2463800"/>
          </a:xfrm>
          <a:prstGeom prst="rect">
            <a:avLst/>
          </a:prstGeom>
        </p:spPr>
        <p:txBody>
          <a:bodyPr vert="horz" wrap="square" lIns="0" tIns="12700" rIns="0" bIns="0" rtlCol="0">
            <a:spAutoFit/>
          </a:bodyPr>
          <a:lstStyle/>
          <a:p>
            <a:pPr marL="295910" marR="6350" indent="-283210" algn="just">
              <a:lnSpc>
                <a:spcPct val="100000"/>
              </a:lnSpc>
              <a:spcBef>
                <a:spcPts val="100"/>
              </a:spcBef>
              <a:buFont typeface="Arial MT"/>
              <a:buChar char="•"/>
              <a:tabLst>
                <a:tab pos="298450" algn="l"/>
              </a:tabLst>
            </a:pPr>
            <a:r>
              <a:rPr sz="2000" b="1" dirty="0">
                <a:latin typeface="Calibri"/>
                <a:cs typeface="Calibri"/>
              </a:rPr>
              <a:t>Compliance</a:t>
            </a:r>
            <a:r>
              <a:rPr sz="2000" b="1" spc="-45" dirty="0">
                <a:latin typeface="Calibri"/>
                <a:cs typeface="Calibri"/>
              </a:rPr>
              <a:t> </a:t>
            </a:r>
            <a:r>
              <a:rPr sz="2000" b="1" dirty="0">
                <a:latin typeface="Calibri"/>
                <a:cs typeface="Calibri"/>
              </a:rPr>
              <a:t>/</a:t>
            </a:r>
            <a:r>
              <a:rPr sz="2000" b="1" spc="-40" dirty="0">
                <a:latin typeface="Calibri"/>
                <a:cs typeface="Calibri"/>
              </a:rPr>
              <a:t> </a:t>
            </a:r>
            <a:r>
              <a:rPr sz="2000" b="1" spc="-10" dirty="0">
                <a:latin typeface="Calibri"/>
                <a:cs typeface="Calibri"/>
              </a:rPr>
              <a:t>Emergency</a:t>
            </a:r>
            <a:r>
              <a:rPr sz="2000" b="1" spc="-40" dirty="0">
                <a:latin typeface="Calibri"/>
                <a:cs typeface="Calibri"/>
              </a:rPr>
              <a:t> </a:t>
            </a:r>
            <a:r>
              <a:rPr sz="2000" b="1" dirty="0">
                <a:latin typeface="Calibri"/>
                <a:cs typeface="Calibri"/>
              </a:rPr>
              <a:t>projects</a:t>
            </a:r>
            <a:r>
              <a:rPr sz="2000" b="1" spc="-45" dirty="0">
                <a:latin typeface="Calibri"/>
                <a:cs typeface="Calibri"/>
              </a:rPr>
              <a:t> </a:t>
            </a:r>
            <a:r>
              <a:rPr sz="2000" dirty="0">
                <a:latin typeface="Calibri"/>
                <a:cs typeface="Calibri"/>
              </a:rPr>
              <a:t>are</a:t>
            </a:r>
            <a:r>
              <a:rPr sz="2000" spc="-40" dirty="0">
                <a:latin typeface="Calibri"/>
                <a:cs typeface="Calibri"/>
              </a:rPr>
              <a:t> </a:t>
            </a:r>
            <a:r>
              <a:rPr sz="2000" dirty="0">
                <a:latin typeface="Calibri"/>
                <a:cs typeface="Calibri"/>
              </a:rPr>
              <a:t>typically</a:t>
            </a:r>
            <a:r>
              <a:rPr sz="2000" spc="-50" dirty="0">
                <a:latin typeface="Calibri"/>
                <a:cs typeface="Calibri"/>
              </a:rPr>
              <a:t> </a:t>
            </a:r>
            <a:r>
              <a:rPr sz="2000" dirty="0">
                <a:latin typeface="Calibri"/>
                <a:cs typeface="Calibri"/>
              </a:rPr>
              <a:t>those</a:t>
            </a:r>
            <a:r>
              <a:rPr sz="2000" spc="-40" dirty="0">
                <a:latin typeface="Calibri"/>
                <a:cs typeface="Calibri"/>
              </a:rPr>
              <a:t> </a:t>
            </a:r>
            <a:r>
              <a:rPr sz="2000" dirty="0">
                <a:latin typeface="Calibri"/>
                <a:cs typeface="Calibri"/>
              </a:rPr>
              <a:t>needed</a:t>
            </a:r>
            <a:r>
              <a:rPr sz="2000" spc="-50" dirty="0">
                <a:latin typeface="Calibri"/>
                <a:cs typeface="Calibri"/>
              </a:rPr>
              <a:t> </a:t>
            </a:r>
            <a:r>
              <a:rPr sz="2000" dirty="0">
                <a:latin typeface="Calibri"/>
                <a:cs typeface="Calibri"/>
              </a:rPr>
              <a:t>to</a:t>
            </a:r>
            <a:r>
              <a:rPr sz="2000" spc="-50" dirty="0">
                <a:latin typeface="Calibri"/>
                <a:cs typeface="Calibri"/>
              </a:rPr>
              <a:t> </a:t>
            </a:r>
            <a:r>
              <a:rPr sz="2000" dirty="0">
                <a:latin typeface="Calibri"/>
                <a:cs typeface="Calibri"/>
              </a:rPr>
              <a:t>meet</a:t>
            </a:r>
            <a:r>
              <a:rPr sz="2000" spc="-45" dirty="0">
                <a:latin typeface="Calibri"/>
                <a:cs typeface="Calibri"/>
              </a:rPr>
              <a:t> </a:t>
            </a:r>
            <a:r>
              <a:rPr sz="2000" spc="-10" dirty="0">
                <a:latin typeface="Calibri"/>
                <a:cs typeface="Calibri"/>
              </a:rPr>
              <a:t>regulatory</a:t>
            </a:r>
            <a:r>
              <a:rPr sz="2000" spc="-50" dirty="0">
                <a:latin typeface="Calibri"/>
                <a:cs typeface="Calibri"/>
              </a:rPr>
              <a:t> </a:t>
            </a:r>
            <a:r>
              <a:rPr sz="2000" dirty="0">
                <a:latin typeface="Calibri"/>
                <a:cs typeface="Calibri"/>
              </a:rPr>
              <a:t>conditions</a:t>
            </a:r>
            <a:r>
              <a:rPr sz="2000" spc="-40" dirty="0">
                <a:latin typeface="Calibri"/>
                <a:cs typeface="Calibri"/>
              </a:rPr>
              <a:t> </a:t>
            </a:r>
            <a:r>
              <a:rPr sz="2000" spc="-10" dirty="0">
                <a:latin typeface="Calibri"/>
                <a:cs typeface="Calibri"/>
              </a:rPr>
              <a:t>required</a:t>
            </a:r>
            <a:r>
              <a:rPr sz="2000" spc="-45" dirty="0">
                <a:latin typeface="Calibri"/>
                <a:cs typeface="Calibri"/>
              </a:rPr>
              <a:t> </a:t>
            </a:r>
            <a:r>
              <a:rPr sz="2000" spc="-25" dirty="0">
                <a:latin typeface="Calibri"/>
                <a:cs typeface="Calibri"/>
              </a:rPr>
              <a:t>to 	</a:t>
            </a:r>
            <a:r>
              <a:rPr sz="2000" spc="-10" dirty="0">
                <a:latin typeface="Calibri"/>
                <a:cs typeface="Calibri"/>
              </a:rPr>
              <a:t>operate</a:t>
            </a:r>
            <a:r>
              <a:rPr sz="2000" spc="-30" dirty="0">
                <a:latin typeface="Calibri"/>
                <a:cs typeface="Calibri"/>
              </a:rPr>
              <a:t> </a:t>
            </a:r>
            <a:r>
              <a:rPr sz="2000" dirty="0">
                <a:latin typeface="Calibri"/>
                <a:cs typeface="Calibri"/>
              </a:rPr>
              <a:t>in</a:t>
            </a:r>
            <a:r>
              <a:rPr sz="2000" spc="-30" dirty="0">
                <a:latin typeface="Calibri"/>
                <a:cs typeface="Calibri"/>
              </a:rPr>
              <a:t> </a:t>
            </a:r>
            <a:r>
              <a:rPr sz="2000" dirty="0">
                <a:latin typeface="Calibri"/>
                <a:cs typeface="Calibri"/>
              </a:rPr>
              <a:t>a</a:t>
            </a:r>
            <a:r>
              <a:rPr sz="2000" spc="-30" dirty="0">
                <a:latin typeface="Calibri"/>
                <a:cs typeface="Calibri"/>
              </a:rPr>
              <a:t> </a:t>
            </a:r>
            <a:r>
              <a:rPr sz="2000" dirty="0">
                <a:latin typeface="Calibri"/>
                <a:cs typeface="Calibri"/>
              </a:rPr>
              <a:t>region</a:t>
            </a:r>
            <a:r>
              <a:rPr sz="2000" spc="-30" dirty="0">
                <a:latin typeface="Calibri"/>
                <a:cs typeface="Calibri"/>
              </a:rPr>
              <a:t> </a:t>
            </a:r>
            <a:r>
              <a:rPr sz="2000" dirty="0">
                <a:latin typeface="Calibri"/>
                <a:cs typeface="Calibri"/>
              </a:rPr>
              <a:t>or</a:t>
            </a:r>
            <a:r>
              <a:rPr sz="2000" spc="-25" dirty="0">
                <a:latin typeface="Calibri"/>
                <a:cs typeface="Calibri"/>
              </a:rPr>
              <a:t> </a:t>
            </a:r>
            <a:r>
              <a:rPr sz="2000" dirty="0">
                <a:latin typeface="Calibri"/>
                <a:cs typeface="Calibri"/>
              </a:rPr>
              <a:t>emergency</a:t>
            </a:r>
            <a:r>
              <a:rPr sz="2000" spc="-40" dirty="0">
                <a:latin typeface="Calibri"/>
                <a:cs typeface="Calibri"/>
              </a:rPr>
              <a:t> </a:t>
            </a:r>
            <a:r>
              <a:rPr sz="2000" dirty="0">
                <a:latin typeface="Calibri"/>
                <a:cs typeface="Calibri"/>
              </a:rPr>
              <a:t>projects</a:t>
            </a:r>
            <a:r>
              <a:rPr sz="2000" spc="-25" dirty="0">
                <a:latin typeface="Calibri"/>
                <a:cs typeface="Calibri"/>
              </a:rPr>
              <a:t> </a:t>
            </a:r>
            <a:r>
              <a:rPr sz="2000" dirty="0">
                <a:latin typeface="Calibri"/>
                <a:cs typeface="Calibri"/>
              </a:rPr>
              <a:t>such</a:t>
            </a:r>
            <a:r>
              <a:rPr sz="2000" spc="-35" dirty="0">
                <a:latin typeface="Calibri"/>
                <a:cs typeface="Calibri"/>
              </a:rPr>
              <a:t> </a:t>
            </a:r>
            <a:r>
              <a:rPr sz="2000" dirty="0">
                <a:latin typeface="Calibri"/>
                <a:cs typeface="Calibri"/>
              </a:rPr>
              <a:t>as</a:t>
            </a:r>
            <a:r>
              <a:rPr sz="2000" spc="-20" dirty="0">
                <a:latin typeface="Calibri"/>
                <a:cs typeface="Calibri"/>
              </a:rPr>
              <a:t> </a:t>
            </a:r>
            <a:r>
              <a:rPr sz="2000" dirty="0">
                <a:latin typeface="Calibri"/>
                <a:cs typeface="Calibri"/>
              </a:rPr>
              <a:t>rebuilding</a:t>
            </a:r>
            <a:r>
              <a:rPr sz="2000" spc="-35" dirty="0">
                <a:latin typeface="Calibri"/>
                <a:cs typeface="Calibri"/>
              </a:rPr>
              <a:t> </a:t>
            </a:r>
            <a:r>
              <a:rPr sz="2000" dirty="0">
                <a:latin typeface="Calibri"/>
                <a:cs typeface="Calibri"/>
              </a:rPr>
              <a:t>a</a:t>
            </a:r>
            <a:r>
              <a:rPr sz="2000" spc="-20" dirty="0">
                <a:latin typeface="Calibri"/>
                <a:cs typeface="Calibri"/>
              </a:rPr>
              <a:t> </a:t>
            </a:r>
            <a:r>
              <a:rPr sz="2000" dirty="0">
                <a:latin typeface="Calibri"/>
                <a:cs typeface="Calibri"/>
              </a:rPr>
              <a:t>factory</a:t>
            </a:r>
            <a:r>
              <a:rPr sz="2000" spc="-35" dirty="0">
                <a:latin typeface="Calibri"/>
                <a:cs typeface="Calibri"/>
              </a:rPr>
              <a:t> </a:t>
            </a:r>
            <a:r>
              <a:rPr sz="2000" spc="-10" dirty="0">
                <a:latin typeface="Calibri"/>
                <a:cs typeface="Calibri"/>
              </a:rPr>
              <a:t>destroyed</a:t>
            </a:r>
            <a:r>
              <a:rPr sz="2000" spc="-30" dirty="0">
                <a:latin typeface="Calibri"/>
                <a:cs typeface="Calibri"/>
              </a:rPr>
              <a:t> </a:t>
            </a:r>
            <a:r>
              <a:rPr sz="2000" dirty="0">
                <a:latin typeface="Calibri"/>
                <a:cs typeface="Calibri"/>
              </a:rPr>
              <a:t>by</a:t>
            </a:r>
            <a:r>
              <a:rPr sz="2000" spc="-40" dirty="0">
                <a:latin typeface="Calibri"/>
                <a:cs typeface="Calibri"/>
              </a:rPr>
              <a:t> </a:t>
            </a:r>
            <a:r>
              <a:rPr sz="2000" dirty="0">
                <a:latin typeface="Calibri"/>
                <a:cs typeface="Calibri"/>
              </a:rPr>
              <a:t>fire.</a:t>
            </a:r>
            <a:r>
              <a:rPr sz="2000" spc="-30" dirty="0">
                <a:latin typeface="Calibri"/>
                <a:cs typeface="Calibri"/>
              </a:rPr>
              <a:t> </a:t>
            </a:r>
            <a:r>
              <a:rPr sz="2000" dirty="0">
                <a:latin typeface="Calibri"/>
                <a:cs typeface="Calibri"/>
              </a:rPr>
              <a:t>These</a:t>
            </a:r>
            <a:r>
              <a:rPr sz="2000" spc="-30" dirty="0">
                <a:latin typeface="Calibri"/>
                <a:cs typeface="Calibri"/>
              </a:rPr>
              <a:t> </a:t>
            </a:r>
            <a:r>
              <a:rPr sz="2000" spc="-10" dirty="0">
                <a:latin typeface="Calibri"/>
                <a:cs typeface="Calibri"/>
              </a:rPr>
              <a:t>projects 	</a:t>
            </a:r>
            <a:r>
              <a:rPr sz="2000" dirty="0">
                <a:latin typeface="Calibri"/>
                <a:cs typeface="Calibri"/>
              </a:rPr>
              <a:t>have</a:t>
            </a:r>
            <a:r>
              <a:rPr sz="2000" spc="-45" dirty="0">
                <a:latin typeface="Calibri"/>
                <a:cs typeface="Calibri"/>
              </a:rPr>
              <a:t> </a:t>
            </a:r>
            <a:r>
              <a:rPr sz="2000" dirty="0">
                <a:latin typeface="Calibri"/>
                <a:cs typeface="Calibri"/>
              </a:rPr>
              <a:t>penalties</a:t>
            </a:r>
            <a:r>
              <a:rPr sz="2000" spc="-45" dirty="0">
                <a:latin typeface="Calibri"/>
                <a:cs typeface="Calibri"/>
              </a:rPr>
              <a:t> </a:t>
            </a:r>
            <a:r>
              <a:rPr sz="2000" dirty="0">
                <a:latin typeface="Calibri"/>
                <a:cs typeface="Calibri"/>
              </a:rPr>
              <a:t>if</a:t>
            </a:r>
            <a:r>
              <a:rPr sz="2000" spc="-50" dirty="0">
                <a:latin typeface="Calibri"/>
                <a:cs typeface="Calibri"/>
              </a:rPr>
              <a:t> </a:t>
            </a:r>
            <a:r>
              <a:rPr sz="2000" dirty="0">
                <a:latin typeface="Calibri"/>
                <a:cs typeface="Calibri"/>
              </a:rPr>
              <a:t>they</a:t>
            </a:r>
            <a:r>
              <a:rPr sz="2000" spc="-50" dirty="0">
                <a:latin typeface="Calibri"/>
                <a:cs typeface="Calibri"/>
              </a:rPr>
              <a:t> </a:t>
            </a:r>
            <a:r>
              <a:rPr sz="2000" dirty="0">
                <a:latin typeface="Calibri"/>
                <a:cs typeface="Calibri"/>
              </a:rPr>
              <a:t>are</a:t>
            </a:r>
            <a:r>
              <a:rPr sz="2000" spc="-45" dirty="0">
                <a:latin typeface="Calibri"/>
                <a:cs typeface="Calibri"/>
              </a:rPr>
              <a:t> </a:t>
            </a:r>
            <a:r>
              <a:rPr sz="2000" dirty="0">
                <a:latin typeface="Calibri"/>
                <a:cs typeface="Calibri"/>
              </a:rPr>
              <a:t>not</a:t>
            </a:r>
            <a:r>
              <a:rPr sz="2000" spc="-45" dirty="0">
                <a:latin typeface="Calibri"/>
                <a:cs typeface="Calibri"/>
              </a:rPr>
              <a:t> </a:t>
            </a:r>
            <a:r>
              <a:rPr sz="2000" spc="-10" dirty="0">
                <a:latin typeface="Calibri"/>
                <a:cs typeface="Calibri"/>
              </a:rPr>
              <a:t>implemented.</a:t>
            </a:r>
            <a:endParaRPr sz="2000">
              <a:latin typeface="Calibri"/>
              <a:cs typeface="Calibri"/>
            </a:endParaRPr>
          </a:p>
          <a:p>
            <a:pPr marL="295910" marR="6350" indent="-283210" algn="just">
              <a:lnSpc>
                <a:spcPct val="100000"/>
              </a:lnSpc>
              <a:buFont typeface="Arial MT"/>
              <a:buChar char="•"/>
              <a:tabLst>
                <a:tab pos="298450" algn="l"/>
              </a:tabLst>
            </a:pPr>
            <a:r>
              <a:rPr sz="2000" b="1" dirty="0">
                <a:latin typeface="Calibri"/>
                <a:cs typeface="Calibri"/>
              </a:rPr>
              <a:t>Operational</a:t>
            </a:r>
            <a:r>
              <a:rPr sz="2000" b="1" spc="295" dirty="0">
                <a:latin typeface="Calibri"/>
                <a:cs typeface="Calibri"/>
              </a:rPr>
              <a:t> </a:t>
            </a:r>
            <a:r>
              <a:rPr sz="2000" b="1" dirty="0">
                <a:latin typeface="Calibri"/>
                <a:cs typeface="Calibri"/>
              </a:rPr>
              <a:t>projects</a:t>
            </a:r>
            <a:r>
              <a:rPr sz="2000" b="1" spc="305" dirty="0">
                <a:latin typeface="Calibri"/>
                <a:cs typeface="Calibri"/>
              </a:rPr>
              <a:t> </a:t>
            </a:r>
            <a:r>
              <a:rPr sz="2000" dirty="0">
                <a:solidFill>
                  <a:srgbClr val="262EA4"/>
                </a:solidFill>
                <a:latin typeface="Calibri"/>
                <a:cs typeface="Calibri"/>
              </a:rPr>
              <a:t>are</a:t>
            </a:r>
            <a:r>
              <a:rPr sz="2000" spc="305" dirty="0">
                <a:solidFill>
                  <a:srgbClr val="262EA4"/>
                </a:solidFill>
                <a:latin typeface="Calibri"/>
                <a:cs typeface="Calibri"/>
              </a:rPr>
              <a:t> </a:t>
            </a:r>
            <a:r>
              <a:rPr sz="2000" dirty="0">
                <a:solidFill>
                  <a:srgbClr val="262EA4"/>
                </a:solidFill>
                <a:latin typeface="Calibri"/>
                <a:cs typeface="Calibri"/>
              </a:rPr>
              <a:t>those</a:t>
            </a:r>
            <a:r>
              <a:rPr sz="2000" spc="310" dirty="0">
                <a:solidFill>
                  <a:srgbClr val="262EA4"/>
                </a:solidFill>
                <a:latin typeface="Calibri"/>
                <a:cs typeface="Calibri"/>
              </a:rPr>
              <a:t> </a:t>
            </a:r>
            <a:r>
              <a:rPr sz="2000" dirty="0">
                <a:solidFill>
                  <a:srgbClr val="262EA4"/>
                </a:solidFill>
                <a:latin typeface="Calibri"/>
                <a:cs typeface="Calibri"/>
              </a:rPr>
              <a:t>that</a:t>
            </a:r>
            <a:r>
              <a:rPr sz="2000" spc="305" dirty="0">
                <a:solidFill>
                  <a:srgbClr val="262EA4"/>
                </a:solidFill>
                <a:latin typeface="Calibri"/>
                <a:cs typeface="Calibri"/>
              </a:rPr>
              <a:t> </a:t>
            </a:r>
            <a:r>
              <a:rPr sz="2000" dirty="0">
                <a:solidFill>
                  <a:srgbClr val="262EA4"/>
                </a:solidFill>
                <a:latin typeface="Calibri"/>
                <a:cs typeface="Calibri"/>
              </a:rPr>
              <a:t>are</a:t>
            </a:r>
            <a:r>
              <a:rPr sz="2000" spc="305" dirty="0">
                <a:solidFill>
                  <a:srgbClr val="262EA4"/>
                </a:solidFill>
                <a:latin typeface="Calibri"/>
                <a:cs typeface="Calibri"/>
              </a:rPr>
              <a:t> </a:t>
            </a:r>
            <a:r>
              <a:rPr sz="2000" dirty="0">
                <a:solidFill>
                  <a:srgbClr val="262EA4"/>
                </a:solidFill>
                <a:latin typeface="Calibri"/>
                <a:cs typeface="Calibri"/>
              </a:rPr>
              <a:t>needed</a:t>
            </a:r>
            <a:r>
              <a:rPr sz="2000" spc="300" dirty="0">
                <a:solidFill>
                  <a:srgbClr val="262EA4"/>
                </a:solidFill>
                <a:latin typeface="Calibri"/>
                <a:cs typeface="Calibri"/>
              </a:rPr>
              <a:t> </a:t>
            </a:r>
            <a:r>
              <a:rPr sz="2000" dirty="0">
                <a:solidFill>
                  <a:srgbClr val="262EA4"/>
                </a:solidFill>
                <a:latin typeface="Calibri"/>
                <a:cs typeface="Calibri"/>
              </a:rPr>
              <a:t>to</a:t>
            </a:r>
            <a:r>
              <a:rPr sz="2000" spc="305" dirty="0">
                <a:solidFill>
                  <a:srgbClr val="262EA4"/>
                </a:solidFill>
                <a:latin typeface="Calibri"/>
                <a:cs typeface="Calibri"/>
              </a:rPr>
              <a:t> </a:t>
            </a:r>
            <a:r>
              <a:rPr sz="2000" dirty="0">
                <a:solidFill>
                  <a:srgbClr val="262EA4"/>
                </a:solidFill>
                <a:latin typeface="Calibri"/>
                <a:cs typeface="Calibri"/>
              </a:rPr>
              <a:t>support</a:t>
            </a:r>
            <a:r>
              <a:rPr sz="2000" spc="305" dirty="0">
                <a:solidFill>
                  <a:srgbClr val="262EA4"/>
                </a:solidFill>
                <a:latin typeface="Calibri"/>
                <a:cs typeface="Calibri"/>
              </a:rPr>
              <a:t> </a:t>
            </a:r>
            <a:r>
              <a:rPr sz="2000" dirty="0">
                <a:solidFill>
                  <a:srgbClr val="262EA4"/>
                </a:solidFill>
                <a:latin typeface="Calibri"/>
                <a:cs typeface="Calibri"/>
              </a:rPr>
              <a:t>current</a:t>
            </a:r>
            <a:r>
              <a:rPr sz="2000" spc="305" dirty="0">
                <a:solidFill>
                  <a:srgbClr val="262EA4"/>
                </a:solidFill>
                <a:latin typeface="Calibri"/>
                <a:cs typeface="Calibri"/>
              </a:rPr>
              <a:t> </a:t>
            </a:r>
            <a:r>
              <a:rPr sz="2000" dirty="0">
                <a:solidFill>
                  <a:srgbClr val="262EA4"/>
                </a:solidFill>
                <a:latin typeface="Calibri"/>
                <a:cs typeface="Calibri"/>
              </a:rPr>
              <a:t>operations.</a:t>
            </a:r>
            <a:r>
              <a:rPr sz="2000" spc="300" dirty="0">
                <a:solidFill>
                  <a:srgbClr val="262EA4"/>
                </a:solidFill>
                <a:latin typeface="Calibri"/>
                <a:cs typeface="Calibri"/>
              </a:rPr>
              <a:t> </a:t>
            </a:r>
            <a:r>
              <a:rPr sz="2000" dirty="0">
                <a:solidFill>
                  <a:srgbClr val="262EA4"/>
                </a:solidFill>
                <a:latin typeface="Calibri"/>
                <a:cs typeface="Calibri"/>
              </a:rPr>
              <a:t>These</a:t>
            </a:r>
            <a:r>
              <a:rPr sz="2000" spc="305" dirty="0">
                <a:solidFill>
                  <a:srgbClr val="262EA4"/>
                </a:solidFill>
                <a:latin typeface="Calibri"/>
                <a:cs typeface="Calibri"/>
              </a:rPr>
              <a:t> </a:t>
            </a:r>
            <a:r>
              <a:rPr sz="2000" dirty="0">
                <a:solidFill>
                  <a:srgbClr val="262EA4"/>
                </a:solidFill>
                <a:latin typeface="Calibri"/>
                <a:cs typeface="Calibri"/>
              </a:rPr>
              <a:t>projects</a:t>
            </a:r>
            <a:r>
              <a:rPr sz="2000" spc="310" dirty="0">
                <a:solidFill>
                  <a:srgbClr val="262EA4"/>
                </a:solidFill>
                <a:latin typeface="Calibri"/>
                <a:cs typeface="Calibri"/>
              </a:rPr>
              <a:t> </a:t>
            </a:r>
            <a:r>
              <a:rPr sz="2000" spc="-25" dirty="0">
                <a:solidFill>
                  <a:srgbClr val="262EA4"/>
                </a:solidFill>
                <a:latin typeface="Calibri"/>
                <a:cs typeface="Calibri"/>
              </a:rPr>
              <a:t>are 	</a:t>
            </a:r>
            <a:r>
              <a:rPr sz="2000" dirty="0">
                <a:solidFill>
                  <a:srgbClr val="262EA4"/>
                </a:solidFill>
                <a:latin typeface="Calibri"/>
                <a:cs typeface="Calibri"/>
              </a:rPr>
              <a:t>designed</a:t>
            </a:r>
            <a:r>
              <a:rPr sz="2000" spc="-60" dirty="0">
                <a:solidFill>
                  <a:srgbClr val="262EA4"/>
                </a:solidFill>
                <a:latin typeface="Calibri"/>
                <a:cs typeface="Calibri"/>
              </a:rPr>
              <a:t> </a:t>
            </a:r>
            <a:r>
              <a:rPr sz="2000" dirty="0">
                <a:solidFill>
                  <a:srgbClr val="262EA4"/>
                </a:solidFill>
                <a:latin typeface="Calibri"/>
                <a:cs typeface="Calibri"/>
              </a:rPr>
              <a:t>to</a:t>
            </a:r>
            <a:r>
              <a:rPr sz="2000" spc="-55" dirty="0">
                <a:solidFill>
                  <a:srgbClr val="262EA4"/>
                </a:solidFill>
                <a:latin typeface="Calibri"/>
                <a:cs typeface="Calibri"/>
              </a:rPr>
              <a:t> </a:t>
            </a:r>
            <a:r>
              <a:rPr sz="2000" spc="-10" dirty="0">
                <a:solidFill>
                  <a:srgbClr val="262EA4"/>
                </a:solidFill>
                <a:latin typeface="Calibri"/>
                <a:cs typeface="Calibri"/>
              </a:rPr>
              <a:t>improve</a:t>
            </a:r>
            <a:r>
              <a:rPr sz="2000" spc="-50" dirty="0">
                <a:solidFill>
                  <a:srgbClr val="262EA4"/>
                </a:solidFill>
                <a:latin typeface="Calibri"/>
                <a:cs typeface="Calibri"/>
              </a:rPr>
              <a:t> </a:t>
            </a:r>
            <a:r>
              <a:rPr sz="2000" spc="-10" dirty="0">
                <a:solidFill>
                  <a:srgbClr val="262EA4"/>
                </a:solidFill>
                <a:latin typeface="Calibri"/>
                <a:cs typeface="Calibri"/>
              </a:rPr>
              <a:t>efficiency</a:t>
            </a:r>
            <a:r>
              <a:rPr sz="2000" spc="-55" dirty="0">
                <a:solidFill>
                  <a:srgbClr val="262EA4"/>
                </a:solidFill>
                <a:latin typeface="Calibri"/>
                <a:cs typeface="Calibri"/>
              </a:rPr>
              <a:t> </a:t>
            </a:r>
            <a:r>
              <a:rPr sz="2000" dirty="0">
                <a:solidFill>
                  <a:srgbClr val="262EA4"/>
                </a:solidFill>
                <a:latin typeface="Calibri"/>
                <a:cs typeface="Calibri"/>
              </a:rPr>
              <a:t>of</a:t>
            </a:r>
            <a:r>
              <a:rPr sz="2000" spc="-55" dirty="0">
                <a:solidFill>
                  <a:srgbClr val="262EA4"/>
                </a:solidFill>
                <a:latin typeface="Calibri"/>
                <a:cs typeface="Calibri"/>
              </a:rPr>
              <a:t> </a:t>
            </a:r>
            <a:r>
              <a:rPr sz="2000" dirty="0">
                <a:solidFill>
                  <a:srgbClr val="262EA4"/>
                </a:solidFill>
                <a:latin typeface="Calibri"/>
                <a:cs typeface="Calibri"/>
              </a:rPr>
              <a:t>delivery</a:t>
            </a:r>
            <a:r>
              <a:rPr sz="2000" spc="-55" dirty="0">
                <a:solidFill>
                  <a:srgbClr val="262EA4"/>
                </a:solidFill>
                <a:latin typeface="Calibri"/>
                <a:cs typeface="Calibri"/>
              </a:rPr>
              <a:t> </a:t>
            </a:r>
            <a:r>
              <a:rPr sz="2000" spc="-10" dirty="0">
                <a:solidFill>
                  <a:srgbClr val="262EA4"/>
                </a:solidFill>
                <a:latin typeface="Calibri"/>
                <a:cs typeface="Calibri"/>
              </a:rPr>
              <a:t>systems,</a:t>
            </a:r>
            <a:r>
              <a:rPr sz="2000" spc="-55" dirty="0">
                <a:solidFill>
                  <a:srgbClr val="262EA4"/>
                </a:solidFill>
                <a:latin typeface="Calibri"/>
                <a:cs typeface="Calibri"/>
              </a:rPr>
              <a:t> </a:t>
            </a:r>
            <a:r>
              <a:rPr sz="2000" dirty="0">
                <a:solidFill>
                  <a:srgbClr val="262EA4"/>
                </a:solidFill>
                <a:latin typeface="Calibri"/>
                <a:cs typeface="Calibri"/>
              </a:rPr>
              <a:t>reduce</a:t>
            </a:r>
            <a:r>
              <a:rPr sz="2000" spc="-45" dirty="0">
                <a:solidFill>
                  <a:srgbClr val="262EA4"/>
                </a:solidFill>
                <a:latin typeface="Calibri"/>
                <a:cs typeface="Calibri"/>
              </a:rPr>
              <a:t> </a:t>
            </a:r>
            <a:r>
              <a:rPr sz="2000" dirty="0">
                <a:solidFill>
                  <a:srgbClr val="262EA4"/>
                </a:solidFill>
                <a:latin typeface="Calibri"/>
                <a:cs typeface="Calibri"/>
              </a:rPr>
              <a:t>product</a:t>
            </a:r>
            <a:r>
              <a:rPr sz="2000" spc="-55" dirty="0">
                <a:solidFill>
                  <a:srgbClr val="262EA4"/>
                </a:solidFill>
                <a:latin typeface="Calibri"/>
                <a:cs typeface="Calibri"/>
              </a:rPr>
              <a:t> </a:t>
            </a:r>
            <a:r>
              <a:rPr sz="2000" dirty="0">
                <a:solidFill>
                  <a:srgbClr val="262EA4"/>
                </a:solidFill>
                <a:latin typeface="Calibri"/>
                <a:cs typeface="Calibri"/>
              </a:rPr>
              <a:t>costs,</a:t>
            </a:r>
            <a:r>
              <a:rPr sz="2000" spc="-50" dirty="0">
                <a:solidFill>
                  <a:srgbClr val="262EA4"/>
                </a:solidFill>
                <a:latin typeface="Calibri"/>
                <a:cs typeface="Calibri"/>
              </a:rPr>
              <a:t> </a:t>
            </a:r>
            <a:r>
              <a:rPr sz="2000" dirty="0">
                <a:solidFill>
                  <a:srgbClr val="262EA4"/>
                </a:solidFill>
                <a:latin typeface="Calibri"/>
                <a:cs typeface="Calibri"/>
              </a:rPr>
              <a:t>and</a:t>
            </a:r>
            <a:r>
              <a:rPr sz="2000" spc="-55" dirty="0">
                <a:solidFill>
                  <a:srgbClr val="262EA4"/>
                </a:solidFill>
                <a:latin typeface="Calibri"/>
                <a:cs typeface="Calibri"/>
              </a:rPr>
              <a:t> </a:t>
            </a:r>
            <a:r>
              <a:rPr sz="2000" spc="-10" dirty="0">
                <a:solidFill>
                  <a:srgbClr val="262EA4"/>
                </a:solidFill>
                <a:latin typeface="Calibri"/>
                <a:cs typeface="Calibri"/>
              </a:rPr>
              <a:t>improve</a:t>
            </a:r>
            <a:r>
              <a:rPr sz="2000" spc="-45" dirty="0">
                <a:solidFill>
                  <a:srgbClr val="262EA4"/>
                </a:solidFill>
                <a:latin typeface="Calibri"/>
                <a:cs typeface="Calibri"/>
              </a:rPr>
              <a:t> </a:t>
            </a:r>
            <a:r>
              <a:rPr sz="2000" spc="-10" dirty="0">
                <a:solidFill>
                  <a:srgbClr val="262EA4"/>
                </a:solidFill>
                <a:latin typeface="Calibri"/>
                <a:cs typeface="Calibri"/>
              </a:rPr>
              <a:t>performance.</a:t>
            </a:r>
            <a:endParaRPr sz="2000">
              <a:latin typeface="Calibri"/>
              <a:cs typeface="Calibri"/>
            </a:endParaRPr>
          </a:p>
          <a:p>
            <a:pPr marL="295910" marR="5080" indent="-283210" algn="just">
              <a:lnSpc>
                <a:spcPct val="100000"/>
              </a:lnSpc>
              <a:buFont typeface="Arial MT"/>
              <a:buChar char="•"/>
              <a:tabLst>
                <a:tab pos="298450" algn="l"/>
              </a:tabLst>
            </a:pPr>
            <a:r>
              <a:rPr sz="2000" b="1" dirty="0">
                <a:latin typeface="Calibri"/>
                <a:cs typeface="Calibri"/>
              </a:rPr>
              <a:t>Strategic</a:t>
            </a:r>
            <a:r>
              <a:rPr sz="2000" b="1" spc="75" dirty="0">
                <a:latin typeface="Calibri"/>
                <a:cs typeface="Calibri"/>
              </a:rPr>
              <a:t> </a:t>
            </a:r>
            <a:r>
              <a:rPr sz="2000" b="1" dirty="0">
                <a:latin typeface="Calibri"/>
                <a:cs typeface="Calibri"/>
              </a:rPr>
              <a:t>projects</a:t>
            </a:r>
            <a:r>
              <a:rPr sz="2000" b="1" spc="80" dirty="0">
                <a:latin typeface="Calibri"/>
                <a:cs typeface="Calibri"/>
              </a:rPr>
              <a:t> </a:t>
            </a:r>
            <a:r>
              <a:rPr sz="2000" dirty="0">
                <a:latin typeface="Calibri"/>
                <a:cs typeface="Calibri"/>
              </a:rPr>
              <a:t>are</a:t>
            </a:r>
            <a:r>
              <a:rPr sz="2000" spc="80" dirty="0">
                <a:latin typeface="Calibri"/>
                <a:cs typeface="Calibri"/>
              </a:rPr>
              <a:t> </a:t>
            </a:r>
            <a:r>
              <a:rPr sz="2000" dirty="0">
                <a:latin typeface="Calibri"/>
                <a:cs typeface="Calibri"/>
              </a:rPr>
              <a:t>those</a:t>
            </a:r>
            <a:r>
              <a:rPr sz="2000" spc="80" dirty="0">
                <a:latin typeface="Calibri"/>
                <a:cs typeface="Calibri"/>
              </a:rPr>
              <a:t> </a:t>
            </a:r>
            <a:r>
              <a:rPr sz="2000" dirty="0">
                <a:latin typeface="Calibri"/>
                <a:cs typeface="Calibri"/>
              </a:rPr>
              <a:t>that</a:t>
            </a:r>
            <a:r>
              <a:rPr sz="2000" spc="75" dirty="0">
                <a:latin typeface="Calibri"/>
                <a:cs typeface="Calibri"/>
              </a:rPr>
              <a:t> </a:t>
            </a:r>
            <a:r>
              <a:rPr sz="2000" dirty="0">
                <a:latin typeface="Calibri"/>
                <a:cs typeface="Calibri"/>
              </a:rPr>
              <a:t>directly</a:t>
            </a:r>
            <a:r>
              <a:rPr sz="2000" spc="75" dirty="0">
                <a:latin typeface="Calibri"/>
                <a:cs typeface="Calibri"/>
              </a:rPr>
              <a:t> </a:t>
            </a:r>
            <a:r>
              <a:rPr sz="2000" dirty="0">
                <a:latin typeface="Calibri"/>
                <a:cs typeface="Calibri"/>
              </a:rPr>
              <a:t>support</a:t>
            </a:r>
            <a:r>
              <a:rPr sz="2000" spc="80" dirty="0">
                <a:latin typeface="Calibri"/>
                <a:cs typeface="Calibri"/>
              </a:rPr>
              <a:t> </a:t>
            </a:r>
            <a:r>
              <a:rPr sz="2000" dirty="0">
                <a:latin typeface="Calibri"/>
                <a:cs typeface="Calibri"/>
              </a:rPr>
              <a:t>the</a:t>
            </a:r>
            <a:r>
              <a:rPr sz="2000" spc="80" dirty="0">
                <a:latin typeface="Calibri"/>
                <a:cs typeface="Calibri"/>
              </a:rPr>
              <a:t> </a:t>
            </a:r>
            <a:r>
              <a:rPr sz="2000" spc="-10" dirty="0">
                <a:latin typeface="Calibri"/>
                <a:cs typeface="Calibri"/>
              </a:rPr>
              <a:t>organization’s</a:t>
            </a:r>
            <a:r>
              <a:rPr sz="2000" spc="75" dirty="0">
                <a:latin typeface="Calibri"/>
                <a:cs typeface="Calibri"/>
              </a:rPr>
              <a:t> </a:t>
            </a:r>
            <a:r>
              <a:rPr sz="2000" spc="-10" dirty="0">
                <a:latin typeface="Calibri"/>
                <a:cs typeface="Calibri"/>
              </a:rPr>
              <a:t>long-</a:t>
            </a:r>
            <a:r>
              <a:rPr sz="2000" dirty="0">
                <a:latin typeface="Calibri"/>
                <a:cs typeface="Calibri"/>
              </a:rPr>
              <a:t>run</a:t>
            </a:r>
            <a:r>
              <a:rPr sz="2000" spc="75" dirty="0">
                <a:latin typeface="Calibri"/>
                <a:cs typeface="Calibri"/>
              </a:rPr>
              <a:t> </a:t>
            </a:r>
            <a:r>
              <a:rPr sz="2000" dirty="0">
                <a:latin typeface="Calibri"/>
                <a:cs typeface="Calibri"/>
              </a:rPr>
              <a:t>mission.</a:t>
            </a:r>
            <a:r>
              <a:rPr sz="2000" spc="75" dirty="0">
                <a:latin typeface="Calibri"/>
                <a:cs typeface="Calibri"/>
              </a:rPr>
              <a:t> </a:t>
            </a:r>
            <a:r>
              <a:rPr sz="2000" dirty="0">
                <a:latin typeface="Calibri"/>
                <a:cs typeface="Calibri"/>
              </a:rPr>
              <a:t>They</a:t>
            </a:r>
            <a:r>
              <a:rPr sz="2000" spc="70" dirty="0">
                <a:latin typeface="Calibri"/>
                <a:cs typeface="Calibri"/>
              </a:rPr>
              <a:t> </a:t>
            </a:r>
            <a:r>
              <a:rPr sz="2000" spc="-10" dirty="0">
                <a:latin typeface="Calibri"/>
                <a:cs typeface="Calibri"/>
              </a:rPr>
              <a:t>frequently 	</a:t>
            </a:r>
            <a:r>
              <a:rPr sz="2000" dirty="0">
                <a:latin typeface="Calibri"/>
                <a:cs typeface="Calibri"/>
              </a:rPr>
              <a:t>are</a:t>
            </a:r>
            <a:r>
              <a:rPr sz="2000" spc="420" dirty="0">
                <a:latin typeface="Calibri"/>
                <a:cs typeface="Calibri"/>
              </a:rPr>
              <a:t> </a:t>
            </a:r>
            <a:r>
              <a:rPr sz="2000" dirty="0">
                <a:latin typeface="Calibri"/>
                <a:cs typeface="Calibri"/>
              </a:rPr>
              <a:t>directed</a:t>
            </a:r>
            <a:r>
              <a:rPr sz="2000" spc="415" dirty="0">
                <a:latin typeface="Calibri"/>
                <a:cs typeface="Calibri"/>
              </a:rPr>
              <a:t> </a:t>
            </a:r>
            <a:r>
              <a:rPr sz="2000" dirty="0">
                <a:latin typeface="Calibri"/>
                <a:cs typeface="Calibri"/>
              </a:rPr>
              <a:t>toward</a:t>
            </a:r>
            <a:r>
              <a:rPr sz="2000" spc="420" dirty="0">
                <a:latin typeface="Calibri"/>
                <a:cs typeface="Calibri"/>
              </a:rPr>
              <a:t> </a:t>
            </a:r>
            <a:r>
              <a:rPr sz="2000" dirty="0">
                <a:latin typeface="Calibri"/>
                <a:cs typeface="Calibri"/>
              </a:rPr>
              <a:t>increasing</a:t>
            </a:r>
            <a:r>
              <a:rPr sz="2000" spc="409" dirty="0">
                <a:latin typeface="Calibri"/>
                <a:cs typeface="Calibri"/>
              </a:rPr>
              <a:t> </a:t>
            </a:r>
            <a:r>
              <a:rPr sz="2000" dirty="0">
                <a:latin typeface="Calibri"/>
                <a:cs typeface="Calibri"/>
              </a:rPr>
              <a:t>revenue</a:t>
            </a:r>
            <a:r>
              <a:rPr sz="2000" spc="420" dirty="0">
                <a:latin typeface="Calibri"/>
                <a:cs typeface="Calibri"/>
              </a:rPr>
              <a:t> </a:t>
            </a:r>
            <a:r>
              <a:rPr sz="2000" dirty="0">
                <a:latin typeface="Calibri"/>
                <a:cs typeface="Calibri"/>
              </a:rPr>
              <a:t>or</a:t>
            </a:r>
            <a:r>
              <a:rPr sz="2000" spc="415" dirty="0">
                <a:latin typeface="Calibri"/>
                <a:cs typeface="Calibri"/>
              </a:rPr>
              <a:t> </a:t>
            </a:r>
            <a:r>
              <a:rPr sz="2000" dirty="0">
                <a:latin typeface="Calibri"/>
                <a:cs typeface="Calibri"/>
              </a:rPr>
              <a:t>market</a:t>
            </a:r>
            <a:r>
              <a:rPr sz="2000" spc="420" dirty="0">
                <a:latin typeface="Calibri"/>
                <a:cs typeface="Calibri"/>
              </a:rPr>
              <a:t> </a:t>
            </a:r>
            <a:r>
              <a:rPr sz="2000" dirty="0">
                <a:latin typeface="Calibri"/>
                <a:cs typeface="Calibri"/>
              </a:rPr>
              <a:t>share.</a:t>
            </a:r>
            <a:r>
              <a:rPr sz="2000" spc="415" dirty="0">
                <a:latin typeface="Calibri"/>
                <a:cs typeface="Calibri"/>
              </a:rPr>
              <a:t> </a:t>
            </a:r>
            <a:r>
              <a:rPr sz="2000" dirty="0">
                <a:latin typeface="Calibri"/>
                <a:cs typeface="Calibri"/>
              </a:rPr>
              <a:t>Examples</a:t>
            </a:r>
            <a:r>
              <a:rPr sz="2000" spc="420" dirty="0">
                <a:latin typeface="Calibri"/>
                <a:cs typeface="Calibri"/>
              </a:rPr>
              <a:t> </a:t>
            </a:r>
            <a:r>
              <a:rPr sz="2000" dirty="0">
                <a:latin typeface="Calibri"/>
                <a:cs typeface="Calibri"/>
              </a:rPr>
              <a:t>of</a:t>
            </a:r>
            <a:r>
              <a:rPr sz="2000" spc="420" dirty="0">
                <a:latin typeface="Calibri"/>
                <a:cs typeface="Calibri"/>
              </a:rPr>
              <a:t> </a:t>
            </a:r>
            <a:r>
              <a:rPr sz="2000" dirty="0">
                <a:latin typeface="Calibri"/>
                <a:cs typeface="Calibri"/>
              </a:rPr>
              <a:t>strategic</a:t>
            </a:r>
            <a:r>
              <a:rPr sz="2000" spc="415" dirty="0">
                <a:latin typeface="Calibri"/>
                <a:cs typeface="Calibri"/>
              </a:rPr>
              <a:t> </a:t>
            </a:r>
            <a:r>
              <a:rPr sz="2000" dirty="0">
                <a:latin typeface="Calibri"/>
                <a:cs typeface="Calibri"/>
              </a:rPr>
              <a:t>projects</a:t>
            </a:r>
            <a:r>
              <a:rPr sz="2000" spc="420" dirty="0">
                <a:latin typeface="Calibri"/>
                <a:cs typeface="Calibri"/>
              </a:rPr>
              <a:t> </a:t>
            </a:r>
            <a:r>
              <a:rPr sz="2000" dirty="0">
                <a:latin typeface="Calibri"/>
                <a:cs typeface="Calibri"/>
              </a:rPr>
              <a:t>are</a:t>
            </a:r>
            <a:r>
              <a:rPr sz="2000" spc="425" dirty="0">
                <a:latin typeface="Calibri"/>
                <a:cs typeface="Calibri"/>
              </a:rPr>
              <a:t> </a:t>
            </a:r>
            <a:r>
              <a:rPr sz="2000" spc="-25" dirty="0">
                <a:latin typeface="Calibri"/>
                <a:cs typeface="Calibri"/>
              </a:rPr>
              <a:t>new 	</a:t>
            </a:r>
            <a:r>
              <a:rPr sz="2000" dirty="0">
                <a:latin typeface="Calibri"/>
                <a:cs typeface="Calibri"/>
              </a:rPr>
              <a:t>products,</a:t>
            </a:r>
            <a:r>
              <a:rPr sz="2000" spc="-80" dirty="0">
                <a:latin typeface="Calibri"/>
                <a:cs typeface="Calibri"/>
              </a:rPr>
              <a:t> </a:t>
            </a:r>
            <a:r>
              <a:rPr sz="2000" dirty="0">
                <a:latin typeface="Calibri"/>
                <a:cs typeface="Calibri"/>
              </a:rPr>
              <a:t>research</a:t>
            </a:r>
            <a:r>
              <a:rPr sz="2000" spc="-75" dirty="0">
                <a:latin typeface="Calibri"/>
                <a:cs typeface="Calibri"/>
              </a:rPr>
              <a:t> </a:t>
            </a:r>
            <a:r>
              <a:rPr sz="2000" dirty="0">
                <a:latin typeface="Calibri"/>
                <a:cs typeface="Calibri"/>
              </a:rPr>
              <a:t>and</a:t>
            </a:r>
            <a:r>
              <a:rPr sz="2000" spc="-75" dirty="0">
                <a:latin typeface="Calibri"/>
                <a:cs typeface="Calibri"/>
              </a:rPr>
              <a:t> </a:t>
            </a:r>
            <a:r>
              <a:rPr sz="2000" spc="-10" dirty="0">
                <a:latin typeface="Calibri"/>
                <a:cs typeface="Calibri"/>
              </a:rPr>
              <a:t>development.</a:t>
            </a:r>
            <a:endParaRPr sz="2000">
              <a:latin typeface="Calibri"/>
              <a:cs typeface="Calibri"/>
            </a:endParaRPr>
          </a:p>
        </p:txBody>
      </p:sp>
      <p:grpSp>
        <p:nvGrpSpPr>
          <p:cNvPr id="6" name="object 6"/>
          <p:cNvGrpSpPr/>
          <p:nvPr/>
        </p:nvGrpSpPr>
        <p:grpSpPr>
          <a:xfrm>
            <a:off x="2457176" y="2063892"/>
            <a:ext cx="4450080" cy="2010410"/>
            <a:chOff x="2457176" y="2063892"/>
            <a:chExt cx="4450080" cy="2010410"/>
          </a:xfrm>
        </p:grpSpPr>
        <p:sp>
          <p:nvSpPr>
            <p:cNvPr id="7" name="object 7"/>
            <p:cNvSpPr/>
            <p:nvPr/>
          </p:nvSpPr>
          <p:spPr>
            <a:xfrm>
              <a:off x="5536093" y="2142213"/>
              <a:ext cx="1343025" cy="282575"/>
            </a:xfrm>
            <a:custGeom>
              <a:avLst/>
              <a:gdLst/>
              <a:ahLst/>
              <a:cxnLst/>
              <a:rect l="l" t="t" r="r" b="b"/>
              <a:pathLst>
                <a:path w="1343025" h="282575">
                  <a:moveTo>
                    <a:pt x="0" y="141136"/>
                  </a:moveTo>
                  <a:lnTo>
                    <a:pt x="34219" y="96526"/>
                  </a:lnTo>
                  <a:lnTo>
                    <a:pt x="91641" y="69901"/>
                  </a:lnTo>
                  <a:lnTo>
                    <a:pt x="129507" y="57782"/>
                  </a:lnTo>
                  <a:lnTo>
                    <a:pt x="172929" y="46574"/>
                  </a:lnTo>
                  <a:lnTo>
                    <a:pt x="221499" y="36361"/>
                  </a:lnTo>
                  <a:lnTo>
                    <a:pt x="274807" y="27231"/>
                  </a:lnTo>
                  <a:lnTo>
                    <a:pt x="332444" y="19269"/>
                  </a:lnTo>
                  <a:lnTo>
                    <a:pt x="393999" y="12561"/>
                  </a:lnTo>
                  <a:lnTo>
                    <a:pt x="459064" y="7195"/>
                  </a:lnTo>
                  <a:lnTo>
                    <a:pt x="527230" y="3255"/>
                  </a:lnTo>
                  <a:lnTo>
                    <a:pt x="598086" y="828"/>
                  </a:lnTo>
                  <a:lnTo>
                    <a:pt x="671223" y="0"/>
                  </a:lnTo>
                  <a:lnTo>
                    <a:pt x="744360" y="828"/>
                  </a:lnTo>
                  <a:lnTo>
                    <a:pt x="815216" y="3255"/>
                  </a:lnTo>
                  <a:lnTo>
                    <a:pt x="883382" y="7195"/>
                  </a:lnTo>
                  <a:lnTo>
                    <a:pt x="948447" y="12561"/>
                  </a:lnTo>
                  <a:lnTo>
                    <a:pt x="1010002" y="19269"/>
                  </a:lnTo>
                  <a:lnTo>
                    <a:pt x="1067639" y="27231"/>
                  </a:lnTo>
                  <a:lnTo>
                    <a:pt x="1120947" y="36361"/>
                  </a:lnTo>
                  <a:lnTo>
                    <a:pt x="1169517" y="46574"/>
                  </a:lnTo>
                  <a:lnTo>
                    <a:pt x="1212939" y="57782"/>
                  </a:lnTo>
                  <a:lnTo>
                    <a:pt x="1250805" y="69901"/>
                  </a:lnTo>
                  <a:lnTo>
                    <a:pt x="1308227" y="96526"/>
                  </a:lnTo>
                  <a:lnTo>
                    <a:pt x="1338508" y="125757"/>
                  </a:lnTo>
                  <a:lnTo>
                    <a:pt x="1342447" y="141136"/>
                  </a:lnTo>
                  <a:lnTo>
                    <a:pt x="1338508" y="156514"/>
                  </a:lnTo>
                  <a:lnTo>
                    <a:pt x="1308227" y="185745"/>
                  </a:lnTo>
                  <a:lnTo>
                    <a:pt x="1250805" y="212370"/>
                  </a:lnTo>
                  <a:lnTo>
                    <a:pt x="1212939" y="224489"/>
                  </a:lnTo>
                  <a:lnTo>
                    <a:pt x="1169517" y="235698"/>
                  </a:lnTo>
                  <a:lnTo>
                    <a:pt x="1120947" y="245910"/>
                  </a:lnTo>
                  <a:lnTo>
                    <a:pt x="1067639" y="255040"/>
                  </a:lnTo>
                  <a:lnTo>
                    <a:pt x="1010002" y="263002"/>
                  </a:lnTo>
                  <a:lnTo>
                    <a:pt x="948447" y="269710"/>
                  </a:lnTo>
                  <a:lnTo>
                    <a:pt x="883382" y="275076"/>
                  </a:lnTo>
                  <a:lnTo>
                    <a:pt x="815216" y="279016"/>
                  </a:lnTo>
                  <a:lnTo>
                    <a:pt x="744360" y="281443"/>
                  </a:lnTo>
                  <a:lnTo>
                    <a:pt x="671223" y="282272"/>
                  </a:lnTo>
                  <a:lnTo>
                    <a:pt x="598086" y="281443"/>
                  </a:lnTo>
                  <a:lnTo>
                    <a:pt x="527230" y="279016"/>
                  </a:lnTo>
                  <a:lnTo>
                    <a:pt x="459064" y="275076"/>
                  </a:lnTo>
                  <a:lnTo>
                    <a:pt x="393999" y="269710"/>
                  </a:lnTo>
                  <a:lnTo>
                    <a:pt x="332444" y="263002"/>
                  </a:lnTo>
                  <a:lnTo>
                    <a:pt x="274807" y="255040"/>
                  </a:lnTo>
                  <a:lnTo>
                    <a:pt x="221499" y="245910"/>
                  </a:lnTo>
                  <a:lnTo>
                    <a:pt x="172929" y="235698"/>
                  </a:lnTo>
                  <a:lnTo>
                    <a:pt x="129507" y="224489"/>
                  </a:lnTo>
                  <a:lnTo>
                    <a:pt x="91641" y="212370"/>
                  </a:lnTo>
                  <a:lnTo>
                    <a:pt x="34219" y="185745"/>
                  </a:lnTo>
                  <a:lnTo>
                    <a:pt x="3938" y="156514"/>
                  </a:lnTo>
                  <a:lnTo>
                    <a:pt x="0" y="141136"/>
                  </a:lnTo>
                  <a:close/>
                </a:path>
              </a:pathLst>
            </a:custGeom>
            <a:ln w="57150">
              <a:solidFill>
                <a:srgbClr val="C00000"/>
              </a:solidFill>
            </a:ln>
          </p:spPr>
          <p:txBody>
            <a:bodyPr wrap="square" lIns="0" tIns="0" rIns="0" bIns="0" rtlCol="0"/>
            <a:lstStyle/>
            <a:p>
              <a:endParaRPr/>
            </a:p>
          </p:txBody>
        </p:sp>
        <p:sp>
          <p:nvSpPr>
            <p:cNvPr id="8" name="object 8"/>
            <p:cNvSpPr/>
            <p:nvPr/>
          </p:nvSpPr>
          <p:spPr>
            <a:xfrm>
              <a:off x="2457176" y="2063892"/>
              <a:ext cx="2863850" cy="2010410"/>
            </a:xfrm>
            <a:custGeom>
              <a:avLst/>
              <a:gdLst/>
              <a:ahLst/>
              <a:cxnLst/>
              <a:rect l="l" t="t" r="r" b="b"/>
              <a:pathLst>
                <a:path w="2863850" h="2010410">
                  <a:moveTo>
                    <a:pt x="0" y="1600107"/>
                  </a:moveTo>
                  <a:lnTo>
                    <a:pt x="170112" y="2009923"/>
                  </a:lnTo>
                  <a:lnTo>
                    <a:pt x="305624" y="1780667"/>
                  </a:lnTo>
                  <a:lnTo>
                    <a:pt x="225628" y="1780667"/>
                  </a:lnTo>
                  <a:lnTo>
                    <a:pt x="148000" y="1764103"/>
                  </a:lnTo>
                  <a:lnTo>
                    <a:pt x="152453" y="1743233"/>
                  </a:lnTo>
                  <a:lnTo>
                    <a:pt x="152978" y="1741182"/>
                  </a:lnTo>
                  <a:lnTo>
                    <a:pt x="0" y="1600107"/>
                  </a:lnTo>
                  <a:close/>
                </a:path>
                <a:path w="2863850" h="2010410">
                  <a:moveTo>
                    <a:pt x="235549" y="1738717"/>
                  </a:moveTo>
                  <a:lnTo>
                    <a:pt x="186814" y="1772385"/>
                  </a:lnTo>
                  <a:lnTo>
                    <a:pt x="225628" y="1780667"/>
                  </a:lnTo>
                  <a:lnTo>
                    <a:pt x="229913" y="1760585"/>
                  </a:lnTo>
                  <a:lnTo>
                    <a:pt x="235549" y="1738717"/>
                  </a:lnTo>
                  <a:close/>
                </a:path>
                <a:path w="2863850" h="2010410">
                  <a:moveTo>
                    <a:pt x="395897" y="1627944"/>
                  </a:moveTo>
                  <a:lnTo>
                    <a:pt x="235549" y="1738717"/>
                  </a:lnTo>
                  <a:lnTo>
                    <a:pt x="229913" y="1760585"/>
                  </a:lnTo>
                  <a:lnTo>
                    <a:pt x="225628" y="1780667"/>
                  </a:lnTo>
                  <a:lnTo>
                    <a:pt x="305624" y="1780667"/>
                  </a:lnTo>
                  <a:lnTo>
                    <a:pt x="395897" y="1627944"/>
                  </a:lnTo>
                  <a:close/>
                </a:path>
                <a:path w="2863850" h="2010410">
                  <a:moveTo>
                    <a:pt x="152978" y="1741182"/>
                  </a:moveTo>
                  <a:lnTo>
                    <a:pt x="152453" y="1743233"/>
                  </a:lnTo>
                  <a:lnTo>
                    <a:pt x="148000" y="1764103"/>
                  </a:lnTo>
                  <a:lnTo>
                    <a:pt x="186814" y="1772385"/>
                  </a:lnTo>
                  <a:lnTo>
                    <a:pt x="152978" y="1741182"/>
                  </a:lnTo>
                  <a:close/>
                </a:path>
                <a:path w="2863850" h="2010410">
                  <a:moveTo>
                    <a:pt x="2591706" y="141015"/>
                  </a:moveTo>
                  <a:lnTo>
                    <a:pt x="2490332" y="158904"/>
                  </a:lnTo>
                  <a:lnTo>
                    <a:pt x="2359285" y="185766"/>
                  </a:lnTo>
                  <a:lnTo>
                    <a:pt x="2230409" y="215892"/>
                  </a:lnTo>
                  <a:lnTo>
                    <a:pt x="2103859" y="249167"/>
                  </a:lnTo>
                  <a:lnTo>
                    <a:pt x="1979787" y="285479"/>
                  </a:lnTo>
                  <a:lnTo>
                    <a:pt x="1858345" y="324712"/>
                  </a:lnTo>
                  <a:lnTo>
                    <a:pt x="1739684" y="366751"/>
                  </a:lnTo>
                  <a:lnTo>
                    <a:pt x="1623959" y="411486"/>
                  </a:lnTo>
                  <a:lnTo>
                    <a:pt x="1511320" y="458802"/>
                  </a:lnTo>
                  <a:lnTo>
                    <a:pt x="1401919" y="508588"/>
                  </a:lnTo>
                  <a:lnTo>
                    <a:pt x="1295910" y="560731"/>
                  </a:lnTo>
                  <a:lnTo>
                    <a:pt x="1193443" y="615121"/>
                  </a:lnTo>
                  <a:lnTo>
                    <a:pt x="1094671" y="671649"/>
                  </a:lnTo>
                  <a:lnTo>
                    <a:pt x="999746" y="730204"/>
                  </a:lnTo>
                  <a:lnTo>
                    <a:pt x="908819" y="790680"/>
                  </a:lnTo>
                  <a:lnTo>
                    <a:pt x="822045" y="852970"/>
                  </a:lnTo>
                  <a:lnTo>
                    <a:pt x="739516" y="917020"/>
                  </a:lnTo>
                  <a:lnTo>
                    <a:pt x="661568" y="982569"/>
                  </a:lnTo>
                  <a:lnTo>
                    <a:pt x="588337" y="1049522"/>
                  </a:lnTo>
                  <a:lnTo>
                    <a:pt x="553267" y="1083754"/>
                  </a:lnTo>
                  <a:lnTo>
                    <a:pt x="519563" y="1118176"/>
                  </a:lnTo>
                  <a:lnTo>
                    <a:pt x="487090" y="1152923"/>
                  </a:lnTo>
                  <a:lnTo>
                    <a:pt x="455870" y="1187983"/>
                  </a:lnTo>
                  <a:lnTo>
                    <a:pt x="425923" y="1223345"/>
                  </a:lnTo>
                  <a:lnTo>
                    <a:pt x="397269" y="1258996"/>
                  </a:lnTo>
                  <a:lnTo>
                    <a:pt x="369931" y="1294925"/>
                  </a:lnTo>
                  <a:lnTo>
                    <a:pt x="343928" y="1331120"/>
                  </a:lnTo>
                  <a:lnTo>
                    <a:pt x="319281" y="1367566"/>
                  </a:lnTo>
                  <a:lnTo>
                    <a:pt x="296014" y="1404255"/>
                  </a:lnTo>
                  <a:lnTo>
                    <a:pt x="274147" y="1441174"/>
                  </a:lnTo>
                  <a:lnTo>
                    <a:pt x="253704" y="1478310"/>
                  </a:lnTo>
                  <a:lnTo>
                    <a:pt x="234814" y="1515440"/>
                  </a:lnTo>
                  <a:lnTo>
                    <a:pt x="217180" y="1553183"/>
                  </a:lnTo>
                  <a:lnTo>
                    <a:pt x="201148" y="1590893"/>
                  </a:lnTo>
                  <a:lnTo>
                    <a:pt x="186634" y="1628768"/>
                  </a:lnTo>
                  <a:lnTo>
                    <a:pt x="173663" y="1666793"/>
                  </a:lnTo>
                  <a:lnTo>
                    <a:pt x="162261" y="1704954"/>
                  </a:lnTo>
                  <a:lnTo>
                    <a:pt x="152978" y="1741182"/>
                  </a:lnTo>
                  <a:lnTo>
                    <a:pt x="186814" y="1772385"/>
                  </a:lnTo>
                  <a:lnTo>
                    <a:pt x="235549" y="1738717"/>
                  </a:lnTo>
                  <a:lnTo>
                    <a:pt x="238958" y="1725415"/>
                  </a:lnTo>
                  <a:lnTo>
                    <a:pt x="245104" y="1704954"/>
                  </a:lnTo>
                  <a:lnTo>
                    <a:pt x="261520" y="1655091"/>
                  </a:lnTo>
                  <a:lnTo>
                    <a:pt x="289957" y="1584874"/>
                  </a:lnTo>
                  <a:lnTo>
                    <a:pt x="306344" y="1549841"/>
                  </a:lnTo>
                  <a:lnTo>
                    <a:pt x="324156" y="1514878"/>
                  </a:lnTo>
                  <a:lnTo>
                    <a:pt x="343380" y="1480000"/>
                  </a:lnTo>
                  <a:lnTo>
                    <a:pt x="344405" y="1478310"/>
                  </a:lnTo>
                  <a:lnTo>
                    <a:pt x="363999" y="1445226"/>
                  </a:lnTo>
                  <a:lnTo>
                    <a:pt x="366591" y="1441174"/>
                  </a:lnTo>
                  <a:lnTo>
                    <a:pt x="386001" y="1410569"/>
                  </a:lnTo>
                  <a:lnTo>
                    <a:pt x="409365" y="1376050"/>
                  </a:lnTo>
                  <a:lnTo>
                    <a:pt x="434077" y="1341681"/>
                  </a:lnTo>
                  <a:lnTo>
                    <a:pt x="460118" y="1307481"/>
                  </a:lnTo>
                  <a:lnTo>
                    <a:pt x="487474" y="1273468"/>
                  </a:lnTo>
                  <a:lnTo>
                    <a:pt x="516124" y="1239657"/>
                  </a:lnTo>
                  <a:lnTo>
                    <a:pt x="546053" y="1206065"/>
                  </a:lnTo>
                  <a:lnTo>
                    <a:pt x="577239" y="1172710"/>
                  </a:lnTo>
                  <a:lnTo>
                    <a:pt x="609667" y="1139609"/>
                  </a:lnTo>
                  <a:lnTo>
                    <a:pt x="643317" y="1106777"/>
                  </a:lnTo>
                  <a:lnTo>
                    <a:pt x="714521" y="1041704"/>
                  </a:lnTo>
                  <a:lnTo>
                    <a:pt x="790068" y="978218"/>
                  </a:lnTo>
                  <a:lnTo>
                    <a:pt x="870123" y="916132"/>
                  </a:lnTo>
                  <a:lnTo>
                    <a:pt x="954532" y="855574"/>
                  </a:lnTo>
                  <a:lnTo>
                    <a:pt x="1043138" y="796672"/>
                  </a:lnTo>
                  <a:lnTo>
                    <a:pt x="1135787" y="739547"/>
                  </a:lnTo>
                  <a:lnTo>
                    <a:pt x="1232321" y="684325"/>
                  </a:lnTo>
                  <a:lnTo>
                    <a:pt x="1332584" y="631127"/>
                  </a:lnTo>
                  <a:lnTo>
                    <a:pt x="1436418" y="580076"/>
                  </a:lnTo>
                  <a:lnTo>
                    <a:pt x="1543667" y="531289"/>
                  </a:lnTo>
                  <a:lnTo>
                    <a:pt x="1654172" y="484888"/>
                  </a:lnTo>
                  <a:lnTo>
                    <a:pt x="1767779" y="440990"/>
                  </a:lnTo>
                  <a:lnTo>
                    <a:pt x="1884328" y="399715"/>
                  </a:lnTo>
                  <a:lnTo>
                    <a:pt x="2003663" y="361180"/>
                  </a:lnTo>
                  <a:lnTo>
                    <a:pt x="2125629" y="325501"/>
                  </a:lnTo>
                  <a:lnTo>
                    <a:pt x="2250067" y="292795"/>
                  </a:lnTo>
                  <a:lnTo>
                    <a:pt x="2375827" y="263414"/>
                  </a:lnTo>
                  <a:lnTo>
                    <a:pt x="2504739" y="236976"/>
                  </a:lnTo>
                  <a:lnTo>
                    <a:pt x="2600590" y="220049"/>
                  </a:lnTo>
                  <a:lnTo>
                    <a:pt x="2627490" y="175001"/>
                  </a:lnTo>
                  <a:lnTo>
                    <a:pt x="2591706" y="141015"/>
                  </a:lnTo>
                  <a:close/>
                </a:path>
                <a:path w="2863850" h="2010410">
                  <a:moveTo>
                    <a:pt x="2843676" y="135917"/>
                  </a:moveTo>
                  <a:lnTo>
                    <a:pt x="2620592" y="135917"/>
                  </a:lnTo>
                  <a:lnTo>
                    <a:pt x="2634387" y="214085"/>
                  </a:lnTo>
                  <a:lnTo>
                    <a:pt x="2600590" y="220049"/>
                  </a:lnTo>
                  <a:lnTo>
                    <a:pt x="2497204" y="393186"/>
                  </a:lnTo>
                  <a:lnTo>
                    <a:pt x="2863402" y="142613"/>
                  </a:lnTo>
                  <a:lnTo>
                    <a:pt x="2843676" y="135917"/>
                  </a:lnTo>
                  <a:close/>
                </a:path>
                <a:path w="2863850" h="2010410">
                  <a:moveTo>
                    <a:pt x="2627490" y="175001"/>
                  </a:moveTo>
                  <a:lnTo>
                    <a:pt x="2600590" y="220049"/>
                  </a:lnTo>
                  <a:lnTo>
                    <a:pt x="2634387" y="214085"/>
                  </a:lnTo>
                  <a:lnTo>
                    <a:pt x="2627490" y="175001"/>
                  </a:lnTo>
                  <a:close/>
                </a:path>
                <a:path w="2863850" h="2010410">
                  <a:moveTo>
                    <a:pt x="2620592" y="135917"/>
                  </a:moveTo>
                  <a:lnTo>
                    <a:pt x="2591706" y="141015"/>
                  </a:lnTo>
                  <a:lnTo>
                    <a:pt x="2627490" y="175001"/>
                  </a:lnTo>
                  <a:lnTo>
                    <a:pt x="2620592" y="135917"/>
                  </a:lnTo>
                  <a:close/>
                </a:path>
                <a:path w="2863850" h="2010410">
                  <a:moveTo>
                    <a:pt x="2443226" y="0"/>
                  </a:moveTo>
                  <a:lnTo>
                    <a:pt x="2591706" y="141015"/>
                  </a:lnTo>
                  <a:lnTo>
                    <a:pt x="2620592" y="135917"/>
                  </a:lnTo>
                  <a:lnTo>
                    <a:pt x="2843676" y="135917"/>
                  </a:lnTo>
                  <a:lnTo>
                    <a:pt x="2443226" y="0"/>
                  </a:lnTo>
                  <a:close/>
                </a:path>
              </a:pathLst>
            </a:custGeom>
            <a:solidFill>
              <a:srgbClr val="4472C4"/>
            </a:solidFill>
          </p:spPr>
          <p:txBody>
            <a:bodyPr wrap="square" lIns="0" tIns="0" rIns="0" bIns="0" rtlCol="0"/>
            <a:lstStyle/>
            <a:p>
              <a:endParaRPr/>
            </a:p>
          </p:txBody>
        </p:sp>
      </p:grpSp>
      <p:pic>
        <p:nvPicPr>
          <p:cNvPr id="9" name="Picture 8">
            <a:extLst>
              <a:ext uri="{FF2B5EF4-FFF2-40B4-BE49-F238E27FC236}">
                <a16:creationId xmlns:a16="http://schemas.microsoft.com/office/drawing/2014/main" id="{6826D4FC-6C83-0549-8498-1337487CB6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Project Selection Criteria </a:t>
            </a:r>
            <a:r>
              <a:rPr sz="1950" spc="-10" dirty="0"/>
              <a:t>(1/6)</a:t>
            </a:r>
            <a:endParaRPr sz="1950" dirty="0"/>
          </a:p>
        </p:txBody>
      </p:sp>
      <p:sp>
        <p:nvSpPr>
          <p:cNvPr id="3" name="object 3"/>
          <p:cNvSpPr txBox="1"/>
          <p:nvPr/>
        </p:nvSpPr>
        <p:spPr>
          <a:xfrm>
            <a:off x="916939" y="1527555"/>
            <a:ext cx="10357485" cy="5066030"/>
          </a:xfrm>
          <a:prstGeom prst="rect">
            <a:avLst/>
          </a:prstGeom>
        </p:spPr>
        <p:txBody>
          <a:bodyPr vert="horz" wrap="square" lIns="0" tIns="95885" rIns="0" bIns="0" rtlCol="0">
            <a:spAutoFit/>
          </a:bodyPr>
          <a:lstStyle/>
          <a:p>
            <a:pPr marL="241300" marR="5080" indent="-228600" algn="just">
              <a:lnSpc>
                <a:spcPct val="80500"/>
              </a:lnSpc>
              <a:spcBef>
                <a:spcPts val="755"/>
              </a:spcBef>
              <a:buFont typeface="Arial MT"/>
              <a:buChar char="•"/>
              <a:tabLst>
                <a:tab pos="241300" algn="l"/>
              </a:tabLst>
            </a:pPr>
            <a:r>
              <a:rPr sz="2800" dirty="0">
                <a:latin typeface="Calibri"/>
                <a:cs typeface="Calibri"/>
              </a:rPr>
              <a:t>Any</a:t>
            </a:r>
            <a:r>
              <a:rPr sz="2800" spc="110" dirty="0">
                <a:latin typeface="Calibri"/>
                <a:cs typeface="Calibri"/>
              </a:rPr>
              <a:t> </a:t>
            </a:r>
            <a:r>
              <a:rPr sz="2800" dirty="0">
                <a:latin typeface="Calibri"/>
                <a:cs typeface="Calibri"/>
              </a:rPr>
              <a:t>project</a:t>
            </a:r>
            <a:r>
              <a:rPr sz="2800" spc="110" dirty="0">
                <a:latin typeface="Calibri"/>
                <a:cs typeface="Calibri"/>
              </a:rPr>
              <a:t> </a:t>
            </a:r>
            <a:r>
              <a:rPr sz="2800" dirty="0">
                <a:latin typeface="Calibri"/>
                <a:cs typeface="Calibri"/>
              </a:rPr>
              <a:t>placed</a:t>
            </a:r>
            <a:r>
              <a:rPr sz="2800" spc="120" dirty="0">
                <a:latin typeface="Calibri"/>
                <a:cs typeface="Calibri"/>
              </a:rPr>
              <a:t> </a:t>
            </a:r>
            <a:r>
              <a:rPr sz="2800" dirty="0">
                <a:latin typeface="Calibri"/>
                <a:cs typeface="Calibri"/>
              </a:rPr>
              <a:t>in</a:t>
            </a:r>
            <a:r>
              <a:rPr sz="2800" spc="120" dirty="0">
                <a:latin typeface="Calibri"/>
                <a:cs typeface="Calibri"/>
              </a:rPr>
              <a:t> </a:t>
            </a:r>
            <a:r>
              <a:rPr sz="2800" dirty="0">
                <a:latin typeface="Calibri"/>
                <a:cs typeface="Calibri"/>
              </a:rPr>
              <a:t>the</a:t>
            </a:r>
            <a:r>
              <a:rPr sz="2800" spc="110" dirty="0">
                <a:latin typeface="Calibri"/>
                <a:cs typeface="Calibri"/>
              </a:rPr>
              <a:t> </a:t>
            </a:r>
            <a:r>
              <a:rPr sz="2800" dirty="0">
                <a:latin typeface="Calibri"/>
                <a:cs typeface="Calibri"/>
              </a:rPr>
              <a:t>“must</a:t>
            </a:r>
            <a:r>
              <a:rPr sz="2800" spc="114" dirty="0">
                <a:latin typeface="Calibri"/>
                <a:cs typeface="Calibri"/>
              </a:rPr>
              <a:t> </a:t>
            </a:r>
            <a:r>
              <a:rPr sz="2800" dirty="0">
                <a:latin typeface="Calibri"/>
                <a:cs typeface="Calibri"/>
              </a:rPr>
              <a:t>do”</a:t>
            </a:r>
            <a:r>
              <a:rPr sz="2800" spc="120" dirty="0">
                <a:latin typeface="Calibri"/>
                <a:cs typeface="Calibri"/>
              </a:rPr>
              <a:t> </a:t>
            </a:r>
            <a:r>
              <a:rPr sz="2800" dirty="0">
                <a:latin typeface="Calibri"/>
                <a:cs typeface="Calibri"/>
              </a:rPr>
              <a:t>category</a:t>
            </a:r>
            <a:r>
              <a:rPr sz="2800" spc="114" dirty="0">
                <a:latin typeface="Calibri"/>
                <a:cs typeface="Calibri"/>
              </a:rPr>
              <a:t> </a:t>
            </a:r>
            <a:r>
              <a:rPr sz="2800" dirty="0">
                <a:latin typeface="Calibri"/>
                <a:cs typeface="Calibri"/>
              </a:rPr>
              <a:t>ignores</a:t>
            </a:r>
            <a:r>
              <a:rPr sz="2800" spc="120" dirty="0">
                <a:latin typeface="Calibri"/>
                <a:cs typeface="Calibri"/>
              </a:rPr>
              <a:t> </a:t>
            </a:r>
            <a:r>
              <a:rPr sz="2800" dirty="0">
                <a:latin typeface="Calibri"/>
                <a:cs typeface="Calibri"/>
              </a:rPr>
              <a:t>other</a:t>
            </a:r>
            <a:r>
              <a:rPr sz="2800" spc="114" dirty="0">
                <a:latin typeface="Calibri"/>
                <a:cs typeface="Calibri"/>
              </a:rPr>
              <a:t> </a:t>
            </a:r>
            <a:r>
              <a:rPr sz="2800" spc="-10" dirty="0">
                <a:latin typeface="Calibri"/>
                <a:cs typeface="Calibri"/>
              </a:rPr>
              <a:t>selection </a:t>
            </a:r>
            <a:r>
              <a:rPr sz="2800" dirty="0">
                <a:latin typeface="Calibri"/>
                <a:cs typeface="Calibri"/>
              </a:rPr>
              <a:t>criteria.</a:t>
            </a:r>
            <a:r>
              <a:rPr sz="2800" spc="225" dirty="0">
                <a:latin typeface="Calibri"/>
                <a:cs typeface="Calibri"/>
              </a:rPr>
              <a:t> </a:t>
            </a:r>
            <a:r>
              <a:rPr sz="2800" dirty="0">
                <a:latin typeface="Calibri"/>
                <a:cs typeface="Calibri"/>
              </a:rPr>
              <a:t>All</a:t>
            </a:r>
            <a:r>
              <a:rPr sz="2800" spc="220" dirty="0">
                <a:latin typeface="Calibri"/>
                <a:cs typeface="Calibri"/>
              </a:rPr>
              <a:t> </a:t>
            </a:r>
            <a:r>
              <a:rPr sz="2800" dirty="0">
                <a:latin typeface="Calibri"/>
                <a:cs typeface="Calibri"/>
              </a:rPr>
              <a:t>other</a:t>
            </a:r>
            <a:r>
              <a:rPr sz="2800" spc="220" dirty="0">
                <a:latin typeface="Calibri"/>
                <a:cs typeface="Calibri"/>
              </a:rPr>
              <a:t> </a:t>
            </a:r>
            <a:r>
              <a:rPr sz="2800" dirty="0">
                <a:latin typeface="Calibri"/>
                <a:cs typeface="Calibri"/>
              </a:rPr>
              <a:t>projects</a:t>
            </a:r>
            <a:r>
              <a:rPr sz="2800" spc="225" dirty="0">
                <a:latin typeface="Calibri"/>
                <a:cs typeface="Calibri"/>
              </a:rPr>
              <a:t> </a:t>
            </a:r>
            <a:r>
              <a:rPr sz="2800" dirty="0">
                <a:latin typeface="Calibri"/>
                <a:cs typeface="Calibri"/>
              </a:rPr>
              <a:t>are</a:t>
            </a:r>
            <a:r>
              <a:rPr sz="2800" spc="220" dirty="0">
                <a:latin typeface="Calibri"/>
                <a:cs typeface="Calibri"/>
              </a:rPr>
              <a:t> </a:t>
            </a:r>
            <a:r>
              <a:rPr sz="2800" dirty="0">
                <a:latin typeface="Calibri"/>
                <a:cs typeface="Calibri"/>
              </a:rPr>
              <a:t>selected</a:t>
            </a:r>
            <a:r>
              <a:rPr sz="2800" spc="220" dirty="0">
                <a:latin typeface="Calibri"/>
                <a:cs typeface="Calibri"/>
              </a:rPr>
              <a:t> </a:t>
            </a:r>
            <a:r>
              <a:rPr sz="2800" dirty="0">
                <a:latin typeface="Calibri"/>
                <a:cs typeface="Calibri"/>
              </a:rPr>
              <a:t>using</a:t>
            </a:r>
            <a:r>
              <a:rPr sz="2800" spc="220" dirty="0">
                <a:latin typeface="Calibri"/>
                <a:cs typeface="Calibri"/>
              </a:rPr>
              <a:t> </a:t>
            </a:r>
            <a:r>
              <a:rPr sz="2800" dirty="0">
                <a:latin typeface="Calibri"/>
                <a:cs typeface="Calibri"/>
              </a:rPr>
              <a:t>selection</a:t>
            </a:r>
            <a:r>
              <a:rPr sz="2800" spc="220" dirty="0">
                <a:latin typeface="Calibri"/>
                <a:cs typeface="Calibri"/>
              </a:rPr>
              <a:t> </a:t>
            </a:r>
            <a:r>
              <a:rPr sz="2800" dirty="0">
                <a:latin typeface="Calibri"/>
                <a:cs typeface="Calibri"/>
              </a:rPr>
              <a:t>criteria</a:t>
            </a:r>
            <a:r>
              <a:rPr sz="2800" spc="220" dirty="0">
                <a:latin typeface="Calibri"/>
                <a:cs typeface="Calibri"/>
              </a:rPr>
              <a:t> </a:t>
            </a:r>
            <a:r>
              <a:rPr sz="2800" spc="-10" dirty="0">
                <a:latin typeface="Calibri"/>
                <a:cs typeface="Calibri"/>
              </a:rPr>
              <a:t>linked </a:t>
            </a:r>
            <a:r>
              <a:rPr sz="2800" dirty="0">
                <a:latin typeface="Calibri"/>
                <a:cs typeface="Calibri"/>
              </a:rPr>
              <a:t>to</a:t>
            </a:r>
            <a:r>
              <a:rPr sz="2800" spc="215" dirty="0">
                <a:latin typeface="Calibri"/>
                <a:cs typeface="Calibri"/>
              </a:rPr>
              <a:t> </a:t>
            </a:r>
            <a:r>
              <a:rPr sz="2800" dirty="0">
                <a:latin typeface="Calibri"/>
                <a:cs typeface="Calibri"/>
              </a:rPr>
              <a:t>organization</a:t>
            </a:r>
            <a:r>
              <a:rPr sz="2800" spc="220" dirty="0">
                <a:latin typeface="Calibri"/>
                <a:cs typeface="Calibri"/>
              </a:rPr>
              <a:t> </a:t>
            </a:r>
            <a:r>
              <a:rPr sz="2800" dirty="0">
                <a:latin typeface="Calibri"/>
                <a:cs typeface="Calibri"/>
              </a:rPr>
              <a:t>strategy.</a:t>
            </a:r>
            <a:r>
              <a:rPr sz="2800" spc="225" dirty="0">
                <a:latin typeface="Calibri"/>
                <a:cs typeface="Calibri"/>
              </a:rPr>
              <a:t>  </a:t>
            </a:r>
            <a:r>
              <a:rPr sz="2800" dirty="0">
                <a:latin typeface="Calibri"/>
                <a:cs typeface="Calibri"/>
              </a:rPr>
              <a:t>Selection</a:t>
            </a:r>
            <a:r>
              <a:rPr sz="2800" spc="215" dirty="0">
                <a:latin typeface="Calibri"/>
                <a:cs typeface="Calibri"/>
              </a:rPr>
              <a:t> </a:t>
            </a:r>
            <a:r>
              <a:rPr sz="2800" dirty="0">
                <a:latin typeface="Calibri"/>
                <a:cs typeface="Calibri"/>
              </a:rPr>
              <a:t>criteria</a:t>
            </a:r>
            <a:r>
              <a:rPr sz="2800" spc="215" dirty="0">
                <a:latin typeface="Calibri"/>
                <a:cs typeface="Calibri"/>
              </a:rPr>
              <a:t> </a:t>
            </a:r>
            <a:r>
              <a:rPr sz="2800" dirty="0">
                <a:latin typeface="Calibri"/>
                <a:cs typeface="Calibri"/>
              </a:rPr>
              <a:t>are</a:t>
            </a:r>
            <a:r>
              <a:rPr sz="2800" spc="215" dirty="0">
                <a:latin typeface="Calibri"/>
                <a:cs typeface="Calibri"/>
              </a:rPr>
              <a:t> </a:t>
            </a:r>
            <a:r>
              <a:rPr sz="2800" dirty="0">
                <a:latin typeface="Calibri"/>
                <a:cs typeface="Calibri"/>
              </a:rPr>
              <a:t>typically</a:t>
            </a:r>
            <a:r>
              <a:rPr sz="2800" spc="210" dirty="0">
                <a:latin typeface="Calibri"/>
                <a:cs typeface="Calibri"/>
              </a:rPr>
              <a:t> </a:t>
            </a:r>
            <a:r>
              <a:rPr sz="2800" dirty="0">
                <a:latin typeface="Calibri"/>
                <a:cs typeface="Calibri"/>
              </a:rPr>
              <a:t>identified</a:t>
            </a:r>
            <a:r>
              <a:rPr sz="2800" spc="220" dirty="0">
                <a:latin typeface="Calibri"/>
                <a:cs typeface="Calibri"/>
              </a:rPr>
              <a:t> </a:t>
            </a:r>
            <a:r>
              <a:rPr sz="2800" spc="-25" dirty="0">
                <a:latin typeface="Calibri"/>
                <a:cs typeface="Calibri"/>
              </a:rPr>
              <a:t>as </a:t>
            </a:r>
            <a:r>
              <a:rPr sz="2800" u="heavy" dirty="0">
                <a:solidFill>
                  <a:srgbClr val="C00000"/>
                </a:solidFill>
                <a:uFill>
                  <a:solidFill>
                    <a:srgbClr val="C00000"/>
                  </a:solidFill>
                </a:uFill>
                <a:latin typeface="Calibri"/>
                <a:cs typeface="Calibri"/>
              </a:rPr>
              <a:t>financial</a:t>
            </a:r>
            <a:r>
              <a:rPr sz="2800" spc="-45" dirty="0">
                <a:solidFill>
                  <a:srgbClr val="C00000"/>
                </a:solidFill>
                <a:latin typeface="Calibri"/>
                <a:cs typeface="Calibri"/>
              </a:rPr>
              <a:t> </a:t>
            </a:r>
            <a:r>
              <a:rPr sz="2800" dirty="0">
                <a:latin typeface="Calibri"/>
                <a:cs typeface="Calibri"/>
              </a:rPr>
              <a:t>and</a:t>
            </a:r>
            <a:r>
              <a:rPr sz="2800" spc="-40" dirty="0">
                <a:latin typeface="Calibri"/>
                <a:cs typeface="Calibri"/>
              </a:rPr>
              <a:t> </a:t>
            </a:r>
            <a:r>
              <a:rPr sz="2800" u="heavy" spc="-10" dirty="0">
                <a:solidFill>
                  <a:srgbClr val="C00000"/>
                </a:solidFill>
                <a:uFill>
                  <a:solidFill>
                    <a:srgbClr val="C00000"/>
                  </a:solidFill>
                </a:uFill>
                <a:latin typeface="Calibri"/>
                <a:cs typeface="Calibri"/>
              </a:rPr>
              <a:t>nonfinancial</a:t>
            </a:r>
            <a:r>
              <a:rPr sz="2800" spc="-10" dirty="0">
                <a:solidFill>
                  <a:srgbClr val="C00000"/>
                </a:solidFill>
                <a:latin typeface="Calibri"/>
                <a:cs typeface="Calibri"/>
              </a:rPr>
              <a:t>.</a:t>
            </a:r>
            <a:endParaRPr sz="2800">
              <a:latin typeface="Calibri"/>
              <a:cs typeface="Calibri"/>
            </a:endParaRPr>
          </a:p>
          <a:p>
            <a:pPr marL="241300" marR="5080" indent="-228600" algn="just">
              <a:lnSpc>
                <a:spcPct val="78900"/>
              </a:lnSpc>
              <a:spcBef>
                <a:spcPts val="1045"/>
              </a:spcBef>
              <a:buFont typeface="Arial MT"/>
              <a:buChar char="•"/>
              <a:tabLst>
                <a:tab pos="241300" algn="l"/>
              </a:tabLst>
            </a:pPr>
            <a:r>
              <a:rPr sz="2800" dirty="0">
                <a:latin typeface="Calibri"/>
                <a:cs typeface="Calibri"/>
              </a:rPr>
              <a:t>Financial</a:t>
            </a:r>
            <a:r>
              <a:rPr sz="2800" spc="470" dirty="0">
                <a:latin typeface="Calibri"/>
                <a:cs typeface="Calibri"/>
              </a:rPr>
              <a:t> </a:t>
            </a:r>
            <a:r>
              <a:rPr sz="2800" dirty="0">
                <a:latin typeface="Calibri"/>
                <a:cs typeface="Calibri"/>
              </a:rPr>
              <a:t>return,</a:t>
            </a:r>
            <a:r>
              <a:rPr sz="2800" spc="475" dirty="0">
                <a:latin typeface="Calibri"/>
                <a:cs typeface="Calibri"/>
              </a:rPr>
              <a:t> </a:t>
            </a:r>
            <a:r>
              <a:rPr sz="2800" dirty="0">
                <a:latin typeface="Calibri"/>
                <a:cs typeface="Calibri"/>
              </a:rPr>
              <a:t>while</a:t>
            </a:r>
            <a:r>
              <a:rPr sz="2800" spc="470" dirty="0">
                <a:latin typeface="Calibri"/>
                <a:cs typeface="Calibri"/>
              </a:rPr>
              <a:t> </a:t>
            </a:r>
            <a:r>
              <a:rPr sz="2800" dirty="0">
                <a:latin typeface="Calibri"/>
                <a:cs typeface="Calibri"/>
              </a:rPr>
              <a:t>important,</a:t>
            </a:r>
            <a:r>
              <a:rPr sz="2800" spc="475" dirty="0">
                <a:latin typeface="Calibri"/>
                <a:cs typeface="Calibri"/>
              </a:rPr>
              <a:t> </a:t>
            </a:r>
            <a:r>
              <a:rPr sz="2800" dirty="0">
                <a:latin typeface="Calibri"/>
                <a:cs typeface="Calibri"/>
              </a:rPr>
              <a:t>does</a:t>
            </a:r>
            <a:r>
              <a:rPr sz="2800" spc="480" dirty="0">
                <a:latin typeface="Calibri"/>
                <a:cs typeface="Calibri"/>
              </a:rPr>
              <a:t> </a:t>
            </a:r>
            <a:r>
              <a:rPr sz="2800" dirty="0">
                <a:latin typeface="Calibri"/>
                <a:cs typeface="Calibri"/>
              </a:rPr>
              <a:t>not</a:t>
            </a:r>
            <a:r>
              <a:rPr sz="2800" spc="475" dirty="0">
                <a:latin typeface="Calibri"/>
                <a:cs typeface="Calibri"/>
              </a:rPr>
              <a:t> </a:t>
            </a:r>
            <a:r>
              <a:rPr sz="2800" dirty="0">
                <a:latin typeface="Calibri"/>
                <a:cs typeface="Calibri"/>
              </a:rPr>
              <a:t>always</a:t>
            </a:r>
            <a:r>
              <a:rPr sz="2800" spc="480" dirty="0">
                <a:latin typeface="Calibri"/>
                <a:cs typeface="Calibri"/>
              </a:rPr>
              <a:t> </a:t>
            </a:r>
            <a:r>
              <a:rPr sz="2800" dirty="0">
                <a:latin typeface="Calibri"/>
                <a:cs typeface="Calibri"/>
              </a:rPr>
              <a:t>reflect</a:t>
            </a:r>
            <a:r>
              <a:rPr sz="2800" spc="470" dirty="0">
                <a:latin typeface="Calibri"/>
                <a:cs typeface="Calibri"/>
              </a:rPr>
              <a:t> </a:t>
            </a:r>
            <a:r>
              <a:rPr sz="2800" spc="-10" dirty="0">
                <a:latin typeface="Calibri"/>
                <a:cs typeface="Calibri"/>
              </a:rPr>
              <a:t>strategic </a:t>
            </a:r>
            <a:r>
              <a:rPr sz="2800" dirty="0">
                <a:latin typeface="Calibri"/>
                <a:cs typeface="Calibri"/>
              </a:rPr>
              <a:t>importance.</a:t>
            </a:r>
            <a:r>
              <a:rPr sz="2800" spc="80" dirty="0">
                <a:latin typeface="Calibri"/>
                <a:cs typeface="Calibri"/>
              </a:rPr>
              <a:t> </a:t>
            </a:r>
            <a:r>
              <a:rPr sz="2800" dirty="0">
                <a:latin typeface="Calibri"/>
                <a:cs typeface="Calibri"/>
              </a:rPr>
              <a:t>A</a:t>
            </a:r>
            <a:r>
              <a:rPr sz="2800" spc="75" dirty="0">
                <a:latin typeface="Calibri"/>
                <a:cs typeface="Calibri"/>
              </a:rPr>
              <a:t> </a:t>
            </a:r>
            <a:r>
              <a:rPr sz="2800" dirty="0">
                <a:latin typeface="Calibri"/>
                <a:cs typeface="Calibri"/>
              </a:rPr>
              <a:t>firm</a:t>
            </a:r>
            <a:r>
              <a:rPr sz="2800" spc="75" dirty="0">
                <a:latin typeface="Calibri"/>
                <a:cs typeface="Calibri"/>
              </a:rPr>
              <a:t> </a:t>
            </a:r>
            <a:r>
              <a:rPr sz="2800" dirty="0">
                <a:latin typeface="Calibri"/>
                <a:cs typeface="Calibri"/>
              </a:rPr>
              <a:t>may</a:t>
            </a:r>
            <a:r>
              <a:rPr sz="2800" spc="70" dirty="0">
                <a:latin typeface="Calibri"/>
                <a:cs typeface="Calibri"/>
              </a:rPr>
              <a:t> </a:t>
            </a:r>
            <a:r>
              <a:rPr sz="2800" dirty="0">
                <a:latin typeface="Calibri"/>
                <a:cs typeface="Calibri"/>
              </a:rPr>
              <a:t>support</a:t>
            </a:r>
            <a:r>
              <a:rPr sz="2800" spc="75" dirty="0">
                <a:latin typeface="Calibri"/>
                <a:cs typeface="Calibri"/>
              </a:rPr>
              <a:t> </a:t>
            </a:r>
            <a:r>
              <a:rPr sz="2800" dirty="0">
                <a:latin typeface="Calibri"/>
                <a:cs typeface="Calibri"/>
              </a:rPr>
              <a:t>projects</a:t>
            </a:r>
            <a:r>
              <a:rPr sz="2800" spc="75" dirty="0">
                <a:latin typeface="Calibri"/>
                <a:cs typeface="Calibri"/>
              </a:rPr>
              <a:t> </a:t>
            </a:r>
            <a:r>
              <a:rPr sz="2800" dirty="0">
                <a:latin typeface="Calibri"/>
                <a:cs typeface="Calibri"/>
              </a:rPr>
              <a:t>that</a:t>
            </a:r>
            <a:r>
              <a:rPr sz="2800" spc="75" dirty="0">
                <a:latin typeface="Calibri"/>
                <a:cs typeface="Calibri"/>
              </a:rPr>
              <a:t> </a:t>
            </a:r>
            <a:r>
              <a:rPr sz="2800" dirty="0">
                <a:latin typeface="Calibri"/>
                <a:cs typeface="Calibri"/>
              </a:rPr>
              <a:t>do</a:t>
            </a:r>
            <a:r>
              <a:rPr sz="2800" spc="70" dirty="0">
                <a:latin typeface="Calibri"/>
                <a:cs typeface="Calibri"/>
              </a:rPr>
              <a:t> </a:t>
            </a:r>
            <a:r>
              <a:rPr sz="2800" dirty="0">
                <a:latin typeface="Calibri"/>
                <a:cs typeface="Calibri"/>
              </a:rPr>
              <a:t>not</a:t>
            </a:r>
            <a:r>
              <a:rPr sz="2800" spc="75" dirty="0">
                <a:latin typeface="Calibri"/>
                <a:cs typeface="Calibri"/>
              </a:rPr>
              <a:t> </a:t>
            </a:r>
            <a:r>
              <a:rPr sz="2800" dirty="0">
                <a:latin typeface="Calibri"/>
                <a:cs typeface="Calibri"/>
              </a:rPr>
              <a:t>have</a:t>
            </a:r>
            <a:r>
              <a:rPr sz="2800" spc="70" dirty="0">
                <a:latin typeface="Calibri"/>
                <a:cs typeface="Calibri"/>
              </a:rPr>
              <a:t> </a:t>
            </a:r>
            <a:r>
              <a:rPr sz="2800" dirty="0">
                <a:latin typeface="Calibri"/>
                <a:cs typeface="Calibri"/>
              </a:rPr>
              <a:t>high</a:t>
            </a:r>
            <a:r>
              <a:rPr sz="2800" spc="80" dirty="0">
                <a:latin typeface="Calibri"/>
                <a:cs typeface="Calibri"/>
              </a:rPr>
              <a:t> </a:t>
            </a:r>
            <a:r>
              <a:rPr sz="2800" spc="-10" dirty="0">
                <a:latin typeface="Calibri"/>
                <a:cs typeface="Calibri"/>
              </a:rPr>
              <a:t>profit </a:t>
            </a:r>
            <a:r>
              <a:rPr sz="2800" dirty="0">
                <a:latin typeface="Calibri"/>
                <a:cs typeface="Calibri"/>
              </a:rPr>
              <a:t>margins</a:t>
            </a:r>
            <a:r>
              <a:rPr sz="2800" spc="-85" dirty="0">
                <a:latin typeface="Calibri"/>
                <a:cs typeface="Calibri"/>
              </a:rPr>
              <a:t> </a:t>
            </a:r>
            <a:r>
              <a:rPr sz="2800" dirty="0">
                <a:latin typeface="Calibri"/>
                <a:cs typeface="Calibri"/>
              </a:rPr>
              <a:t>for</a:t>
            </a:r>
            <a:r>
              <a:rPr sz="2800" spc="-85" dirty="0">
                <a:latin typeface="Calibri"/>
                <a:cs typeface="Calibri"/>
              </a:rPr>
              <a:t> </a:t>
            </a:r>
            <a:r>
              <a:rPr sz="2800" dirty="0">
                <a:latin typeface="Calibri"/>
                <a:cs typeface="Calibri"/>
              </a:rPr>
              <a:t>other</a:t>
            </a:r>
            <a:r>
              <a:rPr sz="2800" spc="-85" dirty="0">
                <a:latin typeface="Calibri"/>
                <a:cs typeface="Calibri"/>
              </a:rPr>
              <a:t> </a:t>
            </a:r>
            <a:r>
              <a:rPr sz="2800" spc="-10" dirty="0">
                <a:latin typeface="Calibri"/>
                <a:cs typeface="Calibri"/>
              </a:rPr>
              <a:t>strategic</a:t>
            </a:r>
            <a:r>
              <a:rPr sz="2800" spc="-80" dirty="0">
                <a:latin typeface="Calibri"/>
                <a:cs typeface="Calibri"/>
              </a:rPr>
              <a:t> </a:t>
            </a:r>
            <a:r>
              <a:rPr sz="2800" dirty="0">
                <a:latin typeface="Calibri"/>
                <a:cs typeface="Calibri"/>
              </a:rPr>
              <a:t>reasons</a:t>
            </a:r>
            <a:r>
              <a:rPr sz="2800" spc="-80" dirty="0">
                <a:latin typeface="Calibri"/>
                <a:cs typeface="Calibri"/>
              </a:rPr>
              <a:t> </a:t>
            </a:r>
            <a:r>
              <a:rPr sz="2800" spc="-10" dirty="0">
                <a:latin typeface="Calibri"/>
                <a:cs typeface="Calibri"/>
              </a:rPr>
              <a:t>including:</a:t>
            </a:r>
            <a:endParaRPr sz="2800">
              <a:latin typeface="Calibri"/>
              <a:cs typeface="Calibri"/>
            </a:endParaRPr>
          </a:p>
          <a:p>
            <a:pPr marL="697230" lvl="1" indent="-227329">
              <a:lnSpc>
                <a:spcPts val="2775"/>
              </a:lnSpc>
              <a:buFont typeface="Arial MT"/>
              <a:buChar char="•"/>
              <a:tabLst>
                <a:tab pos="697230" algn="l"/>
              </a:tabLst>
            </a:pPr>
            <a:r>
              <a:rPr sz="2400" dirty="0">
                <a:latin typeface="Calibri"/>
                <a:cs typeface="Calibri"/>
              </a:rPr>
              <a:t>Capture</a:t>
            </a:r>
            <a:r>
              <a:rPr sz="2400" spc="-114" dirty="0">
                <a:latin typeface="Calibri"/>
                <a:cs typeface="Calibri"/>
              </a:rPr>
              <a:t> </a:t>
            </a:r>
            <a:r>
              <a:rPr sz="2400" dirty="0">
                <a:latin typeface="Calibri"/>
                <a:cs typeface="Calibri"/>
              </a:rPr>
              <a:t>larger</a:t>
            </a:r>
            <a:r>
              <a:rPr sz="2400" spc="-114" dirty="0">
                <a:latin typeface="Calibri"/>
                <a:cs typeface="Calibri"/>
              </a:rPr>
              <a:t> </a:t>
            </a:r>
            <a:r>
              <a:rPr sz="2400" dirty="0">
                <a:latin typeface="Calibri"/>
                <a:cs typeface="Calibri"/>
              </a:rPr>
              <a:t>market</a:t>
            </a:r>
            <a:r>
              <a:rPr sz="2400" spc="-114" dirty="0">
                <a:latin typeface="Calibri"/>
                <a:cs typeface="Calibri"/>
              </a:rPr>
              <a:t> </a:t>
            </a:r>
            <a:r>
              <a:rPr sz="2400" spc="-10" dirty="0">
                <a:latin typeface="Calibri"/>
                <a:cs typeface="Calibri"/>
              </a:rPr>
              <a:t>share.</a:t>
            </a:r>
            <a:endParaRPr sz="2400">
              <a:latin typeface="Calibri"/>
              <a:cs typeface="Calibri"/>
            </a:endParaRPr>
          </a:p>
          <a:p>
            <a:pPr marL="697230" lvl="1" indent="-227329">
              <a:lnSpc>
                <a:spcPts val="2830"/>
              </a:lnSpc>
              <a:buFont typeface="Arial MT"/>
              <a:buChar char="•"/>
              <a:tabLst>
                <a:tab pos="697230" algn="l"/>
              </a:tabLst>
            </a:pPr>
            <a:r>
              <a:rPr sz="2400" dirty="0">
                <a:latin typeface="Calibri"/>
                <a:cs typeface="Calibri"/>
              </a:rPr>
              <a:t>Make</a:t>
            </a:r>
            <a:r>
              <a:rPr sz="2400" spc="-70" dirty="0">
                <a:latin typeface="Calibri"/>
                <a:cs typeface="Calibri"/>
              </a:rPr>
              <a:t> </a:t>
            </a:r>
            <a:r>
              <a:rPr sz="2400" dirty="0">
                <a:latin typeface="Calibri"/>
                <a:cs typeface="Calibri"/>
              </a:rPr>
              <a:t>it</a:t>
            </a:r>
            <a:r>
              <a:rPr sz="2400" spc="-70" dirty="0">
                <a:latin typeface="Calibri"/>
                <a:cs typeface="Calibri"/>
              </a:rPr>
              <a:t> </a:t>
            </a:r>
            <a:r>
              <a:rPr sz="2400" dirty="0">
                <a:latin typeface="Calibri"/>
                <a:cs typeface="Calibri"/>
              </a:rPr>
              <a:t>difficult</a:t>
            </a:r>
            <a:r>
              <a:rPr sz="2400" spc="-70" dirty="0">
                <a:latin typeface="Calibri"/>
                <a:cs typeface="Calibri"/>
              </a:rPr>
              <a:t> </a:t>
            </a:r>
            <a:r>
              <a:rPr sz="2400" dirty="0">
                <a:latin typeface="Calibri"/>
                <a:cs typeface="Calibri"/>
              </a:rPr>
              <a:t>for</a:t>
            </a:r>
            <a:r>
              <a:rPr sz="2400" spc="-70" dirty="0">
                <a:latin typeface="Calibri"/>
                <a:cs typeface="Calibri"/>
              </a:rPr>
              <a:t> </a:t>
            </a:r>
            <a:r>
              <a:rPr sz="2400" spc="-10" dirty="0">
                <a:latin typeface="Calibri"/>
                <a:cs typeface="Calibri"/>
              </a:rPr>
              <a:t>competitors</a:t>
            </a:r>
            <a:r>
              <a:rPr sz="2400" spc="-65" dirty="0">
                <a:latin typeface="Calibri"/>
                <a:cs typeface="Calibri"/>
              </a:rPr>
              <a:t> </a:t>
            </a:r>
            <a:r>
              <a:rPr sz="2400" dirty="0">
                <a:latin typeface="Calibri"/>
                <a:cs typeface="Calibri"/>
              </a:rPr>
              <a:t>to</a:t>
            </a:r>
            <a:r>
              <a:rPr sz="2400" spc="-70" dirty="0">
                <a:latin typeface="Calibri"/>
                <a:cs typeface="Calibri"/>
              </a:rPr>
              <a:t> </a:t>
            </a:r>
            <a:r>
              <a:rPr sz="2400" dirty="0">
                <a:latin typeface="Calibri"/>
                <a:cs typeface="Calibri"/>
              </a:rPr>
              <a:t>enter</a:t>
            </a:r>
            <a:r>
              <a:rPr sz="2400" spc="-70" dirty="0">
                <a:latin typeface="Calibri"/>
                <a:cs typeface="Calibri"/>
              </a:rPr>
              <a:t> </a:t>
            </a:r>
            <a:r>
              <a:rPr sz="2400" dirty="0">
                <a:latin typeface="Calibri"/>
                <a:cs typeface="Calibri"/>
              </a:rPr>
              <a:t>the</a:t>
            </a:r>
            <a:r>
              <a:rPr sz="2400" spc="-60" dirty="0">
                <a:latin typeface="Calibri"/>
                <a:cs typeface="Calibri"/>
              </a:rPr>
              <a:t> </a:t>
            </a:r>
            <a:r>
              <a:rPr sz="2400" spc="-10" dirty="0">
                <a:latin typeface="Calibri"/>
                <a:cs typeface="Calibri"/>
              </a:rPr>
              <a:t>market.</a:t>
            </a:r>
            <a:endParaRPr sz="2400">
              <a:latin typeface="Calibri"/>
              <a:cs typeface="Calibri"/>
            </a:endParaRPr>
          </a:p>
          <a:p>
            <a:pPr marL="697230" lvl="1" indent="-227329">
              <a:lnSpc>
                <a:spcPts val="2845"/>
              </a:lnSpc>
              <a:spcBef>
                <a:spcPts val="25"/>
              </a:spcBef>
              <a:buFont typeface="Arial MT"/>
              <a:buChar char="•"/>
              <a:tabLst>
                <a:tab pos="697230" algn="l"/>
              </a:tabLst>
            </a:pPr>
            <a:r>
              <a:rPr sz="2400" dirty="0">
                <a:latin typeface="Calibri"/>
                <a:cs typeface="Calibri"/>
              </a:rPr>
              <a:t>Develop</a:t>
            </a:r>
            <a:r>
              <a:rPr sz="2400" spc="-65" dirty="0">
                <a:latin typeface="Calibri"/>
                <a:cs typeface="Calibri"/>
              </a:rPr>
              <a:t> </a:t>
            </a:r>
            <a:r>
              <a:rPr sz="2400" dirty="0">
                <a:latin typeface="Calibri"/>
                <a:cs typeface="Calibri"/>
              </a:rPr>
              <a:t>core</a:t>
            </a:r>
            <a:r>
              <a:rPr sz="2400" spc="-55" dirty="0">
                <a:latin typeface="Calibri"/>
                <a:cs typeface="Calibri"/>
              </a:rPr>
              <a:t> </a:t>
            </a:r>
            <a:r>
              <a:rPr sz="2400" dirty="0">
                <a:latin typeface="Calibri"/>
                <a:cs typeface="Calibri"/>
              </a:rPr>
              <a:t>technology</a:t>
            </a:r>
            <a:r>
              <a:rPr sz="2400" spc="-65" dirty="0">
                <a:latin typeface="Calibri"/>
                <a:cs typeface="Calibri"/>
              </a:rPr>
              <a:t> </a:t>
            </a:r>
            <a:r>
              <a:rPr sz="2400" dirty="0">
                <a:latin typeface="Calibri"/>
                <a:cs typeface="Calibri"/>
              </a:rPr>
              <a:t>that</a:t>
            </a:r>
            <a:r>
              <a:rPr sz="2400" spc="-60" dirty="0">
                <a:latin typeface="Calibri"/>
                <a:cs typeface="Calibri"/>
              </a:rPr>
              <a:t> </a:t>
            </a:r>
            <a:r>
              <a:rPr sz="2400" dirty="0">
                <a:latin typeface="Calibri"/>
                <a:cs typeface="Calibri"/>
              </a:rPr>
              <a:t>will</a:t>
            </a:r>
            <a:r>
              <a:rPr sz="2400" spc="-65" dirty="0">
                <a:latin typeface="Calibri"/>
                <a:cs typeface="Calibri"/>
              </a:rPr>
              <a:t> </a:t>
            </a:r>
            <a:r>
              <a:rPr sz="2400" dirty="0">
                <a:latin typeface="Calibri"/>
                <a:cs typeface="Calibri"/>
              </a:rPr>
              <a:t>be</a:t>
            </a:r>
            <a:r>
              <a:rPr sz="2400" spc="-60" dirty="0">
                <a:latin typeface="Calibri"/>
                <a:cs typeface="Calibri"/>
              </a:rPr>
              <a:t> </a:t>
            </a:r>
            <a:r>
              <a:rPr sz="2400" dirty="0">
                <a:latin typeface="Calibri"/>
                <a:cs typeface="Calibri"/>
              </a:rPr>
              <a:t>used</a:t>
            </a:r>
            <a:r>
              <a:rPr sz="2400" spc="-55" dirty="0">
                <a:latin typeface="Calibri"/>
                <a:cs typeface="Calibri"/>
              </a:rPr>
              <a:t> </a:t>
            </a:r>
            <a:r>
              <a:rPr sz="2400" dirty="0">
                <a:latin typeface="Calibri"/>
                <a:cs typeface="Calibri"/>
              </a:rPr>
              <a:t>in</a:t>
            </a:r>
            <a:r>
              <a:rPr sz="2400" spc="-60" dirty="0">
                <a:latin typeface="Calibri"/>
                <a:cs typeface="Calibri"/>
              </a:rPr>
              <a:t> </a:t>
            </a:r>
            <a:r>
              <a:rPr sz="2400" spc="-35" dirty="0">
                <a:latin typeface="Calibri"/>
                <a:cs typeface="Calibri"/>
              </a:rPr>
              <a:t>next-</a:t>
            </a:r>
            <a:r>
              <a:rPr sz="2400" spc="-10" dirty="0">
                <a:latin typeface="Calibri"/>
                <a:cs typeface="Calibri"/>
              </a:rPr>
              <a:t>generation</a:t>
            </a:r>
            <a:r>
              <a:rPr sz="2400" spc="-65" dirty="0">
                <a:latin typeface="Calibri"/>
                <a:cs typeface="Calibri"/>
              </a:rPr>
              <a:t> </a:t>
            </a:r>
            <a:r>
              <a:rPr sz="2400" spc="-10" dirty="0">
                <a:latin typeface="Calibri"/>
                <a:cs typeface="Calibri"/>
              </a:rPr>
              <a:t>products.</a:t>
            </a:r>
            <a:endParaRPr sz="2400">
              <a:latin typeface="Calibri"/>
              <a:cs typeface="Calibri"/>
            </a:endParaRPr>
          </a:p>
          <a:p>
            <a:pPr marL="697230" lvl="1" indent="-227329">
              <a:lnSpc>
                <a:spcPts val="2795"/>
              </a:lnSpc>
              <a:buFont typeface="Arial MT"/>
              <a:buChar char="•"/>
              <a:tabLst>
                <a:tab pos="697230" algn="l"/>
              </a:tabLst>
            </a:pPr>
            <a:r>
              <a:rPr sz="2400" dirty="0">
                <a:latin typeface="Calibri"/>
                <a:cs typeface="Calibri"/>
              </a:rPr>
              <a:t>Reduce</a:t>
            </a:r>
            <a:r>
              <a:rPr sz="2400" spc="-65" dirty="0">
                <a:latin typeface="Calibri"/>
                <a:cs typeface="Calibri"/>
              </a:rPr>
              <a:t> </a:t>
            </a:r>
            <a:r>
              <a:rPr sz="2400" dirty="0">
                <a:latin typeface="Calibri"/>
                <a:cs typeface="Calibri"/>
              </a:rPr>
              <a:t>dependency</a:t>
            </a:r>
            <a:r>
              <a:rPr sz="2400" spc="-75" dirty="0">
                <a:latin typeface="Calibri"/>
                <a:cs typeface="Calibri"/>
              </a:rPr>
              <a:t> </a:t>
            </a:r>
            <a:r>
              <a:rPr sz="2400" dirty="0">
                <a:latin typeface="Calibri"/>
                <a:cs typeface="Calibri"/>
              </a:rPr>
              <a:t>on</a:t>
            </a:r>
            <a:r>
              <a:rPr sz="2400" spc="-60" dirty="0">
                <a:latin typeface="Calibri"/>
                <a:cs typeface="Calibri"/>
              </a:rPr>
              <a:t> </a:t>
            </a:r>
            <a:r>
              <a:rPr sz="2400" spc="-10" dirty="0">
                <a:latin typeface="Calibri"/>
                <a:cs typeface="Calibri"/>
              </a:rPr>
              <a:t>unreliable</a:t>
            </a:r>
            <a:r>
              <a:rPr sz="2400" spc="-65" dirty="0">
                <a:latin typeface="Calibri"/>
                <a:cs typeface="Calibri"/>
              </a:rPr>
              <a:t> </a:t>
            </a:r>
            <a:r>
              <a:rPr sz="2400" spc="-10" dirty="0">
                <a:latin typeface="Calibri"/>
                <a:cs typeface="Calibri"/>
              </a:rPr>
              <a:t>suppliers.</a:t>
            </a:r>
            <a:endParaRPr sz="2400">
              <a:latin typeface="Calibri"/>
              <a:cs typeface="Calibri"/>
            </a:endParaRPr>
          </a:p>
          <a:p>
            <a:pPr marL="697230" lvl="1" indent="-227329">
              <a:lnSpc>
                <a:spcPts val="2795"/>
              </a:lnSpc>
              <a:buFont typeface="Arial MT"/>
              <a:buChar char="•"/>
              <a:tabLst>
                <a:tab pos="697230" algn="l"/>
              </a:tabLst>
            </a:pPr>
            <a:r>
              <a:rPr sz="2400" spc="-10" dirty="0">
                <a:latin typeface="Calibri"/>
                <a:cs typeface="Calibri"/>
              </a:rPr>
              <a:t>Restore</a:t>
            </a:r>
            <a:r>
              <a:rPr sz="2400" spc="-85" dirty="0">
                <a:latin typeface="Calibri"/>
                <a:cs typeface="Calibri"/>
              </a:rPr>
              <a:t> </a:t>
            </a:r>
            <a:r>
              <a:rPr sz="2400" spc="-10" dirty="0">
                <a:latin typeface="Calibri"/>
                <a:cs typeface="Calibri"/>
              </a:rPr>
              <a:t>corporate</a:t>
            </a:r>
            <a:r>
              <a:rPr sz="2400" spc="-75" dirty="0">
                <a:latin typeface="Calibri"/>
                <a:cs typeface="Calibri"/>
              </a:rPr>
              <a:t> </a:t>
            </a:r>
            <a:r>
              <a:rPr sz="2400" dirty="0">
                <a:latin typeface="Calibri"/>
                <a:cs typeface="Calibri"/>
              </a:rPr>
              <a:t>image</a:t>
            </a:r>
            <a:r>
              <a:rPr sz="2400" spc="-80" dirty="0">
                <a:latin typeface="Calibri"/>
                <a:cs typeface="Calibri"/>
              </a:rPr>
              <a:t> </a:t>
            </a:r>
            <a:r>
              <a:rPr sz="2400" dirty="0">
                <a:latin typeface="Calibri"/>
                <a:cs typeface="Calibri"/>
              </a:rPr>
              <a:t>or</a:t>
            </a:r>
            <a:r>
              <a:rPr sz="2400" spc="-85" dirty="0">
                <a:latin typeface="Calibri"/>
                <a:cs typeface="Calibri"/>
              </a:rPr>
              <a:t> </a:t>
            </a:r>
            <a:r>
              <a:rPr sz="2400" dirty="0">
                <a:latin typeface="Calibri"/>
                <a:cs typeface="Calibri"/>
              </a:rPr>
              <a:t>enhance</a:t>
            </a:r>
            <a:r>
              <a:rPr sz="2400" spc="-80" dirty="0">
                <a:latin typeface="Calibri"/>
                <a:cs typeface="Calibri"/>
              </a:rPr>
              <a:t> </a:t>
            </a:r>
            <a:r>
              <a:rPr sz="2400" dirty="0">
                <a:latin typeface="Calibri"/>
                <a:cs typeface="Calibri"/>
              </a:rPr>
              <a:t>brand</a:t>
            </a:r>
            <a:r>
              <a:rPr sz="2400" spc="-80" dirty="0">
                <a:latin typeface="Calibri"/>
                <a:cs typeface="Calibri"/>
              </a:rPr>
              <a:t> </a:t>
            </a:r>
            <a:r>
              <a:rPr sz="2400" spc="-10" dirty="0">
                <a:latin typeface="Calibri"/>
                <a:cs typeface="Calibri"/>
              </a:rPr>
              <a:t>recognition.</a:t>
            </a:r>
            <a:endParaRPr sz="2400">
              <a:latin typeface="Calibri"/>
              <a:cs typeface="Calibri"/>
            </a:endParaRPr>
          </a:p>
          <a:p>
            <a:pPr marL="697230" marR="5080" lvl="1" indent="-227329">
              <a:lnSpc>
                <a:spcPts val="2300"/>
              </a:lnSpc>
              <a:spcBef>
                <a:spcPts val="520"/>
              </a:spcBef>
              <a:buFont typeface="Arial MT"/>
              <a:buChar char="•"/>
              <a:tabLst>
                <a:tab pos="698500" algn="l"/>
              </a:tabLst>
            </a:pPr>
            <a:r>
              <a:rPr sz="2400" dirty="0">
                <a:latin typeface="Calibri"/>
                <a:cs typeface="Calibri"/>
              </a:rPr>
              <a:t>Develop</a:t>
            </a:r>
            <a:r>
              <a:rPr sz="2400" spc="229" dirty="0">
                <a:latin typeface="Calibri"/>
                <a:cs typeface="Calibri"/>
              </a:rPr>
              <a:t> </a:t>
            </a:r>
            <a:r>
              <a:rPr sz="2400" dirty="0">
                <a:latin typeface="Calibri"/>
                <a:cs typeface="Calibri"/>
              </a:rPr>
              <a:t>an</a:t>
            </a:r>
            <a:r>
              <a:rPr sz="2400" spc="229" dirty="0">
                <a:latin typeface="Calibri"/>
                <a:cs typeface="Calibri"/>
              </a:rPr>
              <a:t> </a:t>
            </a:r>
            <a:r>
              <a:rPr sz="2400" dirty="0">
                <a:latin typeface="Calibri"/>
                <a:cs typeface="Calibri"/>
              </a:rPr>
              <a:t>enabler</a:t>
            </a:r>
            <a:r>
              <a:rPr sz="2400" spc="235" dirty="0">
                <a:latin typeface="Calibri"/>
                <a:cs typeface="Calibri"/>
              </a:rPr>
              <a:t> </a:t>
            </a:r>
            <a:r>
              <a:rPr sz="2400" dirty="0">
                <a:latin typeface="Calibri"/>
                <a:cs typeface="Calibri"/>
              </a:rPr>
              <a:t>product,</a:t>
            </a:r>
            <a:r>
              <a:rPr sz="2400" spc="225" dirty="0">
                <a:latin typeface="Calibri"/>
                <a:cs typeface="Calibri"/>
              </a:rPr>
              <a:t> </a:t>
            </a:r>
            <a:r>
              <a:rPr sz="2400" dirty="0">
                <a:latin typeface="Calibri"/>
                <a:cs typeface="Calibri"/>
              </a:rPr>
              <a:t>which</a:t>
            </a:r>
            <a:r>
              <a:rPr sz="2400" spc="235" dirty="0">
                <a:latin typeface="Calibri"/>
                <a:cs typeface="Calibri"/>
              </a:rPr>
              <a:t> </a:t>
            </a:r>
            <a:r>
              <a:rPr sz="2400" dirty="0">
                <a:latin typeface="Calibri"/>
                <a:cs typeface="Calibri"/>
              </a:rPr>
              <a:t>by</a:t>
            </a:r>
            <a:r>
              <a:rPr sz="2400" spc="229" dirty="0">
                <a:latin typeface="Calibri"/>
                <a:cs typeface="Calibri"/>
              </a:rPr>
              <a:t> </a:t>
            </a:r>
            <a:r>
              <a:rPr sz="2400" dirty="0">
                <a:latin typeface="Calibri"/>
                <a:cs typeface="Calibri"/>
              </a:rPr>
              <a:t>its</a:t>
            </a:r>
            <a:r>
              <a:rPr sz="2400" spc="229" dirty="0">
                <a:latin typeface="Calibri"/>
                <a:cs typeface="Calibri"/>
              </a:rPr>
              <a:t> </a:t>
            </a:r>
            <a:r>
              <a:rPr sz="2400" dirty="0">
                <a:latin typeface="Calibri"/>
                <a:cs typeface="Calibri"/>
              </a:rPr>
              <a:t>introduction</a:t>
            </a:r>
            <a:r>
              <a:rPr sz="2400" spc="229" dirty="0">
                <a:latin typeface="Calibri"/>
                <a:cs typeface="Calibri"/>
              </a:rPr>
              <a:t> </a:t>
            </a:r>
            <a:r>
              <a:rPr sz="2400" dirty="0">
                <a:latin typeface="Calibri"/>
                <a:cs typeface="Calibri"/>
              </a:rPr>
              <a:t>will</a:t>
            </a:r>
            <a:r>
              <a:rPr sz="2400" spc="235" dirty="0">
                <a:latin typeface="Calibri"/>
                <a:cs typeface="Calibri"/>
              </a:rPr>
              <a:t> </a:t>
            </a:r>
            <a:r>
              <a:rPr sz="2400" dirty="0">
                <a:latin typeface="Calibri"/>
                <a:cs typeface="Calibri"/>
              </a:rPr>
              <a:t>increase</a:t>
            </a:r>
            <a:r>
              <a:rPr sz="2400" spc="235" dirty="0">
                <a:latin typeface="Calibri"/>
                <a:cs typeface="Calibri"/>
              </a:rPr>
              <a:t> </a:t>
            </a:r>
            <a:r>
              <a:rPr sz="2400" dirty="0">
                <a:latin typeface="Calibri"/>
                <a:cs typeface="Calibri"/>
              </a:rPr>
              <a:t>sales</a:t>
            </a:r>
            <a:r>
              <a:rPr sz="2400" spc="229" dirty="0">
                <a:latin typeface="Calibri"/>
                <a:cs typeface="Calibri"/>
              </a:rPr>
              <a:t> </a:t>
            </a:r>
            <a:r>
              <a:rPr sz="2400" spc="-25" dirty="0">
                <a:latin typeface="Calibri"/>
                <a:cs typeface="Calibri"/>
              </a:rPr>
              <a:t>in 	</a:t>
            </a:r>
            <a:r>
              <a:rPr sz="2400" dirty="0">
                <a:latin typeface="Calibri"/>
                <a:cs typeface="Calibri"/>
              </a:rPr>
              <a:t>more</a:t>
            </a:r>
            <a:r>
              <a:rPr sz="2400" spc="-70" dirty="0">
                <a:latin typeface="Calibri"/>
                <a:cs typeface="Calibri"/>
              </a:rPr>
              <a:t> </a:t>
            </a:r>
            <a:r>
              <a:rPr sz="2400" spc="-10" dirty="0">
                <a:latin typeface="Calibri"/>
                <a:cs typeface="Calibri"/>
              </a:rPr>
              <a:t>profitable</a:t>
            </a:r>
            <a:r>
              <a:rPr sz="2400" spc="-65" dirty="0">
                <a:latin typeface="Calibri"/>
                <a:cs typeface="Calibri"/>
              </a:rPr>
              <a:t> </a:t>
            </a:r>
            <a:r>
              <a:rPr sz="2400" spc="-10" dirty="0">
                <a:latin typeface="Calibri"/>
                <a:cs typeface="Calibri"/>
              </a:rPr>
              <a:t>products</a:t>
            </a:r>
            <a:endParaRPr sz="24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19</a:t>
            </a:r>
            <a:endParaRPr sz="1200">
              <a:latin typeface="Calibri"/>
              <a:cs typeface="Calibri"/>
            </a:endParaRPr>
          </a:p>
        </p:txBody>
      </p:sp>
      <p:pic>
        <p:nvPicPr>
          <p:cNvPr id="5" name="Picture 4">
            <a:extLst>
              <a:ext uri="{FF2B5EF4-FFF2-40B4-BE49-F238E27FC236}">
                <a16:creationId xmlns:a16="http://schemas.microsoft.com/office/drawing/2014/main" id="{9D005055-0196-1CE7-B1F3-8D5ECC684ED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E6A03-240C-47D0-92F9-2484D34E26B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D635FF3-24B2-4357-8D64-45D6548DBB41}"/>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5458A52E-AF81-44B2-B652-84D620597167}"/>
              </a:ext>
            </a:extLst>
          </p:cNvPr>
          <p:cNvPicPr>
            <a:picLocks noChangeAspect="1"/>
          </p:cNvPicPr>
          <p:nvPr/>
        </p:nvPicPr>
        <p:blipFill>
          <a:blip r:embed="rId2"/>
          <a:stretch>
            <a:fillRect/>
          </a:stretch>
        </p:blipFill>
        <p:spPr>
          <a:xfrm>
            <a:off x="928687" y="1433512"/>
            <a:ext cx="10334625" cy="3990975"/>
          </a:xfrm>
          <a:prstGeom prst="rect">
            <a:avLst/>
          </a:prstGeom>
        </p:spPr>
      </p:pic>
      <p:pic>
        <p:nvPicPr>
          <p:cNvPr id="4" name="Picture 3">
            <a:extLst>
              <a:ext uri="{FF2B5EF4-FFF2-40B4-BE49-F238E27FC236}">
                <a16:creationId xmlns:a16="http://schemas.microsoft.com/office/drawing/2014/main" id="{F087B514-AA8B-B82C-EF57-E6E9315E2E4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4037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18819" y="1459483"/>
            <a:ext cx="6318250" cy="861060"/>
          </a:xfrm>
          <a:prstGeom prst="rect">
            <a:avLst/>
          </a:prstGeom>
        </p:spPr>
        <p:txBody>
          <a:bodyPr vert="horz" wrap="square" lIns="0" tIns="64135" rIns="0" bIns="0" rtlCol="0">
            <a:spAutoFit/>
          </a:bodyPr>
          <a:lstStyle/>
          <a:p>
            <a:pPr marL="240029" indent="-227329">
              <a:lnSpc>
                <a:spcPct val="100000"/>
              </a:lnSpc>
              <a:spcBef>
                <a:spcPts val="505"/>
              </a:spcBef>
              <a:buFont typeface="Arial MT"/>
              <a:buChar char="•"/>
              <a:tabLst>
                <a:tab pos="240029" algn="l"/>
              </a:tabLst>
            </a:pPr>
            <a:r>
              <a:rPr sz="2400" spc="-20" dirty="0">
                <a:latin typeface="Calibri"/>
                <a:cs typeface="Calibri"/>
              </a:rPr>
              <a:t>Two</a:t>
            </a:r>
            <a:r>
              <a:rPr sz="2400" spc="-60" dirty="0">
                <a:latin typeface="Calibri"/>
                <a:cs typeface="Calibri"/>
              </a:rPr>
              <a:t> </a:t>
            </a:r>
            <a:r>
              <a:rPr sz="2400" spc="-10" dirty="0">
                <a:latin typeface="Calibri"/>
                <a:cs typeface="Calibri"/>
              </a:rPr>
              <a:t>Multi-</a:t>
            </a:r>
            <a:r>
              <a:rPr sz="2400" dirty="0">
                <a:latin typeface="Calibri"/>
                <a:cs typeface="Calibri"/>
              </a:rPr>
              <a:t>Criteria</a:t>
            </a:r>
            <a:r>
              <a:rPr sz="2400" spc="-50" dirty="0">
                <a:latin typeface="Calibri"/>
                <a:cs typeface="Calibri"/>
              </a:rPr>
              <a:t> </a:t>
            </a:r>
            <a:r>
              <a:rPr sz="2400" dirty="0">
                <a:latin typeface="Calibri"/>
                <a:cs typeface="Calibri"/>
              </a:rPr>
              <a:t>Selection</a:t>
            </a:r>
            <a:r>
              <a:rPr sz="2400" spc="-55" dirty="0">
                <a:latin typeface="Calibri"/>
                <a:cs typeface="Calibri"/>
              </a:rPr>
              <a:t> </a:t>
            </a:r>
            <a:r>
              <a:rPr sz="2400" dirty="0">
                <a:latin typeface="Calibri"/>
                <a:cs typeface="Calibri"/>
              </a:rPr>
              <a:t>Models</a:t>
            </a:r>
            <a:r>
              <a:rPr sz="2400" spc="-55" dirty="0">
                <a:latin typeface="Calibri"/>
                <a:cs typeface="Calibri"/>
              </a:rPr>
              <a:t> </a:t>
            </a:r>
            <a:r>
              <a:rPr sz="2400" dirty="0">
                <a:latin typeface="Calibri"/>
                <a:cs typeface="Calibri"/>
              </a:rPr>
              <a:t>can</a:t>
            </a:r>
            <a:r>
              <a:rPr sz="2400" spc="-45" dirty="0">
                <a:latin typeface="Calibri"/>
                <a:cs typeface="Calibri"/>
              </a:rPr>
              <a:t> </a:t>
            </a:r>
            <a:r>
              <a:rPr sz="2400" dirty="0">
                <a:latin typeface="Calibri"/>
                <a:cs typeface="Calibri"/>
              </a:rPr>
              <a:t>be</a:t>
            </a:r>
            <a:r>
              <a:rPr sz="2400" spc="-50" dirty="0">
                <a:latin typeface="Calibri"/>
                <a:cs typeface="Calibri"/>
              </a:rPr>
              <a:t> </a:t>
            </a:r>
            <a:r>
              <a:rPr sz="2400" spc="-10" dirty="0">
                <a:latin typeface="Calibri"/>
                <a:cs typeface="Calibri"/>
              </a:rPr>
              <a:t>used:</a:t>
            </a:r>
            <a:endParaRPr sz="2400">
              <a:latin typeface="Calibri"/>
              <a:cs typeface="Calibri"/>
            </a:endParaRPr>
          </a:p>
          <a:p>
            <a:pPr marL="689610" lvl="1" indent="-360045">
              <a:lnSpc>
                <a:spcPct val="100000"/>
              </a:lnSpc>
              <a:spcBef>
                <a:spcPts val="409"/>
              </a:spcBef>
              <a:buAutoNum type="arabicPeriod"/>
              <a:tabLst>
                <a:tab pos="689610" algn="l"/>
              </a:tabLst>
            </a:pPr>
            <a:r>
              <a:rPr sz="2400" b="1" i="1" dirty="0">
                <a:latin typeface="Calibri"/>
                <a:cs typeface="Calibri"/>
              </a:rPr>
              <a:t>Checklist</a:t>
            </a:r>
            <a:r>
              <a:rPr sz="2400" b="1" i="1" spc="-95" dirty="0">
                <a:latin typeface="Calibri"/>
                <a:cs typeface="Calibri"/>
              </a:rPr>
              <a:t> </a:t>
            </a:r>
            <a:r>
              <a:rPr sz="2400" b="1" i="1" spc="-10" dirty="0">
                <a:latin typeface="Calibri"/>
                <a:cs typeface="Calibri"/>
              </a:rPr>
              <a:t>Models</a:t>
            </a:r>
            <a:endParaRPr sz="2400">
              <a:latin typeface="Calibri"/>
              <a:cs typeface="Calibri"/>
            </a:endParaRPr>
          </a:p>
        </p:txBody>
      </p:sp>
      <p:sp>
        <p:nvSpPr>
          <p:cNvPr id="3" name="object 3"/>
          <p:cNvSpPr txBox="1"/>
          <p:nvPr/>
        </p:nvSpPr>
        <p:spPr>
          <a:xfrm>
            <a:off x="1247775" y="2349500"/>
            <a:ext cx="10500360" cy="4454525"/>
          </a:xfrm>
          <a:prstGeom prst="rect">
            <a:avLst/>
          </a:prstGeom>
        </p:spPr>
        <p:txBody>
          <a:bodyPr vert="horz" wrap="square" lIns="0" tIns="83820" rIns="0" bIns="0" rtlCol="0">
            <a:spAutoFit/>
          </a:bodyPr>
          <a:lstStyle/>
          <a:p>
            <a:pPr marL="328930" marR="5080" indent="-316230" algn="just">
              <a:lnSpc>
                <a:spcPct val="80500"/>
              </a:lnSpc>
              <a:spcBef>
                <a:spcPts val="660"/>
              </a:spcBef>
              <a:buFont typeface="Arial MT"/>
              <a:buChar char="•"/>
              <a:tabLst>
                <a:tab pos="330200" algn="l"/>
              </a:tabLst>
            </a:pPr>
            <a:r>
              <a:rPr sz="2400" dirty="0">
                <a:latin typeface="Calibri"/>
                <a:cs typeface="Calibri"/>
              </a:rPr>
              <a:t>This</a:t>
            </a:r>
            <a:r>
              <a:rPr sz="2400" spc="5" dirty="0">
                <a:latin typeface="Calibri"/>
                <a:cs typeface="Calibri"/>
              </a:rPr>
              <a:t> </a:t>
            </a:r>
            <a:r>
              <a:rPr sz="2400" dirty="0">
                <a:latin typeface="Calibri"/>
                <a:cs typeface="Calibri"/>
              </a:rPr>
              <a:t>approach</a:t>
            </a:r>
            <a:r>
              <a:rPr sz="2400" spc="10" dirty="0">
                <a:latin typeface="Calibri"/>
                <a:cs typeface="Calibri"/>
              </a:rPr>
              <a:t> </a:t>
            </a:r>
            <a:r>
              <a:rPr sz="2400" dirty="0">
                <a:latin typeface="Calibri"/>
                <a:cs typeface="Calibri"/>
              </a:rPr>
              <a:t>basically</a:t>
            </a:r>
            <a:r>
              <a:rPr sz="2400" spc="10" dirty="0">
                <a:latin typeface="Calibri"/>
                <a:cs typeface="Calibri"/>
              </a:rPr>
              <a:t> </a:t>
            </a:r>
            <a:r>
              <a:rPr sz="2400" dirty="0">
                <a:latin typeface="Calibri"/>
                <a:cs typeface="Calibri"/>
              </a:rPr>
              <a:t>uses</a:t>
            </a:r>
            <a:r>
              <a:rPr sz="2400" spc="5" dirty="0">
                <a:latin typeface="Calibri"/>
                <a:cs typeface="Calibri"/>
              </a:rPr>
              <a:t> </a:t>
            </a:r>
            <a:r>
              <a:rPr sz="2400" dirty="0">
                <a:latin typeface="Calibri"/>
                <a:cs typeface="Calibri"/>
              </a:rPr>
              <a:t>a</a:t>
            </a:r>
            <a:r>
              <a:rPr sz="2400" spc="5" dirty="0">
                <a:latin typeface="Calibri"/>
                <a:cs typeface="Calibri"/>
              </a:rPr>
              <a:t> </a:t>
            </a:r>
            <a:r>
              <a:rPr sz="2400" dirty="0">
                <a:latin typeface="Calibri"/>
                <a:cs typeface="Calibri"/>
              </a:rPr>
              <a:t>list</a:t>
            </a:r>
            <a:r>
              <a:rPr sz="2400" spc="5" dirty="0">
                <a:latin typeface="Calibri"/>
                <a:cs typeface="Calibri"/>
              </a:rPr>
              <a:t> </a:t>
            </a:r>
            <a:r>
              <a:rPr sz="2400" dirty="0">
                <a:latin typeface="Calibri"/>
                <a:cs typeface="Calibri"/>
              </a:rPr>
              <a:t>of</a:t>
            </a:r>
            <a:r>
              <a:rPr sz="2400" spc="15" dirty="0">
                <a:latin typeface="Calibri"/>
                <a:cs typeface="Calibri"/>
              </a:rPr>
              <a:t> </a:t>
            </a:r>
            <a:r>
              <a:rPr sz="2400" dirty="0">
                <a:latin typeface="Calibri"/>
                <a:cs typeface="Calibri"/>
              </a:rPr>
              <a:t>questions</a:t>
            </a:r>
            <a:r>
              <a:rPr sz="2400" spc="5" dirty="0">
                <a:latin typeface="Calibri"/>
                <a:cs typeface="Calibri"/>
              </a:rPr>
              <a:t> </a:t>
            </a:r>
            <a:r>
              <a:rPr sz="2400" dirty="0">
                <a:latin typeface="Calibri"/>
                <a:cs typeface="Calibri"/>
              </a:rPr>
              <a:t>to</a:t>
            </a:r>
            <a:r>
              <a:rPr sz="2400" spc="5" dirty="0">
                <a:latin typeface="Calibri"/>
                <a:cs typeface="Calibri"/>
              </a:rPr>
              <a:t> </a:t>
            </a:r>
            <a:r>
              <a:rPr sz="2400" dirty="0">
                <a:latin typeface="Calibri"/>
                <a:cs typeface="Calibri"/>
              </a:rPr>
              <a:t>review</a:t>
            </a:r>
            <a:r>
              <a:rPr sz="2400" spc="5" dirty="0">
                <a:latin typeface="Calibri"/>
                <a:cs typeface="Calibri"/>
              </a:rPr>
              <a:t> </a:t>
            </a:r>
            <a:r>
              <a:rPr sz="2400" dirty="0">
                <a:latin typeface="Calibri"/>
                <a:cs typeface="Calibri"/>
              </a:rPr>
              <a:t>potential</a:t>
            </a:r>
            <a:r>
              <a:rPr sz="2400" spc="10" dirty="0">
                <a:latin typeface="Calibri"/>
                <a:cs typeface="Calibri"/>
              </a:rPr>
              <a:t> </a:t>
            </a:r>
            <a:r>
              <a:rPr sz="2400" dirty="0">
                <a:latin typeface="Calibri"/>
                <a:cs typeface="Calibri"/>
              </a:rPr>
              <a:t>projects</a:t>
            </a:r>
            <a:r>
              <a:rPr sz="2400" spc="5" dirty="0">
                <a:latin typeface="Calibri"/>
                <a:cs typeface="Calibri"/>
              </a:rPr>
              <a:t> </a:t>
            </a:r>
            <a:r>
              <a:rPr sz="2400" dirty="0">
                <a:latin typeface="Calibri"/>
                <a:cs typeface="Calibri"/>
              </a:rPr>
              <a:t>and</a:t>
            </a:r>
            <a:r>
              <a:rPr sz="2400" spc="10" dirty="0">
                <a:latin typeface="Calibri"/>
                <a:cs typeface="Calibri"/>
              </a:rPr>
              <a:t> </a:t>
            </a:r>
            <a:r>
              <a:rPr sz="2400" spc="-25" dirty="0">
                <a:latin typeface="Calibri"/>
                <a:cs typeface="Calibri"/>
              </a:rPr>
              <a:t>to 	</a:t>
            </a:r>
            <a:r>
              <a:rPr sz="2400" dirty="0">
                <a:latin typeface="Calibri"/>
                <a:cs typeface="Calibri"/>
              </a:rPr>
              <a:t>determine</a:t>
            </a:r>
            <a:r>
              <a:rPr sz="2400" spc="200" dirty="0">
                <a:latin typeface="Calibri"/>
                <a:cs typeface="Calibri"/>
              </a:rPr>
              <a:t> </a:t>
            </a:r>
            <a:r>
              <a:rPr sz="2400" dirty="0">
                <a:latin typeface="Calibri"/>
                <a:cs typeface="Calibri"/>
              </a:rPr>
              <a:t>their</a:t>
            </a:r>
            <a:r>
              <a:rPr sz="2400" spc="200" dirty="0">
                <a:latin typeface="Calibri"/>
                <a:cs typeface="Calibri"/>
              </a:rPr>
              <a:t> </a:t>
            </a:r>
            <a:r>
              <a:rPr sz="2400" dirty="0">
                <a:latin typeface="Calibri"/>
                <a:cs typeface="Calibri"/>
              </a:rPr>
              <a:t>acceptance</a:t>
            </a:r>
            <a:r>
              <a:rPr sz="2400" spc="200" dirty="0">
                <a:latin typeface="Calibri"/>
                <a:cs typeface="Calibri"/>
              </a:rPr>
              <a:t> </a:t>
            </a:r>
            <a:r>
              <a:rPr sz="2400" dirty="0">
                <a:latin typeface="Calibri"/>
                <a:cs typeface="Calibri"/>
              </a:rPr>
              <a:t>or</a:t>
            </a:r>
            <a:r>
              <a:rPr sz="2400" spc="200" dirty="0">
                <a:latin typeface="Calibri"/>
                <a:cs typeface="Calibri"/>
              </a:rPr>
              <a:t> </a:t>
            </a:r>
            <a:r>
              <a:rPr sz="2400" dirty="0">
                <a:latin typeface="Calibri"/>
                <a:cs typeface="Calibri"/>
              </a:rPr>
              <a:t>rejection.</a:t>
            </a:r>
            <a:r>
              <a:rPr sz="2400" spc="195" dirty="0">
                <a:latin typeface="Calibri"/>
                <a:cs typeface="Calibri"/>
              </a:rPr>
              <a:t> </a:t>
            </a:r>
            <a:r>
              <a:rPr sz="2400" dirty="0">
                <a:latin typeface="Calibri"/>
                <a:cs typeface="Calibri"/>
              </a:rPr>
              <a:t>Examples:</a:t>
            </a:r>
            <a:r>
              <a:rPr sz="2400" spc="190" dirty="0">
                <a:latin typeface="Calibri"/>
                <a:cs typeface="Calibri"/>
              </a:rPr>
              <a:t> </a:t>
            </a:r>
            <a:r>
              <a:rPr sz="2400" i="1" dirty="0">
                <a:latin typeface="Calibri"/>
                <a:cs typeface="Calibri"/>
              </a:rPr>
              <a:t>Who</a:t>
            </a:r>
            <a:r>
              <a:rPr sz="2400" i="1" spc="204" dirty="0">
                <a:latin typeface="Calibri"/>
                <a:cs typeface="Calibri"/>
              </a:rPr>
              <a:t> </a:t>
            </a:r>
            <a:r>
              <a:rPr sz="2400" i="1" dirty="0">
                <a:latin typeface="Calibri"/>
                <a:cs typeface="Calibri"/>
              </a:rPr>
              <a:t>is</a:t>
            </a:r>
            <a:r>
              <a:rPr sz="2400" i="1" spc="204" dirty="0">
                <a:latin typeface="Calibri"/>
                <a:cs typeface="Calibri"/>
              </a:rPr>
              <a:t> </a:t>
            </a:r>
            <a:r>
              <a:rPr sz="2400" i="1" dirty="0">
                <a:latin typeface="Calibri"/>
                <a:cs typeface="Calibri"/>
              </a:rPr>
              <a:t>the</a:t>
            </a:r>
            <a:r>
              <a:rPr sz="2400" i="1" spc="200" dirty="0">
                <a:latin typeface="Calibri"/>
                <a:cs typeface="Calibri"/>
              </a:rPr>
              <a:t> </a:t>
            </a:r>
            <a:r>
              <a:rPr sz="2400" i="1" dirty="0">
                <a:latin typeface="Calibri"/>
                <a:cs typeface="Calibri"/>
              </a:rPr>
              <a:t>project</a:t>
            </a:r>
            <a:r>
              <a:rPr sz="2400" i="1" spc="195" dirty="0">
                <a:latin typeface="Calibri"/>
                <a:cs typeface="Calibri"/>
              </a:rPr>
              <a:t> </a:t>
            </a:r>
            <a:r>
              <a:rPr sz="2400" i="1" spc="-10" dirty="0">
                <a:latin typeface="Calibri"/>
                <a:cs typeface="Calibri"/>
              </a:rPr>
              <a:t>sponsor? 	</a:t>
            </a:r>
            <a:r>
              <a:rPr sz="2400" i="1" dirty="0">
                <a:latin typeface="Calibri"/>
                <a:cs typeface="Calibri"/>
              </a:rPr>
              <a:t>What</a:t>
            </a:r>
            <a:r>
              <a:rPr sz="2400" i="1" spc="215" dirty="0">
                <a:latin typeface="Calibri"/>
                <a:cs typeface="Calibri"/>
              </a:rPr>
              <a:t> </a:t>
            </a:r>
            <a:r>
              <a:rPr sz="2400" i="1" dirty="0">
                <a:latin typeface="Calibri"/>
                <a:cs typeface="Calibri"/>
              </a:rPr>
              <a:t>is</a:t>
            </a:r>
            <a:r>
              <a:rPr sz="2400" i="1" spc="220" dirty="0">
                <a:latin typeface="Calibri"/>
                <a:cs typeface="Calibri"/>
              </a:rPr>
              <a:t> </a:t>
            </a:r>
            <a:r>
              <a:rPr sz="2400" i="1" dirty="0">
                <a:latin typeface="Calibri"/>
                <a:cs typeface="Calibri"/>
              </a:rPr>
              <a:t>the</a:t>
            </a:r>
            <a:r>
              <a:rPr sz="2400" i="1" spc="225" dirty="0">
                <a:latin typeface="Calibri"/>
                <a:cs typeface="Calibri"/>
              </a:rPr>
              <a:t> </a:t>
            </a:r>
            <a:r>
              <a:rPr sz="2400" i="1" dirty="0">
                <a:latin typeface="Calibri"/>
                <a:cs typeface="Calibri"/>
              </a:rPr>
              <a:t>estimated</a:t>
            </a:r>
            <a:r>
              <a:rPr sz="2400" i="1" spc="229" dirty="0">
                <a:latin typeface="Calibri"/>
                <a:cs typeface="Calibri"/>
              </a:rPr>
              <a:t> </a:t>
            </a:r>
            <a:r>
              <a:rPr sz="2400" i="1" dirty="0">
                <a:latin typeface="Calibri"/>
                <a:cs typeface="Calibri"/>
              </a:rPr>
              <a:t>cost</a:t>
            </a:r>
            <a:r>
              <a:rPr sz="2400" i="1" spc="215" dirty="0">
                <a:latin typeface="Calibri"/>
                <a:cs typeface="Calibri"/>
              </a:rPr>
              <a:t> </a:t>
            </a:r>
            <a:r>
              <a:rPr sz="2400" i="1" dirty="0">
                <a:latin typeface="Calibri"/>
                <a:cs typeface="Calibri"/>
              </a:rPr>
              <a:t>of</a:t>
            </a:r>
            <a:r>
              <a:rPr sz="2400" i="1" spc="225" dirty="0">
                <a:latin typeface="Calibri"/>
                <a:cs typeface="Calibri"/>
              </a:rPr>
              <a:t> </a:t>
            </a:r>
            <a:r>
              <a:rPr sz="2400" i="1" dirty="0">
                <a:latin typeface="Calibri"/>
                <a:cs typeface="Calibri"/>
              </a:rPr>
              <a:t>the</a:t>
            </a:r>
            <a:r>
              <a:rPr sz="2400" i="1" spc="225" dirty="0">
                <a:latin typeface="Calibri"/>
                <a:cs typeface="Calibri"/>
              </a:rPr>
              <a:t> </a:t>
            </a:r>
            <a:r>
              <a:rPr sz="2400" i="1" dirty="0">
                <a:latin typeface="Calibri"/>
                <a:cs typeface="Calibri"/>
              </a:rPr>
              <a:t>project?</a:t>
            </a:r>
            <a:r>
              <a:rPr sz="2400" i="1" spc="220" dirty="0">
                <a:latin typeface="Calibri"/>
                <a:cs typeface="Calibri"/>
              </a:rPr>
              <a:t> </a:t>
            </a:r>
            <a:r>
              <a:rPr sz="2400" i="1" dirty="0">
                <a:latin typeface="Calibri"/>
                <a:cs typeface="Calibri"/>
              </a:rPr>
              <a:t>What</a:t>
            </a:r>
            <a:r>
              <a:rPr sz="2400" i="1" spc="220" dirty="0">
                <a:latin typeface="Calibri"/>
                <a:cs typeface="Calibri"/>
              </a:rPr>
              <a:t> </a:t>
            </a:r>
            <a:r>
              <a:rPr sz="2400" i="1" dirty="0">
                <a:latin typeface="Calibri"/>
                <a:cs typeface="Calibri"/>
              </a:rPr>
              <a:t>is</a:t>
            </a:r>
            <a:r>
              <a:rPr sz="2400" i="1" spc="220" dirty="0">
                <a:latin typeface="Calibri"/>
                <a:cs typeface="Calibri"/>
              </a:rPr>
              <a:t> </a:t>
            </a:r>
            <a:r>
              <a:rPr sz="2400" i="1" dirty="0">
                <a:latin typeface="Calibri"/>
                <a:cs typeface="Calibri"/>
              </a:rPr>
              <a:t>the</a:t>
            </a:r>
            <a:r>
              <a:rPr sz="2400" i="1" spc="225" dirty="0">
                <a:latin typeface="Calibri"/>
                <a:cs typeface="Calibri"/>
              </a:rPr>
              <a:t> </a:t>
            </a:r>
            <a:r>
              <a:rPr sz="2400" i="1" dirty="0">
                <a:latin typeface="Calibri"/>
                <a:cs typeface="Calibri"/>
              </a:rPr>
              <a:t>impact</a:t>
            </a:r>
            <a:r>
              <a:rPr sz="2400" i="1" spc="220" dirty="0">
                <a:latin typeface="Calibri"/>
                <a:cs typeface="Calibri"/>
              </a:rPr>
              <a:t> </a:t>
            </a:r>
            <a:r>
              <a:rPr sz="2400" i="1" dirty="0">
                <a:latin typeface="Calibri"/>
                <a:cs typeface="Calibri"/>
              </a:rPr>
              <a:t>of</a:t>
            </a:r>
            <a:r>
              <a:rPr sz="2400" i="1" spc="225" dirty="0">
                <a:latin typeface="Calibri"/>
                <a:cs typeface="Calibri"/>
              </a:rPr>
              <a:t> </a:t>
            </a:r>
            <a:r>
              <a:rPr sz="2400" i="1" dirty="0">
                <a:latin typeface="Calibri"/>
                <a:cs typeface="Calibri"/>
              </a:rPr>
              <a:t>not</a:t>
            </a:r>
            <a:r>
              <a:rPr sz="2400" i="1" spc="215" dirty="0">
                <a:latin typeface="Calibri"/>
                <a:cs typeface="Calibri"/>
              </a:rPr>
              <a:t> </a:t>
            </a:r>
            <a:r>
              <a:rPr sz="2400" i="1" dirty="0">
                <a:latin typeface="Calibri"/>
                <a:cs typeface="Calibri"/>
              </a:rPr>
              <a:t>doing</a:t>
            </a:r>
            <a:r>
              <a:rPr sz="2400" i="1" spc="220" dirty="0">
                <a:latin typeface="Calibri"/>
                <a:cs typeface="Calibri"/>
              </a:rPr>
              <a:t> </a:t>
            </a:r>
            <a:r>
              <a:rPr sz="2400" i="1" spc="-20" dirty="0">
                <a:latin typeface="Calibri"/>
                <a:cs typeface="Calibri"/>
              </a:rPr>
              <a:t>this 	</a:t>
            </a:r>
            <a:r>
              <a:rPr sz="2400" i="1" dirty="0">
                <a:latin typeface="Calibri"/>
                <a:cs typeface="Calibri"/>
              </a:rPr>
              <a:t>project?</a:t>
            </a:r>
            <a:r>
              <a:rPr sz="2400" i="1" spc="434" dirty="0">
                <a:latin typeface="Calibri"/>
                <a:cs typeface="Calibri"/>
              </a:rPr>
              <a:t> </a:t>
            </a:r>
            <a:r>
              <a:rPr sz="2400" i="1" dirty="0">
                <a:latin typeface="Calibri"/>
                <a:cs typeface="Calibri"/>
              </a:rPr>
              <a:t>What</a:t>
            </a:r>
            <a:r>
              <a:rPr sz="2400" i="1" spc="434" dirty="0">
                <a:latin typeface="Calibri"/>
                <a:cs typeface="Calibri"/>
              </a:rPr>
              <a:t> </a:t>
            </a:r>
            <a:r>
              <a:rPr sz="2400" i="1" dirty="0">
                <a:latin typeface="Calibri"/>
                <a:cs typeface="Calibri"/>
              </a:rPr>
              <a:t>is</a:t>
            </a:r>
            <a:r>
              <a:rPr sz="2400" i="1" spc="440" dirty="0">
                <a:latin typeface="Calibri"/>
                <a:cs typeface="Calibri"/>
              </a:rPr>
              <a:t> </a:t>
            </a:r>
            <a:r>
              <a:rPr sz="2400" i="1" dirty="0">
                <a:latin typeface="Calibri"/>
                <a:cs typeface="Calibri"/>
              </a:rPr>
              <a:t>the</a:t>
            </a:r>
            <a:r>
              <a:rPr sz="2400" i="1" spc="445" dirty="0">
                <a:latin typeface="Calibri"/>
                <a:cs typeface="Calibri"/>
              </a:rPr>
              <a:t> </a:t>
            </a:r>
            <a:r>
              <a:rPr sz="2400" i="1" dirty="0">
                <a:latin typeface="Calibri"/>
                <a:cs typeface="Calibri"/>
              </a:rPr>
              <a:t>value</a:t>
            </a:r>
            <a:r>
              <a:rPr sz="2400" i="1" spc="440" dirty="0">
                <a:latin typeface="Calibri"/>
                <a:cs typeface="Calibri"/>
              </a:rPr>
              <a:t> </a:t>
            </a:r>
            <a:r>
              <a:rPr sz="2400" i="1" dirty="0">
                <a:latin typeface="Calibri"/>
                <a:cs typeface="Calibri"/>
              </a:rPr>
              <a:t>of</a:t>
            </a:r>
            <a:r>
              <a:rPr sz="2400" i="1" spc="445" dirty="0">
                <a:latin typeface="Calibri"/>
                <a:cs typeface="Calibri"/>
              </a:rPr>
              <a:t> </a:t>
            </a:r>
            <a:r>
              <a:rPr sz="2400" i="1" dirty="0">
                <a:latin typeface="Calibri"/>
                <a:cs typeface="Calibri"/>
              </a:rPr>
              <a:t>the</a:t>
            </a:r>
            <a:r>
              <a:rPr sz="2400" i="1" spc="445" dirty="0">
                <a:latin typeface="Calibri"/>
                <a:cs typeface="Calibri"/>
              </a:rPr>
              <a:t> </a:t>
            </a:r>
            <a:r>
              <a:rPr sz="2400" i="1" dirty="0">
                <a:latin typeface="Calibri"/>
                <a:cs typeface="Calibri"/>
              </a:rPr>
              <a:t>project</a:t>
            </a:r>
            <a:r>
              <a:rPr sz="2400" i="1" spc="434" dirty="0">
                <a:latin typeface="Calibri"/>
                <a:cs typeface="Calibri"/>
              </a:rPr>
              <a:t> </a:t>
            </a:r>
            <a:r>
              <a:rPr sz="2400" i="1" dirty="0">
                <a:latin typeface="Calibri"/>
                <a:cs typeface="Calibri"/>
              </a:rPr>
              <a:t>to</a:t>
            </a:r>
            <a:r>
              <a:rPr sz="2400" i="1" spc="445" dirty="0">
                <a:latin typeface="Calibri"/>
                <a:cs typeface="Calibri"/>
              </a:rPr>
              <a:t> </a:t>
            </a:r>
            <a:r>
              <a:rPr sz="2400" i="1" dirty="0">
                <a:latin typeface="Calibri"/>
                <a:cs typeface="Calibri"/>
              </a:rPr>
              <a:t>this</a:t>
            </a:r>
            <a:r>
              <a:rPr sz="2400" i="1" spc="440" dirty="0">
                <a:latin typeface="Calibri"/>
                <a:cs typeface="Calibri"/>
              </a:rPr>
              <a:t> </a:t>
            </a:r>
            <a:r>
              <a:rPr sz="2400" i="1" dirty="0">
                <a:latin typeface="Calibri"/>
                <a:cs typeface="Calibri"/>
              </a:rPr>
              <a:t>organization?</a:t>
            </a:r>
            <a:r>
              <a:rPr sz="2400" i="1" spc="434" dirty="0">
                <a:latin typeface="Calibri"/>
                <a:cs typeface="Calibri"/>
              </a:rPr>
              <a:t> </a:t>
            </a:r>
            <a:r>
              <a:rPr sz="2400" i="1" dirty="0">
                <a:latin typeface="Calibri"/>
                <a:cs typeface="Calibri"/>
              </a:rPr>
              <a:t>When</a:t>
            </a:r>
            <a:r>
              <a:rPr sz="2400" i="1" spc="440" dirty="0">
                <a:latin typeface="Calibri"/>
                <a:cs typeface="Calibri"/>
              </a:rPr>
              <a:t> </a:t>
            </a:r>
            <a:r>
              <a:rPr sz="2400" i="1" dirty="0">
                <a:latin typeface="Calibri"/>
                <a:cs typeface="Calibri"/>
              </a:rPr>
              <a:t>will</a:t>
            </a:r>
            <a:r>
              <a:rPr sz="2400" i="1" spc="434" dirty="0">
                <a:latin typeface="Calibri"/>
                <a:cs typeface="Calibri"/>
              </a:rPr>
              <a:t> </a:t>
            </a:r>
            <a:r>
              <a:rPr sz="2400" i="1" spc="-25" dirty="0">
                <a:latin typeface="Calibri"/>
                <a:cs typeface="Calibri"/>
              </a:rPr>
              <a:t>the 	</a:t>
            </a:r>
            <a:r>
              <a:rPr sz="2400" i="1" dirty="0">
                <a:latin typeface="Calibri"/>
                <a:cs typeface="Calibri"/>
              </a:rPr>
              <a:t>project</a:t>
            </a:r>
            <a:r>
              <a:rPr sz="2400" i="1" spc="290" dirty="0">
                <a:latin typeface="Calibri"/>
                <a:cs typeface="Calibri"/>
              </a:rPr>
              <a:t> </a:t>
            </a:r>
            <a:r>
              <a:rPr sz="2400" i="1" dirty="0">
                <a:latin typeface="Calibri"/>
                <a:cs typeface="Calibri"/>
              </a:rPr>
              <a:t>show</a:t>
            </a:r>
            <a:r>
              <a:rPr sz="2400" i="1" spc="295" dirty="0">
                <a:latin typeface="Calibri"/>
                <a:cs typeface="Calibri"/>
              </a:rPr>
              <a:t> </a:t>
            </a:r>
            <a:r>
              <a:rPr sz="2400" i="1" dirty="0">
                <a:latin typeface="Calibri"/>
                <a:cs typeface="Calibri"/>
              </a:rPr>
              <a:t>results?</a:t>
            </a:r>
            <a:r>
              <a:rPr sz="2400" i="1" spc="305" dirty="0">
                <a:latin typeface="Calibri"/>
                <a:cs typeface="Calibri"/>
              </a:rPr>
              <a:t> </a:t>
            </a:r>
            <a:r>
              <a:rPr sz="2400" i="1" dirty="0">
                <a:latin typeface="Calibri"/>
                <a:cs typeface="Calibri"/>
              </a:rPr>
              <a:t>Will</a:t>
            </a:r>
            <a:r>
              <a:rPr sz="2400" i="1" spc="295" dirty="0">
                <a:latin typeface="Calibri"/>
                <a:cs typeface="Calibri"/>
              </a:rPr>
              <a:t> </a:t>
            </a:r>
            <a:r>
              <a:rPr sz="2400" i="1" dirty="0">
                <a:latin typeface="Calibri"/>
                <a:cs typeface="Calibri"/>
              </a:rPr>
              <a:t>internal</a:t>
            </a:r>
            <a:r>
              <a:rPr sz="2400" i="1" spc="295" dirty="0">
                <a:latin typeface="Calibri"/>
                <a:cs typeface="Calibri"/>
              </a:rPr>
              <a:t> </a:t>
            </a:r>
            <a:r>
              <a:rPr sz="2400" i="1" dirty="0">
                <a:latin typeface="Calibri"/>
                <a:cs typeface="Calibri"/>
              </a:rPr>
              <a:t>resources</a:t>
            </a:r>
            <a:r>
              <a:rPr sz="2400" i="1" spc="310" dirty="0">
                <a:latin typeface="Calibri"/>
                <a:cs typeface="Calibri"/>
              </a:rPr>
              <a:t> </a:t>
            </a:r>
            <a:r>
              <a:rPr sz="2400" i="1" dirty="0">
                <a:latin typeface="Calibri"/>
                <a:cs typeface="Calibri"/>
              </a:rPr>
              <a:t>be</a:t>
            </a:r>
            <a:r>
              <a:rPr sz="2400" i="1" spc="300" dirty="0">
                <a:latin typeface="Calibri"/>
                <a:cs typeface="Calibri"/>
              </a:rPr>
              <a:t> </a:t>
            </a:r>
            <a:r>
              <a:rPr sz="2400" i="1" dirty="0">
                <a:latin typeface="Calibri"/>
                <a:cs typeface="Calibri"/>
              </a:rPr>
              <a:t>available</a:t>
            </a:r>
            <a:r>
              <a:rPr sz="2400" i="1" spc="300" dirty="0">
                <a:latin typeface="Calibri"/>
                <a:cs typeface="Calibri"/>
              </a:rPr>
              <a:t> </a:t>
            </a:r>
            <a:r>
              <a:rPr sz="2400" i="1" dirty="0">
                <a:latin typeface="Calibri"/>
                <a:cs typeface="Calibri"/>
              </a:rPr>
              <a:t>for</a:t>
            </a:r>
            <a:r>
              <a:rPr sz="2400" i="1" spc="295" dirty="0">
                <a:latin typeface="Calibri"/>
                <a:cs typeface="Calibri"/>
              </a:rPr>
              <a:t> </a:t>
            </a:r>
            <a:r>
              <a:rPr sz="2400" i="1" dirty="0">
                <a:latin typeface="Calibri"/>
                <a:cs typeface="Calibri"/>
              </a:rPr>
              <a:t>this</a:t>
            </a:r>
            <a:r>
              <a:rPr sz="2400" i="1" spc="305" dirty="0">
                <a:latin typeface="Calibri"/>
                <a:cs typeface="Calibri"/>
              </a:rPr>
              <a:t> </a:t>
            </a:r>
            <a:r>
              <a:rPr sz="2400" i="1" dirty="0">
                <a:latin typeface="Calibri"/>
                <a:cs typeface="Calibri"/>
              </a:rPr>
              <a:t>project?</a:t>
            </a:r>
            <a:r>
              <a:rPr sz="2400" i="1" spc="295" dirty="0">
                <a:latin typeface="Calibri"/>
                <a:cs typeface="Calibri"/>
              </a:rPr>
              <a:t> </a:t>
            </a:r>
            <a:r>
              <a:rPr sz="2400" i="1" spc="-25" dirty="0">
                <a:latin typeface="Calibri"/>
                <a:cs typeface="Calibri"/>
              </a:rPr>
              <a:t>How 	</a:t>
            </a:r>
            <a:r>
              <a:rPr sz="2400" i="1" dirty="0">
                <a:latin typeface="Calibri"/>
                <a:cs typeface="Calibri"/>
              </a:rPr>
              <a:t>long</a:t>
            </a:r>
            <a:r>
              <a:rPr sz="2400" i="1" spc="-50" dirty="0">
                <a:latin typeface="Calibri"/>
                <a:cs typeface="Calibri"/>
              </a:rPr>
              <a:t> </a:t>
            </a:r>
            <a:r>
              <a:rPr sz="2400" i="1" dirty="0">
                <a:latin typeface="Calibri"/>
                <a:cs typeface="Calibri"/>
              </a:rPr>
              <a:t>will</a:t>
            </a:r>
            <a:r>
              <a:rPr sz="2400" i="1" spc="-55" dirty="0">
                <a:latin typeface="Calibri"/>
                <a:cs typeface="Calibri"/>
              </a:rPr>
              <a:t> </a:t>
            </a:r>
            <a:r>
              <a:rPr sz="2400" i="1" dirty="0">
                <a:latin typeface="Calibri"/>
                <a:cs typeface="Calibri"/>
              </a:rPr>
              <a:t>this</a:t>
            </a:r>
            <a:r>
              <a:rPr sz="2400" i="1" spc="-45" dirty="0">
                <a:latin typeface="Calibri"/>
                <a:cs typeface="Calibri"/>
              </a:rPr>
              <a:t> </a:t>
            </a:r>
            <a:r>
              <a:rPr sz="2400" i="1" dirty="0">
                <a:latin typeface="Calibri"/>
                <a:cs typeface="Calibri"/>
              </a:rPr>
              <a:t>project</a:t>
            </a:r>
            <a:r>
              <a:rPr sz="2400" i="1" spc="-55" dirty="0">
                <a:latin typeface="Calibri"/>
                <a:cs typeface="Calibri"/>
              </a:rPr>
              <a:t> </a:t>
            </a:r>
            <a:r>
              <a:rPr sz="2400" i="1" spc="-10" dirty="0">
                <a:latin typeface="Calibri"/>
                <a:cs typeface="Calibri"/>
              </a:rPr>
              <a:t>take?</a:t>
            </a:r>
            <a:r>
              <a:rPr sz="2400" i="1" spc="-50" dirty="0">
                <a:latin typeface="Calibri"/>
                <a:cs typeface="Calibri"/>
              </a:rPr>
              <a:t> </a:t>
            </a:r>
            <a:r>
              <a:rPr sz="2400" i="1" dirty="0">
                <a:latin typeface="Calibri"/>
                <a:cs typeface="Calibri"/>
              </a:rPr>
              <a:t>Will</a:t>
            </a:r>
            <a:r>
              <a:rPr sz="2400" i="1" spc="-50" dirty="0">
                <a:latin typeface="Calibri"/>
                <a:cs typeface="Calibri"/>
              </a:rPr>
              <a:t> </a:t>
            </a:r>
            <a:r>
              <a:rPr sz="2400" i="1" dirty="0">
                <a:latin typeface="Calibri"/>
                <a:cs typeface="Calibri"/>
              </a:rPr>
              <a:t>staff</a:t>
            </a:r>
            <a:r>
              <a:rPr sz="2400" i="1" spc="-45" dirty="0">
                <a:latin typeface="Calibri"/>
                <a:cs typeface="Calibri"/>
              </a:rPr>
              <a:t> </a:t>
            </a:r>
            <a:r>
              <a:rPr sz="2400" i="1" dirty="0">
                <a:latin typeface="Calibri"/>
                <a:cs typeface="Calibri"/>
              </a:rPr>
              <a:t>training</a:t>
            </a:r>
            <a:r>
              <a:rPr sz="2400" i="1" spc="-45" dirty="0">
                <a:latin typeface="Calibri"/>
                <a:cs typeface="Calibri"/>
              </a:rPr>
              <a:t> </a:t>
            </a:r>
            <a:r>
              <a:rPr sz="2400" i="1" dirty="0">
                <a:latin typeface="Calibri"/>
                <a:cs typeface="Calibri"/>
              </a:rPr>
              <a:t>be</a:t>
            </a:r>
            <a:r>
              <a:rPr sz="2400" i="1" spc="-50" dirty="0">
                <a:latin typeface="Calibri"/>
                <a:cs typeface="Calibri"/>
              </a:rPr>
              <a:t> </a:t>
            </a:r>
            <a:r>
              <a:rPr sz="2400" i="1" spc="-10" dirty="0">
                <a:latin typeface="Calibri"/>
                <a:cs typeface="Calibri"/>
              </a:rPr>
              <a:t>required?</a:t>
            </a:r>
            <a:endParaRPr sz="2400">
              <a:latin typeface="Calibri"/>
              <a:cs typeface="Calibri"/>
            </a:endParaRPr>
          </a:p>
          <a:p>
            <a:pPr marL="328930" marR="5080" indent="-316230" algn="just">
              <a:lnSpc>
                <a:spcPct val="79200"/>
              </a:lnSpc>
              <a:spcBef>
                <a:spcPts val="1030"/>
              </a:spcBef>
              <a:buFont typeface="Arial MT"/>
              <a:buChar char="•"/>
              <a:tabLst>
                <a:tab pos="330200" algn="l"/>
              </a:tabLst>
            </a:pPr>
            <a:r>
              <a:rPr sz="2400" dirty="0">
                <a:solidFill>
                  <a:srgbClr val="262EA4"/>
                </a:solidFill>
                <a:latin typeface="Calibri"/>
                <a:cs typeface="Calibri"/>
              </a:rPr>
              <a:t>They</a:t>
            </a:r>
            <a:r>
              <a:rPr sz="2400" spc="290" dirty="0">
                <a:solidFill>
                  <a:srgbClr val="262EA4"/>
                </a:solidFill>
                <a:latin typeface="Calibri"/>
                <a:cs typeface="Calibri"/>
              </a:rPr>
              <a:t> </a:t>
            </a:r>
            <a:r>
              <a:rPr sz="2400" dirty="0">
                <a:solidFill>
                  <a:srgbClr val="262EA4"/>
                </a:solidFill>
                <a:latin typeface="Calibri"/>
                <a:cs typeface="Calibri"/>
              </a:rPr>
              <a:t>allow</a:t>
            </a:r>
            <a:r>
              <a:rPr sz="2400" spc="290" dirty="0">
                <a:solidFill>
                  <a:srgbClr val="262EA4"/>
                </a:solidFill>
                <a:latin typeface="Calibri"/>
                <a:cs typeface="Calibri"/>
              </a:rPr>
              <a:t> </a:t>
            </a:r>
            <a:r>
              <a:rPr sz="2400" dirty="0">
                <a:solidFill>
                  <a:srgbClr val="262EA4"/>
                </a:solidFill>
                <a:latin typeface="Calibri"/>
                <a:cs typeface="Calibri"/>
              </a:rPr>
              <a:t>great</a:t>
            </a:r>
            <a:r>
              <a:rPr sz="2400" spc="290" dirty="0">
                <a:solidFill>
                  <a:srgbClr val="262EA4"/>
                </a:solidFill>
                <a:latin typeface="Calibri"/>
                <a:cs typeface="Calibri"/>
              </a:rPr>
              <a:t> </a:t>
            </a:r>
            <a:r>
              <a:rPr sz="2400" dirty="0">
                <a:solidFill>
                  <a:srgbClr val="262EA4"/>
                </a:solidFill>
                <a:latin typeface="Calibri"/>
                <a:cs typeface="Calibri"/>
              </a:rPr>
              <a:t>flexibility</a:t>
            </a:r>
            <a:r>
              <a:rPr sz="2400" spc="295" dirty="0">
                <a:solidFill>
                  <a:srgbClr val="262EA4"/>
                </a:solidFill>
                <a:latin typeface="Calibri"/>
                <a:cs typeface="Calibri"/>
              </a:rPr>
              <a:t> </a:t>
            </a:r>
            <a:r>
              <a:rPr sz="2400" dirty="0">
                <a:solidFill>
                  <a:srgbClr val="262EA4"/>
                </a:solidFill>
                <a:latin typeface="Calibri"/>
                <a:cs typeface="Calibri"/>
              </a:rPr>
              <a:t>in</a:t>
            </a:r>
            <a:r>
              <a:rPr sz="2400" spc="290" dirty="0">
                <a:solidFill>
                  <a:srgbClr val="262EA4"/>
                </a:solidFill>
                <a:latin typeface="Calibri"/>
                <a:cs typeface="Calibri"/>
              </a:rPr>
              <a:t> </a:t>
            </a:r>
            <a:r>
              <a:rPr sz="2400" dirty="0">
                <a:solidFill>
                  <a:srgbClr val="262EA4"/>
                </a:solidFill>
                <a:latin typeface="Calibri"/>
                <a:cs typeface="Calibri"/>
              </a:rPr>
              <a:t>selecting</a:t>
            </a:r>
            <a:r>
              <a:rPr sz="2400" spc="290" dirty="0">
                <a:solidFill>
                  <a:srgbClr val="262EA4"/>
                </a:solidFill>
                <a:latin typeface="Calibri"/>
                <a:cs typeface="Calibri"/>
              </a:rPr>
              <a:t> </a:t>
            </a:r>
            <a:r>
              <a:rPr sz="2400" dirty="0">
                <a:solidFill>
                  <a:srgbClr val="262EA4"/>
                </a:solidFill>
                <a:latin typeface="Calibri"/>
                <a:cs typeface="Calibri"/>
              </a:rPr>
              <a:t>among</a:t>
            </a:r>
            <a:r>
              <a:rPr sz="2400" spc="290" dirty="0">
                <a:solidFill>
                  <a:srgbClr val="262EA4"/>
                </a:solidFill>
                <a:latin typeface="Calibri"/>
                <a:cs typeface="Calibri"/>
              </a:rPr>
              <a:t> </a:t>
            </a:r>
            <a:r>
              <a:rPr sz="2400" dirty="0">
                <a:solidFill>
                  <a:srgbClr val="262EA4"/>
                </a:solidFill>
                <a:latin typeface="Calibri"/>
                <a:cs typeface="Calibri"/>
              </a:rPr>
              <a:t>many</a:t>
            </a:r>
            <a:r>
              <a:rPr sz="2400" spc="295" dirty="0">
                <a:solidFill>
                  <a:srgbClr val="262EA4"/>
                </a:solidFill>
                <a:latin typeface="Calibri"/>
                <a:cs typeface="Calibri"/>
              </a:rPr>
              <a:t> </a:t>
            </a:r>
            <a:r>
              <a:rPr sz="2400" dirty="0">
                <a:solidFill>
                  <a:srgbClr val="262EA4"/>
                </a:solidFill>
                <a:latin typeface="Calibri"/>
                <a:cs typeface="Calibri"/>
              </a:rPr>
              <a:t>different</a:t>
            </a:r>
            <a:r>
              <a:rPr sz="2400" spc="290" dirty="0">
                <a:solidFill>
                  <a:srgbClr val="262EA4"/>
                </a:solidFill>
                <a:latin typeface="Calibri"/>
                <a:cs typeface="Calibri"/>
              </a:rPr>
              <a:t> </a:t>
            </a:r>
            <a:r>
              <a:rPr sz="2400" dirty="0">
                <a:solidFill>
                  <a:srgbClr val="262EA4"/>
                </a:solidFill>
                <a:latin typeface="Calibri"/>
                <a:cs typeface="Calibri"/>
              </a:rPr>
              <a:t>types</a:t>
            </a:r>
            <a:r>
              <a:rPr sz="2400" spc="285" dirty="0">
                <a:solidFill>
                  <a:srgbClr val="262EA4"/>
                </a:solidFill>
                <a:latin typeface="Calibri"/>
                <a:cs typeface="Calibri"/>
              </a:rPr>
              <a:t> </a:t>
            </a:r>
            <a:r>
              <a:rPr sz="2400" dirty="0">
                <a:solidFill>
                  <a:srgbClr val="262EA4"/>
                </a:solidFill>
                <a:latin typeface="Calibri"/>
                <a:cs typeface="Calibri"/>
              </a:rPr>
              <a:t>of</a:t>
            </a:r>
            <a:r>
              <a:rPr sz="2400" spc="300" dirty="0">
                <a:solidFill>
                  <a:srgbClr val="262EA4"/>
                </a:solidFill>
                <a:latin typeface="Calibri"/>
                <a:cs typeface="Calibri"/>
              </a:rPr>
              <a:t> </a:t>
            </a:r>
            <a:r>
              <a:rPr sz="2400" spc="-10" dirty="0">
                <a:solidFill>
                  <a:srgbClr val="262EA4"/>
                </a:solidFill>
                <a:latin typeface="Calibri"/>
                <a:cs typeface="Calibri"/>
              </a:rPr>
              <a:t>projects 	</a:t>
            </a:r>
            <a:r>
              <a:rPr sz="2400" dirty="0">
                <a:solidFill>
                  <a:srgbClr val="262EA4"/>
                </a:solidFill>
                <a:latin typeface="Calibri"/>
                <a:cs typeface="Calibri"/>
              </a:rPr>
              <a:t>and</a:t>
            </a:r>
            <a:r>
              <a:rPr sz="2400" spc="-60" dirty="0">
                <a:solidFill>
                  <a:srgbClr val="262EA4"/>
                </a:solidFill>
                <a:latin typeface="Calibri"/>
                <a:cs typeface="Calibri"/>
              </a:rPr>
              <a:t> </a:t>
            </a:r>
            <a:r>
              <a:rPr sz="2400" dirty="0">
                <a:solidFill>
                  <a:srgbClr val="262EA4"/>
                </a:solidFill>
                <a:latin typeface="Calibri"/>
                <a:cs typeface="Calibri"/>
              </a:rPr>
              <a:t>are</a:t>
            </a:r>
            <a:r>
              <a:rPr sz="2400" spc="-55" dirty="0">
                <a:solidFill>
                  <a:srgbClr val="262EA4"/>
                </a:solidFill>
                <a:latin typeface="Calibri"/>
                <a:cs typeface="Calibri"/>
              </a:rPr>
              <a:t> </a:t>
            </a:r>
            <a:r>
              <a:rPr sz="2400" dirty="0">
                <a:solidFill>
                  <a:srgbClr val="262EA4"/>
                </a:solidFill>
                <a:latin typeface="Calibri"/>
                <a:cs typeface="Calibri"/>
              </a:rPr>
              <a:t>easily</a:t>
            </a:r>
            <a:r>
              <a:rPr sz="2400" spc="-60" dirty="0">
                <a:solidFill>
                  <a:srgbClr val="262EA4"/>
                </a:solidFill>
                <a:latin typeface="Calibri"/>
                <a:cs typeface="Calibri"/>
              </a:rPr>
              <a:t> </a:t>
            </a:r>
            <a:r>
              <a:rPr sz="2400" dirty="0">
                <a:solidFill>
                  <a:srgbClr val="262EA4"/>
                </a:solidFill>
                <a:latin typeface="Calibri"/>
                <a:cs typeface="Calibri"/>
              </a:rPr>
              <a:t>used</a:t>
            </a:r>
            <a:r>
              <a:rPr sz="2400" spc="-60" dirty="0">
                <a:solidFill>
                  <a:srgbClr val="262EA4"/>
                </a:solidFill>
                <a:latin typeface="Calibri"/>
                <a:cs typeface="Calibri"/>
              </a:rPr>
              <a:t> </a:t>
            </a:r>
            <a:r>
              <a:rPr sz="2400" dirty="0">
                <a:solidFill>
                  <a:srgbClr val="262EA4"/>
                </a:solidFill>
                <a:latin typeface="Calibri"/>
                <a:cs typeface="Calibri"/>
              </a:rPr>
              <a:t>across</a:t>
            </a:r>
            <a:r>
              <a:rPr sz="2400" spc="-60" dirty="0">
                <a:solidFill>
                  <a:srgbClr val="262EA4"/>
                </a:solidFill>
                <a:latin typeface="Calibri"/>
                <a:cs typeface="Calibri"/>
              </a:rPr>
              <a:t> </a:t>
            </a:r>
            <a:r>
              <a:rPr sz="2400" spc="-20" dirty="0">
                <a:solidFill>
                  <a:srgbClr val="262EA4"/>
                </a:solidFill>
                <a:latin typeface="Calibri"/>
                <a:cs typeface="Calibri"/>
              </a:rPr>
              <a:t>different</a:t>
            </a:r>
            <a:r>
              <a:rPr sz="2400" spc="-60" dirty="0">
                <a:solidFill>
                  <a:srgbClr val="262EA4"/>
                </a:solidFill>
                <a:latin typeface="Calibri"/>
                <a:cs typeface="Calibri"/>
              </a:rPr>
              <a:t> </a:t>
            </a:r>
            <a:r>
              <a:rPr sz="2400" dirty="0">
                <a:solidFill>
                  <a:srgbClr val="262EA4"/>
                </a:solidFill>
                <a:latin typeface="Calibri"/>
                <a:cs typeface="Calibri"/>
              </a:rPr>
              <a:t>divisions</a:t>
            </a:r>
            <a:r>
              <a:rPr sz="2400" spc="-60" dirty="0">
                <a:solidFill>
                  <a:srgbClr val="262EA4"/>
                </a:solidFill>
                <a:latin typeface="Calibri"/>
                <a:cs typeface="Calibri"/>
              </a:rPr>
              <a:t> </a:t>
            </a:r>
            <a:r>
              <a:rPr sz="2400" dirty="0">
                <a:solidFill>
                  <a:srgbClr val="262EA4"/>
                </a:solidFill>
                <a:latin typeface="Calibri"/>
                <a:cs typeface="Calibri"/>
              </a:rPr>
              <a:t>and</a:t>
            </a:r>
            <a:r>
              <a:rPr sz="2400" spc="-55" dirty="0">
                <a:solidFill>
                  <a:srgbClr val="262EA4"/>
                </a:solidFill>
                <a:latin typeface="Calibri"/>
                <a:cs typeface="Calibri"/>
              </a:rPr>
              <a:t> </a:t>
            </a:r>
            <a:r>
              <a:rPr sz="2400" spc="-10" dirty="0">
                <a:solidFill>
                  <a:srgbClr val="262EA4"/>
                </a:solidFill>
                <a:latin typeface="Calibri"/>
                <a:cs typeface="Calibri"/>
              </a:rPr>
              <a:t>locations.</a:t>
            </a:r>
            <a:endParaRPr sz="2400">
              <a:latin typeface="Calibri"/>
              <a:cs typeface="Calibri"/>
            </a:endParaRPr>
          </a:p>
          <a:p>
            <a:pPr marL="328930" marR="5080" indent="-316230" algn="just">
              <a:lnSpc>
                <a:spcPct val="79800"/>
              </a:lnSpc>
              <a:spcBef>
                <a:spcPts val="1015"/>
              </a:spcBef>
              <a:buFont typeface="Arial MT"/>
              <a:buChar char="•"/>
              <a:tabLst>
                <a:tab pos="330200" algn="l"/>
              </a:tabLst>
            </a:pPr>
            <a:r>
              <a:rPr sz="2400" b="1" dirty="0">
                <a:latin typeface="Calibri"/>
                <a:cs typeface="Calibri"/>
              </a:rPr>
              <a:t>Major</a:t>
            </a:r>
            <a:r>
              <a:rPr sz="2400" b="1" spc="515" dirty="0">
                <a:latin typeface="Calibri"/>
                <a:cs typeface="Calibri"/>
              </a:rPr>
              <a:t> </a:t>
            </a:r>
            <a:r>
              <a:rPr sz="2400" b="1" dirty="0">
                <a:latin typeface="Calibri"/>
                <a:cs typeface="Calibri"/>
              </a:rPr>
              <a:t>shortcomings</a:t>
            </a:r>
            <a:r>
              <a:rPr sz="2400" b="1" spc="520" dirty="0">
                <a:latin typeface="Calibri"/>
                <a:cs typeface="Calibri"/>
              </a:rPr>
              <a:t> </a:t>
            </a:r>
            <a:r>
              <a:rPr sz="2400" b="1" dirty="0">
                <a:latin typeface="Calibri"/>
                <a:cs typeface="Calibri"/>
              </a:rPr>
              <a:t>of</a:t>
            </a:r>
            <a:r>
              <a:rPr sz="2400" b="1" spc="520" dirty="0">
                <a:latin typeface="Calibri"/>
                <a:cs typeface="Calibri"/>
              </a:rPr>
              <a:t> </a:t>
            </a:r>
            <a:r>
              <a:rPr sz="2400" b="1" dirty="0">
                <a:latin typeface="Calibri"/>
                <a:cs typeface="Calibri"/>
              </a:rPr>
              <a:t>this</a:t>
            </a:r>
            <a:r>
              <a:rPr sz="2400" b="1" spc="520" dirty="0">
                <a:latin typeface="Calibri"/>
                <a:cs typeface="Calibri"/>
              </a:rPr>
              <a:t> </a:t>
            </a:r>
            <a:r>
              <a:rPr sz="2400" b="1" dirty="0">
                <a:latin typeface="Calibri"/>
                <a:cs typeface="Calibri"/>
              </a:rPr>
              <a:t>approach</a:t>
            </a:r>
            <a:r>
              <a:rPr sz="2400" b="1" spc="515" dirty="0">
                <a:latin typeface="Calibri"/>
                <a:cs typeface="Calibri"/>
              </a:rPr>
              <a:t> </a:t>
            </a:r>
            <a:r>
              <a:rPr sz="2400" dirty="0">
                <a:latin typeface="Calibri"/>
                <a:cs typeface="Calibri"/>
              </a:rPr>
              <a:t>are</a:t>
            </a:r>
            <a:r>
              <a:rPr sz="2400" spc="520" dirty="0">
                <a:latin typeface="Calibri"/>
                <a:cs typeface="Calibri"/>
              </a:rPr>
              <a:t> </a:t>
            </a:r>
            <a:r>
              <a:rPr sz="2400" dirty="0">
                <a:latin typeface="Calibri"/>
                <a:cs typeface="Calibri"/>
              </a:rPr>
              <a:t>that</a:t>
            </a:r>
            <a:r>
              <a:rPr sz="2400" spc="509" dirty="0">
                <a:latin typeface="Calibri"/>
                <a:cs typeface="Calibri"/>
              </a:rPr>
              <a:t> </a:t>
            </a:r>
            <a:r>
              <a:rPr sz="2400" dirty="0">
                <a:latin typeface="Calibri"/>
                <a:cs typeface="Calibri"/>
              </a:rPr>
              <a:t>it</a:t>
            </a:r>
            <a:r>
              <a:rPr sz="2400" spc="509" dirty="0">
                <a:latin typeface="Calibri"/>
                <a:cs typeface="Calibri"/>
              </a:rPr>
              <a:t> </a:t>
            </a:r>
            <a:r>
              <a:rPr sz="2400" dirty="0">
                <a:latin typeface="Calibri"/>
                <a:cs typeface="Calibri"/>
              </a:rPr>
              <a:t>fails</a:t>
            </a:r>
            <a:r>
              <a:rPr sz="2400" spc="509" dirty="0">
                <a:latin typeface="Calibri"/>
                <a:cs typeface="Calibri"/>
              </a:rPr>
              <a:t> </a:t>
            </a:r>
            <a:r>
              <a:rPr sz="2400" dirty="0">
                <a:latin typeface="Calibri"/>
                <a:cs typeface="Calibri"/>
              </a:rPr>
              <a:t>to</a:t>
            </a:r>
            <a:r>
              <a:rPr sz="2400" spc="515" dirty="0">
                <a:latin typeface="Calibri"/>
                <a:cs typeface="Calibri"/>
              </a:rPr>
              <a:t> </a:t>
            </a:r>
            <a:r>
              <a:rPr sz="2400" dirty="0">
                <a:latin typeface="Calibri"/>
                <a:cs typeface="Calibri"/>
              </a:rPr>
              <a:t>answer</a:t>
            </a:r>
            <a:r>
              <a:rPr sz="2400" spc="515" dirty="0">
                <a:latin typeface="Calibri"/>
                <a:cs typeface="Calibri"/>
              </a:rPr>
              <a:t> </a:t>
            </a:r>
            <a:r>
              <a:rPr sz="2400" dirty="0">
                <a:latin typeface="Calibri"/>
                <a:cs typeface="Calibri"/>
              </a:rPr>
              <a:t>the</a:t>
            </a:r>
            <a:r>
              <a:rPr sz="2400" spc="525" dirty="0">
                <a:latin typeface="Calibri"/>
                <a:cs typeface="Calibri"/>
              </a:rPr>
              <a:t> </a:t>
            </a:r>
            <a:r>
              <a:rPr sz="2400" spc="-10" dirty="0">
                <a:latin typeface="Calibri"/>
                <a:cs typeface="Calibri"/>
              </a:rPr>
              <a:t>relative 	</a:t>
            </a:r>
            <a:r>
              <a:rPr sz="2400" dirty="0">
                <a:latin typeface="Calibri"/>
                <a:cs typeface="Calibri"/>
              </a:rPr>
              <a:t>importance</a:t>
            </a:r>
            <a:r>
              <a:rPr sz="2400" spc="-45" dirty="0">
                <a:latin typeface="Calibri"/>
                <a:cs typeface="Calibri"/>
              </a:rPr>
              <a:t> </a:t>
            </a:r>
            <a:r>
              <a:rPr sz="2400" dirty="0">
                <a:latin typeface="Calibri"/>
                <a:cs typeface="Calibri"/>
              </a:rPr>
              <a:t>or</a:t>
            </a:r>
            <a:r>
              <a:rPr sz="2400" spc="-50" dirty="0">
                <a:latin typeface="Calibri"/>
                <a:cs typeface="Calibri"/>
              </a:rPr>
              <a:t> </a:t>
            </a:r>
            <a:r>
              <a:rPr sz="2400" dirty="0">
                <a:latin typeface="Calibri"/>
                <a:cs typeface="Calibri"/>
              </a:rPr>
              <a:t>value</a:t>
            </a:r>
            <a:r>
              <a:rPr sz="2400" spc="-50" dirty="0">
                <a:latin typeface="Calibri"/>
                <a:cs typeface="Calibri"/>
              </a:rPr>
              <a:t> </a:t>
            </a:r>
            <a:r>
              <a:rPr sz="2400" dirty="0">
                <a:latin typeface="Calibri"/>
                <a:cs typeface="Calibri"/>
              </a:rPr>
              <a:t>of</a:t>
            </a:r>
            <a:r>
              <a:rPr sz="2400" spc="-45" dirty="0">
                <a:latin typeface="Calibri"/>
                <a:cs typeface="Calibri"/>
              </a:rPr>
              <a:t> </a:t>
            </a:r>
            <a:r>
              <a:rPr sz="2400" dirty="0">
                <a:latin typeface="Calibri"/>
                <a:cs typeface="Calibri"/>
              </a:rPr>
              <a:t>a</a:t>
            </a:r>
            <a:r>
              <a:rPr sz="2400" spc="-50" dirty="0">
                <a:latin typeface="Calibri"/>
                <a:cs typeface="Calibri"/>
              </a:rPr>
              <a:t> </a:t>
            </a:r>
            <a:r>
              <a:rPr sz="2400" dirty="0">
                <a:latin typeface="Calibri"/>
                <a:cs typeface="Calibri"/>
              </a:rPr>
              <a:t>potential</a:t>
            </a:r>
            <a:r>
              <a:rPr sz="2400" spc="-45" dirty="0">
                <a:latin typeface="Calibri"/>
                <a:cs typeface="Calibri"/>
              </a:rPr>
              <a:t> </a:t>
            </a:r>
            <a:r>
              <a:rPr sz="2400" dirty="0">
                <a:latin typeface="Calibri"/>
                <a:cs typeface="Calibri"/>
              </a:rPr>
              <a:t>project</a:t>
            </a:r>
            <a:r>
              <a:rPr sz="2400" spc="-60"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the</a:t>
            </a:r>
            <a:r>
              <a:rPr sz="2400" spc="-40" dirty="0">
                <a:latin typeface="Calibri"/>
                <a:cs typeface="Calibri"/>
              </a:rPr>
              <a:t> </a:t>
            </a:r>
            <a:r>
              <a:rPr sz="2400" spc="-10" dirty="0">
                <a:latin typeface="Calibri"/>
                <a:cs typeface="Calibri"/>
              </a:rPr>
              <a:t>organization</a:t>
            </a:r>
            <a:r>
              <a:rPr sz="2400" spc="-50"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fails</a:t>
            </a:r>
            <a:r>
              <a:rPr sz="2400" spc="-55"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allow</a:t>
            </a:r>
            <a:r>
              <a:rPr sz="2400" spc="-50" dirty="0">
                <a:latin typeface="Calibri"/>
                <a:cs typeface="Calibri"/>
              </a:rPr>
              <a:t> </a:t>
            </a:r>
            <a:r>
              <a:rPr sz="2400" spc="-25" dirty="0">
                <a:latin typeface="Calibri"/>
                <a:cs typeface="Calibri"/>
              </a:rPr>
              <a:t>for 	</a:t>
            </a:r>
            <a:r>
              <a:rPr sz="2400" dirty="0">
                <a:latin typeface="Calibri"/>
                <a:cs typeface="Calibri"/>
              </a:rPr>
              <a:t>comparison</a:t>
            </a:r>
            <a:r>
              <a:rPr sz="2400" spc="595" dirty="0">
                <a:latin typeface="Calibri"/>
                <a:cs typeface="Calibri"/>
              </a:rPr>
              <a:t> </a:t>
            </a:r>
            <a:r>
              <a:rPr sz="2400" dirty="0">
                <a:latin typeface="Calibri"/>
                <a:cs typeface="Calibri"/>
              </a:rPr>
              <a:t>with</a:t>
            </a:r>
            <a:r>
              <a:rPr sz="2400" spc="595" dirty="0">
                <a:latin typeface="Calibri"/>
                <a:cs typeface="Calibri"/>
              </a:rPr>
              <a:t> </a:t>
            </a:r>
            <a:r>
              <a:rPr sz="2400" dirty="0">
                <a:latin typeface="Calibri"/>
                <a:cs typeface="Calibri"/>
              </a:rPr>
              <a:t>other</a:t>
            </a:r>
            <a:r>
              <a:rPr sz="2400" spc="595" dirty="0">
                <a:latin typeface="Calibri"/>
                <a:cs typeface="Calibri"/>
              </a:rPr>
              <a:t> </a:t>
            </a:r>
            <a:r>
              <a:rPr sz="2400" dirty="0">
                <a:latin typeface="Calibri"/>
                <a:cs typeface="Calibri"/>
              </a:rPr>
              <a:t>potential</a:t>
            </a:r>
            <a:r>
              <a:rPr sz="2400" spc="595" dirty="0">
                <a:latin typeface="Calibri"/>
                <a:cs typeface="Calibri"/>
              </a:rPr>
              <a:t> </a:t>
            </a:r>
            <a:r>
              <a:rPr sz="2400" dirty="0">
                <a:latin typeface="Calibri"/>
                <a:cs typeface="Calibri"/>
              </a:rPr>
              <a:t>projects.</a:t>
            </a:r>
            <a:r>
              <a:rPr sz="2400" spc="590" dirty="0">
                <a:latin typeface="Calibri"/>
                <a:cs typeface="Calibri"/>
              </a:rPr>
              <a:t> </a:t>
            </a:r>
            <a:r>
              <a:rPr sz="2400" dirty="0">
                <a:latin typeface="Calibri"/>
                <a:cs typeface="Calibri"/>
              </a:rPr>
              <a:t>Each</a:t>
            </a:r>
            <a:r>
              <a:rPr sz="2400" spc="595" dirty="0">
                <a:latin typeface="Calibri"/>
                <a:cs typeface="Calibri"/>
              </a:rPr>
              <a:t> </a:t>
            </a:r>
            <a:r>
              <a:rPr sz="2400" dirty="0">
                <a:latin typeface="Calibri"/>
                <a:cs typeface="Calibri"/>
              </a:rPr>
              <a:t>potential</a:t>
            </a:r>
            <a:r>
              <a:rPr sz="2400" spc="600" dirty="0">
                <a:latin typeface="Calibri"/>
                <a:cs typeface="Calibri"/>
              </a:rPr>
              <a:t> </a:t>
            </a:r>
            <a:r>
              <a:rPr sz="2400" dirty="0">
                <a:latin typeface="Calibri"/>
                <a:cs typeface="Calibri"/>
              </a:rPr>
              <a:t>project</a:t>
            </a:r>
            <a:r>
              <a:rPr sz="2400" spc="585" dirty="0">
                <a:latin typeface="Calibri"/>
                <a:cs typeface="Calibri"/>
              </a:rPr>
              <a:t> </a:t>
            </a:r>
            <a:r>
              <a:rPr sz="2400" dirty="0">
                <a:latin typeface="Calibri"/>
                <a:cs typeface="Calibri"/>
              </a:rPr>
              <a:t>will</a:t>
            </a:r>
            <a:r>
              <a:rPr sz="2400" spc="590" dirty="0">
                <a:latin typeface="Calibri"/>
                <a:cs typeface="Calibri"/>
              </a:rPr>
              <a:t> </a:t>
            </a:r>
            <a:r>
              <a:rPr sz="2400" dirty="0">
                <a:latin typeface="Calibri"/>
                <a:cs typeface="Calibri"/>
              </a:rPr>
              <a:t>have</a:t>
            </a:r>
            <a:r>
              <a:rPr sz="2400" spc="30" dirty="0">
                <a:latin typeface="Calibri"/>
                <a:cs typeface="Calibri"/>
              </a:rPr>
              <a:t>  </a:t>
            </a:r>
            <a:r>
              <a:rPr sz="2400" spc="-50" dirty="0">
                <a:latin typeface="Calibri"/>
                <a:cs typeface="Calibri"/>
              </a:rPr>
              <a:t>a 	</a:t>
            </a:r>
            <a:r>
              <a:rPr sz="2400" dirty="0">
                <a:latin typeface="Calibri"/>
                <a:cs typeface="Calibri"/>
              </a:rPr>
              <a:t>different</a:t>
            </a:r>
            <a:r>
              <a:rPr sz="2400" spc="30" dirty="0">
                <a:latin typeface="Calibri"/>
                <a:cs typeface="Calibri"/>
              </a:rPr>
              <a:t>  </a:t>
            </a:r>
            <a:r>
              <a:rPr sz="2400" dirty="0">
                <a:latin typeface="Calibri"/>
                <a:cs typeface="Calibri"/>
              </a:rPr>
              <a:t>set</a:t>
            </a:r>
            <a:r>
              <a:rPr sz="2400" spc="35"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positive</a:t>
            </a:r>
            <a:r>
              <a:rPr sz="2400" spc="40" dirty="0">
                <a:latin typeface="Calibri"/>
                <a:cs typeface="Calibri"/>
              </a:rPr>
              <a:t>  </a:t>
            </a:r>
            <a:r>
              <a:rPr sz="2400" dirty="0">
                <a:latin typeface="Calibri"/>
                <a:cs typeface="Calibri"/>
              </a:rPr>
              <a:t>and</a:t>
            </a:r>
            <a:r>
              <a:rPr sz="2400" spc="35" dirty="0">
                <a:latin typeface="Calibri"/>
                <a:cs typeface="Calibri"/>
              </a:rPr>
              <a:t>  </a:t>
            </a:r>
            <a:r>
              <a:rPr sz="2400" dirty="0">
                <a:latin typeface="Calibri"/>
                <a:cs typeface="Calibri"/>
              </a:rPr>
              <a:t>negative</a:t>
            </a:r>
            <a:r>
              <a:rPr sz="2400" spc="35" dirty="0">
                <a:latin typeface="Calibri"/>
                <a:cs typeface="Calibri"/>
              </a:rPr>
              <a:t>  </a:t>
            </a:r>
            <a:r>
              <a:rPr sz="2400" dirty="0">
                <a:latin typeface="Calibri"/>
                <a:cs typeface="Calibri"/>
              </a:rPr>
              <a:t>answers.</a:t>
            </a:r>
            <a:r>
              <a:rPr sz="2400" spc="35" dirty="0">
                <a:latin typeface="Calibri"/>
                <a:cs typeface="Calibri"/>
              </a:rPr>
              <a:t>  </a:t>
            </a:r>
            <a:r>
              <a:rPr sz="2400" dirty="0">
                <a:latin typeface="Calibri"/>
                <a:cs typeface="Calibri"/>
              </a:rPr>
              <a:t>How</a:t>
            </a:r>
            <a:r>
              <a:rPr sz="2400" spc="35" dirty="0">
                <a:latin typeface="Calibri"/>
                <a:cs typeface="Calibri"/>
              </a:rPr>
              <a:t>  </a:t>
            </a:r>
            <a:r>
              <a:rPr sz="2400" dirty="0">
                <a:latin typeface="Calibri"/>
                <a:cs typeface="Calibri"/>
              </a:rPr>
              <a:t>do</a:t>
            </a:r>
            <a:r>
              <a:rPr sz="2400" spc="30" dirty="0">
                <a:latin typeface="Calibri"/>
                <a:cs typeface="Calibri"/>
              </a:rPr>
              <a:t>  </a:t>
            </a:r>
            <a:r>
              <a:rPr sz="2400" dirty="0">
                <a:latin typeface="Calibri"/>
                <a:cs typeface="Calibri"/>
              </a:rPr>
              <a:t>you</a:t>
            </a:r>
            <a:r>
              <a:rPr sz="2400" spc="35" dirty="0">
                <a:latin typeface="Calibri"/>
                <a:cs typeface="Calibri"/>
              </a:rPr>
              <a:t>  </a:t>
            </a:r>
            <a:r>
              <a:rPr sz="2400" dirty="0">
                <a:latin typeface="Calibri"/>
                <a:cs typeface="Calibri"/>
              </a:rPr>
              <a:t>compare?.</a:t>
            </a:r>
            <a:r>
              <a:rPr sz="2400" spc="30" dirty="0">
                <a:latin typeface="Calibri"/>
                <a:cs typeface="Calibri"/>
              </a:rPr>
              <a:t>  </a:t>
            </a:r>
            <a:r>
              <a:rPr sz="2400" spc="-20" dirty="0">
                <a:latin typeface="Calibri"/>
                <a:cs typeface="Calibri"/>
              </a:rPr>
              <a:t>This 	</a:t>
            </a:r>
            <a:r>
              <a:rPr sz="2400" dirty="0">
                <a:latin typeface="Calibri"/>
                <a:cs typeface="Calibri"/>
              </a:rPr>
              <a:t>approach</a:t>
            </a:r>
            <a:r>
              <a:rPr sz="2400" spc="35" dirty="0">
                <a:latin typeface="Calibri"/>
                <a:cs typeface="Calibri"/>
              </a:rPr>
              <a:t> </a:t>
            </a:r>
            <a:r>
              <a:rPr sz="2400" dirty="0">
                <a:latin typeface="Calibri"/>
                <a:cs typeface="Calibri"/>
              </a:rPr>
              <a:t>also</a:t>
            </a:r>
            <a:r>
              <a:rPr sz="2400" spc="35" dirty="0">
                <a:latin typeface="Calibri"/>
                <a:cs typeface="Calibri"/>
              </a:rPr>
              <a:t> </a:t>
            </a:r>
            <a:r>
              <a:rPr sz="2400" dirty="0">
                <a:latin typeface="Calibri"/>
                <a:cs typeface="Calibri"/>
              </a:rPr>
              <a:t>leaves</a:t>
            </a:r>
            <a:r>
              <a:rPr sz="2400" spc="35"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door</a:t>
            </a:r>
            <a:r>
              <a:rPr sz="2400" spc="40" dirty="0">
                <a:latin typeface="Calibri"/>
                <a:cs typeface="Calibri"/>
              </a:rPr>
              <a:t> </a:t>
            </a:r>
            <a:r>
              <a:rPr sz="2400" dirty="0">
                <a:latin typeface="Calibri"/>
                <a:cs typeface="Calibri"/>
              </a:rPr>
              <a:t>open</a:t>
            </a:r>
            <a:r>
              <a:rPr sz="2400" spc="40" dirty="0">
                <a:latin typeface="Calibri"/>
                <a:cs typeface="Calibri"/>
              </a:rPr>
              <a:t> </a:t>
            </a:r>
            <a:r>
              <a:rPr sz="2400" dirty="0">
                <a:latin typeface="Calibri"/>
                <a:cs typeface="Calibri"/>
              </a:rPr>
              <a:t>to</a:t>
            </a:r>
            <a:r>
              <a:rPr sz="2400" spc="40" dirty="0">
                <a:latin typeface="Calibri"/>
                <a:cs typeface="Calibri"/>
              </a:rPr>
              <a:t> </a:t>
            </a:r>
            <a:r>
              <a:rPr sz="2400" dirty="0">
                <a:latin typeface="Calibri"/>
                <a:cs typeface="Calibri"/>
              </a:rPr>
              <a:t>the</a:t>
            </a:r>
            <a:r>
              <a:rPr sz="2400" spc="45" dirty="0">
                <a:latin typeface="Calibri"/>
                <a:cs typeface="Calibri"/>
              </a:rPr>
              <a:t> </a:t>
            </a:r>
            <a:r>
              <a:rPr sz="2400" dirty="0">
                <a:latin typeface="Calibri"/>
                <a:cs typeface="Calibri"/>
              </a:rPr>
              <a:t>potential</a:t>
            </a:r>
            <a:r>
              <a:rPr sz="2400" spc="35" dirty="0">
                <a:latin typeface="Calibri"/>
                <a:cs typeface="Calibri"/>
              </a:rPr>
              <a:t> </a:t>
            </a:r>
            <a:r>
              <a:rPr sz="2400" dirty="0">
                <a:latin typeface="Calibri"/>
                <a:cs typeface="Calibri"/>
              </a:rPr>
              <a:t>opportunity</a:t>
            </a:r>
            <a:r>
              <a:rPr sz="2400" spc="45" dirty="0">
                <a:latin typeface="Calibri"/>
                <a:cs typeface="Calibri"/>
              </a:rPr>
              <a:t> </a:t>
            </a:r>
            <a:r>
              <a:rPr sz="2400" dirty="0">
                <a:latin typeface="Calibri"/>
                <a:cs typeface="Calibri"/>
              </a:rPr>
              <a:t>for</a:t>
            </a:r>
            <a:r>
              <a:rPr sz="2400" spc="40" dirty="0">
                <a:latin typeface="Calibri"/>
                <a:cs typeface="Calibri"/>
              </a:rPr>
              <a:t> </a:t>
            </a:r>
            <a:r>
              <a:rPr sz="2400" dirty="0">
                <a:latin typeface="Calibri"/>
                <a:cs typeface="Calibri"/>
              </a:rPr>
              <a:t>power</a:t>
            </a:r>
            <a:r>
              <a:rPr sz="2400" spc="40" dirty="0">
                <a:latin typeface="Calibri"/>
                <a:cs typeface="Calibri"/>
              </a:rPr>
              <a:t> </a:t>
            </a:r>
            <a:r>
              <a:rPr sz="2400" spc="-10" dirty="0">
                <a:latin typeface="Calibri"/>
                <a:cs typeface="Calibri"/>
              </a:rPr>
              <a:t>plays, 	</a:t>
            </a:r>
            <a:r>
              <a:rPr sz="2400" dirty="0">
                <a:latin typeface="Calibri"/>
                <a:cs typeface="Calibri"/>
              </a:rPr>
              <a:t>politics,</a:t>
            </a:r>
            <a:r>
              <a:rPr sz="2400" spc="-50" dirty="0">
                <a:latin typeface="Calibri"/>
                <a:cs typeface="Calibri"/>
              </a:rPr>
              <a:t> </a:t>
            </a:r>
            <a:r>
              <a:rPr sz="2400" dirty="0">
                <a:latin typeface="Calibri"/>
                <a:cs typeface="Calibri"/>
              </a:rPr>
              <a:t>and</a:t>
            </a:r>
            <a:r>
              <a:rPr sz="2400" spc="-50" dirty="0">
                <a:latin typeface="Calibri"/>
                <a:cs typeface="Calibri"/>
              </a:rPr>
              <a:t> </a:t>
            </a:r>
            <a:r>
              <a:rPr sz="2400" dirty="0">
                <a:latin typeface="Calibri"/>
                <a:cs typeface="Calibri"/>
              </a:rPr>
              <a:t>other</a:t>
            </a:r>
            <a:r>
              <a:rPr sz="2400" spc="-45" dirty="0">
                <a:latin typeface="Calibri"/>
                <a:cs typeface="Calibri"/>
              </a:rPr>
              <a:t> </a:t>
            </a:r>
            <a:r>
              <a:rPr sz="2400" dirty="0">
                <a:latin typeface="Calibri"/>
                <a:cs typeface="Calibri"/>
              </a:rPr>
              <a:t>forms</a:t>
            </a:r>
            <a:r>
              <a:rPr sz="2400" spc="-55" dirty="0">
                <a:latin typeface="Calibri"/>
                <a:cs typeface="Calibri"/>
              </a:rPr>
              <a:t> </a:t>
            </a:r>
            <a:r>
              <a:rPr sz="2400" dirty="0">
                <a:latin typeface="Calibri"/>
                <a:cs typeface="Calibri"/>
              </a:rPr>
              <a:t>of</a:t>
            </a:r>
            <a:r>
              <a:rPr sz="2400" spc="-45" dirty="0">
                <a:latin typeface="Calibri"/>
                <a:cs typeface="Calibri"/>
              </a:rPr>
              <a:t> </a:t>
            </a:r>
            <a:r>
              <a:rPr sz="2400" spc="-10" dirty="0">
                <a:latin typeface="Calibri"/>
                <a:cs typeface="Calibri"/>
              </a:rPr>
              <a:t>manipulation.</a:t>
            </a:r>
            <a:endParaRPr sz="2400">
              <a:latin typeface="Calibri"/>
              <a:cs typeface="Calibri"/>
            </a:endParaRPr>
          </a:p>
        </p:txBody>
      </p:sp>
      <p:sp>
        <p:nvSpPr>
          <p:cNvPr id="4" name="object 4"/>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20</a:t>
            </a:r>
            <a:endParaRPr sz="1200">
              <a:latin typeface="Calibri"/>
              <a:cs typeface="Calibri"/>
            </a:endParaRPr>
          </a:p>
        </p:txBody>
      </p:sp>
      <p:sp>
        <p:nvSpPr>
          <p:cNvPr id="5" name="object 5"/>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Project Selection Criteria </a:t>
            </a:r>
            <a:r>
              <a:rPr sz="1950" spc="-10" dirty="0"/>
              <a:t>(2/6)</a:t>
            </a:r>
            <a:endParaRPr sz="1950" dirty="0"/>
          </a:p>
        </p:txBody>
      </p:sp>
      <p:pic>
        <p:nvPicPr>
          <p:cNvPr id="6" name="Picture 5">
            <a:extLst>
              <a:ext uri="{FF2B5EF4-FFF2-40B4-BE49-F238E27FC236}">
                <a16:creationId xmlns:a16="http://schemas.microsoft.com/office/drawing/2014/main" id="{AF6009D1-5ACA-ED3A-B756-8BD75BD329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p:nvPr/>
        </p:nvSpPr>
        <p:spPr>
          <a:xfrm>
            <a:off x="960119" y="1503172"/>
            <a:ext cx="10223500" cy="5128260"/>
          </a:xfrm>
          <a:prstGeom prst="rect">
            <a:avLst/>
          </a:prstGeom>
        </p:spPr>
        <p:txBody>
          <a:bodyPr vert="horz" wrap="square" lIns="0" tIns="91440" rIns="0" bIns="0" rtlCol="0">
            <a:spAutoFit/>
          </a:bodyPr>
          <a:lstStyle/>
          <a:p>
            <a:pPr marL="391795" indent="-379095" algn="just">
              <a:lnSpc>
                <a:spcPct val="100000"/>
              </a:lnSpc>
              <a:spcBef>
                <a:spcPts val="720"/>
              </a:spcBef>
              <a:buAutoNum type="arabicPeriod" startAt="2"/>
              <a:tabLst>
                <a:tab pos="391795" algn="l"/>
              </a:tabLst>
            </a:pPr>
            <a:r>
              <a:rPr sz="2800" b="1" i="1" spc="-20" dirty="0">
                <a:latin typeface="Calibri"/>
                <a:cs typeface="Calibri"/>
              </a:rPr>
              <a:t>Multi-</a:t>
            </a:r>
            <a:r>
              <a:rPr sz="2800" b="1" i="1" spc="-10" dirty="0">
                <a:latin typeface="Calibri"/>
                <a:cs typeface="Calibri"/>
              </a:rPr>
              <a:t>Weighted</a:t>
            </a:r>
            <a:r>
              <a:rPr sz="2800" b="1" i="1" spc="-65" dirty="0">
                <a:latin typeface="Calibri"/>
                <a:cs typeface="Calibri"/>
              </a:rPr>
              <a:t> </a:t>
            </a:r>
            <a:r>
              <a:rPr sz="2800" b="1" i="1" dirty="0">
                <a:latin typeface="Calibri"/>
                <a:cs typeface="Calibri"/>
              </a:rPr>
              <a:t>Scoring</a:t>
            </a:r>
            <a:r>
              <a:rPr sz="2800" b="1" i="1" spc="-65" dirty="0">
                <a:latin typeface="Calibri"/>
                <a:cs typeface="Calibri"/>
              </a:rPr>
              <a:t> </a:t>
            </a:r>
            <a:r>
              <a:rPr sz="2800" b="1" i="1" spc="-10" dirty="0">
                <a:latin typeface="Calibri"/>
                <a:cs typeface="Calibri"/>
              </a:rPr>
              <a:t>Models:</a:t>
            </a:r>
            <a:endParaRPr sz="2800">
              <a:latin typeface="Calibri"/>
              <a:cs typeface="Calibri"/>
            </a:endParaRPr>
          </a:p>
          <a:p>
            <a:pPr marL="468630" marR="5715" lvl="1" indent="-182880" algn="just">
              <a:lnSpc>
                <a:spcPts val="3000"/>
              </a:lnSpc>
              <a:spcBef>
                <a:spcPts val="1025"/>
              </a:spcBef>
              <a:buFont typeface="Arial MT"/>
              <a:buChar char="•"/>
              <a:tabLst>
                <a:tab pos="468630" algn="l"/>
              </a:tabLst>
            </a:pPr>
            <a:r>
              <a:rPr sz="2800" dirty="0">
                <a:latin typeface="Calibri"/>
                <a:cs typeface="Calibri"/>
              </a:rPr>
              <a:t>It</a:t>
            </a:r>
            <a:r>
              <a:rPr sz="2800" spc="65" dirty="0">
                <a:latin typeface="Calibri"/>
                <a:cs typeface="Calibri"/>
              </a:rPr>
              <a:t>  </a:t>
            </a:r>
            <a:r>
              <a:rPr sz="2800" dirty="0">
                <a:latin typeface="Calibri"/>
                <a:cs typeface="Calibri"/>
              </a:rPr>
              <a:t>typically</a:t>
            </a:r>
            <a:r>
              <a:rPr sz="2800" spc="65" dirty="0">
                <a:latin typeface="Calibri"/>
                <a:cs typeface="Calibri"/>
              </a:rPr>
              <a:t>  </a:t>
            </a:r>
            <a:r>
              <a:rPr sz="2800" dirty="0">
                <a:latin typeface="Calibri"/>
                <a:cs typeface="Calibri"/>
              </a:rPr>
              <a:t>uses</a:t>
            </a:r>
            <a:r>
              <a:rPr sz="2800" spc="65" dirty="0">
                <a:latin typeface="Calibri"/>
                <a:cs typeface="Calibri"/>
              </a:rPr>
              <a:t>  </a:t>
            </a:r>
            <a:r>
              <a:rPr sz="2800" dirty="0">
                <a:latin typeface="Calibri"/>
                <a:cs typeface="Calibri"/>
              </a:rPr>
              <a:t>several</a:t>
            </a:r>
            <a:r>
              <a:rPr sz="2800" spc="65" dirty="0">
                <a:latin typeface="Calibri"/>
                <a:cs typeface="Calibri"/>
              </a:rPr>
              <a:t>  </a:t>
            </a:r>
            <a:r>
              <a:rPr sz="2800" dirty="0">
                <a:latin typeface="Calibri"/>
                <a:cs typeface="Calibri"/>
              </a:rPr>
              <a:t>weighted</a:t>
            </a:r>
            <a:r>
              <a:rPr sz="2800" spc="70" dirty="0">
                <a:latin typeface="Calibri"/>
                <a:cs typeface="Calibri"/>
              </a:rPr>
              <a:t>  </a:t>
            </a:r>
            <a:r>
              <a:rPr sz="2800" dirty="0">
                <a:latin typeface="Calibri"/>
                <a:cs typeface="Calibri"/>
              </a:rPr>
              <a:t>selection</a:t>
            </a:r>
            <a:r>
              <a:rPr sz="2800" spc="65" dirty="0">
                <a:latin typeface="Calibri"/>
                <a:cs typeface="Calibri"/>
              </a:rPr>
              <a:t>  </a:t>
            </a:r>
            <a:r>
              <a:rPr sz="2800" dirty="0">
                <a:latin typeface="Calibri"/>
                <a:cs typeface="Calibri"/>
              </a:rPr>
              <a:t>criteria</a:t>
            </a:r>
            <a:r>
              <a:rPr sz="2800" spc="65" dirty="0">
                <a:latin typeface="Calibri"/>
                <a:cs typeface="Calibri"/>
              </a:rPr>
              <a:t>  </a:t>
            </a:r>
            <a:r>
              <a:rPr sz="2800" dirty="0">
                <a:latin typeface="Calibri"/>
                <a:cs typeface="Calibri"/>
              </a:rPr>
              <a:t>to</a:t>
            </a:r>
            <a:r>
              <a:rPr sz="2800" spc="70" dirty="0">
                <a:latin typeface="Calibri"/>
                <a:cs typeface="Calibri"/>
              </a:rPr>
              <a:t>  </a:t>
            </a:r>
            <a:r>
              <a:rPr sz="2800" spc="-10" dirty="0">
                <a:latin typeface="Calibri"/>
                <a:cs typeface="Calibri"/>
              </a:rPr>
              <a:t>evaluate </a:t>
            </a:r>
            <a:r>
              <a:rPr sz="2800" dirty="0">
                <a:latin typeface="Calibri"/>
                <a:cs typeface="Calibri"/>
              </a:rPr>
              <a:t>project</a:t>
            </a:r>
            <a:r>
              <a:rPr sz="2800" spc="-90" dirty="0">
                <a:latin typeface="Calibri"/>
                <a:cs typeface="Calibri"/>
              </a:rPr>
              <a:t> </a:t>
            </a:r>
            <a:r>
              <a:rPr sz="2800" spc="-10" dirty="0">
                <a:latin typeface="Calibri"/>
                <a:cs typeface="Calibri"/>
              </a:rPr>
              <a:t>proposals.</a:t>
            </a:r>
            <a:endParaRPr sz="2800">
              <a:latin typeface="Calibri"/>
              <a:cs typeface="Calibri"/>
            </a:endParaRPr>
          </a:p>
          <a:p>
            <a:pPr marL="468630" marR="5080" lvl="1" indent="-182880" algn="just">
              <a:lnSpc>
                <a:spcPct val="89800"/>
              </a:lnSpc>
              <a:spcBef>
                <a:spcPts val="1050"/>
              </a:spcBef>
              <a:buFont typeface="Arial MT"/>
              <a:buChar char="•"/>
              <a:tabLst>
                <a:tab pos="468630" algn="l"/>
              </a:tabLst>
            </a:pPr>
            <a:r>
              <a:rPr sz="2800" dirty="0">
                <a:solidFill>
                  <a:srgbClr val="262EA4"/>
                </a:solidFill>
                <a:latin typeface="Calibri"/>
                <a:cs typeface="Calibri"/>
              </a:rPr>
              <a:t>Each</a:t>
            </a:r>
            <a:r>
              <a:rPr sz="2800" spc="-5" dirty="0">
                <a:solidFill>
                  <a:srgbClr val="262EA4"/>
                </a:solidFill>
                <a:latin typeface="Calibri"/>
                <a:cs typeface="Calibri"/>
              </a:rPr>
              <a:t> </a:t>
            </a:r>
            <a:r>
              <a:rPr sz="2800" dirty="0">
                <a:solidFill>
                  <a:srgbClr val="262EA4"/>
                </a:solidFill>
                <a:latin typeface="Calibri"/>
                <a:cs typeface="Calibri"/>
              </a:rPr>
              <a:t>selection</a:t>
            </a:r>
            <a:r>
              <a:rPr sz="2800" spc="-10" dirty="0">
                <a:solidFill>
                  <a:srgbClr val="262EA4"/>
                </a:solidFill>
                <a:latin typeface="Calibri"/>
                <a:cs typeface="Calibri"/>
              </a:rPr>
              <a:t> </a:t>
            </a:r>
            <a:r>
              <a:rPr sz="2800" dirty="0">
                <a:solidFill>
                  <a:srgbClr val="262EA4"/>
                </a:solidFill>
                <a:latin typeface="Calibri"/>
                <a:cs typeface="Calibri"/>
              </a:rPr>
              <a:t>criterion</a:t>
            </a:r>
            <a:r>
              <a:rPr sz="2800" spc="-5" dirty="0">
                <a:solidFill>
                  <a:srgbClr val="262EA4"/>
                </a:solidFill>
                <a:latin typeface="Calibri"/>
                <a:cs typeface="Calibri"/>
              </a:rPr>
              <a:t> </a:t>
            </a:r>
            <a:r>
              <a:rPr sz="2800" dirty="0">
                <a:solidFill>
                  <a:srgbClr val="262EA4"/>
                </a:solidFill>
                <a:latin typeface="Calibri"/>
                <a:cs typeface="Calibri"/>
              </a:rPr>
              <a:t>is</a:t>
            </a:r>
            <a:r>
              <a:rPr sz="2800" spc="-5" dirty="0">
                <a:solidFill>
                  <a:srgbClr val="262EA4"/>
                </a:solidFill>
                <a:latin typeface="Calibri"/>
                <a:cs typeface="Calibri"/>
              </a:rPr>
              <a:t> </a:t>
            </a:r>
            <a:r>
              <a:rPr sz="2800" dirty="0">
                <a:solidFill>
                  <a:srgbClr val="262EA4"/>
                </a:solidFill>
                <a:latin typeface="Calibri"/>
                <a:cs typeface="Calibri"/>
              </a:rPr>
              <a:t>assigned</a:t>
            </a:r>
            <a:r>
              <a:rPr sz="2800" spc="-5" dirty="0">
                <a:solidFill>
                  <a:srgbClr val="262EA4"/>
                </a:solidFill>
                <a:latin typeface="Calibri"/>
                <a:cs typeface="Calibri"/>
              </a:rPr>
              <a:t> </a:t>
            </a:r>
            <a:r>
              <a:rPr sz="2800" dirty="0">
                <a:solidFill>
                  <a:srgbClr val="262EA4"/>
                </a:solidFill>
                <a:latin typeface="Calibri"/>
                <a:cs typeface="Calibri"/>
              </a:rPr>
              <a:t>a</a:t>
            </a:r>
            <a:r>
              <a:rPr sz="2800" spc="-15" dirty="0">
                <a:solidFill>
                  <a:srgbClr val="262EA4"/>
                </a:solidFill>
                <a:latin typeface="Calibri"/>
                <a:cs typeface="Calibri"/>
              </a:rPr>
              <a:t> </a:t>
            </a:r>
            <a:r>
              <a:rPr sz="2800" dirty="0">
                <a:solidFill>
                  <a:srgbClr val="262EA4"/>
                </a:solidFill>
                <a:latin typeface="Calibri"/>
                <a:cs typeface="Calibri"/>
              </a:rPr>
              <a:t>weight.</a:t>
            </a:r>
            <a:r>
              <a:rPr sz="2800" spc="-5" dirty="0">
                <a:solidFill>
                  <a:srgbClr val="262EA4"/>
                </a:solidFill>
                <a:latin typeface="Calibri"/>
                <a:cs typeface="Calibri"/>
              </a:rPr>
              <a:t> </a:t>
            </a:r>
            <a:r>
              <a:rPr sz="2800" dirty="0">
                <a:solidFill>
                  <a:srgbClr val="262EA4"/>
                </a:solidFill>
                <a:latin typeface="Calibri"/>
                <a:cs typeface="Calibri"/>
              </a:rPr>
              <a:t>Scores</a:t>
            </a:r>
            <a:r>
              <a:rPr sz="2800" spc="-5" dirty="0">
                <a:solidFill>
                  <a:srgbClr val="262EA4"/>
                </a:solidFill>
                <a:latin typeface="Calibri"/>
                <a:cs typeface="Calibri"/>
              </a:rPr>
              <a:t> </a:t>
            </a:r>
            <a:r>
              <a:rPr sz="2800" dirty="0">
                <a:solidFill>
                  <a:srgbClr val="262EA4"/>
                </a:solidFill>
                <a:latin typeface="Calibri"/>
                <a:cs typeface="Calibri"/>
              </a:rPr>
              <a:t>are</a:t>
            </a:r>
            <a:r>
              <a:rPr sz="2800" spc="-15" dirty="0">
                <a:solidFill>
                  <a:srgbClr val="262EA4"/>
                </a:solidFill>
                <a:latin typeface="Calibri"/>
                <a:cs typeface="Calibri"/>
              </a:rPr>
              <a:t> </a:t>
            </a:r>
            <a:r>
              <a:rPr sz="2800" dirty="0">
                <a:solidFill>
                  <a:srgbClr val="262EA4"/>
                </a:solidFill>
                <a:latin typeface="Calibri"/>
                <a:cs typeface="Calibri"/>
              </a:rPr>
              <a:t>assigned</a:t>
            </a:r>
            <a:r>
              <a:rPr sz="2800" spc="-5" dirty="0">
                <a:solidFill>
                  <a:srgbClr val="262EA4"/>
                </a:solidFill>
                <a:latin typeface="Calibri"/>
                <a:cs typeface="Calibri"/>
              </a:rPr>
              <a:t> </a:t>
            </a:r>
            <a:r>
              <a:rPr sz="2800" spc="-25" dirty="0">
                <a:solidFill>
                  <a:srgbClr val="262EA4"/>
                </a:solidFill>
                <a:latin typeface="Calibri"/>
                <a:cs typeface="Calibri"/>
              </a:rPr>
              <a:t>to </a:t>
            </a:r>
            <a:r>
              <a:rPr sz="2800" dirty="0">
                <a:solidFill>
                  <a:srgbClr val="262EA4"/>
                </a:solidFill>
                <a:latin typeface="Calibri"/>
                <a:cs typeface="Calibri"/>
              </a:rPr>
              <a:t>each</a:t>
            </a:r>
            <a:r>
              <a:rPr sz="2800" spc="45" dirty="0">
                <a:solidFill>
                  <a:srgbClr val="262EA4"/>
                </a:solidFill>
                <a:latin typeface="Calibri"/>
                <a:cs typeface="Calibri"/>
              </a:rPr>
              <a:t>  </a:t>
            </a:r>
            <a:r>
              <a:rPr sz="2800" dirty="0">
                <a:solidFill>
                  <a:srgbClr val="262EA4"/>
                </a:solidFill>
                <a:latin typeface="Calibri"/>
                <a:cs typeface="Calibri"/>
              </a:rPr>
              <a:t>criterion</a:t>
            </a:r>
            <a:r>
              <a:rPr sz="2800" spc="45" dirty="0">
                <a:solidFill>
                  <a:srgbClr val="262EA4"/>
                </a:solidFill>
                <a:latin typeface="Calibri"/>
                <a:cs typeface="Calibri"/>
              </a:rPr>
              <a:t>  </a:t>
            </a:r>
            <a:r>
              <a:rPr sz="2800" dirty="0">
                <a:solidFill>
                  <a:srgbClr val="262EA4"/>
                </a:solidFill>
                <a:latin typeface="Calibri"/>
                <a:cs typeface="Calibri"/>
              </a:rPr>
              <a:t>for</a:t>
            </a:r>
            <a:r>
              <a:rPr sz="2800" spc="50" dirty="0">
                <a:solidFill>
                  <a:srgbClr val="262EA4"/>
                </a:solidFill>
                <a:latin typeface="Calibri"/>
                <a:cs typeface="Calibri"/>
              </a:rPr>
              <a:t>  </a:t>
            </a:r>
            <a:r>
              <a:rPr sz="2800" dirty="0">
                <a:solidFill>
                  <a:srgbClr val="262EA4"/>
                </a:solidFill>
                <a:latin typeface="Calibri"/>
                <a:cs typeface="Calibri"/>
              </a:rPr>
              <a:t>the</a:t>
            </a:r>
            <a:r>
              <a:rPr sz="2800" spc="40" dirty="0">
                <a:solidFill>
                  <a:srgbClr val="262EA4"/>
                </a:solidFill>
                <a:latin typeface="Calibri"/>
                <a:cs typeface="Calibri"/>
              </a:rPr>
              <a:t>  </a:t>
            </a:r>
            <a:r>
              <a:rPr sz="2800" dirty="0">
                <a:solidFill>
                  <a:srgbClr val="262EA4"/>
                </a:solidFill>
                <a:latin typeface="Calibri"/>
                <a:cs typeface="Calibri"/>
              </a:rPr>
              <a:t>project,</a:t>
            </a:r>
            <a:r>
              <a:rPr sz="2800" spc="45" dirty="0">
                <a:solidFill>
                  <a:srgbClr val="262EA4"/>
                </a:solidFill>
                <a:latin typeface="Calibri"/>
                <a:cs typeface="Calibri"/>
              </a:rPr>
              <a:t>  </a:t>
            </a:r>
            <a:r>
              <a:rPr sz="2800" dirty="0">
                <a:solidFill>
                  <a:srgbClr val="262EA4"/>
                </a:solidFill>
                <a:latin typeface="Calibri"/>
                <a:cs typeface="Calibri"/>
              </a:rPr>
              <a:t>based</a:t>
            </a:r>
            <a:r>
              <a:rPr sz="2800" spc="50" dirty="0">
                <a:solidFill>
                  <a:srgbClr val="262EA4"/>
                </a:solidFill>
                <a:latin typeface="Calibri"/>
                <a:cs typeface="Calibri"/>
              </a:rPr>
              <a:t>  </a:t>
            </a:r>
            <a:r>
              <a:rPr sz="2800" dirty="0">
                <a:solidFill>
                  <a:srgbClr val="262EA4"/>
                </a:solidFill>
                <a:latin typeface="Calibri"/>
                <a:cs typeface="Calibri"/>
              </a:rPr>
              <a:t>on</a:t>
            </a:r>
            <a:r>
              <a:rPr sz="2800" spc="45" dirty="0">
                <a:solidFill>
                  <a:srgbClr val="262EA4"/>
                </a:solidFill>
                <a:latin typeface="Calibri"/>
                <a:cs typeface="Calibri"/>
              </a:rPr>
              <a:t>  </a:t>
            </a:r>
            <a:r>
              <a:rPr sz="2800" dirty="0">
                <a:solidFill>
                  <a:srgbClr val="262EA4"/>
                </a:solidFill>
                <a:latin typeface="Calibri"/>
                <a:cs typeface="Calibri"/>
              </a:rPr>
              <a:t>its</a:t>
            </a:r>
            <a:r>
              <a:rPr sz="2800" spc="50" dirty="0">
                <a:solidFill>
                  <a:srgbClr val="262EA4"/>
                </a:solidFill>
                <a:latin typeface="Calibri"/>
                <a:cs typeface="Calibri"/>
              </a:rPr>
              <a:t>  </a:t>
            </a:r>
            <a:r>
              <a:rPr sz="2800" dirty="0">
                <a:solidFill>
                  <a:srgbClr val="262EA4"/>
                </a:solidFill>
                <a:latin typeface="Calibri"/>
                <a:cs typeface="Calibri"/>
              </a:rPr>
              <a:t>importance</a:t>
            </a:r>
            <a:r>
              <a:rPr sz="2800" spc="40" dirty="0">
                <a:solidFill>
                  <a:srgbClr val="262EA4"/>
                </a:solidFill>
                <a:latin typeface="Calibri"/>
                <a:cs typeface="Calibri"/>
              </a:rPr>
              <a:t>  </a:t>
            </a:r>
            <a:r>
              <a:rPr sz="2800" dirty="0">
                <a:solidFill>
                  <a:srgbClr val="262EA4"/>
                </a:solidFill>
                <a:latin typeface="Calibri"/>
                <a:cs typeface="Calibri"/>
              </a:rPr>
              <a:t>to</a:t>
            </a:r>
            <a:r>
              <a:rPr sz="2800" spc="45" dirty="0">
                <a:solidFill>
                  <a:srgbClr val="262EA4"/>
                </a:solidFill>
                <a:latin typeface="Calibri"/>
                <a:cs typeface="Calibri"/>
              </a:rPr>
              <a:t>  </a:t>
            </a:r>
            <a:r>
              <a:rPr sz="2800" spc="-25" dirty="0">
                <a:solidFill>
                  <a:srgbClr val="262EA4"/>
                </a:solidFill>
                <a:latin typeface="Calibri"/>
                <a:cs typeface="Calibri"/>
              </a:rPr>
              <a:t>the </a:t>
            </a:r>
            <a:r>
              <a:rPr sz="2800" dirty="0">
                <a:solidFill>
                  <a:srgbClr val="262EA4"/>
                </a:solidFill>
                <a:latin typeface="Calibri"/>
                <a:cs typeface="Calibri"/>
              </a:rPr>
              <a:t>project</a:t>
            </a:r>
            <a:r>
              <a:rPr sz="2800" spc="220" dirty="0">
                <a:solidFill>
                  <a:srgbClr val="262EA4"/>
                </a:solidFill>
                <a:latin typeface="Calibri"/>
                <a:cs typeface="Calibri"/>
              </a:rPr>
              <a:t> </a:t>
            </a:r>
            <a:r>
              <a:rPr sz="2800" dirty="0">
                <a:solidFill>
                  <a:srgbClr val="262EA4"/>
                </a:solidFill>
                <a:latin typeface="Calibri"/>
                <a:cs typeface="Calibri"/>
              </a:rPr>
              <a:t>being</a:t>
            </a:r>
            <a:r>
              <a:rPr sz="2800" spc="215" dirty="0">
                <a:solidFill>
                  <a:srgbClr val="262EA4"/>
                </a:solidFill>
                <a:latin typeface="Calibri"/>
                <a:cs typeface="Calibri"/>
              </a:rPr>
              <a:t> </a:t>
            </a:r>
            <a:r>
              <a:rPr sz="2800" dirty="0">
                <a:solidFill>
                  <a:srgbClr val="262EA4"/>
                </a:solidFill>
                <a:latin typeface="Calibri"/>
                <a:cs typeface="Calibri"/>
              </a:rPr>
              <a:t>evaluated.</a:t>
            </a:r>
            <a:r>
              <a:rPr sz="2800" spc="235" dirty="0">
                <a:solidFill>
                  <a:srgbClr val="262EA4"/>
                </a:solidFill>
                <a:latin typeface="Calibri"/>
                <a:cs typeface="Calibri"/>
              </a:rPr>
              <a:t> </a:t>
            </a:r>
            <a:r>
              <a:rPr sz="2800" dirty="0">
                <a:solidFill>
                  <a:srgbClr val="262EA4"/>
                </a:solidFill>
                <a:latin typeface="Calibri"/>
                <a:cs typeface="Calibri"/>
              </a:rPr>
              <a:t>The</a:t>
            </a:r>
            <a:r>
              <a:rPr sz="2800" spc="225" dirty="0">
                <a:solidFill>
                  <a:srgbClr val="262EA4"/>
                </a:solidFill>
                <a:latin typeface="Calibri"/>
                <a:cs typeface="Calibri"/>
              </a:rPr>
              <a:t> </a:t>
            </a:r>
            <a:r>
              <a:rPr sz="2800" dirty="0">
                <a:solidFill>
                  <a:srgbClr val="262EA4"/>
                </a:solidFill>
                <a:latin typeface="Calibri"/>
                <a:cs typeface="Calibri"/>
              </a:rPr>
              <a:t>weights</a:t>
            </a:r>
            <a:r>
              <a:rPr sz="2800" spc="229" dirty="0">
                <a:solidFill>
                  <a:srgbClr val="262EA4"/>
                </a:solidFill>
                <a:latin typeface="Calibri"/>
                <a:cs typeface="Calibri"/>
              </a:rPr>
              <a:t> </a:t>
            </a:r>
            <a:r>
              <a:rPr sz="2800" dirty="0">
                <a:solidFill>
                  <a:srgbClr val="262EA4"/>
                </a:solidFill>
                <a:latin typeface="Calibri"/>
                <a:cs typeface="Calibri"/>
              </a:rPr>
              <a:t>and</a:t>
            </a:r>
            <a:r>
              <a:rPr sz="2800" spc="235" dirty="0">
                <a:solidFill>
                  <a:srgbClr val="262EA4"/>
                </a:solidFill>
                <a:latin typeface="Calibri"/>
                <a:cs typeface="Calibri"/>
              </a:rPr>
              <a:t> </a:t>
            </a:r>
            <a:r>
              <a:rPr sz="2800" dirty="0">
                <a:solidFill>
                  <a:srgbClr val="262EA4"/>
                </a:solidFill>
                <a:latin typeface="Calibri"/>
                <a:cs typeface="Calibri"/>
              </a:rPr>
              <a:t>scores</a:t>
            </a:r>
            <a:r>
              <a:rPr sz="2800" spc="225" dirty="0">
                <a:solidFill>
                  <a:srgbClr val="262EA4"/>
                </a:solidFill>
                <a:latin typeface="Calibri"/>
                <a:cs typeface="Calibri"/>
              </a:rPr>
              <a:t> </a:t>
            </a:r>
            <a:r>
              <a:rPr sz="2800" dirty="0">
                <a:solidFill>
                  <a:srgbClr val="262EA4"/>
                </a:solidFill>
                <a:latin typeface="Calibri"/>
                <a:cs typeface="Calibri"/>
              </a:rPr>
              <a:t>are</a:t>
            </a:r>
            <a:r>
              <a:rPr sz="2800" spc="220" dirty="0">
                <a:solidFill>
                  <a:srgbClr val="262EA4"/>
                </a:solidFill>
                <a:latin typeface="Calibri"/>
                <a:cs typeface="Calibri"/>
              </a:rPr>
              <a:t> </a:t>
            </a:r>
            <a:r>
              <a:rPr sz="2800" dirty="0">
                <a:solidFill>
                  <a:srgbClr val="262EA4"/>
                </a:solidFill>
                <a:latin typeface="Calibri"/>
                <a:cs typeface="Calibri"/>
              </a:rPr>
              <a:t>multiplied</a:t>
            </a:r>
            <a:r>
              <a:rPr sz="2800" spc="229" dirty="0">
                <a:solidFill>
                  <a:srgbClr val="262EA4"/>
                </a:solidFill>
                <a:latin typeface="Calibri"/>
                <a:cs typeface="Calibri"/>
              </a:rPr>
              <a:t> </a:t>
            </a:r>
            <a:r>
              <a:rPr sz="2800" spc="-25" dirty="0">
                <a:solidFill>
                  <a:srgbClr val="262EA4"/>
                </a:solidFill>
                <a:latin typeface="Calibri"/>
                <a:cs typeface="Calibri"/>
              </a:rPr>
              <a:t>to </a:t>
            </a:r>
            <a:r>
              <a:rPr sz="2800" dirty="0">
                <a:solidFill>
                  <a:srgbClr val="262EA4"/>
                </a:solidFill>
                <a:latin typeface="Calibri"/>
                <a:cs typeface="Calibri"/>
              </a:rPr>
              <a:t>get</a:t>
            </a:r>
            <a:r>
              <a:rPr sz="2800" spc="505" dirty="0">
                <a:solidFill>
                  <a:srgbClr val="262EA4"/>
                </a:solidFill>
                <a:latin typeface="Calibri"/>
                <a:cs typeface="Calibri"/>
              </a:rPr>
              <a:t> </a:t>
            </a:r>
            <a:r>
              <a:rPr sz="2800" dirty="0">
                <a:solidFill>
                  <a:srgbClr val="262EA4"/>
                </a:solidFill>
                <a:latin typeface="Calibri"/>
                <a:cs typeface="Calibri"/>
              </a:rPr>
              <a:t>a</a:t>
            </a:r>
            <a:r>
              <a:rPr sz="2800" spc="500" dirty="0">
                <a:solidFill>
                  <a:srgbClr val="262EA4"/>
                </a:solidFill>
                <a:latin typeface="Calibri"/>
                <a:cs typeface="Calibri"/>
              </a:rPr>
              <a:t> </a:t>
            </a:r>
            <a:r>
              <a:rPr sz="2800" dirty="0">
                <a:solidFill>
                  <a:srgbClr val="262EA4"/>
                </a:solidFill>
                <a:latin typeface="Calibri"/>
                <a:cs typeface="Calibri"/>
              </a:rPr>
              <a:t>total</a:t>
            </a:r>
            <a:r>
              <a:rPr sz="2800" spc="500" dirty="0">
                <a:solidFill>
                  <a:srgbClr val="262EA4"/>
                </a:solidFill>
                <a:latin typeface="Calibri"/>
                <a:cs typeface="Calibri"/>
              </a:rPr>
              <a:t> </a:t>
            </a:r>
            <a:r>
              <a:rPr sz="2800" dirty="0">
                <a:solidFill>
                  <a:srgbClr val="262EA4"/>
                </a:solidFill>
                <a:latin typeface="Calibri"/>
                <a:cs typeface="Calibri"/>
              </a:rPr>
              <a:t>weighted</a:t>
            </a:r>
            <a:r>
              <a:rPr sz="2800" spc="509" dirty="0">
                <a:solidFill>
                  <a:srgbClr val="262EA4"/>
                </a:solidFill>
                <a:latin typeface="Calibri"/>
                <a:cs typeface="Calibri"/>
              </a:rPr>
              <a:t> </a:t>
            </a:r>
            <a:r>
              <a:rPr sz="2800" dirty="0">
                <a:solidFill>
                  <a:srgbClr val="262EA4"/>
                </a:solidFill>
                <a:latin typeface="Calibri"/>
                <a:cs typeface="Calibri"/>
              </a:rPr>
              <a:t>score</a:t>
            </a:r>
            <a:r>
              <a:rPr sz="2800" spc="500" dirty="0">
                <a:solidFill>
                  <a:srgbClr val="262EA4"/>
                </a:solidFill>
                <a:latin typeface="Calibri"/>
                <a:cs typeface="Calibri"/>
              </a:rPr>
              <a:t> </a:t>
            </a:r>
            <a:r>
              <a:rPr sz="2800" dirty="0">
                <a:solidFill>
                  <a:srgbClr val="262EA4"/>
                </a:solidFill>
                <a:latin typeface="Calibri"/>
                <a:cs typeface="Calibri"/>
              </a:rPr>
              <a:t>for</a:t>
            </a:r>
            <a:r>
              <a:rPr sz="2800" spc="505" dirty="0">
                <a:solidFill>
                  <a:srgbClr val="262EA4"/>
                </a:solidFill>
                <a:latin typeface="Calibri"/>
                <a:cs typeface="Calibri"/>
              </a:rPr>
              <a:t> </a:t>
            </a:r>
            <a:r>
              <a:rPr sz="2800" dirty="0">
                <a:solidFill>
                  <a:srgbClr val="262EA4"/>
                </a:solidFill>
                <a:latin typeface="Calibri"/>
                <a:cs typeface="Calibri"/>
              </a:rPr>
              <a:t>the</a:t>
            </a:r>
            <a:r>
              <a:rPr sz="2800" spc="500" dirty="0">
                <a:solidFill>
                  <a:srgbClr val="262EA4"/>
                </a:solidFill>
                <a:latin typeface="Calibri"/>
                <a:cs typeface="Calibri"/>
              </a:rPr>
              <a:t> </a:t>
            </a:r>
            <a:r>
              <a:rPr sz="2800" dirty="0">
                <a:solidFill>
                  <a:srgbClr val="262EA4"/>
                </a:solidFill>
                <a:latin typeface="Calibri"/>
                <a:cs typeface="Calibri"/>
              </a:rPr>
              <a:t>project.</a:t>
            </a:r>
            <a:r>
              <a:rPr sz="2800" spc="509" dirty="0">
                <a:solidFill>
                  <a:srgbClr val="262EA4"/>
                </a:solidFill>
                <a:latin typeface="Calibri"/>
                <a:cs typeface="Calibri"/>
              </a:rPr>
              <a:t> </a:t>
            </a:r>
            <a:r>
              <a:rPr sz="2800" dirty="0">
                <a:solidFill>
                  <a:srgbClr val="262EA4"/>
                </a:solidFill>
                <a:latin typeface="Calibri"/>
                <a:cs typeface="Calibri"/>
              </a:rPr>
              <a:t>Using</a:t>
            </a:r>
            <a:r>
              <a:rPr sz="2800" spc="500" dirty="0">
                <a:solidFill>
                  <a:srgbClr val="262EA4"/>
                </a:solidFill>
                <a:latin typeface="Calibri"/>
                <a:cs typeface="Calibri"/>
              </a:rPr>
              <a:t> </a:t>
            </a:r>
            <a:r>
              <a:rPr sz="2800" dirty="0">
                <a:solidFill>
                  <a:srgbClr val="262EA4"/>
                </a:solidFill>
                <a:latin typeface="Calibri"/>
                <a:cs typeface="Calibri"/>
              </a:rPr>
              <a:t>these</a:t>
            </a:r>
            <a:r>
              <a:rPr sz="2800" spc="500" dirty="0">
                <a:solidFill>
                  <a:srgbClr val="262EA4"/>
                </a:solidFill>
                <a:latin typeface="Calibri"/>
                <a:cs typeface="Calibri"/>
              </a:rPr>
              <a:t> </a:t>
            </a:r>
            <a:r>
              <a:rPr sz="2800" spc="-10" dirty="0">
                <a:solidFill>
                  <a:srgbClr val="262EA4"/>
                </a:solidFill>
                <a:latin typeface="Calibri"/>
                <a:cs typeface="Calibri"/>
              </a:rPr>
              <a:t>multiple </a:t>
            </a:r>
            <a:r>
              <a:rPr sz="2800" dirty="0">
                <a:solidFill>
                  <a:srgbClr val="262EA4"/>
                </a:solidFill>
                <a:latin typeface="Calibri"/>
                <a:cs typeface="Calibri"/>
              </a:rPr>
              <a:t>screening</a:t>
            </a:r>
            <a:r>
              <a:rPr sz="2800" spc="229" dirty="0">
                <a:solidFill>
                  <a:srgbClr val="262EA4"/>
                </a:solidFill>
                <a:latin typeface="Calibri"/>
                <a:cs typeface="Calibri"/>
              </a:rPr>
              <a:t>  </a:t>
            </a:r>
            <a:r>
              <a:rPr sz="2800" dirty="0">
                <a:solidFill>
                  <a:srgbClr val="262EA4"/>
                </a:solidFill>
                <a:latin typeface="Calibri"/>
                <a:cs typeface="Calibri"/>
              </a:rPr>
              <a:t>criteria,</a:t>
            </a:r>
            <a:r>
              <a:rPr sz="2800" spc="240" dirty="0">
                <a:solidFill>
                  <a:srgbClr val="262EA4"/>
                </a:solidFill>
                <a:latin typeface="Calibri"/>
                <a:cs typeface="Calibri"/>
              </a:rPr>
              <a:t>  </a:t>
            </a:r>
            <a:r>
              <a:rPr sz="2800" dirty="0">
                <a:solidFill>
                  <a:srgbClr val="262EA4"/>
                </a:solidFill>
                <a:latin typeface="Calibri"/>
                <a:cs typeface="Calibri"/>
              </a:rPr>
              <a:t>projects</a:t>
            </a:r>
            <a:r>
              <a:rPr sz="2800" spc="240" dirty="0">
                <a:solidFill>
                  <a:srgbClr val="262EA4"/>
                </a:solidFill>
                <a:latin typeface="Calibri"/>
                <a:cs typeface="Calibri"/>
              </a:rPr>
              <a:t>  </a:t>
            </a:r>
            <a:r>
              <a:rPr sz="2800" dirty="0">
                <a:solidFill>
                  <a:srgbClr val="262EA4"/>
                </a:solidFill>
                <a:latin typeface="Calibri"/>
                <a:cs typeface="Calibri"/>
              </a:rPr>
              <a:t>can</a:t>
            </a:r>
            <a:r>
              <a:rPr sz="2800" spc="245" dirty="0">
                <a:solidFill>
                  <a:srgbClr val="262EA4"/>
                </a:solidFill>
                <a:latin typeface="Calibri"/>
                <a:cs typeface="Calibri"/>
              </a:rPr>
              <a:t>  </a:t>
            </a:r>
            <a:r>
              <a:rPr sz="2800" dirty="0">
                <a:solidFill>
                  <a:srgbClr val="262EA4"/>
                </a:solidFill>
                <a:latin typeface="Calibri"/>
                <a:cs typeface="Calibri"/>
              </a:rPr>
              <a:t>then</a:t>
            </a:r>
            <a:r>
              <a:rPr sz="2800" spc="240" dirty="0">
                <a:solidFill>
                  <a:srgbClr val="262EA4"/>
                </a:solidFill>
                <a:latin typeface="Calibri"/>
                <a:cs typeface="Calibri"/>
              </a:rPr>
              <a:t>  </a:t>
            </a:r>
            <a:r>
              <a:rPr sz="2800" dirty="0">
                <a:solidFill>
                  <a:srgbClr val="262EA4"/>
                </a:solidFill>
                <a:latin typeface="Calibri"/>
                <a:cs typeface="Calibri"/>
              </a:rPr>
              <a:t>be</a:t>
            </a:r>
            <a:r>
              <a:rPr sz="2800" spc="235" dirty="0">
                <a:solidFill>
                  <a:srgbClr val="262EA4"/>
                </a:solidFill>
                <a:latin typeface="Calibri"/>
                <a:cs typeface="Calibri"/>
              </a:rPr>
              <a:t>  </a:t>
            </a:r>
            <a:r>
              <a:rPr sz="2800" dirty="0">
                <a:solidFill>
                  <a:srgbClr val="262EA4"/>
                </a:solidFill>
                <a:latin typeface="Calibri"/>
                <a:cs typeface="Calibri"/>
              </a:rPr>
              <a:t>compared</a:t>
            </a:r>
            <a:r>
              <a:rPr sz="2800" spc="240" dirty="0">
                <a:solidFill>
                  <a:srgbClr val="262EA4"/>
                </a:solidFill>
                <a:latin typeface="Calibri"/>
                <a:cs typeface="Calibri"/>
              </a:rPr>
              <a:t>  </a:t>
            </a:r>
            <a:r>
              <a:rPr sz="2800" dirty="0">
                <a:solidFill>
                  <a:srgbClr val="262EA4"/>
                </a:solidFill>
                <a:latin typeface="Calibri"/>
                <a:cs typeface="Calibri"/>
              </a:rPr>
              <a:t>using</a:t>
            </a:r>
            <a:r>
              <a:rPr sz="2800" spc="235" dirty="0">
                <a:solidFill>
                  <a:srgbClr val="262EA4"/>
                </a:solidFill>
                <a:latin typeface="Calibri"/>
                <a:cs typeface="Calibri"/>
              </a:rPr>
              <a:t>  </a:t>
            </a:r>
            <a:r>
              <a:rPr sz="2800" spc="-25" dirty="0">
                <a:solidFill>
                  <a:srgbClr val="262EA4"/>
                </a:solidFill>
                <a:latin typeface="Calibri"/>
                <a:cs typeface="Calibri"/>
              </a:rPr>
              <a:t>the </a:t>
            </a:r>
            <a:r>
              <a:rPr sz="2800" dirty="0">
                <a:solidFill>
                  <a:srgbClr val="262EA4"/>
                </a:solidFill>
                <a:latin typeface="Calibri"/>
                <a:cs typeface="Calibri"/>
              </a:rPr>
              <a:t>weighted</a:t>
            </a:r>
            <a:r>
              <a:rPr sz="2800" spc="500" dirty="0">
                <a:solidFill>
                  <a:srgbClr val="262EA4"/>
                </a:solidFill>
                <a:latin typeface="Calibri"/>
                <a:cs typeface="Calibri"/>
              </a:rPr>
              <a:t>  </a:t>
            </a:r>
            <a:r>
              <a:rPr sz="2800" dirty="0">
                <a:solidFill>
                  <a:srgbClr val="262EA4"/>
                </a:solidFill>
                <a:latin typeface="Calibri"/>
                <a:cs typeface="Calibri"/>
              </a:rPr>
              <a:t>score.</a:t>
            </a:r>
            <a:r>
              <a:rPr sz="2800" spc="509" dirty="0">
                <a:solidFill>
                  <a:srgbClr val="262EA4"/>
                </a:solidFill>
                <a:latin typeface="Calibri"/>
                <a:cs typeface="Calibri"/>
              </a:rPr>
              <a:t>  </a:t>
            </a:r>
            <a:r>
              <a:rPr sz="2800" dirty="0">
                <a:solidFill>
                  <a:srgbClr val="262EA4"/>
                </a:solidFill>
                <a:latin typeface="Calibri"/>
                <a:cs typeface="Calibri"/>
              </a:rPr>
              <a:t>Projects</a:t>
            </a:r>
            <a:r>
              <a:rPr sz="2800" spc="505" dirty="0">
                <a:solidFill>
                  <a:srgbClr val="262EA4"/>
                </a:solidFill>
                <a:latin typeface="Calibri"/>
                <a:cs typeface="Calibri"/>
              </a:rPr>
              <a:t>  </a:t>
            </a:r>
            <a:r>
              <a:rPr sz="2800" dirty="0">
                <a:solidFill>
                  <a:srgbClr val="262EA4"/>
                </a:solidFill>
                <a:latin typeface="Calibri"/>
                <a:cs typeface="Calibri"/>
              </a:rPr>
              <a:t>with</a:t>
            </a:r>
            <a:r>
              <a:rPr sz="2800" spc="509" dirty="0">
                <a:solidFill>
                  <a:srgbClr val="262EA4"/>
                </a:solidFill>
                <a:latin typeface="Calibri"/>
                <a:cs typeface="Calibri"/>
              </a:rPr>
              <a:t>  </a:t>
            </a:r>
            <a:r>
              <a:rPr sz="2800" dirty="0">
                <a:solidFill>
                  <a:srgbClr val="262EA4"/>
                </a:solidFill>
                <a:latin typeface="Calibri"/>
                <a:cs typeface="Calibri"/>
              </a:rPr>
              <a:t>higher</a:t>
            </a:r>
            <a:r>
              <a:rPr sz="2800" spc="500" dirty="0">
                <a:solidFill>
                  <a:srgbClr val="262EA4"/>
                </a:solidFill>
                <a:latin typeface="Calibri"/>
                <a:cs typeface="Calibri"/>
              </a:rPr>
              <a:t>  </a:t>
            </a:r>
            <a:r>
              <a:rPr sz="2800" dirty="0">
                <a:solidFill>
                  <a:srgbClr val="262EA4"/>
                </a:solidFill>
                <a:latin typeface="Calibri"/>
                <a:cs typeface="Calibri"/>
              </a:rPr>
              <a:t>weighted</a:t>
            </a:r>
            <a:r>
              <a:rPr sz="2800" spc="505" dirty="0">
                <a:solidFill>
                  <a:srgbClr val="262EA4"/>
                </a:solidFill>
                <a:latin typeface="Calibri"/>
                <a:cs typeface="Calibri"/>
              </a:rPr>
              <a:t>  </a:t>
            </a:r>
            <a:r>
              <a:rPr sz="2800" dirty="0">
                <a:solidFill>
                  <a:srgbClr val="262EA4"/>
                </a:solidFill>
                <a:latin typeface="Calibri"/>
                <a:cs typeface="Calibri"/>
              </a:rPr>
              <a:t>scores</a:t>
            </a:r>
            <a:r>
              <a:rPr sz="2800" spc="505" dirty="0">
                <a:solidFill>
                  <a:srgbClr val="262EA4"/>
                </a:solidFill>
                <a:latin typeface="Calibri"/>
                <a:cs typeface="Calibri"/>
              </a:rPr>
              <a:t>  </a:t>
            </a:r>
            <a:r>
              <a:rPr sz="2800" spc="-25" dirty="0">
                <a:solidFill>
                  <a:srgbClr val="262EA4"/>
                </a:solidFill>
                <a:latin typeface="Calibri"/>
                <a:cs typeface="Calibri"/>
              </a:rPr>
              <a:t>are </a:t>
            </a:r>
            <a:r>
              <a:rPr sz="2800" dirty="0">
                <a:solidFill>
                  <a:srgbClr val="262EA4"/>
                </a:solidFill>
                <a:latin typeface="Calibri"/>
                <a:cs typeface="Calibri"/>
              </a:rPr>
              <a:t>considered</a:t>
            </a:r>
            <a:r>
              <a:rPr sz="2800" spc="-160" dirty="0">
                <a:solidFill>
                  <a:srgbClr val="262EA4"/>
                </a:solidFill>
                <a:latin typeface="Calibri"/>
                <a:cs typeface="Calibri"/>
              </a:rPr>
              <a:t> </a:t>
            </a:r>
            <a:r>
              <a:rPr sz="2800" spc="-10" dirty="0">
                <a:solidFill>
                  <a:srgbClr val="262EA4"/>
                </a:solidFill>
                <a:latin typeface="Calibri"/>
                <a:cs typeface="Calibri"/>
              </a:rPr>
              <a:t>better.</a:t>
            </a:r>
            <a:endParaRPr sz="2800">
              <a:latin typeface="Calibri"/>
              <a:cs typeface="Calibri"/>
            </a:endParaRPr>
          </a:p>
          <a:p>
            <a:pPr marL="468630" marR="5715" lvl="1" indent="-182880" algn="just">
              <a:lnSpc>
                <a:spcPts val="3000"/>
              </a:lnSpc>
              <a:spcBef>
                <a:spcPts val="1045"/>
              </a:spcBef>
              <a:buFont typeface="Arial MT"/>
              <a:buChar char="•"/>
              <a:tabLst>
                <a:tab pos="468630" algn="l"/>
              </a:tabLst>
            </a:pPr>
            <a:r>
              <a:rPr sz="2800" dirty="0">
                <a:latin typeface="Calibri"/>
                <a:cs typeface="Calibri"/>
              </a:rPr>
              <a:t>Failure</a:t>
            </a:r>
            <a:r>
              <a:rPr sz="2800" spc="320" dirty="0">
                <a:latin typeface="Calibri"/>
                <a:cs typeface="Calibri"/>
              </a:rPr>
              <a:t> </a:t>
            </a:r>
            <a:r>
              <a:rPr sz="2800" dirty="0">
                <a:latin typeface="Calibri"/>
                <a:cs typeface="Calibri"/>
              </a:rPr>
              <a:t>to</a:t>
            </a:r>
            <a:r>
              <a:rPr sz="2800" spc="340" dirty="0">
                <a:latin typeface="Calibri"/>
                <a:cs typeface="Calibri"/>
              </a:rPr>
              <a:t> </a:t>
            </a:r>
            <a:r>
              <a:rPr sz="2800" dirty="0">
                <a:latin typeface="Calibri"/>
                <a:cs typeface="Calibri"/>
              </a:rPr>
              <a:t>pick</a:t>
            </a:r>
            <a:r>
              <a:rPr sz="2800" spc="335" dirty="0">
                <a:latin typeface="Calibri"/>
                <a:cs typeface="Calibri"/>
              </a:rPr>
              <a:t> </a:t>
            </a:r>
            <a:r>
              <a:rPr sz="2800" dirty="0">
                <a:latin typeface="Calibri"/>
                <a:cs typeface="Calibri"/>
              </a:rPr>
              <a:t>the</a:t>
            </a:r>
            <a:r>
              <a:rPr sz="2800" spc="335" dirty="0">
                <a:latin typeface="Calibri"/>
                <a:cs typeface="Calibri"/>
              </a:rPr>
              <a:t> </a:t>
            </a:r>
            <a:r>
              <a:rPr sz="2800" dirty="0">
                <a:latin typeface="Calibri"/>
                <a:cs typeface="Calibri"/>
              </a:rPr>
              <a:t>right</a:t>
            </a:r>
            <a:r>
              <a:rPr sz="2800" spc="340" dirty="0">
                <a:latin typeface="Calibri"/>
                <a:cs typeface="Calibri"/>
              </a:rPr>
              <a:t> </a:t>
            </a:r>
            <a:r>
              <a:rPr sz="2800" dirty="0">
                <a:latin typeface="Calibri"/>
                <a:cs typeface="Calibri"/>
              </a:rPr>
              <a:t>factors</a:t>
            </a:r>
            <a:r>
              <a:rPr sz="2800" spc="335" dirty="0">
                <a:latin typeface="Calibri"/>
                <a:cs typeface="Calibri"/>
              </a:rPr>
              <a:t> </a:t>
            </a:r>
            <a:r>
              <a:rPr sz="2800" dirty="0">
                <a:latin typeface="Calibri"/>
                <a:cs typeface="Calibri"/>
              </a:rPr>
              <a:t>will</a:t>
            </a:r>
            <a:r>
              <a:rPr sz="2800" spc="335" dirty="0">
                <a:latin typeface="Calibri"/>
                <a:cs typeface="Calibri"/>
              </a:rPr>
              <a:t> </a:t>
            </a:r>
            <a:r>
              <a:rPr sz="2800" dirty="0">
                <a:latin typeface="Calibri"/>
                <a:cs typeface="Calibri"/>
              </a:rPr>
              <a:t>render</a:t>
            </a:r>
            <a:r>
              <a:rPr sz="2800" spc="335" dirty="0">
                <a:latin typeface="Calibri"/>
                <a:cs typeface="Calibri"/>
              </a:rPr>
              <a:t> </a:t>
            </a:r>
            <a:r>
              <a:rPr sz="2800" dirty="0">
                <a:latin typeface="Calibri"/>
                <a:cs typeface="Calibri"/>
              </a:rPr>
              <a:t>the</a:t>
            </a:r>
            <a:r>
              <a:rPr sz="2800" spc="330" dirty="0">
                <a:latin typeface="Calibri"/>
                <a:cs typeface="Calibri"/>
              </a:rPr>
              <a:t> </a:t>
            </a:r>
            <a:r>
              <a:rPr sz="2800" dirty="0">
                <a:latin typeface="Calibri"/>
                <a:cs typeface="Calibri"/>
              </a:rPr>
              <a:t>screening</a:t>
            </a:r>
            <a:r>
              <a:rPr sz="2800" spc="330" dirty="0">
                <a:latin typeface="Calibri"/>
                <a:cs typeface="Calibri"/>
              </a:rPr>
              <a:t> </a:t>
            </a:r>
            <a:r>
              <a:rPr sz="2800" spc="-10" dirty="0">
                <a:latin typeface="Calibri"/>
                <a:cs typeface="Calibri"/>
              </a:rPr>
              <a:t>process </a:t>
            </a:r>
            <a:r>
              <a:rPr sz="2800" dirty="0">
                <a:latin typeface="Calibri"/>
                <a:cs typeface="Calibri"/>
              </a:rPr>
              <a:t>“useless”</a:t>
            </a:r>
            <a:r>
              <a:rPr sz="2800" spc="-50" dirty="0">
                <a:latin typeface="Calibri"/>
                <a:cs typeface="Calibri"/>
              </a:rPr>
              <a:t> </a:t>
            </a:r>
            <a:r>
              <a:rPr sz="2800" dirty="0">
                <a:latin typeface="Calibri"/>
                <a:cs typeface="Calibri"/>
              </a:rPr>
              <a:t>in</a:t>
            </a:r>
            <a:r>
              <a:rPr sz="2800" spc="-45" dirty="0">
                <a:latin typeface="Calibri"/>
                <a:cs typeface="Calibri"/>
              </a:rPr>
              <a:t> </a:t>
            </a:r>
            <a:r>
              <a:rPr sz="2800" dirty="0">
                <a:latin typeface="Calibri"/>
                <a:cs typeface="Calibri"/>
              </a:rPr>
              <a:t>short</a:t>
            </a:r>
            <a:r>
              <a:rPr sz="2800" spc="-55" dirty="0">
                <a:latin typeface="Calibri"/>
                <a:cs typeface="Calibri"/>
              </a:rPr>
              <a:t> </a:t>
            </a:r>
            <a:r>
              <a:rPr sz="2800" spc="-10" dirty="0">
                <a:latin typeface="Calibri"/>
                <a:cs typeface="Calibri"/>
              </a:rPr>
              <a:t>order</a:t>
            </a:r>
            <a:endParaRPr sz="2800">
              <a:latin typeface="Calibri"/>
              <a:cs typeface="Calibri"/>
            </a:endParaRPr>
          </a:p>
        </p:txBody>
      </p:sp>
      <p:sp>
        <p:nvSpPr>
          <p:cNvPr id="3" name="object 3"/>
          <p:cNvSpPr txBox="1"/>
          <p:nvPr/>
        </p:nvSpPr>
        <p:spPr>
          <a:xfrm>
            <a:off x="11739204" y="6421628"/>
            <a:ext cx="180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898989"/>
                </a:solidFill>
                <a:latin typeface="Calibri"/>
                <a:cs typeface="Calibri"/>
              </a:rPr>
              <a:t>21</a:t>
            </a:r>
            <a:endParaRPr sz="1200">
              <a:latin typeface="Calibri"/>
              <a:cs typeface="Calibri"/>
            </a:endParaRPr>
          </a:p>
        </p:txBody>
      </p:sp>
      <p:sp>
        <p:nvSpPr>
          <p:cNvPr id="4" name="object 4"/>
          <p:cNvSpPr txBox="1">
            <a:spLocks noGrp="1"/>
          </p:cNvSpPr>
          <p:nvPr>
            <p:ph type="title"/>
          </p:nvPr>
        </p:nvSpPr>
        <p:spPr>
          <a:xfrm>
            <a:off x="916940" y="627956"/>
            <a:ext cx="10358120" cy="683260"/>
          </a:xfrm>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Project Selection Criteria </a:t>
            </a:r>
            <a:r>
              <a:rPr sz="1950" spc="-10" dirty="0"/>
              <a:t>(3/6)</a:t>
            </a:r>
            <a:endParaRPr sz="1950" dirty="0"/>
          </a:p>
        </p:txBody>
      </p:sp>
      <p:pic>
        <p:nvPicPr>
          <p:cNvPr id="5" name="Picture 4">
            <a:extLst>
              <a:ext uri="{FF2B5EF4-FFF2-40B4-BE49-F238E27FC236}">
                <a16:creationId xmlns:a16="http://schemas.microsoft.com/office/drawing/2014/main" id="{D64898D1-413E-93DA-3748-4ACD5349F7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54989" y="2759075"/>
            <a:ext cx="6045200" cy="1770062"/>
          </a:xfrm>
          <a:prstGeom prst="rect">
            <a:avLst/>
          </a:prstGeom>
        </p:spPr>
      </p:pic>
      <p:pic>
        <p:nvPicPr>
          <p:cNvPr id="3" name="object 3"/>
          <p:cNvPicPr/>
          <p:nvPr/>
        </p:nvPicPr>
        <p:blipFill>
          <a:blip r:embed="rId3" cstate="print"/>
          <a:stretch>
            <a:fillRect/>
          </a:stretch>
        </p:blipFill>
        <p:spPr>
          <a:xfrm>
            <a:off x="142877" y="2114550"/>
            <a:ext cx="5640663" cy="3379787"/>
          </a:xfrm>
          <a:prstGeom prst="rect">
            <a:avLst/>
          </a:prstGeom>
        </p:spPr>
      </p:pic>
      <p:sp>
        <p:nvSpPr>
          <p:cNvPr id="4" name="object 4"/>
          <p:cNvSpPr/>
          <p:nvPr/>
        </p:nvSpPr>
        <p:spPr>
          <a:xfrm>
            <a:off x="8760700" y="2383899"/>
            <a:ext cx="821055" cy="316865"/>
          </a:xfrm>
          <a:custGeom>
            <a:avLst/>
            <a:gdLst/>
            <a:ahLst/>
            <a:cxnLst/>
            <a:rect l="l" t="t" r="r" b="b"/>
            <a:pathLst>
              <a:path w="821054" h="316864">
                <a:moveTo>
                  <a:pt x="743806" y="205367"/>
                </a:moveTo>
                <a:lnTo>
                  <a:pt x="707108" y="209914"/>
                </a:lnTo>
                <a:lnTo>
                  <a:pt x="777878" y="316318"/>
                </a:lnTo>
                <a:lnTo>
                  <a:pt x="810144" y="225210"/>
                </a:lnTo>
                <a:lnTo>
                  <a:pt x="747425" y="225210"/>
                </a:lnTo>
                <a:lnTo>
                  <a:pt x="743806" y="205367"/>
                </a:lnTo>
                <a:close/>
              </a:path>
              <a:path w="821054" h="316864">
                <a:moveTo>
                  <a:pt x="21078" y="176509"/>
                </a:moveTo>
                <a:lnTo>
                  <a:pt x="0" y="302550"/>
                </a:lnTo>
                <a:lnTo>
                  <a:pt x="113479" y="243789"/>
                </a:lnTo>
                <a:lnTo>
                  <a:pt x="104697" y="237394"/>
                </a:lnTo>
                <a:lnTo>
                  <a:pt x="70984" y="237394"/>
                </a:lnTo>
                <a:lnTo>
                  <a:pt x="41146" y="213704"/>
                </a:lnTo>
                <a:lnTo>
                  <a:pt x="52508" y="199394"/>
                </a:lnTo>
                <a:lnTo>
                  <a:pt x="21078" y="176509"/>
                </a:lnTo>
                <a:close/>
              </a:path>
              <a:path w="821054" h="316864">
                <a:moveTo>
                  <a:pt x="52508" y="199394"/>
                </a:moveTo>
                <a:lnTo>
                  <a:pt x="41146" y="213704"/>
                </a:lnTo>
                <a:lnTo>
                  <a:pt x="70984" y="237394"/>
                </a:lnTo>
                <a:lnTo>
                  <a:pt x="83334" y="221840"/>
                </a:lnTo>
                <a:lnTo>
                  <a:pt x="52508" y="199394"/>
                </a:lnTo>
                <a:close/>
              </a:path>
              <a:path w="821054" h="316864">
                <a:moveTo>
                  <a:pt x="83334" y="221840"/>
                </a:moveTo>
                <a:lnTo>
                  <a:pt x="70984" y="237394"/>
                </a:lnTo>
                <a:lnTo>
                  <a:pt x="104697" y="237394"/>
                </a:lnTo>
                <a:lnTo>
                  <a:pt x="83334" y="221840"/>
                </a:lnTo>
                <a:close/>
              </a:path>
              <a:path w="821054" h="316864">
                <a:moveTo>
                  <a:pt x="781678" y="200674"/>
                </a:moveTo>
                <a:lnTo>
                  <a:pt x="743806" y="205367"/>
                </a:lnTo>
                <a:lnTo>
                  <a:pt x="747425" y="225210"/>
                </a:lnTo>
                <a:lnTo>
                  <a:pt x="784906" y="218373"/>
                </a:lnTo>
                <a:lnTo>
                  <a:pt x="781678" y="200674"/>
                </a:lnTo>
                <a:close/>
              </a:path>
              <a:path w="821054" h="316864">
                <a:moveTo>
                  <a:pt x="820539" y="195859"/>
                </a:moveTo>
                <a:lnTo>
                  <a:pt x="781678" y="200674"/>
                </a:lnTo>
                <a:lnTo>
                  <a:pt x="784906" y="218373"/>
                </a:lnTo>
                <a:lnTo>
                  <a:pt x="747425" y="225210"/>
                </a:lnTo>
                <a:lnTo>
                  <a:pt x="810144" y="225210"/>
                </a:lnTo>
                <a:lnTo>
                  <a:pt x="820539" y="195859"/>
                </a:lnTo>
                <a:close/>
              </a:path>
              <a:path w="821054" h="316864">
                <a:moveTo>
                  <a:pt x="492338" y="0"/>
                </a:moveTo>
                <a:lnTo>
                  <a:pt x="450783" y="132"/>
                </a:lnTo>
                <a:lnTo>
                  <a:pt x="408922" y="4056"/>
                </a:lnTo>
                <a:lnTo>
                  <a:pt x="367031" y="11611"/>
                </a:lnTo>
                <a:lnTo>
                  <a:pt x="325390" y="22641"/>
                </a:lnTo>
                <a:lnTo>
                  <a:pt x="284270" y="36993"/>
                </a:lnTo>
                <a:lnTo>
                  <a:pt x="243945" y="54526"/>
                </a:lnTo>
                <a:lnTo>
                  <a:pt x="204690" y="75098"/>
                </a:lnTo>
                <a:lnTo>
                  <a:pt x="166780" y="98574"/>
                </a:lnTo>
                <a:lnTo>
                  <a:pt x="130493" y="124821"/>
                </a:lnTo>
                <a:lnTo>
                  <a:pt x="96113" y="153711"/>
                </a:lnTo>
                <a:lnTo>
                  <a:pt x="63578" y="185451"/>
                </a:lnTo>
                <a:lnTo>
                  <a:pt x="52508" y="199394"/>
                </a:lnTo>
                <a:lnTo>
                  <a:pt x="83334" y="221840"/>
                </a:lnTo>
                <a:lnTo>
                  <a:pt x="91243" y="211879"/>
                </a:lnTo>
                <a:lnTo>
                  <a:pt x="91050" y="211879"/>
                </a:lnTo>
                <a:lnTo>
                  <a:pt x="91909" y="211041"/>
                </a:lnTo>
                <a:lnTo>
                  <a:pt x="92665" y="210088"/>
                </a:lnTo>
                <a:lnTo>
                  <a:pt x="92885" y="210088"/>
                </a:lnTo>
                <a:lnTo>
                  <a:pt x="121707" y="181970"/>
                </a:lnTo>
                <a:lnTo>
                  <a:pt x="121818" y="181834"/>
                </a:lnTo>
                <a:lnTo>
                  <a:pt x="122212" y="181477"/>
                </a:lnTo>
                <a:lnTo>
                  <a:pt x="122814" y="181039"/>
                </a:lnTo>
                <a:lnTo>
                  <a:pt x="154475" y="154435"/>
                </a:lnTo>
                <a:lnTo>
                  <a:pt x="155561" y="153711"/>
                </a:lnTo>
                <a:lnTo>
                  <a:pt x="188556" y="129846"/>
                </a:lnTo>
                <a:lnTo>
                  <a:pt x="189589" y="129264"/>
                </a:lnTo>
                <a:lnTo>
                  <a:pt x="224167" y="107850"/>
                </a:lnTo>
                <a:lnTo>
                  <a:pt x="261018" y="88593"/>
                </a:lnTo>
                <a:lnTo>
                  <a:pt x="265931" y="86512"/>
                </a:lnTo>
                <a:lnTo>
                  <a:pt x="297627" y="72732"/>
                </a:lnTo>
                <a:lnTo>
                  <a:pt x="297494" y="72732"/>
                </a:lnTo>
                <a:lnTo>
                  <a:pt x="298165" y="72498"/>
                </a:lnTo>
                <a:lnTo>
                  <a:pt x="298813" y="72217"/>
                </a:lnTo>
                <a:lnTo>
                  <a:pt x="298972" y="72217"/>
                </a:lnTo>
                <a:lnTo>
                  <a:pt x="336025" y="59283"/>
                </a:lnTo>
                <a:lnTo>
                  <a:pt x="335854" y="59283"/>
                </a:lnTo>
                <a:lnTo>
                  <a:pt x="336563" y="59095"/>
                </a:lnTo>
                <a:lnTo>
                  <a:pt x="337254" y="58854"/>
                </a:lnTo>
                <a:lnTo>
                  <a:pt x="337474" y="58854"/>
                </a:lnTo>
                <a:lnTo>
                  <a:pt x="374789" y="48971"/>
                </a:lnTo>
                <a:lnTo>
                  <a:pt x="374549" y="48971"/>
                </a:lnTo>
                <a:lnTo>
                  <a:pt x="376045" y="48638"/>
                </a:lnTo>
                <a:lnTo>
                  <a:pt x="376394" y="48638"/>
                </a:lnTo>
                <a:lnTo>
                  <a:pt x="413669" y="41915"/>
                </a:lnTo>
                <a:lnTo>
                  <a:pt x="413284" y="41915"/>
                </a:lnTo>
                <a:lnTo>
                  <a:pt x="414887" y="41695"/>
                </a:lnTo>
                <a:lnTo>
                  <a:pt x="415627" y="41695"/>
                </a:lnTo>
                <a:lnTo>
                  <a:pt x="452602" y="38228"/>
                </a:lnTo>
                <a:lnTo>
                  <a:pt x="643260" y="38228"/>
                </a:lnTo>
                <a:lnTo>
                  <a:pt x="625110" y="29442"/>
                </a:lnTo>
                <a:lnTo>
                  <a:pt x="599904" y="19707"/>
                </a:lnTo>
                <a:lnTo>
                  <a:pt x="573190" y="11767"/>
                </a:lnTo>
                <a:lnTo>
                  <a:pt x="533294" y="3832"/>
                </a:lnTo>
                <a:lnTo>
                  <a:pt x="492338" y="0"/>
                </a:lnTo>
                <a:close/>
              </a:path>
              <a:path w="821054" h="316864">
                <a:moveTo>
                  <a:pt x="91909" y="211041"/>
                </a:moveTo>
                <a:lnTo>
                  <a:pt x="91050" y="211879"/>
                </a:lnTo>
                <a:lnTo>
                  <a:pt x="91243" y="211879"/>
                </a:lnTo>
                <a:lnTo>
                  <a:pt x="91909" y="211041"/>
                </a:lnTo>
                <a:close/>
              </a:path>
              <a:path w="821054" h="316864">
                <a:moveTo>
                  <a:pt x="92885" y="210088"/>
                </a:moveTo>
                <a:lnTo>
                  <a:pt x="92665" y="210088"/>
                </a:lnTo>
                <a:lnTo>
                  <a:pt x="91909" y="211041"/>
                </a:lnTo>
                <a:lnTo>
                  <a:pt x="92885" y="210088"/>
                </a:lnTo>
                <a:close/>
              </a:path>
              <a:path w="821054" h="316864">
                <a:moveTo>
                  <a:pt x="781272" y="198451"/>
                </a:moveTo>
                <a:lnTo>
                  <a:pt x="742544" y="198451"/>
                </a:lnTo>
                <a:lnTo>
                  <a:pt x="743758" y="202498"/>
                </a:lnTo>
                <a:lnTo>
                  <a:pt x="743283" y="202498"/>
                </a:lnTo>
                <a:lnTo>
                  <a:pt x="743806" y="205367"/>
                </a:lnTo>
                <a:lnTo>
                  <a:pt x="766954" y="202498"/>
                </a:lnTo>
                <a:lnTo>
                  <a:pt x="743758" y="202498"/>
                </a:lnTo>
                <a:lnTo>
                  <a:pt x="742981" y="200674"/>
                </a:lnTo>
                <a:lnTo>
                  <a:pt x="781678" y="200674"/>
                </a:lnTo>
                <a:lnTo>
                  <a:pt x="781272" y="198451"/>
                </a:lnTo>
                <a:close/>
              </a:path>
              <a:path w="821054" h="316864">
                <a:moveTo>
                  <a:pt x="742827" y="199394"/>
                </a:moveTo>
                <a:lnTo>
                  <a:pt x="742926" y="200545"/>
                </a:lnTo>
                <a:lnTo>
                  <a:pt x="743758" y="202498"/>
                </a:lnTo>
                <a:lnTo>
                  <a:pt x="742827" y="199394"/>
                </a:lnTo>
                <a:close/>
              </a:path>
              <a:path w="821054" h="316864">
                <a:moveTo>
                  <a:pt x="723473" y="98444"/>
                </a:moveTo>
                <a:lnTo>
                  <a:pt x="667623" y="98444"/>
                </a:lnTo>
                <a:lnTo>
                  <a:pt x="679317" y="108527"/>
                </a:lnTo>
                <a:lnTo>
                  <a:pt x="684137" y="112580"/>
                </a:lnTo>
                <a:lnTo>
                  <a:pt x="695981" y="124821"/>
                </a:lnTo>
                <a:lnTo>
                  <a:pt x="699127" y="127960"/>
                </a:lnTo>
                <a:lnTo>
                  <a:pt x="711554" y="143404"/>
                </a:lnTo>
                <a:lnTo>
                  <a:pt x="712560" y="144528"/>
                </a:lnTo>
                <a:lnTo>
                  <a:pt x="719696" y="155286"/>
                </a:lnTo>
                <a:lnTo>
                  <a:pt x="724404" y="162236"/>
                </a:lnTo>
                <a:lnTo>
                  <a:pt x="732089" y="176509"/>
                </a:lnTo>
                <a:lnTo>
                  <a:pt x="734617" y="181039"/>
                </a:lnTo>
                <a:lnTo>
                  <a:pt x="735274" y="182426"/>
                </a:lnTo>
                <a:lnTo>
                  <a:pt x="735284" y="182604"/>
                </a:lnTo>
                <a:lnTo>
                  <a:pt x="742926" y="200545"/>
                </a:lnTo>
                <a:lnTo>
                  <a:pt x="742544" y="198451"/>
                </a:lnTo>
                <a:lnTo>
                  <a:pt x="781272" y="198451"/>
                </a:lnTo>
                <a:lnTo>
                  <a:pt x="779644" y="189523"/>
                </a:lnTo>
                <a:lnTo>
                  <a:pt x="757535" y="143404"/>
                </a:lnTo>
                <a:lnTo>
                  <a:pt x="728266" y="103398"/>
                </a:lnTo>
                <a:lnTo>
                  <a:pt x="723599" y="98574"/>
                </a:lnTo>
                <a:lnTo>
                  <a:pt x="723473" y="98444"/>
                </a:lnTo>
                <a:close/>
              </a:path>
              <a:path w="821054" h="316864">
                <a:moveTo>
                  <a:pt x="711053" y="85605"/>
                </a:moveTo>
                <a:lnTo>
                  <a:pt x="649612" y="85605"/>
                </a:lnTo>
                <a:lnTo>
                  <a:pt x="667677" y="98574"/>
                </a:lnTo>
                <a:lnTo>
                  <a:pt x="667623" y="98444"/>
                </a:lnTo>
                <a:lnTo>
                  <a:pt x="723473" y="98444"/>
                </a:lnTo>
                <a:lnTo>
                  <a:pt x="711053" y="85605"/>
                </a:lnTo>
                <a:close/>
              </a:path>
              <a:path w="821054" h="316864">
                <a:moveTo>
                  <a:pt x="697766" y="74127"/>
                </a:moveTo>
                <a:lnTo>
                  <a:pt x="630133" y="74127"/>
                </a:lnTo>
                <a:lnTo>
                  <a:pt x="630827" y="74539"/>
                </a:lnTo>
                <a:lnTo>
                  <a:pt x="631555" y="74891"/>
                </a:lnTo>
                <a:lnTo>
                  <a:pt x="631421" y="74891"/>
                </a:lnTo>
                <a:lnTo>
                  <a:pt x="650285" y="86088"/>
                </a:lnTo>
                <a:lnTo>
                  <a:pt x="649612" y="85605"/>
                </a:lnTo>
                <a:lnTo>
                  <a:pt x="711053" y="85605"/>
                </a:lnTo>
                <a:lnTo>
                  <a:pt x="710921" y="85469"/>
                </a:lnTo>
                <a:lnTo>
                  <a:pt x="698653" y="74891"/>
                </a:lnTo>
                <a:lnTo>
                  <a:pt x="631555" y="74891"/>
                </a:lnTo>
                <a:lnTo>
                  <a:pt x="630899" y="74539"/>
                </a:lnTo>
                <a:lnTo>
                  <a:pt x="698244" y="74539"/>
                </a:lnTo>
                <a:lnTo>
                  <a:pt x="697766" y="74127"/>
                </a:lnTo>
                <a:close/>
              </a:path>
              <a:path w="821054" h="316864">
                <a:moveTo>
                  <a:pt x="684954" y="64076"/>
                </a:moveTo>
                <a:lnTo>
                  <a:pt x="609215" y="64076"/>
                </a:lnTo>
                <a:lnTo>
                  <a:pt x="609926" y="64420"/>
                </a:lnTo>
                <a:lnTo>
                  <a:pt x="610652" y="64701"/>
                </a:lnTo>
                <a:lnTo>
                  <a:pt x="610505" y="64701"/>
                </a:lnTo>
                <a:lnTo>
                  <a:pt x="630827" y="74539"/>
                </a:lnTo>
                <a:lnTo>
                  <a:pt x="630133" y="74127"/>
                </a:lnTo>
                <a:lnTo>
                  <a:pt x="697766" y="74127"/>
                </a:lnTo>
                <a:lnTo>
                  <a:pt x="691861" y="69035"/>
                </a:lnTo>
                <a:lnTo>
                  <a:pt x="685824" y="64701"/>
                </a:lnTo>
                <a:lnTo>
                  <a:pt x="610652" y="64701"/>
                </a:lnTo>
                <a:lnTo>
                  <a:pt x="610007" y="64420"/>
                </a:lnTo>
                <a:lnTo>
                  <a:pt x="685433" y="64420"/>
                </a:lnTo>
                <a:lnTo>
                  <a:pt x="684954" y="64076"/>
                </a:lnTo>
                <a:close/>
              </a:path>
              <a:path w="821054" h="316864">
                <a:moveTo>
                  <a:pt x="298165" y="72498"/>
                </a:moveTo>
                <a:lnTo>
                  <a:pt x="297494" y="72732"/>
                </a:lnTo>
                <a:lnTo>
                  <a:pt x="297627" y="72732"/>
                </a:lnTo>
                <a:lnTo>
                  <a:pt x="298165" y="72498"/>
                </a:lnTo>
                <a:close/>
              </a:path>
              <a:path w="821054" h="316864">
                <a:moveTo>
                  <a:pt x="298972" y="72217"/>
                </a:moveTo>
                <a:lnTo>
                  <a:pt x="298813" y="72217"/>
                </a:lnTo>
                <a:lnTo>
                  <a:pt x="298165" y="72498"/>
                </a:lnTo>
                <a:lnTo>
                  <a:pt x="298972" y="72217"/>
                </a:lnTo>
                <a:close/>
              </a:path>
              <a:path w="821054" h="316864">
                <a:moveTo>
                  <a:pt x="673041" y="55523"/>
                </a:moveTo>
                <a:lnTo>
                  <a:pt x="586887" y="55523"/>
                </a:lnTo>
                <a:lnTo>
                  <a:pt x="587602" y="55799"/>
                </a:lnTo>
                <a:lnTo>
                  <a:pt x="588322" y="56013"/>
                </a:lnTo>
                <a:lnTo>
                  <a:pt x="588156" y="56013"/>
                </a:lnTo>
                <a:lnTo>
                  <a:pt x="609926" y="64420"/>
                </a:lnTo>
                <a:lnTo>
                  <a:pt x="609215" y="64076"/>
                </a:lnTo>
                <a:lnTo>
                  <a:pt x="684954" y="64076"/>
                </a:lnTo>
                <a:lnTo>
                  <a:pt x="673724" y="56013"/>
                </a:lnTo>
                <a:lnTo>
                  <a:pt x="588322" y="56013"/>
                </a:lnTo>
                <a:lnTo>
                  <a:pt x="587696" y="55799"/>
                </a:lnTo>
                <a:lnTo>
                  <a:pt x="673426" y="55799"/>
                </a:lnTo>
                <a:lnTo>
                  <a:pt x="673041" y="55523"/>
                </a:lnTo>
                <a:close/>
              </a:path>
              <a:path w="821054" h="316864">
                <a:moveTo>
                  <a:pt x="336563" y="59095"/>
                </a:moveTo>
                <a:lnTo>
                  <a:pt x="335854" y="59283"/>
                </a:lnTo>
                <a:lnTo>
                  <a:pt x="336025" y="59283"/>
                </a:lnTo>
                <a:lnTo>
                  <a:pt x="336563" y="59095"/>
                </a:lnTo>
                <a:close/>
              </a:path>
              <a:path w="821054" h="316864">
                <a:moveTo>
                  <a:pt x="337474" y="58854"/>
                </a:moveTo>
                <a:lnTo>
                  <a:pt x="337254" y="58854"/>
                </a:lnTo>
                <a:lnTo>
                  <a:pt x="336563" y="59095"/>
                </a:lnTo>
                <a:lnTo>
                  <a:pt x="337474" y="58854"/>
                </a:lnTo>
                <a:close/>
              </a:path>
              <a:path w="821054" h="316864">
                <a:moveTo>
                  <a:pt x="661836" y="48638"/>
                </a:moveTo>
                <a:lnTo>
                  <a:pt x="563575" y="48638"/>
                </a:lnTo>
                <a:lnTo>
                  <a:pt x="564917" y="48971"/>
                </a:lnTo>
                <a:lnTo>
                  <a:pt x="564629" y="48971"/>
                </a:lnTo>
                <a:lnTo>
                  <a:pt x="587602" y="55799"/>
                </a:lnTo>
                <a:lnTo>
                  <a:pt x="586887" y="55523"/>
                </a:lnTo>
                <a:lnTo>
                  <a:pt x="673041" y="55523"/>
                </a:lnTo>
                <a:lnTo>
                  <a:pt x="671159" y="54171"/>
                </a:lnTo>
                <a:lnTo>
                  <a:pt x="662397" y="48971"/>
                </a:lnTo>
                <a:lnTo>
                  <a:pt x="564924" y="48971"/>
                </a:lnTo>
                <a:lnTo>
                  <a:pt x="564242" y="48835"/>
                </a:lnTo>
                <a:lnTo>
                  <a:pt x="662168" y="48835"/>
                </a:lnTo>
                <a:lnTo>
                  <a:pt x="661836" y="48638"/>
                </a:lnTo>
                <a:close/>
              </a:path>
              <a:path w="821054" h="316864">
                <a:moveTo>
                  <a:pt x="376045" y="48638"/>
                </a:moveTo>
                <a:lnTo>
                  <a:pt x="374549" y="48971"/>
                </a:lnTo>
                <a:lnTo>
                  <a:pt x="375301" y="48835"/>
                </a:lnTo>
                <a:lnTo>
                  <a:pt x="376045" y="48638"/>
                </a:lnTo>
                <a:close/>
              </a:path>
              <a:path w="821054" h="316864">
                <a:moveTo>
                  <a:pt x="375301" y="48835"/>
                </a:moveTo>
                <a:lnTo>
                  <a:pt x="374549" y="48971"/>
                </a:lnTo>
                <a:lnTo>
                  <a:pt x="374789" y="48971"/>
                </a:lnTo>
                <a:lnTo>
                  <a:pt x="375301" y="48835"/>
                </a:lnTo>
                <a:close/>
              </a:path>
              <a:path w="821054" h="316864">
                <a:moveTo>
                  <a:pt x="563575" y="48638"/>
                </a:moveTo>
                <a:lnTo>
                  <a:pt x="564242" y="48835"/>
                </a:lnTo>
                <a:lnTo>
                  <a:pt x="564924" y="48971"/>
                </a:lnTo>
                <a:lnTo>
                  <a:pt x="563575" y="48638"/>
                </a:lnTo>
                <a:close/>
              </a:path>
              <a:path w="821054" h="316864">
                <a:moveTo>
                  <a:pt x="376394" y="48638"/>
                </a:moveTo>
                <a:lnTo>
                  <a:pt x="376045" y="48638"/>
                </a:lnTo>
                <a:lnTo>
                  <a:pt x="375301" y="48835"/>
                </a:lnTo>
                <a:lnTo>
                  <a:pt x="376394" y="48638"/>
                </a:lnTo>
                <a:close/>
              </a:path>
              <a:path w="821054" h="316864">
                <a:moveTo>
                  <a:pt x="526825" y="41391"/>
                </a:moveTo>
                <a:lnTo>
                  <a:pt x="564242" y="48835"/>
                </a:lnTo>
                <a:lnTo>
                  <a:pt x="563510" y="48638"/>
                </a:lnTo>
                <a:lnTo>
                  <a:pt x="661836" y="48638"/>
                </a:lnTo>
                <a:lnTo>
                  <a:pt x="650138" y="41695"/>
                </a:lnTo>
                <a:lnTo>
                  <a:pt x="528906" y="41695"/>
                </a:lnTo>
                <a:lnTo>
                  <a:pt x="526825" y="41391"/>
                </a:lnTo>
                <a:close/>
              </a:path>
              <a:path w="821054" h="316864">
                <a:moveTo>
                  <a:pt x="414887" y="41695"/>
                </a:moveTo>
                <a:lnTo>
                  <a:pt x="413284" y="41915"/>
                </a:lnTo>
                <a:lnTo>
                  <a:pt x="413669" y="41915"/>
                </a:lnTo>
                <a:lnTo>
                  <a:pt x="414887" y="41695"/>
                </a:lnTo>
                <a:close/>
              </a:path>
              <a:path w="821054" h="316864">
                <a:moveTo>
                  <a:pt x="415627" y="41695"/>
                </a:moveTo>
                <a:lnTo>
                  <a:pt x="414887" y="41695"/>
                </a:lnTo>
                <a:lnTo>
                  <a:pt x="413669" y="41915"/>
                </a:lnTo>
                <a:lnTo>
                  <a:pt x="413284" y="41915"/>
                </a:lnTo>
                <a:lnTo>
                  <a:pt x="415627" y="41695"/>
                </a:lnTo>
                <a:close/>
              </a:path>
              <a:path w="821054" h="316864">
                <a:moveTo>
                  <a:pt x="643260" y="38228"/>
                </a:moveTo>
                <a:lnTo>
                  <a:pt x="491930" y="38228"/>
                </a:lnTo>
                <a:lnTo>
                  <a:pt x="528984" y="41695"/>
                </a:lnTo>
                <a:lnTo>
                  <a:pt x="528350" y="41695"/>
                </a:lnTo>
                <a:lnTo>
                  <a:pt x="526825" y="41391"/>
                </a:lnTo>
                <a:lnTo>
                  <a:pt x="649627" y="41391"/>
                </a:lnTo>
                <a:lnTo>
                  <a:pt x="648884" y="40951"/>
                </a:lnTo>
                <a:lnTo>
                  <a:pt x="643260" y="38228"/>
                </a:lnTo>
                <a:close/>
              </a:path>
              <a:path w="821054" h="316864">
                <a:moveTo>
                  <a:pt x="649627" y="41391"/>
                </a:moveTo>
                <a:lnTo>
                  <a:pt x="526825" y="41391"/>
                </a:lnTo>
                <a:lnTo>
                  <a:pt x="528906" y="41695"/>
                </a:lnTo>
                <a:lnTo>
                  <a:pt x="650138" y="41695"/>
                </a:lnTo>
                <a:lnTo>
                  <a:pt x="649627" y="41391"/>
                </a:lnTo>
                <a:close/>
              </a:path>
            </a:pathLst>
          </a:custGeom>
          <a:solidFill>
            <a:srgbClr val="4472C4"/>
          </a:solidFill>
        </p:spPr>
        <p:txBody>
          <a:bodyPr wrap="square" lIns="0" tIns="0" rIns="0" bIns="0" rtlCol="0"/>
          <a:lstStyle/>
          <a:p>
            <a:endParaRPr/>
          </a:p>
        </p:txBody>
      </p:sp>
      <p:sp>
        <p:nvSpPr>
          <p:cNvPr id="5" name="object 5"/>
          <p:cNvSpPr txBox="1"/>
          <p:nvPr/>
        </p:nvSpPr>
        <p:spPr>
          <a:xfrm>
            <a:off x="9056329" y="1855723"/>
            <a:ext cx="235585" cy="574040"/>
          </a:xfrm>
          <a:prstGeom prst="rect">
            <a:avLst/>
          </a:prstGeom>
        </p:spPr>
        <p:txBody>
          <a:bodyPr vert="horz" wrap="square" lIns="0" tIns="12700" rIns="0" bIns="0" rtlCol="0">
            <a:spAutoFit/>
          </a:bodyPr>
          <a:lstStyle/>
          <a:p>
            <a:pPr marL="12700">
              <a:lnSpc>
                <a:spcPct val="100000"/>
              </a:lnSpc>
              <a:spcBef>
                <a:spcPts val="100"/>
              </a:spcBef>
            </a:pPr>
            <a:r>
              <a:rPr sz="3600" b="1" spc="-50" dirty="0">
                <a:solidFill>
                  <a:srgbClr val="C00000"/>
                </a:solidFill>
                <a:latin typeface="Calibri"/>
                <a:cs typeface="Calibri"/>
              </a:rPr>
              <a:t>x</a:t>
            </a:r>
            <a:endParaRPr sz="3600">
              <a:latin typeface="Calibri"/>
              <a:cs typeface="Calibri"/>
            </a:endParaRPr>
          </a:p>
        </p:txBody>
      </p:sp>
      <p:sp>
        <p:nvSpPr>
          <p:cNvPr id="8" name="object 8"/>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31</a:t>
            </a:fld>
            <a:endParaRPr spc="-25" dirty="0"/>
          </a:p>
        </p:txBody>
      </p:sp>
      <p:sp>
        <p:nvSpPr>
          <p:cNvPr id="6" name="object 6"/>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Project Selection Criteria </a:t>
            </a:r>
            <a:r>
              <a:rPr sz="1950" spc="-10" dirty="0"/>
              <a:t>(4/6)</a:t>
            </a:r>
            <a:endParaRPr sz="1950" dirty="0"/>
          </a:p>
        </p:txBody>
      </p:sp>
      <p:sp>
        <p:nvSpPr>
          <p:cNvPr id="7" name="object 7"/>
          <p:cNvSpPr txBox="1"/>
          <p:nvPr/>
        </p:nvSpPr>
        <p:spPr>
          <a:xfrm>
            <a:off x="4355160" y="5609844"/>
            <a:ext cx="1721485" cy="513080"/>
          </a:xfrm>
          <a:prstGeom prst="rect">
            <a:avLst/>
          </a:prstGeom>
        </p:spPr>
        <p:txBody>
          <a:bodyPr vert="horz" wrap="square" lIns="0" tIns="12700" rIns="0" bIns="0" rtlCol="0">
            <a:spAutoFit/>
          </a:bodyPr>
          <a:lstStyle/>
          <a:p>
            <a:pPr marL="12700">
              <a:lnSpc>
                <a:spcPct val="100000"/>
              </a:lnSpc>
              <a:spcBef>
                <a:spcPts val="100"/>
              </a:spcBef>
            </a:pPr>
            <a:r>
              <a:rPr sz="3200" dirty="0">
                <a:latin typeface="Calibri"/>
                <a:cs typeface="Calibri"/>
              </a:rPr>
              <a:t>Example</a:t>
            </a:r>
            <a:r>
              <a:rPr sz="3200" spc="-150" dirty="0">
                <a:latin typeface="Calibri"/>
                <a:cs typeface="Calibri"/>
              </a:rPr>
              <a:t> </a:t>
            </a:r>
            <a:r>
              <a:rPr sz="3200" spc="-50" dirty="0">
                <a:latin typeface="Calibri"/>
                <a:cs typeface="Calibri"/>
              </a:rPr>
              <a:t>1</a:t>
            </a:r>
            <a:endParaRPr sz="3200">
              <a:latin typeface="Calibri"/>
              <a:cs typeface="Calibri"/>
            </a:endParaRPr>
          </a:p>
        </p:txBody>
      </p:sp>
      <p:pic>
        <p:nvPicPr>
          <p:cNvPr id="9" name="Picture 8">
            <a:extLst>
              <a:ext uri="{FF2B5EF4-FFF2-40B4-BE49-F238E27FC236}">
                <a16:creationId xmlns:a16="http://schemas.microsoft.com/office/drawing/2014/main" id="{BFBE99D1-2347-7F86-86DF-916D4FA11E5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6939" y="1795779"/>
            <a:ext cx="10358755" cy="3652520"/>
          </a:xfrm>
          <a:prstGeom prst="rect">
            <a:avLst/>
          </a:prstGeom>
        </p:spPr>
        <p:txBody>
          <a:bodyPr vert="horz" wrap="square" lIns="0" tIns="63500" rIns="0" bIns="0" rtlCol="0">
            <a:spAutoFit/>
          </a:bodyPr>
          <a:lstStyle/>
          <a:p>
            <a:pPr marL="241300" marR="6350" indent="-228600" algn="just">
              <a:lnSpc>
                <a:spcPts val="3000"/>
              </a:lnSpc>
              <a:spcBef>
                <a:spcPts val="500"/>
              </a:spcBef>
              <a:buFont typeface="Arial MT"/>
              <a:buChar char="•"/>
              <a:tabLst>
                <a:tab pos="241300" algn="l"/>
              </a:tabLst>
            </a:pPr>
            <a:r>
              <a:rPr sz="2800" dirty="0">
                <a:latin typeface="Calibri"/>
                <a:cs typeface="Calibri"/>
              </a:rPr>
              <a:t>While</a:t>
            </a:r>
            <a:r>
              <a:rPr sz="2800" spc="-15" dirty="0">
                <a:latin typeface="Calibri"/>
                <a:cs typeface="Calibri"/>
              </a:rPr>
              <a:t> </a:t>
            </a:r>
            <a:r>
              <a:rPr sz="2800" dirty="0">
                <a:latin typeface="Calibri"/>
                <a:cs typeface="Calibri"/>
              </a:rPr>
              <a:t>selection</a:t>
            </a:r>
            <a:r>
              <a:rPr sz="2800" spc="-10" dirty="0">
                <a:latin typeface="Calibri"/>
                <a:cs typeface="Calibri"/>
              </a:rPr>
              <a:t> </a:t>
            </a:r>
            <a:r>
              <a:rPr sz="2800" dirty="0">
                <a:latin typeface="Calibri"/>
                <a:cs typeface="Calibri"/>
              </a:rPr>
              <a:t>models</a:t>
            </a:r>
            <a:r>
              <a:rPr sz="2800" spc="-5" dirty="0">
                <a:latin typeface="Calibri"/>
                <a:cs typeface="Calibri"/>
              </a:rPr>
              <a:t> </a:t>
            </a:r>
            <a:r>
              <a:rPr sz="2800" dirty="0">
                <a:latin typeface="Calibri"/>
                <a:cs typeface="Calibri"/>
              </a:rPr>
              <a:t>like</a:t>
            </a:r>
            <a:r>
              <a:rPr sz="2800" spc="-10" dirty="0">
                <a:latin typeface="Calibri"/>
                <a:cs typeface="Calibri"/>
              </a:rPr>
              <a:t> </a:t>
            </a:r>
            <a:r>
              <a:rPr sz="2800" spc="-20" dirty="0">
                <a:latin typeface="Calibri"/>
                <a:cs typeface="Calibri"/>
              </a:rPr>
              <a:t>Multi-</a:t>
            </a:r>
            <a:r>
              <a:rPr sz="2800" dirty="0">
                <a:latin typeface="Calibri"/>
                <a:cs typeface="Calibri"/>
              </a:rPr>
              <a:t>Weighted</a:t>
            </a:r>
            <a:r>
              <a:rPr sz="2800" spc="-5" dirty="0">
                <a:latin typeface="Calibri"/>
                <a:cs typeface="Calibri"/>
              </a:rPr>
              <a:t> </a:t>
            </a:r>
            <a:r>
              <a:rPr sz="2800" dirty="0">
                <a:latin typeface="Calibri"/>
                <a:cs typeface="Calibri"/>
              </a:rPr>
              <a:t>Scoring</a:t>
            </a:r>
            <a:r>
              <a:rPr sz="2800" spc="-10" dirty="0">
                <a:latin typeface="Calibri"/>
                <a:cs typeface="Calibri"/>
              </a:rPr>
              <a:t> </a:t>
            </a:r>
            <a:r>
              <a:rPr sz="2800" dirty="0">
                <a:latin typeface="Calibri"/>
                <a:cs typeface="Calibri"/>
              </a:rPr>
              <a:t>Models</a:t>
            </a:r>
            <a:r>
              <a:rPr sz="2800" spc="-5" dirty="0">
                <a:latin typeface="Calibri"/>
                <a:cs typeface="Calibri"/>
              </a:rPr>
              <a:t> </a:t>
            </a:r>
            <a:r>
              <a:rPr sz="2800" dirty="0">
                <a:latin typeface="Calibri"/>
                <a:cs typeface="Calibri"/>
              </a:rPr>
              <a:t>may</a:t>
            </a:r>
            <a:r>
              <a:rPr sz="2800" spc="-10" dirty="0">
                <a:latin typeface="Calibri"/>
                <a:cs typeface="Calibri"/>
              </a:rPr>
              <a:t> yield </a:t>
            </a:r>
            <a:r>
              <a:rPr sz="2800" dirty="0">
                <a:latin typeface="Calibri"/>
                <a:cs typeface="Calibri"/>
              </a:rPr>
              <a:t>numerical</a:t>
            </a:r>
            <a:r>
              <a:rPr sz="2800" spc="65" dirty="0">
                <a:latin typeface="Calibri"/>
                <a:cs typeface="Calibri"/>
              </a:rPr>
              <a:t> </a:t>
            </a:r>
            <a:r>
              <a:rPr sz="2800" dirty="0">
                <a:latin typeface="Calibri"/>
                <a:cs typeface="Calibri"/>
              </a:rPr>
              <a:t>solutions</a:t>
            </a:r>
            <a:r>
              <a:rPr sz="2800" spc="75" dirty="0">
                <a:latin typeface="Calibri"/>
                <a:cs typeface="Calibri"/>
              </a:rPr>
              <a:t> </a:t>
            </a:r>
            <a:r>
              <a:rPr sz="2800" dirty="0">
                <a:latin typeface="Calibri"/>
                <a:cs typeface="Calibri"/>
              </a:rPr>
              <a:t>to</a:t>
            </a:r>
            <a:r>
              <a:rPr sz="2800" spc="70" dirty="0">
                <a:latin typeface="Calibri"/>
                <a:cs typeface="Calibri"/>
              </a:rPr>
              <a:t> </a:t>
            </a:r>
            <a:r>
              <a:rPr sz="2800" dirty="0">
                <a:latin typeface="Calibri"/>
                <a:cs typeface="Calibri"/>
              </a:rPr>
              <a:t>project</a:t>
            </a:r>
            <a:r>
              <a:rPr sz="2800" spc="70" dirty="0">
                <a:latin typeface="Calibri"/>
                <a:cs typeface="Calibri"/>
              </a:rPr>
              <a:t> </a:t>
            </a:r>
            <a:r>
              <a:rPr sz="2800" dirty="0">
                <a:latin typeface="Calibri"/>
                <a:cs typeface="Calibri"/>
              </a:rPr>
              <a:t>selection</a:t>
            </a:r>
            <a:r>
              <a:rPr sz="2800" spc="70" dirty="0">
                <a:latin typeface="Calibri"/>
                <a:cs typeface="Calibri"/>
              </a:rPr>
              <a:t> </a:t>
            </a:r>
            <a:r>
              <a:rPr sz="2800" dirty="0">
                <a:latin typeface="Calibri"/>
                <a:cs typeface="Calibri"/>
              </a:rPr>
              <a:t>decisions,</a:t>
            </a:r>
            <a:r>
              <a:rPr sz="2800" spc="70" dirty="0">
                <a:latin typeface="Calibri"/>
                <a:cs typeface="Calibri"/>
              </a:rPr>
              <a:t> </a:t>
            </a:r>
            <a:r>
              <a:rPr sz="2800" dirty="0">
                <a:latin typeface="Calibri"/>
                <a:cs typeface="Calibri"/>
              </a:rPr>
              <a:t>models</a:t>
            </a:r>
            <a:r>
              <a:rPr sz="2800" spc="75" dirty="0">
                <a:latin typeface="Calibri"/>
                <a:cs typeface="Calibri"/>
              </a:rPr>
              <a:t> </a:t>
            </a:r>
            <a:r>
              <a:rPr sz="2800" dirty="0">
                <a:latin typeface="Calibri"/>
                <a:cs typeface="Calibri"/>
              </a:rPr>
              <a:t>should</a:t>
            </a:r>
            <a:r>
              <a:rPr sz="2800" spc="70" dirty="0">
                <a:latin typeface="Calibri"/>
                <a:cs typeface="Calibri"/>
              </a:rPr>
              <a:t> </a:t>
            </a:r>
            <a:r>
              <a:rPr sz="2800" spc="-25" dirty="0">
                <a:latin typeface="Calibri"/>
                <a:cs typeface="Calibri"/>
              </a:rPr>
              <a:t>not </a:t>
            </a:r>
            <a:r>
              <a:rPr sz="2800" dirty="0">
                <a:latin typeface="Calibri"/>
                <a:cs typeface="Calibri"/>
              </a:rPr>
              <a:t>make</a:t>
            </a:r>
            <a:r>
              <a:rPr sz="2800" spc="-50" dirty="0">
                <a:latin typeface="Calibri"/>
                <a:cs typeface="Calibri"/>
              </a:rPr>
              <a:t> </a:t>
            </a:r>
            <a:r>
              <a:rPr sz="2800" dirty="0">
                <a:latin typeface="Calibri"/>
                <a:cs typeface="Calibri"/>
              </a:rPr>
              <a:t>the</a:t>
            </a:r>
            <a:r>
              <a:rPr sz="2800" spc="-40" dirty="0">
                <a:latin typeface="Calibri"/>
                <a:cs typeface="Calibri"/>
              </a:rPr>
              <a:t> </a:t>
            </a:r>
            <a:r>
              <a:rPr sz="2800" dirty="0">
                <a:latin typeface="Calibri"/>
                <a:cs typeface="Calibri"/>
              </a:rPr>
              <a:t>final</a:t>
            </a:r>
            <a:r>
              <a:rPr sz="2800" spc="-40" dirty="0">
                <a:latin typeface="Calibri"/>
                <a:cs typeface="Calibri"/>
              </a:rPr>
              <a:t> </a:t>
            </a:r>
            <a:r>
              <a:rPr sz="2800" i="1" spc="-10" dirty="0">
                <a:latin typeface="Calibri"/>
                <a:cs typeface="Calibri"/>
              </a:rPr>
              <a:t>decisions</a:t>
            </a:r>
            <a:r>
              <a:rPr sz="2800" spc="-10" dirty="0">
                <a:latin typeface="Calibri"/>
                <a:cs typeface="Calibri"/>
              </a:rPr>
              <a:t>—</a:t>
            </a:r>
            <a:r>
              <a:rPr sz="2800" dirty="0">
                <a:latin typeface="Calibri"/>
                <a:cs typeface="Calibri"/>
              </a:rPr>
              <a:t>the</a:t>
            </a:r>
            <a:r>
              <a:rPr sz="2800" spc="-40" dirty="0">
                <a:latin typeface="Calibri"/>
                <a:cs typeface="Calibri"/>
              </a:rPr>
              <a:t> </a:t>
            </a:r>
            <a:r>
              <a:rPr sz="2800" dirty="0">
                <a:latin typeface="Calibri"/>
                <a:cs typeface="Calibri"/>
              </a:rPr>
              <a:t>people</a:t>
            </a:r>
            <a:r>
              <a:rPr sz="2800" spc="-45" dirty="0">
                <a:latin typeface="Calibri"/>
                <a:cs typeface="Calibri"/>
              </a:rPr>
              <a:t> </a:t>
            </a:r>
            <a:r>
              <a:rPr sz="2800" dirty="0">
                <a:latin typeface="Calibri"/>
                <a:cs typeface="Calibri"/>
              </a:rPr>
              <a:t>using</a:t>
            </a:r>
            <a:r>
              <a:rPr sz="2800" spc="-45" dirty="0">
                <a:latin typeface="Calibri"/>
                <a:cs typeface="Calibri"/>
              </a:rPr>
              <a:t> </a:t>
            </a:r>
            <a:r>
              <a:rPr sz="2800" dirty="0">
                <a:latin typeface="Calibri"/>
                <a:cs typeface="Calibri"/>
              </a:rPr>
              <a:t>the</a:t>
            </a:r>
            <a:r>
              <a:rPr sz="2800" spc="-40" dirty="0">
                <a:latin typeface="Calibri"/>
                <a:cs typeface="Calibri"/>
              </a:rPr>
              <a:t> </a:t>
            </a:r>
            <a:r>
              <a:rPr sz="2800" dirty="0">
                <a:latin typeface="Calibri"/>
                <a:cs typeface="Calibri"/>
              </a:rPr>
              <a:t>models</a:t>
            </a:r>
            <a:r>
              <a:rPr sz="2800" spc="-35" dirty="0">
                <a:latin typeface="Calibri"/>
                <a:cs typeface="Calibri"/>
              </a:rPr>
              <a:t> </a:t>
            </a:r>
            <a:r>
              <a:rPr sz="2800" spc="-10" dirty="0">
                <a:latin typeface="Calibri"/>
                <a:cs typeface="Calibri"/>
              </a:rPr>
              <a:t>should.</a:t>
            </a:r>
            <a:endParaRPr sz="2800">
              <a:latin typeface="Calibri"/>
              <a:cs typeface="Calibri"/>
            </a:endParaRPr>
          </a:p>
          <a:p>
            <a:pPr marL="241300" marR="5080" indent="-228600" algn="just">
              <a:lnSpc>
                <a:spcPct val="89900"/>
              </a:lnSpc>
              <a:spcBef>
                <a:spcPts val="1040"/>
              </a:spcBef>
              <a:buFont typeface="Arial MT"/>
              <a:buChar char="•"/>
              <a:tabLst>
                <a:tab pos="241300" algn="l"/>
              </a:tabLst>
            </a:pPr>
            <a:r>
              <a:rPr sz="2800" dirty="0">
                <a:latin typeface="Calibri"/>
                <a:cs typeface="Calibri"/>
              </a:rPr>
              <a:t>No</a:t>
            </a:r>
            <a:r>
              <a:rPr sz="2800" spc="90" dirty="0">
                <a:latin typeface="Calibri"/>
                <a:cs typeface="Calibri"/>
              </a:rPr>
              <a:t> </a:t>
            </a:r>
            <a:r>
              <a:rPr sz="2800" dirty="0">
                <a:latin typeface="Calibri"/>
                <a:cs typeface="Calibri"/>
              </a:rPr>
              <a:t>model,</a:t>
            </a:r>
            <a:r>
              <a:rPr sz="2800" spc="95" dirty="0">
                <a:latin typeface="Calibri"/>
                <a:cs typeface="Calibri"/>
              </a:rPr>
              <a:t> </a:t>
            </a:r>
            <a:r>
              <a:rPr sz="2800" dirty="0">
                <a:latin typeface="Calibri"/>
                <a:cs typeface="Calibri"/>
              </a:rPr>
              <a:t>no</a:t>
            </a:r>
            <a:r>
              <a:rPr sz="2800" spc="95" dirty="0">
                <a:latin typeface="Calibri"/>
                <a:cs typeface="Calibri"/>
              </a:rPr>
              <a:t> </a:t>
            </a:r>
            <a:r>
              <a:rPr sz="2800" dirty="0">
                <a:latin typeface="Calibri"/>
                <a:cs typeface="Calibri"/>
              </a:rPr>
              <a:t>matter</a:t>
            </a:r>
            <a:r>
              <a:rPr sz="2800" spc="95" dirty="0">
                <a:latin typeface="Calibri"/>
                <a:cs typeface="Calibri"/>
              </a:rPr>
              <a:t> </a:t>
            </a:r>
            <a:r>
              <a:rPr sz="2800" dirty="0">
                <a:latin typeface="Calibri"/>
                <a:cs typeface="Calibri"/>
              </a:rPr>
              <a:t>how</a:t>
            </a:r>
            <a:r>
              <a:rPr sz="2800" spc="90" dirty="0">
                <a:latin typeface="Calibri"/>
                <a:cs typeface="Calibri"/>
              </a:rPr>
              <a:t> </a:t>
            </a:r>
            <a:r>
              <a:rPr sz="2800" dirty="0">
                <a:latin typeface="Calibri"/>
                <a:cs typeface="Calibri"/>
              </a:rPr>
              <a:t>sophisticated,</a:t>
            </a:r>
            <a:r>
              <a:rPr sz="2800" spc="95" dirty="0">
                <a:latin typeface="Calibri"/>
                <a:cs typeface="Calibri"/>
              </a:rPr>
              <a:t> </a:t>
            </a:r>
            <a:r>
              <a:rPr sz="2800" dirty="0">
                <a:latin typeface="Calibri"/>
                <a:cs typeface="Calibri"/>
              </a:rPr>
              <a:t>can</a:t>
            </a:r>
            <a:r>
              <a:rPr sz="2800" spc="100" dirty="0">
                <a:latin typeface="Calibri"/>
                <a:cs typeface="Calibri"/>
              </a:rPr>
              <a:t> </a:t>
            </a:r>
            <a:r>
              <a:rPr sz="2800" dirty="0">
                <a:latin typeface="Calibri"/>
                <a:cs typeface="Calibri"/>
              </a:rPr>
              <a:t>capture</a:t>
            </a:r>
            <a:r>
              <a:rPr sz="2800" spc="90" dirty="0">
                <a:latin typeface="Calibri"/>
                <a:cs typeface="Calibri"/>
              </a:rPr>
              <a:t> </a:t>
            </a:r>
            <a:r>
              <a:rPr sz="2800" dirty="0">
                <a:latin typeface="Calibri"/>
                <a:cs typeface="Calibri"/>
              </a:rPr>
              <a:t>the</a:t>
            </a:r>
            <a:r>
              <a:rPr sz="2800" spc="90" dirty="0">
                <a:latin typeface="Calibri"/>
                <a:cs typeface="Calibri"/>
              </a:rPr>
              <a:t> </a:t>
            </a:r>
            <a:r>
              <a:rPr sz="2800" dirty="0">
                <a:latin typeface="Calibri"/>
                <a:cs typeface="Calibri"/>
              </a:rPr>
              <a:t>total</a:t>
            </a:r>
            <a:r>
              <a:rPr sz="2800" spc="85" dirty="0">
                <a:latin typeface="Calibri"/>
                <a:cs typeface="Calibri"/>
              </a:rPr>
              <a:t> </a:t>
            </a:r>
            <a:r>
              <a:rPr sz="2800" spc="-10" dirty="0">
                <a:latin typeface="Calibri"/>
                <a:cs typeface="Calibri"/>
              </a:rPr>
              <a:t>reality </a:t>
            </a:r>
            <a:r>
              <a:rPr sz="2800" dirty="0">
                <a:latin typeface="Calibri"/>
                <a:cs typeface="Calibri"/>
              </a:rPr>
              <a:t>it</a:t>
            </a:r>
            <a:r>
              <a:rPr sz="2800" spc="200" dirty="0">
                <a:latin typeface="Calibri"/>
                <a:cs typeface="Calibri"/>
              </a:rPr>
              <a:t> </a:t>
            </a:r>
            <a:r>
              <a:rPr sz="2800" dirty="0">
                <a:latin typeface="Calibri"/>
                <a:cs typeface="Calibri"/>
              </a:rPr>
              <a:t>is</a:t>
            </a:r>
            <a:r>
              <a:rPr sz="2800" spc="204" dirty="0">
                <a:latin typeface="Calibri"/>
                <a:cs typeface="Calibri"/>
              </a:rPr>
              <a:t> </a:t>
            </a:r>
            <a:r>
              <a:rPr sz="2800" dirty="0">
                <a:latin typeface="Calibri"/>
                <a:cs typeface="Calibri"/>
              </a:rPr>
              <a:t>meant</a:t>
            </a:r>
            <a:r>
              <a:rPr sz="2800" spc="204" dirty="0">
                <a:latin typeface="Calibri"/>
                <a:cs typeface="Calibri"/>
              </a:rPr>
              <a:t> </a:t>
            </a:r>
            <a:r>
              <a:rPr sz="2800" dirty="0">
                <a:latin typeface="Calibri"/>
                <a:cs typeface="Calibri"/>
              </a:rPr>
              <a:t>to</a:t>
            </a:r>
            <a:r>
              <a:rPr sz="2800" spc="200" dirty="0">
                <a:latin typeface="Calibri"/>
                <a:cs typeface="Calibri"/>
              </a:rPr>
              <a:t> </a:t>
            </a:r>
            <a:r>
              <a:rPr sz="2800" dirty="0">
                <a:latin typeface="Calibri"/>
                <a:cs typeface="Calibri"/>
              </a:rPr>
              <a:t>represent.</a:t>
            </a:r>
            <a:r>
              <a:rPr sz="2800" spc="210" dirty="0">
                <a:latin typeface="Calibri"/>
                <a:cs typeface="Calibri"/>
              </a:rPr>
              <a:t> </a:t>
            </a:r>
            <a:r>
              <a:rPr sz="2800" dirty="0">
                <a:latin typeface="Calibri"/>
                <a:cs typeface="Calibri"/>
              </a:rPr>
              <a:t>Models</a:t>
            </a:r>
            <a:r>
              <a:rPr sz="2800" spc="204" dirty="0">
                <a:latin typeface="Calibri"/>
                <a:cs typeface="Calibri"/>
              </a:rPr>
              <a:t> </a:t>
            </a:r>
            <a:r>
              <a:rPr sz="2800" dirty="0">
                <a:latin typeface="Calibri"/>
                <a:cs typeface="Calibri"/>
              </a:rPr>
              <a:t>are</a:t>
            </a:r>
            <a:r>
              <a:rPr sz="2800" spc="195" dirty="0">
                <a:latin typeface="Calibri"/>
                <a:cs typeface="Calibri"/>
              </a:rPr>
              <a:t> </a:t>
            </a:r>
            <a:r>
              <a:rPr sz="2800" dirty="0">
                <a:latin typeface="Calibri"/>
                <a:cs typeface="Calibri"/>
              </a:rPr>
              <a:t>tools</a:t>
            </a:r>
            <a:r>
              <a:rPr sz="2800" spc="210" dirty="0">
                <a:latin typeface="Calibri"/>
                <a:cs typeface="Calibri"/>
              </a:rPr>
              <a:t> </a:t>
            </a:r>
            <a:r>
              <a:rPr sz="2800" dirty="0">
                <a:latin typeface="Calibri"/>
                <a:cs typeface="Calibri"/>
              </a:rPr>
              <a:t>for</a:t>
            </a:r>
            <a:r>
              <a:rPr sz="2800" spc="200" dirty="0">
                <a:latin typeface="Calibri"/>
                <a:cs typeface="Calibri"/>
              </a:rPr>
              <a:t> </a:t>
            </a:r>
            <a:r>
              <a:rPr sz="2800" dirty="0">
                <a:latin typeface="Calibri"/>
                <a:cs typeface="Calibri"/>
              </a:rPr>
              <a:t>guiding</a:t>
            </a:r>
            <a:r>
              <a:rPr sz="2800" spc="204" dirty="0">
                <a:latin typeface="Calibri"/>
                <a:cs typeface="Calibri"/>
              </a:rPr>
              <a:t> </a:t>
            </a:r>
            <a:r>
              <a:rPr sz="2800" dirty="0">
                <a:latin typeface="Calibri"/>
                <a:cs typeface="Calibri"/>
              </a:rPr>
              <a:t>the</a:t>
            </a:r>
            <a:r>
              <a:rPr sz="2800" spc="195" dirty="0">
                <a:latin typeface="Calibri"/>
                <a:cs typeface="Calibri"/>
              </a:rPr>
              <a:t> </a:t>
            </a:r>
            <a:r>
              <a:rPr sz="2800" spc="-10" dirty="0">
                <a:latin typeface="Calibri"/>
                <a:cs typeface="Calibri"/>
              </a:rPr>
              <a:t>evaluation </a:t>
            </a:r>
            <a:r>
              <a:rPr sz="2800" dirty="0">
                <a:latin typeface="Calibri"/>
                <a:cs typeface="Calibri"/>
              </a:rPr>
              <a:t>process</a:t>
            </a:r>
            <a:r>
              <a:rPr sz="2800" spc="120" dirty="0">
                <a:latin typeface="Calibri"/>
                <a:cs typeface="Calibri"/>
              </a:rPr>
              <a:t> </a:t>
            </a:r>
            <a:r>
              <a:rPr sz="2800" dirty="0">
                <a:latin typeface="Calibri"/>
                <a:cs typeface="Calibri"/>
              </a:rPr>
              <a:t>so</a:t>
            </a:r>
            <a:r>
              <a:rPr sz="2800" spc="114" dirty="0">
                <a:latin typeface="Calibri"/>
                <a:cs typeface="Calibri"/>
              </a:rPr>
              <a:t> </a:t>
            </a:r>
            <a:r>
              <a:rPr sz="2800" dirty="0">
                <a:latin typeface="Calibri"/>
                <a:cs typeface="Calibri"/>
              </a:rPr>
              <a:t>that</a:t>
            </a:r>
            <a:r>
              <a:rPr sz="2800" spc="120" dirty="0">
                <a:latin typeface="Calibri"/>
                <a:cs typeface="Calibri"/>
              </a:rPr>
              <a:t> </a:t>
            </a:r>
            <a:r>
              <a:rPr sz="2800" dirty="0">
                <a:latin typeface="Calibri"/>
                <a:cs typeface="Calibri"/>
              </a:rPr>
              <a:t>the</a:t>
            </a:r>
            <a:r>
              <a:rPr sz="2800" spc="120" dirty="0">
                <a:latin typeface="Calibri"/>
                <a:cs typeface="Calibri"/>
              </a:rPr>
              <a:t> </a:t>
            </a:r>
            <a:r>
              <a:rPr sz="2800" dirty="0">
                <a:latin typeface="Calibri"/>
                <a:cs typeface="Calibri"/>
              </a:rPr>
              <a:t>decision</a:t>
            </a:r>
            <a:r>
              <a:rPr sz="2800" spc="120" dirty="0">
                <a:latin typeface="Calibri"/>
                <a:cs typeface="Calibri"/>
              </a:rPr>
              <a:t> </a:t>
            </a:r>
            <a:r>
              <a:rPr sz="2800" dirty="0">
                <a:latin typeface="Calibri"/>
                <a:cs typeface="Calibri"/>
              </a:rPr>
              <a:t>makers</a:t>
            </a:r>
            <a:r>
              <a:rPr sz="2800" spc="125" dirty="0">
                <a:latin typeface="Calibri"/>
                <a:cs typeface="Calibri"/>
              </a:rPr>
              <a:t> </a:t>
            </a:r>
            <a:r>
              <a:rPr sz="2800" dirty="0">
                <a:latin typeface="Calibri"/>
                <a:cs typeface="Calibri"/>
              </a:rPr>
              <a:t>will</a:t>
            </a:r>
            <a:r>
              <a:rPr sz="2800" spc="114" dirty="0">
                <a:latin typeface="Calibri"/>
                <a:cs typeface="Calibri"/>
              </a:rPr>
              <a:t> </a:t>
            </a:r>
            <a:r>
              <a:rPr sz="2800" dirty="0">
                <a:latin typeface="Calibri"/>
                <a:cs typeface="Calibri"/>
              </a:rPr>
              <a:t>consider</a:t>
            </a:r>
            <a:r>
              <a:rPr sz="2800" spc="120" dirty="0">
                <a:latin typeface="Calibri"/>
                <a:cs typeface="Calibri"/>
              </a:rPr>
              <a:t> </a:t>
            </a:r>
            <a:r>
              <a:rPr sz="2800" dirty="0">
                <a:latin typeface="Calibri"/>
                <a:cs typeface="Calibri"/>
              </a:rPr>
              <a:t>relevant</a:t>
            </a:r>
            <a:r>
              <a:rPr sz="2800" spc="114" dirty="0">
                <a:latin typeface="Calibri"/>
                <a:cs typeface="Calibri"/>
              </a:rPr>
              <a:t> </a:t>
            </a:r>
            <a:r>
              <a:rPr sz="2800" dirty="0">
                <a:latin typeface="Calibri"/>
                <a:cs typeface="Calibri"/>
              </a:rPr>
              <a:t>issues</a:t>
            </a:r>
            <a:r>
              <a:rPr sz="2800" spc="125" dirty="0">
                <a:latin typeface="Calibri"/>
                <a:cs typeface="Calibri"/>
              </a:rPr>
              <a:t> </a:t>
            </a:r>
            <a:r>
              <a:rPr sz="2800" spc="-25" dirty="0">
                <a:latin typeface="Calibri"/>
                <a:cs typeface="Calibri"/>
              </a:rPr>
              <a:t>and </a:t>
            </a:r>
            <a:r>
              <a:rPr sz="2800" dirty="0">
                <a:latin typeface="Calibri"/>
                <a:cs typeface="Calibri"/>
              </a:rPr>
              <a:t>reach</a:t>
            </a:r>
            <a:r>
              <a:rPr sz="2800" spc="170" dirty="0">
                <a:latin typeface="Calibri"/>
                <a:cs typeface="Calibri"/>
              </a:rPr>
              <a:t>  </a:t>
            </a:r>
            <a:r>
              <a:rPr sz="2800" dirty="0">
                <a:latin typeface="Calibri"/>
                <a:cs typeface="Calibri"/>
              </a:rPr>
              <a:t>a</a:t>
            </a:r>
            <a:r>
              <a:rPr sz="2800" spc="170" dirty="0">
                <a:latin typeface="Calibri"/>
                <a:cs typeface="Calibri"/>
              </a:rPr>
              <a:t>  </a:t>
            </a:r>
            <a:r>
              <a:rPr sz="2800" dirty="0">
                <a:latin typeface="Calibri"/>
                <a:cs typeface="Calibri"/>
              </a:rPr>
              <a:t>meeting</a:t>
            </a:r>
            <a:r>
              <a:rPr sz="2800" spc="170" dirty="0">
                <a:latin typeface="Calibri"/>
                <a:cs typeface="Calibri"/>
              </a:rPr>
              <a:t>  </a:t>
            </a:r>
            <a:r>
              <a:rPr sz="2800" dirty="0">
                <a:latin typeface="Calibri"/>
                <a:cs typeface="Calibri"/>
              </a:rPr>
              <a:t>of</a:t>
            </a:r>
            <a:r>
              <a:rPr sz="2800" spc="170" dirty="0">
                <a:latin typeface="Calibri"/>
                <a:cs typeface="Calibri"/>
              </a:rPr>
              <a:t>  </a:t>
            </a:r>
            <a:r>
              <a:rPr sz="2800" dirty="0">
                <a:latin typeface="Calibri"/>
                <a:cs typeface="Calibri"/>
              </a:rPr>
              <a:t>the</a:t>
            </a:r>
            <a:r>
              <a:rPr sz="2800" spc="170" dirty="0">
                <a:latin typeface="Calibri"/>
                <a:cs typeface="Calibri"/>
              </a:rPr>
              <a:t>  </a:t>
            </a:r>
            <a:r>
              <a:rPr sz="2800" dirty="0">
                <a:latin typeface="Calibri"/>
                <a:cs typeface="Calibri"/>
              </a:rPr>
              <a:t>minds</a:t>
            </a:r>
            <a:r>
              <a:rPr sz="2800" spc="175" dirty="0">
                <a:latin typeface="Calibri"/>
                <a:cs typeface="Calibri"/>
              </a:rPr>
              <a:t>  </a:t>
            </a:r>
            <a:r>
              <a:rPr sz="2800" dirty="0">
                <a:latin typeface="Calibri"/>
                <a:cs typeface="Calibri"/>
              </a:rPr>
              <a:t>as</a:t>
            </a:r>
            <a:r>
              <a:rPr sz="2800" spc="175" dirty="0">
                <a:latin typeface="Calibri"/>
                <a:cs typeface="Calibri"/>
              </a:rPr>
              <a:t>  </a:t>
            </a:r>
            <a:r>
              <a:rPr sz="2800" dirty="0">
                <a:latin typeface="Calibri"/>
                <a:cs typeface="Calibri"/>
              </a:rPr>
              <a:t>to</a:t>
            </a:r>
            <a:r>
              <a:rPr sz="2800" spc="175" dirty="0">
                <a:latin typeface="Calibri"/>
                <a:cs typeface="Calibri"/>
              </a:rPr>
              <a:t>  </a:t>
            </a:r>
            <a:r>
              <a:rPr sz="2800" dirty="0">
                <a:latin typeface="Calibri"/>
                <a:cs typeface="Calibri"/>
              </a:rPr>
              <a:t>which</a:t>
            </a:r>
            <a:r>
              <a:rPr sz="2800" spc="175" dirty="0">
                <a:latin typeface="Calibri"/>
                <a:cs typeface="Calibri"/>
              </a:rPr>
              <a:t>  </a:t>
            </a:r>
            <a:r>
              <a:rPr sz="2800" dirty="0">
                <a:latin typeface="Calibri"/>
                <a:cs typeface="Calibri"/>
              </a:rPr>
              <a:t>projects</a:t>
            </a:r>
            <a:r>
              <a:rPr sz="2800" spc="170" dirty="0">
                <a:latin typeface="Calibri"/>
                <a:cs typeface="Calibri"/>
              </a:rPr>
              <a:t>  </a:t>
            </a:r>
            <a:r>
              <a:rPr sz="2800" dirty="0">
                <a:latin typeface="Calibri"/>
                <a:cs typeface="Calibri"/>
              </a:rPr>
              <a:t>should</a:t>
            </a:r>
            <a:r>
              <a:rPr sz="2800" spc="175" dirty="0">
                <a:latin typeface="Calibri"/>
                <a:cs typeface="Calibri"/>
              </a:rPr>
              <a:t>  </a:t>
            </a:r>
            <a:r>
              <a:rPr sz="2800" spc="-25" dirty="0">
                <a:latin typeface="Calibri"/>
                <a:cs typeface="Calibri"/>
              </a:rPr>
              <a:t>be </a:t>
            </a:r>
            <a:r>
              <a:rPr sz="2800" dirty="0">
                <a:latin typeface="Calibri"/>
                <a:cs typeface="Calibri"/>
              </a:rPr>
              <a:t>supported and</a:t>
            </a:r>
            <a:r>
              <a:rPr sz="2800" spc="5" dirty="0">
                <a:latin typeface="Calibri"/>
                <a:cs typeface="Calibri"/>
              </a:rPr>
              <a:t> </a:t>
            </a:r>
            <a:r>
              <a:rPr sz="2800" dirty="0">
                <a:latin typeface="Calibri"/>
                <a:cs typeface="Calibri"/>
              </a:rPr>
              <a:t>not supported.</a:t>
            </a:r>
            <a:r>
              <a:rPr sz="2800" spc="5" dirty="0">
                <a:latin typeface="Calibri"/>
                <a:cs typeface="Calibri"/>
              </a:rPr>
              <a:t> </a:t>
            </a:r>
            <a:r>
              <a:rPr sz="2800" dirty="0">
                <a:latin typeface="Calibri"/>
                <a:cs typeface="Calibri"/>
              </a:rPr>
              <a:t>This</a:t>
            </a:r>
            <a:r>
              <a:rPr sz="2800" spc="5" dirty="0">
                <a:latin typeface="Calibri"/>
                <a:cs typeface="Calibri"/>
              </a:rPr>
              <a:t> </a:t>
            </a:r>
            <a:r>
              <a:rPr sz="2800" dirty="0">
                <a:latin typeface="Calibri"/>
                <a:cs typeface="Calibri"/>
              </a:rPr>
              <a:t>is</a:t>
            </a:r>
            <a:r>
              <a:rPr sz="2800" spc="5" dirty="0">
                <a:latin typeface="Calibri"/>
                <a:cs typeface="Calibri"/>
              </a:rPr>
              <a:t> </a:t>
            </a:r>
            <a:r>
              <a:rPr sz="2800" dirty="0">
                <a:latin typeface="Calibri"/>
                <a:cs typeface="Calibri"/>
              </a:rPr>
              <a:t>a</a:t>
            </a:r>
            <a:r>
              <a:rPr sz="2800" spc="-5" dirty="0">
                <a:latin typeface="Calibri"/>
                <a:cs typeface="Calibri"/>
              </a:rPr>
              <a:t> </a:t>
            </a:r>
            <a:r>
              <a:rPr sz="2800" dirty="0">
                <a:latin typeface="Calibri"/>
                <a:cs typeface="Calibri"/>
              </a:rPr>
              <a:t>much</a:t>
            </a:r>
            <a:r>
              <a:rPr sz="2800" spc="5" dirty="0">
                <a:latin typeface="Calibri"/>
                <a:cs typeface="Calibri"/>
              </a:rPr>
              <a:t> </a:t>
            </a:r>
            <a:r>
              <a:rPr sz="2800" dirty="0">
                <a:latin typeface="Calibri"/>
                <a:cs typeface="Calibri"/>
              </a:rPr>
              <a:t>more</a:t>
            </a:r>
            <a:r>
              <a:rPr sz="2800" spc="-10" dirty="0">
                <a:latin typeface="Calibri"/>
                <a:cs typeface="Calibri"/>
              </a:rPr>
              <a:t> </a:t>
            </a:r>
            <a:r>
              <a:rPr sz="2800" dirty="0">
                <a:latin typeface="Calibri"/>
                <a:cs typeface="Calibri"/>
              </a:rPr>
              <a:t>subjective</a:t>
            </a:r>
            <a:r>
              <a:rPr sz="2800" spc="-15" dirty="0">
                <a:latin typeface="Calibri"/>
                <a:cs typeface="Calibri"/>
              </a:rPr>
              <a:t> </a:t>
            </a:r>
            <a:r>
              <a:rPr sz="2800" spc="-10" dirty="0">
                <a:latin typeface="Calibri"/>
                <a:cs typeface="Calibri"/>
              </a:rPr>
              <a:t>process </a:t>
            </a:r>
            <a:r>
              <a:rPr sz="2800" dirty="0">
                <a:latin typeface="Calibri"/>
                <a:cs typeface="Calibri"/>
              </a:rPr>
              <a:t>than</a:t>
            </a:r>
            <a:r>
              <a:rPr sz="2800" spc="-90" dirty="0">
                <a:latin typeface="Calibri"/>
                <a:cs typeface="Calibri"/>
              </a:rPr>
              <a:t> </a:t>
            </a:r>
            <a:r>
              <a:rPr sz="2800" dirty="0">
                <a:latin typeface="Calibri"/>
                <a:cs typeface="Calibri"/>
              </a:rPr>
              <a:t>calculations</a:t>
            </a:r>
            <a:r>
              <a:rPr sz="2800" spc="-90" dirty="0">
                <a:latin typeface="Calibri"/>
                <a:cs typeface="Calibri"/>
              </a:rPr>
              <a:t> </a:t>
            </a:r>
            <a:r>
              <a:rPr sz="2800" spc="-10" dirty="0">
                <a:latin typeface="Calibri"/>
                <a:cs typeface="Calibri"/>
              </a:rPr>
              <a:t>suggest.</a:t>
            </a:r>
            <a:endParaRPr sz="2800">
              <a:latin typeface="Calibri"/>
              <a:cs typeface="Calibri"/>
            </a:endParaRP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32</a:t>
            </a:fld>
            <a:endParaRPr spc="-25" dirty="0"/>
          </a:p>
        </p:txBody>
      </p:sp>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85" dirty="0">
                <a:solidFill>
                  <a:srgbClr val="FF0000"/>
                </a:solidFill>
              </a:rPr>
              <a:t>Project Selection Criteria </a:t>
            </a:r>
            <a:r>
              <a:rPr sz="1950" spc="-10" dirty="0"/>
              <a:t>(6/6)</a:t>
            </a:r>
            <a:endParaRPr sz="1950" dirty="0"/>
          </a:p>
        </p:txBody>
      </p:sp>
      <p:pic>
        <p:nvPicPr>
          <p:cNvPr id="5" name="Picture 4">
            <a:extLst>
              <a:ext uri="{FF2B5EF4-FFF2-40B4-BE49-F238E27FC236}">
                <a16:creationId xmlns:a16="http://schemas.microsoft.com/office/drawing/2014/main" id="{51F20BA7-462B-E101-5D11-890325AB3A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5A4ED-9A59-6620-097F-7C645A785838}"/>
              </a:ext>
            </a:extLst>
          </p:cNvPr>
          <p:cNvSpPr>
            <a:spLocks noGrp="1"/>
          </p:cNvSpPr>
          <p:nvPr>
            <p:ph type="title"/>
          </p:nvPr>
        </p:nvSpPr>
        <p:spPr>
          <a:xfrm>
            <a:off x="916939" y="615856"/>
            <a:ext cx="10358120" cy="1323439"/>
          </a:xfrm>
        </p:spPr>
        <p:txBody>
          <a:bodyPr/>
          <a:lstStyle/>
          <a:p>
            <a:r>
              <a:rPr lang="en-US" b="1" u="sng" spc="85" dirty="0">
                <a:solidFill>
                  <a:srgbClr val="FF0000"/>
                </a:solidFill>
              </a:rPr>
              <a:t>Types of Project Selection Criteria</a:t>
            </a:r>
            <a:br>
              <a:rPr lang="en-US" b="1" dirty="0">
                <a:solidFill>
                  <a:srgbClr val="0B588F"/>
                </a:solidFill>
                <a:latin typeface="Raleway" panose="020B0604020202020204" pitchFamily="2" charset="0"/>
              </a:rPr>
            </a:br>
            <a:endParaRPr lang="en-US" dirty="0"/>
          </a:p>
        </p:txBody>
      </p:sp>
      <p:sp>
        <p:nvSpPr>
          <p:cNvPr id="3" name="Text Placeholder 2">
            <a:extLst>
              <a:ext uri="{FF2B5EF4-FFF2-40B4-BE49-F238E27FC236}">
                <a16:creationId xmlns:a16="http://schemas.microsoft.com/office/drawing/2014/main" id="{FB8947E2-FE5F-DDB3-69DF-1E405A476332}"/>
              </a:ext>
            </a:extLst>
          </p:cNvPr>
          <p:cNvSpPr>
            <a:spLocks noGrp="1"/>
          </p:cNvSpPr>
          <p:nvPr>
            <p:ph type="body" idx="1"/>
          </p:nvPr>
        </p:nvSpPr>
        <p:spPr/>
        <p:txBody>
          <a:bodyPr/>
          <a:lstStyle/>
          <a:p>
            <a:endParaRPr lang="en-US" dirty="0"/>
          </a:p>
        </p:txBody>
      </p:sp>
      <p:pic>
        <p:nvPicPr>
          <p:cNvPr id="4" name="Picture 3">
            <a:extLst>
              <a:ext uri="{FF2B5EF4-FFF2-40B4-BE49-F238E27FC236}">
                <a16:creationId xmlns:a16="http://schemas.microsoft.com/office/drawing/2014/main" id="{75CB9179-6BC6-4F35-E972-1A65562F67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78EA728-26FF-4943-993E-89E8C9076AF8}"/>
              </a:ext>
            </a:extLst>
          </p:cNvPr>
          <p:cNvPicPr>
            <a:picLocks noChangeAspect="1"/>
          </p:cNvPicPr>
          <p:nvPr/>
        </p:nvPicPr>
        <p:blipFill>
          <a:blip r:embed="rId3"/>
          <a:stretch>
            <a:fillRect/>
          </a:stretch>
        </p:blipFill>
        <p:spPr>
          <a:xfrm>
            <a:off x="1321434" y="1781430"/>
            <a:ext cx="8839200" cy="4800095"/>
          </a:xfrm>
          <a:prstGeom prst="rect">
            <a:avLst/>
          </a:prstGeom>
        </p:spPr>
      </p:pic>
    </p:spTree>
    <p:extLst>
      <p:ext uri="{BB962C8B-B14F-4D97-AF65-F5344CB8AC3E}">
        <p14:creationId xmlns:p14="http://schemas.microsoft.com/office/powerpoint/2010/main" val="3231051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C85FC-A731-4BCC-B74D-13A4839E8EFC}"/>
              </a:ext>
            </a:extLst>
          </p:cNvPr>
          <p:cNvSpPr>
            <a:spLocks noGrp="1"/>
          </p:cNvSpPr>
          <p:nvPr>
            <p:ph type="title"/>
          </p:nvPr>
        </p:nvSpPr>
        <p:spPr>
          <a:xfrm>
            <a:off x="916939" y="615856"/>
            <a:ext cx="10358120" cy="1323439"/>
          </a:xfrm>
        </p:spPr>
        <p:txBody>
          <a:bodyPr/>
          <a:lstStyle/>
          <a:p>
            <a:r>
              <a:rPr lang="en-US" b="1" u="sng" spc="85" dirty="0">
                <a:solidFill>
                  <a:srgbClr val="FF0000"/>
                </a:solidFill>
              </a:rPr>
              <a:t>Types of Project Selection Criteria</a:t>
            </a:r>
            <a:br>
              <a:rPr lang="en-US" b="1" i="0" dirty="0">
                <a:solidFill>
                  <a:srgbClr val="0B588F"/>
                </a:solidFill>
                <a:effectLst/>
                <a:latin typeface="Raleway" panose="020B0604020202020204" pitchFamily="2" charset="0"/>
              </a:rPr>
            </a:br>
            <a:endParaRPr lang="en-US" dirty="0"/>
          </a:p>
        </p:txBody>
      </p:sp>
      <p:sp>
        <p:nvSpPr>
          <p:cNvPr id="3" name="Text Placeholder 2">
            <a:extLst>
              <a:ext uri="{FF2B5EF4-FFF2-40B4-BE49-F238E27FC236}">
                <a16:creationId xmlns:a16="http://schemas.microsoft.com/office/drawing/2014/main" id="{11F00333-20EA-4F9E-83C9-5F5617AA86E2}"/>
              </a:ext>
            </a:extLst>
          </p:cNvPr>
          <p:cNvSpPr>
            <a:spLocks noGrp="1"/>
          </p:cNvSpPr>
          <p:nvPr>
            <p:ph type="body" idx="1"/>
          </p:nvPr>
        </p:nvSpPr>
        <p:spPr>
          <a:xfrm>
            <a:off x="916939" y="1628139"/>
            <a:ext cx="10358120" cy="4985980"/>
          </a:xfrm>
        </p:spPr>
        <p:txBody>
          <a:bodyPr/>
          <a:lstStyle/>
          <a:p>
            <a:pPr algn="l">
              <a:buFont typeface="+mj-lt"/>
              <a:buAutoNum type="arabicPeriod"/>
            </a:pPr>
            <a:r>
              <a:rPr lang="en-US" sz="2000" b="0" i="0" dirty="0">
                <a:solidFill>
                  <a:srgbClr val="191A19"/>
                </a:solidFill>
                <a:effectLst/>
                <a:latin typeface="Roboto" panose="02000000000000000000" pitchFamily="2" charset="0"/>
              </a:rPr>
              <a:t>Financial Criteria</a:t>
            </a:r>
          </a:p>
          <a:p>
            <a:pPr marL="742950" lvl="1" indent="-285750" algn="l">
              <a:buFont typeface="+mj-lt"/>
              <a:buAutoNum type="arabicPeriod"/>
            </a:pPr>
            <a:r>
              <a:rPr lang="en-US" sz="1400" b="0" i="0" dirty="0">
                <a:solidFill>
                  <a:srgbClr val="191A19"/>
                </a:solidFill>
                <a:effectLst/>
                <a:latin typeface="Roboto" panose="02000000000000000000" pitchFamily="2" charset="0"/>
              </a:rPr>
              <a:t>Return on Investment (ROI)</a:t>
            </a:r>
          </a:p>
          <a:p>
            <a:pPr marL="742950" lvl="1" indent="-285750" algn="l">
              <a:buFont typeface="+mj-lt"/>
              <a:buAutoNum type="arabicPeriod"/>
            </a:pPr>
            <a:r>
              <a:rPr lang="en-US" sz="1400" b="0" i="0" dirty="0">
                <a:solidFill>
                  <a:srgbClr val="191A19"/>
                </a:solidFill>
                <a:effectLst/>
                <a:latin typeface="Roboto" panose="02000000000000000000" pitchFamily="2" charset="0"/>
              </a:rPr>
              <a:t>Net Present Value (NPV)</a:t>
            </a:r>
          </a:p>
          <a:p>
            <a:pPr marL="742950" lvl="1" indent="-285750" algn="l">
              <a:buFont typeface="+mj-lt"/>
              <a:buAutoNum type="arabicPeriod"/>
            </a:pPr>
            <a:r>
              <a:rPr lang="en-US" sz="1400" b="0" i="0" dirty="0">
                <a:solidFill>
                  <a:srgbClr val="191A19"/>
                </a:solidFill>
                <a:effectLst/>
                <a:latin typeface="Roboto" panose="02000000000000000000" pitchFamily="2" charset="0"/>
              </a:rPr>
              <a:t>Payback period</a:t>
            </a:r>
          </a:p>
          <a:p>
            <a:pPr marL="742950" lvl="1" indent="-285750" algn="l">
              <a:buFont typeface="+mj-lt"/>
              <a:buAutoNum type="arabicPeriod"/>
            </a:pPr>
            <a:r>
              <a:rPr lang="en-US" sz="1400" b="0" i="0" u="sng" dirty="0">
                <a:solidFill>
                  <a:srgbClr val="0B588F"/>
                </a:solidFill>
                <a:effectLst/>
                <a:latin typeface="Roboto" panose="02000000000000000000" pitchFamily="2" charset="0"/>
                <a:hlinkClick r:id="rId3"/>
              </a:rPr>
              <a:t>Cost-benefit ratio</a:t>
            </a:r>
            <a:endParaRPr lang="en-US" sz="1400" b="0" i="0" dirty="0">
              <a:solidFill>
                <a:srgbClr val="191A19"/>
              </a:solidFill>
              <a:effectLst/>
              <a:latin typeface="Roboto" panose="02000000000000000000" pitchFamily="2" charset="0"/>
            </a:endParaRPr>
          </a:p>
          <a:p>
            <a:pPr algn="l">
              <a:buFont typeface="+mj-lt"/>
              <a:buAutoNum type="arabicPeriod"/>
            </a:pPr>
            <a:r>
              <a:rPr lang="en-US" sz="2000" b="0" i="0" dirty="0">
                <a:solidFill>
                  <a:srgbClr val="191A19"/>
                </a:solidFill>
                <a:effectLst/>
                <a:latin typeface="Roboto" panose="02000000000000000000" pitchFamily="2" charset="0"/>
              </a:rPr>
              <a:t>Strategic Criteria</a:t>
            </a:r>
          </a:p>
          <a:p>
            <a:pPr marL="742950" lvl="1" indent="-285750" algn="l">
              <a:buFont typeface="+mj-lt"/>
              <a:buAutoNum type="arabicPeriod"/>
            </a:pPr>
            <a:r>
              <a:rPr lang="en-US" sz="1400" b="0" i="0" dirty="0">
                <a:solidFill>
                  <a:srgbClr val="191A19"/>
                </a:solidFill>
                <a:effectLst/>
                <a:latin typeface="Roboto" panose="02000000000000000000" pitchFamily="2" charset="0"/>
              </a:rPr>
              <a:t>Alignment with organizational goals</a:t>
            </a:r>
          </a:p>
          <a:p>
            <a:pPr marL="742950" lvl="1" indent="-285750" algn="l">
              <a:buFont typeface="+mj-lt"/>
              <a:buAutoNum type="arabicPeriod"/>
            </a:pPr>
            <a:r>
              <a:rPr lang="en-US" sz="1400" b="0" i="0" dirty="0">
                <a:solidFill>
                  <a:srgbClr val="191A19"/>
                </a:solidFill>
                <a:effectLst/>
                <a:latin typeface="Roboto" panose="02000000000000000000" pitchFamily="2" charset="0"/>
              </a:rPr>
              <a:t>Market positioning</a:t>
            </a:r>
          </a:p>
          <a:p>
            <a:pPr marL="742950" lvl="1" indent="-285750" algn="l">
              <a:buFont typeface="+mj-lt"/>
              <a:buAutoNum type="arabicPeriod"/>
            </a:pPr>
            <a:r>
              <a:rPr lang="en-US" sz="1400" b="0" i="0" dirty="0">
                <a:solidFill>
                  <a:srgbClr val="191A19"/>
                </a:solidFill>
                <a:effectLst/>
                <a:latin typeface="Roboto" panose="02000000000000000000" pitchFamily="2" charset="0"/>
              </a:rPr>
              <a:t>Competitive advantage</a:t>
            </a:r>
          </a:p>
          <a:p>
            <a:pPr marL="742950" lvl="1" indent="-285750" algn="l">
              <a:buFont typeface="+mj-lt"/>
              <a:buAutoNum type="arabicPeriod"/>
            </a:pPr>
            <a:r>
              <a:rPr lang="en-US" sz="1400" b="0" i="0" dirty="0">
                <a:solidFill>
                  <a:srgbClr val="191A19"/>
                </a:solidFill>
                <a:effectLst/>
                <a:latin typeface="Roboto" panose="02000000000000000000" pitchFamily="2" charset="0"/>
              </a:rPr>
              <a:t>Long-term sustainability</a:t>
            </a:r>
          </a:p>
          <a:p>
            <a:pPr algn="l">
              <a:buFont typeface="+mj-lt"/>
              <a:buAutoNum type="arabicPeriod"/>
            </a:pPr>
            <a:r>
              <a:rPr lang="en-US" sz="2000" b="0" i="0" dirty="0">
                <a:solidFill>
                  <a:srgbClr val="191A19"/>
                </a:solidFill>
                <a:effectLst/>
                <a:latin typeface="Roboto" panose="02000000000000000000" pitchFamily="2" charset="0"/>
              </a:rPr>
              <a:t>Operational Criteria</a:t>
            </a:r>
          </a:p>
          <a:p>
            <a:pPr marL="742950" lvl="1" indent="-285750" algn="l">
              <a:buFont typeface="+mj-lt"/>
              <a:buAutoNum type="arabicPeriod"/>
            </a:pPr>
            <a:r>
              <a:rPr lang="en-US" sz="1400" b="0" i="0" dirty="0">
                <a:solidFill>
                  <a:srgbClr val="191A19"/>
                </a:solidFill>
                <a:effectLst/>
                <a:latin typeface="Roboto" panose="02000000000000000000" pitchFamily="2" charset="0"/>
              </a:rPr>
              <a:t>Resource availability</a:t>
            </a:r>
          </a:p>
          <a:p>
            <a:pPr marL="742950" lvl="1" indent="-285750" algn="l">
              <a:buFont typeface="+mj-lt"/>
              <a:buAutoNum type="arabicPeriod"/>
            </a:pPr>
            <a:r>
              <a:rPr lang="en-US" sz="1400" b="0" i="0" dirty="0">
                <a:solidFill>
                  <a:srgbClr val="191A19"/>
                </a:solidFill>
                <a:effectLst/>
                <a:latin typeface="Roboto" panose="02000000000000000000" pitchFamily="2" charset="0"/>
              </a:rPr>
              <a:t>Technical feasibility</a:t>
            </a:r>
          </a:p>
          <a:p>
            <a:pPr marL="742950" lvl="1" indent="-285750" algn="l">
              <a:buFont typeface="+mj-lt"/>
              <a:buAutoNum type="arabicPeriod"/>
            </a:pPr>
            <a:r>
              <a:rPr lang="en-US" sz="1400" b="0" i="0" dirty="0">
                <a:solidFill>
                  <a:srgbClr val="191A19"/>
                </a:solidFill>
                <a:effectLst/>
                <a:latin typeface="Roboto" panose="02000000000000000000" pitchFamily="2" charset="0"/>
              </a:rPr>
              <a:t>Implementation complexity</a:t>
            </a:r>
          </a:p>
          <a:p>
            <a:pPr marL="742950" lvl="1" indent="-285750" algn="l">
              <a:buFont typeface="+mj-lt"/>
              <a:buAutoNum type="arabicPeriod"/>
            </a:pPr>
            <a:r>
              <a:rPr lang="en-US" sz="1400" b="0" i="0" u="sng" dirty="0">
                <a:solidFill>
                  <a:srgbClr val="0B588F"/>
                </a:solidFill>
                <a:effectLst/>
                <a:latin typeface="Roboto" panose="02000000000000000000" pitchFamily="2" charset="0"/>
                <a:hlinkClick r:id="rId4"/>
              </a:rPr>
              <a:t>Risk assessment</a:t>
            </a:r>
            <a:endParaRPr lang="en-US" sz="1400" b="0" i="0" dirty="0">
              <a:solidFill>
                <a:srgbClr val="191A19"/>
              </a:solidFill>
              <a:effectLst/>
              <a:latin typeface="Roboto" panose="02000000000000000000" pitchFamily="2" charset="0"/>
            </a:endParaRPr>
          </a:p>
          <a:p>
            <a:pPr algn="l">
              <a:buFont typeface="+mj-lt"/>
              <a:buAutoNum type="arabicPeriod"/>
            </a:pPr>
            <a:r>
              <a:rPr lang="en-US" sz="2000" b="0" i="0" dirty="0">
                <a:solidFill>
                  <a:srgbClr val="191A19"/>
                </a:solidFill>
                <a:effectLst/>
                <a:latin typeface="Roboto" panose="02000000000000000000" pitchFamily="2" charset="0"/>
              </a:rPr>
              <a:t>Stakeholder Criteria</a:t>
            </a:r>
          </a:p>
          <a:p>
            <a:pPr marL="742950" lvl="1" indent="-285750" algn="l">
              <a:buFont typeface="+mj-lt"/>
              <a:buAutoNum type="arabicPeriod"/>
            </a:pPr>
            <a:r>
              <a:rPr lang="en-US" sz="1400" b="0" i="0" dirty="0">
                <a:solidFill>
                  <a:srgbClr val="191A19"/>
                </a:solidFill>
                <a:effectLst/>
                <a:latin typeface="Roboto" panose="02000000000000000000" pitchFamily="2" charset="0"/>
              </a:rPr>
              <a:t>Customer impact</a:t>
            </a:r>
          </a:p>
          <a:p>
            <a:pPr marL="742950" lvl="1" indent="-285750" algn="l">
              <a:buFont typeface="+mj-lt"/>
              <a:buAutoNum type="arabicPeriod"/>
            </a:pPr>
            <a:r>
              <a:rPr lang="en-US" sz="1400" b="0" i="0" dirty="0">
                <a:solidFill>
                  <a:srgbClr val="191A19"/>
                </a:solidFill>
                <a:effectLst/>
                <a:latin typeface="Roboto" panose="02000000000000000000" pitchFamily="2" charset="0"/>
              </a:rPr>
              <a:t>Employee engagement</a:t>
            </a:r>
          </a:p>
          <a:p>
            <a:pPr marL="742950" lvl="1" indent="-285750" algn="l">
              <a:buFont typeface="+mj-lt"/>
              <a:buAutoNum type="arabicPeriod"/>
            </a:pPr>
            <a:r>
              <a:rPr lang="en-US" sz="1400" b="0" i="0" dirty="0">
                <a:solidFill>
                  <a:srgbClr val="191A19"/>
                </a:solidFill>
                <a:effectLst/>
                <a:latin typeface="Roboto" panose="02000000000000000000" pitchFamily="2" charset="0"/>
              </a:rPr>
              <a:t>Regulatory compliance</a:t>
            </a:r>
          </a:p>
          <a:p>
            <a:pPr marL="742950" lvl="1" indent="-285750" algn="l">
              <a:buFont typeface="+mj-lt"/>
              <a:buAutoNum type="arabicPeriod"/>
            </a:pPr>
            <a:r>
              <a:rPr lang="en-US" sz="1400" b="0" i="0" dirty="0">
                <a:solidFill>
                  <a:srgbClr val="191A19"/>
                </a:solidFill>
                <a:effectLst/>
                <a:latin typeface="Roboto" panose="02000000000000000000" pitchFamily="2" charset="0"/>
              </a:rPr>
              <a:t>Social responsibility</a:t>
            </a:r>
          </a:p>
          <a:p>
            <a:endParaRPr lang="en-US" sz="2000" dirty="0"/>
          </a:p>
        </p:txBody>
      </p:sp>
      <p:pic>
        <p:nvPicPr>
          <p:cNvPr id="4" name="Picture 3">
            <a:extLst>
              <a:ext uri="{FF2B5EF4-FFF2-40B4-BE49-F238E27FC236}">
                <a16:creationId xmlns:a16="http://schemas.microsoft.com/office/drawing/2014/main" id="{636DC5F9-5798-69CD-8360-366E2713F17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99070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317CE-7F2C-4CA7-AC47-6ACBFD1E4B05}"/>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1E0ECC4-E150-44AF-9C49-340C50AD4B9C}"/>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4372133E-6ADE-481C-8028-B5E52A32E5B3}"/>
              </a:ext>
            </a:extLst>
          </p:cNvPr>
          <p:cNvPicPr>
            <a:picLocks noChangeAspect="1"/>
          </p:cNvPicPr>
          <p:nvPr/>
        </p:nvPicPr>
        <p:blipFill>
          <a:blip r:embed="rId3"/>
          <a:stretch>
            <a:fillRect/>
          </a:stretch>
        </p:blipFill>
        <p:spPr>
          <a:xfrm>
            <a:off x="1404936" y="1524000"/>
            <a:ext cx="9382125" cy="5219700"/>
          </a:xfrm>
          <a:prstGeom prst="rect">
            <a:avLst/>
          </a:prstGeom>
        </p:spPr>
      </p:pic>
      <p:pic>
        <p:nvPicPr>
          <p:cNvPr id="4" name="Picture 3">
            <a:extLst>
              <a:ext uri="{FF2B5EF4-FFF2-40B4-BE49-F238E27FC236}">
                <a16:creationId xmlns:a16="http://schemas.microsoft.com/office/drawing/2014/main" id="{13B482D5-25A1-6B43-3878-1A9B3F28731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144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b="1" u="sng" spc="110" dirty="0">
                <a:solidFill>
                  <a:srgbClr val="FF0000"/>
                </a:solidFill>
              </a:rPr>
              <a:t>Assignment</a:t>
            </a:r>
            <a:r>
              <a:rPr b="1" u="sng" spc="140" dirty="0">
                <a:solidFill>
                  <a:srgbClr val="FF0000"/>
                </a:solidFill>
              </a:rPr>
              <a:t> </a:t>
            </a:r>
            <a:r>
              <a:rPr b="1" u="sng" spc="-50" dirty="0">
                <a:solidFill>
                  <a:srgbClr val="FF0000"/>
                </a:solidFill>
              </a:rPr>
              <a:t>1</a:t>
            </a:r>
          </a:p>
        </p:txBody>
      </p:sp>
      <p:sp>
        <p:nvSpPr>
          <p:cNvPr id="4" name="object 4"/>
          <p:cNvSpPr txBox="1">
            <a:spLocks noGrp="1"/>
          </p:cNvSpPr>
          <p:nvPr>
            <p:ph type="sldNum" sz="quarter" idx="7"/>
          </p:nvPr>
        </p:nvSpPr>
        <p:spPr>
          <a:prstGeom prst="rect">
            <a:avLst/>
          </a:prstGeom>
        </p:spPr>
        <p:txBody>
          <a:bodyPr vert="horz" wrap="square" lIns="0" tIns="5080" rIns="0" bIns="0" rtlCol="0">
            <a:spAutoFit/>
          </a:bodyPr>
          <a:lstStyle/>
          <a:p>
            <a:pPr marL="38100">
              <a:lnSpc>
                <a:spcPct val="100000"/>
              </a:lnSpc>
              <a:spcBef>
                <a:spcPts val="40"/>
              </a:spcBef>
            </a:pPr>
            <a:fld id="{81D60167-4931-47E6-BA6A-407CBD079E47}" type="slidenum">
              <a:rPr spc="-25" dirty="0"/>
              <a:t>36</a:t>
            </a:fld>
            <a:endParaRPr spc="-25" dirty="0"/>
          </a:p>
        </p:txBody>
      </p:sp>
      <p:sp>
        <p:nvSpPr>
          <p:cNvPr id="3" name="object 3"/>
          <p:cNvSpPr txBox="1">
            <a:spLocks noGrp="1"/>
          </p:cNvSpPr>
          <p:nvPr>
            <p:ph type="body" idx="1"/>
          </p:nvPr>
        </p:nvSpPr>
        <p:spPr>
          <a:prstGeom prst="rect">
            <a:avLst/>
          </a:prstGeom>
        </p:spPr>
        <p:txBody>
          <a:bodyPr vert="horz" wrap="square" lIns="0" tIns="63500" rIns="0" bIns="0" rtlCol="0">
            <a:spAutoFit/>
          </a:bodyPr>
          <a:lstStyle/>
          <a:p>
            <a:pPr marL="330200" marR="5080" indent="-317500" algn="just">
              <a:lnSpc>
                <a:spcPts val="3000"/>
              </a:lnSpc>
              <a:spcBef>
                <a:spcPts val="500"/>
              </a:spcBef>
              <a:buAutoNum type="arabicPeriod"/>
              <a:tabLst>
                <a:tab pos="330200" algn="l"/>
              </a:tabLst>
            </a:pPr>
            <a:r>
              <a:rPr dirty="0"/>
              <a:t>Define</a:t>
            </a:r>
            <a:r>
              <a:rPr spc="405" dirty="0"/>
              <a:t> </a:t>
            </a:r>
            <a:r>
              <a:rPr dirty="0"/>
              <a:t>a</a:t>
            </a:r>
            <a:r>
              <a:rPr spc="409" dirty="0"/>
              <a:t> </a:t>
            </a:r>
            <a:r>
              <a:rPr dirty="0"/>
              <a:t>project.</a:t>
            </a:r>
            <a:r>
              <a:rPr spc="420" dirty="0"/>
              <a:t> </a:t>
            </a:r>
            <a:r>
              <a:rPr dirty="0"/>
              <a:t>What</a:t>
            </a:r>
            <a:r>
              <a:rPr spc="415" dirty="0"/>
              <a:t> </a:t>
            </a:r>
            <a:r>
              <a:rPr dirty="0"/>
              <a:t>are</a:t>
            </a:r>
            <a:r>
              <a:rPr spc="409" dirty="0"/>
              <a:t> </a:t>
            </a:r>
            <a:r>
              <a:rPr dirty="0"/>
              <a:t>5</a:t>
            </a:r>
            <a:r>
              <a:rPr spc="425" dirty="0"/>
              <a:t> </a:t>
            </a:r>
            <a:r>
              <a:rPr dirty="0"/>
              <a:t>characteristics</a:t>
            </a:r>
            <a:r>
              <a:rPr spc="420" dirty="0"/>
              <a:t> </a:t>
            </a:r>
            <a:r>
              <a:rPr dirty="0"/>
              <a:t>that</a:t>
            </a:r>
            <a:r>
              <a:rPr spc="415" dirty="0"/>
              <a:t> </a:t>
            </a:r>
            <a:r>
              <a:rPr dirty="0"/>
              <a:t>help</a:t>
            </a:r>
            <a:r>
              <a:rPr spc="415" dirty="0"/>
              <a:t> </a:t>
            </a:r>
            <a:r>
              <a:rPr spc="-10" dirty="0"/>
              <a:t>differentiate </a:t>
            </a:r>
            <a:r>
              <a:rPr dirty="0"/>
              <a:t>projects</a:t>
            </a:r>
            <a:r>
              <a:rPr spc="275" dirty="0"/>
              <a:t> </a:t>
            </a:r>
            <a:r>
              <a:rPr dirty="0"/>
              <a:t>from</a:t>
            </a:r>
            <a:r>
              <a:rPr spc="270" dirty="0"/>
              <a:t> </a:t>
            </a:r>
            <a:r>
              <a:rPr dirty="0"/>
              <a:t>other</a:t>
            </a:r>
            <a:r>
              <a:rPr spc="275" dirty="0"/>
              <a:t> </a:t>
            </a:r>
            <a:r>
              <a:rPr dirty="0"/>
              <a:t>functions</a:t>
            </a:r>
            <a:r>
              <a:rPr spc="280" dirty="0"/>
              <a:t> </a:t>
            </a:r>
            <a:r>
              <a:rPr dirty="0"/>
              <a:t>carried</a:t>
            </a:r>
            <a:r>
              <a:rPr spc="275" dirty="0"/>
              <a:t> </a:t>
            </a:r>
            <a:r>
              <a:rPr dirty="0"/>
              <a:t>out</a:t>
            </a:r>
            <a:r>
              <a:rPr spc="275" dirty="0"/>
              <a:t> </a:t>
            </a:r>
            <a:r>
              <a:rPr dirty="0"/>
              <a:t>in</a:t>
            </a:r>
            <a:r>
              <a:rPr spc="275" dirty="0"/>
              <a:t> </a:t>
            </a:r>
            <a:r>
              <a:rPr dirty="0"/>
              <a:t>the</a:t>
            </a:r>
            <a:r>
              <a:rPr spc="275" dirty="0"/>
              <a:t> </a:t>
            </a:r>
            <a:r>
              <a:rPr dirty="0"/>
              <a:t>daily</a:t>
            </a:r>
            <a:r>
              <a:rPr spc="265" dirty="0"/>
              <a:t> </a:t>
            </a:r>
            <a:r>
              <a:rPr dirty="0"/>
              <a:t>operations</a:t>
            </a:r>
            <a:r>
              <a:rPr spc="280" dirty="0"/>
              <a:t> </a:t>
            </a:r>
            <a:r>
              <a:rPr spc="-25" dirty="0"/>
              <a:t>of </a:t>
            </a:r>
            <a:r>
              <a:rPr dirty="0"/>
              <a:t>the</a:t>
            </a:r>
            <a:r>
              <a:rPr spc="-30" dirty="0"/>
              <a:t> </a:t>
            </a:r>
            <a:r>
              <a:rPr spc="-10" dirty="0"/>
              <a:t>organization?</a:t>
            </a:r>
          </a:p>
          <a:p>
            <a:pPr marL="330200" marR="5715" indent="-317500" algn="just">
              <a:lnSpc>
                <a:spcPts val="3000"/>
              </a:lnSpc>
              <a:spcBef>
                <a:spcPts val="1100"/>
              </a:spcBef>
              <a:buAutoNum type="arabicPeriod"/>
              <a:tabLst>
                <a:tab pos="330200" algn="l"/>
              </a:tabLst>
            </a:pPr>
            <a:r>
              <a:rPr dirty="0"/>
              <a:t>The</a:t>
            </a:r>
            <a:r>
              <a:rPr spc="305" dirty="0"/>
              <a:t> </a:t>
            </a:r>
            <a:r>
              <a:rPr dirty="0"/>
              <a:t>technical</a:t>
            </a:r>
            <a:r>
              <a:rPr spc="305" dirty="0"/>
              <a:t> </a:t>
            </a:r>
            <a:r>
              <a:rPr dirty="0"/>
              <a:t>and</a:t>
            </a:r>
            <a:r>
              <a:rPr spc="320" dirty="0"/>
              <a:t> </a:t>
            </a:r>
            <a:r>
              <a:rPr dirty="0"/>
              <a:t>sociocultural</a:t>
            </a:r>
            <a:r>
              <a:rPr spc="310" dirty="0"/>
              <a:t> </a:t>
            </a:r>
            <a:r>
              <a:rPr dirty="0"/>
              <a:t>dimensions</a:t>
            </a:r>
            <a:r>
              <a:rPr spc="320" dirty="0"/>
              <a:t> </a:t>
            </a:r>
            <a:r>
              <a:rPr dirty="0"/>
              <a:t>of</a:t>
            </a:r>
            <a:r>
              <a:rPr spc="310" dirty="0"/>
              <a:t> </a:t>
            </a:r>
            <a:r>
              <a:rPr dirty="0"/>
              <a:t>project</a:t>
            </a:r>
            <a:r>
              <a:rPr spc="315" dirty="0"/>
              <a:t> </a:t>
            </a:r>
            <a:r>
              <a:rPr spc="-10" dirty="0"/>
              <a:t>management </a:t>
            </a:r>
            <a:r>
              <a:rPr dirty="0"/>
              <a:t>are</a:t>
            </a:r>
            <a:r>
              <a:rPr spc="-50" dirty="0"/>
              <a:t> </a:t>
            </a:r>
            <a:r>
              <a:rPr dirty="0"/>
              <a:t>two</a:t>
            </a:r>
            <a:r>
              <a:rPr spc="-40" dirty="0"/>
              <a:t> </a:t>
            </a:r>
            <a:r>
              <a:rPr dirty="0"/>
              <a:t>sides</a:t>
            </a:r>
            <a:r>
              <a:rPr spc="-35" dirty="0"/>
              <a:t> </a:t>
            </a:r>
            <a:r>
              <a:rPr dirty="0"/>
              <a:t>to</a:t>
            </a:r>
            <a:r>
              <a:rPr spc="-40" dirty="0"/>
              <a:t> </a:t>
            </a:r>
            <a:r>
              <a:rPr dirty="0"/>
              <a:t>the</a:t>
            </a:r>
            <a:r>
              <a:rPr spc="-40" dirty="0"/>
              <a:t> </a:t>
            </a:r>
            <a:r>
              <a:rPr dirty="0"/>
              <a:t>same</a:t>
            </a:r>
            <a:r>
              <a:rPr spc="-45" dirty="0"/>
              <a:t> </a:t>
            </a:r>
            <a:r>
              <a:rPr dirty="0"/>
              <a:t>coin.</a:t>
            </a:r>
            <a:r>
              <a:rPr spc="-35" dirty="0"/>
              <a:t> </a:t>
            </a:r>
            <a:r>
              <a:rPr spc="-10" dirty="0"/>
              <a:t>Explain.</a:t>
            </a:r>
          </a:p>
          <a:p>
            <a:pPr marL="330200" marR="5715" indent="-317500" algn="just">
              <a:lnSpc>
                <a:spcPts val="3000"/>
              </a:lnSpc>
              <a:spcBef>
                <a:spcPts val="985"/>
              </a:spcBef>
              <a:buAutoNum type="arabicPeriod"/>
              <a:tabLst>
                <a:tab pos="330200" algn="l"/>
              </a:tabLst>
            </a:pPr>
            <a:r>
              <a:rPr dirty="0"/>
              <a:t>Describe</a:t>
            </a:r>
            <a:r>
              <a:rPr spc="285" dirty="0"/>
              <a:t>  </a:t>
            </a:r>
            <a:r>
              <a:rPr dirty="0"/>
              <a:t>the</a:t>
            </a:r>
            <a:r>
              <a:rPr spc="285" dirty="0"/>
              <a:t>  </a:t>
            </a:r>
            <a:r>
              <a:rPr dirty="0"/>
              <a:t>major</a:t>
            </a:r>
            <a:r>
              <a:rPr spc="285" dirty="0"/>
              <a:t>  </a:t>
            </a:r>
            <a:r>
              <a:rPr dirty="0"/>
              <a:t>components</a:t>
            </a:r>
            <a:r>
              <a:rPr spc="295" dirty="0"/>
              <a:t>  </a:t>
            </a:r>
            <a:r>
              <a:rPr dirty="0"/>
              <a:t>of</a:t>
            </a:r>
            <a:r>
              <a:rPr spc="285" dirty="0"/>
              <a:t>  </a:t>
            </a:r>
            <a:r>
              <a:rPr dirty="0"/>
              <a:t>the</a:t>
            </a:r>
            <a:r>
              <a:rPr spc="285" dirty="0"/>
              <a:t>  </a:t>
            </a:r>
            <a:r>
              <a:rPr dirty="0"/>
              <a:t>strategic</a:t>
            </a:r>
            <a:r>
              <a:rPr spc="290" dirty="0"/>
              <a:t>  </a:t>
            </a:r>
            <a:r>
              <a:rPr spc="-10" dirty="0"/>
              <a:t>management process</a:t>
            </a:r>
          </a:p>
          <a:p>
            <a:pPr marL="330200" marR="9525" indent="-317500" algn="just">
              <a:lnSpc>
                <a:spcPts val="3000"/>
              </a:lnSpc>
              <a:spcBef>
                <a:spcPts val="1105"/>
              </a:spcBef>
              <a:buAutoNum type="arabicPeriod"/>
              <a:tabLst>
                <a:tab pos="330200" algn="l"/>
              </a:tabLst>
            </a:pPr>
            <a:r>
              <a:rPr dirty="0"/>
              <a:t>Why</a:t>
            </a:r>
            <a:r>
              <a:rPr spc="620" dirty="0"/>
              <a:t> </a:t>
            </a:r>
            <a:r>
              <a:rPr dirty="0"/>
              <a:t>should</a:t>
            </a:r>
            <a:r>
              <a:rPr spc="630" dirty="0"/>
              <a:t> </a:t>
            </a:r>
            <a:r>
              <a:rPr dirty="0"/>
              <a:t>an</a:t>
            </a:r>
            <a:r>
              <a:rPr spc="630" dirty="0"/>
              <a:t> </a:t>
            </a:r>
            <a:r>
              <a:rPr dirty="0"/>
              <a:t>organization</a:t>
            </a:r>
            <a:r>
              <a:rPr spc="630" dirty="0"/>
              <a:t> </a:t>
            </a:r>
            <a:r>
              <a:rPr dirty="0"/>
              <a:t>not</a:t>
            </a:r>
            <a:r>
              <a:rPr spc="625" dirty="0"/>
              <a:t> </a:t>
            </a:r>
            <a:r>
              <a:rPr dirty="0"/>
              <a:t>rely</a:t>
            </a:r>
            <a:r>
              <a:rPr spc="620" dirty="0"/>
              <a:t> </a:t>
            </a:r>
            <a:r>
              <a:rPr dirty="0"/>
              <a:t>only</a:t>
            </a:r>
            <a:r>
              <a:rPr spc="620" dirty="0"/>
              <a:t> </a:t>
            </a:r>
            <a:r>
              <a:rPr dirty="0"/>
              <a:t>on</a:t>
            </a:r>
            <a:r>
              <a:rPr spc="630" dirty="0"/>
              <a:t> </a:t>
            </a:r>
            <a:r>
              <a:rPr dirty="0"/>
              <a:t>financial</a:t>
            </a:r>
            <a:r>
              <a:rPr spc="625" dirty="0"/>
              <a:t> </a:t>
            </a:r>
            <a:r>
              <a:rPr dirty="0"/>
              <a:t>criteria</a:t>
            </a:r>
            <a:r>
              <a:rPr spc="620" dirty="0"/>
              <a:t> </a:t>
            </a:r>
            <a:r>
              <a:rPr spc="-25" dirty="0"/>
              <a:t>to </a:t>
            </a:r>
            <a:r>
              <a:rPr dirty="0"/>
              <a:t>select</a:t>
            </a:r>
            <a:r>
              <a:rPr spc="-25" dirty="0"/>
              <a:t> </a:t>
            </a:r>
            <a:r>
              <a:rPr spc="-10" dirty="0"/>
              <a:t>projects?</a:t>
            </a:r>
          </a:p>
          <a:p>
            <a:pPr marL="330200" marR="5080" indent="-317500" algn="just">
              <a:lnSpc>
                <a:spcPts val="3000"/>
              </a:lnSpc>
              <a:spcBef>
                <a:spcPts val="1010"/>
              </a:spcBef>
              <a:buAutoNum type="arabicPeriod"/>
              <a:tabLst>
                <a:tab pos="330200" algn="l"/>
              </a:tabLst>
            </a:pPr>
            <a:r>
              <a:rPr dirty="0"/>
              <a:t>Discuss</a:t>
            </a:r>
            <a:r>
              <a:rPr spc="35" dirty="0"/>
              <a:t> </a:t>
            </a:r>
            <a:r>
              <a:rPr dirty="0"/>
              <a:t>the</a:t>
            </a:r>
            <a:r>
              <a:rPr spc="30" dirty="0"/>
              <a:t> </a:t>
            </a:r>
            <a:r>
              <a:rPr dirty="0"/>
              <a:t>pros</a:t>
            </a:r>
            <a:r>
              <a:rPr spc="40" dirty="0"/>
              <a:t> </a:t>
            </a:r>
            <a:r>
              <a:rPr dirty="0"/>
              <a:t>and</a:t>
            </a:r>
            <a:r>
              <a:rPr spc="40" dirty="0"/>
              <a:t> </a:t>
            </a:r>
            <a:r>
              <a:rPr dirty="0"/>
              <a:t>cons</a:t>
            </a:r>
            <a:r>
              <a:rPr spc="40" dirty="0"/>
              <a:t> </a:t>
            </a:r>
            <a:r>
              <a:rPr dirty="0"/>
              <a:t>of</a:t>
            </a:r>
            <a:r>
              <a:rPr spc="30" dirty="0"/>
              <a:t> </a:t>
            </a:r>
            <a:r>
              <a:rPr dirty="0"/>
              <a:t>the</a:t>
            </a:r>
            <a:r>
              <a:rPr spc="30" dirty="0"/>
              <a:t> </a:t>
            </a:r>
            <a:r>
              <a:rPr dirty="0"/>
              <a:t>checklist</a:t>
            </a:r>
            <a:r>
              <a:rPr spc="30" dirty="0"/>
              <a:t> </a:t>
            </a:r>
            <a:r>
              <a:rPr dirty="0"/>
              <a:t>versus</a:t>
            </a:r>
            <a:r>
              <a:rPr spc="40" dirty="0"/>
              <a:t> </a:t>
            </a:r>
            <a:r>
              <a:rPr dirty="0"/>
              <a:t>the</a:t>
            </a:r>
            <a:r>
              <a:rPr spc="30" dirty="0"/>
              <a:t> </a:t>
            </a:r>
            <a:r>
              <a:rPr dirty="0"/>
              <a:t>weighted</a:t>
            </a:r>
            <a:r>
              <a:rPr spc="40" dirty="0"/>
              <a:t> </a:t>
            </a:r>
            <a:r>
              <a:rPr spc="-10" dirty="0"/>
              <a:t>factor </a:t>
            </a:r>
            <a:r>
              <a:rPr dirty="0"/>
              <a:t>method</a:t>
            </a:r>
            <a:r>
              <a:rPr spc="-40" dirty="0"/>
              <a:t> </a:t>
            </a:r>
            <a:r>
              <a:rPr dirty="0"/>
              <a:t>of</a:t>
            </a:r>
            <a:r>
              <a:rPr spc="-45" dirty="0"/>
              <a:t> </a:t>
            </a:r>
            <a:r>
              <a:rPr dirty="0"/>
              <a:t>selecting</a:t>
            </a:r>
            <a:r>
              <a:rPr spc="-50" dirty="0"/>
              <a:t> </a:t>
            </a:r>
            <a:r>
              <a:rPr spc="-10" dirty="0"/>
              <a:t>projects.</a:t>
            </a:r>
          </a:p>
        </p:txBody>
      </p:sp>
      <p:pic>
        <p:nvPicPr>
          <p:cNvPr id="5" name="Picture 4">
            <a:extLst>
              <a:ext uri="{FF2B5EF4-FFF2-40B4-BE49-F238E27FC236}">
                <a16:creationId xmlns:a16="http://schemas.microsoft.com/office/drawing/2014/main" id="{460E96B6-49A3-17E4-FDB4-70AB640313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60634" y="-9278"/>
            <a:ext cx="2031366" cy="1128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97</TotalTime>
  <Words>6512</Words>
  <Application>Microsoft Office PowerPoint</Application>
  <PresentationFormat>Widescreen</PresentationFormat>
  <Paragraphs>434</Paragraphs>
  <Slides>36</Slides>
  <Notes>15</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36</vt:i4>
      </vt:variant>
    </vt:vector>
  </HeadingPairs>
  <TitlesOfParts>
    <vt:vector size="53" baseType="lpstr">
      <vt:lpstr>Arial</vt:lpstr>
      <vt:lpstr>Arial MT</vt:lpstr>
      <vt:lpstr>Calibri</vt:lpstr>
      <vt:lpstr>Calibri Light</vt:lpstr>
      <vt:lpstr>Calibri2</vt:lpstr>
      <vt:lpstr>Courier New</vt:lpstr>
      <vt:lpstr>Georgia</vt:lpstr>
      <vt:lpstr>inherit</vt:lpstr>
      <vt:lpstr>Nunito</vt:lpstr>
      <vt:lpstr>Open Sans</vt:lpstr>
      <vt:lpstr>Oswald</vt:lpstr>
      <vt:lpstr>Raleway</vt:lpstr>
      <vt:lpstr>Roboto</vt:lpstr>
      <vt:lpstr>Satoshi</vt:lpstr>
      <vt:lpstr>Sharp Sans No1 Book</vt:lpstr>
      <vt:lpstr>Times New Roman</vt:lpstr>
      <vt:lpstr>Office Theme</vt:lpstr>
      <vt:lpstr>Organization: Strategy and Project Selection</vt:lpstr>
      <vt:lpstr>Definitions</vt:lpstr>
      <vt:lpstr>Project Management Office</vt:lpstr>
      <vt:lpstr>Types of PMO(Project Management Office) </vt:lpstr>
      <vt:lpstr>Applications of a PMO </vt:lpstr>
      <vt:lpstr>Stratgey</vt:lpstr>
      <vt:lpstr>Strategic Options (1/3)</vt:lpstr>
      <vt:lpstr>Strategic Options (3/3)</vt:lpstr>
      <vt:lpstr>PowerPoint Presentation</vt:lpstr>
      <vt:lpstr>Blue Ocean Strategy</vt:lpstr>
      <vt:lpstr>Strategic Management Process</vt:lpstr>
      <vt:lpstr>PowerPoint Presentation</vt:lpstr>
      <vt:lpstr>PowerPoint Presentation</vt:lpstr>
      <vt:lpstr>Strategic Management Process</vt:lpstr>
      <vt:lpstr>Characteristics of Objectives: SMART</vt:lpstr>
      <vt:lpstr>Mission</vt:lpstr>
      <vt:lpstr>Examples</vt:lpstr>
      <vt:lpstr>1- Review and define the organizational mission</vt:lpstr>
      <vt:lpstr>2- Analyze and formulate strategies</vt:lpstr>
      <vt:lpstr>SWOT Analysis</vt:lpstr>
      <vt:lpstr>PowerPoint Presentation</vt:lpstr>
      <vt:lpstr>3- Set objectives to achieve strategy</vt:lpstr>
      <vt:lpstr>4- Implement strategies through projects</vt:lpstr>
      <vt:lpstr>PowerPoint Presentation</vt:lpstr>
      <vt:lpstr>Why the Need for a Project Priority System ?</vt:lpstr>
      <vt:lpstr>Classification of the Project</vt:lpstr>
      <vt:lpstr>Project Selection Criteria (1/6)</vt:lpstr>
      <vt:lpstr>PowerPoint Presentation</vt:lpstr>
      <vt:lpstr>Project Selection Criteria (2/6)</vt:lpstr>
      <vt:lpstr>Project Selection Criteria (3/6)</vt:lpstr>
      <vt:lpstr>Project Selection Criteria (4/6)</vt:lpstr>
      <vt:lpstr>Project Selection Criteria (6/6)</vt:lpstr>
      <vt:lpstr>Types of Project Selection Criteria </vt:lpstr>
      <vt:lpstr>Types of Project Selection Criteria </vt:lpstr>
      <vt:lpstr>PowerPoint Presentation</vt:lpstr>
      <vt:lpstr>Assignment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 Strategy and Project Selection</dc:title>
  <dc:creator>BASHA</dc:creator>
  <cp:lastModifiedBy>Zahraa.Ismail</cp:lastModifiedBy>
  <cp:revision>38</cp:revision>
  <dcterms:created xsi:type="dcterms:W3CDTF">2025-07-31T07:38:42Z</dcterms:created>
  <dcterms:modified xsi:type="dcterms:W3CDTF">2025-10-05T07:47:56Z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2024-02-19T00:00:00Z</vt:filetime>
  </property>
  <property fmtid="{D5CDD505-2E9C-101B-9397-08002B2CF9AE}" pid="3" name="LastSaved">
    <vt:filetime>2025-07-31T00:00:00Z</vt:filetime>
  </property>
  <property fmtid="{D5CDD505-2E9C-101B-9397-08002B2CF9AE}" pid="4" name="Producer">
    <vt:lpwstr>macOS Version 12.2.1 (Build 21D62) Quartz PDFContext</vt:lpwstr>
  </property>
</Properties>
</file>