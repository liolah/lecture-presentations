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5"/>
  </p:notesMasterIdLst>
  <p:sldIdLst>
    <p:sldId id="256" r:id="rId2"/>
    <p:sldId id="318" r:id="rId3"/>
    <p:sldId id="320" r:id="rId4"/>
    <p:sldId id="321" r:id="rId5"/>
    <p:sldId id="344" r:id="rId6"/>
    <p:sldId id="345" r:id="rId7"/>
    <p:sldId id="346" r:id="rId8"/>
    <p:sldId id="350" r:id="rId9"/>
    <p:sldId id="337" r:id="rId10"/>
    <p:sldId id="323" r:id="rId11"/>
    <p:sldId id="324" r:id="rId12"/>
    <p:sldId id="336" r:id="rId13"/>
    <p:sldId id="338" r:id="rId14"/>
    <p:sldId id="339" r:id="rId15"/>
    <p:sldId id="340" r:id="rId16"/>
    <p:sldId id="341" r:id="rId17"/>
    <p:sldId id="342" r:id="rId18"/>
    <p:sldId id="343" r:id="rId19"/>
    <p:sldId id="326" r:id="rId20"/>
    <p:sldId id="328" r:id="rId21"/>
    <p:sldId id="329" r:id="rId22"/>
    <p:sldId id="331" r:id="rId23"/>
    <p:sldId id="332" r:id="rId24"/>
    <p:sldId id="334" r:id="rId25"/>
    <p:sldId id="335" r:id="rId26"/>
    <p:sldId id="257" r:id="rId27"/>
    <p:sldId id="292" r:id="rId28"/>
    <p:sldId id="313" r:id="rId29"/>
    <p:sldId id="293" r:id="rId30"/>
    <p:sldId id="258" r:id="rId31"/>
    <p:sldId id="309" r:id="rId32"/>
    <p:sldId id="259" r:id="rId33"/>
    <p:sldId id="260" r:id="rId34"/>
    <p:sldId id="261" r:id="rId35"/>
    <p:sldId id="262" r:id="rId36"/>
    <p:sldId id="263" r:id="rId37"/>
    <p:sldId id="310" r:id="rId38"/>
    <p:sldId id="264" r:id="rId39"/>
    <p:sldId id="265" r:id="rId40"/>
    <p:sldId id="266" r:id="rId41"/>
    <p:sldId id="267" r:id="rId42"/>
    <p:sldId id="268" r:id="rId43"/>
    <p:sldId id="311" r:id="rId44"/>
    <p:sldId id="269" r:id="rId45"/>
    <p:sldId id="270" r:id="rId46"/>
    <p:sldId id="271" r:id="rId47"/>
    <p:sldId id="272" r:id="rId48"/>
    <p:sldId id="273" r:id="rId49"/>
    <p:sldId id="274" r:id="rId50"/>
    <p:sldId id="348" r:id="rId51"/>
    <p:sldId id="314" r:id="rId52"/>
    <p:sldId id="347" r:id="rId53"/>
    <p:sldId id="315" r:id="rId54"/>
    <p:sldId id="316" r:id="rId55"/>
    <p:sldId id="305" r:id="rId56"/>
    <p:sldId id="275" r:id="rId57"/>
    <p:sldId id="276" r:id="rId58"/>
    <p:sldId id="277" r:id="rId59"/>
    <p:sldId id="278" r:id="rId60"/>
    <p:sldId id="349" r:id="rId61"/>
    <p:sldId id="279" r:id="rId62"/>
    <p:sldId id="280" r:id="rId63"/>
    <p:sldId id="281" r:id="rId64"/>
    <p:sldId id="282" r:id="rId65"/>
    <p:sldId id="283" r:id="rId66"/>
    <p:sldId id="284" r:id="rId67"/>
    <p:sldId id="285" r:id="rId68"/>
    <p:sldId id="286" r:id="rId69"/>
    <p:sldId id="287" r:id="rId70"/>
    <p:sldId id="288" r:id="rId71"/>
    <p:sldId id="289" r:id="rId72"/>
    <p:sldId id="290" r:id="rId73"/>
    <p:sldId id="291" r:id="rId7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736" autoAdjust="0"/>
  </p:normalViewPr>
  <p:slideViewPr>
    <p:cSldViewPr>
      <p:cViewPr varScale="1">
        <p:scale>
          <a:sx n="62" d="100"/>
          <a:sy n="62" d="100"/>
        </p:scale>
        <p:origin x="1626"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98A45565-C95F-4AC5-8EAE-C50AD58C1C68}" type="datetimeFigureOut">
              <a:rPr lang="en-US" smtClean="0"/>
              <a:t>10/14/2025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D07DE76-E770-4DA3-A16C-337AAD1E63D6}" type="slidenum">
              <a:rPr lang="en-US" smtClean="0"/>
              <a:t>‹#›</a:t>
            </a:fld>
            <a:endParaRPr lang="en-US"/>
          </a:p>
        </p:txBody>
      </p:sp>
    </p:spTree>
    <p:extLst>
      <p:ext uri="{BB962C8B-B14F-4D97-AF65-F5344CB8AC3E}">
        <p14:creationId xmlns:p14="http://schemas.microsoft.com/office/powerpoint/2010/main" val="3204741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railscarma.com/product-development-services/"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greycampus.com/opencampus/project-management-professional/project-manager-role-and-sphere-of-influence"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greycampus.com/blog/project-management/5-trends-that-are-shaping-project-management-plans-in-2021"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2</a:t>
            </a:fld>
            <a:endParaRPr lang="en-US"/>
          </a:p>
        </p:txBody>
      </p:sp>
    </p:spTree>
    <p:extLst>
      <p:ext uri="{BB962C8B-B14F-4D97-AF65-F5344CB8AC3E}">
        <p14:creationId xmlns:p14="http://schemas.microsoft.com/office/powerpoint/2010/main" val="3184665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Concepts</a:t>
            </a:r>
          </a:p>
          <a:p>
            <a:pPr>
              <a:buFont typeface="+mj-lt"/>
              <a:buAutoNum type="arabicPeriod"/>
            </a:pPr>
            <a:r>
              <a:rPr lang="en-US" b="1" dirty="0"/>
              <a:t>Payback Period</a:t>
            </a:r>
            <a:r>
              <a:rPr lang="en-US" dirty="0"/>
              <a:t>: The time required for cash inflows from an investment to equal the initial investment. It is usually expressed in years.</a:t>
            </a:r>
          </a:p>
          <a:p>
            <a:pPr>
              <a:buFont typeface="+mj-lt"/>
              <a:buAutoNum type="arabicPeriod"/>
            </a:pPr>
            <a:r>
              <a:rPr lang="en-US" b="1" dirty="0"/>
              <a:t>Cumulative Cash Flow</a:t>
            </a:r>
            <a:r>
              <a:rPr lang="en-US" dirty="0"/>
              <a:t>: The running total of cash inflows over time, which helps in determining when the initial investment is recovered.</a:t>
            </a:r>
          </a:p>
          <a:p>
            <a:r>
              <a:rPr lang="en-US" b="1" dirty="0"/>
              <a:t>Payback Period Calculation</a:t>
            </a:r>
          </a:p>
          <a:p>
            <a:r>
              <a:rPr lang="en-US" b="1" dirty="0"/>
              <a:t>Steps</a:t>
            </a:r>
            <a:r>
              <a:rPr lang="en-US" dirty="0"/>
              <a:t>:</a:t>
            </a:r>
          </a:p>
          <a:p>
            <a:pPr>
              <a:buFont typeface="+mj-lt"/>
              <a:buAutoNum type="arabicPeriod"/>
            </a:pPr>
            <a:r>
              <a:rPr lang="en-US" b="1" dirty="0"/>
              <a:t>Identify Initial Investment</a:t>
            </a:r>
            <a:r>
              <a:rPr lang="en-US" dirty="0"/>
              <a:t>: Determine the total upfront cost of the project.</a:t>
            </a:r>
          </a:p>
          <a:p>
            <a:pPr>
              <a:buFont typeface="+mj-lt"/>
              <a:buAutoNum type="arabicPeriod"/>
            </a:pPr>
            <a:r>
              <a:rPr lang="en-US" b="1" dirty="0"/>
              <a:t>Estimate Annual Cash Inflows</a:t>
            </a:r>
            <a:r>
              <a:rPr lang="en-US" dirty="0"/>
              <a:t>: Predict the annual cash inflows expected from the investment.</a:t>
            </a:r>
          </a:p>
          <a:p>
            <a:pPr>
              <a:buFont typeface="+mj-lt"/>
              <a:buAutoNum type="arabicPeriod"/>
            </a:pPr>
            <a:r>
              <a:rPr lang="en-US" b="1" dirty="0"/>
              <a:t>Calculate Cumulative Cash Flow</a:t>
            </a:r>
            <a:r>
              <a:rPr lang="en-US" dirty="0"/>
              <a:t>: Track the cumulative cash flow for each year until it equals or exceeds the initial investment.</a:t>
            </a:r>
          </a:p>
          <a:p>
            <a:pPr>
              <a:buFont typeface="+mj-lt"/>
              <a:buAutoNum type="arabicPeriod"/>
            </a:pPr>
            <a:r>
              <a:rPr lang="en-US" b="1" dirty="0"/>
              <a:t>Determine Payback Period</a:t>
            </a:r>
            <a:r>
              <a:rPr lang="en-US" dirty="0"/>
              <a:t>: The year in which the cumulative cash flow equals the initial investment is the payback period.</a:t>
            </a:r>
          </a:p>
          <a:p>
            <a:endParaRPr lang="en-US" b="1" dirty="0"/>
          </a:p>
          <a:p>
            <a:endParaRPr lang="en-US" b="1" dirty="0"/>
          </a:p>
          <a:p>
            <a:endParaRPr lang="en-US" b="1" dirty="0"/>
          </a:p>
          <a:p>
            <a:endParaRPr lang="en-US" dirty="0"/>
          </a:p>
          <a:p>
            <a:r>
              <a:rPr lang="ar-EG" dirty="0"/>
              <a:t>يقيس هذا النموذج المدة التي سيستغرقها المشروع لاستعادة استثماره. يهدف إلى تحقيق فترات استرداد أقصر. يُعد هذا النموذج أبسط النماذج وأكثرها استخدامًا. يُركز على التدفقات النقدية، وهي عامل أساسي في الأعمال.</a:t>
            </a:r>
            <a:endParaRPr lang="en-US" dirty="0"/>
          </a:p>
          <a:p>
            <a:endParaRPr lang="en-US" dirty="0"/>
          </a:p>
          <a:p>
            <a:r>
              <a:rPr lang="ar-EG" dirty="0"/>
              <a:t>قيود طريقة بافباك: لا تأخذ في الاعتبار الربحية. تأخذ في الاعتبار القيمة الزمنية للنقود (التضخم). تفترض تدفقات نقدية خلال فترة الاستثمار (وليس بعدها، مثل النفقات السنوية الفعلية للمشروع).</a:t>
            </a:r>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3</a:t>
            </a:fld>
            <a:endParaRPr lang="en-US"/>
          </a:p>
        </p:txBody>
      </p:sp>
    </p:spTree>
    <p:extLst>
      <p:ext uri="{BB962C8B-B14F-4D97-AF65-F5344CB8AC3E}">
        <p14:creationId xmlns:p14="http://schemas.microsoft.com/office/powerpoint/2010/main" val="1547692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Advantages of the Payback Model</a:t>
            </a:r>
          </a:p>
          <a:p>
            <a:pPr>
              <a:buFont typeface="Arial" panose="020B0604020202020204" pitchFamily="34" charset="0"/>
              <a:buChar char="•"/>
            </a:pPr>
            <a:r>
              <a:rPr lang="en-US" b="1" dirty="0"/>
              <a:t>Simplicity</a:t>
            </a:r>
            <a:r>
              <a:rPr lang="en-US" dirty="0"/>
              <a:t>: Easy to understand and calculate.</a:t>
            </a:r>
          </a:p>
          <a:p>
            <a:pPr>
              <a:buFont typeface="Arial" panose="020B0604020202020204" pitchFamily="34" charset="0"/>
              <a:buChar char="•"/>
            </a:pPr>
            <a:r>
              <a:rPr lang="en-US" b="1" dirty="0"/>
              <a:t>Risk Assessment</a:t>
            </a:r>
            <a:r>
              <a:rPr lang="en-US" dirty="0"/>
              <a:t>: Helps assess liquidity and risk by showing how quickly an investment can be recovered.</a:t>
            </a:r>
          </a:p>
          <a:p>
            <a:r>
              <a:rPr lang="en-US" b="1" dirty="0"/>
              <a:t>Disadvantages of the Payback Model</a:t>
            </a:r>
          </a:p>
          <a:p>
            <a:pPr>
              <a:buFont typeface="Arial" panose="020B0604020202020204" pitchFamily="34" charset="0"/>
              <a:buChar char="•"/>
            </a:pPr>
            <a:r>
              <a:rPr lang="en-US" b="1" dirty="0"/>
              <a:t>Ignores Time Value of Money</a:t>
            </a:r>
            <a:r>
              <a:rPr lang="en-US" dirty="0"/>
              <a:t>: Does not account for the time value of money, which can lead to misleading results.</a:t>
            </a:r>
          </a:p>
          <a:p>
            <a:pPr>
              <a:buFont typeface="Arial" panose="020B0604020202020204" pitchFamily="34" charset="0"/>
              <a:buChar char="•"/>
            </a:pPr>
            <a:r>
              <a:rPr lang="en-US" b="1" dirty="0"/>
              <a:t>Ignores Cash Flows After Payback</a:t>
            </a:r>
            <a:r>
              <a:rPr lang="en-US" dirty="0"/>
              <a:t>: Does not consider cash inflows that occur after the payback period, missing the overall profitability of the project.</a:t>
            </a:r>
          </a:p>
          <a:p>
            <a:pPr>
              <a:buFont typeface="Arial" panose="020B0604020202020204" pitchFamily="34" charset="0"/>
              <a:buChar char="•"/>
            </a:pPr>
            <a:r>
              <a:rPr lang="en-US" b="1" dirty="0"/>
              <a:t>No Profitability Measure</a:t>
            </a:r>
            <a:r>
              <a:rPr lang="en-US" dirty="0"/>
              <a:t>: It does not provide a measure of profitability, only the recovery time.</a:t>
            </a:r>
          </a:p>
          <a:p>
            <a:r>
              <a:rPr lang="en-US" b="1" dirty="0"/>
              <a:t>Conclusion</a:t>
            </a:r>
          </a:p>
          <a:p>
            <a:r>
              <a:rPr lang="en-US" dirty="0"/>
              <a:t>The payback model is a useful tool for quickly assessing the financial viability of an investment, especially for businesses focused on liquidity and short-term cash flow. However, it should be used in conjunction with other financial metrics, such as NPV and IRR, for a comprehensive evaluation of investment opportunities.</a:t>
            </a:r>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7</a:t>
            </a:fld>
            <a:endParaRPr lang="en-US"/>
          </a:p>
        </p:txBody>
      </p:sp>
    </p:spTree>
    <p:extLst>
      <p:ext uri="{BB962C8B-B14F-4D97-AF65-F5344CB8AC3E}">
        <p14:creationId xmlns:p14="http://schemas.microsoft.com/office/powerpoint/2010/main" val="3622059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9</a:t>
            </a:fld>
            <a:endParaRPr lang="en-US"/>
          </a:p>
        </p:txBody>
      </p:sp>
    </p:spTree>
    <p:extLst>
      <p:ext uri="{BB962C8B-B14F-4D97-AF65-F5344CB8AC3E}">
        <p14:creationId xmlns:p14="http://schemas.microsoft.com/office/powerpoint/2010/main" val="3143641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ar-EG" dirty="0"/>
              <a:t>القيمة الحالية الصافية (</a:t>
            </a:r>
            <a:r>
              <a:rPr lang="en-US" dirty="0"/>
              <a:t>NPV) </a:t>
            </a:r>
            <a:r>
              <a:rPr lang="ar-EG" dirty="0"/>
              <a:t>التعريف: تُمثل القيمة الحالية الصافية الفرق بين القيمة الحالية للتدفقات النقدية الداخلة والخارجة على مدى فترة زمنية. وتُساعد في تقييم ربحية أي استثمار أو مشروع. الأهمية: تشير القيمة الحالية الصافية الموجبة إلى أنه من المتوقع أن يُدرّ المشروع سيولة نقدية تفوق تكلفته. وتُراعي القيمة الزمنية للنقود، مُدركةً أن قيمة الدولار اليوم أعلى منها في المستقبل.</a:t>
            </a:r>
            <a:endParaRPr lang="en-US" dirty="0"/>
          </a:p>
          <a:p>
            <a:endParaRPr lang="en-US" dirty="0"/>
          </a:p>
          <a:p>
            <a:endParaRPr lang="en-US" dirty="0"/>
          </a:p>
          <a:p>
            <a:r>
              <a:rPr lang="en-US" b="1" dirty="0"/>
              <a:t>Definition</a:t>
            </a:r>
            <a:r>
              <a:rPr lang="en-US" dirty="0"/>
              <a:t>: NPV represents the difference between the present value of cash inflows and outflows over a period of time. It helps in assessing the profitability of an investment or project.</a:t>
            </a:r>
          </a:p>
          <a:p>
            <a:r>
              <a:rPr lang="en-US" b="1" dirty="0"/>
              <a:t>Importance</a:t>
            </a:r>
            <a:r>
              <a:rPr lang="en-US" dirty="0"/>
              <a:t>:</a:t>
            </a:r>
          </a:p>
          <a:p>
            <a:pPr>
              <a:buFont typeface="Arial" panose="020B0604020202020204" pitchFamily="34" charset="0"/>
              <a:buChar char="•"/>
            </a:pPr>
            <a:r>
              <a:rPr lang="en-US" dirty="0"/>
              <a:t>Positive NPV indicates that the project is expected to generate more cash than it costs.</a:t>
            </a:r>
          </a:p>
          <a:p>
            <a:pPr>
              <a:buFont typeface="Arial" panose="020B0604020202020204" pitchFamily="34" charset="0"/>
              <a:buChar char="•"/>
            </a:pPr>
            <a:r>
              <a:rPr lang="en-US" dirty="0"/>
              <a:t>It accounts for the time value of money, recognizing that a dollar today is worth more than a dollar in the future.</a:t>
            </a:r>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10</a:t>
            </a:fld>
            <a:endParaRPr lang="en-US"/>
          </a:p>
        </p:txBody>
      </p:sp>
    </p:spTree>
    <p:extLst>
      <p:ext uri="{BB962C8B-B14F-4D97-AF65-F5344CB8AC3E}">
        <p14:creationId xmlns:p14="http://schemas.microsoft.com/office/powerpoint/2010/main" val="1856722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dirty="0"/>
              <a:t>الاستحواذ على حصة سوقية أكبر. صعّب دخول المنافسين إلى السوق. تطوير منتج مُمَكِّن، يُسهم طرحه في زيادة مبيعات المنتجات الأكثر ربحية. تطوير تقنيات أساسية تُستخدم في منتجات الجيل التالي. تقليل الاعتماد على الموردين غير الموثوقين</a:t>
            </a:r>
            <a:endParaRPr lang="en-US" dirty="0"/>
          </a:p>
          <a:p>
            <a:endParaRPr lang="en-US" dirty="0"/>
          </a:p>
          <a:p>
            <a:r>
              <a:rPr lang="en-US" b="1" dirty="0"/>
              <a:t>1. Strategic Alignment</a:t>
            </a:r>
          </a:p>
          <a:p>
            <a:pPr>
              <a:buFont typeface="Arial" panose="020B0604020202020204" pitchFamily="34" charset="0"/>
              <a:buChar char="•"/>
            </a:pPr>
            <a:r>
              <a:rPr lang="en-US" b="1" dirty="0"/>
              <a:t>Definition</a:t>
            </a:r>
            <a:r>
              <a:rPr lang="en-US" dirty="0"/>
              <a:t>: Measures how well a project supports the overall strategic direction of the organization.</a:t>
            </a:r>
          </a:p>
          <a:p>
            <a:pPr>
              <a:buFont typeface="Arial" panose="020B0604020202020204" pitchFamily="34" charset="0"/>
              <a:buChar char="•"/>
            </a:pPr>
            <a:r>
              <a:rPr lang="en-US" b="1" dirty="0"/>
              <a:t>Importance</a:t>
            </a:r>
            <a:r>
              <a:rPr lang="en-US" dirty="0"/>
              <a:t>: Projects that align with strategic goals are more likely to receive support and resources.</a:t>
            </a:r>
          </a:p>
          <a:p>
            <a:pPr>
              <a:buFont typeface="Arial" panose="020B0604020202020204" pitchFamily="34" charset="0"/>
              <a:buChar char="•"/>
            </a:pPr>
            <a:r>
              <a:rPr lang="en-US" b="1" dirty="0"/>
              <a:t>Considerations</a:t>
            </a:r>
            <a:r>
              <a:rPr lang="en-US" dirty="0"/>
              <a:t>:</a:t>
            </a:r>
          </a:p>
          <a:p>
            <a:pPr marL="742950" lvl="1" indent="-285750">
              <a:buFont typeface="Arial" panose="020B0604020202020204" pitchFamily="34" charset="0"/>
              <a:buChar char="•"/>
            </a:pPr>
            <a:r>
              <a:rPr lang="en-US" dirty="0"/>
              <a:t>Does the project support long-term goals?</a:t>
            </a:r>
          </a:p>
          <a:p>
            <a:pPr marL="742950" lvl="1" indent="-285750">
              <a:buFont typeface="Arial" panose="020B0604020202020204" pitchFamily="34" charset="0"/>
              <a:buChar char="•"/>
            </a:pPr>
            <a:r>
              <a:rPr lang="en-US" dirty="0"/>
              <a:t>How does it fit into the company's mission or vision?</a:t>
            </a:r>
          </a:p>
          <a:p>
            <a:r>
              <a:rPr lang="en-US" b="1" dirty="0"/>
              <a:t>2. Risk Assessment</a:t>
            </a:r>
          </a:p>
          <a:p>
            <a:pPr>
              <a:buFont typeface="Arial" panose="020B0604020202020204" pitchFamily="34" charset="0"/>
              <a:buChar char="•"/>
            </a:pPr>
            <a:r>
              <a:rPr lang="en-US" b="1" dirty="0"/>
              <a:t>Definition</a:t>
            </a:r>
            <a:r>
              <a:rPr lang="en-US" dirty="0"/>
              <a:t>: Involves identifying and evaluating potential risks associated with a project.</a:t>
            </a:r>
          </a:p>
          <a:p>
            <a:pPr>
              <a:buFont typeface="Arial" panose="020B0604020202020204" pitchFamily="34" charset="0"/>
              <a:buChar char="•"/>
            </a:pPr>
            <a:r>
              <a:rPr lang="en-US" b="1" dirty="0"/>
              <a:t>Importance</a:t>
            </a:r>
            <a:r>
              <a:rPr lang="en-US" dirty="0"/>
              <a:t>: Understanding risks helps in developing mitigation strategies and ensuring project viability.</a:t>
            </a:r>
          </a:p>
          <a:p>
            <a:pPr>
              <a:buFont typeface="Arial" panose="020B0604020202020204" pitchFamily="34" charset="0"/>
              <a:buChar char="•"/>
            </a:pPr>
            <a:r>
              <a:rPr lang="en-US" b="1" dirty="0"/>
              <a:t>Types of Risks</a:t>
            </a:r>
            <a:r>
              <a:rPr lang="en-US" dirty="0"/>
              <a:t>:</a:t>
            </a:r>
          </a:p>
          <a:p>
            <a:pPr marL="742950" lvl="1" indent="-285750">
              <a:buFont typeface="Arial" panose="020B0604020202020204" pitchFamily="34" charset="0"/>
              <a:buChar char="•"/>
            </a:pPr>
            <a:r>
              <a:rPr lang="en-US" b="1" dirty="0"/>
              <a:t>Market Risk</a:t>
            </a:r>
            <a:r>
              <a:rPr lang="en-US" dirty="0"/>
              <a:t>: Changes in market conditions that could affect demand.</a:t>
            </a:r>
          </a:p>
          <a:p>
            <a:pPr marL="742950" lvl="1" indent="-285750">
              <a:buFont typeface="Arial" panose="020B0604020202020204" pitchFamily="34" charset="0"/>
              <a:buChar char="•"/>
            </a:pPr>
            <a:r>
              <a:rPr lang="en-US" b="1" dirty="0"/>
              <a:t>Operational Risk</a:t>
            </a:r>
            <a:r>
              <a:rPr lang="en-US" dirty="0"/>
              <a:t>: Risks arising from internal processes or systems.</a:t>
            </a:r>
          </a:p>
          <a:p>
            <a:pPr marL="742950" lvl="1" indent="-285750">
              <a:buFont typeface="Arial" panose="020B0604020202020204" pitchFamily="34" charset="0"/>
              <a:buChar char="•"/>
            </a:pPr>
            <a:r>
              <a:rPr lang="en-US" b="1" dirty="0"/>
              <a:t>Technological Risk</a:t>
            </a:r>
            <a:r>
              <a:rPr lang="en-US" dirty="0"/>
              <a:t>: Risks related to the technology used in the project.</a:t>
            </a:r>
          </a:p>
          <a:p>
            <a:r>
              <a:rPr lang="en-US" b="1" dirty="0"/>
              <a:t>3. Stakeholder Impact</a:t>
            </a:r>
          </a:p>
          <a:p>
            <a:pPr>
              <a:buFont typeface="Arial" panose="020B0604020202020204" pitchFamily="34" charset="0"/>
              <a:buChar char="•"/>
            </a:pPr>
            <a:r>
              <a:rPr lang="en-US" b="1" dirty="0"/>
              <a:t>Definition</a:t>
            </a:r>
            <a:r>
              <a:rPr lang="en-US" dirty="0"/>
              <a:t>: Evaluates how the project affects various stakeholders.</a:t>
            </a:r>
          </a:p>
          <a:p>
            <a:pPr>
              <a:buFont typeface="Arial" panose="020B0604020202020204" pitchFamily="34" charset="0"/>
              <a:buChar char="•"/>
            </a:pPr>
            <a:r>
              <a:rPr lang="en-US" b="1" dirty="0"/>
              <a:t>Importance</a:t>
            </a:r>
            <a:r>
              <a:rPr lang="en-US" dirty="0"/>
              <a:t>: Understanding stakeholder perspectives can enhance support and reduce resistance.</a:t>
            </a:r>
          </a:p>
          <a:p>
            <a:pPr>
              <a:buFont typeface="Arial" panose="020B0604020202020204" pitchFamily="34" charset="0"/>
              <a:buChar char="•"/>
            </a:pPr>
            <a:r>
              <a:rPr lang="en-US" b="1" dirty="0"/>
              <a:t>Considerations</a:t>
            </a:r>
            <a:r>
              <a:rPr lang="en-US" dirty="0"/>
              <a:t>:</a:t>
            </a:r>
          </a:p>
          <a:p>
            <a:pPr marL="742950" lvl="1" indent="-285750">
              <a:buFont typeface="Arial" panose="020B0604020202020204" pitchFamily="34" charset="0"/>
              <a:buChar char="•"/>
            </a:pPr>
            <a:r>
              <a:rPr lang="en-US" dirty="0"/>
              <a:t>Employee impact (job security, morale).</a:t>
            </a:r>
          </a:p>
          <a:p>
            <a:pPr marL="742950" lvl="1" indent="-285750">
              <a:buFont typeface="Arial" panose="020B0604020202020204" pitchFamily="34" charset="0"/>
              <a:buChar char="•"/>
            </a:pPr>
            <a:r>
              <a:rPr lang="en-US" dirty="0"/>
              <a:t>Customer impact (satisfaction, loyalty).</a:t>
            </a:r>
          </a:p>
          <a:p>
            <a:pPr marL="742950" lvl="1" indent="-285750">
              <a:buFont typeface="Arial" panose="020B0604020202020204" pitchFamily="34" charset="0"/>
              <a:buChar char="•"/>
            </a:pPr>
            <a:r>
              <a:rPr lang="en-US" dirty="0"/>
              <a:t>Community impact (environmental, economic).</a:t>
            </a:r>
          </a:p>
          <a:p>
            <a:r>
              <a:rPr lang="en-US" b="1" dirty="0"/>
              <a:t>4. Environmental and Social Impact</a:t>
            </a:r>
          </a:p>
          <a:p>
            <a:pPr>
              <a:buFont typeface="Arial" panose="020B0604020202020204" pitchFamily="34" charset="0"/>
              <a:buChar char="•"/>
            </a:pPr>
            <a:r>
              <a:rPr lang="en-US" b="1" dirty="0"/>
              <a:t>Definition</a:t>
            </a:r>
            <a:r>
              <a:rPr lang="en-US" dirty="0"/>
              <a:t>: Assesses the sustainability and social implications of a project.</a:t>
            </a:r>
          </a:p>
          <a:p>
            <a:pPr>
              <a:buFont typeface="Arial" panose="020B0604020202020204" pitchFamily="34" charset="0"/>
              <a:buChar char="•"/>
            </a:pPr>
            <a:r>
              <a:rPr lang="en-US" b="1" dirty="0"/>
              <a:t>Importance</a:t>
            </a:r>
            <a:r>
              <a:rPr lang="en-US" dirty="0"/>
              <a:t>: Projects that demonstrate social responsibility can enhance reputation and compliance with regulations.</a:t>
            </a:r>
          </a:p>
          <a:p>
            <a:pPr>
              <a:buFont typeface="Arial" panose="020B0604020202020204" pitchFamily="34" charset="0"/>
              <a:buChar char="•"/>
            </a:pPr>
            <a:r>
              <a:rPr lang="en-US" b="1" dirty="0"/>
              <a:t>Considerations</a:t>
            </a:r>
            <a:r>
              <a:rPr lang="en-US" dirty="0"/>
              <a:t>:</a:t>
            </a:r>
          </a:p>
          <a:p>
            <a:pPr marL="742950" lvl="1" indent="-285750">
              <a:buFont typeface="Arial" panose="020B0604020202020204" pitchFamily="34" charset="0"/>
              <a:buChar char="•"/>
            </a:pPr>
            <a:r>
              <a:rPr lang="en-US" dirty="0"/>
              <a:t>Environmental sustainability (carbon footprint, resource use).</a:t>
            </a:r>
          </a:p>
          <a:p>
            <a:pPr marL="742950" lvl="1" indent="-285750">
              <a:buFont typeface="Arial" panose="020B0604020202020204" pitchFamily="34" charset="0"/>
              <a:buChar char="•"/>
            </a:pPr>
            <a:r>
              <a:rPr lang="en-US" dirty="0"/>
              <a:t>Social equity (impact on different community groups).</a:t>
            </a:r>
          </a:p>
          <a:p>
            <a:r>
              <a:rPr lang="ar-EG" dirty="0"/>
              <a:t>.</a:t>
            </a:r>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19</a:t>
            </a:fld>
            <a:endParaRPr lang="en-US"/>
          </a:p>
        </p:txBody>
      </p:sp>
    </p:spTree>
    <p:extLst>
      <p:ext uri="{BB962C8B-B14F-4D97-AF65-F5344CB8AC3E}">
        <p14:creationId xmlns:p14="http://schemas.microsoft.com/office/powerpoint/2010/main" val="7222981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Weighted Scoring Model</a:t>
            </a:r>
          </a:p>
          <a:p>
            <a:pPr>
              <a:buFont typeface="Arial" panose="020B0604020202020204" pitchFamily="34" charset="0"/>
              <a:buChar char="•"/>
            </a:pPr>
            <a:r>
              <a:rPr lang="en-US" b="1" dirty="0"/>
              <a:t>Definition</a:t>
            </a:r>
            <a:r>
              <a:rPr lang="en-US" dirty="0"/>
              <a:t>: A simple and effective method for evaluating alternatives based on multiple criteria.</a:t>
            </a:r>
          </a:p>
          <a:p>
            <a:pPr>
              <a:buFont typeface="Arial" panose="020B0604020202020204" pitchFamily="34" charset="0"/>
              <a:buChar char="•"/>
            </a:pPr>
            <a:r>
              <a:rPr lang="en-US" b="1" dirty="0"/>
              <a:t>Steps</a:t>
            </a:r>
            <a:r>
              <a:rPr lang="en-US" dirty="0"/>
              <a:t>:</a:t>
            </a:r>
          </a:p>
          <a:p>
            <a:pPr marL="742950" lvl="1" indent="-285750">
              <a:buFont typeface="Arial" panose="020B0604020202020204" pitchFamily="34" charset="0"/>
              <a:buChar char="•"/>
            </a:pPr>
            <a:r>
              <a:rPr lang="en-US" b="1" dirty="0"/>
              <a:t>Identify Criteria</a:t>
            </a:r>
            <a:r>
              <a:rPr lang="en-US" dirty="0"/>
              <a:t>: List all criteria relevant to the decision.</a:t>
            </a:r>
          </a:p>
          <a:p>
            <a:pPr marL="742950" lvl="1" indent="-285750">
              <a:buFont typeface="Arial" panose="020B0604020202020204" pitchFamily="34" charset="0"/>
              <a:buChar char="•"/>
            </a:pPr>
            <a:r>
              <a:rPr lang="en-US" b="1" dirty="0"/>
              <a:t>Assign Weights</a:t>
            </a:r>
            <a:r>
              <a:rPr lang="en-US" dirty="0"/>
              <a:t>: Allocate weights based on the relative importance of each criterion (total should equal 1).</a:t>
            </a:r>
          </a:p>
          <a:p>
            <a:pPr marL="742950" lvl="1" indent="-285750">
              <a:buFont typeface="Arial" panose="020B0604020202020204" pitchFamily="34" charset="0"/>
              <a:buChar char="•"/>
            </a:pPr>
            <a:r>
              <a:rPr lang="en-US" b="1" dirty="0"/>
              <a:t>Score Alternatives</a:t>
            </a:r>
            <a:r>
              <a:rPr lang="en-US" dirty="0"/>
              <a:t>: Rate each alternative based on how well it meets each criterion (e.g., on a scale of 1 to 10).</a:t>
            </a:r>
          </a:p>
          <a:p>
            <a:pPr marL="742950" lvl="1" indent="-285750">
              <a:buFont typeface="Arial" panose="020B0604020202020204" pitchFamily="34" charset="0"/>
              <a:buChar char="•"/>
            </a:pPr>
            <a:r>
              <a:rPr lang="en-US" b="1" dirty="0"/>
              <a:t>Calculate Scores</a:t>
            </a:r>
            <a:r>
              <a:rPr lang="en-US" dirty="0"/>
              <a:t>: Multiply scores by weights and sum to get a total score for each alternative.</a:t>
            </a:r>
          </a:p>
          <a:p>
            <a:pPr marL="742950" lvl="1" indent="-285750">
              <a:buFont typeface="Arial" panose="020B0604020202020204" pitchFamily="34" charset="0"/>
              <a:buChar char="•"/>
            </a:pPr>
            <a:r>
              <a:rPr lang="en-US" b="1" dirty="0"/>
              <a:t>Rank Alternatives</a:t>
            </a:r>
            <a:r>
              <a:rPr lang="en-US" dirty="0"/>
              <a:t>: Rank the alternatives based on their total scores.</a:t>
            </a:r>
          </a:p>
          <a:p>
            <a:pPr>
              <a:buFont typeface="Arial" panose="020B0604020202020204" pitchFamily="34" charset="0"/>
              <a:buChar char="•"/>
            </a:pPr>
            <a:r>
              <a:rPr lang="en-US" b="1" dirty="0"/>
              <a:t>Example</a:t>
            </a:r>
            <a:r>
              <a:rPr lang="en-US" dirty="0"/>
              <a:t>:</a:t>
            </a:r>
          </a:p>
          <a:p>
            <a:pPr marL="742950" lvl="1" indent="-285750">
              <a:buFont typeface="Arial" panose="020B0604020202020204" pitchFamily="34" charset="0"/>
              <a:buChar char="•"/>
            </a:pPr>
            <a:r>
              <a:rPr lang="en-US" dirty="0"/>
              <a:t>Suppose you’re evaluating three projects based on criteria like cost, benefit, and risk. You assign weights (0.4 for cost, 0.4 for benefit, 0.2 for risk), score each project, and calculate the total scores to decide which project to pursue.</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r>
              <a:rPr lang="en-US" b="1" dirty="0"/>
              <a:t>Analytic Hierarchy Process (AHP)</a:t>
            </a:r>
          </a:p>
          <a:p>
            <a:pPr>
              <a:buFont typeface="Arial" panose="020B0604020202020204" pitchFamily="34" charset="0"/>
              <a:buChar char="•"/>
            </a:pPr>
            <a:r>
              <a:rPr lang="en-US" b="1" dirty="0"/>
              <a:t>Definition</a:t>
            </a:r>
            <a:r>
              <a:rPr lang="en-US" dirty="0"/>
              <a:t>: AHP is a structured method for organizing and analyzing complex decisions based on mathematics and psychology.</a:t>
            </a:r>
          </a:p>
          <a:p>
            <a:pPr>
              <a:buFont typeface="Arial" panose="020B0604020202020204" pitchFamily="34" charset="0"/>
              <a:buChar char="•"/>
            </a:pPr>
            <a:r>
              <a:rPr lang="en-US" b="1" dirty="0"/>
              <a:t>Steps</a:t>
            </a:r>
            <a:r>
              <a:rPr lang="en-US" dirty="0"/>
              <a:t>:</a:t>
            </a:r>
          </a:p>
          <a:p>
            <a:pPr marL="742950" lvl="1" indent="-285750">
              <a:buFont typeface="Arial" panose="020B0604020202020204" pitchFamily="34" charset="0"/>
              <a:buChar char="•"/>
            </a:pPr>
            <a:r>
              <a:rPr lang="en-US" b="1" dirty="0"/>
              <a:t>Define the Problem</a:t>
            </a:r>
            <a:r>
              <a:rPr lang="en-US" dirty="0"/>
              <a:t>: Clearly state the decision-making problem.</a:t>
            </a:r>
          </a:p>
          <a:p>
            <a:pPr marL="742950" lvl="1" indent="-285750">
              <a:buFont typeface="Arial" panose="020B0604020202020204" pitchFamily="34" charset="0"/>
              <a:buChar char="•"/>
            </a:pPr>
            <a:r>
              <a:rPr lang="en-US" b="1" dirty="0"/>
              <a:t>Structure the Hierarchy</a:t>
            </a:r>
            <a:r>
              <a:rPr lang="en-US" dirty="0"/>
              <a:t>: Break down the problem into a hierarchy of criteria and sub-criteria.</a:t>
            </a:r>
          </a:p>
          <a:p>
            <a:pPr marL="742950" lvl="1" indent="-285750">
              <a:buFont typeface="Arial" panose="020B0604020202020204" pitchFamily="34" charset="0"/>
              <a:buChar char="•"/>
            </a:pPr>
            <a:r>
              <a:rPr lang="en-US" b="1" dirty="0"/>
              <a:t>Pairwise Comparisons</a:t>
            </a:r>
            <a:r>
              <a:rPr lang="en-US" dirty="0"/>
              <a:t>: Compare each criterion against others to establish priorities.</a:t>
            </a:r>
          </a:p>
          <a:p>
            <a:pPr marL="742950" lvl="1" indent="-285750">
              <a:buFont typeface="Arial" panose="020B0604020202020204" pitchFamily="34" charset="0"/>
              <a:buChar char="•"/>
            </a:pPr>
            <a:r>
              <a:rPr lang="en-US" b="1" dirty="0"/>
              <a:t>Calculate Weights</a:t>
            </a:r>
            <a:r>
              <a:rPr lang="en-US" dirty="0"/>
              <a:t>: Use mathematical calculations to derive weights for each criterion.</a:t>
            </a:r>
          </a:p>
          <a:p>
            <a:pPr marL="742950" lvl="1" indent="-285750">
              <a:buFont typeface="Arial" panose="020B0604020202020204" pitchFamily="34" charset="0"/>
              <a:buChar char="•"/>
            </a:pPr>
            <a:r>
              <a:rPr lang="en-US" b="1" dirty="0"/>
              <a:t>Aggregate Results</a:t>
            </a:r>
            <a:r>
              <a:rPr lang="en-US" dirty="0"/>
              <a:t>: Combine the weighted scores of alternatives to determine the best option.</a:t>
            </a:r>
          </a:p>
          <a:p>
            <a:pPr>
              <a:buFont typeface="Arial" panose="020B0604020202020204" pitchFamily="34" charset="0"/>
              <a:buChar char="•"/>
            </a:pPr>
            <a:r>
              <a:rPr lang="en-US" b="1" dirty="0"/>
              <a:t>Example</a:t>
            </a:r>
            <a:r>
              <a:rPr lang="en-US" dirty="0"/>
              <a:t>:</a:t>
            </a:r>
          </a:p>
          <a:p>
            <a:pPr marL="742950" lvl="1" indent="-285750">
              <a:buFont typeface="Arial" panose="020B0604020202020204" pitchFamily="34" charset="0"/>
              <a:buChar char="•"/>
            </a:pPr>
            <a:r>
              <a:rPr lang="en-US" dirty="0"/>
              <a:t>If you are selecting a new software system, criteria might include cost, usability, and support. Each of these can be broken down further, and then pairwise comparisons made to establish a priority scale.</a:t>
            </a:r>
          </a:p>
          <a:p>
            <a:pPr marL="742950" lvl="1" indent="-285750">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23</a:t>
            </a:fld>
            <a:endParaRPr lang="en-US"/>
          </a:p>
        </p:txBody>
      </p:sp>
    </p:spTree>
    <p:extLst>
      <p:ext uri="{BB962C8B-B14F-4D97-AF65-F5344CB8AC3E}">
        <p14:creationId xmlns:p14="http://schemas.microsoft.com/office/powerpoint/2010/main" val="1541032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effectLst/>
                <a:latin typeface="Tasaorbiterdeck Bold"/>
              </a:rPr>
              <a:t>Project management structures</a:t>
            </a:r>
            <a:r>
              <a:rPr lang="en-US" b="0" i="0" dirty="0">
                <a:effectLst/>
                <a:latin typeface="Inter"/>
              </a:rPr>
              <a:t> refer to the framework within which projects are organized and managed in an organization. These structures define the roles, responsibilities, authority, and relationships between project managers, teams, and other stakeholders. The key types of project management structures are:</a:t>
            </a:r>
          </a:p>
          <a:p>
            <a:pPr algn="l"/>
            <a:r>
              <a:rPr lang="en-US" b="0" i="0" dirty="0">
                <a:effectLst/>
                <a:latin typeface="Inter"/>
              </a:rPr>
              <a:t>‍</a:t>
            </a:r>
          </a:p>
          <a:p>
            <a:pPr algn="l">
              <a:buFont typeface="Arial" panose="020B0604020202020204" pitchFamily="34" charset="0"/>
              <a:buChar char="•"/>
            </a:pPr>
            <a:r>
              <a:rPr lang="en-US" b="1" i="0" dirty="0">
                <a:effectLst/>
                <a:latin typeface="Tasaorbiterdeck Bold"/>
              </a:rPr>
              <a:t>Functional Structure</a:t>
            </a:r>
            <a:r>
              <a:rPr lang="en-US" b="0" i="0" dirty="0">
                <a:effectLst/>
                <a:latin typeface="Inter"/>
              </a:rPr>
              <a:t>: Departments are organized by specialization (e.g., marketing, finance, operations), and project managers have limited authority. The focus is on efficiency within specialized functions, but cross-functional collaboration can be challenging.</a:t>
            </a:r>
          </a:p>
          <a:p>
            <a:pPr algn="l">
              <a:buFont typeface="Arial" panose="020B0604020202020204" pitchFamily="34" charset="0"/>
              <a:buChar char="•"/>
            </a:pPr>
            <a:r>
              <a:rPr lang="en-US" b="1" i="0" dirty="0">
                <a:effectLst/>
                <a:latin typeface="Tasaorbiterdeck Bold"/>
              </a:rPr>
              <a:t>Matrix Structure</a:t>
            </a:r>
            <a:r>
              <a:rPr lang="en-US" b="0" i="0" dirty="0">
                <a:effectLst/>
                <a:latin typeface="Inter"/>
              </a:rPr>
              <a:t>: A hybrid approach that blends functional and projected models. Project managers share authority with functional managers, and team members typically report to both. It allows for better resource allocation and flexibility but can create conflicts due to dual reporting lines.</a:t>
            </a:r>
          </a:p>
          <a:p>
            <a:pPr algn="l">
              <a:buFont typeface="Arial" panose="020B0604020202020204" pitchFamily="34" charset="0"/>
              <a:buChar char="•"/>
            </a:pPr>
            <a:r>
              <a:rPr lang="en-US" b="1" i="0" dirty="0">
                <a:effectLst/>
                <a:latin typeface="Tasaorbiterdeck Bold"/>
              </a:rPr>
              <a:t>Projectized Structure</a:t>
            </a:r>
            <a:r>
              <a:rPr lang="en-US" b="0" i="0" dirty="0">
                <a:effectLst/>
                <a:latin typeface="Inter"/>
              </a:rPr>
              <a:t>: In this model, the organization is centered around projects. Project managers have full control over resources, decision-making, and team members, making it ideal for project-driven organizations. It allows for more autonomy but can lead to duplication of efforts across projects.</a:t>
            </a:r>
          </a:p>
          <a:p>
            <a:endParaRPr lang="en-US" dirty="0"/>
          </a:p>
          <a:p>
            <a:r>
              <a:rPr lang="en-US" b="1" dirty="0"/>
              <a:t>. Functional Structure</a:t>
            </a:r>
          </a:p>
          <a:p>
            <a:pPr>
              <a:buFont typeface="Arial" panose="020B0604020202020204" pitchFamily="34" charset="0"/>
              <a:buChar char="•"/>
            </a:pPr>
            <a:r>
              <a:rPr lang="en-US" b="1" dirty="0"/>
              <a:t>Description</a:t>
            </a:r>
            <a:r>
              <a:rPr lang="en-US" dirty="0"/>
              <a:t>: In a functional structure, the project team is organized according to different functions or departments (e.g., marketing, finance, engineering).</a:t>
            </a:r>
          </a:p>
          <a:p>
            <a:pPr>
              <a:buFont typeface="Arial" panose="020B0604020202020204" pitchFamily="34" charset="0"/>
              <a:buChar char="•"/>
            </a:pPr>
            <a:r>
              <a:rPr lang="en-US" b="1" dirty="0"/>
              <a:t>Characteristics</a:t>
            </a:r>
            <a:r>
              <a:rPr lang="en-US" dirty="0"/>
              <a:t>: </a:t>
            </a:r>
          </a:p>
          <a:p>
            <a:pPr marL="742950" lvl="1" indent="-285750">
              <a:buFont typeface="Arial" panose="020B0604020202020204" pitchFamily="34" charset="0"/>
              <a:buChar char="•"/>
            </a:pPr>
            <a:r>
              <a:rPr lang="en-US" dirty="0"/>
              <a:t>Team members report to their functional managers.</a:t>
            </a:r>
          </a:p>
          <a:p>
            <a:pPr marL="742950" lvl="1" indent="-285750">
              <a:buFont typeface="Arial" panose="020B0604020202020204" pitchFamily="34" charset="0"/>
              <a:buChar char="•"/>
            </a:pPr>
            <a:r>
              <a:rPr lang="en-US" dirty="0"/>
              <a:t>Project managers have limited authority and mainly coordinate activities across functions.</a:t>
            </a:r>
          </a:p>
          <a:p>
            <a:pPr>
              <a:buFont typeface="Arial" panose="020B0604020202020204" pitchFamily="34" charset="0"/>
              <a:buChar char="•"/>
            </a:pPr>
            <a:r>
              <a:rPr lang="en-US" b="1" dirty="0"/>
              <a:t>Advantages</a:t>
            </a:r>
            <a:r>
              <a:rPr lang="en-US" dirty="0"/>
              <a:t>: </a:t>
            </a:r>
          </a:p>
          <a:p>
            <a:pPr marL="742950" lvl="1" indent="-285750">
              <a:buFont typeface="Arial" panose="020B0604020202020204" pitchFamily="34" charset="0"/>
              <a:buChar char="•"/>
            </a:pPr>
            <a:r>
              <a:rPr lang="en-US" dirty="0"/>
              <a:t>Clear lines of authority within functional departments.</a:t>
            </a:r>
          </a:p>
          <a:p>
            <a:pPr marL="742950" lvl="1" indent="-285750">
              <a:buFont typeface="Arial" panose="020B0604020202020204" pitchFamily="34" charset="0"/>
              <a:buChar char="•"/>
            </a:pPr>
            <a:r>
              <a:rPr lang="en-US" dirty="0"/>
              <a:t>Efficient use of specialized resources.</a:t>
            </a:r>
          </a:p>
          <a:p>
            <a:pPr>
              <a:buFont typeface="Arial" panose="020B0604020202020204" pitchFamily="34" charset="0"/>
              <a:buChar char="•"/>
            </a:pPr>
            <a:r>
              <a:rPr lang="en-US" b="1" dirty="0"/>
              <a:t>Disadvantages</a:t>
            </a:r>
            <a:r>
              <a:rPr lang="en-US" dirty="0"/>
              <a:t>: </a:t>
            </a:r>
          </a:p>
          <a:p>
            <a:pPr marL="742950" lvl="1" indent="-285750">
              <a:buFont typeface="Arial" panose="020B0604020202020204" pitchFamily="34" charset="0"/>
              <a:buChar char="•"/>
            </a:pPr>
            <a:r>
              <a:rPr lang="en-US" dirty="0"/>
              <a:t>Potential for poor communication between departments.</a:t>
            </a:r>
          </a:p>
          <a:p>
            <a:pPr marL="742950" lvl="1" indent="-285750">
              <a:buFont typeface="Arial" panose="020B0604020202020204" pitchFamily="34" charset="0"/>
              <a:buChar char="•"/>
            </a:pPr>
            <a:r>
              <a:rPr lang="en-US" dirty="0"/>
              <a:t>Slow decision-making due to reliance on functional managers.</a:t>
            </a:r>
          </a:p>
          <a:p>
            <a:r>
              <a:rPr lang="en-US" b="1" dirty="0"/>
              <a:t>2. Projectized Structure</a:t>
            </a:r>
          </a:p>
          <a:p>
            <a:pPr>
              <a:buFont typeface="Arial" panose="020B0604020202020204" pitchFamily="34" charset="0"/>
              <a:buChar char="•"/>
            </a:pPr>
            <a:r>
              <a:rPr lang="en-US" b="1" dirty="0"/>
              <a:t>Description</a:t>
            </a:r>
            <a:r>
              <a:rPr lang="en-US" dirty="0"/>
              <a:t>: In a projectized structure, teams are organized around specific projects. Team members report directly to the project manager.</a:t>
            </a:r>
          </a:p>
          <a:p>
            <a:pPr>
              <a:buFont typeface="Arial" panose="020B0604020202020204" pitchFamily="34" charset="0"/>
              <a:buChar char="•"/>
            </a:pPr>
            <a:r>
              <a:rPr lang="en-US" b="1" dirty="0"/>
              <a:t>Characteristics</a:t>
            </a:r>
            <a:r>
              <a:rPr lang="en-US" dirty="0"/>
              <a:t>: </a:t>
            </a:r>
          </a:p>
          <a:p>
            <a:pPr marL="742950" lvl="1" indent="-285750">
              <a:buFont typeface="Arial" panose="020B0604020202020204" pitchFamily="34" charset="0"/>
              <a:buChar char="•"/>
            </a:pPr>
            <a:r>
              <a:rPr lang="en-US" dirty="0"/>
              <a:t>Project managers have full authority over the project and resources.</a:t>
            </a:r>
          </a:p>
          <a:p>
            <a:pPr marL="742950" lvl="1" indent="-285750">
              <a:buFont typeface="Arial" panose="020B0604020202020204" pitchFamily="34" charset="0"/>
              <a:buChar char="•"/>
            </a:pPr>
            <a:r>
              <a:rPr lang="en-US" dirty="0"/>
              <a:t>Teams are often formed for the duration of the project.</a:t>
            </a:r>
          </a:p>
          <a:p>
            <a:pPr>
              <a:buFont typeface="Arial" panose="020B0604020202020204" pitchFamily="34" charset="0"/>
              <a:buChar char="•"/>
            </a:pPr>
            <a:r>
              <a:rPr lang="en-US" b="1" dirty="0"/>
              <a:t>Advantages</a:t>
            </a:r>
            <a:r>
              <a:rPr lang="en-US" dirty="0"/>
              <a:t>: </a:t>
            </a:r>
          </a:p>
          <a:p>
            <a:pPr marL="742950" lvl="1" indent="-285750">
              <a:buFont typeface="Arial" panose="020B0604020202020204" pitchFamily="34" charset="0"/>
              <a:buChar char="•"/>
            </a:pPr>
            <a:r>
              <a:rPr lang="en-US" dirty="0"/>
              <a:t>Clear focus on project objectives.</a:t>
            </a:r>
          </a:p>
          <a:p>
            <a:pPr marL="742950" lvl="1" indent="-285750">
              <a:buFont typeface="Arial" panose="020B0604020202020204" pitchFamily="34" charset="0"/>
              <a:buChar char="•"/>
            </a:pPr>
            <a:r>
              <a:rPr lang="en-US" dirty="0"/>
              <a:t>Enhanced communication and collaboration among team members.</a:t>
            </a:r>
          </a:p>
          <a:p>
            <a:pPr>
              <a:buFont typeface="Arial" panose="020B0604020202020204" pitchFamily="34" charset="0"/>
              <a:buChar char="•"/>
            </a:pPr>
            <a:r>
              <a:rPr lang="en-US" b="1" dirty="0"/>
              <a:t>Disadvantages</a:t>
            </a:r>
            <a:r>
              <a:rPr lang="en-US" dirty="0"/>
              <a:t>: </a:t>
            </a:r>
          </a:p>
          <a:p>
            <a:pPr marL="742950" lvl="1" indent="-285750">
              <a:buFont typeface="Arial" panose="020B0604020202020204" pitchFamily="34" charset="0"/>
              <a:buChar char="•"/>
            </a:pPr>
            <a:r>
              <a:rPr lang="en-US" dirty="0"/>
              <a:t>Inefficient resource utilization if team members are only needed for short-term projects.</a:t>
            </a:r>
          </a:p>
          <a:p>
            <a:pPr marL="742950" lvl="1" indent="-285750">
              <a:buFont typeface="Arial" panose="020B0604020202020204" pitchFamily="34" charset="0"/>
              <a:buChar char="•"/>
            </a:pPr>
            <a:r>
              <a:rPr lang="en-US" dirty="0"/>
              <a:t>Team members may lack a sense of belonging to their functional departments.</a:t>
            </a:r>
          </a:p>
          <a:p>
            <a:r>
              <a:rPr lang="en-US" b="1" dirty="0"/>
              <a:t>3. Matrix Structure</a:t>
            </a:r>
          </a:p>
          <a:p>
            <a:pPr>
              <a:buFont typeface="Arial" panose="020B0604020202020204" pitchFamily="34" charset="0"/>
              <a:buChar char="•"/>
            </a:pPr>
            <a:r>
              <a:rPr lang="en-US" b="1" dirty="0"/>
              <a:t>Description</a:t>
            </a:r>
            <a:r>
              <a:rPr lang="en-US" dirty="0"/>
              <a:t>: A matrix structure combines functional and projectized structures, allowing for more flexibility and balanced authority.</a:t>
            </a:r>
          </a:p>
          <a:p>
            <a:pPr>
              <a:buFont typeface="Arial" panose="020B0604020202020204" pitchFamily="34" charset="0"/>
              <a:buChar char="•"/>
            </a:pPr>
            <a:r>
              <a:rPr lang="en-US" b="1" dirty="0"/>
              <a:t>Characteristics</a:t>
            </a:r>
            <a:r>
              <a:rPr lang="en-US" dirty="0"/>
              <a:t>: </a:t>
            </a:r>
          </a:p>
          <a:p>
            <a:pPr marL="742950" lvl="1" indent="-285750">
              <a:buFont typeface="Arial" panose="020B0604020202020204" pitchFamily="34" charset="0"/>
              <a:buChar char="•"/>
            </a:pPr>
            <a:r>
              <a:rPr lang="en-US" dirty="0"/>
              <a:t>Team members report to both functional managers and project managers.</a:t>
            </a:r>
          </a:p>
          <a:p>
            <a:pPr marL="742950" lvl="1" indent="-285750">
              <a:buFont typeface="Arial" panose="020B0604020202020204" pitchFamily="34" charset="0"/>
              <a:buChar char="•"/>
            </a:pPr>
            <a:r>
              <a:rPr lang="en-US" dirty="0"/>
              <a:t>Resources can be shared across multiple projects.</a:t>
            </a:r>
          </a:p>
          <a:p>
            <a:pPr>
              <a:buFont typeface="Arial" panose="020B0604020202020204" pitchFamily="34" charset="0"/>
              <a:buChar char="•"/>
            </a:pPr>
            <a:r>
              <a:rPr lang="en-US" b="1" dirty="0"/>
              <a:t>Types</a:t>
            </a:r>
            <a:r>
              <a:rPr lang="en-US" dirty="0"/>
              <a:t>: </a:t>
            </a:r>
          </a:p>
          <a:p>
            <a:pPr marL="742950" lvl="1" indent="-285750">
              <a:buFont typeface="Arial" panose="020B0604020202020204" pitchFamily="34" charset="0"/>
              <a:buChar char="•"/>
            </a:pPr>
            <a:r>
              <a:rPr lang="en-US" b="1" dirty="0"/>
              <a:t>Weak Matrix</a:t>
            </a:r>
            <a:r>
              <a:rPr lang="en-US" dirty="0"/>
              <a:t>: Functional managers have more authority, and project managers have limited power.</a:t>
            </a:r>
          </a:p>
          <a:p>
            <a:pPr marL="742950" lvl="1" indent="-285750">
              <a:buFont typeface="Arial" panose="020B0604020202020204" pitchFamily="34" charset="0"/>
              <a:buChar char="•"/>
            </a:pPr>
            <a:r>
              <a:rPr lang="en-US" b="1" dirty="0"/>
              <a:t>Balanced Matrix</a:t>
            </a:r>
            <a:r>
              <a:rPr lang="en-US" dirty="0"/>
              <a:t>: Authority is shared equally between functional and project managers.</a:t>
            </a:r>
          </a:p>
          <a:p>
            <a:pPr marL="742950" lvl="1" indent="-285750">
              <a:buFont typeface="Arial" panose="020B0604020202020204" pitchFamily="34" charset="0"/>
              <a:buChar char="•"/>
            </a:pPr>
            <a:r>
              <a:rPr lang="en-US" b="1" dirty="0"/>
              <a:t>Strong Matrix</a:t>
            </a:r>
            <a:r>
              <a:rPr lang="en-US" dirty="0"/>
              <a:t>: Project managers have more authority than functional managers.</a:t>
            </a:r>
          </a:p>
          <a:p>
            <a:pPr>
              <a:buFont typeface="Arial" panose="020B0604020202020204" pitchFamily="34" charset="0"/>
              <a:buChar char="•"/>
            </a:pPr>
            <a:r>
              <a:rPr lang="en-US" b="1" dirty="0"/>
              <a:t>Advantages</a:t>
            </a:r>
            <a:r>
              <a:rPr lang="en-US" dirty="0"/>
              <a:t>: </a:t>
            </a:r>
          </a:p>
          <a:p>
            <a:pPr marL="742950" lvl="1" indent="-285750">
              <a:buFont typeface="Arial" panose="020B0604020202020204" pitchFamily="34" charset="0"/>
              <a:buChar char="•"/>
            </a:pPr>
            <a:r>
              <a:rPr lang="en-US" dirty="0"/>
              <a:t>Efficient resource allocation across projects.</a:t>
            </a:r>
          </a:p>
          <a:p>
            <a:pPr marL="742950" lvl="1" indent="-285750">
              <a:buFont typeface="Arial" panose="020B0604020202020204" pitchFamily="34" charset="0"/>
              <a:buChar char="•"/>
            </a:pPr>
            <a:r>
              <a:rPr lang="en-US" dirty="0"/>
              <a:t>Improved communication and collaboration.</a:t>
            </a:r>
          </a:p>
          <a:p>
            <a:pPr>
              <a:buFont typeface="Arial" panose="020B0604020202020204" pitchFamily="34" charset="0"/>
              <a:buChar char="•"/>
            </a:pPr>
            <a:r>
              <a:rPr lang="en-US" b="1" dirty="0"/>
              <a:t>Disadvantages</a:t>
            </a:r>
            <a:r>
              <a:rPr lang="en-US" dirty="0"/>
              <a:t>: </a:t>
            </a:r>
          </a:p>
          <a:p>
            <a:pPr marL="742950" lvl="1" indent="-285750">
              <a:buFont typeface="Arial" panose="020B0604020202020204" pitchFamily="34" charset="0"/>
              <a:buChar char="•"/>
            </a:pPr>
            <a:r>
              <a:rPr lang="en-US" dirty="0"/>
              <a:t>Potential for conflict between project and functional managers.</a:t>
            </a:r>
          </a:p>
          <a:p>
            <a:pPr marL="742950" lvl="1" indent="-285750">
              <a:buFont typeface="Arial" panose="020B0604020202020204" pitchFamily="34" charset="0"/>
              <a:buChar char="•"/>
            </a:pPr>
            <a:r>
              <a:rPr lang="en-US" dirty="0"/>
              <a:t>Confusion over reporting relationships.</a:t>
            </a:r>
          </a:p>
          <a:p>
            <a:r>
              <a:rPr lang="en-US" b="1" dirty="0"/>
              <a:t>4. Composite Structure</a:t>
            </a:r>
          </a:p>
          <a:p>
            <a:pPr>
              <a:buFont typeface="Arial" panose="020B0604020202020204" pitchFamily="34" charset="0"/>
              <a:buChar char="•"/>
            </a:pPr>
            <a:r>
              <a:rPr lang="en-US" b="1" dirty="0"/>
              <a:t>Description</a:t>
            </a:r>
            <a:r>
              <a:rPr lang="en-US" dirty="0"/>
              <a:t>: A composite structure is a hybrid that combines elements from various project management structures based on the organization's needs.</a:t>
            </a:r>
          </a:p>
          <a:p>
            <a:pPr>
              <a:buFont typeface="Arial" panose="020B0604020202020204" pitchFamily="34" charset="0"/>
              <a:buChar char="•"/>
            </a:pPr>
            <a:r>
              <a:rPr lang="en-US" b="1" dirty="0"/>
              <a:t>Characteristics</a:t>
            </a:r>
            <a:r>
              <a:rPr lang="en-US" dirty="0"/>
              <a:t>: </a:t>
            </a:r>
          </a:p>
          <a:p>
            <a:pPr marL="742950" lvl="1" indent="-285750">
              <a:buFont typeface="Arial" panose="020B0604020202020204" pitchFamily="34" charset="0"/>
              <a:buChar char="•"/>
            </a:pPr>
            <a:r>
              <a:rPr lang="en-US" dirty="0"/>
              <a:t>Different projects or departments may use different structures.</a:t>
            </a:r>
          </a:p>
          <a:p>
            <a:pPr marL="742950" lvl="1" indent="-285750">
              <a:buFont typeface="Arial" panose="020B0604020202020204" pitchFamily="34" charset="0"/>
              <a:buChar char="•"/>
            </a:pPr>
            <a:r>
              <a:rPr lang="en-US" dirty="0"/>
              <a:t>Flexibility to adapt to the specific context of each project.</a:t>
            </a:r>
          </a:p>
          <a:p>
            <a:pPr>
              <a:buFont typeface="Arial" panose="020B0604020202020204" pitchFamily="34" charset="0"/>
              <a:buChar char="•"/>
            </a:pPr>
            <a:r>
              <a:rPr lang="en-US" b="1" dirty="0"/>
              <a:t>Advantages</a:t>
            </a:r>
            <a:r>
              <a:rPr lang="en-US" dirty="0"/>
              <a:t>: </a:t>
            </a:r>
          </a:p>
          <a:p>
            <a:pPr marL="742950" lvl="1" indent="-285750">
              <a:buFont typeface="Arial" panose="020B0604020202020204" pitchFamily="34" charset="0"/>
              <a:buChar char="•"/>
            </a:pPr>
            <a:r>
              <a:rPr lang="en-US" dirty="0"/>
              <a:t>Tailored approach to project management.</a:t>
            </a:r>
          </a:p>
          <a:p>
            <a:pPr marL="742950" lvl="1" indent="-285750">
              <a:buFont typeface="Arial" panose="020B0604020202020204" pitchFamily="34" charset="0"/>
              <a:buChar char="•"/>
            </a:pPr>
            <a:r>
              <a:rPr lang="en-US" dirty="0"/>
              <a:t>Can leverage the strengths of various structures.</a:t>
            </a:r>
          </a:p>
          <a:p>
            <a:pPr>
              <a:buFont typeface="Arial" panose="020B0604020202020204" pitchFamily="34" charset="0"/>
              <a:buChar char="•"/>
            </a:pPr>
            <a:r>
              <a:rPr lang="en-US" b="1" dirty="0"/>
              <a:t>Disadvantages</a:t>
            </a:r>
            <a:r>
              <a:rPr lang="en-US" dirty="0"/>
              <a:t>: </a:t>
            </a:r>
          </a:p>
          <a:p>
            <a:pPr marL="742950" lvl="1" indent="-285750">
              <a:buFont typeface="Arial" panose="020B0604020202020204" pitchFamily="34" charset="0"/>
              <a:buChar char="•"/>
            </a:pPr>
            <a:r>
              <a:rPr lang="en-US" dirty="0"/>
              <a:t>Complexity in management and coordination.</a:t>
            </a:r>
          </a:p>
          <a:p>
            <a:pPr marL="742950" lvl="1" indent="-285750">
              <a:buFont typeface="Arial" panose="020B0604020202020204" pitchFamily="34" charset="0"/>
              <a:buChar char="•"/>
            </a:pPr>
            <a:r>
              <a:rPr lang="en-US" dirty="0"/>
              <a:t>Potential inconsistency across projects.</a:t>
            </a:r>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26</a:t>
            </a:fld>
            <a:endParaRPr lang="en-US"/>
          </a:p>
        </p:txBody>
      </p:sp>
    </p:spTree>
    <p:extLst>
      <p:ext uri="{BB962C8B-B14F-4D97-AF65-F5344CB8AC3E}">
        <p14:creationId xmlns:p14="http://schemas.microsoft.com/office/powerpoint/2010/main" val="2403960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212529"/>
                </a:solidFill>
                <a:effectLst/>
                <a:latin typeface="Roboto" panose="02000000000000000000" pitchFamily="2" charset="0"/>
              </a:rPr>
              <a:t>This structure organizes employees based on their specialized functions or departments (e.g. marketing, finance, engineering); it’s ideal for organizations with well-defined departments and a focus on specializations. In a functional structure, centralized decision-making can slow project progress, particularly when multiple levels of approval are needed.</a:t>
            </a:r>
          </a:p>
          <a:p>
            <a:pPr algn="l" fontAlgn="base">
              <a:buFont typeface="Arial" panose="020B0604020202020204" pitchFamily="34" charset="0"/>
              <a:buChar char="•"/>
            </a:pPr>
            <a:r>
              <a:rPr lang="en-US" b="1" i="0" dirty="0">
                <a:solidFill>
                  <a:srgbClr val="212529"/>
                </a:solidFill>
                <a:effectLst/>
                <a:latin typeface="Roboto" panose="02000000000000000000" pitchFamily="2" charset="0"/>
              </a:rPr>
              <a:t>PROS:</a:t>
            </a:r>
            <a:r>
              <a:rPr lang="en-US" b="0" i="0" dirty="0">
                <a:solidFill>
                  <a:srgbClr val="212529"/>
                </a:solidFill>
                <a:effectLst/>
                <a:latin typeface="Roboto" panose="02000000000000000000" pitchFamily="2" charset="0"/>
              </a:rPr>
              <a:t> Functional structures create clear lines of authority within departments and allow employees to develop specialized expertise.</a:t>
            </a:r>
          </a:p>
          <a:p>
            <a:pPr algn="l" fontAlgn="base">
              <a:buFont typeface="Arial" panose="020B0604020202020204" pitchFamily="34" charset="0"/>
              <a:buChar char="•"/>
            </a:pPr>
            <a:r>
              <a:rPr lang="en-US" b="1" i="0" dirty="0">
                <a:solidFill>
                  <a:srgbClr val="212529"/>
                </a:solidFill>
                <a:effectLst/>
                <a:latin typeface="Roboto" panose="02000000000000000000" pitchFamily="2" charset="0"/>
              </a:rPr>
              <a:t>CONS:</a:t>
            </a:r>
            <a:r>
              <a:rPr lang="en-US" b="0" i="0" dirty="0">
                <a:solidFill>
                  <a:srgbClr val="212529"/>
                </a:solidFill>
                <a:effectLst/>
                <a:latin typeface="Roboto" panose="02000000000000000000" pitchFamily="2" charset="0"/>
              </a:rPr>
              <a:t> This structure can lead to silos and communication barriers between departments, and it may not be adaptable to changing project needs.</a:t>
            </a:r>
          </a:p>
          <a:p>
            <a:pPr algn="l" fontAlgn="base"/>
            <a:r>
              <a:rPr lang="en-US" b="0" i="0" dirty="0">
                <a:solidFill>
                  <a:srgbClr val="212529"/>
                </a:solidFill>
                <a:effectLst/>
                <a:latin typeface="Roboto" panose="02000000000000000000" pitchFamily="2" charset="0"/>
              </a:rPr>
              <a:t>To mitigate potential challenges and maximize the effectiveness of a functional structure, you should promote cross-functional communication, clearly define roles and responsibilities, and empower project managers within your organization.</a:t>
            </a:r>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29</a:t>
            </a:fld>
            <a:endParaRPr lang="en-US"/>
          </a:p>
        </p:txBody>
      </p:sp>
    </p:spTree>
    <p:extLst>
      <p:ext uri="{BB962C8B-B14F-4D97-AF65-F5344CB8AC3E}">
        <p14:creationId xmlns:p14="http://schemas.microsoft.com/office/powerpoint/2010/main" val="37289857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0" i="0" dirty="0">
                <a:solidFill>
                  <a:srgbClr val="FFFFFF"/>
                </a:solidFill>
                <a:effectLst/>
                <a:latin typeface="Open Sans" panose="020B0606030504020204" pitchFamily="34" charset="0"/>
              </a:rPr>
              <a:t>The Functional Organization groups workers based on their area of specialization. This structure is an extension of the Line Organization. The functional manager leads the team and manages all the operations or businesses.</a:t>
            </a:r>
            <a:endParaRPr lang="en-US" b="0" i="0" dirty="0">
              <a:solidFill>
                <a:srgbClr val="FFFFFF"/>
              </a:solidFill>
              <a:effectLst/>
              <a:latin typeface="Poppins" panose="020B0502040204020203" pitchFamily="2" charset="0"/>
            </a:endParaRPr>
          </a:p>
          <a:p>
            <a:pPr algn="just"/>
            <a:r>
              <a:rPr lang="en-US" b="0" i="0" dirty="0">
                <a:solidFill>
                  <a:srgbClr val="FFFFFF"/>
                </a:solidFill>
                <a:effectLst/>
                <a:latin typeface="Open Sans" panose="020B0606030504020204" pitchFamily="34" charset="0"/>
              </a:rPr>
              <a:t>The Functional Organization manager enforces directives within a clearly defined scope of authority. This concept originated with Fredrick W. Taylor.</a:t>
            </a:r>
            <a:endParaRPr lang="en-US" b="0" i="0" dirty="0">
              <a:solidFill>
                <a:srgbClr val="FFFFFF"/>
              </a:solidFill>
              <a:effectLst/>
              <a:latin typeface="Poppins" panose="020B0502040204020203" pitchFamily="2" charset="0"/>
            </a:endParaRPr>
          </a:p>
          <a:p>
            <a:pPr algn="just"/>
            <a:r>
              <a:rPr lang="en-US" b="0" i="0" dirty="0">
                <a:solidFill>
                  <a:srgbClr val="FFFFFF"/>
                </a:solidFill>
                <a:effectLst/>
                <a:latin typeface="Open Sans" panose="020B0606030504020204" pitchFamily="34" charset="0"/>
              </a:rPr>
              <a:t>Here you classify workers according to their functional roles and department. Some of the general departments under this are</a:t>
            </a:r>
            <a:endParaRPr lang="en-US" b="0" i="0" dirty="0">
              <a:solidFill>
                <a:srgbClr val="FFFFFF"/>
              </a:solidFill>
              <a:effectLst/>
              <a:latin typeface="Poppins" panose="020B0502040204020203" pitchFamily="2" charset="0"/>
            </a:endParaRPr>
          </a:p>
          <a:p>
            <a:pPr algn="l">
              <a:buFont typeface="Arial" panose="020B0604020202020204" pitchFamily="34" charset="0"/>
              <a:buChar char="•"/>
            </a:pPr>
            <a:r>
              <a:rPr lang="en-US" b="0" i="0" dirty="0">
                <a:solidFill>
                  <a:srgbClr val="FFFFFF"/>
                </a:solidFill>
                <a:effectLst/>
                <a:latin typeface="Open Sans" panose="020B0606030504020204" pitchFamily="34" charset="0"/>
              </a:rPr>
              <a:t>    Finance</a:t>
            </a:r>
            <a:endParaRPr lang="en-US" b="0" i="0" dirty="0">
              <a:solidFill>
                <a:srgbClr val="FFFFFF"/>
              </a:solidFill>
              <a:effectLst/>
              <a:latin typeface="Poppins" panose="020B0502040204020203" pitchFamily="2" charset="0"/>
            </a:endParaRPr>
          </a:p>
          <a:p>
            <a:pPr algn="l">
              <a:buFont typeface="Arial" panose="020B0604020202020204" pitchFamily="34" charset="0"/>
              <a:buChar char="•"/>
            </a:pPr>
            <a:r>
              <a:rPr lang="en-US" b="0" i="0" dirty="0">
                <a:solidFill>
                  <a:srgbClr val="FFFFFF"/>
                </a:solidFill>
                <a:effectLst/>
                <a:latin typeface="Open Sans" panose="020B0606030504020204" pitchFamily="34" charset="0"/>
              </a:rPr>
              <a:t>    HR</a:t>
            </a:r>
            <a:endParaRPr lang="en-US" b="0" i="0" dirty="0">
              <a:solidFill>
                <a:srgbClr val="FFFFFF"/>
              </a:solidFill>
              <a:effectLst/>
              <a:latin typeface="Poppins" panose="020B0502040204020203" pitchFamily="2" charset="0"/>
            </a:endParaRPr>
          </a:p>
          <a:p>
            <a:pPr algn="l">
              <a:buFont typeface="Arial" panose="020B0604020202020204" pitchFamily="34" charset="0"/>
              <a:buChar char="•"/>
            </a:pPr>
            <a:r>
              <a:rPr lang="en-US" b="0" i="0" dirty="0">
                <a:solidFill>
                  <a:srgbClr val="FFFFFF"/>
                </a:solidFill>
                <a:effectLst/>
                <a:latin typeface="Open Sans" panose="020B0606030504020204" pitchFamily="34" charset="0"/>
              </a:rPr>
              <a:t>    Sales</a:t>
            </a:r>
            <a:endParaRPr lang="en-US" b="0" i="0" dirty="0">
              <a:solidFill>
                <a:srgbClr val="FFFFFF"/>
              </a:solidFill>
              <a:effectLst/>
              <a:latin typeface="Poppins" panose="020B0502040204020203" pitchFamily="2" charset="0"/>
            </a:endParaRPr>
          </a:p>
          <a:p>
            <a:pPr algn="l">
              <a:buFont typeface="Arial" panose="020B0604020202020204" pitchFamily="34" charset="0"/>
              <a:buChar char="•"/>
            </a:pPr>
            <a:r>
              <a:rPr lang="en-US" b="0" i="0" dirty="0">
                <a:solidFill>
                  <a:srgbClr val="FFFFFF"/>
                </a:solidFill>
                <a:effectLst/>
                <a:latin typeface="Open Sans" panose="020B0606030504020204" pitchFamily="34" charset="0"/>
              </a:rPr>
              <a:t>    Customer service</a:t>
            </a:r>
            <a:endParaRPr lang="en-US" b="0" i="0" dirty="0">
              <a:solidFill>
                <a:srgbClr val="FFFFFF"/>
              </a:solidFill>
              <a:effectLst/>
              <a:latin typeface="Poppins" panose="020B0502040204020203" pitchFamily="2" charset="0"/>
            </a:endParaRPr>
          </a:p>
          <a:p>
            <a:pPr algn="l">
              <a:buFont typeface="Arial" panose="020B0604020202020204" pitchFamily="34" charset="0"/>
              <a:buChar char="•"/>
            </a:pPr>
            <a:r>
              <a:rPr lang="en-US" b="0" i="0" dirty="0">
                <a:solidFill>
                  <a:srgbClr val="FFFFFF"/>
                </a:solidFill>
                <a:effectLst/>
                <a:latin typeface="Open Sans" panose="020B0606030504020204" pitchFamily="34" charset="0"/>
              </a:rPr>
              <a:t>    Supply Chain, etc.,</a:t>
            </a:r>
            <a:endParaRPr lang="en-US" b="0" i="0" dirty="0">
              <a:solidFill>
                <a:srgbClr val="FFFFFF"/>
              </a:solidFill>
              <a:effectLst/>
              <a:latin typeface="Poppins" panose="020B0502040204020203" pitchFamily="2" charset="0"/>
            </a:endParaRPr>
          </a:p>
          <a:p>
            <a:pPr algn="just"/>
            <a:r>
              <a:rPr lang="en-US" b="0" i="0" dirty="0">
                <a:solidFill>
                  <a:srgbClr val="FFFFFF"/>
                </a:solidFill>
                <a:effectLst/>
                <a:latin typeface="Open Sans" panose="020B0606030504020204" pitchFamily="34" charset="0"/>
              </a:rPr>
              <a:t>The organization's head is the president, followed by the vice president, and the chain goes on. Furthermore, the leaders of departments foresee their departmental performance. So they collectively help the organization control quality and uniformity.</a:t>
            </a:r>
            <a:endParaRPr lang="en-US" b="0" i="0" dirty="0">
              <a:solidFill>
                <a:srgbClr val="FFFFFF"/>
              </a:solidFill>
              <a:effectLst/>
              <a:latin typeface="Poppins" panose="020B0502040204020203" pitchFamily="2" charset="0"/>
            </a:endParaRPr>
          </a:p>
          <a:p>
            <a:pPr algn="just"/>
            <a:r>
              <a:rPr lang="en-US" b="0" i="0" dirty="0">
                <a:solidFill>
                  <a:srgbClr val="FFFFFF"/>
                </a:solidFill>
                <a:effectLst/>
                <a:latin typeface="Open Sans" panose="020B0606030504020204" pitchFamily="34" charset="0"/>
              </a:rPr>
              <a:t>The structure positions departments vertically and disconnected from others. Hence the name “silos.” The department heads manage communication between the top management and his subordinates.</a:t>
            </a:r>
            <a:endParaRPr lang="en-US" b="0" i="0" dirty="0">
              <a:solidFill>
                <a:srgbClr val="FFFFFF"/>
              </a:solidFill>
              <a:effectLst/>
              <a:latin typeface="Poppins" panose="020B0502040204020203" pitchFamily="2" charset="0"/>
            </a:endParaRPr>
          </a:p>
          <a:p>
            <a:pPr algn="just"/>
            <a:r>
              <a:rPr lang="en-US" b="0" i="0" dirty="0">
                <a:solidFill>
                  <a:srgbClr val="FFFFFF"/>
                </a:solidFill>
                <a:effectLst/>
                <a:latin typeface="Open Sans" panose="020B0606030504020204" pitchFamily="34" charset="0"/>
              </a:rPr>
              <a:t>The project manager has a minimal role to play or may not have a designated position. Generally, you'll play the role of an expediter or work as a coordinator. While as a functional manager, you'll deal with</a:t>
            </a:r>
            <a:endParaRPr lang="en-US" b="0" i="0" dirty="0">
              <a:solidFill>
                <a:srgbClr val="FFFFFF"/>
              </a:solidFill>
              <a:effectLst/>
              <a:latin typeface="Poppins" panose="020B0502040204020203" pitchFamily="2" charset="0"/>
            </a:endParaRPr>
          </a:p>
          <a:p>
            <a:pPr algn="l">
              <a:buFont typeface="Arial" panose="020B0604020202020204" pitchFamily="34" charset="0"/>
              <a:buChar char="•"/>
            </a:pPr>
            <a:r>
              <a:rPr lang="en-US" b="0" i="0" dirty="0">
                <a:solidFill>
                  <a:srgbClr val="FFFFFF"/>
                </a:solidFill>
                <a:effectLst/>
                <a:latin typeface="Open Sans" panose="020B0606030504020204" pitchFamily="34" charset="0"/>
              </a:rPr>
              <a:t>    Budget allocation</a:t>
            </a:r>
            <a:endParaRPr lang="en-US" b="0" i="0" dirty="0">
              <a:solidFill>
                <a:srgbClr val="FFFFFF"/>
              </a:solidFill>
              <a:effectLst/>
              <a:latin typeface="Poppins" panose="020B0502040204020203" pitchFamily="2" charset="0"/>
            </a:endParaRPr>
          </a:p>
          <a:p>
            <a:pPr algn="l">
              <a:buFont typeface="Arial" panose="020B0604020202020204" pitchFamily="34" charset="0"/>
              <a:buChar char="•"/>
            </a:pPr>
            <a:r>
              <a:rPr lang="en-US" b="0" i="0" dirty="0">
                <a:solidFill>
                  <a:srgbClr val="FFFFFF"/>
                </a:solidFill>
                <a:effectLst/>
                <a:latin typeface="Open Sans" panose="020B0606030504020204" pitchFamily="34" charset="0"/>
              </a:rPr>
              <a:t>    Resource allocation, and</a:t>
            </a:r>
            <a:endParaRPr lang="en-US" b="0" i="0" dirty="0">
              <a:solidFill>
                <a:srgbClr val="FFFFFF"/>
              </a:solidFill>
              <a:effectLst/>
              <a:latin typeface="Poppins" panose="020B0502040204020203" pitchFamily="2" charset="0"/>
            </a:endParaRPr>
          </a:p>
          <a:p>
            <a:pPr algn="l">
              <a:buFont typeface="Arial" panose="020B0604020202020204" pitchFamily="34" charset="0"/>
              <a:buChar char="•"/>
            </a:pPr>
            <a:r>
              <a:rPr lang="en-US" b="0" i="0" dirty="0">
                <a:solidFill>
                  <a:srgbClr val="FFFFFF"/>
                </a:solidFill>
                <a:effectLst/>
                <a:latin typeface="Open Sans" panose="020B0606030504020204" pitchFamily="34" charset="0"/>
              </a:rPr>
              <a:t>    Decision making</a:t>
            </a:r>
            <a:endParaRPr lang="en-US" b="0" i="0" dirty="0">
              <a:solidFill>
                <a:srgbClr val="FFFFFF"/>
              </a:solidFill>
              <a:effectLst/>
              <a:latin typeface="Poppins" panose="020B0502040204020203" pitchFamily="2" charset="0"/>
            </a:endParaRPr>
          </a:p>
          <a:p>
            <a:pPr algn="l"/>
            <a:r>
              <a:rPr lang="en-US" b="0" i="0" dirty="0">
                <a:solidFill>
                  <a:srgbClr val="FFFFFF"/>
                </a:solidFill>
                <a:effectLst/>
                <a:latin typeface="Open Sans" panose="020B0606030504020204" pitchFamily="34" charset="0"/>
              </a:rPr>
              <a:t>This type of organization is suitable for manufacturing or engineering companies. It supports ongoing operations and practices for </a:t>
            </a:r>
            <a:r>
              <a:rPr lang="en-US" b="0" i="0" dirty="0">
                <a:solidFill>
                  <a:srgbClr val="34AEB5"/>
                </a:solidFill>
                <a:effectLst/>
                <a:latin typeface="Open Sans" panose="020B0606030504020204" pitchFamily="34" charset="0"/>
                <a:hlinkClick r:id="rId3"/>
              </a:rPr>
              <a:t>product development</a:t>
            </a:r>
            <a:r>
              <a:rPr lang="en-US" b="0" i="0" dirty="0">
                <a:solidFill>
                  <a:srgbClr val="FFFFFF"/>
                </a:solidFill>
                <a:effectLst/>
                <a:latin typeface="Open Sans" panose="020B0606030504020204" pitchFamily="34" charset="0"/>
              </a:rPr>
              <a:t>.</a:t>
            </a:r>
            <a:br>
              <a:rPr lang="en-US" b="0" i="0" dirty="0">
                <a:solidFill>
                  <a:srgbClr val="FFFFFF"/>
                </a:solidFill>
                <a:effectLst/>
                <a:latin typeface="Open Sans" panose="020B0606030504020204" pitchFamily="34" charset="0"/>
              </a:rPr>
            </a:br>
            <a:endParaRPr lang="en-US" b="0" i="0" dirty="0">
              <a:solidFill>
                <a:srgbClr val="FFFFFF"/>
              </a:solidFill>
              <a:effectLst/>
              <a:latin typeface="Poppins" panose="020B0502040204020203" pitchFamily="2" charset="0"/>
            </a:endParaRPr>
          </a:p>
          <a:p>
            <a:pPr algn="l"/>
            <a:br>
              <a:rPr lang="en-US" b="1" i="0" dirty="0">
                <a:solidFill>
                  <a:srgbClr val="FFFFFF"/>
                </a:solidFill>
                <a:effectLst/>
                <a:latin typeface="Poppins" panose="020B0502040204020203" pitchFamily="2" charset="0"/>
              </a:rPr>
            </a:br>
            <a:r>
              <a:rPr lang="en-US" b="1" i="0" dirty="0">
                <a:solidFill>
                  <a:srgbClr val="FFFFFF"/>
                </a:solidFill>
                <a:effectLst/>
                <a:latin typeface="Poppins" panose="020B0502040204020203" pitchFamily="2" charset="0"/>
              </a:rPr>
              <a:t>Advantages</a:t>
            </a:r>
            <a:endParaRPr lang="en-US" b="0" i="0" dirty="0">
              <a:solidFill>
                <a:srgbClr val="FFFFFF"/>
              </a:solidFill>
              <a:effectLst/>
              <a:latin typeface="Poppins" panose="020B0502040204020203" pitchFamily="2" charset="0"/>
            </a:endParaRPr>
          </a:p>
          <a:p>
            <a:pPr algn="l"/>
            <a:r>
              <a:rPr lang="en-US" b="0" i="0" dirty="0">
                <a:solidFill>
                  <a:srgbClr val="FFFFFF"/>
                </a:solidFill>
                <a:effectLst/>
                <a:latin typeface="Poppins" panose="020B0502040204020203" pitchFamily="2" charset="0"/>
              </a:rPr>
              <a:t> </a:t>
            </a:r>
          </a:p>
          <a:p>
            <a:pPr algn="l"/>
            <a:r>
              <a:rPr lang="en-US" b="0" i="0" dirty="0">
                <a:solidFill>
                  <a:srgbClr val="FFFFFF"/>
                </a:solidFill>
                <a:effectLst/>
                <a:latin typeface="Poppins" panose="020B0502040204020203" pitchFamily="2" charset="0"/>
              </a:rPr>
              <a:t>Some of the main benefits of this type of organization are:</a:t>
            </a:r>
          </a:p>
          <a:p>
            <a:pPr algn="l"/>
            <a:r>
              <a:rPr lang="en-US" b="0" i="0" dirty="0">
                <a:solidFill>
                  <a:srgbClr val="FFFFFF"/>
                </a:solidFill>
                <a:effectLst/>
                <a:latin typeface="Poppins" panose="020B0502040204020203" pitchFamily="2" charset="0"/>
              </a:rPr>
              <a:t> </a:t>
            </a:r>
          </a:p>
          <a:p>
            <a:pPr algn="l"/>
            <a:r>
              <a:rPr lang="en-US" b="0" i="0" dirty="0">
                <a:solidFill>
                  <a:srgbClr val="FFFFFF"/>
                </a:solidFill>
                <a:effectLst/>
                <a:latin typeface="Poppins" panose="020B0502040204020203" pitchFamily="2" charset="0"/>
              </a:rPr>
              <a:t>1) It groups employees based on functional skills for a higher degree of performance.</a:t>
            </a:r>
          </a:p>
          <a:p>
            <a:pPr algn="l"/>
            <a:r>
              <a:rPr lang="en-US" b="0" i="0" dirty="0">
                <a:solidFill>
                  <a:srgbClr val="FFFFFF"/>
                </a:solidFill>
                <a:effectLst/>
                <a:latin typeface="Poppins" panose="020B0502040204020203" pitchFamily="2" charset="0"/>
              </a:rPr>
              <a:t>2) Employees have experience in the same field, resulting in higher output. Also, they deliver high-quality services and results.</a:t>
            </a:r>
          </a:p>
          <a:p>
            <a:pPr algn="l"/>
            <a:r>
              <a:rPr lang="en-US" b="0" i="0" dirty="0">
                <a:solidFill>
                  <a:srgbClr val="FFFFFF"/>
                </a:solidFill>
                <a:effectLst/>
                <a:latin typeface="Poppins" panose="020B0502040204020203" pitchFamily="2" charset="0"/>
              </a:rPr>
              <a:t>3) Accountability is evident, as the roles and responsibilities are clearly defined.</a:t>
            </a:r>
          </a:p>
          <a:p>
            <a:pPr algn="l"/>
            <a:r>
              <a:rPr lang="en-US" b="0" i="0" dirty="0">
                <a:solidFill>
                  <a:srgbClr val="FFFFFF"/>
                </a:solidFill>
                <a:effectLst/>
                <a:latin typeface="Poppins" panose="020B0502040204020203" pitchFamily="2" charset="0"/>
              </a:rPr>
              <a:t>4) Hierarchy is visible and no need for multiple reporting</a:t>
            </a:r>
          </a:p>
          <a:p>
            <a:pPr algn="l"/>
            <a:r>
              <a:rPr lang="en-US" b="0" i="0" dirty="0">
                <a:solidFill>
                  <a:srgbClr val="FFFFFF"/>
                </a:solidFill>
                <a:effectLst/>
                <a:latin typeface="Poppins" panose="020B0502040204020203" pitchFamily="2" charset="0"/>
              </a:rPr>
              <a:t>5) No duplication of work as each department is different. Also, the job description is clear.</a:t>
            </a:r>
          </a:p>
          <a:p>
            <a:pPr algn="l"/>
            <a:r>
              <a:rPr lang="en-US" b="0" i="0" dirty="0">
                <a:solidFill>
                  <a:srgbClr val="FFFFFF"/>
                </a:solidFill>
                <a:effectLst/>
                <a:latin typeface="Poppins" panose="020B0502040204020203" pitchFamily="2" charset="0"/>
              </a:rPr>
              <a:t>6) Career path for the staff is clear and visible</a:t>
            </a:r>
          </a:p>
          <a:p>
            <a:pPr algn="l"/>
            <a:r>
              <a:rPr lang="en-US" b="0" i="0" dirty="0">
                <a:solidFill>
                  <a:srgbClr val="FFFFFF"/>
                </a:solidFill>
                <a:effectLst/>
                <a:latin typeface="Poppins" panose="020B0502040204020203" pitchFamily="2" charset="0"/>
              </a:rPr>
              <a:t> </a:t>
            </a:r>
          </a:p>
          <a:p>
            <a:pPr algn="l"/>
            <a:r>
              <a:rPr lang="en-US" b="1" i="0" dirty="0">
                <a:solidFill>
                  <a:srgbClr val="FFFFFF"/>
                </a:solidFill>
                <a:effectLst/>
                <a:latin typeface="Poppins" panose="020B0502040204020203" pitchFamily="2" charset="0"/>
              </a:rPr>
              <a:t>Disadvantages</a:t>
            </a:r>
            <a:endParaRPr lang="en-US" b="0" i="0" dirty="0">
              <a:solidFill>
                <a:srgbClr val="FFFFFF"/>
              </a:solidFill>
              <a:effectLst/>
              <a:latin typeface="Poppins" panose="020B0502040204020203" pitchFamily="2" charset="0"/>
            </a:endParaRPr>
          </a:p>
          <a:p>
            <a:pPr algn="l"/>
            <a:r>
              <a:rPr lang="en-US" b="0" i="0" dirty="0">
                <a:solidFill>
                  <a:srgbClr val="FFFFFF"/>
                </a:solidFill>
                <a:effectLst/>
                <a:latin typeface="Poppins" panose="020B0502040204020203" pitchFamily="2" charset="0"/>
              </a:rPr>
              <a:t> </a:t>
            </a:r>
          </a:p>
          <a:p>
            <a:pPr algn="l"/>
            <a:r>
              <a:rPr lang="en-US" b="0" i="0" dirty="0">
                <a:solidFill>
                  <a:srgbClr val="FFFFFF"/>
                </a:solidFill>
                <a:effectLst/>
                <a:latin typeface="Poppins" panose="020B0502040204020203" pitchFamily="2" charset="0"/>
              </a:rPr>
              <a:t>1) Employees get bored with the routine and lose enthusiasm.</a:t>
            </a:r>
          </a:p>
          <a:p>
            <a:pPr algn="l"/>
            <a:r>
              <a:rPr lang="en-US" b="0" i="0" dirty="0">
                <a:solidFill>
                  <a:srgbClr val="FFFFFF"/>
                </a:solidFill>
                <a:effectLst/>
                <a:latin typeface="Poppins" panose="020B0502040204020203" pitchFamily="2" charset="0"/>
              </a:rPr>
              <a:t>2) It limits the management skills of functional managers. Hence, they face restrictions on their growth path and remain specialists. So they're not prepared for top management posts.</a:t>
            </a:r>
          </a:p>
          <a:p>
            <a:pPr algn="l"/>
            <a:r>
              <a:rPr lang="en-US" b="0" i="0" dirty="0">
                <a:solidFill>
                  <a:srgbClr val="FFFFFF"/>
                </a:solidFill>
                <a:effectLst/>
                <a:latin typeface="Poppins" panose="020B0502040204020203" pitchFamily="2" charset="0"/>
              </a:rPr>
              <a:t>3) Departments are more concerned with their departmental goals and therefore may be less responsive to the organization’s overall objectives.</a:t>
            </a:r>
          </a:p>
          <a:p>
            <a:pPr algn="l"/>
            <a:r>
              <a:rPr lang="en-US" b="0" i="0" dirty="0">
                <a:solidFill>
                  <a:srgbClr val="FFFFFF"/>
                </a:solidFill>
                <a:effectLst/>
                <a:latin typeface="Poppins" panose="020B0502040204020203" pitchFamily="2" charset="0"/>
              </a:rPr>
              <a:t>4) Hiring costs are too high as high-skilled employees cost more.</a:t>
            </a:r>
          </a:p>
          <a:p>
            <a:pPr algn="l"/>
            <a:r>
              <a:rPr lang="en-US" b="0" i="0" dirty="0">
                <a:solidFill>
                  <a:srgbClr val="FFFFFF"/>
                </a:solidFill>
                <a:effectLst/>
                <a:latin typeface="Poppins" panose="020B0502040204020203" pitchFamily="2" charset="0"/>
              </a:rPr>
              <a:t>5) It causes conflicts in making critical decisions as a result of bureaucratic hierarchy. Functional managers have full authority and may make arbitrary decisions</a:t>
            </a:r>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30</a:t>
            </a:fld>
            <a:endParaRPr lang="en-US"/>
          </a:p>
        </p:txBody>
      </p:sp>
    </p:spTree>
    <p:extLst>
      <p:ext uri="{BB962C8B-B14F-4D97-AF65-F5344CB8AC3E}">
        <p14:creationId xmlns:p14="http://schemas.microsoft.com/office/powerpoint/2010/main" val="2240194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latin typeface="Inter"/>
              </a:rPr>
              <a:t>In a functional structure, the organization is divided into departments based on specific functions (e.g., marketing, finance, human resources, engineering). Each department has its functional manager, who oversees the operations and activities within that area.</a:t>
            </a:r>
          </a:p>
          <a:p>
            <a:pPr algn="l"/>
            <a:r>
              <a:rPr lang="en-US" b="0" i="0" dirty="0">
                <a:effectLst/>
                <a:latin typeface="Inter"/>
              </a:rPr>
              <a:t>‍</a:t>
            </a:r>
          </a:p>
          <a:p>
            <a:pPr algn="l"/>
            <a:r>
              <a:rPr lang="en-US" b="0" i="0" dirty="0">
                <a:effectLst/>
                <a:latin typeface="Inter"/>
              </a:rPr>
              <a:t>Project managers in this structure have limited authority and typically only oversee specific tasks or smaller projects within their functional area. Team members remain in their functional roles and report to their department heads.</a:t>
            </a:r>
          </a:p>
          <a:p>
            <a:pPr algn="l"/>
            <a:r>
              <a:rPr lang="en-US" b="0" i="0" dirty="0">
                <a:effectLst/>
                <a:latin typeface="Inter"/>
              </a:rPr>
              <a:t>‍</a:t>
            </a:r>
          </a:p>
          <a:p>
            <a:pPr algn="l"/>
            <a:r>
              <a:rPr lang="en-US" b="1" i="0" dirty="0">
                <a:effectLst/>
                <a:latin typeface="Tasaorbiterdeck Bold"/>
              </a:rPr>
              <a:t>Advantages</a:t>
            </a:r>
            <a:r>
              <a:rPr lang="en-US" b="0" i="0" dirty="0">
                <a:effectLst/>
                <a:latin typeface="Inter"/>
              </a:rPr>
              <a:t>:</a:t>
            </a:r>
          </a:p>
          <a:p>
            <a:pPr algn="l">
              <a:buFont typeface="Arial" panose="020B0604020202020204" pitchFamily="34" charset="0"/>
              <a:buChar char="•"/>
            </a:pPr>
            <a:r>
              <a:rPr lang="en-US" b="0" i="0" dirty="0">
                <a:effectLst/>
                <a:latin typeface="Inter"/>
              </a:rPr>
              <a:t>Clear specialization and expertise within each department.</a:t>
            </a:r>
          </a:p>
          <a:p>
            <a:pPr algn="l">
              <a:buFont typeface="Arial" panose="020B0604020202020204" pitchFamily="34" charset="0"/>
              <a:buChar char="•"/>
            </a:pPr>
            <a:r>
              <a:rPr lang="en-US" b="0" i="0" dirty="0">
                <a:effectLst/>
                <a:latin typeface="Inter"/>
              </a:rPr>
              <a:t>Efficient use of resources within functional areas.</a:t>
            </a:r>
          </a:p>
          <a:p>
            <a:pPr algn="l">
              <a:buFont typeface="Arial" panose="020B0604020202020204" pitchFamily="34" charset="0"/>
              <a:buChar char="•"/>
            </a:pPr>
            <a:r>
              <a:rPr lang="en-US" b="0" i="0" dirty="0">
                <a:effectLst/>
                <a:latin typeface="Inter"/>
              </a:rPr>
              <a:t>Suitable for stable environments with routine, repetitive projects.</a:t>
            </a:r>
          </a:p>
          <a:p>
            <a:pPr algn="l"/>
            <a:r>
              <a:rPr lang="en-US" b="0" i="0" dirty="0">
                <a:effectLst/>
                <a:latin typeface="Inter"/>
              </a:rPr>
              <a:t>‍</a:t>
            </a:r>
          </a:p>
          <a:p>
            <a:pPr algn="l"/>
            <a:r>
              <a:rPr lang="en-US" b="1" i="0" dirty="0">
                <a:effectLst/>
                <a:latin typeface="Tasaorbiterdeck Bold"/>
              </a:rPr>
              <a:t>Disadvantages</a:t>
            </a:r>
            <a:r>
              <a:rPr lang="en-US" b="0" i="0" dirty="0">
                <a:effectLst/>
                <a:latin typeface="Inter"/>
              </a:rPr>
              <a:t>:</a:t>
            </a:r>
          </a:p>
          <a:p>
            <a:pPr algn="l">
              <a:buFont typeface="Arial" panose="020B0604020202020204" pitchFamily="34" charset="0"/>
              <a:buChar char="•"/>
            </a:pPr>
            <a:r>
              <a:rPr lang="en-US" b="0" i="0" dirty="0">
                <a:effectLst/>
                <a:latin typeface="Inter"/>
              </a:rPr>
              <a:t>Limited collaboration across departments.</a:t>
            </a:r>
          </a:p>
          <a:p>
            <a:pPr algn="l">
              <a:buFont typeface="Arial" panose="020B0604020202020204" pitchFamily="34" charset="0"/>
              <a:buChar char="•"/>
            </a:pPr>
            <a:r>
              <a:rPr lang="en-US" b="0" i="0" dirty="0">
                <a:effectLst/>
                <a:latin typeface="Inter"/>
              </a:rPr>
              <a:t>Project managers need more control and authority over resources and team members.</a:t>
            </a:r>
          </a:p>
          <a:p>
            <a:pPr algn="l"/>
            <a:r>
              <a:rPr lang="en-US" b="0" i="0" dirty="0">
                <a:effectLst/>
                <a:latin typeface="Inter"/>
              </a:rPr>
              <a:t>‍</a:t>
            </a:r>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31</a:t>
            </a:fld>
            <a:endParaRPr lang="en-US"/>
          </a:p>
        </p:txBody>
      </p:sp>
    </p:spTree>
    <p:extLst>
      <p:ext uri="{BB962C8B-B14F-4D97-AF65-F5344CB8AC3E}">
        <p14:creationId xmlns:p14="http://schemas.microsoft.com/office/powerpoint/2010/main" val="23112226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40665" indent="-227965" algn="just">
              <a:lnSpc>
                <a:spcPct val="100000"/>
              </a:lnSpc>
              <a:spcBef>
                <a:spcPts val="955"/>
              </a:spcBef>
              <a:buFont typeface="Arial MT"/>
              <a:buChar char="•"/>
              <a:tabLst>
                <a:tab pos="240665" algn="l"/>
              </a:tabLst>
            </a:pPr>
            <a:r>
              <a:rPr lang="en-US" sz="2800" b="1" u="heavy" spc="-10" dirty="0">
                <a:solidFill>
                  <a:srgbClr val="C00000"/>
                </a:solidFill>
                <a:uFill>
                  <a:solidFill>
                    <a:srgbClr val="C00000"/>
                  </a:solidFill>
                </a:uFill>
                <a:latin typeface="Calibri"/>
                <a:cs typeface="Calibri"/>
              </a:rPr>
              <a:t>Advantages</a:t>
            </a:r>
            <a:endParaRPr lang="en-US" sz="2800" dirty="0">
              <a:latin typeface="Calibri"/>
              <a:cs typeface="Calibri"/>
            </a:endParaRPr>
          </a:p>
          <a:p>
            <a:pPr marL="466090" marR="5715" lvl="1" indent="-307975" algn="just">
              <a:lnSpc>
                <a:spcPts val="2590"/>
              </a:lnSpc>
              <a:spcBef>
                <a:spcPts val="1065"/>
              </a:spcBef>
              <a:buAutoNum type="arabicPeriod"/>
              <a:tabLst>
                <a:tab pos="467995" algn="l"/>
              </a:tabLst>
            </a:pPr>
            <a:r>
              <a:rPr lang="en-US" sz="2400" b="1" dirty="0">
                <a:latin typeface="Calibri"/>
                <a:cs typeface="Calibri"/>
              </a:rPr>
              <a:t>No</a:t>
            </a:r>
            <a:r>
              <a:rPr lang="en-US" sz="2400" b="1" spc="40" dirty="0">
                <a:latin typeface="Calibri"/>
                <a:cs typeface="Calibri"/>
              </a:rPr>
              <a:t> </a:t>
            </a:r>
            <a:r>
              <a:rPr lang="en-US" sz="2400" b="1" dirty="0">
                <a:latin typeface="Calibri"/>
                <a:cs typeface="Calibri"/>
              </a:rPr>
              <a:t>Change.</a:t>
            </a:r>
            <a:r>
              <a:rPr lang="en-US" sz="2400" b="1" spc="45" dirty="0">
                <a:latin typeface="Calibri"/>
                <a:cs typeface="Calibri"/>
              </a:rPr>
              <a:t> </a:t>
            </a:r>
            <a:r>
              <a:rPr lang="en-US" sz="2400" dirty="0">
                <a:latin typeface="Calibri"/>
                <a:cs typeface="Calibri"/>
              </a:rPr>
              <a:t>Projects</a:t>
            </a:r>
            <a:r>
              <a:rPr lang="en-US" sz="2400" spc="50" dirty="0">
                <a:latin typeface="Calibri"/>
                <a:cs typeface="Calibri"/>
              </a:rPr>
              <a:t> </a:t>
            </a:r>
            <a:r>
              <a:rPr lang="en-US" sz="2400" dirty="0">
                <a:latin typeface="Calibri"/>
                <a:cs typeface="Calibri"/>
              </a:rPr>
              <a:t>are</a:t>
            </a:r>
            <a:r>
              <a:rPr lang="en-US" sz="2400" spc="55" dirty="0">
                <a:latin typeface="Calibri"/>
                <a:cs typeface="Calibri"/>
              </a:rPr>
              <a:t> </a:t>
            </a:r>
            <a:r>
              <a:rPr lang="en-US" sz="2400" dirty="0">
                <a:latin typeface="Calibri"/>
                <a:cs typeface="Calibri"/>
              </a:rPr>
              <a:t>completed</a:t>
            </a:r>
            <a:r>
              <a:rPr lang="en-US" sz="2400" spc="50" dirty="0">
                <a:latin typeface="Calibri"/>
                <a:cs typeface="Calibri"/>
              </a:rPr>
              <a:t> </a:t>
            </a:r>
            <a:r>
              <a:rPr lang="en-US" sz="2400" dirty="0">
                <a:latin typeface="Calibri"/>
                <a:cs typeface="Calibri"/>
              </a:rPr>
              <a:t>within</a:t>
            </a:r>
            <a:r>
              <a:rPr lang="en-US" sz="2400" spc="50" dirty="0">
                <a:latin typeface="Calibri"/>
                <a:cs typeface="Calibri"/>
              </a:rPr>
              <a:t> </a:t>
            </a:r>
            <a:r>
              <a:rPr lang="en-US" sz="2400" dirty="0">
                <a:latin typeface="Calibri"/>
                <a:cs typeface="Calibri"/>
              </a:rPr>
              <a:t>the</a:t>
            </a:r>
            <a:r>
              <a:rPr lang="en-US" sz="2400" spc="55" dirty="0">
                <a:latin typeface="Calibri"/>
                <a:cs typeface="Calibri"/>
              </a:rPr>
              <a:t> </a:t>
            </a:r>
            <a:r>
              <a:rPr lang="en-US" sz="2400" dirty="0">
                <a:latin typeface="Calibri"/>
                <a:cs typeface="Calibri"/>
              </a:rPr>
              <a:t>basic</a:t>
            </a:r>
            <a:r>
              <a:rPr lang="en-US" sz="2400" spc="45" dirty="0">
                <a:latin typeface="Calibri"/>
                <a:cs typeface="Calibri"/>
              </a:rPr>
              <a:t> </a:t>
            </a:r>
            <a:r>
              <a:rPr lang="en-US" sz="2400" dirty="0">
                <a:latin typeface="Calibri"/>
                <a:cs typeface="Calibri"/>
              </a:rPr>
              <a:t>functional</a:t>
            </a:r>
            <a:r>
              <a:rPr lang="en-US" sz="2400" spc="45" dirty="0">
                <a:latin typeface="Calibri"/>
                <a:cs typeface="Calibri"/>
              </a:rPr>
              <a:t> </a:t>
            </a:r>
            <a:r>
              <a:rPr lang="en-US" sz="2400" dirty="0">
                <a:latin typeface="Calibri"/>
                <a:cs typeface="Calibri"/>
              </a:rPr>
              <a:t>structure</a:t>
            </a:r>
            <a:r>
              <a:rPr lang="en-US" sz="2400" spc="50" dirty="0">
                <a:latin typeface="Calibri"/>
                <a:cs typeface="Calibri"/>
              </a:rPr>
              <a:t> </a:t>
            </a:r>
            <a:r>
              <a:rPr lang="en-US" sz="2400" dirty="0">
                <a:latin typeface="Calibri"/>
                <a:cs typeface="Calibri"/>
              </a:rPr>
              <a:t>of</a:t>
            </a:r>
            <a:r>
              <a:rPr lang="en-US" sz="2400" spc="55" dirty="0">
                <a:latin typeface="Calibri"/>
                <a:cs typeface="Calibri"/>
              </a:rPr>
              <a:t> </a:t>
            </a:r>
            <a:r>
              <a:rPr lang="en-US" sz="2400" spc="-25" dirty="0">
                <a:latin typeface="Calibri"/>
                <a:cs typeface="Calibri"/>
              </a:rPr>
              <a:t>the 	</a:t>
            </a:r>
            <a:r>
              <a:rPr lang="en-US" sz="2400" dirty="0">
                <a:latin typeface="Calibri"/>
                <a:cs typeface="Calibri"/>
              </a:rPr>
              <a:t>parent</a:t>
            </a:r>
            <a:r>
              <a:rPr lang="en-US" sz="2400" spc="-130" dirty="0">
                <a:latin typeface="Calibri"/>
                <a:cs typeface="Calibri"/>
              </a:rPr>
              <a:t> </a:t>
            </a:r>
            <a:r>
              <a:rPr lang="en-US" sz="2400" spc="-10" dirty="0">
                <a:latin typeface="Calibri"/>
                <a:cs typeface="Calibri"/>
              </a:rPr>
              <a:t>organization.</a:t>
            </a:r>
            <a:endParaRPr lang="en-US" sz="2400" dirty="0">
              <a:latin typeface="Calibri"/>
              <a:cs typeface="Calibri"/>
            </a:endParaRPr>
          </a:p>
          <a:p>
            <a:pPr marL="466090" marR="5080" lvl="1" indent="-307975" algn="just">
              <a:lnSpc>
                <a:spcPct val="89400"/>
              </a:lnSpc>
              <a:spcBef>
                <a:spcPts val="990"/>
              </a:spcBef>
              <a:buAutoNum type="arabicPeriod"/>
              <a:tabLst>
                <a:tab pos="467995" algn="l"/>
              </a:tabLst>
            </a:pPr>
            <a:r>
              <a:rPr lang="en-US" sz="2400" b="1" dirty="0">
                <a:latin typeface="Calibri"/>
                <a:cs typeface="Calibri"/>
              </a:rPr>
              <a:t>Flexibility.</a:t>
            </a:r>
            <a:r>
              <a:rPr lang="en-US" sz="2400" b="1" spc="160" dirty="0">
                <a:latin typeface="Calibri"/>
                <a:cs typeface="Calibri"/>
              </a:rPr>
              <a:t>  </a:t>
            </a:r>
            <a:r>
              <a:rPr lang="en-US" sz="2400" dirty="0">
                <a:solidFill>
                  <a:srgbClr val="262EA4"/>
                </a:solidFill>
                <a:latin typeface="Calibri"/>
                <a:cs typeface="Calibri"/>
              </a:rPr>
              <a:t>There</a:t>
            </a:r>
            <a:r>
              <a:rPr lang="en-US" sz="2400" spc="170" dirty="0">
                <a:solidFill>
                  <a:srgbClr val="262EA4"/>
                </a:solidFill>
                <a:latin typeface="Calibri"/>
                <a:cs typeface="Calibri"/>
              </a:rPr>
              <a:t>  </a:t>
            </a:r>
            <a:r>
              <a:rPr lang="en-US" sz="2400" dirty="0">
                <a:solidFill>
                  <a:srgbClr val="262EA4"/>
                </a:solidFill>
                <a:latin typeface="Calibri"/>
                <a:cs typeface="Calibri"/>
              </a:rPr>
              <a:t>is</a:t>
            </a:r>
            <a:r>
              <a:rPr lang="en-US" sz="2400" spc="160" dirty="0">
                <a:solidFill>
                  <a:srgbClr val="262EA4"/>
                </a:solidFill>
                <a:latin typeface="Calibri"/>
                <a:cs typeface="Calibri"/>
              </a:rPr>
              <a:t>  </a:t>
            </a:r>
            <a:r>
              <a:rPr lang="en-US" sz="2400" dirty="0">
                <a:solidFill>
                  <a:srgbClr val="262EA4"/>
                </a:solidFill>
                <a:latin typeface="Calibri"/>
                <a:cs typeface="Calibri"/>
              </a:rPr>
              <a:t>maximum</a:t>
            </a:r>
            <a:r>
              <a:rPr lang="en-US" sz="2400" spc="165" dirty="0">
                <a:solidFill>
                  <a:srgbClr val="262EA4"/>
                </a:solidFill>
                <a:latin typeface="Calibri"/>
                <a:cs typeface="Calibri"/>
              </a:rPr>
              <a:t>  </a:t>
            </a:r>
            <a:r>
              <a:rPr lang="en-US" sz="2400" dirty="0">
                <a:solidFill>
                  <a:srgbClr val="262EA4"/>
                </a:solidFill>
                <a:latin typeface="Calibri"/>
                <a:cs typeface="Calibri"/>
              </a:rPr>
              <a:t>flexibility</a:t>
            </a:r>
            <a:r>
              <a:rPr lang="en-US" sz="2400" spc="165" dirty="0">
                <a:solidFill>
                  <a:srgbClr val="262EA4"/>
                </a:solidFill>
                <a:latin typeface="Calibri"/>
                <a:cs typeface="Calibri"/>
              </a:rPr>
              <a:t>  </a:t>
            </a:r>
            <a:r>
              <a:rPr lang="en-US" sz="2400" dirty="0">
                <a:solidFill>
                  <a:srgbClr val="262EA4"/>
                </a:solidFill>
                <a:latin typeface="Calibri"/>
                <a:cs typeface="Calibri"/>
              </a:rPr>
              <a:t>in</a:t>
            </a:r>
            <a:r>
              <a:rPr lang="en-US" sz="2400" spc="165" dirty="0">
                <a:solidFill>
                  <a:srgbClr val="262EA4"/>
                </a:solidFill>
                <a:latin typeface="Calibri"/>
                <a:cs typeface="Calibri"/>
              </a:rPr>
              <a:t>  </a:t>
            </a:r>
            <a:r>
              <a:rPr lang="en-US" sz="2400" dirty="0">
                <a:solidFill>
                  <a:srgbClr val="262EA4"/>
                </a:solidFill>
                <a:latin typeface="Calibri"/>
                <a:cs typeface="Calibri"/>
              </a:rPr>
              <a:t>the</a:t>
            </a:r>
            <a:r>
              <a:rPr lang="en-US" sz="2400" spc="165" dirty="0">
                <a:solidFill>
                  <a:srgbClr val="262EA4"/>
                </a:solidFill>
                <a:latin typeface="Calibri"/>
                <a:cs typeface="Calibri"/>
              </a:rPr>
              <a:t>  </a:t>
            </a:r>
            <a:r>
              <a:rPr lang="en-US" sz="2400" dirty="0">
                <a:solidFill>
                  <a:srgbClr val="262EA4"/>
                </a:solidFill>
                <a:latin typeface="Calibri"/>
                <a:cs typeface="Calibri"/>
              </a:rPr>
              <a:t>use</a:t>
            </a:r>
            <a:r>
              <a:rPr lang="en-US" sz="2400" spc="170" dirty="0">
                <a:solidFill>
                  <a:srgbClr val="262EA4"/>
                </a:solidFill>
                <a:latin typeface="Calibri"/>
                <a:cs typeface="Calibri"/>
              </a:rPr>
              <a:t>  </a:t>
            </a:r>
            <a:r>
              <a:rPr lang="en-US" sz="2400" dirty="0">
                <a:solidFill>
                  <a:srgbClr val="262EA4"/>
                </a:solidFill>
                <a:latin typeface="Calibri"/>
                <a:cs typeface="Calibri"/>
              </a:rPr>
              <a:t>of</a:t>
            </a:r>
            <a:r>
              <a:rPr lang="en-US" sz="2400" spc="165" dirty="0">
                <a:solidFill>
                  <a:srgbClr val="262EA4"/>
                </a:solidFill>
                <a:latin typeface="Calibri"/>
                <a:cs typeface="Calibri"/>
              </a:rPr>
              <a:t>  </a:t>
            </a:r>
            <a:r>
              <a:rPr lang="en-US" sz="2400" dirty="0">
                <a:solidFill>
                  <a:srgbClr val="262EA4"/>
                </a:solidFill>
                <a:latin typeface="Calibri"/>
                <a:cs typeface="Calibri"/>
              </a:rPr>
              <a:t>staff.</a:t>
            </a:r>
            <a:r>
              <a:rPr lang="en-US" sz="2400" spc="160" dirty="0">
                <a:solidFill>
                  <a:srgbClr val="262EA4"/>
                </a:solidFill>
                <a:latin typeface="Calibri"/>
                <a:cs typeface="Calibri"/>
              </a:rPr>
              <a:t>  </a:t>
            </a:r>
            <a:r>
              <a:rPr lang="en-US" sz="2400" spc="-10" dirty="0">
                <a:solidFill>
                  <a:srgbClr val="262EA4"/>
                </a:solidFill>
                <a:latin typeface="Calibri"/>
                <a:cs typeface="Calibri"/>
              </a:rPr>
              <a:t>Appropriate 	</a:t>
            </a:r>
            <a:r>
              <a:rPr lang="en-US" sz="2400" dirty="0">
                <a:solidFill>
                  <a:srgbClr val="262EA4"/>
                </a:solidFill>
                <a:latin typeface="Calibri"/>
                <a:cs typeface="Calibri"/>
              </a:rPr>
              <a:t>specialists</a:t>
            </a:r>
            <a:r>
              <a:rPr lang="en-US" sz="2400" spc="90" dirty="0">
                <a:solidFill>
                  <a:srgbClr val="262EA4"/>
                </a:solidFill>
                <a:latin typeface="Calibri"/>
                <a:cs typeface="Calibri"/>
              </a:rPr>
              <a:t> </a:t>
            </a:r>
            <a:r>
              <a:rPr lang="en-US" sz="2400" dirty="0">
                <a:solidFill>
                  <a:srgbClr val="262EA4"/>
                </a:solidFill>
                <a:latin typeface="Calibri"/>
                <a:cs typeface="Calibri"/>
              </a:rPr>
              <a:t>in</a:t>
            </a:r>
            <a:r>
              <a:rPr lang="en-US" sz="2400" spc="100" dirty="0">
                <a:solidFill>
                  <a:srgbClr val="262EA4"/>
                </a:solidFill>
                <a:latin typeface="Calibri"/>
                <a:cs typeface="Calibri"/>
              </a:rPr>
              <a:t> </a:t>
            </a:r>
            <a:r>
              <a:rPr lang="en-US" sz="2400" dirty="0">
                <a:solidFill>
                  <a:srgbClr val="262EA4"/>
                </a:solidFill>
                <a:latin typeface="Calibri"/>
                <a:cs typeface="Calibri"/>
              </a:rPr>
              <a:t>different</a:t>
            </a:r>
            <a:r>
              <a:rPr lang="en-US" sz="2400" spc="100" dirty="0">
                <a:solidFill>
                  <a:srgbClr val="262EA4"/>
                </a:solidFill>
                <a:latin typeface="Calibri"/>
                <a:cs typeface="Calibri"/>
              </a:rPr>
              <a:t> </a:t>
            </a:r>
            <a:r>
              <a:rPr lang="en-US" sz="2400" dirty="0">
                <a:solidFill>
                  <a:srgbClr val="262EA4"/>
                </a:solidFill>
                <a:latin typeface="Calibri"/>
                <a:cs typeface="Calibri"/>
              </a:rPr>
              <a:t>functional</a:t>
            </a:r>
            <a:r>
              <a:rPr lang="en-US" sz="2400" spc="95" dirty="0">
                <a:solidFill>
                  <a:srgbClr val="262EA4"/>
                </a:solidFill>
                <a:latin typeface="Calibri"/>
                <a:cs typeface="Calibri"/>
              </a:rPr>
              <a:t> </a:t>
            </a:r>
            <a:r>
              <a:rPr lang="en-US" sz="2400" dirty="0">
                <a:solidFill>
                  <a:srgbClr val="262EA4"/>
                </a:solidFill>
                <a:latin typeface="Calibri"/>
                <a:cs typeface="Calibri"/>
              </a:rPr>
              <a:t>units</a:t>
            </a:r>
            <a:r>
              <a:rPr lang="en-US" sz="2400" spc="100" dirty="0">
                <a:solidFill>
                  <a:srgbClr val="262EA4"/>
                </a:solidFill>
                <a:latin typeface="Calibri"/>
                <a:cs typeface="Calibri"/>
              </a:rPr>
              <a:t> </a:t>
            </a:r>
            <a:r>
              <a:rPr lang="en-US" sz="2400" dirty="0">
                <a:solidFill>
                  <a:srgbClr val="262EA4"/>
                </a:solidFill>
                <a:latin typeface="Calibri"/>
                <a:cs typeface="Calibri"/>
              </a:rPr>
              <a:t>can</a:t>
            </a:r>
            <a:r>
              <a:rPr lang="en-US" sz="2400" spc="100" dirty="0">
                <a:solidFill>
                  <a:srgbClr val="262EA4"/>
                </a:solidFill>
                <a:latin typeface="Calibri"/>
                <a:cs typeface="Calibri"/>
              </a:rPr>
              <a:t> </a:t>
            </a:r>
            <a:r>
              <a:rPr lang="en-US" sz="2400" dirty="0">
                <a:solidFill>
                  <a:srgbClr val="262EA4"/>
                </a:solidFill>
                <a:latin typeface="Calibri"/>
                <a:cs typeface="Calibri"/>
              </a:rPr>
              <a:t>temporarily</a:t>
            </a:r>
            <a:r>
              <a:rPr lang="en-US" sz="2400" spc="100" dirty="0">
                <a:solidFill>
                  <a:srgbClr val="262EA4"/>
                </a:solidFill>
                <a:latin typeface="Calibri"/>
                <a:cs typeface="Calibri"/>
              </a:rPr>
              <a:t> </a:t>
            </a:r>
            <a:r>
              <a:rPr lang="en-US" sz="2400" dirty="0">
                <a:solidFill>
                  <a:srgbClr val="262EA4"/>
                </a:solidFill>
                <a:latin typeface="Calibri"/>
                <a:cs typeface="Calibri"/>
              </a:rPr>
              <a:t>be</a:t>
            </a:r>
            <a:r>
              <a:rPr lang="en-US" sz="2400" spc="105" dirty="0">
                <a:solidFill>
                  <a:srgbClr val="262EA4"/>
                </a:solidFill>
                <a:latin typeface="Calibri"/>
                <a:cs typeface="Calibri"/>
              </a:rPr>
              <a:t> </a:t>
            </a:r>
            <a:r>
              <a:rPr lang="en-US" sz="2400" dirty="0">
                <a:solidFill>
                  <a:srgbClr val="262EA4"/>
                </a:solidFill>
                <a:latin typeface="Calibri"/>
                <a:cs typeface="Calibri"/>
              </a:rPr>
              <a:t>assigned</a:t>
            </a:r>
            <a:r>
              <a:rPr lang="en-US" sz="2400" spc="100" dirty="0">
                <a:solidFill>
                  <a:srgbClr val="262EA4"/>
                </a:solidFill>
                <a:latin typeface="Calibri"/>
                <a:cs typeface="Calibri"/>
              </a:rPr>
              <a:t> </a:t>
            </a:r>
            <a:r>
              <a:rPr lang="en-US" sz="2400" dirty="0">
                <a:solidFill>
                  <a:srgbClr val="262EA4"/>
                </a:solidFill>
                <a:latin typeface="Calibri"/>
                <a:cs typeface="Calibri"/>
              </a:rPr>
              <a:t>to</a:t>
            </a:r>
            <a:r>
              <a:rPr lang="en-US" sz="2400" spc="100" dirty="0">
                <a:solidFill>
                  <a:srgbClr val="262EA4"/>
                </a:solidFill>
                <a:latin typeface="Calibri"/>
                <a:cs typeface="Calibri"/>
              </a:rPr>
              <a:t> </a:t>
            </a:r>
            <a:r>
              <a:rPr lang="en-US" sz="2400" dirty="0">
                <a:solidFill>
                  <a:srgbClr val="262EA4"/>
                </a:solidFill>
                <a:latin typeface="Calibri"/>
                <a:cs typeface="Calibri"/>
              </a:rPr>
              <a:t>work</a:t>
            </a:r>
            <a:r>
              <a:rPr lang="en-US" sz="2400" spc="95" dirty="0">
                <a:solidFill>
                  <a:srgbClr val="262EA4"/>
                </a:solidFill>
                <a:latin typeface="Calibri"/>
                <a:cs typeface="Calibri"/>
              </a:rPr>
              <a:t> </a:t>
            </a:r>
            <a:r>
              <a:rPr lang="en-US" sz="2400" spc="-25" dirty="0">
                <a:solidFill>
                  <a:srgbClr val="262EA4"/>
                </a:solidFill>
                <a:latin typeface="Calibri"/>
                <a:cs typeface="Calibri"/>
              </a:rPr>
              <a:t>on 	</a:t>
            </a:r>
            <a:r>
              <a:rPr lang="en-US" sz="2400" dirty="0">
                <a:solidFill>
                  <a:srgbClr val="262EA4"/>
                </a:solidFill>
                <a:latin typeface="Calibri"/>
                <a:cs typeface="Calibri"/>
              </a:rPr>
              <a:t>the</a:t>
            </a:r>
            <a:r>
              <a:rPr lang="en-US" sz="2400" spc="45" dirty="0">
                <a:solidFill>
                  <a:srgbClr val="262EA4"/>
                </a:solidFill>
                <a:latin typeface="Calibri"/>
                <a:cs typeface="Calibri"/>
              </a:rPr>
              <a:t>  </a:t>
            </a:r>
            <a:r>
              <a:rPr lang="en-US" sz="2400" dirty="0">
                <a:solidFill>
                  <a:srgbClr val="262EA4"/>
                </a:solidFill>
                <a:latin typeface="Calibri"/>
                <a:cs typeface="Calibri"/>
              </a:rPr>
              <a:t>project</a:t>
            </a:r>
            <a:r>
              <a:rPr lang="en-US" sz="2400" spc="40" dirty="0">
                <a:solidFill>
                  <a:srgbClr val="262EA4"/>
                </a:solidFill>
                <a:latin typeface="Calibri"/>
                <a:cs typeface="Calibri"/>
              </a:rPr>
              <a:t>  </a:t>
            </a:r>
            <a:r>
              <a:rPr lang="en-US" sz="2400" dirty="0">
                <a:solidFill>
                  <a:srgbClr val="262EA4"/>
                </a:solidFill>
                <a:latin typeface="Calibri"/>
                <a:cs typeface="Calibri"/>
              </a:rPr>
              <a:t>and</a:t>
            </a:r>
            <a:r>
              <a:rPr lang="en-US" sz="2400" spc="45" dirty="0">
                <a:solidFill>
                  <a:srgbClr val="262EA4"/>
                </a:solidFill>
                <a:latin typeface="Calibri"/>
                <a:cs typeface="Calibri"/>
              </a:rPr>
              <a:t>  </a:t>
            </a:r>
            <a:r>
              <a:rPr lang="en-US" sz="2400" dirty="0">
                <a:solidFill>
                  <a:srgbClr val="262EA4"/>
                </a:solidFill>
                <a:latin typeface="Calibri"/>
                <a:cs typeface="Calibri"/>
              </a:rPr>
              <a:t>then</a:t>
            </a:r>
            <a:r>
              <a:rPr lang="en-US" sz="2400" spc="45" dirty="0">
                <a:solidFill>
                  <a:srgbClr val="262EA4"/>
                </a:solidFill>
                <a:latin typeface="Calibri"/>
                <a:cs typeface="Calibri"/>
              </a:rPr>
              <a:t>  </a:t>
            </a:r>
            <a:r>
              <a:rPr lang="en-US" sz="2400" dirty="0">
                <a:solidFill>
                  <a:srgbClr val="262EA4"/>
                </a:solidFill>
                <a:latin typeface="Calibri"/>
                <a:cs typeface="Calibri"/>
              </a:rPr>
              <a:t>return</a:t>
            </a:r>
            <a:r>
              <a:rPr lang="en-US" sz="2400" spc="45" dirty="0">
                <a:solidFill>
                  <a:srgbClr val="262EA4"/>
                </a:solidFill>
                <a:latin typeface="Calibri"/>
                <a:cs typeface="Calibri"/>
              </a:rPr>
              <a:t>  </a:t>
            </a:r>
            <a:r>
              <a:rPr lang="en-US" sz="2400" dirty="0">
                <a:solidFill>
                  <a:srgbClr val="262EA4"/>
                </a:solidFill>
                <a:latin typeface="Calibri"/>
                <a:cs typeface="Calibri"/>
              </a:rPr>
              <a:t>to</a:t>
            </a:r>
            <a:r>
              <a:rPr lang="en-US" sz="2400" spc="45" dirty="0">
                <a:solidFill>
                  <a:srgbClr val="262EA4"/>
                </a:solidFill>
                <a:latin typeface="Calibri"/>
                <a:cs typeface="Calibri"/>
              </a:rPr>
              <a:t>  </a:t>
            </a:r>
            <a:r>
              <a:rPr lang="en-US" sz="2400" dirty="0">
                <a:solidFill>
                  <a:srgbClr val="262EA4"/>
                </a:solidFill>
                <a:latin typeface="Calibri"/>
                <a:cs typeface="Calibri"/>
              </a:rPr>
              <a:t>their</a:t>
            </a:r>
            <a:r>
              <a:rPr lang="en-US" sz="2400" spc="45" dirty="0">
                <a:solidFill>
                  <a:srgbClr val="262EA4"/>
                </a:solidFill>
                <a:latin typeface="Calibri"/>
                <a:cs typeface="Calibri"/>
              </a:rPr>
              <a:t>  </a:t>
            </a:r>
            <a:r>
              <a:rPr lang="en-US" sz="2400" dirty="0">
                <a:solidFill>
                  <a:srgbClr val="262EA4"/>
                </a:solidFill>
                <a:latin typeface="Calibri"/>
                <a:cs typeface="Calibri"/>
              </a:rPr>
              <a:t>normal</a:t>
            </a:r>
            <a:r>
              <a:rPr lang="en-US" sz="2400" spc="45" dirty="0">
                <a:solidFill>
                  <a:srgbClr val="262EA4"/>
                </a:solidFill>
                <a:latin typeface="Calibri"/>
                <a:cs typeface="Calibri"/>
              </a:rPr>
              <a:t>  </a:t>
            </a:r>
            <a:r>
              <a:rPr lang="en-US" sz="2400" dirty="0">
                <a:solidFill>
                  <a:srgbClr val="262EA4"/>
                </a:solidFill>
                <a:latin typeface="Calibri"/>
                <a:cs typeface="Calibri"/>
              </a:rPr>
              <a:t>work.</a:t>
            </a:r>
            <a:r>
              <a:rPr lang="en-US" sz="2400" spc="45" dirty="0">
                <a:solidFill>
                  <a:srgbClr val="262EA4"/>
                </a:solidFill>
                <a:latin typeface="Calibri"/>
                <a:cs typeface="Calibri"/>
              </a:rPr>
              <a:t>  </a:t>
            </a:r>
            <a:r>
              <a:rPr lang="en-US" sz="2400" dirty="0">
                <a:solidFill>
                  <a:srgbClr val="262EA4"/>
                </a:solidFill>
                <a:latin typeface="Calibri"/>
                <a:cs typeface="Calibri"/>
              </a:rPr>
              <a:t>With</a:t>
            </a:r>
            <a:r>
              <a:rPr lang="en-US" sz="2400" spc="40" dirty="0">
                <a:solidFill>
                  <a:srgbClr val="262EA4"/>
                </a:solidFill>
                <a:latin typeface="Calibri"/>
                <a:cs typeface="Calibri"/>
              </a:rPr>
              <a:t>  </a:t>
            </a:r>
            <a:r>
              <a:rPr lang="en-US" sz="2400" dirty="0">
                <a:solidFill>
                  <a:srgbClr val="262EA4"/>
                </a:solidFill>
                <a:latin typeface="Calibri"/>
                <a:cs typeface="Calibri"/>
              </a:rPr>
              <a:t>a</a:t>
            </a:r>
            <a:r>
              <a:rPr lang="en-US" sz="2400" spc="45" dirty="0">
                <a:solidFill>
                  <a:srgbClr val="262EA4"/>
                </a:solidFill>
                <a:latin typeface="Calibri"/>
                <a:cs typeface="Calibri"/>
              </a:rPr>
              <a:t>  </a:t>
            </a:r>
            <a:r>
              <a:rPr lang="en-US" sz="2400" dirty="0">
                <a:solidFill>
                  <a:srgbClr val="262EA4"/>
                </a:solidFill>
                <a:latin typeface="Calibri"/>
                <a:cs typeface="Calibri"/>
              </a:rPr>
              <a:t>broad</a:t>
            </a:r>
            <a:r>
              <a:rPr lang="en-US" sz="2400" spc="45" dirty="0">
                <a:solidFill>
                  <a:srgbClr val="262EA4"/>
                </a:solidFill>
                <a:latin typeface="Calibri"/>
                <a:cs typeface="Calibri"/>
              </a:rPr>
              <a:t>  </a:t>
            </a:r>
            <a:r>
              <a:rPr lang="en-US" sz="2400" dirty="0">
                <a:solidFill>
                  <a:srgbClr val="262EA4"/>
                </a:solidFill>
                <a:latin typeface="Calibri"/>
                <a:cs typeface="Calibri"/>
              </a:rPr>
              <a:t>base</a:t>
            </a:r>
            <a:r>
              <a:rPr lang="en-US" sz="2400" spc="50" dirty="0">
                <a:solidFill>
                  <a:srgbClr val="262EA4"/>
                </a:solidFill>
                <a:latin typeface="Calibri"/>
                <a:cs typeface="Calibri"/>
              </a:rPr>
              <a:t>  </a:t>
            </a:r>
            <a:r>
              <a:rPr lang="en-US" sz="2400" spc="-25" dirty="0">
                <a:solidFill>
                  <a:srgbClr val="262EA4"/>
                </a:solidFill>
                <a:latin typeface="Calibri"/>
                <a:cs typeface="Calibri"/>
              </a:rPr>
              <a:t>of 	</a:t>
            </a:r>
            <a:r>
              <a:rPr lang="en-US" sz="2400" dirty="0">
                <a:solidFill>
                  <a:srgbClr val="262EA4"/>
                </a:solidFill>
                <a:latin typeface="Calibri"/>
                <a:cs typeface="Calibri"/>
              </a:rPr>
              <a:t>technical</a:t>
            </a:r>
            <a:r>
              <a:rPr lang="en-US" sz="2400" spc="-50" dirty="0">
                <a:solidFill>
                  <a:srgbClr val="262EA4"/>
                </a:solidFill>
                <a:latin typeface="Calibri"/>
                <a:cs typeface="Calibri"/>
              </a:rPr>
              <a:t> </a:t>
            </a:r>
            <a:r>
              <a:rPr lang="en-US" sz="2400" dirty="0">
                <a:solidFill>
                  <a:srgbClr val="262EA4"/>
                </a:solidFill>
                <a:latin typeface="Calibri"/>
                <a:cs typeface="Calibri"/>
              </a:rPr>
              <a:t>personnel</a:t>
            </a:r>
            <a:r>
              <a:rPr lang="en-US" sz="2400" spc="-55" dirty="0">
                <a:solidFill>
                  <a:srgbClr val="262EA4"/>
                </a:solidFill>
                <a:latin typeface="Calibri"/>
                <a:cs typeface="Calibri"/>
              </a:rPr>
              <a:t> </a:t>
            </a:r>
            <a:r>
              <a:rPr lang="en-US" sz="2400" dirty="0">
                <a:solidFill>
                  <a:srgbClr val="262EA4"/>
                </a:solidFill>
                <a:latin typeface="Calibri"/>
                <a:cs typeface="Calibri"/>
              </a:rPr>
              <a:t>available</a:t>
            </a:r>
            <a:r>
              <a:rPr lang="en-US" sz="2400" spc="-45" dirty="0">
                <a:solidFill>
                  <a:srgbClr val="262EA4"/>
                </a:solidFill>
                <a:latin typeface="Calibri"/>
                <a:cs typeface="Calibri"/>
              </a:rPr>
              <a:t> </a:t>
            </a:r>
            <a:r>
              <a:rPr lang="en-US" sz="2400" dirty="0">
                <a:solidFill>
                  <a:srgbClr val="262EA4"/>
                </a:solidFill>
                <a:latin typeface="Calibri"/>
                <a:cs typeface="Calibri"/>
              </a:rPr>
              <a:t>within</a:t>
            </a:r>
            <a:r>
              <a:rPr lang="en-US" sz="2400" spc="-45" dirty="0">
                <a:solidFill>
                  <a:srgbClr val="262EA4"/>
                </a:solidFill>
                <a:latin typeface="Calibri"/>
                <a:cs typeface="Calibri"/>
              </a:rPr>
              <a:t> </a:t>
            </a:r>
            <a:r>
              <a:rPr lang="en-US" sz="2400" dirty="0">
                <a:solidFill>
                  <a:srgbClr val="262EA4"/>
                </a:solidFill>
                <a:latin typeface="Calibri"/>
                <a:cs typeface="Calibri"/>
              </a:rPr>
              <a:t>each</a:t>
            </a:r>
            <a:r>
              <a:rPr lang="en-US" sz="2400" spc="-45" dirty="0">
                <a:solidFill>
                  <a:srgbClr val="262EA4"/>
                </a:solidFill>
                <a:latin typeface="Calibri"/>
                <a:cs typeface="Calibri"/>
              </a:rPr>
              <a:t> </a:t>
            </a:r>
            <a:r>
              <a:rPr lang="en-US" sz="2400" dirty="0">
                <a:solidFill>
                  <a:srgbClr val="262EA4"/>
                </a:solidFill>
                <a:latin typeface="Calibri"/>
                <a:cs typeface="Calibri"/>
              </a:rPr>
              <a:t>functional</a:t>
            </a:r>
            <a:r>
              <a:rPr lang="en-US" sz="2400" spc="-45" dirty="0">
                <a:solidFill>
                  <a:srgbClr val="262EA4"/>
                </a:solidFill>
                <a:latin typeface="Calibri"/>
                <a:cs typeface="Calibri"/>
              </a:rPr>
              <a:t> </a:t>
            </a:r>
            <a:r>
              <a:rPr lang="en-US" sz="2400" dirty="0">
                <a:solidFill>
                  <a:srgbClr val="262EA4"/>
                </a:solidFill>
                <a:latin typeface="Calibri"/>
                <a:cs typeface="Calibri"/>
              </a:rPr>
              <a:t>department,</a:t>
            </a:r>
            <a:r>
              <a:rPr lang="en-US" sz="2400" spc="-45" dirty="0">
                <a:solidFill>
                  <a:srgbClr val="262EA4"/>
                </a:solidFill>
                <a:latin typeface="Calibri"/>
                <a:cs typeface="Calibri"/>
              </a:rPr>
              <a:t> </a:t>
            </a:r>
            <a:r>
              <a:rPr lang="en-US" sz="2400" dirty="0">
                <a:solidFill>
                  <a:srgbClr val="262EA4"/>
                </a:solidFill>
                <a:latin typeface="Calibri"/>
                <a:cs typeface="Calibri"/>
              </a:rPr>
              <a:t>people</a:t>
            </a:r>
            <a:r>
              <a:rPr lang="en-US" sz="2400" spc="-40" dirty="0">
                <a:solidFill>
                  <a:srgbClr val="262EA4"/>
                </a:solidFill>
                <a:latin typeface="Calibri"/>
                <a:cs typeface="Calibri"/>
              </a:rPr>
              <a:t> </a:t>
            </a:r>
            <a:r>
              <a:rPr lang="en-US" sz="2400" dirty="0">
                <a:solidFill>
                  <a:srgbClr val="262EA4"/>
                </a:solidFill>
                <a:latin typeface="Calibri"/>
                <a:cs typeface="Calibri"/>
              </a:rPr>
              <a:t>can</a:t>
            </a:r>
            <a:r>
              <a:rPr lang="en-US" sz="2400" spc="-45" dirty="0">
                <a:solidFill>
                  <a:srgbClr val="262EA4"/>
                </a:solidFill>
                <a:latin typeface="Calibri"/>
                <a:cs typeface="Calibri"/>
              </a:rPr>
              <a:t> </a:t>
            </a:r>
            <a:r>
              <a:rPr lang="en-US" sz="2400" spc="-25" dirty="0">
                <a:solidFill>
                  <a:srgbClr val="262EA4"/>
                </a:solidFill>
                <a:latin typeface="Calibri"/>
                <a:cs typeface="Calibri"/>
              </a:rPr>
              <a:t>be 	</a:t>
            </a:r>
            <a:r>
              <a:rPr lang="en-US" sz="2400" dirty="0">
                <a:solidFill>
                  <a:srgbClr val="262EA4"/>
                </a:solidFill>
                <a:latin typeface="Calibri"/>
                <a:cs typeface="Calibri"/>
              </a:rPr>
              <a:t>switched</a:t>
            </a:r>
            <a:r>
              <a:rPr lang="en-US" sz="2400" spc="-60" dirty="0">
                <a:solidFill>
                  <a:srgbClr val="262EA4"/>
                </a:solidFill>
                <a:latin typeface="Calibri"/>
                <a:cs typeface="Calibri"/>
              </a:rPr>
              <a:t> </a:t>
            </a:r>
            <a:r>
              <a:rPr lang="en-US" sz="2400" dirty="0">
                <a:solidFill>
                  <a:srgbClr val="262EA4"/>
                </a:solidFill>
                <a:latin typeface="Calibri"/>
                <a:cs typeface="Calibri"/>
              </a:rPr>
              <a:t>among</a:t>
            </a:r>
            <a:r>
              <a:rPr lang="en-US" sz="2400" spc="-70" dirty="0">
                <a:solidFill>
                  <a:srgbClr val="262EA4"/>
                </a:solidFill>
                <a:latin typeface="Calibri"/>
                <a:cs typeface="Calibri"/>
              </a:rPr>
              <a:t> </a:t>
            </a:r>
            <a:r>
              <a:rPr lang="en-US" sz="2400" spc="-20" dirty="0">
                <a:solidFill>
                  <a:srgbClr val="262EA4"/>
                </a:solidFill>
                <a:latin typeface="Calibri"/>
                <a:cs typeface="Calibri"/>
              </a:rPr>
              <a:t>different</a:t>
            </a:r>
            <a:r>
              <a:rPr lang="en-US" sz="2400" spc="-60" dirty="0">
                <a:solidFill>
                  <a:srgbClr val="262EA4"/>
                </a:solidFill>
                <a:latin typeface="Calibri"/>
                <a:cs typeface="Calibri"/>
              </a:rPr>
              <a:t> </a:t>
            </a:r>
            <a:r>
              <a:rPr lang="en-US" sz="2400" dirty="0">
                <a:solidFill>
                  <a:srgbClr val="262EA4"/>
                </a:solidFill>
                <a:latin typeface="Calibri"/>
                <a:cs typeface="Calibri"/>
              </a:rPr>
              <a:t>projects</a:t>
            </a:r>
            <a:r>
              <a:rPr lang="en-US" sz="2400" spc="-65" dirty="0">
                <a:solidFill>
                  <a:srgbClr val="262EA4"/>
                </a:solidFill>
                <a:latin typeface="Calibri"/>
                <a:cs typeface="Calibri"/>
              </a:rPr>
              <a:t> </a:t>
            </a:r>
            <a:r>
              <a:rPr lang="en-US" sz="2400" dirty="0">
                <a:solidFill>
                  <a:srgbClr val="262EA4"/>
                </a:solidFill>
                <a:latin typeface="Calibri"/>
                <a:cs typeface="Calibri"/>
              </a:rPr>
              <a:t>with</a:t>
            </a:r>
            <a:r>
              <a:rPr lang="en-US" sz="2400" spc="-60" dirty="0">
                <a:solidFill>
                  <a:srgbClr val="262EA4"/>
                </a:solidFill>
                <a:latin typeface="Calibri"/>
                <a:cs typeface="Calibri"/>
              </a:rPr>
              <a:t> </a:t>
            </a:r>
            <a:r>
              <a:rPr lang="en-US" sz="2400" spc="-10" dirty="0">
                <a:solidFill>
                  <a:srgbClr val="262EA4"/>
                </a:solidFill>
                <a:latin typeface="Calibri"/>
                <a:cs typeface="Calibri"/>
              </a:rPr>
              <a:t>relative</a:t>
            </a:r>
            <a:r>
              <a:rPr lang="en-US" sz="2400" spc="-55" dirty="0">
                <a:solidFill>
                  <a:srgbClr val="262EA4"/>
                </a:solidFill>
                <a:latin typeface="Calibri"/>
                <a:cs typeface="Calibri"/>
              </a:rPr>
              <a:t> </a:t>
            </a:r>
            <a:r>
              <a:rPr lang="en-US" sz="2400" spc="-10" dirty="0">
                <a:solidFill>
                  <a:srgbClr val="262EA4"/>
                </a:solidFill>
                <a:latin typeface="Calibri"/>
                <a:cs typeface="Calibri"/>
              </a:rPr>
              <a:t>ease</a:t>
            </a:r>
            <a:r>
              <a:rPr lang="en-US" sz="2400" spc="-10" dirty="0">
                <a:latin typeface="Calibri"/>
                <a:cs typeface="Calibri"/>
              </a:rPr>
              <a:t>.</a:t>
            </a:r>
            <a:endParaRPr lang="en-US" sz="2400" dirty="0">
              <a:latin typeface="Calibri"/>
              <a:cs typeface="Calibri"/>
            </a:endParaRPr>
          </a:p>
          <a:p>
            <a:pPr marL="466090" marR="5080" lvl="1" indent="-307975" algn="just">
              <a:lnSpc>
                <a:spcPct val="90400"/>
              </a:lnSpc>
              <a:spcBef>
                <a:spcPts val="994"/>
              </a:spcBef>
              <a:buAutoNum type="arabicPeriod"/>
              <a:tabLst>
                <a:tab pos="467995" algn="l"/>
              </a:tabLst>
            </a:pPr>
            <a:r>
              <a:rPr lang="en-US" sz="2400" b="1" spc="-10" dirty="0">
                <a:latin typeface="Calibri"/>
                <a:cs typeface="Calibri"/>
              </a:rPr>
              <a:t>In-</a:t>
            </a:r>
            <a:r>
              <a:rPr lang="en-US" sz="2400" b="1" dirty="0">
                <a:latin typeface="Calibri"/>
                <a:cs typeface="Calibri"/>
              </a:rPr>
              <a:t>Depth</a:t>
            </a:r>
            <a:r>
              <a:rPr lang="en-US" sz="2400" b="1" spc="40" dirty="0">
                <a:latin typeface="Calibri"/>
                <a:cs typeface="Calibri"/>
              </a:rPr>
              <a:t>  </a:t>
            </a:r>
            <a:r>
              <a:rPr lang="en-US" sz="2400" b="1" dirty="0">
                <a:latin typeface="Calibri"/>
                <a:cs typeface="Calibri"/>
              </a:rPr>
              <a:t>Expertise.</a:t>
            </a:r>
            <a:r>
              <a:rPr lang="en-US" sz="2400" b="1" spc="40" dirty="0">
                <a:latin typeface="Calibri"/>
                <a:cs typeface="Calibri"/>
              </a:rPr>
              <a:t>  </a:t>
            </a:r>
            <a:r>
              <a:rPr lang="en-US" sz="2400" dirty="0">
                <a:latin typeface="Calibri"/>
                <a:cs typeface="Calibri"/>
              </a:rPr>
              <a:t>If</a:t>
            </a:r>
            <a:r>
              <a:rPr lang="en-US" sz="2400" spc="45" dirty="0">
                <a:latin typeface="Calibri"/>
                <a:cs typeface="Calibri"/>
              </a:rPr>
              <a:t>  </a:t>
            </a:r>
            <a:r>
              <a:rPr lang="en-US" sz="2400" dirty="0">
                <a:latin typeface="Calibri"/>
                <a:cs typeface="Calibri"/>
              </a:rPr>
              <a:t>the</a:t>
            </a:r>
            <a:r>
              <a:rPr lang="en-US" sz="2400" spc="45" dirty="0">
                <a:latin typeface="Calibri"/>
                <a:cs typeface="Calibri"/>
              </a:rPr>
              <a:t>  </a:t>
            </a:r>
            <a:r>
              <a:rPr lang="en-US" sz="2400" dirty="0">
                <a:latin typeface="Calibri"/>
                <a:cs typeface="Calibri"/>
              </a:rPr>
              <a:t>scope</a:t>
            </a:r>
            <a:r>
              <a:rPr lang="en-US" sz="2400" spc="50" dirty="0">
                <a:latin typeface="Calibri"/>
                <a:cs typeface="Calibri"/>
              </a:rPr>
              <a:t>  </a:t>
            </a:r>
            <a:r>
              <a:rPr lang="en-US" sz="2400" dirty="0">
                <a:latin typeface="Calibri"/>
                <a:cs typeface="Calibri"/>
              </a:rPr>
              <a:t>of</a:t>
            </a:r>
            <a:r>
              <a:rPr lang="en-US" sz="2400" spc="45" dirty="0">
                <a:latin typeface="Calibri"/>
                <a:cs typeface="Calibri"/>
              </a:rPr>
              <a:t>  </a:t>
            </a:r>
            <a:r>
              <a:rPr lang="en-US" sz="2400" dirty="0">
                <a:latin typeface="Calibri"/>
                <a:cs typeface="Calibri"/>
              </a:rPr>
              <a:t>the</a:t>
            </a:r>
            <a:r>
              <a:rPr lang="en-US" sz="2400" spc="45" dirty="0">
                <a:latin typeface="Calibri"/>
                <a:cs typeface="Calibri"/>
              </a:rPr>
              <a:t>  </a:t>
            </a:r>
            <a:r>
              <a:rPr lang="en-US" sz="2400" dirty="0">
                <a:latin typeface="Calibri"/>
                <a:cs typeface="Calibri"/>
              </a:rPr>
              <a:t>project</a:t>
            </a:r>
            <a:r>
              <a:rPr lang="en-US" sz="2400" spc="40" dirty="0">
                <a:latin typeface="Calibri"/>
                <a:cs typeface="Calibri"/>
              </a:rPr>
              <a:t>  </a:t>
            </a:r>
            <a:r>
              <a:rPr lang="en-US" sz="2400" dirty="0">
                <a:latin typeface="Calibri"/>
                <a:cs typeface="Calibri"/>
              </a:rPr>
              <a:t>is</a:t>
            </a:r>
            <a:r>
              <a:rPr lang="en-US" sz="2400" spc="40" dirty="0">
                <a:latin typeface="Calibri"/>
                <a:cs typeface="Calibri"/>
              </a:rPr>
              <a:t>  </a:t>
            </a:r>
            <a:r>
              <a:rPr lang="en-US" sz="2400" dirty="0">
                <a:latin typeface="Calibri"/>
                <a:cs typeface="Calibri"/>
              </a:rPr>
              <a:t>narrow</a:t>
            </a:r>
            <a:r>
              <a:rPr lang="en-US" sz="2400" spc="40" dirty="0">
                <a:latin typeface="Calibri"/>
                <a:cs typeface="Calibri"/>
              </a:rPr>
              <a:t>  </a:t>
            </a:r>
            <a:r>
              <a:rPr lang="en-US" sz="2400" dirty="0">
                <a:latin typeface="Calibri"/>
                <a:cs typeface="Calibri"/>
              </a:rPr>
              <a:t>and</a:t>
            </a:r>
            <a:r>
              <a:rPr lang="en-US" sz="2400" spc="45" dirty="0">
                <a:latin typeface="Calibri"/>
                <a:cs typeface="Calibri"/>
              </a:rPr>
              <a:t>  </a:t>
            </a:r>
            <a:r>
              <a:rPr lang="en-US" sz="2400" dirty="0">
                <a:latin typeface="Calibri"/>
                <a:cs typeface="Calibri"/>
              </a:rPr>
              <a:t>the</a:t>
            </a:r>
            <a:r>
              <a:rPr lang="en-US" sz="2400" spc="45" dirty="0">
                <a:latin typeface="Calibri"/>
                <a:cs typeface="Calibri"/>
              </a:rPr>
              <a:t>  </a:t>
            </a:r>
            <a:r>
              <a:rPr lang="en-US" sz="2400" spc="-10" dirty="0">
                <a:latin typeface="Calibri"/>
                <a:cs typeface="Calibri"/>
              </a:rPr>
              <a:t>proper 	</a:t>
            </a:r>
            <a:r>
              <a:rPr lang="en-US" sz="2400" dirty="0">
                <a:latin typeface="Calibri"/>
                <a:cs typeface="Calibri"/>
              </a:rPr>
              <a:t>functional</a:t>
            </a:r>
            <a:r>
              <a:rPr lang="en-US" sz="2400" spc="229" dirty="0">
                <a:latin typeface="Calibri"/>
                <a:cs typeface="Calibri"/>
              </a:rPr>
              <a:t> </a:t>
            </a:r>
            <a:r>
              <a:rPr lang="en-US" sz="2400" dirty="0">
                <a:latin typeface="Calibri"/>
                <a:cs typeface="Calibri"/>
              </a:rPr>
              <a:t>unit</a:t>
            </a:r>
            <a:r>
              <a:rPr lang="en-US" sz="2400" spc="235" dirty="0">
                <a:latin typeface="Calibri"/>
                <a:cs typeface="Calibri"/>
              </a:rPr>
              <a:t> </a:t>
            </a:r>
            <a:r>
              <a:rPr lang="en-US" sz="2400" dirty="0">
                <a:latin typeface="Calibri"/>
                <a:cs typeface="Calibri"/>
              </a:rPr>
              <a:t>is</a:t>
            </a:r>
            <a:r>
              <a:rPr lang="en-US" sz="2400" spc="235" dirty="0">
                <a:latin typeface="Calibri"/>
                <a:cs typeface="Calibri"/>
              </a:rPr>
              <a:t> </a:t>
            </a:r>
            <a:r>
              <a:rPr lang="en-US" sz="2400" dirty="0">
                <a:latin typeface="Calibri"/>
                <a:cs typeface="Calibri"/>
              </a:rPr>
              <a:t>assigned</a:t>
            </a:r>
            <a:r>
              <a:rPr lang="en-US" sz="2400" spc="240" dirty="0">
                <a:latin typeface="Calibri"/>
                <a:cs typeface="Calibri"/>
              </a:rPr>
              <a:t> </a:t>
            </a:r>
            <a:r>
              <a:rPr lang="en-US" sz="2400" dirty="0">
                <a:latin typeface="Calibri"/>
                <a:cs typeface="Calibri"/>
              </a:rPr>
              <a:t>primary</a:t>
            </a:r>
            <a:r>
              <a:rPr lang="en-US" sz="2400" spc="240" dirty="0">
                <a:latin typeface="Calibri"/>
                <a:cs typeface="Calibri"/>
              </a:rPr>
              <a:t> </a:t>
            </a:r>
            <a:r>
              <a:rPr lang="en-US" sz="2400" dirty="0">
                <a:latin typeface="Calibri"/>
                <a:cs typeface="Calibri"/>
              </a:rPr>
              <a:t>responsibility,</a:t>
            </a:r>
            <a:r>
              <a:rPr lang="en-US" sz="2400" spc="245" dirty="0">
                <a:latin typeface="Calibri"/>
                <a:cs typeface="Calibri"/>
              </a:rPr>
              <a:t> </a:t>
            </a:r>
            <a:r>
              <a:rPr lang="en-US" sz="2400" dirty="0">
                <a:latin typeface="Calibri"/>
                <a:cs typeface="Calibri"/>
              </a:rPr>
              <a:t>then</a:t>
            </a:r>
            <a:r>
              <a:rPr lang="en-US" sz="2400" spc="235" dirty="0">
                <a:latin typeface="Calibri"/>
                <a:cs typeface="Calibri"/>
              </a:rPr>
              <a:t> </a:t>
            </a:r>
            <a:r>
              <a:rPr lang="en-US" sz="2400" spc="-20" dirty="0">
                <a:latin typeface="Calibri"/>
                <a:cs typeface="Calibri"/>
              </a:rPr>
              <a:t>in-</a:t>
            </a:r>
            <a:r>
              <a:rPr lang="en-US" sz="2400" dirty="0">
                <a:latin typeface="Calibri"/>
                <a:cs typeface="Calibri"/>
              </a:rPr>
              <a:t>depth</a:t>
            </a:r>
            <a:r>
              <a:rPr lang="en-US" sz="2400" spc="235" dirty="0">
                <a:latin typeface="Calibri"/>
                <a:cs typeface="Calibri"/>
              </a:rPr>
              <a:t> </a:t>
            </a:r>
            <a:r>
              <a:rPr lang="en-US" sz="2400" dirty="0">
                <a:latin typeface="Calibri"/>
                <a:cs typeface="Calibri"/>
              </a:rPr>
              <a:t>expertise</a:t>
            </a:r>
            <a:r>
              <a:rPr lang="en-US" sz="2400" spc="245" dirty="0">
                <a:latin typeface="Calibri"/>
                <a:cs typeface="Calibri"/>
              </a:rPr>
              <a:t> </a:t>
            </a:r>
            <a:r>
              <a:rPr lang="en-US" sz="2400" spc="-25" dirty="0">
                <a:latin typeface="Calibri"/>
                <a:cs typeface="Calibri"/>
              </a:rPr>
              <a:t>can 	</a:t>
            </a:r>
            <a:r>
              <a:rPr lang="en-US" sz="2400" dirty="0">
                <a:latin typeface="Calibri"/>
                <a:cs typeface="Calibri"/>
              </a:rPr>
              <a:t>be</a:t>
            </a:r>
            <a:r>
              <a:rPr lang="en-US" sz="2400" spc="-45" dirty="0">
                <a:latin typeface="Calibri"/>
                <a:cs typeface="Calibri"/>
              </a:rPr>
              <a:t> </a:t>
            </a:r>
            <a:r>
              <a:rPr lang="en-US" sz="2400" dirty="0">
                <a:latin typeface="Calibri"/>
                <a:cs typeface="Calibri"/>
              </a:rPr>
              <a:t>brought</a:t>
            </a:r>
            <a:r>
              <a:rPr lang="en-US" sz="2400" spc="-50" dirty="0">
                <a:latin typeface="Calibri"/>
                <a:cs typeface="Calibri"/>
              </a:rPr>
              <a:t> </a:t>
            </a:r>
            <a:r>
              <a:rPr lang="en-US" sz="2400" dirty="0">
                <a:latin typeface="Calibri"/>
                <a:cs typeface="Calibri"/>
              </a:rPr>
              <a:t>to</a:t>
            </a:r>
            <a:r>
              <a:rPr lang="en-US" sz="2400" spc="-45" dirty="0">
                <a:latin typeface="Calibri"/>
                <a:cs typeface="Calibri"/>
              </a:rPr>
              <a:t> </a:t>
            </a:r>
            <a:r>
              <a:rPr lang="en-US" sz="2400" dirty="0">
                <a:latin typeface="Calibri"/>
                <a:cs typeface="Calibri"/>
              </a:rPr>
              <a:t>bear</a:t>
            </a:r>
            <a:r>
              <a:rPr lang="en-US" sz="2400" spc="-45" dirty="0">
                <a:latin typeface="Calibri"/>
                <a:cs typeface="Calibri"/>
              </a:rPr>
              <a:t> </a:t>
            </a:r>
            <a:r>
              <a:rPr lang="en-US" sz="2400" dirty="0">
                <a:latin typeface="Calibri"/>
                <a:cs typeface="Calibri"/>
              </a:rPr>
              <a:t>on</a:t>
            </a:r>
            <a:r>
              <a:rPr lang="en-US" sz="2400" spc="-45" dirty="0">
                <a:latin typeface="Calibri"/>
                <a:cs typeface="Calibri"/>
              </a:rPr>
              <a:t> </a:t>
            </a:r>
            <a:r>
              <a:rPr lang="en-US" sz="2400" dirty="0">
                <a:latin typeface="Calibri"/>
                <a:cs typeface="Calibri"/>
              </a:rPr>
              <a:t>the</a:t>
            </a:r>
            <a:r>
              <a:rPr lang="en-US" sz="2400" spc="-35" dirty="0">
                <a:latin typeface="Calibri"/>
                <a:cs typeface="Calibri"/>
              </a:rPr>
              <a:t> </a:t>
            </a:r>
            <a:r>
              <a:rPr lang="en-US" sz="2400" dirty="0">
                <a:latin typeface="Calibri"/>
                <a:cs typeface="Calibri"/>
              </a:rPr>
              <a:t>most</a:t>
            </a:r>
            <a:r>
              <a:rPr lang="en-US" sz="2400" spc="-45" dirty="0">
                <a:latin typeface="Calibri"/>
                <a:cs typeface="Calibri"/>
              </a:rPr>
              <a:t> </a:t>
            </a:r>
            <a:r>
              <a:rPr lang="en-US" sz="2400" dirty="0">
                <a:latin typeface="Calibri"/>
                <a:cs typeface="Calibri"/>
              </a:rPr>
              <a:t>crucial</a:t>
            </a:r>
            <a:r>
              <a:rPr lang="en-US" sz="2400" spc="-40" dirty="0">
                <a:latin typeface="Calibri"/>
                <a:cs typeface="Calibri"/>
              </a:rPr>
              <a:t> </a:t>
            </a:r>
            <a:r>
              <a:rPr lang="en-US" sz="2400" dirty="0">
                <a:latin typeface="Calibri"/>
                <a:cs typeface="Calibri"/>
              </a:rPr>
              <a:t>aspects</a:t>
            </a:r>
            <a:r>
              <a:rPr lang="en-US" sz="2400" spc="-50" dirty="0">
                <a:latin typeface="Calibri"/>
                <a:cs typeface="Calibri"/>
              </a:rPr>
              <a:t> </a:t>
            </a:r>
            <a:r>
              <a:rPr lang="en-US" sz="2400" dirty="0">
                <a:latin typeface="Calibri"/>
                <a:cs typeface="Calibri"/>
              </a:rPr>
              <a:t>of</a:t>
            </a:r>
            <a:r>
              <a:rPr lang="en-US" sz="2400" spc="-40" dirty="0">
                <a:latin typeface="Calibri"/>
                <a:cs typeface="Calibri"/>
              </a:rPr>
              <a:t> </a:t>
            </a:r>
            <a:r>
              <a:rPr lang="en-US" sz="2400" dirty="0">
                <a:latin typeface="Calibri"/>
                <a:cs typeface="Calibri"/>
              </a:rPr>
              <a:t>the</a:t>
            </a:r>
            <a:r>
              <a:rPr lang="en-US" sz="2400" spc="-35" dirty="0">
                <a:latin typeface="Calibri"/>
                <a:cs typeface="Calibri"/>
              </a:rPr>
              <a:t> </a:t>
            </a:r>
            <a:r>
              <a:rPr lang="en-US" sz="2400" spc="-10" dirty="0">
                <a:latin typeface="Calibri"/>
                <a:cs typeface="Calibri"/>
              </a:rPr>
              <a:t>project.</a:t>
            </a:r>
            <a:endParaRPr lang="en-US" sz="2400" dirty="0">
              <a:latin typeface="Calibri"/>
              <a:cs typeface="Calibri"/>
            </a:endParaRPr>
          </a:p>
          <a:p>
            <a:pPr marL="466090" marR="5715" lvl="1" indent="-307975" algn="just">
              <a:lnSpc>
                <a:spcPts val="2590"/>
              </a:lnSpc>
              <a:spcBef>
                <a:spcPts val="1050"/>
              </a:spcBef>
              <a:buAutoNum type="arabicPeriod"/>
              <a:tabLst>
                <a:tab pos="467995" algn="l"/>
              </a:tabLst>
            </a:pPr>
            <a:r>
              <a:rPr lang="en-US" sz="2400" b="1" dirty="0">
                <a:latin typeface="Calibri"/>
                <a:cs typeface="Calibri"/>
              </a:rPr>
              <a:t>Easy</a:t>
            </a:r>
            <a:r>
              <a:rPr lang="en-US" sz="2400" b="1" spc="190" dirty="0">
                <a:latin typeface="Calibri"/>
                <a:cs typeface="Calibri"/>
              </a:rPr>
              <a:t> </a:t>
            </a:r>
            <a:r>
              <a:rPr lang="en-US" sz="2400" b="1" spc="-40" dirty="0">
                <a:latin typeface="Calibri"/>
                <a:cs typeface="Calibri"/>
              </a:rPr>
              <a:t>Post-</a:t>
            </a:r>
            <a:r>
              <a:rPr lang="en-US" sz="2400" b="1" dirty="0">
                <a:latin typeface="Calibri"/>
                <a:cs typeface="Calibri"/>
              </a:rPr>
              <a:t>Project</a:t>
            </a:r>
            <a:r>
              <a:rPr lang="en-US" sz="2400" b="1" spc="200" dirty="0">
                <a:latin typeface="Calibri"/>
                <a:cs typeface="Calibri"/>
              </a:rPr>
              <a:t> </a:t>
            </a:r>
            <a:r>
              <a:rPr lang="en-US" sz="2400" b="1" dirty="0">
                <a:latin typeface="Calibri"/>
                <a:cs typeface="Calibri"/>
              </a:rPr>
              <a:t>Transition.</a:t>
            </a:r>
            <a:r>
              <a:rPr lang="en-US" sz="2400" b="1" spc="190" dirty="0">
                <a:latin typeface="Calibri"/>
                <a:cs typeface="Calibri"/>
              </a:rPr>
              <a:t> </a:t>
            </a:r>
            <a:r>
              <a:rPr lang="en-US" sz="2400" dirty="0">
                <a:solidFill>
                  <a:srgbClr val="262EA4"/>
                </a:solidFill>
                <a:latin typeface="Calibri"/>
                <a:cs typeface="Calibri"/>
              </a:rPr>
              <a:t>Normal</a:t>
            </a:r>
            <a:r>
              <a:rPr lang="en-US" sz="2400" spc="190" dirty="0">
                <a:solidFill>
                  <a:srgbClr val="262EA4"/>
                </a:solidFill>
                <a:latin typeface="Calibri"/>
                <a:cs typeface="Calibri"/>
              </a:rPr>
              <a:t> </a:t>
            </a:r>
            <a:r>
              <a:rPr lang="en-US" sz="2400" dirty="0">
                <a:solidFill>
                  <a:srgbClr val="262EA4"/>
                </a:solidFill>
                <a:latin typeface="Calibri"/>
                <a:cs typeface="Calibri"/>
              </a:rPr>
              <a:t>career</a:t>
            </a:r>
            <a:r>
              <a:rPr lang="en-US" sz="2400" spc="185" dirty="0">
                <a:solidFill>
                  <a:srgbClr val="262EA4"/>
                </a:solidFill>
                <a:latin typeface="Calibri"/>
                <a:cs typeface="Calibri"/>
              </a:rPr>
              <a:t> </a:t>
            </a:r>
            <a:r>
              <a:rPr lang="en-US" sz="2400" dirty="0">
                <a:solidFill>
                  <a:srgbClr val="262EA4"/>
                </a:solidFill>
                <a:latin typeface="Calibri"/>
                <a:cs typeface="Calibri"/>
              </a:rPr>
              <a:t>paths</a:t>
            </a:r>
            <a:r>
              <a:rPr lang="en-US" sz="2400" spc="190" dirty="0">
                <a:solidFill>
                  <a:srgbClr val="262EA4"/>
                </a:solidFill>
                <a:latin typeface="Calibri"/>
                <a:cs typeface="Calibri"/>
              </a:rPr>
              <a:t> </a:t>
            </a:r>
            <a:r>
              <a:rPr lang="en-US" sz="2400" dirty="0">
                <a:solidFill>
                  <a:srgbClr val="262EA4"/>
                </a:solidFill>
                <a:latin typeface="Calibri"/>
                <a:cs typeface="Calibri"/>
              </a:rPr>
              <a:t>within</a:t>
            </a:r>
            <a:r>
              <a:rPr lang="en-US" sz="2400" spc="195" dirty="0">
                <a:solidFill>
                  <a:srgbClr val="262EA4"/>
                </a:solidFill>
                <a:latin typeface="Calibri"/>
                <a:cs typeface="Calibri"/>
              </a:rPr>
              <a:t> </a:t>
            </a:r>
            <a:r>
              <a:rPr lang="en-US" sz="2400" dirty="0">
                <a:solidFill>
                  <a:srgbClr val="262EA4"/>
                </a:solidFill>
                <a:latin typeface="Calibri"/>
                <a:cs typeface="Calibri"/>
              </a:rPr>
              <a:t>a</a:t>
            </a:r>
            <a:r>
              <a:rPr lang="en-US" sz="2400" spc="195" dirty="0">
                <a:solidFill>
                  <a:srgbClr val="262EA4"/>
                </a:solidFill>
                <a:latin typeface="Calibri"/>
                <a:cs typeface="Calibri"/>
              </a:rPr>
              <a:t> </a:t>
            </a:r>
            <a:r>
              <a:rPr lang="en-US" sz="2400" dirty="0">
                <a:solidFill>
                  <a:srgbClr val="262EA4"/>
                </a:solidFill>
                <a:latin typeface="Calibri"/>
                <a:cs typeface="Calibri"/>
              </a:rPr>
              <a:t>functional</a:t>
            </a:r>
            <a:r>
              <a:rPr lang="en-US" sz="2400" spc="185" dirty="0">
                <a:solidFill>
                  <a:srgbClr val="262EA4"/>
                </a:solidFill>
                <a:latin typeface="Calibri"/>
                <a:cs typeface="Calibri"/>
              </a:rPr>
              <a:t> </a:t>
            </a:r>
            <a:r>
              <a:rPr lang="en-US" sz="2400" spc="-10" dirty="0">
                <a:solidFill>
                  <a:srgbClr val="262EA4"/>
                </a:solidFill>
                <a:latin typeface="Calibri"/>
                <a:cs typeface="Calibri"/>
              </a:rPr>
              <a:t>division 	</a:t>
            </a:r>
            <a:r>
              <a:rPr lang="en-US" sz="2400" dirty="0">
                <a:solidFill>
                  <a:srgbClr val="262EA4"/>
                </a:solidFill>
                <a:latin typeface="Calibri"/>
                <a:cs typeface="Calibri"/>
              </a:rPr>
              <a:t>are</a:t>
            </a:r>
            <a:r>
              <a:rPr lang="en-US" sz="2400" spc="-70" dirty="0">
                <a:solidFill>
                  <a:srgbClr val="262EA4"/>
                </a:solidFill>
                <a:latin typeface="Calibri"/>
                <a:cs typeface="Calibri"/>
              </a:rPr>
              <a:t> </a:t>
            </a:r>
            <a:r>
              <a:rPr lang="en-US" sz="2400" spc="-10" dirty="0">
                <a:solidFill>
                  <a:srgbClr val="262EA4"/>
                </a:solidFill>
                <a:latin typeface="Calibri"/>
                <a:cs typeface="Calibri"/>
              </a:rPr>
              <a:t>maintained.</a:t>
            </a:r>
            <a:endParaRPr lang="en-US" sz="2400" dirty="0">
              <a:latin typeface="Calibri"/>
              <a:cs typeface="Calibri"/>
            </a:endParaRPr>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32</a:t>
            </a:fld>
            <a:endParaRPr lang="en-US"/>
          </a:p>
        </p:txBody>
      </p:sp>
    </p:spTree>
    <p:extLst>
      <p:ext uri="{BB962C8B-B14F-4D97-AF65-F5344CB8AC3E}">
        <p14:creationId xmlns:p14="http://schemas.microsoft.com/office/powerpoint/2010/main" val="752110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1" i="0" dirty="0">
                <a:solidFill>
                  <a:srgbClr val="1E293B"/>
                </a:solidFill>
                <a:effectLst/>
                <a:latin typeface="Roboto" panose="02000000000000000000" pitchFamily="2" charset="0"/>
              </a:rPr>
              <a:t>Projectized Structure</a:t>
            </a:r>
          </a:p>
          <a:p>
            <a:pPr algn="l" fontAlgn="base"/>
            <a:r>
              <a:rPr lang="en-US" b="0" i="0" dirty="0">
                <a:solidFill>
                  <a:srgbClr val="212529"/>
                </a:solidFill>
                <a:effectLst/>
                <a:latin typeface="Roboto" panose="02000000000000000000" pitchFamily="2" charset="0"/>
              </a:rPr>
              <a:t>This structure is centered around projects, with project managers having significant authority over resources and decision-making for their projects. Teams are dedicated solely to projects; they’re disbanded once the project is complete. Projectized structures work best in industries such as consulting. This structure enhances decision-making speed and resource dedication, which is critical for fast-moving projects.</a:t>
            </a:r>
          </a:p>
          <a:p>
            <a:pPr algn="l" fontAlgn="base">
              <a:buFont typeface="Arial" panose="020B0604020202020204" pitchFamily="34" charset="0"/>
              <a:buChar char="•"/>
            </a:pPr>
            <a:r>
              <a:rPr lang="en-US" b="1" i="0" dirty="0">
                <a:solidFill>
                  <a:srgbClr val="212529"/>
                </a:solidFill>
                <a:effectLst/>
                <a:latin typeface="Roboto" panose="02000000000000000000" pitchFamily="2" charset="0"/>
              </a:rPr>
              <a:t>PROS:</a:t>
            </a:r>
            <a:r>
              <a:rPr lang="en-US" b="0" i="0" dirty="0">
                <a:solidFill>
                  <a:srgbClr val="212529"/>
                </a:solidFill>
                <a:effectLst/>
                <a:latin typeface="Roboto" panose="02000000000000000000" pitchFamily="2" charset="0"/>
              </a:rPr>
              <a:t> Projectized structures present a clear focus on project goals and efficient project execution.</a:t>
            </a:r>
          </a:p>
          <a:p>
            <a:pPr algn="l" fontAlgn="base">
              <a:buFont typeface="Arial" panose="020B0604020202020204" pitchFamily="34" charset="0"/>
              <a:buChar char="•"/>
            </a:pPr>
            <a:r>
              <a:rPr lang="en-US" b="1" i="0" dirty="0">
                <a:solidFill>
                  <a:srgbClr val="212529"/>
                </a:solidFill>
                <a:effectLst/>
                <a:latin typeface="Roboto" panose="02000000000000000000" pitchFamily="2" charset="0"/>
              </a:rPr>
              <a:t>CONS</a:t>
            </a:r>
            <a:r>
              <a:rPr lang="en-US" b="0" i="0" dirty="0">
                <a:solidFill>
                  <a:srgbClr val="212529"/>
                </a:solidFill>
                <a:effectLst/>
                <a:latin typeface="Roboto" panose="02000000000000000000" pitchFamily="2" charset="0"/>
              </a:rPr>
              <a:t>: This structure can have the potential for resource duplication across projects and may cause team members to feel isolated from their functional departments.</a:t>
            </a:r>
          </a:p>
          <a:p>
            <a:pPr algn="l" fontAlgn="base"/>
            <a:r>
              <a:rPr lang="en-US" b="0" i="0" dirty="0">
                <a:solidFill>
                  <a:srgbClr val="212529"/>
                </a:solidFill>
                <a:effectLst/>
                <a:latin typeface="Roboto" panose="02000000000000000000" pitchFamily="2" charset="0"/>
              </a:rPr>
              <a:t>To mitigate potential challenges of a projectized structure, you can optimize resources, maintain connections with functional departments, and plan for post-project transitions.</a:t>
            </a:r>
          </a:p>
          <a:p>
            <a:pPr algn="l" fontAlgn="base"/>
            <a:endParaRPr lang="en-US" b="0" i="0" dirty="0">
              <a:solidFill>
                <a:srgbClr val="212529"/>
              </a:solidFill>
              <a:effectLst/>
              <a:latin typeface="Roboto" panose="02000000000000000000" pitchFamily="2" charset="0"/>
            </a:endParaRPr>
          </a:p>
          <a:p>
            <a:pPr algn="l" fontAlgn="base"/>
            <a:endParaRPr lang="en-US" b="0" i="0" dirty="0">
              <a:solidFill>
                <a:srgbClr val="212529"/>
              </a:solidFill>
              <a:effectLst/>
              <a:latin typeface="Roboto" panose="02000000000000000000" pitchFamily="2" charset="0"/>
            </a:endParaRPr>
          </a:p>
          <a:p>
            <a:pPr algn="just"/>
            <a:r>
              <a:rPr lang="en-US" b="0" i="0" dirty="0">
                <a:solidFill>
                  <a:srgbClr val="FFFFFF"/>
                </a:solidFill>
                <a:effectLst/>
                <a:latin typeface="Open Sans" panose="020B0606030504020204" pitchFamily="34" charset="0"/>
              </a:rPr>
              <a:t>Project organization is a temporary setup formed for specific projects. It's also called “projectized organizational structure.” The </a:t>
            </a:r>
            <a:r>
              <a:rPr lang="en-US" b="0" i="0" dirty="0">
                <a:solidFill>
                  <a:srgbClr val="34AEB5"/>
                </a:solidFill>
                <a:effectLst/>
                <a:latin typeface="Open Sans" panose="020B0606030504020204" pitchFamily="34" charset="0"/>
                <a:hlinkClick r:id="rId3"/>
              </a:rPr>
              <a:t>project manager</a:t>
            </a:r>
            <a:r>
              <a:rPr lang="en-US" b="0" i="0" dirty="0">
                <a:solidFill>
                  <a:srgbClr val="FFFFFF"/>
                </a:solidFill>
                <a:effectLst/>
                <a:latin typeface="Open Sans" panose="020B0606030504020204" pitchFamily="34" charset="0"/>
              </a:rPr>
              <a:t> assigned for the project is the head of this structure.</a:t>
            </a:r>
            <a:endParaRPr lang="en-US" b="0" i="0" dirty="0">
              <a:solidFill>
                <a:srgbClr val="FFFFFF"/>
              </a:solidFill>
              <a:effectLst/>
              <a:latin typeface="Poppins" panose="00000500000000000000" pitchFamily="2" charset="0"/>
            </a:endParaRPr>
          </a:p>
          <a:p>
            <a:pPr algn="just"/>
            <a:r>
              <a:rPr lang="en-US" b="0" i="0" dirty="0">
                <a:solidFill>
                  <a:srgbClr val="FFFFFF"/>
                </a:solidFill>
                <a:effectLst/>
                <a:latin typeface="Open Sans" panose="020B0606030504020204" pitchFamily="34" charset="0"/>
              </a:rPr>
              <a:t>Once the project is complete, you may choose to dismantle this setup or move it to form a new project. In the case of a new project, the project manager might have to reshuffle the staff to fit the new plan. You’ll hire resources or specialists from different functional departments.</a:t>
            </a:r>
            <a:endParaRPr lang="en-US" b="0" i="0" dirty="0">
              <a:solidFill>
                <a:srgbClr val="FFFFFF"/>
              </a:solidFill>
              <a:effectLst/>
              <a:latin typeface="Poppins" panose="00000500000000000000" pitchFamily="2" charset="0"/>
            </a:endParaRPr>
          </a:p>
          <a:p>
            <a:pPr algn="just"/>
            <a:r>
              <a:rPr lang="en-US" b="0" i="0" dirty="0">
                <a:solidFill>
                  <a:srgbClr val="FFFFFF"/>
                </a:solidFill>
                <a:effectLst/>
                <a:latin typeface="Open Sans" panose="020B0606030504020204" pitchFamily="34" charset="0"/>
              </a:rPr>
              <a:t>As a project manager, you can use allotted resources until completion and closeout. Albeit you're accountable for all the activities and timely completion of the project. In other words, you must spend based on the project budget.</a:t>
            </a:r>
            <a:endParaRPr lang="en-US" b="0" i="0" dirty="0">
              <a:solidFill>
                <a:srgbClr val="FFFFFF"/>
              </a:solidFill>
              <a:effectLst/>
              <a:latin typeface="Poppins" panose="00000500000000000000" pitchFamily="2" charset="0"/>
            </a:endParaRPr>
          </a:p>
          <a:p>
            <a:pPr algn="just"/>
            <a:r>
              <a:rPr lang="en-US" b="0" i="0" dirty="0">
                <a:solidFill>
                  <a:srgbClr val="FFFFFF"/>
                </a:solidFill>
                <a:effectLst/>
                <a:latin typeface="Open Sans" panose="020B0606030504020204" pitchFamily="34" charset="0"/>
              </a:rPr>
              <a:t>The manager assigns clearly defined tasks to each of the team members, along with the complete schedule.</a:t>
            </a:r>
            <a:endParaRPr lang="en-US" b="0" i="0" dirty="0">
              <a:solidFill>
                <a:srgbClr val="FFFFFF"/>
              </a:solidFill>
              <a:effectLst/>
              <a:latin typeface="Poppins" panose="00000500000000000000" pitchFamily="2" charset="0"/>
            </a:endParaRPr>
          </a:p>
          <a:p>
            <a:pPr algn="just"/>
            <a:r>
              <a:rPr lang="en-US" b="0" i="0" dirty="0">
                <a:solidFill>
                  <a:srgbClr val="FFFFFF"/>
                </a:solidFill>
                <a:effectLst/>
                <a:latin typeface="Open Sans" panose="020B0606030504020204" pitchFamily="34" charset="0"/>
              </a:rPr>
              <a:t>These types of organizations are useful when:</a:t>
            </a:r>
            <a:endParaRPr lang="en-US" b="0" i="0" dirty="0">
              <a:solidFill>
                <a:srgbClr val="FFFFFF"/>
              </a:solidFill>
              <a:effectLst/>
              <a:latin typeface="Poppins" panose="00000500000000000000" pitchFamily="2" charset="0"/>
            </a:endParaRPr>
          </a:p>
          <a:p>
            <a:pPr algn="l">
              <a:buFont typeface="Arial" panose="020B0604020202020204" pitchFamily="34" charset="0"/>
              <a:buChar char="•"/>
            </a:pPr>
            <a:r>
              <a:rPr lang="en-US" b="0" i="0" dirty="0">
                <a:solidFill>
                  <a:srgbClr val="FFFFFF"/>
                </a:solidFill>
                <a:effectLst/>
                <a:latin typeface="Open Sans" panose="020B0606030504020204" pitchFamily="34" charset="0"/>
              </a:rPr>
              <a:t>    The project scope is complete, and objectives are clearly defined</a:t>
            </a:r>
            <a:endParaRPr lang="en-US" b="0" i="0" dirty="0">
              <a:solidFill>
                <a:srgbClr val="FFFFFF"/>
              </a:solidFill>
              <a:effectLst/>
              <a:latin typeface="Poppins" panose="00000500000000000000" pitchFamily="2" charset="0"/>
            </a:endParaRPr>
          </a:p>
          <a:p>
            <a:pPr algn="l">
              <a:buFont typeface="Arial" panose="020B0604020202020204" pitchFamily="34" charset="0"/>
              <a:buChar char="•"/>
            </a:pPr>
            <a:r>
              <a:rPr lang="en-US" b="0" i="0" dirty="0">
                <a:solidFill>
                  <a:srgbClr val="FFFFFF"/>
                </a:solidFill>
                <a:effectLst/>
                <a:latin typeface="Open Sans" panose="020B0606030504020204" pitchFamily="34" charset="0"/>
              </a:rPr>
              <a:t>    The project is unique and independent</a:t>
            </a:r>
            <a:br>
              <a:rPr lang="en-US" b="0" i="0" dirty="0">
                <a:solidFill>
                  <a:srgbClr val="FFFFFF"/>
                </a:solidFill>
                <a:effectLst/>
                <a:latin typeface="Open Sans" panose="020B0606030504020204" pitchFamily="34" charset="0"/>
              </a:rPr>
            </a:br>
            <a:br>
              <a:rPr lang="en-US" b="0" i="0" dirty="0">
                <a:solidFill>
                  <a:srgbClr val="FFFFFF"/>
                </a:solidFill>
                <a:effectLst/>
                <a:latin typeface="Open Sans" panose="020B0606030504020204" pitchFamily="34" charset="0"/>
              </a:rPr>
            </a:br>
            <a:endParaRPr lang="en-US" b="0" i="0" dirty="0">
              <a:solidFill>
                <a:srgbClr val="FFFFFF"/>
              </a:solidFill>
              <a:effectLst/>
              <a:latin typeface="Poppins" panose="00000500000000000000" pitchFamily="2" charset="0"/>
            </a:endParaRPr>
          </a:p>
          <a:p>
            <a:pPr algn="l"/>
            <a:r>
              <a:rPr lang="en-US" b="0" i="0" dirty="0">
                <a:solidFill>
                  <a:srgbClr val="FFFFFF"/>
                </a:solidFill>
                <a:effectLst/>
                <a:latin typeface="Poppins" panose="00000500000000000000" pitchFamily="2" charset="0"/>
              </a:rPr>
              <a:t> </a:t>
            </a:r>
          </a:p>
          <a:p>
            <a:pPr algn="l"/>
            <a:r>
              <a:rPr lang="en-US" b="1" i="0" dirty="0">
                <a:solidFill>
                  <a:srgbClr val="FFFFFF"/>
                </a:solidFill>
                <a:effectLst/>
                <a:latin typeface="Poppins" panose="00000500000000000000" pitchFamily="2" charset="0"/>
              </a:rPr>
              <a:t>Advantages</a:t>
            </a:r>
            <a:endParaRPr lang="en-US" b="0" i="0" dirty="0">
              <a:solidFill>
                <a:srgbClr val="FFFFFF"/>
              </a:solidFill>
              <a:effectLst/>
              <a:latin typeface="Poppins" panose="00000500000000000000" pitchFamily="2" charset="0"/>
            </a:endParaRPr>
          </a:p>
          <a:p>
            <a:pPr algn="l"/>
            <a:r>
              <a:rPr lang="en-US" b="0" i="0" dirty="0">
                <a:solidFill>
                  <a:srgbClr val="FFFFFF"/>
                </a:solidFill>
                <a:effectLst/>
                <a:latin typeface="Poppins" panose="00000500000000000000" pitchFamily="2" charset="0"/>
              </a:rPr>
              <a:t> </a:t>
            </a:r>
          </a:p>
          <a:p>
            <a:pPr algn="l"/>
            <a:r>
              <a:rPr lang="en-US" b="0" i="0" dirty="0">
                <a:solidFill>
                  <a:srgbClr val="FFFFFF"/>
                </a:solidFill>
                <a:effectLst/>
                <a:latin typeface="Poppins" panose="00000500000000000000" pitchFamily="2" charset="0"/>
              </a:rPr>
              <a:t>1) Easy to communicate, hence can stay up to date</a:t>
            </a:r>
          </a:p>
          <a:p>
            <a:pPr algn="l"/>
            <a:r>
              <a:rPr lang="en-US" b="0" i="0" dirty="0">
                <a:solidFill>
                  <a:srgbClr val="FFFFFF"/>
                </a:solidFill>
                <a:effectLst/>
                <a:latin typeface="Poppins" panose="00000500000000000000" pitchFamily="2" charset="0"/>
              </a:rPr>
              <a:t>2) The team can have a strong sense of identity as all are working together to achieve a common goal</a:t>
            </a:r>
          </a:p>
          <a:p>
            <a:pPr algn="l"/>
            <a:r>
              <a:rPr lang="en-US" b="0" i="0" dirty="0">
                <a:solidFill>
                  <a:srgbClr val="FFFFFF"/>
                </a:solidFill>
                <a:effectLst/>
                <a:latin typeface="Poppins" panose="00000500000000000000" pitchFamily="2" charset="0"/>
              </a:rPr>
              <a:t>3) Manage resources efficiently and effectively</a:t>
            </a:r>
          </a:p>
          <a:p>
            <a:pPr algn="l"/>
            <a:r>
              <a:rPr lang="en-US" b="1" i="0" dirty="0">
                <a:solidFill>
                  <a:srgbClr val="FFFFFF"/>
                </a:solidFill>
                <a:effectLst/>
                <a:latin typeface="Poppins" panose="00000500000000000000" pitchFamily="2" charset="0"/>
              </a:rPr>
              <a:t>Disadvantages</a:t>
            </a:r>
            <a:endParaRPr lang="en-US" b="0" i="0" dirty="0">
              <a:solidFill>
                <a:srgbClr val="FFFFFF"/>
              </a:solidFill>
              <a:effectLst/>
              <a:latin typeface="Poppins" panose="00000500000000000000" pitchFamily="2" charset="0"/>
            </a:endParaRPr>
          </a:p>
          <a:p>
            <a:pPr algn="l"/>
            <a:r>
              <a:rPr lang="en-US" b="0" i="0" dirty="0">
                <a:solidFill>
                  <a:srgbClr val="FFFFFF"/>
                </a:solidFill>
                <a:effectLst/>
                <a:latin typeface="Poppins" panose="00000500000000000000" pitchFamily="2" charset="0"/>
              </a:rPr>
              <a:t> </a:t>
            </a:r>
          </a:p>
          <a:p>
            <a:pPr algn="l"/>
            <a:r>
              <a:rPr lang="en-US" b="0" i="0" dirty="0">
                <a:solidFill>
                  <a:srgbClr val="FFFFFF"/>
                </a:solidFill>
                <a:effectLst/>
                <a:latin typeface="Poppins" panose="00000500000000000000" pitchFamily="2" charset="0"/>
              </a:rPr>
              <a:t>1)  No clear growth path for the team once the project gets completed</a:t>
            </a:r>
          </a:p>
          <a:p>
            <a:pPr algn="l"/>
            <a:r>
              <a:rPr lang="en-US" b="0" i="0" dirty="0">
                <a:solidFill>
                  <a:srgbClr val="FFFFFF"/>
                </a:solidFill>
                <a:effectLst/>
                <a:latin typeface="Poppins" panose="00000500000000000000" pitchFamily="2" charset="0"/>
              </a:rPr>
              <a:t>2) It's expensive because the organization dedicates all the specialists for one single project.</a:t>
            </a:r>
          </a:p>
          <a:p>
            <a:endParaRPr lang="en-US" dirty="0"/>
          </a:p>
          <a:p>
            <a:pPr algn="l" fontAlgn="base"/>
            <a:endParaRPr lang="en-US" b="0" i="0" dirty="0">
              <a:solidFill>
                <a:srgbClr val="212529"/>
              </a:solidFill>
              <a:effectLst/>
              <a:latin typeface="Roboto" panose="02000000000000000000" pitchFamily="2" charset="0"/>
            </a:endParaRPr>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35</a:t>
            </a:fld>
            <a:endParaRPr lang="en-US"/>
          </a:p>
        </p:txBody>
      </p:sp>
    </p:spTree>
    <p:extLst>
      <p:ext uri="{BB962C8B-B14F-4D97-AF65-F5344CB8AC3E}">
        <p14:creationId xmlns:p14="http://schemas.microsoft.com/office/powerpoint/2010/main" val="30914544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https://www.greycampus.com/blog/project-management/common-types-of-organizational-structures-in-project-management</a:t>
            </a:r>
          </a:p>
        </p:txBody>
      </p:sp>
      <p:sp>
        <p:nvSpPr>
          <p:cNvPr id="4" name="Slide Number Placeholder 3"/>
          <p:cNvSpPr>
            <a:spLocks noGrp="1"/>
          </p:cNvSpPr>
          <p:nvPr>
            <p:ph type="sldNum" sz="quarter" idx="5"/>
          </p:nvPr>
        </p:nvSpPr>
        <p:spPr/>
        <p:txBody>
          <a:bodyPr/>
          <a:lstStyle/>
          <a:p>
            <a:fld id="{0D07DE76-E770-4DA3-A16C-337AAD1E63D6}" type="slidenum">
              <a:rPr lang="en-US" smtClean="0"/>
              <a:t>37</a:t>
            </a:fld>
            <a:endParaRPr lang="en-US"/>
          </a:p>
        </p:txBody>
      </p:sp>
    </p:spTree>
    <p:extLst>
      <p:ext uri="{BB962C8B-B14F-4D97-AF65-F5344CB8AC3E}">
        <p14:creationId xmlns:p14="http://schemas.microsoft.com/office/powerpoint/2010/main" val="2796951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38</a:t>
            </a:fld>
            <a:endParaRPr lang="en-US"/>
          </a:p>
        </p:txBody>
      </p:sp>
    </p:spTree>
    <p:extLst>
      <p:ext uri="{BB962C8B-B14F-4D97-AF65-F5344CB8AC3E}">
        <p14:creationId xmlns:p14="http://schemas.microsoft.com/office/powerpoint/2010/main" val="5335569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latin typeface="Inter"/>
              </a:rPr>
              <a:t>In a projected structure, the organization is designed around projects, and project managers have full authority over their projects. Project managers control the resources, budget, and team members, and the organization is often organized into project teams rather than functional departments. This structure is typically used by organizations that primarily focus on delivering projects, such as construction firms or consulting agencies.</a:t>
            </a:r>
          </a:p>
          <a:p>
            <a:pPr algn="l"/>
            <a:r>
              <a:rPr lang="en-US" b="0" i="0" dirty="0">
                <a:effectLst/>
                <a:latin typeface="Inter"/>
              </a:rPr>
              <a:t>‍</a:t>
            </a:r>
          </a:p>
          <a:p>
            <a:pPr algn="l"/>
            <a:r>
              <a:rPr lang="en-US" b="1" i="0" dirty="0">
                <a:effectLst/>
                <a:latin typeface="Tasaorbiterdeck Bold"/>
              </a:rPr>
              <a:t>Advantages</a:t>
            </a:r>
            <a:r>
              <a:rPr lang="en-US" b="0" i="0" dirty="0">
                <a:effectLst/>
                <a:latin typeface="Inter"/>
              </a:rPr>
              <a:t>:</a:t>
            </a:r>
          </a:p>
          <a:p>
            <a:pPr algn="l">
              <a:buFont typeface="Arial" panose="020B0604020202020204" pitchFamily="34" charset="0"/>
              <a:buChar char="•"/>
            </a:pPr>
            <a:r>
              <a:rPr lang="en-US" b="0" i="0" dirty="0">
                <a:effectLst/>
                <a:latin typeface="Inter"/>
              </a:rPr>
              <a:t>Full authority and autonomy for project managers.</a:t>
            </a:r>
          </a:p>
          <a:p>
            <a:pPr algn="l">
              <a:buFont typeface="Arial" panose="020B0604020202020204" pitchFamily="34" charset="0"/>
              <a:buChar char="•"/>
            </a:pPr>
            <a:r>
              <a:rPr lang="en-US" b="0" i="0" dirty="0">
                <a:effectLst/>
                <a:latin typeface="Inter"/>
              </a:rPr>
              <a:t>A clear focus on project goals and deliverables.</a:t>
            </a:r>
          </a:p>
          <a:p>
            <a:pPr algn="l">
              <a:buFont typeface="Arial" panose="020B0604020202020204" pitchFamily="34" charset="0"/>
              <a:buChar char="•"/>
            </a:pPr>
            <a:r>
              <a:rPr lang="en-US" b="0" i="0" dirty="0">
                <a:effectLst/>
                <a:latin typeface="Inter"/>
              </a:rPr>
              <a:t>Faster decision-making since project managers control resources and processes.</a:t>
            </a:r>
          </a:p>
          <a:p>
            <a:pPr algn="l"/>
            <a:r>
              <a:rPr lang="en-US" b="0" i="0" dirty="0">
                <a:effectLst/>
                <a:latin typeface="Inter"/>
              </a:rPr>
              <a:t>‍</a:t>
            </a:r>
          </a:p>
          <a:p>
            <a:pPr algn="l"/>
            <a:r>
              <a:rPr lang="en-US" b="1" i="0" dirty="0">
                <a:effectLst/>
                <a:latin typeface="Tasaorbiterdeck Bold"/>
              </a:rPr>
              <a:t>Disadvantages</a:t>
            </a:r>
            <a:r>
              <a:rPr lang="en-US" b="0" i="0" dirty="0">
                <a:effectLst/>
                <a:latin typeface="Inter"/>
              </a:rPr>
              <a:t>:</a:t>
            </a:r>
          </a:p>
          <a:p>
            <a:pPr algn="l">
              <a:buFont typeface="Arial" panose="020B0604020202020204" pitchFamily="34" charset="0"/>
              <a:buChar char="•"/>
            </a:pPr>
            <a:r>
              <a:rPr lang="en-US" b="0" i="0" dirty="0">
                <a:effectLst/>
                <a:latin typeface="Inter"/>
              </a:rPr>
              <a:t>Resource duplication, as each project may require separate resources or teams.</a:t>
            </a:r>
          </a:p>
          <a:p>
            <a:pPr algn="l">
              <a:buFont typeface="Arial" panose="020B0604020202020204" pitchFamily="34" charset="0"/>
              <a:buChar char="•"/>
            </a:pPr>
            <a:r>
              <a:rPr lang="en-US" b="0" i="0" dirty="0">
                <a:effectLst/>
                <a:latin typeface="Inter"/>
              </a:rPr>
              <a:t>Lack of functional specialization and knowledge-sharing between projects.</a:t>
            </a:r>
          </a:p>
          <a:p>
            <a:pPr algn="l">
              <a:buFont typeface="Arial" panose="020B0604020202020204" pitchFamily="34" charset="0"/>
              <a:buChar char="•"/>
            </a:pPr>
            <a:r>
              <a:rPr lang="en-US" b="0" i="0" dirty="0">
                <a:effectLst/>
                <a:latin typeface="Inter"/>
              </a:rPr>
              <a:t>This can lead to inefficiencies when multiple projects are running simultaneously.</a:t>
            </a:r>
          </a:p>
          <a:p>
            <a:endParaRPr lang="en-US" dirty="0"/>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40</a:t>
            </a:fld>
            <a:endParaRPr lang="en-US"/>
          </a:p>
        </p:txBody>
      </p:sp>
    </p:spTree>
    <p:extLst>
      <p:ext uri="{BB962C8B-B14F-4D97-AF65-F5344CB8AC3E}">
        <p14:creationId xmlns:p14="http://schemas.microsoft.com/office/powerpoint/2010/main" val="20294804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212529"/>
                </a:solidFill>
                <a:effectLst/>
                <a:latin typeface="Roboto" panose="02000000000000000000" pitchFamily="2" charset="0"/>
              </a:rPr>
              <a:t>The structure combines elements of both functional and projectized structures, giving more authority to project managers while maintaining functional leadership. Employees report to both a functional leader and project manager, creating a grid-like reporting structure. However, project managers may face difficulty in balancing authority between functional and project roles, which can create resource allocation and communication challenges.</a:t>
            </a:r>
          </a:p>
          <a:p>
            <a:pPr algn="l" fontAlgn="base">
              <a:buFont typeface="Arial" panose="020B0604020202020204" pitchFamily="34" charset="0"/>
              <a:buChar char="•"/>
            </a:pPr>
            <a:r>
              <a:rPr lang="en-US" b="1" i="0" dirty="0">
                <a:solidFill>
                  <a:srgbClr val="212529"/>
                </a:solidFill>
                <a:effectLst/>
                <a:latin typeface="Roboto" panose="02000000000000000000" pitchFamily="2" charset="0"/>
              </a:rPr>
              <a:t>PROS</a:t>
            </a:r>
            <a:r>
              <a:rPr lang="en-US" b="0" i="0" dirty="0">
                <a:solidFill>
                  <a:srgbClr val="212529"/>
                </a:solidFill>
                <a:effectLst/>
                <a:latin typeface="Roboto" panose="02000000000000000000" pitchFamily="2" charset="0"/>
              </a:rPr>
              <a:t>: Matrix structures can enhance flexibility and leverage specialized skills across multiple projects.</a:t>
            </a:r>
          </a:p>
          <a:p>
            <a:pPr algn="l" fontAlgn="base">
              <a:buFont typeface="Arial" panose="020B0604020202020204" pitchFamily="34" charset="0"/>
              <a:buChar char="•"/>
            </a:pPr>
            <a:r>
              <a:rPr lang="en-US" b="1" i="0" dirty="0">
                <a:solidFill>
                  <a:srgbClr val="212529"/>
                </a:solidFill>
                <a:effectLst/>
                <a:latin typeface="Roboto" panose="02000000000000000000" pitchFamily="2" charset="0"/>
              </a:rPr>
              <a:t>CONS:</a:t>
            </a:r>
            <a:r>
              <a:rPr lang="en-US" b="0" i="0" dirty="0">
                <a:solidFill>
                  <a:srgbClr val="212529"/>
                </a:solidFill>
                <a:effectLst/>
                <a:latin typeface="Roboto" panose="02000000000000000000" pitchFamily="2" charset="0"/>
              </a:rPr>
              <a:t> This structure can lead to conflicts in authority and communication challenges due to dual reporting lines.</a:t>
            </a:r>
          </a:p>
          <a:p>
            <a:pPr algn="l" fontAlgn="base"/>
            <a:r>
              <a:rPr lang="en-US" b="0" i="0" dirty="0">
                <a:solidFill>
                  <a:srgbClr val="212529"/>
                </a:solidFill>
                <a:effectLst/>
                <a:latin typeface="Roboto" panose="02000000000000000000" pitchFamily="2" charset="0"/>
              </a:rPr>
              <a:t>For a matrix structure to be successful, you’ll want to clearly define roles, responsibilities and authority, foster a collaborative culture, and implement effective communication mechanisms.</a:t>
            </a:r>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41</a:t>
            </a:fld>
            <a:endParaRPr lang="en-US"/>
          </a:p>
        </p:txBody>
      </p:sp>
    </p:spTree>
    <p:extLst>
      <p:ext uri="{BB962C8B-B14F-4D97-AF65-F5344CB8AC3E}">
        <p14:creationId xmlns:p14="http://schemas.microsoft.com/office/powerpoint/2010/main" val="3037212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0" i="0" dirty="0">
                <a:solidFill>
                  <a:srgbClr val="FFFFFF"/>
                </a:solidFill>
                <a:effectLst/>
                <a:latin typeface="Open Sans" panose="020B0606030504020204" pitchFamily="34" charset="0"/>
              </a:rPr>
              <a:t>This one is the combination of a projectized and functional organization. This hybrid organization overcomes the limitations of each organization. Here, both the functional and project managers share their respective authorities.</a:t>
            </a:r>
            <a:endParaRPr lang="en-US" b="0" i="0" dirty="0">
              <a:solidFill>
                <a:srgbClr val="FFFFFF"/>
              </a:solidFill>
              <a:effectLst/>
              <a:latin typeface="Poppins" panose="00000500000000000000" pitchFamily="2" charset="0"/>
            </a:endParaRPr>
          </a:p>
          <a:p>
            <a:pPr algn="just"/>
            <a:r>
              <a:rPr lang="en-US" b="0" i="0" dirty="0">
                <a:solidFill>
                  <a:srgbClr val="FFFFFF"/>
                </a:solidFill>
                <a:effectLst/>
                <a:latin typeface="Open Sans" panose="020B0606030504020204" pitchFamily="34" charset="0"/>
              </a:rPr>
              <a:t>Project managers are generally responsible for</a:t>
            </a:r>
            <a:endParaRPr lang="en-US" b="0" i="0" dirty="0">
              <a:solidFill>
                <a:srgbClr val="FFFFFF"/>
              </a:solidFill>
              <a:effectLst/>
              <a:latin typeface="Poppins" panose="00000500000000000000" pitchFamily="2" charset="0"/>
            </a:endParaRPr>
          </a:p>
          <a:p>
            <a:pPr algn="l">
              <a:buFont typeface="Arial" panose="020B0604020202020204" pitchFamily="34" charset="0"/>
              <a:buChar char="•"/>
            </a:pPr>
            <a:r>
              <a:rPr lang="en-US" b="0" i="0" dirty="0">
                <a:solidFill>
                  <a:srgbClr val="FFFFFF"/>
                </a:solidFill>
                <a:effectLst/>
                <a:latin typeface="Open Sans" panose="020B0606030504020204" pitchFamily="34" charset="0"/>
              </a:rPr>
              <a:t>    Overall integration</a:t>
            </a:r>
            <a:endParaRPr lang="en-US" b="0" i="0" dirty="0">
              <a:solidFill>
                <a:srgbClr val="FFFFFF"/>
              </a:solidFill>
              <a:effectLst/>
              <a:latin typeface="Poppins" panose="00000500000000000000" pitchFamily="2" charset="0"/>
            </a:endParaRPr>
          </a:p>
          <a:p>
            <a:pPr algn="l">
              <a:buFont typeface="Arial" panose="020B0604020202020204" pitchFamily="34" charset="0"/>
              <a:buChar char="•"/>
            </a:pPr>
            <a:r>
              <a:rPr lang="en-US" b="0" i="0" dirty="0">
                <a:solidFill>
                  <a:srgbClr val="FFFFFF"/>
                </a:solidFill>
                <a:effectLst/>
                <a:latin typeface="Open Sans" panose="020B0606030504020204" pitchFamily="34" charset="0"/>
              </a:rPr>
              <a:t>    Project planning</a:t>
            </a:r>
            <a:endParaRPr lang="en-US" b="0" i="0" dirty="0">
              <a:solidFill>
                <a:srgbClr val="FFFFFF"/>
              </a:solidFill>
              <a:effectLst/>
              <a:latin typeface="Poppins" panose="00000500000000000000" pitchFamily="2" charset="0"/>
            </a:endParaRPr>
          </a:p>
          <a:p>
            <a:pPr algn="l">
              <a:buFont typeface="Arial" panose="020B0604020202020204" pitchFamily="34" charset="0"/>
              <a:buChar char="•"/>
            </a:pPr>
            <a:r>
              <a:rPr lang="en-US" b="0" i="0" dirty="0">
                <a:solidFill>
                  <a:srgbClr val="FFFFFF"/>
                </a:solidFill>
                <a:effectLst/>
                <a:latin typeface="Open Sans" panose="020B0606030504020204" pitchFamily="34" charset="0"/>
              </a:rPr>
              <a:t>    Execution of the project, and</a:t>
            </a:r>
            <a:endParaRPr lang="en-US" b="0" i="0" dirty="0">
              <a:solidFill>
                <a:srgbClr val="FFFFFF"/>
              </a:solidFill>
              <a:effectLst/>
              <a:latin typeface="Poppins" panose="00000500000000000000" pitchFamily="2" charset="0"/>
            </a:endParaRPr>
          </a:p>
          <a:p>
            <a:pPr algn="l">
              <a:buFont typeface="Arial" panose="020B0604020202020204" pitchFamily="34" charset="0"/>
              <a:buChar char="•"/>
            </a:pPr>
            <a:r>
              <a:rPr lang="en-US" b="0" i="0" dirty="0">
                <a:solidFill>
                  <a:srgbClr val="FFFFFF"/>
                </a:solidFill>
                <a:effectLst/>
                <a:latin typeface="Open Sans" panose="020B0606030504020204" pitchFamily="34" charset="0"/>
              </a:rPr>
              <a:t>    Completion of project activities</a:t>
            </a:r>
            <a:endParaRPr lang="en-US" b="0" i="0" dirty="0">
              <a:solidFill>
                <a:srgbClr val="FFFFFF"/>
              </a:solidFill>
              <a:effectLst/>
              <a:latin typeface="Poppins" panose="00000500000000000000" pitchFamily="2" charset="0"/>
            </a:endParaRPr>
          </a:p>
          <a:p>
            <a:pPr algn="just"/>
            <a:r>
              <a:rPr lang="en-US" b="0" i="0" dirty="0">
                <a:solidFill>
                  <a:srgbClr val="FFFFFF"/>
                </a:solidFill>
                <a:effectLst/>
                <a:latin typeface="Open Sans" panose="020B0606030504020204" pitchFamily="34" charset="0"/>
              </a:rPr>
              <a:t>All activities must be done using the assigned resources.</a:t>
            </a:r>
            <a:endParaRPr lang="en-US" b="0" i="0" dirty="0">
              <a:solidFill>
                <a:srgbClr val="FFFFFF"/>
              </a:solidFill>
              <a:effectLst/>
              <a:latin typeface="Poppins" panose="00000500000000000000" pitchFamily="2" charset="0"/>
            </a:endParaRPr>
          </a:p>
          <a:p>
            <a:pPr algn="just"/>
            <a:r>
              <a:rPr lang="en-US" b="0" i="0" dirty="0">
                <a:solidFill>
                  <a:srgbClr val="FFFFFF"/>
                </a:solidFill>
                <a:effectLst/>
                <a:latin typeface="Open Sans" panose="020B0606030504020204" pitchFamily="34" charset="0"/>
              </a:rPr>
              <a:t>The functional managers are concerned with the operational aspects of the project. They’re also responsible for providing technical guidance.</a:t>
            </a:r>
            <a:endParaRPr lang="en-US" b="0" i="0" dirty="0">
              <a:solidFill>
                <a:srgbClr val="FFFFFF"/>
              </a:solidFill>
              <a:effectLst/>
              <a:latin typeface="Poppins" panose="00000500000000000000" pitchFamily="2" charset="0"/>
            </a:endParaRPr>
          </a:p>
          <a:p>
            <a:pPr algn="just"/>
            <a:r>
              <a:rPr lang="en-US" b="0" i="0" dirty="0">
                <a:solidFill>
                  <a:srgbClr val="FFFFFF"/>
                </a:solidFill>
                <a:effectLst/>
                <a:latin typeface="Open Sans" panose="020B0606030504020204" pitchFamily="34" charset="0"/>
              </a:rPr>
              <a:t>The functional staff specializes in the skills required for the project. Though project managers manage the project staff, functional managers control the process.</a:t>
            </a:r>
            <a:endParaRPr lang="en-US" b="0" i="0" dirty="0">
              <a:solidFill>
                <a:srgbClr val="FFFFFF"/>
              </a:solidFill>
              <a:effectLst/>
              <a:latin typeface="Poppins" panose="00000500000000000000" pitchFamily="2" charset="0"/>
            </a:endParaRPr>
          </a:p>
          <a:p>
            <a:pPr algn="just"/>
            <a:r>
              <a:rPr lang="en-US" b="0" i="0" dirty="0">
                <a:solidFill>
                  <a:srgbClr val="FFFFFF"/>
                </a:solidFill>
                <a:effectLst/>
                <a:latin typeface="Open Sans" panose="020B0606030504020204" pitchFamily="34" charset="0"/>
              </a:rPr>
              <a:t>This type of organization is most useful when workers must share available resources. The combination achieves high efficiency and better usage of available resources. Also, they adapt better to the changing trends.</a:t>
            </a:r>
            <a:endParaRPr lang="en-US" b="0" i="0" dirty="0">
              <a:solidFill>
                <a:srgbClr val="FFFFFF"/>
              </a:solidFill>
              <a:effectLst/>
              <a:latin typeface="Poppins" panose="00000500000000000000" pitchFamily="2" charset="0"/>
            </a:endParaRPr>
          </a:p>
          <a:p>
            <a:pPr algn="just"/>
            <a:r>
              <a:rPr lang="en-US" b="0" i="0" dirty="0">
                <a:solidFill>
                  <a:srgbClr val="FFFFFF"/>
                </a:solidFill>
                <a:effectLst/>
                <a:latin typeface="Open Sans" panose="020B0606030504020204" pitchFamily="34" charset="0"/>
              </a:rPr>
              <a:t>You can further classify the Matrix Organization into</a:t>
            </a:r>
            <a:endParaRPr lang="en-US" b="0" i="0" dirty="0">
              <a:solidFill>
                <a:srgbClr val="FFFFFF"/>
              </a:solidFill>
              <a:effectLst/>
              <a:latin typeface="Poppins" panose="00000500000000000000" pitchFamily="2" charset="0"/>
            </a:endParaRPr>
          </a:p>
          <a:p>
            <a:pPr algn="l">
              <a:buFont typeface="Arial" panose="020B0604020202020204" pitchFamily="34" charset="0"/>
              <a:buChar char="•"/>
            </a:pPr>
            <a:r>
              <a:rPr lang="en-US" b="0" i="0" dirty="0">
                <a:solidFill>
                  <a:srgbClr val="FFFFFF"/>
                </a:solidFill>
                <a:effectLst/>
                <a:latin typeface="Open Sans" panose="020B0606030504020204" pitchFamily="34" charset="0"/>
              </a:rPr>
              <a:t>    Balanced</a:t>
            </a:r>
            <a:endParaRPr lang="en-US" b="0" i="0" dirty="0">
              <a:solidFill>
                <a:srgbClr val="FFFFFF"/>
              </a:solidFill>
              <a:effectLst/>
              <a:latin typeface="Poppins" panose="00000500000000000000" pitchFamily="2" charset="0"/>
            </a:endParaRPr>
          </a:p>
          <a:p>
            <a:pPr algn="l">
              <a:buFont typeface="Arial" panose="020B0604020202020204" pitchFamily="34" charset="0"/>
              <a:buChar char="•"/>
            </a:pPr>
            <a:r>
              <a:rPr lang="en-US" b="0" i="0" dirty="0">
                <a:solidFill>
                  <a:srgbClr val="FFFFFF"/>
                </a:solidFill>
                <a:effectLst/>
                <a:latin typeface="Open Sans" panose="020B0606030504020204" pitchFamily="34" charset="0"/>
              </a:rPr>
              <a:t>    Strong and</a:t>
            </a:r>
            <a:endParaRPr lang="en-US" b="0" i="0" dirty="0">
              <a:solidFill>
                <a:srgbClr val="FFFFFF"/>
              </a:solidFill>
              <a:effectLst/>
              <a:latin typeface="Poppins" panose="00000500000000000000" pitchFamily="2" charset="0"/>
            </a:endParaRPr>
          </a:p>
          <a:p>
            <a:pPr algn="l">
              <a:buFont typeface="Arial" panose="020B0604020202020204" pitchFamily="34" charset="0"/>
              <a:buChar char="•"/>
            </a:pPr>
            <a:r>
              <a:rPr lang="en-US" b="0" i="0" dirty="0">
                <a:solidFill>
                  <a:srgbClr val="FFFFFF"/>
                </a:solidFill>
                <a:effectLst/>
                <a:latin typeface="Open Sans" panose="020B0606030504020204" pitchFamily="34" charset="0"/>
              </a:rPr>
              <a:t>    Weak</a:t>
            </a:r>
            <a:endParaRPr lang="en-US" b="0" i="0" dirty="0">
              <a:solidFill>
                <a:srgbClr val="FFFFFF"/>
              </a:solidFill>
              <a:effectLst/>
              <a:latin typeface="Poppins" panose="00000500000000000000" pitchFamily="2" charset="0"/>
            </a:endParaRPr>
          </a:p>
          <a:p>
            <a:pPr algn="l"/>
            <a:r>
              <a:rPr lang="en-US" b="0" i="0" dirty="0">
                <a:solidFill>
                  <a:srgbClr val="FFFFFF"/>
                </a:solidFill>
                <a:effectLst/>
                <a:latin typeface="Open Sans" panose="020B0606030504020204" pitchFamily="34" charset="0"/>
              </a:rPr>
              <a:t>The authority level that both functional and project managers share determines its strength.</a:t>
            </a:r>
            <a:endParaRPr lang="en-US" b="0" i="0" dirty="0">
              <a:solidFill>
                <a:srgbClr val="FFFFFF"/>
              </a:solidFill>
              <a:effectLst/>
              <a:latin typeface="Poppins" panose="00000500000000000000" pitchFamily="2" charset="0"/>
            </a:endParaRPr>
          </a:p>
          <a:p>
            <a:pPr algn="l"/>
            <a:r>
              <a:rPr lang="en-US" b="1" i="0" dirty="0">
                <a:solidFill>
                  <a:srgbClr val="FFFFFF"/>
                </a:solidFill>
                <a:effectLst/>
                <a:latin typeface="Poppins" panose="00000500000000000000" pitchFamily="2" charset="0"/>
              </a:rPr>
              <a:t>Advantages</a:t>
            </a:r>
            <a:endParaRPr lang="en-US" b="0" i="0" dirty="0">
              <a:solidFill>
                <a:srgbClr val="FFFFFF"/>
              </a:solidFill>
              <a:effectLst/>
              <a:latin typeface="Poppins" panose="00000500000000000000" pitchFamily="2" charset="0"/>
            </a:endParaRPr>
          </a:p>
          <a:p>
            <a:pPr algn="l"/>
            <a:r>
              <a:rPr lang="en-US" b="0" i="0" dirty="0">
                <a:solidFill>
                  <a:srgbClr val="FFFFFF"/>
                </a:solidFill>
                <a:effectLst/>
                <a:latin typeface="Poppins" panose="00000500000000000000" pitchFamily="2" charset="0"/>
              </a:rPr>
              <a:t> </a:t>
            </a:r>
          </a:p>
          <a:p>
            <a:pPr algn="l"/>
            <a:r>
              <a:rPr lang="en-US" b="0" i="0" dirty="0">
                <a:solidFill>
                  <a:srgbClr val="FFFFFF"/>
                </a:solidFill>
                <a:effectLst/>
                <a:latin typeface="Poppins" panose="00000500000000000000" pitchFamily="2" charset="0"/>
              </a:rPr>
              <a:t>1) It helps in sharing resources efficiently</a:t>
            </a:r>
          </a:p>
          <a:p>
            <a:pPr algn="l"/>
            <a:r>
              <a:rPr lang="en-US" b="0" i="0" dirty="0">
                <a:solidFill>
                  <a:srgbClr val="FFFFFF"/>
                </a:solidFill>
                <a:effectLst/>
                <a:latin typeface="Poppins" panose="00000500000000000000" pitchFamily="2" charset="0"/>
              </a:rPr>
              <a:t>2) Decision making is balanced and flexible</a:t>
            </a:r>
          </a:p>
          <a:p>
            <a:pPr algn="l"/>
            <a:r>
              <a:rPr lang="en-US" b="0" i="0" dirty="0">
                <a:solidFill>
                  <a:srgbClr val="FFFFFF"/>
                </a:solidFill>
                <a:effectLst/>
                <a:latin typeface="Poppins" panose="00000500000000000000" pitchFamily="2" charset="0"/>
              </a:rPr>
              <a:t>3) Staff members can communicate with each other across boundaries</a:t>
            </a:r>
          </a:p>
          <a:p>
            <a:pPr algn="l"/>
            <a:r>
              <a:rPr lang="en-US" b="0" i="0" dirty="0">
                <a:solidFill>
                  <a:srgbClr val="FFFFFF"/>
                </a:solidFill>
                <a:effectLst/>
                <a:latin typeface="Poppins" panose="00000500000000000000" pitchFamily="2" charset="0"/>
              </a:rPr>
              <a:t>4) Pleasant environment</a:t>
            </a:r>
          </a:p>
          <a:p>
            <a:pPr algn="l"/>
            <a:r>
              <a:rPr lang="en-US" b="0" i="0" dirty="0">
                <a:solidFill>
                  <a:srgbClr val="FFFFFF"/>
                </a:solidFill>
                <a:effectLst/>
                <a:latin typeface="Poppins" panose="00000500000000000000" pitchFamily="2" charset="0"/>
              </a:rPr>
              <a:t>5) It has a clear career graph and job security; hence, members would be more loyal to the organization</a:t>
            </a:r>
          </a:p>
          <a:p>
            <a:pPr algn="l"/>
            <a:r>
              <a:rPr lang="en-US" b="1" i="0" dirty="0">
                <a:solidFill>
                  <a:srgbClr val="FFFFFF"/>
                </a:solidFill>
                <a:effectLst/>
                <a:latin typeface="Poppins" panose="00000500000000000000" pitchFamily="2" charset="0"/>
              </a:rPr>
              <a:t>Disadvantages</a:t>
            </a:r>
            <a:endParaRPr lang="en-US" b="0" i="0" dirty="0">
              <a:solidFill>
                <a:srgbClr val="FFFFFF"/>
              </a:solidFill>
              <a:effectLst/>
              <a:latin typeface="Poppins" panose="00000500000000000000" pitchFamily="2" charset="0"/>
            </a:endParaRPr>
          </a:p>
          <a:p>
            <a:pPr algn="l"/>
            <a:r>
              <a:rPr lang="en-US" b="0" i="0" dirty="0">
                <a:solidFill>
                  <a:srgbClr val="FFFFFF"/>
                </a:solidFill>
                <a:effectLst/>
                <a:latin typeface="Poppins" panose="00000500000000000000" pitchFamily="2" charset="0"/>
              </a:rPr>
              <a:t> </a:t>
            </a:r>
          </a:p>
          <a:p>
            <a:pPr algn="l"/>
            <a:r>
              <a:rPr lang="en-US" b="0" i="0" dirty="0">
                <a:solidFill>
                  <a:srgbClr val="FFFFFF"/>
                </a:solidFill>
                <a:effectLst/>
                <a:latin typeface="Poppins" panose="00000500000000000000" pitchFamily="2" charset="0"/>
              </a:rPr>
              <a:t>1) The dual reporting structure add confusion and results in conflicts</a:t>
            </a:r>
          </a:p>
          <a:p>
            <a:pPr algn="l"/>
            <a:r>
              <a:rPr lang="en-US" b="0" i="0" dirty="0">
                <a:solidFill>
                  <a:srgbClr val="FFFFFF"/>
                </a:solidFill>
                <a:effectLst/>
                <a:latin typeface="Poppins" panose="00000500000000000000" pitchFamily="2" charset="0"/>
              </a:rPr>
              <a:t>2) Create issues when there is no coordination between functional and project managers</a:t>
            </a:r>
          </a:p>
          <a:p>
            <a:pPr algn="l"/>
            <a:r>
              <a:rPr lang="en-US" b="0" i="0" dirty="0">
                <a:solidFill>
                  <a:srgbClr val="FFFFFF"/>
                </a:solidFill>
                <a:effectLst/>
                <a:latin typeface="Poppins" panose="00000500000000000000" pitchFamily="2" charset="0"/>
              </a:rPr>
              <a:t>3) Resources may be under-utilized if you don't assign them with skill-related tasks</a:t>
            </a:r>
          </a:p>
          <a:p>
            <a:pPr algn="l"/>
            <a:r>
              <a:rPr lang="en-US" b="0" i="0" dirty="0">
                <a:solidFill>
                  <a:srgbClr val="FFFFFF"/>
                </a:solidFill>
                <a:effectLst/>
                <a:latin typeface="Poppins" panose="00000500000000000000" pitchFamily="2" charset="0"/>
              </a:rPr>
              <a:t>4) Costly to maintain as it has many managers</a:t>
            </a:r>
          </a:p>
          <a:p>
            <a:pPr algn="l"/>
            <a:r>
              <a:rPr lang="en-US" b="0" i="0" dirty="0">
                <a:solidFill>
                  <a:srgbClr val="FFFFFF"/>
                </a:solidFill>
                <a:effectLst/>
                <a:latin typeface="Poppins" panose="00000500000000000000" pitchFamily="2" charset="0"/>
              </a:rPr>
              <a:t>5) You need to maintain resources throughout the project, no matter how long it takes</a:t>
            </a:r>
          </a:p>
          <a:p>
            <a:pPr algn="ctr"/>
            <a:r>
              <a:rPr lang="en-US" b="1" i="0" dirty="0">
                <a:solidFill>
                  <a:srgbClr val="FFFFFF"/>
                </a:solidFill>
                <a:effectLst/>
                <a:latin typeface="Poppins" panose="00000500000000000000" pitchFamily="2" charset="0"/>
              </a:rPr>
              <a:t>You may also like: </a:t>
            </a:r>
            <a:r>
              <a:rPr lang="en-US" b="0" i="0" dirty="0">
                <a:solidFill>
                  <a:srgbClr val="34AEB5"/>
                </a:solidFill>
                <a:effectLst/>
                <a:latin typeface="Poppins" panose="00000500000000000000" pitchFamily="2" charset="0"/>
                <a:hlinkClick r:id="rId3"/>
              </a:rPr>
              <a:t>5 Trends That Are Shaping Project Management Plans in 2021</a:t>
            </a:r>
            <a:endParaRPr lang="en-US" b="0" i="0" dirty="0">
              <a:solidFill>
                <a:srgbClr val="FFFFFF"/>
              </a:solidFill>
              <a:effectLst/>
              <a:latin typeface="Poppins" panose="00000500000000000000" pitchFamily="2" charset="0"/>
            </a:endParaRPr>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42</a:t>
            </a:fld>
            <a:endParaRPr lang="en-US"/>
          </a:p>
        </p:txBody>
      </p:sp>
    </p:spTree>
    <p:extLst>
      <p:ext uri="{BB962C8B-B14F-4D97-AF65-F5344CB8AC3E}">
        <p14:creationId xmlns:p14="http://schemas.microsoft.com/office/powerpoint/2010/main" val="13743069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https://www.greycampus.com/blog/project-management/common-types-of-organizational-structures-in-project-management</a:t>
            </a:r>
          </a:p>
          <a:p>
            <a:endParaRPr lang="en-US" dirty="0"/>
          </a:p>
          <a:p>
            <a:r>
              <a:rPr lang="en-US" dirty="0"/>
              <a:t>https://www.greycampus.com/blog/project-management/5-trends-that-are-shaping-project-management-plans-in-2021</a:t>
            </a:r>
          </a:p>
        </p:txBody>
      </p:sp>
      <p:sp>
        <p:nvSpPr>
          <p:cNvPr id="4" name="Slide Number Placeholder 3"/>
          <p:cNvSpPr>
            <a:spLocks noGrp="1"/>
          </p:cNvSpPr>
          <p:nvPr>
            <p:ph type="sldNum" sz="quarter" idx="5"/>
          </p:nvPr>
        </p:nvSpPr>
        <p:spPr/>
        <p:txBody>
          <a:bodyPr/>
          <a:lstStyle/>
          <a:p>
            <a:fld id="{0D07DE76-E770-4DA3-A16C-337AAD1E63D6}" type="slidenum">
              <a:rPr lang="en-US" smtClean="0"/>
              <a:t>43</a:t>
            </a:fld>
            <a:endParaRPr lang="en-US"/>
          </a:p>
        </p:txBody>
      </p:sp>
    </p:spTree>
    <p:extLst>
      <p:ext uri="{BB962C8B-B14F-4D97-AF65-F5344CB8AC3E}">
        <p14:creationId xmlns:p14="http://schemas.microsoft.com/office/powerpoint/2010/main" val="21550981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latin typeface="Inter"/>
              </a:rPr>
              <a:t>The matrix structure is a hybrid model that combines elements of both functional and projected structures. In this setup, team members report both to their functional managers and the project manager.</a:t>
            </a:r>
          </a:p>
          <a:p>
            <a:pPr algn="l"/>
            <a:r>
              <a:rPr lang="en-US" b="0" i="0" dirty="0">
                <a:effectLst/>
                <a:latin typeface="Inter"/>
              </a:rPr>
              <a:t>‍</a:t>
            </a:r>
          </a:p>
          <a:p>
            <a:pPr algn="l"/>
            <a:r>
              <a:rPr lang="en-US" b="0" i="0" dirty="0">
                <a:effectLst/>
                <a:latin typeface="Inter"/>
              </a:rPr>
              <a:t>The project manager has authority over project-related activities, while functional managers oversee the technical expertise and resources required for the project.</a:t>
            </a:r>
          </a:p>
          <a:p>
            <a:pPr algn="l"/>
            <a:r>
              <a:rPr lang="en-US" b="0" i="0" dirty="0">
                <a:effectLst/>
                <a:latin typeface="Inter"/>
              </a:rPr>
              <a:t>‍</a:t>
            </a:r>
          </a:p>
          <a:p>
            <a:pPr algn="l"/>
            <a:r>
              <a:rPr lang="en-US" b="0" i="0" dirty="0">
                <a:effectLst/>
                <a:latin typeface="Inter"/>
              </a:rPr>
              <a:t>Matrix structures can be classified into three types based on the level of authority the project manager holds:</a:t>
            </a:r>
          </a:p>
          <a:p>
            <a:pPr algn="l"/>
            <a:r>
              <a:rPr lang="en-US" b="0" i="0" dirty="0">
                <a:effectLst/>
                <a:latin typeface="Inter"/>
              </a:rPr>
              <a:t>‍</a:t>
            </a:r>
          </a:p>
          <a:p>
            <a:pPr algn="l">
              <a:buFont typeface="Arial" panose="020B0604020202020204" pitchFamily="34" charset="0"/>
              <a:buChar char="•"/>
            </a:pPr>
            <a:r>
              <a:rPr lang="en-US" b="1" i="0" dirty="0">
                <a:effectLst/>
                <a:latin typeface="Tasaorbiterdeck Bold"/>
              </a:rPr>
              <a:t>Weak Matrix</a:t>
            </a:r>
            <a:r>
              <a:rPr lang="en-US" b="0" i="0" dirty="0">
                <a:effectLst/>
                <a:latin typeface="Inter"/>
              </a:rPr>
              <a:t>: The project manager has limited authority, and functional managers retain most control.</a:t>
            </a:r>
          </a:p>
          <a:p>
            <a:pPr algn="l">
              <a:buFont typeface="Arial" panose="020B0604020202020204" pitchFamily="34" charset="0"/>
              <a:buChar char="•"/>
            </a:pPr>
            <a:r>
              <a:rPr lang="en-US" b="1" i="0" dirty="0">
                <a:effectLst/>
                <a:latin typeface="Tasaorbiterdeck Bold"/>
              </a:rPr>
              <a:t>Balanced Matrix</a:t>
            </a:r>
            <a:r>
              <a:rPr lang="en-US" b="0" i="0" dirty="0">
                <a:effectLst/>
                <a:latin typeface="Inter"/>
              </a:rPr>
              <a:t>: Project managers and functional managers share authority and responsibilities.</a:t>
            </a:r>
          </a:p>
          <a:p>
            <a:pPr algn="l">
              <a:buFont typeface="Arial" panose="020B0604020202020204" pitchFamily="34" charset="0"/>
              <a:buChar char="•"/>
            </a:pPr>
            <a:r>
              <a:rPr lang="en-US" b="1" i="0" dirty="0">
                <a:effectLst/>
                <a:latin typeface="Tasaorbiterdeck Bold"/>
              </a:rPr>
              <a:t>Strong Matrix</a:t>
            </a:r>
            <a:r>
              <a:rPr lang="en-US" b="0" i="0" dirty="0">
                <a:effectLst/>
                <a:latin typeface="Inter"/>
              </a:rPr>
              <a:t>: Project managers have more authority and control over resources and decision-making, similar to a projected structure.</a:t>
            </a:r>
          </a:p>
          <a:p>
            <a:pPr algn="l"/>
            <a:r>
              <a:rPr lang="en-US" b="0" i="0" dirty="0">
                <a:effectLst/>
                <a:latin typeface="Inter"/>
              </a:rPr>
              <a:t>‍</a:t>
            </a:r>
          </a:p>
          <a:p>
            <a:pPr algn="l"/>
            <a:r>
              <a:rPr lang="en-US" b="1" i="0" dirty="0">
                <a:effectLst/>
                <a:latin typeface="Tasaorbiterdeck Bold"/>
              </a:rPr>
              <a:t>Advantages</a:t>
            </a:r>
            <a:r>
              <a:rPr lang="en-US" b="0" i="0" dirty="0">
                <a:effectLst/>
                <a:latin typeface="Inter"/>
              </a:rPr>
              <a:t>:</a:t>
            </a:r>
          </a:p>
          <a:p>
            <a:pPr algn="l">
              <a:buFont typeface="Arial" panose="020B0604020202020204" pitchFamily="34" charset="0"/>
              <a:buChar char="•"/>
            </a:pPr>
            <a:r>
              <a:rPr lang="en-US" b="0" i="0" dirty="0">
                <a:effectLst/>
                <a:latin typeface="Inter"/>
              </a:rPr>
              <a:t>Better resource sharing and flexibility.</a:t>
            </a:r>
          </a:p>
          <a:p>
            <a:pPr algn="l">
              <a:buFont typeface="Arial" panose="020B0604020202020204" pitchFamily="34" charset="0"/>
              <a:buChar char="•"/>
            </a:pPr>
            <a:r>
              <a:rPr lang="en-US" b="0" i="0" dirty="0">
                <a:effectLst/>
                <a:latin typeface="Inter"/>
              </a:rPr>
              <a:t>Encourages collaboration between departments.</a:t>
            </a:r>
          </a:p>
          <a:p>
            <a:pPr algn="l">
              <a:buFont typeface="Arial" panose="020B0604020202020204" pitchFamily="34" charset="0"/>
              <a:buChar char="•"/>
            </a:pPr>
            <a:r>
              <a:rPr lang="en-US" b="0" i="0" dirty="0">
                <a:effectLst/>
                <a:latin typeface="Inter"/>
              </a:rPr>
              <a:t>Allows for expertise from different functional areas to be integrated into the project.</a:t>
            </a:r>
          </a:p>
          <a:p>
            <a:pPr algn="l"/>
            <a:r>
              <a:rPr lang="en-US" b="0" i="0" dirty="0">
                <a:effectLst/>
                <a:latin typeface="Inter"/>
              </a:rPr>
              <a:t>‍</a:t>
            </a:r>
          </a:p>
          <a:p>
            <a:pPr algn="l"/>
            <a:r>
              <a:rPr lang="en-US" b="1" i="0" dirty="0">
                <a:effectLst/>
                <a:latin typeface="Tasaorbiterdeck Bold"/>
              </a:rPr>
              <a:t>Disadvantages</a:t>
            </a:r>
            <a:r>
              <a:rPr lang="en-US" b="0" i="0" dirty="0">
                <a:effectLst/>
                <a:latin typeface="Inter"/>
              </a:rPr>
              <a:t>:</a:t>
            </a:r>
          </a:p>
          <a:p>
            <a:pPr algn="l">
              <a:buFont typeface="Arial" panose="020B0604020202020204" pitchFamily="34" charset="0"/>
              <a:buChar char="•"/>
            </a:pPr>
            <a:r>
              <a:rPr lang="en-US" b="0" i="0" dirty="0">
                <a:effectLst/>
                <a:latin typeface="Inter"/>
              </a:rPr>
              <a:t>Potential for conflict between functional managers and project managers due to shared authority.</a:t>
            </a:r>
          </a:p>
          <a:p>
            <a:pPr algn="l">
              <a:buFont typeface="Arial" panose="020B0604020202020204" pitchFamily="34" charset="0"/>
              <a:buChar char="•"/>
            </a:pPr>
            <a:r>
              <a:rPr lang="en-US" b="0" i="0" dirty="0">
                <a:effectLst/>
                <a:latin typeface="Inter"/>
              </a:rPr>
              <a:t>A simple reporting structure can lead to clarity and communication.</a:t>
            </a:r>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44</a:t>
            </a:fld>
            <a:endParaRPr lang="en-US"/>
          </a:p>
        </p:txBody>
      </p:sp>
    </p:spTree>
    <p:extLst>
      <p:ext uri="{BB962C8B-B14F-4D97-AF65-F5344CB8AC3E}">
        <p14:creationId xmlns:p14="http://schemas.microsoft.com/office/powerpoint/2010/main" val="36709843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0485">
              <a:lnSpc>
                <a:spcPct val="100000"/>
              </a:lnSpc>
              <a:spcBef>
                <a:spcPts val="1595"/>
              </a:spcBef>
            </a:pPr>
            <a:r>
              <a:rPr lang="en-US" spc="-35" dirty="0">
                <a:solidFill>
                  <a:srgbClr val="C10000"/>
                </a:solidFill>
              </a:rPr>
              <a:t>Weak</a:t>
            </a:r>
            <a:r>
              <a:rPr lang="en-US" spc="-175" dirty="0">
                <a:solidFill>
                  <a:srgbClr val="C10000"/>
                </a:solidFill>
              </a:rPr>
              <a:t> </a:t>
            </a:r>
            <a:r>
              <a:rPr lang="en-US" spc="-10" dirty="0"/>
              <a:t>Matrix:</a:t>
            </a:r>
          </a:p>
          <a:p>
            <a:pPr marL="429259" marR="5080" indent="-328930">
              <a:lnSpc>
                <a:spcPct val="100899"/>
              </a:lnSpc>
              <a:spcBef>
                <a:spcPts val="1235"/>
              </a:spcBef>
            </a:pPr>
            <a:r>
              <a:rPr lang="en-US" sz="1200" dirty="0">
                <a:solidFill>
                  <a:srgbClr val="000000"/>
                </a:solidFill>
              </a:rPr>
              <a:t>\•</a:t>
            </a:r>
            <a:r>
              <a:rPr lang="en-US" sz="1200" spc="204" dirty="0">
                <a:solidFill>
                  <a:srgbClr val="000000"/>
                </a:solidFill>
              </a:rPr>
              <a:t> </a:t>
            </a:r>
            <a:r>
              <a:rPr lang="en-US" sz="1200" dirty="0">
                <a:solidFill>
                  <a:srgbClr val="000000"/>
                </a:solidFill>
              </a:rPr>
              <a:t>Very</a:t>
            </a:r>
            <a:r>
              <a:rPr lang="en-US" sz="1200" spc="75" dirty="0">
                <a:solidFill>
                  <a:srgbClr val="000000"/>
                </a:solidFill>
              </a:rPr>
              <a:t> </a:t>
            </a:r>
            <a:r>
              <a:rPr lang="en-US" sz="1200" u="heavy" spc="90" dirty="0">
                <a:solidFill>
                  <a:srgbClr val="03AE4D"/>
                </a:solidFill>
                <a:uFill>
                  <a:solidFill>
                    <a:srgbClr val="08A84F"/>
                  </a:solidFill>
                </a:uFill>
              </a:rPr>
              <a:t>similar</a:t>
            </a:r>
            <a:r>
              <a:rPr lang="en-US" sz="1200" spc="145" dirty="0">
                <a:solidFill>
                  <a:srgbClr val="03AE4D"/>
                </a:solidFill>
              </a:rPr>
              <a:t> </a:t>
            </a:r>
            <a:r>
              <a:rPr lang="en-US" sz="1200" dirty="0">
                <a:solidFill>
                  <a:srgbClr val="000000"/>
                </a:solidFill>
              </a:rPr>
              <a:t>to</a:t>
            </a:r>
            <a:r>
              <a:rPr lang="en-US" sz="1200" spc="15" dirty="0">
                <a:solidFill>
                  <a:srgbClr val="000000"/>
                </a:solidFill>
              </a:rPr>
              <a:t> </a:t>
            </a:r>
            <a:r>
              <a:rPr lang="en-US" sz="1200" dirty="0">
                <a:solidFill>
                  <a:srgbClr val="000000"/>
                </a:solidFill>
              </a:rPr>
              <a:t>a</a:t>
            </a:r>
            <a:r>
              <a:rPr lang="en-US" sz="1200" spc="10" dirty="0">
                <a:solidFill>
                  <a:srgbClr val="000000"/>
                </a:solidFill>
              </a:rPr>
              <a:t> </a:t>
            </a:r>
            <a:r>
              <a:rPr lang="en-US" sz="1200" spc="100" dirty="0">
                <a:solidFill>
                  <a:srgbClr val="0001CA"/>
                </a:solidFill>
              </a:rPr>
              <a:t>functional</a:t>
            </a:r>
            <a:r>
              <a:rPr lang="en-US" sz="1200" spc="114" dirty="0">
                <a:solidFill>
                  <a:srgbClr val="0001CA"/>
                </a:solidFill>
              </a:rPr>
              <a:t> </a:t>
            </a:r>
            <a:r>
              <a:rPr lang="en-US" sz="1200" spc="70" dirty="0">
                <a:solidFill>
                  <a:srgbClr val="0000CA"/>
                </a:solidFill>
              </a:rPr>
              <a:t>approach</a:t>
            </a:r>
            <a:r>
              <a:rPr lang="en-US" sz="1200" spc="145" dirty="0">
                <a:solidFill>
                  <a:srgbClr val="0000CA"/>
                </a:solidFill>
              </a:rPr>
              <a:t> </a:t>
            </a:r>
            <a:r>
              <a:rPr lang="en-US" sz="1200" dirty="0">
                <a:solidFill>
                  <a:srgbClr val="000000"/>
                </a:solidFill>
              </a:rPr>
              <a:t>with</a:t>
            </a:r>
            <a:r>
              <a:rPr lang="en-US" sz="1200" spc="30" dirty="0">
                <a:solidFill>
                  <a:srgbClr val="000000"/>
                </a:solidFill>
              </a:rPr>
              <a:t> </a:t>
            </a:r>
            <a:r>
              <a:rPr lang="en-US" sz="1200" u="heavy" spc="75" dirty="0" err="1">
                <a:solidFill>
                  <a:srgbClr val="01AE52"/>
                </a:solidFill>
                <a:uFill>
                  <a:solidFill>
                    <a:srgbClr val="08A84F"/>
                  </a:solidFill>
                </a:uFill>
              </a:rPr>
              <a:t>excegtion</a:t>
            </a:r>
            <a:r>
              <a:rPr lang="en-US" sz="1200" spc="200" dirty="0">
                <a:solidFill>
                  <a:srgbClr val="01AE52"/>
                </a:solidFill>
              </a:rPr>
              <a:t> </a:t>
            </a:r>
            <a:r>
              <a:rPr lang="en-US" sz="1200" spc="-20" dirty="0">
                <a:solidFill>
                  <a:srgbClr val="000000"/>
                </a:solidFill>
              </a:rPr>
              <a:t>that </a:t>
            </a:r>
            <a:r>
              <a:rPr lang="en-US" sz="1200" dirty="0">
                <a:solidFill>
                  <a:srgbClr val="000000"/>
                </a:solidFill>
              </a:rPr>
              <a:t>there</a:t>
            </a:r>
            <a:r>
              <a:rPr lang="en-US" sz="1200" spc="20" dirty="0">
                <a:solidFill>
                  <a:srgbClr val="000000"/>
                </a:solidFill>
              </a:rPr>
              <a:t> </a:t>
            </a:r>
            <a:r>
              <a:rPr lang="en-US" sz="1200" dirty="0">
                <a:solidFill>
                  <a:srgbClr val="000000"/>
                </a:solidFill>
              </a:rPr>
              <a:t>is</a:t>
            </a:r>
            <a:r>
              <a:rPr lang="en-US" sz="1200" spc="-10" dirty="0">
                <a:solidFill>
                  <a:srgbClr val="000000"/>
                </a:solidFill>
              </a:rPr>
              <a:t> </a:t>
            </a:r>
            <a:r>
              <a:rPr lang="en-US" sz="1200" dirty="0">
                <a:solidFill>
                  <a:srgbClr val="000000"/>
                </a:solidFill>
              </a:rPr>
              <a:t>a</a:t>
            </a:r>
            <a:r>
              <a:rPr lang="en-US" sz="1200" spc="-30" dirty="0">
                <a:solidFill>
                  <a:srgbClr val="000000"/>
                </a:solidFill>
              </a:rPr>
              <a:t> </a:t>
            </a:r>
            <a:r>
              <a:rPr lang="en-US" sz="1200" dirty="0">
                <a:solidFill>
                  <a:srgbClr val="000000"/>
                </a:solidFill>
              </a:rPr>
              <a:t>formally</a:t>
            </a:r>
            <a:r>
              <a:rPr lang="en-US" sz="1200" spc="85" dirty="0">
                <a:solidFill>
                  <a:srgbClr val="000000"/>
                </a:solidFill>
              </a:rPr>
              <a:t> </a:t>
            </a:r>
            <a:r>
              <a:rPr lang="en-US" sz="1200" dirty="0">
                <a:solidFill>
                  <a:srgbClr val="000000"/>
                </a:solidFill>
              </a:rPr>
              <a:t>designed</a:t>
            </a:r>
            <a:r>
              <a:rPr lang="en-US" sz="1200" spc="160" dirty="0">
                <a:solidFill>
                  <a:srgbClr val="000000"/>
                </a:solidFill>
              </a:rPr>
              <a:t> </a:t>
            </a:r>
            <a:r>
              <a:rPr lang="en-US" sz="1200" spc="90" dirty="0">
                <a:solidFill>
                  <a:srgbClr val="0003BA"/>
                </a:solidFill>
              </a:rPr>
              <a:t>project</a:t>
            </a:r>
            <a:r>
              <a:rPr lang="en-US" sz="1200" spc="50" dirty="0">
                <a:solidFill>
                  <a:srgbClr val="0003BA"/>
                </a:solidFill>
              </a:rPr>
              <a:t> </a:t>
            </a:r>
            <a:r>
              <a:rPr lang="en-US" sz="1200" dirty="0">
                <a:solidFill>
                  <a:srgbClr val="0000C6"/>
                </a:solidFill>
              </a:rPr>
              <a:t>manager</a:t>
            </a:r>
            <a:r>
              <a:rPr lang="en-US" sz="1200" spc="175" dirty="0">
                <a:solidFill>
                  <a:srgbClr val="0000C6"/>
                </a:solidFill>
              </a:rPr>
              <a:t> </a:t>
            </a:r>
            <a:r>
              <a:rPr lang="en-US" sz="1200" dirty="0">
                <a:solidFill>
                  <a:srgbClr val="000000"/>
                </a:solidFill>
              </a:rPr>
              <a:t>responsible</a:t>
            </a:r>
            <a:r>
              <a:rPr lang="en-US" sz="1200" spc="215" dirty="0">
                <a:solidFill>
                  <a:srgbClr val="000000"/>
                </a:solidFill>
              </a:rPr>
              <a:t> </a:t>
            </a:r>
            <a:r>
              <a:rPr lang="en-US" sz="1200" spc="-25" dirty="0">
                <a:solidFill>
                  <a:srgbClr val="000000"/>
                </a:solidFill>
              </a:rPr>
              <a:t>for </a:t>
            </a:r>
            <a:r>
              <a:rPr lang="en-US" sz="1200" u="heavy" spc="95" dirty="0" err="1">
                <a:solidFill>
                  <a:srgbClr val="00AF54"/>
                </a:solidFill>
                <a:uFill>
                  <a:solidFill>
                    <a:srgbClr val="08A84F"/>
                  </a:solidFill>
                </a:uFill>
              </a:rPr>
              <a:t>coordinatinq</a:t>
            </a:r>
            <a:r>
              <a:rPr lang="en-US" sz="1200" spc="290" dirty="0">
                <a:solidFill>
                  <a:srgbClr val="00AF54"/>
                </a:solidFill>
              </a:rPr>
              <a:t> </a:t>
            </a:r>
            <a:r>
              <a:rPr lang="en-US" sz="1200" spc="90" dirty="0">
                <a:solidFill>
                  <a:srgbClr val="0100D4"/>
                </a:solidFill>
              </a:rPr>
              <a:t>project</a:t>
            </a:r>
            <a:r>
              <a:rPr lang="en-US" sz="1200" spc="145" dirty="0">
                <a:solidFill>
                  <a:srgbClr val="0100D4"/>
                </a:solidFill>
              </a:rPr>
              <a:t> </a:t>
            </a:r>
            <a:r>
              <a:rPr lang="en-US" sz="1200" spc="75" dirty="0">
                <a:solidFill>
                  <a:srgbClr val="0000D4"/>
                </a:solidFill>
              </a:rPr>
              <a:t>activities.</a:t>
            </a:r>
            <a:endParaRPr lang="en-US" sz="1200" dirty="0"/>
          </a:p>
          <a:p>
            <a:pPr marL="103505">
              <a:lnSpc>
                <a:spcPct val="100000"/>
              </a:lnSpc>
              <a:spcBef>
                <a:spcPts val="1270"/>
              </a:spcBef>
              <a:tabLst>
                <a:tab pos="2624455" algn="l"/>
              </a:tabLst>
            </a:pPr>
            <a:r>
              <a:rPr lang="en-US" sz="1200" dirty="0">
                <a:solidFill>
                  <a:srgbClr val="F70103"/>
                </a:solidFill>
              </a:rPr>
              <a:t>\•</a:t>
            </a:r>
            <a:r>
              <a:rPr lang="en-US" sz="1200" spc="254" dirty="0">
                <a:solidFill>
                  <a:srgbClr val="F70103"/>
                </a:solidFill>
              </a:rPr>
              <a:t> </a:t>
            </a:r>
            <a:r>
              <a:rPr lang="en-US" sz="1200" spc="70" dirty="0" err="1">
                <a:solidFill>
                  <a:srgbClr val="FB0100"/>
                </a:solidFill>
              </a:rPr>
              <a:t>Proiect</a:t>
            </a:r>
            <a:r>
              <a:rPr lang="en-US" sz="1200" spc="180" dirty="0">
                <a:solidFill>
                  <a:srgbClr val="FB0100"/>
                </a:solidFill>
              </a:rPr>
              <a:t> </a:t>
            </a:r>
            <a:r>
              <a:rPr lang="en-US" sz="1200" spc="-20" dirty="0">
                <a:solidFill>
                  <a:srgbClr val="FD0000"/>
                </a:solidFill>
              </a:rPr>
              <a:t>mana</a:t>
            </a:r>
            <a:r>
              <a:rPr lang="en-US" sz="1200" dirty="0">
                <a:solidFill>
                  <a:srgbClr val="FD0000"/>
                </a:solidFill>
              </a:rPr>
              <a:t>	</a:t>
            </a:r>
            <a:r>
              <a:rPr lang="en-US" sz="1200" dirty="0">
                <a:solidFill>
                  <a:srgbClr val="FD0100"/>
                </a:solidFill>
              </a:rPr>
              <a:t>er</a:t>
            </a:r>
            <a:r>
              <a:rPr lang="en-US" sz="1200" spc="90" dirty="0">
                <a:solidFill>
                  <a:srgbClr val="FD0100"/>
                </a:solidFill>
              </a:rPr>
              <a:t> </a:t>
            </a:r>
            <a:r>
              <a:rPr lang="en-US" sz="1200" spc="65" dirty="0">
                <a:solidFill>
                  <a:srgbClr val="00AF4F"/>
                </a:solidFill>
              </a:rPr>
              <a:t>acts</a:t>
            </a:r>
            <a:r>
              <a:rPr lang="en-US" sz="1200" spc="140" dirty="0">
                <a:solidFill>
                  <a:srgbClr val="00AF4F"/>
                </a:solidFill>
              </a:rPr>
              <a:t> </a:t>
            </a:r>
            <a:r>
              <a:rPr lang="en-US" sz="1200" dirty="0">
                <a:solidFill>
                  <a:srgbClr val="000000"/>
                </a:solidFill>
              </a:rPr>
              <a:t>as</a:t>
            </a:r>
            <a:r>
              <a:rPr lang="en-US" sz="1200" spc="70" dirty="0">
                <a:solidFill>
                  <a:srgbClr val="000000"/>
                </a:solidFill>
              </a:rPr>
              <a:t> </a:t>
            </a:r>
            <a:r>
              <a:rPr lang="en-US" sz="1200" dirty="0">
                <a:solidFill>
                  <a:srgbClr val="000000"/>
                </a:solidFill>
              </a:rPr>
              <a:t>a</a:t>
            </a:r>
            <a:r>
              <a:rPr lang="en-US" sz="1200" spc="60" dirty="0">
                <a:solidFill>
                  <a:srgbClr val="000000"/>
                </a:solidFill>
              </a:rPr>
              <a:t> </a:t>
            </a:r>
            <a:r>
              <a:rPr lang="en-US" sz="1200" spc="80" dirty="0">
                <a:solidFill>
                  <a:srgbClr val="0000E1"/>
                </a:solidFill>
              </a:rPr>
              <a:t>staff</a:t>
            </a:r>
            <a:r>
              <a:rPr lang="en-US" sz="1200" spc="145" dirty="0">
                <a:solidFill>
                  <a:srgbClr val="0000E1"/>
                </a:solidFill>
              </a:rPr>
              <a:t> </a:t>
            </a:r>
            <a:r>
              <a:rPr lang="en-US" sz="1200" spc="70" dirty="0">
                <a:solidFill>
                  <a:srgbClr val="0000CF"/>
                </a:solidFill>
              </a:rPr>
              <a:t>assistant</a:t>
            </a:r>
            <a:r>
              <a:rPr lang="en-US" sz="1200" spc="260" dirty="0">
                <a:solidFill>
                  <a:srgbClr val="0000CF"/>
                </a:solidFill>
              </a:rPr>
              <a:t> </a:t>
            </a:r>
            <a:r>
              <a:rPr lang="en-US" sz="1200" spc="-20" dirty="0">
                <a:solidFill>
                  <a:srgbClr val="000000"/>
                </a:solidFill>
              </a:rPr>
              <a:t>who:</a:t>
            </a:r>
            <a:endParaRPr lang="en-US" sz="1200" dirty="0"/>
          </a:p>
          <a:p>
            <a:pPr marL="1028065" indent="-354330">
              <a:lnSpc>
                <a:spcPct val="100000"/>
              </a:lnSpc>
              <a:spcBef>
                <a:spcPts val="1265"/>
              </a:spcBef>
              <a:buClr>
                <a:srgbClr val="00AF52"/>
              </a:buClr>
              <a:buChar char="•"/>
              <a:tabLst>
                <a:tab pos="1028700" algn="l"/>
              </a:tabLst>
            </a:pPr>
            <a:r>
              <a:rPr lang="en-US" sz="1200" u="heavy" spc="80" dirty="0">
                <a:solidFill>
                  <a:srgbClr val="07AA52"/>
                </a:solidFill>
                <a:uFill>
                  <a:solidFill>
                    <a:srgbClr val="08A84F"/>
                  </a:solidFill>
                </a:uFill>
              </a:rPr>
              <a:t>sets</a:t>
            </a:r>
            <a:r>
              <a:rPr lang="en-US" sz="1200" spc="65" dirty="0">
                <a:solidFill>
                  <a:srgbClr val="07AA52"/>
                </a:solidFill>
              </a:rPr>
              <a:t> </a:t>
            </a:r>
            <a:r>
              <a:rPr lang="en-US" sz="1200" spc="70" dirty="0">
                <a:solidFill>
                  <a:srgbClr val="0508D4"/>
                </a:solidFill>
              </a:rPr>
              <a:t>schedules</a:t>
            </a:r>
            <a:r>
              <a:rPr lang="en-US" sz="1200" spc="265" dirty="0">
                <a:solidFill>
                  <a:srgbClr val="0508D4"/>
                </a:solidFill>
              </a:rPr>
              <a:t> </a:t>
            </a:r>
            <a:r>
              <a:rPr lang="en-US" sz="1200" dirty="0">
                <a:solidFill>
                  <a:srgbClr val="000000"/>
                </a:solidFill>
              </a:rPr>
              <a:t>and</a:t>
            </a:r>
            <a:r>
              <a:rPr lang="en-US" sz="1200" spc="70" dirty="0">
                <a:solidFill>
                  <a:srgbClr val="000000"/>
                </a:solidFill>
              </a:rPr>
              <a:t> </a:t>
            </a:r>
            <a:r>
              <a:rPr lang="en-US" sz="1200" spc="85" dirty="0">
                <a:solidFill>
                  <a:srgbClr val="0001C3"/>
                </a:solidFill>
              </a:rPr>
              <a:t>checklists,</a:t>
            </a:r>
            <a:endParaRPr lang="en-US" sz="1200" dirty="0"/>
          </a:p>
          <a:p>
            <a:pPr marL="1028700" indent="-354965">
              <a:lnSpc>
                <a:spcPct val="100000"/>
              </a:lnSpc>
              <a:spcBef>
                <a:spcPts val="1245"/>
              </a:spcBef>
              <a:buClr>
                <a:srgbClr val="00B34F"/>
              </a:buClr>
              <a:buChar char="•"/>
              <a:tabLst>
                <a:tab pos="1029335" algn="l"/>
              </a:tabLst>
            </a:pPr>
            <a:r>
              <a:rPr lang="en-US" sz="1200" u="heavy" spc="90" dirty="0">
                <a:solidFill>
                  <a:srgbClr val="00B14D"/>
                </a:solidFill>
                <a:uFill>
                  <a:solidFill>
                    <a:srgbClr val="08A84F"/>
                  </a:solidFill>
                </a:uFill>
              </a:rPr>
              <a:t>collects</a:t>
            </a:r>
            <a:r>
              <a:rPr lang="en-US" sz="1200" spc="215" dirty="0">
                <a:solidFill>
                  <a:srgbClr val="00B14D"/>
                </a:solidFill>
              </a:rPr>
              <a:t> </a:t>
            </a:r>
            <a:r>
              <a:rPr lang="en-US" sz="1200" spc="95" dirty="0">
                <a:solidFill>
                  <a:srgbClr val="0101CD"/>
                </a:solidFill>
              </a:rPr>
              <a:t>information</a:t>
            </a:r>
            <a:r>
              <a:rPr lang="en-US" sz="1200" spc="225" dirty="0">
                <a:solidFill>
                  <a:srgbClr val="0101CD"/>
                </a:solidFill>
              </a:rPr>
              <a:t> </a:t>
            </a:r>
            <a:r>
              <a:rPr lang="en-US" sz="1200" dirty="0">
                <a:solidFill>
                  <a:srgbClr val="000000"/>
                </a:solidFill>
              </a:rPr>
              <a:t>on</a:t>
            </a:r>
            <a:r>
              <a:rPr lang="en-US" sz="1200" spc="60" dirty="0">
                <a:solidFill>
                  <a:srgbClr val="000000"/>
                </a:solidFill>
              </a:rPr>
              <a:t> </a:t>
            </a:r>
            <a:r>
              <a:rPr lang="en-US" sz="1200" spc="85" dirty="0">
                <a:solidFill>
                  <a:srgbClr val="0100C6"/>
                </a:solidFill>
              </a:rPr>
              <a:t>status</a:t>
            </a:r>
            <a:r>
              <a:rPr lang="en-US" sz="1200" spc="135" dirty="0">
                <a:solidFill>
                  <a:srgbClr val="0100C6"/>
                </a:solidFill>
              </a:rPr>
              <a:t> </a:t>
            </a:r>
            <a:r>
              <a:rPr lang="en-US" sz="1200" dirty="0">
                <a:solidFill>
                  <a:srgbClr val="000000"/>
                </a:solidFill>
              </a:rPr>
              <a:t>of</a:t>
            </a:r>
            <a:r>
              <a:rPr lang="en-US" sz="1200" spc="60" dirty="0">
                <a:solidFill>
                  <a:srgbClr val="000000"/>
                </a:solidFill>
              </a:rPr>
              <a:t> </a:t>
            </a:r>
            <a:r>
              <a:rPr lang="en-US" sz="1200" spc="90" dirty="0">
                <a:solidFill>
                  <a:srgbClr val="000000"/>
                </a:solidFill>
              </a:rPr>
              <a:t>work,</a:t>
            </a:r>
            <a:r>
              <a:rPr lang="en-US" sz="1200" spc="160" dirty="0">
                <a:solidFill>
                  <a:srgbClr val="000000"/>
                </a:solidFill>
              </a:rPr>
              <a:t> </a:t>
            </a:r>
            <a:r>
              <a:rPr lang="en-US" sz="1200" dirty="0">
                <a:solidFill>
                  <a:srgbClr val="000000"/>
                </a:solidFill>
              </a:rPr>
              <a:t>-</a:t>
            </a:r>
            <a:r>
              <a:rPr lang="en-US" sz="1200" spc="-50" dirty="0">
                <a:solidFill>
                  <a:srgbClr val="000000"/>
                </a:solidFill>
              </a:rPr>
              <a:t>0</a:t>
            </a:r>
            <a:endParaRPr lang="en-US" sz="1200" dirty="0"/>
          </a:p>
          <a:p>
            <a:pPr marL="1028700" indent="-355600">
              <a:lnSpc>
                <a:spcPct val="100000"/>
              </a:lnSpc>
              <a:spcBef>
                <a:spcPts val="1295"/>
              </a:spcBef>
              <a:buClr>
                <a:srgbClr val="03AE4F"/>
              </a:buClr>
              <a:buChar char="•"/>
              <a:tabLst>
                <a:tab pos="1029335" algn="l"/>
              </a:tabLst>
            </a:pPr>
            <a:r>
              <a:rPr lang="en-US" sz="1200" u="heavy" spc="75" dirty="0">
                <a:solidFill>
                  <a:srgbClr val="01AF4B"/>
                </a:solidFill>
                <a:uFill>
                  <a:solidFill>
                    <a:srgbClr val="08A84F"/>
                  </a:solidFill>
                </a:uFill>
              </a:rPr>
              <a:t>facilitates</a:t>
            </a:r>
            <a:r>
              <a:rPr lang="en-US" sz="1200" spc="275" dirty="0">
                <a:solidFill>
                  <a:srgbClr val="01AF4B"/>
                </a:solidFill>
              </a:rPr>
              <a:t> </a:t>
            </a:r>
            <a:r>
              <a:rPr lang="en-US" sz="1200" spc="90" dirty="0">
                <a:solidFill>
                  <a:srgbClr val="0000D8"/>
                </a:solidFill>
              </a:rPr>
              <a:t>project</a:t>
            </a:r>
            <a:r>
              <a:rPr lang="en-US" sz="1200" spc="155" dirty="0">
                <a:solidFill>
                  <a:srgbClr val="0000D8"/>
                </a:solidFill>
              </a:rPr>
              <a:t> </a:t>
            </a:r>
            <a:r>
              <a:rPr lang="en-US" sz="1200" spc="75" dirty="0">
                <a:solidFill>
                  <a:srgbClr val="000000"/>
                </a:solidFill>
              </a:rPr>
              <a:t>completion.</a:t>
            </a:r>
            <a:endParaRPr lang="en-US" sz="1200" dirty="0"/>
          </a:p>
          <a:p>
            <a:pPr marL="103505">
              <a:lnSpc>
                <a:spcPct val="100000"/>
              </a:lnSpc>
              <a:spcBef>
                <a:spcPts val="1270"/>
              </a:spcBef>
              <a:tabLst>
                <a:tab pos="3154045" algn="l"/>
                <a:tab pos="4746625" algn="l"/>
              </a:tabLst>
            </a:pPr>
            <a:r>
              <a:rPr lang="en-US" sz="1200" dirty="0">
                <a:solidFill>
                  <a:srgbClr val="FD0001"/>
                </a:solidFill>
              </a:rPr>
              <a:t>\•</a:t>
            </a:r>
            <a:r>
              <a:rPr lang="en-US" sz="1200" spc="245" dirty="0">
                <a:solidFill>
                  <a:srgbClr val="FD0001"/>
                </a:solidFill>
              </a:rPr>
              <a:t> </a:t>
            </a:r>
            <a:r>
              <a:rPr lang="en-US" sz="1200" spc="85" dirty="0">
                <a:solidFill>
                  <a:srgbClr val="FD0100"/>
                </a:solidFill>
              </a:rPr>
              <a:t>Functional</a:t>
            </a:r>
            <a:r>
              <a:rPr lang="en-US" sz="1200" spc="175" dirty="0">
                <a:solidFill>
                  <a:srgbClr val="FD0100"/>
                </a:solidFill>
              </a:rPr>
              <a:t> </a:t>
            </a:r>
            <a:r>
              <a:rPr lang="en-US" sz="1200" spc="-20" dirty="0">
                <a:solidFill>
                  <a:srgbClr val="F60303"/>
                </a:solidFill>
              </a:rPr>
              <a:t>mana</a:t>
            </a:r>
            <a:r>
              <a:rPr lang="en-US" sz="1200" dirty="0">
                <a:solidFill>
                  <a:srgbClr val="F60303"/>
                </a:solidFill>
              </a:rPr>
              <a:t>	</a:t>
            </a:r>
            <a:r>
              <a:rPr lang="en-US" sz="1200" spc="65" dirty="0" err="1">
                <a:solidFill>
                  <a:srgbClr val="E40700"/>
                </a:solidFill>
              </a:rPr>
              <a:t>ers</a:t>
            </a:r>
            <a:r>
              <a:rPr lang="en-US" sz="1200" spc="80" dirty="0">
                <a:solidFill>
                  <a:srgbClr val="E40700"/>
                </a:solidFill>
              </a:rPr>
              <a:t> </a:t>
            </a:r>
            <a:r>
              <a:rPr lang="en-US" sz="1200" spc="-20" dirty="0">
                <a:solidFill>
                  <a:srgbClr val="03AC52"/>
                </a:solidFill>
              </a:rPr>
              <a:t>mana</a:t>
            </a:r>
            <a:r>
              <a:rPr lang="en-US" sz="1200" dirty="0">
                <a:solidFill>
                  <a:srgbClr val="03AC52"/>
                </a:solidFill>
              </a:rPr>
              <a:t>	</a:t>
            </a:r>
            <a:r>
              <a:rPr lang="en-US" sz="1200" dirty="0">
                <a:solidFill>
                  <a:srgbClr val="00B14D"/>
                </a:solidFill>
              </a:rPr>
              <a:t>g</a:t>
            </a:r>
            <a:r>
              <a:rPr lang="en-US" sz="1200" spc="-20" dirty="0">
                <a:solidFill>
                  <a:srgbClr val="00B14D"/>
                </a:solidFill>
              </a:rPr>
              <a:t> </a:t>
            </a:r>
            <a:r>
              <a:rPr lang="en-US" sz="1200" dirty="0">
                <a:solidFill>
                  <a:srgbClr val="000000"/>
                </a:solidFill>
              </a:rPr>
              <a:t>their</a:t>
            </a:r>
            <a:r>
              <a:rPr lang="en-US" sz="1200" spc="100" dirty="0">
                <a:solidFill>
                  <a:srgbClr val="000000"/>
                </a:solidFill>
              </a:rPr>
              <a:t> </a:t>
            </a:r>
            <a:r>
              <a:rPr lang="en-US" sz="1200" spc="60" dirty="0">
                <a:solidFill>
                  <a:srgbClr val="0000CD"/>
                </a:solidFill>
              </a:rPr>
              <a:t>segment</a:t>
            </a:r>
            <a:r>
              <a:rPr lang="en-US" sz="1200" spc="170" dirty="0">
                <a:solidFill>
                  <a:srgbClr val="0000CD"/>
                </a:solidFill>
              </a:rPr>
              <a:t> </a:t>
            </a:r>
            <a:r>
              <a:rPr lang="en-US" sz="1200" dirty="0">
                <a:solidFill>
                  <a:srgbClr val="000000"/>
                </a:solidFill>
              </a:rPr>
              <a:t>of</a:t>
            </a:r>
            <a:r>
              <a:rPr lang="en-US" sz="1200" spc="25" dirty="0">
                <a:solidFill>
                  <a:srgbClr val="000000"/>
                </a:solidFill>
              </a:rPr>
              <a:t> </a:t>
            </a:r>
            <a:r>
              <a:rPr lang="en-US" sz="1200" spc="75" dirty="0">
                <a:solidFill>
                  <a:srgbClr val="0000C6"/>
                </a:solidFill>
              </a:rPr>
              <a:t>project.</a:t>
            </a:r>
            <a:endParaRPr lang="en-US" sz="1200" dirty="0"/>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47</a:t>
            </a:fld>
            <a:endParaRPr lang="en-US"/>
          </a:p>
        </p:txBody>
      </p:sp>
    </p:spTree>
    <p:extLst>
      <p:ext uri="{BB962C8B-B14F-4D97-AF65-F5344CB8AC3E}">
        <p14:creationId xmlns:p14="http://schemas.microsoft.com/office/powerpoint/2010/main" val="17969629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1" i="0" dirty="0">
                <a:solidFill>
                  <a:srgbClr val="1E293B"/>
                </a:solidFill>
                <a:effectLst/>
                <a:latin typeface="Roboto" panose="02000000000000000000" pitchFamily="2" charset="0"/>
              </a:rPr>
              <a:t>Subtypes of Matrix Structures</a:t>
            </a:r>
          </a:p>
          <a:p>
            <a:pPr algn="l" fontAlgn="base">
              <a:buFont typeface="+mj-lt"/>
              <a:buAutoNum type="arabicPeriod"/>
            </a:pPr>
            <a:r>
              <a:rPr lang="en-US" b="0" i="0" dirty="0">
                <a:solidFill>
                  <a:srgbClr val="212529"/>
                </a:solidFill>
                <a:effectLst/>
                <a:latin typeface="Roboto" panose="02000000000000000000" pitchFamily="2" charset="0"/>
              </a:rPr>
              <a:t>Weak Matrix: The functional manager holds more authority than the project manager.</a:t>
            </a:r>
          </a:p>
          <a:p>
            <a:pPr algn="l" fontAlgn="base">
              <a:buFont typeface="+mj-lt"/>
              <a:buAutoNum type="arabicPeriod"/>
            </a:pPr>
            <a:r>
              <a:rPr lang="en-US" b="0" i="0" dirty="0">
                <a:solidFill>
                  <a:srgbClr val="212529"/>
                </a:solidFill>
                <a:effectLst/>
                <a:latin typeface="Roboto" panose="02000000000000000000" pitchFamily="2" charset="0"/>
              </a:rPr>
              <a:t>Balanced Matrix: Authority is shared evenly.</a:t>
            </a:r>
          </a:p>
          <a:p>
            <a:pPr algn="l" fontAlgn="base">
              <a:buFont typeface="+mj-lt"/>
              <a:buAutoNum type="arabicPeriod"/>
            </a:pPr>
            <a:r>
              <a:rPr lang="en-US" b="0" i="0" dirty="0">
                <a:solidFill>
                  <a:srgbClr val="212529"/>
                </a:solidFill>
                <a:effectLst/>
                <a:latin typeface="Roboto" panose="02000000000000000000" pitchFamily="2" charset="0"/>
              </a:rPr>
              <a:t>Strong Matrix: The project manager has more authority over the project (similar to a projectized structure).</a:t>
            </a:r>
          </a:p>
          <a:p>
            <a:pPr algn="l" fontAlgn="base"/>
            <a:r>
              <a:rPr lang="en-US" b="0" i="0" dirty="0">
                <a:solidFill>
                  <a:srgbClr val="212529"/>
                </a:solidFill>
                <a:effectLst/>
                <a:latin typeface="Roboto" panose="02000000000000000000" pitchFamily="2" charset="0"/>
              </a:rPr>
              <a:t>The right structure for your organization depends on factors such as your company’s size, industry, strategy, and nature of your projects.</a:t>
            </a:r>
          </a:p>
          <a:p>
            <a:endParaRPr lang="en-US" dirty="0"/>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48</a:t>
            </a:fld>
            <a:endParaRPr lang="en-US"/>
          </a:p>
        </p:txBody>
      </p:sp>
    </p:spTree>
    <p:extLst>
      <p:ext uri="{BB962C8B-B14F-4D97-AF65-F5344CB8AC3E}">
        <p14:creationId xmlns:p14="http://schemas.microsoft.com/office/powerpoint/2010/main" val="14753763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chemeClr val="tx1"/>
                </a:solidFill>
                <a:effectLst/>
                <a:latin typeface="Arial" panose="020B0604020202020204" pitchFamily="34" charset="0"/>
              </a:rPr>
              <a:t>Summary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500" b="1" i="0" u="none" strike="noStrike" cap="none" normalizeH="0" baseline="0" dirty="0">
                <a:ln>
                  <a:noFill/>
                </a:ln>
                <a:solidFill>
                  <a:schemeClr val="tx1"/>
                </a:solidFill>
                <a:effectLst/>
                <a:latin typeface="Arial" panose="020B0604020202020204" pitchFamily="34" charset="0"/>
              </a:rPr>
              <a:t>Weak Matrix</a:t>
            </a:r>
            <a:r>
              <a:rPr kumimoji="0" lang="en-US" altLang="en-US" sz="1200" b="0" i="0" u="none" strike="noStrike" cap="none" normalizeH="0" baseline="0" dirty="0">
                <a:ln>
                  <a:noFill/>
                </a:ln>
                <a:solidFill>
                  <a:schemeClr val="tx1"/>
                </a:solidFill>
                <a:effectLst/>
                <a:latin typeface="Arial" panose="020B0604020202020204" pitchFamily="34" charset="0"/>
              </a:rPr>
              <a:t>: Functional managers have more power; project managers coordinate but have limited authority. This can lead to confusion and conflicts but ensures clear functional leadership.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Balanced Matrix</a:t>
            </a:r>
            <a:r>
              <a:rPr kumimoji="0" lang="en-US" altLang="en-US" sz="1200" b="0" i="0" u="none" strike="noStrike" cap="none" normalizeH="0" baseline="0" dirty="0">
                <a:ln>
                  <a:noFill/>
                </a:ln>
                <a:solidFill>
                  <a:schemeClr val="tx1"/>
                </a:solidFill>
                <a:effectLst/>
                <a:latin typeface="Arial" panose="020B0604020202020204" pitchFamily="34" charset="0"/>
              </a:rPr>
              <a:t>: Authority is shared, promoting collaboration. This structure encourages communication but may lead to power struggles if roles are not clearly defined.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Strong Matrix</a:t>
            </a:r>
            <a:r>
              <a:rPr kumimoji="0" lang="en-US" altLang="en-US" sz="1200" b="0" i="0" u="none" strike="noStrike" cap="none" normalizeH="0" baseline="0" dirty="0">
                <a:ln>
                  <a:noFill/>
                </a:ln>
                <a:solidFill>
                  <a:schemeClr val="tx1"/>
                </a:solidFill>
                <a:effectLst/>
                <a:latin typeface="Arial" panose="020B0604020202020204" pitchFamily="34" charset="0"/>
              </a:rPr>
              <a:t>: Project managers have greater authority, leading to a strong focus on project goals. However, it may come at the cost of functional development and reliance on project managers.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Choosing the appropriate matrix structure depends on the organization's needs, project complexity, and desired level of flexibility.</a:t>
            </a:r>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50</a:t>
            </a:fld>
            <a:endParaRPr lang="en-US"/>
          </a:p>
        </p:txBody>
      </p:sp>
    </p:spTree>
    <p:extLst>
      <p:ext uri="{BB962C8B-B14F-4D97-AF65-F5344CB8AC3E}">
        <p14:creationId xmlns:p14="http://schemas.microsoft.com/office/powerpoint/2010/main" val="27900302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spc="70" dirty="0"/>
              <a:t>The project organization structure refers to how an organization organizes its resources, authority, roles, and relationships to manage and execute projects. The structure defines how project teams are formed, how project managers interact with other departments, and how resources are allocated. Below are the key features of a project organization structure:</a:t>
            </a:r>
          </a:p>
          <a:p>
            <a:pPr algn="l"/>
            <a:r>
              <a:rPr lang="en-US" sz="1200" spc="70" dirty="0"/>
              <a:t>‍</a:t>
            </a:r>
          </a:p>
          <a:p>
            <a:pPr algn="l"/>
            <a:r>
              <a:rPr lang="en-US" sz="1200" spc="70" dirty="0"/>
              <a:t>1. Clear Roles and Responsibilities</a:t>
            </a:r>
          </a:p>
          <a:p>
            <a:pPr algn="l"/>
            <a:r>
              <a:rPr lang="en-US" sz="1200" spc="70" dirty="0"/>
              <a:t>A well-defined project organization structure ensures that each team member understands their specific roles and responsibilities. This includes the project manager, project team members, functional managers, and other stakeholders. Clear accountability reduces confusion and helps ensure everyone knows what is expected of them.</a:t>
            </a:r>
          </a:p>
          <a:p>
            <a:pPr algn="l"/>
            <a:r>
              <a:rPr lang="en-US" sz="1200" spc="70" dirty="0"/>
              <a:t>‍</a:t>
            </a:r>
          </a:p>
          <a:p>
            <a:pPr algn="l"/>
            <a:r>
              <a:rPr lang="en-US" sz="1200" spc="70" dirty="0"/>
              <a:t>2. Authority and Decision-Making</a:t>
            </a:r>
          </a:p>
          <a:p>
            <a:pPr algn="l"/>
            <a:r>
              <a:rPr lang="en-US" sz="1200" spc="70" dirty="0"/>
              <a:t>In a project-based structure, the authority and decision-making power are generally centralized in the hands of the project manager, especially in a projectized or strong matrix structure.</a:t>
            </a:r>
          </a:p>
          <a:p>
            <a:pPr algn="l"/>
            <a:r>
              <a:rPr lang="en-US" sz="1200" spc="70" dirty="0"/>
              <a:t>‍</a:t>
            </a:r>
          </a:p>
          <a:p>
            <a:pPr algn="l"/>
            <a:r>
              <a:rPr lang="en-US" sz="1200" spc="70" dirty="0"/>
              <a:t>The project manager has control over resources, budgeting, and timelines, enabling quicker decision-making. The level of authority varies in different structures, such as weak or balanced matrix structures, where authority may be shared with functional managers.</a:t>
            </a:r>
          </a:p>
          <a:p>
            <a:pPr algn="l"/>
            <a:r>
              <a:rPr lang="en-US" sz="1200" spc="70" dirty="0"/>
              <a:t>‍</a:t>
            </a:r>
          </a:p>
          <a:p>
            <a:pPr algn="l"/>
            <a:r>
              <a:rPr lang="en-US" sz="1200" spc="70" dirty="0"/>
              <a:t>3. Resource Allocation</a:t>
            </a:r>
          </a:p>
          <a:p>
            <a:pPr algn="l"/>
            <a:r>
              <a:rPr lang="en-US" sz="1200" spc="70" dirty="0"/>
              <a:t>The structure determines how resources (human, financial, and technical) are allocated and managed across projects. In a projected structure, resources are dedicated to specific projects, while in a matrix structure, resources are shared between projects and functional departments. Proper resource allocation is essential for meeting project goals on time and within budget.</a:t>
            </a:r>
          </a:p>
          <a:p>
            <a:pPr algn="l"/>
            <a:r>
              <a:rPr lang="en-US" sz="1200" spc="70" dirty="0"/>
              <a:t>‍</a:t>
            </a:r>
          </a:p>
          <a:p>
            <a:pPr algn="l"/>
            <a:r>
              <a:rPr lang="en-US" sz="1200" spc="70" dirty="0"/>
              <a:t>4. Collaboration and Communication</a:t>
            </a:r>
          </a:p>
          <a:p>
            <a:pPr algn="l"/>
            <a:r>
              <a:rPr lang="en-US" sz="1200" spc="70" dirty="0"/>
              <a:t>The organizational structure fosters collaboration and communication across teams and departments. In a matrix structure, for example, team members may work under both functional managers and project managers, encouraging cross-functional collaboration.</a:t>
            </a:r>
          </a:p>
          <a:p>
            <a:pPr algn="l"/>
            <a:r>
              <a:rPr lang="en-US" sz="1200" spc="70" dirty="0"/>
              <a:t>‍</a:t>
            </a:r>
          </a:p>
          <a:p>
            <a:pPr algn="l"/>
            <a:r>
              <a:rPr lang="en-US" sz="1200" spc="70" dirty="0"/>
              <a:t>Effective communication ensures that information flows smoothly between different parts of the organization, reducing silos and promoting better decision-making.</a:t>
            </a:r>
          </a:p>
          <a:p>
            <a:pPr algn="l"/>
            <a:r>
              <a:rPr lang="en-US" sz="1200" spc="70" dirty="0"/>
              <a:t>‍</a:t>
            </a:r>
          </a:p>
          <a:p>
            <a:pPr algn="l"/>
            <a:r>
              <a:rPr lang="en-US" sz="1200" spc="70" dirty="0"/>
              <a:t>5. Project Orientation</a:t>
            </a:r>
          </a:p>
          <a:p>
            <a:pPr algn="l"/>
            <a:r>
              <a:rPr lang="en-US" sz="1200" spc="70" dirty="0"/>
              <a:t>A project organization structure is typically designed to focus on the successful delivery of projects. In a projected structure, the organization is centered around projects, with dedicated teams working specifically on project tasks.</a:t>
            </a:r>
          </a:p>
          <a:p>
            <a:pPr algn="l"/>
            <a:r>
              <a:rPr lang="en-US" sz="1200" spc="70" dirty="0"/>
              <a:t>‍</a:t>
            </a:r>
          </a:p>
          <a:p>
            <a:pPr algn="l"/>
            <a:r>
              <a:rPr lang="en-US" sz="1200" spc="70" dirty="0"/>
              <a:t>This feature is ideal for organizations where the primary business activity involves completing projects (e.g., construction, consulting, or software development).</a:t>
            </a:r>
          </a:p>
          <a:p>
            <a:pPr algn="l"/>
            <a:r>
              <a:rPr lang="en-US" sz="1200" spc="70" dirty="0"/>
              <a:t>‍</a:t>
            </a:r>
          </a:p>
          <a:p>
            <a:pPr algn="l"/>
            <a:r>
              <a:rPr lang="en-US" sz="1200" spc="70" dirty="0"/>
              <a:t>6. Flexibility and Adaptability</a:t>
            </a:r>
          </a:p>
          <a:p>
            <a:pPr algn="l"/>
            <a:r>
              <a:rPr lang="en-US" sz="1200" spc="70" dirty="0"/>
              <a:t>The structure should be flexible enough to adapt to the specific needs of different projects. For instance, a composite (hybrid) structure allows an organization to combine elements of different models based on the size, complexity, or nature of the projects. This flexibility helps the organization manage projects effectively while optimizing resources.</a:t>
            </a:r>
          </a:p>
          <a:p>
            <a:pPr algn="l"/>
            <a:r>
              <a:rPr lang="en-US" sz="1200" spc="70" dirty="0"/>
              <a:t>‍</a:t>
            </a:r>
          </a:p>
          <a:p>
            <a:pPr algn="l"/>
            <a:r>
              <a:rPr lang="en-US" sz="1200" spc="70" dirty="0"/>
              <a:t>7. Integration of Functional and Project Activities</a:t>
            </a:r>
          </a:p>
          <a:p>
            <a:pPr algn="l"/>
            <a:r>
              <a:rPr lang="en-US" sz="1200" spc="70" dirty="0"/>
              <a:t>In hybrid or matrix structures, there is an integration of functional and project activities. Functional managers handle day-to-day operations within their departments, while project managers oversee the execution of specific projects. This structure ensures that specialized expertise from functional areas (e.g., engineering, marketing) is leveraged in project execution.</a:t>
            </a:r>
          </a:p>
          <a:p>
            <a:pPr algn="l"/>
            <a:r>
              <a:rPr lang="en-US" sz="1200" spc="70" dirty="0"/>
              <a:t>‍</a:t>
            </a:r>
          </a:p>
          <a:p>
            <a:pPr algn="l"/>
            <a:r>
              <a:rPr lang="en-US" sz="1200" spc="70" dirty="0"/>
              <a:t>8. Focus on Project Deliverables</a:t>
            </a:r>
          </a:p>
          <a:p>
            <a:pPr algn="l"/>
            <a:r>
              <a:rPr lang="en-US" sz="1200" spc="70" dirty="0"/>
              <a:t>The structure emphasizes achieving the specific goals, timelines, and deliverables of each project. This means project teams are accountable for meeting milestones and ensuring that the project is completed on time, within scope, and on budget.</a:t>
            </a:r>
          </a:p>
          <a:p>
            <a:pPr algn="l"/>
            <a:r>
              <a:rPr lang="en-US" sz="1200" spc="70" dirty="0"/>
              <a:t>‍</a:t>
            </a:r>
          </a:p>
          <a:p>
            <a:pPr algn="l"/>
            <a:r>
              <a:rPr lang="en-US" sz="1200" spc="70" dirty="0"/>
              <a:t>9. Project Team Autonomy</a:t>
            </a:r>
          </a:p>
          <a:p>
            <a:pPr algn="l"/>
            <a:r>
              <a:rPr lang="en-US" sz="1200" spc="70" dirty="0"/>
              <a:t>In a projected structure, project teams operate with greater autonomy, which means they are largely independent of the functional departments. The project manager has full control over the team, its resources, and decision-making processes. This autonomy allows for a more focused and efficient approach to completing the project.</a:t>
            </a:r>
          </a:p>
          <a:p>
            <a:pPr algn="l"/>
            <a:r>
              <a:rPr lang="en-US" sz="1200" spc="70" dirty="0"/>
              <a:t>‍</a:t>
            </a:r>
          </a:p>
          <a:p>
            <a:pPr algn="l"/>
            <a:r>
              <a:rPr lang="en-US" sz="1200" spc="70" dirty="0"/>
              <a:t>10. Scalability</a:t>
            </a:r>
          </a:p>
          <a:p>
            <a:pPr algn="l"/>
            <a:r>
              <a:rPr lang="en-US" sz="1200" spc="70" dirty="0"/>
              <a:t>A project organization structure should be scalable, meaning it can accommodate both small and large projects. In larger projects or complex organizations, the structure may need to evolve or be supplemented with additional roles, departments, or teams to handle the increased scope.</a:t>
            </a:r>
          </a:p>
          <a:p>
            <a:pPr algn="l"/>
            <a:r>
              <a:rPr lang="en-US" sz="1200" spc="70" dirty="0"/>
              <a:t>‍</a:t>
            </a:r>
          </a:p>
          <a:p>
            <a:pPr algn="l"/>
            <a:r>
              <a:rPr lang="en-US" sz="1200" spc="70" dirty="0"/>
              <a:t>11. Focus on Efficiency</a:t>
            </a:r>
          </a:p>
          <a:p>
            <a:pPr algn="l"/>
            <a:r>
              <a:rPr lang="en-US" sz="1200" spc="70" dirty="0"/>
              <a:t>The structure should promote efficiency by ensuring that the right people, processes, and tools are in place to complete projects effectively. This can involve streamlining processes, reducing bottlenecks, and ensuring the optimal use of resources.</a:t>
            </a:r>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53</a:t>
            </a:fld>
            <a:endParaRPr lang="en-US"/>
          </a:p>
        </p:txBody>
      </p:sp>
    </p:spTree>
    <p:extLst>
      <p:ext uri="{BB962C8B-B14F-4D97-AF65-F5344CB8AC3E}">
        <p14:creationId xmlns:p14="http://schemas.microsoft.com/office/powerpoint/2010/main" val="20600262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latin typeface="Inter"/>
              </a:rPr>
              <a:t>Creating a </a:t>
            </a:r>
            <a:r>
              <a:rPr lang="en-US" b="1" i="0" dirty="0">
                <a:effectLst/>
                <a:latin typeface="Tasaorbiterdeck Bold"/>
              </a:rPr>
              <a:t>project organizational chart</a:t>
            </a:r>
            <a:r>
              <a:rPr lang="en-US" b="0" i="0" dirty="0">
                <a:effectLst/>
                <a:latin typeface="Inter"/>
              </a:rPr>
              <a:t> is an essential step in defining roles responsibilities, and reporting relationships within a project. It visually represents how the project team is structured, who is accountable for what, and how communication flows. Here's a step-by-step guide on how to create an effective project organizational chart:</a:t>
            </a:r>
          </a:p>
          <a:p>
            <a:pPr algn="l"/>
            <a:r>
              <a:rPr lang="en-US" b="0" i="0" dirty="0">
                <a:effectLst/>
                <a:latin typeface="Inter"/>
              </a:rPr>
              <a:t>‍</a:t>
            </a:r>
          </a:p>
          <a:p>
            <a:pPr algn="l"/>
            <a:r>
              <a:rPr lang="en-US" b="1" i="0" dirty="0">
                <a:effectLst/>
                <a:latin typeface="Inter"/>
              </a:rPr>
              <a:t>1. Identify Project Roles</a:t>
            </a:r>
          </a:p>
          <a:p>
            <a:pPr algn="l"/>
            <a:r>
              <a:rPr lang="en-US" b="0" i="0" dirty="0">
                <a:effectLst/>
                <a:latin typeface="Inter"/>
              </a:rPr>
              <a:t>The first step in creating a project organizational chart is to identify all the roles involved in the project. These roles vary based on the project's scope and complexity; still, typical roles include the </a:t>
            </a:r>
            <a:r>
              <a:rPr lang="en-US" b="1" i="0" dirty="0">
                <a:effectLst/>
                <a:latin typeface="Tasaorbiterdeck Bold"/>
              </a:rPr>
              <a:t>Project Sponsor</a:t>
            </a:r>
            <a:r>
              <a:rPr lang="en-US" b="0" i="0" dirty="0">
                <a:effectLst/>
                <a:latin typeface="Inter"/>
              </a:rPr>
              <a:t>, who provides overall support and funding, and the </a:t>
            </a:r>
            <a:r>
              <a:rPr lang="en-US" b="1" i="0" dirty="0">
                <a:effectLst/>
                <a:latin typeface="Tasaorbiterdeck Bold"/>
              </a:rPr>
              <a:t>Project Manager</a:t>
            </a:r>
            <a:r>
              <a:rPr lang="en-US" b="0" i="0" dirty="0">
                <a:effectLst/>
                <a:latin typeface="Inter"/>
              </a:rPr>
              <a:t>, who is responsible for planning, execution, and delivery. Other roles include </a:t>
            </a:r>
            <a:r>
              <a:rPr lang="en-US" b="1" i="0" dirty="0">
                <a:effectLst/>
                <a:latin typeface="Tasaorbiterdeck Bold"/>
              </a:rPr>
              <a:t>Team Members</a:t>
            </a:r>
            <a:r>
              <a:rPr lang="en-US" b="0" i="0" dirty="0">
                <a:effectLst/>
                <a:latin typeface="Inter"/>
              </a:rPr>
              <a:t>, who handle specific tasks or work packages, and </a:t>
            </a:r>
            <a:r>
              <a:rPr lang="en-US" b="1" i="0" dirty="0">
                <a:effectLst/>
                <a:latin typeface="Tasaorbiterdeck Bold"/>
              </a:rPr>
              <a:t>Functional Managers</a:t>
            </a:r>
            <a:r>
              <a:rPr lang="en-US" b="0" i="0" dirty="0">
                <a:effectLst/>
                <a:latin typeface="Inter"/>
              </a:rPr>
              <a:t>, who manage departments (such as IT, HR, and marketing) that contribute resources or expertise.</a:t>
            </a:r>
          </a:p>
          <a:p>
            <a:pPr algn="l"/>
            <a:r>
              <a:rPr lang="en-US" b="0" i="0" dirty="0">
                <a:effectLst/>
                <a:latin typeface="Inter"/>
              </a:rPr>
              <a:t>‍</a:t>
            </a:r>
          </a:p>
          <a:p>
            <a:pPr algn="l"/>
            <a:r>
              <a:rPr lang="en-US" b="0" i="0" dirty="0">
                <a:effectLst/>
                <a:latin typeface="Inter"/>
              </a:rPr>
              <a:t>‍</a:t>
            </a:r>
            <a:r>
              <a:rPr lang="en-US" b="1" i="0" dirty="0">
                <a:effectLst/>
                <a:latin typeface="Tasaorbiterdeck Bold"/>
              </a:rPr>
              <a:t>Stakeholders</a:t>
            </a:r>
            <a:r>
              <a:rPr lang="en-US" b="0" i="0" dirty="0">
                <a:effectLst/>
                <a:latin typeface="Inter"/>
              </a:rPr>
              <a:t> (such as clients, senior executives, or other interested parties) are also important to identify, even if they aren't directly involved in the day-to-day activities. By defining these roles, you lay the foundation for structuring the chart and understanding the workflow and responsibilities of each team member.</a:t>
            </a:r>
          </a:p>
          <a:p>
            <a:pPr algn="l"/>
            <a:r>
              <a:rPr lang="en-US" b="0" i="0" dirty="0">
                <a:effectLst/>
                <a:latin typeface="Inter"/>
              </a:rPr>
              <a:t>‍</a:t>
            </a:r>
          </a:p>
          <a:p>
            <a:pPr algn="l"/>
            <a:r>
              <a:rPr lang="en-US" b="1" i="0" dirty="0">
                <a:effectLst/>
                <a:latin typeface="Inter"/>
              </a:rPr>
              <a:t>2. Determine Reporting Relationships</a:t>
            </a:r>
          </a:p>
          <a:p>
            <a:pPr algn="l"/>
            <a:r>
              <a:rPr lang="en-US" b="0" i="0" dirty="0">
                <a:effectLst/>
                <a:latin typeface="Inter"/>
              </a:rPr>
              <a:t>Once roles are defined, the next step is to establish how these roles interact and report to one another. The reporting relationships indicate who has authority over whom, and it ensures clarity in decision-making and communication. For example, the </a:t>
            </a:r>
            <a:r>
              <a:rPr lang="en-US" b="1" i="0" dirty="0">
                <a:effectLst/>
                <a:latin typeface="Tasaorbiterdeck Bold"/>
              </a:rPr>
              <a:t>Project Manager</a:t>
            </a:r>
            <a:r>
              <a:rPr lang="en-US" b="0" i="0" dirty="0">
                <a:effectLst/>
                <a:latin typeface="Inter"/>
              </a:rPr>
              <a:t> typically reports to the </a:t>
            </a:r>
            <a:r>
              <a:rPr lang="en-US" b="1" i="0" dirty="0">
                <a:effectLst/>
                <a:latin typeface="Tasaorbiterdeck Bold"/>
              </a:rPr>
              <a:t>Project Sponsor</a:t>
            </a:r>
            <a:r>
              <a:rPr lang="en-US" b="0" i="0" dirty="0">
                <a:effectLst/>
                <a:latin typeface="Inter"/>
              </a:rPr>
              <a:t> and is responsible for overseeing the project team.</a:t>
            </a:r>
          </a:p>
          <a:p>
            <a:pPr algn="l"/>
            <a:r>
              <a:rPr lang="en-US" b="0" i="0" dirty="0">
                <a:effectLst/>
                <a:latin typeface="Inter"/>
              </a:rPr>
              <a:t>‍</a:t>
            </a:r>
          </a:p>
          <a:p>
            <a:pPr algn="l"/>
            <a:r>
              <a:rPr lang="en-US" b="0" i="0" dirty="0">
                <a:effectLst/>
                <a:latin typeface="Inter"/>
              </a:rPr>
              <a:t>In some project structures (e.g., </a:t>
            </a:r>
            <a:r>
              <a:rPr lang="en-US" b="1" i="0" dirty="0">
                <a:effectLst/>
                <a:latin typeface="Tasaorbiterdeck Bold"/>
              </a:rPr>
              <a:t>Matrix Structure</a:t>
            </a:r>
            <a:r>
              <a:rPr lang="en-US" b="0" i="0" dirty="0">
                <a:effectLst/>
                <a:latin typeface="Inter"/>
              </a:rPr>
              <a:t>), project team members may report both to the Project Manager and their respective </a:t>
            </a:r>
            <a:r>
              <a:rPr lang="en-US" b="1" i="0" dirty="0">
                <a:effectLst/>
                <a:latin typeface="Tasaorbiterdeck Bold"/>
              </a:rPr>
              <a:t>Functional Managers</a:t>
            </a:r>
            <a:r>
              <a:rPr lang="en-US" b="0" i="0" dirty="0">
                <a:effectLst/>
                <a:latin typeface="Inter"/>
              </a:rPr>
              <a:t>, leading to a dual reporting line. In a </a:t>
            </a:r>
            <a:r>
              <a:rPr lang="en-US" b="1" i="0" dirty="0">
                <a:effectLst/>
                <a:latin typeface="Tasaorbiterdeck Bold"/>
              </a:rPr>
              <a:t>Projectized Structure</a:t>
            </a:r>
            <a:r>
              <a:rPr lang="en-US" b="0" i="0" dirty="0">
                <a:effectLst/>
                <a:latin typeface="Inter"/>
              </a:rPr>
              <a:t>, the </a:t>
            </a:r>
            <a:r>
              <a:rPr lang="en-US" b="1" i="0" dirty="0">
                <a:effectLst/>
                <a:latin typeface="Tasaorbiterdeck Bold"/>
              </a:rPr>
              <a:t>Project Manager</a:t>
            </a:r>
            <a:r>
              <a:rPr lang="en-US" b="0" i="0" dirty="0">
                <a:effectLst/>
                <a:latin typeface="Inter"/>
              </a:rPr>
              <a:t> usually has full authority over the project team. Establishing these reporting lines early helps ensure clarity about who is in charge of what and ensures that accountability is clear throughout the project.</a:t>
            </a:r>
          </a:p>
          <a:p>
            <a:pPr algn="l"/>
            <a:r>
              <a:rPr lang="en-US" b="0" i="0" dirty="0">
                <a:effectLst/>
                <a:latin typeface="Inter"/>
              </a:rPr>
              <a:t>‍</a:t>
            </a:r>
          </a:p>
          <a:p>
            <a:pPr algn="l"/>
            <a:r>
              <a:rPr lang="en-US" b="1" i="0" dirty="0">
                <a:effectLst/>
                <a:latin typeface="Inter"/>
              </a:rPr>
              <a:t>3. Choose Your Tool</a:t>
            </a:r>
          </a:p>
          <a:p>
            <a:pPr algn="l"/>
            <a:r>
              <a:rPr lang="en-US" b="0" i="0" dirty="0">
                <a:effectLst/>
                <a:latin typeface="Inter"/>
              </a:rPr>
              <a:t>There are a variety of tools available for creating a project organizational chart. The choice of tool largely depends on the size of the project, the complexity of the chart, and your preferred method of presentation. For simple charts, software like </a:t>
            </a:r>
            <a:r>
              <a:rPr lang="en-US" b="1" i="0" dirty="0">
                <a:effectLst/>
                <a:latin typeface="Tasaorbiterdeck Bold"/>
              </a:rPr>
              <a:t>Microsoft PowerPoint</a:t>
            </a:r>
            <a:r>
              <a:rPr lang="en-US" b="0" i="0" dirty="0">
                <a:effectLst/>
                <a:latin typeface="Inter"/>
              </a:rPr>
              <a:t>, </a:t>
            </a:r>
            <a:r>
              <a:rPr lang="en-US" b="1" i="0" dirty="0">
                <a:effectLst/>
                <a:latin typeface="Tasaorbiterdeck Bold"/>
              </a:rPr>
              <a:t>Excel</a:t>
            </a:r>
            <a:r>
              <a:rPr lang="en-US" b="0" i="0" dirty="0">
                <a:effectLst/>
                <a:latin typeface="Inter"/>
              </a:rPr>
              <a:t>, or </a:t>
            </a:r>
            <a:r>
              <a:rPr lang="en-US" b="1" i="0" dirty="0">
                <a:effectLst/>
                <a:latin typeface="Tasaorbiterdeck Bold"/>
              </a:rPr>
              <a:t>Word</a:t>
            </a:r>
            <a:r>
              <a:rPr lang="en-US" b="0" i="0" dirty="0">
                <a:effectLst/>
                <a:latin typeface="Inter"/>
              </a:rPr>
              <a:t> can be used to create basic diagrams. However, for more professional or complex charts, tools like </a:t>
            </a:r>
            <a:r>
              <a:rPr lang="en-US" b="1" i="0" dirty="0" err="1">
                <a:effectLst/>
                <a:latin typeface="Tasaorbiterdeck Bold"/>
              </a:rPr>
              <a:t>Lucidchart</a:t>
            </a:r>
            <a:r>
              <a:rPr lang="en-US" b="0" i="0" dirty="0">
                <a:effectLst/>
                <a:latin typeface="Inter"/>
              </a:rPr>
              <a:t>, </a:t>
            </a:r>
            <a:r>
              <a:rPr lang="en-US" b="1" i="0" dirty="0">
                <a:effectLst/>
                <a:latin typeface="Tasaorbiterdeck Bold"/>
              </a:rPr>
              <a:t>Microsoft Visio</a:t>
            </a:r>
            <a:r>
              <a:rPr lang="en-US" b="0" i="0" dirty="0">
                <a:effectLst/>
                <a:latin typeface="Inter"/>
              </a:rPr>
              <a:t>, or </a:t>
            </a:r>
            <a:r>
              <a:rPr lang="en-US" b="1" i="0" dirty="0">
                <a:effectLst/>
                <a:latin typeface="Tasaorbiterdeck Bold"/>
              </a:rPr>
              <a:t>Canva</a:t>
            </a:r>
            <a:r>
              <a:rPr lang="en-US" b="0" i="0" dirty="0">
                <a:effectLst/>
                <a:latin typeface="Inter"/>
              </a:rPr>
              <a:t> provide more advanced diagramming features, including drag-and-drop functionality and the ability to customize shapes and layouts.</a:t>
            </a:r>
          </a:p>
          <a:p>
            <a:pPr algn="l"/>
            <a:r>
              <a:rPr lang="en-US" b="0" i="0" dirty="0">
                <a:effectLst/>
                <a:latin typeface="Inter"/>
              </a:rPr>
              <a:t>‍</a:t>
            </a:r>
          </a:p>
          <a:p>
            <a:pPr algn="l"/>
            <a:r>
              <a:rPr lang="en-US" b="0" i="0" dirty="0">
                <a:effectLst/>
                <a:latin typeface="Inter"/>
              </a:rPr>
              <a:t>If you use </a:t>
            </a:r>
            <a:r>
              <a:rPr lang="en-US" b="1" i="0" dirty="0">
                <a:effectLst/>
                <a:latin typeface="Tasaorbiterdeck Bold"/>
              </a:rPr>
              <a:t>Project Management Software</a:t>
            </a:r>
            <a:r>
              <a:rPr lang="en-US" b="0" i="0" dirty="0">
                <a:effectLst/>
                <a:latin typeface="Inter"/>
              </a:rPr>
              <a:t> (e.g., </a:t>
            </a:r>
            <a:r>
              <a:rPr lang="en-US" b="1" i="0" dirty="0">
                <a:effectLst/>
                <a:latin typeface="Tasaorbiterdeck Bold"/>
              </a:rPr>
              <a:t>Asana</a:t>
            </a:r>
            <a:r>
              <a:rPr lang="en-US" b="0" i="0" dirty="0">
                <a:effectLst/>
                <a:latin typeface="Inter"/>
              </a:rPr>
              <a:t>, </a:t>
            </a:r>
            <a:r>
              <a:rPr lang="en-US" b="1" i="0" dirty="0">
                <a:effectLst/>
                <a:latin typeface="Tasaorbiterdeck Bold"/>
              </a:rPr>
              <a:t>Monday.com</a:t>
            </a:r>
            <a:r>
              <a:rPr lang="en-US" b="0" i="0" dirty="0">
                <a:effectLst/>
                <a:latin typeface="Inter"/>
              </a:rPr>
              <a:t>, or </a:t>
            </a:r>
            <a:r>
              <a:rPr lang="en-US" b="1" i="0" dirty="0">
                <a:effectLst/>
                <a:latin typeface="Tasaorbiterdeck Bold"/>
              </a:rPr>
              <a:t>Trello</a:t>
            </a:r>
            <a:r>
              <a:rPr lang="en-US" b="0" i="0" dirty="0">
                <a:effectLst/>
                <a:latin typeface="Inter"/>
              </a:rPr>
              <a:t>), these platforms sometimes offer built-in features to help visualize team roles and structures. Choosing the right tool helps streamline the chart-making process and ensures your chart is easy to read and update.</a:t>
            </a:r>
          </a:p>
          <a:p>
            <a:pPr algn="l"/>
            <a:r>
              <a:rPr lang="en-US" b="0" i="0" dirty="0">
                <a:effectLst/>
                <a:latin typeface="Inter"/>
              </a:rPr>
              <a:t>‍</a:t>
            </a:r>
          </a:p>
          <a:p>
            <a:pPr algn="l"/>
            <a:r>
              <a:rPr lang="en-US" b="1" i="0" dirty="0">
                <a:effectLst/>
                <a:latin typeface="Inter"/>
              </a:rPr>
              <a:t>4. Create the Chart Layout</a:t>
            </a:r>
          </a:p>
          <a:p>
            <a:pPr algn="l"/>
            <a:r>
              <a:rPr lang="en-US" b="0" i="0" dirty="0">
                <a:effectLst/>
                <a:latin typeface="Inter"/>
              </a:rPr>
              <a:t>Once you've chosen your tool, it's time to create the chart layout. The layout should follow a hierarchical structure, typically with the most senior roles at the top and lower-level team members underneath. In most project charts, the </a:t>
            </a:r>
            <a:r>
              <a:rPr lang="en-US" b="1" i="0" dirty="0">
                <a:effectLst/>
                <a:latin typeface="Tasaorbiterdeck Bold"/>
              </a:rPr>
              <a:t>Project Sponsor</a:t>
            </a:r>
            <a:r>
              <a:rPr lang="en-US" b="0" i="0" dirty="0">
                <a:effectLst/>
                <a:latin typeface="Inter"/>
              </a:rPr>
              <a:t> is placed at the top, followed by the </a:t>
            </a:r>
            <a:r>
              <a:rPr lang="en-US" b="1" i="0" dirty="0">
                <a:effectLst/>
                <a:latin typeface="Tasaorbiterdeck Bold"/>
              </a:rPr>
              <a:t>Project Manager</a:t>
            </a:r>
            <a:r>
              <a:rPr lang="en-US" b="0" i="0" dirty="0">
                <a:effectLst/>
                <a:latin typeface="Inter"/>
              </a:rPr>
              <a:t>, who oversees the project’s execution.</a:t>
            </a:r>
          </a:p>
          <a:p>
            <a:pPr algn="l"/>
            <a:r>
              <a:rPr lang="en-US" b="0" i="0" dirty="0">
                <a:effectLst/>
                <a:latin typeface="Inter"/>
              </a:rPr>
              <a:t>‍</a:t>
            </a:r>
          </a:p>
          <a:p>
            <a:pPr algn="l"/>
            <a:r>
              <a:rPr lang="en-US" b="0" i="0" dirty="0">
                <a:effectLst/>
                <a:latin typeface="Inter"/>
              </a:rPr>
              <a:t>Beneath the Project Manager, roles such as </a:t>
            </a:r>
            <a:r>
              <a:rPr lang="en-US" b="1" i="0" dirty="0">
                <a:effectLst/>
                <a:latin typeface="Tasaorbiterdeck Bold"/>
              </a:rPr>
              <a:t>Functional Managers</a:t>
            </a:r>
            <a:r>
              <a:rPr lang="en-US" b="0" i="0" dirty="0">
                <a:effectLst/>
                <a:latin typeface="Inter"/>
              </a:rPr>
              <a:t> and </a:t>
            </a:r>
            <a:r>
              <a:rPr lang="en-US" b="1" i="0" dirty="0">
                <a:effectLst/>
                <a:latin typeface="Tasaorbiterdeck Bold"/>
              </a:rPr>
              <a:t>Team Leads</a:t>
            </a:r>
            <a:r>
              <a:rPr lang="en-US" b="0" i="0" dirty="0">
                <a:effectLst/>
                <a:latin typeface="Inter"/>
              </a:rPr>
              <a:t> are placed, with individual </a:t>
            </a:r>
            <a:r>
              <a:rPr lang="en-US" b="1" i="0" dirty="0">
                <a:effectLst/>
                <a:latin typeface="Tasaorbiterdeck Bold"/>
              </a:rPr>
              <a:t>Team Members</a:t>
            </a:r>
            <a:r>
              <a:rPr lang="en-US" b="0" i="0" dirty="0">
                <a:effectLst/>
                <a:latin typeface="Inter"/>
              </a:rPr>
              <a:t> appearing at the bottom of the hierarchy. For matrix structures, the chart may have overlapping lines to show that some team members report to both a </a:t>
            </a:r>
            <a:r>
              <a:rPr lang="en-US" b="1" i="0" dirty="0">
                <a:effectLst/>
                <a:latin typeface="Tasaorbiterdeck Bold"/>
              </a:rPr>
              <a:t>Functional Manager</a:t>
            </a:r>
            <a:r>
              <a:rPr lang="en-US" b="0" i="0" dirty="0">
                <a:effectLst/>
                <a:latin typeface="Inter"/>
              </a:rPr>
              <a:t> and the </a:t>
            </a:r>
            <a:r>
              <a:rPr lang="en-US" b="1" i="0" dirty="0">
                <a:effectLst/>
                <a:latin typeface="Tasaorbiterdeck Bold"/>
              </a:rPr>
              <a:t>Project Manager</a:t>
            </a:r>
            <a:r>
              <a:rPr lang="en-US" b="0" i="0" dirty="0">
                <a:effectLst/>
                <a:latin typeface="Inter"/>
              </a:rPr>
              <a:t>. The layout needs to be clear and easy to read, with enough space to ensure each role is easily distinguishable.</a:t>
            </a:r>
          </a:p>
          <a:p>
            <a:pPr algn="l"/>
            <a:r>
              <a:rPr lang="en-US" b="0" i="0" dirty="0">
                <a:effectLst/>
                <a:latin typeface="Inter"/>
              </a:rPr>
              <a:t>‍</a:t>
            </a:r>
          </a:p>
          <a:p>
            <a:pPr algn="l"/>
            <a:r>
              <a:rPr lang="en-US" b="1" i="0" dirty="0">
                <a:effectLst/>
                <a:latin typeface="Inter"/>
              </a:rPr>
              <a:t>5. Use Lines to Show Reporting Relationships</a:t>
            </a:r>
          </a:p>
          <a:p>
            <a:pPr algn="l"/>
            <a:r>
              <a:rPr lang="en-US" b="0" i="0" dirty="0">
                <a:effectLst/>
                <a:latin typeface="Inter"/>
              </a:rPr>
              <a:t>In an organizational chart, </a:t>
            </a:r>
            <a:r>
              <a:rPr lang="en-US" b="1" i="0" dirty="0">
                <a:effectLst/>
                <a:latin typeface="Tasaorbiterdeck Bold"/>
              </a:rPr>
              <a:t>lines</a:t>
            </a:r>
            <a:r>
              <a:rPr lang="en-US" b="0" i="0" dirty="0">
                <a:effectLst/>
                <a:latin typeface="Inter"/>
              </a:rPr>
              <a:t> are used to represent reporting relationships and hierarchy visually. </a:t>
            </a:r>
            <a:r>
              <a:rPr lang="en-US" b="1" i="0" dirty="0">
                <a:effectLst/>
                <a:latin typeface="Tasaorbiterdeck Bold"/>
              </a:rPr>
              <a:t>Solid lines</a:t>
            </a:r>
            <a:r>
              <a:rPr lang="en-US" b="0" i="0" dirty="0">
                <a:effectLst/>
                <a:latin typeface="Inter"/>
              </a:rPr>
              <a:t> typically indicate direct reporting lines, such as when a </a:t>
            </a:r>
            <a:r>
              <a:rPr lang="en-US" b="1" i="0" dirty="0">
                <a:effectLst/>
                <a:latin typeface="Tasaorbiterdeck Bold"/>
              </a:rPr>
              <a:t>Team Member</a:t>
            </a:r>
            <a:r>
              <a:rPr lang="en-US" b="0" i="0" dirty="0">
                <a:effectLst/>
                <a:latin typeface="Inter"/>
              </a:rPr>
              <a:t> reports to a </a:t>
            </a:r>
            <a:r>
              <a:rPr lang="en-US" b="1" i="0" dirty="0">
                <a:effectLst/>
                <a:latin typeface="Tasaorbiterdeck Bold"/>
              </a:rPr>
              <a:t>Project Manager</a:t>
            </a:r>
            <a:r>
              <a:rPr lang="en-US" b="0" i="0" dirty="0">
                <a:effectLst/>
                <a:latin typeface="Inter"/>
              </a:rPr>
              <a:t> or a </a:t>
            </a:r>
            <a:r>
              <a:rPr lang="en-US" b="1" i="0" dirty="0">
                <a:effectLst/>
                <a:latin typeface="Tasaorbiterdeck Bold"/>
              </a:rPr>
              <a:t>Functional Manager</a:t>
            </a:r>
            <a:r>
              <a:rPr lang="en-US" b="0" i="0" dirty="0">
                <a:effectLst/>
                <a:latin typeface="Inter"/>
              </a:rPr>
              <a:t>. These lines show clear authority and responsibility, helping to map out the flow of control and communication.</a:t>
            </a:r>
          </a:p>
          <a:p>
            <a:pPr algn="l"/>
            <a:r>
              <a:rPr lang="en-US" b="0" i="0" dirty="0">
                <a:effectLst/>
                <a:latin typeface="Inter"/>
              </a:rPr>
              <a:t>‍</a:t>
            </a:r>
          </a:p>
          <a:p>
            <a:pPr algn="l"/>
            <a:r>
              <a:rPr lang="en-US" b="0" i="0" dirty="0">
                <a:effectLst/>
                <a:latin typeface="Inter"/>
              </a:rPr>
              <a:t>On the other hand, </a:t>
            </a:r>
            <a:r>
              <a:rPr lang="en-US" b="1" i="0" dirty="0">
                <a:effectLst/>
                <a:latin typeface="Tasaorbiterdeck Bold"/>
              </a:rPr>
              <a:t>dotted lines</a:t>
            </a:r>
            <a:r>
              <a:rPr lang="en-US" b="0" i="0" dirty="0">
                <a:effectLst/>
                <a:latin typeface="Inter"/>
              </a:rPr>
              <a:t> can be used to represent secondary reporting relationships or advisory roles, as seen in matrix structures where team members may report to both a </a:t>
            </a:r>
            <a:r>
              <a:rPr lang="en-US" b="1" i="0" dirty="0">
                <a:effectLst/>
                <a:latin typeface="Tasaorbiterdeck Bold"/>
              </a:rPr>
              <a:t>Project Manager</a:t>
            </a:r>
            <a:r>
              <a:rPr lang="en-US" b="0" i="0" dirty="0">
                <a:effectLst/>
                <a:latin typeface="Inter"/>
              </a:rPr>
              <a:t> and a </a:t>
            </a:r>
            <a:r>
              <a:rPr lang="en-US" b="1" i="0" dirty="0">
                <a:effectLst/>
                <a:latin typeface="Tasaorbiterdeck Bold"/>
              </a:rPr>
              <a:t>Functional Manager</a:t>
            </a:r>
            <a:r>
              <a:rPr lang="en-US" b="0" i="0" dirty="0">
                <a:effectLst/>
                <a:latin typeface="Inter"/>
              </a:rPr>
              <a:t>. These lines clarify the relationships between different roles and help ensure that communication channels are well understood.</a:t>
            </a:r>
          </a:p>
          <a:p>
            <a:pPr algn="l"/>
            <a:r>
              <a:rPr lang="en-US" b="0" i="0" dirty="0">
                <a:effectLst/>
                <a:latin typeface="Inter"/>
              </a:rPr>
              <a:t>‍</a:t>
            </a:r>
          </a:p>
          <a:p>
            <a:pPr algn="l"/>
            <a:r>
              <a:rPr lang="en-US" b="1" i="0" dirty="0">
                <a:effectLst/>
                <a:latin typeface="Inter"/>
              </a:rPr>
              <a:t>6. Clarify Names and Titles</a:t>
            </a:r>
          </a:p>
          <a:p>
            <a:pPr algn="l"/>
            <a:r>
              <a:rPr lang="en-US" b="0" i="0" dirty="0">
                <a:effectLst/>
                <a:latin typeface="Inter"/>
              </a:rPr>
              <a:t>After setting up the basic structure and layout, each role in the organizational chart should be clearly labeled with both a </a:t>
            </a:r>
            <a:r>
              <a:rPr lang="en-US" b="1" i="0" dirty="0">
                <a:effectLst/>
                <a:latin typeface="Tasaorbiterdeck Bold"/>
              </a:rPr>
              <a:t>title</a:t>
            </a:r>
            <a:r>
              <a:rPr lang="en-US" b="0" i="0" dirty="0">
                <a:effectLst/>
                <a:latin typeface="Inter"/>
              </a:rPr>
              <a:t> and, if necessary, the </a:t>
            </a:r>
            <a:r>
              <a:rPr lang="en-US" b="1" i="0" dirty="0">
                <a:effectLst/>
                <a:latin typeface="Tasaorbiterdeck Bold"/>
              </a:rPr>
              <a:t>name</a:t>
            </a:r>
            <a:r>
              <a:rPr lang="en-US" b="0" i="0" dirty="0">
                <a:effectLst/>
                <a:latin typeface="Inter"/>
              </a:rPr>
              <a:t> of the person filling that role. For example, instead of just labeling a position as "Project Manager," it would be helpful to include the name of the person (e.g., "Project Manager – John Doe").</a:t>
            </a:r>
          </a:p>
          <a:p>
            <a:pPr algn="l"/>
            <a:r>
              <a:rPr lang="en-US" b="0" i="0" dirty="0">
                <a:effectLst/>
                <a:latin typeface="Inter"/>
              </a:rPr>
              <a:t>‍</a:t>
            </a:r>
          </a:p>
          <a:p>
            <a:pPr algn="l"/>
            <a:r>
              <a:rPr lang="en-US" b="0" i="0" dirty="0">
                <a:effectLst/>
                <a:latin typeface="Inter"/>
              </a:rPr>
              <a:t>This not only adds clarity but also helps team members quickly identify who holds which responsibility. Including names can also personalize the chart, making it more relevant to the team. This is particularly useful for larger teams or complex projects where multiple people may share similar titles or roles, ensuring that everyone knows who is responsible for what.</a:t>
            </a:r>
          </a:p>
          <a:p>
            <a:endParaRPr lang="en-US" dirty="0"/>
          </a:p>
          <a:p>
            <a:pPr algn="l"/>
            <a:r>
              <a:rPr lang="en-US" b="1" i="0" dirty="0">
                <a:effectLst/>
                <a:latin typeface="Inter"/>
              </a:rPr>
              <a:t>7. Review the Chart</a:t>
            </a:r>
          </a:p>
          <a:p>
            <a:pPr algn="l"/>
            <a:r>
              <a:rPr lang="en-US" b="0" i="0" dirty="0">
                <a:effectLst/>
                <a:latin typeface="Inter"/>
              </a:rPr>
              <a:t>Once the chart is created, it’s important to review it for accuracy. This involves checking that all relevant roles have been included and that the reporting lines and relationships are clearly represented. It’s also helpful to get feedback from key stakeholders, such as the </a:t>
            </a:r>
            <a:r>
              <a:rPr lang="en-US" b="1" i="0" dirty="0">
                <a:effectLst/>
                <a:latin typeface="Tasaorbiterdeck Bold"/>
              </a:rPr>
              <a:t>Project Sponsor</a:t>
            </a:r>
            <a:r>
              <a:rPr lang="en-US" b="0" i="0" dirty="0">
                <a:effectLst/>
                <a:latin typeface="Inter"/>
              </a:rPr>
              <a:t>, </a:t>
            </a:r>
            <a:r>
              <a:rPr lang="en-US" b="1" i="0" dirty="0">
                <a:effectLst/>
                <a:latin typeface="Tasaorbiterdeck Bold"/>
              </a:rPr>
              <a:t>Project Manager</a:t>
            </a:r>
            <a:r>
              <a:rPr lang="en-US" b="0" i="0" dirty="0">
                <a:effectLst/>
                <a:latin typeface="Inter"/>
              </a:rPr>
              <a:t>, or </a:t>
            </a:r>
            <a:r>
              <a:rPr lang="en-US" b="1" i="0" dirty="0">
                <a:effectLst/>
                <a:latin typeface="Tasaorbiterdeck Bold"/>
              </a:rPr>
              <a:t>Functional Managers</a:t>
            </a:r>
            <a:r>
              <a:rPr lang="en-US" b="0" i="0" dirty="0">
                <a:effectLst/>
                <a:latin typeface="Inter"/>
              </a:rPr>
              <a:t>, to ensure that the chart accurately reflects the team structure.</a:t>
            </a:r>
          </a:p>
          <a:p>
            <a:pPr algn="l"/>
            <a:r>
              <a:rPr lang="en-US" b="0" i="0" dirty="0">
                <a:effectLst/>
                <a:latin typeface="Inter"/>
              </a:rPr>
              <a:t>‍</a:t>
            </a:r>
          </a:p>
          <a:p>
            <a:pPr algn="l"/>
            <a:r>
              <a:rPr lang="en-US" b="0" i="0" dirty="0">
                <a:effectLst/>
                <a:latin typeface="Inter"/>
              </a:rPr>
              <a:t>Reviewing the chart helps identify any gaps in the team, misrepresented roles, or confusion about reporting lines. By double-checking, you ensure the chart is not only accurate but also effective in guiding team members throughout the project lifecycle.</a:t>
            </a:r>
          </a:p>
          <a:p>
            <a:pPr algn="l"/>
            <a:r>
              <a:rPr lang="en-US" b="0" i="0" dirty="0">
                <a:effectLst/>
                <a:latin typeface="Inter"/>
              </a:rPr>
              <a:t>‍</a:t>
            </a:r>
          </a:p>
          <a:p>
            <a:pPr algn="l"/>
            <a:r>
              <a:rPr lang="en-US" b="1" i="0" dirty="0">
                <a:effectLst/>
                <a:latin typeface="Inter"/>
              </a:rPr>
              <a:t>8. Share the Chart</a:t>
            </a:r>
          </a:p>
          <a:p>
            <a:pPr algn="l"/>
            <a:r>
              <a:rPr lang="en-US" b="0" i="0" dirty="0">
                <a:effectLst/>
                <a:latin typeface="Inter"/>
              </a:rPr>
              <a:t>Once the chart has been finalized, it should be shared with all project team members and stakeholders. This ensures that everyone is on the same page regarding roles, responsibilities, and reporting relationships. Sharing the chart early in the project helps clarify expectations, streamline communication, and prevent misunderstandings.</a:t>
            </a:r>
          </a:p>
          <a:p>
            <a:pPr algn="l"/>
            <a:r>
              <a:rPr lang="en-US" b="0" i="0" dirty="0">
                <a:effectLst/>
                <a:latin typeface="Inter"/>
              </a:rPr>
              <a:t>‍</a:t>
            </a:r>
          </a:p>
          <a:p>
            <a:pPr algn="l"/>
            <a:r>
              <a:rPr lang="en-US" b="0" i="0" dirty="0">
                <a:effectLst/>
                <a:latin typeface="Inter"/>
              </a:rPr>
              <a:t>Depending on the project size and complexity, you can distribute the chart via email, upload it to a shared drive, or include it as part of project documentation on a collaborative platform. This way, team members always have easy access to the chart for reference throughout the project.</a:t>
            </a:r>
          </a:p>
          <a:p>
            <a:pPr algn="l"/>
            <a:r>
              <a:rPr lang="en-US" b="0" i="0" dirty="0">
                <a:effectLst/>
                <a:latin typeface="Inter"/>
              </a:rPr>
              <a:t>‍</a:t>
            </a:r>
          </a:p>
          <a:p>
            <a:pPr algn="l"/>
            <a:r>
              <a:rPr lang="en-US" b="1" i="0" dirty="0">
                <a:effectLst/>
                <a:latin typeface="Inter"/>
              </a:rPr>
              <a:t>9. Update the Chart as Needed</a:t>
            </a:r>
          </a:p>
          <a:p>
            <a:pPr algn="l"/>
            <a:r>
              <a:rPr lang="en-US" b="0" i="0" dirty="0">
                <a:effectLst/>
                <a:latin typeface="Inter"/>
              </a:rPr>
              <a:t>Throughout the life of the project, team roles and responsibilities may change due to factors like resource reallocation, team member turnover, or shifts in project scope. It’s essential to keep the organizational chart updated as these changes occur. An outdated chart can lead to confusion about who is responsible for which tasks, especially when new team members join or when a project undergoes structural changes.</a:t>
            </a:r>
          </a:p>
          <a:p>
            <a:pPr algn="l"/>
            <a:r>
              <a:rPr lang="en-US" b="0" i="0" dirty="0">
                <a:effectLst/>
                <a:latin typeface="Inter"/>
              </a:rPr>
              <a:t>‍</a:t>
            </a:r>
          </a:p>
          <a:p>
            <a:pPr algn="l"/>
            <a:r>
              <a:rPr lang="en-US" b="0" i="0" dirty="0">
                <a:effectLst/>
                <a:latin typeface="Inter"/>
              </a:rPr>
              <a:t>Regular updates ensure that the chart remains a useful and relevant tool for the team, and it helps maintain clarity regarding decision-making, authority, and accountability. Make sure to communicate any changes to the team promptly.</a:t>
            </a:r>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54</a:t>
            </a:fld>
            <a:endParaRPr lang="en-US"/>
          </a:p>
        </p:txBody>
      </p:sp>
    </p:spTree>
    <p:extLst>
      <p:ext uri="{BB962C8B-B14F-4D97-AF65-F5344CB8AC3E}">
        <p14:creationId xmlns:p14="http://schemas.microsoft.com/office/powerpoint/2010/main" val="30985624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sz="1200" b="0" i="0" dirty="0">
                <a:solidFill>
                  <a:srgbClr val="212529"/>
                </a:solidFill>
                <a:effectLst/>
                <a:latin typeface="Roboto" panose="02000000000000000000" pitchFamily="2" charset="0"/>
              </a:rPr>
              <a:t>The type of organizational structure you choose for your company will impact communication, resource allocation, decision-making, and project implementation.</a:t>
            </a:r>
          </a:p>
          <a:p>
            <a:pPr algn="l" fontAlgn="base">
              <a:buFont typeface="Arial" panose="020B0604020202020204" pitchFamily="34" charset="0"/>
              <a:buChar char="•"/>
            </a:pPr>
            <a:r>
              <a:rPr lang="en-US" sz="1200" b="1" i="0" dirty="0">
                <a:solidFill>
                  <a:srgbClr val="212529"/>
                </a:solidFill>
                <a:effectLst/>
                <a:latin typeface="Roboto" panose="02000000000000000000" pitchFamily="2" charset="0"/>
              </a:rPr>
              <a:t>Communication:</a:t>
            </a:r>
            <a:r>
              <a:rPr lang="en-US" sz="1200" b="0" i="0" dirty="0">
                <a:solidFill>
                  <a:srgbClr val="212529"/>
                </a:solidFill>
                <a:effectLst/>
                <a:latin typeface="Roboto" panose="02000000000000000000" pitchFamily="2" charset="0"/>
              </a:rPr>
              <a:t> Organizational structure impacts how communication flows between teams and management. Flatter structures (i.e. projectized structures) often facilitate open communication and can allow for more direct and effective communication pathways, while hierarchical structures (i.e. functional structures) can hinder communication flow and lead to communication bottlenecks.</a:t>
            </a:r>
          </a:p>
          <a:p>
            <a:pPr algn="l" fontAlgn="base">
              <a:buFont typeface="Arial" panose="020B0604020202020204" pitchFamily="34" charset="0"/>
              <a:buChar char="•"/>
            </a:pPr>
            <a:r>
              <a:rPr lang="en-US" sz="1200" b="1" i="0" dirty="0">
                <a:solidFill>
                  <a:srgbClr val="212529"/>
                </a:solidFill>
                <a:effectLst/>
                <a:latin typeface="Roboto" panose="02000000000000000000" pitchFamily="2" charset="0"/>
              </a:rPr>
              <a:t>Resource Allocation:</a:t>
            </a:r>
            <a:r>
              <a:rPr lang="en-US" sz="1200" b="0" i="0" dirty="0">
                <a:solidFill>
                  <a:srgbClr val="212529"/>
                </a:solidFill>
                <a:effectLst/>
                <a:latin typeface="Roboto" panose="02000000000000000000" pitchFamily="2" charset="0"/>
              </a:rPr>
              <a:t> The structure impacts how resources are allocated across projects. Centralized structures allocate resources based on top-down decisions, while decentralized structures involve more input from lower levels. Additionally, matrix structures often struggle with resource allocation due to dual reporting by team members to both functional and project managers. </a:t>
            </a:r>
          </a:p>
          <a:p>
            <a:pPr algn="l" fontAlgn="base">
              <a:buFont typeface="Arial" panose="020B0604020202020204" pitchFamily="34" charset="0"/>
              <a:buChar char="•"/>
            </a:pPr>
            <a:r>
              <a:rPr lang="en-US" sz="1200" b="1" i="0" dirty="0">
                <a:solidFill>
                  <a:srgbClr val="212529"/>
                </a:solidFill>
                <a:effectLst/>
                <a:latin typeface="Roboto" panose="02000000000000000000" pitchFamily="2" charset="0"/>
              </a:rPr>
              <a:t>Decision-Making:</a:t>
            </a:r>
            <a:r>
              <a:rPr lang="en-US" sz="1200" b="0" i="0" dirty="0">
                <a:solidFill>
                  <a:srgbClr val="212529"/>
                </a:solidFill>
                <a:effectLst/>
                <a:latin typeface="Roboto" panose="02000000000000000000" pitchFamily="2" charset="0"/>
              </a:rPr>
              <a:t> Hierarchical structures (i.e. functional structures) may lead to delayed or slower decision-making due to multiple layers of approval, while flatter structures (i.e. projectized structures) often allow for faster and more agile decisions and greater adaptability.</a:t>
            </a:r>
          </a:p>
          <a:p>
            <a:pPr algn="l" fontAlgn="base">
              <a:buFont typeface="Arial" panose="020B0604020202020204" pitchFamily="34" charset="0"/>
              <a:buChar char="•"/>
            </a:pPr>
            <a:r>
              <a:rPr lang="en-US" sz="1200" b="1" i="0" dirty="0">
                <a:solidFill>
                  <a:srgbClr val="212529"/>
                </a:solidFill>
                <a:effectLst/>
                <a:latin typeface="Roboto" panose="02000000000000000000" pitchFamily="2" charset="0"/>
              </a:rPr>
              <a:t>Project Implementation</a:t>
            </a:r>
            <a:r>
              <a:rPr lang="en-US" sz="1200" b="0" i="0" dirty="0">
                <a:solidFill>
                  <a:srgbClr val="212529"/>
                </a:solidFill>
                <a:effectLst/>
                <a:latin typeface="Roboto" panose="02000000000000000000" pitchFamily="2" charset="0"/>
              </a:rPr>
              <a:t>: The type of structure can affect the efficiency of project execution. Projectized structures, for example, can streamline project implementation by dedicating resources to a specific project.</a:t>
            </a:r>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55</a:t>
            </a:fld>
            <a:endParaRPr lang="en-US"/>
          </a:p>
        </p:txBody>
      </p:sp>
    </p:spTree>
    <p:extLst>
      <p:ext uri="{BB962C8B-B14F-4D97-AF65-F5344CB8AC3E}">
        <p14:creationId xmlns:p14="http://schemas.microsoft.com/office/powerpoint/2010/main" val="10586986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chemeClr val="tx1"/>
                </a:solidFill>
                <a:effectLst/>
                <a:latin typeface="Arial" panose="020B0604020202020204" pitchFamily="34" charset="0"/>
              </a:rPr>
              <a:t>Summary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500" b="1" i="0" u="none" strike="noStrike" cap="none" normalizeH="0" baseline="0" dirty="0">
                <a:ln>
                  <a:noFill/>
                </a:ln>
                <a:solidFill>
                  <a:schemeClr val="tx1"/>
                </a:solidFill>
                <a:effectLst/>
                <a:latin typeface="Arial" panose="020B0604020202020204" pitchFamily="34" charset="0"/>
              </a:rPr>
              <a:t>Functional Structure</a:t>
            </a:r>
            <a:r>
              <a:rPr kumimoji="0" lang="en-US" altLang="en-US" sz="1200" b="0" i="0" u="none" strike="noStrike" cap="none" normalizeH="0" baseline="0" dirty="0">
                <a:ln>
                  <a:noFill/>
                </a:ln>
                <a:solidFill>
                  <a:schemeClr val="tx1"/>
                </a:solidFill>
                <a:effectLst/>
                <a:latin typeface="Arial" panose="020B0604020202020204" pitchFamily="34" charset="0"/>
              </a:rPr>
              <a:t>: Best for simpler projects with clear functional roles but may struggle with communication and adaptability.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Projectized Structure</a:t>
            </a:r>
            <a:r>
              <a:rPr kumimoji="0" lang="en-US" altLang="en-US" sz="1200" b="0" i="0" u="none" strike="noStrike" cap="none" normalizeH="0" baseline="0" dirty="0">
                <a:ln>
                  <a:noFill/>
                </a:ln>
                <a:solidFill>
                  <a:schemeClr val="tx1"/>
                </a:solidFill>
                <a:effectLst/>
                <a:latin typeface="Arial" panose="020B0604020202020204" pitchFamily="34" charset="0"/>
              </a:rPr>
              <a:t>: Ideal for complex projects needing focused management, with quick decision-making but less flexibility once underway.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Matrix Structure</a:t>
            </a:r>
            <a:r>
              <a:rPr kumimoji="0" lang="en-US" altLang="en-US" sz="1200" b="0" i="0" u="none" strike="noStrike" cap="none" normalizeH="0" baseline="0" dirty="0">
                <a:ln>
                  <a:noFill/>
                </a:ln>
                <a:solidFill>
                  <a:schemeClr val="tx1"/>
                </a:solidFill>
                <a:effectLst/>
                <a:latin typeface="Arial" panose="020B0604020202020204" pitchFamily="34" charset="0"/>
              </a:rPr>
              <a:t>: Balances authority and resource sharing, suitable for collaborative projects but may lead to conflicts and require clear communication.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Composite Structure</a:t>
            </a:r>
            <a:r>
              <a:rPr kumimoji="0" lang="en-US" altLang="en-US" sz="1200" b="0" i="0" u="none" strike="noStrike" cap="none" normalizeH="0" baseline="0" dirty="0">
                <a:ln>
                  <a:noFill/>
                </a:ln>
                <a:solidFill>
                  <a:schemeClr val="tx1"/>
                </a:solidFill>
                <a:effectLst/>
                <a:latin typeface="Arial" panose="020B0604020202020204" pitchFamily="34" charset="0"/>
              </a:rPr>
              <a:t>: Flexible and adaptable, allowing for varying structures based on project needs but may introduce complexity.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Agile Structure</a:t>
            </a:r>
            <a:r>
              <a:rPr kumimoji="0" lang="en-US" altLang="en-US" sz="1200" b="0" i="0" u="none" strike="noStrike" cap="none" normalizeH="0" baseline="0" dirty="0">
                <a:ln>
                  <a:noFill/>
                </a:ln>
                <a:solidFill>
                  <a:schemeClr val="tx1"/>
                </a:solidFill>
                <a:effectLst/>
                <a:latin typeface="Arial" panose="020B0604020202020204" pitchFamily="34" charset="0"/>
              </a:rPr>
              <a:t>: Highly flexible and collaborative, best suited for complex, rapidly changing projects, emphasizing continuous feedback and quick decision-making.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Choosing the right structure depends on the specific project requirements, organizational culture, and the desired level of flexibility and control.</a:t>
            </a:r>
          </a:p>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60</a:t>
            </a:fld>
            <a:endParaRPr lang="en-US"/>
          </a:p>
        </p:txBody>
      </p:sp>
    </p:spTree>
    <p:extLst>
      <p:ext uri="{BB962C8B-B14F-4D97-AF65-F5344CB8AC3E}">
        <p14:creationId xmlns:p14="http://schemas.microsoft.com/office/powerpoint/2010/main" val="30107886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07DE76-E770-4DA3-A16C-337AAD1E63D6}" type="slidenum">
              <a:rPr lang="en-US" smtClean="0"/>
              <a:t>66</a:t>
            </a:fld>
            <a:endParaRPr lang="en-US"/>
          </a:p>
        </p:txBody>
      </p:sp>
    </p:spTree>
    <p:extLst>
      <p:ext uri="{BB962C8B-B14F-4D97-AF65-F5344CB8AC3E}">
        <p14:creationId xmlns:p14="http://schemas.microsoft.com/office/powerpoint/2010/main" val="1125617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6939" y="615856"/>
            <a:ext cx="9042400" cy="686247"/>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6" name="Holder 6"/>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6" name="Holder 6"/>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7" name="Holder 7"/>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533377"/>
            <a:ext cx="9959975" cy="0"/>
          </a:xfrm>
          <a:custGeom>
            <a:avLst/>
            <a:gdLst/>
            <a:ahLst/>
            <a:cxnLst/>
            <a:rect l="l" t="t" r="r" b="b"/>
            <a:pathLst>
              <a:path w="9959975">
                <a:moveTo>
                  <a:pt x="0" y="0"/>
                </a:moveTo>
                <a:lnTo>
                  <a:pt x="9959926" y="1"/>
                </a:lnTo>
              </a:path>
            </a:pathLst>
          </a:custGeom>
          <a:ln w="57150">
            <a:solidFill>
              <a:srgbClr val="4472C4"/>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5" name="Holder 5"/>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4" name="Holder 4"/>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533377"/>
            <a:ext cx="9959975" cy="0"/>
          </a:xfrm>
          <a:custGeom>
            <a:avLst/>
            <a:gdLst/>
            <a:ahLst/>
            <a:cxnLst/>
            <a:rect l="l" t="t" r="r" b="b"/>
            <a:pathLst>
              <a:path w="9959975">
                <a:moveTo>
                  <a:pt x="0" y="0"/>
                </a:moveTo>
                <a:lnTo>
                  <a:pt x="9959926" y="1"/>
                </a:lnTo>
              </a:path>
            </a:pathLst>
          </a:custGeom>
          <a:ln w="57150">
            <a:solidFill>
              <a:srgbClr val="4472C4"/>
            </a:solidFill>
          </a:ln>
        </p:spPr>
        <p:txBody>
          <a:bodyPr wrap="square" lIns="0" tIns="0" rIns="0" bIns="0" rtlCol="0"/>
          <a:lstStyle/>
          <a:p>
            <a:endParaRPr/>
          </a:p>
        </p:txBody>
      </p:sp>
      <p:pic>
        <p:nvPicPr>
          <p:cNvPr id="17" name="bg object 17"/>
          <p:cNvPicPr/>
          <p:nvPr/>
        </p:nvPicPr>
        <p:blipFill>
          <a:blip r:embed="rId7" cstate="print"/>
          <a:stretch>
            <a:fillRect/>
          </a:stretch>
        </p:blipFill>
        <p:spPr>
          <a:xfrm>
            <a:off x="10631358" y="58331"/>
            <a:ext cx="1491574" cy="534930"/>
          </a:xfrm>
          <a:prstGeom prst="rect">
            <a:avLst/>
          </a:prstGeom>
        </p:spPr>
      </p:pic>
      <p:sp>
        <p:nvSpPr>
          <p:cNvPr id="2" name="Holder 2"/>
          <p:cNvSpPr>
            <a:spLocks noGrp="1"/>
          </p:cNvSpPr>
          <p:nvPr>
            <p:ph type="title"/>
          </p:nvPr>
        </p:nvSpPr>
        <p:spPr>
          <a:xfrm>
            <a:off x="916939" y="615856"/>
            <a:ext cx="11233150" cy="686247"/>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16939" y="1394492"/>
            <a:ext cx="10358120" cy="476250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6" name="Holder 6"/>
          <p:cNvSpPr>
            <a:spLocks noGrp="1"/>
          </p:cNvSpPr>
          <p:nvPr>
            <p:ph type="sldNum" sz="quarter" idx="7"/>
          </p:nvPr>
        </p:nvSpPr>
        <p:spPr>
          <a:xfrm>
            <a:off x="11713804" y="6428920"/>
            <a:ext cx="244475" cy="211454"/>
          </a:xfrm>
          <a:prstGeom prst="rect">
            <a:avLst/>
          </a:prstGeom>
        </p:spPr>
        <p:txBody>
          <a:bodyPr wrap="square" lIns="0" tIns="0" rIns="0" bIns="0">
            <a:spAutoFit/>
          </a:bodyPr>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34.png"/><Relationship Id="rId4" Type="http://schemas.openxmlformats.org/officeDocument/2006/relationships/image" Target="../media/image29.png"/><Relationship Id="rId9" Type="http://schemas.openxmlformats.org/officeDocument/2006/relationships/image" Target="../media/image3.png"/></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35.jpg"/></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6" Type="http://schemas.openxmlformats.org/officeDocument/2006/relationships/image" Target="../media/image62.png"/><Relationship Id="rId21" Type="http://schemas.openxmlformats.org/officeDocument/2006/relationships/image" Target="../media/image57.png"/><Relationship Id="rId42" Type="http://schemas.openxmlformats.org/officeDocument/2006/relationships/image" Target="../media/image78.png"/><Relationship Id="rId47" Type="http://schemas.openxmlformats.org/officeDocument/2006/relationships/image" Target="../media/image83.png"/><Relationship Id="rId63" Type="http://schemas.openxmlformats.org/officeDocument/2006/relationships/image" Target="../media/image99.png"/><Relationship Id="rId68" Type="http://schemas.openxmlformats.org/officeDocument/2006/relationships/image" Target="../media/image104.png"/><Relationship Id="rId16" Type="http://schemas.openxmlformats.org/officeDocument/2006/relationships/image" Target="../media/image52.png"/><Relationship Id="rId11" Type="http://schemas.openxmlformats.org/officeDocument/2006/relationships/image" Target="../media/image47.png"/><Relationship Id="rId24" Type="http://schemas.openxmlformats.org/officeDocument/2006/relationships/image" Target="../media/image60.png"/><Relationship Id="rId32" Type="http://schemas.openxmlformats.org/officeDocument/2006/relationships/image" Target="../media/image68.png"/><Relationship Id="rId37" Type="http://schemas.openxmlformats.org/officeDocument/2006/relationships/image" Target="../media/image73.png"/><Relationship Id="rId40" Type="http://schemas.openxmlformats.org/officeDocument/2006/relationships/image" Target="../media/image76.png"/><Relationship Id="rId45" Type="http://schemas.openxmlformats.org/officeDocument/2006/relationships/image" Target="../media/image81.png"/><Relationship Id="rId53" Type="http://schemas.openxmlformats.org/officeDocument/2006/relationships/image" Target="../media/image89.png"/><Relationship Id="rId58" Type="http://schemas.openxmlformats.org/officeDocument/2006/relationships/image" Target="../media/image94.png"/><Relationship Id="rId66" Type="http://schemas.openxmlformats.org/officeDocument/2006/relationships/image" Target="../media/image102.png"/><Relationship Id="rId74" Type="http://schemas.openxmlformats.org/officeDocument/2006/relationships/image" Target="../media/image110.png"/><Relationship Id="rId79" Type="http://schemas.openxmlformats.org/officeDocument/2006/relationships/image" Target="../media/image3.png"/><Relationship Id="rId5" Type="http://schemas.openxmlformats.org/officeDocument/2006/relationships/image" Target="../media/image41.png"/><Relationship Id="rId61" Type="http://schemas.openxmlformats.org/officeDocument/2006/relationships/image" Target="../media/image97.png"/><Relationship Id="rId19" Type="http://schemas.openxmlformats.org/officeDocument/2006/relationships/image" Target="../media/image55.png"/><Relationship Id="rId14" Type="http://schemas.openxmlformats.org/officeDocument/2006/relationships/image" Target="../media/image50.png"/><Relationship Id="rId22" Type="http://schemas.openxmlformats.org/officeDocument/2006/relationships/image" Target="../media/image58.png"/><Relationship Id="rId27" Type="http://schemas.openxmlformats.org/officeDocument/2006/relationships/image" Target="../media/image63.png"/><Relationship Id="rId30" Type="http://schemas.openxmlformats.org/officeDocument/2006/relationships/image" Target="../media/image66.png"/><Relationship Id="rId35" Type="http://schemas.openxmlformats.org/officeDocument/2006/relationships/image" Target="../media/image71.png"/><Relationship Id="rId43" Type="http://schemas.openxmlformats.org/officeDocument/2006/relationships/image" Target="../media/image79.png"/><Relationship Id="rId48" Type="http://schemas.openxmlformats.org/officeDocument/2006/relationships/image" Target="../media/image84.png"/><Relationship Id="rId56" Type="http://schemas.openxmlformats.org/officeDocument/2006/relationships/image" Target="../media/image92.png"/><Relationship Id="rId64" Type="http://schemas.openxmlformats.org/officeDocument/2006/relationships/image" Target="../media/image100.png"/><Relationship Id="rId69" Type="http://schemas.openxmlformats.org/officeDocument/2006/relationships/image" Target="../media/image105.png"/><Relationship Id="rId77" Type="http://schemas.openxmlformats.org/officeDocument/2006/relationships/image" Target="../media/image113.png"/><Relationship Id="rId8" Type="http://schemas.openxmlformats.org/officeDocument/2006/relationships/image" Target="../media/image44.png"/><Relationship Id="rId51" Type="http://schemas.openxmlformats.org/officeDocument/2006/relationships/image" Target="../media/image87.png"/><Relationship Id="rId72" Type="http://schemas.openxmlformats.org/officeDocument/2006/relationships/image" Target="../media/image108.png"/><Relationship Id="rId3" Type="http://schemas.openxmlformats.org/officeDocument/2006/relationships/image" Target="../media/image39.png"/><Relationship Id="rId12" Type="http://schemas.openxmlformats.org/officeDocument/2006/relationships/image" Target="../media/image48.png"/><Relationship Id="rId17" Type="http://schemas.openxmlformats.org/officeDocument/2006/relationships/image" Target="../media/image53.png"/><Relationship Id="rId25" Type="http://schemas.openxmlformats.org/officeDocument/2006/relationships/image" Target="../media/image61.png"/><Relationship Id="rId33" Type="http://schemas.openxmlformats.org/officeDocument/2006/relationships/image" Target="../media/image69.png"/><Relationship Id="rId38" Type="http://schemas.openxmlformats.org/officeDocument/2006/relationships/image" Target="../media/image74.png"/><Relationship Id="rId46" Type="http://schemas.openxmlformats.org/officeDocument/2006/relationships/image" Target="../media/image82.png"/><Relationship Id="rId59" Type="http://schemas.openxmlformats.org/officeDocument/2006/relationships/image" Target="../media/image95.png"/><Relationship Id="rId67" Type="http://schemas.openxmlformats.org/officeDocument/2006/relationships/image" Target="../media/image103.png"/><Relationship Id="rId20" Type="http://schemas.openxmlformats.org/officeDocument/2006/relationships/image" Target="../media/image56.png"/><Relationship Id="rId41" Type="http://schemas.openxmlformats.org/officeDocument/2006/relationships/image" Target="../media/image77.png"/><Relationship Id="rId54" Type="http://schemas.openxmlformats.org/officeDocument/2006/relationships/image" Target="../media/image90.png"/><Relationship Id="rId62" Type="http://schemas.openxmlformats.org/officeDocument/2006/relationships/image" Target="../media/image98.png"/><Relationship Id="rId70" Type="http://schemas.openxmlformats.org/officeDocument/2006/relationships/image" Target="../media/image106.png"/><Relationship Id="rId75"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42.png"/><Relationship Id="rId15" Type="http://schemas.openxmlformats.org/officeDocument/2006/relationships/image" Target="../media/image51.png"/><Relationship Id="rId23" Type="http://schemas.openxmlformats.org/officeDocument/2006/relationships/image" Target="../media/image59.png"/><Relationship Id="rId28" Type="http://schemas.openxmlformats.org/officeDocument/2006/relationships/image" Target="../media/image64.png"/><Relationship Id="rId36" Type="http://schemas.openxmlformats.org/officeDocument/2006/relationships/image" Target="../media/image72.png"/><Relationship Id="rId49" Type="http://schemas.openxmlformats.org/officeDocument/2006/relationships/image" Target="../media/image85.png"/><Relationship Id="rId57" Type="http://schemas.openxmlformats.org/officeDocument/2006/relationships/image" Target="../media/image93.png"/><Relationship Id="rId10" Type="http://schemas.openxmlformats.org/officeDocument/2006/relationships/image" Target="../media/image46.png"/><Relationship Id="rId31" Type="http://schemas.openxmlformats.org/officeDocument/2006/relationships/image" Target="../media/image67.png"/><Relationship Id="rId44" Type="http://schemas.openxmlformats.org/officeDocument/2006/relationships/image" Target="../media/image80.png"/><Relationship Id="rId52" Type="http://schemas.openxmlformats.org/officeDocument/2006/relationships/image" Target="../media/image88.png"/><Relationship Id="rId60" Type="http://schemas.openxmlformats.org/officeDocument/2006/relationships/image" Target="../media/image96.png"/><Relationship Id="rId65" Type="http://schemas.openxmlformats.org/officeDocument/2006/relationships/image" Target="../media/image101.png"/><Relationship Id="rId73" Type="http://schemas.openxmlformats.org/officeDocument/2006/relationships/image" Target="../media/image109.png"/><Relationship Id="rId78" Type="http://schemas.openxmlformats.org/officeDocument/2006/relationships/image" Target="../media/image114.png"/><Relationship Id="rId4" Type="http://schemas.openxmlformats.org/officeDocument/2006/relationships/image" Target="../media/image40.png"/><Relationship Id="rId9" Type="http://schemas.openxmlformats.org/officeDocument/2006/relationships/image" Target="../media/image45.png"/><Relationship Id="rId13" Type="http://schemas.openxmlformats.org/officeDocument/2006/relationships/image" Target="../media/image49.png"/><Relationship Id="rId18" Type="http://schemas.openxmlformats.org/officeDocument/2006/relationships/image" Target="../media/image54.png"/><Relationship Id="rId39" Type="http://schemas.openxmlformats.org/officeDocument/2006/relationships/image" Target="../media/image75.png"/><Relationship Id="rId34" Type="http://schemas.openxmlformats.org/officeDocument/2006/relationships/image" Target="../media/image70.png"/><Relationship Id="rId50" Type="http://schemas.openxmlformats.org/officeDocument/2006/relationships/image" Target="../media/image86.png"/><Relationship Id="rId55" Type="http://schemas.openxmlformats.org/officeDocument/2006/relationships/image" Target="../media/image91.png"/><Relationship Id="rId76" Type="http://schemas.openxmlformats.org/officeDocument/2006/relationships/image" Target="../media/image112.png"/><Relationship Id="rId7" Type="http://schemas.openxmlformats.org/officeDocument/2006/relationships/image" Target="../media/image43.png"/><Relationship Id="rId71" Type="http://schemas.openxmlformats.org/officeDocument/2006/relationships/image" Target="../media/image107.png"/><Relationship Id="rId2" Type="http://schemas.openxmlformats.org/officeDocument/2006/relationships/notesSlide" Target="../notesSlides/notesSlide18.xml"/><Relationship Id="rId29" Type="http://schemas.openxmlformats.org/officeDocument/2006/relationships/image" Target="../media/image65.png"/></Relationships>
</file>

<file path=ppt/slides/_rels/slide4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17.jp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89885" y="1642991"/>
            <a:ext cx="7228205" cy="922019"/>
          </a:xfrm>
          <a:prstGeom prst="rect">
            <a:avLst/>
          </a:prstGeom>
        </p:spPr>
        <p:txBody>
          <a:bodyPr vert="horz" wrap="square" lIns="0" tIns="16510" rIns="0" bIns="0" rtlCol="0">
            <a:spAutoFit/>
          </a:bodyPr>
          <a:lstStyle/>
          <a:p>
            <a:pPr marL="12700">
              <a:lnSpc>
                <a:spcPct val="100000"/>
              </a:lnSpc>
              <a:spcBef>
                <a:spcPts val="130"/>
              </a:spcBef>
            </a:pPr>
            <a:r>
              <a:rPr sz="5850" spc="130" dirty="0">
                <a:solidFill>
                  <a:srgbClr val="C00000"/>
                </a:solidFill>
              </a:rPr>
              <a:t>Organization</a:t>
            </a:r>
            <a:r>
              <a:rPr sz="5850" spc="165" dirty="0">
                <a:solidFill>
                  <a:srgbClr val="C00000"/>
                </a:solidFill>
              </a:rPr>
              <a:t> </a:t>
            </a:r>
            <a:r>
              <a:rPr sz="5850" spc="130" dirty="0">
                <a:solidFill>
                  <a:srgbClr val="C00000"/>
                </a:solidFill>
              </a:rPr>
              <a:t>Structure</a:t>
            </a:r>
            <a:endParaRPr sz="5850"/>
          </a:p>
        </p:txBody>
      </p:sp>
      <p:sp>
        <p:nvSpPr>
          <p:cNvPr id="3" name="object 3"/>
          <p:cNvSpPr txBox="1"/>
          <p:nvPr/>
        </p:nvSpPr>
        <p:spPr>
          <a:xfrm>
            <a:off x="5032679" y="2366661"/>
            <a:ext cx="2152650" cy="1592744"/>
          </a:xfrm>
          <a:prstGeom prst="rect">
            <a:avLst/>
          </a:prstGeom>
        </p:spPr>
        <p:txBody>
          <a:bodyPr vert="horz" wrap="square" lIns="0" tIns="187960" rIns="0" bIns="0" rtlCol="0">
            <a:spAutoFit/>
          </a:bodyPr>
          <a:lstStyle/>
          <a:p>
            <a:pPr marL="19685" algn="ctr">
              <a:lnSpc>
                <a:spcPct val="100000"/>
              </a:lnSpc>
              <a:spcBef>
                <a:spcPts val="1315"/>
              </a:spcBef>
            </a:pPr>
            <a:r>
              <a:rPr lang="en-US" sz="2800" spc="50" dirty="0">
                <a:latin typeface="Calibri Light"/>
                <a:cs typeface="Calibri Light"/>
              </a:rPr>
              <a:t>(25CPE4602)</a:t>
            </a:r>
            <a:endParaRPr lang="en-US" sz="2800" dirty="0">
              <a:latin typeface="Calibri Light"/>
              <a:cs typeface="Calibri Light"/>
            </a:endParaRPr>
          </a:p>
          <a:p>
            <a:pPr marL="12700">
              <a:lnSpc>
                <a:spcPct val="100000"/>
              </a:lnSpc>
              <a:spcBef>
                <a:spcPts val="2305"/>
              </a:spcBef>
            </a:pPr>
            <a:r>
              <a:rPr sz="4400" b="1" dirty="0">
                <a:solidFill>
                  <a:srgbClr val="2F5597"/>
                </a:solidFill>
                <a:latin typeface="Calibri"/>
                <a:cs typeface="Calibri"/>
              </a:rPr>
              <a:t>Lecture</a:t>
            </a:r>
            <a:r>
              <a:rPr sz="4400" b="1" spc="-80" dirty="0">
                <a:solidFill>
                  <a:srgbClr val="2F5597"/>
                </a:solidFill>
                <a:latin typeface="Calibri"/>
                <a:cs typeface="Calibri"/>
              </a:rPr>
              <a:t> </a:t>
            </a:r>
            <a:r>
              <a:rPr sz="4400" b="1" spc="-50" dirty="0">
                <a:solidFill>
                  <a:srgbClr val="2F5597"/>
                </a:solidFill>
                <a:latin typeface="Calibri"/>
                <a:cs typeface="Calibri"/>
              </a:rPr>
              <a:t>3</a:t>
            </a:r>
            <a:endParaRPr sz="4400" dirty="0">
              <a:latin typeface="Calibri"/>
              <a:cs typeface="Calibri"/>
            </a:endParaRPr>
          </a:p>
        </p:txBody>
      </p:sp>
      <p:pic>
        <p:nvPicPr>
          <p:cNvPr id="4" name="object 4"/>
          <p:cNvPicPr/>
          <p:nvPr/>
        </p:nvPicPr>
        <p:blipFill>
          <a:blip r:embed="rId2" cstate="print"/>
          <a:stretch>
            <a:fillRect/>
          </a:stretch>
        </p:blipFill>
        <p:spPr>
          <a:xfrm>
            <a:off x="3708164" y="4723403"/>
            <a:ext cx="4545091" cy="2134595"/>
          </a:xfrm>
          <a:prstGeom prst="rect">
            <a:avLst/>
          </a:prstGeom>
        </p:spPr>
      </p:pic>
      <p:pic>
        <p:nvPicPr>
          <p:cNvPr id="6" name="Picture 5">
            <a:extLst>
              <a:ext uri="{FF2B5EF4-FFF2-40B4-BE49-F238E27FC236}">
                <a16:creationId xmlns:a16="http://schemas.microsoft.com/office/drawing/2014/main" id="{F728FF86-23E4-C7CE-6E16-66D55491E69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65026" y="312021"/>
            <a:ext cx="2031366" cy="112853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63847B4-E993-1A9B-1000-C17AC71C0918}"/>
              </a:ext>
            </a:extLst>
          </p:cNvPr>
          <p:cNvSpPr txBox="1"/>
          <p:nvPr/>
        </p:nvSpPr>
        <p:spPr>
          <a:xfrm>
            <a:off x="3054366" y="4109834"/>
            <a:ext cx="6099242" cy="463140"/>
          </a:xfrm>
          <a:prstGeom prst="rect">
            <a:avLst/>
          </a:prstGeom>
          <a:noFill/>
        </p:spPr>
        <p:txBody>
          <a:bodyPr wrap="square">
            <a:spAutoFit/>
          </a:bodyPr>
          <a:lstStyle/>
          <a:p>
            <a:pPr algn="ctr">
              <a:lnSpc>
                <a:spcPts val="3279"/>
              </a:lnSpc>
              <a:spcBef>
                <a:spcPts val="2660"/>
              </a:spcBef>
            </a:pPr>
            <a:r>
              <a:rPr lang="en-US" sz="1800" spc="150" dirty="0">
                <a:latin typeface="Georgia"/>
                <a:cs typeface="Georgia"/>
              </a:rPr>
              <a:t>Dr.</a:t>
            </a:r>
            <a:r>
              <a:rPr lang="en-US" sz="1800" spc="254" dirty="0">
                <a:latin typeface="Georgia"/>
                <a:cs typeface="Georgia"/>
              </a:rPr>
              <a:t> </a:t>
            </a:r>
            <a:r>
              <a:rPr lang="en-US" sz="1800" spc="210" dirty="0">
                <a:latin typeface="Georgia"/>
                <a:cs typeface="Georgia"/>
              </a:rPr>
              <a:t>Zahraa Ismail</a:t>
            </a:r>
            <a:endParaRPr lang="en-US" sz="1800" dirty="0">
              <a:latin typeface="Georgia"/>
              <a:cs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12846416" y="4123060"/>
            <a:ext cx="156789" cy="373444"/>
          </a:xfrm>
          <a:prstGeom prst="rect">
            <a:avLst/>
          </a:prstGeom>
        </p:spPr>
        <p:txBody>
          <a:bodyPr vert="horz" wrap="square" lIns="0" tIns="4072" rIns="0" bIns="0" rtlCol="0">
            <a:spAutoFit/>
          </a:bodyPr>
          <a:lstStyle/>
          <a:p>
            <a:pPr marL="30135">
              <a:spcBef>
                <a:spcPts val="32"/>
              </a:spcBef>
            </a:pPr>
            <a:fld id="{81D60167-4931-47E6-BA6A-407CBD079E47}" type="slidenum">
              <a:rPr spc="-16" dirty="0"/>
              <a:pPr marL="30135">
                <a:spcBef>
                  <a:spcPts val="32"/>
                </a:spcBef>
              </a:pPr>
              <a:t>2</a:t>
            </a:fld>
            <a:endParaRPr spc="-16" dirty="0"/>
          </a:p>
        </p:txBody>
      </p:sp>
      <p:sp>
        <p:nvSpPr>
          <p:cNvPr id="2" name="object 2"/>
          <p:cNvSpPr txBox="1">
            <a:spLocks noGrp="1"/>
          </p:cNvSpPr>
          <p:nvPr>
            <p:ph type="title"/>
          </p:nvPr>
        </p:nvSpPr>
        <p:spPr>
          <a:xfrm>
            <a:off x="1143000" y="533400"/>
            <a:ext cx="7204158" cy="697643"/>
          </a:xfrm>
          <a:prstGeom prst="rect">
            <a:avLst/>
          </a:prstGeom>
        </p:spPr>
        <p:txBody>
          <a:bodyPr vert="horz" wrap="square" lIns="0" tIns="35576" rIns="0" bIns="0" rtlCol="0">
            <a:spAutoFit/>
          </a:bodyPr>
          <a:lstStyle/>
          <a:p>
            <a:pPr marL="9366">
              <a:spcBef>
                <a:spcPts val="61"/>
              </a:spcBef>
            </a:pPr>
            <a:r>
              <a:rPr spc="114" dirty="0"/>
              <a:t>Selection Criteria</a:t>
            </a:r>
          </a:p>
        </p:txBody>
      </p:sp>
      <p:sp>
        <p:nvSpPr>
          <p:cNvPr id="3" name="object 3"/>
          <p:cNvSpPr txBox="1"/>
          <p:nvPr/>
        </p:nvSpPr>
        <p:spPr>
          <a:xfrm>
            <a:off x="1143000" y="1676400"/>
            <a:ext cx="5638800" cy="4472941"/>
          </a:xfrm>
          <a:prstGeom prst="rect">
            <a:avLst/>
          </a:prstGeom>
        </p:spPr>
        <p:txBody>
          <a:bodyPr vert="horz" wrap="square" lIns="0" tIns="109142" rIns="0" bIns="0" rtlCol="0">
            <a:spAutoFit/>
          </a:bodyPr>
          <a:lstStyle/>
          <a:p>
            <a:pPr marL="14660">
              <a:spcBef>
                <a:spcPts val="859"/>
              </a:spcBef>
            </a:pPr>
            <a:r>
              <a:rPr sz="2800" spc="125" dirty="0">
                <a:solidFill>
                  <a:srgbClr val="BD0001"/>
                </a:solidFill>
                <a:latin typeface="+mj-lt"/>
                <a:cs typeface="Calibri"/>
              </a:rPr>
              <a:t>Financial</a:t>
            </a:r>
            <a:r>
              <a:rPr sz="2800" spc="215" dirty="0">
                <a:solidFill>
                  <a:srgbClr val="BD0001"/>
                </a:solidFill>
                <a:latin typeface="+mj-lt"/>
                <a:cs typeface="Calibri"/>
              </a:rPr>
              <a:t> </a:t>
            </a:r>
            <a:r>
              <a:rPr sz="2800" spc="73" dirty="0">
                <a:solidFill>
                  <a:srgbClr val="BF0000"/>
                </a:solidFill>
                <a:latin typeface="+mj-lt"/>
                <a:cs typeface="Calibri"/>
              </a:rPr>
              <a:t>Criteria:</a:t>
            </a:r>
            <a:endParaRPr sz="2800" dirty="0">
              <a:latin typeface="+mj-lt"/>
              <a:cs typeface="Calibri"/>
            </a:endParaRPr>
          </a:p>
          <a:p>
            <a:pPr marL="211350" indent="-202798">
              <a:spcBef>
                <a:spcPts val="718"/>
              </a:spcBef>
              <a:buChar char="•"/>
              <a:tabLst>
                <a:tab pos="211350" algn="l"/>
              </a:tabLst>
            </a:pPr>
            <a:r>
              <a:rPr sz="2400" spc="119" dirty="0">
                <a:latin typeface="+mj-lt"/>
                <a:cs typeface="Calibri"/>
              </a:rPr>
              <a:t>Payback.</a:t>
            </a:r>
            <a:endParaRPr sz="2400" dirty="0">
              <a:latin typeface="+mj-lt"/>
              <a:cs typeface="Calibri"/>
            </a:endParaRPr>
          </a:p>
          <a:p>
            <a:pPr marL="210536" indent="-202391">
              <a:spcBef>
                <a:spcPts val="651"/>
              </a:spcBef>
              <a:buChar char="•"/>
              <a:tabLst>
                <a:tab pos="210536" algn="l"/>
              </a:tabLst>
            </a:pPr>
            <a:r>
              <a:rPr sz="2400" spc="32" dirty="0">
                <a:latin typeface="+mj-lt"/>
                <a:cs typeface="Calibri"/>
              </a:rPr>
              <a:t>Net</a:t>
            </a:r>
            <a:r>
              <a:rPr sz="2400" spc="99" dirty="0">
                <a:latin typeface="+mj-lt"/>
                <a:cs typeface="Calibri"/>
              </a:rPr>
              <a:t> </a:t>
            </a:r>
            <a:r>
              <a:rPr sz="2400" spc="35" dirty="0">
                <a:latin typeface="+mj-lt"/>
                <a:cs typeface="Calibri"/>
              </a:rPr>
              <a:t>present</a:t>
            </a:r>
            <a:r>
              <a:rPr sz="2400" spc="160" dirty="0">
                <a:latin typeface="+mj-lt"/>
                <a:cs typeface="Calibri"/>
              </a:rPr>
              <a:t> </a:t>
            </a:r>
            <a:r>
              <a:rPr sz="2400" spc="48" dirty="0">
                <a:latin typeface="+mj-lt"/>
                <a:cs typeface="Calibri"/>
              </a:rPr>
              <a:t>value</a:t>
            </a:r>
            <a:r>
              <a:rPr sz="2400" spc="131" dirty="0">
                <a:latin typeface="+mj-lt"/>
                <a:cs typeface="Calibri"/>
              </a:rPr>
              <a:t> </a:t>
            </a:r>
            <a:r>
              <a:rPr sz="2400" spc="93" dirty="0">
                <a:latin typeface="+mj-lt"/>
                <a:cs typeface="Calibri"/>
              </a:rPr>
              <a:t>(NPV).</a:t>
            </a:r>
            <a:endParaRPr sz="2400" dirty="0">
              <a:latin typeface="+mj-lt"/>
              <a:cs typeface="Calibri"/>
            </a:endParaRPr>
          </a:p>
          <a:p>
            <a:pPr marL="17103">
              <a:spcBef>
                <a:spcPts val="1138"/>
              </a:spcBef>
            </a:pPr>
            <a:r>
              <a:rPr sz="2800" spc="55" dirty="0">
                <a:solidFill>
                  <a:srgbClr val="BA0100"/>
                </a:solidFill>
                <a:latin typeface="+mj-lt"/>
                <a:cs typeface="Arial MT"/>
              </a:rPr>
              <a:t>Nonfinancial</a:t>
            </a:r>
            <a:r>
              <a:rPr sz="2800" spc="253" dirty="0">
                <a:solidFill>
                  <a:srgbClr val="BA0100"/>
                </a:solidFill>
                <a:latin typeface="+mj-lt"/>
                <a:cs typeface="Arial MT"/>
              </a:rPr>
              <a:t> </a:t>
            </a:r>
            <a:r>
              <a:rPr sz="2800" spc="55" dirty="0">
                <a:solidFill>
                  <a:srgbClr val="BD0100"/>
                </a:solidFill>
                <a:latin typeface="+mj-lt"/>
                <a:cs typeface="Arial MT"/>
              </a:rPr>
              <a:t>Criteria:</a:t>
            </a:r>
            <a:endParaRPr sz="2800" dirty="0">
              <a:latin typeface="+mj-lt"/>
              <a:cs typeface="Arial MT"/>
            </a:endParaRPr>
          </a:p>
          <a:p>
            <a:pPr marL="212979" indent="-195468">
              <a:spcBef>
                <a:spcPts val="744"/>
              </a:spcBef>
              <a:buChar char="•"/>
              <a:tabLst>
                <a:tab pos="212979" algn="l"/>
              </a:tabLst>
            </a:pPr>
            <a:r>
              <a:rPr sz="2400" dirty="0">
                <a:latin typeface="+mj-lt"/>
                <a:cs typeface="Arial MT"/>
              </a:rPr>
              <a:t>Projects</a:t>
            </a:r>
            <a:r>
              <a:rPr sz="2400" spc="180" dirty="0">
                <a:latin typeface="+mj-lt"/>
                <a:cs typeface="Arial MT"/>
              </a:rPr>
              <a:t> </a:t>
            </a:r>
            <a:r>
              <a:rPr sz="2400" dirty="0">
                <a:latin typeface="+mj-lt"/>
                <a:cs typeface="Arial MT"/>
              </a:rPr>
              <a:t>of</a:t>
            </a:r>
            <a:r>
              <a:rPr sz="2400" spc="55" dirty="0">
                <a:latin typeface="+mj-lt"/>
                <a:cs typeface="Arial MT"/>
              </a:rPr>
              <a:t> </a:t>
            </a:r>
            <a:r>
              <a:rPr sz="2400" dirty="0">
                <a:latin typeface="+mj-lt"/>
                <a:cs typeface="Arial MT"/>
              </a:rPr>
              <a:t>strategic</a:t>
            </a:r>
            <a:r>
              <a:rPr sz="2400" spc="131" dirty="0">
                <a:latin typeface="+mj-lt"/>
                <a:cs typeface="Arial MT"/>
              </a:rPr>
              <a:t> </a:t>
            </a:r>
            <a:r>
              <a:rPr sz="2400" dirty="0">
                <a:latin typeface="+mj-lt"/>
                <a:cs typeface="Arial MT"/>
              </a:rPr>
              <a:t>importance</a:t>
            </a:r>
            <a:r>
              <a:rPr sz="2400" spc="176" dirty="0">
                <a:latin typeface="+mj-lt"/>
                <a:cs typeface="Arial MT"/>
              </a:rPr>
              <a:t> </a:t>
            </a:r>
            <a:r>
              <a:rPr sz="2400" dirty="0">
                <a:latin typeface="+mj-lt"/>
                <a:cs typeface="Arial MT"/>
              </a:rPr>
              <a:t>to</a:t>
            </a:r>
            <a:r>
              <a:rPr sz="2400" spc="45" dirty="0">
                <a:latin typeface="+mj-lt"/>
                <a:cs typeface="Arial MT"/>
              </a:rPr>
              <a:t> </a:t>
            </a:r>
            <a:r>
              <a:rPr sz="2400" dirty="0">
                <a:latin typeface="+mj-lt"/>
                <a:cs typeface="Arial MT"/>
              </a:rPr>
              <a:t>the</a:t>
            </a:r>
            <a:r>
              <a:rPr sz="2400" spc="71" dirty="0">
                <a:latin typeface="+mj-lt"/>
                <a:cs typeface="Arial MT"/>
              </a:rPr>
              <a:t> </a:t>
            </a:r>
            <a:r>
              <a:rPr sz="2400" spc="-6" dirty="0">
                <a:latin typeface="+mj-lt"/>
                <a:cs typeface="Arial MT"/>
              </a:rPr>
              <a:t>firm.</a:t>
            </a:r>
            <a:endParaRPr sz="2400" dirty="0">
              <a:latin typeface="+mj-lt"/>
              <a:cs typeface="Arial MT"/>
            </a:endParaRPr>
          </a:p>
          <a:p>
            <a:pPr marL="17511">
              <a:spcBef>
                <a:spcPts val="1087"/>
              </a:spcBef>
            </a:pPr>
            <a:r>
              <a:rPr sz="2800" dirty="0">
                <a:solidFill>
                  <a:srgbClr val="BA0101"/>
                </a:solidFill>
                <a:latin typeface="+mj-lt"/>
                <a:cs typeface="Arial MT"/>
              </a:rPr>
              <a:t>Two</a:t>
            </a:r>
            <a:r>
              <a:rPr sz="2800" spc="48" dirty="0">
                <a:solidFill>
                  <a:srgbClr val="BA0101"/>
                </a:solidFill>
                <a:latin typeface="+mj-lt"/>
                <a:cs typeface="Arial MT"/>
              </a:rPr>
              <a:t> </a:t>
            </a:r>
            <a:r>
              <a:rPr sz="2800" spc="71" dirty="0">
                <a:solidFill>
                  <a:srgbClr val="C10000"/>
                </a:solidFill>
                <a:latin typeface="+mj-lt"/>
                <a:cs typeface="Arial MT"/>
              </a:rPr>
              <a:t>Multi-Criteria</a:t>
            </a:r>
            <a:r>
              <a:rPr sz="2800" spc="6" dirty="0">
                <a:solidFill>
                  <a:srgbClr val="C10000"/>
                </a:solidFill>
                <a:latin typeface="+mj-lt"/>
                <a:cs typeface="Arial MT"/>
              </a:rPr>
              <a:t> </a:t>
            </a:r>
            <a:r>
              <a:rPr sz="2800" spc="64" dirty="0">
                <a:solidFill>
                  <a:srgbClr val="C10001"/>
                </a:solidFill>
                <a:latin typeface="+mj-lt"/>
                <a:cs typeface="Arial MT"/>
              </a:rPr>
              <a:t>Selection</a:t>
            </a:r>
            <a:r>
              <a:rPr sz="2800" spc="106" dirty="0">
                <a:solidFill>
                  <a:srgbClr val="C10001"/>
                </a:solidFill>
                <a:latin typeface="+mj-lt"/>
                <a:cs typeface="Arial MT"/>
              </a:rPr>
              <a:t> </a:t>
            </a:r>
            <a:r>
              <a:rPr sz="2800" spc="55" dirty="0">
                <a:solidFill>
                  <a:srgbClr val="C10000"/>
                </a:solidFill>
                <a:latin typeface="+mj-lt"/>
                <a:cs typeface="Arial MT"/>
              </a:rPr>
              <a:t>Models:</a:t>
            </a:r>
            <a:endParaRPr sz="2800" dirty="0">
              <a:latin typeface="+mj-lt"/>
              <a:cs typeface="Arial MT"/>
            </a:endParaRPr>
          </a:p>
          <a:p>
            <a:pPr marL="212572" indent="-195061">
              <a:spcBef>
                <a:spcPts val="731"/>
              </a:spcBef>
              <a:buChar char="•"/>
              <a:tabLst>
                <a:tab pos="212572" algn="l"/>
              </a:tabLst>
            </a:pPr>
            <a:r>
              <a:rPr sz="2400" dirty="0">
                <a:latin typeface="+mj-lt"/>
                <a:cs typeface="Arial MT"/>
              </a:rPr>
              <a:t>Checklist</a:t>
            </a:r>
            <a:r>
              <a:rPr sz="2400" spc="147" dirty="0">
                <a:latin typeface="+mj-lt"/>
                <a:cs typeface="Arial MT"/>
              </a:rPr>
              <a:t> </a:t>
            </a:r>
            <a:r>
              <a:rPr sz="2400" spc="-6" dirty="0">
                <a:latin typeface="+mj-lt"/>
                <a:cs typeface="Arial MT"/>
              </a:rPr>
              <a:t>Models.</a:t>
            </a:r>
            <a:endParaRPr sz="2400" dirty="0">
              <a:latin typeface="+mj-lt"/>
              <a:cs typeface="Arial MT"/>
            </a:endParaRPr>
          </a:p>
          <a:p>
            <a:pPr marL="212979" indent="-195468">
              <a:spcBef>
                <a:spcPts val="699"/>
              </a:spcBef>
              <a:buChar char="•"/>
              <a:tabLst>
                <a:tab pos="212979" algn="l"/>
              </a:tabLst>
            </a:pPr>
            <a:r>
              <a:rPr sz="2400" spc="-6" dirty="0">
                <a:latin typeface="+mj-lt"/>
                <a:cs typeface="Arial MT"/>
              </a:rPr>
              <a:t>Multi-</a:t>
            </a:r>
            <a:r>
              <a:rPr sz="2400" dirty="0">
                <a:latin typeface="+mj-lt"/>
                <a:cs typeface="Arial MT"/>
              </a:rPr>
              <a:t>Weighted</a:t>
            </a:r>
            <a:r>
              <a:rPr sz="2400" spc="-13" dirty="0">
                <a:latin typeface="+mj-lt"/>
                <a:cs typeface="Arial MT"/>
              </a:rPr>
              <a:t> </a:t>
            </a:r>
            <a:r>
              <a:rPr sz="2400" dirty="0">
                <a:latin typeface="+mj-lt"/>
                <a:cs typeface="Arial MT"/>
              </a:rPr>
              <a:t>Scoring</a:t>
            </a:r>
            <a:r>
              <a:rPr sz="2400" spc="55" dirty="0">
                <a:latin typeface="+mj-lt"/>
                <a:cs typeface="Arial MT"/>
              </a:rPr>
              <a:t> </a:t>
            </a:r>
            <a:r>
              <a:rPr sz="2400" spc="-6" dirty="0">
                <a:latin typeface="+mj-lt"/>
                <a:cs typeface="Arial MT"/>
              </a:rPr>
              <a:t>Models.</a:t>
            </a:r>
            <a:endParaRPr sz="2400" dirty="0">
              <a:latin typeface="+mj-lt"/>
              <a:cs typeface="Arial MT"/>
            </a:endParaRPr>
          </a:p>
        </p:txBody>
      </p:sp>
      <p:pic>
        <p:nvPicPr>
          <p:cNvPr id="7" name="Picture 6">
            <a:extLst>
              <a:ext uri="{FF2B5EF4-FFF2-40B4-BE49-F238E27FC236}">
                <a16:creationId xmlns:a16="http://schemas.microsoft.com/office/drawing/2014/main" id="{909DE32E-F02C-4061-83AD-6613C3CE5D8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6626"/>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12846416" y="4123060"/>
            <a:ext cx="156789" cy="373444"/>
          </a:xfrm>
          <a:prstGeom prst="rect">
            <a:avLst/>
          </a:prstGeom>
        </p:spPr>
        <p:txBody>
          <a:bodyPr vert="horz" wrap="square" lIns="0" tIns="4072" rIns="0" bIns="0" rtlCol="0">
            <a:spAutoFit/>
          </a:bodyPr>
          <a:lstStyle/>
          <a:p>
            <a:pPr marL="30135">
              <a:spcBef>
                <a:spcPts val="32"/>
              </a:spcBef>
            </a:pPr>
            <a:fld id="{81D60167-4931-47E6-BA6A-407CBD079E47}" type="slidenum">
              <a:rPr spc="-16" dirty="0"/>
              <a:pPr marL="30135">
                <a:spcBef>
                  <a:spcPts val="32"/>
                </a:spcBef>
              </a:pPr>
              <a:t>3</a:t>
            </a:fld>
            <a:endParaRPr spc="-16" dirty="0"/>
          </a:p>
        </p:txBody>
      </p:sp>
      <p:sp>
        <p:nvSpPr>
          <p:cNvPr id="2" name="object 2"/>
          <p:cNvSpPr txBox="1">
            <a:spLocks noGrp="1"/>
          </p:cNvSpPr>
          <p:nvPr>
            <p:ph type="title"/>
          </p:nvPr>
        </p:nvSpPr>
        <p:spPr>
          <a:xfrm>
            <a:off x="609600" y="587762"/>
            <a:ext cx="10002019" cy="738757"/>
          </a:xfrm>
          <a:prstGeom prst="rect">
            <a:avLst/>
          </a:prstGeom>
        </p:spPr>
        <p:txBody>
          <a:bodyPr vert="horz" wrap="square" lIns="0" tIns="76292" rIns="0" bIns="0" rtlCol="0">
            <a:spAutoFit/>
          </a:bodyPr>
          <a:lstStyle/>
          <a:p>
            <a:pPr marL="9773">
              <a:spcBef>
                <a:spcPts val="73"/>
              </a:spcBef>
            </a:pPr>
            <a:r>
              <a:rPr dirty="0">
                <a:solidFill>
                  <a:srgbClr val="00215D"/>
                </a:solidFill>
              </a:rPr>
              <a:t>Financial</a:t>
            </a:r>
            <a:r>
              <a:rPr spc="93" dirty="0">
                <a:solidFill>
                  <a:srgbClr val="00215D"/>
                </a:solidFill>
              </a:rPr>
              <a:t> </a:t>
            </a:r>
            <a:r>
              <a:rPr dirty="0">
                <a:solidFill>
                  <a:srgbClr val="01215B"/>
                </a:solidFill>
              </a:rPr>
              <a:t>Criteria:</a:t>
            </a:r>
            <a:r>
              <a:rPr spc="135" dirty="0">
                <a:solidFill>
                  <a:srgbClr val="01215B"/>
                </a:solidFill>
              </a:rPr>
              <a:t> </a:t>
            </a:r>
            <a:r>
              <a:rPr dirty="0">
                <a:solidFill>
                  <a:srgbClr val="011F60"/>
                </a:solidFill>
              </a:rPr>
              <a:t>The</a:t>
            </a:r>
            <a:r>
              <a:rPr spc="29" dirty="0">
                <a:solidFill>
                  <a:srgbClr val="011F60"/>
                </a:solidFill>
              </a:rPr>
              <a:t> </a:t>
            </a:r>
            <a:r>
              <a:rPr dirty="0"/>
              <a:t>Payback</a:t>
            </a:r>
            <a:r>
              <a:rPr spc="138" dirty="0"/>
              <a:t> </a:t>
            </a:r>
            <a:r>
              <a:rPr spc="-6" dirty="0">
                <a:solidFill>
                  <a:srgbClr val="011F60"/>
                </a:solidFill>
              </a:rPr>
              <a:t>Model</a:t>
            </a:r>
          </a:p>
        </p:txBody>
      </p:sp>
      <p:sp>
        <p:nvSpPr>
          <p:cNvPr id="3" name="object 3"/>
          <p:cNvSpPr txBox="1"/>
          <p:nvPr/>
        </p:nvSpPr>
        <p:spPr>
          <a:xfrm>
            <a:off x="1143000" y="1676400"/>
            <a:ext cx="9372600" cy="4379568"/>
          </a:xfrm>
          <a:prstGeom prst="rect">
            <a:avLst/>
          </a:prstGeom>
        </p:spPr>
        <p:txBody>
          <a:bodyPr vert="horz" wrap="square" lIns="0" tIns="53756" rIns="0" bIns="0" rtlCol="0">
            <a:spAutoFit/>
          </a:bodyPr>
          <a:lstStyle/>
          <a:p>
            <a:pPr marL="40723">
              <a:spcBef>
                <a:spcPts val="423"/>
              </a:spcBef>
            </a:pPr>
            <a:r>
              <a:rPr sz="2000" u="heavy" dirty="0">
                <a:solidFill>
                  <a:srgbClr val="FD0000"/>
                </a:solidFill>
                <a:uFill>
                  <a:solidFill>
                    <a:srgbClr val="E80808"/>
                  </a:solidFill>
                </a:uFill>
                <a:latin typeface="Arial MT"/>
                <a:cs typeface="Arial MT"/>
              </a:rPr>
              <a:t>Pavback</a:t>
            </a:r>
            <a:r>
              <a:rPr sz="2000" u="heavy" spc="96" dirty="0">
                <a:solidFill>
                  <a:srgbClr val="FD0000"/>
                </a:solidFill>
                <a:uFill>
                  <a:solidFill>
                    <a:srgbClr val="E80808"/>
                  </a:solidFill>
                </a:uFill>
                <a:latin typeface="Arial MT"/>
                <a:cs typeface="Arial MT"/>
              </a:rPr>
              <a:t> </a:t>
            </a:r>
            <a:r>
              <a:rPr sz="2000" u="heavy" spc="-6" dirty="0">
                <a:solidFill>
                  <a:srgbClr val="FF0A07"/>
                </a:solidFill>
                <a:uFill>
                  <a:solidFill>
                    <a:srgbClr val="E80808"/>
                  </a:solidFill>
                </a:uFill>
                <a:latin typeface="Arial MT"/>
                <a:cs typeface="Arial MT"/>
              </a:rPr>
              <a:t>Model:</a:t>
            </a:r>
            <a:endParaRPr sz="2000" dirty="0">
              <a:latin typeface="Arial MT"/>
              <a:cs typeface="Arial MT"/>
            </a:endParaRPr>
          </a:p>
          <a:p>
            <a:pPr marL="237412" indent="-194654">
              <a:spcBef>
                <a:spcPts val="356"/>
              </a:spcBef>
              <a:buClr>
                <a:srgbClr val="05AC4D"/>
              </a:buClr>
              <a:buChar char="•"/>
              <a:tabLst>
                <a:tab pos="237412" algn="l"/>
              </a:tabLst>
            </a:pPr>
            <a:r>
              <a:rPr sz="2000" u="heavy" dirty="0">
                <a:solidFill>
                  <a:srgbClr val="00AF4D"/>
                </a:solidFill>
                <a:uFill>
                  <a:solidFill>
                    <a:srgbClr val="08A84F"/>
                  </a:solidFill>
                </a:uFill>
                <a:latin typeface="Arial MT"/>
                <a:cs typeface="Arial MT"/>
              </a:rPr>
              <a:t>Measures</a:t>
            </a:r>
            <a:r>
              <a:rPr sz="2000" spc="115" dirty="0">
                <a:solidFill>
                  <a:srgbClr val="00AF4D"/>
                </a:solidFill>
                <a:latin typeface="Arial MT"/>
                <a:cs typeface="Arial MT"/>
              </a:rPr>
              <a:t> </a:t>
            </a:r>
            <a:r>
              <a:rPr sz="2000" dirty="0">
                <a:solidFill>
                  <a:srgbClr val="0000CF"/>
                </a:solidFill>
                <a:latin typeface="Arial MT"/>
                <a:cs typeface="Arial MT"/>
              </a:rPr>
              <a:t>time</a:t>
            </a:r>
            <a:r>
              <a:rPr sz="2000" spc="22" dirty="0">
                <a:solidFill>
                  <a:srgbClr val="0000CF"/>
                </a:solidFill>
                <a:latin typeface="Arial MT"/>
                <a:cs typeface="Arial MT"/>
              </a:rPr>
              <a:t> </a:t>
            </a:r>
            <a:r>
              <a:rPr sz="2000" dirty="0">
                <a:solidFill>
                  <a:srgbClr val="0001CF"/>
                </a:solidFill>
                <a:latin typeface="Arial MT"/>
                <a:cs typeface="Arial MT"/>
              </a:rPr>
              <a:t>project</a:t>
            </a:r>
            <a:r>
              <a:rPr sz="2000" spc="80" dirty="0">
                <a:solidFill>
                  <a:srgbClr val="0001CF"/>
                </a:solidFill>
                <a:latin typeface="Arial MT"/>
                <a:cs typeface="Arial MT"/>
              </a:rPr>
              <a:t> </a:t>
            </a:r>
            <a:r>
              <a:rPr sz="2000" dirty="0">
                <a:latin typeface="Arial MT"/>
                <a:cs typeface="Arial MT"/>
              </a:rPr>
              <a:t>will</a:t>
            </a:r>
            <a:r>
              <a:rPr sz="2000" spc="29" dirty="0">
                <a:latin typeface="Arial MT"/>
                <a:cs typeface="Arial MT"/>
              </a:rPr>
              <a:t> </a:t>
            </a:r>
            <a:r>
              <a:rPr sz="2000" u="heavy" dirty="0">
                <a:solidFill>
                  <a:srgbClr val="00AF4F"/>
                </a:solidFill>
                <a:uFill>
                  <a:solidFill>
                    <a:srgbClr val="08A84F"/>
                  </a:solidFill>
                </a:uFill>
                <a:latin typeface="Arial MT"/>
                <a:cs typeface="Arial MT"/>
              </a:rPr>
              <a:t>take</a:t>
            </a:r>
            <a:r>
              <a:rPr sz="2000" spc="16" dirty="0">
                <a:solidFill>
                  <a:srgbClr val="00AF4F"/>
                </a:solidFill>
                <a:latin typeface="Arial MT"/>
                <a:cs typeface="Arial MT"/>
              </a:rPr>
              <a:t> </a:t>
            </a:r>
            <a:r>
              <a:rPr sz="2000" dirty="0">
                <a:latin typeface="Arial MT"/>
                <a:cs typeface="Arial MT"/>
              </a:rPr>
              <a:t>to</a:t>
            </a:r>
            <a:r>
              <a:rPr sz="2000" spc="22" dirty="0">
                <a:latin typeface="Arial MT"/>
                <a:cs typeface="Arial MT"/>
              </a:rPr>
              <a:t> </a:t>
            </a:r>
            <a:r>
              <a:rPr sz="2000" u="heavy" dirty="0">
                <a:solidFill>
                  <a:srgbClr val="00AF4D"/>
                </a:solidFill>
                <a:uFill>
                  <a:solidFill>
                    <a:srgbClr val="08A84F"/>
                  </a:solidFill>
                </a:uFill>
                <a:latin typeface="Arial MT"/>
                <a:cs typeface="Arial MT"/>
              </a:rPr>
              <a:t>qet</a:t>
            </a:r>
            <a:r>
              <a:rPr sz="2000" u="heavy" spc="61" dirty="0">
                <a:solidFill>
                  <a:srgbClr val="00AF4D"/>
                </a:solidFill>
                <a:uFill>
                  <a:solidFill>
                    <a:srgbClr val="08A84F"/>
                  </a:solidFill>
                </a:uFill>
                <a:latin typeface="Arial MT"/>
                <a:cs typeface="Arial MT"/>
              </a:rPr>
              <a:t> </a:t>
            </a:r>
            <a:r>
              <a:rPr sz="2000" u="heavy" dirty="0">
                <a:solidFill>
                  <a:srgbClr val="0EA754"/>
                </a:solidFill>
                <a:uFill>
                  <a:solidFill>
                    <a:srgbClr val="08A84F"/>
                  </a:solidFill>
                </a:uFill>
                <a:latin typeface="Arial MT"/>
                <a:cs typeface="Arial MT"/>
              </a:rPr>
              <a:t>back</a:t>
            </a:r>
            <a:r>
              <a:rPr sz="2000" spc="32" dirty="0">
                <a:solidFill>
                  <a:srgbClr val="0EA754"/>
                </a:solidFill>
                <a:latin typeface="Arial MT"/>
                <a:cs typeface="Arial MT"/>
              </a:rPr>
              <a:t> </a:t>
            </a:r>
            <a:r>
              <a:rPr sz="2000" spc="-16" dirty="0">
                <a:latin typeface="Arial MT"/>
                <a:cs typeface="Arial MT"/>
              </a:rPr>
              <a:t>project</a:t>
            </a:r>
            <a:r>
              <a:rPr sz="2000" spc="67" dirty="0">
                <a:latin typeface="Arial MT"/>
                <a:cs typeface="Arial MT"/>
              </a:rPr>
              <a:t> </a:t>
            </a:r>
            <a:r>
              <a:rPr sz="2000" spc="-6" dirty="0">
                <a:solidFill>
                  <a:srgbClr val="0005C1"/>
                </a:solidFill>
                <a:latin typeface="Arial MT"/>
                <a:cs typeface="Arial MT"/>
              </a:rPr>
              <a:t>investment.</a:t>
            </a:r>
            <a:endParaRPr sz="2000" dirty="0">
              <a:latin typeface="Arial MT"/>
              <a:cs typeface="Arial MT"/>
            </a:endParaRPr>
          </a:p>
          <a:p>
            <a:pPr marL="237005" indent="-194247">
              <a:spcBef>
                <a:spcPts val="359"/>
              </a:spcBef>
              <a:buClr>
                <a:srgbClr val="00B54F"/>
              </a:buClr>
              <a:buChar char="•"/>
              <a:tabLst>
                <a:tab pos="237005" algn="l"/>
              </a:tabLst>
            </a:pPr>
            <a:r>
              <a:rPr sz="2000" u="heavy" dirty="0">
                <a:solidFill>
                  <a:srgbClr val="00AF4D"/>
                </a:solidFill>
                <a:uFill>
                  <a:solidFill>
                    <a:srgbClr val="08A84F"/>
                  </a:solidFill>
                </a:uFill>
                <a:latin typeface="Arial MT"/>
                <a:cs typeface="Arial MT"/>
              </a:rPr>
              <a:t>Desires</a:t>
            </a:r>
            <a:r>
              <a:rPr sz="2000" spc="189" dirty="0">
                <a:solidFill>
                  <a:srgbClr val="00AF4D"/>
                </a:solidFill>
                <a:latin typeface="Arial MT"/>
                <a:cs typeface="Arial MT"/>
              </a:rPr>
              <a:t> </a:t>
            </a:r>
            <a:r>
              <a:rPr sz="2000" dirty="0">
                <a:solidFill>
                  <a:srgbClr val="0307CA"/>
                </a:solidFill>
                <a:latin typeface="Arial MT"/>
                <a:cs typeface="Arial MT"/>
              </a:rPr>
              <a:t>shorter</a:t>
            </a:r>
            <a:r>
              <a:rPr sz="2000" spc="212" dirty="0">
                <a:solidFill>
                  <a:srgbClr val="0307CA"/>
                </a:solidFill>
                <a:latin typeface="Arial MT"/>
                <a:cs typeface="Arial MT"/>
              </a:rPr>
              <a:t> </a:t>
            </a:r>
            <a:r>
              <a:rPr sz="2000" spc="-6" dirty="0">
                <a:solidFill>
                  <a:srgbClr val="0000D4"/>
                </a:solidFill>
                <a:latin typeface="Arial MT"/>
                <a:cs typeface="Arial MT"/>
              </a:rPr>
              <a:t>paybacks.</a:t>
            </a:r>
            <a:endParaRPr sz="2000" dirty="0">
              <a:latin typeface="Arial MT"/>
              <a:cs typeface="Arial MT"/>
            </a:endParaRPr>
          </a:p>
          <a:p>
            <a:pPr marL="238227" indent="-197504">
              <a:spcBef>
                <a:spcPts val="359"/>
              </a:spcBef>
              <a:buChar char="•"/>
              <a:tabLst>
                <a:tab pos="238227" algn="l"/>
              </a:tabLst>
            </a:pPr>
            <a:r>
              <a:rPr sz="2000" dirty="0">
                <a:latin typeface="Arial MT"/>
                <a:cs typeface="Arial MT"/>
              </a:rPr>
              <a:t>It</a:t>
            </a:r>
            <a:r>
              <a:rPr sz="2000" spc="-19" dirty="0">
                <a:latin typeface="Arial MT"/>
                <a:cs typeface="Arial MT"/>
              </a:rPr>
              <a:t> </a:t>
            </a:r>
            <a:r>
              <a:rPr sz="2000" dirty="0">
                <a:latin typeface="Arial MT"/>
                <a:cs typeface="Arial MT"/>
              </a:rPr>
              <a:t>is</a:t>
            </a:r>
            <a:r>
              <a:rPr sz="2000" spc="19" dirty="0">
                <a:latin typeface="Arial MT"/>
                <a:cs typeface="Arial MT"/>
              </a:rPr>
              <a:t> </a:t>
            </a:r>
            <a:r>
              <a:rPr sz="2000" dirty="0">
                <a:solidFill>
                  <a:srgbClr val="0003BF"/>
                </a:solidFill>
                <a:latin typeface="Arial MT"/>
                <a:cs typeface="Arial MT"/>
              </a:rPr>
              <a:t>simplest</a:t>
            </a:r>
            <a:r>
              <a:rPr sz="2000" spc="103" dirty="0">
                <a:solidFill>
                  <a:srgbClr val="0003BF"/>
                </a:solidFill>
                <a:latin typeface="Arial MT"/>
                <a:cs typeface="Arial MT"/>
              </a:rPr>
              <a:t> </a:t>
            </a:r>
            <a:r>
              <a:rPr sz="2000" spc="-13" dirty="0">
                <a:latin typeface="Arial MT"/>
                <a:cs typeface="Arial MT"/>
              </a:rPr>
              <a:t>and</a:t>
            </a:r>
            <a:r>
              <a:rPr sz="2000" spc="35" dirty="0">
                <a:latin typeface="Arial MT"/>
                <a:cs typeface="Arial MT"/>
              </a:rPr>
              <a:t> </a:t>
            </a:r>
            <a:r>
              <a:rPr sz="2000" spc="-6" dirty="0">
                <a:latin typeface="Arial MT"/>
                <a:cs typeface="Arial MT"/>
              </a:rPr>
              <a:t>most</a:t>
            </a:r>
            <a:r>
              <a:rPr sz="2000" spc="73" dirty="0">
                <a:latin typeface="Arial MT"/>
                <a:cs typeface="Arial MT"/>
              </a:rPr>
              <a:t> </a:t>
            </a:r>
            <a:r>
              <a:rPr sz="2000" dirty="0">
                <a:solidFill>
                  <a:srgbClr val="0000CD"/>
                </a:solidFill>
                <a:latin typeface="Arial MT"/>
                <a:cs typeface="Arial MT"/>
              </a:rPr>
              <a:t>widely</a:t>
            </a:r>
            <a:r>
              <a:rPr sz="2000" spc="80" dirty="0">
                <a:solidFill>
                  <a:srgbClr val="0000CD"/>
                </a:solidFill>
                <a:latin typeface="Arial MT"/>
                <a:cs typeface="Arial MT"/>
              </a:rPr>
              <a:t> </a:t>
            </a:r>
            <a:r>
              <a:rPr sz="2000" dirty="0">
                <a:solidFill>
                  <a:srgbClr val="0100CA"/>
                </a:solidFill>
                <a:latin typeface="Arial MT"/>
                <a:cs typeface="Arial MT"/>
              </a:rPr>
              <a:t>used</a:t>
            </a:r>
            <a:r>
              <a:rPr sz="2000" spc="26" dirty="0">
                <a:solidFill>
                  <a:srgbClr val="0100CA"/>
                </a:solidFill>
                <a:latin typeface="Arial MT"/>
                <a:cs typeface="Arial MT"/>
              </a:rPr>
              <a:t> </a:t>
            </a:r>
            <a:r>
              <a:rPr sz="2000" spc="-6" dirty="0">
                <a:latin typeface="Arial MT"/>
                <a:cs typeface="Arial MT"/>
              </a:rPr>
              <a:t>model.</a:t>
            </a:r>
            <a:endParaRPr sz="2000" dirty="0">
              <a:latin typeface="Arial MT"/>
              <a:cs typeface="Arial MT"/>
            </a:endParaRPr>
          </a:p>
          <a:p>
            <a:pPr marL="236598" indent="-193839">
              <a:spcBef>
                <a:spcPts val="359"/>
              </a:spcBef>
              <a:buClr>
                <a:srgbClr val="00B14D"/>
              </a:buClr>
              <a:buChar char="•"/>
              <a:tabLst>
                <a:tab pos="236598" algn="l"/>
              </a:tabLst>
            </a:pPr>
            <a:r>
              <a:rPr sz="2000" u="heavy" dirty="0">
                <a:solidFill>
                  <a:srgbClr val="00B34F"/>
                </a:solidFill>
                <a:uFill>
                  <a:solidFill>
                    <a:srgbClr val="08A854"/>
                  </a:solidFill>
                </a:uFill>
                <a:latin typeface="Arial MT"/>
                <a:cs typeface="Arial MT"/>
              </a:rPr>
              <a:t>Emghasizes</a:t>
            </a:r>
            <a:r>
              <a:rPr sz="2000" spc="115" dirty="0">
                <a:solidFill>
                  <a:srgbClr val="00B34F"/>
                </a:solidFill>
                <a:latin typeface="Arial MT"/>
                <a:cs typeface="Arial MT"/>
              </a:rPr>
              <a:t> </a:t>
            </a:r>
            <a:r>
              <a:rPr sz="2000" dirty="0">
                <a:solidFill>
                  <a:srgbClr val="0000CF"/>
                </a:solidFill>
                <a:latin typeface="Arial MT"/>
                <a:cs typeface="Arial MT"/>
              </a:rPr>
              <a:t>cash</a:t>
            </a:r>
            <a:r>
              <a:rPr sz="2000" spc="-6" dirty="0">
                <a:solidFill>
                  <a:srgbClr val="0000CF"/>
                </a:solidFill>
                <a:latin typeface="Arial MT"/>
                <a:cs typeface="Arial MT"/>
              </a:rPr>
              <a:t> </a:t>
            </a:r>
            <a:r>
              <a:rPr sz="2000" spc="42" dirty="0">
                <a:solidFill>
                  <a:srgbClr val="0001CF"/>
                </a:solidFill>
                <a:latin typeface="Arial MT"/>
                <a:cs typeface="Arial MT"/>
              </a:rPr>
              <a:t>flows</a:t>
            </a:r>
            <a:r>
              <a:rPr sz="2000" dirty="0">
                <a:solidFill>
                  <a:srgbClr val="0001CF"/>
                </a:solidFill>
                <a:latin typeface="Arial MT"/>
                <a:cs typeface="Arial MT"/>
              </a:rPr>
              <a:t> </a:t>
            </a:r>
            <a:r>
              <a:rPr sz="2000" spc="-22" dirty="0">
                <a:latin typeface="Arial MT"/>
                <a:cs typeface="Arial MT"/>
              </a:rPr>
              <a:t>which</a:t>
            </a:r>
            <a:r>
              <a:rPr sz="2000" spc="13" dirty="0">
                <a:latin typeface="Arial MT"/>
                <a:cs typeface="Arial MT"/>
              </a:rPr>
              <a:t> </a:t>
            </a:r>
            <a:r>
              <a:rPr sz="2000" dirty="0">
                <a:latin typeface="Arial MT"/>
                <a:cs typeface="Arial MT"/>
              </a:rPr>
              <a:t>is</a:t>
            </a:r>
            <a:r>
              <a:rPr sz="2000" spc="-35" dirty="0">
                <a:latin typeface="Arial MT"/>
                <a:cs typeface="Arial MT"/>
              </a:rPr>
              <a:t> </a:t>
            </a:r>
            <a:r>
              <a:rPr sz="2000" dirty="0">
                <a:latin typeface="Arial MT"/>
                <a:cs typeface="Arial MT"/>
              </a:rPr>
              <a:t>a</a:t>
            </a:r>
            <a:r>
              <a:rPr sz="2000" spc="-51" dirty="0">
                <a:latin typeface="Arial MT"/>
                <a:cs typeface="Arial MT"/>
              </a:rPr>
              <a:t> </a:t>
            </a:r>
            <a:r>
              <a:rPr sz="2000" dirty="0">
                <a:latin typeface="Arial MT"/>
                <a:cs typeface="Arial MT"/>
              </a:rPr>
              <a:t>key</a:t>
            </a:r>
            <a:r>
              <a:rPr sz="2000" spc="-19" dirty="0">
                <a:latin typeface="Arial MT"/>
                <a:cs typeface="Arial MT"/>
              </a:rPr>
              <a:t> </a:t>
            </a:r>
            <a:r>
              <a:rPr sz="2000" spc="-16" dirty="0">
                <a:latin typeface="Arial MT"/>
                <a:cs typeface="Arial MT"/>
              </a:rPr>
              <a:t>factor</a:t>
            </a:r>
            <a:r>
              <a:rPr sz="2000" spc="-19" dirty="0">
                <a:latin typeface="Arial MT"/>
                <a:cs typeface="Arial MT"/>
              </a:rPr>
              <a:t> </a:t>
            </a:r>
            <a:r>
              <a:rPr sz="2000" dirty="0">
                <a:latin typeface="Arial MT"/>
                <a:cs typeface="Arial MT"/>
              </a:rPr>
              <a:t>in</a:t>
            </a:r>
            <a:r>
              <a:rPr sz="2000" spc="-29" dirty="0">
                <a:latin typeface="Arial MT"/>
                <a:cs typeface="Arial MT"/>
              </a:rPr>
              <a:t> </a:t>
            </a:r>
            <a:r>
              <a:rPr sz="2000" spc="-6" dirty="0">
                <a:latin typeface="Arial MT"/>
                <a:cs typeface="Arial MT"/>
              </a:rPr>
              <a:t>business.</a:t>
            </a:r>
            <a:endParaRPr sz="2000" dirty="0">
              <a:latin typeface="Arial MT"/>
              <a:cs typeface="Arial MT"/>
            </a:endParaRPr>
          </a:p>
          <a:p>
            <a:pPr marL="40723">
              <a:spcBef>
                <a:spcPts val="1016"/>
              </a:spcBef>
            </a:pPr>
            <a:r>
              <a:rPr sz="1600" u="heavy" dirty="0">
                <a:solidFill>
                  <a:srgbClr val="F70301"/>
                </a:solidFill>
                <a:uFill>
                  <a:solidFill>
                    <a:srgbClr val="E40C08"/>
                  </a:solidFill>
                </a:uFill>
                <a:latin typeface="Arial MT"/>
                <a:cs typeface="Arial MT"/>
              </a:rPr>
              <a:t>Pavback</a:t>
            </a:r>
            <a:r>
              <a:rPr sz="1600" u="heavy" spc="154" dirty="0">
                <a:solidFill>
                  <a:srgbClr val="F70301"/>
                </a:solidFill>
                <a:uFill>
                  <a:solidFill>
                    <a:srgbClr val="E40C08"/>
                  </a:solidFill>
                </a:uFill>
                <a:latin typeface="Arial MT"/>
                <a:cs typeface="Arial MT"/>
              </a:rPr>
              <a:t> </a:t>
            </a:r>
            <a:r>
              <a:rPr sz="1600" u="heavy" dirty="0">
                <a:solidFill>
                  <a:srgbClr val="F00505"/>
                </a:solidFill>
                <a:uFill>
                  <a:solidFill>
                    <a:srgbClr val="E40C08"/>
                  </a:solidFill>
                </a:uFill>
                <a:latin typeface="Arial MT"/>
                <a:cs typeface="Arial MT"/>
              </a:rPr>
              <a:t>Formula</a:t>
            </a:r>
            <a:r>
              <a:rPr sz="1600" u="heavy" spc="96" dirty="0">
                <a:solidFill>
                  <a:srgbClr val="F00505"/>
                </a:solidFill>
                <a:uFill>
                  <a:solidFill>
                    <a:srgbClr val="E40C08"/>
                  </a:solidFill>
                </a:uFill>
                <a:latin typeface="Arial MT"/>
                <a:cs typeface="Arial MT"/>
              </a:rPr>
              <a:t> </a:t>
            </a:r>
            <a:r>
              <a:rPr sz="1600" u="heavy" spc="-16" dirty="0">
                <a:solidFill>
                  <a:srgbClr val="FB0100"/>
                </a:solidFill>
                <a:uFill>
                  <a:solidFill>
                    <a:srgbClr val="E40C08"/>
                  </a:solidFill>
                </a:uFill>
                <a:latin typeface="Arial MT"/>
                <a:cs typeface="Arial MT"/>
              </a:rPr>
              <a:t>is:</a:t>
            </a:r>
            <a:endParaRPr sz="1600" dirty="0">
              <a:latin typeface="Arial MT"/>
              <a:cs typeface="Arial MT"/>
            </a:endParaRPr>
          </a:p>
          <a:p>
            <a:pPr marR="265918" algn="ctr">
              <a:spcBef>
                <a:spcPts val="587"/>
              </a:spcBef>
            </a:pPr>
            <a:r>
              <a:rPr sz="2800" spc="-33" baseline="-34567" dirty="0">
                <a:latin typeface="Times New Roman"/>
                <a:cs typeface="Times New Roman"/>
              </a:rPr>
              <a:t>Payback</a:t>
            </a:r>
            <a:r>
              <a:rPr sz="2800" spc="-48" baseline="-34567" dirty="0">
                <a:latin typeface="Times New Roman"/>
                <a:cs typeface="Times New Roman"/>
              </a:rPr>
              <a:t> </a:t>
            </a:r>
            <a:r>
              <a:rPr sz="2800" spc="-24" baseline="-34567" dirty="0">
                <a:latin typeface="Times New Roman"/>
                <a:cs typeface="Times New Roman"/>
              </a:rPr>
              <a:t>period</a:t>
            </a:r>
            <a:r>
              <a:rPr sz="2800" spc="-28" baseline="-34567" dirty="0">
                <a:latin typeface="Times New Roman"/>
                <a:cs typeface="Times New Roman"/>
              </a:rPr>
              <a:t> </a:t>
            </a:r>
            <a:r>
              <a:rPr sz="2800" spc="-38" baseline="-34567" dirty="0">
                <a:latin typeface="Times New Roman"/>
                <a:cs typeface="Times New Roman"/>
              </a:rPr>
              <a:t>(yrs)</a:t>
            </a:r>
            <a:r>
              <a:rPr sz="2800" spc="-96" baseline="-34567" dirty="0">
                <a:latin typeface="Times New Roman"/>
                <a:cs typeface="Times New Roman"/>
              </a:rPr>
              <a:t> </a:t>
            </a:r>
            <a:r>
              <a:rPr sz="2800" baseline="-34567" dirty="0">
                <a:latin typeface="Times New Roman"/>
                <a:cs typeface="Times New Roman"/>
              </a:rPr>
              <a:t>=</a:t>
            </a:r>
            <a:r>
              <a:rPr sz="2800" spc="-53" baseline="-34567" dirty="0">
                <a:latin typeface="Times New Roman"/>
                <a:cs typeface="Times New Roman"/>
              </a:rPr>
              <a:t> </a:t>
            </a:r>
            <a:r>
              <a:rPr u="heavy" spc="-19" dirty="0">
                <a:uFill>
                  <a:solidFill>
                    <a:srgbClr val="000000"/>
                  </a:solidFill>
                </a:uFill>
                <a:latin typeface="Times New Roman"/>
                <a:cs typeface="Times New Roman"/>
              </a:rPr>
              <a:t>Estimated</a:t>
            </a:r>
            <a:r>
              <a:rPr u="heavy" spc="-10" dirty="0">
                <a:uFill>
                  <a:solidFill>
                    <a:srgbClr val="000000"/>
                  </a:solidFill>
                </a:uFill>
                <a:latin typeface="Times New Roman"/>
                <a:cs typeface="Times New Roman"/>
              </a:rPr>
              <a:t> </a:t>
            </a:r>
            <a:r>
              <a:rPr u="heavy" spc="-19" dirty="0">
                <a:uFill>
                  <a:solidFill>
                    <a:srgbClr val="000000"/>
                  </a:solidFill>
                </a:uFill>
                <a:latin typeface="Times New Roman"/>
                <a:cs typeface="Times New Roman"/>
              </a:rPr>
              <a:t>project</a:t>
            </a:r>
            <a:r>
              <a:rPr u="heavy" spc="-6" dirty="0">
                <a:uFill>
                  <a:solidFill>
                    <a:srgbClr val="000000"/>
                  </a:solidFill>
                </a:uFill>
                <a:latin typeface="Times New Roman"/>
                <a:cs typeface="Times New Roman"/>
              </a:rPr>
              <a:t> </a:t>
            </a:r>
            <a:r>
              <a:rPr u="heavy" spc="-13" dirty="0">
                <a:uFill>
                  <a:solidFill>
                    <a:srgbClr val="000000"/>
                  </a:solidFill>
                </a:uFill>
                <a:latin typeface="Times New Roman"/>
                <a:cs typeface="Times New Roman"/>
              </a:rPr>
              <a:t>cost</a:t>
            </a:r>
            <a:endParaRPr dirty="0">
              <a:latin typeface="Times New Roman"/>
              <a:cs typeface="Times New Roman"/>
            </a:endParaRPr>
          </a:p>
          <a:p>
            <a:pPr marL="2927951">
              <a:spcBef>
                <a:spcPts val="262"/>
              </a:spcBef>
            </a:pPr>
            <a:r>
              <a:rPr lang="en-US" spc="-26" dirty="0">
                <a:latin typeface="Times New Roman"/>
                <a:cs typeface="Times New Roman"/>
              </a:rPr>
              <a:t>                                     </a:t>
            </a:r>
            <a:r>
              <a:rPr spc="-26" dirty="0">
                <a:latin typeface="Times New Roman"/>
                <a:cs typeface="Times New Roman"/>
              </a:rPr>
              <a:t>Annual</a:t>
            </a:r>
            <a:r>
              <a:rPr spc="-55" dirty="0">
                <a:latin typeface="Times New Roman"/>
                <a:cs typeface="Times New Roman"/>
              </a:rPr>
              <a:t> </a:t>
            </a:r>
            <a:r>
              <a:rPr spc="-6" dirty="0">
                <a:latin typeface="Times New Roman"/>
                <a:cs typeface="Times New Roman"/>
              </a:rPr>
              <a:t>savings</a:t>
            </a:r>
            <a:endParaRPr dirty="0">
              <a:latin typeface="Times New Roman"/>
              <a:cs typeface="Times New Roman"/>
            </a:endParaRPr>
          </a:p>
          <a:p>
            <a:pPr marL="43166">
              <a:spcBef>
                <a:spcPts val="863"/>
              </a:spcBef>
            </a:pPr>
            <a:r>
              <a:rPr u="heavy" spc="35" dirty="0">
                <a:solidFill>
                  <a:srgbClr val="F60108"/>
                </a:solidFill>
                <a:uFill>
                  <a:solidFill>
                    <a:srgbClr val="EB0808"/>
                  </a:solidFill>
                </a:uFill>
                <a:latin typeface="Arial MT"/>
                <a:cs typeface="Arial MT"/>
              </a:rPr>
              <a:t>Limitations</a:t>
            </a:r>
            <a:r>
              <a:rPr u="heavy" spc="67" dirty="0">
                <a:solidFill>
                  <a:srgbClr val="F60108"/>
                </a:solidFill>
                <a:uFill>
                  <a:solidFill>
                    <a:srgbClr val="EB0808"/>
                  </a:solidFill>
                </a:uFill>
                <a:latin typeface="Arial MT"/>
                <a:cs typeface="Arial MT"/>
              </a:rPr>
              <a:t> </a:t>
            </a:r>
            <a:r>
              <a:rPr u="heavy" spc="32" dirty="0">
                <a:solidFill>
                  <a:srgbClr val="FB0101"/>
                </a:solidFill>
                <a:uFill>
                  <a:solidFill>
                    <a:srgbClr val="EB0808"/>
                  </a:solidFill>
                </a:uFill>
                <a:latin typeface="Arial MT"/>
                <a:cs typeface="Arial MT"/>
              </a:rPr>
              <a:t>of</a:t>
            </a:r>
            <a:r>
              <a:rPr u="heavy" dirty="0">
                <a:solidFill>
                  <a:srgbClr val="FB0101"/>
                </a:solidFill>
                <a:uFill>
                  <a:solidFill>
                    <a:srgbClr val="EB0808"/>
                  </a:solidFill>
                </a:uFill>
                <a:latin typeface="Arial MT"/>
                <a:cs typeface="Arial MT"/>
              </a:rPr>
              <a:t> </a:t>
            </a:r>
            <a:r>
              <a:rPr u="heavy" dirty="0">
                <a:solidFill>
                  <a:srgbClr val="FB0005"/>
                </a:solidFill>
                <a:uFill>
                  <a:solidFill>
                    <a:srgbClr val="EB0808"/>
                  </a:solidFill>
                </a:uFill>
                <a:latin typeface="Arial MT"/>
                <a:cs typeface="Arial MT"/>
              </a:rPr>
              <a:t>Pavback</a:t>
            </a:r>
            <a:r>
              <a:rPr u="heavy" spc="119" dirty="0">
                <a:solidFill>
                  <a:srgbClr val="FB0005"/>
                </a:solidFill>
                <a:uFill>
                  <a:solidFill>
                    <a:srgbClr val="EB0808"/>
                  </a:solidFill>
                </a:uFill>
                <a:latin typeface="Arial MT"/>
                <a:cs typeface="Arial MT"/>
              </a:rPr>
              <a:t> </a:t>
            </a:r>
            <a:r>
              <a:rPr u="heavy" spc="-6" dirty="0">
                <a:solidFill>
                  <a:srgbClr val="FB0301"/>
                </a:solidFill>
                <a:uFill>
                  <a:solidFill>
                    <a:srgbClr val="EB0808"/>
                  </a:solidFill>
                </a:uFill>
                <a:latin typeface="Arial MT"/>
                <a:cs typeface="Arial MT"/>
              </a:rPr>
              <a:t>Method:</a:t>
            </a:r>
            <a:endParaRPr dirty="0">
              <a:latin typeface="Arial MT"/>
              <a:cs typeface="Arial MT"/>
            </a:endParaRPr>
          </a:p>
          <a:p>
            <a:pPr marL="237005" indent="-194247">
              <a:spcBef>
                <a:spcPts val="343"/>
              </a:spcBef>
              <a:buClr>
                <a:srgbClr val="00B352"/>
              </a:buClr>
              <a:buChar char="•"/>
              <a:tabLst>
                <a:tab pos="237005" algn="l"/>
              </a:tabLst>
            </a:pPr>
            <a:r>
              <a:rPr u="heavy" dirty="0">
                <a:solidFill>
                  <a:srgbClr val="00B14D"/>
                </a:solidFill>
                <a:uFill>
                  <a:solidFill>
                    <a:srgbClr val="08A84F"/>
                  </a:solidFill>
                </a:uFill>
                <a:latin typeface="Arial MT"/>
                <a:cs typeface="Arial MT"/>
              </a:rPr>
              <a:t>Does</a:t>
            </a:r>
            <a:r>
              <a:rPr u="heavy" spc="138" dirty="0">
                <a:solidFill>
                  <a:srgbClr val="00B14D"/>
                </a:solidFill>
                <a:uFill>
                  <a:solidFill>
                    <a:srgbClr val="08A84F"/>
                  </a:solidFill>
                </a:uFill>
                <a:latin typeface="Arial MT"/>
                <a:cs typeface="Arial MT"/>
              </a:rPr>
              <a:t> </a:t>
            </a:r>
            <a:r>
              <a:rPr u="heavy" dirty="0">
                <a:solidFill>
                  <a:srgbClr val="01AF4F"/>
                </a:solidFill>
                <a:uFill>
                  <a:solidFill>
                    <a:srgbClr val="08A84F"/>
                  </a:solidFill>
                </a:uFill>
                <a:latin typeface="Arial MT"/>
                <a:cs typeface="Arial MT"/>
              </a:rPr>
              <a:t>not</a:t>
            </a:r>
            <a:r>
              <a:rPr spc="144" dirty="0">
                <a:solidFill>
                  <a:srgbClr val="01AF4F"/>
                </a:solidFill>
                <a:latin typeface="Arial MT"/>
                <a:cs typeface="Arial MT"/>
              </a:rPr>
              <a:t> </a:t>
            </a:r>
            <a:r>
              <a:rPr dirty="0">
                <a:solidFill>
                  <a:srgbClr val="00AF52"/>
                </a:solidFill>
                <a:latin typeface="Arial MT"/>
                <a:cs typeface="Arial MT"/>
              </a:rPr>
              <a:t>consider</a:t>
            </a:r>
            <a:r>
              <a:rPr spc="215" dirty="0">
                <a:solidFill>
                  <a:srgbClr val="00AF52"/>
                </a:solidFill>
                <a:latin typeface="Arial MT"/>
                <a:cs typeface="Arial MT"/>
              </a:rPr>
              <a:t> </a:t>
            </a:r>
            <a:r>
              <a:rPr spc="35" dirty="0">
                <a:solidFill>
                  <a:srgbClr val="0100CF"/>
                </a:solidFill>
                <a:latin typeface="Arial MT"/>
                <a:cs typeface="Arial MT"/>
              </a:rPr>
              <a:t>profitability.</a:t>
            </a:r>
            <a:endParaRPr dirty="0">
              <a:latin typeface="Arial MT"/>
              <a:cs typeface="Arial MT"/>
            </a:endParaRPr>
          </a:p>
          <a:p>
            <a:pPr marL="239041" indent="-196283">
              <a:spcBef>
                <a:spcPts val="356"/>
              </a:spcBef>
              <a:buClr>
                <a:srgbClr val="00B352"/>
              </a:buClr>
              <a:buChar char="•"/>
              <a:tabLst>
                <a:tab pos="239041" algn="l"/>
              </a:tabLst>
            </a:pPr>
            <a:r>
              <a:rPr u="heavy" dirty="0">
                <a:solidFill>
                  <a:srgbClr val="00B54D"/>
                </a:solidFill>
                <a:uFill>
                  <a:solidFill>
                    <a:srgbClr val="08A854"/>
                  </a:solidFill>
                </a:uFill>
                <a:latin typeface="Arial MT"/>
                <a:cs typeface="Arial MT"/>
              </a:rPr>
              <a:t>lqnores</a:t>
            </a:r>
            <a:r>
              <a:rPr spc="147" dirty="0">
                <a:solidFill>
                  <a:srgbClr val="00B54D"/>
                </a:solidFill>
                <a:latin typeface="Arial MT"/>
                <a:cs typeface="Arial MT"/>
              </a:rPr>
              <a:t> </a:t>
            </a:r>
            <a:r>
              <a:rPr dirty="0">
                <a:solidFill>
                  <a:srgbClr val="0005C4"/>
                </a:solidFill>
                <a:latin typeface="Arial MT"/>
                <a:cs typeface="Arial MT"/>
              </a:rPr>
              <a:t>time</a:t>
            </a:r>
            <a:r>
              <a:rPr spc="64" dirty="0">
                <a:solidFill>
                  <a:srgbClr val="0005C4"/>
                </a:solidFill>
                <a:latin typeface="Arial MT"/>
                <a:cs typeface="Arial MT"/>
              </a:rPr>
              <a:t> </a:t>
            </a:r>
            <a:r>
              <a:rPr dirty="0">
                <a:solidFill>
                  <a:srgbClr val="0000D8"/>
                </a:solidFill>
                <a:latin typeface="Arial MT"/>
                <a:cs typeface="Arial MT"/>
              </a:rPr>
              <a:t>value</a:t>
            </a:r>
            <a:r>
              <a:rPr spc="144" dirty="0">
                <a:solidFill>
                  <a:srgbClr val="0000D8"/>
                </a:solidFill>
                <a:latin typeface="Arial MT"/>
                <a:cs typeface="Arial MT"/>
              </a:rPr>
              <a:t> </a:t>
            </a:r>
            <a:r>
              <a:rPr spc="32" dirty="0">
                <a:solidFill>
                  <a:srgbClr val="0003C4"/>
                </a:solidFill>
                <a:latin typeface="Arial MT"/>
                <a:cs typeface="Arial MT"/>
              </a:rPr>
              <a:t>of</a:t>
            </a:r>
            <a:r>
              <a:rPr spc="67" dirty="0">
                <a:solidFill>
                  <a:srgbClr val="0003C4"/>
                </a:solidFill>
                <a:latin typeface="Arial MT"/>
                <a:cs typeface="Arial MT"/>
              </a:rPr>
              <a:t> </a:t>
            </a:r>
            <a:r>
              <a:rPr dirty="0">
                <a:solidFill>
                  <a:srgbClr val="0000AC"/>
                </a:solidFill>
                <a:latin typeface="Arial MT"/>
                <a:cs typeface="Arial MT"/>
              </a:rPr>
              <a:t>money</a:t>
            </a:r>
            <a:r>
              <a:rPr spc="128" dirty="0">
                <a:solidFill>
                  <a:srgbClr val="0000AC"/>
                </a:solidFill>
                <a:latin typeface="Arial MT"/>
                <a:cs typeface="Arial MT"/>
              </a:rPr>
              <a:t> </a:t>
            </a:r>
            <a:r>
              <a:rPr spc="-6" dirty="0">
                <a:solidFill>
                  <a:srgbClr val="0100CA"/>
                </a:solidFill>
                <a:latin typeface="Arial MT"/>
                <a:cs typeface="Arial MT"/>
              </a:rPr>
              <a:t>(inflation).</a:t>
            </a:r>
            <a:endParaRPr dirty="0">
              <a:latin typeface="Arial MT"/>
              <a:cs typeface="Arial MT"/>
            </a:endParaRPr>
          </a:p>
          <a:p>
            <a:pPr marL="237005" marR="11402" indent="-202391">
              <a:lnSpc>
                <a:spcPts val="1610"/>
              </a:lnSpc>
              <a:spcBef>
                <a:spcPts val="465"/>
              </a:spcBef>
              <a:buChar char="•"/>
              <a:tabLst>
                <a:tab pos="237005" algn="l"/>
                <a:tab pos="237820" algn="l"/>
              </a:tabLst>
            </a:pPr>
            <a:r>
              <a:rPr sz="2000" dirty="0">
                <a:solidFill>
                  <a:srgbClr val="00B352"/>
                </a:solidFill>
                <a:latin typeface="Calibri"/>
                <a:cs typeface="Calibri"/>
              </a:rPr>
              <a:t>	</a:t>
            </a:r>
            <a:r>
              <a:rPr sz="2000" b="1" u="heavy" spc="71" dirty="0">
                <a:solidFill>
                  <a:srgbClr val="00B14F"/>
                </a:solidFill>
                <a:uFill>
                  <a:solidFill>
                    <a:srgbClr val="08A854"/>
                  </a:solidFill>
                </a:uFill>
                <a:latin typeface="Calibri"/>
                <a:cs typeface="Calibri"/>
              </a:rPr>
              <a:t>Assumes</a:t>
            </a:r>
            <a:r>
              <a:rPr sz="2000" b="1" spc="221" dirty="0">
                <a:solidFill>
                  <a:srgbClr val="00B14F"/>
                </a:solidFill>
                <a:latin typeface="Calibri"/>
                <a:cs typeface="Calibri"/>
              </a:rPr>
              <a:t> </a:t>
            </a:r>
            <a:r>
              <a:rPr sz="2000" b="1" spc="90" dirty="0">
                <a:solidFill>
                  <a:srgbClr val="0507D3"/>
                </a:solidFill>
                <a:latin typeface="Calibri"/>
                <a:cs typeface="Calibri"/>
              </a:rPr>
              <a:t>cash</a:t>
            </a:r>
            <a:r>
              <a:rPr sz="2000" b="1" spc="131" dirty="0">
                <a:solidFill>
                  <a:srgbClr val="0507D3"/>
                </a:solidFill>
                <a:latin typeface="Calibri"/>
                <a:cs typeface="Calibri"/>
              </a:rPr>
              <a:t> </a:t>
            </a:r>
            <a:r>
              <a:rPr sz="2000" b="1" dirty="0">
                <a:solidFill>
                  <a:srgbClr val="0005C1"/>
                </a:solidFill>
                <a:latin typeface="Calibri"/>
                <a:cs typeface="Calibri"/>
              </a:rPr>
              <a:t>inflows</a:t>
            </a:r>
            <a:r>
              <a:rPr sz="2000" b="1" spc="151" dirty="0">
                <a:solidFill>
                  <a:srgbClr val="0005C1"/>
                </a:solidFill>
                <a:latin typeface="Calibri"/>
                <a:cs typeface="Calibri"/>
              </a:rPr>
              <a:t> </a:t>
            </a:r>
            <a:r>
              <a:rPr sz="2000" u="heavy" spc="35" dirty="0">
                <a:solidFill>
                  <a:srgbClr val="00B84D"/>
                </a:solidFill>
                <a:uFill>
                  <a:solidFill>
                    <a:srgbClr val="08A854"/>
                  </a:solidFill>
                </a:uFill>
                <a:latin typeface="Calibri"/>
                <a:cs typeface="Calibri"/>
              </a:rPr>
              <a:t>durinq</a:t>
            </a:r>
            <a:r>
              <a:rPr sz="2000" spc="167" dirty="0">
                <a:solidFill>
                  <a:srgbClr val="00B84D"/>
                </a:solidFill>
                <a:latin typeface="Calibri"/>
                <a:cs typeface="Calibri"/>
              </a:rPr>
              <a:t> </a:t>
            </a:r>
            <a:r>
              <a:rPr sz="2000" b="1" dirty="0">
                <a:solidFill>
                  <a:srgbClr val="0003C6"/>
                </a:solidFill>
                <a:latin typeface="Calibri"/>
                <a:cs typeface="Calibri"/>
              </a:rPr>
              <a:t>investment</a:t>
            </a:r>
            <a:r>
              <a:rPr sz="2000" b="1" spc="199" dirty="0">
                <a:solidFill>
                  <a:srgbClr val="0003C6"/>
                </a:solidFill>
                <a:latin typeface="Calibri"/>
                <a:cs typeface="Calibri"/>
              </a:rPr>
              <a:t> </a:t>
            </a:r>
            <a:r>
              <a:rPr sz="2000" b="1" dirty="0">
                <a:solidFill>
                  <a:srgbClr val="0005BF"/>
                </a:solidFill>
                <a:latin typeface="Calibri"/>
                <a:cs typeface="Calibri"/>
              </a:rPr>
              <a:t>period</a:t>
            </a:r>
            <a:r>
              <a:rPr sz="2000" b="1" spc="138" dirty="0">
                <a:solidFill>
                  <a:srgbClr val="0005BF"/>
                </a:solidFill>
                <a:latin typeface="Calibri"/>
                <a:cs typeface="Calibri"/>
              </a:rPr>
              <a:t> </a:t>
            </a:r>
            <a:r>
              <a:rPr sz="2000" dirty="0">
                <a:latin typeface="Calibri"/>
                <a:cs typeface="Calibri"/>
              </a:rPr>
              <a:t>(and</a:t>
            </a:r>
            <a:r>
              <a:rPr sz="2000" spc="83" dirty="0">
                <a:latin typeface="Calibri"/>
                <a:cs typeface="Calibri"/>
              </a:rPr>
              <a:t> </a:t>
            </a:r>
            <a:r>
              <a:rPr sz="2000" u="heavy" dirty="0">
                <a:solidFill>
                  <a:srgbClr val="03AF49"/>
                </a:solidFill>
                <a:uFill>
                  <a:solidFill>
                    <a:srgbClr val="08A854"/>
                  </a:solidFill>
                </a:uFill>
                <a:latin typeface="Calibri"/>
                <a:cs typeface="Calibri"/>
              </a:rPr>
              <a:t>not</a:t>
            </a:r>
            <a:r>
              <a:rPr sz="2000" u="heavy" spc="67" dirty="0">
                <a:solidFill>
                  <a:srgbClr val="03AF49"/>
                </a:solidFill>
                <a:uFill>
                  <a:solidFill>
                    <a:srgbClr val="08A854"/>
                  </a:solidFill>
                </a:uFill>
                <a:latin typeface="Calibri"/>
                <a:cs typeface="Calibri"/>
              </a:rPr>
              <a:t> </a:t>
            </a:r>
            <a:r>
              <a:rPr sz="3200" u="heavy" spc="-10" baseline="1234" dirty="0">
                <a:uFill>
                  <a:solidFill>
                    <a:srgbClr val="08A854"/>
                  </a:solidFill>
                </a:uFill>
                <a:latin typeface="Calibri"/>
                <a:cs typeface="Calibri"/>
              </a:rPr>
              <a:t>be</a:t>
            </a:r>
            <a:r>
              <a:rPr sz="3200" u="heavy" spc="-10" baseline="-3703" dirty="0">
                <a:uFill>
                  <a:solidFill>
                    <a:srgbClr val="08A854"/>
                  </a:solidFill>
                </a:uFill>
                <a:latin typeface="Calibri"/>
                <a:cs typeface="Calibri"/>
              </a:rPr>
              <a:t>v</a:t>
            </a:r>
            <a:r>
              <a:rPr sz="3200" u="heavy" spc="-10" baseline="1234" dirty="0">
                <a:uFill>
                  <a:solidFill>
                    <a:srgbClr val="08A854"/>
                  </a:solidFill>
                </a:uFill>
                <a:latin typeface="Calibri"/>
                <a:cs typeface="Calibri"/>
              </a:rPr>
              <a:t>ond,</a:t>
            </a:r>
            <a:r>
              <a:rPr sz="3200" spc="-10" baseline="1234" dirty="0">
                <a:latin typeface="Calibri"/>
                <a:cs typeface="Calibri"/>
              </a:rPr>
              <a:t> </a:t>
            </a:r>
            <a:r>
              <a:rPr sz="2000" dirty="0">
                <a:latin typeface="Calibri"/>
                <a:cs typeface="Calibri"/>
              </a:rPr>
              <a:t>such</a:t>
            </a:r>
            <a:r>
              <a:rPr sz="2000" spc="64" dirty="0">
                <a:latin typeface="Calibri"/>
                <a:cs typeface="Calibri"/>
              </a:rPr>
              <a:t> </a:t>
            </a:r>
            <a:r>
              <a:rPr sz="2000" dirty="0">
                <a:latin typeface="Calibri"/>
                <a:cs typeface="Calibri"/>
              </a:rPr>
              <a:t>as</a:t>
            </a:r>
            <a:r>
              <a:rPr sz="2000" spc="192" dirty="0">
                <a:latin typeface="Calibri"/>
                <a:cs typeface="Calibri"/>
              </a:rPr>
              <a:t> </a:t>
            </a:r>
            <a:r>
              <a:rPr sz="2000" u="heavy" spc="35" dirty="0">
                <a:solidFill>
                  <a:srgbClr val="0001CD"/>
                </a:solidFill>
                <a:uFill>
                  <a:solidFill>
                    <a:srgbClr val="0000BF"/>
                  </a:solidFill>
                </a:uFill>
                <a:latin typeface="Calibri"/>
                <a:cs typeface="Calibri"/>
              </a:rPr>
              <a:t>real</a:t>
            </a:r>
            <a:r>
              <a:rPr sz="2000" spc="38" dirty="0">
                <a:solidFill>
                  <a:srgbClr val="0001CD"/>
                </a:solidFill>
                <a:latin typeface="Calibri"/>
                <a:cs typeface="Calibri"/>
              </a:rPr>
              <a:t> </a:t>
            </a:r>
            <a:r>
              <a:rPr sz="2000" spc="42" dirty="0">
                <a:solidFill>
                  <a:srgbClr val="0000CF"/>
                </a:solidFill>
                <a:latin typeface="Calibri"/>
                <a:cs typeface="Calibri"/>
              </a:rPr>
              <a:t>annual</a:t>
            </a:r>
            <a:r>
              <a:rPr sz="2000" spc="122" dirty="0">
                <a:solidFill>
                  <a:srgbClr val="0000CF"/>
                </a:solidFill>
                <a:latin typeface="Calibri"/>
                <a:cs typeface="Calibri"/>
              </a:rPr>
              <a:t> </a:t>
            </a:r>
            <a:r>
              <a:rPr sz="2000" spc="32" dirty="0">
                <a:solidFill>
                  <a:srgbClr val="0001CF"/>
                </a:solidFill>
                <a:latin typeface="Calibri"/>
                <a:cs typeface="Calibri"/>
              </a:rPr>
              <a:t>project</a:t>
            </a:r>
            <a:r>
              <a:rPr sz="2000" spc="112" dirty="0">
                <a:solidFill>
                  <a:srgbClr val="0001CF"/>
                </a:solidFill>
                <a:latin typeface="Calibri"/>
                <a:cs typeface="Calibri"/>
              </a:rPr>
              <a:t> </a:t>
            </a:r>
            <a:r>
              <a:rPr sz="2000" b="1" spc="29" dirty="0">
                <a:latin typeface="Calibri"/>
                <a:cs typeface="Calibri"/>
              </a:rPr>
              <a:t>expenses).</a:t>
            </a:r>
            <a:endParaRPr sz="2000" dirty="0">
              <a:latin typeface="Calibri"/>
              <a:cs typeface="Calibri"/>
            </a:endParaRPr>
          </a:p>
        </p:txBody>
      </p:sp>
      <p:pic>
        <p:nvPicPr>
          <p:cNvPr id="7" name="Picture 6">
            <a:extLst>
              <a:ext uri="{FF2B5EF4-FFF2-40B4-BE49-F238E27FC236}">
                <a16:creationId xmlns:a16="http://schemas.microsoft.com/office/drawing/2014/main" id="{402FE76D-712B-4B3D-A9D5-6487A0B1C09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6626"/>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object 41"/>
          <p:cNvSpPr txBox="1">
            <a:spLocks noGrp="1"/>
          </p:cNvSpPr>
          <p:nvPr>
            <p:ph type="sldNum" sz="quarter" idx="7"/>
          </p:nvPr>
        </p:nvSpPr>
        <p:spPr>
          <a:xfrm>
            <a:off x="12846416" y="4123060"/>
            <a:ext cx="156789" cy="373444"/>
          </a:xfrm>
          <a:prstGeom prst="rect">
            <a:avLst/>
          </a:prstGeom>
        </p:spPr>
        <p:txBody>
          <a:bodyPr vert="horz" wrap="square" lIns="0" tIns="4072" rIns="0" bIns="0" rtlCol="0">
            <a:spAutoFit/>
          </a:bodyPr>
          <a:lstStyle/>
          <a:p>
            <a:pPr marL="30135">
              <a:spcBef>
                <a:spcPts val="32"/>
              </a:spcBef>
            </a:pPr>
            <a:fld id="{81D60167-4931-47E6-BA6A-407CBD079E47}" type="slidenum">
              <a:rPr spc="-16" dirty="0"/>
              <a:pPr marL="30135">
                <a:spcBef>
                  <a:spcPts val="32"/>
                </a:spcBef>
              </a:pPr>
              <a:t>4</a:t>
            </a:fld>
            <a:endParaRPr spc="-16" dirty="0"/>
          </a:p>
        </p:txBody>
      </p:sp>
      <p:sp>
        <p:nvSpPr>
          <p:cNvPr id="15" name="object 15"/>
          <p:cNvSpPr txBox="1">
            <a:spLocks noGrp="1"/>
          </p:cNvSpPr>
          <p:nvPr>
            <p:ph type="title"/>
          </p:nvPr>
        </p:nvSpPr>
        <p:spPr>
          <a:xfrm>
            <a:off x="457200" y="609600"/>
            <a:ext cx="10744200" cy="630872"/>
          </a:xfrm>
          <a:prstGeom prst="rect">
            <a:avLst/>
          </a:prstGeom>
        </p:spPr>
        <p:txBody>
          <a:bodyPr vert="horz" wrap="square" lIns="0" tIns="137091" rIns="0" bIns="0" rtlCol="0">
            <a:spAutoFit/>
          </a:bodyPr>
          <a:lstStyle/>
          <a:p>
            <a:pPr marL="11402">
              <a:spcBef>
                <a:spcPts val="58"/>
              </a:spcBef>
            </a:pPr>
            <a:r>
              <a:rPr sz="3200" spc="35" dirty="0">
                <a:solidFill>
                  <a:srgbClr val="011F60"/>
                </a:solidFill>
              </a:rPr>
              <a:t>Example</a:t>
            </a:r>
            <a:r>
              <a:rPr lang="en-US" sz="3200" spc="35" dirty="0">
                <a:solidFill>
                  <a:srgbClr val="011F60"/>
                </a:solidFill>
              </a:rPr>
              <a:t> 1</a:t>
            </a:r>
            <a:r>
              <a:rPr sz="3200" spc="35" dirty="0">
                <a:solidFill>
                  <a:srgbClr val="011F60"/>
                </a:solidFill>
              </a:rPr>
              <a:t>:</a:t>
            </a:r>
            <a:r>
              <a:rPr sz="3200" spc="112" dirty="0">
                <a:solidFill>
                  <a:srgbClr val="011F60"/>
                </a:solidFill>
              </a:rPr>
              <a:t> </a:t>
            </a:r>
            <a:r>
              <a:rPr sz="3200" spc="45" dirty="0">
                <a:solidFill>
                  <a:srgbClr val="01215B"/>
                </a:solidFill>
              </a:rPr>
              <a:t>Comparing</a:t>
            </a:r>
            <a:r>
              <a:rPr sz="3200" spc="141" dirty="0">
                <a:solidFill>
                  <a:srgbClr val="01215B"/>
                </a:solidFill>
              </a:rPr>
              <a:t> </a:t>
            </a:r>
            <a:r>
              <a:rPr sz="3200" dirty="0">
                <a:solidFill>
                  <a:srgbClr val="002160"/>
                </a:solidFill>
              </a:rPr>
              <a:t>Two</a:t>
            </a:r>
            <a:r>
              <a:rPr sz="3200" spc="73" dirty="0">
                <a:solidFill>
                  <a:srgbClr val="002160"/>
                </a:solidFill>
              </a:rPr>
              <a:t> </a:t>
            </a:r>
            <a:r>
              <a:rPr sz="3200" spc="48" dirty="0">
                <a:solidFill>
                  <a:srgbClr val="001F62"/>
                </a:solidFill>
              </a:rPr>
              <a:t>Projects</a:t>
            </a:r>
            <a:r>
              <a:rPr sz="3200" spc="125" dirty="0">
                <a:solidFill>
                  <a:srgbClr val="001F62"/>
                </a:solidFill>
              </a:rPr>
              <a:t> </a:t>
            </a:r>
            <a:r>
              <a:rPr sz="3200" spc="51" dirty="0">
                <a:solidFill>
                  <a:srgbClr val="01215B"/>
                </a:solidFill>
              </a:rPr>
              <a:t>Using</a:t>
            </a:r>
            <a:r>
              <a:rPr sz="3200" spc="73" dirty="0">
                <a:solidFill>
                  <a:srgbClr val="01215B"/>
                </a:solidFill>
              </a:rPr>
              <a:t> </a:t>
            </a:r>
            <a:r>
              <a:rPr sz="3200" dirty="0">
                <a:solidFill>
                  <a:srgbClr val="011F62"/>
                </a:solidFill>
              </a:rPr>
              <a:t>Payback</a:t>
            </a:r>
            <a:r>
              <a:rPr sz="3200" spc="163" dirty="0">
                <a:solidFill>
                  <a:srgbClr val="011F62"/>
                </a:solidFill>
              </a:rPr>
              <a:t> </a:t>
            </a:r>
            <a:r>
              <a:rPr sz="3200" spc="32" dirty="0">
                <a:solidFill>
                  <a:srgbClr val="011F60"/>
                </a:solidFill>
              </a:rPr>
              <a:t>Method</a:t>
            </a:r>
            <a:endParaRPr sz="3200" dirty="0"/>
          </a:p>
        </p:txBody>
      </p:sp>
      <p:pic>
        <p:nvPicPr>
          <p:cNvPr id="43" name="Picture 42">
            <a:extLst>
              <a:ext uri="{FF2B5EF4-FFF2-40B4-BE49-F238E27FC236}">
                <a16:creationId xmlns:a16="http://schemas.microsoft.com/office/drawing/2014/main" id="{64394A80-CCA4-458B-AEFD-C1BF1475D4CE}"/>
              </a:ext>
            </a:extLst>
          </p:cNvPr>
          <p:cNvPicPr>
            <a:picLocks noChangeAspect="1"/>
          </p:cNvPicPr>
          <p:nvPr/>
        </p:nvPicPr>
        <p:blipFill>
          <a:blip r:embed="rId2"/>
          <a:stretch>
            <a:fillRect/>
          </a:stretch>
        </p:blipFill>
        <p:spPr>
          <a:xfrm>
            <a:off x="838200" y="1828800"/>
            <a:ext cx="9982200" cy="4238625"/>
          </a:xfrm>
          <a:prstGeom prst="rect">
            <a:avLst/>
          </a:prstGeom>
        </p:spPr>
      </p:pic>
      <p:pic>
        <p:nvPicPr>
          <p:cNvPr id="44" name="Picture 43">
            <a:extLst>
              <a:ext uri="{FF2B5EF4-FFF2-40B4-BE49-F238E27FC236}">
                <a16:creationId xmlns:a16="http://schemas.microsoft.com/office/drawing/2014/main" id="{459174E2-7AE3-45F6-8319-B37BE37FEF0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6626"/>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65D5B-CE03-4F48-A84E-E6C9A52848D1}"/>
              </a:ext>
            </a:extLst>
          </p:cNvPr>
          <p:cNvSpPr>
            <a:spLocks noGrp="1"/>
          </p:cNvSpPr>
          <p:nvPr>
            <p:ph type="title"/>
          </p:nvPr>
        </p:nvSpPr>
        <p:spPr>
          <a:xfrm>
            <a:off x="916939" y="615856"/>
            <a:ext cx="11233150" cy="492443"/>
          </a:xfrm>
        </p:spPr>
        <p:txBody>
          <a:bodyPr/>
          <a:lstStyle/>
          <a:p>
            <a:r>
              <a:rPr lang="en-US" sz="3200" spc="48" dirty="0">
                <a:solidFill>
                  <a:srgbClr val="001F62"/>
                </a:solidFill>
              </a:rPr>
              <a:t>Example 2</a:t>
            </a:r>
          </a:p>
        </p:txBody>
      </p:sp>
      <p:sp>
        <p:nvSpPr>
          <p:cNvPr id="3" name="Text Placeholder 2">
            <a:extLst>
              <a:ext uri="{FF2B5EF4-FFF2-40B4-BE49-F238E27FC236}">
                <a16:creationId xmlns:a16="http://schemas.microsoft.com/office/drawing/2014/main" id="{DE745ECE-7DC5-4C28-9598-4FDF643CA337}"/>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F16401C3-E270-423D-9A22-BCA84AC116EF}"/>
              </a:ext>
            </a:extLst>
          </p:cNvPr>
          <p:cNvPicPr>
            <a:picLocks noChangeAspect="1"/>
          </p:cNvPicPr>
          <p:nvPr/>
        </p:nvPicPr>
        <p:blipFill rotWithShape="1">
          <a:blip r:embed="rId2"/>
          <a:srcRect t="13138" r="-1550"/>
          <a:stretch/>
        </p:blipFill>
        <p:spPr>
          <a:xfrm>
            <a:off x="838200" y="1583991"/>
            <a:ext cx="3578861" cy="3690017"/>
          </a:xfrm>
          <a:prstGeom prst="rect">
            <a:avLst/>
          </a:prstGeom>
        </p:spPr>
      </p:pic>
      <p:pic>
        <p:nvPicPr>
          <p:cNvPr id="4" name="Picture 3">
            <a:extLst>
              <a:ext uri="{FF2B5EF4-FFF2-40B4-BE49-F238E27FC236}">
                <a16:creationId xmlns:a16="http://schemas.microsoft.com/office/drawing/2014/main" id="{F8B00F9B-D045-D83B-BB9F-48527704FF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6626"/>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7961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4B65F-D1CC-4172-B2E5-DEBC386A6066}"/>
              </a:ext>
            </a:extLst>
          </p:cNvPr>
          <p:cNvSpPr>
            <a:spLocks noGrp="1"/>
          </p:cNvSpPr>
          <p:nvPr>
            <p:ph type="title"/>
          </p:nvPr>
        </p:nvSpPr>
        <p:spPr>
          <a:xfrm>
            <a:off x="916939" y="615856"/>
            <a:ext cx="11233150" cy="492443"/>
          </a:xfrm>
        </p:spPr>
        <p:txBody>
          <a:bodyPr/>
          <a:lstStyle/>
          <a:p>
            <a:r>
              <a:rPr lang="en-US" sz="3200" spc="48" dirty="0">
                <a:solidFill>
                  <a:srgbClr val="001F62"/>
                </a:solidFill>
              </a:rPr>
              <a:t>Solution</a:t>
            </a:r>
          </a:p>
        </p:txBody>
      </p:sp>
      <p:sp>
        <p:nvSpPr>
          <p:cNvPr id="3" name="Text Placeholder 2">
            <a:extLst>
              <a:ext uri="{FF2B5EF4-FFF2-40B4-BE49-F238E27FC236}">
                <a16:creationId xmlns:a16="http://schemas.microsoft.com/office/drawing/2014/main" id="{74AEE417-7A86-45D6-9C62-B57BFF7FBB30}"/>
              </a:ext>
            </a:extLst>
          </p:cNvPr>
          <p:cNvSpPr>
            <a:spLocks noGrp="1"/>
          </p:cNvSpPr>
          <p:nvPr>
            <p:ph type="body" idx="1"/>
          </p:nvPr>
        </p:nvSpPr>
        <p:spPr/>
        <p:txBody>
          <a:bodyPr/>
          <a:lstStyle/>
          <a:p>
            <a:endParaRPr lang="en-US" dirty="0"/>
          </a:p>
        </p:txBody>
      </p:sp>
      <p:pic>
        <p:nvPicPr>
          <p:cNvPr id="4" name="Picture 3">
            <a:extLst>
              <a:ext uri="{FF2B5EF4-FFF2-40B4-BE49-F238E27FC236}">
                <a16:creationId xmlns:a16="http://schemas.microsoft.com/office/drawing/2014/main" id="{9F57ACBE-13BB-4DB6-9344-CFAECE1DD950}"/>
              </a:ext>
            </a:extLst>
          </p:cNvPr>
          <p:cNvPicPr>
            <a:picLocks noChangeAspect="1"/>
          </p:cNvPicPr>
          <p:nvPr/>
        </p:nvPicPr>
        <p:blipFill>
          <a:blip r:embed="rId2"/>
          <a:stretch>
            <a:fillRect/>
          </a:stretch>
        </p:blipFill>
        <p:spPr>
          <a:xfrm>
            <a:off x="597534" y="1642142"/>
            <a:ext cx="10677525" cy="4267200"/>
          </a:xfrm>
          <a:prstGeom prst="rect">
            <a:avLst/>
          </a:prstGeom>
        </p:spPr>
      </p:pic>
      <p:pic>
        <p:nvPicPr>
          <p:cNvPr id="5" name="Picture 4">
            <a:extLst>
              <a:ext uri="{FF2B5EF4-FFF2-40B4-BE49-F238E27FC236}">
                <a16:creationId xmlns:a16="http://schemas.microsoft.com/office/drawing/2014/main" id="{BB65B88C-D294-2CF9-9406-77A2242BED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6626"/>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106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1D934-6752-43BC-9871-BCEAAC605093}"/>
              </a:ext>
            </a:extLst>
          </p:cNvPr>
          <p:cNvSpPr>
            <a:spLocks noGrp="1"/>
          </p:cNvSpPr>
          <p:nvPr>
            <p:ph type="title"/>
          </p:nvPr>
        </p:nvSpPr>
        <p:spPr>
          <a:xfrm>
            <a:off x="916939" y="615856"/>
            <a:ext cx="11233150" cy="492443"/>
          </a:xfrm>
        </p:spPr>
        <p:txBody>
          <a:bodyPr/>
          <a:lstStyle/>
          <a:p>
            <a:r>
              <a:rPr lang="en-US" sz="3200" spc="48" dirty="0">
                <a:solidFill>
                  <a:srgbClr val="001F62"/>
                </a:solidFill>
              </a:rPr>
              <a:t>Solution </a:t>
            </a:r>
          </a:p>
        </p:txBody>
      </p:sp>
      <p:sp>
        <p:nvSpPr>
          <p:cNvPr id="3" name="Text Placeholder 2">
            <a:extLst>
              <a:ext uri="{FF2B5EF4-FFF2-40B4-BE49-F238E27FC236}">
                <a16:creationId xmlns:a16="http://schemas.microsoft.com/office/drawing/2014/main" id="{4C7D1622-EDAE-4BCC-9FC0-22029F6AFA57}"/>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126FEE5A-FC7F-4E55-AD39-9A45447612CE}"/>
              </a:ext>
            </a:extLst>
          </p:cNvPr>
          <p:cNvPicPr>
            <a:picLocks noChangeAspect="1"/>
          </p:cNvPicPr>
          <p:nvPr/>
        </p:nvPicPr>
        <p:blipFill>
          <a:blip r:embed="rId3"/>
          <a:stretch>
            <a:fillRect/>
          </a:stretch>
        </p:blipFill>
        <p:spPr>
          <a:xfrm>
            <a:off x="709612" y="2066925"/>
            <a:ext cx="10772775" cy="2724150"/>
          </a:xfrm>
          <a:prstGeom prst="rect">
            <a:avLst/>
          </a:prstGeom>
        </p:spPr>
      </p:pic>
      <p:pic>
        <p:nvPicPr>
          <p:cNvPr id="4" name="Picture 3">
            <a:extLst>
              <a:ext uri="{FF2B5EF4-FFF2-40B4-BE49-F238E27FC236}">
                <a16:creationId xmlns:a16="http://schemas.microsoft.com/office/drawing/2014/main" id="{F1D566AC-1697-DF05-8AE1-5B241030791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6626"/>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2696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E00AB-F5D1-4D7C-A1A2-6AE6E59FCB0E}"/>
              </a:ext>
            </a:extLst>
          </p:cNvPr>
          <p:cNvSpPr>
            <a:spLocks noGrp="1"/>
          </p:cNvSpPr>
          <p:nvPr>
            <p:ph type="title"/>
          </p:nvPr>
        </p:nvSpPr>
        <p:spPr>
          <a:xfrm>
            <a:off x="916939" y="533400"/>
            <a:ext cx="11233150" cy="686247"/>
          </a:xfrm>
        </p:spPr>
        <p:txBody>
          <a:bodyPr/>
          <a:lstStyle/>
          <a:p>
            <a:r>
              <a:rPr lang="en-US" dirty="0"/>
              <a:t>Payload</a:t>
            </a:r>
          </a:p>
        </p:txBody>
      </p:sp>
      <p:sp>
        <p:nvSpPr>
          <p:cNvPr id="3" name="Text Placeholder 2">
            <a:extLst>
              <a:ext uri="{FF2B5EF4-FFF2-40B4-BE49-F238E27FC236}">
                <a16:creationId xmlns:a16="http://schemas.microsoft.com/office/drawing/2014/main" id="{7923692A-EC8D-491C-AFFD-C61A7A708F36}"/>
              </a:ext>
            </a:extLst>
          </p:cNvPr>
          <p:cNvSpPr>
            <a:spLocks noGrp="1"/>
          </p:cNvSpPr>
          <p:nvPr>
            <p:ph type="body" idx="1"/>
          </p:nvPr>
        </p:nvSpPr>
        <p:spPr>
          <a:xfrm>
            <a:off x="916939" y="1905000"/>
            <a:ext cx="10358120" cy="3877985"/>
          </a:xfrm>
        </p:spPr>
        <p:txBody>
          <a:bodyPr/>
          <a:lstStyle/>
          <a:p>
            <a:r>
              <a:rPr lang="en-US" b="1" dirty="0"/>
              <a:t>Definition</a:t>
            </a:r>
            <a:r>
              <a:rPr lang="en-US" dirty="0"/>
              <a:t>: Payload refers to the effective output or returns generated by a project relative to its costs. It can be expressed as a ratio or in absolute terms, indicating efficiency in generating returns.</a:t>
            </a:r>
          </a:p>
          <a:p>
            <a:r>
              <a:rPr lang="en-US" b="1" dirty="0"/>
              <a:t>Importance</a:t>
            </a:r>
            <a:r>
              <a:rPr lang="en-US" dirty="0"/>
              <a:t>:</a:t>
            </a:r>
          </a:p>
          <a:p>
            <a:pPr>
              <a:buFont typeface="Arial" panose="020B0604020202020204" pitchFamily="34" charset="0"/>
              <a:buChar char="•"/>
            </a:pPr>
            <a:r>
              <a:rPr lang="en-US" dirty="0"/>
              <a:t>A higher payload ratio suggests better performance in utilizing resources.</a:t>
            </a:r>
          </a:p>
          <a:p>
            <a:pPr>
              <a:buFont typeface="Arial" panose="020B0604020202020204" pitchFamily="34" charset="0"/>
              <a:buChar char="•"/>
            </a:pPr>
            <a:r>
              <a:rPr lang="en-US" dirty="0"/>
              <a:t>It helps in comparing projects with different scales or operational efficiencies.</a:t>
            </a:r>
          </a:p>
          <a:p>
            <a:endParaRPr lang="en-US" dirty="0"/>
          </a:p>
        </p:txBody>
      </p:sp>
      <p:pic>
        <p:nvPicPr>
          <p:cNvPr id="4" name="Picture 3">
            <a:extLst>
              <a:ext uri="{FF2B5EF4-FFF2-40B4-BE49-F238E27FC236}">
                <a16:creationId xmlns:a16="http://schemas.microsoft.com/office/drawing/2014/main" id="{29723EA6-7B05-950A-0976-278CB04583A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6626"/>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9030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44ED5-E248-4C85-A4BA-333BE286B04B}"/>
              </a:ext>
            </a:extLst>
          </p:cNvPr>
          <p:cNvSpPr>
            <a:spLocks noGrp="1"/>
          </p:cNvSpPr>
          <p:nvPr>
            <p:ph type="title"/>
          </p:nvPr>
        </p:nvSpPr>
        <p:spPr/>
        <p:txBody>
          <a:bodyPr/>
          <a:lstStyle/>
          <a:p>
            <a:r>
              <a:rPr lang="en-US" sz="4400" spc="35" dirty="0">
                <a:solidFill>
                  <a:srgbClr val="011F60"/>
                </a:solidFill>
              </a:rPr>
              <a:t>Example 1: Payload </a:t>
            </a:r>
            <a:endParaRPr lang="en-US" dirty="0"/>
          </a:p>
        </p:txBody>
      </p:sp>
      <p:sp>
        <p:nvSpPr>
          <p:cNvPr id="3" name="Text Placeholder 2">
            <a:extLst>
              <a:ext uri="{FF2B5EF4-FFF2-40B4-BE49-F238E27FC236}">
                <a16:creationId xmlns:a16="http://schemas.microsoft.com/office/drawing/2014/main" id="{993F5C8A-3FE6-44A8-B694-C229BA85DF59}"/>
              </a:ext>
            </a:extLst>
          </p:cNvPr>
          <p:cNvSpPr>
            <a:spLocks noGrp="1"/>
          </p:cNvSpPr>
          <p:nvPr>
            <p:ph type="body" idx="1"/>
          </p:nvPr>
        </p:nvSpPr>
        <p:spPr>
          <a:xfrm>
            <a:off x="890435" y="1828800"/>
            <a:ext cx="10358120" cy="861774"/>
          </a:xfrm>
        </p:spPr>
        <p:txBody>
          <a:bodyPr/>
          <a:lstStyle/>
          <a:p>
            <a:r>
              <a:rPr lang="en-US" dirty="0"/>
              <a:t>If a project with a total cost of $200,000 generates revenues of $300,000, the payload can be calculated as:</a:t>
            </a:r>
          </a:p>
        </p:txBody>
      </p:sp>
      <p:pic>
        <p:nvPicPr>
          <p:cNvPr id="5" name="Picture 4">
            <a:extLst>
              <a:ext uri="{FF2B5EF4-FFF2-40B4-BE49-F238E27FC236}">
                <a16:creationId xmlns:a16="http://schemas.microsoft.com/office/drawing/2014/main" id="{5C41F5ED-AA53-4863-B5D7-E754DEE387FD}"/>
              </a:ext>
            </a:extLst>
          </p:cNvPr>
          <p:cNvPicPr>
            <a:picLocks noChangeAspect="1"/>
          </p:cNvPicPr>
          <p:nvPr/>
        </p:nvPicPr>
        <p:blipFill>
          <a:blip r:embed="rId3"/>
          <a:stretch>
            <a:fillRect/>
          </a:stretch>
        </p:blipFill>
        <p:spPr>
          <a:xfrm>
            <a:off x="3114675" y="2819400"/>
            <a:ext cx="5962650" cy="1219200"/>
          </a:xfrm>
          <a:prstGeom prst="rect">
            <a:avLst/>
          </a:prstGeom>
        </p:spPr>
      </p:pic>
      <p:sp>
        <p:nvSpPr>
          <p:cNvPr id="7" name="TextBox 6">
            <a:extLst>
              <a:ext uri="{FF2B5EF4-FFF2-40B4-BE49-F238E27FC236}">
                <a16:creationId xmlns:a16="http://schemas.microsoft.com/office/drawing/2014/main" id="{28E06C9B-B872-474D-B8F4-CC35DBE96697}"/>
              </a:ext>
            </a:extLst>
          </p:cNvPr>
          <p:cNvSpPr txBox="1"/>
          <p:nvPr/>
        </p:nvSpPr>
        <p:spPr>
          <a:xfrm>
            <a:off x="916938" y="4572000"/>
            <a:ext cx="10132061" cy="369332"/>
          </a:xfrm>
          <a:prstGeom prst="rect">
            <a:avLst/>
          </a:prstGeom>
          <a:noFill/>
        </p:spPr>
        <p:txBody>
          <a:bodyPr wrap="square">
            <a:spAutoFit/>
          </a:bodyPr>
          <a:lstStyle/>
          <a:p>
            <a:r>
              <a:rPr lang="en-US" dirty="0"/>
              <a:t>This indicates that for every dollar spent, the project generates $1.50 in revenue.</a:t>
            </a:r>
          </a:p>
        </p:txBody>
      </p:sp>
      <p:pic>
        <p:nvPicPr>
          <p:cNvPr id="4" name="Picture 3">
            <a:extLst>
              <a:ext uri="{FF2B5EF4-FFF2-40B4-BE49-F238E27FC236}">
                <a16:creationId xmlns:a16="http://schemas.microsoft.com/office/drawing/2014/main" id="{3042D9C0-2561-67D2-1227-036D069E019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6626"/>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4008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6278028" y="4335235"/>
            <a:ext cx="177938" cy="182029"/>
          </a:xfrm>
          <a:prstGeom prst="rect">
            <a:avLst/>
          </a:prstGeom>
        </p:spPr>
      </p:pic>
      <p:pic>
        <p:nvPicPr>
          <p:cNvPr id="3" name="object 3"/>
          <p:cNvPicPr/>
          <p:nvPr/>
        </p:nvPicPr>
        <p:blipFill>
          <a:blip r:embed="rId4" cstate="print"/>
          <a:stretch>
            <a:fillRect/>
          </a:stretch>
        </p:blipFill>
        <p:spPr>
          <a:xfrm>
            <a:off x="6760712" y="4325008"/>
            <a:ext cx="26588" cy="57268"/>
          </a:xfrm>
          <a:prstGeom prst="rect">
            <a:avLst/>
          </a:prstGeom>
        </p:spPr>
      </p:pic>
      <p:pic>
        <p:nvPicPr>
          <p:cNvPr id="4" name="object 4"/>
          <p:cNvPicPr/>
          <p:nvPr/>
        </p:nvPicPr>
        <p:blipFill>
          <a:blip r:embed="rId5" cstate="print"/>
          <a:stretch>
            <a:fillRect/>
          </a:stretch>
        </p:blipFill>
        <p:spPr>
          <a:xfrm>
            <a:off x="6361883" y="3738014"/>
            <a:ext cx="171803" cy="425417"/>
          </a:xfrm>
          <a:prstGeom prst="rect">
            <a:avLst/>
          </a:prstGeom>
        </p:spPr>
      </p:pic>
      <p:sp>
        <p:nvSpPr>
          <p:cNvPr id="11" name="object 11"/>
          <p:cNvSpPr txBox="1">
            <a:spLocks noGrp="1"/>
          </p:cNvSpPr>
          <p:nvPr>
            <p:ph type="title"/>
          </p:nvPr>
        </p:nvSpPr>
        <p:spPr>
          <a:xfrm>
            <a:off x="1041753" y="621795"/>
            <a:ext cx="9591355" cy="635051"/>
          </a:xfrm>
          <a:prstGeom prst="rect">
            <a:avLst/>
          </a:prstGeom>
        </p:spPr>
        <p:txBody>
          <a:bodyPr vert="horz" wrap="square" lIns="0" tIns="80269" rIns="0" bIns="0" rtlCol="0">
            <a:spAutoFit/>
          </a:bodyPr>
          <a:lstStyle/>
          <a:p>
            <a:pPr marL="9773">
              <a:spcBef>
                <a:spcPts val="73"/>
              </a:spcBef>
            </a:pPr>
            <a:r>
              <a:rPr sz="3600" dirty="0">
                <a:solidFill>
                  <a:srgbClr val="00215D"/>
                </a:solidFill>
              </a:rPr>
              <a:t>Financial</a:t>
            </a:r>
            <a:r>
              <a:rPr sz="3600" spc="160" dirty="0">
                <a:solidFill>
                  <a:srgbClr val="00215D"/>
                </a:solidFill>
              </a:rPr>
              <a:t> </a:t>
            </a:r>
            <a:r>
              <a:rPr sz="3600" dirty="0">
                <a:solidFill>
                  <a:srgbClr val="01215B"/>
                </a:solidFill>
              </a:rPr>
              <a:t>Criteria:</a:t>
            </a:r>
            <a:r>
              <a:rPr sz="3600" spc="205" dirty="0">
                <a:solidFill>
                  <a:srgbClr val="01215B"/>
                </a:solidFill>
              </a:rPr>
              <a:t> </a:t>
            </a:r>
            <a:r>
              <a:rPr sz="3600" dirty="0">
                <a:solidFill>
                  <a:srgbClr val="011F60"/>
                </a:solidFill>
              </a:rPr>
              <a:t>Net</a:t>
            </a:r>
            <a:r>
              <a:rPr sz="3600" spc="93" dirty="0">
                <a:solidFill>
                  <a:srgbClr val="011F60"/>
                </a:solidFill>
              </a:rPr>
              <a:t> </a:t>
            </a:r>
            <a:r>
              <a:rPr sz="3600" dirty="0">
                <a:solidFill>
                  <a:srgbClr val="011F60"/>
                </a:solidFill>
              </a:rPr>
              <a:t>Present</a:t>
            </a:r>
            <a:r>
              <a:rPr sz="3600" spc="196" dirty="0">
                <a:solidFill>
                  <a:srgbClr val="011F60"/>
                </a:solidFill>
              </a:rPr>
              <a:t> </a:t>
            </a:r>
            <a:r>
              <a:rPr sz="3600" dirty="0">
                <a:solidFill>
                  <a:srgbClr val="011F60"/>
                </a:solidFill>
              </a:rPr>
              <a:t>Value</a:t>
            </a:r>
            <a:r>
              <a:rPr sz="3600" spc="122" dirty="0">
                <a:solidFill>
                  <a:srgbClr val="011F60"/>
                </a:solidFill>
              </a:rPr>
              <a:t> </a:t>
            </a:r>
            <a:r>
              <a:rPr sz="3600" spc="-6" dirty="0">
                <a:solidFill>
                  <a:srgbClr val="011F60"/>
                </a:solidFill>
              </a:rPr>
              <a:t>(NPV)</a:t>
            </a:r>
            <a:endParaRPr sz="3600" dirty="0"/>
          </a:p>
        </p:txBody>
      </p:sp>
      <p:sp>
        <p:nvSpPr>
          <p:cNvPr id="19" name="object 19"/>
          <p:cNvSpPr txBox="1">
            <a:spLocks noGrp="1"/>
          </p:cNvSpPr>
          <p:nvPr>
            <p:ph type="sldNum" sz="quarter" idx="7"/>
          </p:nvPr>
        </p:nvSpPr>
        <p:spPr>
          <a:xfrm>
            <a:off x="12846416" y="4123060"/>
            <a:ext cx="156789" cy="373444"/>
          </a:xfrm>
          <a:prstGeom prst="rect">
            <a:avLst/>
          </a:prstGeom>
        </p:spPr>
        <p:txBody>
          <a:bodyPr vert="horz" wrap="square" lIns="0" tIns="4072" rIns="0" bIns="0" rtlCol="0">
            <a:spAutoFit/>
          </a:bodyPr>
          <a:lstStyle/>
          <a:p>
            <a:pPr marL="30135">
              <a:spcBef>
                <a:spcPts val="32"/>
              </a:spcBef>
            </a:pPr>
            <a:fld id="{81D60167-4931-47E6-BA6A-407CBD079E47}" type="slidenum">
              <a:rPr spc="-16" dirty="0"/>
              <a:pPr marL="30135">
                <a:spcBef>
                  <a:spcPts val="32"/>
                </a:spcBef>
              </a:pPr>
              <a:t>10</a:t>
            </a:fld>
            <a:endParaRPr spc="-16" dirty="0"/>
          </a:p>
        </p:txBody>
      </p:sp>
      <p:sp>
        <p:nvSpPr>
          <p:cNvPr id="12" name="object 12"/>
          <p:cNvSpPr txBox="1"/>
          <p:nvPr/>
        </p:nvSpPr>
        <p:spPr>
          <a:xfrm>
            <a:off x="910527" y="1750332"/>
            <a:ext cx="10735001" cy="2197538"/>
          </a:xfrm>
          <a:prstGeom prst="rect">
            <a:avLst/>
          </a:prstGeom>
        </p:spPr>
        <p:txBody>
          <a:bodyPr vert="horz" wrap="square" lIns="0" tIns="55385" rIns="0" bIns="0" rtlCol="0">
            <a:spAutoFit/>
          </a:bodyPr>
          <a:lstStyle/>
          <a:p>
            <a:pPr marL="24434">
              <a:spcBef>
                <a:spcPts val="436"/>
              </a:spcBef>
            </a:pPr>
            <a:r>
              <a:rPr sz="2000" u="heavy" dirty="0">
                <a:solidFill>
                  <a:srgbClr val="FB0100"/>
                </a:solidFill>
                <a:uFill>
                  <a:solidFill>
                    <a:srgbClr val="E80C0C"/>
                  </a:solidFill>
                </a:uFill>
                <a:latin typeface="Arial MT"/>
                <a:cs typeface="Arial MT"/>
              </a:rPr>
              <a:t>Net</a:t>
            </a:r>
            <a:r>
              <a:rPr sz="2000" u="heavy" spc="99" dirty="0">
                <a:solidFill>
                  <a:srgbClr val="FB0100"/>
                </a:solidFill>
                <a:uFill>
                  <a:solidFill>
                    <a:srgbClr val="E80C0C"/>
                  </a:solidFill>
                </a:uFill>
                <a:latin typeface="Arial MT"/>
                <a:cs typeface="Arial MT"/>
              </a:rPr>
              <a:t> </a:t>
            </a:r>
            <a:r>
              <a:rPr sz="2000" u="heavy" dirty="0">
                <a:solidFill>
                  <a:srgbClr val="FB0500"/>
                </a:solidFill>
                <a:uFill>
                  <a:solidFill>
                    <a:srgbClr val="E80C0C"/>
                  </a:solidFill>
                </a:uFill>
                <a:latin typeface="Arial MT"/>
                <a:cs typeface="Arial MT"/>
              </a:rPr>
              <a:t>Present</a:t>
            </a:r>
            <a:r>
              <a:rPr sz="2000" u="heavy" spc="160" dirty="0">
                <a:solidFill>
                  <a:srgbClr val="FB0500"/>
                </a:solidFill>
                <a:uFill>
                  <a:solidFill>
                    <a:srgbClr val="E80C0C"/>
                  </a:solidFill>
                </a:uFill>
                <a:latin typeface="Arial MT"/>
                <a:cs typeface="Arial MT"/>
              </a:rPr>
              <a:t> </a:t>
            </a:r>
            <a:r>
              <a:rPr sz="2000" u="heavy" dirty="0">
                <a:solidFill>
                  <a:srgbClr val="F40307"/>
                </a:solidFill>
                <a:uFill>
                  <a:solidFill>
                    <a:srgbClr val="E80C0C"/>
                  </a:solidFill>
                </a:uFill>
                <a:latin typeface="Arial MT"/>
                <a:cs typeface="Arial MT"/>
              </a:rPr>
              <a:t>Value</a:t>
            </a:r>
            <a:r>
              <a:rPr sz="2000" u="heavy" spc="93" dirty="0">
                <a:solidFill>
                  <a:srgbClr val="F40307"/>
                </a:solidFill>
                <a:uFill>
                  <a:solidFill>
                    <a:srgbClr val="E80C0C"/>
                  </a:solidFill>
                </a:uFill>
                <a:latin typeface="Arial MT"/>
                <a:cs typeface="Arial MT"/>
              </a:rPr>
              <a:t> </a:t>
            </a:r>
            <a:r>
              <a:rPr sz="2000" u="heavy" spc="-6" dirty="0">
                <a:solidFill>
                  <a:srgbClr val="FF0103"/>
                </a:solidFill>
                <a:uFill>
                  <a:solidFill>
                    <a:srgbClr val="E80C0C"/>
                  </a:solidFill>
                </a:uFill>
                <a:latin typeface="Arial MT"/>
                <a:cs typeface="Arial MT"/>
              </a:rPr>
              <a:t>(NPV):</a:t>
            </a:r>
            <a:endParaRPr sz="2000" dirty="0">
              <a:latin typeface="Arial MT"/>
              <a:cs typeface="Arial MT"/>
            </a:endParaRPr>
          </a:p>
          <a:p>
            <a:pPr marL="220309" marR="76151" indent="-196283">
              <a:lnSpc>
                <a:spcPts val="1610"/>
              </a:lnSpc>
              <a:spcBef>
                <a:spcPts val="471"/>
              </a:spcBef>
              <a:buChar char="•"/>
              <a:tabLst>
                <a:tab pos="222345" algn="l"/>
              </a:tabLst>
            </a:pPr>
            <a:r>
              <a:rPr sz="2000" u="heavy" dirty="0">
                <a:uFill>
                  <a:solidFill>
                    <a:srgbClr val="000000"/>
                  </a:solidFill>
                </a:uFill>
                <a:latin typeface="Arial MT"/>
                <a:cs typeface="Arial MT"/>
              </a:rPr>
              <a:t>Uses</a:t>
            </a:r>
            <a:r>
              <a:rPr sz="2000" spc="48" dirty="0">
                <a:latin typeface="Arial MT"/>
                <a:cs typeface="Arial MT"/>
              </a:rPr>
              <a:t> </a:t>
            </a:r>
            <a:r>
              <a:rPr sz="2000" spc="-29" dirty="0">
                <a:latin typeface="Arial MT"/>
                <a:cs typeface="Arial MT"/>
              </a:rPr>
              <a:t>management's</a:t>
            </a:r>
            <a:r>
              <a:rPr sz="2000" spc="157" dirty="0">
                <a:latin typeface="Arial MT"/>
                <a:cs typeface="Arial MT"/>
              </a:rPr>
              <a:t> </a:t>
            </a:r>
            <a:r>
              <a:rPr sz="2000" spc="38" dirty="0">
                <a:latin typeface="Arial MT"/>
                <a:cs typeface="Arial MT"/>
              </a:rPr>
              <a:t>minimum</a:t>
            </a:r>
            <a:r>
              <a:rPr sz="2000" spc="119" dirty="0">
                <a:latin typeface="Arial MT"/>
                <a:cs typeface="Arial MT"/>
              </a:rPr>
              <a:t> </a:t>
            </a:r>
            <a:r>
              <a:rPr sz="2000" dirty="0">
                <a:latin typeface="Arial MT"/>
                <a:cs typeface="Arial MT"/>
              </a:rPr>
              <a:t>desired</a:t>
            </a:r>
            <a:r>
              <a:rPr sz="2000" spc="87" dirty="0">
                <a:latin typeface="Arial MT"/>
                <a:cs typeface="Arial MT"/>
              </a:rPr>
              <a:t> </a:t>
            </a:r>
            <a:r>
              <a:rPr sz="2000" dirty="0">
                <a:solidFill>
                  <a:srgbClr val="00B34B"/>
                </a:solidFill>
                <a:latin typeface="Arial MT"/>
                <a:cs typeface="Arial MT"/>
              </a:rPr>
              <a:t>rate</a:t>
            </a:r>
            <a:r>
              <a:rPr sz="2000" spc="51" dirty="0">
                <a:solidFill>
                  <a:srgbClr val="00B34B"/>
                </a:solidFill>
                <a:latin typeface="Arial MT"/>
                <a:cs typeface="Arial MT"/>
              </a:rPr>
              <a:t> </a:t>
            </a:r>
            <a:r>
              <a:rPr sz="2000" dirty="0">
                <a:solidFill>
                  <a:srgbClr val="07AC4B"/>
                </a:solidFill>
                <a:latin typeface="Arial MT"/>
                <a:cs typeface="Arial MT"/>
              </a:rPr>
              <a:t>of</a:t>
            </a:r>
            <a:r>
              <a:rPr sz="2000" spc="51" dirty="0">
                <a:solidFill>
                  <a:srgbClr val="07AC4B"/>
                </a:solidFill>
                <a:latin typeface="Arial MT"/>
                <a:cs typeface="Arial MT"/>
              </a:rPr>
              <a:t> </a:t>
            </a:r>
            <a:r>
              <a:rPr sz="2000" dirty="0">
                <a:solidFill>
                  <a:srgbClr val="00B149"/>
                </a:solidFill>
                <a:latin typeface="Arial MT"/>
                <a:cs typeface="Arial MT"/>
              </a:rPr>
              <a:t>return</a:t>
            </a:r>
            <a:r>
              <a:rPr sz="2000" spc="64" dirty="0">
                <a:solidFill>
                  <a:srgbClr val="00B149"/>
                </a:solidFill>
                <a:latin typeface="Arial MT"/>
                <a:cs typeface="Arial MT"/>
              </a:rPr>
              <a:t> </a:t>
            </a:r>
            <a:r>
              <a:rPr sz="2000" dirty="0">
                <a:latin typeface="Arial MT"/>
                <a:cs typeface="Arial MT"/>
              </a:rPr>
              <a:t>to</a:t>
            </a:r>
            <a:r>
              <a:rPr sz="2000" spc="6" dirty="0">
                <a:latin typeface="Arial MT"/>
                <a:cs typeface="Arial MT"/>
              </a:rPr>
              <a:t> </a:t>
            </a:r>
            <a:r>
              <a:rPr sz="2000" u="heavy" spc="-6" dirty="0">
                <a:uFill>
                  <a:solidFill>
                    <a:srgbClr val="000000"/>
                  </a:solidFill>
                </a:uFill>
                <a:latin typeface="Arial MT"/>
                <a:cs typeface="Arial MT"/>
              </a:rPr>
              <a:t>compute</a:t>
            </a:r>
            <a:r>
              <a:rPr sz="2000" spc="-6" dirty="0">
                <a:latin typeface="Arial MT"/>
                <a:cs typeface="Arial MT"/>
              </a:rPr>
              <a:t> </a:t>
            </a:r>
            <a:r>
              <a:rPr sz="2000" dirty="0">
                <a:solidFill>
                  <a:srgbClr val="FD0100"/>
                </a:solidFill>
                <a:latin typeface="Arial MT"/>
                <a:cs typeface="Arial MT"/>
              </a:rPr>
              <a:t>present</a:t>
            </a:r>
            <a:r>
              <a:rPr sz="2000" spc="147" dirty="0">
                <a:solidFill>
                  <a:srgbClr val="FD0100"/>
                </a:solidFill>
                <a:latin typeface="Arial MT"/>
                <a:cs typeface="Arial MT"/>
              </a:rPr>
              <a:t> </a:t>
            </a:r>
            <a:r>
              <a:rPr sz="2000" dirty="0">
                <a:solidFill>
                  <a:srgbClr val="F70105"/>
                </a:solidFill>
                <a:latin typeface="Arial MT"/>
                <a:cs typeface="Arial MT"/>
              </a:rPr>
              <a:t>value</a:t>
            </a:r>
            <a:r>
              <a:rPr sz="2000" spc="112" dirty="0">
                <a:solidFill>
                  <a:srgbClr val="F70105"/>
                </a:solidFill>
                <a:latin typeface="Arial MT"/>
                <a:cs typeface="Arial MT"/>
              </a:rPr>
              <a:t> </a:t>
            </a:r>
            <a:r>
              <a:rPr sz="2000" dirty="0">
                <a:solidFill>
                  <a:srgbClr val="F40700"/>
                </a:solidFill>
                <a:latin typeface="Arial MT"/>
                <a:cs typeface="Arial MT"/>
              </a:rPr>
              <a:t>of</a:t>
            </a:r>
            <a:r>
              <a:rPr sz="2000" spc="83" dirty="0">
                <a:solidFill>
                  <a:srgbClr val="F40700"/>
                </a:solidFill>
                <a:latin typeface="Arial MT"/>
                <a:cs typeface="Arial MT"/>
              </a:rPr>
              <a:t> </a:t>
            </a:r>
            <a:r>
              <a:rPr sz="2000" dirty="0">
                <a:solidFill>
                  <a:srgbClr val="F60300"/>
                </a:solidFill>
                <a:latin typeface="Arial MT"/>
                <a:cs typeface="Arial MT"/>
              </a:rPr>
              <a:t>all</a:t>
            </a:r>
            <a:r>
              <a:rPr sz="2000" spc="45" dirty="0">
                <a:solidFill>
                  <a:srgbClr val="F60300"/>
                </a:solidFill>
                <a:latin typeface="Arial MT"/>
                <a:cs typeface="Arial MT"/>
              </a:rPr>
              <a:t> </a:t>
            </a:r>
            <a:r>
              <a:rPr sz="2000" dirty="0">
                <a:solidFill>
                  <a:srgbClr val="FB0100"/>
                </a:solidFill>
                <a:latin typeface="Arial MT"/>
                <a:cs typeface="Arial MT"/>
              </a:rPr>
              <a:t>net</a:t>
            </a:r>
            <a:r>
              <a:rPr sz="2000" spc="77" dirty="0">
                <a:solidFill>
                  <a:srgbClr val="FB0100"/>
                </a:solidFill>
                <a:latin typeface="Arial MT"/>
                <a:cs typeface="Arial MT"/>
              </a:rPr>
              <a:t> </a:t>
            </a:r>
            <a:r>
              <a:rPr sz="2000" dirty="0">
                <a:solidFill>
                  <a:srgbClr val="0000D1"/>
                </a:solidFill>
                <a:latin typeface="Arial MT"/>
                <a:cs typeface="Arial MT"/>
              </a:rPr>
              <a:t>cash</a:t>
            </a:r>
            <a:r>
              <a:rPr sz="2000" spc="93" dirty="0">
                <a:solidFill>
                  <a:srgbClr val="0000D1"/>
                </a:solidFill>
                <a:latin typeface="Arial MT"/>
                <a:cs typeface="Arial MT"/>
              </a:rPr>
              <a:t> </a:t>
            </a:r>
            <a:r>
              <a:rPr sz="2000" spc="29" dirty="0">
                <a:solidFill>
                  <a:srgbClr val="0001BF"/>
                </a:solidFill>
                <a:latin typeface="Arial MT"/>
                <a:cs typeface="Arial MT"/>
              </a:rPr>
              <a:t>inflows.</a:t>
            </a:r>
            <a:endParaRPr sz="2000" dirty="0">
              <a:latin typeface="Arial MT"/>
              <a:cs typeface="Arial MT"/>
            </a:endParaRPr>
          </a:p>
          <a:p>
            <a:pPr marL="220716" indent="-196283">
              <a:spcBef>
                <a:spcPts val="330"/>
              </a:spcBef>
              <a:buChar char="•"/>
              <a:tabLst>
                <a:tab pos="220716" algn="l"/>
              </a:tabLst>
            </a:pPr>
            <a:r>
              <a:rPr sz="2000" u="heavy" dirty="0">
                <a:uFill>
                  <a:solidFill>
                    <a:srgbClr val="000000"/>
                  </a:solidFill>
                </a:uFill>
                <a:latin typeface="Arial MT"/>
                <a:cs typeface="Arial MT"/>
              </a:rPr>
              <a:t>Prefers</a:t>
            </a:r>
            <a:r>
              <a:rPr sz="2000" spc="151" dirty="0">
                <a:latin typeface="Arial MT"/>
                <a:cs typeface="Arial MT"/>
              </a:rPr>
              <a:t> </a:t>
            </a:r>
            <a:r>
              <a:rPr sz="2000" spc="48" dirty="0">
                <a:latin typeface="Arial MT"/>
                <a:cs typeface="Arial MT"/>
              </a:rPr>
              <a:t>positive</a:t>
            </a:r>
            <a:r>
              <a:rPr sz="2000" spc="144" dirty="0">
                <a:latin typeface="Arial MT"/>
                <a:cs typeface="Arial MT"/>
              </a:rPr>
              <a:t> </a:t>
            </a:r>
            <a:r>
              <a:rPr sz="2000" dirty="0">
                <a:latin typeface="Arial MT"/>
                <a:cs typeface="Arial MT"/>
              </a:rPr>
              <a:t>NPV</a:t>
            </a:r>
            <a:r>
              <a:rPr sz="2000" spc="96" dirty="0">
                <a:latin typeface="Arial MT"/>
                <a:cs typeface="Arial MT"/>
              </a:rPr>
              <a:t> </a:t>
            </a:r>
            <a:r>
              <a:rPr sz="2000" u="heavy" dirty="0">
                <a:uFill>
                  <a:solidFill>
                    <a:srgbClr val="000000"/>
                  </a:solidFill>
                </a:uFill>
                <a:latin typeface="Arial MT"/>
                <a:cs typeface="Arial MT"/>
              </a:rPr>
              <a:t>to</a:t>
            </a:r>
            <a:r>
              <a:rPr sz="2000" spc="266" dirty="0">
                <a:latin typeface="Arial MT"/>
                <a:cs typeface="Arial MT"/>
              </a:rPr>
              <a:t> </a:t>
            </a:r>
            <a:r>
              <a:rPr sz="2000" dirty="0">
                <a:latin typeface="Arial MT"/>
                <a:cs typeface="Arial MT"/>
              </a:rPr>
              <a:t>negative</a:t>
            </a:r>
            <a:r>
              <a:rPr sz="2000" spc="141" dirty="0">
                <a:latin typeface="Arial MT"/>
                <a:cs typeface="Arial MT"/>
              </a:rPr>
              <a:t> </a:t>
            </a:r>
            <a:r>
              <a:rPr sz="2000" spc="-13" dirty="0">
                <a:latin typeface="Arial MT"/>
                <a:cs typeface="Arial MT"/>
              </a:rPr>
              <a:t>NPV.</a:t>
            </a:r>
            <a:endParaRPr sz="2000" dirty="0">
              <a:latin typeface="Arial MT"/>
              <a:cs typeface="Arial MT"/>
            </a:endParaRPr>
          </a:p>
          <a:p>
            <a:pPr marL="221123" indent="-196283">
              <a:spcBef>
                <a:spcPts val="430"/>
              </a:spcBef>
              <a:buChar char="•"/>
              <a:tabLst>
                <a:tab pos="221123" algn="l"/>
              </a:tabLst>
            </a:pPr>
            <a:r>
              <a:rPr sz="2000" u="heavy" spc="42" dirty="0">
                <a:uFill>
                  <a:solidFill>
                    <a:srgbClr val="000000"/>
                  </a:solidFill>
                </a:uFill>
                <a:latin typeface="Arial MT"/>
                <a:cs typeface="Arial MT"/>
              </a:rPr>
              <a:t>Desires</a:t>
            </a:r>
            <a:r>
              <a:rPr sz="2000" spc="119" dirty="0">
                <a:latin typeface="Arial MT"/>
                <a:cs typeface="Arial MT"/>
              </a:rPr>
              <a:t> </a:t>
            </a:r>
            <a:r>
              <a:rPr sz="2000" spc="58" dirty="0">
                <a:latin typeface="Arial MT"/>
                <a:cs typeface="Arial MT"/>
              </a:rPr>
              <a:t>higher</a:t>
            </a:r>
            <a:r>
              <a:rPr sz="2000" spc="93" dirty="0">
                <a:latin typeface="Arial MT"/>
                <a:cs typeface="Arial MT"/>
              </a:rPr>
              <a:t> </a:t>
            </a:r>
            <a:r>
              <a:rPr sz="2000" spc="61" dirty="0">
                <a:latin typeface="Arial MT"/>
                <a:cs typeface="Arial MT"/>
              </a:rPr>
              <a:t>positive</a:t>
            </a:r>
            <a:r>
              <a:rPr sz="2000" spc="90" dirty="0">
                <a:latin typeface="Arial MT"/>
                <a:cs typeface="Arial MT"/>
              </a:rPr>
              <a:t> </a:t>
            </a:r>
            <a:r>
              <a:rPr sz="2000" spc="-13" dirty="0">
                <a:latin typeface="Arial MT"/>
                <a:cs typeface="Arial MT"/>
              </a:rPr>
              <a:t>NPVs.</a:t>
            </a:r>
            <a:endParaRPr sz="2000" dirty="0">
              <a:latin typeface="Arial MT"/>
              <a:cs typeface="Arial MT"/>
            </a:endParaRPr>
          </a:p>
          <a:p>
            <a:pPr marL="221938" marR="19547" indent="-197912">
              <a:lnSpc>
                <a:spcPts val="1610"/>
              </a:lnSpc>
              <a:spcBef>
                <a:spcPts val="478"/>
              </a:spcBef>
              <a:buChar char="•"/>
              <a:tabLst>
                <a:tab pos="221938" algn="l"/>
              </a:tabLst>
            </a:pPr>
            <a:r>
              <a:rPr sz="2000" dirty="0">
                <a:latin typeface="Arial MT"/>
                <a:cs typeface="Arial MT"/>
              </a:rPr>
              <a:t>Is more</a:t>
            </a:r>
            <a:r>
              <a:rPr sz="2000" spc="45" dirty="0">
                <a:latin typeface="Arial MT"/>
                <a:cs typeface="Arial MT"/>
              </a:rPr>
              <a:t> </a:t>
            </a:r>
            <a:r>
              <a:rPr sz="2000" dirty="0">
                <a:latin typeface="Arial MT"/>
                <a:cs typeface="Arial MT"/>
              </a:rPr>
              <a:t>realistic</a:t>
            </a:r>
            <a:r>
              <a:rPr sz="2000" spc="80" dirty="0">
                <a:latin typeface="Arial MT"/>
                <a:cs typeface="Arial MT"/>
              </a:rPr>
              <a:t> </a:t>
            </a:r>
            <a:r>
              <a:rPr sz="2000" spc="-26" dirty="0">
                <a:latin typeface="Arial MT"/>
                <a:cs typeface="Arial MT"/>
              </a:rPr>
              <a:t>because</a:t>
            </a:r>
            <a:r>
              <a:rPr sz="2000" spc="77" dirty="0">
                <a:latin typeface="Arial MT"/>
                <a:cs typeface="Arial MT"/>
              </a:rPr>
              <a:t> </a:t>
            </a:r>
            <a:r>
              <a:rPr sz="2000" dirty="0">
                <a:latin typeface="Arial MT"/>
                <a:cs typeface="Arial MT"/>
              </a:rPr>
              <a:t>it</a:t>
            </a:r>
            <a:r>
              <a:rPr sz="2000" spc="16" dirty="0">
                <a:latin typeface="Arial MT"/>
                <a:cs typeface="Arial MT"/>
              </a:rPr>
              <a:t> </a:t>
            </a:r>
            <a:r>
              <a:rPr sz="2000" u="heavy" spc="32" dirty="0">
                <a:uFill>
                  <a:solidFill>
                    <a:srgbClr val="000000"/>
                  </a:solidFill>
                </a:uFill>
                <a:latin typeface="Arial MT"/>
                <a:cs typeface="Arial MT"/>
              </a:rPr>
              <a:t>considers</a:t>
            </a:r>
            <a:r>
              <a:rPr sz="2000" spc="119" dirty="0">
                <a:latin typeface="Arial MT"/>
                <a:cs typeface="Arial MT"/>
              </a:rPr>
              <a:t> </a:t>
            </a:r>
            <a:r>
              <a:rPr sz="2000" dirty="0">
                <a:solidFill>
                  <a:srgbClr val="EF0A0F"/>
                </a:solidFill>
                <a:latin typeface="Arial MT"/>
                <a:cs typeface="Arial MT"/>
              </a:rPr>
              <a:t>time</a:t>
            </a:r>
            <a:r>
              <a:rPr sz="2000" spc="45" dirty="0">
                <a:solidFill>
                  <a:srgbClr val="EF0A0F"/>
                </a:solidFill>
                <a:latin typeface="Arial MT"/>
                <a:cs typeface="Arial MT"/>
              </a:rPr>
              <a:t> </a:t>
            </a:r>
            <a:r>
              <a:rPr sz="2000" dirty="0">
                <a:solidFill>
                  <a:srgbClr val="F60500"/>
                </a:solidFill>
                <a:latin typeface="Arial MT"/>
                <a:cs typeface="Arial MT"/>
              </a:rPr>
              <a:t>value</a:t>
            </a:r>
            <a:r>
              <a:rPr sz="2000" spc="99" dirty="0">
                <a:solidFill>
                  <a:srgbClr val="F60500"/>
                </a:solidFill>
                <a:latin typeface="Arial MT"/>
                <a:cs typeface="Arial MT"/>
              </a:rPr>
              <a:t> </a:t>
            </a:r>
            <a:r>
              <a:rPr sz="2000" spc="32" dirty="0">
                <a:solidFill>
                  <a:srgbClr val="F60303"/>
                </a:solidFill>
                <a:latin typeface="Arial MT"/>
                <a:cs typeface="Arial MT"/>
              </a:rPr>
              <a:t>of</a:t>
            </a:r>
            <a:r>
              <a:rPr sz="2000" spc="29" dirty="0">
                <a:solidFill>
                  <a:srgbClr val="F60303"/>
                </a:solidFill>
                <a:latin typeface="Arial MT"/>
                <a:cs typeface="Arial MT"/>
              </a:rPr>
              <a:t> </a:t>
            </a:r>
            <a:r>
              <a:rPr sz="2000" dirty="0">
                <a:latin typeface="Arial MT"/>
                <a:cs typeface="Arial MT"/>
              </a:rPr>
              <a:t>money,</a:t>
            </a:r>
            <a:r>
              <a:rPr sz="2000" spc="131" dirty="0">
                <a:latin typeface="Arial MT"/>
                <a:cs typeface="Arial MT"/>
              </a:rPr>
              <a:t> </a:t>
            </a:r>
            <a:r>
              <a:rPr sz="2000" spc="-13" dirty="0">
                <a:solidFill>
                  <a:srgbClr val="0005B3"/>
                </a:solidFill>
                <a:latin typeface="Arial MT"/>
                <a:cs typeface="Arial MT"/>
              </a:rPr>
              <a:t>cash </a:t>
            </a:r>
            <a:r>
              <a:rPr sz="2000" spc="32" dirty="0">
                <a:latin typeface="Arial MT"/>
                <a:cs typeface="Arial MT"/>
              </a:rPr>
              <a:t>flows,</a:t>
            </a:r>
            <a:r>
              <a:rPr sz="2000" spc="-55" dirty="0">
                <a:latin typeface="Arial MT"/>
                <a:cs typeface="Arial MT"/>
              </a:rPr>
              <a:t> </a:t>
            </a:r>
            <a:r>
              <a:rPr sz="2000" dirty="0">
                <a:latin typeface="Arial MT"/>
                <a:cs typeface="Arial MT"/>
              </a:rPr>
              <a:t>and</a:t>
            </a:r>
            <a:r>
              <a:rPr sz="2000" spc="-35" dirty="0">
                <a:latin typeface="Arial MT"/>
                <a:cs typeface="Arial MT"/>
              </a:rPr>
              <a:t> </a:t>
            </a:r>
            <a:r>
              <a:rPr sz="2000" spc="29" dirty="0">
                <a:solidFill>
                  <a:srgbClr val="00AF46"/>
                </a:solidFill>
                <a:latin typeface="Arial MT"/>
                <a:cs typeface="Arial MT"/>
              </a:rPr>
              <a:t>profitability.</a:t>
            </a:r>
            <a:endParaRPr sz="2000" dirty="0">
              <a:latin typeface="Arial MT"/>
              <a:cs typeface="Arial MT"/>
            </a:endParaRPr>
          </a:p>
          <a:p>
            <a:pPr marL="24434">
              <a:spcBef>
                <a:spcPts val="587"/>
              </a:spcBef>
            </a:pPr>
            <a:r>
              <a:rPr sz="2000" u="heavy" spc="-22" dirty="0">
                <a:solidFill>
                  <a:srgbClr val="E90A01"/>
                </a:solidFill>
                <a:uFill>
                  <a:solidFill>
                    <a:srgbClr val="C30808"/>
                  </a:solidFill>
                </a:uFill>
                <a:latin typeface="Arial MT"/>
                <a:cs typeface="Arial MT"/>
              </a:rPr>
              <a:t>NPV</a:t>
            </a:r>
            <a:r>
              <a:rPr sz="2000" u="heavy" spc="42" dirty="0">
                <a:solidFill>
                  <a:srgbClr val="E90A01"/>
                </a:solidFill>
                <a:uFill>
                  <a:solidFill>
                    <a:srgbClr val="C30808"/>
                  </a:solidFill>
                </a:uFill>
                <a:latin typeface="Arial MT"/>
                <a:cs typeface="Arial MT"/>
              </a:rPr>
              <a:t> </a:t>
            </a:r>
            <a:r>
              <a:rPr sz="2000" u="heavy" dirty="0">
                <a:solidFill>
                  <a:srgbClr val="F90105"/>
                </a:solidFill>
                <a:uFill>
                  <a:solidFill>
                    <a:srgbClr val="C30808"/>
                  </a:solidFill>
                </a:uFill>
                <a:latin typeface="Arial MT"/>
                <a:cs typeface="Arial MT"/>
              </a:rPr>
              <a:t>Formula</a:t>
            </a:r>
            <a:r>
              <a:rPr sz="2000" u="heavy" spc="77" dirty="0">
                <a:solidFill>
                  <a:srgbClr val="F90105"/>
                </a:solidFill>
                <a:uFill>
                  <a:solidFill>
                    <a:srgbClr val="C30808"/>
                  </a:solidFill>
                </a:uFill>
                <a:latin typeface="Arial MT"/>
                <a:cs typeface="Arial MT"/>
              </a:rPr>
              <a:t> </a:t>
            </a:r>
            <a:r>
              <a:rPr sz="2000" u="heavy" spc="-16" dirty="0">
                <a:solidFill>
                  <a:srgbClr val="FB0303"/>
                </a:solidFill>
                <a:uFill>
                  <a:solidFill>
                    <a:srgbClr val="C30808"/>
                  </a:solidFill>
                </a:uFill>
                <a:latin typeface="Arial MT"/>
                <a:cs typeface="Arial MT"/>
              </a:rPr>
              <a:t>is:</a:t>
            </a:r>
            <a:endParaRPr sz="2000" dirty="0">
              <a:latin typeface="Arial MT"/>
              <a:cs typeface="Arial MT"/>
            </a:endParaRPr>
          </a:p>
        </p:txBody>
      </p:sp>
      <p:pic>
        <p:nvPicPr>
          <p:cNvPr id="20" name="Picture 19">
            <a:extLst>
              <a:ext uri="{FF2B5EF4-FFF2-40B4-BE49-F238E27FC236}">
                <a16:creationId xmlns:a16="http://schemas.microsoft.com/office/drawing/2014/main" id="{E574315B-09D5-4097-B1D7-D0F9A9ECE85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160634" y="6626"/>
            <a:ext cx="2031366" cy="112853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154A6AE8-7E53-47C9-91DD-63BC393038B5}"/>
              </a:ext>
            </a:extLst>
          </p:cNvPr>
          <p:cNvPicPr>
            <a:picLocks noChangeAspect="1"/>
          </p:cNvPicPr>
          <p:nvPr/>
        </p:nvPicPr>
        <p:blipFill>
          <a:blip r:embed="rId7"/>
          <a:stretch>
            <a:fillRect/>
          </a:stretch>
        </p:blipFill>
        <p:spPr>
          <a:xfrm>
            <a:off x="3810000" y="4180786"/>
            <a:ext cx="3810000" cy="904875"/>
          </a:xfrm>
          <a:prstGeom prst="rect">
            <a:avLst/>
          </a:prstGeom>
        </p:spPr>
      </p:pic>
      <p:pic>
        <p:nvPicPr>
          <p:cNvPr id="24" name="Picture 23">
            <a:extLst>
              <a:ext uri="{FF2B5EF4-FFF2-40B4-BE49-F238E27FC236}">
                <a16:creationId xmlns:a16="http://schemas.microsoft.com/office/drawing/2014/main" id="{047FF604-A56D-4560-9842-F6090F2BD6D7}"/>
              </a:ext>
            </a:extLst>
          </p:cNvPr>
          <p:cNvPicPr>
            <a:picLocks noChangeAspect="1"/>
          </p:cNvPicPr>
          <p:nvPr/>
        </p:nvPicPr>
        <p:blipFill rotWithShape="1">
          <a:blip r:embed="rId8"/>
          <a:srcRect t="2822"/>
          <a:stretch/>
        </p:blipFill>
        <p:spPr>
          <a:xfrm>
            <a:off x="2160652" y="5147278"/>
            <a:ext cx="6179565" cy="152445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7815" y="790454"/>
            <a:ext cx="11169785" cy="676165"/>
          </a:xfrm>
          <a:prstGeom prst="rect">
            <a:avLst/>
          </a:prstGeom>
        </p:spPr>
        <p:txBody>
          <a:bodyPr vert="horz" wrap="square" lIns="0" tIns="120986" rIns="0" bIns="0" rtlCol="0">
            <a:spAutoFit/>
          </a:bodyPr>
          <a:lstStyle/>
          <a:p>
            <a:pPr marL="9773">
              <a:spcBef>
                <a:spcPts val="87"/>
              </a:spcBef>
            </a:pPr>
            <a:r>
              <a:rPr sz="3600" dirty="0">
                <a:solidFill>
                  <a:srgbClr val="002357"/>
                </a:solidFill>
              </a:rPr>
              <a:t>Example</a:t>
            </a:r>
            <a:r>
              <a:rPr lang="en-US" sz="3600" dirty="0">
                <a:solidFill>
                  <a:srgbClr val="002357"/>
                </a:solidFill>
              </a:rPr>
              <a:t> 1</a:t>
            </a:r>
            <a:r>
              <a:rPr sz="3600" dirty="0">
                <a:solidFill>
                  <a:srgbClr val="002357"/>
                </a:solidFill>
              </a:rPr>
              <a:t>:</a:t>
            </a:r>
            <a:r>
              <a:rPr sz="3600" spc="144" dirty="0">
                <a:solidFill>
                  <a:srgbClr val="002357"/>
                </a:solidFill>
              </a:rPr>
              <a:t> </a:t>
            </a:r>
            <a:r>
              <a:rPr sz="3600" spc="32" dirty="0">
                <a:solidFill>
                  <a:srgbClr val="052367"/>
                </a:solidFill>
              </a:rPr>
              <a:t>Comparing</a:t>
            </a:r>
            <a:r>
              <a:rPr sz="3600" spc="189" dirty="0">
                <a:solidFill>
                  <a:srgbClr val="052367"/>
                </a:solidFill>
              </a:rPr>
              <a:t> </a:t>
            </a:r>
            <a:r>
              <a:rPr sz="3600" dirty="0">
                <a:solidFill>
                  <a:srgbClr val="00215B"/>
                </a:solidFill>
              </a:rPr>
              <a:t>Two</a:t>
            </a:r>
            <a:r>
              <a:rPr sz="3600" spc="38" dirty="0">
                <a:solidFill>
                  <a:srgbClr val="00215B"/>
                </a:solidFill>
              </a:rPr>
              <a:t> </a:t>
            </a:r>
            <a:r>
              <a:rPr sz="3600" spc="45" dirty="0">
                <a:solidFill>
                  <a:srgbClr val="002160"/>
                </a:solidFill>
              </a:rPr>
              <a:t>Projects</a:t>
            </a:r>
            <a:r>
              <a:rPr sz="3600" spc="73" dirty="0">
                <a:solidFill>
                  <a:srgbClr val="002160"/>
                </a:solidFill>
              </a:rPr>
              <a:t> </a:t>
            </a:r>
            <a:r>
              <a:rPr sz="3600" spc="48" dirty="0">
                <a:solidFill>
                  <a:srgbClr val="00215D"/>
                </a:solidFill>
              </a:rPr>
              <a:t>Using</a:t>
            </a:r>
            <a:r>
              <a:rPr sz="3600" spc="58" dirty="0">
                <a:solidFill>
                  <a:srgbClr val="00215D"/>
                </a:solidFill>
              </a:rPr>
              <a:t> </a:t>
            </a:r>
            <a:r>
              <a:rPr sz="3600" dirty="0">
                <a:solidFill>
                  <a:srgbClr val="01215B"/>
                </a:solidFill>
              </a:rPr>
              <a:t>NPV</a:t>
            </a:r>
            <a:r>
              <a:rPr sz="3600" spc="61" dirty="0">
                <a:solidFill>
                  <a:srgbClr val="01215B"/>
                </a:solidFill>
              </a:rPr>
              <a:t> </a:t>
            </a:r>
            <a:r>
              <a:rPr sz="3600" spc="-6" dirty="0">
                <a:solidFill>
                  <a:srgbClr val="011F60"/>
                </a:solidFill>
              </a:rPr>
              <a:t>Method</a:t>
            </a:r>
            <a:endParaRPr sz="3600" dirty="0"/>
          </a:p>
        </p:txBody>
      </p:sp>
      <p:sp>
        <p:nvSpPr>
          <p:cNvPr id="16" name="object 16"/>
          <p:cNvSpPr txBox="1">
            <a:spLocks noGrp="1"/>
          </p:cNvSpPr>
          <p:nvPr>
            <p:ph type="sldNum" sz="quarter" idx="7"/>
          </p:nvPr>
        </p:nvSpPr>
        <p:spPr>
          <a:xfrm>
            <a:off x="12846416" y="4123060"/>
            <a:ext cx="156789" cy="373444"/>
          </a:xfrm>
          <a:prstGeom prst="rect">
            <a:avLst/>
          </a:prstGeom>
        </p:spPr>
        <p:txBody>
          <a:bodyPr vert="horz" wrap="square" lIns="0" tIns="4072" rIns="0" bIns="0" rtlCol="0">
            <a:spAutoFit/>
          </a:bodyPr>
          <a:lstStyle/>
          <a:p>
            <a:pPr marL="27284">
              <a:spcBef>
                <a:spcPts val="32"/>
              </a:spcBef>
            </a:pPr>
            <a:fld id="{81D60167-4931-47E6-BA6A-407CBD079E47}" type="slidenum">
              <a:rPr spc="-16" dirty="0"/>
              <a:pPr marL="27284">
                <a:spcBef>
                  <a:spcPts val="32"/>
                </a:spcBef>
              </a:pPr>
              <a:t>11</a:t>
            </a:fld>
            <a:endParaRPr spc="-16" dirty="0"/>
          </a:p>
        </p:txBody>
      </p:sp>
      <p:pic>
        <p:nvPicPr>
          <p:cNvPr id="17" name="Picture 16">
            <a:extLst>
              <a:ext uri="{FF2B5EF4-FFF2-40B4-BE49-F238E27FC236}">
                <a16:creationId xmlns:a16="http://schemas.microsoft.com/office/drawing/2014/main" id="{1118AC1D-0B51-4292-BE68-C861F1F56F0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2A173AD8-C682-47CF-B1AD-DA638524EE77}"/>
              </a:ext>
            </a:extLst>
          </p:cNvPr>
          <p:cNvPicPr>
            <a:picLocks noChangeAspect="1"/>
          </p:cNvPicPr>
          <p:nvPr/>
        </p:nvPicPr>
        <p:blipFill>
          <a:blip r:embed="rId3"/>
          <a:stretch>
            <a:fillRect/>
          </a:stretch>
        </p:blipFill>
        <p:spPr>
          <a:xfrm>
            <a:off x="1123950" y="1713235"/>
            <a:ext cx="9944100" cy="48196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67681-519A-476D-B109-B6632757F764}"/>
              </a:ext>
            </a:extLst>
          </p:cNvPr>
          <p:cNvSpPr>
            <a:spLocks noGrp="1"/>
          </p:cNvSpPr>
          <p:nvPr>
            <p:ph type="title"/>
          </p:nvPr>
        </p:nvSpPr>
        <p:spPr>
          <a:xfrm>
            <a:off x="916939" y="615856"/>
            <a:ext cx="11233150" cy="677108"/>
          </a:xfrm>
        </p:spPr>
        <p:txBody>
          <a:bodyPr/>
          <a:lstStyle/>
          <a:p>
            <a:r>
              <a:rPr lang="en-US" sz="4400" dirty="0">
                <a:solidFill>
                  <a:srgbClr val="002357"/>
                </a:solidFill>
              </a:rPr>
              <a:t>Example 2:</a:t>
            </a:r>
            <a:endParaRPr lang="en-US" dirty="0"/>
          </a:p>
        </p:txBody>
      </p:sp>
      <p:sp>
        <p:nvSpPr>
          <p:cNvPr id="3" name="Text Placeholder 2">
            <a:extLst>
              <a:ext uri="{FF2B5EF4-FFF2-40B4-BE49-F238E27FC236}">
                <a16:creationId xmlns:a16="http://schemas.microsoft.com/office/drawing/2014/main" id="{37335AB6-FA24-4C70-9707-48C16606C16B}"/>
              </a:ext>
            </a:extLst>
          </p:cNvPr>
          <p:cNvSpPr>
            <a:spLocks noGrp="1"/>
          </p:cNvSpPr>
          <p:nvPr>
            <p:ph type="body" idx="1"/>
          </p:nvPr>
        </p:nvSpPr>
        <p:spPr>
          <a:xfrm>
            <a:off x="916940" y="1905000"/>
            <a:ext cx="10358120" cy="1723549"/>
          </a:xfrm>
        </p:spPr>
        <p:txBody>
          <a:bodyPr/>
          <a:lstStyle/>
          <a:p>
            <a:pPr>
              <a:buFont typeface="Arial" panose="020B0604020202020204" pitchFamily="34" charset="0"/>
              <a:buChar char="•"/>
            </a:pPr>
            <a:r>
              <a:rPr lang="en-US" dirty="0"/>
              <a:t>Suppose a project requires an initial investment of $100,000 and is expected to generate cash inflows of $30,000 annually for five years. If the discount rate is 10%, the NPV is calculated as:</a:t>
            </a:r>
          </a:p>
          <a:p>
            <a:r>
              <a:rPr lang="en-US" dirty="0"/>
              <a:t>NPV = </a:t>
            </a:r>
          </a:p>
        </p:txBody>
      </p:sp>
      <p:pic>
        <p:nvPicPr>
          <p:cNvPr id="4" name="Picture 3">
            <a:extLst>
              <a:ext uri="{FF2B5EF4-FFF2-40B4-BE49-F238E27FC236}">
                <a16:creationId xmlns:a16="http://schemas.microsoft.com/office/drawing/2014/main" id="{70BA0E3F-3A07-4E2D-AC33-F1600BF45F0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E3587B68-ADB0-4F31-9749-9A3379655BFE}"/>
              </a:ext>
            </a:extLst>
          </p:cNvPr>
          <p:cNvPicPr>
            <a:picLocks noChangeAspect="1"/>
          </p:cNvPicPr>
          <p:nvPr/>
        </p:nvPicPr>
        <p:blipFill>
          <a:blip r:embed="rId3"/>
          <a:stretch>
            <a:fillRect/>
          </a:stretch>
        </p:blipFill>
        <p:spPr>
          <a:xfrm>
            <a:off x="943443" y="4038600"/>
            <a:ext cx="10267950" cy="952500"/>
          </a:xfrm>
          <a:prstGeom prst="rect">
            <a:avLst/>
          </a:prstGeom>
        </p:spPr>
      </p:pic>
      <p:sp>
        <p:nvSpPr>
          <p:cNvPr id="8" name="TextBox 7">
            <a:extLst>
              <a:ext uri="{FF2B5EF4-FFF2-40B4-BE49-F238E27FC236}">
                <a16:creationId xmlns:a16="http://schemas.microsoft.com/office/drawing/2014/main" id="{4C5496E1-086A-4CAE-A5E4-D807028DCA44}"/>
              </a:ext>
            </a:extLst>
          </p:cNvPr>
          <p:cNvSpPr txBox="1"/>
          <p:nvPr/>
        </p:nvSpPr>
        <p:spPr>
          <a:xfrm>
            <a:off x="960008" y="5401151"/>
            <a:ext cx="7955392" cy="369332"/>
          </a:xfrm>
          <a:prstGeom prst="rect">
            <a:avLst/>
          </a:prstGeom>
          <a:noFill/>
        </p:spPr>
        <p:txBody>
          <a:bodyPr wrap="square">
            <a:spAutoFit/>
          </a:bodyPr>
          <a:lstStyle/>
          <a:p>
            <a:r>
              <a:rPr lang="en-US" dirty="0"/>
              <a:t>This results in a positive or negative NPV, guiding the decision.</a:t>
            </a:r>
          </a:p>
        </p:txBody>
      </p:sp>
    </p:spTree>
    <p:extLst>
      <p:ext uri="{BB962C8B-B14F-4D97-AF65-F5344CB8AC3E}">
        <p14:creationId xmlns:p14="http://schemas.microsoft.com/office/powerpoint/2010/main" val="2091824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2E0A8-E8C1-45AB-84B6-BA989A396224}"/>
              </a:ext>
            </a:extLst>
          </p:cNvPr>
          <p:cNvSpPr>
            <a:spLocks noGrp="1"/>
          </p:cNvSpPr>
          <p:nvPr>
            <p:ph type="title"/>
          </p:nvPr>
        </p:nvSpPr>
        <p:spPr/>
        <p:txBody>
          <a:bodyPr/>
          <a:lstStyle/>
          <a:p>
            <a:r>
              <a:rPr lang="en-US" sz="4400" dirty="0">
                <a:solidFill>
                  <a:srgbClr val="002357"/>
                </a:solidFill>
              </a:rPr>
              <a:t>Example 3:</a:t>
            </a:r>
          </a:p>
        </p:txBody>
      </p:sp>
      <p:sp>
        <p:nvSpPr>
          <p:cNvPr id="3" name="Text Placeholder 2">
            <a:extLst>
              <a:ext uri="{FF2B5EF4-FFF2-40B4-BE49-F238E27FC236}">
                <a16:creationId xmlns:a16="http://schemas.microsoft.com/office/drawing/2014/main" id="{B6E91A94-4CF6-4EFA-A7A8-D8379B72952F}"/>
              </a:ext>
            </a:extLst>
          </p:cNvPr>
          <p:cNvSpPr>
            <a:spLocks noGrp="1"/>
          </p:cNvSpPr>
          <p:nvPr>
            <p:ph type="body" idx="1"/>
          </p:nvPr>
        </p:nvSpPr>
        <p:spPr>
          <a:xfrm>
            <a:off x="943443" y="1752600"/>
            <a:ext cx="10358120" cy="1292662"/>
          </a:xfrm>
        </p:spPr>
        <p:txBody>
          <a:bodyPr/>
          <a:lstStyle/>
          <a:p>
            <a:r>
              <a:rPr lang="en-US" dirty="0"/>
              <a:t>Imagine a company is considering investing in a new project. The project requires an initial investment and is expected to generate cash inflows over several years.</a:t>
            </a:r>
          </a:p>
        </p:txBody>
      </p:sp>
      <p:sp>
        <p:nvSpPr>
          <p:cNvPr id="5" name="TextBox 4">
            <a:extLst>
              <a:ext uri="{FF2B5EF4-FFF2-40B4-BE49-F238E27FC236}">
                <a16:creationId xmlns:a16="http://schemas.microsoft.com/office/drawing/2014/main" id="{8A51F056-1E83-4B20-9E0C-03C4B498FDC4}"/>
              </a:ext>
            </a:extLst>
          </p:cNvPr>
          <p:cNvSpPr txBox="1"/>
          <p:nvPr/>
        </p:nvSpPr>
        <p:spPr>
          <a:xfrm>
            <a:off x="916939" y="3276600"/>
            <a:ext cx="6096000" cy="2585323"/>
          </a:xfrm>
          <a:prstGeom prst="rect">
            <a:avLst/>
          </a:prstGeom>
          <a:noFill/>
        </p:spPr>
        <p:txBody>
          <a:bodyPr wrap="square">
            <a:spAutoFit/>
          </a:bodyPr>
          <a:lstStyle/>
          <a:p>
            <a:r>
              <a:rPr lang="en-US" b="1" dirty="0"/>
              <a:t>Project Details</a:t>
            </a:r>
          </a:p>
          <a:p>
            <a:pPr>
              <a:buFont typeface="Arial" panose="020B0604020202020204" pitchFamily="34" charset="0"/>
              <a:buChar char="•"/>
            </a:pPr>
            <a:r>
              <a:rPr lang="en-US" b="1" dirty="0"/>
              <a:t>Initial Investment</a:t>
            </a:r>
            <a:r>
              <a:rPr lang="en-US" dirty="0"/>
              <a:t>: $100,000</a:t>
            </a:r>
          </a:p>
          <a:p>
            <a:pPr>
              <a:buFont typeface="Arial" panose="020B0604020202020204" pitchFamily="34" charset="0"/>
              <a:buChar char="•"/>
            </a:pPr>
            <a:r>
              <a:rPr lang="en-US" b="1" dirty="0"/>
              <a:t>Annual Cash Inflows</a:t>
            </a:r>
            <a:r>
              <a:rPr lang="en-US" dirty="0"/>
              <a:t>: </a:t>
            </a:r>
          </a:p>
          <a:p>
            <a:pPr marL="742950" lvl="1" indent="-285750">
              <a:buFont typeface="Arial" panose="020B0604020202020204" pitchFamily="34" charset="0"/>
              <a:buChar char="•"/>
            </a:pPr>
            <a:r>
              <a:rPr lang="en-US" dirty="0"/>
              <a:t>Year 1: $30,000</a:t>
            </a:r>
          </a:p>
          <a:p>
            <a:pPr marL="742950" lvl="1" indent="-285750">
              <a:buFont typeface="Arial" panose="020B0604020202020204" pitchFamily="34" charset="0"/>
              <a:buChar char="•"/>
            </a:pPr>
            <a:r>
              <a:rPr lang="en-US" dirty="0"/>
              <a:t>Year 2: $35,000</a:t>
            </a:r>
          </a:p>
          <a:p>
            <a:pPr marL="742950" lvl="1" indent="-285750">
              <a:buFont typeface="Arial" panose="020B0604020202020204" pitchFamily="34" charset="0"/>
              <a:buChar char="•"/>
            </a:pPr>
            <a:r>
              <a:rPr lang="en-US" dirty="0"/>
              <a:t>Year 3: $40,000</a:t>
            </a:r>
          </a:p>
          <a:p>
            <a:pPr marL="742950" lvl="1" indent="-285750">
              <a:buFont typeface="Arial" panose="020B0604020202020204" pitchFamily="34" charset="0"/>
              <a:buChar char="•"/>
            </a:pPr>
            <a:r>
              <a:rPr lang="en-US" dirty="0"/>
              <a:t>Year 4: $45,000</a:t>
            </a:r>
          </a:p>
          <a:p>
            <a:pPr marL="742950" lvl="1" indent="-285750">
              <a:buFont typeface="Arial" panose="020B0604020202020204" pitchFamily="34" charset="0"/>
              <a:buChar char="•"/>
            </a:pPr>
            <a:r>
              <a:rPr lang="en-US" dirty="0"/>
              <a:t>Year 5: $50,000</a:t>
            </a:r>
          </a:p>
          <a:p>
            <a:pPr>
              <a:buFont typeface="Arial" panose="020B0604020202020204" pitchFamily="34" charset="0"/>
              <a:buChar char="•"/>
            </a:pPr>
            <a:r>
              <a:rPr lang="en-US" b="1" dirty="0"/>
              <a:t>Discount Rate</a:t>
            </a:r>
            <a:r>
              <a:rPr lang="en-US" dirty="0"/>
              <a:t>: 10%</a:t>
            </a:r>
          </a:p>
        </p:txBody>
      </p:sp>
      <p:pic>
        <p:nvPicPr>
          <p:cNvPr id="6" name="Picture 5">
            <a:extLst>
              <a:ext uri="{FF2B5EF4-FFF2-40B4-BE49-F238E27FC236}">
                <a16:creationId xmlns:a16="http://schemas.microsoft.com/office/drawing/2014/main" id="{F0D80A3F-6549-423A-9C96-385C2382E78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4366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BAE8C-C85E-48E2-948F-BE448AFEA618}"/>
              </a:ext>
            </a:extLst>
          </p:cNvPr>
          <p:cNvSpPr>
            <a:spLocks noGrp="1"/>
          </p:cNvSpPr>
          <p:nvPr>
            <p:ph type="title"/>
          </p:nvPr>
        </p:nvSpPr>
        <p:spPr>
          <a:xfrm>
            <a:off x="916939" y="615856"/>
            <a:ext cx="11233150" cy="1323439"/>
          </a:xfrm>
        </p:spPr>
        <p:txBody>
          <a:bodyPr/>
          <a:lstStyle/>
          <a:p>
            <a:r>
              <a:rPr lang="en-US" b="1" dirty="0"/>
              <a:t>Calculate NPV</a:t>
            </a:r>
            <a:br>
              <a:rPr lang="en-US" b="1" dirty="0"/>
            </a:br>
            <a:endParaRPr lang="en-US" dirty="0"/>
          </a:p>
        </p:txBody>
      </p:sp>
      <p:sp>
        <p:nvSpPr>
          <p:cNvPr id="3" name="Text Placeholder 2">
            <a:extLst>
              <a:ext uri="{FF2B5EF4-FFF2-40B4-BE49-F238E27FC236}">
                <a16:creationId xmlns:a16="http://schemas.microsoft.com/office/drawing/2014/main" id="{905265CA-C4CA-424F-B497-AC15FBDEBE32}"/>
              </a:ext>
            </a:extLst>
          </p:cNvPr>
          <p:cNvSpPr>
            <a:spLocks noGrp="1"/>
          </p:cNvSpPr>
          <p:nvPr>
            <p:ph type="body" idx="1"/>
          </p:nvPr>
        </p:nvSpPr>
        <p:spPr>
          <a:xfrm>
            <a:off x="818197" y="1917959"/>
            <a:ext cx="10358120" cy="1292662"/>
          </a:xfrm>
        </p:spPr>
        <p:txBody>
          <a:bodyPr/>
          <a:lstStyle/>
          <a:p>
            <a:r>
              <a:rPr lang="en-US" b="1" dirty="0"/>
              <a:t>Step 1: Calculate NPV</a:t>
            </a:r>
          </a:p>
          <a:p>
            <a:r>
              <a:rPr lang="en-US" b="1" dirty="0"/>
              <a:t>Formula</a:t>
            </a:r>
            <a:r>
              <a:rPr lang="en-US" dirty="0"/>
              <a:t>:</a:t>
            </a:r>
          </a:p>
          <a:p>
            <a:r>
              <a:rPr lang="en-US" dirty="0"/>
              <a:t>NPV=</a:t>
            </a:r>
          </a:p>
        </p:txBody>
      </p:sp>
      <p:pic>
        <p:nvPicPr>
          <p:cNvPr id="4" name="Picture 3">
            <a:extLst>
              <a:ext uri="{FF2B5EF4-FFF2-40B4-BE49-F238E27FC236}">
                <a16:creationId xmlns:a16="http://schemas.microsoft.com/office/drawing/2014/main" id="{E8238C7F-AB3E-409D-9D12-D4863FD8B6B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390EDF6-BC64-402E-98A0-0557BFD75C2C}"/>
              </a:ext>
            </a:extLst>
          </p:cNvPr>
          <p:cNvPicPr>
            <a:picLocks noChangeAspect="1"/>
          </p:cNvPicPr>
          <p:nvPr/>
        </p:nvPicPr>
        <p:blipFill>
          <a:blip r:embed="rId3"/>
          <a:stretch>
            <a:fillRect/>
          </a:stretch>
        </p:blipFill>
        <p:spPr>
          <a:xfrm>
            <a:off x="1676400" y="2929382"/>
            <a:ext cx="8267700" cy="3276600"/>
          </a:xfrm>
          <a:prstGeom prst="rect">
            <a:avLst/>
          </a:prstGeom>
        </p:spPr>
      </p:pic>
    </p:spTree>
    <p:extLst>
      <p:ext uri="{BB962C8B-B14F-4D97-AF65-F5344CB8AC3E}">
        <p14:creationId xmlns:p14="http://schemas.microsoft.com/office/powerpoint/2010/main" val="2283937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6A984-B644-4303-B489-E623119AA0FD}"/>
              </a:ext>
            </a:extLst>
          </p:cNvPr>
          <p:cNvSpPr>
            <a:spLocks noGrp="1"/>
          </p:cNvSpPr>
          <p:nvPr>
            <p:ph type="title"/>
          </p:nvPr>
        </p:nvSpPr>
        <p:spPr/>
        <p:txBody>
          <a:bodyPr/>
          <a:lstStyle/>
          <a:p>
            <a:r>
              <a:rPr lang="en-US" dirty="0"/>
              <a:t>Solution </a:t>
            </a:r>
          </a:p>
        </p:txBody>
      </p:sp>
      <p:sp>
        <p:nvSpPr>
          <p:cNvPr id="3" name="Text Placeholder 2">
            <a:extLst>
              <a:ext uri="{FF2B5EF4-FFF2-40B4-BE49-F238E27FC236}">
                <a16:creationId xmlns:a16="http://schemas.microsoft.com/office/drawing/2014/main" id="{11210510-51BF-463F-A7FB-451C0F073400}"/>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9E751DD6-2FE0-41A5-B0AD-B3F497D45446}"/>
              </a:ext>
            </a:extLst>
          </p:cNvPr>
          <p:cNvPicPr>
            <a:picLocks noChangeAspect="1"/>
          </p:cNvPicPr>
          <p:nvPr/>
        </p:nvPicPr>
        <p:blipFill>
          <a:blip r:embed="rId2"/>
          <a:stretch>
            <a:fillRect/>
          </a:stretch>
        </p:blipFill>
        <p:spPr>
          <a:xfrm>
            <a:off x="762000" y="1600200"/>
            <a:ext cx="7762875" cy="5124450"/>
          </a:xfrm>
          <a:prstGeom prst="rect">
            <a:avLst/>
          </a:prstGeom>
        </p:spPr>
      </p:pic>
    </p:spTree>
    <p:extLst>
      <p:ext uri="{BB962C8B-B14F-4D97-AF65-F5344CB8AC3E}">
        <p14:creationId xmlns:p14="http://schemas.microsoft.com/office/powerpoint/2010/main" val="1104769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9F9A4-15DE-41A3-B220-1B5108F01C8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209E724-DDA6-460D-935D-94FB2232AA6D}"/>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4317CB3A-1499-4389-B421-B7EAE5E6078A}"/>
              </a:ext>
            </a:extLst>
          </p:cNvPr>
          <p:cNvPicPr>
            <a:picLocks noChangeAspect="1"/>
          </p:cNvPicPr>
          <p:nvPr/>
        </p:nvPicPr>
        <p:blipFill>
          <a:blip r:embed="rId2"/>
          <a:stretch>
            <a:fillRect/>
          </a:stretch>
        </p:blipFill>
        <p:spPr>
          <a:xfrm>
            <a:off x="1843087" y="353028"/>
            <a:ext cx="8096250" cy="3333750"/>
          </a:xfrm>
          <a:prstGeom prst="rect">
            <a:avLst/>
          </a:prstGeom>
        </p:spPr>
      </p:pic>
      <p:pic>
        <p:nvPicPr>
          <p:cNvPr id="7" name="Picture 6">
            <a:extLst>
              <a:ext uri="{FF2B5EF4-FFF2-40B4-BE49-F238E27FC236}">
                <a16:creationId xmlns:a16="http://schemas.microsoft.com/office/drawing/2014/main" id="{0E4091C6-F427-4D11-9178-577832CD0BA3}"/>
              </a:ext>
            </a:extLst>
          </p:cNvPr>
          <p:cNvPicPr>
            <a:picLocks noChangeAspect="1"/>
          </p:cNvPicPr>
          <p:nvPr/>
        </p:nvPicPr>
        <p:blipFill>
          <a:blip r:embed="rId3"/>
          <a:stretch>
            <a:fillRect/>
          </a:stretch>
        </p:blipFill>
        <p:spPr>
          <a:xfrm>
            <a:off x="685800" y="3732972"/>
            <a:ext cx="10410825" cy="3009900"/>
          </a:xfrm>
          <a:prstGeom prst="rect">
            <a:avLst/>
          </a:prstGeom>
        </p:spPr>
      </p:pic>
    </p:spTree>
    <p:extLst>
      <p:ext uri="{BB962C8B-B14F-4D97-AF65-F5344CB8AC3E}">
        <p14:creationId xmlns:p14="http://schemas.microsoft.com/office/powerpoint/2010/main" val="1001205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FE9E3-8BC7-4EE0-B3F7-EA6897A70093}"/>
              </a:ext>
            </a:extLst>
          </p:cNvPr>
          <p:cNvSpPr>
            <a:spLocks noGrp="1"/>
          </p:cNvSpPr>
          <p:nvPr>
            <p:ph type="title"/>
          </p:nvPr>
        </p:nvSpPr>
        <p:spPr/>
        <p:txBody>
          <a:bodyPr/>
          <a:lstStyle/>
          <a:p>
            <a:r>
              <a:rPr lang="en-US" b="1" dirty="0"/>
              <a:t>Calculate payload </a:t>
            </a:r>
          </a:p>
        </p:txBody>
      </p:sp>
      <p:sp>
        <p:nvSpPr>
          <p:cNvPr id="3" name="Text Placeholder 2">
            <a:extLst>
              <a:ext uri="{FF2B5EF4-FFF2-40B4-BE49-F238E27FC236}">
                <a16:creationId xmlns:a16="http://schemas.microsoft.com/office/drawing/2014/main" id="{FB940599-81FA-498B-B422-E66E2F6292EE}"/>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361F0ABB-B1DD-4E9F-AB0D-C67C20B96527}"/>
              </a:ext>
            </a:extLst>
          </p:cNvPr>
          <p:cNvPicPr>
            <a:picLocks noChangeAspect="1"/>
          </p:cNvPicPr>
          <p:nvPr/>
        </p:nvPicPr>
        <p:blipFill>
          <a:blip r:embed="rId2"/>
          <a:stretch>
            <a:fillRect/>
          </a:stretch>
        </p:blipFill>
        <p:spPr>
          <a:xfrm>
            <a:off x="1152524" y="1466850"/>
            <a:ext cx="9886950" cy="5391150"/>
          </a:xfrm>
          <a:prstGeom prst="rect">
            <a:avLst/>
          </a:prstGeom>
        </p:spPr>
      </p:pic>
    </p:spTree>
    <p:extLst>
      <p:ext uri="{BB962C8B-B14F-4D97-AF65-F5344CB8AC3E}">
        <p14:creationId xmlns:p14="http://schemas.microsoft.com/office/powerpoint/2010/main" val="109867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93B86-C151-4072-8439-5E8A381A6779}"/>
              </a:ext>
            </a:extLst>
          </p:cNvPr>
          <p:cNvSpPr>
            <a:spLocks noGrp="1"/>
          </p:cNvSpPr>
          <p:nvPr>
            <p:ph type="title"/>
          </p:nvPr>
        </p:nvSpPr>
        <p:spPr/>
        <p:txBody>
          <a:bodyPr/>
          <a:lstStyle/>
          <a:p>
            <a:r>
              <a:rPr lang="en-US" dirty="0"/>
              <a:t>Solution </a:t>
            </a:r>
          </a:p>
        </p:txBody>
      </p:sp>
      <p:sp>
        <p:nvSpPr>
          <p:cNvPr id="3" name="Text Placeholder 2">
            <a:extLst>
              <a:ext uri="{FF2B5EF4-FFF2-40B4-BE49-F238E27FC236}">
                <a16:creationId xmlns:a16="http://schemas.microsoft.com/office/drawing/2014/main" id="{5BE5582E-9D76-4538-ABDE-B5F4AE58961F}"/>
              </a:ext>
            </a:extLst>
          </p:cNvPr>
          <p:cNvSpPr>
            <a:spLocks noGrp="1"/>
          </p:cNvSpPr>
          <p:nvPr>
            <p:ph type="body" idx="1"/>
          </p:nvPr>
        </p:nvSpPr>
        <p:spPr>
          <a:xfrm>
            <a:off x="1354454" y="3749695"/>
            <a:ext cx="10358120" cy="3016210"/>
          </a:xfrm>
        </p:spPr>
        <p:txBody>
          <a:bodyPr/>
          <a:lstStyle/>
          <a:p>
            <a:r>
              <a:rPr lang="en-US" b="1" dirty="0"/>
              <a:t>Summary of Results</a:t>
            </a:r>
          </a:p>
          <a:p>
            <a:pPr>
              <a:buFont typeface="Arial" panose="020B0604020202020204" pitchFamily="34" charset="0"/>
              <a:buChar char="•"/>
            </a:pPr>
            <a:r>
              <a:rPr lang="en-US" b="1" dirty="0"/>
              <a:t>NPV</a:t>
            </a:r>
            <a:r>
              <a:rPr lang="en-US" dirty="0"/>
              <a:t>: $48,068.95 (indicating the project is expected to generate value)</a:t>
            </a:r>
          </a:p>
          <a:p>
            <a:pPr>
              <a:buFont typeface="Arial" panose="020B0604020202020204" pitchFamily="34" charset="0"/>
              <a:buChar char="•"/>
            </a:pPr>
            <a:r>
              <a:rPr lang="en-US" b="1" dirty="0"/>
              <a:t>Payload</a:t>
            </a:r>
            <a:r>
              <a:rPr lang="en-US" dirty="0"/>
              <a:t>: 2.0 (indicating that for every dollar spent, the project generates $2 in revenue)</a:t>
            </a:r>
          </a:p>
          <a:p>
            <a:r>
              <a:rPr lang="en-US" dirty="0"/>
              <a:t>This example clearly shows how to calculate both NPV and payload, providing insight into the project's financial viability.</a:t>
            </a:r>
          </a:p>
          <a:p>
            <a:endParaRPr lang="en-US" dirty="0"/>
          </a:p>
        </p:txBody>
      </p:sp>
      <p:pic>
        <p:nvPicPr>
          <p:cNvPr id="5" name="Picture 4">
            <a:extLst>
              <a:ext uri="{FF2B5EF4-FFF2-40B4-BE49-F238E27FC236}">
                <a16:creationId xmlns:a16="http://schemas.microsoft.com/office/drawing/2014/main" id="{2C01056F-8CCC-4A52-901C-53A7A2A204AF}"/>
              </a:ext>
            </a:extLst>
          </p:cNvPr>
          <p:cNvPicPr>
            <a:picLocks noChangeAspect="1"/>
          </p:cNvPicPr>
          <p:nvPr/>
        </p:nvPicPr>
        <p:blipFill>
          <a:blip r:embed="rId2"/>
          <a:stretch>
            <a:fillRect/>
          </a:stretch>
        </p:blipFill>
        <p:spPr>
          <a:xfrm>
            <a:off x="1600200" y="1600200"/>
            <a:ext cx="7648575" cy="2076450"/>
          </a:xfrm>
          <a:prstGeom prst="rect">
            <a:avLst/>
          </a:prstGeom>
        </p:spPr>
      </p:pic>
    </p:spTree>
    <p:extLst>
      <p:ext uri="{BB962C8B-B14F-4D97-AF65-F5344CB8AC3E}">
        <p14:creationId xmlns:p14="http://schemas.microsoft.com/office/powerpoint/2010/main" val="2601159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12846416" y="4123060"/>
            <a:ext cx="156789" cy="76944"/>
          </a:xfrm>
          <a:prstGeom prst="rect">
            <a:avLst/>
          </a:prstGeom>
        </p:spPr>
        <p:txBody>
          <a:bodyPr vert="horz" wrap="square" lIns="0" tIns="0" rIns="0" bIns="0" rtlCol="0">
            <a:spAutoFit/>
          </a:bodyPr>
          <a:lstStyle/>
          <a:p>
            <a:pPr marL="25655">
              <a:lnSpc>
                <a:spcPts val="621"/>
              </a:lnSpc>
            </a:pPr>
            <a:fld id="{81D60167-4931-47E6-BA6A-407CBD079E47}" type="slidenum">
              <a:rPr sz="577" spc="-16" dirty="0">
                <a:latin typeface="Consolas"/>
                <a:cs typeface="Consolas"/>
              </a:rPr>
              <a:pPr marL="25655">
                <a:lnSpc>
                  <a:spcPts val="621"/>
                </a:lnSpc>
              </a:pPr>
              <a:t>19</a:t>
            </a:fld>
            <a:endParaRPr sz="577">
              <a:latin typeface="Consolas"/>
              <a:cs typeface="Consolas"/>
            </a:endParaRPr>
          </a:p>
        </p:txBody>
      </p:sp>
      <p:sp>
        <p:nvSpPr>
          <p:cNvPr id="2" name="object 2"/>
          <p:cNvSpPr txBox="1">
            <a:spLocks noGrp="1"/>
          </p:cNvSpPr>
          <p:nvPr>
            <p:ph type="title"/>
          </p:nvPr>
        </p:nvSpPr>
        <p:spPr>
          <a:xfrm>
            <a:off x="1295400" y="608994"/>
            <a:ext cx="7204158" cy="593937"/>
          </a:xfrm>
          <a:prstGeom prst="rect">
            <a:avLst/>
          </a:prstGeom>
        </p:spPr>
        <p:txBody>
          <a:bodyPr vert="horz" wrap="square" lIns="0" tIns="39553" rIns="0" bIns="0" rtlCol="0">
            <a:spAutoFit/>
          </a:bodyPr>
          <a:lstStyle/>
          <a:p>
            <a:pPr marL="10995">
              <a:spcBef>
                <a:spcPts val="61"/>
              </a:spcBef>
            </a:pPr>
            <a:r>
              <a:rPr sz="3600" spc="58" dirty="0">
                <a:solidFill>
                  <a:srgbClr val="011F60"/>
                </a:solidFill>
              </a:rPr>
              <a:t>Nonfinancial</a:t>
            </a:r>
            <a:r>
              <a:rPr sz="3600" spc="205" dirty="0">
                <a:solidFill>
                  <a:srgbClr val="011F60"/>
                </a:solidFill>
              </a:rPr>
              <a:t> </a:t>
            </a:r>
            <a:r>
              <a:rPr sz="3600" spc="45" dirty="0">
                <a:solidFill>
                  <a:srgbClr val="011F60"/>
                </a:solidFill>
              </a:rPr>
              <a:t>Criteria</a:t>
            </a:r>
            <a:endParaRPr sz="3600" dirty="0"/>
          </a:p>
        </p:txBody>
      </p:sp>
      <p:sp>
        <p:nvSpPr>
          <p:cNvPr id="3" name="object 3"/>
          <p:cNvSpPr txBox="1"/>
          <p:nvPr/>
        </p:nvSpPr>
        <p:spPr>
          <a:xfrm>
            <a:off x="762000" y="2683860"/>
            <a:ext cx="9829800" cy="2878400"/>
          </a:xfrm>
          <a:prstGeom prst="rect">
            <a:avLst/>
          </a:prstGeom>
        </p:spPr>
        <p:txBody>
          <a:bodyPr vert="horz" wrap="square" lIns="0" tIns="132762" rIns="0" bIns="0" rtlCol="0">
            <a:spAutoFit/>
          </a:bodyPr>
          <a:lstStyle/>
          <a:p>
            <a:pPr marL="212572" indent="-194247">
              <a:spcBef>
                <a:spcPts val="805"/>
              </a:spcBef>
              <a:buChar char="•"/>
              <a:tabLst>
                <a:tab pos="212572" algn="l"/>
              </a:tabLst>
            </a:pPr>
            <a:r>
              <a:rPr sz="2400" spc="-71" dirty="0">
                <a:latin typeface="Arial MT"/>
                <a:cs typeface="Arial MT"/>
              </a:rPr>
              <a:t>To</a:t>
            </a:r>
            <a:r>
              <a:rPr sz="2400" spc="32" dirty="0">
                <a:latin typeface="Arial MT"/>
                <a:cs typeface="Arial MT"/>
              </a:rPr>
              <a:t> </a:t>
            </a:r>
            <a:r>
              <a:rPr sz="2400" u="heavy" spc="42" dirty="0">
                <a:solidFill>
                  <a:srgbClr val="00AF54"/>
                </a:solidFill>
                <a:uFill>
                  <a:solidFill>
                    <a:srgbClr val="08A84F"/>
                  </a:solidFill>
                </a:uFill>
                <a:latin typeface="Arial MT"/>
                <a:cs typeface="Arial MT"/>
              </a:rPr>
              <a:t>cagture</a:t>
            </a:r>
            <a:r>
              <a:rPr sz="2400" spc="128" dirty="0">
                <a:solidFill>
                  <a:srgbClr val="00AF54"/>
                </a:solidFill>
                <a:latin typeface="Arial MT"/>
                <a:cs typeface="Arial MT"/>
              </a:rPr>
              <a:t> </a:t>
            </a:r>
            <a:r>
              <a:rPr sz="2400" spc="38" dirty="0">
                <a:solidFill>
                  <a:srgbClr val="0000CD"/>
                </a:solidFill>
                <a:latin typeface="Arial MT"/>
                <a:cs typeface="Arial MT"/>
              </a:rPr>
              <a:t>larger</a:t>
            </a:r>
            <a:r>
              <a:rPr sz="2400" spc="64" dirty="0">
                <a:solidFill>
                  <a:srgbClr val="0000CD"/>
                </a:solidFill>
                <a:latin typeface="Arial MT"/>
                <a:cs typeface="Arial MT"/>
              </a:rPr>
              <a:t> </a:t>
            </a:r>
            <a:r>
              <a:rPr sz="2400" spc="45" dirty="0">
                <a:solidFill>
                  <a:srgbClr val="0001CF"/>
                </a:solidFill>
                <a:latin typeface="Arial MT"/>
                <a:cs typeface="Arial MT"/>
              </a:rPr>
              <a:t>market</a:t>
            </a:r>
            <a:r>
              <a:rPr sz="2400" spc="51" dirty="0">
                <a:solidFill>
                  <a:srgbClr val="0001CF"/>
                </a:solidFill>
                <a:latin typeface="Arial MT"/>
                <a:cs typeface="Arial MT"/>
              </a:rPr>
              <a:t> </a:t>
            </a:r>
            <a:r>
              <a:rPr sz="2400" spc="26" dirty="0">
                <a:solidFill>
                  <a:srgbClr val="0000CD"/>
                </a:solidFill>
                <a:latin typeface="Arial MT"/>
                <a:cs typeface="Arial MT"/>
              </a:rPr>
              <a:t>share.</a:t>
            </a:r>
            <a:endParaRPr sz="2400" dirty="0">
              <a:latin typeface="Arial MT"/>
              <a:cs typeface="Arial MT"/>
            </a:endParaRPr>
          </a:p>
          <a:p>
            <a:pPr marL="212572" indent="-194247">
              <a:spcBef>
                <a:spcPts val="814"/>
              </a:spcBef>
              <a:buChar char="•"/>
              <a:tabLst>
                <a:tab pos="212572" algn="l"/>
              </a:tabLst>
            </a:pPr>
            <a:r>
              <a:rPr sz="2400" spc="-87" dirty="0">
                <a:latin typeface="Arial MT"/>
                <a:cs typeface="Arial MT"/>
              </a:rPr>
              <a:t>To</a:t>
            </a:r>
            <a:r>
              <a:rPr sz="2400" spc="26" dirty="0">
                <a:latin typeface="Arial MT"/>
                <a:cs typeface="Arial MT"/>
              </a:rPr>
              <a:t> </a:t>
            </a:r>
            <a:r>
              <a:rPr sz="2400" u="heavy" dirty="0">
                <a:solidFill>
                  <a:srgbClr val="00BD4D"/>
                </a:solidFill>
                <a:uFill>
                  <a:solidFill>
                    <a:srgbClr val="08A84F"/>
                  </a:solidFill>
                </a:uFill>
                <a:latin typeface="Arial MT"/>
                <a:cs typeface="Arial MT"/>
              </a:rPr>
              <a:t>make</a:t>
            </a:r>
            <a:r>
              <a:rPr sz="2400" spc="73" dirty="0">
                <a:solidFill>
                  <a:srgbClr val="00BD4D"/>
                </a:solidFill>
                <a:latin typeface="Arial MT"/>
                <a:cs typeface="Arial MT"/>
              </a:rPr>
              <a:t> </a:t>
            </a:r>
            <a:r>
              <a:rPr sz="2400" dirty="0">
                <a:latin typeface="Arial MT"/>
                <a:cs typeface="Arial MT"/>
              </a:rPr>
              <a:t>it</a:t>
            </a:r>
            <a:r>
              <a:rPr sz="2400" spc="35" dirty="0">
                <a:latin typeface="Arial MT"/>
                <a:cs typeface="Arial MT"/>
              </a:rPr>
              <a:t> </a:t>
            </a:r>
            <a:r>
              <a:rPr sz="2400" spc="73" dirty="0">
                <a:solidFill>
                  <a:srgbClr val="00B14F"/>
                </a:solidFill>
                <a:latin typeface="Arial MT"/>
                <a:cs typeface="Arial MT"/>
              </a:rPr>
              <a:t>difficult</a:t>
            </a:r>
            <a:r>
              <a:rPr sz="2400" spc="83" dirty="0">
                <a:solidFill>
                  <a:srgbClr val="00B14F"/>
                </a:solidFill>
                <a:latin typeface="Arial MT"/>
                <a:cs typeface="Arial MT"/>
              </a:rPr>
              <a:t> </a:t>
            </a:r>
            <a:r>
              <a:rPr sz="2400" dirty="0">
                <a:latin typeface="Arial MT"/>
                <a:cs typeface="Arial MT"/>
              </a:rPr>
              <a:t>for</a:t>
            </a:r>
            <a:r>
              <a:rPr sz="2400" spc="38" dirty="0">
                <a:latin typeface="Arial MT"/>
                <a:cs typeface="Arial MT"/>
              </a:rPr>
              <a:t> </a:t>
            </a:r>
            <a:r>
              <a:rPr sz="2400" spc="67" dirty="0">
                <a:solidFill>
                  <a:srgbClr val="0000CD"/>
                </a:solidFill>
                <a:latin typeface="Arial MT"/>
                <a:cs typeface="Arial MT"/>
              </a:rPr>
              <a:t>competitors</a:t>
            </a:r>
            <a:r>
              <a:rPr sz="2400" spc="131" dirty="0">
                <a:solidFill>
                  <a:srgbClr val="0000CD"/>
                </a:solidFill>
                <a:latin typeface="Arial MT"/>
                <a:cs typeface="Arial MT"/>
              </a:rPr>
              <a:t> </a:t>
            </a:r>
            <a:r>
              <a:rPr sz="2400" dirty="0">
                <a:latin typeface="Arial MT"/>
                <a:cs typeface="Arial MT"/>
              </a:rPr>
              <a:t>to</a:t>
            </a:r>
            <a:r>
              <a:rPr sz="2400" spc="3" dirty="0">
                <a:latin typeface="Arial MT"/>
                <a:cs typeface="Arial MT"/>
              </a:rPr>
              <a:t> </a:t>
            </a:r>
            <a:r>
              <a:rPr sz="2400" u="heavy" spc="42" dirty="0">
                <a:solidFill>
                  <a:srgbClr val="05AC4D"/>
                </a:solidFill>
                <a:uFill>
                  <a:solidFill>
                    <a:srgbClr val="08A84F"/>
                  </a:solidFill>
                </a:uFill>
                <a:latin typeface="Arial MT"/>
                <a:cs typeface="Arial MT"/>
              </a:rPr>
              <a:t>enter</a:t>
            </a:r>
            <a:r>
              <a:rPr sz="2400" spc="51" dirty="0">
                <a:solidFill>
                  <a:srgbClr val="05AC4D"/>
                </a:solidFill>
                <a:latin typeface="Arial MT"/>
                <a:cs typeface="Arial MT"/>
              </a:rPr>
              <a:t> </a:t>
            </a:r>
            <a:r>
              <a:rPr sz="2400" spc="35" dirty="0">
                <a:solidFill>
                  <a:srgbClr val="0100CD"/>
                </a:solidFill>
                <a:latin typeface="Arial MT"/>
                <a:cs typeface="Arial MT"/>
              </a:rPr>
              <a:t>market.</a:t>
            </a:r>
            <a:endParaRPr sz="2400" dirty="0">
              <a:latin typeface="Arial MT"/>
              <a:cs typeface="Arial MT"/>
            </a:endParaRPr>
          </a:p>
          <a:p>
            <a:pPr marL="213386" marR="3258" indent="-204834">
              <a:lnSpc>
                <a:spcPts val="1930"/>
              </a:lnSpc>
              <a:spcBef>
                <a:spcPts val="888"/>
              </a:spcBef>
              <a:buChar char="•"/>
              <a:tabLst>
                <a:tab pos="213386" algn="l"/>
                <a:tab pos="215830" algn="l"/>
              </a:tabLst>
            </a:pPr>
            <a:r>
              <a:rPr sz="2400" dirty="0">
                <a:latin typeface="Calibri"/>
                <a:cs typeface="Calibri"/>
              </a:rPr>
              <a:t>	To</a:t>
            </a:r>
            <a:r>
              <a:rPr sz="2400" spc="55" dirty="0">
                <a:latin typeface="Calibri"/>
                <a:cs typeface="Calibri"/>
              </a:rPr>
              <a:t> </a:t>
            </a:r>
            <a:r>
              <a:rPr sz="2400" u="heavy" spc="80" dirty="0">
                <a:solidFill>
                  <a:srgbClr val="00B14D"/>
                </a:solidFill>
                <a:uFill>
                  <a:solidFill>
                    <a:srgbClr val="08A84F"/>
                  </a:solidFill>
                </a:uFill>
                <a:latin typeface="Calibri"/>
                <a:cs typeface="Calibri"/>
              </a:rPr>
              <a:t>develop</a:t>
            </a:r>
            <a:r>
              <a:rPr sz="2400" spc="109" dirty="0">
                <a:solidFill>
                  <a:srgbClr val="00B14D"/>
                </a:solidFill>
                <a:latin typeface="Calibri"/>
                <a:cs typeface="Calibri"/>
              </a:rPr>
              <a:t> </a:t>
            </a:r>
            <a:r>
              <a:rPr sz="2400" spc="48" dirty="0">
                <a:latin typeface="Calibri"/>
                <a:cs typeface="Calibri"/>
              </a:rPr>
              <a:t>an</a:t>
            </a:r>
            <a:r>
              <a:rPr sz="2400" spc="51" dirty="0">
                <a:latin typeface="Calibri"/>
                <a:cs typeface="Calibri"/>
              </a:rPr>
              <a:t> </a:t>
            </a:r>
            <a:r>
              <a:rPr sz="2400" spc="71" dirty="0">
                <a:solidFill>
                  <a:srgbClr val="0000CD"/>
                </a:solidFill>
                <a:latin typeface="Calibri"/>
                <a:cs typeface="Calibri"/>
              </a:rPr>
              <a:t>enabler</a:t>
            </a:r>
            <a:r>
              <a:rPr sz="2400" spc="87" dirty="0">
                <a:solidFill>
                  <a:srgbClr val="0000CD"/>
                </a:solidFill>
                <a:latin typeface="Calibri"/>
                <a:cs typeface="Calibri"/>
              </a:rPr>
              <a:t> </a:t>
            </a:r>
            <a:r>
              <a:rPr sz="2400" spc="61" dirty="0">
                <a:latin typeface="Calibri"/>
                <a:cs typeface="Calibri"/>
              </a:rPr>
              <a:t>product,</a:t>
            </a:r>
            <a:r>
              <a:rPr sz="2400" spc="147" dirty="0">
                <a:latin typeface="Calibri"/>
                <a:cs typeface="Calibri"/>
              </a:rPr>
              <a:t> </a:t>
            </a:r>
            <a:r>
              <a:rPr sz="2400" dirty="0">
                <a:latin typeface="Calibri"/>
                <a:cs typeface="Calibri"/>
              </a:rPr>
              <a:t>which</a:t>
            </a:r>
            <a:r>
              <a:rPr sz="2400" spc="112" dirty="0">
                <a:latin typeface="Calibri"/>
                <a:cs typeface="Calibri"/>
              </a:rPr>
              <a:t> </a:t>
            </a:r>
            <a:r>
              <a:rPr sz="2400" dirty="0">
                <a:latin typeface="Calibri"/>
                <a:cs typeface="Calibri"/>
              </a:rPr>
              <a:t>by</a:t>
            </a:r>
            <a:r>
              <a:rPr sz="2400" spc="87" dirty="0">
                <a:latin typeface="Calibri"/>
                <a:cs typeface="Calibri"/>
              </a:rPr>
              <a:t> </a:t>
            </a:r>
            <a:r>
              <a:rPr sz="2400" dirty="0">
                <a:latin typeface="Calibri"/>
                <a:cs typeface="Calibri"/>
              </a:rPr>
              <a:t>its</a:t>
            </a:r>
            <a:r>
              <a:rPr sz="2400" spc="90" dirty="0">
                <a:latin typeface="Calibri"/>
                <a:cs typeface="Calibri"/>
              </a:rPr>
              <a:t> </a:t>
            </a:r>
            <a:r>
              <a:rPr sz="2400" spc="-13" dirty="0">
                <a:latin typeface="Calibri"/>
                <a:cs typeface="Calibri"/>
              </a:rPr>
              <a:t>introduction</a:t>
            </a:r>
            <a:r>
              <a:rPr sz="2400" spc="141" dirty="0">
                <a:latin typeface="Calibri"/>
                <a:cs typeface="Calibri"/>
              </a:rPr>
              <a:t> </a:t>
            </a:r>
            <a:r>
              <a:rPr sz="2400" spc="-13" dirty="0">
                <a:latin typeface="Calibri"/>
                <a:cs typeface="Calibri"/>
              </a:rPr>
              <a:t>will </a:t>
            </a:r>
            <a:r>
              <a:rPr sz="2400" u="heavy" spc="93" dirty="0">
                <a:solidFill>
                  <a:srgbClr val="00AF4F"/>
                </a:solidFill>
                <a:uFill>
                  <a:solidFill>
                    <a:srgbClr val="08A84F"/>
                  </a:solidFill>
                </a:uFill>
                <a:latin typeface="Calibri"/>
                <a:cs typeface="Calibri"/>
              </a:rPr>
              <a:t>increase</a:t>
            </a:r>
            <a:r>
              <a:rPr sz="2400" spc="83" dirty="0">
                <a:solidFill>
                  <a:srgbClr val="00AF4F"/>
                </a:solidFill>
                <a:latin typeface="Calibri"/>
                <a:cs typeface="Calibri"/>
              </a:rPr>
              <a:t> </a:t>
            </a:r>
            <a:r>
              <a:rPr sz="2400" spc="128" dirty="0">
                <a:solidFill>
                  <a:srgbClr val="0308CF"/>
                </a:solidFill>
                <a:latin typeface="Calibri"/>
                <a:cs typeface="Calibri"/>
              </a:rPr>
              <a:t>sales</a:t>
            </a:r>
            <a:r>
              <a:rPr sz="2400" spc="83" dirty="0">
                <a:solidFill>
                  <a:srgbClr val="0308CF"/>
                </a:solidFill>
                <a:latin typeface="Calibri"/>
                <a:cs typeface="Calibri"/>
              </a:rPr>
              <a:t> </a:t>
            </a:r>
            <a:r>
              <a:rPr sz="2400" dirty="0">
                <a:latin typeface="Calibri"/>
                <a:cs typeface="Calibri"/>
              </a:rPr>
              <a:t>in</a:t>
            </a:r>
            <a:r>
              <a:rPr sz="2400" spc="29" dirty="0">
                <a:latin typeface="Calibri"/>
                <a:cs typeface="Calibri"/>
              </a:rPr>
              <a:t> </a:t>
            </a:r>
            <a:r>
              <a:rPr sz="2400" dirty="0">
                <a:latin typeface="Calibri"/>
                <a:cs typeface="Calibri"/>
              </a:rPr>
              <a:t>more</a:t>
            </a:r>
            <a:r>
              <a:rPr sz="2400" spc="90" dirty="0">
                <a:latin typeface="Calibri"/>
                <a:cs typeface="Calibri"/>
              </a:rPr>
              <a:t> </a:t>
            </a:r>
            <a:r>
              <a:rPr sz="2400" dirty="0">
                <a:latin typeface="Calibri"/>
                <a:cs typeface="Calibri"/>
              </a:rPr>
              <a:t>profitable</a:t>
            </a:r>
            <a:r>
              <a:rPr sz="2400" spc="99" dirty="0">
                <a:latin typeface="Calibri"/>
                <a:cs typeface="Calibri"/>
              </a:rPr>
              <a:t> </a:t>
            </a:r>
            <a:r>
              <a:rPr sz="2400" spc="80" dirty="0">
                <a:solidFill>
                  <a:srgbClr val="0000CF"/>
                </a:solidFill>
                <a:latin typeface="Calibri"/>
                <a:cs typeface="Calibri"/>
              </a:rPr>
              <a:t>products.</a:t>
            </a:r>
            <a:endParaRPr sz="2400" dirty="0">
              <a:latin typeface="Calibri"/>
              <a:cs typeface="Calibri"/>
            </a:endParaRPr>
          </a:p>
          <a:p>
            <a:pPr marL="212572" marR="555048" indent="-194654">
              <a:lnSpc>
                <a:spcPct val="100400"/>
              </a:lnSpc>
              <a:spcBef>
                <a:spcPts val="744"/>
              </a:spcBef>
              <a:buChar char="•"/>
              <a:tabLst>
                <a:tab pos="214608" algn="l"/>
              </a:tabLst>
            </a:pPr>
            <a:r>
              <a:rPr sz="2400" spc="-58" dirty="0">
                <a:latin typeface="Arial MT"/>
                <a:cs typeface="Arial MT"/>
              </a:rPr>
              <a:t>To</a:t>
            </a:r>
            <a:r>
              <a:rPr sz="2400" spc="26" dirty="0">
                <a:latin typeface="Arial MT"/>
                <a:cs typeface="Arial MT"/>
              </a:rPr>
              <a:t> </a:t>
            </a:r>
            <a:r>
              <a:rPr sz="2400" u="heavy" spc="45" dirty="0">
                <a:solidFill>
                  <a:srgbClr val="00B14D"/>
                </a:solidFill>
                <a:uFill>
                  <a:solidFill>
                    <a:srgbClr val="08A84F"/>
                  </a:solidFill>
                </a:uFill>
                <a:latin typeface="Arial MT"/>
                <a:cs typeface="Arial MT"/>
              </a:rPr>
              <a:t>develop</a:t>
            </a:r>
            <a:r>
              <a:rPr sz="2400" spc="64" dirty="0">
                <a:solidFill>
                  <a:srgbClr val="00B14D"/>
                </a:solidFill>
                <a:latin typeface="Arial MT"/>
                <a:cs typeface="Arial MT"/>
              </a:rPr>
              <a:t> </a:t>
            </a:r>
            <a:r>
              <a:rPr sz="2400" spc="51" dirty="0">
                <a:solidFill>
                  <a:srgbClr val="0000DB"/>
                </a:solidFill>
                <a:latin typeface="Arial MT"/>
                <a:cs typeface="Arial MT"/>
              </a:rPr>
              <a:t>core</a:t>
            </a:r>
            <a:r>
              <a:rPr sz="2400" dirty="0">
                <a:solidFill>
                  <a:srgbClr val="0000DB"/>
                </a:solidFill>
                <a:latin typeface="Arial MT"/>
                <a:cs typeface="Arial MT"/>
              </a:rPr>
              <a:t> </a:t>
            </a:r>
            <a:r>
              <a:rPr sz="2400" spc="61" dirty="0">
                <a:solidFill>
                  <a:srgbClr val="0000CA"/>
                </a:solidFill>
                <a:latin typeface="Arial MT"/>
                <a:cs typeface="Arial MT"/>
              </a:rPr>
              <a:t>technology</a:t>
            </a:r>
            <a:r>
              <a:rPr sz="2400" spc="125" dirty="0">
                <a:solidFill>
                  <a:srgbClr val="0000CA"/>
                </a:solidFill>
                <a:latin typeface="Arial MT"/>
                <a:cs typeface="Arial MT"/>
              </a:rPr>
              <a:t> </a:t>
            </a:r>
            <a:r>
              <a:rPr sz="2400" dirty="0">
                <a:latin typeface="Arial MT"/>
                <a:cs typeface="Arial MT"/>
              </a:rPr>
              <a:t>that</a:t>
            </a:r>
            <a:r>
              <a:rPr sz="2400" spc="10" dirty="0">
                <a:latin typeface="Arial MT"/>
                <a:cs typeface="Arial MT"/>
              </a:rPr>
              <a:t> </a:t>
            </a:r>
            <a:r>
              <a:rPr sz="2400" dirty="0">
                <a:latin typeface="Arial MT"/>
                <a:cs typeface="Arial MT"/>
              </a:rPr>
              <a:t>will</a:t>
            </a:r>
            <a:r>
              <a:rPr sz="2400" spc="29" dirty="0">
                <a:latin typeface="Arial MT"/>
                <a:cs typeface="Arial MT"/>
              </a:rPr>
              <a:t> </a:t>
            </a:r>
            <a:r>
              <a:rPr sz="2400" dirty="0">
                <a:latin typeface="Arial MT"/>
                <a:cs typeface="Arial MT"/>
              </a:rPr>
              <a:t>be</a:t>
            </a:r>
            <a:r>
              <a:rPr sz="2400" spc="38" dirty="0">
                <a:latin typeface="Arial MT"/>
                <a:cs typeface="Arial MT"/>
              </a:rPr>
              <a:t> </a:t>
            </a:r>
            <a:r>
              <a:rPr sz="2400" u="heavy" spc="48" dirty="0">
                <a:solidFill>
                  <a:srgbClr val="00AF4D"/>
                </a:solidFill>
                <a:uFill>
                  <a:solidFill>
                    <a:srgbClr val="08A84F"/>
                  </a:solidFill>
                </a:uFill>
                <a:latin typeface="Arial MT"/>
                <a:cs typeface="Arial MT"/>
              </a:rPr>
              <a:t>used</a:t>
            </a:r>
            <a:r>
              <a:rPr sz="2400" spc="16" dirty="0">
                <a:solidFill>
                  <a:srgbClr val="00AF4D"/>
                </a:solidFill>
                <a:latin typeface="Arial MT"/>
                <a:cs typeface="Arial MT"/>
              </a:rPr>
              <a:t> </a:t>
            </a:r>
            <a:r>
              <a:rPr sz="2400" dirty="0">
                <a:latin typeface="Arial MT"/>
                <a:cs typeface="Arial MT"/>
              </a:rPr>
              <a:t>in </a:t>
            </a:r>
            <a:r>
              <a:rPr sz="2400" spc="42" dirty="0">
                <a:solidFill>
                  <a:srgbClr val="0000CD"/>
                </a:solidFill>
                <a:latin typeface="Arial MT"/>
                <a:cs typeface="Arial MT"/>
              </a:rPr>
              <a:t>next- 	</a:t>
            </a:r>
            <a:r>
              <a:rPr sz="2400" spc="42" dirty="0">
                <a:solidFill>
                  <a:srgbClr val="0005C3"/>
                </a:solidFill>
                <a:latin typeface="Arial MT"/>
                <a:cs typeface="Arial MT"/>
              </a:rPr>
              <a:t>generation</a:t>
            </a:r>
            <a:r>
              <a:rPr sz="2400" spc="138" dirty="0">
                <a:solidFill>
                  <a:srgbClr val="0005C3"/>
                </a:solidFill>
                <a:latin typeface="Arial MT"/>
                <a:cs typeface="Arial MT"/>
              </a:rPr>
              <a:t> </a:t>
            </a:r>
            <a:r>
              <a:rPr sz="2400" spc="55" dirty="0">
                <a:solidFill>
                  <a:srgbClr val="0100D4"/>
                </a:solidFill>
                <a:latin typeface="Arial MT"/>
                <a:cs typeface="Arial MT"/>
              </a:rPr>
              <a:t>products.</a:t>
            </a:r>
            <a:endParaRPr sz="2400" dirty="0">
              <a:latin typeface="Arial MT"/>
              <a:cs typeface="Arial MT"/>
            </a:endParaRPr>
          </a:p>
          <a:p>
            <a:pPr marL="212572" indent="-194247">
              <a:spcBef>
                <a:spcPts val="814"/>
              </a:spcBef>
              <a:buChar char="•"/>
              <a:tabLst>
                <a:tab pos="212572" algn="l"/>
              </a:tabLst>
            </a:pPr>
            <a:r>
              <a:rPr sz="2400" spc="-64" dirty="0">
                <a:latin typeface="Arial MT"/>
                <a:cs typeface="Arial MT"/>
              </a:rPr>
              <a:t>To</a:t>
            </a:r>
            <a:r>
              <a:rPr sz="2400" spc="42" dirty="0">
                <a:latin typeface="Arial MT"/>
                <a:cs typeface="Arial MT"/>
              </a:rPr>
              <a:t> </a:t>
            </a:r>
            <a:r>
              <a:rPr sz="2400" u="heavy" spc="35" dirty="0">
                <a:solidFill>
                  <a:srgbClr val="05AC56"/>
                </a:solidFill>
                <a:uFill>
                  <a:solidFill>
                    <a:srgbClr val="08A84F"/>
                  </a:solidFill>
                </a:uFill>
                <a:latin typeface="Arial MT"/>
                <a:cs typeface="Arial MT"/>
              </a:rPr>
              <a:t>reduce</a:t>
            </a:r>
            <a:r>
              <a:rPr sz="2400" spc="99" dirty="0">
                <a:solidFill>
                  <a:srgbClr val="05AC56"/>
                </a:solidFill>
                <a:latin typeface="Arial MT"/>
                <a:cs typeface="Arial MT"/>
              </a:rPr>
              <a:t> </a:t>
            </a:r>
            <a:r>
              <a:rPr sz="2400" spc="42" dirty="0">
                <a:solidFill>
                  <a:srgbClr val="0000CD"/>
                </a:solidFill>
                <a:latin typeface="Arial MT"/>
                <a:cs typeface="Arial MT"/>
              </a:rPr>
              <a:t>dependency</a:t>
            </a:r>
            <a:r>
              <a:rPr sz="2400" spc="160" dirty="0">
                <a:solidFill>
                  <a:srgbClr val="0000CD"/>
                </a:solidFill>
                <a:latin typeface="Arial MT"/>
                <a:cs typeface="Arial MT"/>
              </a:rPr>
              <a:t> </a:t>
            </a:r>
            <a:r>
              <a:rPr sz="2400" u="heavy" spc="67" dirty="0">
                <a:solidFill>
                  <a:srgbClr val="00AF4B"/>
                </a:solidFill>
                <a:uFill>
                  <a:solidFill>
                    <a:srgbClr val="08A84F"/>
                  </a:solidFill>
                </a:uFill>
                <a:latin typeface="Arial MT"/>
                <a:cs typeface="Arial MT"/>
              </a:rPr>
              <a:t>on</a:t>
            </a:r>
            <a:r>
              <a:rPr sz="2400" spc="22" dirty="0">
                <a:solidFill>
                  <a:srgbClr val="00AF4B"/>
                </a:solidFill>
                <a:latin typeface="Arial MT"/>
                <a:cs typeface="Arial MT"/>
              </a:rPr>
              <a:t> </a:t>
            </a:r>
            <a:r>
              <a:rPr sz="2400" spc="45" dirty="0">
                <a:solidFill>
                  <a:srgbClr val="0005C6"/>
                </a:solidFill>
                <a:latin typeface="Arial MT"/>
                <a:cs typeface="Arial MT"/>
              </a:rPr>
              <a:t>unreliable</a:t>
            </a:r>
            <a:r>
              <a:rPr sz="2400" spc="90" dirty="0">
                <a:solidFill>
                  <a:srgbClr val="0005C6"/>
                </a:solidFill>
                <a:latin typeface="Arial MT"/>
                <a:cs typeface="Arial MT"/>
              </a:rPr>
              <a:t> </a:t>
            </a:r>
            <a:r>
              <a:rPr sz="2400" spc="51" dirty="0">
                <a:solidFill>
                  <a:srgbClr val="0000CF"/>
                </a:solidFill>
                <a:latin typeface="Arial MT"/>
                <a:cs typeface="Arial MT"/>
              </a:rPr>
              <a:t>suppliers.</a:t>
            </a:r>
            <a:endParaRPr sz="2400" dirty="0">
              <a:latin typeface="Arial MT"/>
              <a:cs typeface="Arial MT"/>
            </a:endParaRPr>
          </a:p>
        </p:txBody>
      </p:sp>
      <p:pic>
        <p:nvPicPr>
          <p:cNvPr id="7" name="Picture 6">
            <a:extLst>
              <a:ext uri="{FF2B5EF4-FFF2-40B4-BE49-F238E27FC236}">
                <a16:creationId xmlns:a16="http://schemas.microsoft.com/office/drawing/2014/main" id="{13419824-C16B-4B89-BCCB-434FF7FB934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6626"/>
            <a:ext cx="2031366" cy="112853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57863686-B6A1-4F78-A3A2-A177AB4DA31E}"/>
              </a:ext>
            </a:extLst>
          </p:cNvPr>
          <p:cNvPicPr>
            <a:picLocks noChangeAspect="1"/>
          </p:cNvPicPr>
          <p:nvPr/>
        </p:nvPicPr>
        <p:blipFill>
          <a:blip r:embed="rId4"/>
          <a:stretch>
            <a:fillRect/>
          </a:stretch>
        </p:blipFill>
        <p:spPr>
          <a:xfrm>
            <a:off x="774700" y="1828800"/>
            <a:ext cx="7277100" cy="6096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0600" y="583594"/>
            <a:ext cx="7204158" cy="610478"/>
          </a:xfrm>
          <a:prstGeom prst="rect">
            <a:avLst/>
          </a:prstGeom>
        </p:spPr>
        <p:txBody>
          <a:bodyPr vert="horz" wrap="square" lIns="0" tIns="55934" rIns="0" bIns="0" rtlCol="0">
            <a:spAutoFit/>
          </a:bodyPr>
          <a:lstStyle/>
          <a:p>
            <a:pPr marL="11402">
              <a:spcBef>
                <a:spcPts val="67"/>
              </a:spcBef>
            </a:pPr>
            <a:r>
              <a:rPr sz="3600" dirty="0">
                <a:solidFill>
                  <a:srgbClr val="01215B"/>
                </a:solidFill>
              </a:rPr>
              <a:t>Two</a:t>
            </a:r>
            <a:r>
              <a:rPr sz="3600" spc="119" dirty="0">
                <a:solidFill>
                  <a:srgbClr val="01215B"/>
                </a:solidFill>
              </a:rPr>
              <a:t> </a:t>
            </a:r>
            <a:r>
              <a:rPr sz="3600" spc="45" dirty="0">
                <a:solidFill>
                  <a:srgbClr val="011F60"/>
                </a:solidFill>
              </a:rPr>
              <a:t>Multi-Criteria</a:t>
            </a:r>
            <a:r>
              <a:rPr sz="3600" spc="-10" dirty="0">
                <a:solidFill>
                  <a:srgbClr val="011F60"/>
                </a:solidFill>
              </a:rPr>
              <a:t> </a:t>
            </a:r>
            <a:r>
              <a:rPr sz="3600" dirty="0">
                <a:solidFill>
                  <a:srgbClr val="001F62"/>
                </a:solidFill>
              </a:rPr>
              <a:t>Selection</a:t>
            </a:r>
            <a:r>
              <a:rPr sz="3600" spc="147" dirty="0">
                <a:solidFill>
                  <a:srgbClr val="001F62"/>
                </a:solidFill>
              </a:rPr>
              <a:t> </a:t>
            </a:r>
            <a:r>
              <a:rPr sz="3600" spc="-6" dirty="0">
                <a:solidFill>
                  <a:srgbClr val="011F60"/>
                </a:solidFill>
              </a:rPr>
              <a:t>Models</a:t>
            </a:r>
            <a:endParaRPr sz="3600" dirty="0"/>
          </a:p>
        </p:txBody>
      </p:sp>
      <p:sp>
        <p:nvSpPr>
          <p:cNvPr id="7" name="object 7"/>
          <p:cNvSpPr txBox="1">
            <a:spLocks noGrp="1"/>
          </p:cNvSpPr>
          <p:nvPr>
            <p:ph type="sldNum" sz="quarter" idx="7"/>
          </p:nvPr>
        </p:nvSpPr>
        <p:spPr>
          <a:xfrm>
            <a:off x="12846416" y="4123060"/>
            <a:ext cx="156789" cy="76944"/>
          </a:xfrm>
          <a:prstGeom prst="rect">
            <a:avLst/>
          </a:prstGeom>
        </p:spPr>
        <p:txBody>
          <a:bodyPr vert="horz" wrap="square" lIns="0" tIns="0" rIns="0" bIns="0" rtlCol="0">
            <a:spAutoFit/>
          </a:bodyPr>
          <a:lstStyle/>
          <a:p>
            <a:pPr marL="25655">
              <a:lnSpc>
                <a:spcPts val="621"/>
              </a:lnSpc>
            </a:pPr>
            <a:fld id="{81D60167-4931-47E6-BA6A-407CBD079E47}" type="slidenum">
              <a:rPr sz="577" spc="-16" dirty="0">
                <a:latin typeface="Consolas"/>
                <a:cs typeface="Consolas"/>
              </a:rPr>
              <a:pPr marL="25655">
                <a:lnSpc>
                  <a:spcPts val="621"/>
                </a:lnSpc>
              </a:pPr>
              <a:t>20</a:t>
            </a:fld>
            <a:endParaRPr sz="577">
              <a:latin typeface="Consolas"/>
              <a:cs typeface="Consolas"/>
            </a:endParaRPr>
          </a:p>
        </p:txBody>
      </p:sp>
      <p:sp>
        <p:nvSpPr>
          <p:cNvPr id="4" name="object 4"/>
          <p:cNvSpPr txBox="1"/>
          <p:nvPr/>
        </p:nvSpPr>
        <p:spPr>
          <a:xfrm>
            <a:off x="990600" y="1680249"/>
            <a:ext cx="9829800" cy="3667630"/>
          </a:xfrm>
          <a:prstGeom prst="rect">
            <a:avLst/>
          </a:prstGeom>
        </p:spPr>
        <p:txBody>
          <a:bodyPr vert="horz" wrap="square" lIns="0" tIns="115657" rIns="0" bIns="0" rtlCol="0">
            <a:spAutoFit/>
          </a:bodyPr>
          <a:lstStyle/>
          <a:p>
            <a:pPr marL="8552">
              <a:spcBef>
                <a:spcPts val="911"/>
              </a:spcBef>
            </a:pPr>
            <a:r>
              <a:rPr sz="2800" spc="38" dirty="0">
                <a:solidFill>
                  <a:srgbClr val="FB0101"/>
                </a:solidFill>
                <a:latin typeface="Arial MT"/>
                <a:cs typeface="Arial MT"/>
              </a:rPr>
              <a:t>Checklist</a:t>
            </a:r>
            <a:r>
              <a:rPr sz="2800" spc="160" dirty="0">
                <a:solidFill>
                  <a:srgbClr val="FB0101"/>
                </a:solidFill>
                <a:latin typeface="Arial MT"/>
                <a:cs typeface="Arial MT"/>
              </a:rPr>
              <a:t> </a:t>
            </a:r>
            <a:r>
              <a:rPr sz="2800" spc="-6" dirty="0">
                <a:solidFill>
                  <a:srgbClr val="FB0100"/>
                </a:solidFill>
                <a:latin typeface="Arial MT"/>
                <a:cs typeface="Arial MT"/>
              </a:rPr>
              <a:t>Model:</a:t>
            </a:r>
            <a:endParaRPr sz="2800" dirty="0">
              <a:latin typeface="Arial MT"/>
              <a:cs typeface="Arial MT"/>
            </a:endParaRPr>
          </a:p>
          <a:p>
            <a:pPr marL="202391" marR="3258" indent="-193025">
              <a:lnSpc>
                <a:spcPts val="1930"/>
              </a:lnSpc>
              <a:spcBef>
                <a:spcPts val="872"/>
              </a:spcBef>
              <a:buClr>
                <a:srgbClr val="00B34F"/>
              </a:buClr>
              <a:buChar char="•"/>
              <a:tabLst>
                <a:tab pos="206056" algn="l"/>
              </a:tabLst>
            </a:pPr>
            <a:r>
              <a:rPr sz="2400" u="heavy" dirty="0">
                <a:solidFill>
                  <a:srgbClr val="03AF4D"/>
                </a:solidFill>
                <a:uFill>
                  <a:solidFill>
                    <a:srgbClr val="08A84F"/>
                  </a:solidFill>
                </a:uFill>
                <a:latin typeface="Arial MT"/>
                <a:cs typeface="Arial MT"/>
              </a:rPr>
              <a:t>Uses</a:t>
            </a:r>
            <a:r>
              <a:rPr sz="2400" spc="83" dirty="0">
                <a:solidFill>
                  <a:srgbClr val="03AF4D"/>
                </a:solidFill>
                <a:latin typeface="Arial MT"/>
                <a:cs typeface="Arial MT"/>
              </a:rPr>
              <a:t> </a:t>
            </a:r>
            <a:r>
              <a:rPr sz="2400" dirty="0">
                <a:latin typeface="Arial MT"/>
                <a:cs typeface="Arial MT"/>
              </a:rPr>
              <a:t>a</a:t>
            </a:r>
            <a:r>
              <a:rPr sz="2400" spc="-10" dirty="0">
                <a:latin typeface="Arial MT"/>
                <a:cs typeface="Arial MT"/>
              </a:rPr>
              <a:t> </a:t>
            </a:r>
            <a:r>
              <a:rPr sz="2400" dirty="0">
                <a:latin typeface="Arial MT"/>
                <a:cs typeface="Arial MT"/>
              </a:rPr>
              <a:t>list</a:t>
            </a:r>
            <a:r>
              <a:rPr sz="2400" spc="35" dirty="0">
                <a:latin typeface="Arial MT"/>
                <a:cs typeface="Arial MT"/>
              </a:rPr>
              <a:t> </a:t>
            </a:r>
            <a:r>
              <a:rPr sz="2400" dirty="0">
                <a:latin typeface="Arial MT"/>
                <a:cs typeface="Arial MT"/>
              </a:rPr>
              <a:t>of</a:t>
            </a:r>
            <a:r>
              <a:rPr sz="2400" spc="13" dirty="0">
                <a:latin typeface="Arial MT"/>
                <a:cs typeface="Arial MT"/>
              </a:rPr>
              <a:t> </a:t>
            </a:r>
            <a:r>
              <a:rPr sz="2400" dirty="0">
                <a:solidFill>
                  <a:srgbClr val="0000CA"/>
                </a:solidFill>
                <a:latin typeface="Arial MT"/>
                <a:cs typeface="Arial MT"/>
              </a:rPr>
              <a:t>questions</a:t>
            </a:r>
            <a:r>
              <a:rPr sz="2400" spc="128" dirty="0">
                <a:solidFill>
                  <a:srgbClr val="0000CA"/>
                </a:solidFill>
                <a:latin typeface="Arial MT"/>
                <a:cs typeface="Arial MT"/>
              </a:rPr>
              <a:t> </a:t>
            </a:r>
            <a:r>
              <a:rPr sz="2400" dirty="0">
                <a:latin typeface="Arial MT"/>
                <a:cs typeface="Arial MT"/>
              </a:rPr>
              <a:t>to</a:t>
            </a:r>
            <a:r>
              <a:rPr sz="2400" spc="16" dirty="0">
                <a:latin typeface="Arial MT"/>
                <a:cs typeface="Arial MT"/>
              </a:rPr>
              <a:t> </a:t>
            </a:r>
            <a:r>
              <a:rPr sz="2400" u="heavy" dirty="0">
                <a:solidFill>
                  <a:srgbClr val="00B34B"/>
                </a:solidFill>
                <a:uFill>
                  <a:solidFill>
                    <a:srgbClr val="08A84F"/>
                  </a:solidFill>
                </a:uFill>
                <a:latin typeface="Arial MT"/>
                <a:cs typeface="Arial MT"/>
              </a:rPr>
              <a:t>review</a:t>
            </a:r>
            <a:r>
              <a:rPr sz="2400" spc="109" dirty="0">
                <a:solidFill>
                  <a:srgbClr val="00B34B"/>
                </a:solidFill>
                <a:latin typeface="Arial MT"/>
                <a:cs typeface="Arial MT"/>
              </a:rPr>
              <a:t> </a:t>
            </a:r>
            <a:r>
              <a:rPr sz="2400" dirty="0">
                <a:solidFill>
                  <a:srgbClr val="0100D4"/>
                </a:solidFill>
                <a:latin typeface="Arial MT"/>
                <a:cs typeface="Arial MT"/>
              </a:rPr>
              <a:t>potential</a:t>
            </a:r>
            <a:r>
              <a:rPr sz="2400" spc="87" dirty="0">
                <a:solidFill>
                  <a:srgbClr val="0100D4"/>
                </a:solidFill>
                <a:latin typeface="Arial MT"/>
                <a:cs typeface="Arial MT"/>
              </a:rPr>
              <a:t> </a:t>
            </a:r>
            <a:r>
              <a:rPr sz="2400" spc="35" dirty="0">
                <a:solidFill>
                  <a:srgbClr val="0001C8"/>
                </a:solidFill>
                <a:latin typeface="Arial MT"/>
                <a:cs typeface="Arial MT"/>
              </a:rPr>
              <a:t>projects</a:t>
            </a:r>
            <a:r>
              <a:rPr sz="2400" spc="96" dirty="0">
                <a:solidFill>
                  <a:srgbClr val="0001C8"/>
                </a:solidFill>
                <a:latin typeface="Arial MT"/>
                <a:cs typeface="Arial MT"/>
              </a:rPr>
              <a:t> </a:t>
            </a:r>
            <a:r>
              <a:rPr sz="2400" spc="-6" dirty="0">
                <a:latin typeface="Arial MT"/>
                <a:cs typeface="Arial MT"/>
              </a:rPr>
              <a:t>and</a:t>
            </a:r>
            <a:r>
              <a:rPr sz="2400" spc="51" dirty="0">
                <a:latin typeface="Arial MT"/>
                <a:cs typeface="Arial MT"/>
              </a:rPr>
              <a:t> </a:t>
            </a:r>
            <a:r>
              <a:rPr sz="2400" spc="-16" dirty="0">
                <a:latin typeface="Arial MT"/>
                <a:cs typeface="Arial MT"/>
              </a:rPr>
              <a:t>to 	</a:t>
            </a:r>
            <a:r>
              <a:rPr sz="2400" u="heavy" dirty="0">
                <a:solidFill>
                  <a:srgbClr val="00B34D"/>
                </a:solidFill>
                <a:uFill>
                  <a:solidFill>
                    <a:srgbClr val="088C3F"/>
                  </a:solidFill>
                </a:uFill>
                <a:latin typeface="Arial MT"/>
                <a:cs typeface="Arial MT"/>
              </a:rPr>
              <a:t>determine</a:t>
            </a:r>
            <a:r>
              <a:rPr sz="2400" spc="131" dirty="0">
                <a:solidFill>
                  <a:srgbClr val="00B34D"/>
                </a:solidFill>
                <a:latin typeface="Arial MT"/>
                <a:cs typeface="Arial MT"/>
              </a:rPr>
              <a:t> </a:t>
            </a:r>
            <a:r>
              <a:rPr sz="2400" spc="-6" dirty="0">
                <a:latin typeface="Arial MT"/>
                <a:cs typeface="Arial MT"/>
              </a:rPr>
              <a:t>their</a:t>
            </a:r>
            <a:r>
              <a:rPr sz="2400" spc="55" dirty="0">
                <a:latin typeface="Arial MT"/>
                <a:cs typeface="Arial MT"/>
              </a:rPr>
              <a:t> </a:t>
            </a:r>
            <a:r>
              <a:rPr sz="2400" dirty="0">
                <a:solidFill>
                  <a:srgbClr val="0000D1"/>
                </a:solidFill>
                <a:latin typeface="Arial MT"/>
                <a:cs typeface="Arial MT"/>
              </a:rPr>
              <a:t>acceptance</a:t>
            </a:r>
            <a:r>
              <a:rPr sz="2400" spc="106" dirty="0">
                <a:solidFill>
                  <a:srgbClr val="0000D1"/>
                </a:solidFill>
                <a:latin typeface="Arial MT"/>
                <a:cs typeface="Arial MT"/>
              </a:rPr>
              <a:t> </a:t>
            </a:r>
            <a:r>
              <a:rPr sz="2400" u="heavy" spc="35" dirty="0">
                <a:uFill>
                  <a:solidFill>
                    <a:srgbClr val="088C3F"/>
                  </a:solidFill>
                </a:uFill>
                <a:latin typeface="Arial MT"/>
                <a:cs typeface="Arial MT"/>
              </a:rPr>
              <a:t>or</a:t>
            </a:r>
            <a:r>
              <a:rPr sz="2400" spc="3" dirty="0">
                <a:latin typeface="Arial MT"/>
                <a:cs typeface="Arial MT"/>
              </a:rPr>
              <a:t> </a:t>
            </a:r>
            <a:r>
              <a:rPr sz="2400" spc="-6" dirty="0">
                <a:solidFill>
                  <a:srgbClr val="0000D3"/>
                </a:solidFill>
                <a:latin typeface="Arial MT"/>
                <a:cs typeface="Arial MT"/>
              </a:rPr>
              <a:t>rejection.</a:t>
            </a:r>
            <a:endParaRPr sz="2400" dirty="0">
              <a:latin typeface="Arial MT"/>
              <a:cs typeface="Arial MT"/>
            </a:endParaRPr>
          </a:p>
          <a:p>
            <a:pPr marL="205649" marR="160039" indent="-197912">
              <a:lnSpc>
                <a:spcPct val="101299"/>
              </a:lnSpc>
              <a:spcBef>
                <a:spcPts val="728"/>
              </a:spcBef>
              <a:buClr>
                <a:srgbClr val="C10000"/>
              </a:buClr>
              <a:buChar char="•"/>
              <a:tabLst>
                <a:tab pos="205649" algn="l"/>
              </a:tabLst>
            </a:pPr>
            <a:r>
              <a:rPr sz="2400" u="dbl" spc="35" dirty="0">
                <a:solidFill>
                  <a:srgbClr val="D40000"/>
                </a:solidFill>
                <a:uFill>
                  <a:solidFill>
                    <a:srgbClr val="4F602F"/>
                  </a:solidFill>
                </a:uFill>
                <a:latin typeface="Arial MT"/>
                <a:cs typeface="Arial MT"/>
              </a:rPr>
              <a:t>Advantaqe:</a:t>
            </a:r>
            <a:r>
              <a:rPr sz="2400" u="dbl" spc="-199" dirty="0">
                <a:solidFill>
                  <a:srgbClr val="D40000"/>
                </a:solidFill>
                <a:uFill>
                  <a:solidFill>
                    <a:srgbClr val="4F602F"/>
                  </a:solidFill>
                </a:uFill>
                <a:latin typeface="Arial MT"/>
                <a:cs typeface="Arial MT"/>
              </a:rPr>
              <a:t> </a:t>
            </a:r>
            <a:r>
              <a:rPr sz="2400" spc="-32" dirty="0">
                <a:solidFill>
                  <a:srgbClr val="D40000"/>
                </a:solidFill>
                <a:latin typeface="Arial MT"/>
                <a:cs typeface="Arial MT"/>
              </a:rPr>
              <a:t> </a:t>
            </a:r>
            <a:r>
              <a:rPr sz="2400" u="heavy" spc="64" dirty="0">
                <a:solidFill>
                  <a:srgbClr val="00B34F"/>
                </a:solidFill>
                <a:uFill>
                  <a:solidFill>
                    <a:srgbClr val="4F602F"/>
                  </a:solidFill>
                </a:uFill>
                <a:latin typeface="Arial MT"/>
                <a:cs typeface="Arial MT"/>
              </a:rPr>
              <a:t>allows</a:t>
            </a:r>
            <a:r>
              <a:rPr sz="2400" spc="83" dirty="0">
                <a:solidFill>
                  <a:srgbClr val="00B34F"/>
                </a:solidFill>
                <a:latin typeface="Arial MT"/>
                <a:cs typeface="Arial MT"/>
              </a:rPr>
              <a:t> </a:t>
            </a:r>
            <a:r>
              <a:rPr sz="2400" spc="35" dirty="0">
                <a:solidFill>
                  <a:srgbClr val="0000CC"/>
                </a:solidFill>
                <a:latin typeface="Arial MT"/>
                <a:cs typeface="Arial MT"/>
              </a:rPr>
              <a:t>greater</a:t>
            </a:r>
            <a:r>
              <a:rPr sz="2400" spc="90" dirty="0">
                <a:solidFill>
                  <a:srgbClr val="0000CC"/>
                </a:solidFill>
                <a:latin typeface="Arial MT"/>
                <a:cs typeface="Arial MT"/>
              </a:rPr>
              <a:t> </a:t>
            </a:r>
            <a:r>
              <a:rPr sz="2400" spc="77" dirty="0">
                <a:solidFill>
                  <a:srgbClr val="0001C6"/>
                </a:solidFill>
                <a:latin typeface="Arial MT"/>
                <a:cs typeface="Arial MT"/>
              </a:rPr>
              <a:t>flexibility</a:t>
            </a:r>
            <a:r>
              <a:rPr sz="2400" spc="90" dirty="0">
                <a:solidFill>
                  <a:srgbClr val="0001C6"/>
                </a:solidFill>
                <a:latin typeface="Arial MT"/>
                <a:cs typeface="Arial MT"/>
              </a:rPr>
              <a:t> </a:t>
            </a:r>
            <a:r>
              <a:rPr sz="2400" dirty="0">
                <a:latin typeface="Arial MT"/>
                <a:cs typeface="Arial MT"/>
              </a:rPr>
              <a:t>in</a:t>
            </a:r>
            <a:r>
              <a:rPr sz="2400" spc="26" dirty="0">
                <a:latin typeface="Arial MT"/>
                <a:cs typeface="Arial MT"/>
              </a:rPr>
              <a:t> </a:t>
            </a:r>
            <a:r>
              <a:rPr sz="2400" u="heavy" spc="51" dirty="0">
                <a:solidFill>
                  <a:srgbClr val="00AF4B"/>
                </a:solidFill>
                <a:uFill>
                  <a:solidFill>
                    <a:srgbClr val="4F602F"/>
                  </a:solidFill>
                </a:uFill>
                <a:latin typeface="Arial MT"/>
                <a:cs typeface="Arial MT"/>
              </a:rPr>
              <a:t>selectinq</a:t>
            </a:r>
            <a:r>
              <a:rPr sz="2400" spc="112" dirty="0">
                <a:solidFill>
                  <a:srgbClr val="00AF4B"/>
                </a:solidFill>
                <a:latin typeface="Arial MT"/>
                <a:cs typeface="Arial MT"/>
              </a:rPr>
              <a:t> </a:t>
            </a:r>
            <a:r>
              <a:rPr sz="2400" spc="38" dirty="0">
                <a:solidFill>
                  <a:srgbClr val="01AF4B"/>
                </a:solidFill>
                <a:latin typeface="Arial MT"/>
                <a:cs typeface="Arial MT"/>
              </a:rPr>
              <a:t>among </a:t>
            </a:r>
            <a:r>
              <a:rPr sz="2400" dirty="0">
                <a:latin typeface="Arial MT"/>
                <a:cs typeface="Arial MT"/>
              </a:rPr>
              <a:t>many</a:t>
            </a:r>
            <a:r>
              <a:rPr sz="2400" spc="77" dirty="0">
                <a:latin typeface="Arial MT"/>
                <a:cs typeface="Arial MT"/>
              </a:rPr>
              <a:t> </a:t>
            </a:r>
            <a:r>
              <a:rPr sz="2400" u="heavy" spc="48" dirty="0">
                <a:solidFill>
                  <a:srgbClr val="0001D8"/>
                </a:solidFill>
                <a:uFill>
                  <a:solidFill>
                    <a:srgbClr val="0000BC"/>
                  </a:solidFill>
                </a:uFill>
                <a:latin typeface="Arial MT"/>
                <a:cs typeface="Arial MT"/>
              </a:rPr>
              <a:t>different</a:t>
            </a:r>
            <a:r>
              <a:rPr sz="2400" spc="103" dirty="0">
                <a:solidFill>
                  <a:srgbClr val="0001D8"/>
                </a:solidFill>
                <a:latin typeface="Arial MT"/>
                <a:cs typeface="Arial MT"/>
              </a:rPr>
              <a:t> </a:t>
            </a:r>
            <a:r>
              <a:rPr sz="2400" spc="51" dirty="0">
                <a:solidFill>
                  <a:srgbClr val="0100D6"/>
                </a:solidFill>
                <a:latin typeface="Arial MT"/>
                <a:cs typeface="Arial MT"/>
              </a:rPr>
              <a:t>types</a:t>
            </a:r>
            <a:r>
              <a:rPr sz="2400" spc="55" dirty="0">
                <a:solidFill>
                  <a:srgbClr val="0100D6"/>
                </a:solidFill>
                <a:latin typeface="Arial MT"/>
                <a:cs typeface="Arial MT"/>
              </a:rPr>
              <a:t> </a:t>
            </a:r>
            <a:r>
              <a:rPr sz="2400" dirty="0">
                <a:latin typeface="Arial MT"/>
                <a:cs typeface="Arial MT"/>
              </a:rPr>
              <a:t>of</a:t>
            </a:r>
            <a:r>
              <a:rPr sz="2400" spc="16" dirty="0">
                <a:latin typeface="Arial MT"/>
                <a:cs typeface="Arial MT"/>
              </a:rPr>
              <a:t> </a:t>
            </a:r>
            <a:r>
              <a:rPr sz="2400" spc="48" dirty="0">
                <a:solidFill>
                  <a:srgbClr val="0000D4"/>
                </a:solidFill>
                <a:latin typeface="Arial MT"/>
                <a:cs typeface="Arial MT"/>
              </a:rPr>
              <a:t>projects.</a:t>
            </a:r>
            <a:endParaRPr sz="2400" dirty="0">
              <a:latin typeface="Arial MT"/>
              <a:cs typeface="Arial MT"/>
            </a:endParaRPr>
          </a:p>
          <a:p>
            <a:pPr marL="203613" indent="-195468">
              <a:spcBef>
                <a:spcPts val="795"/>
              </a:spcBef>
              <a:buClr>
                <a:srgbClr val="C80003"/>
              </a:buClr>
              <a:buChar char="•"/>
              <a:tabLst>
                <a:tab pos="203613" algn="l"/>
              </a:tabLst>
            </a:pPr>
            <a:r>
              <a:rPr sz="2400" u="heavy" spc="45" dirty="0">
                <a:solidFill>
                  <a:srgbClr val="C30000"/>
                </a:solidFill>
                <a:uFill>
                  <a:solidFill>
                    <a:srgbClr val="B3080C"/>
                  </a:solidFill>
                </a:uFill>
                <a:latin typeface="Arial MT"/>
                <a:cs typeface="Arial MT"/>
              </a:rPr>
              <a:t>Disadvantaqes:</a:t>
            </a:r>
            <a:endParaRPr sz="2400" dirty="0">
              <a:latin typeface="Arial MT"/>
              <a:cs typeface="Arial MT"/>
            </a:endParaRPr>
          </a:p>
          <a:p>
            <a:pPr marL="547311" marR="433288" indent="-211350">
              <a:lnSpc>
                <a:spcPct val="100400"/>
              </a:lnSpc>
              <a:spcBef>
                <a:spcPts val="824"/>
              </a:spcBef>
            </a:pPr>
            <a:r>
              <a:rPr sz="2400" dirty="0">
                <a:solidFill>
                  <a:srgbClr val="03AC54"/>
                </a:solidFill>
                <a:latin typeface="Arial MT"/>
                <a:cs typeface="Arial MT"/>
              </a:rPr>
              <a:t>\•</a:t>
            </a:r>
            <a:r>
              <a:rPr sz="2400" spc="170" dirty="0">
                <a:solidFill>
                  <a:srgbClr val="03AC54"/>
                </a:solidFill>
                <a:latin typeface="Arial MT"/>
                <a:cs typeface="Arial MT"/>
              </a:rPr>
              <a:t> </a:t>
            </a:r>
            <a:r>
              <a:rPr sz="2400" u="heavy" spc="32" dirty="0">
                <a:solidFill>
                  <a:srgbClr val="00AF52"/>
                </a:solidFill>
                <a:uFill>
                  <a:solidFill>
                    <a:srgbClr val="08A84F"/>
                  </a:solidFill>
                </a:uFill>
                <a:latin typeface="Arial MT"/>
                <a:cs typeface="Arial MT"/>
              </a:rPr>
              <a:t>Fails</a:t>
            </a:r>
            <a:r>
              <a:rPr sz="2400" spc="87" dirty="0">
                <a:solidFill>
                  <a:srgbClr val="00AF52"/>
                </a:solidFill>
                <a:latin typeface="Arial MT"/>
                <a:cs typeface="Arial MT"/>
              </a:rPr>
              <a:t> </a:t>
            </a:r>
            <a:r>
              <a:rPr sz="2400" dirty="0">
                <a:latin typeface="Arial MT"/>
                <a:cs typeface="Arial MT"/>
              </a:rPr>
              <a:t>to</a:t>
            </a:r>
            <a:r>
              <a:rPr sz="2400" spc="22" dirty="0">
                <a:latin typeface="Arial MT"/>
                <a:cs typeface="Arial MT"/>
              </a:rPr>
              <a:t> </a:t>
            </a:r>
            <a:r>
              <a:rPr sz="2400" spc="42" dirty="0">
                <a:solidFill>
                  <a:srgbClr val="00B54D"/>
                </a:solidFill>
                <a:latin typeface="Arial MT"/>
                <a:cs typeface="Arial MT"/>
              </a:rPr>
              <a:t>answer</a:t>
            </a:r>
            <a:r>
              <a:rPr sz="2400" spc="93" dirty="0">
                <a:solidFill>
                  <a:srgbClr val="00B54D"/>
                </a:solidFill>
                <a:latin typeface="Arial MT"/>
                <a:cs typeface="Arial MT"/>
              </a:rPr>
              <a:t> </a:t>
            </a:r>
            <a:r>
              <a:rPr sz="2400" spc="51" dirty="0">
                <a:solidFill>
                  <a:srgbClr val="0000CD"/>
                </a:solidFill>
                <a:latin typeface="Arial MT"/>
                <a:cs typeface="Arial MT"/>
              </a:rPr>
              <a:t>importance</a:t>
            </a:r>
            <a:r>
              <a:rPr sz="2400" spc="131" dirty="0">
                <a:solidFill>
                  <a:srgbClr val="0000CD"/>
                </a:solidFill>
                <a:latin typeface="Arial MT"/>
                <a:cs typeface="Arial MT"/>
              </a:rPr>
              <a:t> </a:t>
            </a:r>
            <a:r>
              <a:rPr sz="2400" u="heavy" spc="55" dirty="0">
                <a:solidFill>
                  <a:srgbClr val="00AF54"/>
                </a:solidFill>
                <a:uFill>
                  <a:solidFill>
                    <a:srgbClr val="08A84F"/>
                  </a:solidFill>
                </a:uFill>
                <a:latin typeface="Arial MT"/>
                <a:cs typeface="Arial MT"/>
              </a:rPr>
              <a:t>or</a:t>
            </a:r>
            <a:r>
              <a:rPr sz="2400" spc="48" dirty="0">
                <a:solidFill>
                  <a:srgbClr val="00AF54"/>
                </a:solidFill>
                <a:latin typeface="Arial MT"/>
                <a:cs typeface="Arial MT"/>
              </a:rPr>
              <a:t> </a:t>
            </a:r>
            <a:r>
              <a:rPr sz="2400" spc="35" dirty="0">
                <a:solidFill>
                  <a:srgbClr val="0000D3"/>
                </a:solidFill>
                <a:latin typeface="Arial MT"/>
                <a:cs typeface="Arial MT"/>
              </a:rPr>
              <a:t>value</a:t>
            </a:r>
            <a:r>
              <a:rPr sz="2400" spc="55" dirty="0">
                <a:solidFill>
                  <a:srgbClr val="0000D3"/>
                </a:solidFill>
                <a:latin typeface="Arial MT"/>
                <a:cs typeface="Arial MT"/>
              </a:rPr>
              <a:t> </a:t>
            </a:r>
            <a:r>
              <a:rPr sz="2400" dirty="0">
                <a:latin typeface="Arial MT"/>
                <a:cs typeface="Arial MT"/>
              </a:rPr>
              <a:t>of</a:t>
            </a:r>
            <a:r>
              <a:rPr sz="2400" spc="32" dirty="0">
                <a:latin typeface="Arial MT"/>
                <a:cs typeface="Arial MT"/>
              </a:rPr>
              <a:t> </a:t>
            </a:r>
            <a:r>
              <a:rPr sz="2400" dirty="0">
                <a:latin typeface="Arial MT"/>
                <a:cs typeface="Arial MT"/>
              </a:rPr>
              <a:t>a</a:t>
            </a:r>
            <a:r>
              <a:rPr sz="2400" spc="38" dirty="0">
                <a:latin typeface="Arial MT"/>
                <a:cs typeface="Arial MT"/>
              </a:rPr>
              <a:t> </a:t>
            </a:r>
            <a:r>
              <a:rPr sz="2400" spc="42" dirty="0">
                <a:solidFill>
                  <a:srgbClr val="0100C6"/>
                </a:solidFill>
                <a:latin typeface="Arial MT"/>
                <a:cs typeface="Arial MT"/>
              </a:rPr>
              <a:t>potential </a:t>
            </a:r>
            <a:r>
              <a:rPr sz="2400" spc="58" dirty="0">
                <a:solidFill>
                  <a:srgbClr val="0001D1"/>
                </a:solidFill>
                <a:latin typeface="Arial MT"/>
                <a:cs typeface="Arial MT"/>
              </a:rPr>
              <a:t>project</a:t>
            </a:r>
            <a:r>
              <a:rPr sz="2400" spc="99" dirty="0">
                <a:solidFill>
                  <a:srgbClr val="0001D1"/>
                </a:solidFill>
                <a:latin typeface="Arial MT"/>
                <a:cs typeface="Arial MT"/>
              </a:rPr>
              <a:t> </a:t>
            </a:r>
            <a:r>
              <a:rPr sz="2400" u="heavy" spc="58" dirty="0">
                <a:solidFill>
                  <a:srgbClr val="00AF54"/>
                </a:solidFill>
                <a:uFill>
                  <a:solidFill>
                    <a:srgbClr val="08A84F"/>
                  </a:solidFill>
                </a:uFill>
                <a:latin typeface="Arial MT"/>
                <a:cs typeface="Arial MT"/>
              </a:rPr>
              <a:t>to</a:t>
            </a:r>
            <a:r>
              <a:rPr sz="2400" spc="64" dirty="0">
                <a:solidFill>
                  <a:srgbClr val="00AF54"/>
                </a:solidFill>
                <a:latin typeface="Arial MT"/>
                <a:cs typeface="Arial MT"/>
              </a:rPr>
              <a:t> </a:t>
            </a:r>
            <a:r>
              <a:rPr sz="2400" spc="38" dirty="0">
                <a:solidFill>
                  <a:srgbClr val="0000E4"/>
                </a:solidFill>
                <a:latin typeface="Arial MT"/>
                <a:cs typeface="Arial MT"/>
              </a:rPr>
              <a:t>organization.</a:t>
            </a:r>
            <a:endParaRPr sz="2400" dirty="0">
              <a:latin typeface="Arial MT"/>
              <a:cs typeface="Arial MT"/>
            </a:endParaRPr>
          </a:p>
          <a:p>
            <a:pPr marL="546496" marR="302569" indent="-210943">
              <a:lnSpc>
                <a:spcPts val="1930"/>
              </a:lnSpc>
              <a:spcBef>
                <a:spcPts val="872"/>
              </a:spcBef>
            </a:pPr>
            <a:r>
              <a:rPr sz="2400" dirty="0">
                <a:solidFill>
                  <a:srgbClr val="08AA4F"/>
                </a:solidFill>
                <a:latin typeface="Arial MT"/>
                <a:cs typeface="Arial MT"/>
              </a:rPr>
              <a:t>\•</a:t>
            </a:r>
            <a:r>
              <a:rPr sz="2400" spc="160" dirty="0">
                <a:solidFill>
                  <a:srgbClr val="08AA4F"/>
                </a:solidFill>
                <a:latin typeface="Arial MT"/>
                <a:cs typeface="Arial MT"/>
              </a:rPr>
              <a:t> </a:t>
            </a:r>
            <a:r>
              <a:rPr sz="2400" u="heavy" dirty="0">
                <a:solidFill>
                  <a:srgbClr val="03AE4D"/>
                </a:solidFill>
                <a:uFill>
                  <a:solidFill>
                    <a:srgbClr val="037770"/>
                  </a:solidFill>
                </a:uFill>
                <a:latin typeface="Arial MT"/>
                <a:cs typeface="Arial MT"/>
              </a:rPr>
              <a:t>Does</a:t>
            </a:r>
            <a:r>
              <a:rPr sz="2400" u="heavy" spc="73" dirty="0">
                <a:solidFill>
                  <a:srgbClr val="03AE4D"/>
                </a:solidFill>
                <a:uFill>
                  <a:solidFill>
                    <a:srgbClr val="037770"/>
                  </a:solidFill>
                </a:uFill>
                <a:latin typeface="Arial MT"/>
                <a:cs typeface="Arial MT"/>
              </a:rPr>
              <a:t> </a:t>
            </a:r>
            <a:r>
              <a:rPr sz="2400" u="heavy" dirty="0">
                <a:solidFill>
                  <a:srgbClr val="00B152"/>
                </a:solidFill>
                <a:uFill>
                  <a:solidFill>
                    <a:srgbClr val="037770"/>
                  </a:solidFill>
                </a:uFill>
                <a:latin typeface="Arial MT"/>
                <a:cs typeface="Arial MT"/>
              </a:rPr>
              <a:t>not</a:t>
            </a:r>
            <a:r>
              <a:rPr sz="2400" spc="29" dirty="0">
                <a:solidFill>
                  <a:srgbClr val="00B152"/>
                </a:solidFill>
                <a:latin typeface="Arial MT"/>
                <a:cs typeface="Arial MT"/>
              </a:rPr>
              <a:t> </a:t>
            </a:r>
            <a:r>
              <a:rPr sz="2400" dirty="0">
                <a:solidFill>
                  <a:srgbClr val="00AF4B"/>
                </a:solidFill>
                <a:latin typeface="Arial MT"/>
                <a:cs typeface="Arial MT"/>
              </a:rPr>
              <a:t>allow</a:t>
            </a:r>
            <a:r>
              <a:rPr sz="2400" spc="45" dirty="0">
                <a:solidFill>
                  <a:srgbClr val="00AF4B"/>
                </a:solidFill>
                <a:latin typeface="Arial MT"/>
                <a:cs typeface="Arial MT"/>
              </a:rPr>
              <a:t> </a:t>
            </a:r>
            <a:r>
              <a:rPr sz="2400" spc="-26" dirty="0">
                <a:latin typeface="Arial MT"/>
                <a:cs typeface="Arial MT"/>
              </a:rPr>
              <a:t>for</a:t>
            </a:r>
            <a:r>
              <a:rPr sz="2400" spc="16" dirty="0">
                <a:latin typeface="Arial MT"/>
                <a:cs typeface="Arial MT"/>
              </a:rPr>
              <a:t> </a:t>
            </a:r>
            <a:r>
              <a:rPr sz="2400" dirty="0">
                <a:solidFill>
                  <a:srgbClr val="0101C1"/>
                </a:solidFill>
                <a:latin typeface="Arial MT"/>
                <a:cs typeface="Arial MT"/>
              </a:rPr>
              <a:t>comparison</a:t>
            </a:r>
            <a:r>
              <a:rPr sz="2400" spc="128" dirty="0">
                <a:solidFill>
                  <a:srgbClr val="0101C1"/>
                </a:solidFill>
                <a:latin typeface="Arial MT"/>
                <a:cs typeface="Arial MT"/>
              </a:rPr>
              <a:t> </a:t>
            </a:r>
            <a:r>
              <a:rPr sz="2400" u="heavy" spc="35" dirty="0">
                <a:solidFill>
                  <a:srgbClr val="00B14F"/>
                </a:solidFill>
                <a:uFill>
                  <a:solidFill>
                    <a:srgbClr val="037770"/>
                  </a:solidFill>
                </a:uFill>
                <a:latin typeface="Arial MT"/>
                <a:cs typeface="Arial MT"/>
              </a:rPr>
              <a:t>with</a:t>
            </a:r>
            <a:r>
              <a:rPr sz="2400" spc="-3" dirty="0">
                <a:solidFill>
                  <a:srgbClr val="00B14F"/>
                </a:solidFill>
                <a:latin typeface="Arial MT"/>
                <a:cs typeface="Arial MT"/>
              </a:rPr>
              <a:t> </a:t>
            </a:r>
            <a:r>
              <a:rPr sz="2400" u="heavy" dirty="0">
                <a:solidFill>
                  <a:srgbClr val="0101C1"/>
                </a:solidFill>
                <a:uFill>
                  <a:solidFill>
                    <a:srgbClr val="037770"/>
                  </a:solidFill>
                </a:uFill>
                <a:latin typeface="Arial MT"/>
                <a:cs typeface="Arial MT"/>
              </a:rPr>
              <a:t>other</a:t>
            </a:r>
            <a:r>
              <a:rPr sz="2400" spc="77" dirty="0">
                <a:solidFill>
                  <a:srgbClr val="0101C1"/>
                </a:solidFill>
                <a:latin typeface="Arial MT"/>
                <a:cs typeface="Arial MT"/>
              </a:rPr>
              <a:t> </a:t>
            </a:r>
            <a:r>
              <a:rPr sz="2400" spc="-6" dirty="0">
                <a:solidFill>
                  <a:srgbClr val="0001C6"/>
                </a:solidFill>
                <a:latin typeface="Arial MT"/>
                <a:cs typeface="Arial MT"/>
              </a:rPr>
              <a:t>potential </a:t>
            </a:r>
            <a:r>
              <a:rPr sz="2400" spc="-6" dirty="0">
                <a:solidFill>
                  <a:srgbClr val="0000DA"/>
                </a:solidFill>
                <a:latin typeface="Arial MT"/>
                <a:cs typeface="Arial MT"/>
              </a:rPr>
              <a:t>projects.</a:t>
            </a:r>
            <a:endParaRPr sz="2400" dirty="0">
              <a:latin typeface="Arial MT"/>
              <a:cs typeface="Arial MT"/>
            </a:endParaRPr>
          </a:p>
        </p:txBody>
      </p:sp>
      <p:pic>
        <p:nvPicPr>
          <p:cNvPr id="8" name="Picture 7">
            <a:extLst>
              <a:ext uri="{FF2B5EF4-FFF2-40B4-BE49-F238E27FC236}">
                <a16:creationId xmlns:a16="http://schemas.microsoft.com/office/drawing/2014/main" id="{0D3121F8-74F6-45AA-A220-EFD9930AC0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6626"/>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81000" y="394967"/>
            <a:ext cx="10078219" cy="992699"/>
          </a:xfrm>
          <a:prstGeom prst="rect">
            <a:avLst/>
          </a:prstGeom>
        </p:spPr>
        <p:txBody>
          <a:bodyPr vert="horz" wrap="square" lIns="0" tIns="7738" rIns="0" bIns="0" rtlCol="0">
            <a:spAutoFit/>
          </a:bodyPr>
          <a:lstStyle/>
          <a:p>
            <a:pPr marL="11402">
              <a:spcBef>
                <a:spcPts val="61"/>
              </a:spcBef>
            </a:pPr>
            <a:r>
              <a:rPr sz="3200" spc="42" dirty="0">
                <a:solidFill>
                  <a:srgbClr val="001F64"/>
                </a:solidFill>
              </a:rPr>
              <a:t>Checklist</a:t>
            </a:r>
            <a:r>
              <a:rPr sz="3200" spc="154" dirty="0">
                <a:solidFill>
                  <a:srgbClr val="001F64"/>
                </a:solidFill>
              </a:rPr>
              <a:t> </a:t>
            </a:r>
            <a:r>
              <a:rPr sz="3200" spc="38" dirty="0">
                <a:solidFill>
                  <a:srgbClr val="011F60"/>
                </a:solidFill>
              </a:rPr>
              <a:t>Model:</a:t>
            </a:r>
            <a:r>
              <a:rPr sz="3200" spc="141" dirty="0">
                <a:solidFill>
                  <a:srgbClr val="011F60"/>
                </a:solidFill>
              </a:rPr>
              <a:t> </a:t>
            </a:r>
            <a:r>
              <a:rPr sz="3200" dirty="0">
                <a:solidFill>
                  <a:srgbClr val="001F62"/>
                </a:solidFill>
              </a:rPr>
              <a:t>Sample</a:t>
            </a:r>
            <a:r>
              <a:rPr sz="3200" spc="80" dirty="0">
                <a:solidFill>
                  <a:srgbClr val="001F62"/>
                </a:solidFill>
              </a:rPr>
              <a:t> </a:t>
            </a:r>
            <a:r>
              <a:rPr sz="3200" spc="35" dirty="0">
                <a:solidFill>
                  <a:srgbClr val="011F60"/>
                </a:solidFill>
              </a:rPr>
              <a:t>Selection</a:t>
            </a:r>
            <a:r>
              <a:rPr sz="3200" spc="138" dirty="0">
                <a:solidFill>
                  <a:srgbClr val="011F60"/>
                </a:solidFill>
              </a:rPr>
              <a:t> </a:t>
            </a:r>
            <a:r>
              <a:rPr sz="3200" spc="42" dirty="0"/>
              <a:t>Questions</a:t>
            </a:r>
            <a:r>
              <a:rPr sz="3200" spc="167" dirty="0"/>
              <a:t> </a:t>
            </a:r>
            <a:r>
              <a:rPr sz="3200" spc="51" dirty="0">
                <a:solidFill>
                  <a:srgbClr val="001A62"/>
                </a:solidFill>
              </a:rPr>
              <a:t>used</a:t>
            </a:r>
            <a:r>
              <a:rPr sz="3200" spc="99" dirty="0">
                <a:solidFill>
                  <a:srgbClr val="001A62"/>
                </a:solidFill>
              </a:rPr>
              <a:t> </a:t>
            </a:r>
            <a:r>
              <a:rPr sz="3200" spc="32" dirty="0">
                <a:solidFill>
                  <a:srgbClr val="001F67"/>
                </a:solidFill>
              </a:rPr>
              <a:t>in</a:t>
            </a:r>
            <a:r>
              <a:rPr sz="3200" spc="99" dirty="0">
                <a:solidFill>
                  <a:srgbClr val="001F67"/>
                </a:solidFill>
              </a:rPr>
              <a:t> </a:t>
            </a:r>
            <a:r>
              <a:rPr sz="3200" spc="-6" dirty="0">
                <a:solidFill>
                  <a:srgbClr val="002162"/>
                </a:solidFill>
              </a:rPr>
              <a:t>Practice</a:t>
            </a:r>
            <a:endParaRPr sz="3200" dirty="0"/>
          </a:p>
        </p:txBody>
      </p:sp>
      <p:sp>
        <p:nvSpPr>
          <p:cNvPr id="20" name="object 20"/>
          <p:cNvSpPr txBox="1">
            <a:spLocks noGrp="1"/>
          </p:cNvSpPr>
          <p:nvPr>
            <p:ph type="sldNum" sz="quarter" idx="7"/>
          </p:nvPr>
        </p:nvSpPr>
        <p:spPr>
          <a:xfrm>
            <a:off x="12846416" y="4123060"/>
            <a:ext cx="156789" cy="76944"/>
          </a:xfrm>
          <a:prstGeom prst="rect">
            <a:avLst/>
          </a:prstGeom>
        </p:spPr>
        <p:txBody>
          <a:bodyPr vert="horz" wrap="square" lIns="0" tIns="0" rIns="0" bIns="0" rtlCol="0">
            <a:spAutoFit/>
          </a:bodyPr>
          <a:lstStyle/>
          <a:p>
            <a:pPr marL="25655">
              <a:lnSpc>
                <a:spcPts val="621"/>
              </a:lnSpc>
            </a:pPr>
            <a:fld id="{81D60167-4931-47E6-BA6A-407CBD079E47}" type="slidenum">
              <a:rPr sz="577" spc="-16" dirty="0">
                <a:latin typeface="Consolas"/>
                <a:cs typeface="Consolas"/>
              </a:rPr>
              <a:pPr marL="25655">
                <a:lnSpc>
                  <a:spcPts val="621"/>
                </a:lnSpc>
              </a:pPr>
              <a:t>21</a:t>
            </a:fld>
            <a:endParaRPr sz="577">
              <a:latin typeface="Consolas"/>
              <a:cs typeface="Consolas"/>
            </a:endParaRPr>
          </a:p>
        </p:txBody>
      </p:sp>
      <p:pic>
        <p:nvPicPr>
          <p:cNvPr id="21" name="Picture 20">
            <a:extLst>
              <a:ext uri="{FF2B5EF4-FFF2-40B4-BE49-F238E27FC236}">
                <a16:creationId xmlns:a16="http://schemas.microsoft.com/office/drawing/2014/main" id="{C7ED28DC-CDE6-40DA-9CBE-B0E6B0886ED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6626"/>
            <a:ext cx="2031366" cy="112853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7AFB1CBA-3E74-4676-9001-96A35BB38E1C}"/>
              </a:ext>
            </a:extLst>
          </p:cNvPr>
          <p:cNvPicPr>
            <a:picLocks noChangeAspect="1"/>
          </p:cNvPicPr>
          <p:nvPr/>
        </p:nvPicPr>
        <p:blipFill>
          <a:blip r:embed="rId3"/>
          <a:stretch>
            <a:fillRect/>
          </a:stretch>
        </p:blipFill>
        <p:spPr>
          <a:xfrm>
            <a:off x="838200" y="1628691"/>
            <a:ext cx="8273460" cy="522930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85800" y="608994"/>
            <a:ext cx="7204158" cy="610478"/>
          </a:xfrm>
          <a:prstGeom prst="rect">
            <a:avLst/>
          </a:prstGeom>
        </p:spPr>
        <p:txBody>
          <a:bodyPr vert="horz" wrap="square" lIns="0" tIns="55934" rIns="0" bIns="0" rtlCol="0">
            <a:spAutoFit/>
          </a:bodyPr>
          <a:lstStyle/>
          <a:p>
            <a:pPr marL="11402">
              <a:spcBef>
                <a:spcPts val="67"/>
              </a:spcBef>
            </a:pPr>
            <a:r>
              <a:rPr sz="3600" dirty="0">
                <a:solidFill>
                  <a:srgbClr val="01215B"/>
                </a:solidFill>
              </a:rPr>
              <a:t>Two</a:t>
            </a:r>
            <a:r>
              <a:rPr sz="3600" spc="119" dirty="0">
                <a:solidFill>
                  <a:srgbClr val="01215B"/>
                </a:solidFill>
              </a:rPr>
              <a:t> </a:t>
            </a:r>
            <a:r>
              <a:rPr sz="3600" spc="45" dirty="0">
                <a:solidFill>
                  <a:srgbClr val="011F60"/>
                </a:solidFill>
              </a:rPr>
              <a:t>Multi-Criteria</a:t>
            </a:r>
            <a:r>
              <a:rPr sz="3600" spc="-10" dirty="0">
                <a:solidFill>
                  <a:srgbClr val="011F60"/>
                </a:solidFill>
              </a:rPr>
              <a:t> </a:t>
            </a:r>
            <a:r>
              <a:rPr sz="3600" dirty="0">
                <a:solidFill>
                  <a:srgbClr val="001F62"/>
                </a:solidFill>
              </a:rPr>
              <a:t>Selection</a:t>
            </a:r>
            <a:r>
              <a:rPr sz="3600" spc="147" dirty="0">
                <a:solidFill>
                  <a:srgbClr val="001F62"/>
                </a:solidFill>
              </a:rPr>
              <a:t> </a:t>
            </a:r>
            <a:r>
              <a:rPr sz="3600" spc="-6" dirty="0">
                <a:solidFill>
                  <a:srgbClr val="011F60"/>
                </a:solidFill>
              </a:rPr>
              <a:t>Models</a:t>
            </a:r>
            <a:endParaRPr sz="3600" dirty="0"/>
          </a:p>
        </p:txBody>
      </p:sp>
      <p:sp>
        <p:nvSpPr>
          <p:cNvPr id="7" name="object 7"/>
          <p:cNvSpPr txBox="1">
            <a:spLocks noGrp="1"/>
          </p:cNvSpPr>
          <p:nvPr>
            <p:ph type="sldNum" sz="quarter" idx="7"/>
          </p:nvPr>
        </p:nvSpPr>
        <p:spPr>
          <a:xfrm>
            <a:off x="12846416" y="4123060"/>
            <a:ext cx="156789" cy="76944"/>
          </a:xfrm>
          <a:prstGeom prst="rect">
            <a:avLst/>
          </a:prstGeom>
        </p:spPr>
        <p:txBody>
          <a:bodyPr vert="horz" wrap="square" lIns="0" tIns="0" rIns="0" bIns="0" rtlCol="0">
            <a:spAutoFit/>
          </a:bodyPr>
          <a:lstStyle/>
          <a:p>
            <a:pPr marL="25655">
              <a:lnSpc>
                <a:spcPts val="621"/>
              </a:lnSpc>
            </a:pPr>
            <a:fld id="{81D60167-4931-47E6-BA6A-407CBD079E47}" type="slidenum">
              <a:rPr sz="577" spc="-16" dirty="0">
                <a:latin typeface="Consolas"/>
                <a:cs typeface="Consolas"/>
              </a:rPr>
              <a:pPr marL="25655">
                <a:lnSpc>
                  <a:spcPts val="621"/>
                </a:lnSpc>
              </a:pPr>
              <a:t>22</a:t>
            </a:fld>
            <a:endParaRPr sz="577">
              <a:latin typeface="Consolas"/>
              <a:cs typeface="Consolas"/>
            </a:endParaRPr>
          </a:p>
        </p:txBody>
      </p:sp>
      <p:sp>
        <p:nvSpPr>
          <p:cNvPr id="4" name="object 4"/>
          <p:cNvSpPr txBox="1"/>
          <p:nvPr/>
        </p:nvSpPr>
        <p:spPr>
          <a:xfrm>
            <a:off x="990600" y="2063621"/>
            <a:ext cx="8458200" cy="1786399"/>
          </a:xfrm>
          <a:prstGeom prst="rect">
            <a:avLst/>
          </a:prstGeom>
        </p:spPr>
        <p:txBody>
          <a:bodyPr vert="horz" wrap="square" lIns="0" tIns="128282" rIns="0" bIns="0" rtlCol="0">
            <a:spAutoFit/>
          </a:bodyPr>
          <a:lstStyle/>
          <a:p>
            <a:pPr marL="204020" marR="44795" indent="-193432">
              <a:lnSpc>
                <a:spcPct val="100400"/>
              </a:lnSpc>
              <a:spcBef>
                <a:spcPts val="814"/>
              </a:spcBef>
              <a:buClr>
                <a:srgbClr val="00B34F"/>
              </a:buClr>
              <a:buChar char="•"/>
              <a:tabLst>
                <a:tab pos="206463" algn="l"/>
              </a:tabLst>
            </a:pPr>
            <a:r>
              <a:rPr sz="2400" u="heavy" dirty="0">
                <a:solidFill>
                  <a:srgbClr val="00B34B"/>
                </a:solidFill>
                <a:uFill>
                  <a:solidFill>
                    <a:srgbClr val="08A84F"/>
                  </a:solidFill>
                </a:uFill>
                <a:latin typeface="Arial MT"/>
                <a:cs typeface="Arial MT"/>
              </a:rPr>
              <a:t>Uses</a:t>
            </a:r>
            <a:r>
              <a:rPr sz="2400" spc="109" dirty="0">
                <a:solidFill>
                  <a:srgbClr val="00B34B"/>
                </a:solidFill>
                <a:latin typeface="Arial MT"/>
                <a:cs typeface="Arial MT"/>
              </a:rPr>
              <a:t> </a:t>
            </a:r>
            <a:r>
              <a:rPr sz="2400" spc="32" dirty="0">
                <a:solidFill>
                  <a:srgbClr val="FD0000"/>
                </a:solidFill>
                <a:latin typeface="Arial MT"/>
                <a:cs typeface="Arial MT"/>
              </a:rPr>
              <a:t>several</a:t>
            </a:r>
            <a:r>
              <a:rPr sz="2400" spc="141" dirty="0">
                <a:solidFill>
                  <a:srgbClr val="FD0000"/>
                </a:solidFill>
                <a:latin typeface="Arial MT"/>
                <a:cs typeface="Arial MT"/>
              </a:rPr>
              <a:t> </a:t>
            </a:r>
            <a:r>
              <a:rPr sz="2400" spc="51" dirty="0">
                <a:solidFill>
                  <a:srgbClr val="FB0100"/>
                </a:solidFill>
                <a:latin typeface="Arial MT"/>
                <a:cs typeface="Arial MT"/>
              </a:rPr>
              <a:t>weighted</a:t>
            </a:r>
            <a:r>
              <a:rPr sz="2400" spc="64" dirty="0">
                <a:solidFill>
                  <a:srgbClr val="FB0100"/>
                </a:solidFill>
                <a:latin typeface="Arial MT"/>
                <a:cs typeface="Arial MT"/>
              </a:rPr>
              <a:t> </a:t>
            </a:r>
            <a:r>
              <a:rPr sz="2400" spc="51" dirty="0">
                <a:solidFill>
                  <a:srgbClr val="0003BF"/>
                </a:solidFill>
                <a:latin typeface="Arial MT"/>
                <a:cs typeface="Arial MT"/>
              </a:rPr>
              <a:t>selection</a:t>
            </a:r>
            <a:r>
              <a:rPr sz="2400" spc="135" dirty="0">
                <a:solidFill>
                  <a:srgbClr val="0003BF"/>
                </a:solidFill>
                <a:latin typeface="Arial MT"/>
                <a:cs typeface="Arial MT"/>
              </a:rPr>
              <a:t> </a:t>
            </a:r>
            <a:r>
              <a:rPr sz="2400" spc="55" dirty="0">
                <a:solidFill>
                  <a:srgbClr val="0001C4"/>
                </a:solidFill>
                <a:latin typeface="Arial MT"/>
                <a:cs typeface="Arial MT"/>
              </a:rPr>
              <a:t>criteria</a:t>
            </a:r>
            <a:r>
              <a:rPr sz="2400" spc="83" dirty="0">
                <a:solidFill>
                  <a:srgbClr val="0001C4"/>
                </a:solidFill>
                <a:latin typeface="Arial MT"/>
                <a:cs typeface="Arial MT"/>
              </a:rPr>
              <a:t> </a:t>
            </a:r>
            <a:r>
              <a:rPr sz="2400" dirty="0">
                <a:latin typeface="Arial MT"/>
                <a:cs typeface="Arial MT"/>
              </a:rPr>
              <a:t>to</a:t>
            </a:r>
            <a:r>
              <a:rPr sz="2400" spc="32" dirty="0">
                <a:latin typeface="Arial MT"/>
                <a:cs typeface="Arial MT"/>
              </a:rPr>
              <a:t> </a:t>
            </a:r>
            <a:r>
              <a:rPr sz="2400" u="heavy" spc="-6" dirty="0">
                <a:solidFill>
                  <a:srgbClr val="08AC4D"/>
                </a:solidFill>
                <a:uFill>
                  <a:solidFill>
                    <a:srgbClr val="08A84F"/>
                  </a:solidFill>
                </a:uFill>
                <a:latin typeface="Arial MT"/>
                <a:cs typeface="Arial MT"/>
              </a:rPr>
              <a:t>evaluate</a:t>
            </a:r>
            <a:r>
              <a:rPr sz="2400" spc="-6" dirty="0">
                <a:solidFill>
                  <a:srgbClr val="08AC4D"/>
                </a:solidFill>
                <a:latin typeface="Arial MT"/>
                <a:cs typeface="Arial MT"/>
              </a:rPr>
              <a:t> 	</a:t>
            </a:r>
            <a:r>
              <a:rPr sz="2400" spc="58" dirty="0">
                <a:solidFill>
                  <a:srgbClr val="0001C8"/>
                </a:solidFill>
                <a:latin typeface="Arial MT"/>
                <a:cs typeface="Arial MT"/>
              </a:rPr>
              <a:t>project</a:t>
            </a:r>
            <a:r>
              <a:rPr sz="2400" spc="99" dirty="0">
                <a:solidFill>
                  <a:srgbClr val="0001C8"/>
                </a:solidFill>
                <a:latin typeface="Arial MT"/>
                <a:cs typeface="Arial MT"/>
              </a:rPr>
              <a:t> </a:t>
            </a:r>
            <a:r>
              <a:rPr sz="2400" spc="48" dirty="0">
                <a:solidFill>
                  <a:srgbClr val="0000D6"/>
                </a:solidFill>
                <a:latin typeface="Arial MT"/>
                <a:cs typeface="Arial MT"/>
              </a:rPr>
              <a:t>proposals.</a:t>
            </a:r>
            <a:endParaRPr sz="2400" dirty="0">
              <a:latin typeface="Arial MT"/>
              <a:cs typeface="Arial MT"/>
            </a:endParaRPr>
          </a:p>
          <a:p>
            <a:pPr marL="199948" indent="-189767">
              <a:spcBef>
                <a:spcPts val="699"/>
              </a:spcBef>
              <a:buClr>
                <a:srgbClr val="00B14B"/>
              </a:buClr>
              <a:buChar char="•"/>
              <a:tabLst>
                <a:tab pos="199948" algn="l"/>
              </a:tabLst>
            </a:pPr>
            <a:r>
              <a:rPr sz="2400" u="heavy" dirty="0">
                <a:solidFill>
                  <a:srgbClr val="0CA852"/>
                </a:solidFill>
                <a:uFill>
                  <a:solidFill>
                    <a:srgbClr val="03602B"/>
                  </a:solidFill>
                </a:uFill>
                <a:latin typeface="Arial MT"/>
                <a:cs typeface="Arial MT"/>
              </a:rPr>
              <a:t>Includes</a:t>
            </a:r>
            <a:r>
              <a:rPr sz="2400" spc="218" dirty="0">
                <a:solidFill>
                  <a:srgbClr val="0CA852"/>
                </a:solidFill>
                <a:latin typeface="Arial MT"/>
                <a:cs typeface="Arial MT"/>
              </a:rPr>
              <a:t> </a:t>
            </a:r>
            <a:r>
              <a:rPr sz="2400" dirty="0">
                <a:solidFill>
                  <a:srgbClr val="0000D4"/>
                </a:solidFill>
                <a:latin typeface="Arial MT"/>
                <a:cs typeface="Arial MT"/>
              </a:rPr>
              <a:t>qualitative</a:t>
            </a:r>
            <a:r>
              <a:rPr sz="2400" spc="163" dirty="0">
                <a:solidFill>
                  <a:srgbClr val="0000D4"/>
                </a:solidFill>
                <a:latin typeface="Arial MT"/>
                <a:cs typeface="Arial MT"/>
              </a:rPr>
              <a:t> </a:t>
            </a:r>
            <a:r>
              <a:rPr sz="2400" u="heavy" dirty="0">
                <a:uFill>
                  <a:solidFill>
                    <a:srgbClr val="03602B"/>
                  </a:solidFill>
                </a:uFill>
                <a:latin typeface="Arial MT"/>
                <a:cs typeface="Arial MT"/>
              </a:rPr>
              <a:t>and/or</a:t>
            </a:r>
            <a:r>
              <a:rPr sz="2400" spc="131" dirty="0">
                <a:latin typeface="Arial MT"/>
                <a:cs typeface="Arial MT"/>
              </a:rPr>
              <a:t> </a:t>
            </a:r>
            <a:r>
              <a:rPr sz="2400" dirty="0">
                <a:solidFill>
                  <a:srgbClr val="0100CD"/>
                </a:solidFill>
                <a:latin typeface="Arial MT"/>
                <a:cs typeface="Arial MT"/>
              </a:rPr>
              <a:t>quantitative</a:t>
            </a:r>
            <a:r>
              <a:rPr sz="2400" spc="196" dirty="0">
                <a:solidFill>
                  <a:srgbClr val="0100CD"/>
                </a:solidFill>
                <a:latin typeface="Arial MT"/>
                <a:cs typeface="Arial MT"/>
              </a:rPr>
              <a:t> </a:t>
            </a:r>
            <a:r>
              <a:rPr sz="2400" spc="-6" dirty="0">
                <a:solidFill>
                  <a:srgbClr val="0001C4"/>
                </a:solidFill>
                <a:latin typeface="Arial MT"/>
                <a:cs typeface="Arial MT"/>
              </a:rPr>
              <a:t>criteria.</a:t>
            </a:r>
            <a:endParaRPr sz="2400" dirty="0">
              <a:latin typeface="Arial MT"/>
              <a:cs typeface="Arial MT"/>
            </a:endParaRPr>
          </a:p>
          <a:p>
            <a:pPr marL="208092" indent="-197912">
              <a:spcBef>
                <a:spcPts val="699"/>
              </a:spcBef>
              <a:buClr>
                <a:srgbClr val="00B354"/>
              </a:buClr>
              <a:buChar char="•"/>
              <a:tabLst>
                <a:tab pos="208092" algn="l"/>
              </a:tabLst>
            </a:pPr>
            <a:r>
              <a:rPr sz="2400" u="heavy" dirty="0">
                <a:solidFill>
                  <a:srgbClr val="00AF4F"/>
                </a:solidFill>
                <a:uFill>
                  <a:solidFill>
                    <a:srgbClr val="087474"/>
                  </a:solidFill>
                </a:uFill>
                <a:latin typeface="Arial MT"/>
                <a:cs typeface="Arial MT"/>
              </a:rPr>
              <a:t>Allows</a:t>
            </a:r>
            <a:r>
              <a:rPr sz="2400" spc="119" dirty="0">
                <a:solidFill>
                  <a:srgbClr val="00AF4F"/>
                </a:solidFill>
                <a:latin typeface="Arial MT"/>
                <a:cs typeface="Arial MT"/>
              </a:rPr>
              <a:t> </a:t>
            </a:r>
            <a:r>
              <a:rPr sz="2400" spc="-26" dirty="0">
                <a:latin typeface="Arial MT"/>
                <a:cs typeface="Arial MT"/>
              </a:rPr>
              <a:t>for</a:t>
            </a:r>
            <a:r>
              <a:rPr sz="2400" spc="80" dirty="0">
                <a:latin typeface="Arial MT"/>
                <a:cs typeface="Arial MT"/>
              </a:rPr>
              <a:t> </a:t>
            </a:r>
            <a:r>
              <a:rPr sz="2400" dirty="0">
                <a:solidFill>
                  <a:srgbClr val="0000C3"/>
                </a:solidFill>
                <a:latin typeface="Arial MT"/>
                <a:cs typeface="Arial MT"/>
              </a:rPr>
              <a:t>comparison</a:t>
            </a:r>
            <a:r>
              <a:rPr sz="2400" spc="218" dirty="0">
                <a:solidFill>
                  <a:srgbClr val="0000C3"/>
                </a:solidFill>
                <a:latin typeface="Arial MT"/>
                <a:cs typeface="Arial MT"/>
              </a:rPr>
              <a:t> </a:t>
            </a:r>
            <a:r>
              <a:rPr sz="2400" u="heavy" dirty="0">
                <a:solidFill>
                  <a:srgbClr val="00B34D"/>
                </a:solidFill>
                <a:uFill>
                  <a:solidFill>
                    <a:srgbClr val="087474"/>
                  </a:solidFill>
                </a:uFill>
                <a:latin typeface="Arial MT"/>
                <a:cs typeface="Arial MT"/>
              </a:rPr>
              <a:t>with</a:t>
            </a:r>
            <a:r>
              <a:rPr sz="2400" spc="93" dirty="0">
                <a:solidFill>
                  <a:srgbClr val="00B34D"/>
                </a:solidFill>
                <a:latin typeface="Arial MT"/>
                <a:cs typeface="Arial MT"/>
              </a:rPr>
              <a:t> </a:t>
            </a:r>
            <a:r>
              <a:rPr sz="2400" u="heavy" dirty="0">
                <a:solidFill>
                  <a:srgbClr val="0000D1"/>
                </a:solidFill>
                <a:uFill>
                  <a:solidFill>
                    <a:srgbClr val="087474"/>
                  </a:solidFill>
                </a:uFill>
                <a:latin typeface="Arial MT"/>
                <a:cs typeface="Arial MT"/>
              </a:rPr>
              <a:t>other</a:t>
            </a:r>
            <a:r>
              <a:rPr sz="2400" spc="128" dirty="0">
                <a:solidFill>
                  <a:srgbClr val="0000D1"/>
                </a:solidFill>
                <a:latin typeface="Arial MT"/>
                <a:cs typeface="Arial MT"/>
              </a:rPr>
              <a:t> </a:t>
            </a:r>
            <a:r>
              <a:rPr sz="2400" dirty="0">
                <a:solidFill>
                  <a:srgbClr val="0003C6"/>
                </a:solidFill>
                <a:latin typeface="Arial MT"/>
                <a:cs typeface="Arial MT"/>
              </a:rPr>
              <a:t>potential</a:t>
            </a:r>
            <a:r>
              <a:rPr sz="2400" spc="183" dirty="0">
                <a:solidFill>
                  <a:srgbClr val="0003C6"/>
                </a:solidFill>
                <a:latin typeface="Arial MT"/>
                <a:cs typeface="Arial MT"/>
              </a:rPr>
              <a:t> </a:t>
            </a:r>
            <a:r>
              <a:rPr sz="2400" spc="-6" dirty="0">
                <a:solidFill>
                  <a:srgbClr val="0000D4"/>
                </a:solidFill>
                <a:latin typeface="Arial MT"/>
                <a:cs typeface="Arial MT"/>
              </a:rPr>
              <a:t>projects.</a:t>
            </a:r>
            <a:endParaRPr sz="2400" dirty="0">
              <a:latin typeface="Arial MT"/>
              <a:cs typeface="Arial MT"/>
            </a:endParaRPr>
          </a:p>
        </p:txBody>
      </p:sp>
      <p:pic>
        <p:nvPicPr>
          <p:cNvPr id="8" name="Picture 7">
            <a:extLst>
              <a:ext uri="{FF2B5EF4-FFF2-40B4-BE49-F238E27FC236}">
                <a16:creationId xmlns:a16="http://schemas.microsoft.com/office/drawing/2014/main" id="{9F00D91F-5264-4B12-AEA1-E5413FA9379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6626"/>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F15E059-A1DB-4912-9E8B-35310B301D0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2D69FD06-E3E0-4038-9503-48973D631D50}"/>
              </a:ext>
            </a:extLst>
          </p:cNvPr>
          <p:cNvPicPr>
            <a:picLocks noChangeAspect="1"/>
          </p:cNvPicPr>
          <p:nvPr/>
        </p:nvPicPr>
        <p:blipFill>
          <a:blip r:embed="rId4"/>
          <a:stretch>
            <a:fillRect/>
          </a:stretch>
        </p:blipFill>
        <p:spPr>
          <a:xfrm>
            <a:off x="0" y="0"/>
            <a:ext cx="10021229"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457200" y="570894"/>
            <a:ext cx="10459219" cy="738757"/>
          </a:xfrm>
          <a:prstGeom prst="rect">
            <a:avLst/>
          </a:prstGeom>
        </p:spPr>
        <p:txBody>
          <a:bodyPr vert="horz" wrap="square" lIns="0" tIns="76292" rIns="0" bIns="0" rtlCol="0">
            <a:spAutoFit/>
          </a:bodyPr>
          <a:lstStyle/>
          <a:p>
            <a:pPr marL="13031">
              <a:spcBef>
                <a:spcPts val="73"/>
              </a:spcBef>
            </a:pPr>
            <a:r>
              <a:rPr dirty="0"/>
              <a:t>Aspects</a:t>
            </a:r>
            <a:r>
              <a:rPr spc="202" dirty="0"/>
              <a:t> </a:t>
            </a:r>
            <a:r>
              <a:rPr spc="45" dirty="0">
                <a:solidFill>
                  <a:srgbClr val="01215B"/>
                </a:solidFill>
              </a:rPr>
              <a:t>of</a:t>
            </a:r>
            <a:r>
              <a:rPr spc="93" dirty="0">
                <a:solidFill>
                  <a:srgbClr val="01215B"/>
                </a:solidFill>
              </a:rPr>
              <a:t> </a:t>
            </a:r>
            <a:r>
              <a:rPr dirty="0">
                <a:solidFill>
                  <a:srgbClr val="002160"/>
                </a:solidFill>
              </a:rPr>
              <a:t>applying</a:t>
            </a:r>
            <a:r>
              <a:rPr spc="199" dirty="0">
                <a:solidFill>
                  <a:srgbClr val="002160"/>
                </a:solidFill>
              </a:rPr>
              <a:t> </a:t>
            </a:r>
            <a:r>
              <a:rPr dirty="0">
                <a:solidFill>
                  <a:srgbClr val="011F60"/>
                </a:solidFill>
              </a:rPr>
              <a:t>a</a:t>
            </a:r>
            <a:r>
              <a:rPr spc="35" dirty="0">
                <a:solidFill>
                  <a:srgbClr val="011F60"/>
                </a:solidFill>
              </a:rPr>
              <a:t> </a:t>
            </a:r>
            <a:r>
              <a:rPr dirty="0"/>
              <a:t>Selection</a:t>
            </a:r>
            <a:r>
              <a:rPr spc="205" dirty="0"/>
              <a:t> </a:t>
            </a:r>
            <a:r>
              <a:rPr spc="-6" dirty="0">
                <a:solidFill>
                  <a:srgbClr val="011F60"/>
                </a:solidFill>
              </a:rPr>
              <a:t>Model</a:t>
            </a:r>
          </a:p>
        </p:txBody>
      </p:sp>
      <p:sp>
        <p:nvSpPr>
          <p:cNvPr id="8" name="object 8"/>
          <p:cNvSpPr txBox="1">
            <a:spLocks noGrp="1"/>
          </p:cNvSpPr>
          <p:nvPr>
            <p:ph type="sldNum" sz="quarter" idx="7"/>
          </p:nvPr>
        </p:nvSpPr>
        <p:spPr>
          <a:xfrm>
            <a:off x="12846416" y="4123060"/>
            <a:ext cx="156789" cy="373444"/>
          </a:xfrm>
          <a:prstGeom prst="rect">
            <a:avLst/>
          </a:prstGeom>
        </p:spPr>
        <p:txBody>
          <a:bodyPr vert="horz" wrap="square" lIns="0" tIns="4072" rIns="0" bIns="0" rtlCol="0">
            <a:spAutoFit/>
          </a:bodyPr>
          <a:lstStyle/>
          <a:p>
            <a:pPr marL="30542">
              <a:spcBef>
                <a:spcPts val="32"/>
              </a:spcBef>
            </a:pPr>
            <a:fld id="{81D60167-4931-47E6-BA6A-407CBD079E47}" type="slidenum">
              <a:rPr spc="-16" dirty="0"/>
              <a:pPr marL="30542">
                <a:spcBef>
                  <a:spcPts val="32"/>
                </a:spcBef>
              </a:pPr>
              <a:t>24</a:t>
            </a:fld>
            <a:endParaRPr spc="-16" dirty="0"/>
          </a:p>
        </p:txBody>
      </p:sp>
      <p:pic>
        <p:nvPicPr>
          <p:cNvPr id="9" name="Picture 8">
            <a:extLst>
              <a:ext uri="{FF2B5EF4-FFF2-40B4-BE49-F238E27FC236}">
                <a16:creationId xmlns:a16="http://schemas.microsoft.com/office/drawing/2014/main" id="{F1781B53-2718-43B9-B9BD-B06E6A00349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6626"/>
            <a:ext cx="2031366" cy="112853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76B5611C-A5FE-43F3-B8E9-D9A70BF96785}"/>
              </a:ext>
            </a:extLst>
          </p:cNvPr>
          <p:cNvPicPr>
            <a:picLocks noChangeAspect="1"/>
          </p:cNvPicPr>
          <p:nvPr/>
        </p:nvPicPr>
        <p:blipFill>
          <a:blip r:embed="rId3"/>
          <a:stretch>
            <a:fillRect/>
          </a:stretch>
        </p:blipFill>
        <p:spPr>
          <a:xfrm>
            <a:off x="603884" y="1551310"/>
            <a:ext cx="9544050" cy="51435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320564" y="1247073"/>
            <a:ext cx="2507503" cy="51131"/>
          </a:xfrm>
          <a:prstGeom prst="rect">
            <a:avLst/>
          </a:prstGeom>
        </p:spPr>
      </p:pic>
      <p:sp>
        <p:nvSpPr>
          <p:cNvPr id="3" name="object 3"/>
          <p:cNvSpPr txBox="1">
            <a:spLocks noGrp="1"/>
          </p:cNvSpPr>
          <p:nvPr>
            <p:ph type="title"/>
          </p:nvPr>
        </p:nvSpPr>
        <p:spPr>
          <a:xfrm>
            <a:off x="304800" y="635992"/>
            <a:ext cx="10687819" cy="738757"/>
          </a:xfrm>
          <a:prstGeom prst="rect">
            <a:avLst/>
          </a:prstGeom>
        </p:spPr>
        <p:txBody>
          <a:bodyPr vert="horz" wrap="square" lIns="0" tIns="76292" rIns="0" bIns="0" rtlCol="0">
            <a:spAutoFit/>
          </a:bodyPr>
          <a:lstStyle/>
          <a:p>
            <a:pPr marL="13031">
              <a:spcBef>
                <a:spcPts val="73"/>
              </a:spcBef>
            </a:pPr>
            <a:r>
              <a:rPr dirty="0"/>
              <a:t>Aspects</a:t>
            </a:r>
            <a:r>
              <a:rPr spc="202" dirty="0"/>
              <a:t> </a:t>
            </a:r>
            <a:r>
              <a:rPr spc="45" dirty="0">
                <a:solidFill>
                  <a:srgbClr val="01215B"/>
                </a:solidFill>
              </a:rPr>
              <a:t>of</a:t>
            </a:r>
            <a:r>
              <a:rPr spc="93" dirty="0">
                <a:solidFill>
                  <a:srgbClr val="01215B"/>
                </a:solidFill>
              </a:rPr>
              <a:t> </a:t>
            </a:r>
            <a:r>
              <a:rPr dirty="0">
                <a:solidFill>
                  <a:srgbClr val="002160"/>
                </a:solidFill>
              </a:rPr>
              <a:t>applying</a:t>
            </a:r>
            <a:r>
              <a:rPr spc="199" dirty="0">
                <a:solidFill>
                  <a:srgbClr val="002160"/>
                </a:solidFill>
              </a:rPr>
              <a:t> </a:t>
            </a:r>
            <a:r>
              <a:rPr dirty="0">
                <a:solidFill>
                  <a:srgbClr val="011F60"/>
                </a:solidFill>
              </a:rPr>
              <a:t>a</a:t>
            </a:r>
            <a:r>
              <a:rPr spc="35" dirty="0">
                <a:solidFill>
                  <a:srgbClr val="011F60"/>
                </a:solidFill>
              </a:rPr>
              <a:t> </a:t>
            </a:r>
            <a:r>
              <a:rPr dirty="0"/>
              <a:t>Selection</a:t>
            </a:r>
            <a:r>
              <a:rPr spc="205" dirty="0"/>
              <a:t> </a:t>
            </a:r>
            <a:r>
              <a:rPr spc="-6" dirty="0">
                <a:solidFill>
                  <a:srgbClr val="011F60"/>
                </a:solidFill>
              </a:rPr>
              <a:t>Model</a:t>
            </a:r>
          </a:p>
        </p:txBody>
      </p:sp>
      <p:sp>
        <p:nvSpPr>
          <p:cNvPr id="7" name="object 7"/>
          <p:cNvSpPr txBox="1">
            <a:spLocks noGrp="1"/>
          </p:cNvSpPr>
          <p:nvPr>
            <p:ph type="sldNum" sz="quarter" idx="7"/>
          </p:nvPr>
        </p:nvSpPr>
        <p:spPr>
          <a:xfrm>
            <a:off x="12846416" y="4123060"/>
            <a:ext cx="156789" cy="373444"/>
          </a:xfrm>
          <a:prstGeom prst="rect">
            <a:avLst/>
          </a:prstGeom>
        </p:spPr>
        <p:txBody>
          <a:bodyPr vert="horz" wrap="square" lIns="0" tIns="4072" rIns="0" bIns="0" rtlCol="0">
            <a:spAutoFit/>
          </a:bodyPr>
          <a:lstStyle/>
          <a:p>
            <a:pPr marL="30542">
              <a:spcBef>
                <a:spcPts val="32"/>
              </a:spcBef>
            </a:pPr>
            <a:fld id="{81D60167-4931-47E6-BA6A-407CBD079E47}" type="slidenum">
              <a:rPr spc="-16" dirty="0"/>
              <a:pPr marL="30542">
                <a:spcBef>
                  <a:spcPts val="32"/>
                </a:spcBef>
              </a:pPr>
              <a:t>25</a:t>
            </a:fld>
            <a:endParaRPr spc="-16" dirty="0"/>
          </a:p>
        </p:txBody>
      </p:sp>
      <p:pic>
        <p:nvPicPr>
          <p:cNvPr id="8" name="Picture 7">
            <a:extLst>
              <a:ext uri="{FF2B5EF4-FFF2-40B4-BE49-F238E27FC236}">
                <a16:creationId xmlns:a16="http://schemas.microsoft.com/office/drawing/2014/main" id="{33C54D77-C5F2-4CA6-9076-E01CF02A4BB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6626"/>
            <a:ext cx="2031366" cy="112853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BE24CA35-1084-4796-871A-43B9D527E108}"/>
              </a:ext>
            </a:extLst>
          </p:cNvPr>
          <p:cNvPicPr>
            <a:picLocks noChangeAspect="1"/>
          </p:cNvPicPr>
          <p:nvPr/>
        </p:nvPicPr>
        <p:blipFill>
          <a:blip r:embed="rId4"/>
          <a:stretch>
            <a:fillRect/>
          </a:stretch>
        </p:blipFill>
        <p:spPr>
          <a:xfrm>
            <a:off x="609600" y="1676399"/>
            <a:ext cx="8458200" cy="483209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90" dirty="0"/>
              <a:t>Project</a:t>
            </a:r>
            <a:r>
              <a:rPr spc="120" dirty="0"/>
              <a:t> </a:t>
            </a:r>
            <a:r>
              <a:rPr spc="114" dirty="0"/>
              <a:t>Management</a:t>
            </a:r>
            <a:r>
              <a:rPr spc="130" dirty="0"/>
              <a:t> </a:t>
            </a:r>
            <a:r>
              <a:rPr spc="90" dirty="0"/>
              <a:t>Structures</a:t>
            </a:r>
          </a:p>
        </p:txBody>
      </p:sp>
      <p:grpSp>
        <p:nvGrpSpPr>
          <p:cNvPr id="3" name="object 3"/>
          <p:cNvGrpSpPr/>
          <p:nvPr/>
        </p:nvGrpSpPr>
        <p:grpSpPr>
          <a:xfrm>
            <a:off x="743712" y="1510564"/>
            <a:ext cx="9568815" cy="4298950"/>
            <a:chOff x="743712" y="1510564"/>
            <a:chExt cx="9568815" cy="4298950"/>
          </a:xfrm>
        </p:grpSpPr>
        <p:sp>
          <p:nvSpPr>
            <p:cNvPr id="4" name="object 4"/>
            <p:cNvSpPr/>
            <p:nvPr/>
          </p:nvSpPr>
          <p:spPr>
            <a:xfrm>
              <a:off x="1837690" y="1510575"/>
              <a:ext cx="8474710" cy="1965325"/>
            </a:xfrm>
            <a:custGeom>
              <a:avLst/>
              <a:gdLst/>
              <a:ahLst/>
              <a:cxnLst/>
              <a:rect l="l" t="t" r="r" b="b"/>
              <a:pathLst>
                <a:path w="8474710" h="1965325">
                  <a:moveTo>
                    <a:pt x="317500" y="1600923"/>
                  </a:moveTo>
                  <a:lnTo>
                    <a:pt x="190500" y="1702536"/>
                  </a:lnTo>
                  <a:lnTo>
                    <a:pt x="190500" y="1034503"/>
                  </a:lnTo>
                  <a:lnTo>
                    <a:pt x="127000" y="1034503"/>
                  </a:lnTo>
                  <a:lnTo>
                    <a:pt x="127000" y="1702536"/>
                  </a:lnTo>
                  <a:lnTo>
                    <a:pt x="0" y="1600923"/>
                  </a:lnTo>
                  <a:lnTo>
                    <a:pt x="158750" y="1918423"/>
                  </a:lnTo>
                  <a:lnTo>
                    <a:pt x="254000" y="1727923"/>
                  </a:lnTo>
                  <a:lnTo>
                    <a:pt x="317500" y="1600923"/>
                  </a:lnTo>
                  <a:close/>
                </a:path>
                <a:path w="8474710" h="1965325">
                  <a:moveTo>
                    <a:pt x="4407624" y="1634985"/>
                  </a:moveTo>
                  <a:lnTo>
                    <a:pt x="4280039" y="1735848"/>
                  </a:lnTo>
                  <a:lnTo>
                    <a:pt x="4290047" y="355"/>
                  </a:lnTo>
                  <a:lnTo>
                    <a:pt x="4226560" y="0"/>
                  </a:lnTo>
                  <a:lnTo>
                    <a:pt x="4216539" y="1735480"/>
                  </a:lnTo>
                  <a:lnTo>
                    <a:pt x="4090124" y="1633156"/>
                  </a:lnTo>
                  <a:lnTo>
                    <a:pt x="4247045" y="1951558"/>
                  </a:lnTo>
                  <a:lnTo>
                    <a:pt x="4343578" y="1761248"/>
                  </a:lnTo>
                  <a:lnTo>
                    <a:pt x="4407624" y="1634985"/>
                  </a:lnTo>
                  <a:close/>
                </a:path>
                <a:path w="8474710" h="1965325">
                  <a:moveTo>
                    <a:pt x="8474215" y="1647317"/>
                  </a:moveTo>
                  <a:lnTo>
                    <a:pt x="8347215" y="1748917"/>
                  </a:lnTo>
                  <a:lnTo>
                    <a:pt x="8347215" y="1080897"/>
                  </a:lnTo>
                  <a:lnTo>
                    <a:pt x="8283715" y="1080897"/>
                  </a:lnTo>
                  <a:lnTo>
                    <a:pt x="8283715" y="1748917"/>
                  </a:lnTo>
                  <a:lnTo>
                    <a:pt x="8156715" y="1647317"/>
                  </a:lnTo>
                  <a:lnTo>
                    <a:pt x="8315465" y="1964817"/>
                  </a:lnTo>
                  <a:lnTo>
                    <a:pt x="8410715" y="1774317"/>
                  </a:lnTo>
                  <a:lnTo>
                    <a:pt x="8474215" y="1647317"/>
                  </a:lnTo>
                  <a:close/>
                </a:path>
              </a:pathLst>
            </a:custGeom>
            <a:solidFill>
              <a:srgbClr val="4472C4"/>
            </a:solidFill>
          </p:spPr>
          <p:txBody>
            <a:bodyPr wrap="square" lIns="0" tIns="0" rIns="0" bIns="0" rtlCol="0"/>
            <a:lstStyle/>
            <a:p>
              <a:endParaRPr/>
            </a:p>
          </p:txBody>
        </p:sp>
        <p:sp>
          <p:nvSpPr>
            <p:cNvPr id="5" name="object 5"/>
            <p:cNvSpPr/>
            <p:nvPr/>
          </p:nvSpPr>
          <p:spPr>
            <a:xfrm>
              <a:off x="1996440" y="2545080"/>
              <a:ext cx="8199120" cy="0"/>
            </a:xfrm>
            <a:custGeom>
              <a:avLst/>
              <a:gdLst/>
              <a:ahLst/>
              <a:cxnLst/>
              <a:rect l="l" t="t" r="r" b="b"/>
              <a:pathLst>
                <a:path w="8199120">
                  <a:moveTo>
                    <a:pt x="0" y="0"/>
                  </a:moveTo>
                  <a:lnTo>
                    <a:pt x="8199120" y="1"/>
                  </a:lnTo>
                </a:path>
              </a:pathLst>
            </a:custGeom>
            <a:ln w="63500">
              <a:solidFill>
                <a:srgbClr val="4472C4"/>
              </a:solidFill>
            </a:ln>
          </p:spPr>
          <p:txBody>
            <a:bodyPr wrap="square" lIns="0" tIns="0" rIns="0" bIns="0" rtlCol="0"/>
            <a:lstStyle/>
            <a:p>
              <a:endParaRPr/>
            </a:p>
          </p:txBody>
        </p:sp>
        <p:pic>
          <p:nvPicPr>
            <p:cNvPr id="6" name="object 6"/>
            <p:cNvPicPr/>
            <p:nvPr/>
          </p:nvPicPr>
          <p:blipFill>
            <a:blip r:embed="rId3" cstate="print"/>
            <a:stretch>
              <a:fillRect/>
            </a:stretch>
          </p:blipFill>
          <p:spPr>
            <a:xfrm>
              <a:off x="743712" y="3462527"/>
              <a:ext cx="2779776" cy="2346960"/>
            </a:xfrm>
            <a:prstGeom prst="rect">
              <a:avLst/>
            </a:prstGeom>
          </p:spPr>
        </p:pic>
        <p:pic>
          <p:nvPicPr>
            <p:cNvPr id="7" name="object 7"/>
            <p:cNvPicPr/>
            <p:nvPr/>
          </p:nvPicPr>
          <p:blipFill>
            <a:blip r:embed="rId4" cstate="print"/>
            <a:stretch>
              <a:fillRect/>
            </a:stretch>
          </p:blipFill>
          <p:spPr>
            <a:xfrm>
              <a:off x="765048" y="3974591"/>
              <a:ext cx="2737104" cy="1432560"/>
            </a:xfrm>
            <a:prstGeom prst="rect">
              <a:avLst/>
            </a:prstGeom>
          </p:spPr>
        </p:pic>
        <p:sp>
          <p:nvSpPr>
            <p:cNvPr id="8" name="object 8"/>
            <p:cNvSpPr/>
            <p:nvPr/>
          </p:nvSpPr>
          <p:spPr>
            <a:xfrm>
              <a:off x="758686" y="3475385"/>
              <a:ext cx="2660650" cy="2230120"/>
            </a:xfrm>
            <a:custGeom>
              <a:avLst/>
              <a:gdLst/>
              <a:ahLst/>
              <a:cxnLst/>
              <a:rect l="l" t="t" r="r" b="b"/>
              <a:pathLst>
                <a:path w="2660650" h="2230120">
                  <a:moveTo>
                    <a:pt x="2288751" y="0"/>
                  </a:moveTo>
                  <a:lnTo>
                    <a:pt x="371619" y="0"/>
                  </a:lnTo>
                  <a:lnTo>
                    <a:pt x="325004" y="2895"/>
                  </a:lnTo>
                  <a:lnTo>
                    <a:pt x="280117" y="11349"/>
                  </a:lnTo>
                  <a:lnTo>
                    <a:pt x="237306" y="25014"/>
                  </a:lnTo>
                  <a:lnTo>
                    <a:pt x="196919" y="43541"/>
                  </a:lnTo>
                  <a:lnTo>
                    <a:pt x="159305" y="66582"/>
                  </a:lnTo>
                  <a:lnTo>
                    <a:pt x="124812" y="93788"/>
                  </a:lnTo>
                  <a:lnTo>
                    <a:pt x="93788" y="124812"/>
                  </a:lnTo>
                  <a:lnTo>
                    <a:pt x="66581" y="159305"/>
                  </a:lnTo>
                  <a:lnTo>
                    <a:pt x="43541" y="196920"/>
                  </a:lnTo>
                  <a:lnTo>
                    <a:pt x="25014" y="237306"/>
                  </a:lnTo>
                  <a:lnTo>
                    <a:pt x="11349" y="280118"/>
                  </a:lnTo>
                  <a:lnTo>
                    <a:pt x="2895" y="325005"/>
                  </a:lnTo>
                  <a:lnTo>
                    <a:pt x="0" y="371621"/>
                  </a:lnTo>
                  <a:lnTo>
                    <a:pt x="0" y="1858055"/>
                  </a:lnTo>
                  <a:lnTo>
                    <a:pt x="2895" y="1904670"/>
                  </a:lnTo>
                  <a:lnTo>
                    <a:pt x="11349" y="1949558"/>
                  </a:lnTo>
                  <a:lnTo>
                    <a:pt x="25014" y="1992369"/>
                  </a:lnTo>
                  <a:lnTo>
                    <a:pt x="43541" y="2032755"/>
                  </a:lnTo>
                  <a:lnTo>
                    <a:pt x="66581" y="2070369"/>
                  </a:lnTo>
                  <a:lnTo>
                    <a:pt x="93788" y="2104863"/>
                  </a:lnTo>
                  <a:lnTo>
                    <a:pt x="124812" y="2135886"/>
                  </a:lnTo>
                  <a:lnTo>
                    <a:pt x="159305" y="2163093"/>
                  </a:lnTo>
                  <a:lnTo>
                    <a:pt x="196919" y="2186134"/>
                  </a:lnTo>
                  <a:lnTo>
                    <a:pt x="237306" y="2204661"/>
                  </a:lnTo>
                  <a:lnTo>
                    <a:pt x="280117" y="2218325"/>
                  </a:lnTo>
                  <a:lnTo>
                    <a:pt x="325004" y="2226779"/>
                  </a:lnTo>
                  <a:lnTo>
                    <a:pt x="371619" y="2229675"/>
                  </a:lnTo>
                  <a:lnTo>
                    <a:pt x="2288751" y="2229675"/>
                  </a:lnTo>
                  <a:lnTo>
                    <a:pt x="2335366" y="2226779"/>
                  </a:lnTo>
                  <a:lnTo>
                    <a:pt x="2380254" y="2218325"/>
                  </a:lnTo>
                  <a:lnTo>
                    <a:pt x="2423065" y="2204661"/>
                  </a:lnTo>
                  <a:lnTo>
                    <a:pt x="2463451" y="2186134"/>
                  </a:lnTo>
                  <a:lnTo>
                    <a:pt x="2501065" y="2163093"/>
                  </a:lnTo>
                  <a:lnTo>
                    <a:pt x="2535559" y="2135886"/>
                  </a:lnTo>
                  <a:lnTo>
                    <a:pt x="2566583" y="2104863"/>
                  </a:lnTo>
                  <a:lnTo>
                    <a:pt x="2593789" y="2070369"/>
                  </a:lnTo>
                  <a:lnTo>
                    <a:pt x="2616830" y="2032755"/>
                  </a:lnTo>
                  <a:lnTo>
                    <a:pt x="2635357" y="1992369"/>
                  </a:lnTo>
                  <a:lnTo>
                    <a:pt x="2649021" y="1949558"/>
                  </a:lnTo>
                  <a:lnTo>
                    <a:pt x="2657476" y="1904670"/>
                  </a:lnTo>
                  <a:lnTo>
                    <a:pt x="2660371" y="1858055"/>
                  </a:lnTo>
                  <a:lnTo>
                    <a:pt x="2660371" y="371621"/>
                  </a:lnTo>
                  <a:lnTo>
                    <a:pt x="2657476" y="325005"/>
                  </a:lnTo>
                  <a:lnTo>
                    <a:pt x="2649021" y="280118"/>
                  </a:lnTo>
                  <a:lnTo>
                    <a:pt x="2635357" y="237306"/>
                  </a:lnTo>
                  <a:lnTo>
                    <a:pt x="2616830" y="196920"/>
                  </a:lnTo>
                  <a:lnTo>
                    <a:pt x="2593789" y="159305"/>
                  </a:lnTo>
                  <a:lnTo>
                    <a:pt x="2566583" y="124812"/>
                  </a:lnTo>
                  <a:lnTo>
                    <a:pt x="2535559" y="93788"/>
                  </a:lnTo>
                  <a:lnTo>
                    <a:pt x="2501065" y="66582"/>
                  </a:lnTo>
                  <a:lnTo>
                    <a:pt x="2463451" y="43541"/>
                  </a:lnTo>
                  <a:lnTo>
                    <a:pt x="2423065" y="25014"/>
                  </a:lnTo>
                  <a:lnTo>
                    <a:pt x="2380254" y="11349"/>
                  </a:lnTo>
                  <a:lnTo>
                    <a:pt x="2335366" y="2895"/>
                  </a:lnTo>
                  <a:lnTo>
                    <a:pt x="2288751" y="0"/>
                  </a:lnTo>
                  <a:close/>
                </a:path>
              </a:pathLst>
            </a:custGeom>
            <a:solidFill>
              <a:srgbClr val="FAF4C3"/>
            </a:solidFill>
          </p:spPr>
          <p:txBody>
            <a:bodyPr wrap="square" lIns="0" tIns="0" rIns="0" bIns="0" rtlCol="0"/>
            <a:lstStyle/>
            <a:p>
              <a:endParaRPr/>
            </a:p>
          </p:txBody>
        </p:sp>
        <p:sp>
          <p:nvSpPr>
            <p:cNvPr id="9" name="object 9"/>
            <p:cNvSpPr/>
            <p:nvPr/>
          </p:nvSpPr>
          <p:spPr>
            <a:xfrm>
              <a:off x="758686" y="3475385"/>
              <a:ext cx="2660650" cy="2230120"/>
            </a:xfrm>
            <a:custGeom>
              <a:avLst/>
              <a:gdLst/>
              <a:ahLst/>
              <a:cxnLst/>
              <a:rect l="l" t="t" r="r" b="b"/>
              <a:pathLst>
                <a:path w="2660650" h="2230120">
                  <a:moveTo>
                    <a:pt x="0" y="371620"/>
                  </a:moveTo>
                  <a:lnTo>
                    <a:pt x="2895" y="325004"/>
                  </a:lnTo>
                  <a:lnTo>
                    <a:pt x="11349" y="280117"/>
                  </a:lnTo>
                  <a:lnTo>
                    <a:pt x="25014" y="237306"/>
                  </a:lnTo>
                  <a:lnTo>
                    <a:pt x="43541" y="196919"/>
                  </a:lnTo>
                  <a:lnTo>
                    <a:pt x="66581" y="159305"/>
                  </a:lnTo>
                  <a:lnTo>
                    <a:pt x="93788" y="124812"/>
                  </a:lnTo>
                  <a:lnTo>
                    <a:pt x="124812" y="93788"/>
                  </a:lnTo>
                  <a:lnTo>
                    <a:pt x="159305" y="66581"/>
                  </a:lnTo>
                  <a:lnTo>
                    <a:pt x="196919" y="43541"/>
                  </a:lnTo>
                  <a:lnTo>
                    <a:pt x="237306" y="25014"/>
                  </a:lnTo>
                  <a:lnTo>
                    <a:pt x="280117" y="11349"/>
                  </a:lnTo>
                  <a:lnTo>
                    <a:pt x="325004" y="2895"/>
                  </a:lnTo>
                  <a:lnTo>
                    <a:pt x="371619" y="0"/>
                  </a:lnTo>
                  <a:lnTo>
                    <a:pt x="2288751" y="0"/>
                  </a:lnTo>
                  <a:lnTo>
                    <a:pt x="2335366" y="2895"/>
                  </a:lnTo>
                  <a:lnTo>
                    <a:pt x="2380253" y="11349"/>
                  </a:lnTo>
                  <a:lnTo>
                    <a:pt x="2423064" y="25014"/>
                  </a:lnTo>
                  <a:lnTo>
                    <a:pt x="2463451" y="43541"/>
                  </a:lnTo>
                  <a:lnTo>
                    <a:pt x="2501065" y="66581"/>
                  </a:lnTo>
                  <a:lnTo>
                    <a:pt x="2535558" y="93788"/>
                  </a:lnTo>
                  <a:lnTo>
                    <a:pt x="2566582" y="124812"/>
                  </a:lnTo>
                  <a:lnTo>
                    <a:pt x="2593789" y="159305"/>
                  </a:lnTo>
                  <a:lnTo>
                    <a:pt x="2616829" y="196919"/>
                  </a:lnTo>
                  <a:lnTo>
                    <a:pt x="2635356" y="237306"/>
                  </a:lnTo>
                  <a:lnTo>
                    <a:pt x="2649021" y="280117"/>
                  </a:lnTo>
                  <a:lnTo>
                    <a:pt x="2657475" y="325004"/>
                  </a:lnTo>
                  <a:lnTo>
                    <a:pt x="2660371" y="371620"/>
                  </a:lnTo>
                  <a:lnTo>
                    <a:pt x="2660371" y="1858055"/>
                  </a:lnTo>
                  <a:lnTo>
                    <a:pt x="2657475" y="1904670"/>
                  </a:lnTo>
                  <a:lnTo>
                    <a:pt x="2649021" y="1949557"/>
                  </a:lnTo>
                  <a:lnTo>
                    <a:pt x="2635356" y="1992368"/>
                  </a:lnTo>
                  <a:lnTo>
                    <a:pt x="2616829" y="2032755"/>
                  </a:lnTo>
                  <a:lnTo>
                    <a:pt x="2593789" y="2070369"/>
                  </a:lnTo>
                  <a:lnTo>
                    <a:pt x="2566582" y="2104862"/>
                  </a:lnTo>
                  <a:lnTo>
                    <a:pt x="2535558" y="2135886"/>
                  </a:lnTo>
                  <a:lnTo>
                    <a:pt x="2501065" y="2163093"/>
                  </a:lnTo>
                  <a:lnTo>
                    <a:pt x="2463451" y="2186133"/>
                  </a:lnTo>
                  <a:lnTo>
                    <a:pt x="2423064" y="2204660"/>
                  </a:lnTo>
                  <a:lnTo>
                    <a:pt x="2380253" y="2218325"/>
                  </a:lnTo>
                  <a:lnTo>
                    <a:pt x="2335366" y="2226779"/>
                  </a:lnTo>
                  <a:lnTo>
                    <a:pt x="2288751" y="2229675"/>
                  </a:lnTo>
                  <a:lnTo>
                    <a:pt x="371619" y="2229675"/>
                  </a:lnTo>
                  <a:lnTo>
                    <a:pt x="325004" y="2226779"/>
                  </a:lnTo>
                  <a:lnTo>
                    <a:pt x="280117" y="2218325"/>
                  </a:lnTo>
                  <a:lnTo>
                    <a:pt x="237306" y="2204660"/>
                  </a:lnTo>
                  <a:lnTo>
                    <a:pt x="196919" y="2186133"/>
                  </a:lnTo>
                  <a:lnTo>
                    <a:pt x="159305" y="2163093"/>
                  </a:lnTo>
                  <a:lnTo>
                    <a:pt x="124812" y="2135886"/>
                  </a:lnTo>
                  <a:lnTo>
                    <a:pt x="93788" y="2104862"/>
                  </a:lnTo>
                  <a:lnTo>
                    <a:pt x="66581" y="2070369"/>
                  </a:lnTo>
                  <a:lnTo>
                    <a:pt x="43541" y="2032755"/>
                  </a:lnTo>
                  <a:lnTo>
                    <a:pt x="25014" y="1992368"/>
                  </a:lnTo>
                  <a:lnTo>
                    <a:pt x="11349" y="1949557"/>
                  </a:lnTo>
                  <a:lnTo>
                    <a:pt x="2895" y="1904670"/>
                  </a:lnTo>
                  <a:lnTo>
                    <a:pt x="0" y="1858055"/>
                  </a:lnTo>
                  <a:lnTo>
                    <a:pt x="0" y="371620"/>
                  </a:lnTo>
                  <a:close/>
                </a:path>
              </a:pathLst>
            </a:custGeom>
            <a:ln w="12700">
              <a:solidFill>
                <a:srgbClr val="2F528F"/>
              </a:solidFill>
            </a:ln>
          </p:spPr>
          <p:txBody>
            <a:bodyPr wrap="square" lIns="0" tIns="0" rIns="0" bIns="0" rtlCol="0"/>
            <a:lstStyle/>
            <a:p>
              <a:endParaRPr/>
            </a:p>
          </p:txBody>
        </p:sp>
      </p:grpSp>
      <p:sp>
        <p:nvSpPr>
          <p:cNvPr id="10" name="object 10"/>
          <p:cNvSpPr txBox="1"/>
          <p:nvPr/>
        </p:nvSpPr>
        <p:spPr>
          <a:xfrm>
            <a:off x="1002196" y="4064508"/>
            <a:ext cx="2172970" cy="995044"/>
          </a:xfrm>
          <a:prstGeom prst="rect">
            <a:avLst/>
          </a:prstGeom>
        </p:spPr>
        <p:txBody>
          <a:bodyPr vert="horz" wrap="square" lIns="0" tIns="31750" rIns="0" bIns="0" rtlCol="0">
            <a:spAutoFit/>
          </a:bodyPr>
          <a:lstStyle/>
          <a:p>
            <a:pPr marL="12700" marR="5080" indent="188595">
              <a:lnSpc>
                <a:spcPts val="3790"/>
              </a:lnSpc>
              <a:spcBef>
                <a:spcPts val="250"/>
              </a:spcBef>
            </a:pPr>
            <a:r>
              <a:rPr sz="3200" b="1" spc="-10" dirty="0">
                <a:latin typeface="Calibri"/>
                <a:cs typeface="Calibri"/>
              </a:rPr>
              <a:t>Functional </a:t>
            </a:r>
            <a:r>
              <a:rPr sz="3200" b="1" spc="-25" dirty="0">
                <a:latin typeface="Calibri"/>
                <a:cs typeface="Calibri"/>
              </a:rPr>
              <a:t>Organization</a:t>
            </a:r>
            <a:endParaRPr sz="3200">
              <a:latin typeface="Calibri"/>
              <a:cs typeface="Calibri"/>
            </a:endParaRPr>
          </a:p>
        </p:txBody>
      </p:sp>
      <p:grpSp>
        <p:nvGrpSpPr>
          <p:cNvPr id="11" name="object 11"/>
          <p:cNvGrpSpPr/>
          <p:nvPr/>
        </p:nvGrpSpPr>
        <p:grpSpPr>
          <a:xfrm>
            <a:off x="8878823" y="3477767"/>
            <a:ext cx="2639695" cy="2508885"/>
            <a:chOff x="8878823" y="3477767"/>
            <a:chExt cx="2639695" cy="2508885"/>
          </a:xfrm>
        </p:grpSpPr>
        <p:pic>
          <p:nvPicPr>
            <p:cNvPr id="12" name="object 12"/>
            <p:cNvPicPr/>
            <p:nvPr/>
          </p:nvPicPr>
          <p:blipFill>
            <a:blip r:embed="rId5" cstate="print"/>
            <a:stretch>
              <a:fillRect/>
            </a:stretch>
          </p:blipFill>
          <p:spPr>
            <a:xfrm>
              <a:off x="8878823" y="3477767"/>
              <a:ext cx="2639568" cy="2331720"/>
            </a:xfrm>
            <a:prstGeom prst="rect">
              <a:avLst/>
            </a:prstGeom>
          </p:spPr>
        </p:pic>
        <p:pic>
          <p:nvPicPr>
            <p:cNvPr id="13" name="object 13"/>
            <p:cNvPicPr/>
            <p:nvPr/>
          </p:nvPicPr>
          <p:blipFill>
            <a:blip r:embed="rId6" cstate="print"/>
            <a:stretch>
              <a:fillRect/>
            </a:stretch>
          </p:blipFill>
          <p:spPr>
            <a:xfrm>
              <a:off x="9055607" y="3575303"/>
              <a:ext cx="2377440" cy="2410967"/>
            </a:xfrm>
            <a:prstGeom prst="rect">
              <a:avLst/>
            </a:prstGeom>
          </p:spPr>
        </p:pic>
        <p:sp>
          <p:nvSpPr>
            <p:cNvPr id="14" name="object 14"/>
            <p:cNvSpPr/>
            <p:nvPr/>
          </p:nvSpPr>
          <p:spPr>
            <a:xfrm>
              <a:off x="8892546" y="3491957"/>
              <a:ext cx="2521585" cy="2213610"/>
            </a:xfrm>
            <a:custGeom>
              <a:avLst/>
              <a:gdLst/>
              <a:ahLst/>
              <a:cxnLst/>
              <a:rect l="l" t="t" r="r" b="b"/>
              <a:pathLst>
                <a:path w="2521584" h="2213610">
                  <a:moveTo>
                    <a:pt x="2152364" y="0"/>
                  </a:moveTo>
                  <a:lnTo>
                    <a:pt x="368858" y="0"/>
                  </a:lnTo>
                  <a:lnTo>
                    <a:pt x="322589" y="2873"/>
                  </a:lnTo>
                  <a:lnTo>
                    <a:pt x="278035" y="11265"/>
                  </a:lnTo>
                  <a:lnTo>
                    <a:pt x="235542" y="24828"/>
                  </a:lnTo>
                  <a:lnTo>
                    <a:pt x="195456" y="43217"/>
                  </a:lnTo>
                  <a:lnTo>
                    <a:pt x="158121" y="66087"/>
                  </a:lnTo>
                  <a:lnTo>
                    <a:pt x="123884" y="93091"/>
                  </a:lnTo>
                  <a:lnTo>
                    <a:pt x="93091" y="123884"/>
                  </a:lnTo>
                  <a:lnTo>
                    <a:pt x="66087" y="158121"/>
                  </a:lnTo>
                  <a:lnTo>
                    <a:pt x="43217" y="195456"/>
                  </a:lnTo>
                  <a:lnTo>
                    <a:pt x="24828" y="235542"/>
                  </a:lnTo>
                  <a:lnTo>
                    <a:pt x="11265" y="278035"/>
                  </a:lnTo>
                  <a:lnTo>
                    <a:pt x="2873" y="322589"/>
                  </a:lnTo>
                  <a:lnTo>
                    <a:pt x="0" y="368858"/>
                  </a:lnTo>
                  <a:lnTo>
                    <a:pt x="0" y="1844244"/>
                  </a:lnTo>
                  <a:lnTo>
                    <a:pt x="2873" y="1890513"/>
                  </a:lnTo>
                  <a:lnTo>
                    <a:pt x="11265" y="1935067"/>
                  </a:lnTo>
                  <a:lnTo>
                    <a:pt x="24828" y="1977560"/>
                  </a:lnTo>
                  <a:lnTo>
                    <a:pt x="43217" y="2017647"/>
                  </a:lnTo>
                  <a:lnTo>
                    <a:pt x="66087" y="2054981"/>
                  </a:lnTo>
                  <a:lnTo>
                    <a:pt x="93091" y="2089218"/>
                  </a:lnTo>
                  <a:lnTo>
                    <a:pt x="123884" y="2120011"/>
                  </a:lnTo>
                  <a:lnTo>
                    <a:pt x="158121" y="2147016"/>
                  </a:lnTo>
                  <a:lnTo>
                    <a:pt x="195456" y="2169885"/>
                  </a:lnTo>
                  <a:lnTo>
                    <a:pt x="235542" y="2188274"/>
                  </a:lnTo>
                  <a:lnTo>
                    <a:pt x="278035" y="2201837"/>
                  </a:lnTo>
                  <a:lnTo>
                    <a:pt x="322589" y="2210229"/>
                  </a:lnTo>
                  <a:lnTo>
                    <a:pt x="368858" y="2213103"/>
                  </a:lnTo>
                  <a:lnTo>
                    <a:pt x="2152364" y="2213103"/>
                  </a:lnTo>
                  <a:lnTo>
                    <a:pt x="2198632" y="2210229"/>
                  </a:lnTo>
                  <a:lnTo>
                    <a:pt x="2243186" y="2201837"/>
                  </a:lnTo>
                  <a:lnTo>
                    <a:pt x="2285679" y="2188274"/>
                  </a:lnTo>
                  <a:lnTo>
                    <a:pt x="2325766" y="2169885"/>
                  </a:lnTo>
                  <a:lnTo>
                    <a:pt x="2363100" y="2147016"/>
                  </a:lnTo>
                  <a:lnTo>
                    <a:pt x="2397337" y="2120011"/>
                  </a:lnTo>
                  <a:lnTo>
                    <a:pt x="2428130" y="2089218"/>
                  </a:lnTo>
                  <a:lnTo>
                    <a:pt x="2455134" y="2054981"/>
                  </a:lnTo>
                  <a:lnTo>
                    <a:pt x="2478004" y="2017647"/>
                  </a:lnTo>
                  <a:lnTo>
                    <a:pt x="2496393" y="1977560"/>
                  </a:lnTo>
                  <a:lnTo>
                    <a:pt x="2509956" y="1935067"/>
                  </a:lnTo>
                  <a:lnTo>
                    <a:pt x="2518347" y="1890513"/>
                  </a:lnTo>
                  <a:lnTo>
                    <a:pt x="2521221" y="1844244"/>
                  </a:lnTo>
                  <a:lnTo>
                    <a:pt x="2521221" y="368858"/>
                  </a:lnTo>
                  <a:lnTo>
                    <a:pt x="2518347" y="322589"/>
                  </a:lnTo>
                  <a:lnTo>
                    <a:pt x="2509956" y="278035"/>
                  </a:lnTo>
                  <a:lnTo>
                    <a:pt x="2496393" y="235542"/>
                  </a:lnTo>
                  <a:lnTo>
                    <a:pt x="2478004" y="195456"/>
                  </a:lnTo>
                  <a:lnTo>
                    <a:pt x="2455134" y="158121"/>
                  </a:lnTo>
                  <a:lnTo>
                    <a:pt x="2428130" y="123884"/>
                  </a:lnTo>
                  <a:lnTo>
                    <a:pt x="2397337" y="93091"/>
                  </a:lnTo>
                  <a:lnTo>
                    <a:pt x="2363100" y="66087"/>
                  </a:lnTo>
                  <a:lnTo>
                    <a:pt x="2325766" y="43217"/>
                  </a:lnTo>
                  <a:lnTo>
                    <a:pt x="2285679" y="24828"/>
                  </a:lnTo>
                  <a:lnTo>
                    <a:pt x="2243186" y="11265"/>
                  </a:lnTo>
                  <a:lnTo>
                    <a:pt x="2198632" y="2873"/>
                  </a:lnTo>
                  <a:lnTo>
                    <a:pt x="2152364" y="0"/>
                  </a:lnTo>
                  <a:close/>
                </a:path>
              </a:pathLst>
            </a:custGeom>
            <a:solidFill>
              <a:srgbClr val="FAF4C3"/>
            </a:solidFill>
          </p:spPr>
          <p:txBody>
            <a:bodyPr wrap="square" lIns="0" tIns="0" rIns="0" bIns="0" rtlCol="0"/>
            <a:lstStyle/>
            <a:p>
              <a:endParaRPr/>
            </a:p>
          </p:txBody>
        </p:sp>
        <p:sp>
          <p:nvSpPr>
            <p:cNvPr id="15" name="object 15"/>
            <p:cNvSpPr/>
            <p:nvPr/>
          </p:nvSpPr>
          <p:spPr>
            <a:xfrm>
              <a:off x="8892546" y="3491957"/>
              <a:ext cx="2521585" cy="2213610"/>
            </a:xfrm>
            <a:custGeom>
              <a:avLst/>
              <a:gdLst/>
              <a:ahLst/>
              <a:cxnLst/>
              <a:rect l="l" t="t" r="r" b="b"/>
              <a:pathLst>
                <a:path w="2521584" h="2213610">
                  <a:moveTo>
                    <a:pt x="0" y="368858"/>
                  </a:moveTo>
                  <a:lnTo>
                    <a:pt x="2873" y="322589"/>
                  </a:lnTo>
                  <a:lnTo>
                    <a:pt x="11265" y="278035"/>
                  </a:lnTo>
                  <a:lnTo>
                    <a:pt x="24828" y="235542"/>
                  </a:lnTo>
                  <a:lnTo>
                    <a:pt x="43217" y="195456"/>
                  </a:lnTo>
                  <a:lnTo>
                    <a:pt x="66087" y="158121"/>
                  </a:lnTo>
                  <a:lnTo>
                    <a:pt x="93091" y="123884"/>
                  </a:lnTo>
                  <a:lnTo>
                    <a:pt x="123884" y="93091"/>
                  </a:lnTo>
                  <a:lnTo>
                    <a:pt x="158121" y="66087"/>
                  </a:lnTo>
                  <a:lnTo>
                    <a:pt x="195456" y="43217"/>
                  </a:lnTo>
                  <a:lnTo>
                    <a:pt x="235542" y="24828"/>
                  </a:lnTo>
                  <a:lnTo>
                    <a:pt x="278035" y="11265"/>
                  </a:lnTo>
                  <a:lnTo>
                    <a:pt x="322589" y="2873"/>
                  </a:lnTo>
                  <a:lnTo>
                    <a:pt x="368858" y="0"/>
                  </a:lnTo>
                  <a:lnTo>
                    <a:pt x="2152364" y="0"/>
                  </a:lnTo>
                  <a:lnTo>
                    <a:pt x="2198632" y="2873"/>
                  </a:lnTo>
                  <a:lnTo>
                    <a:pt x="2243186" y="11265"/>
                  </a:lnTo>
                  <a:lnTo>
                    <a:pt x="2285679" y="24828"/>
                  </a:lnTo>
                  <a:lnTo>
                    <a:pt x="2325766" y="43217"/>
                  </a:lnTo>
                  <a:lnTo>
                    <a:pt x="2363100" y="66087"/>
                  </a:lnTo>
                  <a:lnTo>
                    <a:pt x="2397337" y="93091"/>
                  </a:lnTo>
                  <a:lnTo>
                    <a:pt x="2428130" y="123884"/>
                  </a:lnTo>
                  <a:lnTo>
                    <a:pt x="2455135" y="158121"/>
                  </a:lnTo>
                  <a:lnTo>
                    <a:pt x="2478004" y="195456"/>
                  </a:lnTo>
                  <a:lnTo>
                    <a:pt x="2496393" y="235542"/>
                  </a:lnTo>
                  <a:lnTo>
                    <a:pt x="2509956" y="278035"/>
                  </a:lnTo>
                  <a:lnTo>
                    <a:pt x="2518348" y="322589"/>
                  </a:lnTo>
                  <a:lnTo>
                    <a:pt x="2521222" y="368858"/>
                  </a:lnTo>
                  <a:lnTo>
                    <a:pt x="2521222" y="1844245"/>
                  </a:lnTo>
                  <a:lnTo>
                    <a:pt x="2518348" y="1890513"/>
                  </a:lnTo>
                  <a:lnTo>
                    <a:pt x="2509956" y="1935067"/>
                  </a:lnTo>
                  <a:lnTo>
                    <a:pt x="2496393" y="1977560"/>
                  </a:lnTo>
                  <a:lnTo>
                    <a:pt x="2478004" y="2017647"/>
                  </a:lnTo>
                  <a:lnTo>
                    <a:pt x="2455135" y="2054981"/>
                  </a:lnTo>
                  <a:lnTo>
                    <a:pt x="2428130" y="2089218"/>
                  </a:lnTo>
                  <a:lnTo>
                    <a:pt x="2397337" y="2120011"/>
                  </a:lnTo>
                  <a:lnTo>
                    <a:pt x="2363100" y="2147016"/>
                  </a:lnTo>
                  <a:lnTo>
                    <a:pt x="2325766" y="2169885"/>
                  </a:lnTo>
                  <a:lnTo>
                    <a:pt x="2285679" y="2188274"/>
                  </a:lnTo>
                  <a:lnTo>
                    <a:pt x="2243186" y="2201837"/>
                  </a:lnTo>
                  <a:lnTo>
                    <a:pt x="2198632" y="2210229"/>
                  </a:lnTo>
                  <a:lnTo>
                    <a:pt x="2152364" y="2213103"/>
                  </a:lnTo>
                  <a:lnTo>
                    <a:pt x="368858" y="2213103"/>
                  </a:lnTo>
                  <a:lnTo>
                    <a:pt x="322589" y="2210229"/>
                  </a:lnTo>
                  <a:lnTo>
                    <a:pt x="278035" y="2201837"/>
                  </a:lnTo>
                  <a:lnTo>
                    <a:pt x="235542" y="2188274"/>
                  </a:lnTo>
                  <a:lnTo>
                    <a:pt x="195456" y="2169885"/>
                  </a:lnTo>
                  <a:lnTo>
                    <a:pt x="158121" y="2147016"/>
                  </a:lnTo>
                  <a:lnTo>
                    <a:pt x="123884" y="2120011"/>
                  </a:lnTo>
                  <a:lnTo>
                    <a:pt x="93091" y="2089218"/>
                  </a:lnTo>
                  <a:lnTo>
                    <a:pt x="66087" y="2054981"/>
                  </a:lnTo>
                  <a:lnTo>
                    <a:pt x="43217" y="2017647"/>
                  </a:lnTo>
                  <a:lnTo>
                    <a:pt x="24828" y="1977560"/>
                  </a:lnTo>
                  <a:lnTo>
                    <a:pt x="11265" y="1935067"/>
                  </a:lnTo>
                  <a:lnTo>
                    <a:pt x="2873" y="1890513"/>
                  </a:lnTo>
                  <a:lnTo>
                    <a:pt x="0" y="1844245"/>
                  </a:lnTo>
                  <a:lnTo>
                    <a:pt x="0" y="368858"/>
                  </a:lnTo>
                  <a:close/>
                </a:path>
              </a:pathLst>
            </a:custGeom>
            <a:ln w="12700">
              <a:solidFill>
                <a:srgbClr val="2F528F"/>
              </a:solidFill>
            </a:ln>
          </p:spPr>
          <p:txBody>
            <a:bodyPr wrap="square" lIns="0" tIns="0" rIns="0" bIns="0" rtlCol="0"/>
            <a:lstStyle/>
            <a:p>
              <a:endParaRPr/>
            </a:p>
          </p:txBody>
        </p:sp>
      </p:grpSp>
      <p:sp>
        <p:nvSpPr>
          <p:cNvPr id="16" name="object 16"/>
          <p:cNvSpPr txBox="1"/>
          <p:nvPr/>
        </p:nvSpPr>
        <p:spPr>
          <a:xfrm>
            <a:off x="9290350" y="3415284"/>
            <a:ext cx="1726564" cy="2223135"/>
          </a:xfrm>
          <a:prstGeom prst="rect">
            <a:avLst/>
          </a:prstGeom>
        </p:spPr>
        <p:txBody>
          <a:bodyPr vert="horz" wrap="square" lIns="0" tIns="20320" rIns="0" bIns="0" rtlCol="0">
            <a:spAutoFit/>
          </a:bodyPr>
          <a:lstStyle/>
          <a:p>
            <a:pPr marL="12065" marR="5080" algn="ctr">
              <a:lnSpc>
                <a:spcPct val="149700"/>
              </a:lnSpc>
              <a:spcBef>
                <a:spcPts val="160"/>
              </a:spcBef>
            </a:pPr>
            <a:r>
              <a:rPr sz="3200" b="1" spc="-20" dirty="0">
                <a:latin typeface="Calibri"/>
                <a:cs typeface="Calibri"/>
              </a:rPr>
              <a:t>Dedicated </a:t>
            </a:r>
            <a:r>
              <a:rPr sz="3200" b="1" spc="-10" dirty="0">
                <a:latin typeface="Calibri"/>
                <a:cs typeface="Calibri"/>
              </a:rPr>
              <a:t>project teams</a:t>
            </a:r>
            <a:endParaRPr sz="3200">
              <a:latin typeface="Calibri"/>
              <a:cs typeface="Calibri"/>
            </a:endParaRPr>
          </a:p>
        </p:txBody>
      </p:sp>
      <p:grpSp>
        <p:nvGrpSpPr>
          <p:cNvPr id="17" name="object 17"/>
          <p:cNvGrpSpPr/>
          <p:nvPr/>
        </p:nvGrpSpPr>
        <p:grpSpPr>
          <a:xfrm>
            <a:off x="4809744" y="3462527"/>
            <a:ext cx="2639695" cy="2316480"/>
            <a:chOff x="4809744" y="3462527"/>
            <a:chExt cx="2639695" cy="2316480"/>
          </a:xfrm>
        </p:grpSpPr>
        <p:pic>
          <p:nvPicPr>
            <p:cNvPr id="18" name="object 18"/>
            <p:cNvPicPr/>
            <p:nvPr/>
          </p:nvPicPr>
          <p:blipFill>
            <a:blip r:embed="rId7" cstate="print"/>
            <a:stretch>
              <a:fillRect/>
            </a:stretch>
          </p:blipFill>
          <p:spPr>
            <a:xfrm>
              <a:off x="4809744" y="3462527"/>
              <a:ext cx="2639568" cy="2316479"/>
            </a:xfrm>
            <a:prstGeom prst="rect">
              <a:avLst/>
            </a:prstGeom>
          </p:spPr>
        </p:pic>
        <p:pic>
          <p:nvPicPr>
            <p:cNvPr id="19" name="object 19"/>
            <p:cNvPicPr/>
            <p:nvPr/>
          </p:nvPicPr>
          <p:blipFill>
            <a:blip r:embed="rId8" cstate="print"/>
            <a:stretch>
              <a:fillRect/>
            </a:stretch>
          </p:blipFill>
          <p:spPr>
            <a:xfrm>
              <a:off x="5068824" y="3919727"/>
              <a:ext cx="2212848" cy="1685543"/>
            </a:xfrm>
            <a:prstGeom prst="rect">
              <a:avLst/>
            </a:prstGeom>
          </p:spPr>
        </p:pic>
        <p:sp>
          <p:nvSpPr>
            <p:cNvPr id="20" name="object 20"/>
            <p:cNvSpPr/>
            <p:nvPr/>
          </p:nvSpPr>
          <p:spPr>
            <a:xfrm>
              <a:off x="4824125" y="3475385"/>
              <a:ext cx="2521585" cy="2201545"/>
            </a:xfrm>
            <a:custGeom>
              <a:avLst/>
              <a:gdLst/>
              <a:ahLst/>
              <a:cxnLst/>
              <a:rect l="l" t="t" r="r" b="b"/>
              <a:pathLst>
                <a:path w="2521584" h="2201545">
                  <a:moveTo>
                    <a:pt x="2154307" y="0"/>
                  </a:moveTo>
                  <a:lnTo>
                    <a:pt x="366914" y="0"/>
                  </a:lnTo>
                  <a:lnTo>
                    <a:pt x="320889" y="2858"/>
                  </a:lnTo>
                  <a:lnTo>
                    <a:pt x="276570" y="11205"/>
                  </a:lnTo>
                  <a:lnTo>
                    <a:pt x="234301" y="24697"/>
                  </a:lnTo>
                  <a:lnTo>
                    <a:pt x="194426" y="42989"/>
                  </a:lnTo>
                  <a:lnTo>
                    <a:pt x="157288" y="65738"/>
                  </a:lnTo>
                  <a:lnTo>
                    <a:pt x="123231" y="92600"/>
                  </a:lnTo>
                  <a:lnTo>
                    <a:pt x="92600" y="123232"/>
                  </a:lnTo>
                  <a:lnTo>
                    <a:pt x="65738" y="157288"/>
                  </a:lnTo>
                  <a:lnTo>
                    <a:pt x="42989" y="194426"/>
                  </a:lnTo>
                  <a:lnTo>
                    <a:pt x="24697" y="234302"/>
                  </a:lnTo>
                  <a:lnTo>
                    <a:pt x="11205" y="276571"/>
                  </a:lnTo>
                  <a:lnTo>
                    <a:pt x="2858" y="320890"/>
                  </a:lnTo>
                  <a:lnTo>
                    <a:pt x="0" y="366915"/>
                  </a:lnTo>
                  <a:lnTo>
                    <a:pt x="0" y="1834535"/>
                  </a:lnTo>
                  <a:lnTo>
                    <a:pt x="2858" y="1880560"/>
                  </a:lnTo>
                  <a:lnTo>
                    <a:pt x="11205" y="1924879"/>
                  </a:lnTo>
                  <a:lnTo>
                    <a:pt x="24697" y="1967148"/>
                  </a:lnTo>
                  <a:lnTo>
                    <a:pt x="42989" y="2007023"/>
                  </a:lnTo>
                  <a:lnTo>
                    <a:pt x="65738" y="2044161"/>
                  </a:lnTo>
                  <a:lnTo>
                    <a:pt x="92600" y="2078218"/>
                  </a:lnTo>
                  <a:lnTo>
                    <a:pt x="123231" y="2108849"/>
                  </a:lnTo>
                  <a:lnTo>
                    <a:pt x="157288" y="2135711"/>
                  </a:lnTo>
                  <a:lnTo>
                    <a:pt x="194426" y="2158460"/>
                  </a:lnTo>
                  <a:lnTo>
                    <a:pt x="234301" y="2176752"/>
                  </a:lnTo>
                  <a:lnTo>
                    <a:pt x="276570" y="2190244"/>
                  </a:lnTo>
                  <a:lnTo>
                    <a:pt x="320889" y="2198591"/>
                  </a:lnTo>
                  <a:lnTo>
                    <a:pt x="366914" y="2201450"/>
                  </a:lnTo>
                  <a:lnTo>
                    <a:pt x="2154307" y="2201450"/>
                  </a:lnTo>
                  <a:lnTo>
                    <a:pt x="2200332" y="2198591"/>
                  </a:lnTo>
                  <a:lnTo>
                    <a:pt x="2244651" y="2190244"/>
                  </a:lnTo>
                  <a:lnTo>
                    <a:pt x="2286920" y="2176752"/>
                  </a:lnTo>
                  <a:lnTo>
                    <a:pt x="2326796" y="2158460"/>
                  </a:lnTo>
                  <a:lnTo>
                    <a:pt x="2363933" y="2135711"/>
                  </a:lnTo>
                  <a:lnTo>
                    <a:pt x="2397990" y="2108849"/>
                  </a:lnTo>
                  <a:lnTo>
                    <a:pt x="2428621" y="2078218"/>
                  </a:lnTo>
                  <a:lnTo>
                    <a:pt x="2455483" y="2044161"/>
                  </a:lnTo>
                  <a:lnTo>
                    <a:pt x="2478232" y="2007023"/>
                  </a:lnTo>
                  <a:lnTo>
                    <a:pt x="2496524" y="1967148"/>
                  </a:lnTo>
                  <a:lnTo>
                    <a:pt x="2510015" y="1924879"/>
                  </a:lnTo>
                  <a:lnTo>
                    <a:pt x="2518363" y="1880560"/>
                  </a:lnTo>
                  <a:lnTo>
                    <a:pt x="2521221" y="1834535"/>
                  </a:lnTo>
                  <a:lnTo>
                    <a:pt x="2521221" y="366915"/>
                  </a:lnTo>
                  <a:lnTo>
                    <a:pt x="2518363" y="320890"/>
                  </a:lnTo>
                  <a:lnTo>
                    <a:pt x="2510015" y="276571"/>
                  </a:lnTo>
                  <a:lnTo>
                    <a:pt x="2496524" y="234302"/>
                  </a:lnTo>
                  <a:lnTo>
                    <a:pt x="2478232" y="194426"/>
                  </a:lnTo>
                  <a:lnTo>
                    <a:pt x="2455483" y="157288"/>
                  </a:lnTo>
                  <a:lnTo>
                    <a:pt x="2428621" y="123232"/>
                  </a:lnTo>
                  <a:lnTo>
                    <a:pt x="2397990" y="92600"/>
                  </a:lnTo>
                  <a:lnTo>
                    <a:pt x="2363933" y="65738"/>
                  </a:lnTo>
                  <a:lnTo>
                    <a:pt x="2326796" y="42989"/>
                  </a:lnTo>
                  <a:lnTo>
                    <a:pt x="2286920" y="24697"/>
                  </a:lnTo>
                  <a:lnTo>
                    <a:pt x="2244651" y="11205"/>
                  </a:lnTo>
                  <a:lnTo>
                    <a:pt x="2200332" y="2858"/>
                  </a:lnTo>
                  <a:lnTo>
                    <a:pt x="2154307" y="0"/>
                  </a:lnTo>
                  <a:close/>
                </a:path>
              </a:pathLst>
            </a:custGeom>
            <a:solidFill>
              <a:srgbClr val="FAF4C3"/>
            </a:solidFill>
          </p:spPr>
          <p:txBody>
            <a:bodyPr wrap="square" lIns="0" tIns="0" rIns="0" bIns="0" rtlCol="0"/>
            <a:lstStyle/>
            <a:p>
              <a:endParaRPr/>
            </a:p>
          </p:txBody>
        </p:sp>
        <p:sp>
          <p:nvSpPr>
            <p:cNvPr id="21" name="object 21"/>
            <p:cNvSpPr/>
            <p:nvPr/>
          </p:nvSpPr>
          <p:spPr>
            <a:xfrm>
              <a:off x="4824125" y="3475385"/>
              <a:ext cx="2521585" cy="2201545"/>
            </a:xfrm>
            <a:custGeom>
              <a:avLst/>
              <a:gdLst/>
              <a:ahLst/>
              <a:cxnLst/>
              <a:rect l="l" t="t" r="r" b="b"/>
              <a:pathLst>
                <a:path w="2521584" h="2201545">
                  <a:moveTo>
                    <a:pt x="0" y="366914"/>
                  </a:moveTo>
                  <a:lnTo>
                    <a:pt x="2858" y="320889"/>
                  </a:lnTo>
                  <a:lnTo>
                    <a:pt x="11205" y="276570"/>
                  </a:lnTo>
                  <a:lnTo>
                    <a:pt x="24697" y="234301"/>
                  </a:lnTo>
                  <a:lnTo>
                    <a:pt x="42989" y="194426"/>
                  </a:lnTo>
                  <a:lnTo>
                    <a:pt x="65738" y="157288"/>
                  </a:lnTo>
                  <a:lnTo>
                    <a:pt x="92600" y="123232"/>
                  </a:lnTo>
                  <a:lnTo>
                    <a:pt x="123231" y="92600"/>
                  </a:lnTo>
                  <a:lnTo>
                    <a:pt x="157288" y="65738"/>
                  </a:lnTo>
                  <a:lnTo>
                    <a:pt x="194426" y="42989"/>
                  </a:lnTo>
                  <a:lnTo>
                    <a:pt x="234301" y="24697"/>
                  </a:lnTo>
                  <a:lnTo>
                    <a:pt x="276570" y="11205"/>
                  </a:lnTo>
                  <a:lnTo>
                    <a:pt x="320889" y="2858"/>
                  </a:lnTo>
                  <a:lnTo>
                    <a:pt x="366914" y="0"/>
                  </a:lnTo>
                  <a:lnTo>
                    <a:pt x="2154308" y="0"/>
                  </a:lnTo>
                  <a:lnTo>
                    <a:pt x="2200332" y="2858"/>
                  </a:lnTo>
                  <a:lnTo>
                    <a:pt x="2244651" y="11205"/>
                  </a:lnTo>
                  <a:lnTo>
                    <a:pt x="2286920" y="24697"/>
                  </a:lnTo>
                  <a:lnTo>
                    <a:pt x="2326796" y="42989"/>
                  </a:lnTo>
                  <a:lnTo>
                    <a:pt x="2363933" y="65738"/>
                  </a:lnTo>
                  <a:lnTo>
                    <a:pt x="2397990" y="92600"/>
                  </a:lnTo>
                  <a:lnTo>
                    <a:pt x="2428621" y="123232"/>
                  </a:lnTo>
                  <a:lnTo>
                    <a:pt x="2455483" y="157288"/>
                  </a:lnTo>
                  <a:lnTo>
                    <a:pt x="2478232" y="194426"/>
                  </a:lnTo>
                  <a:lnTo>
                    <a:pt x="2496524" y="234301"/>
                  </a:lnTo>
                  <a:lnTo>
                    <a:pt x="2510016" y="276570"/>
                  </a:lnTo>
                  <a:lnTo>
                    <a:pt x="2518363" y="320889"/>
                  </a:lnTo>
                  <a:lnTo>
                    <a:pt x="2521222" y="366914"/>
                  </a:lnTo>
                  <a:lnTo>
                    <a:pt x="2521222" y="1834535"/>
                  </a:lnTo>
                  <a:lnTo>
                    <a:pt x="2518363" y="1880560"/>
                  </a:lnTo>
                  <a:lnTo>
                    <a:pt x="2510016" y="1924879"/>
                  </a:lnTo>
                  <a:lnTo>
                    <a:pt x="2496524" y="1967148"/>
                  </a:lnTo>
                  <a:lnTo>
                    <a:pt x="2478232" y="2007023"/>
                  </a:lnTo>
                  <a:lnTo>
                    <a:pt x="2455483" y="2044161"/>
                  </a:lnTo>
                  <a:lnTo>
                    <a:pt x="2428621" y="2078218"/>
                  </a:lnTo>
                  <a:lnTo>
                    <a:pt x="2397990" y="2108849"/>
                  </a:lnTo>
                  <a:lnTo>
                    <a:pt x="2363933" y="2135711"/>
                  </a:lnTo>
                  <a:lnTo>
                    <a:pt x="2326796" y="2158460"/>
                  </a:lnTo>
                  <a:lnTo>
                    <a:pt x="2286920" y="2176752"/>
                  </a:lnTo>
                  <a:lnTo>
                    <a:pt x="2244651" y="2190244"/>
                  </a:lnTo>
                  <a:lnTo>
                    <a:pt x="2200332" y="2198591"/>
                  </a:lnTo>
                  <a:lnTo>
                    <a:pt x="2154308" y="2201450"/>
                  </a:lnTo>
                  <a:lnTo>
                    <a:pt x="366914" y="2201450"/>
                  </a:lnTo>
                  <a:lnTo>
                    <a:pt x="320889" y="2198591"/>
                  </a:lnTo>
                  <a:lnTo>
                    <a:pt x="276570" y="2190244"/>
                  </a:lnTo>
                  <a:lnTo>
                    <a:pt x="234301" y="2176752"/>
                  </a:lnTo>
                  <a:lnTo>
                    <a:pt x="194426" y="2158460"/>
                  </a:lnTo>
                  <a:lnTo>
                    <a:pt x="157288" y="2135711"/>
                  </a:lnTo>
                  <a:lnTo>
                    <a:pt x="123231" y="2108849"/>
                  </a:lnTo>
                  <a:lnTo>
                    <a:pt x="92600" y="2078218"/>
                  </a:lnTo>
                  <a:lnTo>
                    <a:pt x="65738" y="2044161"/>
                  </a:lnTo>
                  <a:lnTo>
                    <a:pt x="42989" y="2007023"/>
                  </a:lnTo>
                  <a:lnTo>
                    <a:pt x="24697" y="1967148"/>
                  </a:lnTo>
                  <a:lnTo>
                    <a:pt x="11205" y="1924879"/>
                  </a:lnTo>
                  <a:lnTo>
                    <a:pt x="2858" y="1880560"/>
                  </a:lnTo>
                  <a:lnTo>
                    <a:pt x="0" y="1834535"/>
                  </a:lnTo>
                  <a:lnTo>
                    <a:pt x="0" y="366914"/>
                  </a:lnTo>
                  <a:close/>
                </a:path>
              </a:pathLst>
            </a:custGeom>
            <a:ln w="12700">
              <a:solidFill>
                <a:srgbClr val="2F528F"/>
              </a:solidFill>
            </a:ln>
          </p:spPr>
          <p:txBody>
            <a:bodyPr wrap="square" lIns="0" tIns="0" rIns="0" bIns="0" rtlCol="0"/>
            <a:lstStyle/>
            <a:p>
              <a:endParaRPr/>
            </a:p>
          </p:txBody>
        </p:sp>
      </p:grpSp>
      <p:sp>
        <p:nvSpPr>
          <p:cNvPr id="22" name="object 22"/>
          <p:cNvSpPr txBox="1"/>
          <p:nvPr/>
        </p:nvSpPr>
        <p:spPr>
          <a:xfrm>
            <a:off x="5305083" y="3759708"/>
            <a:ext cx="1559560" cy="1501140"/>
          </a:xfrm>
          <a:prstGeom prst="rect">
            <a:avLst/>
          </a:prstGeom>
        </p:spPr>
        <p:txBody>
          <a:bodyPr vert="horz" wrap="square" lIns="0" tIns="12065" rIns="0" bIns="0" rtlCol="0">
            <a:spAutoFit/>
          </a:bodyPr>
          <a:lstStyle/>
          <a:p>
            <a:pPr marL="12700" marR="5080" indent="204470">
              <a:lnSpc>
                <a:spcPct val="151300"/>
              </a:lnSpc>
              <a:spcBef>
                <a:spcPts val="95"/>
              </a:spcBef>
            </a:pPr>
            <a:r>
              <a:rPr sz="3200" b="1" spc="-10" dirty="0">
                <a:latin typeface="Calibri"/>
                <a:cs typeface="Calibri"/>
              </a:rPr>
              <a:t>Matrix </a:t>
            </a:r>
            <a:r>
              <a:rPr sz="3200" b="1" spc="-20" dirty="0">
                <a:latin typeface="Calibri"/>
                <a:cs typeface="Calibri"/>
              </a:rPr>
              <a:t>structure</a:t>
            </a:r>
            <a:endParaRPr sz="3200">
              <a:latin typeface="Calibri"/>
              <a:cs typeface="Calibri"/>
            </a:endParaRPr>
          </a:p>
        </p:txBody>
      </p:sp>
      <p:sp>
        <p:nvSpPr>
          <p:cNvPr id="23" name="object 23"/>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26</a:t>
            </a:fld>
            <a:endParaRPr spc="-50" dirty="0"/>
          </a:p>
        </p:txBody>
      </p:sp>
      <p:pic>
        <p:nvPicPr>
          <p:cNvPr id="24" name="Picture 23">
            <a:extLst>
              <a:ext uri="{FF2B5EF4-FFF2-40B4-BE49-F238E27FC236}">
                <a16:creationId xmlns:a16="http://schemas.microsoft.com/office/drawing/2014/main" id="{B7354B29-3775-BC64-2AA3-6078136ACCE2}"/>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160634" y="-15561"/>
            <a:ext cx="2031366" cy="1128537"/>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0D2A655E-09A0-4A7A-89FE-2562A60DD65F}"/>
              </a:ext>
            </a:extLst>
          </p:cNvPr>
          <p:cNvPicPr>
            <a:picLocks noChangeAspect="1"/>
          </p:cNvPicPr>
          <p:nvPr/>
        </p:nvPicPr>
        <p:blipFill>
          <a:blip r:embed="rId10"/>
          <a:stretch>
            <a:fillRect/>
          </a:stretch>
        </p:blipFill>
        <p:spPr>
          <a:xfrm>
            <a:off x="380999" y="1600200"/>
            <a:ext cx="11577279" cy="521072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2075713" y="558928"/>
            <a:ext cx="10194792" cy="725411"/>
          </a:xfrm>
          <a:prstGeom prst="rect">
            <a:avLst/>
          </a:prstGeom>
        </p:spPr>
        <p:txBody>
          <a:bodyPr vert="horz" wrap="square" lIns="0" tIns="63075" rIns="0" bIns="0" rtlCol="0">
            <a:spAutoFit/>
          </a:bodyPr>
          <a:lstStyle/>
          <a:p>
            <a:pPr marL="13255">
              <a:spcBef>
                <a:spcPts val="95"/>
              </a:spcBef>
            </a:pPr>
            <a:r>
              <a:rPr b="1" u="sng" spc="114" dirty="0">
                <a:solidFill>
                  <a:srgbClr val="FF0000"/>
                </a:solidFill>
              </a:rPr>
              <a:t>Project Management Structures</a:t>
            </a:r>
          </a:p>
        </p:txBody>
      </p:sp>
      <p:sp>
        <p:nvSpPr>
          <p:cNvPr id="8" name="object 8"/>
          <p:cNvSpPr txBox="1">
            <a:spLocks noGrp="1"/>
          </p:cNvSpPr>
          <p:nvPr>
            <p:ph type="sldNum" sz="quarter" idx="7"/>
          </p:nvPr>
        </p:nvSpPr>
        <p:spPr>
          <a:xfrm>
            <a:off x="13118081" y="5834650"/>
            <a:ext cx="221876" cy="115416"/>
          </a:xfrm>
          <a:prstGeom prst="rect">
            <a:avLst/>
          </a:prstGeom>
        </p:spPr>
        <p:txBody>
          <a:bodyPr vert="horz" wrap="square" lIns="0" tIns="0" rIns="0" bIns="0" rtlCol="0">
            <a:spAutoFit/>
          </a:bodyPr>
          <a:lstStyle/>
          <a:p>
            <a:pPr marL="84720">
              <a:lnSpc>
                <a:spcPts val="935"/>
              </a:lnSpc>
            </a:pPr>
            <a:fld id="{81D60167-4931-47E6-BA6A-407CBD079E47}" type="slidenum">
              <a:rPr sz="817" spc="-23" dirty="0">
                <a:latin typeface="Consolas"/>
                <a:cs typeface="Consolas"/>
              </a:rPr>
              <a:pPr marL="84720">
                <a:lnSpc>
                  <a:spcPts val="935"/>
                </a:lnSpc>
              </a:pPr>
              <a:t>27</a:t>
            </a:fld>
            <a:endParaRPr sz="817">
              <a:latin typeface="Consolas"/>
              <a:cs typeface="Consolas"/>
            </a:endParaRPr>
          </a:p>
        </p:txBody>
      </p:sp>
      <p:sp>
        <p:nvSpPr>
          <p:cNvPr id="5" name="object 5"/>
          <p:cNvSpPr txBox="1">
            <a:spLocks noGrp="1"/>
          </p:cNvSpPr>
          <p:nvPr>
            <p:ph type="body" idx="1"/>
          </p:nvPr>
        </p:nvSpPr>
        <p:spPr>
          <a:xfrm>
            <a:off x="685800" y="1752600"/>
            <a:ext cx="10358120" cy="4762500"/>
          </a:xfrm>
          <a:prstGeom prst="rect">
            <a:avLst/>
          </a:prstGeom>
        </p:spPr>
        <p:txBody>
          <a:bodyPr vert="horz" wrap="square" lIns="0" tIns="189604" rIns="0" bIns="0" rtlCol="0">
            <a:spAutoFit/>
          </a:bodyPr>
          <a:lstStyle/>
          <a:p>
            <a:pPr marL="19595">
              <a:spcBef>
                <a:spcPts val="1493"/>
              </a:spcBef>
              <a:tabLst>
                <a:tab pos="4785235" algn="l"/>
              </a:tabLst>
            </a:pPr>
            <a:r>
              <a:rPr sz="2723" dirty="0">
                <a:solidFill>
                  <a:srgbClr val="BA0101"/>
                </a:solidFill>
              </a:rPr>
              <a:t>Three</a:t>
            </a:r>
            <a:r>
              <a:rPr sz="2723" spc="141" dirty="0">
                <a:solidFill>
                  <a:srgbClr val="BA0101"/>
                </a:solidFill>
              </a:rPr>
              <a:t> </a:t>
            </a:r>
            <a:r>
              <a:rPr sz="2723" spc="59" dirty="0">
                <a:solidFill>
                  <a:srgbClr val="B50307"/>
                </a:solidFill>
              </a:rPr>
              <a:t>different</a:t>
            </a:r>
            <a:r>
              <a:rPr sz="2723" spc="295" dirty="0">
                <a:solidFill>
                  <a:srgbClr val="B50307"/>
                </a:solidFill>
              </a:rPr>
              <a:t> </a:t>
            </a:r>
            <a:r>
              <a:rPr lang="en-US" sz="2723" spc="50" dirty="0">
                <a:solidFill>
                  <a:srgbClr val="C10000"/>
                </a:solidFill>
              </a:rPr>
              <a:t>project</a:t>
            </a:r>
            <a:r>
              <a:rPr sz="2723" spc="195" dirty="0">
                <a:solidFill>
                  <a:srgbClr val="C10000"/>
                </a:solidFill>
              </a:rPr>
              <a:t> </a:t>
            </a:r>
            <a:r>
              <a:rPr sz="2723" spc="-18" dirty="0">
                <a:solidFill>
                  <a:srgbClr val="CC0001"/>
                </a:solidFill>
              </a:rPr>
              <a:t>man</a:t>
            </a:r>
            <a:r>
              <a:rPr lang="en-US" sz="2723" spc="-18" dirty="0">
                <a:solidFill>
                  <a:srgbClr val="CC0001"/>
                </a:solidFill>
              </a:rPr>
              <a:t>ag</a:t>
            </a:r>
            <a:r>
              <a:rPr sz="2723" dirty="0">
                <a:solidFill>
                  <a:srgbClr val="C80000"/>
                </a:solidFill>
              </a:rPr>
              <a:t>ement</a:t>
            </a:r>
            <a:r>
              <a:rPr sz="2723" spc="195" dirty="0">
                <a:solidFill>
                  <a:srgbClr val="C80000"/>
                </a:solidFill>
              </a:rPr>
              <a:t> </a:t>
            </a:r>
            <a:r>
              <a:rPr sz="2723" spc="82" dirty="0">
                <a:solidFill>
                  <a:srgbClr val="C10007"/>
                </a:solidFill>
              </a:rPr>
              <a:t>structures</a:t>
            </a:r>
            <a:r>
              <a:rPr sz="2723" spc="281" dirty="0">
                <a:solidFill>
                  <a:srgbClr val="C10007"/>
                </a:solidFill>
              </a:rPr>
              <a:t> </a:t>
            </a:r>
            <a:r>
              <a:rPr sz="2723" spc="-18" dirty="0">
                <a:solidFill>
                  <a:srgbClr val="C10000"/>
                </a:solidFill>
              </a:rPr>
              <a:t>are:</a:t>
            </a:r>
            <a:endParaRPr sz="2723" dirty="0"/>
          </a:p>
          <a:p>
            <a:pPr marL="398240" indent="-386714">
              <a:spcBef>
                <a:spcPts val="1130"/>
              </a:spcBef>
              <a:buClr>
                <a:srgbClr val="FB0001"/>
              </a:buClr>
              <a:buAutoNum type="arabicPeriod"/>
              <a:tabLst>
                <a:tab pos="398240" algn="l"/>
                <a:tab pos="2458030" algn="l"/>
              </a:tabLst>
            </a:pPr>
            <a:r>
              <a:rPr sz="2269" b="1" u="sng" spc="77" dirty="0">
                <a:solidFill>
                  <a:srgbClr val="FD0100"/>
                </a:solidFill>
                <a:effectLst>
                  <a:outerShdw blurRad="38100" dist="38100" dir="2700000" algn="tl">
                    <a:srgbClr val="000000">
                      <a:alpha val="43137"/>
                    </a:srgbClr>
                  </a:outerShdw>
                </a:effectLst>
              </a:rPr>
              <a:t>Functional</a:t>
            </a:r>
            <a:r>
              <a:rPr sz="2269" b="1" u="sng" spc="208" dirty="0">
                <a:solidFill>
                  <a:srgbClr val="FD0100"/>
                </a:solidFill>
                <a:effectLst>
                  <a:outerShdw blurRad="38100" dist="38100" dir="2700000" algn="tl">
                    <a:srgbClr val="000000">
                      <a:alpha val="43137"/>
                    </a:srgbClr>
                  </a:outerShdw>
                </a:effectLst>
              </a:rPr>
              <a:t> </a:t>
            </a:r>
            <a:r>
              <a:rPr sz="2269" b="1" u="sng" spc="-45" dirty="0">
                <a:solidFill>
                  <a:srgbClr val="F60307"/>
                </a:solidFill>
                <a:effectLst>
                  <a:outerShdw blurRad="38100" dist="38100" dir="2700000" algn="tl">
                    <a:srgbClr val="000000">
                      <a:alpha val="43137"/>
                    </a:srgbClr>
                  </a:outerShdw>
                </a:effectLst>
              </a:rPr>
              <a:t>a</a:t>
            </a:r>
            <a:r>
              <a:rPr lang="en-US" sz="2269" b="1" u="sng" spc="-45" dirty="0">
                <a:solidFill>
                  <a:srgbClr val="F60307"/>
                </a:solidFill>
                <a:effectLst>
                  <a:outerShdw blurRad="38100" dist="38100" dir="2700000" algn="tl">
                    <a:srgbClr val="000000">
                      <a:alpha val="43137"/>
                    </a:srgbClr>
                  </a:outerShdw>
                </a:effectLst>
              </a:rPr>
              <a:t>pp</a:t>
            </a:r>
            <a:r>
              <a:rPr sz="2269" b="1" u="sng" spc="64" dirty="0">
                <a:solidFill>
                  <a:srgbClr val="F90100"/>
                </a:solidFill>
                <a:effectLst>
                  <a:outerShdw blurRad="38100" dist="38100" dir="2700000" algn="tl">
                    <a:srgbClr val="000000">
                      <a:alpha val="43137"/>
                    </a:srgbClr>
                  </a:outerShdw>
                </a:effectLst>
              </a:rPr>
              <a:t>roach</a:t>
            </a:r>
            <a:endParaRPr sz="2269" b="1" u="sng" dirty="0">
              <a:effectLst>
                <a:outerShdw blurRad="38100" dist="38100" dir="2700000" algn="tl">
                  <a:srgbClr val="000000">
                    <a:alpha val="43137"/>
                  </a:srgbClr>
                </a:outerShdw>
              </a:effectLst>
            </a:endParaRPr>
          </a:p>
          <a:p>
            <a:pPr marL="771701" lvl="1" indent="-319285">
              <a:spcBef>
                <a:spcPts val="1171"/>
              </a:spcBef>
              <a:buClr>
                <a:srgbClr val="0000CC"/>
              </a:buClr>
              <a:buChar char="•"/>
              <a:tabLst>
                <a:tab pos="771701" algn="l"/>
              </a:tabLst>
            </a:pPr>
            <a:r>
              <a:rPr sz="2269" spc="77" dirty="0">
                <a:solidFill>
                  <a:srgbClr val="0100CD"/>
                </a:solidFill>
                <a:latin typeface="Arial MT"/>
                <a:cs typeface="Arial MT"/>
              </a:rPr>
              <a:t>Functional</a:t>
            </a:r>
            <a:r>
              <a:rPr sz="2269" spc="218" dirty="0">
                <a:solidFill>
                  <a:srgbClr val="0100CD"/>
                </a:solidFill>
                <a:latin typeface="Arial MT"/>
                <a:cs typeface="Arial MT"/>
              </a:rPr>
              <a:t> </a:t>
            </a:r>
            <a:r>
              <a:rPr sz="2269" spc="64" dirty="0">
                <a:solidFill>
                  <a:srgbClr val="0005BD"/>
                </a:solidFill>
                <a:latin typeface="Arial MT"/>
                <a:cs typeface="Arial MT"/>
              </a:rPr>
              <a:t>organizations</a:t>
            </a:r>
            <a:endParaRPr sz="2269" dirty="0">
              <a:latin typeface="Arial MT"/>
              <a:cs typeface="Arial MT"/>
            </a:endParaRPr>
          </a:p>
          <a:p>
            <a:pPr marL="395936" indent="-376341">
              <a:spcBef>
                <a:spcPts val="1153"/>
              </a:spcBef>
              <a:buClr>
                <a:srgbClr val="FD0100"/>
              </a:buClr>
              <a:buAutoNum type="arabicPeriod"/>
              <a:tabLst>
                <a:tab pos="395936" algn="l"/>
              </a:tabLst>
            </a:pPr>
            <a:r>
              <a:rPr sz="2269" b="1" u="heavy" dirty="0">
                <a:solidFill>
                  <a:srgbClr val="FF0300"/>
                </a:solidFill>
                <a:effectLst>
                  <a:outerShdw blurRad="38100" dist="38100" dir="2700000" algn="tl">
                    <a:srgbClr val="000000">
                      <a:alpha val="43137"/>
                    </a:srgbClr>
                  </a:outerShdw>
                </a:effectLst>
                <a:uFill>
                  <a:solidFill>
                    <a:srgbClr val="EB0C0C"/>
                  </a:solidFill>
                </a:uFill>
              </a:rPr>
              <a:t>Dedicated</a:t>
            </a:r>
            <a:r>
              <a:rPr sz="2269" b="1" u="heavy" spc="499" dirty="0">
                <a:solidFill>
                  <a:srgbClr val="FF0300"/>
                </a:solidFill>
                <a:effectLst>
                  <a:outerShdw blurRad="38100" dist="38100" dir="2700000" algn="tl">
                    <a:srgbClr val="000000">
                      <a:alpha val="43137"/>
                    </a:srgbClr>
                  </a:outerShdw>
                </a:effectLst>
                <a:uFill>
                  <a:solidFill>
                    <a:srgbClr val="EB0C0C"/>
                  </a:solidFill>
                </a:uFill>
              </a:rPr>
              <a:t> </a:t>
            </a:r>
            <a:r>
              <a:rPr lang="en-US" sz="2269" b="1" u="heavy" spc="73" dirty="0" err="1">
                <a:solidFill>
                  <a:srgbClr val="FD0100"/>
                </a:solidFill>
                <a:effectLst>
                  <a:outerShdw blurRad="38100" dist="38100" dir="2700000" algn="tl">
                    <a:srgbClr val="000000">
                      <a:alpha val="43137"/>
                    </a:srgbClr>
                  </a:outerShdw>
                </a:effectLst>
                <a:uFill>
                  <a:solidFill>
                    <a:srgbClr val="EB0C0C"/>
                  </a:solidFill>
                </a:uFill>
              </a:rPr>
              <a:t>p</a:t>
            </a:r>
            <a:r>
              <a:rPr sz="2269" b="1" u="heavy" spc="73" dirty="0" err="1">
                <a:solidFill>
                  <a:srgbClr val="FD0100"/>
                </a:solidFill>
                <a:effectLst>
                  <a:outerShdw blurRad="38100" dist="38100" dir="2700000" algn="tl">
                    <a:srgbClr val="000000">
                      <a:alpha val="43137"/>
                    </a:srgbClr>
                  </a:outerShdw>
                </a:effectLst>
                <a:uFill>
                  <a:solidFill>
                    <a:srgbClr val="EB0C0C"/>
                  </a:solidFill>
                </a:uFill>
              </a:rPr>
              <a:t>roiect</a:t>
            </a:r>
            <a:r>
              <a:rPr sz="2269" b="1" u="heavy" spc="295" dirty="0">
                <a:solidFill>
                  <a:srgbClr val="FD0100"/>
                </a:solidFill>
                <a:effectLst>
                  <a:outerShdw blurRad="38100" dist="38100" dir="2700000" algn="tl">
                    <a:srgbClr val="000000">
                      <a:alpha val="43137"/>
                    </a:srgbClr>
                  </a:outerShdw>
                </a:effectLst>
                <a:uFill>
                  <a:solidFill>
                    <a:srgbClr val="EB0C0C"/>
                  </a:solidFill>
                </a:uFill>
              </a:rPr>
              <a:t> </a:t>
            </a:r>
            <a:r>
              <a:rPr sz="2269" b="1" u="heavy" spc="36" dirty="0">
                <a:solidFill>
                  <a:srgbClr val="FD0003"/>
                </a:solidFill>
                <a:effectLst>
                  <a:outerShdw blurRad="38100" dist="38100" dir="2700000" algn="tl">
                    <a:srgbClr val="000000">
                      <a:alpha val="43137"/>
                    </a:srgbClr>
                  </a:outerShdw>
                </a:effectLst>
                <a:uFill>
                  <a:solidFill>
                    <a:srgbClr val="EB0C0C"/>
                  </a:solidFill>
                </a:uFill>
              </a:rPr>
              <a:t>teams</a:t>
            </a:r>
            <a:endParaRPr sz="2269" b="1" dirty="0">
              <a:effectLst>
                <a:outerShdw blurRad="38100" dist="38100" dir="2700000" algn="tl">
                  <a:srgbClr val="000000">
                    <a:alpha val="43137"/>
                  </a:srgbClr>
                </a:outerShdw>
              </a:effectLst>
            </a:endParaRPr>
          </a:p>
          <a:p>
            <a:pPr marL="772853" lvl="1" indent="-320437">
              <a:spcBef>
                <a:spcPts val="1153"/>
              </a:spcBef>
              <a:buClr>
                <a:srgbClr val="0100CD"/>
              </a:buClr>
              <a:buChar char="•"/>
              <a:tabLst>
                <a:tab pos="772853" algn="l"/>
              </a:tabLst>
            </a:pPr>
            <a:r>
              <a:rPr sz="2269" spc="64" dirty="0">
                <a:solidFill>
                  <a:srgbClr val="0101C4"/>
                </a:solidFill>
                <a:latin typeface="Arial MT"/>
                <a:cs typeface="Arial MT"/>
              </a:rPr>
              <a:t>Projectized</a:t>
            </a:r>
            <a:r>
              <a:rPr sz="2269" spc="150" dirty="0">
                <a:solidFill>
                  <a:srgbClr val="0101C4"/>
                </a:solidFill>
                <a:latin typeface="Arial MT"/>
                <a:cs typeface="Arial MT"/>
              </a:rPr>
              <a:t> </a:t>
            </a:r>
            <a:r>
              <a:rPr sz="2269" spc="64" dirty="0">
                <a:solidFill>
                  <a:srgbClr val="0000CC"/>
                </a:solidFill>
                <a:latin typeface="Arial MT"/>
                <a:cs typeface="Arial MT"/>
              </a:rPr>
              <a:t>organizations</a:t>
            </a:r>
            <a:endParaRPr sz="2269" dirty="0">
              <a:latin typeface="Arial MT"/>
              <a:cs typeface="Arial MT"/>
            </a:endParaRPr>
          </a:p>
          <a:p>
            <a:pPr marL="400547" indent="-381528">
              <a:spcBef>
                <a:spcPts val="1153"/>
              </a:spcBef>
              <a:buClr>
                <a:srgbClr val="FB0100"/>
              </a:buClr>
              <a:buAutoNum type="arabicPeriod"/>
              <a:tabLst>
                <a:tab pos="400547" algn="l"/>
              </a:tabLst>
            </a:pPr>
            <a:r>
              <a:rPr sz="2269" b="1" u="heavy" spc="68" dirty="0">
                <a:solidFill>
                  <a:srgbClr val="FD0003"/>
                </a:solidFill>
                <a:effectLst>
                  <a:outerShdw blurRad="38100" dist="38100" dir="2700000" algn="tl">
                    <a:srgbClr val="000000">
                      <a:alpha val="43137"/>
                    </a:srgbClr>
                  </a:outerShdw>
                </a:effectLst>
                <a:uFill>
                  <a:solidFill>
                    <a:srgbClr val="EB0C0C"/>
                  </a:solidFill>
                </a:uFill>
              </a:rPr>
              <a:t>Matrix</a:t>
            </a:r>
            <a:r>
              <a:rPr sz="2269" b="1" u="heavy" spc="113" dirty="0">
                <a:solidFill>
                  <a:srgbClr val="FD0003"/>
                </a:solidFill>
                <a:effectLst>
                  <a:outerShdw blurRad="38100" dist="38100" dir="2700000" algn="tl">
                    <a:srgbClr val="000000">
                      <a:alpha val="43137"/>
                    </a:srgbClr>
                  </a:outerShdw>
                </a:effectLst>
                <a:uFill>
                  <a:solidFill>
                    <a:srgbClr val="EB0C0C"/>
                  </a:solidFill>
                </a:uFill>
              </a:rPr>
              <a:t> </a:t>
            </a:r>
            <a:r>
              <a:rPr sz="2269" b="1" u="heavy" spc="82" dirty="0">
                <a:solidFill>
                  <a:srgbClr val="FD0000"/>
                </a:solidFill>
                <a:effectLst>
                  <a:outerShdw blurRad="38100" dist="38100" dir="2700000" algn="tl">
                    <a:srgbClr val="000000">
                      <a:alpha val="43137"/>
                    </a:srgbClr>
                  </a:outerShdw>
                </a:effectLst>
                <a:uFill>
                  <a:solidFill>
                    <a:srgbClr val="EB0C0C"/>
                  </a:solidFill>
                </a:uFill>
              </a:rPr>
              <a:t>structure</a:t>
            </a:r>
            <a:endParaRPr sz="2269" b="1" dirty="0">
              <a:effectLst>
                <a:outerShdw blurRad="38100" dist="38100" dir="2700000" algn="tl">
                  <a:srgbClr val="000000">
                    <a:alpha val="43137"/>
                  </a:srgbClr>
                </a:outerShdw>
              </a:effectLst>
            </a:endParaRPr>
          </a:p>
          <a:p>
            <a:pPr marL="774006" lvl="1" indent="-321590">
              <a:spcBef>
                <a:spcPts val="1125"/>
              </a:spcBef>
              <a:buClr>
                <a:srgbClr val="0000D4"/>
              </a:buClr>
              <a:buChar char="•"/>
              <a:tabLst>
                <a:tab pos="774006" algn="l"/>
              </a:tabLst>
            </a:pPr>
            <a:r>
              <a:rPr sz="2269" dirty="0">
                <a:solidFill>
                  <a:srgbClr val="0001CA"/>
                </a:solidFill>
                <a:latin typeface="Arial MT"/>
                <a:cs typeface="Arial MT"/>
              </a:rPr>
              <a:t>Weak</a:t>
            </a:r>
            <a:r>
              <a:rPr sz="2269" spc="68" dirty="0">
                <a:solidFill>
                  <a:srgbClr val="0001CA"/>
                </a:solidFill>
                <a:latin typeface="Arial MT"/>
                <a:cs typeface="Arial MT"/>
              </a:rPr>
              <a:t> </a:t>
            </a:r>
            <a:r>
              <a:rPr sz="2269" spc="82" dirty="0">
                <a:solidFill>
                  <a:srgbClr val="0001CF"/>
                </a:solidFill>
                <a:latin typeface="Arial MT"/>
                <a:cs typeface="Arial MT"/>
              </a:rPr>
              <a:t>matrix</a:t>
            </a:r>
            <a:endParaRPr sz="2269" dirty="0">
              <a:latin typeface="Arial MT"/>
              <a:cs typeface="Arial MT"/>
            </a:endParaRPr>
          </a:p>
          <a:p>
            <a:pPr marL="773429" lvl="1" indent="-321014">
              <a:spcBef>
                <a:spcPts val="1175"/>
              </a:spcBef>
              <a:buClr>
                <a:srgbClr val="0001C4"/>
              </a:buClr>
              <a:buChar char="•"/>
              <a:tabLst>
                <a:tab pos="773429" algn="l"/>
              </a:tabLst>
            </a:pPr>
            <a:r>
              <a:rPr sz="2269" spc="54" dirty="0">
                <a:solidFill>
                  <a:srgbClr val="0001CF"/>
                </a:solidFill>
                <a:latin typeface="Arial MT"/>
                <a:cs typeface="Arial MT"/>
              </a:rPr>
              <a:t>Balanced</a:t>
            </a:r>
            <a:r>
              <a:rPr sz="2269" spc="154" dirty="0">
                <a:solidFill>
                  <a:srgbClr val="0001CF"/>
                </a:solidFill>
                <a:latin typeface="Arial MT"/>
                <a:cs typeface="Arial MT"/>
              </a:rPr>
              <a:t> </a:t>
            </a:r>
            <a:r>
              <a:rPr sz="2269" spc="73" dirty="0">
                <a:solidFill>
                  <a:srgbClr val="0500C8"/>
                </a:solidFill>
                <a:latin typeface="Arial MT"/>
                <a:cs typeface="Arial MT"/>
              </a:rPr>
              <a:t>matrix</a:t>
            </a:r>
            <a:endParaRPr sz="2269" dirty="0">
              <a:latin typeface="Arial MT"/>
              <a:cs typeface="Arial MT"/>
            </a:endParaRPr>
          </a:p>
          <a:p>
            <a:pPr marL="773429" lvl="1" indent="-321014">
              <a:spcBef>
                <a:spcPts val="1153"/>
              </a:spcBef>
              <a:buClr>
                <a:srgbClr val="0001C8"/>
              </a:buClr>
              <a:buChar char="•"/>
              <a:tabLst>
                <a:tab pos="773429" algn="l"/>
              </a:tabLst>
            </a:pPr>
            <a:r>
              <a:rPr sz="2269" spc="82" dirty="0">
                <a:solidFill>
                  <a:srgbClr val="0001CA"/>
                </a:solidFill>
                <a:latin typeface="Arial MT"/>
                <a:cs typeface="Arial MT"/>
              </a:rPr>
              <a:t>Strong</a:t>
            </a:r>
            <a:r>
              <a:rPr sz="2269" spc="103" dirty="0">
                <a:solidFill>
                  <a:srgbClr val="0001CA"/>
                </a:solidFill>
                <a:latin typeface="Arial MT"/>
                <a:cs typeface="Arial MT"/>
              </a:rPr>
              <a:t> </a:t>
            </a:r>
            <a:r>
              <a:rPr sz="2269" spc="82" dirty="0">
                <a:solidFill>
                  <a:srgbClr val="0001CA"/>
                </a:solidFill>
                <a:latin typeface="Arial MT"/>
                <a:cs typeface="Arial MT"/>
              </a:rPr>
              <a:t>matrix</a:t>
            </a:r>
            <a:endParaRPr sz="2269" dirty="0">
              <a:latin typeface="Arial MT"/>
              <a:cs typeface="Arial MT"/>
            </a:endParaRPr>
          </a:p>
        </p:txBody>
      </p:sp>
      <p:pic>
        <p:nvPicPr>
          <p:cNvPr id="2" name="Picture 1">
            <a:extLst>
              <a:ext uri="{FF2B5EF4-FFF2-40B4-BE49-F238E27FC236}">
                <a16:creationId xmlns:a16="http://schemas.microsoft.com/office/drawing/2014/main" id="{568F17EF-BA3A-018B-EF06-8B198BF6F0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5367D-A197-47FE-B868-584FAA3F9830}"/>
              </a:ext>
            </a:extLst>
          </p:cNvPr>
          <p:cNvSpPr>
            <a:spLocks noGrp="1"/>
          </p:cNvSpPr>
          <p:nvPr>
            <p:ph type="title"/>
          </p:nvPr>
        </p:nvSpPr>
        <p:spPr>
          <a:xfrm>
            <a:off x="916939" y="615856"/>
            <a:ext cx="11233150" cy="1323439"/>
          </a:xfrm>
        </p:spPr>
        <p:txBody>
          <a:bodyPr/>
          <a:lstStyle/>
          <a:p>
            <a:r>
              <a:rPr lang="en-US" b="1" u="sng" spc="114" dirty="0">
                <a:solidFill>
                  <a:srgbClr val="FF0000"/>
                </a:solidFill>
              </a:rPr>
              <a:t>Why is it Important?</a:t>
            </a:r>
            <a:br>
              <a:rPr lang="en-US" b="1" u="sng" spc="114" dirty="0">
                <a:solidFill>
                  <a:srgbClr val="FF0000"/>
                </a:solidFill>
              </a:rPr>
            </a:br>
            <a:endParaRPr lang="en-US" b="1" u="sng" spc="114" dirty="0">
              <a:solidFill>
                <a:srgbClr val="FF0000"/>
              </a:solidFill>
            </a:endParaRPr>
          </a:p>
        </p:txBody>
      </p:sp>
      <p:sp>
        <p:nvSpPr>
          <p:cNvPr id="3" name="Text Placeholder 2">
            <a:extLst>
              <a:ext uri="{FF2B5EF4-FFF2-40B4-BE49-F238E27FC236}">
                <a16:creationId xmlns:a16="http://schemas.microsoft.com/office/drawing/2014/main" id="{8649836B-AEC8-486B-AA41-AC5059BC32FF}"/>
              </a:ext>
            </a:extLst>
          </p:cNvPr>
          <p:cNvSpPr>
            <a:spLocks noGrp="1"/>
          </p:cNvSpPr>
          <p:nvPr>
            <p:ph type="body" idx="1"/>
          </p:nvPr>
        </p:nvSpPr>
        <p:spPr>
          <a:xfrm>
            <a:off x="916941" y="1828800"/>
            <a:ext cx="10358120" cy="4762500"/>
          </a:xfrm>
        </p:spPr>
        <p:txBody>
          <a:bodyPr/>
          <a:lstStyle/>
          <a:p>
            <a:pPr algn="just"/>
            <a:r>
              <a:rPr lang="en-US" b="0" i="0" dirty="0">
                <a:effectLst/>
                <a:latin typeface="Inter"/>
              </a:rPr>
              <a:t>The choice of project management structure is crucial because it directly impacts the efficiency, effectiveness, and success of projects. It determines how resources are allocated, how teams collaborate, and how decision-making is handled.</a:t>
            </a:r>
          </a:p>
          <a:p>
            <a:pPr algn="just"/>
            <a:endParaRPr lang="en-US" b="0" i="0" dirty="0">
              <a:effectLst/>
              <a:latin typeface="Inter"/>
            </a:endParaRPr>
          </a:p>
          <a:p>
            <a:pPr algn="just"/>
            <a:r>
              <a:rPr lang="en-US" b="0" i="0" dirty="0">
                <a:effectLst/>
                <a:latin typeface="Inter"/>
              </a:rPr>
              <a:t>The right structure fosters clear communication, reduces conflicts, and ensures that projects are completed on time and within budget. By aligning the structure with organizational goals and project needs, companies can optimize performance, improve project delivery, and enhance overall organizational agility.</a:t>
            </a:r>
          </a:p>
          <a:p>
            <a:endParaRPr lang="en-US" dirty="0"/>
          </a:p>
        </p:txBody>
      </p:sp>
      <p:pic>
        <p:nvPicPr>
          <p:cNvPr id="4" name="Picture 3">
            <a:extLst>
              <a:ext uri="{FF2B5EF4-FFF2-40B4-BE49-F238E27FC236}">
                <a16:creationId xmlns:a16="http://schemas.microsoft.com/office/drawing/2014/main" id="{376B54C4-1851-E515-0EC8-3D0F170237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0982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13118081" y="5834650"/>
            <a:ext cx="221876" cy="115416"/>
          </a:xfrm>
          <a:prstGeom prst="rect">
            <a:avLst/>
          </a:prstGeom>
        </p:spPr>
        <p:txBody>
          <a:bodyPr vert="horz" wrap="square" lIns="0" tIns="0" rIns="0" bIns="0" rtlCol="0">
            <a:spAutoFit/>
          </a:bodyPr>
          <a:lstStyle/>
          <a:p>
            <a:pPr marL="84720">
              <a:lnSpc>
                <a:spcPts val="935"/>
              </a:lnSpc>
            </a:pPr>
            <a:fld id="{81D60167-4931-47E6-BA6A-407CBD079E47}" type="slidenum">
              <a:rPr sz="817" spc="-23" dirty="0">
                <a:latin typeface="Consolas"/>
                <a:cs typeface="Consolas"/>
              </a:rPr>
              <a:pPr marL="84720">
                <a:lnSpc>
                  <a:spcPts val="935"/>
                </a:lnSpc>
              </a:pPr>
              <a:t>29</a:t>
            </a:fld>
            <a:endParaRPr sz="817">
              <a:latin typeface="Consolas"/>
              <a:cs typeface="Consolas"/>
            </a:endParaRPr>
          </a:p>
        </p:txBody>
      </p:sp>
      <p:sp>
        <p:nvSpPr>
          <p:cNvPr id="2" name="object 2"/>
          <p:cNvSpPr txBox="1">
            <a:spLocks noGrp="1"/>
          </p:cNvSpPr>
          <p:nvPr>
            <p:ph type="title"/>
          </p:nvPr>
        </p:nvSpPr>
        <p:spPr>
          <a:xfrm>
            <a:off x="457200" y="604751"/>
            <a:ext cx="12344400" cy="797717"/>
          </a:xfrm>
          <a:prstGeom prst="rect">
            <a:avLst/>
          </a:prstGeom>
        </p:spPr>
        <p:txBody>
          <a:bodyPr vert="horz" wrap="square" lIns="0" tIns="134682" rIns="0" bIns="0" rtlCol="0">
            <a:spAutoFit/>
          </a:bodyPr>
          <a:lstStyle/>
          <a:p>
            <a:pPr marL="14408">
              <a:spcBef>
                <a:spcPts val="113"/>
              </a:spcBef>
            </a:pPr>
            <a:r>
              <a:rPr b="1" u="sng" spc="114" dirty="0">
                <a:solidFill>
                  <a:srgbClr val="FF0000"/>
                </a:solidFill>
              </a:rPr>
              <a:t>Functional Approach — Functional Organization</a:t>
            </a:r>
          </a:p>
        </p:txBody>
      </p:sp>
      <p:sp>
        <p:nvSpPr>
          <p:cNvPr id="3" name="object 3"/>
          <p:cNvSpPr txBox="1"/>
          <p:nvPr/>
        </p:nvSpPr>
        <p:spPr>
          <a:xfrm>
            <a:off x="838200" y="2019918"/>
            <a:ext cx="10363200" cy="2889054"/>
          </a:xfrm>
          <a:prstGeom prst="rect">
            <a:avLst/>
          </a:prstGeom>
        </p:spPr>
        <p:txBody>
          <a:bodyPr vert="horz" wrap="square" lIns="0" tIns="14408" rIns="0" bIns="0" rtlCol="0">
            <a:spAutoFit/>
          </a:bodyPr>
          <a:lstStyle/>
          <a:p>
            <a:pPr marL="283552" marR="451263" indent="-269721">
              <a:lnSpc>
                <a:spcPct val="100400"/>
              </a:lnSpc>
              <a:spcBef>
                <a:spcPts val="113"/>
              </a:spcBef>
              <a:buClr>
                <a:srgbClr val="F00501"/>
              </a:buClr>
              <a:buChar char="•"/>
              <a:tabLst>
                <a:tab pos="288163" algn="l"/>
              </a:tabLst>
            </a:pPr>
            <a:r>
              <a:rPr sz="2269" spc="77" dirty="0">
                <a:solidFill>
                  <a:srgbClr val="FB0300"/>
                </a:solidFill>
                <a:latin typeface="Arial MT"/>
                <a:cs typeface="Arial MT"/>
              </a:rPr>
              <a:t>Functional</a:t>
            </a:r>
            <a:r>
              <a:rPr sz="2269" spc="163" dirty="0">
                <a:solidFill>
                  <a:srgbClr val="FB0300"/>
                </a:solidFill>
                <a:latin typeface="Arial MT"/>
                <a:cs typeface="Arial MT"/>
              </a:rPr>
              <a:t> </a:t>
            </a:r>
            <a:r>
              <a:rPr sz="2269" spc="68" dirty="0">
                <a:solidFill>
                  <a:srgbClr val="FD0008"/>
                </a:solidFill>
                <a:latin typeface="Arial MT"/>
                <a:cs typeface="Arial MT"/>
              </a:rPr>
              <a:t>Organization:</a:t>
            </a:r>
            <a:r>
              <a:rPr sz="2269" spc="208" dirty="0">
                <a:solidFill>
                  <a:srgbClr val="FD0008"/>
                </a:solidFill>
                <a:latin typeface="Arial MT"/>
                <a:cs typeface="Arial MT"/>
              </a:rPr>
              <a:t> </a:t>
            </a:r>
            <a:r>
              <a:rPr sz="2269" u="heavy" spc="59" dirty="0">
                <a:solidFill>
                  <a:srgbClr val="00AF52"/>
                </a:solidFill>
                <a:uFill>
                  <a:solidFill>
                    <a:srgbClr val="08A84F"/>
                  </a:solidFill>
                </a:uFill>
                <a:latin typeface="Arial MT"/>
                <a:cs typeface="Arial MT"/>
              </a:rPr>
              <a:t>uses</a:t>
            </a:r>
            <a:r>
              <a:rPr sz="2269" spc="118" dirty="0">
                <a:solidFill>
                  <a:srgbClr val="00AF52"/>
                </a:solidFill>
                <a:latin typeface="Arial MT"/>
                <a:cs typeface="Arial MT"/>
              </a:rPr>
              <a:t> </a:t>
            </a:r>
            <a:r>
              <a:rPr sz="2269" spc="77" dirty="0">
                <a:solidFill>
                  <a:srgbClr val="FB0000"/>
                </a:solidFill>
                <a:latin typeface="Arial MT"/>
                <a:cs typeface="Arial MT"/>
              </a:rPr>
              <a:t>Functional </a:t>
            </a:r>
            <a:r>
              <a:rPr sz="2269" spc="77" dirty="0">
                <a:solidFill>
                  <a:srgbClr val="FD0001"/>
                </a:solidFill>
                <a:latin typeface="Arial MT"/>
                <a:cs typeface="Arial MT"/>
              </a:rPr>
              <a:t>Approach</a:t>
            </a:r>
            <a:r>
              <a:rPr sz="2269" spc="191" dirty="0">
                <a:solidFill>
                  <a:srgbClr val="FD0001"/>
                </a:solidFill>
                <a:latin typeface="Arial MT"/>
                <a:cs typeface="Arial MT"/>
              </a:rPr>
              <a:t> </a:t>
            </a:r>
            <a:r>
              <a:rPr sz="2269" spc="-23" dirty="0">
                <a:latin typeface="Arial MT"/>
                <a:cs typeface="Arial MT"/>
              </a:rPr>
              <a:t>to </a:t>
            </a:r>
            <a:r>
              <a:rPr sz="2269" u="heavy" spc="73" dirty="0">
                <a:solidFill>
                  <a:srgbClr val="00B64F"/>
                </a:solidFill>
                <a:uFill>
                  <a:solidFill>
                    <a:srgbClr val="08A84F"/>
                  </a:solidFill>
                </a:uFill>
                <a:latin typeface="Arial MT"/>
                <a:cs typeface="Arial MT"/>
              </a:rPr>
              <a:t>administer</a:t>
            </a:r>
            <a:r>
              <a:rPr sz="2269" spc="245" dirty="0">
                <a:solidFill>
                  <a:srgbClr val="00B64F"/>
                </a:solidFill>
                <a:latin typeface="Arial MT"/>
                <a:cs typeface="Arial MT"/>
              </a:rPr>
              <a:t> </a:t>
            </a:r>
            <a:r>
              <a:rPr sz="2269" dirty="0">
                <a:latin typeface="Arial MT"/>
                <a:cs typeface="Arial MT"/>
              </a:rPr>
              <a:t>and</a:t>
            </a:r>
            <a:r>
              <a:rPr sz="2269" spc="36" dirty="0">
                <a:latin typeface="Arial MT"/>
                <a:cs typeface="Arial MT"/>
              </a:rPr>
              <a:t> </a:t>
            </a:r>
            <a:r>
              <a:rPr sz="2269" u="heavy" spc="64" dirty="0">
                <a:solidFill>
                  <a:srgbClr val="08AC4D"/>
                </a:solidFill>
                <a:uFill>
                  <a:solidFill>
                    <a:srgbClr val="08A84F"/>
                  </a:solidFill>
                </a:uFill>
                <a:latin typeface="Arial MT"/>
                <a:cs typeface="Arial MT"/>
              </a:rPr>
              <a:t>com</a:t>
            </a:r>
            <a:r>
              <a:rPr lang="en-US" sz="2269" u="heavy" spc="64" dirty="0">
                <a:solidFill>
                  <a:srgbClr val="08AC4D"/>
                </a:solidFill>
                <a:uFill>
                  <a:solidFill>
                    <a:srgbClr val="08A84F"/>
                  </a:solidFill>
                </a:uFill>
                <a:latin typeface="Arial MT"/>
                <a:cs typeface="Arial MT"/>
              </a:rPr>
              <a:t>p</a:t>
            </a:r>
            <a:r>
              <a:rPr sz="2269" u="heavy" spc="64" dirty="0">
                <a:solidFill>
                  <a:srgbClr val="08AC4D"/>
                </a:solidFill>
                <a:uFill>
                  <a:solidFill>
                    <a:srgbClr val="08A84F"/>
                  </a:solidFill>
                </a:uFill>
                <a:latin typeface="Arial MT"/>
                <a:cs typeface="Arial MT"/>
              </a:rPr>
              <a:t>lete</a:t>
            </a:r>
            <a:r>
              <a:rPr sz="2269" spc="182" dirty="0">
                <a:solidFill>
                  <a:srgbClr val="08AC4D"/>
                </a:solidFill>
                <a:latin typeface="Arial MT"/>
                <a:cs typeface="Arial MT"/>
              </a:rPr>
              <a:t> </a:t>
            </a:r>
            <a:r>
              <a:rPr sz="2269" spc="68" dirty="0">
                <a:solidFill>
                  <a:srgbClr val="0000D8"/>
                </a:solidFill>
                <a:latin typeface="Arial MT"/>
                <a:cs typeface="Arial MT"/>
              </a:rPr>
              <a:t>projects.</a:t>
            </a:r>
            <a:endParaRPr sz="2269" dirty="0">
              <a:latin typeface="Arial MT"/>
              <a:cs typeface="Arial MT"/>
            </a:endParaRPr>
          </a:p>
          <a:p>
            <a:pPr marL="286434" marR="4611" indent="-275484">
              <a:lnSpc>
                <a:spcPct val="100899"/>
              </a:lnSpc>
              <a:spcBef>
                <a:spcPts val="1125"/>
              </a:spcBef>
              <a:buClr>
                <a:srgbClr val="0500C3"/>
              </a:buClr>
              <a:buChar char="•"/>
              <a:tabLst>
                <a:tab pos="287587" algn="l"/>
              </a:tabLst>
            </a:pPr>
            <a:r>
              <a:rPr sz="2269" dirty="0">
                <a:solidFill>
                  <a:srgbClr val="0001C4"/>
                </a:solidFill>
                <a:latin typeface="Arial MT"/>
                <a:cs typeface="Arial MT"/>
              </a:rPr>
              <a:t>Top</a:t>
            </a:r>
            <a:r>
              <a:rPr sz="2269" spc="64" dirty="0">
                <a:solidFill>
                  <a:srgbClr val="0001C4"/>
                </a:solidFill>
                <a:latin typeface="Arial MT"/>
                <a:cs typeface="Arial MT"/>
              </a:rPr>
              <a:t> </a:t>
            </a:r>
            <a:r>
              <a:rPr sz="2269" spc="45" dirty="0">
                <a:solidFill>
                  <a:srgbClr val="0100CD"/>
                </a:solidFill>
                <a:latin typeface="Arial MT"/>
                <a:cs typeface="Arial MT"/>
              </a:rPr>
              <a:t>management</a:t>
            </a:r>
            <a:r>
              <a:rPr sz="2269" spc="263" dirty="0">
                <a:solidFill>
                  <a:srgbClr val="0100CD"/>
                </a:solidFill>
                <a:latin typeface="Arial MT"/>
                <a:cs typeface="Arial MT"/>
              </a:rPr>
              <a:t> </a:t>
            </a:r>
            <a:r>
              <a:rPr sz="2269" u="heavy" spc="54" dirty="0">
                <a:solidFill>
                  <a:srgbClr val="00B34F"/>
                </a:solidFill>
                <a:uFill>
                  <a:solidFill>
                    <a:srgbClr val="08A84F"/>
                  </a:solidFill>
                </a:uFill>
                <a:latin typeface="Arial MT"/>
                <a:cs typeface="Arial MT"/>
              </a:rPr>
              <a:t>decides</a:t>
            </a:r>
            <a:r>
              <a:rPr sz="2269" spc="222" dirty="0">
                <a:solidFill>
                  <a:srgbClr val="00B34F"/>
                </a:solidFill>
                <a:latin typeface="Arial MT"/>
                <a:cs typeface="Arial MT"/>
              </a:rPr>
              <a:t> </a:t>
            </a:r>
            <a:r>
              <a:rPr sz="2269" dirty="0">
                <a:latin typeface="Arial MT"/>
                <a:cs typeface="Arial MT"/>
              </a:rPr>
              <a:t>to</a:t>
            </a:r>
            <a:r>
              <a:rPr sz="2269" spc="41" dirty="0">
                <a:latin typeface="Arial MT"/>
                <a:cs typeface="Arial MT"/>
              </a:rPr>
              <a:t> </a:t>
            </a:r>
            <a:r>
              <a:rPr sz="2269" u="heavy" spc="64" dirty="0">
                <a:solidFill>
                  <a:srgbClr val="01AE54"/>
                </a:solidFill>
                <a:uFill>
                  <a:solidFill>
                    <a:srgbClr val="08A84F"/>
                  </a:solidFill>
                </a:uFill>
                <a:latin typeface="Arial MT"/>
                <a:cs typeface="Arial MT"/>
              </a:rPr>
              <a:t>im</a:t>
            </a:r>
            <a:r>
              <a:rPr lang="en-US" sz="2269" u="heavy" spc="64" dirty="0">
                <a:solidFill>
                  <a:srgbClr val="01AE54"/>
                </a:solidFill>
                <a:uFill>
                  <a:solidFill>
                    <a:srgbClr val="08A84F"/>
                  </a:solidFill>
                </a:uFill>
                <a:latin typeface="Arial MT"/>
                <a:cs typeface="Arial MT"/>
              </a:rPr>
              <a:t>pl</a:t>
            </a:r>
            <a:r>
              <a:rPr sz="2269" u="heavy" spc="64" dirty="0">
                <a:solidFill>
                  <a:srgbClr val="01AE54"/>
                </a:solidFill>
                <a:uFill>
                  <a:solidFill>
                    <a:srgbClr val="08A84F"/>
                  </a:solidFill>
                </a:uFill>
                <a:latin typeface="Arial MT"/>
                <a:cs typeface="Arial MT"/>
              </a:rPr>
              <a:t>ement</a:t>
            </a:r>
            <a:r>
              <a:rPr sz="2269" spc="263" dirty="0">
                <a:solidFill>
                  <a:srgbClr val="01AE54"/>
                </a:solidFill>
                <a:latin typeface="Arial MT"/>
                <a:cs typeface="Arial MT"/>
              </a:rPr>
              <a:t> </a:t>
            </a:r>
            <a:r>
              <a:rPr sz="2269" spc="68" dirty="0">
                <a:latin typeface="Arial MT"/>
                <a:cs typeface="Arial MT"/>
              </a:rPr>
              <a:t>project,</a:t>
            </a:r>
            <a:r>
              <a:rPr sz="2269" spc="145" dirty="0">
                <a:latin typeface="Arial MT"/>
                <a:cs typeface="Arial MT"/>
              </a:rPr>
              <a:t> </a:t>
            </a:r>
            <a:r>
              <a:rPr sz="2269" spc="-23" dirty="0">
                <a:latin typeface="Arial MT"/>
                <a:cs typeface="Arial MT"/>
              </a:rPr>
              <a:t>and </a:t>
            </a:r>
            <a:r>
              <a:rPr sz="2269" u="heavy" spc="68" dirty="0">
                <a:solidFill>
                  <a:srgbClr val="0100CA"/>
                </a:solidFill>
                <a:uFill>
                  <a:solidFill>
                    <a:srgbClr val="036080"/>
                  </a:solidFill>
                </a:uFill>
                <a:latin typeface="Arial MT"/>
                <a:cs typeface="Arial MT"/>
              </a:rPr>
              <a:t>different</a:t>
            </a:r>
            <a:r>
              <a:rPr sz="2269" spc="191" dirty="0">
                <a:solidFill>
                  <a:srgbClr val="0100CA"/>
                </a:solidFill>
                <a:latin typeface="Arial MT"/>
                <a:cs typeface="Arial MT"/>
              </a:rPr>
              <a:t> </a:t>
            </a:r>
            <a:r>
              <a:rPr sz="2269" spc="59" dirty="0">
                <a:solidFill>
                  <a:srgbClr val="0003C1"/>
                </a:solidFill>
                <a:latin typeface="Arial MT"/>
                <a:cs typeface="Arial MT"/>
              </a:rPr>
              <a:t>segments</a:t>
            </a:r>
            <a:r>
              <a:rPr sz="2269" spc="227" dirty="0">
                <a:solidFill>
                  <a:srgbClr val="0003C1"/>
                </a:solidFill>
                <a:latin typeface="Arial MT"/>
                <a:cs typeface="Arial MT"/>
              </a:rPr>
              <a:t> </a:t>
            </a:r>
            <a:r>
              <a:rPr sz="2269" dirty="0">
                <a:latin typeface="Arial MT"/>
                <a:cs typeface="Arial MT"/>
              </a:rPr>
              <a:t>of</a:t>
            </a:r>
            <a:r>
              <a:rPr sz="2269" spc="45" dirty="0">
                <a:latin typeface="Arial MT"/>
                <a:cs typeface="Arial MT"/>
              </a:rPr>
              <a:t> </a:t>
            </a:r>
            <a:r>
              <a:rPr sz="2269" spc="82" dirty="0">
                <a:solidFill>
                  <a:srgbClr val="0100D4"/>
                </a:solidFill>
                <a:latin typeface="Arial MT"/>
                <a:cs typeface="Arial MT"/>
              </a:rPr>
              <a:t>project</a:t>
            </a:r>
            <a:r>
              <a:rPr sz="2269" spc="113" dirty="0">
                <a:solidFill>
                  <a:srgbClr val="0100D4"/>
                </a:solidFill>
                <a:latin typeface="Arial MT"/>
                <a:cs typeface="Arial MT"/>
              </a:rPr>
              <a:t> </a:t>
            </a:r>
            <a:r>
              <a:rPr sz="2269" dirty="0">
                <a:latin typeface="Arial MT"/>
                <a:cs typeface="Arial MT"/>
              </a:rPr>
              <a:t>are</a:t>
            </a:r>
            <a:r>
              <a:rPr sz="2269" spc="73" dirty="0">
                <a:latin typeface="Arial MT"/>
                <a:cs typeface="Arial MT"/>
              </a:rPr>
              <a:t> </a:t>
            </a:r>
            <a:r>
              <a:rPr sz="2269" u="heavy" spc="91" dirty="0">
                <a:solidFill>
                  <a:srgbClr val="0AAA4D"/>
                </a:solidFill>
                <a:uFill>
                  <a:solidFill>
                    <a:srgbClr val="036080"/>
                  </a:solidFill>
                </a:uFill>
                <a:latin typeface="Arial MT"/>
                <a:cs typeface="Arial MT"/>
              </a:rPr>
              <a:t>distributed</a:t>
            </a:r>
            <a:r>
              <a:rPr sz="2269" spc="145" dirty="0">
                <a:solidFill>
                  <a:srgbClr val="0AAA4D"/>
                </a:solidFill>
                <a:latin typeface="Arial MT"/>
                <a:cs typeface="Arial MT"/>
              </a:rPr>
              <a:t> </a:t>
            </a:r>
            <a:r>
              <a:rPr sz="2269" dirty="0">
                <a:latin typeface="Arial MT"/>
                <a:cs typeface="Arial MT"/>
              </a:rPr>
              <a:t>to</a:t>
            </a:r>
            <a:r>
              <a:rPr sz="2269" spc="14" dirty="0">
                <a:latin typeface="Arial MT"/>
                <a:cs typeface="Arial MT"/>
              </a:rPr>
              <a:t> </a:t>
            </a:r>
            <a:r>
              <a:rPr sz="2269" spc="-9" dirty="0">
                <a:latin typeface="Arial MT"/>
                <a:cs typeface="Arial MT"/>
              </a:rPr>
              <a:t>appropriate </a:t>
            </a:r>
            <a:r>
              <a:rPr sz="2269" spc="91" dirty="0">
                <a:solidFill>
                  <a:srgbClr val="BF0005"/>
                </a:solidFill>
                <a:latin typeface="Arial MT"/>
                <a:cs typeface="Arial MT"/>
              </a:rPr>
              <a:t>functional</a:t>
            </a:r>
            <a:r>
              <a:rPr sz="2269" spc="250" dirty="0">
                <a:solidFill>
                  <a:srgbClr val="BF0005"/>
                </a:solidFill>
                <a:latin typeface="Arial MT"/>
                <a:cs typeface="Arial MT"/>
              </a:rPr>
              <a:t> </a:t>
            </a:r>
            <a:r>
              <a:rPr sz="2269" dirty="0">
                <a:solidFill>
                  <a:srgbClr val="C40000"/>
                </a:solidFill>
                <a:latin typeface="Arial MT"/>
                <a:cs typeface="Arial MT"/>
              </a:rPr>
              <a:t>areas</a:t>
            </a:r>
            <a:r>
              <a:rPr sz="2269" spc="263" dirty="0">
                <a:solidFill>
                  <a:srgbClr val="C40000"/>
                </a:solidFill>
                <a:latin typeface="Arial MT"/>
                <a:cs typeface="Arial MT"/>
              </a:rPr>
              <a:t> </a:t>
            </a:r>
            <a:r>
              <a:rPr sz="2269" dirty="0">
                <a:latin typeface="Arial MT"/>
                <a:cs typeface="Arial MT"/>
              </a:rPr>
              <a:t>(</a:t>
            </a:r>
            <a:r>
              <a:rPr sz="2269" u="heavy" dirty="0">
                <a:uFill>
                  <a:solidFill>
                    <a:srgbClr val="08A84F"/>
                  </a:solidFill>
                </a:uFill>
                <a:latin typeface="Arial MT"/>
                <a:cs typeface="Arial MT"/>
              </a:rPr>
              <a:t>e.s.</a:t>
            </a:r>
            <a:r>
              <a:rPr sz="2269" spc="118" dirty="0">
                <a:latin typeface="Arial MT"/>
                <a:cs typeface="Arial MT"/>
              </a:rPr>
              <a:t> </a:t>
            </a:r>
            <a:r>
              <a:rPr sz="2269" spc="41" dirty="0">
                <a:latin typeface="Arial MT"/>
                <a:cs typeface="Arial MT"/>
              </a:rPr>
              <a:t>departments).</a:t>
            </a:r>
            <a:endParaRPr sz="2269" dirty="0">
              <a:latin typeface="Arial MT"/>
              <a:cs typeface="Arial MT"/>
            </a:endParaRPr>
          </a:p>
          <a:p>
            <a:pPr marL="287587" marR="125639" indent="-276636">
              <a:lnSpc>
                <a:spcPct val="100400"/>
              </a:lnSpc>
              <a:spcBef>
                <a:spcPts val="1144"/>
              </a:spcBef>
              <a:buClr>
                <a:srgbClr val="0000CD"/>
              </a:buClr>
              <a:buChar char="•"/>
              <a:tabLst>
                <a:tab pos="287587" algn="l"/>
              </a:tabLst>
            </a:pPr>
            <a:r>
              <a:rPr sz="2269" spc="77" dirty="0">
                <a:solidFill>
                  <a:srgbClr val="0100C6"/>
                </a:solidFill>
                <a:latin typeface="Arial MT"/>
                <a:cs typeface="Arial MT"/>
              </a:rPr>
              <a:t>Coordination</a:t>
            </a:r>
            <a:r>
              <a:rPr sz="2269" spc="213" dirty="0">
                <a:solidFill>
                  <a:srgbClr val="0100C6"/>
                </a:solidFill>
                <a:latin typeface="Arial MT"/>
                <a:cs typeface="Arial MT"/>
              </a:rPr>
              <a:t> </a:t>
            </a:r>
            <a:r>
              <a:rPr sz="2269" dirty="0">
                <a:latin typeface="Arial MT"/>
                <a:cs typeface="Arial MT"/>
              </a:rPr>
              <a:t>is</a:t>
            </a:r>
            <a:r>
              <a:rPr sz="2269" spc="36" dirty="0">
                <a:latin typeface="Arial MT"/>
                <a:cs typeface="Arial MT"/>
              </a:rPr>
              <a:t> </a:t>
            </a:r>
            <a:r>
              <a:rPr sz="2269" u="heavy" spc="59" dirty="0">
                <a:solidFill>
                  <a:srgbClr val="00B34F"/>
                </a:solidFill>
                <a:uFill>
                  <a:solidFill>
                    <a:srgbClr val="08A84F"/>
                  </a:solidFill>
                </a:uFill>
                <a:latin typeface="Arial MT"/>
                <a:cs typeface="Arial MT"/>
              </a:rPr>
              <a:t>maintained</a:t>
            </a:r>
            <a:r>
              <a:rPr sz="2269" spc="222" dirty="0">
                <a:solidFill>
                  <a:srgbClr val="00B34F"/>
                </a:solidFill>
                <a:latin typeface="Arial MT"/>
                <a:cs typeface="Arial MT"/>
              </a:rPr>
              <a:t> </a:t>
            </a:r>
            <a:r>
              <a:rPr sz="2269" spc="103" dirty="0">
                <a:solidFill>
                  <a:srgbClr val="00B34D"/>
                </a:solidFill>
                <a:latin typeface="Arial MT"/>
                <a:cs typeface="Arial MT"/>
              </a:rPr>
              <a:t>through</a:t>
            </a:r>
            <a:r>
              <a:rPr sz="2269" spc="109" dirty="0">
                <a:solidFill>
                  <a:srgbClr val="00B34D"/>
                </a:solidFill>
                <a:latin typeface="Arial MT"/>
                <a:cs typeface="Arial MT"/>
              </a:rPr>
              <a:t> </a:t>
            </a:r>
            <a:r>
              <a:rPr sz="2269" spc="86" dirty="0">
                <a:solidFill>
                  <a:srgbClr val="0000CD"/>
                </a:solidFill>
                <a:latin typeface="Arial MT"/>
                <a:cs typeface="Arial MT"/>
              </a:rPr>
              <a:t>normal</a:t>
            </a:r>
            <a:r>
              <a:rPr sz="2269" spc="54" dirty="0">
                <a:solidFill>
                  <a:srgbClr val="0000CD"/>
                </a:solidFill>
                <a:latin typeface="Arial MT"/>
                <a:cs typeface="Arial MT"/>
              </a:rPr>
              <a:t> </a:t>
            </a:r>
            <a:r>
              <a:rPr sz="2269" spc="36" dirty="0">
                <a:solidFill>
                  <a:srgbClr val="0000BA"/>
                </a:solidFill>
                <a:latin typeface="Arial MT"/>
                <a:cs typeface="Arial MT"/>
              </a:rPr>
              <a:t>management </a:t>
            </a:r>
            <a:r>
              <a:rPr sz="2269" spc="50" dirty="0">
                <a:solidFill>
                  <a:srgbClr val="0001C6"/>
                </a:solidFill>
                <a:latin typeface="Arial MT"/>
                <a:cs typeface="Arial MT"/>
              </a:rPr>
              <a:t>channels.</a:t>
            </a:r>
            <a:endParaRPr sz="2269" dirty="0">
              <a:latin typeface="Arial MT"/>
              <a:cs typeface="Arial MT"/>
            </a:endParaRPr>
          </a:p>
          <a:p>
            <a:pPr marL="285858" marR="6340" indent="-274908">
              <a:lnSpc>
                <a:spcPct val="100400"/>
              </a:lnSpc>
              <a:spcBef>
                <a:spcPts val="1139"/>
              </a:spcBef>
              <a:buChar char="•"/>
              <a:tabLst>
                <a:tab pos="285858" algn="l"/>
                <a:tab pos="287010" algn="l"/>
              </a:tabLst>
            </a:pPr>
            <a:r>
              <a:rPr sz="2269" dirty="0">
                <a:latin typeface="Arial MT"/>
                <a:cs typeface="Arial MT"/>
              </a:rPr>
              <a:t>	Commonly</a:t>
            </a:r>
            <a:r>
              <a:rPr sz="2269" spc="204" dirty="0">
                <a:latin typeface="Arial MT"/>
                <a:cs typeface="Arial MT"/>
              </a:rPr>
              <a:t> </a:t>
            </a:r>
            <a:r>
              <a:rPr sz="2269" u="heavy" spc="68" dirty="0">
                <a:solidFill>
                  <a:srgbClr val="03AE4F"/>
                </a:solidFill>
                <a:uFill>
                  <a:solidFill>
                    <a:srgbClr val="037034"/>
                  </a:solidFill>
                </a:uFill>
                <a:latin typeface="Arial MT"/>
                <a:cs typeface="Arial MT"/>
              </a:rPr>
              <a:t>used</a:t>
            </a:r>
            <a:r>
              <a:rPr sz="2269" spc="54" dirty="0">
                <a:solidFill>
                  <a:srgbClr val="03AE4F"/>
                </a:solidFill>
                <a:latin typeface="Arial MT"/>
                <a:cs typeface="Arial MT"/>
              </a:rPr>
              <a:t> </a:t>
            </a:r>
            <a:r>
              <a:rPr sz="2269" u="heavy" spc="64" dirty="0">
                <a:uFill>
                  <a:solidFill>
                    <a:srgbClr val="037034"/>
                  </a:solidFill>
                </a:uFill>
                <a:latin typeface="Arial MT"/>
                <a:cs typeface="Arial MT"/>
              </a:rPr>
              <a:t>when</a:t>
            </a:r>
            <a:r>
              <a:rPr sz="2269" spc="68" dirty="0">
                <a:latin typeface="Arial MT"/>
                <a:cs typeface="Arial MT"/>
              </a:rPr>
              <a:t> </a:t>
            </a:r>
            <a:r>
              <a:rPr sz="2269" spc="59" dirty="0">
                <a:solidFill>
                  <a:srgbClr val="B50308"/>
                </a:solidFill>
                <a:latin typeface="Arial MT"/>
                <a:cs typeface="Arial MT"/>
              </a:rPr>
              <a:t>one</a:t>
            </a:r>
            <a:r>
              <a:rPr sz="2269" spc="9" dirty="0">
                <a:solidFill>
                  <a:srgbClr val="B50308"/>
                </a:solidFill>
                <a:latin typeface="Arial MT"/>
                <a:cs typeface="Arial MT"/>
              </a:rPr>
              <a:t> </a:t>
            </a:r>
            <a:r>
              <a:rPr sz="2269" spc="91" dirty="0">
                <a:solidFill>
                  <a:srgbClr val="C10000"/>
                </a:solidFill>
                <a:latin typeface="Arial MT"/>
                <a:cs typeface="Arial MT"/>
              </a:rPr>
              <a:t>functional</a:t>
            </a:r>
            <a:r>
              <a:rPr sz="2269" spc="113" dirty="0">
                <a:solidFill>
                  <a:srgbClr val="C10000"/>
                </a:solidFill>
                <a:latin typeface="Arial MT"/>
                <a:cs typeface="Arial MT"/>
              </a:rPr>
              <a:t> </a:t>
            </a:r>
            <a:r>
              <a:rPr sz="2269" dirty="0">
                <a:solidFill>
                  <a:srgbClr val="BF0005"/>
                </a:solidFill>
                <a:latin typeface="Arial MT"/>
                <a:cs typeface="Arial MT"/>
              </a:rPr>
              <a:t>area</a:t>
            </a:r>
            <a:r>
              <a:rPr sz="2269" spc="145" dirty="0">
                <a:solidFill>
                  <a:srgbClr val="BF0005"/>
                </a:solidFill>
                <a:latin typeface="Arial MT"/>
                <a:cs typeface="Arial MT"/>
              </a:rPr>
              <a:t> </a:t>
            </a:r>
            <a:r>
              <a:rPr lang="en-US" sz="3403" u="heavy" spc="94" baseline="1111" dirty="0">
                <a:solidFill>
                  <a:srgbClr val="00AF4D"/>
                </a:solidFill>
                <a:uFill>
                  <a:solidFill>
                    <a:srgbClr val="037034"/>
                  </a:solidFill>
                </a:uFill>
                <a:latin typeface="Arial MT"/>
                <a:cs typeface="Arial MT"/>
              </a:rPr>
              <a:t>plays</a:t>
            </a:r>
            <a:r>
              <a:rPr sz="3403" spc="109" baseline="1111" dirty="0">
                <a:solidFill>
                  <a:srgbClr val="00AF4D"/>
                </a:solidFill>
                <a:latin typeface="Arial MT"/>
                <a:cs typeface="Arial MT"/>
              </a:rPr>
              <a:t> </a:t>
            </a:r>
            <a:r>
              <a:rPr sz="2269" spc="64" dirty="0">
                <a:solidFill>
                  <a:srgbClr val="0101C4"/>
                </a:solidFill>
                <a:latin typeface="Arial MT"/>
                <a:cs typeface="Arial MT"/>
              </a:rPr>
              <a:t>dominant </a:t>
            </a:r>
            <a:r>
              <a:rPr sz="2269" spc="77" dirty="0">
                <a:solidFill>
                  <a:srgbClr val="0000D3"/>
                </a:solidFill>
                <a:latin typeface="Arial MT"/>
                <a:cs typeface="Arial MT"/>
              </a:rPr>
              <a:t>role</a:t>
            </a:r>
            <a:r>
              <a:rPr sz="2269" spc="-23" dirty="0">
                <a:solidFill>
                  <a:srgbClr val="0000D3"/>
                </a:solidFill>
                <a:latin typeface="Arial MT"/>
                <a:cs typeface="Arial MT"/>
              </a:rPr>
              <a:t> </a:t>
            </a:r>
            <a:r>
              <a:rPr sz="2269" dirty="0">
                <a:latin typeface="Arial MT"/>
                <a:cs typeface="Arial MT"/>
              </a:rPr>
              <a:t>in</a:t>
            </a:r>
            <a:r>
              <a:rPr sz="2269" spc="-9" dirty="0">
                <a:latin typeface="Arial MT"/>
                <a:cs typeface="Arial MT"/>
              </a:rPr>
              <a:t> </a:t>
            </a:r>
            <a:r>
              <a:rPr sz="2269" u="heavy" spc="82" dirty="0" err="1">
                <a:solidFill>
                  <a:srgbClr val="00B54B"/>
                </a:solidFill>
                <a:uFill>
                  <a:solidFill>
                    <a:srgbClr val="08A84F"/>
                  </a:solidFill>
                </a:uFill>
                <a:latin typeface="Arial MT"/>
                <a:cs typeface="Arial MT"/>
              </a:rPr>
              <a:t>com</a:t>
            </a:r>
            <a:r>
              <a:rPr lang="en-US" sz="2269" u="heavy" spc="82" dirty="0" err="1">
                <a:solidFill>
                  <a:srgbClr val="00B54B"/>
                </a:solidFill>
                <a:uFill>
                  <a:solidFill>
                    <a:srgbClr val="08A84F"/>
                  </a:solidFill>
                </a:uFill>
                <a:latin typeface="Arial MT"/>
                <a:cs typeface="Arial MT"/>
              </a:rPr>
              <a:t>p</a:t>
            </a:r>
            <a:r>
              <a:rPr sz="2269" u="heavy" spc="82" dirty="0" err="1">
                <a:solidFill>
                  <a:srgbClr val="00B54B"/>
                </a:solidFill>
                <a:uFill>
                  <a:solidFill>
                    <a:srgbClr val="08A84F"/>
                  </a:solidFill>
                </a:uFill>
                <a:latin typeface="Arial MT"/>
                <a:cs typeface="Arial MT"/>
              </a:rPr>
              <a:t>letinq</a:t>
            </a:r>
            <a:r>
              <a:rPr sz="2269" spc="136" dirty="0">
                <a:solidFill>
                  <a:srgbClr val="00B54B"/>
                </a:solidFill>
                <a:latin typeface="Arial MT"/>
                <a:cs typeface="Arial MT"/>
              </a:rPr>
              <a:t> </a:t>
            </a:r>
            <a:r>
              <a:rPr sz="2269" spc="77" dirty="0">
                <a:latin typeface="Arial MT"/>
                <a:cs typeface="Arial MT"/>
              </a:rPr>
              <a:t>project,</a:t>
            </a:r>
            <a:r>
              <a:rPr sz="2269" spc="5" dirty="0">
                <a:latin typeface="Arial MT"/>
                <a:cs typeface="Arial MT"/>
              </a:rPr>
              <a:t> </a:t>
            </a:r>
            <a:r>
              <a:rPr sz="2269" dirty="0">
                <a:latin typeface="Arial MT"/>
                <a:cs typeface="Arial MT"/>
              </a:rPr>
              <a:t>or</a:t>
            </a:r>
            <a:r>
              <a:rPr sz="2269" spc="18" dirty="0">
                <a:latin typeface="Arial MT"/>
                <a:cs typeface="Arial MT"/>
              </a:rPr>
              <a:t> </a:t>
            </a:r>
            <a:r>
              <a:rPr sz="2269" dirty="0">
                <a:latin typeface="Arial MT"/>
                <a:cs typeface="Arial MT"/>
              </a:rPr>
              <a:t>has</a:t>
            </a:r>
            <a:r>
              <a:rPr sz="2269" spc="18" dirty="0">
                <a:latin typeface="Arial MT"/>
                <a:cs typeface="Arial MT"/>
              </a:rPr>
              <a:t> </a:t>
            </a:r>
            <a:r>
              <a:rPr sz="2269" dirty="0">
                <a:latin typeface="Arial MT"/>
                <a:cs typeface="Arial MT"/>
              </a:rPr>
              <a:t>dominant</a:t>
            </a:r>
            <a:r>
              <a:rPr sz="2269" spc="132" dirty="0">
                <a:latin typeface="Arial MT"/>
                <a:cs typeface="Arial MT"/>
              </a:rPr>
              <a:t> </a:t>
            </a:r>
            <a:r>
              <a:rPr sz="2269" dirty="0">
                <a:latin typeface="Arial MT"/>
                <a:cs typeface="Arial MT"/>
              </a:rPr>
              <a:t>interest</a:t>
            </a:r>
            <a:r>
              <a:rPr sz="2269" spc="86" dirty="0">
                <a:latin typeface="Arial MT"/>
                <a:cs typeface="Arial MT"/>
              </a:rPr>
              <a:t> </a:t>
            </a:r>
            <a:r>
              <a:rPr sz="2269" spc="-23" dirty="0">
                <a:latin typeface="Arial MT"/>
                <a:cs typeface="Arial MT"/>
              </a:rPr>
              <a:t>in </a:t>
            </a:r>
            <a:r>
              <a:rPr sz="2269" dirty="0">
                <a:latin typeface="Arial MT"/>
                <a:cs typeface="Arial MT"/>
              </a:rPr>
              <a:t>success</a:t>
            </a:r>
            <a:r>
              <a:rPr sz="2269" spc="41" dirty="0">
                <a:latin typeface="Arial MT"/>
                <a:cs typeface="Arial MT"/>
              </a:rPr>
              <a:t> </a:t>
            </a:r>
            <a:r>
              <a:rPr sz="2269" dirty="0">
                <a:latin typeface="Arial MT"/>
                <a:cs typeface="Arial MT"/>
              </a:rPr>
              <a:t>of</a:t>
            </a:r>
            <a:r>
              <a:rPr sz="2269" spc="-68" dirty="0">
                <a:latin typeface="Arial MT"/>
                <a:cs typeface="Arial MT"/>
              </a:rPr>
              <a:t> </a:t>
            </a:r>
            <a:r>
              <a:rPr sz="2269" spc="-9" dirty="0">
                <a:latin typeface="Arial MT"/>
                <a:cs typeface="Arial MT"/>
              </a:rPr>
              <a:t>project.</a:t>
            </a:r>
            <a:endParaRPr sz="2269" dirty="0">
              <a:latin typeface="Arial MT"/>
              <a:cs typeface="Arial MT"/>
            </a:endParaRPr>
          </a:p>
        </p:txBody>
      </p:sp>
      <p:pic>
        <p:nvPicPr>
          <p:cNvPr id="4" name="Picture 3">
            <a:extLst>
              <a:ext uri="{FF2B5EF4-FFF2-40B4-BE49-F238E27FC236}">
                <a16:creationId xmlns:a16="http://schemas.microsoft.com/office/drawing/2014/main" id="{68A39C2D-9B90-5CD7-38F9-7737777FD98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15600" y="1"/>
            <a:ext cx="1686150" cy="936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0631358" y="58331"/>
            <a:ext cx="1491574" cy="534930"/>
          </a:xfrm>
          <a:prstGeom prst="rect">
            <a:avLst/>
          </a:prstGeom>
        </p:spPr>
      </p:pic>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Functional Organization</a:t>
            </a:r>
            <a:r>
              <a:rPr lang="en-US" b="1" u="sng" spc="114" dirty="0">
                <a:solidFill>
                  <a:srgbClr val="FF0000"/>
                </a:solidFill>
              </a:rPr>
              <a:t> example</a:t>
            </a:r>
            <a:r>
              <a:rPr b="1" u="sng" spc="114" dirty="0">
                <a:solidFill>
                  <a:srgbClr val="FF0000"/>
                </a:solidFill>
              </a:rPr>
              <a:t> </a:t>
            </a:r>
            <a:r>
              <a:rPr sz="1950" spc="-10" dirty="0"/>
              <a:t>(1/4)</a:t>
            </a:r>
            <a:endParaRPr sz="1950" dirty="0"/>
          </a:p>
        </p:txBody>
      </p:sp>
      <p:pic>
        <p:nvPicPr>
          <p:cNvPr id="4" name="object 4"/>
          <p:cNvPicPr/>
          <p:nvPr/>
        </p:nvPicPr>
        <p:blipFill>
          <a:blip r:embed="rId4" cstate="print"/>
          <a:stretch>
            <a:fillRect/>
          </a:stretch>
        </p:blipFill>
        <p:spPr>
          <a:xfrm>
            <a:off x="1505855" y="1690687"/>
            <a:ext cx="9203262" cy="4802188"/>
          </a:xfrm>
          <a:prstGeom prst="rect">
            <a:avLst/>
          </a:prstGeom>
        </p:spPr>
      </p:pic>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30</a:t>
            </a:fld>
            <a:endParaRPr spc="-50" dirty="0"/>
          </a:p>
        </p:txBody>
      </p:sp>
      <p:pic>
        <p:nvPicPr>
          <p:cNvPr id="6" name="Picture 5">
            <a:extLst>
              <a:ext uri="{FF2B5EF4-FFF2-40B4-BE49-F238E27FC236}">
                <a16:creationId xmlns:a16="http://schemas.microsoft.com/office/drawing/2014/main" id="{12CCAE32-50CB-3154-DF62-3AF2A0C98F6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E0C37E-99D0-4EB0-A3EB-DCE667B57E81}"/>
              </a:ext>
            </a:extLst>
          </p:cNvPr>
          <p:cNvPicPr>
            <a:picLocks noChangeAspect="1"/>
          </p:cNvPicPr>
          <p:nvPr/>
        </p:nvPicPr>
        <p:blipFill>
          <a:blip r:embed="rId3"/>
          <a:stretch>
            <a:fillRect/>
          </a:stretch>
        </p:blipFill>
        <p:spPr>
          <a:xfrm>
            <a:off x="652462" y="1676400"/>
            <a:ext cx="10887075" cy="5000625"/>
          </a:xfrm>
          <a:prstGeom prst="rect">
            <a:avLst/>
          </a:prstGeom>
        </p:spPr>
      </p:pic>
      <p:pic>
        <p:nvPicPr>
          <p:cNvPr id="3" name="Picture 2">
            <a:extLst>
              <a:ext uri="{FF2B5EF4-FFF2-40B4-BE49-F238E27FC236}">
                <a16:creationId xmlns:a16="http://schemas.microsoft.com/office/drawing/2014/main" id="{09168CF9-6496-EB8B-92A6-83AD2EC72EA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3">
            <a:extLst>
              <a:ext uri="{FF2B5EF4-FFF2-40B4-BE49-F238E27FC236}">
                <a16:creationId xmlns:a16="http://schemas.microsoft.com/office/drawing/2014/main" id="{897EAFDF-9661-4E61-A640-493C37364852}"/>
              </a:ext>
            </a:extLst>
          </p:cNvPr>
          <p:cNvSpPr txBox="1">
            <a:spLocks noGrp="1"/>
          </p:cNvSpPr>
          <p:nvPr>
            <p:ph type="title"/>
          </p:nvPr>
        </p:nvSpPr>
        <p:spPr>
          <a:xfrm>
            <a:off x="917575" y="615950"/>
            <a:ext cx="11233150" cy="685800"/>
          </a:xfrm>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Functional Organization</a:t>
            </a:r>
            <a:r>
              <a:rPr lang="en-US" b="1" u="sng" spc="114" dirty="0">
                <a:solidFill>
                  <a:srgbClr val="FF0000"/>
                </a:solidFill>
              </a:rPr>
              <a:t> example</a:t>
            </a:r>
            <a:r>
              <a:rPr b="1" u="sng" spc="114" dirty="0">
                <a:solidFill>
                  <a:srgbClr val="FF0000"/>
                </a:solidFill>
              </a:rPr>
              <a:t> </a:t>
            </a:r>
            <a:r>
              <a:rPr sz="1950" spc="-10" dirty="0"/>
              <a:t>(1/4)</a:t>
            </a:r>
            <a:endParaRPr sz="1950" dirty="0"/>
          </a:p>
        </p:txBody>
      </p:sp>
    </p:spTree>
    <p:extLst>
      <p:ext uri="{BB962C8B-B14F-4D97-AF65-F5344CB8AC3E}">
        <p14:creationId xmlns:p14="http://schemas.microsoft.com/office/powerpoint/2010/main" val="17765945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409361"/>
            <a:ext cx="10357485" cy="5019675"/>
          </a:xfrm>
          <a:prstGeom prst="rect">
            <a:avLst/>
          </a:prstGeom>
        </p:spPr>
        <p:txBody>
          <a:bodyPr vert="horz" wrap="square" lIns="0" tIns="121285" rIns="0" bIns="0" rtlCol="0">
            <a:spAutoFit/>
          </a:bodyPr>
          <a:lstStyle/>
          <a:p>
            <a:pPr marL="240665" indent="-227965" algn="just">
              <a:lnSpc>
                <a:spcPct val="100000"/>
              </a:lnSpc>
              <a:spcBef>
                <a:spcPts val="955"/>
              </a:spcBef>
              <a:buFont typeface="Arial MT"/>
              <a:buChar char="•"/>
              <a:tabLst>
                <a:tab pos="240665" algn="l"/>
              </a:tabLst>
            </a:pPr>
            <a:r>
              <a:rPr sz="2800" b="1" u="heavy" spc="-10" dirty="0">
                <a:solidFill>
                  <a:srgbClr val="C00000"/>
                </a:solidFill>
                <a:uFill>
                  <a:solidFill>
                    <a:srgbClr val="C00000"/>
                  </a:solidFill>
                </a:uFill>
                <a:latin typeface="Calibri"/>
                <a:cs typeface="Calibri"/>
              </a:rPr>
              <a:t>Advantages</a:t>
            </a:r>
            <a:endParaRPr sz="2800" dirty="0">
              <a:latin typeface="Calibri"/>
              <a:cs typeface="Calibri"/>
            </a:endParaRPr>
          </a:p>
          <a:p>
            <a:pPr marL="466090" marR="5715" lvl="1" indent="-307975" algn="just">
              <a:lnSpc>
                <a:spcPts val="2590"/>
              </a:lnSpc>
              <a:spcBef>
                <a:spcPts val="1065"/>
              </a:spcBef>
              <a:buAutoNum type="arabicPeriod"/>
              <a:tabLst>
                <a:tab pos="467995" algn="l"/>
              </a:tabLst>
            </a:pPr>
            <a:r>
              <a:rPr sz="2400" b="1" dirty="0">
                <a:latin typeface="Calibri"/>
                <a:cs typeface="Calibri"/>
              </a:rPr>
              <a:t>No</a:t>
            </a:r>
            <a:r>
              <a:rPr sz="2400" b="1" spc="40" dirty="0">
                <a:latin typeface="Calibri"/>
                <a:cs typeface="Calibri"/>
              </a:rPr>
              <a:t> </a:t>
            </a:r>
            <a:r>
              <a:rPr sz="2400" b="1" dirty="0">
                <a:latin typeface="Calibri"/>
                <a:cs typeface="Calibri"/>
              </a:rPr>
              <a:t>Change.</a:t>
            </a:r>
            <a:r>
              <a:rPr sz="2400" b="1" spc="45" dirty="0">
                <a:latin typeface="Calibri"/>
                <a:cs typeface="Calibri"/>
              </a:rPr>
              <a:t> </a:t>
            </a:r>
            <a:r>
              <a:rPr sz="2400" dirty="0">
                <a:latin typeface="Calibri"/>
                <a:cs typeface="Calibri"/>
              </a:rPr>
              <a:t>Projects</a:t>
            </a:r>
            <a:r>
              <a:rPr sz="2400" spc="50" dirty="0">
                <a:latin typeface="Calibri"/>
                <a:cs typeface="Calibri"/>
              </a:rPr>
              <a:t> </a:t>
            </a:r>
            <a:r>
              <a:rPr sz="2400" dirty="0">
                <a:latin typeface="Calibri"/>
                <a:cs typeface="Calibri"/>
              </a:rPr>
              <a:t>are</a:t>
            </a:r>
            <a:r>
              <a:rPr sz="2400" spc="55" dirty="0">
                <a:latin typeface="Calibri"/>
                <a:cs typeface="Calibri"/>
              </a:rPr>
              <a:t> </a:t>
            </a:r>
            <a:r>
              <a:rPr sz="2400" dirty="0">
                <a:latin typeface="Calibri"/>
                <a:cs typeface="Calibri"/>
              </a:rPr>
              <a:t>completed</a:t>
            </a:r>
            <a:r>
              <a:rPr sz="2400" spc="50" dirty="0">
                <a:latin typeface="Calibri"/>
                <a:cs typeface="Calibri"/>
              </a:rPr>
              <a:t> </a:t>
            </a:r>
            <a:r>
              <a:rPr sz="2400" dirty="0">
                <a:latin typeface="Calibri"/>
                <a:cs typeface="Calibri"/>
              </a:rPr>
              <a:t>within</a:t>
            </a:r>
            <a:r>
              <a:rPr sz="2400" spc="50" dirty="0">
                <a:latin typeface="Calibri"/>
                <a:cs typeface="Calibri"/>
              </a:rPr>
              <a:t> </a:t>
            </a:r>
            <a:r>
              <a:rPr sz="2400" dirty="0">
                <a:latin typeface="Calibri"/>
                <a:cs typeface="Calibri"/>
              </a:rPr>
              <a:t>the</a:t>
            </a:r>
            <a:r>
              <a:rPr sz="2400" spc="55" dirty="0">
                <a:latin typeface="Calibri"/>
                <a:cs typeface="Calibri"/>
              </a:rPr>
              <a:t> </a:t>
            </a:r>
            <a:r>
              <a:rPr sz="2400" dirty="0">
                <a:latin typeface="Calibri"/>
                <a:cs typeface="Calibri"/>
              </a:rPr>
              <a:t>basic</a:t>
            </a:r>
            <a:r>
              <a:rPr sz="2400" spc="45" dirty="0">
                <a:latin typeface="Calibri"/>
                <a:cs typeface="Calibri"/>
              </a:rPr>
              <a:t> </a:t>
            </a:r>
            <a:r>
              <a:rPr sz="2400" dirty="0">
                <a:latin typeface="Calibri"/>
                <a:cs typeface="Calibri"/>
              </a:rPr>
              <a:t>functional</a:t>
            </a:r>
            <a:r>
              <a:rPr sz="2400" spc="45" dirty="0">
                <a:latin typeface="Calibri"/>
                <a:cs typeface="Calibri"/>
              </a:rPr>
              <a:t> </a:t>
            </a:r>
            <a:r>
              <a:rPr sz="2400" dirty="0">
                <a:latin typeface="Calibri"/>
                <a:cs typeface="Calibri"/>
              </a:rPr>
              <a:t>structure</a:t>
            </a:r>
            <a:r>
              <a:rPr sz="2400" spc="50" dirty="0">
                <a:latin typeface="Calibri"/>
                <a:cs typeface="Calibri"/>
              </a:rPr>
              <a:t> </a:t>
            </a:r>
            <a:r>
              <a:rPr sz="2400" dirty="0">
                <a:latin typeface="Calibri"/>
                <a:cs typeface="Calibri"/>
              </a:rPr>
              <a:t>of</a:t>
            </a:r>
            <a:r>
              <a:rPr sz="2400" spc="55" dirty="0">
                <a:latin typeface="Calibri"/>
                <a:cs typeface="Calibri"/>
              </a:rPr>
              <a:t> </a:t>
            </a:r>
            <a:r>
              <a:rPr sz="2400" spc="-25" dirty="0">
                <a:latin typeface="Calibri"/>
                <a:cs typeface="Calibri"/>
              </a:rPr>
              <a:t>the 	</a:t>
            </a:r>
            <a:r>
              <a:rPr sz="2400" dirty="0">
                <a:latin typeface="Calibri"/>
                <a:cs typeface="Calibri"/>
              </a:rPr>
              <a:t>parent</a:t>
            </a:r>
            <a:r>
              <a:rPr sz="2400" spc="-130" dirty="0">
                <a:latin typeface="Calibri"/>
                <a:cs typeface="Calibri"/>
              </a:rPr>
              <a:t> </a:t>
            </a:r>
            <a:r>
              <a:rPr sz="2400" spc="-10" dirty="0">
                <a:latin typeface="Calibri"/>
                <a:cs typeface="Calibri"/>
              </a:rPr>
              <a:t>organization.</a:t>
            </a:r>
            <a:endParaRPr sz="2400" dirty="0">
              <a:latin typeface="Calibri"/>
              <a:cs typeface="Calibri"/>
            </a:endParaRPr>
          </a:p>
          <a:p>
            <a:pPr marL="466090" marR="5080" lvl="1" indent="-307975" algn="just">
              <a:lnSpc>
                <a:spcPct val="89400"/>
              </a:lnSpc>
              <a:spcBef>
                <a:spcPts val="990"/>
              </a:spcBef>
              <a:buAutoNum type="arabicPeriod"/>
              <a:tabLst>
                <a:tab pos="467995" algn="l"/>
              </a:tabLst>
            </a:pPr>
            <a:r>
              <a:rPr sz="2400" b="1" dirty="0">
                <a:latin typeface="Calibri"/>
                <a:cs typeface="Calibri"/>
              </a:rPr>
              <a:t>Flexibility.</a:t>
            </a:r>
            <a:r>
              <a:rPr sz="2400" b="1" spc="160" dirty="0">
                <a:latin typeface="Calibri"/>
                <a:cs typeface="Calibri"/>
              </a:rPr>
              <a:t>  </a:t>
            </a:r>
            <a:r>
              <a:rPr sz="2400" dirty="0">
                <a:solidFill>
                  <a:srgbClr val="262EA4"/>
                </a:solidFill>
                <a:latin typeface="Calibri"/>
                <a:cs typeface="Calibri"/>
              </a:rPr>
              <a:t>There</a:t>
            </a:r>
            <a:r>
              <a:rPr sz="2400" spc="170" dirty="0">
                <a:solidFill>
                  <a:srgbClr val="262EA4"/>
                </a:solidFill>
                <a:latin typeface="Calibri"/>
                <a:cs typeface="Calibri"/>
              </a:rPr>
              <a:t>  </a:t>
            </a:r>
            <a:r>
              <a:rPr sz="2400" dirty="0">
                <a:solidFill>
                  <a:srgbClr val="262EA4"/>
                </a:solidFill>
                <a:latin typeface="Calibri"/>
                <a:cs typeface="Calibri"/>
              </a:rPr>
              <a:t>is</a:t>
            </a:r>
            <a:r>
              <a:rPr sz="2400" spc="160" dirty="0">
                <a:solidFill>
                  <a:srgbClr val="262EA4"/>
                </a:solidFill>
                <a:latin typeface="Calibri"/>
                <a:cs typeface="Calibri"/>
              </a:rPr>
              <a:t>  </a:t>
            </a:r>
            <a:r>
              <a:rPr sz="2400" dirty="0">
                <a:solidFill>
                  <a:srgbClr val="262EA4"/>
                </a:solidFill>
                <a:latin typeface="Calibri"/>
                <a:cs typeface="Calibri"/>
              </a:rPr>
              <a:t>maximum</a:t>
            </a:r>
            <a:r>
              <a:rPr sz="2400" spc="165" dirty="0">
                <a:solidFill>
                  <a:srgbClr val="262EA4"/>
                </a:solidFill>
                <a:latin typeface="Calibri"/>
                <a:cs typeface="Calibri"/>
              </a:rPr>
              <a:t>  </a:t>
            </a:r>
            <a:r>
              <a:rPr sz="2400" dirty="0">
                <a:solidFill>
                  <a:srgbClr val="262EA4"/>
                </a:solidFill>
                <a:latin typeface="Calibri"/>
                <a:cs typeface="Calibri"/>
              </a:rPr>
              <a:t>flexibility</a:t>
            </a:r>
            <a:r>
              <a:rPr sz="2400" spc="165" dirty="0">
                <a:solidFill>
                  <a:srgbClr val="262EA4"/>
                </a:solidFill>
                <a:latin typeface="Calibri"/>
                <a:cs typeface="Calibri"/>
              </a:rPr>
              <a:t>  </a:t>
            </a:r>
            <a:r>
              <a:rPr sz="2400" dirty="0">
                <a:solidFill>
                  <a:srgbClr val="262EA4"/>
                </a:solidFill>
                <a:latin typeface="Calibri"/>
                <a:cs typeface="Calibri"/>
              </a:rPr>
              <a:t>in</a:t>
            </a:r>
            <a:r>
              <a:rPr sz="2400" spc="165" dirty="0">
                <a:solidFill>
                  <a:srgbClr val="262EA4"/>
                </a:solidFill>
                <a:latin typeface="Calibri"/>
                <a:cs typeface="Calibri"/>
              </a:rPr>
              <a:t>  </a:t>
            </a:r>
            <a:r>
              <a:rPr sz="2400" dirty="0">
                <a:solidFill>
                  <a:srgbClr val="262EA4"/>
                </a:solidFill>
                <a:latin typeface="Calibri"/>
                <a:cs typeface="Calibri"/>
              </a:rPr>
              <a:t>the</a:t>
            </a:r>
            <a:r>
              <a:rPr sz="2400" spc="165" dirty="0">
                <a:solidFill>
                  <a:srgbClr val="262EA4"/>
                </a:solidFill>
                <a:latin typeface="Calibri"/>
                <a:cs typeface="Calibri"/>
              </a:rPr>
              <a:t>  </a:t>
            </a:r>
            <a:r>
              <a:rPr sz="2400" dirty="0">
                <a:solidFill>
                  <a:srgbClr val="262EA4"/>
                </a:solidFill>
                <a:latin typeface="Calibri"/>
                <a:cs typeface="Calibri"/>
              </a:rPr>
              <a:t>use</a:t>
            </a:r>
            <a:r>
              <a:rPr sz="2400" spc="170" dirty="0">
                <a:solidFill>
                  <a:srgbClr val="262EA4"/>
                </a:solidFill>
                <a:latin typeface="Calibri"/>
                <a:cs typeface="Calibri"/>
              </a:rPr>
              <a:t>  </a:t>
            </a:r>
            <a:r>
              <a:rPr sz="2400" dirty="0">
                <a:solidFill>
                  <a:srgbClr val="262EA4"/>
                </a:solidFill>
                <a:latin typeface="Calibri"/>
                <a:cs typeface="Calibri"/>
              </a:rPr>
              <a:t>of</a:t>
            </a:r>
            <a:r>
              <a:rPr sz="2400" spc="165" dirty="0">
                <a:solidFill>
                  <a:srgbClr val="262EA4"/>
                </a:solidFill>
                <a:latin typeface="Calibri"/>
                <a:cs typeface="Calibri"/>
              </a:rPr>
              <a:t>  </a:t>
            </a:r>
            <a:r>
              <a:rPr sz="2400" dirty="0">
                <a:solidFill>
                  <a:srgbClr val="262EA4"/>
                </a:solidFill>
                <a:latin typeface="Calibri"/>
                <a:cs typeface="Calibri"/>
              </a:rPr>
              <a:t>staff.</a:t>
            </a:r>
            <a:r>
              <a:rPr sz="2400" spc="160" dirty="0">
                <a:solidFill>
                  <a:srgbClr val="262EA4"/>
                </a:solidFill>
                <a:latin typeface="Calibri"/>
                <a:cs typeface="Calibri"/>
              </a:rPr>
              <a:t>  </a:t>
            </a:r>
            <a:r>
              <a:rPr sz="2400" spc="-10" dirty="0">
                <a:solidFill>
                  <a:srgbClr val="262EA4"/>
                </a:solidFill>
                <a:latin typeface="Calibri"/>
                <a:cs typeface="Calibri"/>
              </a:rPr>
              <a:t>Appropriate 	</a:t>
            </a:r>
            <a:r>
              <a:rPr sz="2400" dirty="0">
                <a:solidFill>
                  <a:srgbClr val="262EA4"/>
                </a:solidFill>
                <a:latin typeface="Calibri"/>
                <a:cs typeface="Calibri"/>
              </a:rPr>
              <a:t>specialists</a:t>
            </a:r>
            <a:r>
              <a:rPr sz="2400" spc="90" dirty="0">
                <a:solidFill>
                  <a:srgbClr val="262EA4"/>
                </a:solidFill>
                <a:latin typeface="Calibri"/>
                <a:cs typeface="Calibri"/>
              </a:rPr>
              <a:t> </a:t>
            </a:r>
            <a:r>
              <a:rPr sz="2400" dirty="0">
                <a:solidFill>
                  <a:srgbClr val="262EA4"/>
                </a:solidFill>
                <a:latin typeface="Calibri"/>
                <a:cs typeface="Calibri"/>
              </a:rPr>
              <a:t>in</a:t>
            </a:r>
            <a:r>
              <a:rPr sz="2400" spc="100" dirty="0">
                <a:solidFill>
                  <a:srgbClr val="262EA4"/>
                </a:solidFill>
                <a:latin typeface="Calibri"/>
                <a:cs typeface="Calibri"/>
              </a:rPr>
              <a:t> </a:t>
            </a:r>
            <a:r>
              <a:rPr sz="2400" dirty="0">
                <a:solidFill>
                  <a:srgbClr val="262EA4"/>
                </a:solidFill>
                <a:latin typeface="Calibri"/>
                <a:cs typeface="Calibri"/>
              </a:rPr>
              <a:t>different</a:t>
            </a:r>
            <a:r>
              <a:rPr sz="2400" spc="100" dirty="0">
                <a:solidFill>
                  <a:srgbClr val="262EA4"/>
                </a:solidFill>
                <a:latin typeface="Calibri"/>
                <a:cs typeface="Calibri"/>
              </a:rPr>
              <a:t> </a:t>
            </a:r>
            <a:r>
              <a:rPr sz="2400" dirty="0">
                <a:solidFill>
                  <a:srgbClr val="262EA4"/>
                </a:solidFill>
                <a:latin typeface="Calibri"/>
                <a:cs typeface="Calibri"/>
              </a:rPr>
              <a:t>functional</a:t>
            </a:r>
            <a:r>
              <a:rPr sz="2400" spc="95" dirty="0">
                <a:solidFill>
                  <a:srgbClr val="262EA4"/>
                </a:solidFill>
                <a:latin typeface="Calibri"/>
                <a:cs typeface="Calibri"/>
              </a:rPr>
              <a:t> </a:t>
            </a:r>
            <a:r>
              <a:rPr sz="2400" dirty="0">
                <a:solidFill>
                  <a:srgbClr val="262EA4"/>
                </a:solidFill>
                <a:latin typeface="Calibri"/>
                <a:cs typeface="Calibri"/>
              </a:rPr>
              <a:t>units</a:t>
            </a:r>
            <a:r>
              <a:rPr sz="2400" spc="100" dirty="0">
                <a:solidFill>
                  <a:srgbClr val="262EA4"/>
                </a:solidFill>
                <a:latin typeface="Calibri"/>
                <a:cs typeface="Calibri"/>
              </a:rPr>
              <a:t> </a:t>
            </a:r>
            <a:r>
              <a:rPr sz="2400" dirty="0">
                <a:solidFill>
                  <a:srgbClr val="262EA4"/>
                </a:solidFill>
                <a:latin typeface="Calibri"/>
                <a:cs typeface="Calibri"/>
              </a:rPr>
              <a:t>can</a:t>
            </a:r>
            <a:r>
              <a:rPr sz="2400" spc="100" dirty="0">
                <a:solidFill>
                  <a:srgbClr val="262EA4"/>
                </a:solidFill>
                <a:latin typeface="Calibri"/>
                <a:cs typeface="Calibri"/>
              </a:rPr>
              <a:t> </a:t>
            </a:r>
            <a:r>
              <a:rPr sz="2400" dirty="0">
                <a:solidFill>
                  <a:srgbClr val="262EA4"/>
                </a:solidFill>
                <a:latin typeface="Calibri"/>
                <a:cs typeface="Calibri"/>
              </a:rPr>
              <a:t>temporarily</a:t>
            </a:r>
            <a:r>
              <a:rPr sz="2400" spc="100" dirty="0">
                <a:solidFill>
                  <a:srgbClr val="262EA4"/>
                </a:solidFill>
                <a:latin typeface="Calibri"/>
                <a:cs typeface="Calibri"/>
              </a:rPr>
              <a:t> </a:t>
            </a:r>
            <a:r>
              <a:rPr sz="2400" dirty="0">
                <a:solidFill>
                  <a:srgbClr val="262EA4"/>
                </a:solidFill>
                <a:latin typeface="Calibri"/>
                <a:cs typeface="Calibri"/>
              </a:rPr>
              <a:t>be</a:t>
            </a:r>
            <a:r>
              <a:rPr sz="2400" spc="105" dirty="0">
                <a:solidFill>
                  <a:srgbClr val="262EA4"/>
                </a:solidFill>
                <a:latin typeface="Calibri"/>
                <a:cs typeface="Calibri"/>
              </a:rPr>
              <a:t> </a:t>
            </a:r>
            <a:r>
              <a:rPr sz="2400" dirty="0">
                <a:solidFill>
                  <a:srgbClr val="262EA4"/>
                </a:solidFill>
                <a:latin typeface="Calibri"/>
                <a:cs typeface="Calibri"/>
              </a:rPr>
              <a:t>assigned</a:t>
            </a:r>
            <a:r>
              <a:rPr sz="2400" spc="100" dirty="0">
                <a:solidFill>
                  <a:srgbClr val="262EA4"/>
                </a:solidFill>
                <a:latin typeface="Calibri"/>
                <a:cs typeface="Calibri"/>
              </a:rPr>
              <a:t> </a:t>
            </a:r>
            <a:r>
              <a:rPr sz="2400" dirty="0">
                <a:solidFill>
                  <a:srgbClr val="262EA4"/>
                </a:solidFill>
                <a:latin typeface="Calibri"/>
                <a:cs typeface="Calibri"/>
              </a:rPr>
              <a:t>to</a:t>
            </a:r>
            <a:r>
              <a:rPr sz="2400" spc="100" dirty="0">
                <a:solidFill>
                  <a:srgbClr val="262EA4"/>
                </a:solidFill>
                <a:latin typeface="Calibri"/>
                <a:cs typeface="Calibri"/>
              </a:rPr>
              <a:t> </a:t>
            </a:r>
            <a:r>
              <a:rPr sz="2400" dirty="0">
                <a:solidFill>
                  <a:srgbClr val="262EA4"/>
                </a:solidFill>
                <a:latin typeface="Calibri"/>
                <a:cs typeface="Calibri"/>
              </a:rPr>
              <a:t>work</a:t>
            </a:r>
            <a:r>
              <a:rPr sz="2400" spc="95" dirty="0">
                <a:solidFill>
                  <a:srgbClr val="262EA4"/>
                </a:solidFill>
                <a:latin typeface="Calibri"/>
                <a:cs typeface="Calibri"/>
              </a:rPr>
              <a:t> </a:t>
            </a:r>
            <a:r>
              <a:rPr sz="2400" spc="-25" dirty="0">
                <a:solidFill>
                  <a:srgbClr val="262EA4"/>
                </a:solidFill>
                <a:latin typeface="Calibri"/>
                <a:cs typeface="Calibri"/>
              </a:rPr>
              <a:t>on 	</a:t>
            </a:r>
            <a:r>
              <a:rPr sz="2400" dirty="0">
                <a:solidFill>
                  <a:srgbClr val="262EA4"/>
                </a:solidFill>
                <a:latin typeface="Calibri"/>
                <a:cs typeface="Calibri"/>
              </a:rPr>
              <a:t>the</a:t>
            </a:r>
            <a:r>
              <a:rPr sz="2400" spc="45" dirty="0">
                <a:solidFill>
                  <a:srgbClr val="262EA4"/>
                </a:solidFill>
                <a:latin typeface="Calibri"/>
                <a:cs typeface="Calibri"/>
              </a:rPr>
              <a:t>  </a:t>
            </a:r>
            <a:r>
              <a:rPr sz="2400" dirty="0">
                <a:solidFill>
                  <a:srgbClr val="262EA4"/>
                </a:solidFill>
                <a:latin typeface="Calibri"/>
                <a:cs typeface="Calibri"/>
              </a:rPr>
              <a:t>project</a:t>
            </a:r>
            <a:r>
              <a:rPr sz="2400" spc="40" dirty="0">
                <a:solidFill>
                  <a:srgbClr val="262EA4"/>
                </a:solidFill>
                <a:latin typeface="Calibri"/>
                <a:cs typeface="Calibri"/>
              </a:rPr>
              <a:t>  </a:t>
            </a:r>
            <a:r>
              <a:rPr sz="2400" dirty="0">
                <a:solidFill>
                  <a:srgbClr val="262EA4"/>
                </a:solidFill>
                <a:latin typeface="Calibri"/>
                <a:cs typeface="Calibri"/>
              </a:rPr>
              <a:t>and</a:t>
            </a:r>
            <a:r>
              <a:rPr sz="2400" spc="45" dirty="0">
                <a:solidFill>
                  <a:srgbClr val="262EA4"/>
                </a:solidFill>
                <a:latin typeface="Calibri"/>
                <a:cs typeface="Calibri"/>
              </a:rPr>
              <a:t>  </a:t>
            </a:r>
            <a:r>
              <a:rPr sz="2400" dirty="0">
                <a:solidFill>
                  <a:srgbClr val="262EA4"/>
                </a:solidFill>
                <a:latin typeface="Calibri"/>
                <a:cs typeface="Calibri"/>
              </a:rPr>
              <a:t>then</a:t>
            </a:r>
            <a:r>
              <a:rPr sz="2400" spc="45" dirty="0">
                <a:solidFill>
                  <a:srgbClr val="262EA4"/>
                </a:solidFill>
                <a:latin typeface="Calibri"/>
                <a:cs typeface="Calibri"/>
              </a:rPr>
              <a:t>  </a:t>
            </a:r>
            <a:r>
              <a:rPr sz="2400" dirty="0">
                <a:solidFill>
                  <a:srgbClr val="262EA4"/>
                </a:solidFill>
                <a:latin typeface="Calibri"/>
                <a:cs typeface="Calibri"/>
              </a:rPr>
              <a:t>return</a:t>
            </a:r>
            <a:r>
              <a:rPr sz="2400" spc="45" dirty="0">
                <a:solidFill>
                  <a:srgbClr val="262EA4"/>
                </a:solidFill>
                <a:latin typeface="Calibri"/>
                <a:cs typeface="Calibri"/>
              </a:rPr>
              <a:t>  </a:t>
            </a:r>
            <a:r>
              <a:rPr sz="2400" dirty="0">
                <a:solidFill>
                  <a:srgbClr val="262EA4"/>
                </a:solidFill>
                <a:latin typeface="Calibri"/>
                <a:cs typeface="Calibri"/>
              </a:rPr>
              <a:t>to</a:t>
            </a:r>
            <a:r>
              <a:rPr sz="2400" spc="45" dirty="0">
                <a:solidFill>
                  <a:srgbClr val="262EA4"/>
                </a:solidFill>
                <a:latin typeface="Calibri"/>
                <a:cs typeface="Calibri"/>
              </a:rPr>
              <a:t>  </a:t>
            </a:r>
            <a:r>
              <a:rPr sz="2400" dirty="0">
                <a:solidFill>
                  <a:srgbClr val="262EA4"/>
                </a:solidFill>
                <a:latin typeface="Calibri"/>
                <a:cs typeface="Calibri"/>
              </a:rPr>
              <a:t>their</a:t>
            </a:r>
            <a:r>
              <a:rPr sz="2400" spc="45" dirty="0">
                <a:solidFill>
                  <a:srgbClr val="262EA4"/>
                </a:solidFill>
                <a:latin typeface="Calibri"/>
                <a:cs typeface="Calibri"/>
              </a:rPr>
              <a:t>  </a:t>
            </a:r>
            <a:r>
              <a:rPr sz="2400" dirty="0">
                <a:solidFill>
                  <a:srgbClr val="262EA4"/>
                </a:solidFill>
                <a:latin typeface="Calibri"/>
                <a:cs typeface="Calibri"/>
              </a:rPr>
              <a:t>normal</a:t>
            </a:r>
            <a:r>
              <a:rPr sz="2400" spc="45" dirty="0">
                <a:solidFill>
                  <a:srgbClr val="262EA4"/>
                </a:solidFill>
                <a:latin typeface="Calibri"/>
                <a:cs typeface="Calibri"/>
              </a:rPr>
              <a:t>  </a:t>
            </a:r>
            <a:r>
              <a:rPr sz="2400" dirty="0">
                <a:solidFill>
                  <a:srgbClr val="262EA4"/>
                </a:solidFill>
                <a:latin typeface="Calibri"/>
                <a:cs typeface="Calibri"/>
              </a:rPr>
              <a:t>work.</a:t>
            </a:r>
            <a:r>
              <a:rPr sz="2400" spc="45" dirty="0">
                <a:solidFill>
                  <a:srgbClr val="262EA4"/>
                </a:solidFill>
                <a:latin typeface="Calibri"/>
                <a:cs typeface="Calibri"/>
              </a:rPr>
              <a:t>  </a:t>
            </a:r>
            <a:r>
              <a:rPr sz="2400" dirty="0">
                <a:solidFill>
                  <a:srgbClr val="262EA4"/>
                </a:solidFill>
                <a:latin typeface="Calibri"/>
                <a:cs typeface="Calibri"/>
              </a:rPr>
              <a:t>With</a:t>
            </a:r>
            <a:r>
              <a:rPr sz="2400" spc="40" dirty="0">
                <a:solidFill>
                  <a:srgbClr val="262EA4"/>
                </a:solidFill>
                <a:latin typeface="Calibri"/>
                <a:cs typeface="Calibri"/>
              </a:rPr>
              <a:t>  </a:t>
            </a:r>
            <a:r>
              <a:rPr sz="2400" dirty="0">
                <a:solidFill>
                  <a:srgbClr val="262EA4"/>
                </a:solidFill>
                <a:latin typeface="Calibri"/>
                <a:cs typeface="Calibri"/>
              </a:rPr>
              <a:t>a</a:t>
            </a:r>
            <a:r>
              <a:rPr sz="2400" spc="45" dirty="0">
                <a:solidFill>
                  <a:srgbClr val="262EA4"/>
                </a:solidFill>
                <a:latin typeface="Calibri"/>
                <a:cs typeface="Calibri"/>
              </a:rPr>
              <a:t>  </a:t>
            </a:r>
            <a:r>
              <a:rPr sz="2400" dirty="0">
                <a:solidFill>
                  <a:srgbClr val="262EA4"/>
                </a:solidFill>
                <a:latin typeface="Calibri"/>
                <a:cs typeface="Calibri"/>
              </a:rPr>
              <a:t>broad</a:t>
            </a:r>
            <a:r>
              <a:rPr sz="2400" spc="45" dirty="0">
                <a:solidFill>
                  <a:srgbClr val="262EA4"/>
                </a:solidFill>
                <a:latin typeface="Calibri"/>
                <a:cs typeface="Calibri"/>
              </a:rPr>
              <a:t>  </a:t>
            </a:r>
            <a:r>
              <a:rPr sz="2400" dirty="0">
                <a:solidFill>
                  <a:srgbClr val="262EA4"/>
                </a:solidFill>
                <a:latin typeface="Calibri"/>
                <a:cs typeface="Calibri"/>
              </a:rPr>
              <a:t>base</a:t>
            </a:r>
            <a:r>
              <a:rPr sz="2400" spc="50" dirty="0">
                <a:solidFill>
                  <a:srgbClr val="262EA4"/>
                </a:solidFill>
                <a:latin typeface="Calibri"/>
                <a:cs typeface="Calibri"/>
              </a:rPr>
              <a:t>  </a:t>
            </a:r>
            <a:r>
              <a:rPr sz="2400" spc="-25" dirty="0">
                <a:solidFill>
                  <a:srgbClr val="262EA4"/>
                </a:solidFill>
                <a:latin typeface="Calibri"/>
                <a:cs typeface="Calibri"/>
              </a:rPr>
              <a:t>of 	</a:t>
            </a:r>
            <a:r>
              <a:rPr sz="2400" dirty="0">
                <a:solidFill>
                  <a:srgbClr val="262EA4"/>
                </a:solidFill>
                <a:latin typeface="Calibri"/>
                <a:cs typeface="Calibri"/>
              </a:rPr>
              <a:t>technical</a:t>
            </a:r>
            <a:r>
              <a:rPr sz="2400" spc="-50" dirty="0">
                <a:solidFill>
                  <a:srgbClr val="262EA4"/>
                </a:solidFill>
                <a:latin typeface="Calibri"/>
                <a:cs typeface="Calibri"/>
              </a:rPr>
              <a:t> </a:t>
            </a:r>
            <a:r>
              <a:rPr sz="2400" dirty="0">
                <a:solidFill>
                  <a:srgbClr val="262EA4"/>
                </a:solidFill>
                <a:latin typeface="Calibri"/>
                <a:cs typeface="Calibri"/>
              </a:rPr>
              <a:t>personnel</a:t>
            </a:r>
            <a:r>
              <a:rPr sz="2400" spc="-55" dirty="0">
                <a:solidFill>
                  <a:srgbClr val="262EA4"/>
                </a:solidFill>
                <a:latin typeface="Calibri"/>
                <a:cs typeface="Calibri"/>
              </a:rPr>
              <a:t> </a:t>
            </a:r>
            <a:r>
              <a:rPr sz="2400" dirty="0">
                <a:solidFill>
                  <a:srgbClr val="262EA4"/>
                </a:solidFill>
                <a:latin typeface="Calibri"/>
                <a:cs typeface="Calibri"/>
              </a:rPr>
              <a:t>available</a:t>
            </a:r>
            <a:r>
              <a:rPr sz="2400" spc="-45" dirty="0">
                <a:solidFill>
                  <a:srgbClr val="262EA4"/>
                </a:solidFill>
                <a:latin typeface="Calibri"/>
                <a:cs typeface="Calibri"/>
              </a:rPr>
              <a:t> </a:t>
            </a:r>
            <a:r>
              <a:rPr sz="2400" dirty="0">
                <a:solidFill>
                  <a:srgbClr val="262EA4"/>
                </a:solidFill>
                <a:latin typeface="Calibri"/>
                <a:cs typeface="Calibri"/>
              </a:rPr>
              <a:t>within</a:t>
            </a:r>
            <a:r>
              <a:rPr sz="2400" spc="-45" dirty="0">
                <a:solidFill>
                  <a:srgbClr val="262EA4"/>
                </a:solidFill>
                <a:latin typeface="Calibri"/>
                <a:cs typeface="Calibri"/>
              </a:rPr>
              <a:t> </a:t>
            </a:r>
            <a:r>
              <a:rPr sz="2400" dirty="0">
                <a:solidFill>
                  <a:srgbClr val="262EA4"/>
                </a:solidFill>
                <a:latin typeface="Calibri"/>
                <a:cs typeface="Calibri"/>
              </a:rPr>
              <a:t>each</a:t>
            </a:r>
            <a:r>
              <a:rPr sz="2400" spc="-45" dirty="0">
                <a:solidFill>
                  <a:srgbClr val="262EA4"/>
                </a:solidFill>
                <a:latin typeface="Calibri"/>
                <a:cs typeface="Calibri"/>
              </a:rPr>
              <a:t> </a:t>
            </a:r>
            <a:r>
              <a:rPr sz="2400" dirty="0">
                <a:solidFill>
                  <a:srgbClr val="262EA4"/>
                </a:solidFill>
                <a:latin typeface="Calibri"/>
                <a:cs typeface="Calibri"/>
              </a:rPr>
              <a:t>functional</a:t>
            </a:r>
            <a:r>
              <a:rPr sz="2400" spc="-45" dirty="0">
                <a:solidFill>
                  <a:srgbClr val="262EA4"/>
                </a:solidFill>
                <a:latin typeface="Calibri"/>
                <a:cs typeface="Calibri"/>
              </a:rPr>
              <a:t> </a:t>
            </a:r>
            <a:r>
              <a:rPr sz="2400" dirty="0">
                <a:solidFill>
                  <a:srgbClr val="262EA4"/>
                </a:solidFill>
                <a:latin typeface="Calibri"/>
                <a:cs typeface="Calibri"/>
              </a:rPr>
              <a:t>department,</a:t>
            </a:r>
            <a:r>
              <a:rPr sz="2400" spc="-45" dirty="0">
                <a:solidFill>
                  <a:srgbClr val="262EA4"/>
                </a:solidFill>
                <a:latin typeface="Calibri"/>
                <a:cs typeface="Calibri"/>
              </a:rPr>
              <a:t> </a:t>
            </a:r>
            <a:r>
              <a:rPr sz="2400" dirty="0">
                <a:solidFill>
                  <a:srgbClr val="262EA4"/>
                </a:solidFill>
                <a:latin typeface="Calibri"/>
                <a:cs typeface="Calibri"/>
              </a:rPr>
              <a:t>people</a:t>
            </a:r>
            <a:r>
              <a:rPr sz="2400" spc="-40" dirty="0">
                <a:solidFill>
                  <a:srgbClr val="262EA4"/>
                </a:solidFill>
                <a:latin typeface="Calibri"/>
                <a:cs typeface="Calibri"/>
              </a:rPr>
              <a:t> </a:t>
            </a:r>
            <a:r>
              <a:rPr sz="2400" dirty="0">
                <a:solidFill>
                  <a:srgbClr val="262EA4"/>
                </a:solidFill>
                <a:latin typeface="Calibri"/>
                <a:cs typeface="Calibri"/>
              </a:rPr>
              <a:t>can</a:t>
            </a:r>
            <a:r>
              <a:rPr sz="2400" spc="-45" dirty="0">
                <a:solidFill>
                  <a:srgbClr val="262EA4"/>
                </a:solidFill>
                <a:latin typeface="Calibri"/>
                <a:cs typeface="Calibri"/>
              </a:rPr>
              <a:t> </a:t>
            </a:r>
            <a:r>
              <a:rPr sz="2400" spc="-25" dirty="0">
                <a:solidFill>
                  <a:srgbClr val="262EA4"/>
                </a:solidFill>
                <a:latin typeface="Calibri"/>
                <a:cs typeface="Calibri"/>
              </a:rPr>
              <a:t>be 	</a:t>
            </a:r>
            <a:r>
              <a:rPr sz="2400" dirty="0">
                <a:solidFill>
                  <a:srgbClr val="262EA4"/>
                </a:solidFill>
                <a:latin typeface="Calibri"/>
                <a:cs typeface="Calibri"/>
              </a:rPr>
              <a:t>switched</a:t>
            </a:r>
            <a:r>
              <a:rPr sz="2400" spc="-60" dirty="0">
                <a:solidFill>
                  <a:srgbClr val="262EA4"/>
                </a:solidFill>
                <a:latin typeface="Calibri"/>
                <a:cs typeface="Calibri"/>
              </a:rPr>
              <a:t> </a:t>
            </a:r>
            <a:r>
              <a:rPr sz="2400" dirty="0">
                <a:solidFill>
                  <a:srgbClr val="262EA4"/>
                </a:solidFill>
                <a:latin typeface="Calibri"/>
                <a:cs typeface="Calibri"/>
              </a:rPr>
              <a:t>among</a:t>
            </a:r>
            <a:r>
              <a:rPr sz="2400" spc="-70" dirty="0">
                <a:solidFill>
                  <a:srgbClr val="262EA4"/>
                </a:solidFill>
                <a:latin typeface="Calibri"/>
                <a:cs typeface="Calibri"/>
              </a:rPr>
              <a:t> </a:t>
            </a:r>
            <a:r>
              <a:rPr sz="2400" spc="-20" dirty="0">
                <a:solidFill>
                  <a:srgbClr val="262EA4"/>
                </a:solidFill>
                <a:latin typeface="Calibri"/>
                <a:cs typeface="Calibri"/>
              </a:rPr>
              <a:t>different</a:t>
            </a:r>
            <a:r>
              <a:rPr sz="2400" spc="-60" dirty="0">
                <a:solidFill>
                  <a:srgbClr val="262EA4"/>
                </a:solidFill>
                <a:latin typeface="Calibri"/>
                <a:cs typeface="Calibri"/>
              </a:rPr>
              <a:t> </a:t>
            </a:r>
            <a:r>
              <a:rPr sz="2400" dirty="0">
                <a:solidFill>
                  <a:srgbClr val="262EA4"/>
                </a:solidFill>
                <a:latin typeface="Calibri"/>
                <a:cs typeface="Calibri"/>
              </a:rPr>
              <a:t>projects</a:t>
            </a:r>
            <a:r>
              <a:rPr sz="2400" spc="-65" dirty="0">
                <a:solidFill>
                  <a:srgbClr val="262EA4"/>
                </a:solidFill>
                <a:latin typeface="Calibri"/>
                <a:cs typeface="Calibri"/>
              </a:rPr>
              <a:t> </a:t>
            </a:r>
            <a:r>
              <a:rPr sz="2400" dirty="0">
                <a:solidFill>
                  <a:srgbClr val="262EA4"/>
                </a:solidFill>
                <a:latin typeface="Calibri"/>
                <a:cs typeface="Calibri"/>
              </a:rPr>
              <a:t>with</a:t>
            </a:r>
            <a:r>
              <a:rPr sz="2400" spc="-60" dirty="0">
                <a:solidFill>
                  <a:srgbClr val="262EA4"/>
                </a:solidFill>
                <a:latin typeface="Calibri"/>
                <a:cs typeface="Calibri"/>
              </a:rPr>
              <a:t> </a:t>
            </a:r>
            <a:r>
              <a:rPr sz="2400" spc="-10" dirty="0">
                <a:solidFill>
                  <a:srgbClr val="262EA4"/>
                </a:solidFill>
                <a:latin typeface="Calibri"/>
                <a:cs typeface="Calibri"/>
              </a:rPr>
              <a:t>relative</a:t>
            </a:r>
            <a:r>
              <a:rPr sz="2400" spc="-55" dirty="0">
                <a:solidFill>
                  <a:srgbClr val="262EA4"/>
                </a:solidFill>
                <a:latin typeface="Calibri"/>
                <a:cs typeface="Calibri"/>
              </a:rPr>
              <a:t> </a:t>
            </a:r>
            <a:r>
              <a:rPr sz="2400" spc="-10" dirty="0">
                <a:solidFill>
                  <a:srgbClr val="262EA4"/>
                </a:solidFill>
                <a:latin typeface="Calibri"/>
                <a:cs typeface="Calibri"/>
              </a:rPr>
              <a:t>ease</a:t>
            </a:r>
            <a:r>
              <a:rPr sz="2400" spc="-10" dirty="0">
                <a:latin typeface="Calibri"/>
                <a:cs typeface="Calibri"/>
              </a:rPr>
              <a:t>.</a:t>
            </a:r>
            <a:endParaRPr sz="2400" dirty="0">
              <a:latin typeface="Calibri"/>
              <a:cs typeface="Calibri"/>
            </a:endParaRPr>
          </a:p>
          <a:p>
            <a:pPr marL="466090" marR="5080" lvl="1" indent="-307975" algn="just">
              <a:lnSpc>
                <a:spcPct val="90400"/>
              </a:lnSpc>
              <a:spcBef>
                <a:spcPts val="994"/>
              </a:spcBef>
              <a:buAutoNum type="arabicPeriod"/>
              <a:tabLst>
                <a:tab pos="467995" algn="l"/>
              </a:tabLst>
            </a:pPr>
            <a:r>
              <a:rPr sz="2400" b="1" spc="-10" dirty="0">
                <a:latin typeface="Calibri"/>
                <a:cs typeface="Calibri"/>
              </a:rPr>
              <a:t>In-</a:t>
            </a:r>
            <a:r>
              <a:rPr sz="2400" b="1" dirty="0">
                <a:latin typeface="Calibri"/>
                <a:cs typeface="Calibri"/>
              </a:rPr>
              <a:t>Depth</a:t>
            </a:r>
            <a:r>
              <a:rPr sz="2400" b="1" spc="40" dirty="0">
                <a:latin typeface="Calibri"/>
                <a:cs typeface="Calibri"/>
              </a:rPr>
              <a:t>  </a:t>
            </a:r>
            <a:r>
              <a:rPr sz="2400" b="1" dirty="0">
                <a:latin typeface="Calibri"/>
                <a:cs typeface="Calibri"/>
              </a:rPr>
              <a:t>Expertise.</a:t>
            </a:r>
            <a:r>
              <a:rPr sz="2400" b="1" spc="40" dirty="0">
                <a:latin typeface="Calibri"/>
                <a:cs typeface="Calibri"/>
              </a:rPr>
              <a:t>  </a:t>
            </a:r>
            <a:r>
              <a:rPr sz="2400" dirty="0">
                <a:latin typeface="Calibri"/>
                <a:cs typeface="Calibri"/>
              </a:rPr>
              <a:t>If</a:t>
            </a:r>
            <a:r>
              <a:rPr sz="2400" spc="45" dirty="0">
                <a:latin typeface="Calibri"/>
                <a:cs typeface="Calibri"/>
              </a:rPr>
              <a:t>  </a:t>
            </a:r>
            <a:r>
              <a:rPr sz="2400" dirty="0">
                <a:latin typeface="Calibri"/>
                <a:cs typeface="Calibri"/>
              </a:rPr>
              <a:t>the</a:t>
            </a:r>
            <a:r>
              <a:rPr sz="2400" spc="45" dirty="0">
                <a:latin typeface="Calibri"/>
                <a:cs typeface="Calibri"/>
              </a:rPr>
              <a:t>  </a:t>
            </a:r>
            <a:r>
              <a:rPr sz="2400" dirty="0">
                <a:latin typeface="Calibri"/>
                <a:cs typeface="Calibri"/>
              </a:rPr>
              <a:t>scope</a:t>
            </a:r>
            <a:r>
              <a:rPr sz="2400" spc="50" dirty="0">
                <a:latin typeface="Calibri"/>
                <a:cs typeface="Calibri"/>
              </a:rPr>
              <a:t>  </a:t>
            </a:r>
            <a:r>
              <a:rPr sz="2400" dirty="0">
                <a:latin typeface="Calibri"/>
                <a:cs typeface="Calibri"/>
              </a:rPr>
              <a:t>of</a:t>
            </a:r>
            <a:r>
              <a:rPr sz="2400" spc="45" dirty="0">
                <a:latin typeface="Calibri"/>
                <a:cs typeface="Calibri"/>
              </a:rPr>
              <a:t>  </a:t>
            </a:r>
            <a:r>
              <a:rPr sz="2400" dirty="0">
                <a:latin typeface="Calibri"/>
                <a:cs typeface="Calibri"/>
              </a:rPr>
              <a:t>the</a:t>
            </a:r>
            <a:r>
              <a:rPr sz="2400" spc="45" dirty="0">
                <a:latin typeface="Calibri"/>
                <a:cs typeface="Calibri"/>
              </a:rPr>
              <a:t>  </a:t>
            </a:r>
            <a:r>
              <a:rPr sz="2400" dirty="0">
                <a:latin typeface="Calibri"/>
                <a:cs typeface="Calibri"/>
              </a:rPr>
              <a:t>project</a:t>
            </a:r>
            <a:r>
              <a:rPr sz="2400" spc="40" dirty="0">
                <a:latin typeface="Calibri"/>
                <a:cs typeface="Calibri"/>
              </a:rPr>
              <a:t>  </a:t>
            </a:r>
            <a:r>
              <a:rPr sz="2400" dirty="0">
                <a:latin typeface="Calibri"/>
                <a:cs typeface="Calibri"/>
              </a:rPr>
              <a:t>is</a:t>
            </a:r>
            <a:r>
              <a:rPr sz="2400" spc="40" dirty="0">
                <a:latin typeface="Calibri"/>
                <a:cs typeface="Calibri"/>
              </a:rPr>
              <a:t>  </a:t>
            </a:r>
            <a:r>
              <a:rPr sz="2400" dirty="0">
                <a:latin typeface="Calibri"/>
                <a:cs typeface="Calibri"/>
              </a:rPr>
              <a:t>narrow</a:t>
            </a:r>
            <a:r>
              <a:rPr sz="2400" spc="40" dirty="0">
                <a:latin typeface="Calibri"/>
                <a:cs typeface="Calibri"/>
              </a:rPr>
              <a:t>  </a:t>
            </a:r>
            <a:r>
              <a:rPr sz="2400" dirty="0">
                <a:latin typeface="Calibri"/>
                <a:cs typeface="Calibri"/>
              </a:rPr>
              <a:t>and</a:t>
            </a:r>
            <a:r>
              <a:rPr sz="2400" spc="45" dirty="0">
                <a:latin typeface="Calibri"/>
                <a:cs typeface="Calibri"/>
              </a:rPr>
              <a:t>  </a:t>
            </a:r>
            <a:r>
              <a:rPr sz="2400" dirty="0">
                <a:latin typeface="Calibri"/>
                <a:cs typeface="Calibri"/>
              </a:rPr>
              <a:t>the</a:t>
            </a:r>
            <a:r>
              <a:rPr sz="2400" spc="45" dirty="0">
                <a:latin typeface="Calibri"/>
                <a:cs typeface="Calibri"/>
              </a:rPr>
              <a:t>  </a:t>
            </a:r>
            <a:r>
              <a:rPr sz="2400" spc="-10" dirty="0">
                <a:latin typeface="Calibri"/>
                <a:cs typeface="Calibri"/>
              </a:rPr>
              <a:t>proper 	</a:t>
            </a:r>
            <a:r>
              <a:rPr sz="2400" dirty="0">
                <a:latin typeface="Calibri"/>
                <a:cs typeface="Calibri"/>
              </a:rPr>
              <a:t>functional</a:t>
            </a:r>
            <a:r>
              <a:rPr sz="2400" spc="229" dirty="0">
                <a:latin typeface="Calibri"/>
                <a:cs typeface="Calibri"/>
              </a:rPr>
              <a:t> </a:t>
            </a:r>
            <a:r>
              <a:rPr sz="2400" dirty="0">
                <a:latin typeface="Calibri"/>
                <a:cs typeface="Calibri"/>
              </a:rPr>
              <a:t>unit</a:t>
            </a:r>
            <a:r>
              <a:rPr sz="2400" spc="235" dirty="0">
                <a:latin typeface="Calibri"/>
                <a:cs typeface="Calibri"/>
              </a:rPr>
              <a:t> </a:t>
            </a:r>
            <a:r>
              <a:rPr sz="2400" dirty="0">
                <a:latin typeface="Calibri"/>
                <a:cs typeface="Calibri"/>
              </a:rPr>
              <a:t>is</a:t>
            </a:r>
            <a:r>
              <a:rPr sz="2400" spc="235" dirty="0">
                <a:latin typeface="Calibri"/>
                <a:cs typeface="Calibri"/>
              </a:rPr>
              <a:t> </a:t>
            </a:r>
            <a:r>
              <a:rPr sz="2400" dirty="0">
                <a:latin typeface="Calibri"/>
                <a:cs typeface="Calibri"/>
              </a:rPr>
              <a:t>assigned</a:t>
            </a:r>
            <a:r>
              <a:rPr sz="2400" spc="240" dirty="0">
                <a:latin typeface="Calibri"/>
                <a:cs typeface="Calibri"/>
              </a:rPr>
              <a:t> </a:t>
            </a:r>
            <a:r>
              <a:rPr sz="2400" dirty="0">
                <a:latin typeface="Calibri"/>
                <a:cs typeface="Calibri"/>
              </a:rPr>
              <a:t>primary</a:t>
            </a:r>
            <a:r>
              <a:rPr sz="2400" spc="240" dirty="0">
                <a:latin typeface="Calibri"/>
                <a:cs typeface="Calibri"/>
              </a:rPr>
              <a:t> </a:t>
            </a:r>
            <a:r>
              <a:rPr sz="2400" dirty="0">
                <a:latin typeface="Calibri"/>
                <a:cs typeface="Calibri"/>
              </a:rPr>
              <a:t>responsibility,</a:t>
            </a:r>
            <a:r>
              <a:rPr sz="2400" spc="245" dirty="0">
                <a:latin typeface="Calibri"/>
                <a:cs typeface="Calibri"/>
              </a:rPr>
              <a:t> </a:t>
            </a:r>
            <a:r>
              <a:rPr sz="2400" dirty="0">
                <a:latin typeface="Calibri"/>
                <a:cs typeface="Calibri"/>
              </a:rPr>
              <a:t>then</a:t>
            </a:r>
            <a:r>
              <a:rPr sz="2400" spc="235" dirty="0">
                <a:latin typeface="Calibri"/>
                <a:cs typeface="Calibri"/>
              </a:rPr>
              <a:t> </a:t>
            </a:r>
            <a:r>
              <a:rPr sz="2400" spc="-20" dirty="0">
                <a:latin typeface="Calibri"/>
                <a:cs typeface="Calibri"/>
              </a:rPr>
              <a:t>in-</a:t>
            </a:r>
            <a:r>
              <a:rPr sz="2400" dirty="0">
                <a:latin typeface="Calibri"/>
                <a:cs typeface="Calibri"/>
              </a:rPr>
              <a:t>depth</a:t>
            </a:r>
            <a:r>
              <a:rPr sz="2400" spc="235" dirty="0">
                <a:latin typeface="Calibri"/>
                <a:cs typeface="Calibri"/>
              </a:rPr>
              <a:t> </a:t>
            </a:r>
            <a:r>
              <a:rPr sz="2400" dirty="0">
                <a:latin typeface="Calibri"/>
                <a:cs typeface="Calibri"/>
              </a:rPr>
              <a:t>expertise</a:t>
            </a:r>
            <a:r>
              <a:rPr sz="2400" spc="245" dirty="0">
                <a:latin typeface="Calibri"/>
                <a:cs typeface="Calibri"/>
              </a:rPr>
              <a:t> </a:t>
            </a:r>
            <a:r>
              <a:rPr sz="2400" spc="-25" dirty="0">
                <a:latin typeface="Calibri"/>
                <a:cs typeface="Calibri"/>
              </a:rPr>
              <a:t>can 	</a:t>
            </a:r>
            <a:r>
              <a:rPr sz="2400" dirty="0">
                <a:latin typeface="Calibri"/>
                <a:cs typeface="Calibri"/>
              </a:rPr>
              <a:t>be</a:t>
            </a:r>
            <a:r>
              <a:rPr sz="2400" spc="-45" dirty="0">
                <a:latin typeface="Calibri"/>
                <a:cs typeface="Calibri"/>
              </a:rPr>
              <a:t> </a:t>
            </a:r>
            <a:r>
              <a:rPr sz="2400" dirty="0">
                <a:latin typeface="Calibri"/>
                <a:cs typeface="Calibri"/>
              </a:rPr>
              <a:t>brought</a:t>
            </a:r>
            <a:r>
              <a:rPr sz="2400" spc="-50" dirty="0">
                <a:latin typeface="Calibri"/>
                <a:cs typeface="Calibri"/>
              </a:rPr>
              <a:t> </a:t>
            </a:r>
            <a:r>
              <a:rPr sz="2400" dirty="0">
                <a:latin typeface="Calibri"/>
                <a:cs typeface="Calibri"/>
              </a:rPr>
              <a:t>to</a:t>
            </a:r>
            <a:r>
              <a:rPr sz="2400" spc="-45" dirty="0">
                <a:latin typeface="Calibri"/>
                <a:cs typeface="Calibri"/>
              </a:rPr>
              <a:t> </a:t>
            </a:r>
            <a:r>
              <a:rPr sz="2400" dirty="0">
                <a:latin typeface="Calibri"/>
                <a:cs typeface="Calibri"/>
              </a:rPr>
              <a:t>bear</a:t>
            </a:r>
            <a:r>
              <a:rPr sz="2400" spc="-45" dirty="0">
                <a:latin typeface="Calibri"/>
                <a:cs typeface="Calibri"/>
              </a:rPr>
              <a:t> </a:t>
            </a:r>
            <a:r>
              <a:rPr sz="2400" dirty="0">
                <a:latin typeface="Calibri"/>
                <a:cs typeface="Calibri"/>
              </a:rPr>
              <a:t>on</a:t>
            </a:r>
            <a:r>
              <a:rPr sz="2400" spc="-45" dirty="0">
                <a:latin typeface="Calibri"/>
                <a:cs typeface="Calibri"/>
              </a:rPr>
              <a:t> </a:t>
            </a:r>
            <a:r>
              <a:rPr sz="2400" dirty="0">
                <a:latin typeface="Calibri"/>
                <a:cs typeface="Calibri"/>
              </a:rPr>
              <a:t>the</a:t>
            </a:r>
            <a:r>
              <a:rPr sz="2400" spc="-35" dirty="0">
                <a:latin typeface="Calibri"/>
                <a:cs typeface="Calibri"/>
              </a:rPr>
              <a:t> </a:t>
            </a:r>
            <a:r>
              <a:rPr sz="2400" dirty="0">
                <a:latin typeface="Calibri"/>
                <a:cs typeface="Calibri"/>
              </a:rPr>
              <a:t>most</a:t>
            </a:r>
            <a:r>
              <a:rPr sz="2400" spc="-45" dirty="0">
                <a:latin typeface="Calibri"/>
                <a:cs typeface="Calibri"/>
              </a:rPr>
              <a:t> </a:t>
            </a:r>
            <a:r>
              <a:rPr sz="2400" dirty="0">
                <a:latin typeface="Calibri"/>
                <a:cs typeface="Calibri"/>
              </a:rPr>
              <a:t>crucial</a:t>
            </a:r>
            <a:r>
              <a:rPr sz="2400" spc="-40" dirty="0">
                <a:latin typeface="Calibri"/>
                <a:cs typeface="Calibri"/>
              </a:rPr>
              <a:t> </a:t>
            </a:r>
            <a:r>
              <a:rPr sz="2400" dirty="0">
                <a:latin typeface="Calibri"/>
                <a:cs typeface="Calibri"/>
              </a:rPr>
              <a:t>aspects</a:t>
            </a:r>
            <a:r>
              <a:rPr sz="2400" spc="-50" dirty="0">
                <a:latin typeface="Calibri"/>
                <a:cs typeface="Calibri"/>
              </a:rPr>
              <a:t> </a:t>
            </a:r>
            <a:r>
              <a:rPr sz="2400" dirty="0">
                <a:latin typeface="Calibri"/>
                <a:cs typeface="Calibri"/>
              </a:rPr>
              <a:t>of</a:t>
            </a:r>
            <a:r>
              <a:rPr sz="2400" spc="-40" dirty="0">
                <a:latin typeface="Calibri"/>
                <a:cs typeface="Calibri"/>
              </a:rPr>
              <a:t> </a:t>
            </a:r>
            <a:r>
              <a:rPr sz="2400" dirty="0">
                <a:latin typeface="Calibri"/>
                <a:cs typeface="Calibri"/>
              </a:rPr>
              <a:t>the</a:t>
            </a:r>
            <a:r>
              <a:rPr sz="2400" spc="-35" dirty="0">
                <a:latin typeface="Calibri"/>
                <a:cs typeface="Calibri"/>
              </a:rPr>
              <a:t> </a:t>
            </a:r>
            <a:r>
              <a:rPr sz="2400" spc="-10" dirty="0">
                <a:latin typeface="Calibri"/>
                <a:cs typeface="Calibri"/>
              </a:rPr>
              <a:t>project.</a:t>
            </a:r>
            <a:endParaRPr sz="2400" dirty="0">
              <a:latin typeface="Calibri"/>
              <a:cs typeface="Calibri"/>
            </a:endParaRPr>
          </a:p>
          <a:p>
            <a:pPr marL="466090" marR="5715" lvl="1" indent="-307975" algn="just">
              <a:lnSpc>
                <a:spcPts val="2590"/>
              </a:lnSpc>
              <a:spcBef>
                <a:spcPts val="1050"/>
              </a:spcBef>
              <a:buAutoNum type="arabicPeriod"/>
              <a:tabLst>
                <a:tab pos="467995" algn="l"/>
              </a:tabLst>
            </a:pPr>
            <a:r>
              <a:rPr sz="2400" b="1" dirty="0">
                <a:latin typeface="Calibri"/>
                <a:cs typeface="Calibri"/>
              </a:rPr>
              <a:t>Easy</a:t>
            </a:r>
            <a:r>
              <a:rPr sz="2400" b="1" spc="190" dirty="0">
                <a:latin typeface="Calibri"/>
                <a:cs typeface="Calibri"/>
              </a:rPr>
              <a:t> </a:t>
            </a:r>
            <a:r>
              <a:rPr sz="2400" b="1" spc="-40" dirty="0">
                <a:latin typeface="Calibri"/>
                <a:cs typeface="Calibri"/>
              </a:rPr>
              <a:t>Post-</a:t>
            </a:r>
            <a:r>
              <a:rPr sz="2400" b="1" dirty="0">
                <a:latin typeface="Calibri"/>
                <a:cs typeface="Calibri"/>
              </a:rPr>
              <a:t>Project</a:t>
            </a:r>
            <a:r>
              <a:rPr sz="2400" b="1" spc="200" dirty="0">
                <a:latin typeface="Calibri"/>
                <a:cs typeface="Calibri"/>
              </a:rPr>
              <a:t> </a:t>
            </a:r>
            <a:r>
              <a:rPr sz="2400" b="1" dirty="0">
                <a:latin typeface="Calibri"/>
                <a:cs typeface="Calibri"/>
              </a:rPr>
              <a:t>Transition.</a:t>
            </a:r>
            <a:r>
              <a:rPr sz="2400" b="1" spc="190" dirty="0">
                <a:latin typeface="Calibri"/>
                <a:cs typeface="Calibri"/>
              </a:rPr>
              <a:t> </a:t>
            </a:r>
            <a:r>
              <a:rPr sz="2400" dirty="0">
                <a:solidFill>
                  <a:srgbClr val="262EA4"/>
                </a:solidFill>
                <a:latin typeface="Calibri"/>
                <a:cs typeface="Calibri"/>
              </a:rPr>
              <a:t>Normal</a:t>
            </a:r>
            <a:r>
              <a:rPr sz="2400" spc="190" dirty="0">
                <a:solidFill>
                  <a:srgbClr val="262EA4"/>
                </a:solidFill>
                <a:latin typeface="Calibri"/>
                <a:cs typeface="Calibri"/>
              </a:rPr>
              <a:t> </a:t>
            </a:r>
            <a:r>
              <a:rPr sz="2400" dirty="0">
                <a:solidFill>
                  <a:srgbClr val="262EA4"/>
                </a:solidFill>
                <a:latin typeface="Calibri"/>
                <a:cs typeface="Calibri"/>
              </a:rPr>
              <a:t>career</a:t>
            </a:r>
            <a:r>
              <a:rPr sz="2400" spc="185" dirty="0">
                <a:solidFill>
                  <a:srgbClr val="262EA4"/>
                </a:solidFill>
                <a:latin typeface="Calibri"/>
                <a:cs typeface="Calibri"/>
              </a:rPr>
              <a:t> </a:t>
            </a:r>
            <a:r>
              <a:rPr sz="2400" dirty="0">
                <a:solidFill>
                  <a:srgbClr val="262EA4"/>
                </a:solidFill>
                <a:latin typeface="Calibri"/>
                <a:cs typeface="Calibri"/>
              </a:rPr>
              <a:t>paths</a:t>
            </a:r>
            <a:r>
              <a:rPr sz="2400" spc="190" dirty="0">
                <a:solidFill>
                  <a:srgbClr val="262EA4"/>
                </a:solidFill>
                <a:latin typeface="Calibri"/>
                <a:cs typeface="Calibri"/>
              </a:rPr>
              <a:t> </a:t>
            </a:r>
            <a:r>
              <a:rPr sz="2400" dirty="0">
                <a:solidFill>
                  <a:srgbClr val="262EA4"/>
                </a:solidFill>
                <a:latin typeface="Calibri"/>
                <a:cs typeface="Calibri"/>
              </a:rPr>
              <a:t>within</a:t>
            </a:r>
            <a:r>
              <a:rPr sz="2400" spc="195" dirty="0">
                <a:solidFill>
                  <a:srgbClr val="262EA4"/>
                </a:solidFill>
                <a:latin typeface="Calibri"/>
                <a:cs typeface="Calibri"/>
              </a:rPr>
              <a:t> </a:t>
            </a:r>
            <a:r>
              <a:rPr sz="2400" dirty="0">
                <a:solidFill>
                  <a:srgbClr val="262EA4"/>
                </a:solidFill>
                <a:latin typeface="Calibri"/>
                <a:cs typeface="Calibri"/>
              </a:rPr>
              <a:t>a</a:t>
            </a:r>
            <a:r>
              <a:rPr sz="2400" spc="195" dirty="0">
                <a:solidFill>
                  <a:srgbClr val="262EA4"/>
                </a:solidFill>
                <a:latin typeface="Calibri"/>
                <a:cs typeface="Calibri"/>
              </a:rPr>
              <a:t> </a:t>
            </a:r>
            <a:r>
              <a:rPr sz="2400" dirty="0">
                <a:solidFill>
                  <a:srgbClr val="262EA4"/>
                </a:solidFill>
                <a:latin typeface="Calibri"/>
                <a:cs typeface="Calibri"/>
              </a:rPr>
              <a:t>functional</a:t>
            </a:r>
            <a:r>
              <a:rPr sz="2400" spc="185" dirty="0">
                <a:solidFill>
                  <a:srgbClr val="262EA4"/>
                </a:solidFill>
                <a:latin typeface="Calibri"/>
                <a:cs typeface="Calibri"/>
              </a:rPr>
              <a:t> </a:t>
            </a:r>
            <a:r>
              <a:rPr sz="2400" spc="-10" dirty="0">
                <a:solidFill>
                  <a:srgbClr val="262EA4"/>
                </a:solidFill>
                <a:latin typeface="Calibri"/>
                <a:cs typeface="Calibri"/>
              </a:rPr>
              <a:t>division 	</a:t>
            </a:r>
            <a:r>
              <a:rPr sz="2400" dirty="0">
                <a:solidFill>
                  <a:srgbClr val="262EA4"/>
                </a:solidFill>
                <a:latin typeface="Calibri"/>
                <a:cs typeface="Calibri"/>
              </a:rPr>
              <a:t>are</a:t>
            </a:r>
            <a:r>
              <a:rPr sz="2400" spc="-70" dirty="0">
                <a:solidFill>
                  <a:srgbClr val="262EA4"/>
                </a:solidFill>
                <a:latin typeface="Calibri"/>
                <a:cs typeface="Calibri"/>
              </a:rPr>
              <a:t> </a:t>
            </a:r>
            <a:r>
              <a:rPr sz="2400" spc="-10" dirty="0">
                <a:solidFill>
                  <a:srgbClr val="262EA4"/>
                </a:solidFill>
                <a:latin typeface="Calibri"/>
                <a:cs typeface="Calibri"/>
              </a:rPr>
              <a:t>maintained.</a:t>
            </a:r>
            <a:endParaRPr sz="24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32</a:t>
            </a:fld>
            <a:endParaRPr spc="-50"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Functional Organization </a:t>
            </a:r>
            <a:r>
              <a:rPr sz="1950" spc="-10" dirty="0"/>
              <a:t>(2/4)</a:t>
            </a:r>
            <a:endParaRPr sz="1950" dirty="0"/>
          </a:p>
        </p:txBody>
      </p:sp>
      <p:pic>
        <p:nvPicPr>
          <p:cNvPr id="5" name="Picture 4">
            <a:extLst>
              <a:ext uri="{FF2B5EF4-FFF2-40B4-BE49-F238E27FC236}">
                <a16:creationId xmlns:a16="http://schemas.microsoft.com/office/drawing/2014/main" id="{02DCFE1F-1F41-5457-E004-2AC7CCE5E62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Functional Organization </a:t>
            </a:r>
            <a:r>
              <a:rPr sz="1950" spc="-10" dirty="0"/>
              <a:t>(3/4)</a:t>
            </a:r>
            <a:endParaRPr sz="195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33</a:t>
            </a:fld>
            <a:endParaRPr spc="-50" dirty="0"/>
          </a:p>
        </p:txBody>
      </p:sp>
      <p:sp>
        <p:nvSpPr>
          <p:cNvPr id="3" name="object 3"/>
          <p:cNvSpPr txBox="1">
            <a:spLocks noGrp="1"/>
          </p:cNvSpPr>
          <p:nvPr>
            <p:ph type="body" idx="1"/>
          </p:nvPr>
        </p:nvSpPr>
        <p:spPr>
          <a:prstGeom prst="rect">
            <a:avLst/>
          </a:prstGeom>
        </p:spPr>
        <p:txBody>
          <a:bodyPr vert="horz" wrap="square" lIns="0" tIns="111125" rIns="0" bIns="0" rtlCol="0">
            <a:spAutoFit/>
          </a:bodyPr>
          <a:lstStyle/>
          <a:p>
            <a:pPr marL="240665" indent="-227965" algn="just">
              <a:lnSpc>
                <a:spcPct val="100000"/>
              </a:lnSpc>
              <a:spcBef>
                <a:spcPts val="875"/>
              </a:spcBef>
              <a:buFont typeface="Arial MT"/>
              <a:buChar char="•"/>
              <a:tabLst>
                <a:tab pos="240665" algn="l"/>
              </a:tabLst>
            </a:pPr>
            <a:r>
              <a:rPr sz="3600" b="1" u="heavy" spc="-10" dirty="0">
                <a:solidFill>
                  <a:srgbClr val="C00000"/>
                </a:solidFill>
                <a:uFill>
                  <a:solidFill>
                    <a:srgbClr val="C00000"/>
                  </a:solidFill>
                </a:uFill>
                <a:latin typeface="Calibri"/>
                <a:cs typeface="Calibri"/>
              </a:rPr>
              <a:t>Disadvantages</a:t>
            </a:r>
            <a:endParaRPr sz="3600">
              <a:latin typeface="Calibri"/>
              <a:cs typeface="Calibri"/>
            </a:endParaRPr>
          </a:p>
          <a:p>
            <a:pPr marL="596900" marR="5080" lvl="1" indent="-357505" algn="just">
              <a:lnSpc>
                <a:spcPct val="90200"/>
              </a:lnSpc>
              <a:spcBef>
                <a:spcPts val="1030"/>
              </a:spcBef>
              <a:buAutoNum type="arabicPeriod"/>
              <a:tabLst>
                <a:tab pos="598170" algn="l"/>
              </a:tabLst>
            </a:pPr>
            <a:r>
              <a:rPr sz="3100" b="1" dirty="0">
                <a:latin typeface="Calibri"/>
                <a:cs typeface="Calibri"/>
              </a:rPr>
              <a:t>Lack</a:t>
            </a:r>
            <a:r>
              <a:rPr sz="3100" b="1" spc="180" dirty="0">
                <a:latin typeface="Calibri"/>
                <a:cs typeface="Calibri"/>
              </a:rPr>
              <a:t> </a:t>
            </a:r>
            <a:r>
              <a:rPr sz="3100" b="1" dirty="0">
                <a:latin typeface="Calibri"/>
                <a:cs typeface="Calibri"/>
              </a:rPr>
              <a:t>of</a:t>
            </a:r>
            <a:r>
              <a:rPr sz="3100" b="1" spc="185" dirty="0">
                <a:latin typeface="Calibri"/>
                <a:cs typeface="Calibri"/>
              </a:rPr>
              <a:t> </a:t>
            </a:r>
            <a:r>
              <a:rPr sz="3100" b="1" dirty="0">
                <a:latin typeface="Calibri"/>
                <a:cs typeface="Calibri"/>
              </a:rPr>
              <a:t>Focus.</a:t>
            </a:r>
            <a:r>
              <a:rPr sz="3100" b="1" spc="185" dirty="0">
                <a:latin typeface="Calibri"/>
                <a:cs typeface="Calibri"/>
              </a:rPr>
              <a:t> </a:t>
            </a:r>
            <a:r>
              <a:rPr sz="3100" dirty="0">
                <a:latin typeface="Calibri"/>
                <a:cs typeface="Calibri"/>
              </a:rPr>
              <a:t>Each</a:t>
            </a:r>
            <a:r>
              <a:rPr sz="3100" spc="180" dirty="0">
                <a:latin typeface="Calibri"/>
                <a:cs typeface="Calibri"/>
              </a:rPr>
              <a:t> </a:t>
            </a:r>
            <a:r>
              <a:rPr sz="3100" dirty="0">
                <a:latin typeface="Calibri"/>
                <a:cs typeface="Calibri"/>
              </a:rPr>
              <a:t>functional</a:t>
            </a:r>
            <a:r>
              <a:rPr sz="3100" spc="185" dirty="0">
                <a:latin typeface="Calibri"/>
                <a:cs typeface="Calibri"/>
              </a:rPr>
              <a:t> </a:t>
            </a:r>
            <a:r>
              <a:rPr sz="3100" dirty="0">
                <a:latin typeface="Calibri"/>
                <a:cs typeface="Calibri"/>
              </a:rPr>
              <a:t>unit</a:t>
            </a:r>
            <a:r>
              <a:rPr sz="3100" spc="185" dirty="0">
                <a:latin typeface="Calibri"/>
                <a:cs typeface="Calibri"/>
              </a:rPr>
              <a:t> </a:t>
            </a:r>
            <a:r>
              <a:rPr sz="3100" dirty="0">
                <a:latin typeface="Calibri"/>
                <a:cs typeface="Calibri"/>
              </a:rPr>
              <a:t>has</a:t>
            </a:r>
            <a:r>
              <a:rPr sz="3100" spc="175" dirty="0">
                <a:latin typeface="Calibri"/>
                <a:cs typeface="Calibri"/>
              </a:rPr>
              <a:t> </a:t>
            </a:r>
            <a:r>
              <a:rPr sz="3100" dirty="0">
                <a:latin typeface="Calibri"/>
                <a:cs typeface="Calibri"/>
              </a:rPr>
              <a:t>its</a:t>
            </a:r>
            <a:r>
              <a:rPr sz="3100" spc="175" dirty="0">
                <a:latin typeface="Calibri"/>
                <a:cs typeface="Calibri"/>
              </a:rPr>
              <a:t> </a:t>
            </a:r>
            <a:r>
              <a:rPr sz="3100" dirty="0">
                <a:latin typeface="Calibri"/>
                <a:cs typeface="Calibri"/>
              </a:rPr>
              <a:t>own</a:t>
            </a:r>
            <a:r>
              <a:rPr sz="3100" spc="180" dirty="0">
                <a:latin typeface="Calibri"/>
                <a:cs typeface="Calibri"/>
              </a:rPr>
              <a:t> </a:t>
            </a:r>
            <a:r>
              <a:rPr sz="3100" dirty="0">
                <a:latin typeface="Calibri"/>
                <a:cs typeface="Calibri"/>
              </a:rPr>
              <a:t>core</a:t>
            </a:r>
            <a:r>
              <a:rPr sz="3100" spc="185" dirty="0">
                <a:latin typeface="Calibri"/>
                <a:cs typeface="Calibri"/>
              </a:rPr>
              <a:t> </a:t>
            </a:r>
            <a:r>
              <a:rPr sz="3100" spc="-10" dirty="0">
                <a:latin typeface="Calibri"/>
                <a:cs typeface="Calibri"/>
              </a:rPr>
              <a:t>routine 	</a:t>
            </a:r>
            <a:r>
              <a:rPr sz="3100" dirty="0">
                <a:latin typeface="Calibri"/>
                <a:cs typeface="Calibri"/>
              </a:rPr>
              <a:t>work</a:t>
            </a:r>
            <a:r>
              <a:rPr sz="3100" spc="484" dirty="0">
                <a:latin typeface="Calibri"/>
                <a:cs typeface="Calibri"/>
              </a:rPr>
              <a:t> </a:t>
            </a:r>
            <a:r>
              <a:rPr sz="3100" dirty="0">
                <a:latin typeface="Calibri"/>
                <a:cs typeface="Calibri"/>
              </a:rPr>
              <a:t>to</a:t>
            </a:r>
            <a:r>
              <a:rPr sz="3100" spc="484" dirty="0">
                <a:latin typeface="Calibri"/>
                <a:cs typeface="Calibri"/>
              </a:rPr>
              <a:t> </a:t>
            </a:r>
            <a:r>
              <a:rPr sz="3100" dirty="0">
                <a:latin typeface="Calibri"/>
                <a:cs typeface="Calibri"/>
              </a:rPr>
              <a:t>do;</a:t>
            </a:r>
            <a:r>
              <a:rPr sz="3100" spc="475" dirty="0">
                <a:latin typeface="Calibri"/>
                <a:cs typeface="Calibri"/>
              </a:rPr>
              <a:t> </a:t>
            </a:r>
            <a:r>
              <a:rPr sz="3100" dirty="0">
                <a:latin typeface="Calibri"/>
                <a:cs typeface="Calibri"/>
              </a:rPr>
              <a:t>sometimes</a:t>
            </a:r>
            <a:r>
              <a:rPr sz="3100" spc="465" dirty="0">
                <a:latin typeface="Calibri"/>
                <a:cs typeface="Calibri"/>
              </a:rPr>
              <a:t> </a:t>
            </a:r>
            <a:r>
              <a:rPr sz="3100" dirty="0">
                <a:latin typeface="Calibri"/>
                <a:cs typeface="Calibri"/>
              </a:rPr>
              <a:t>project</a:t>
            </a:r>
            <a:r>
              <a:rPr sz="3100" spc="480" dirty="0">
                <a:latin typeface="Calibri"/>
                <a:cs typeface="Calibri"/>
              </a:rPr>
              <a:t> </a:t>
            </a:r>
            <a:r>
              <a:rPr sz="3100" dirty="0">
                <a:latin typeface="Calibri"/>
                <a:cs typeface="Calibri"/>
              </a:rPr>
              <a:t>responsibilities</a:t>
            </a:r>
            <a:r>
              <a:rPr sz="3100" spc="459" dirty="0">
                <a:latin typeface="Calibri"/>
                <a:cs typeface="Calibri"/>
              </a:rPr>
              <a:t> </a:t>
            </a:r>
            <a:r>
              <a:rPr sz="3100" dirty="0">
                <a:latin typeface="Calibri"/>
                <a:cs typeface="Calibri"/>
              </a:rPr>
              <a:t>get</a:t>
            </a:r>
            <a:r>
              <a:rPr sz="3100" spc="484" dirty="0">
                <a:latin typeface="Calibri"/>
                <a:cs typeface="Calibri"/>
              </a:rPr>
              <a:t> </a:t>
            </a:r>
            <a:r>
              <a:rPr sz="3100" spc="-10" dirty="0">
                <a:latin typeface="Calibri"/>
                <a:cs typeface="Calibri"/>
              </a:rPr>
              <a:t>pushed 	</a:t>
            </a:r>
            <a:r>
              <a:rPr sz="3100" dirty="0">
                <a:latin typeface="Calibri"/>
                <a:cs typeface="Calibri"/>
              </a:rPr>
              <a:t>aside</a:t>
            </a:r>
            <a:r>
              <a:rPr sz="3100" spc="580" dirty="0">
                <a:latin typeface="Calibri"/>
                <a:cs typeface="Calibri"/>
              </a:rPr>
              <a:t>  </a:t>
            </a:r>
            <a:r>
              <a:rPr sz="3100" dirty="0">
                <a:latin typeface="Calibri"/>
                <a:cs typeface="Calibri"/>
              </a:rPr>
              <a:t>to</a:t>
            </a:r>
            <a:r>
              <a:rPr sz="3100" spc="585" dirty="0">
                <a:latin typeface="Calibri"/>
                <a:cs typeface="Calibri"/>
              </a:rPr>
              <a:t>  </a:t>
            </a:r>
            <a:r>
              <a:rPr sz="3100" dirty="0">
                <a:latin typeface="Calibri"/>
                <a:cs typeface="Calibri"/>
              </a:rPr>
              <a:t>meet</a:t>
            </a:r>
            <a:r>
              <a:rPr sz="3100" spc="585" dirty="0">
                <a:latin typeface="Calibri"/>
                <a:cs typeface="Calibri"/>
              </a:rPr>
              <a:t>  </a:t>
            </a:r>
            <a:r>
              <a:rPr sz="3100" dirty="0">
                <a:latin typeface="Calibri"/>
                <a:cs typeface="Calibri"/>
              </a:rPr>
              <a:t>primary</a:t>
            </a:r>
            <a:r>
              <a:rPr sz="3100" spc="585" dirty="0">
                <a:latin typeface="Calibri"/>
                <a:cs typeface="Calibri"/>
              </a:rPr>
              <a:t>  </a:t>
            </a:r>
            <a:r>
              <a:rPr sz="3100" dirty="0">
                <a:latin typeface="Calibri"/>
                <a:cs typeface="Calibri"/>
              </a:rPr>
              <a:t>obligations.</a:t>
            </a:r>
            <a:r>
              <a:rPr sz="3100" spc="585" dirty="0">
                <a:latin typeface="Calibri"/>
                <a:cs typeface="Calibri"/>
              </a:rPr>
              <a:t>  </a:t>
            </a:r>
            <a:r>
              <a:rPr sz="3100" dirty="0">
                <a:latin typeface="Calibri"/>
                <a:cs typeface="Calibri"/>
              </a:rPr>
              <a:t>This</a:t>
            </a:r>
            <a:r>
              <a:rPr sz="3100" spc="580" dirty="0">
                <a:latin typeface="Calibri"/>
                <a:cs typeface="Calibri"/>
              </a:rPr>
              <a:t>  </a:t>
            </a:r>
            <a:r>
              <a:rPr sz="3100" dirty="0">
                <a:latin typeface="Calibri"/>
                <a:cs typeface="Calibri"/>
              </a:rPr>
              <a:t>difficulty</a:t>
            </a:r>
            <a:r>
              <a:rPr sz="3100" spc="585" dirty="0">
                <a:latin typeface="Calibri"/>
                <a:cs typeface="Calibri"/>
              </a:rPr>
              <a:t>  </a:t>
            </a:r>
            <a:r>
              <a:rPr sz="3100" spc="-25" dirty="0">
                <a:latin typeface="Calibri"/>
                <a:cs typeface="Calibri"/>
              </a:rPr>
              <a:t>is 	</a:t>
            </a:r>
            <a:r>
              <a:rPr sz="3100" dirty="0">
                <a:latin typeface="Calibri"/>
                <a:cs typeface="Calibri"/>
              </a:rPr>
              <a:t>compounded</a:t>
            </a:r>
            <a:r>
              <a:rPr sz="3100" spc="610" dirty="0">
                <a:latin typeface="Calibri"/>
                <a:cs typeface="Calibri"/>
              </a:rPr>
              <a:t> </a:t>
            </a:r>
            <a:r>
              <a:rPr sz="3100" dirty="0">
                <a:latin typeface="Calibri"/>
                <a:cs typeface="Calibri"/>
              </a:rPr>
              <a:t>when</a:t>
            </a:r>
            <a:r>
              <a:rPr sz="3100" spc="610" dirty="0">
                <a:latin typeface="Calibri"/>
                <a:cs typeface="Calibri"/>
              </a:rPr>
              <a:t> </a:t>
            </a:r>
            <a:r>
              <a:rPr sz="3100" dirty="0">
                <a:latin typeface="Calibri"/>
                <a:cs typeface="Calibri"/>
              </a:rPr>
              <a:t>the</a:t>
            </a:r>
            <a:r>
              <a:rPr sz="3100" spc="610" dirty="0">
                <a:latin typeface="Calibri"/>
                <a:cs typeface="Calibri"/>
              </a:rPr>
              <a:t> </a:t>
            </a:r>
            <a:r>
              <a:rPr sz="3100" dirty="0">
                <a:latin typeface="Calibri"/>
                <a:cs typeface="Calibri"/>
              </a:rPr>
              <a:t>project</a:t>
            </a:r>
            <a:r>
              <a:rPr sz="3100" spc="610" dirty="0">
                <a:latin typeface="Calibri"/>
                <a:cs typeface="Calibri"/>
              </a:rPr>
              <a:t> </a:t>
            </a:r>
            <a:r>
              <a:rPr sz="3100" dirty="0">
                <a:latin typeface="Calibri"/>
                <a:cs typeface="Calibri"/>
              </a:rPr>
              <a:t>has</a:t>
            </a:r>
            <a:r>
              <a:rPr sz="3100" spc="590" dirty="0">
                <a:latin typeface="Calibri"/>
                <a:cs typeface="Calibri"/>
              </a:rPr>
              <a:t> </a:t>
            </a:r>
            <a:r>
              <a:rPr sz="3100" dirty="0">
                <a:latin typeface="Calibri"/>
                <a:cs typeface="Calibri"/>
              </a:rPr>
              <a:t>different</a:t>
            </a:r>
            <a:r>
              <a:rPr sz="3100" spc="615" dirty="0">
                <a:latin typeface="Calibri"/>
                <a:cs typeface="Calibri"/>
              </a:rPr>
              <a:t> </a:t>
            </a:r>
            <a:r>
              <a:rPr sz="3100" dirty="0">
                <a:latin typeface="Calibri"/>
                <a:cs typeface="Calibri"/>
              </a:rPr>
              <a:t>priorities</a:t>
            </a:r>
            <a:r>
              <a:rPr sz="3100" spc="585" dirty="0">
                <a:latin typeface="Calibri"/>
                <a:cs typeface="Calibri"/>
              </a:rPr>
              <a:t> </a:t>
            </a:r>
            <a:r>
              <a:rPr sz="3100" spc="-25" dirty="0">
                <a:latin typeface="Calibri"/>
                <a:cs typeface="Calibri"/>
              </a:rPr>
              <a:t>for 	</a:t>
            </a:r>
            <a:r>
              <a:rPr sz="3100" spc="-10" dirty="0">
                <a:latin typeface="Calibri"/>
                <a:cs typeface="Calibri"/>
              </a:rPr>
              <a:t>different</a:t>
            </a:r>
            <a:r>
              <a:rPr sz="3100" spc="-140" dirty="0">
                <a:latin typeface="Calibri"/>
                <a:cs typeface="Calibri"/>
              </a:rPr>
              <a:t> </a:t>
            </a:r>
            <a:r>
              <a:rPr sz="3100" spc="-10" dirty="0">
                <a:latin typeface="Calibri"/>
                <a:cs typeface="Calibri"/>
              </a:rPr>
              <a:t>units.</a:t>
            </a:r>
            <a:endParaRPr sz="3100">
              <a:latin typeface="Calibri"/>
              <a:cs typeface="Calibri"/>
            </a:endParaRPr>
          </a:p>
          <a:p>
            <a:pPr marL="596900" marR="5080" lvl="1" indent="-357505" algn="just">
              <a:lnSpc>
                <a:spcPct val="89700"/>
              </a:lnSpc>
              <a:spcBef>
                <a:spcPts val="1055"/>
              </a:spcBef>
              <a:buAutoNum type="arabicPeriod"/>
              <a:tabLst>
                <a:tab pos="598170" algn="l"/>
              </a:tabLst>
            </a:pPr>
            <a:r>
              <a:rPr sz="3100" b="1" dirty="0">
                <a:latin typeface="Calibri"/>
                <a:cs typeface="Calibri"/>
              </a:rPr>
              <a:t>Poor</a:t>
            </a:r>
            <a:r>
              <a:rPr sz="3100" b="1" spc="120" dirty="0">
                <a:latin typeface="Calibri"/>
                <a:cs typeface="Calibri"/>
              </a:rPr>
              <a:t>  </a:t>
            </a:r>
            <a:r>
              <a:rPr sz="3100" b="1" dirty="0">
                <a:latin typeface="Calibri"/>
                <a:cs typeface="Calibri"/>
              </a:rPr>
              <a:t>Integration.</a:t>
            </a:r>
            <a:r>
              <a:rPr sz="3100" b="1" spc="120" dirty="0">
                <a:latin typeface="Calibri"/>
                <a:cs typeface="Calibri"/>
              </a:rPr>
              <a:t>  </a:t>
            </a:r>
            <a:r>
              <a:rPr sz="3100" dirty="0">
                <a:solidFill>
                  <a:srgbClr val="262EA4"/>
                </a:solidFill>
                <a:latin typeface="Calibri"/>
                <a:cs typeface="Calibri"/>
              </a:rPr>
              <a:t>There</a:t>
            </a:r>
            <a:r>
              <a:rPr sz="3100" spc="120" dirty="0">
                <a:solidFill>
                  <a:srgbClr val="262EA4"/>
                </a:solidFill>
                <a:latin typeface="Calibri"/>
                <a:cs typeface="Calibri"/>
              </a:rPr>
              <a:t>  </a:t>
            </a:r>
            <a:r>
              <a:rPr sz="3100" dirty="0">
                <a:solidFill>
                  <a:srgbClr val="262EA4"/>
                </a:solidFill>
                <a:latin typeface="Calibri"/>
                <a:cs typeface="Calibri"/>
              </a:rPr>
              <a:t>may</a:t>
            </a:r>
            <a:r>
              <a:rPr sz="3100" spc="125" dirty="0">
                <a:solidFill>
                  <a:srgbClr val="262EA4"/>
                </a:solidFill>
                <a:latin typeface="Calibri"/>
                <a:cs typeface="Calibri"/>
              </a:rPr>
              <a:t>  </a:t>
            </a:r>
            <a:r>
              <a:rPr sz="3100" dirty="0">
                <a:solidFill>
                  <a:srgbClr val="262EA4"/>
                </a:solidFill>
                <a:latin typeface="Calibri"/>
                <a:cs typeface="Calibri"/>
              </a:rPr>
              <a:t>be</a:t>
            </a:r>
            <a:r>
              <a:rPr sz="3100" spc="120" dirty="0">
                <a:solidFill>
                  <a:srgbClr val="262EA4"/>
                </a:solidFill>
                <a:latin typeface="Calibri"/>
                <a:cs typeface="Calibri"/>
              </a:rPr>
              <a:t>  </a:t>
            </a:r>
            <a:r>
              <a:rPr sz="3100" dirty="0">
                <a:solidFill>
                  <a:srgbClr val="262EA4"/>
                </a:solidFill>
                <a:latin typeface="Calibri"/>
                <a:cs typeface="Calibri"/>
              </a:rPr>
              <a:t>poor</a:t>
            </a:r>
            <a:r>
              <a:rPr sz="3100" spc="120" dirty="0">
                <a:solidFill>
                  <a:srgbClr val="262EA4"/>
                </a:solidFill>
                <a:latin typeface="Calibri"/>
                <a:cs typeface="Calibri"/>
              </a:rPr>
              <a:t>  </a:t>
            </a:r>
            <a:r>
              <a:rPr sz="3100" dirty="0">
                <a:solidFill>
                  <a:srgbClr val="262EA4"/>
                </a:solidFill>
                <a:latin typeface="Calibri"/>
                <a:cs typeface="Calibri"/>
              </a:rPr>
              <a:t>integration</a:t>
            </a:r>
            <a:r>
              <a:rPr sz="3100" spc="110" dirty="0">
                <a:solidFill>
                  <a:srgbClr val="262EA4"/>
                </a:solidFill>
                <a:latin typeface="Calibri"/>
                <a:cs typeface="Calibri"/>
              </a:rPr>
              <a:t>  </a:t>
            </a:r>
            <a:r>
              <a:rPr sz="3100" spc="-10" dirty="0">
                <a:solidFill>
                  <a:srgbClr val="262EA4"/>
                </a:solidFill>
                <a:latin typeface="Calibri"/>
                <a:cs typeface="Calibri"/>
              </a:rPr>
              <a:t>across 	</a:t>
            </a:r>
            <a:r>
              <a:rPr sz="3100" dirty="0">
                <a:solidFill>
                  <a:srgbClr val="262EA4"/>
                </a:solidFill>
                <a:latin typeface="Calibri"/>
                <a:cs typeface="Calibri"/>
              </a:rPr>
              <a:t>functional</a:t>
            </a:r>
            <a:r>
              <a:rPr sz="3100" spc="114" dirty="0">
                <a:solidFill>
                  <a:srgbClr val="262EA4"/>
                </a:solidFill>
                <a:latin typeface="Calibri"/>
                <a:cs typeface="Calibri"/>
              </a:rPr>
              <a:t> </a:t>
            </a:r>
            <a:r>
              <a:rPr sz="3100" dirty="0">
                <a:solidFill>
                  <a:srgbClr val="262EA4"/>
                </a:solidFill>
                <a:latin typeface="Calibri"/>
                <a:cs typeface="Calibri"/>
              </a:rPr>
              <a:t>units.</a:t>
            </a:r>
            <a:r>
              <a:rPr sz="3100" spc="125" dirty="0">
                <a:solidFill>
                  <a:srgbClr val="262EA4"/>
                </a:solidFill>
                <a:latin typeface="Calibri"/>
                <a:cs typeface="Calibri"/>
              </a:rPr>
              <a:t> </a:t>
            </a:r>
            <a:r>
              <a:rPr sz="3100" dirty="0">
                <a:solidFill>
                  <a:srgbClr val="262EA4"/>
                </a:solidFill>
                <a:latin typeface="Calibri"/>
                <a:cs typeface="Calibri"/>
              </a:rPr>
              <a:t>Functional</a:t>
            </a:r>
            <a:r>
              <a:rPr sz="3100" spc="125" dirty="0">
                <a:solidFill>
                  <a:srgbClr val="262EA4"/>
                </a:solidFill>
                <a:latin typeface="Calibri"/>
                <a:cs typeface="Calibri"/>
              </a:rPr>
              <a:t> </a:t>
            </a:r>
            <a:r>
              <a:rPr sz="3100" dirty="0">
                <a:solidFill>
                  <a:srgbClr val="262EA4"/>
                </a:solidFill>
                <a:latin typeface="Calibri"/>
                <a:cs typeface="Calibri"/>
              </a:rPr>
              <a:t>specialists</a:t>
            </a:r>
            <a:r>
              <a:rPr sz="3100" spc="120" dirty="0">
                <a:solidFill>
                  <a:srgbClr val="262EA4"/>
                </a:solidFill>
                <a:latin typeface="Calibri"/>
                <a:cs typeface="Calibri"/>
              </a:rPr>
              <a:t> </a:t>
            </a:r>
            <a:r>
              <a:rPr sz="3100" dirty="0">
                <a:solidFill>
                  <a:srgbClr val="262EA4"/>
                </a:solidFill>
                <a:latin typeface="Calibri"/>
                <a:cs typeface="Calibri"/>
              </a:rPr>
              <a:t>tend</a:t>
            </a:r>
            <a:r>
              <a:rPr sz="3100" spc="114" dirty="0">
                <a:solidFill>
                  <a:srgbClr val="262EA4"/>
                </a:solidFill>
                <a:latin typeface="Calibri"/>
                <a:cs typeface="Calibri"/>
              </a:rPr>
              <a:t> </a:t>
            </a:r>
            <a:r>
              <a:rPr sz="3100" dirty="0">
                <a:solidFill>
                  <a:srgbClr val="262EA4"/>
                </a:solidFill>
                <a:latin typeface="Calibri"/>
                <a:cs typeface="Calibri"/>
              </a:rPr>
              <a:t>to</a:t>
            </a:r>
            <a:r>
              <a:rPr sz="3100" spc="120" dirty="0">
                <a:solidFill>
                  <a:srgbClr val="262EA4"/>
                </a:solidFill>
                <a:latin typeface="Calibri"/>
                <a:cs typeface="Calibri"/>
              </a:rPr>
              <a:t> </a:t>
            </a:r>
            <a:r>
              <a:rPr sz="3100" dirty="0">
                <a:solidFill>
                  <a:srgbClr val="262EA4"/>
                </a:solidFill>
                <a:latin typeface="Calibri"/>
                <a:cs typeface="Calibri"/>
              </a:rPr>
              <a:t>be</a:t>
            </a:r>
            <a:r>
              <a:rPr sz="3100" spc="110" dirty="0">
                <a:solidFill>
                  <a:srgbClr val="262EA4"/>
                </a:solidFill>
                <a:latin typeface="Calibri"/>
                <a:cs typeface="Calibri"/>
              </a:rPr>
              <a:t> </a:t>
            </a:r>
            <a:r>
              <a:rPr sz="3100" spc="-10" dirty="0">
                <a:solidFill>
                  <a:srgbClr val="262EA4"/>
                </a:solidFill>
                <a:latin typeface="Calibri"/>
                <a:cs typeface="Calibri"/>
              </a:rPr>
              <a:t>concerned 	</a:t>
            </a:r>
            <a:r>
              <a:rPr sz="3100" dirty="0">
                <a:solidFill>
                  <a:srgbClr val="262EA4"/>
                </a:solidFill>
                <a:latin typeface="Calibri"/>
                <a:cs typeface="Calibri"/>
              </a:rPr>
              <a:t>only</a:t>
            </a:r>
            <a:r>
              <a:rPr sz="3100" spc="195" dirty="0">
                <a:solidFill>
                  <a:srgbClr val="262EA4"/>
                </a:solidFill>
                <a:latin typeface="Calibri"/>
                <a:cs typeface="Calibri"/>
              </a:rPr>
              <a:t> </a:t>
            </a:r>
            <a:r>
              <a:rPr sz="3100" dirty="0">
                <a:solidFill>
                  <a:srgbClr val="262EA4"/>
                </a:solidFill>
                <a:latin typeface="Calibri"/>
                <a:cs typeface="Calibri"/>
              </a:rPr>
              <a:t>with</a:t>
            </a:r>
            <a:r>
              <a:rPr sz="3100" spc="204" dirty="0">
                <a:solidFill>
                  <a:srgbClr val="262EA4"/>
                </a:solidFill>
                <a:latin typeface="Calibri"/>
                <a:cs typeface="Calibri"/>
              </a:rPr>
              <a:t> </a:t>
            </a:r>
            <a:r>
              <a:rPr sz="3100" dirty="0">
                <a:solidFill>
                  <a:srgbClr val="262EA4"/>
                </a:solidFill>
                <a:latin typeface="Calibri"/>
                <a:cs typeface="Calibri"/>
              </a:rPr>
              <a:t>their</a:t>
            </a:r>
            <a:r>
              <a:rPr sz="3100" spc="204" dirty="0">
                <a:solidFill>
                  <a:srgbClr val="262EA4"/>
                </a:solidFill>
                <a:latin typeface="Calibri"/>
                <a:cs typeface="Calibri"/>
              </a:rPr>
              <a:t> </a:t>
            </a:r>
            <a:r>
              <a:rPr sz="3100" dirty="0">
                <a:solidFill>
                  <a:srgbClr val="262EA4"/>
                </a:solidFill>
                <a:latin typeface="Calibri"/>
                <a:cs typeface="Calibri"/>
              </a:rPr>
              <a:t>segment</a:t>
            </a:r>
            <a:r>
              <a:rPr sz="3100" spc="195" dirty="0">
                <a:solidFill>
                  <a:srgbClr val="262EA4"/>
                </a:solidFill>
                <a:latin typeface="Calibri"/>
                <a:cs typeface="Calibri"/>
              </a:rPr>
              <a:t> </a:t>
            </a:r>
            <a:r>
              <a:rPr sz="3100" dirty="0">
                <a:solidFill>
                  <a:srgbClr val="262EA4"/>
                </a:solidFill>
                <a:latin typeface="Calibri"/>
                <a:cs typeface="Calibri"/>
              </a:rPr>
              <a:t>of</a:t>
            </a:r>
            <a:r>
              <a:rPr sz="3100" spc="210" dirty="0">
                <a:solidFill>
                  <a:srgbClr val="262EA4"/>
                </a:solidFill>
                <a:latin typeface="Calibri"/>
                <a:cs typeface="Calibri"/>
              </a:rPr>
              <a:t> </a:t>
            </a:r>
            <a:r>
              <a:rPr sz="3100" dirty="0">
                <a:solidFill>
                  <a:srgbClr val="262EA4"/>
                </a:solidFill>
                <a:latin typeface="Calibri"/>
                <a:cs typeface="Calibri"/>
              </a:rPr>
              <a:t>the</a:t>
            </a:r>
            <a:r>
              <a:rPr sz="3100" spc="204" dirty="0">
                <a:solidFill>
                  <a:srgbClr val="262EA4"/>
                </a:solidFill>
                <a:latin typeface="Calibri"/>
                <a:cs typeface="Calibri"/>
              </a:rPr>
              <a:t> </a:t>
            </a:r>
            <a:r>
              <a:rPr sz="3100" dirty="0">
                <a:solidFill>
                  <a:srgbClr val="262EA4"/>
                </a:solidFill>
                <a:latin typeface="Calibri"/>
                <a:cs typeface="Calibri"/>
              </a:rPr>
              <a:t>project</a:t>
            </a:r>
            <a:r>
              <a:rPr sz="3100" spc="195" dirty="0">
                <a:solidFill>
                  <a:srgbClr val="262EA4"/>
                </a:solidFill>
                <a:latin typeface="Calibri"/>
                <a:cs typeface="Calibri"/>
              </a:rPr>
              <a:t> </a:t>
            </a:r>
            <a:r>
              <a:rPr sz="3100" dirty="0">
                <a:solidFill>
                  <a:srgbClr val="262EA4"/>
                </a:solidFill>
                <a:latin typeface="Calibri"/>
                <a:cs typeface="Calibri"/>
              </a:rPr>
              <a:t>and</a:t>
            </a:r>
            <a:r>
              <a:rPr sz="3100" spc="204" dirty="0">
                <a:solidFill>
                  <a:srgbClr val="262EA4"/>
                </a:solidFill>
                <a:latin typeface="Calibri"/>
                <a:cs typeface="Calibri"/>
              </a:rPr>
              <a:t> </a:t>
            </a:r>
            <a:r>
              <a:rPr sz="3100" dirty="0">
                <a:solidFill>
                  <a:srgbClr val="262EA4"/>
                </a:solidFill>
                <a:latin typeface="Calibri"/>
                <a:cs typeface="Calibri"/>
              </a:rPr>
              <a:t>not</a:t>
            </a:r>
            <a:r>
              <a:rPr sz="3100" spc="204" dirty="0">
                <a:solidFill>
                  <a:srgbClr val="262EA4"/>
                </a:solidFill>
                <a:latin typeface="Calibri"/>
                <a:cs typeface="Calibri"/>
              </a:rPr>
              <a:t> </a:t>
            </a:r>
            <a:r>
              <a:rPr sz="3100" dirty="0">
                <a:solidFill>
                  <a:srgbClr val="262EA4"/>
                </a:solidFill>
                <a:latin typeface="Calibri"/>
                <a:cs typeface="Calibri"/>
              </a:rPr>
              <a:t>with</a:t>
            </a:r>
            <a:r>
              <a:rPr sz="3100" spc="200" dirty="0">
                <a:solidFill>
                  <a:srgbClr val="262EA4"/>
                </a:solidFill>
                <a:latin typeface="Calibri"/>
                <a:cs typeface="Calibri"/>
              </a:rPr>
              <a:t> </a:t>
            </a:r>
            <a:r>
              <a:rPr sz="3100" dirty="0">
                <a:solidFill>
                  <a:srgbClr val="262EA4"/>
                </a:solidFill>
                <a:latin typeface="Calibri"/>
                <a:cs typeface="Calibri"/>
              </a:rPr>
              <a:t>what</a:t>
            </a:r>
            <a:r>
              <a:rPr sz="3100" spc="204" dirty="0">
                <a:solidFill>
                  <a:srgbClr val="262EA4"/>
                </a:solidFill>
                <a:latin typeface="Calibri"/>
                <a:cs typeface="Calibri"/>
              </a:rPr>
              <a:t> </a:t>
            </a:r>
            <a:r>
              <a:rPr sz="3100" spc="-25" dirty="0">
                <a:solidFill>
                  <a:srgbClr val="262EA4"/>
                </a:solidFill>
                <a:latin typeface="Calibri"/>
                <a:cs typeface="Calibri"/>
              </a:rPr>
              <a:t>is 	</a:t>
            </a:r>
            <a:r>
              <a:rPr sz="3100" dirty="0">
                <a:solidFill>
                  <a:srgbClr val="262EA4"/>
                </a:solidFill>
                <a:latin typeface="Calibri"/>
                <a:cs typeface="Calibri"/>
              </a:rPr>
              <a:t>best</a:t>
            </a:r>
            <a:r>
              <a:rPr sz="3100" spc="-85" dirty="0">
                <a:solidFill>
                  <a:srgbClr val="262EA4"/>
                </a:solidFill>
                <a:latin typeface="Calibri"/>
                <a:cs typeface="Calibri"/>
              </a:rPr>
              <a:t> </a:t>
            </a:r>
            <a:r>
              <a:rPr sz="3100" dirty="0">
                <a:solidFill>
                  <a:srgbClr val="262EA4"/>
                </a:solidFill>
                <a:latin typeface="Calibri"/>
                <a:cs typeface="Calibri"/>
              </a:rPr>
              <a:t>for</a:t>
            </a:r>
            <a:r>
              <a:rPr sz="3100" spc="-80" dirty="0">
                <a:solidFill>
                  <a:srgbClr val="262EA4"/>
                </a:solidFill>
                <a:latin typeface="Calibri"/>
                <a:cs typeface="Calibri"/>
              </a:rPr>
              <a:t> </a:t>
            </a:r>
            <a:r>
              <a:rPr sz="3100" dirty="0">
                <a:solidFill>
                  <a:srgbClr val="262EA4"/>
                </a:solidFill>
                <a:latin typeface="Calibri"/>
                <a:cs typeface="Calibri"/>
              </a:rPr>
              <a:t>the</a:t>
            </a:r>
            <a:r>
              <a:rPr sz="3100" spc="-75" dirty="0">
                <a:solidFill>
                  <a:srgbClr val="262EA4"/>
                </a:solidFill>
                <a:latin typeface="Calibri"/>
                <a:cs typeface="Calibri"/>
              </a:rPr>
              <a:t> </a:t>
            </a:r>
            <a:r>
              <a:rPr sz="3100" dirty="0">
                <a:solidFill>
                  <a:srgbClr val="262EA4"/>
                </a:solidFill>
                <a:latin typeface="Calibri"/>
                <a:cs typeface="Calibri"/>
              </a:rPr>
              <a:t>total</a:t>
            </a:r>
            <a:r>
              <a:rPr sz="3100" spc="-75" dirty="0">
                <a:solidFill>
                  <a:srgbClr val="262EA4"/>
                </a:solidFill>
                <a:latin typeface="Calibri"/>
                <a:cs typeface="Calibri"/>
              </a:rPr>
              <a:t> </a:t>
            </a:r>
            <a:r>
              <a:rPr sz="3100" spc="-10" dirty="0">
                <a:solidFill>
                  <a:srgbClr val="262EA4"/>
                </a:solidFill>
                <a:latin typeface="Calibri"/>
                <a:cs typeface="Calibri"/>
              </a:rPr>
              <a:t>project.</a:t>
            </a:r>
            <a:endParaRPr sz="3100">
              <a:latin typeface="Calibri"/>
              <a:cs typeface="Calibri"/>
            </a:endParaRPr>
          </a:p>
        </p:txBody>
      </p:sp>
      <p:pic>
        <p:nvPicPr>
          <p:cNvPr id="5" name="Picture 4">
            <a:extLst>
              <a:ext uri="{FF2B5EF4-FFF2-40B4-BE49-F238E27FC236}">
                <a16:creationId xmlns:a16="http://schemas.microsoft.com/office/drawing/2014/main" id="{E8107189-3754-C245-2710-037B2D39665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Functional Organization </a:t>
            </a:r>
            <a:r>
              <a:rPr sz="1950" spc="-10" dirty="0"/>
              <a:t>(4/4)</a:t>
            </a:r>
            <a:endParaRPr sz="195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34</a:t>
            </a:fld>
            <a:endParaRPr spc="-50" dirty="0"/>
          </a:p>
        </p:txBody>
      </p:sp>
      <p:sp>
        <p:nvSpPr>
          <p:cNvPr id="3" name="object 3"/>
          <p:cNvSpPr txBox="1"/>
          <p:nvPr/>
        </p:nvSpPr>
        <p:spPr>
          <a:xfrm>
            <a:off x="574036" y="1366302"/>
            <a:ext cx="11196320" cy="5188585"/>
          </a:xfrm>
          <a:prstGeom prst="rect">
            <a:avLst/>
          </a:prstGeom>
        </p:spPr>
        <p:txBody>
          <a:bodyPr vert="horz" wrap="square" lIns="0" tIns="139065" rIns="0" bIns="0" rtlCol="0">
            <a:spAutoFit/>
          </a:bodyPr>
          <a:lstStyle/>
          <a:p>
            <a:pPr marL="240665" indent="-227965">
              <a:lnSpc>
                <a:spcPct val="100000"/>
              </a:lnSpc>
              <a:spcBef>
                <a:spcPts val="1095"/>
              </a:spcBef>
              <a:buFont typeface="Arial MT"/>
              <a:buChar char="•"/>
              <a:tabLst>
                <a:tab pos="240665" algn="l"/>
              </a:tabLst>
            </a:pPr>
            <a:r>
              <a:rPr sz="3600" b="1" u="heavy" spc="-10" dirty="0">
                <a:solidFill>
                  <a:srgbClr val="C00000"/>
                </a:solidFill>
                <a:uFill>
                  <a:solidFill>
                    <a:srgbClr val="C00000"/>
                  </a:solidFill>
                </a:uFill>
                <a:latin typeface="Calibri"/>
                <a:cs typeface="Calibri"/>
              </a:rPr>
              <a:t>Disadvantages</a:t>
            </a:r>
            <a:r>
              <a:rPr sz="3600" b="1" u="heavy" spc="-195" dirty="0">
                <a:solidFill>
                  <a:srgbClr val="C00000"/>
                </a:solidFill>
                <a:uFill>
                  <a:solidFill>
                    <a:srgbClr val="C00000"/>
                  </a:solidFill>
                </a:uFill>
                <a:latin typeface="Calibri"/>
                <a:cs typeface="Calibri"/>
              </a:rPr>
              <a:t> </a:t>
            </a:r>
            <a:r>
              <a:rPr sz="2600" b="1" u="heavy" spc="-10" dirty="0">
                <a:solidFill>
                  <a:srgbClr val="C00000"/>
                </a:solidFill>
                <a:uFill>
                  <a:solidFill>
                    <a:srgbClr val="C00000"/>
                  </a:solidFill>
                </a:uFill>
                <a:latin typeface="Calibri"/>
                <a:cs typeface="Calibri"/>
              </a:rPr>
              <a:t>(cont.)</a:t>
            </a:r>
            <a:endParaRPr sz="2600" dirty="0">
              <a:latin typeface="Calibri"/>
              <a:cs typeface="Calibri"/>
            </a:endParaRPr>
          </a:p>
          <a:p>
            <a:pPr marL="647700" marR="5080" lvl="1" indent="-408305" algn="just">
              <a:lnSpc>
                <a:spcPct val="89900"/>
              </a:lnSpc>
              <a:spcBef>
                <a:spcPts val="1115"/>
              </a:spcBef>
              <a:buAutoNum type="arabicPeriod" startAt="3"/>
              <a:tabLst>
                <a:tab pos="647700" algn="l"/>
              </a:tabLst>
            </a:pPr>
            <a:r>
              <a:rPr sz="2800" b="1" dirty="0">
                <a:latin typeface="Calibri"/>
                <a:cs typeface="Calibri"/>
              </a:rPr>
              <a:t>Slow.</a:t>
            </a:r>
            <a:r>
              <a:rPr sz="2800" b="1" spc="210" dirty="0">
                <a:latin typeface="Calibri"/>
                <a:cs typeface="Calibri"/>
              </a:rPr>
              <a:t>  </a:t>
            </a:r>
            <a:r>
              <a:rPr sz="2800" dirty="0">
                <a:latin typeface="Calibri"/>
                <a:cs typeface="Calibri"/>
              </a:rPr>
              <a:t>It</a:t>
            </a:r>
            <a:r>
              <a:rPr sz="2800" spc="210" dirty="0">
                <a:latin typeface="Calibri"/>
                <a:cs typeface="Calibri"/>
              </a:rPr>
              <a:t>  </a:t>
            </a:r>
            <a:r>
              <a:rPr sz="2800" dirty="0">
                <a:latin typeface="Calibri"/>
                <a:cs typeface="Calibri"/>
              </a:rPr>
              <a:t>generally</a:t>
            </a:r>
            <a:r>
              <a:rPr sz="2800" spc="204" dirty="0">
                <a:latin typeface="Calibri"/>
                <a:cs typeface="Calibri"/>
              </a:rPr>
              <a:t>  </a:t>
            </a:r>
            <a:r>
              <a:rPr sz="2800" dirty="0">
                <a:latin typeface="Calibri"/>
                <a:cs typeface="Calibri"/>
              </a:rPr>
              <a:t>takes</a:t>
            </a:r>
            <a:r>
              <a:rPr sz="2800" spc="215" dirty="0">
                <a:latin typeface="Calibri"/>
                <a:cs typeface="Calibri"/>
              </a:rPr>
              <a:t>  </a:t>
            </a:r>
            <a:r>
              <a:rPr sz="2800" dirty="0">
                <a:latin typeface="Calibri"/>
                <a:cs typeface="Calibri"/>
              </a:rPr>
              <a:t>longer</a:t>
            </a:r>
            <a:r>
              <a:rPr sz="2800" spc="210" dirty="0">
                <a:latin typeface="Calibri"/>
                <a:cs typeface="Calibri"/>
              </a:rPr>
              <a:t>  </a:t>
            </a:r>
            <a:r>
              <a:rPr sz="2800" dirty="0">
                <a:latin typeface="Calibri"/>
                <a:cs typeface="Calibri"/>
              </a:rPr>
              <a:t>to</a:t>
            </a:r>
            <a:r>
              <a:rPr sz="2800" spc="210" dirty="0">
                <a:latin typeface="Calibri"/>
                <a:cs typeface="Calibri"/>
              </a:rPr>
              <a:t>  </a:t>
            </a:r>
            <a:r>
              <a:rPr sz="2800" dirty="0">
                <a:latin typeface="Calibri"/>
                <a:cs typeface="Calibri"/>
              </a:rPr>
              <a:t>complete</a:t>
            </a:r>
            <a:r>
              <a:rPr sz="2800" spc="204" dirty="0">
                <a:latin typeface="Calibri"/>
                <a:cs typeface="Calibri"/>
              </a:rPr>
              <a:t>  </a:t>
            </a:r>
            <a:r>
              <a:rPr sz="2800" dirty="0">
                <a:latin typeface="Calibri"/>
                <a:cs typeface="Calibri"/>
              </a:rPr>
              <a:t>projects</a:t>
            </a:r>
            <a:r>
              <a:rPr sz="2800" spc="215" dirty="0">
                <a:latin typeface="Calibri"/>
                <a:cs typeface="Calibri"/>
              </a:rPr>
              <a:t>  </a:t>
            </a:r>
            <a:r>
              <a:rPr sz="2800" dirty="0">
                <a:latin typeface="Calibri"/>
                <a:cs typeface="Calibri"/>
              </a:rPr>
              <a:t>through</a:t>
            </a:r>
            <a:r>
              <a:rPr sz="2800" spc="210" dirty="0">
                <a:latin typeface="Calibri"/>
                <a:cs typeface="Calibri"/>
              </a:rPr>
              <a:t>  </a:t>
            </a:r>
            <a:r>
              <a:rPr sz="2800" spc="-20" dirty="0">
                <a:latin typeface="Calibri"/>
                <a:cs typeface="Calibri"/>
              </a:rPr>
              <a:t>this </a:t>
            </a:r>
            <a:r>
              <a:rPr sz="2800" dirty="0">
                <a:latin typeface="Calibri"/>
                <a:cs typeface="Calibri"/>
              </a:rPr>
              <a:t>functional</a:t>
            </a:r>
            <a:r>
              <a:rPr sz="2800" spc="570" dirty="0">
                <a:latin typeface="Calibri"/>
                <a:cs typeface="Calibri"/>
              </a:rPr>
              <a:t> </a:t>
            </a:r>
            <a:r>
              <a:rPr sz="2800" dirty="0">
                <a:latin typeface="Calibri"/>
                <a:cs typeface="Calibri"/>
              </a:rPr>
              <a:t>arrangement.</a:t>
            </a:r>
            <a:r>
              <a:rPr sz="2800" spc="580" dirty="0">
                <a:latin typeface="Calibri"/>
                <a:cs typeface="Calibri"/>
              </a:rPr>
              <a:t> </a:t>
            </a:r>
            <a:r>
              <a:rPr sz="2800" dirty="0">
                <a:latin typeface="Calibri"/>
                <a:cs typeface="Calibri"/>
              </a:rPr>
              <a:t>This</a:t>
            </a:r>
            <a:r>
              <a:rPr sz="2800" spc="585" dirty="0">
                <a:latin typeface="Calibri"/>
                <a:cs typeface="Calibri"/>
              </a:rPr>
              <a:t> </a:t>
            </a:r>
            <a:r>
              <a:rPr sz="2800" dirty="0">
                <a:latin typeface="Calibri"/>
                <a:cs typeface="Calibri"/>
              </a:rPr>
              <a:t>is</a:t>
            </a:r>
            <a:r>
              <a:rPr sz="2800" spc="575" dirty="0">
                <a:latin typeface="Calibri"/>
                <a:cs typeface="Calibri"/>
              </a:rPr>
              <a:t> </a:t>
            </a:r>
            <a:r>
              <a:rPr sz="2800" dirty="0">
                <a:latin typeface="Calibri"/>
                <a:cs typeface="Calibri"/>
              </a:rPr>
              <a:t>in</a:t>
            </a:r>
            <a:r>
              <a:rPr sz="2800" spc="575" dirty="0">
                <a:latin typeface="Calibri"/>
                <a:cs typeface="Calibri"/>
              </a:rPr>
              <a:t> </a:t>
            </a:r>
            <a:r>
              <a:rPr sz="2800" dirty="0">
                <a:latin typeface="Calibri"/>
                <a:cs typeface="Calibri"/>
              </a:rPr>
              <a:t>part</a:t>
            </a:r>
            <a:r>
              <a:rPr sz="2800" spc="580" dirty="0">
                <a:latin typeface="Calibri"/>
                <a:cs typeface="Calibri"/>
              </a:rPr>
              <a:t> </a:t>
            </a:r>
            <a:r>
              <a:rPr sz="2800" dirty="0">
                <a:latin typeface="Calibri"/>
                <a:cs typeface="Calibri"/>
              </a:rPr>
              <a:t>attributable</a:t>
            </a:r>
            <a:r>
              <a:rPr sz="2800" spc="575" dirty="0">
                <a:latin typeface="Calibri"/>
                <a:cs typeface="Calibri"/>
              </a:rPr>
              <a:t> </a:t>
            </a:r>
            <a:r>
              <a:rPr sz="2800" dirty="0">
                <a:latin typeface="Calibri"/>
                <a:cs typeface="Calibri"/>
              </a:rPr>
              <a:t>to</a:t>
            </a:r>
            <a:r>
              <a:rPr sz="2800" spc="580" dirty="0">
                <a:latin typeface="Calibri"/>
                <a:cs typeface="Calibri"/>
              </a:rPr>
              <a:t> </a:t>
            </a:r>
            <a:r>
              <a:rPr sz="2800" dirty="0">
                <a:latin typeface="Calibri"/>
                <a:cs typeface="Calibri"/>
              </a:rPr>
              <a:t>slow</a:t>
            </a:r>
            <a:r>
              <a:rPr sz="2800" spc="575" dirty="0">
                <a:latin typeface="Calibri"/>
                <a:cs typeface="Calibri"/>
              </a:rPr>
              <a:t> </a:t>
            </a:r>
            <a:r>
              <a:rPr sz="2800" spc="-10" dirty="0">
                <a:latin typeface="Calibri"/>
                <a:cs typeface="Calibri"/>
              </a:rPr>
              <a:t>response time—</a:t>
            </a:r>
            <a:r>
              <a:rPr sz="2800" dirty="0">
                <a:latin typeface="Calibri"/>
                <a:cs typeface="Calibri"/>
              </a:rPr>
              <a:t>project</a:t>
            </a:r>
            <a:r>
              <a:rPr sz="2800" spc="300" dirty="0">
                <a:latin typeface="Calibri"/>
                <a:cs typeface="Calibri"/>
              </a:rPr>
              <a:t> </a:t>
            </a:r>
            <a:r>
              <a:rPr sz="2800" dirty="0">
                <a:latin typeface="Calibri"/>
                <a:cs typeface="Calibri"/>
              </a:rPr>
              <a:t>information</a:t>
            </a:r>
            <a:r>
              <a:rPr sz="2800" spc="310" dirty="0">
                <a:latin typeface="Calibri"/>
                <a:cs typeface="Calibri"/>
              </a:rPr>
              <a:t> </a:t>
            </a:r>
            <a:r>
              <a:rPr sz="2800" dirty="0">
                <a:latin typeface="Calibri"/>
                <a:cs typeface="Calibri"/>
              </a:rPr>
              <a:t>and</a:t>
            </a:r>
            <a:r>
              <a:rPr sz="2800" spc="305" dirty="0">
                <a:latin typeface="Calibri"/>
                <a:cs typeface="Calibri"/>
              </a:rPr>
              <a:t> </a:t>
            </a:r>
            <a:r>
              <a:rPr sz="2800" dirty="0">
                <a:latin typeface="Calibri"/>
                <a:cs typeface="Calibri"/>
              </a:rPr>
              <a:t>decisions</a:t>
            </a:r>
            <a:r>
              <a:rPr sz="2800" spc="310" dirty="0">
                <a:latin typeface="Calibri"/>
                <a:cs typeface="Calibri"/>
              </a:rPr>
              <a:t> </a:t>
            </a:r>
            <a:r>
              <a:rPr sz="2800" dirty="0">
                <a:latin typeface="Calibri"/>
                <a:cs typeface="Calibri"/>
              </a:rPr>
              <a:t>have</a:t>
            </a:r>
            <a:r>
              <a:rPr sz="2800" spc="300" dirty="0">
                <a:latin typeface="Calibri"/>
                <a:cs typeface="Calibri"/>
              </a:rPr>
              <a:t> </a:t>
            </a:r>
            <a:r>
              <a:rPr sz="2800" dirty="0">
                <a:latin typeface="Calibri"/>
                <a:cs typeface="Calibri"/>
              </a:rPr>
              <a:t>to</a:t>
            </a:r>
            <a:r>
              <a:rPr sz="2800" spc="305" dirty="0">
                <a:latin typeface="Calibri"/>
                <a:cs typeface="Calibri"/>
              </a:rPr>
              <a:t> </a:t>
            </a:r>
            <a:r>
              <a:rPr sz="2800" dirty="0">
                <a:latin typeface="Calibri"/>
                <a:cs typeface="Calibri"/>
              </a:rPr>
              <a:t>be</a:t>
            </a:r>
            <a:r>
              <a:rPr sz="2800" spc="295" dirty="0">
                <a:latin typeface="Calibri"/>
                <a:cs typeface="Calibri"/>
              </a:rPr>
              <a:t> </a:t>
            </a:r>
            <a:r>
              <a:rPr sz="2800" dirty="0">
                <a:latin typeface="Calibri"/>
                <a:cs typeface="Calibri"/>
              </a:rPr>
              <a:t>circulated</a:t>
            </a:r>
            <a:r>
              <a:rPr sz="2800" spc="315" dirty="0">
                <a:latin typeface="Calibri"/>
                <a:cs typeface="Calibri"/>
              </a:rPr>
              <a:t> </a:t>
            </a:r>
            <a:r>
              <a:rPr sz="2800" spc="-10" dirty="0">
                <a:latin typeface="Calibri"/>
                <a:cs typeface="Calibri"/>
              </a:rPr>
              <a:t>through </a:t>
            </a:r>
            <a:r>
              <a:rPr sz="2800" dirty="0">
                <a:latin typeface="Calibri"/>
                <a:cs typeface="Calibri"/>
              </a:rPr>
              <a:t>normal</a:t>
            </a:r>
            <a:r>
              <a:rPr sz="2800" spc="114" dirty="0">
                <a:latin typeface="Calibri"/>
                <a:cs typeface="Calibri"/>
              </a:rPr>
              <a:t>  </a:t>
            </a:r>
            <a:r>
              <a:rPr sz="2800" dirty="0">
                <a:latin typeface="Calibri"/>
                <a:cs typeface="Calibri"/>
              </a:rPr>
              <a:t>management</a:t>
            </a:r>
            <a:r>
              <a:rPr sz="2800" spc="120" dirty="0">
                <a:latin typeface="Calibri"/>
                <a:cs typeface="Calibri"/>
              </a:rPr>
              <a:t>  </a:t>
            </a:r>
            <a:r>
              <a:rPr sz="2800" dirty="0">
                <a:latin typeface="Calibri"/>
                <a:cs typeface="Calibri"/>
              </a:rPr>
              <a:t>channels.</a:t>
            </a:r>
            <a:r>
              <a:rPr sz="2800" spc="120" dirty="0">
                <a:latin typeface="Calibri"/>
                <a:cs typeface="Calibri"/>
              </a:rPr>
              <a:t>  </a:t>
            </a:r>
            <a:r>
              <a:rPr sz="2800" dirty="0">
                <a:latin typeface="Calibri"/>
                <a:cs typeface="Calibri"/>
              </a:rPr>
              <a:t>Furthermore,</a:t>
            </a:r>
            <a:r>
              <a:rPr sz="2800" spc="120" dirty="0">
                <a:latin typeface="Calibri"/>
                <a:cs typeface="Calibri"/>
              </a:rPr>
              <a:t>  </a:t>
            </a:r>
            <a:r>
              <a:rPr sz="2800" dirty="0">
                <a:latin typeface="Calibri"/>
                <a:cs typeface="Calibri"/>
              </a:rPr>
              <a:t>the</a:t>
            </a:r>
            <a:r>
              <a:rPr sz="2800" spc="114" dirty="0">
                <a:latin typeface="Calibri"/>
                <a:cs typeface="Calibri"/>
              </a:rPr>
              <a:t>  </a:t>
            </a:r>
            <a:r>
              <a:rPr sz="2800" dirty="0">
                <a:latin typeface="Calibri"/>
                <a:cs typeface="Calibri"/>
              </a:rPr>
              <a:t>lack</a:t>
            </a:r>
            <a:r>
              <a:rPr sz="2800" spc="120" dirty="0">
                <a:latin typeface="Calibri"/>
                <a:cs typeface="Calibri"/>
              </a:rPr>
              <a:t>  </a:t>
            </a:r>
            <a:r>
              <a:rPr sz="2800" dirty="0">
                <a:latin typeface="Calibri"/>
                <a:cs typeface="Calibri"/>
              </a:rPr>
              <a:t>of</a:t>
            </a:r>
            <a:r>
              <a:rPr sz="2800" spc="114" dirty="0">
                <a:latin typeface="Calibri"/>
                <a:cs typeface="Calibri"/>
              </a:rPr>
              <a:t>  </a:t>
            </a:r>
            <a:r>
              <a:rPr sz="2800" spc="-10" dirty="0">
                <a:latin typeface="Calibri"/>
                <a:cs typeface="Calibri"/>
              </a:rPr>
              <a:t>horizontal, </a:t>
            </a:r>
            <a:r>
              <a:rPr sz="2800" dirty="0">
                <a:latin typeface="Calibri"/>
                <a:cs typeface="Calibri"/>
              </a:rPr>
              <a:t>direct</a:t>
            </a:r>
            <a:r>
              <a:rPr sz="2800" spc="-20" dirty="0">
                <a:latin typeface="Calibri"/>
                <a:cs typeface="Calibri"/>
              </a:rPr>
              <a:t> </a:t>
            </a:r>
            <a:r>
              <a:rPr sz="2800" dirty="0">
                <a:latin typeface="Calibri"/>
                <a:cs typeface="Calibri"/>
              </a:rPr>
              <a:t>communication</a:t>
            </a:r>
            <a:r>
              <a:rPr sz="2800" spc="-10" dirty="0">
                <a:latin typeface="Calibri"/>
                <a:cs typeface="Calibri"/>
              </a:rPr>
              <a:t> </a:t>
            </a:r>
            <a:r>
              <a:rPr sz="2800" dirty="0">
                <a:latin typeface="Calibri"/>
                <a:cs typeface="Calibri"/>
              </a:rPr>
              <a:t>among</a:t>
            </a:r>
            <a:r>
              <a:rPr sz="2800" spc="-20" dirty="0">
                <a:latin typeface="Calibri"/>
                <a:cs typeface="Calibri"/>
              </a:rPr>
              <a:t> </a:t>
            </a:r>
            <a:r>
              <a:rPr sz="2800" dirty="0">
                <a:latin typeface="Calibri"/>
                <a:cs typeface="Calibri"/>
              </a:rPr>
              <a:t>functional</a:t>
            </a:r>
            <a:r>
              <a:rPr sz="2800" spc="-20" dirty="0">
                <a:latin typeface="Calibri"/>
                <a:cs typeface="Calibri"/>
              </a:rPr>
              <a:t> </a:t>
            </a:r>
            <a:r>
              <a:rPr sz="2800" dirty="0">
                <a:latin typeface="Calibri"/>
                <a:cs typeface="Calibri"/>
              </a:rPr>
              <a:t>groups</a:t>
            </a:r>
            <a:r>
              <a:rPr sz="2800" spc="-10" dirty="0">
                <a:latin typeface="Calibri"/>
                <a:cs typeface="Calibri"/>
              </a:rPr>
              <a:t> </a:t>
            </a:r>
            <a:r>
              <a:rPr sz="2800" dirty="0">
                <a:latin typeface="Calibri"/>
                <a:cs typeface="Calibri"/>
              </a:rPr>
              <a:t>contributes</a:t>
            </a:r>
            <a:r>
              <a:rPr sz="2800" spc="-15" dirty="0">
                <a:latin typeface="Calibri"/>
                <a:cs typeface="Calibri"/>
              </a:rPr>
              <a:t> </a:t>
            </a:r>
            <a:r>
              <a:rPr sz="2800" dirty="0">
                <a:latin typeface="Calibri"/>
                <a:cs typeface="Calibri"/>
              </a:rPr>
              <a:t>to</a:t>
            </a:r>
            <a:r>
              <a:rPr sz="2800" spc="-15" dirty="0">
                <a:latin typeface="Calibri"/>
                <a:cs typeface="Calibri"/>
              </a:rPr>
              <a:t> </a:t>
            </a:r>
            <a:r>
              <a:rPr sz="2800" dirty="0">
                <a:latin typeface="Calibri"/>
                <a:cs typeface="Calibri"/>
              </a:rPr>
              <a:t>rework</a:t>
            </a:r>
            <a:r>
              <a:rPr sz="2800" spc="-15" dirty="0">
                <a:latin typeface="Calibri"/>
                <a:cs typeface="Calibri"/>
              </a:rPr>
              <a:t> </a:t>
            </a:r>
            <a:r>
              <a:rPr sz="2800" spc="-25" dirty="0">
                <a:latin typeface="Calibri"/>
                <a:cs typeface="Calibri"/>
              </a:rPr>
              <a:t>as </a:t>
            </a:r>
            <a:r>
              <a:rPr sz="2800" dirty="0">
                <a:latin typeface="Calibri"/>
                <a:cs typeface="Calibri"/>
              </a:rPr>
              <a:t>specialists</a:t>
            </a:r>
            <a:r>
              <a:rPr sz="2800" spc="-75" dirty="0">
                <a:latin typeface="Calibri"/>
                <a:cs typeface="Calibri"/>
              </a:rPr>
              <a:t> </a:t>
            </a:r>
            <a:r>
              <a:rPr sz="2800" dirty="0">
                <a:latin typeface="Calibri"/>
                <a:cs typeface="Calibri"/>
              </a:rPr>
              <a:t>realize</a:t>
            </a:r>
            <a:r>
              <a:rPr sz="2800" spc="-80" dirty="0">
                <a:latin typeface="Calibri"/>
                <a:cs typeface="Calibri"/>
              </a:rPr>
              <a:t> </a:t>
            </a:r>
            <a:r>
              <a:rPr sz="2800" dirty="0">
                <a:latin typeface="Calibri"/>
                <a:cs typeface="Calibri"/>
              </a:rPr>
              <a:t>the</a:t>
            </a:r>
            <a:r>
              <a:rPr sz="2800" spc="-70" dirty="0">
                <a:latin typeface="Calibri"/>
                <a:cs typeface="Calibri"/>
              </a:rPr>
              <a:t> </a:t>
            </a:r>
            <a:r>
              <a:rPr sz="2800" dirty="0">
                <a:latin typeface="Calibri"/>
                <a:cs typeface="Calibri"/>
              </a:rPr>
              <a:t>implications</a:t>
            </a:r>
            <a:r>
              <a:rPr sz="2800" spc="-70" dirty="0">
                <a:latin typeface="Calibri"/>
                <a:cs typeface="Calibri"/>
              </a:rPr>
              <a:t> </a:t>
            </a:r>
            <a:r>
              <a:rPr sz="2800" dirty="0">
                <a:latin typeface="Calibri"/>
                <a:cs typeface="Calibri"/>
              </a:rPr>
              <a:t>of</a:t>
            </a:r>
            <a:r>
              <a:rPr sz="2800" spc="-80" dirty="0">
                <a:latin typeface="Calibri"/>
                <a:cs typeface="Calibri"/>
              </a:rPr>
              <a:t> </a:t>
            </a:r>
            <a:r>
              <a:rPr sz="2800" dirty="0">
                <a:latin typeface="Calibri"/>
                <a:cs typeface="Calibri"/>
              </a:rPr>
              <a:t>others’</a:t>
            </a:r>
            <a:r>
              <a:rPr sz="2800" spc="-65" dirty="0">
                <a:latin typeface="Calibri"/>
                <a:cs typeface="Calibri"/>
              </a:rPr>
              <a:t> </a:t>
            </a:r>
            <a:r>
              <a:rPr sz="2800" dirty="0">
                <a:latin typeface="Calibri"/>
                <a:cs typeface="Calibri"/>
              </a:rPr>
              <a:t>actions</a:t>
            </a:r>
            <a:r>
              <a:rPr sz="2800" spc="-65" dirty="0">
                <a:latin typeface="Calibri"/>
                <a:cs typeface="Calibri"/>
              </a:rPr>
              <a:t> </a:t>
            </a:r>
            <a:r>
              <a:rPr sz="2800" dirty="0">
                <a:latin typeface="Calibri"/>
                <a:cs typeface="Calibri"/>
              </a:rPr>
              <a:t>after</a:t>
            </a:r>
            <a:r>
              <a:rPr sz="2800" spc="-75" dirty="0">
                <a:latin typeface="Calibri"/>
                <a:cs typeface="Calibri"/>
              </a:rPr>
              <a:t> </a:t>
            </a:r>
            <a:r>
              <a:rPr sz="2800" dirty="0">
                <a:latin typeface="Calibri"/>
                <a:cs typeface="Calibri"/>
              </a:rPr>
              <a:t>it</a:t>
            </a:r>
            <a:r>
              <a:rPr sz="2800" spc="-75" dirty="0">
                <a:latin typeface="Calibri"/>
                <a:cs typeface="Calibri"/>
              </a:rPr>
              <a:t> </a:t>
            </a:r>
            <a:r>
              <a:rPr sz="2800" spc="-10" dirty="0">
                <a:latin typeface="Calibri"/>
                <a:cs typeface="Calibri"/>
              </a:rPr>
              <a:t>occurs.</a:t>
            </a:r>
            <a:endParaRPr sz="2800" dirty="0">
              <a:latin typeface="Calibri"/>
              <a:cs typeface="Calibri"/>
            </a:endParaRPr>
          </a:p>
          <a:p>
            <a:pPr marL="647700" marR="5715" lvl="1" indent="-408305" algn="just">
              <a:lnSpc>
                <a:spcPct val="90000"/>
              </a:lnSpc>
              <a:spcBef>
                <a:spcPts val="985"/>
              </a:spcBef>
              <a:buAutoNum type="arabicPeriod" startAt="3"/>
              <a:tabLst>
                <a:tab pos="647700" algn="l"/>
              </a:tabLst>
            </a:pPr>
            <a:r>
              <a:rPr sz="2800" b="1" dirty="0">
                <a:latin typeface="Calibri"/>
                <a:cs typeface="Calibri"/>
              </a:rPr>
              <a:t>Lack</a:t>
            </a:r>
            <a:r>
              <a:rPr sz="2800" b="1" spc="-20" dirty="0">
                <a:latin typeface="Calibri"/>
                <a:cs typeface="Calibri"/>
              </a:rPr>
              <a:t> </a:t>
            </a:r>
            <a:r>
              <a:rPr sz="2800" b="1" dirty="0">
                <a:latin typeface="Calibri"/>
                <a:cs typeface="Calibri"/>
              </a:rPr>
              <a:t>of</a:t>
            </a:r>
            <a:r>
              <a:rPr sz="2800" b="1" spc="-25" dirty="0">
                <a:latin typeface="Calibri"/>
                <a:cs typeface="Calibri"/>
              </a:rPr>
              <a:t> </a:t>
            </a:r>
            <a:r>
              <a:rPr sz="2800" b="1" dirty="0">
                <a:latin typeface="Calibri"/>
                <a:cs typeface="Calibri"/>
              </a:rPr>
              <a:t>Ownership.</a:t>
            </a:r>
            <a:r>
              <a:rPr sz="2800" b="1" spc="-25" dirty="0">
                <a:latin typeface="Calibri"/>
                <a:cs typeface="Calibri"/>
              </a:rPr>
              <a:t> </a:t>
            </a:r>
            <a:r>
              <a:rPr sz="2800" dirty="0">
                <a:solidFill>
                  <a:srgbClr val="262EA4"/>
                </a:solidFill>
                <a:latin typeface="Calibri"/>
                <a:cs typeface="Calibri"/>
              </a:rPr>
              <a:t>The</a:t>
            </a:r>
            <a:r>
              <a:rPr sz="2800" spc="-35" dirty="0">
                <a:solidFill>
                  <a:srgbClr val="262EA4"/>
                </a:solidFill>
                <a:latin typeface="Calibri"/>
                <a:cs typeface="Calibri"/>
              </a:rPr>
              <a:t> </a:t>
            </a:r>
            <a:r>
              <a:rPr sz="2800" dirty="0">
                <a:solidFill>
                  <a:srgbClr val="262EA4"/>
                </a:solidFill>
                <a:latin typeface="Calibri"/>
                <a:cs typeface="Calibri"/>
              </a:rPr>
              <a:t>motivation</a:t>
            </a:r>
            <a:r>
              <a:rPr sz="2800" spc="-20" dirty="0">
                <a:solidFill>
                  <a:srgbClr val="262EA4"/>
                </a:solidFill>
                <a:latin typeface="Calibri"/>
                <a:cs typeface="Calibri"/>
              </a:rPr>
              <a:t> </a:t>
            </a:r>
            <a:r>
              <a:rPr sz="2800" dirty="0">
                <a:solidFill>
                  <a:srgbClr val="262EA4"/>
                </a:solidFill>
                <a:latin typeface="Calibri"/>
                <a:cs typeface="Calibri"/>
              </a:rPr>
              <a:t>of</a:t>
            </a:r>
            <a:r>
              <a:rPr sz="2800" spc="-35" dirty="0">
                <a:solidFill>
                  <a:srgbClr val="262EA4"/>
                </a:solidFill>
                <a:latin typeface="Calibri"/>
                <a:cs typeface="Calibri"/>
              </a:rPr>
              <a:t> </a:t>
            </a:r>
            <a:r>
              <a:rPr sz="2800" dirty="0">
                <a:solidFill>
                  <a:srgbClr val="262EA4"/>
                </a:solidFill>
                <a:latin typeface="Calibri"/>
                <a:cs typeface="Calibri"/>
              </a:rPr>
              <a:t>people</a:t>
            </a:r>
            <a:r>
              <a:rPr sz="2800" spc="-40" dirty="0">
                <a:solidFill>
                  <a:srgbClr val="262EA4"/>
                </a:solidFill>
                <a:latin typeface="Calibri"/>
                <a:cs typeface="Calibri"/>
              </a:rPr>
              <a:t> </a:t>
            </a:r>
            <a:r>
              <a:rPr sz="2800" dirty="0">
                <a:solidFill>
                  <a:srgbClr val="262EA4"/>
                </a:solidFill>
                <a:latin typeface="Calibri"/>
                <a:cs typeface="Calibri"/>
              </a:rPr>
              <a:t>assigned</a:t>
            </a:r>
            <a:r>
              <a:rPr sz="2800" spc="-25" dirty="0">
                <a:solidFill>
                  <a:srgbClr val="262EA4"/>
                </a:solidFill>
                <a:latin typeface="Calibri"/>
                <a:cs typeface="Calibri"/>
              </a:rPr>
              <a:t> </a:t>
            </a:r>
            <a:r>
              <a:rPr sz="2800" dirty="0">
                <a:solidFill>
                  <a:srgbClr val="262EA4"/>
                </a:solidFill>
                <a:latin typeface="Calibri"/>
                <a:cs typeface="Calibri"/>
              </a:rPr>
              <a:t>to</a:t>
            </a:r>
            <a:r>
              <a:rPr sz="2800" spc="-25" dirty="0">
                <a:solidFill>
                  <a:srgbClr val="262EA4"/>
                </a:solidFill>
                <a:latin typeface="Calibri"/>
                <a:cs typeface="Calibri"/>
              </a:rPr>
              <a:t> </a:t>
            </a:r>
            <a:r>
              <a:rPr sz="2800" dirty="0">
                <a:solidFill>
                  <a:srgbClr val="262EA4"/>
                </a:solidFill>
                <a:latin typeface="Calibri"/>
                <a:cs typeface="Calibri"/>
              </a:rPr>
              <a:t>the</a:t>
            </a:r>
            <a:r>
              <a:rPr sz="2800" spc="-35" dirty="0">
                <a:solidFill>
                  <a:srgbClr val="262EA4"/>
                </a:solidFill>
                <a:latin typeface="Calibri"/>
                <a:cs typeface="Calibri"/>
              </a:rPr>
              <a:t> </a:t>
            </a:r>
            <a:r>
              <a:rPr sz="2800" dirty="0">
                <a:solidFill>
                  <a:srgbClr val="262EA4"/>
                </a:solidFill>
                <a:latin typeface="Calibri"/>
                <a:cs typeface="Calibri"/>
              </a:rPr>
              <a:t>project</a:t>
            </a:r>
            <a:r>
              <a:rPr sz="2800" spc="-30" dirty="0">
                <a:solidFill>
                  <a:srgbClr val="262EA4"/>
                </a:solidFill>
                <a:latin typeface="Calibri"/>
                <a:cs typeface="Calibri"/>
              </a:rPr>
              <a:t> </a:t>
            </a:r>
            <a:r>
              <a:rPr sz="2800" spc="-25" dirty="0">
                <a:solidFill>
                  <a:srgbClr val="262EA4"/>
                </a:solidFill>
                <a:latin typeface="Calibri"/>
                <a:cs typeface="Calibri"/>
              </a:rPr>
              <a:t>can </a:t>
            </a:r>
            <a:r>
              <a:rPr sz="2800" dirty="0">
                <a:solidFill>
                  <a:srgbClr val="262EA4"/>
                </a:solidFill>
                <a:latin typeface="Calibri"/>
                <a:cs typeface="Calibri"/>
              </a:rPr>
              <a:t>be</a:t>
            </a:r>
            <a:r>
              <a:rPr sz="2800" spc="315" dirty="0">
                <a:solidFill>
                  <a:srgbClr val="262EA4"/>
                </a:solidFill>
                <a:latin typeface="Calibri"/>
                <a:cs typeface="Calibri"/>
              </a:rPr>
              <a:t> </a:t>
            </a:r>
            <a:r>
              <a:rPr sz="2800" dirty="0">
                <a:solidFill>
                  <a:srgbClr val="262EA4"/>
                </a:solidFill>
                <a:latin typeface="Calibri"/>
                <a:cs typeface="Calibri"/>
              </a:rPr>
              <a:t>weak.</a:t>
            </a:r>
            <a:r>
              <a:rPr sz="2800" spc="325" dirty="0">
                <a:solidFill>
                  <a:srgbClr val="262EA4"/>
                </a:solidFill>
                <a:latin typeface="Calibri"/>
                <a:cs typeface="Calibri"/>
              </a:rPr>
              <a:t> </a:t>
            </a:r>
            <a:r>
              <a:rPr sz="2800" dirty="0">
                <a:solidFill>
                  <a:srgbClr val="262EA4"/>
                </a:solidFill>
                <a:latin typeface="Calibri"/>
                <a:cs typeface="Calibri"/>
              </a:rPr>
              <a:t>The</a:t>
            </a:r>
            <a:r>
              <a:rPr sz="2800" spc="320" dirty="0">
                <a:solidFill>
                  <a:srgbClr val="262EA4"/>
                </a:solidFill>
                <a:latin typeface="Calibri"/>
                <a:cs typeface="Calibri"/>
              </a:rPr>
              <a:t> </a:t>
            </a:r>
            <a:r>
              <a:rPr sz="2800" dirty="0">
                <a:solidFill>
                  <a:srgbClr val="262EA4"/>
                </a:solidFill>
                <a:latin typeface="Calibri"/>
                <a:cs typeface="Calibri"/>
              </a:rPr>
              <a:t>project</a:t>
            </a:r>
            <a:r>
              <a:rPr sz="2800" spc="320" dirty="0">
                <a:solidFill>
                  <a:srgbClr val="262EA4"/>
                </a:solidFill>
                <a:latin typeface="Calibri"/>
                <a:cs typeface="Calibri"/>
              </a:rPr>
              <a:t> </a:t>
            </a:r>
            <a:r>
              <a:rPr sz="2800" dirty="0">
                <a:solidFill>
                  <a:srgbClr val="262EA4"/>
                </a:solidFill>
                <a:latin typeface="Calibri"/>
                <a:cs typeface="Calibri"/>
              </a:rPr>
              <a:t>may</a:t>
            </a:r>
            <a:r>
              <a:rPr sz="2800" spc="315" dirty="0">
                <a:solidFill>
                  <a:srgbClr val="262EA4"/>
                </a:solidFill>
                <a:latin typeface="Calibri"/>
                <a:cs typeface="Calibri"/>
              </a:rPr>
              <a:t> </a:t>
            </a:r>
            <a:r>
              <a:rPr sz="2800" dirty="0">
                <a:solidFill>
                  <a:srgbClr val="262EA4"/>
                </a:solidFill>
                <a:latin typeface="Calibri"/>
                <a:cs typeface="Calibri"/>
              </a:rPr>
              <a:t>be</a:t>
            </a:r>
            <a:r>
              <a:rPr sz="2800" spc="315" dirty="0">
                <a:solidFill>
                  <a:srgbClr val="262EA4"/>
                </a:solidFill>
                <a:latin typeface="Calibri"/>
                <a:cs typeface="Calibri"/>
              </a:rPr>
              <a:t> </a:t>
            </a:r>
            <a:r>
              <a:rPr sz="2800" dirty="0">
                <a:solidFill>
                  <a:srgbClr val="262EA4"/>
                </a:solidFill>
                <a:latin typeface="Calibri"/>
                <a:cs typeface="Calibri"/>
              </a:rPr>
              <a:t>seen</a:t>
            </a:r>
            <a:r>
              <a:rPr sz="2800" spc="320" dirty="0">
                <a:solidFill>
                  <a:srgbClr val="262EA4"/>
                </a:solidFill>
                <a:latin typeface="Calibri"/>
                <a:cs typeface="Calibri"/>
              </a:rPr>
              <a:t> </a:t>
            </a:r>
            <a:r>
              <a:rPr sz="2800" dirty="0">
                <a:solidFill>
                  <a:srgbClr val="262EA4"/>
                </a:solidFill>
                <a:latin typeface="Calibri"/>
                <a:cs typeface="Calibri"/>
              </a:rPr>
              <a:t>as</a:t>
            </a:r>
            <a:r>
              <a:rPr sz="2800" spc="325" dirty="0">
                <a:solidFill>
                  <a:srgbClr val="262EA4"/>
                </a:solidFill>
                <a:latin typeface="Calibri"/>
                <a:cs typeface="Calibri"/>
              </a:rPr>
              <a:t> </a:t>
            </a:r>
            <a:r>
              <a:rPr sz="2800" dirty="0">
                <a:solidFill>
                  <a:srgbClr val="262EA4"/>
                </a:solidFill>
                <a:latin typeface="Calibri"/>
                <a:cs typeface="Calibri"/>
              </a:rPr>
              <a:t>an</a:t>
            </a:r>
            <a:r>
              <a:rPr sz="2800" spc="330" dirty="0">
                <a:solidFill>
                  <a:srgbClr val="262EA4"/>
                </a:solidFill>
                <a:latin typeface="Calibri"/>
                <a:cs typeface="Calibri"/>
              </a:rPr>
              <a:t> </a:t>
            </a:r>
            <a:r>
              <a:rPr sz="2800" dirty="0">
                <a:solidFill>
                  <a:srgbClr val="262EA4"/>
                </a:solidFill>
                <a:latin typeface="Calibri"/>
                <a:cs typeface="Calibri"/>
              </a:rPr>
              <a:t>additional</a:t>
            </a:r>
            <a:r>
              <a:rPr sz="2800" spc="315" dirty="0">
                <a:solidFill>
                  <a:srgbClr val="262EA4"/>
                </a:solidFill>
                <a:latin typeface="Calibri"/>
                <a:cs typeface="Calibri"/>
              </a:rPr>
              <a:t> </a:t>
            </a:r>
            <a:r>
              <a:rPr sz="2800" dirty="0">
                <a:solidFill>
                  <a:srgbClr val="262EA4"/>
                </a:solidFill>
                <a:latin typeface="Calibri"/>
                <a:cs typeface="Calibri"/>
              </a:rPr>
              <a:t>burden</a:t>
            </a:r>
            <a:r>
              <a:rPr sz="2800" spc="320" dirty="0">
                <a:solidFill>
                  <a:srgbClr val="262EA4"/>
                </a:solidFill>
                <a:latin typeface="Calibri"/>
                <a:cs typeface="Calibri"/>
              </a:rPr>
              <a:t> </a:t>
            </a:r>
            <a:r>
              <a:rPr sz="2800" dirty="0">
                <a:solidFill>
                  <a:srgbClr val="262EA4"/>
                </a:solidFill>
                <a:latin typeface="Calibri"/>
                <a:cs typeface="Calibri"/>
              </a:rPr>
              <a:t>that</a:t>
            </a:r>
            <a:r>
              <a:rPr sz="2800" spc="320" dirty="0">
                <a:solidFill>
                  <a:srgbClr val="262EA4"/>
                </a:solidFill>
                <a:latin typeface="Calibri"/>
                <a:cs typeface="Calibri"/>
              </a:rPr>
              <a:t> </a:t>
            </a:r>
            <a:r>
              <a:rPr sz="2800" dirty="0">
                <a:solidFill>
                  <a:srgbClr val="262EA4"/>
                </a:solidFill>
                <a:latin typeface="Calibri"/>
                <a:cs typeface="Calibri"/>
              </a:rPr>
              <a:t>is</a:t>
            </a:r>
            <a:r>
              <a:rPr sz="2800" spc="325" dirty="0">
                <a:solidFill>
                  <a:srgbClr val="262EA4"/>
                </a:solidFill>
                <a:latin typeface="Calibri"/>
                <a:cs typeface="Calibri"/>
              </a:rPr>
              <a:t> </a:t>
            </a:r>
            <a:r>
              <a:rPr sz="2800" spc="-25" dirty="0">
                <a:solidFill>
                  <a:srgbClr val="262EA4"/>
                </a:solidFill>
                <a:latin typeface="Calibri"/>
                <a:cs typeface="Calibri"/>
              </a:rPr>
              <a:t>not </a:t>
            </a:r>
            <a:r>
              <a:rPr sz="2800" dirty="0">
                <a:solidFill>
                  <a:srgbClr val="262EA4"/>
                </a:solidFill>
                <a:latin typeface="Calibri"/>
                <a:cs typeface="Calibri"/>
              </a:rPr>
              <a:t>directly</a:t>
            </a:r>
            <a:r>
              <a:rPr sz="2800" spc="204" dirty="0">
                <a:solidFill>
                  <a:srgbClr val="262EA4"/>
                </a:solidFill>
                <a:latin typeface="Calibri"/>
                <a:cs typeface="Calibri"/>
              </a:rPr>
              <a:t>  </a:t>
            </a:r>
            <a:r>
              <a:rPr sz="2800" dirty="0">
                <a:solidFill>
                  <a:srgbClr val="262EA4"/>
                </a:solidFill>
                <a:latin typeface="Calibri"/>
                <a:cs typeface="Calibri"/>
              </a:rPr>
              <a:t>linked</a:t>
            </a:r>
            <a:r>
              <a:rPr sz="2800" spc="210" dirty="0">
                <a:solidFill>
                  <a:srgbClr val="262EA4"/>
                </a:solidFill>
                <a:latin typeface="Calibri"/>
                <a:cs typeface="Calibri"/>
              </a:rPr>
              <a:t>  </a:t>
            </a:r>
            <a:r>
              <a:rPr sz="2800" dirty="0">
                <a:solidFill>
                  <a:srgbClr val="262EA4"/>
                </a:solidFill>
                <a:latin typeface="Calibri"/>
                <a:cs typeface="Calibri"/>
              </a:rPr>
              <a:t>to</a:t>
            </a:r>
            <a:r>
              <a:rPr sz="2800" spc="210" dirty="0">
                <a:solidFill>
                  <a:srgbClr val="262EA4"/>
                </a:solidFill>
                <a:latin typeface="Calibri"/>
                <a:cs typeface="Calibri"/>
              </a:rPr>
              <a:t>  </a:t>
            </a:r>
            <a:r>
              <a:rPr sz="2800" dirty="0">
                <a:solidFill>
                  <a:srgbClr val="262EA4"/>
                </a:solidFill>
                <a:latin typeface="Calibri"/>
                <a:cs typeface="Calibri"/>
              </a:rPr>
              <a:t>their</a:t>
            </a:r>
            <a:r>
              <a:rPr sz="2800" spc="204" dirty="0">
                <a:solidFill>
                  <a:srgbClr val="262EA4"/>
                </a:solidFill>
                <a:latin typeface="Calibri"/>
                <a:cs typeface="Calibri"/>
              </a:rPr>
              <a:t>  </a:t>
            </a:r>
            <a:r>
              <a:rPr sz="2800" dirty="0">
                <a:solidFill>
                  <a:srgbClr val="262EA4"/>
                </a:solidFill>
                <a:latin typeface="Calibri"/>
                <a:cs typeface="Calibri"/>
              </a:rPr>
              <a:t>professional</a:t>
            </a:r>
            <a:r>
              <a:rPr sz="2800" spc="204" dirty="0">
                <a:solidFill>
                  <a:srgbClr val="262EA4"/>
                </a:solidFill>
                <a:latin typeface="Calibri"/>
                <a:cs typeface="Calibri"/>
              </a:rPr>
              <a:t>  </a:t>
            </a:r>
            <a:r>
              <a:rPr sz="2800" dirty="0">
                <a:solidFill>
                  <a:srgbClr val="262EA4"/>
                </a:solidFill>
                <a:latin typeface="Calibri"/>
                <a:cs typeface="Calibri"/>
              </a:rPr>
              <a:t>development</a:t>
            </a:r>
            <a:r>
              <a:rPr sz="2800" spc="204" dirty="0">
                <a:solidFill>
                  <a:srgbClr val="262EA4"/>
                </a:solidFill>
                <a:latin typeface="Calibri"/>
                <a:cs typeface="Calibri"/>
              </a:rPr>
              <a:t>  </a:t>
            </a:r>
            <a:r>
              <a:rPr sz="2800" dirty="0">
                <a:solidFill>
                  <a:srgbClr val="262EA4"/>
                </a:solidFill>
                <a:latin typeface="Calibri"/>
                <a:cs typeface="Calibri"/>
              </a:rPr>
              <a:t>or</a:t>
            </a:r>
            <a:r>
              <a:rPr sz="2800" spc="210" dirty="0">
                <a:solidFill>
                  <a:srgbClr val="262EA4"/>
                </a:solidFill>
                <a:latin typeface="Calibri"/>
                <a:cs typeface="Calibri"/>
              </a:rPr>
              <a:t>  </a:t>
            </a:r>
            <a:r>
              <a:rPr sz="2800" spc="-10" dirty="0">
                <a:solidFill>
                  <a:srgbClr val="262EA4"/>
                </a:solidFill>
                <a:latin typeface="Calibri"/>
                <a:cs typeface="Calibri"/>
              </a:rPr>
              <a:t>advancement. </a:t>
            </a:r>
            <a:r>
              <a:rPr sz="2800" dirty="0">
                <a:solidFill>
                  <a:srgbClr val="262EA4"/>
                </a:solidFill>
                <a:latin typeface="Calibri"/>
                <a:cs typeface="Calibri"/>
              </a:rPr>
              <a:t>Furthermore,</a:t>
            </a:r>
            <a:r>
              <a:rPr sz="2800" spc="110" dirty="0">
                <a:solidFill>
                  <a:srgbClr val="262EA4"/>
                </a:solidFill>
                <a:latin typeface="Calibri"/>
                <a:cs typeface="Calibri"/>
              </a:rPr>
              <a:t>  </a:t>
            </a:r>
            <a:r>
              <a:rPr sz="2800" dirty="0">
                <a:solidFill>
                  <a:srgbClr val="262EA4"/>
                </a:solidFill>
                <a:latin typeface="Calibri"/>
                <a:cs typeface="Calibri"/>
              </a:rPr>
              <a:t>because</a:t>
            </a:r>
            <a:r>
              <a:rPr sz="2800" spc="105" dirty="0">
                <a:solidFill>
                  <a:srgbClr val="262EA4"/>
                </a:solidFill>
                <a:latin typeface="Calibri"/>
                <a:cs typeface="Calibri"/>
              </a:rPr>
              <a:t>  </a:t>
            </a:r>
            <a:r>
              <a:rPr sz="2800" dirty="0">
                <a:solidFill>
                  <a:srgbClr val="262EA4"/>
                </a:solidFill>
                <a:latin typeface="Calibri"/>
                <a:cs typeface="Calibri"/>
              </a:rPr>
              <a:t>they</a:t>
            </a:r>
            <a:r>
              <a:rPr sz="2800" spc="110" dirty="0">
                <a:solidFill>
                  <a:srgbClr val="262EA4"/>
                </a:solidFill>
                <a:latin typeface="Calibri"/>
                <a:cs typeface="Calibri"/>
              </a:rPr>
              <a:t>  </a:t>
            </a:r>
            <a:r>
              <a:rPr sz="2800" dirty="0">
                <a:solidFill>
                  <a:srgbClr val="262EA4"/>
                </a:solidFill>
                <a:latin typeface="Calibri"/>
                <a:cs typeface="Calibri"/>
              </a:rPr>
              <a:t>are</a:t>
            </a:r>
            <a:r>
              <a:rPr sz="2800" spc="110" dirty="0">
                <a:solidFill>
                  <a:srgbClr val="262EA4"/>
                </a:solidFill>
                <a:latin typeface="Calibri"/>
                <a:cs typeface="Calibri"/>
              </a:rPr>
              <a:t>  </a:t>
            </a:r>
            <a:r>
              <a:rPr sz="2800" dirty="0">
                <a:solidFill>
                  <a:srgbClr val="262EA4"/>
                </a:solidFill>
                <a:latin typeface="Calibri"/>
                <a:cs typeface="Calibri"/>
              </a:rPr>
              <a:t>working</a:t>
            </a:r>
            <a:r>
              <a:rPr sz="2800" spc="105" dirty="0">
                <a:solidFill>
                  <a:srgbClr val="262EA4"/>
                </a:solidFill>
                <a:latin typeface="Calibri"/>
                <a:cs typeface="Calibri"/>
              </a:rPr>
              <a:t>  </a:t>
            </a:r>
            <a:r>
              <a:rPr sz="2800" dirty="0">
                <a:solidFill>
                  <a:srgbClr val="262EA4"/>
                </a:solidFill>
                <a:latin typeface="Calibri"/>
                <a:cs typeface="Calibri"/>
              </a:rPr>
              <a:t>on</a:t>
            </a:r>
            <a:r>
              <a:rPr sz="2800" spc="114" dirty="0">
                <a:solidFill>
                  <a:srgbClr val="262EA4"/>
                </a:solidFill>
                <a:latin typeface="Calibri"/>
                <a:cs typeface="Calibri"/>
              </a:rPr>
              <a:t>  </a:t>
            </a:r>
            <a:r>
              <a:rPr sz="2800" dirty="0">
                <a:solidFill>
                  <a:srgbClr val="262EA4"/>
                </a:solidFill>
                <a:latin typeface="Calibri"/>
                <a:cs typeface="Calibri"/>
              </a:rPr>
              <a:t>only</a:t>
            </a:r>
            <a:r>
              <a:rPr sz="2800" spc="110" dirty="0">
                <a:solidFill>
                  <a:srgbClr val="262EA4"/>
                </a:solidFill>
                <a:latin typeface="Calibri"/>
                <a:cs typeface="Calibri"/>
              </a:rPr>
              <a:t>  </a:t>
            </a:r>
            <a:r>
              <a:rPr sz="2800" dirty="0">
                <a:solidFill>
                  <a:srgbClr val="262EA4"/>
                </a:solidFill>
                <a:latin typeface="Calibri"/>
                <a:cs typeface="Calibri"/>
              </a:rPr>
              <a:t>a</a:t>
            </a:r>
            <a:r>
              <a:rPr sz="2800" spc="110" dirty="0">
                <a:solidFill>
                  <a:srgbClr val="262EA4"/>
                </a:solidFill>
                <a:latin typeface="Calibri"/>
                <a:cs typeface="Calibri"/>
              </a:rPr>
              <a:t>  </a:t>
            </a:r>
            <a:r>
              <a:rPr sz="2800" dirty="0">
                <a:solidFill>
                  <a:srgbClr val="262EA4"/>
                </a:solidFill>
                <a:latin typeface="Calibri"/>
                <a:cs typeface="Calibri"/>
              </a:rPr>
              <a:t>segment</a:t>
            </a:r>
            <a:r>
              <a:rPr sz="2800" spc="110" dirty="0">
                <a:solidFill>
                  <a:srgbClr val="262EA4"/>
                </a:solidFill>
                <a:latin typeface="Calibri"/>
                <a:cs typeface="Calibri"/>
              </a:rPr>
              <a:t>  </a:t>
            </a:r>
            <a:r>
              <a:rPr sz="2800" dirty="0">
                <a:solidFill>
                  <a:srgbClr val="262EA4"/>
                </a:solidFill>
                <a:latin typeface="Calibri"/>
                <a:cs typeface="Calibri"/>
              </a:rPr>
              <a:t>of</a:t>
            </a:r>
            <a:r>
              <a:rPr sz="2800" spc="105" dirty="0">
                <a:solidFill>
                  <a:srgbClr val="262EA4"/>
                </a:solidFill>
                <a:latin typeface="Calibri"/>
                <a:cs typeface="Calibri"/>
              </a:rPr>
              <a:t>  </a:t>
            </a:r>
            <a:r>
              <a:rPr sz="2800" spc="-25" dirty="0">
                <a:solidFill>
                  <a:srgbClr val="262EA4"/>
                </a:solidFill>
                <a:latin typeface="Calibri"/>
                <a:cs typeface="Calibri"/>
              </a:rPr>
              <a:t>the </a:t>
            </a:r>
            <a:r>
              <a:rPr sz="2800" dirty="0">
                <a:solidFill>
                  <a:srgbClr val="262EA4"/>
                </a:solidFill>
                <a:latin typeface="Calibri"/>
                <a:cs typeface="Calibri"/>
              </a:rPr>
              <a:t>project,</a:t>
            </a:r>
            <a:r>
              <a:rPr sz="2800" spc="-60" dirty="0">
                <a:solidFill>
                  <a:srgbClr val="262EA4"/>
                </a:solidFill>
                <a:latin typeface="Calibri"/>
                <a:cs typeface="Calibri"/>
              </a:rPr>
              <a:t> </a:t>
            </a:r>
            <a:r>
              <a:rPr sz="2800" spc="-10" dirty="0">
                <a:solidFill>
                  <a:srgbClr val="262EA4"/>
                </a:solidFill>
                <a:latin typeface="Calibri"/>
                <a:cs typeface="Calibri"/>
              </a:rPr>
              <a:t>professionals</a:t>
            </a:r>
            <a:r>
              <a:rPr sz="2800" spc="-55" dirty="0">
                <a:solidFill>
                  <a:srgbClr val="262EA4"/>
                </a:solidFill>
                <a:latin typeface="Calibri"/>
                <a:cs typeface="Calibri"/>
              </a:rPr>
              <a:t> </a:t>
            </a:r>
            <a:r>
              <a:rPr sz="2800" dirty="0">
                <a:solidFill>
                  <a:srgbClr val="262EA4"/>
                </a:solidFill>
                <a:latin typeface="Calibri"/>
                <a:cs typeface="Calibri"/>
              </a:rPr>
              <a:t>do</a:t>
            </a:r>
            <a:r>
              <a:rPr sz="2800" spc="-60" dirty="0">
                <a:solidFill>
                  <a:srgbClr val="262EA4"/>
                </a:solidFill>
                <a:latin typeface="Calibri"/>
                <a:cs typeface="Calibri"/>
              </a:rPr>
              <a:t> </a:t>
            </a:r>
            <a:r>
              <a:rPr sz="2800" dirty="0">
                <a:solidFill>
                  <a:srgbClr val="262EA4"/>
                </a:solidFill>
                <a:latin typeface="Calibri"/>
                <a:cs typeface="Calibri"/>
              </a:rPr>
              <a:t>not</a:t>
            </a:r>
            <a:r>
              <a:rPr sz="2800" spc="-60" dirty="0">
                <a:solidFill>
                  <a:srgbClr val="262EA4"/>
                </a:solidFill>
                <a:latin typeface="Calibri"/>
                <a:cs typeface="Calibri"/>
              </a:rPr>
              <a:t> </a:t>
            </a:r>
            <a:r>
              <a:rPr sz="2800" dirty="0">
                <a:solidFill>
                  <a:srgbClr val="262EA4"/>
                </a:solidFill>
                <a:latin typeface="Calibri"/>
                <a:cs typeface="Calibri"/>
              </a:rPr>
              <a:t>involve</a:t>
            </a:r>
            <a:r>
              <a:rPr sz="2800" spc="-65" dirty="0">
                <a:solidFill>
                  <a:srgbClr val="262EA4"/>
                </a:solidFill>
                <a:latin typeface="Calibri"/>
                <a:cs typeface="Calibri"/>
              </a:rPr>
              <a:t> </a:t>
            </a:r>
            <a:r>
              <a:rPr sz="2800" dirty="0">
                <a:solidFill>
                  <a:srgbClr val="262EA4"/>
                </a:solidFill>
                <a:latin typeface="Calibri"/>
                <a:cs typeface="Calibri"/>
              </a:rPr>
              <a:t>deeply</a:t>
            </a:r>
            <a:r>
              <a:rPr sz="2800" spc="-65" dirty="0">
                <a:solidFill>
                  <a:srgbClr val="262EA4"/>
                </a:solidFill>
                <a:latin typeface="Calibri"/>
                <a:cs typeface="Calibri"/>
              </a:rPr>
              <a:t> </a:t>
            </a:r>
            <a:r>
              <a:rPr sz="2800" dirty="0">
                <a:solidFill>
                  <a:srgbClr val="262EA4"/>
                </a:solidFill>
                <a:latin typeface="Calibri"/>
                <a:cs typeface="Calibri"/>
              </a:rPr>
              <a:t>with</a:t>
            </a:r>
            <a:r>
              <a:rPr sz="2800" spc="-50" dirty="0">
                <a:solidFill>
                  <a:srgbClr val="262EA4"/>
                </a:solidFill>
                <a:latin typeface="Calibri"/>
                <a:cs typeface="Calibri"/>
              </a:rPr>
              <a:t> </a:t>
            </a:r>
            <a:r>
              <a:rPr sz="2800" dirty="0">
                <a:solidFill>
                  <a:srgbClr val="262EA4"/>
                </a:solidFill>
                <a:latin typeface="Calibri"/>
                <a:cs typeface="Calibri"/>
              </a:rPr>
              <a:t>the</a:t>
            </a:r>
            <a:r>
              <a:rPr sz="2800" spc="-60" dirty="0">
                <a:solidFill>
                  <a:srgbClr val="262EA4"/>
                </a:solidFill>
                <a:latin typeface="Calibri"/>
                <a:cs typeface="Calibri"/>
              </a:rPr>
              <a:t> </a:t>
            </a:r>
            <a:r>
              <a:rPr sz="2800" spc="-10" dirty="0">
                <a:solidFill>
                  <a:srgbClr val="262EA4"/>
                </a:solidFill>
                <a:latin typeface="Calibri"/>
                <a:cs typeface="Calibri"/>
              </a:rPr>
              <a:t>project</a:t>
            </a:r>
            <a:endParaRPr sz="2800" dirty="0">
              <a:latin typeface="Calibri"/>
              <a:cs typeface="Calibri"/>
            </a:endParaRPr>
          </a:p>
        </p:txBody>
      </p:sp>
      <p:pic>
        <p:nvPicPr>
          <p:cNvPr id="5" name="Picture 4">
            <a:extLst>
              <a:ext uri="{FF2B5EF4-FFF2-40B4-BE49-F238E27FC236}">
                <a16:creationId xmlns:a16="http://schemas.microsoft.com/office/drawing/2014/main" id="{CBF51320-740D-84E3-E9CD-193D6355737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Dedicated Project Teams </a:t>
            </a:r>
            <a:r>
              <a:rPr sz="2350" spc="50" dirty="0"/>
              <a:t>(1/5)</a:t>
            </a:r>
            <a:endParaRPr sz="2350" dirty="0"/>
          </a:p>
        </p:txBody>
      </p:sp>
      <p:sp>
        <p:nvSpPr>
          <p:cNvPr id="3" name="object 3"/>
          <p:cNvSpPr txBox="1"/>
          <p:nvPr/>
        </p:nvSpPr>
        <p:spPr>
          <a:xfrm>
            <a:off x="764326" y="1592580"/>
            <a:ext cx="11003915" cy="4981575"/>
          </a:xfrm>
          <a:prstGeom prst="rect">
            <a:avLst/>
          </a:prstGeom>
        </p:spPr>
        <p:txBody>
          <a:bodyPr vert="horz" wrap="square" lIns="0" tIns="57150" rIns="0" bIns="0" rtlCol="0">
            <a:spAutoFit/>
          </a:bodyPr>
          <a:lstStyle/>
          <a:p>
            <a:pPr marL="241300" marR="5715" indent="-228600" algn="just">
              <a:lnSpc>
                <a:spcPts val="2810"/>
              </a:lnSpc>
              <a:spcBef>
                <a:spcPts val="450"/>
              </a:spcBef>
              <a:buFont typeface="Arial MT"/>
              <a:buChar char="•"/>
              <a:tabLst>
                <a:tab pos="241300" algn="l"/>
              </a:tabLst>
            </a:pPr>
            <a:r>
              <a:rPr sz="2600" dirty="0">
                <a:latin typeface="Calibri"/>
                <a:cs typeface="Calibri"/>
              </a:rPr>
              <a:t>At</a:t>
            </a:r>
            <a:r>
              <a:rPr sz="2600" spc="535" dirty="0">
                <a:latin typeface="Calibri"/>
                <a:cs typeface="Calibri"/>
              </a:rPr>
              <a:t> </a:t>
            </a:r>
            <a:r>
              <a:rPr sz="2600" dirty="0">
                <a:latin typeface="Calibri"/>
                <a:cs typeface="Calibri"/>
              </a:rPr>
              <a:t>the</a:t>
            </a:r>
            <a:r>
              <a:rPr sz="2600" spc="525" dirty="0">
                <a:latin typeface="Calibri"/>
                <a:cs typeface="Calibri"/>
              </a:rPr>
              <a:t> </a:t>
            </a:r>
            <a:r>
              <a:rPr sz="2600" dirty="0">
                <a:latin typeface="Calibri"/>
                <a:cs typeface="Calibri"/>
              </a:rPr>
              <a:t>other</a:t>
            </a:r>
            <a:r>
              <a:rPr sz="2600" spc="545" dirty="0">
                <a:latin typeface="Calibri"/>
                <a:cs typeface="Calibri"/>
              </a:rPr>
              <a:t> </a:t>
            </a:r>
            <a:r>
              <a:rPr sz="2600" dirty="0">
                <a:latin typeface="Calibri"/>
                <a:cs typeface="Calibri"/>
              </a:rPr>
              <a:t>end</a:t>
            </a:r>
            <a:r>
              <a:rPr sz="2600" spc="530" dirty="0">
                <a:latin typeface="Calibri"/>
                <a:cs typeface="Calibri"/>
              </a:rPr>
              <a:t> </a:t>
            </a:r>
            <a:r>
              <a:rPr sz="2600" dirty="0">
                <a:latin typeface="Calibri"/>
                <a:cs typeface="Calibri"/>
              </a:rPr>
              <a:t>of</a:t>
            </a:r>
            <a:r>
              <a:rPr sz="2600" spc="525" dirty="0">
                <a:latin typeface="Calibri"/>
                <a:cs typeface="Calibri"/>
              </a:rPr>
              <a:t> </a:t>
            </a:r>
            <a:r>
              <a:rPr sz="2600" dirty="0">
                <a:latin typeface="Calibri"/>
                <a:cs typeface="Calibri"/>
              </a:rPr>
              <a:t>the</a:t>
            </a:r>
            <a:r>
              <a:rPr sz="2600" spc="535" dirty="0">
                <a:latin typeface="Calibri"/>
                <a:cs typeface="Calibri"/>
              </a:rPr>
              <a:t> </a:t>
            </a:r>
            <a:r>
              <a:rPr sz="2600" dirty="0">
                <a:latin typeface="Calibri"/>
                <a:cs typeface="Calibri"/>
              </a:rPr>
              <a:t>structural</a:t>
            </a:r>
            <a:r>
              <a:rPr sz="2600" spc="530" dirty="0">
                <a:latin typeface="Calibri"/>
                <a:cs typeface="Calibri"/>
              </a:rPr>
              <a:t> </a:t>
            </a:r>
            <a:r>
              <a:rPr sz="2600" dirty="0">
                <a:latin typeface="Calibri"/>
                <a:cs typeface="Calibri"/>
              </a:rPr>
              <a:t>spectrum</a:t>
            </a:r>
            <a:r>
              <a:rPr sz="2600" spc="525" dirty="0">
                <a:latin typeface="Calibri"/>
                <a:cs typeface="Calibri"/>
              </a:rPr>
              <a:t> </a:t>
            </a:r>
            <a:r>
              <a:rPr sz="2600" dirty="0">
                <a:latin typeface="Calibri"/>
                <a:cs typeface="Calibri"/>
              </a:rPr>
              <a:t>is</a:t>
            </a:r>
            <a:r>
              <a:rPr sz="2600" spc="530" dirty="0">
                <a:latin typeface="Calibri"/>
                <a:cs typeface="Calibri"/>
              </a:rPr>
              <a:t> </a:t>
            </a:r>
            <a:r>
              <a:rPr sz="2600" dirty="0">
                <a:latin typeface="Calibri"/>
                <a:cs typeface="Calibri"/>
              </a:rPr>
              <a:t>the</a:t>
            </a:r>
            <a:r>
              <a:rPr sz="2600" spc="530" dirty="0">
                <a:latin typeface="Calibri"/>
                <a:cs typeface="Calibri"/>
              </a:rPr>
              <a:t> </a:t>
            </a:r>
            <a:r>
              <a:rPr sz="2600" dirty="0">
                <a:latin typeface="Calibri"/>
                <a:cs typeface="Calibri"/>
              </a:rPr>
              <a:t>creation</a:t>
            </a:r>
            <a:r>
              <a:rPr sz="2600" spc="525" dirty="0">
                <a:latin typeface="Calibri"/>
                <a:cs typeface="Calibri"/>
              </a:rPr>
              <a:t> </a:t>
            </a:r>
            <a:r>
              <a:rPr sz="2600" dirty="0">
                <a:latin typeface="Calibri"/>
                <a:cs typeface="Calibri"/>
              </a:rPr>
              <a:t>of</a:t>
            </a:r>
            <a:r>
              <a:rPr sz="2600" spc="525" dirty="0">
                <a:latin typeface="Calibri"/>
                <a:cs typeface="Calibri"/>
              </a:rPr>
              <a:t> </a:t>
            </a:r>
            <a:r>
              <a:rPr sz="2600" dirty="0">
                <a:latin typeface="Calibri"/>
                <a:cs typeface="Calibri"/>
              </a:rPr>
              <a:t>a</a:t>
            </a:r>
            <a:r>
              <a:rPr sz="2600" spc="540" dirty="0">
                <a:latin typeface="Calibri"/>
                <a:cs typeface="Calibri"/>
              </a:rPr>
              <a:t> </a:t>
            </a:r>
            <a:r>
              <a:rPr sz="2600" b="1" spc="-10" dirty="0">
                <a:latin typeface="Calibri"/>
                <a:cs typeface="Calibri"/>
              </a:rPr>
              <a:t>dedicated </a:t>
            </a:r>
            <a:r>
              <a:rPr sz="2600" b="1" dirty="0">
                <a:latin typeface="Calibri"/>
                <a:cs typeface="Calibri"/>
              </a:rPr>
              <a:t>project</a:t>
            </a:r>
            <a:r>
              <a:rPr sz="2600" b="1" spc="-35" dirty="0">
                <a:latin typeface="Calibri"/>
                <a:cs typeface="Calibri"/>
              </a:rPr>
              <a:t> </a:t>
            </a:r>
            <a:r>
              <a:rPr sz="2600" b="1" dirty="0">
                <a:latin typeface="Calibri"/>
                <a:cs typeface="Calibri"/>
              </a:rPr>
              <a:t>team.</a:t>
            </a:r>
            <a:r>
              <a:rPr sz="2600" b="1" spc="-35" dirty="0">
                <a:latin typeface="Calibri"/>
                <a:cs typeface="Calibri"/>
              </a:rPr>
              <a:t> </a:t>
            </a:r>
            <a:r>
              <a:rPr sz="2600" dirty="0">
                <a:latin typeface="Calibri"/>
                <a:cs typeface="Calibri"/>
              </a:rPr>
              <a:t>These</a:t>
            </a:r>
            <a:r>
              <a:rPr sz="2600" spc="-50" dirty="0">
                <a:latin typeface="Calibri"/>
                <a:cs typeface="Calibri"/>
              </a:rPr>
              <a:t> </a:t>
            </a:r>
            <a:r>
              <a:rPr sz="2600" dirty="0">
                <a:latin typeface="Calibri"/>
                <a:cs typeface="Calibri"/>
              </a:rPr>
              <a:t>teams</a:t>
            </a:r>
            <a:r>
              <a:rPr sz="2600" spc="-40" dirty="0">
                <a:latin typeface="Calibri"/>
                <a:cs typeface="Calibri"/>
              </a:rPr>
              <a:t> </a:t>
            </a:r>
            <a:r>
              <a:rPr sz="2600" spc="-10" dirty="0">
                <a:latin typeface="Calibri"/>
                <a:cs typeface="Calibri"/>
              </a:rPr>
              <a:t>operate</a:t>
            </a:r>
            <a:r>
              <a:rPr sz="2600" spc="-45" dirty="0">
                <a:latin typeface="Calibri"/>
                <a:cs typeface="Calibri"/>
              </a:rPr>
              <a:t> </a:t>
            </a:r>
            <a:r>
              <a:rPr sz="2600" dirty="0">
                <a:latin typeface="Calibri"/>
                <a:cs typeface="Calibri"/>
              </a:rPr>
              <a:t>as</a:t>
            </a:r>
            <a:r>
              <a:rPr sz="2600" spc="-40" dirty="0">
                <a:latin typeface="Calibri"/>
                <a:cs typeface="Calibri"/>
              </a:rPr>
              <a:t> </a:t>
            </a:r>
            <a:r>
              <a:rPr sz="2600" spc="-10" dirty="0">
                <a:latin typeface="Calibri"/>
                <a:cs typeface="Calibri"/>
              </a:rPr>
              <a:t>separate</a:t>
            </a:r>
            <a:r>
              <a:rPr sz="2600" spc="-45" dirty="0">
                <a:latin typeface="Calibri"/>
                <a:cs typeface="Calibri"/>
              </a:rPr>
              <a:t> </a:t>
            </a:r>
            <a:r>
              <a:rPr sz="2600" dirty="0">
                <a:latin typeface="Calibri"/>
                <a:cs typeface="Calibri"/>
              </a:rPr>
              <a:t>units</a:t>
            </a:r>
            <a:r>
              <a:rPr sz="2600" spc="-40" dirty="0">
                <a:latin typeface="Calibri"/>
                <a:cs typeface="Calibri"/>
              </a:rPr>
              <a:t> </a:t>
            </a:r>
            <a:r>
              <a:rPr sz="2600" dirty="0">
                <a:latin typeface="Calibri"/>
                <a:cs typeface="Calibri"/>
              </a:rPr>
              <a:t>from</a:t>
            </a:r>
            <a:r>
              <a:rPr sz="2600" spc="-40" dirty="0">
                <a:latin typeface="Calibri"/>
                <a:cs typeface="Calibri"/>
              </a:rPr>
              <a:t> </a:t>
            </a:r>
            <a:r>
              <a:rPr sz="2600" dirty="0">
                <a:latin typeface="Calibri"/>
                <a:cs typeface="Calibri"/>
              </a:rPr>
              <a:t>the</a:t>
            </a:r>
            <a:r>
              <a:rPr sz="2600" spc="-40" dirty="0">
                <a:latin typeface="Calibri"/>
                <a:cs typeface="Calibri"/>
              </a:rPr>
              <a:t> </a:t>
            </a:r>
            <a:r>
              <a:rPr sz="2600" dirty="0">
                <a:latin typeface="Calibri"/>
                <a:cs typeface="Calibri"/>
              </a:rPr>
              <a:t>rest</a:t>
            </a:r>
            <a:r>
              <a:rPr sz="2600" spc="-35" dirty="0">
                <a:latin typeface="Calibri"/>
                <a:cs typeface="Calibri"/>
              </a:rPr>
              <a:t> </a:t>
            </a:r>
            <a:r>
              <a:rPr sz="2600" dirty="0">
                <a:latin typeface="Calibri"/>
                <a:cs typeface="Calibri"/>
              </a:rPr>
              <a:t>of</a:t>
            </a:r>
            <a:r>
              <a:rPr sz="2600" spc="-45" dirty="0">
                <a:latin typeface="Calibri"/>
                <a:cs typeface="Calibri"/>
              </a:rPr>
              <a:t> </a:t>
            </a:r>
            <a:r>
              <a:rPr sz="2600" dirty="0">
                <a:latin typeface="Calibri"/>
                <a:cs typeface="Calibri"/>
              </a:rPr>
              <a:t>the</a:t>
            </a:r>
            <a:r>
              <a:rPr sz="2600" spc="-40" dirty="0">
                <a:latin typeface="Calibri"/>
                <a:cs typeface="Calibri"/>
              </a:rPr>
              <a:t> </a:t>
            </a:r>
            <a:r>
              <a:rPr sz="2600" spc="-10" dirty="0">
                <a:latin typeface="Calibri"/>
                <a:cs typeface="Calibri"/>
              </a:rPr>
              <a:t>parent organization.</a:t>
            </a:r>
            <a:endParaRPr sz="2600" dirty="0">
              <a:latin typeface="Calibri"/>
              <a:cs typeface="Calibri"/>
            </a:endParaRPr>
          </a:p>
          <a:p>
            <a:pPr marL="241300" marR="5080" indent="-228600" algn="just">
              <a:lnSpc>
                <a:spcPts val="2900"/>
              </a:lnSpc>
              <a:spcBef>
                <a:spcPts val="905"/>
              </a:spcBef>
              <a:buFont typeface="Arial MT"/>
              <a:buChar char="•"/>
              <a:tabLst>
                <a:tab pos="241300" algn="l"/>
              </a:tabLst>
            </a:pPr>
            <a:r>
              <a:rPr sz="2600" dirty="0">
                <a:solidFill>
                  <a:srgbClr val="262EA4"/>
                </a:solidFill>
                <a:latin typeface="Calibri"/>
                <a:cs typeface="Calibri"/>
              </a:rPr>
              <a:t>Usually,</a:t>
            </a:r>
            <a:r>
              <a:rPr sz="2600" spc="75" dirty="0">
                <a:solidFill>
                  <a:srgbClr val="262EA4"/>
                </a:solidFill>
                <a:latin typeface="Calibri"/>
                <a:cs typeface="Calibri"/>
              </a:rPr>
              <a:t> </a:t>
            </a:r>
            <a:r>
              <a:rPr sz="2600" dirty="0">
                <a:solidFill>
                  <a:srgbClr val="262EA4"/>
                </a:solidFill>
                <a:latin typeface="Calibri"/>
                <a:cs typeface="Calibri"/>
              </a:rPr>
              <a:t>a</a:t>
            </a:r>
            <a:r>
              <a:rPr sz="2600" spc="75" dirty="0">
                <a:solidFill>
                  <a:srgbClr val="262EA4"/>
                </a:solidFill>
                <a:latin typeface="Calibri"/>
                <a:cs typeface="Calibri"/>
              </a:rPr>
              <a:t> </a:t>
            </a:r>
            <a:r>
              <a:rPr sz="2600" spc="-10" dirty="0">
                <a:solidFill>
                  <a:srgbClr val="262EA4"/>
                </a:solidFill>
                <a:latin typeface="Calibri"/>
                <a:cs typeface="Calibri"/>
              </a:rPr>
              <a:t>full-</a:t>
            </a:r>
            <a:r>
              <a:rPr sz="2600" dirty="0">
                <a:solidFill>
                  <a:srgbClr val="262EA4"/>
                </a:solidFill>
                <a:latin typeface="Calibri"/>
                <a:cs typeface="Calibri"/>
              </a:rPr>
              <a:t>time</a:t>
            </a:r>
            <a:r>
              <a:rPr sz="2600" spc="70" dirty="0">
                <a:solidFill>
                  <a:srgbClr val="262EA4"/>
                </a:solidFill>
                <a:latin typeface="Calibri"/>
                <a:cs typeface="Calibri"/>
              </a:rPr>
              <a:t> </a:t>
            </a:r>
            <a:r>
              <a:rPr sz="2600" dirty="0">
                <a:solidFill>
                  <a:srgbClr val="262EA4"/>
                </a:solidFill>
                <a:latin typeface="Calibri"/>
                <a:cs typeface="Calibri"/>
              </a:rPr>
              <a:t>project</a:t>
            </a:r>
            <a:r>
              <a:rPr sz="2600" spc="75" dirty="0">
                <a:solidFill>
                  <a:srgbClr val="262EA4"/>
                </a:solidFill>
                <a:latin typeface="Calibri"/>
                <a:cs typeface="Calibri"/>
              </a:rPr>
              <a:t> </a:t>
            </a:r>
            <a:r>
              <a:rPr sz="2600" dirty="0">
                <a:solidFill>
                  <a:srgbClr val="262EA4"/>
                </a:solidFill>
                <a:latin typeface="Calibri"/>
                <a:cs typeface="Calibri"/>
              </a:rPr>
              <a:t>manager</a:t>
            </a:r>
            <a:r>
              <a:rPr sz="2600" spc="80" dirty="0">
                <a:solidFill>
                  <a:srgbClr val="262EA4"/>
                </a:solidFill>
                <a:latin typeface="Calibri"/>
                <a:cs typeface="Calibri"/>
              </a:rPr>
              <a:t> </a:t>
            </a:r>
            <a:r>
              <a:rPr sz="2600" dirty="0">
                <a:solidFill>
                  <a:srgbClr val="262EA4"/>
                </a:solidFill>
                <a:latin typeface="Calibri"/>
                <a:cs typeface="Calibri"/>
              </a:rPr>
              <a:t>is</a:t>
            </a:r>
            <a:r>
              <a:rPr sz="2600" spc="65" dirty="0">
                <a:solidFill>
                  <a:srgbClr val="262EA4"/>
                </a:solidFill>
                <a:latin typeface="Calibri"/>
                <a:cs typeface="Calibri"/>
              </a:rPr>
              <a:t> </a:t>
            </a:r>
            <a:r>
              <a:rPr sz="2600" dirty="0">
                <a:solidFill>
                  <a:srgbClr val="262EA4"/>
                </a:solidFill>
                <a:latin typeface="Calibri"/>
                <a:cs typeface="Calibri"/>
              </a:rPr>
              <a:t>designated</a:t>
            </a:r>
            <a:r>
              <a:rPr sz="2600" spc="70" dirty="0">
                <a:solidFill>
                  <a:srgbClr val="262EA4"/>
                </a:solidFill>
                <a:latin typeface="Calibri"/>
                <a:cs typeface="Calibri"/>
              </a:rPr>
              <a:t> </a:t>
            </a:r>
            <a:r>
              <a:rPr sz="2600" dirty="0">
                <a:solidFill>
                  <a:srgbClr val="262EA4"/>
                </a:solidFill>
                <a:latin typeface="Calibri"/>
                <a:cs typeface="Calibri"/>
              </a:rPr>
              <a:t>to</a:t>
            </a:r>
            <a:r>
              <a:rPr sz="2600" spc="75" dirty="0">
                <a:solidFill>
                  <a:srgbClr val="262EA4"/>
                </a:solidFill>
                <a:latin typeface="Calibri"/>
                <a:cs typeface="Calibri"/>
              </a:rPr>
              <a:t> </a:t>
            </a:r>
            <a:r>
              <a:rPr sz="2600" dirty="0">
                <a:solidFill>
                  <a:srgbClr val="262EA4"/>
                </a:solidFill>
                <a:latin typeface="Calibri"/>
                <a:cs typeface="Calibri"/>
              </a:rPr>
              <a:t>pull</a:t>
            </a:r>
            <a:r>
              <a:rPr sz="2600" spc="80" dirty="0">
                <a:solidFill>
                  <a:srgbClr val="262EA4"/>
                </a:solidFill>
                <a:latin typeface="Calibri"/>
                <a:cs typeface="Calibri"/>
              </a:rPr>
              <a:t> </a:t>
            </a:r>
            <a:r>
              <a:rPr sz="2600" dirty="0">
                <a:solidFill>
                  <a:srgbClr val="262EA4"/>
                </a:solidFill>
                <a:latin typeface="Calibri"/>
                <a:cs typeface="Calibri"/>
              </a:rPr>
              <a:t>together</a:t>
            </a:r>
            <a:r>
              <a:rPr sz="2600" spc="80" dirty="0">
                <a:solidFill>
                  <a:srgbClr val="262EA4"/>
                </a:solidFill>
                <a:latin typeface="Calibri"/>
                <a:cs typeface="Calibri"/>
              </a:rPr>
              <a:t> </a:t>
            </a:r>
            <a:r>
              <a:rPr sz="2600" dirty="0">
                <a:solidFill>
                  <a:srgbClr val="262EA4"/>
                </a:solidFill>
                <a:latin typeface="Calibri"/>
                <a:cs typeface="Calibri"/>
              </a:rPr>
              <a:t>a</a:t>
            </a:r>
            <a:r>
              <a:rPr sz="2600" spc="80" dirty="0">
                <a:solidFill>
                  <a:srgbClr val="262EA4"/>
                </a:solidFill>
                <a:latin typeface="Calibri"/>
                <a:cs typeface="Calibri"/>
              </a:rPr>
              <a:t> </a:t>
            </a:r>
            <a:r>
              <a:rPr sz="2600" dirty="0">
                <a:solidFill>
                  <a:srgbClr val="262EA4"/>
                </a:solidFill>
                <a:latin typeface="Calibri"/>
                <a:cs typeface="Calibri"/>
              </a:rPr>
              <a:t>core</a:t>
            </a:r>
            <a:r>
              <a:rPr sz="2600" spc="65" dirty="0">
                <a:solidFill>
                  <a:srgbClr val="262EA4"/>
                </a:solidFill>
                <a:latin typeface="Calibri"/>
                <a:cs typeface="Calibri"/>
              </a:rPr>
              <a:t> </a:t>
            </a:r>
            <a:r>
              <a:rPr sz="2600" spc="-10" dirty="0">
                <a:solidFill>
                  <a:srgbClr val="262EA4"/>
                </a:solidFill>
                <a:latin typeface="Calibri"/>
                <a:cs typeface="Calibri"/>
              </a:rPr>
              <a:t>group </a:t>
            </a:r>
            <a:r>
              <a:rPr sz="2600" dirty="0">
                <a:solidFill>
                  <a:srgbClr val="262EA4"/>
                </a:solidFill>
                <a:latin typeface="Calibri"/>
                <a:cs typeface="Calibri"/>
              </a:rPr>
              <a:t>of</a:t>
            </a:r>
            <a:r>
              <a:rPr sz="2600" spc="-55" dirty="0">
                <a:solidFill>
                  <a:srgbClr val="262EA4"/>
                </a:solidFill>
                <a:latin typeface="Calibri"/>
                <a:cs typeface="Calibri"/>
              </a:rPr>
              <a:t> </a:t>
            </a:r>
            <a:r>
              <a:rPr sz="2600" dirty="0">
                <a:solidFill>
                  <a:srgbClr val="262EA4"/>
                </a:solidFill>
                <a:latin typeface="Calibri"/>
                <a:cs typeface="Calibri"/>
              </a:rPr>
              <a:t>specialists</a:t>
            </a:r>
            <a:r>
              <a:rPr sz="2600" spc="-50" dirty="0">
                <a:solidFill>
                  <a:srgbClr val="262EA4"/>
                </a:solidFill>
                <a:latin typeface="Calibri"/>
                <a:cs typeface="Calibri"/>
              </a:rPr>
              <a:t> </a:t>
            </a:r>
            <a:r>
              <a:rPr sz="2600" dirty="0">
                <a:solidFill>
                  <a:srgbClr val="262EA4"/>
                </a:solidFill>
                <a:latin typeface="Calibri"/>
                <a:cs typeface="Calibri"/>
              </a:rPr>
              <a:t>who</a:t>
            </a:r>
            <a:r>
              <a:rPr sz="2600" spc="-45" dirty="0">
                <a:solidFill>
                  <a:srgbClr val="262EA4"/>
                </a:solidFill>
                <a:latin typeface="Calibri"/>
                <a:cs typeface="Calibri"/>
              </a:rPr>
              <a:t> </a:t>
            </a:r>
            <a:r>
              <a:rPr sz="2600" dirty="0">
                <a:solidFill>
                  <a:srgbClr val="262EA4"/>
                </a:solidFill>
                <a:latin typeface="Calibri"/>
                <a:cs typeface="Calibri"/>
              </a:rPr>
              <a:t>work</a:t>
            </a:r>
            <a:r>
              <a:rPr sz="2600" spc="-40" dirty="0">
                <a:solidFill>
                  <a:srgbClr val="262EA4"/>
                </a:solidFill>
                <a:latin typeface="Calibri"/>
                <a:cs typeface="Calibri"/>
              </a:rPr>
              <a:t> </a:t>
            </a:r>
            <a:r>
              <a:rPr sz="2600" dirty="0">
                <a:solidFill>
                  <a:srgbClr val="262EA4"/>
                </a:solidFill>
                <a:latin typeface="Calibri"/>
                <a:cs typeface="Calibri"/>
              </a:rPr>
              <a:t>full</a:t>
            </a:r>
            <a:r>
              <a:rPr sz="2600" spc="-45" dirty="0">
                <a:solidFill>
                  <a:srgbClr val="262EA4"/>
                </a:solidFill>
                <a:latin typeface="Calibri"/>
                <a:cs typeface="Calibri"/>
              </a:rPr>
              <a:t> </a:t>
            </a:r>
            <a:r>
              <a:rPr sz="2600" dirty="0">
                <a:solidFill>
                  <a:srgbClr val="262EA4"/>
                </a:solidFill>
                <a:latin typeface="Calibri"/>
                <a:cs typeface="Calibri"/>
              </a:rPr>
              <a:t>time</a:t>
            </a:r>
            <a:r>
              <a:rPr sz="2600" spc="-55" dirty="0">
                <a:solidFill>
                  <a:srgbClr val="262EA4"/>
                </a:solidFill>
                <a:latin typeface="Calibri"/>
                <a:cs typeface="Calibri"/>
              </a:rPr>
              <a:t> </a:t>
            </a:r>
            <a:r>
              <a:rPr sz="2600" dirty="0">
                <a:solidFill>
                  <a:srgbClr val="262EA4"/>
                </a:solidFill>
                <a:latin typeface="Calibri"/>
                <a:cs typeface="Calibri"/>
              </a:rPr>
              <a:t>on</a:t>
            </a:r>
            <a:r>
              <a:rPr sz="2600" spc="-50" dirty="0">
                <a:solidFill>
                  <a:srgbClr val="262EA4"/>
                </a:solidFill>
                <a:latin typeface="Calibri"/>
                <a:cs typeface="Calibri"/>
              </a:rPr>
              <a:t> </a:t>
            </a:r>
            <a:r>
              <a:rPr sz="2600" dirty="0">
                <a:solidFill>
                  <a:srgbClr val="262EA4"/>
                </a:solidFill>
                <a:latin typeface="Calibri"/>
                <a:cs typeface="Calibri"/>
              </a:rPr>
              <a:t>the</a:t>
            </a:r>
            <a:r>
              <a:rPr sz="2600" spc="-50" dirty="0">
                <a:solidFill>
                  <a:srgbClr val="262EA4"/>
                </a:solidFill>
                <a:latin typeface="Calibri"/>
                <a:cs typeface="Calibri"/>
              </a:rPr>
              <a:t> </a:t>
            </a:r>
            <a:r>
              <a:rPr sz="2600" spc="-10" dirty="0">
                <a:solidFill>
                  <a:srgbClr val="262EA4"/>
                </a:solidFill>
                <a:latin typeface="Calibri"/>
                <a:cs typeface="Calibri"/>
              </a:rPr>
              <a:t>project.</a:t>
            </a:r>
            <a:endParaRPr sz="2600" dirty="0">
              <a:latin typeface="Calibri"/>
              <a:cs typeface="Calibri"/>
            </a:endParaRPr>
          </a:p>
          <a:p>
            <a:pPr marL="241300" marR="5080" indent="-228600" algn="just">
              <a:lnSpc>
                <a:spcPts val="2810"/>
              </a:lnSpc>
              <a:spcBef>
                <a:spcPts val="969"/>
              </a:spcBef>
              <a:buFont typeface="Arial MT"/>
              <a:buChar char="•"/>
              <a:tabLst>
                <a:tab pos="241300" algn="l"/>
              </a:tabLst>
            </a:pPr>
            <a:r>
              <a:rPr sz="2600" dirty="0">
                <a:latin typeface="Calibri"/>
                <a:cs typeface="Calibri"/>
              </a:rPr>
              <a:t>The</a:t>
            </a:r>
            <a:r>
              <a:rPr sz="2600" spc="-35" dirty="0">
                <a:latin typeface="Calibri"/>
                <a:cs typeface="Calibri"/>
              </a:rPr>
              <a:t> </a:t>
            </a:r>
            <a:r>
              <a:rPr sz="2600" dirty="0">
                <a:latin typeface="Calibri"/>
                <a:cs typeface="Calibri"/>
              </a:rPr>
              <a:t>project</a:t>
            </a:r>
            <a:r>
              <a:rPr sz="2600" spc="-20" dirty="0">
                <a:latin typeface="Calibri"/>
                <a:cs typeface="Calibri"/>
              </a:rPr>
              <a:t> </a:t>
            </a:r>
            <a:r>
              <a:rPr sz="2600" dirty="0">
                <a:latin typeface="Calibri"/>
                <a:cs typeface="Calibri"/>
              </a:rPr>
              <a:t>manager</a:t>
            </a:r>
            <a:r>
              <a:rPr sz="2600" spc="-25" dirty="0">
                <a:latin typeface="Calibri"/>
                <a:cs typeface="Calibri"/>
              </a:rPr>
              <a:t> </a:t>
            </a:r>
            <a:r>
              <a:rPr sz="2600" dirty="0">
                <a:latin typeface="Calibri"/>
                <a:cs typeface="Calibri"/>
              </a:rPr>
              <a:t>recruits</a:t>
            </a:r>
            <a:r>
              <a:rPr sz="2600" spc="-25" dirty="0">
                <a:latin typeface="Calibri"/>
                <a:cs typeface="Calibri"/>
              </a:rPr>
              <a:t> </a:t>
            </a:r>
            <a:r>
              <a:rPr sz="2600" dirty="0">
                <a:latin typeface="Calibri"/>
                <a:cs typeface="Calibri"/>
              </a:rPr>
              <a:t>necessary</a:t>
            </a:r>
            <a:r>
              <a:rPr sz="2600" spc="-25" dirty="0">
                <a:latin typeface="Calibri"/>
                <a:cs typeface="Calibri"/>
              </a:rPr>
              <a:t> </a:t>
            </a:r>
            <a:r>
              <a:rPr sz="2600" dirty="0">
                <a:latin typeface="Calibri"/>
                <a:cs typeface="Calibri"/>
              </a:rPr>
              <a:t>personnel</a:t>
            </a:r>
            <a:r>
              <a:rPr sz="2600" spc="-30" dirty="0">
                <a:latin typeface="Calibri"/>
                <a:cs typeface="Calibri"/>
              </a:rPr>
              <a:t> </a:t>
            </a:r>
            <a:r>
              <a:rPr sz="2600" dirty="0">
                <a:latin typeface="Calibri"/>
                <a:cs typeface="Calibri"/>
              </a:rPr>
              <a:t>from</a:t>
            </a:r>
            <a:r>
              <a:rPr sz="2600" spc="-25" dirty="0">
                <a:latin typeface="Calibri"/>
                <a:cs typeface="Calibri"/>
              </a:rPr>
              <a:t> </a:t>
            </a:r>
            <a:r>
              <a:rPr sz="2600" dirty="0">
                <a:latin typeface="Calibri"/>
                <a:cs typeface="Calibri"/>
              </a:rPr>
              <a:t>both</a:t>
            </a:r>
            <a:r>
              <a:rPr sz="2600" spc="-25" dirty="0">
                <a:latin typeface="Calibri"/>
                <a:cs typeface="Calibri"/>
              </a:rPr>
              <a:t> </a:t>
            </a:r>
            <a:r>
              <a:rPr sz="2600" dirty="0">
                <a:latin typeface="Calibri"/>
                <a:cs typeface="Calibri"/>
              </a:rPr>
              <a:t>within</a:t>
            </a:r>
            <a:r>
              <a:rPr sz="2600" spc="-30" dirty="0">
                <a:latin typeface="Calibri"/>
                <a:cs typeface="Calibri"/>
              </a:rPr>
              <a:t> </a:t>
            </a:r>
            <a:r>
              <a:rPr sz="2600" dirty="0">
                <a:latin typeface="Calibri"/>
                <a:cs typeface="Calibri"/>
              </a:rPr>
              <a:t>and</a:t>
            </a:r>
            <a:r>
              <a:rPr sz="2600" spc="-25" dirty="0">
                <a:latin typeface="Calibri"/>
                <a:cs typeface="Calibri"/>
              </a:rPr>
              <a:t> </a:t>
            </a:r>
            <a:r>
              <a:rPr sz="2600" spc="-10" dirty="0">
                <a:latin typeface="Calibri"/>
                <a:cs typeface="Calibri"/>
              </a:rPr>
              <a:t>outside </a:t>
            </a:r>
            <a:r>
              <a:rPr sz="2600" dirty="0">
                <a:latin typeface="Calibri"/>
                <a:cs typeface="Calibri"/>
              </a:rPr>
              <a:t>the</a:t>
            </a:r>
            <a:r>
              <a:rPr sz="2600" spc="-80" dirty="0">
                <a:latin typeface="Calibri"/>
                <a:cs typeface="Calibri"/>
              </a:rPr>
              <a:t> </a:t>
            </a:r>
            <a:r>
              <a:rPr sz="2600" dirty="0">
                <a:latin typeface="Calibri"/>
                <a:cs typeface="Calibri"/>
              </a:rPr>
              <a:t>parent</a:t>
            </a:r>
            <a:r>
              <a:rPr sz="2600" spc="-70" dirty="0">
                <a:latin typeface="Calibri"/>
                <a:cs typeface="Calibri"/>
              </a:rPr>
              <a:t> </a:t>
            </a:r>
            <a:r>
              <a:rPr sz="2600" spc="-10" dirty="0">
                <a:latin typeface="Calibri"/>
                <a:cs typeface="Calibri"/>
              </a:rPr>
              <a:t>company.</a:t>
            </a:r>
            <a:endParaRPr sz="2600" dirty="0">
              <a:latin typeface="Calibri"/>
              <a:cs typeface="Calibri"/>
            </a:endParaRPr>
          </a:p>
          <a:p>
            <a:pPr marL="241300" marR="5080" indent="-228600" algn="just">
              <a:lnSpc>
                <a:spcPts val="2810"/>
              </a:lnSpc>
              <a:spcBef>
                <a:spcPts val="980"/>
              </a:spcBef>
              <a:buFont typeface="Arial MT"/>
              <a:buChar char="•"/>
              <a:tabLst>
                <a:tab pos="241300" algn="l"/>
              </a:tabLst>
            </a:pPr>
            <a:r>
              <a:rPr sz="2600" dirty="0">
                <a:solidFill>
                  <a:srgbClr val="262EA4"/>
                </a:solidFill>
                <a:latin typeface="Calibri"/>
                <a:cs typeface="Calibri"/>
              </a:rPr>
              <a:t>The</a:t>
            </a:r>
            <a:r>
              <a:rPr sz="2600" spc="110" dirty="0">
                <a:solidFill>
                  <a:srgbClr val="262EA4"/>
                </a:solidFill>
                <a:latin typeface="Calibri"/>
                <a:cs typeface="Calibri"/>
              </a:rPr>
              <a:t> </a:t>
            </a:r>
            <a:r>
              <a:rPr sz="2600" dirty="0">
                <a:solidFill>
                  <a:srgbClr val="262EA4"/>
                </a:solidFill>
                <a:latin typeface="Calibri"/>
                <a:cs typeface="Calibri"/>
              </a:rPr>
              <a:t>subsequent</a:t>
            </a:r>
            <a:r>
              <a:rPr sz="2600" spc="120" dirty="0">
                <a:solidFill>
                  <a:srgbClr val="262EA4"/>
                </a:solidFill>
                <a:latin typeface="Calibri"/>
                <a:cs typeface="Calibri"/>
              </a:rPr>
              <a:t> </a:t>
            </a:r>
            <a:r>
              <a:rPr sz="2600" dirty="0">
                <a:solidFill>
                  <a:srgbClr val="262EA4"/>
                </a:solidFill>
                <a:latin typeface="Calibri"/>
                <a:cs typeface="Calibri"/>
              </a:rPr>
              <a:t>team</a:t>
            </a:r>
            <a:r>
              <a:rPr sz="2600" spc="125" dirty="0">
                <a:solidFill>
                  <a:srgbClr val="262EA4"/>
                </a:solidFill>
                <a:latin typeface="Calibri"/>
                <a:cs typeface="Calibri"/>
              </a:rPr>
              <a:t> </a:t>
            </a:r>
            <a:r>
              <a:rPr sz="2600" dirty="0">
                <a:solidFill>
                  <a:srgbClr val="262EA4"/>
                </a:solidFill>
                <a:latin typeface="Calibri"/>
                <a:cs typeface="Calibri"/>
              </a:rPr>
              <a:t>is</a:t>
            </a:r>
            <a:r>
              <a:rPr sz="2600" spc="114" dirty="0">
                <a:solidFill>
                  <a:srgbClr val="262EA4"/>
                </a:solidFill>
                <a:latin typeface="Calibri"/>
                <a:cs typeface="Calibri"/>
              </a:rPr>
              <a:t> </a:t>
            </a:r>
            <a:r>
              <a:rPr sz="2600" dirty="0">
                <a:solidFill>
                  <a:srgbClr val="262EA4"/>
                </a:solidFill>
                <a:latin typeface="Calibri"/>
                <a:cs typeface="Calibri"/>
              </a:rPr>
              <a:t>physically</a:t>
            </a:r>
            <a:r>
              <a:rPr sz="2600" spc="120" dirty="0">
                <a:solidFill>
                  <a:srgbClr val="262EA4"/>
                </a:solidFill>
                <a:latin typeface="Calibri"/>
                <a:cs typeface="Calibri"/>
              </a:rPr>
              <a:t> </a:t>
            </a:r>
            <a:r>
              <a:rPr sz="2600" dirty="0">
                <a:solidFill>
                  <a:srgbClr val="262EA4"/>
                </a:solidFill>
                <a:latin typeface="Calibri"/>
                <a:cs typeface="Calibri"/>
              </a:rPr>
              <a:t>separated</a:t>
            </a:r>
            <a:r>
              <a:rPr sz="2600" spc="114" dirty="0">
                <a:solidFill>
                  <a:srgbClr val="262EA4"/>
                </a:solidFill>
                <a:latin typeface="Calibri"/>
                <a:cs typeface="Calibri"/>
              </a:rPr>
              <a:t> </a:t>
            </a:r>
            <a:r>
              <a:rPr sz="2600" dirty="0">
                <a:solidFill>
                  <a:srgbClr val="262EA4"/>
                </a:solidFill>
                <a:latin typeface="Calibri"/>
                <a:cs typeface="Calibri"/>
              </a:rPr>
              <a:t>from</a:t>
            </a:r>
            <a:r>
              <a:rPr sz="2600" spc="120" dirty="0">
                <a:solidFill>
                  <a:srgbClr val="262EA4"/>
                </a:solidFill>
                <a:latin typeface="Calibri"/>
                <a:cs typeface="Calibri"/>
              </a:rPr>
              <a:t> </a:t>
            </a:r>
            <a:r>
              <a:rPr sz="2600" dirty="0">
                <a:solidFill>
                  <a:srgbClr val="262EA4"/>
                </a:solidFill>
                <a:latin typeface="Calibri"/>
                <a:cs typeface="Calibri"/>
              </a:rPr>
              <a:t>the</a:t>
            </a:r>
            <a:r>
              <a:rPr sz="2600" spc="114" dirty="0">
                <a:solidFill>
                  <a:srgbClr val="262EA4"/>
                </a:solidFill>
                <a:latin typeface="Calibri"/>
                <a:cs typeface="Calibri"/>
              </a:rPr>
              <a:t> </a:t>
            </a:r>
            <a:r>
              <a:rPr sz="2600" dirty="0">
                <a:solidFill>
                  <a:srgbClr val="262EA4"/>
                </a:solidFill>
                <a:latin typeface="Calibri"/>
                <a:cs typeface="Calibri"/>
              </a:rPr>
              <a:t>parent</a:t>
            </a:r>
            <a:r>
              <a:rPr sz="2600" spc="120" dirty="0">
                <a:solidFill>
                  <a:srgbClr val="262EA4"/>
                </a:solidFill>
                <a:latin typeface="Calibri"/>
                <a:cs typeface="Calibri"/>
              </a:rPr>
              <a:t> </a:t>
            </a:r>
            <a:r>
              <a:rPr sz="2600" dirty="0">
                <a:solidFill>
                  <a:srgbClr val="262EA4"/>
                </a:solidFill>
                <a:latin typeface="Calibri"/>
                <a:cs typeface="Calibri"/>
              </a:rPr>
              <a:t>organization</a:t>
            </a:r>
            <a:r>
              <a:rPr sz="2600" spc="120" dirty="0">
                <a:solidFill>
                  <a:srgbClr val="262EA4"/>
                </a:solidFill>
                <a:latin typeface="Calibri"/>
                <a:cs typeface="Calibri"/>
              </a:rPr>
              <a:t> </a:t>
            </a:r>
            <a:r>
              <a:rPr sz="2600" spc="-25" dirty="0">
                <a:solidFill>
                  <a:srgbClr val="262EA4"/>
                </a:solidFill>
                <a:latin typeface="Calibri"/>
                <a:cs typeface="Calibri"/>
              </a:rPr>
              <a:t>and </a:t>
            </a:r>
            <a:r>
              <a:rPr sz="2600" dirty="0">
                <a:solidFill>
                  <a:srgbClr val="262EA4"/>
                </a:solidFill>
                <a:latin typeface="Calibri"/>
                <a:cs typeface="Calibri"/>
              </a:rPr>
              <a:t>given</a:t>
            </a:r>
            <a:r>
              <a:rPr sz="2600" spc="-85" dirty="0">
                <a:solidFill>
                  <a:srgbClr val="262EA4"/>
                </a:solidFill>
                <a:latin typeface="Calibri"/>
                <a:cs typeface="Calibri"/>
              </a:rPr>
              <a:t> </a:t>
            </a:r>
            <a:r>
              <a:rPr sz="2600" dirty="0">
                <a:solidFill>
                  <a:srgbClr val="262EA4"/>
                </a:solidFill>
                <a:latin typeface="Calibri"/>
                <a:cs typeface="Calibri"/>
              </a:rPr>
              <a:t>marching</a:t>
            </a:r>
            <a:r>
              <a:rPr sz="2600" spc="-85" dirty="0">
                <a:solidFill>
                  <a:srgbClr val="262EA4"/>
                </a:solidFill>
                <a:latin typeface="Calibri"/>
                <a:cs typeface="Calibri"/>
              </a:rPr>
              <a:t> </a:t>
            </a:r>
            <a:r>
              <a:rPr sz="2600" dirty="0">
                <a:solidFill>
                  <a:srgbClr val="262EA4"/>
                </a:solidFill>
                <a:latin typeface="Calibri"/>
                <a:cs typeface="Calibri"/>
              </a:rPr>
              <a:t>orders</a:t>
            </a:r>
            <a:r>
              <a:rPr sz="2600" spc="-85" dirty="0">
                <a:solidFill>
                  <a:srgbClr val="262EA4"/>
                </a:solidFill>
                <a:latin typeface="Calibri"/>
                <a:cs typeface="Calibri"/>
              </a:rPr>
              <a:t> </a:t>
            </a:r>
            <a:r>
              <a:rPr sz="2600" dirty="0">
                <a:solidFill>
                  <a:srgbClr val="262EA4"/>
                </a:solidFill>
                <a:latin typeface="Calibri"/>
                <a:cs typeface="Calibri"/>
              </a:rPr>
              <a:t>to</a:t>
            </a:r>
            <a:r>
              <a:rPr sz="2600" spc="-80" dirty="0">
                <a:solidFill>
                  <a:srgbClr val="262EA4"/>
                </a:solidFill>
                <a:latin typeface="Calibri"/>
                <a:cs typeface="Calibri"/>
              </a:rPr>
              <a:t> </a:t>
            </a:r>
            <a:r>
              <a:rPr sz="2600" dirty="0">
                <a:solidFill>
                  <a:srgbClr val="262EA4"/>
                </a:solidFill>
                <a:latin typeface="Calibri"/>
                <a:cs typeface="Calibri"/>
              </a:rPr>
              <a:t>complete</a:t>
            </a:r>
            <a:r>
              <a:rPr sz="2600" spc="-85" dirty="0">
                <a:solidFill>
                  <a:srgbClr val="262EA4"/>
                </a:solidFill>
                <a:latin typeface="Calibri"/>
                <a:cs typeface="Calibri"/>
              </a:rPr>
              <a:t> </a:t>
            </a:r>
            <a:r>
              <a:rPr sz="2600" dirty="0">
                <a:solidFill>
                  <a:srgbClr val="262EA4"/>
                </a:solidFill>
                <a:latin typeface="Calibri"/>
                <a:cs typeface="Calibri"/>
              </a:rPr>
              <a:t>the</a:t>
            </a:r>
            <a:r>
              <a:rPr sz="2600" spc="-85" dirty="0">
                <a:solidFill>
                  <a:srgbClr val="262EA4"/>
                </a:solidFill>
                <a:latin typeface="Calibri"/>
                <a:cs typeface="Calibri"/>
              </a:rPr>
              <a:t> </a:t>
            </a:r>
            <a:r>
              <a:rPr sz="2600" spc="-10" dirty="0">
                <a:solidFill>
                  <a:srgbClr val="262EA4"/>
                </a:solidFill>
                <a:latin typeface="Calibri"/>
                <a:cs typeface="Calibri"/>
              </a:rPr>
              <a:t>project.</a:t>
            </a:r>
            <a:endParaRPr sz="2600" dirty="0">
              <a:latin typeface="Calibri"/>
              <a:cs typeface="Calibri"/>
            </a:endParaRPr>
          </a:p>
          <a:p>
            <a:pPr marL="241300" marR="5080" indent="-228600" algn="just">
              <a:lnSpc>
                <a:spcPts val="2810"/>
              </a:lnSpc>
              <a:spcBef>
                <a:spcPts val="980"/>
              </a:spcBef>
              <a:buFont typeface="Arial MT"/>
              <a:buChar char="•"/>
              <a:tabLst>
                <a:tab pos="241300" algn="l"/>
              </a:tabLst>
            </a:pPr>
            <a:r>
              <a:rPr sz="2600" dirty="0">
                <a:latin typeface="Calibri"/>
                <a:cs typeface="Calibri"/>
              </a:rPr>
              <a:t>The</a:t>
            </a:r>
            <a:r>
              <a:rPr sz="2600" spc="370" dirty="0">
                <a:latin typeface="Calibri"/>
                <a:cs typeface="Calibri"/>
              </a:rPr>
              <a:t> </a:t>
            </a:r>
            <a:r>
              <a:rPr sz="2600" dirty="0">
                <a:latin typeface="Calibri"/>
                <a:cs typeface="Calibri"/>
              </a:rPr>
              <a:t>main</a:t>
            </a:r>
            <a:r>
              <a:rPr sz="2600" spc="365" dirty="0">
                <a:latin typeface="Calibri"/>
                <a:cs typeface="Calibri"/>
              </a:rPr>
              <a:t> </a:t>
            </a:r>
            <a:r>
              <a:rPr sz="2600" dirty="0">
                <a:latin typeface="Calibri"/>
                <a:cs typeface="Calibri"/>
              </a:rPr>
              <a:t>responsibility</a:t>
            </a:r>
            <a:r>
              <a:rPr sz="2600" spc="375" dirty="0">
                <a:latin typeface="Calibri"/>
                <a:cs typeface="Calibri"/>
              </a:rPr>
              <a:t> </a:t>
            </a:r>
            <a:r>
              <a:rPr sz="2600" dirty="0">
                <a:latin typeface="Calibri"/>
                <a:cs typeface="Calibri"/>
              </a:rPr>
              <a:t>of</a:t>
            </a:r>
            <a:r>
              <a:rPr sz="2600" spc="370" dirty="0">
                <a:latin typeface="Calibri"/>
                <a:cs typeface="Calibri"/>
              </a:rPr>
              <a:t> </a:t>
            </a:r>
            <a:r>
              <a:rPr sz="2600" dirty="0">
                <a:latin typeface="Calibri"/>
                <a:cs typeface="Calibri"/>
              </a:rPr>
              <a:t>traditional</a:t>
            </a:r>
            <a:r>
              <a:rPr sz="2600" spc="390" dirty="0">
                <a:latin typeface="Calibri"/>
                <a:cs typeface="Calibri"/>
              </a:rPr>
              <a:t> </a:t>
            </a:r>
            <a:r>
              <a:rPr sz="2600" dirty="0">
                <a:latin typeface="Calibri"/>
                <a:cs typeface="Calibri"/>
              </a:rPr>
              <a:t>functional</a:t>
            </a:r>
            <a:r>
              <a:rPr sz="2600" spc="380" dirty="0">
                <a:latin typeface="Calibri"/>
                <a:cs typeface="Calibri"/>
              </a:rPr>
              <a:t> </a:t>
            </a:r>
            <a:r>
              <a:rPr sz="2600" dirty="0">
                <a:latin typeface="Calibri"/>
                <a:cs typeface="Calibri"/>
              </a:rPr>
              <a:t>departments</a:t>
            </a:r>
            <a:r>
              <a:rPr sz="2600" spc="365" dirty="0">
                <a:latin typeface="Calibri"/>
                <a:cs typeface="Calibri"/>
              </a:rPr>
              <a:t> </a:t>
            </a:r>
            <a:r>
              <a:rPr sz="2600" dirty="0">
                <a:latin typeface="Calibri"/>
                <a:cs typeface="Calibri"/>
              </a:rPr>
              <a:t>is</a:t>
            </a:r>
            <a:r>
              <a:rPr sz="2600" spc="370" dirty="0">
                <a:latin typeface="Calibri"/>
                <a:cs typeface="Calibri"/>
              </a:rPr>
              <a:t> </a:t>
            </a:r>
            <a:r>
              <a:rPr sz="2600" dirty="0">
                <a:latin typeface="Calibri"/>
                <a:cs typeface="Calibri"/>
              </a:rPr>
              <a:t>to</a:t>
            </a:r>
            <a:r>
              <a:rPr sz="2600" spc="380" dirty="0">
                <a:latin typeface="Calibri"/>
                <a:cs typeface="Calibri"/>
              </a:rPr>
              <a:t> </a:t>
            </a:r>
            <a:r>
              <a:rPr sz="2600" dirty="0">
                <a:latin typeface="Calibri"/>
                <a:cs typeface="Calibri"/>
              </a:rPr>
              <a:t>assist</a:t>
            </a:r>
            <a:r>
              <a:rPr sz="2600" spc="380" dirty="0">
                <a:latin typeface="Calibri"/>
                <a:cs typeface="Calibri"/>
              </a:rPr>
              <a:t> </a:t>
            </a:r>
            <a:r>
              <a:rPr sz="2600" spc="-25" dirty="0">
                <a:latin typeface="Calibri"/>
                <a:cs typeface="Calibri"/>
              </a:rPr>
              <a:t>and </a:t>
            </a:r>
            <a:r>
              <a:rPr sz="2600" dirty="0">
                <a:latin typeface="Calibri"/>
                <a:cs typeface="Calibri"/>
              </a:rPr>
              <a:t>support</a:t>
            </a:r>
            <a:r>
              <a:rPr sz="2600" spc="-75" dirty="0">
                <a:latin typeface="Calibri"/>
                <a:cs typeface="Calibri"/>
              </a:rPr>
              <a:t> </a:t>
            </a:r>
            <a:r>
              <a:rPr sz="2600" dirty="0">
                <a:latin typeface="Calibri"/>
                <a:cs typeface="Calibri"/>
              </a:rPr>
              <a:t>these</a:t>
            </a:r>
            <a:r>
              <a:rPr sz="2600" spc="-75" dirty="0">
                <a:latin typeface="Calibri"/>
                <a:cs typeface="Calibri"/>
              </a:rPr>
              <a:t> </a:t>
            </a:r>
            <a:r>
              <a:rPr sz="2600" dirty="0">
                <a:latin typeface="Calibri"/>
                <a:cs typeface="Calibri"/>
              </a:rPr>
              <a:t>project</a:t>
            </a:r>
            <a:r>
              <a:rPr sz="2600" spc="-70" dirty="0">
                <a:latin typeface="Calibri"/>
                <a:cs typeface="Calibri"/>
              </a:rPr>
              <a:t> </a:t>
            </a:r>
            <a:r>
              <a:rPr sz="2600" spc="-10" dirty="0">
                <a:latin typeface="Calibri"/>
                <a:cs typeface="Calibri"/>
              </a:rPr>
              <a:t>teams.</a:t>
            </a:r>
            <a:endParaRPr sz="2600" dirty="0">
              <a:latin typeface="Calibri"/>
              <a:cs typeface="Calibri"/>
            </a:endParaRPr>
          </a:p>
          <a:p>
            <a:pPr marL="241300" indent="-228600" algn="just">
              <a:lnSpc>
                <a:spcPct val="100000"/>
              </a:lnSpc>
              <a:spcBef>
                <a:spcPts val="625"/>
              </a:spcBef>
              <a:buFont typeface="Arial MT"/>
              <a:buChar char="•"/>
              <a:tabLst>
                <a:tab pos="241300" algn="l"/>
              </a:tabLst>
            </a:pPr>
            <a:r>
              <a:rPr sz="2600" dirty="0">
                <a:solidFill>
                  <a:srgbClr val="262EA4"/>
                </a:solidFill>
                <a:latin typeface="Calibri"/>
                <a:cs typeface="Calibri"/>
              </a:rPr>
              <a:t>The</a:t>
            </a:r>
            <a:r>
              <a:rPr sz="2600" spc="-70" dirty="0">
                <a:solidFill>
                  <a:srgbClr val="262EA4"/>
                </a:solidFill>
                <a:latin typeface="Calibri"/>
                <a:cs typeface="Calibri"/>
              </a:rPr>
              <a:t> </a:t>
            </a:r>
            <a:r>
              <a:rPr sz="2600" spc="-10" dirty="0">
                <a:solidFill>
                  <a:srgbClr val="262EA4"/>
                </a:solidFill>
                <a:latin typeface="Calibri"/>
                <a:cs typeface="Calibri"/>
              </a:rPr>
              <a:t>interface</a:t>
            </a:r>
            <a:r>
              <a:rPr sz="2600" spc="-60" dirty="0">
                <a:solidFill>
                  <a:srgbClr val="262EA4"/>
                </a:solidFill>
                <a:latin typeface="Calibri"/>
                <a:cs typeface="Calibri"/>
              </a:rPr>
              <a:t> </a:t>
            </a:r>
            <a:r>
              <a:rPr sz="2600" dirty="0">
                <a:solidFill>
                  <a:srgbClr val="262EA4"/>
                </a:solidFill>
                <a:latin typeface="Calibri"/>
                <a:cs typeface="Calibri"/>
              </a:rPr>
              <a:t>between</a:t>
            </a:r>
            <a:r>
              <a:rPr sz="2600" spc="-70" dirty="0">
                <a:solidFill>
                  <a:srgbClr val="262EA4"/>
                </a:solidFill>
                <a:latin typeface="Calibri"/>
                <a:cs typeface="Calibri"/>
              </a:rPr>
              <a:t> </a:t>
            </a:r>
            <a:r>
              <a:rPr sz="2600" dirty="0">
                <a:solidFill>
                  <a:srgbClr val="262EA4"/>
                </a:solidFill>
                <a:latin typeface="Calibri"/>
                <a:cs typeface="Calibri"/>
              </a:rPr>
              <a:t>the</a:t>
            </a:r>
            <a:r>
              <a:rPr sz="2600" spc="-60" dirty="0">
                <a:solidFill>
                  <a:srgbClr val="262EA4"/>
                </a:solidFill>
                <a:latin typeface="Calibri"/>
                <a:cs typeface="Calibri"/>
              </a:rPr>
              <a:t> </a:t>
            </a:r>
            <a:r>
              <a:rPr sz="2600" dirty="0">
                <a:solidFill>
                  <a:srgbClr val="262EA4"/>
                </a:solidFill>
                <a:latin typeface="Calibri"/>
                <a:cs typeface="Calibri"/>
              </a:rPr>
              <a:t>parent</a:t>
            </a:r>
            <a:r>
              <a:rPr sz="2600" spc="-60" dirty="0">
                <a:solidFill>
                  <a:srgbClr val="262EA4"/>
                </a:solidFill>
                <a:latin typeface="Calibri"/>
                <a:cs typeface="Calibri"/>
              </a:rPr>
              <a:t> </a:t>
            </a:r>
            <a:r>
              <a:rPr sz="2600" spc="-20" dirty="0">
                <a:solidFill>
                  <a:srgbClr val="262EA4"/>
                </a:solidFill>
                <a:latin typeface="Calibri"/>
                <a:cs typeface="Calibri"/>
              </a:rPr>
              <a:t>organization</a:t>
            </a:r>
            <a:r>
              <a:rPr sz="2600" spc="-65" dirty="0">
                <a:solidFill>
                  <a:srgbClr val="262EA4"/>
                </a:solidFill>
                <a:latin typeface="Calibri"/>
                <a:cs typeface="Calibri"/>
              </a:rPr>
              <a:t> </a:t>
            </a:r>
            <a:r>
              <a:rPr sz="2600" dirty="0">
                <a:solidFill>
                  <a:srgbClr val="262EA4"/>
                </a:solidFill>
                <a:latin typeface="Calibri"/>
                <a:cs typeface="Calibri"/>
              </a:rPr>
              <a:t>and</a:t>
            </a:r>
            <a:r>
              <a:rPr sz="2600" spc="-60" dirty="0">
                <a:solidFill>
                  <a:srgbClr val="262EA4"/>
                </a:solidFill>
                <a:latin typeface="Calibri"/>
                <a:cs typeface="Calibri"/>
              </a:rPr>
              <a:t> </a:t>
            </a:r>
            <a:r>
              <a:rPr sz="2600" dirty="0">
                <a:solidFill>
                  <a:srgbClr val="262EA4"/>
                </a:solidFill>
                <a:latin typeface="Calibri"/>
                <a:cs typeface="Calibri"/>
              </a:rPr>
              <a:t>the</a:t>
            </a:r>
            <a:r>
              <a:rPr sz="2600" spc="-65" dirty="0">
                <a:solidFill>
                  <a:srgbClr val="262EA4"/>
                </a:solidFill>
                <a:latin typeface="Calibri"/>
                <a:cs typeface="Calibri"/>
              </a:rPr>
              <a:t> </a:t>
            </a:r>
            <a:r>
              <a:rPr sz="2600" dirty="0">
                <a:solidFill>
                  <a:srgbClr val="262EA4"/>
                </a:solidFill>
                <a:latin typeface="Calibri"/>
                <a:cs typeface="Calibri"/>
              </a:rPr>
              <a:t>project</a:t>
            </a:r>
            <a:r>
              <a:rPr sz="2600" spc="-55" dirty="0">
                <a:solidFill>
                  <a:srgbClr val="262EA4"/>
                </a:solidFill>
                <a:latin typeface="Calibri"/>
                <a:cs typeface="Calibri"/>
              </a:rPr>
              <a:t> </a:t>
            </a:r>
            <a:r>
              <a:rPr sz="2600" dirty="0">
                <a:solidFill>
                  <a:srgbClr val="262EA4"/>
                </a:solidFill>
                <a:latin typeface="Calibri"/>
                <a:cs typeface="Calibri"/>
              </a:rPr>
              <a:t>teams</a:t>
            </a:r>
            <a:r>
              <a:rPr sz="2600" spc="-65" dirty="0">
                <a:solidFill>
                  <a:srgbClr val="262EA4"/>
                </a:solidFill>
                <a:latin typeface="Calibri"/>
                <a:cs typeface="Calibri"/>
              </a:rPr>
              <a:t> </a:t>
            </a:r>
            <a:r>
              <a:rPr sz="2600" dirty="0">
                <a:solidFill>
                  <a:srgbClr val="262EA4"/>
                </a:solidFill>
                <a:latin typeface="Calibri"/>
                <a:cs typeface="Calibri"/>
              </a:rPr>
              <a:t>will</a:t>
            </a:r>
            <a:r>
              <a:rPr sz="2600" spc="-60" dirty="0">
                <a:solidFill>
                  <a:srgbClr val="262EA4"/>
                </a:solidFill>
                <a:latin typeface="Calibri"/>
                <a:cs typeface="Calibri"/>
              </a:rPr>
              <a:t> </a:t>
            </a:r>
            <a:r>
              <a:rPr sz="2600" spc="-10" dirty="0">
                <a:solidFill>
                  <a:srgbClr val="262EA4"/>
                </a:solidFill>
                <a:latin typeface="Calibri"/>
                <a:cs typeface="Calibri"/>
              </a:rPr>
              <a:t>vary.</a:t>
            </a:r>
            <a:endParaRPr sz="2600" dirty="0">
              <a:latin typeface="Calibri"/>
              <a:cs typeface="Calibri"/>
            </a:endParaRPr>
          </a:p>
        </p:txBody>
      </p:sp>
      <p:sp>
        <p:nvSpPr>
          <p:cNvPr id="4" name="object 4"/>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7</a:t>
            </a:r>
            <a:endParaRPr sz="1200">
              <a:latin typeface="Calibri"/>
              <a:cs typeface="Calibri"/>
            </a:endParaRPr>
          </a:p>
        </p:txBody>
      </p:sp>
      <p:pic>
        <p:nvPicPr>
          <p:cNvPr id="5" name="Picture 4">
            <a:extLst>
              <a:ext uri="{FF2B5EF4-FFF2-40B4-BE49-F238E27FC236}">
                <a16:creationId xmlns:a16="http://schemas.microsoft.com/office/drawing/2014/main" id="{D3D2EB9F-10FB-8636-1E64-ECA2A67C1A7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631358" y="58331"/>
            <a:ext cx="1491574" cy="534930"/>
          </a:xfrm>
          <a:prstGeom prst="rect">
            <a:avLst/>
          </a:prstGeom>
        </p:spPr>
      </p:pic>
      <p:pic>
        <p:nvPicPr>
          <p:cNvPr id="3" name="object 3"/>
          <p:cNvPicPr/>
          <p:nvPr/>
        </p:nvPicPr>
        <p:blipFill>
          <a:blip r:embed="rId3" cstate="print"/>
          <a:stretch>
            <a:fillRect/>
          </a:stretch>
        </p:blipFill>
        <p:spPr>
          <a:xfrm>
            <a:off x="0" y="1613488"/>
            <a:ext cx="11887200" cy="4879385"/>
          </a:xfrm>
          <a:prstGeom prst="rect">
            <a:avLst/>
          </a:prstGeom>
        </p:spPr>
      </p:pic>
      <p:sp>
        <p:nvSpPr>
          <p:cNvPr id="4" name="object 4"/>
          <p:cNvSpPr txBox="1">
            <a:spLocks noGrp="1"/>
          </p:cNvSpPr>
          <p:nvPr>
            <p:ph type="title"/>
          </p:nvPr>
        </p:nvSpPr>
        <p:spPr>
          <a:xfrm>
            <a:off x="904572" y="442290"/>
            <a:ext cx="11233150" cy="686247"/>
          </a:xfrm>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Dedicated Project Teams</a:t>
            </a:r>
            <a:r>
              <a:rPr lang="en-US" b="1" u="sng" spc="114" dirty="0">
                <a:solidFill>
                  <a:srgbClr val="FF0000"/>
                </a:solidFill>
              </a:rPr>
              <a:t> example</a:t>
            </a:r>
            <a:r>
              <a:rPr b="1" u="sng" spc="114" dirty="0">
                <a:solidFill>
                  <a:srgbClr val="FF0000"/>
                </a:solidFill>
              </a:rPr>
              <a:t> </a:t>
            </a:r>
            <a:r>
              <a:rPr sz="2350" spc="50" dirty="0"/>
              <a:t>(2/5)</a:t>
            </a:r>
            <a:endParaRPr sz="2350" dirty="0"/>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36</a:t>
            </a:fld>
            <a:endParaRPr spc="-50" dirty="0"/>
          </a:p>
        </p:txBody>
      </p:sp>
      <p:pic>
        <p:nvPicPr>
          <p:cNvPr id="6" name="Picture 5">
            <a:extLst>
              <a:ext uri="{FF2B5EF4-FFF2-40B4-BE49-F238E27FC236}">
                <a16:creationId xmlns:a16="http://schemas.microsoft.com/office/drawing/2014/main" id="{851356B4-5024-26DA-C6A8-E72E618C9B8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CCC4A0-7697-4903-AB7B-8923A3460CFB}"/>
              </a:ext>
            </a:extLst>
          </p:cNvPr>
          <p:cNvPicPr>
            <a:picLocks noChangeAspect="1"/>
          </p:cNvPicPr>
          <p:nvPr/>
        </p:nvPicPr>
        <p:blipFill>
          <a:blip r:embed="rId3"/>
          <a:stretch>
            <a:fillRect/>
          </a:stretch>
        </p:blipFill>
        <p:spPr>
          <a:xfrm>
            <a:off x="1295400" y="1600200"/>
            <a:ext cx="8763000" cy="5112438"/>
          </a:xfrm>
          <a:prstGeom prst="rect">
            <a:avLst/>
          </a:prstGeom>
        </p:spPr>
      </p:pic>
      <p:pic>
        <p:nvPicPr>
          <p:cNvPr id="3" name="Picture 2">
            <a:extLst>
              <a:ext uri="{FF2B5EF4-FFF2-40B4-BE49-F238E27FC236}">
                <a16:creationId xmlns:a16="http://schemas.microsoft.com/office/drawing/2014/main" id="{68185880-1257-3D74-3537-655439FCBCD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
        <p:nvSpPr>
          <p:cNvPr id="6" name="object 4">
            <a:extLst>
              <a:ext uri="{FF2B5EF4-FFF2-40B4-BE49-F238E27FC236}">
                <a16:creationId xmlns:a16="http://schemas.microsoft.com/office/drawing/2014/main" id="{C72BEDCB-69D9-47E7-9AF5-D049973ED70E}"/>
              </a:ext>
            </a:extLst>
          </p:cNvPr>
          <p:cNvSpPr txBox="1">
            <a:spLocks noGrp="1"/>
          </p:cNvSpPr>
          <p:nvPr>
            <p:ph type="title"/>
          </p:nvPr>
        </p:nvSpPr>
        <p:spPr>
          <a:xfrm>
            <a:off x="904572" y="442290"/>
            <a:ext cx="11233150" cy="686247"/>
          </a:xfrm>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Dedicated Project Teams </a:t>
            </a:r>
            <a:r>
              <a:rPr lang="en-US" b="1" u="sng" spc="114" dirty="0">
                <a:solidFill>
                  <a:srgbClr val="FF0000"/>
                </a:solidFill>
              </a:rPr>
              <a:t>example</a:t>
            </a:r>
            <a:r>
              <a:rPr sz="2350" spc="50" dirty="0"/>
              <a:t>(2/5)</a:t>
            </a:r>
            <a:endParaRPr sz="2350" dirty="0"/>
          </a:p>
        </p:txBody>
      </p:sp>
    </p:spTree>
    <p:extLst>
      <p:ext uri="{BB962C8B-B14F-4D97-AF65-F5344CB8AC3E}">
        <p14:creationId xmlns:p14="http://schemas.microsoft.com/office/powerpoint/2010/main" val="32145569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334516"/>
            <a:ext cx="10818495" cy="5198110"/>
          </a:xfrm>
          <a:prstGeom prst="rect">
            <a:avLst/>
          </a:prstGeom>
        </p:spPr>
        <p:txBody>
          <a:bodyPr vert="horz" wrap="square" lIns="0" tIns="158750" rIns="0" bIns="0" rtlCol="0">
            <a:spAutoFit/>
          </a:bodyPr>
          <a:lstStyle/>
          <a:p>
            <a:pPr marL="240665" indent="-227965">
              <a:lnSpc>
                <a:spcPct val="100000"/>
              </a:lnSpc>
              <a:spcBef>
                <a:spcPts val="1250"/>
              </a:spcBef>
              <a:buFont typeface="Arial MT"/>
              <a:buChar char="•"/>
              <a:tabLst>
                <a:tab pos="240665" algn="l"/>
              </a:tabLst>
            </a:pPr>
            <a:r>
              <a:rPr sz="3600" b="1" u="heavy" spc="-10" dirty="0">
                <a:solidFill>
                  <a:srgbClr val="C00000"/>
                </a:solidFill>
                <a:uFill>
                  <a:solidFill>
                    <a:srgbClr val="C00000"/>
                  </a:solidFill>
                </a:uFill>
                <a:latin typeface="Calibri"/>
                <a:cs typeface="Calibri"/>
              </a:rPr>
              <a:t>Advantages:</a:t>
            </a:r>
            <a:endParaRPr sz="3600" dirty="0">
              <a:latin typeface="Calibri"/>
              <a:cs typeface="Calibri"/>
            </a:endParaRPr>
          </a:p>
          <a:p>
            <a:pPr marL="644525" marR="5080" lvl="1" indent="-504825" algn="just">
              <a:lnSpc>
                <a:spcPct val="90400"/>
              </a:lnSpc>
              <a:spcBef>
                <a:spcPts val="1045"/>
              </a:spcBef>
              <a:buAutoNum type="arabicPeriod"/>
              <a:tabLst>
                <a:tab pos="647700" algn="l"/>
              </a:tabLst>
            </a:pPr>
            <a:r>
              <a:rPr sz="2400" b="1" dirty="0">
                <a:latin typeface="Calibri"/>
                <a:cs typeface="Calibri"/>
              </a:rPr>
              <a:t>Simple:</a:t>
            </a:r>
            <a:r>
              <a:rPr sz="2400" b="1" spc="215" dirty="0">
                <a:latin typeface="Calibri"/>
                <a:cs typeface="Calibri"/>
              </a:rPr>
              <a:t> </a:t>
            </a:r>
            <a:r>
              <a:rPr sz="2400" dirty="0">
                <a:latin typeface="Calibri"/>
                <a:cs typeface="Calibri"/>
              </a:rPr>
              <a:t>Other</a:t>
            </a:r>
            <a:r>
              <a:rPr sz="2400" spc="210" dirty="0">
                <a:latin typeface="Calibri"/>
                <a:cs typeface="Calibri"/>
              </a:rPr>
              <a:t> </a:t>
            </a:r>
            <a:r>
              <a:rPr sz="2400" dirty="0">
                <a:latin typeface="Calibri"/>
                <a:cs typeface="Calibri"/>
              </a:rPr>
              <a:t>than</a:t>
            </a:r>
            <a:r>
              <a:rPr sz="2400" spc="220" dirty="0">
                <a:latin typeface="Calibri"/>
                <a:cs typeface="Calibri"/>
              </a:rPr>
              <a:t> </a:t>
            </a:r>
            <a:r>
              <a:rPr sz="2400" dirty="0">
                <a:latin typeface="Calibri"/>
                <a:cs typeface="Calibri"/>
              </a:rPr>
              <a:t>taking</a:t>
            </a:r>
            <a:r>
              <a:rPr sz="2400" spc="210" dirty="0">
                <a:latin typeface="Calibri"/>
                <a:cs typeface="Calibri"/>
              </a:rPr>
              <a:t> </a:t>
            </a:r>
            <a:r>
              <a:rPr sz="2400" dirty="0">
                <a:latin typeface="Calibri"/>
                <a:cs typeface="Calibri"/>
              </a:rPr>
              <a:t>away</a:t>
            </a:r>
            <a:r>
              <a:rPr sz="2400" spc="220" dirty="0">
                <a:latin typeface="Calibri"/>
                <a:cs typeface="Calibri"/>
              </a:rPr>
              <a:t> </a:t>
            </a:r>
            <a:r>
              <a:rPr sz="2400" dirty="0">
                <a:latin typeface="Calibri"/>
                <a:cs typeface="Calibri"/>
              </a:rPr>
              <a:t>resources</a:t>
            </a:r>
            <a:r>
              <a:rPr sz="2400" spc="215" dirty="0">
                <a:latin typeface="Calibri"/>
                <a:cs typeface="Calibri"/>
              </a:rPr>
              <a:t> </a:t>
            </a:r>
            <a:r>
              <a:rPr sz="2400" dirty="0">
                <a:latin typeface="Calibri"/>
                <a:cs typeface="Calibri"/>
              </a:rPr>
              <a:t>in</a:t>
            </a:r>
            <a:r>
              <a:rPr sz="2400" spc="215" dirty="0">
                <a:latin typeface="Calibri"/>
                <a:cs typeface="Calibri"/>
              </a:rPr>
              <a:t> </a:t>
            </a:r>
            <a:r>
              <a:rPr sz="2400" dirty="0">
                <a:latin typeface="Calibri"/>
                <a:cs typeface="Calibri"/>
              </a:rPr>
              <a:t>the</a:t>
            </a:r>
            <a:r>
              <a:rPr sz="2400" spc="225" dirty="0">
                <a:latin typeface="Calibri"/>
                <a:cs typeface="Calibri"/>
              </a:rPr>
              <a:t> </a:t>
            </a:r>
            <a:r>
              <a:rPr sz="2400" dirty="0">
                <a:latin typeface="Calibri"/>
                <a:cs typeface="Calibri"/>
              </a:rPr>
              <a:t>form</a:t>
            </a:r>
            <a:r>
              <a:rPr sz="2400" spc="210" dirty="0">
                <a:latin typeface="Calibri"/>
                <a:cs typeface="Calibri"/>
              </a:rPr>
              <a:t> </a:t>
            </a:r>
            <a:r>
              <a:rPr sz="2400" dirty="0">
                <a:latin typeface="Calibri"/>
                <a:cs typeface="Calibri"/>
              </a:rPr>
              <a:t>of</a:t>
            </a:r>
            <a:r>
              <a:rPr sz="2400" spc="220" dirty="0">
                <a:latin typeface="Calibri"/>
                <a:cs typeface="Calibri"/>
              </a:rPr>
              <a:t> </a:t>
            </a:r>
            <a:r>
              <a:rPr sz="2400" dirty="0">
                <a:latin typeface="Calibri"/>
                <a:cs typeface="Calibri"/>
              </a:rPr>
              <a:t>specialists</a:t>
            </a:r>
            <a:r>
              <a:rPr sz="2400" spc="215" dirty="0">
                <a:latin typeface="Calibri"/>
                <a:cs typeface="Calibri"/>
              </a:rPr>
              <a:t> </a:t>
            </a:r>
            <a:r>
              <a:rPr sz="2400" dirty="0">
                <a:latin typeface="Calibri"/>
                <a:cs typeface="Calibri"/>
              </a:rPr>
              <a:t>assigned</a:t>
            </a:r>
            <a:r>
              <a:rPr sz="2400" spc="215" dirty="0">
                <a:latin typeface="Calibri"/>
                <a:cs typeface="Calibri"/>
              </a:rPr>
              <a:t> </a:t>
            </a:r>
            <a:r>
              <a:rPr sz="2400" spc="-25" dirty="0">
                <a:latin typeface="Calibri"/>
                <a:cs typeface="Calibri"/>
              </a:rPr>
              <a:t>to 	</a:t>
            </a:r>
            <a:r>
              <a:rPr sz="2400" dirty="0">
                <a:latin typeface="Calibri"/>
                <a:cs typeface="Calibri"/>
              </a:rPr>
              <a:t>the</a:t>
            </a:r>
            <a:r>
              <a:rPr sz="2400" spc="495" dirty="0">
                <a:latin typeface="Calibri"/>
                <a:cs typeface="Calibri"/>
              </a:rPr>
              <a:t> </a:t>
            </a:r>
            <a:r>
              <a:rPr sz="2400" dirty="0">
                <a:latin typeface="Calibri"/>
                <a:cs typeface="Calibri"/>
              </a:rPr>
              <a:t>project,</a:t>
            </a:r>
            <a:r>
              <a:rPr sz="2400" spc="495" dirty="0">
                <a:latin typeface="Calibri"/>
                <a:cs typeface="Calibri"/>
              </a:rPr>
              <a:t> </a:t>
            </a:r>
            <a:r>
              <a:rPr sz="2400" dirty="0">
                <a:latin typeface="Calibri"/>
                <a:cs typeface="Calibri"/>
              </a:rPr>
              <a:t>the</a:t>
            </a:r>
            <a:r>
              <a:rPr sz="2400" spc="505" dirty="0">
                <a:latin typeface="Calibri"/>
                <a:cs typeface="Calibri"/>
              </a:rPr>
              <a:t> </a:t>
            </a:r>
            <a:r>
              <a:rPr sz="2400" dirty="0">
                <a:latin typeface="Calibri"/>
                <a:cs typeface="Calibri"/>
              </a:rPr>
              <a:t>functional</a:t>
            </a:r>
            <a:r>
              <a:rPr sz="2400" spc="484" dirty="0">
                <a:latin typeface="Calibri"/>
                <a:cs typeface="Calibri"/>
              </a:rPr>
              <a:t> </a:t>
            </a:r>
            <a:r>
              <a:rPr sz="2400" dirty="0">
                <a:latin typeface="Calibri"/>
                <a:cs typeface="Calibri"/>
              </a:rPr>
              <a:t>organization</a:t>
            </a:r>
            <a:r>
              <a:rPr sz="2400" spc="500" dirty="0">
                <a:latin typeface="Calibri"/>
                <a:cs typeface="Calibri"/>
              </a:rPr>
              <a:t> </a:t>
            </a:r>
            <a:r>
              <a:rPr sz="2400" dirty="0">
                <a:latin typeface="Calibri"/>
                <a:cs typeface="Calibri"/>
              </a:rPr>
              <a:t>remains</a:t>
            </a:r>
            <a:r>
              <a:rPr sz="2400" spc="500" dirty="0">
                <a:latin typeface="Calibri"/>
                <a:cs typeface="Calibri"/>
              </a:rPr>
              <a:t> </a:t>
            </a:r>
            <a:r>
              <a:rPr sz="2400" dirty="0">
                <a:latin typeface="Calibri"/>
                <a:cs typeface="Calibri"/>
              </a:rPr>
              <a:t>intact</a:t>
            </a:r>
            <a:r>
              <a:rPr sz="2400" spc="490" dirty="0">
                <a:latin typeface="Calibri"/>
                <a:cs typeface="Calibri"/>
              </a:rPr>
              <a:t> </a:t>
            </a:r>
            <a:r>
              <a:rPr sz="2400" dirty="0">
                <a:latin typeface="Calibri"/>
                <a:cs typeface="Calibri"/>
              </a:rPr>
              <a:t>with</a:t>
            </a:r>
            <a:r>
              <a:rPr sz="2400" spc="495" dirty="0">
                <a:latin typeface="Calibri"/>
                <a:cs typeface="Calibri"/>
              </a:rPr>
              <a:t> </a:t>
            </a:r>
            <a:r>
              <a:rPr sz="2400" dirty="0">
                <a:latin typeface="Calibri"/>
                <a:cs typeface="Calibri"/>
              </a:rPr>
              <a:t>the</a:t>
            </a:r>
            <a:r>
              <a:rPr sz="2400" spc="505" dirty="0">
                <a:latin typeface="Calibri"/>
                <a:cs typeface="Calibri"/>
              </a:rPr>
              <a:t> </a:t>
            </a:r>
            <a:r>
              <a:rPr sz="2400" dirty="0">
                <a:latin typeface="Calibri"/>
                <a:cs typeface="Calibri"/>
              </a:rPr>
              <a:t>project</a:t>
            </a:r>
            <a:r>
              <a:rPr sz="2400" spc="490" dirty="0">
                <a:latin typeface="Calibri"/>
                <a:cs typeface="Calibri"/>
              </a:rPr>
              <a:t> </a:t>
            </a:r>
            <a:r>
              <a:rPr sz="2400" spc="-20" dirty="0">
                <a:latin typeface="Calibri"/>
                <a:cs typeface="Calibri"/>
              </a:rPr>
              <a:t>team 	</a:t>
            </a:r>
            <a:r>
              <a:rPr sz="2400" spc="-10" dirty="0">
                <a:latin typeface="Calibri"/>
                <a:cs typeface="Calibri"/>
              </a:rPr>
              <a:t>operating</a:t>
            </a:r>
            <a:r>
              <a:rPr sz="2400" spc="-50" dirty="0">
                <a:latin typeface="Calibri"/>
                <a:cs typeface="Calibri"/>
              </a:rPr>
              <a:t> </a:t>
            </a:r>
            <a:r>
              <a:rPr sz="2400" spc="-10" dirty="0">
                <a:latin typeface="Calibri"/>
                <a:cs typeface="Calibri"/>
              </a:rPr>
              <a:t>independently.</a:t>
            </a:r>
            <a:endParaRPr sz="2400" dirty="0">
              <a:latin typeface="Calibri"/>
              <a:cs typeface="Calibri"/>
            </a:endParaRPr>
          </a:p>
          <a:p>
            <a:pPr marL="644525" marR="5715" lvl="1" indent="-504825" algn="just">
              <a:lnSpc>
                <a:spcPct val="90400"/>
              </a:lnSpc>
              <a:spcBef>
                <a:spcPts val="994"/>
              </a:spcBef>
              <a:buAutoNum type="arabicPeriod"/>
              <a:tabLst>
                <a:tab pos="647700" algn="l"/>
              </a:tabLst>
            </a:pPr>
            <a:r>
              <a:rPr sz="2400" b="1" dirty="0">
                <a:latin typeface="Calibri"/>
                <a:cs typeface="Calibri"/>
              </a:rPr>
              <a:t>Fast:</a:t>
            </a:r>
            <a:r>
              <a:rPr sz="2400" b="1" spc="170" dirty="0">
                <a:latin typeface="Calibri"/>
                <a:cs typeface="Calibri"/>
              </a:rPr>
              <a:t> </a:t>
            </a:r>
            <a:r>
              <a:rPr sz="2400" dirty="0">
                <a:solidFill>
                  <a:srgbClr val="262EA4"/>
                </a:solidFill>
                <a:latin typeface="Calibri"/>
                <a:cs typeface="Calibri"/>
              </a:rPr>
              <a:t>Projects</a:t>
            </a:r>
            <a:r>
              <a:rPr sz="2400" spc="170" dirty="0">
                <a:solidFill>
                  <a:srgbClr val="262EA4"/>
                </a:solidFill>
                <a:latin typeface="Calibri"/>
                <a:cs typeface="Calibri"/>
              </a:rPr>
              <a:t> </a:t>
            </a:r>
            <a:r>
              <a:rPr sz="2400" dirty="0">
                <a:solidFill>
                  <a:srgbClr val="262EA4"/>
                </a:solidFill>
                <a:latin typeface="Calibri"/>
                <a:cs typeface="Calibri"/>
              </a:rPr>
              <a:t>tend</a:t>
            </a:r>
            <a:r>
              <a:rPr sz="2400" spc="170" dirty="0">
                <a:solidFill>
                  <a:srgbClr val="262EA4"/>
                </a:solidFill>
                <a:latin typeface="Calibri"/>
                <a:cs typeface="Calibri"/>
              </a:rPr>
              <a:t> </a:t>
            </a:r>
            <a:r>
              <a:rPr sz="2400" dirty="0">
                <a:solidFill>
                  <a:srgbClr val="262EA4"/>
                </a:solidFill>
                <a:latin typeface="Calibri"/>
                <a:cs typeface="Calibri"/>
              </a:rPr>
              <a:t>to</a:t>
            </a:r>
            <a:r>
              <a:rPr sz="2400" spc="165" dirty="0">
                <a:solidFill>
                  <a:srgbClr val="262EA4"/>
                </a:solidFill>
                <a:latin typeface="Calibri"/>
                <a:cs typeface="Calibri"/>
              </a:rPr>
              <a:t> </a:t>
            </a:r>
            <a:r>
              <a:rPr sz="2400" dirty="0">
                <a:solidFill>
                  <a:srgbClr val="262EA4"/>
                </a:solidFill>
                <a:latin typeface="Calibri"/>
                <a:cs typeface="Calibri"/>
              </a:rPr>
              <a:t>get</a:t>
            </a:r>
            <a:r>
              <a:rPr sz="2400" spc="170" dirty="0">
                <a:solidFill>
                  <a:srgbClr val="262EA4"/>
                </a:solidFill>
                <a:latin typeface="Calibri"/>
                <a:cs typeface="Calibri"/>
              </a:rPr>
              <a:t> </a:t>
            </a:r>
            <a:r>
              <a:rPr sz="2400" dirty="0">
                <a:solidFill>
                  <a:srgbClr val="262EA4"/>
                </a:solidFill>
                <a:latin typeface="Calibri"/>
                <a:cs typeface="Calibri"/>
              </a:rPr>
              <a:t>done</a:t>
            </a:r>
            <a:r>
              <a:rPr sz="2400" spc="170" dirty="0">
                <a:solidFill>
                  <a:srgbClr val="262EA4"/>
                </a:solidFill>
                <a:latin typeface="Calibri"/>
                <a:cs typeface="Calibri"/>
              </a:rPr>
              <a:t> </a:t>
            </a:r>
            <a:r>
              <a:rPr sz="2400" dirty="0">
                <a:solidFill>
                  <a:srgbClr val="262EA4"/>
                </a:solidFill>
                <a:latin typeface="Calibri"/>
                <a:cs typeface="Calibri"/>
              </a:rPr>
              <a:t>more</a:t>
            </a:r>
            <a:r>
              <a:rPr sz="2400" spc="180" dirty="0">
                <a:solidFill>
                  <a:srgbClr val="262EA4"/>
                </a:solidFill>
                <a:latin typeface="Calibri"/>
                <a:cs typeface="Calibri"/>
              </a:rPr>
              <a:t> </a:t>
            </a:r>
            <a:r>
              <a:rPr sz="2400" dirty="0">
                <a:solidFill>
                  <a:srgbClr val="262EA4"/>
                </a:solidFill>
                <a:latin typeface="Calibri"/>
                <a:cs typeface="Calibri"/>
              </a:rPr>
              <a:t>quickly</a:t>
            </a:r>
            <a:r>
              <a:rPr sz="2400" spc="170" dirty="0">
                <a:solidFill>
                  <a:srgbClr val="262EA4"/>
                </a:solidFill>
                <a:latin typeface="Calibri"/>
                <a:cs typeface="Calibri"/>
              </a:rPr>
              <a:t> </a:t>
            </a:r>
            <a:r>
              <a:rPr sz="2400" dirty="0">
                <a:solidFill>
                  <a:srgbClr val="262EA4"/>
                </a:solidFill>
                <a:latin typeface="Calibri"/>
                <a:cs typeface="Calibri"/>
              </a:rPr>
              <a:t>when</a:t>
            </a:r>
            <a:r>
              <a:rPr sz="2400" spc="175" dirty="0">
                <a:solidFill>
                  <a:srgbClr val="262EA4"/>
                </a:solidFill>
                <a:latin typeface="Calibri"/>
                <a:cs typeface="Calibri"/>
              </a:rPr>
              <a:t> </a:t>
            </a:r>
            <a:r>
              <a:rPr sz="2400" dirty="0">
                <a:solidFill>
                  <a:srgbClr val="262EA4"/>
                </a:solidFill>
                <a:latin typeface="Calibri"/>
                <a:cs typeface="Calibri"/>
              </a:rPr>
              <a:t>participants</a:t>
            </a:r>
            <a:r>
              <a:rPr sz="2400" spc="165" dirty="0">
                <a:solidFill>
                  <a:srgbClr val="262EA4"/>
                </a:solidFill>
                <a:latin typeface="Calibri"/>
                <a:cs typeface="Calibri"/>
              </a:rPr>
              <a:t> </a:t>
            </a:r>
            <a:r>
              <a:rPr sz="2400" dirty="0">
                <a:solidFill>
                  <a:srgbClr val="262EA4"/>
                </a:solidFill>
                <a:latin typeface="Calibri"/>
                <a:cs typeface="Calibri"/>
              </a:rPr>
              <a:t>devote</a:t>
            </a:r>
            <a:r>
              <a:rPr sz="2400" spc="175" dirty="0">
                <a:solidFill>
                  <a:srgbClr val="262EA4"/>
                </a:solidFill>
                <a:latin typeface="Calibri"/>
                <a:cs typeface="Calibri"/>
              </a:rPr>
              <a:t> </a:t>
            </a:r>
            <a:r>
              <a:rPr sz="2400" dirty="0">
                <a:solidFill>
                  <a:srgbClr val="262EA4"/>
                </a:solidFill>
                <a:latin typeface="Calibri"/>
                <a:cs typeface="Calibri"/>
              </a:rPr>
              <a:t>their</a:t>
            </a:r>
            <a:r>
              <a:rPr sz="2400" spc="175" dirty="0">
                <a:solidFill>
                  <a:srgbClr val="262EA4"/>
                </a:solidFill>
                <a:latin typeface="Calibri"/>
                <a:cs typeface="Calibri"/>
              </a:rPr>
              <a:t> </a:t>
            </a:r>
            <a:r>
              <a:rPr sz="2400" spc="-20" dirty="0">
                <a:solidFill>
                  <a:srgbClr val="262EA4"/>
                </a:solidFill>
                <a:latin typeface="Calibri"/>
                <a:cs typeface="Calibri"/>
              </a:rPr>
              <a:t>full 	</a:t>
            </a:r>
            <a:r>
              <a:rPr sz="2400" dirty="0">
                <a:solidFill>
                  <a:srgbClr val="262EA4"/>
                </a:solidFill>
                <a:latin typeface="Calibri"/>
                <a:cs typeface="Calibri"/>
              </a:rPr>
              <a:t>attention</a:t>
            </a:r>
            <a:r>
              <a:rPr sz="2400" spc="65" dirty="0">
                <a:solidFill>
                  <a:srgbClr val="262EA4"/>
                </a:solidFill>
                <a:latin typeface="Calibri"/>
                <a:cs typeface="Calibri"/>
              </a:rPr>
              <a:t> </a:t>
            </a:r>
            <a:r>
              <a:rPr sz="2400" dirty="0">
                <a:solidFill>
                  <a:srgbClr val="262EA4"/>
                </a:solidFill>
                <a:latin typeface="Calibri"/>
                <a:cs typeface="Calibri"/>
              </a:rPr>
              <a:t>to</a:t>
            </a:r>
            <a:r>
              <a:rPr sz="2400" spc="65" dirty="0">
                <a:solidFill>
                  <a:srgbClr val="262EA4"/>
                </a:solidFill>
                <a:latin typeface="Calibri"/>
                <a:cs typeface="Calibri"/>
              </a:rPr>
              <a:t> </a:t>
            </a:r>
            <a:r>
              <a:rPr sz="2400" dirty="0">
                <a:solidFill>
                  <a:srgbClr val="262EA4"/>
                </a:solidFill>
                <a:latin typeface="Calibri"/>
                <a:cs typeface="Calibri"/>
              </a:rPr>
              <a:t>the</a:t>
            </a:r>
            <a:r>
              <a:rPr sz="2400" spc="70" dirty="0">
                <a:solidFill>
                  <a:srgbClr val="262EA4"/>
                </a:solidFill>
                <a:latin typeface="Calibri"/>
                <a:cs typeface="Calibri"/>
              </a:rPr>
              <a:t> </a:t>
            </a:r>
            <a:r>
              <a:rPr sz="2400" dirty="0">
                <a:solidFill>
                  <a:srgbClr val="262EA4"/>
                </a:solidFill>
                <a:latin typeface="Calibri"/>
                <a:cs typeface="Calibri"/>
              </a:rPr>
              <a:t>project</a:t>
            </a:r>
            <a:r>
              <a:rPr sz="2400" spc="60" dirty="0">
                <a:solidFill>
                  <a:srgbClr val="262EA4"/>
                </a:solidFill>
                <a:latin typeface="Calibri"/>
                <a:cs typeface="Calibri"/>
              </a:rPr>
              <a:t> </a:t>
            </a:r>
            <a:r>
              <a:rPr sz="2400" dirty="0">
                <a:solidFill>
                  <a:srgbClr val="262EA4"/>
                </a:solidFill>
                <a:latin typeface="Calibri"/>
                <a:cs typeface="Calibri"/>
              </a:rPr>
              <a:t>and</a:t>
            </a:r>
            <a:r>
              <a:rPr sz="2400" spc="65" dirty="0">
                <a:solidFill>
                  <a:srgbClr val="262EA4"/>
                </a:solidFill>
                <a:latin typeface="Calibri"/>
                <a:cs typeface="Calibri"/>
              </a:rPr>
              <a:t> </a:t>
            </a:r>
            <a:r>
              <a:rPr sz="2400" dirty="0">
                <a:solidFill>
                  <a:srgbClr val="262EA4"/>
                </a:solidFill>
                <a:latin typeface="Calibri"/>
                <a:cs typeface="Calibri"/>
              </a:rPr>
              <a:t>are</a:t>
            </a:r>
            <a:r>
              <a:rPr sz="2400" spc="65" dirty="0">
                <a:solidFill>
                  <a:srgbClr val="262EA4"/>
                </a:solidFill>
                <a:latin typeface="Calibri"/>
                <a:cs typeface="Calibri"/>
              </a:rPr>
              <a:t> </a:t>
            </a:r>
            <a:r>
              <a:rPr sz="2400" dirty="0">
                <a:solidFill>
                  <a:srgbClr val="262EA4"/>
                </a:solidFill>
                <a:latin typeface="Calibri"/>
                <a:cs typeface="Calibri"/>
              </a:rPr>
              <a:t>not</a:t>
            </a:r>
            <a:r>
              <a:rPr sz="2400" spc="65" dirty="0">
                <a:solidFill>
                  <a:srgbClr val="262EA4"/>
                </a:solidFill>
                <a:latin typeface="Calibri"/>
                <a:cs typeface="Calibri"/>
              </a:rPr>
              <a:t> </a:t>
            </a:r>
            <a:r>
              <a:rPr sz="2400" dirty="0">
                <a:solidFill>
                  <a:srgbClr val="262EA4"/>
                </a:solidFill>
                <a:latin typeface="Calibri"/>
                <a:cs typeface="Calibri"/>
              </a:rPr>
              <a:t>distracted</a:t>
            </a:r>
            <a:r>
              <a:rPr sz="2400" spc="65" dirty="0">
                <a:solidFill>
                  <a:srgbClr val="262EA4"/>
                </a:solidFill>
                <a:latin typeface="Calibri"/>
                <a:cs typeface="Calibri"/>
              </a:rPr>
              <a:t> </a:t>
            </a:r>
            <a:r>
              <a:rPr sz="2400" dirty="0">
                <a:solidFill>
                  <a:srgbClr val="262EA4"/>
                </a:solidFill>
                <a:latin typeface="Calibri"/>
                <a:cs typeface="Calibri"/>
              </a:rPr>
              <a:t>by</a:t>
            </a:r>
            <a:r>
              <a:rPr sz="2400" spc="65" dirty="0">
                <a:solidFill>
                  <a:srgbClr val="262EA4"/>
                </a:solidFill>
                <a:latin typeface="Calibri"/>
                <a:cs typeface="Calibri"/>
              </a:rPr>
              <a:t> </a:t>
            </a:r>
            <a:r>
              <a:rPr sz="2400" dirty="0">
                <a:solidFill>
                  <a:srgbClr val="262EA4"/>
                </a:solidFill>
                <a:latin typeface="Calibri"/>
                <a:cs typeface="Calibri"/>
              </a:rPr>
              <a:t>other</a:t>
            </a:r>
            <a:r>
              <a:rPr sz="2400" spc="65" dirty="0">
                <a:solidFill>
                  <a:srgbClr val="262EA4"/>
                </a:solidFill>
                <a:latin typeface="Calibri"/>
                <a:cs typeface="Calibri"/>
              </a:rPr>
              <a:t> </a:t>
            </a:r>
            <a:r>
              <a:rPr sz="2400" dirty="0">
                <a:solidFill>
                  <a:srgbClr val="262EA4"/>
                </a:solidFill>
                <a:latin typeface="Calibri"/>
                <a:cs typeface="Calibri"/>
              </a:rPr>
              <a:t>obligations</a:t>
            </a:r>
            <a:r>
              <a:rPr sz="2400" spc="65" dirty="0">
                <a:solidFill>
                  <a:srgbClr val="262EA4"/>
                </a:solidFill>
                <a:latin typeface="Calibri"/>
                <a:cs typeface="Calibri"/>
              </a:rPr>
              <a:t> </a:t>
            </a:r>
            <a:r>
              <a:rPr sz="2400" dirty="0">
                <a:solidFill>
                  <a:srgbClr val="262EA4"/>
                </a:solidFill>
                <a:latin typeface="Calibri"/>
                <a:cs typeface="Calibri"/>
              </a:rPr>
              <a:t>and</a:t>
            </a:r>
            <a:r>
              <a:rPr sz="2400" spc="70" dirty="0">
                <a:solidFill>
                  <a:srgbClr val="262EA4"/>
                </a:solidFill>
                <a:latin typeface="Calibri"/>
                <a:cs typeface="Calibri"/>
              </a:rPr>
              <a:t> </a:t>
            </a:r>
            <a:r>
              <a:rPr sz="2400" dirty="0">
                <a:solidFill>
                  <a:srgbClr val="262EA4"/>
                </a:solidFill>
                <a:latin typeface="Calibri"/>
                <a:cs typeface="Calibri"/>
              </a:rPr>
              <a:t>duties</a:t>
            </a:r>
            <a:r>
              <a:rPr sz="2400" spc="65" dirty="0">
                <a:solidFill>
                  <a:srgbClr val="262EA4"/>
                </a:solidFill>
                <a:latin typeface="Calibri"/>
                <a:cs typeface="Calibri"/>
              </a:rPr>
              <a:t> </a:t>
            </a:r>
            <a:r>
              <a:rPr sz="2400" spc="-25" dirty="0">
                <a:solidFill>
                  <a:srgbClr val="262EA4"/>
                </a:solidFill>
                <a:latin typeface="Calibri"/>
                <a:cs typeface="Calibri"/>
              </a:rPr>
              <a:t>or 	</a:t>
            </a:r>
            <a:r>
              <a:rPr sz="2400" dirty="0">
                <a:solidFill>
                  <a:srgbClr val="262EA4"/>
                </a:solidFill>
                <a:latin typeface="Calibri"/>
                <a:cs typeface="Calibri"/>
              </a:rPr>
              <a:t>by</a:t>
            </a:r>
            <a:r>
              <a:rPr sz="2400" spc="-50" dirty="0">
                <a:solidFill>
                  <a:srgbClr val="262EA4"/>
                </a:solidFill>
                <a:latin typeface="Calibri"/>
                <a:cs typeface="Calibri"/>
              </a:rPr>
              <a:t> </a:t>
            </a:r>
            <a:r>
              <a:rPr sz="2400" spc="-10" dirty="0">
                <a:solidFill>
                  <a:srgbClr val="262EA4"/>
                </a:solidFill>
                <a:latin typeface="Calibri"/>
                <a:cs typeface="Calibri"/>
              </a:rPr>
              <a:t>deferring</a:t>
            </a:r>
            <a:r>
              <a:rPr sz="2400" spc="-45" dirty="0">
                <a:solidFill>
                  <a:srgbClr val="262EA4"/>
                </a:solidFill>
                <a:latin typeface="Calibri"/>
                <a:cs typeface="Calibri"/>
              </a:rPr>
              <a:t> </a:t>
            </a:r>
            <a:r>
              <a:rPr sz="2400" dirty="0">
                <a:solidFill>
                  <a:srgbClr val="262EA4"/>
                </a:solidFill>
                <a:latin typeface="Calibri"/>
                <a:cs typeface="Calibri"/>
              </a:rPr>
              <a:t>up</a:t>
            </a:r>
            <a:r>
              <a:rPr sz="2400" spc="-45" dirty="0">
                <a:solidFill>
                  <a:srgbClr val="262EA4"/>
                </a:solidFill>
                <a:latin typeface="Calibri"/>
                <a:cs typeface="Calibri"/>
              </a:rPr>
              <a:t> </a:t>
            </a:r>
            <a:r>
              <a:rPr sz="2400" dirty="0">
                <a:solidFill>
                  <a:srgbClr val="262EA4"/>
                </a:solidFill>
                <a:latin typeface="Calibri"/>
                <a:cs typeface="Calibri"/>
              </a:rPr>
              <a:t>the</a:t>
            </a:r>
            <a:r>
              <a:rPr sz="2400" spc="-35" dirty="0">
                <a:solidFill>
                  <a:srgbClr val="262EA4"/>
                </a:solidFill>
                <a:latin typeface="Calibri"/>
                <a:cs typeface="Calibri"/>
              </a:rPr>
              <a:t> </a:t>
            </a:r>
            <a:r>
              <a:rPr sz="2400" spc="-10" dirty="0">
                <a:solidFill>
                  <a:srgbClr val="262EA4"/>
                </a:solidFill>
                <a:latin typeface="Calibri"/>
                <a:cs typeface="Calibri"/>
              </a:rPr>
              <a:t>hierarchy.</a:t>
            </a:r>
            <a:endParaRPr sz="2400" dirty="0">
              <a:latin typeface="Calibri"/>
              <a:cs typeface="Calibri"/>
            </a:endParaRPr>
          </a:p>
          <a:p>
            <a:pPr marL="644525" marR="6350" lvl="1" indent="-504825" algn="just">
              <a:lnSpc>
                <a:spcPts val="2590"/>
              </a:lnSpc>
              <a:spcBef>
                <a:spcPts val="1050"/>
              </a:spcBef>
              <a:buAutoNum type="arabicPeriod"/>
              <a:tabLst>
                <a:tab pos="647700" algn="l"/>
              </a:tabLst>
            </a:pPr>
            <a:r>
              <a:rPr sz="2400" b="1" dirty="0">
                <a:latin typeface="Calibri"/>
                <a:cs typeface="Calibri"/>
              </a:rPr>
              <a:t>Cohesive:</a:t>
            </a:r>
            <a:r>
              <a:rPr sz="2400" b="1" spc="125" dirty="0">
                <a:latin typeface="Calibri"/>
                <a:cs typeface="Calibri"/>
              </a:rPr>
              <a:t> </a:t>
            </a:r>
            <a:r>
              <a:rPr sz="2400" dirty="0">
                <a:latin typeface="Calibri"/>
                <a:cs typeface="Calibri"/>
              </a:rPr>
              <a:t>A</a:t>
            </a:r>
            <a:r>
              <a:rPr sz="2400" spc="125" dirty="0">
                <a:latin typeface="Calibri"/>
                <a:cs typeface="Calibri"/>
              </a:rPr>
              <a:t> </a:t>
            </a:r>
            <a:r>
              <a:rPr sz="2400" dirty="0">
                <a:latin typeface="Calibri"/>
                <a:cs typeface="Calibri"/>
              </a:rPr>
              <a:t>high</a:t>
            </a:r>
            <a:r>
              <a:rPr sz="2400" spc="130" dirty="0">
                <a:latin typeface="Calibri"/>
                <a:cs typeface="Calibri"/>
              </a:rPr>
              <a:t> </a:t>
            </a:r>
            <a:r>
              <a:rPr sz="2400" dirty="0">
                <a:latin typeface="Calibri"/>
                <a:cs typeface="Calibri"/>
              </a:rPr>
              <a:t>level</a:t>
            </a:r>
            <a:r>
              <a:rPr sz="2400" spc="125" dirty="0">
                <a:latin typeface="Calibri"/>
                <a:cs typeface="Calibri"/>
              </a:rPr>
              <a:t> </a:t>
            </a:r>
            <a:r>
              <a:rPr sz="2400" dirty="0">
                <a:latin typeface="Calibri"/>
                <a:cs typeface="Calibri"/>
              </a:rPr>
              <a:t>of</a:t>
            </a:r>
            <a:r>
              <a:rPr sz="2400" spc="130" dirty="0">
                <a:latin typeface="Calibri"/>
                <a:cs typeface="Calibri"/>
              </a:rPr>
              <a:t> </a:t>
            </a:r>
            <a:r>
              <a:rPr sz="2400" dirty="0">
                <a:latin typeface="Calibri"/>
                <a:cs typeface="Calibri"/>
              </a:rPr>
              <a:t>motivation</a:t>
            </a:r>
            <a:r>
              <a:rPr sz="2400" spc="135" dirty="0">
                <a:latin typeface="Calibri"/>
                <a:cs typeface="Calibri"/>
              </a:rPr>
              <a:t> </a:t>
            </a:r>
            <a:r>
              <a:rPr sz="2400" dirty="0">
                <a:latin typeface="Calibri"/>
                <a:cs typeface="Calibri"/>
              </a:rPr>
              <a:t>and</a:t>
            </a:r>
            <a:r>
              <a:rPr sz="2400" spc="130" dirty="0">
                <a:latin typeface="Calibri"/>
                <a:cs typeface="Calibri"/>
              </a:rPr>
              <a:t> </a:t>
            </a:r>
            <a:r>
              <a:rPr sz="2400" dirty="0">
                <a:latin typeface="Calibri"/>
                <a:cs typeface="Calibri"/>
              </a:rPr>
              <a:t>cohesiveness</a:t>
            </a:r>
            <a:r>
              <a:rPr sz="2400" spc="120" dirty="0">
                <a:latin typeface="Calibri"/>
                <a:cs typeface="Calibri"/>
              </a:rPr>
              <a:t> </a:t>
            </a:r>
            <a:r>
              <a:rPr sz="2400" dirty="0">
                <a:latin typeface="Calibri"/>
                <a:cs typeface="Calibri"/>
              </a:rPr>
              <a:t>often</a:t>
            </a:r>
            <a:r>
              <a:rPr sz="2400" spc="125" dirty="0">
                <a:latin typeface="Calibri"/>
                <a:cs typeface="Calibri"/>
              </a:rPr>
              <a:t> </a:t>
            </a:r>
            <a:r>
              <a:rPr sz="2400" dirty="0">
                <a:latin typeface="Calibri"/>
                <a:cs typeface="Calibri"/>
              </a:rPr>
              <a:t>emerges</a:t>
            </a:r>
            <a:r>
              <a:rPr sz="2400" spc="130" dirty="0">
                <a:latin typeface="Calibri"/>
                <a:cs typeface="Calibri"/>
              </a:rPr>
              <a:t> </a:t>
            </a:r>
            <a:r>
              <a:rPr sz="2400" dirty="0">
                <a:latin typeface="Calibri"/>
                <a:cs typeface="Calibri"/>
              </a:rPr>
              <a:t>within</a:t>
            </a:r>
            <a:r>
              <a:rPr sz="2400" spc="130" dirty="0">
                <a:latin typeface="Calibri"/>
                <a:cs typeface="Calibri"/>
              </a:rPr>
              <a:t> </a:t>
            </a:r>
            <a:r>
              <a:rPr sz="2400" spc="-25" dirty="0">
                <a:latin typeface="Calibri"/>
                <a:cs typeface="Calibri"/>
              </a:rPr>
              <a:t>the 	</a:t>
            </a:r>
            <a:r>
              <a:rPr sz="2400" dirty="0">
                <a:latin typeface="Calibri"/>
                <a:cs typeface="Calibri"/>
              </a:rPr>
              <a:t>project</a:t>
            </a:r>
            <a:r>
              <a:rPr sz="2400" spc="60" dirty="0">
                <a:latin typeface="Calibri"/>
                <a:cs typeface="Calibri"/>
              </a:rPr>
              <a:t>  </a:t>
            </a:r>
            <a:r>
              <a:rPr sz="2400" dirty="0">
                <a:latin typeface="Calibri"/>
                <a:cs typeface="Calibri"/>
              </a:rPr>
              <a:t>team.</a:t>
            </a:r>
            <a:r>
              <a:rPr sz="2400" spc="60" dirty="0">
                <a:latin typeface="Calibri"/>
                <a:cs typeface="Calibri"/>
              </a:rPr>
              <a:t>  </a:t>
            </a:r>
            <a:r>
              <a:rPr sz="2400" dirty="0">
                <a:latin typeface="Calibri"/>
                <a:cs typeface="Calibri"/>
              </a:rPr>
              <a:t>Participants</a:t>
            </a:r>
            <a:r>
              <a:rPr sz="2400" spc="65" dirty="0">
                <a:latin typeface="Calibri"/>
                <a:cs typeface="Calibri"/>
              </a:rPr>
              <a:t>  </a:t>
            </a:r>
            <a:r>
              <a:rPr sz="2400" dirty="0">
                <a:latin typeface="Calibri"/>
                <a:cs typeface="Calibri"/>
              </a:rPr>
              <a:t>share</a:t>
            </a:r>
            <a:r>
              <a:rPr sz="2400" spc="70" dirty="0">
                <a:latin typeface="Calibri"/>
                <a:cs typeface="Calibri"/>
              </a:rPr>
              <a:t>  </a:t>
            </a:r>
            <a:r>
              <a:rPr sz="2400" dirty="0">
                <a:latin typeface="Calibri"/>
                <a:cs typeface="Calibri"/>
              </a:rPr>
              <a:t>a</a:t>
            </a:r>
            <a:r>
              <a:rPr sz="2400" spc="65" dirty="0">
                <a:latin typeface="Calibri"/>
                <a:cs typeface="Calibri"/>
              </a:rPr>
              <a:t>  </a:t>
            </a:r>
            <a:r>
              <a:rPr sz="2400" dirty="0">
                <a:latin typeface="Calibri"/>
                <a:cs typeface="Calibri"/>
              </a:rPr>
              <a:t>common</a:t>
            </a:r>
            <a:r>
              <a:rPr sz="2400" spc="70" dirty="0">
                <a:latin typeface="Calibri"/>
                <a:cs typeface="Calibri"/>
              </a:rPr>
              <a:t>  </a:t>
            </a:r>
            <a:r>
              <a:rPr sz="2400" dirty="0">
                <a:latin typeface="Calibri"/>
                <a:cs typeface="Calibri"/>
              </a:rPr>
              <a:t>goal</a:t>
            </a:r>
            <a:r>
              <a:rPr sz="2400" spc="65" dirty="0">
                <a:latin typeface="Calibri"/>
                <a:cs typeface="Calibri"/>
              </a:rPr>
              <a:t>  </a:t>
            </a:r>
            <a:r>
              <a:rPr sz="2400" dirty="0">
                <a:latin typeface="Calibri"/>
                <a:cs typeface="Calibri"/>
              </a:rPr>
              <a:t>and</a:t>
            </a:r>
            <a:r>
              <a:rPr sz="2400" spc="65" dirty="0">
                <a:latin typeface="Calibri"/>
                <a:cs typeface="Calibri"/>
              </a:rPr>
              <a:t>  </a:t>
            </a:r>
            <a:r>
              <a:rPr sz="2400" dirty="0">
                <a:latin typeface="Calibri"/>
                <a:cs typeface="Calibri"/>
              </a:rPr>
              <a:t>personal</a:t>
            </a:r>
            <a:r>
              <a:rPr sz="2400" spc="65" dirty="0">
                <a:latin typeface="Calibri"/>
                <a:cs typeface="Calibri"/>
              </a:rPr>
              <a:t>  </a:t>
            </a:r>
            <a:r>
              <a:rPr sz="2400" spc="-10" dirty="0">
                <a:latin typeface="Calibri"/>
                <a:cs typeface="Calibri"/>
              </a:rPr>
              <a:t>responsibility 	toward</a:t>
            </a:r>
            <a:r>
              <a:rPr sz="2400" spc="-60"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project</a:t>
            </a:r>
            <a:r>
              <a:rPr sz="2400" spc="-60" dirty="0">
                <a:latin typeface="Calibri"/>
                <a:cs typeface="Calibri"/>
              </a:rPr>
              <a:t> </a:t>
            </a:r>
            <a:r>
              <a:rPr sz="2400" dirty="0">
                <a:latin typeface="Calibri"/>
                <a:cs typeface="Calibri"/>
              </a:rPr>
              <a:t>and</a:t>
            </a:r>
            <a:r>
              <a:rPr sz="2400" spc="-55" dirty="0">
                <a:latin typeface="Calibri"/>
                <a:cs typeface="Calibri"/>
              </a:rPr>
              <a:t> </a:t>
            </a:r>
            <a:r>
              <a:rPr sz="2400" dirty="0">
                <a:latin typeface="Calibri"/>
                <a:cs typeface="Calibri"/>
              </a:rPr>
              <a:t>the</a:t>
            </a:r>
            <a:r>
              <a:rPr sz="2400" spc="-50" dirty="0">
                <a:latin typeface="Calibri"/>
                <a:cs typeface="Calibri"/>
              </a:rPr>
              <a:t> </a:t>
            </a:r>
            <a:r>
              <a:rPr sz="2400" spc="-10" dirty="0">
                <a:latin typeface="Calibri"/>
                <a:cs typeface="Calibri"/>
              </a:rPr>
              <a:t>team.</a:t>
            </a:r>
            <a:endParaRPr sz="2400" dirty="0">
              <a:latin typeface="Calibri"/>
              <a:cs typeface="Calibri"/>
            </a:endParaRPr>
          </a:p>
          <a:p>
            <a:pPr marL="644525" marR="5080" lvl="1" indent="-504825" algn="just">
              <a:lnSpc>
                <a:spcPct val="90400"/>
              </a:lnSpc>
              <a:spcBef>
                <a:spcPts val="960"/>
              </a:spcBef>
              <a:buAutoNum type="arabicPeriod"/>
              <a:tabLst>
                <a:tab pos="647700" algn="l"/>
              </a:tabLst>
            </a:pPr>
            <a:r>
              <a:rPr sz="2400" b="1" spc="-20" dirty="0">
                <a:latin typeface="Calibri"/>
                <a:cs typeface="Calibri"/>
              </a:rPr>
              <a:t>Cross-</a:t>
            </a:r>
            <a:r>
              <a:rPr sz="2400" b="1" dirty="0">
                <a:latin typeface="Calibri"/>
                <a:cs typeface="Calibri"/>
              </a:rPr>
              <a:t>Functional</a:t>
            </a:r>
            <a:r>
              <a:rPr sz="2400" b="1" spc="254" dirty="0">
                <a:latin typeface="Calibri"/>
                <a:cs typeface="Calibri"/>
              </a:rPr>
              <a:t>  </a:t>
            </a:r>
            <a:r>
              <a:rPr sz="2400" b="1" dirty="0">
                <a:latin typeface="Calibri"/>
                <a:cs typeface="Calibri"/>
              </a:rPr>
              <a:t>Integration.</a:t>
            </a:r>
            <a:r>
              <a:rPr sz="2400" b="1" spc="260" dirty="0">
                <a:latin typeface="Calibri"/>
                <a:cs typeface="Calibri"/>
              </a:rPr>
              <a:t>  </a:t>
            </a:r>
            <a:r>
              <a:rPr sz="2400" dirty="0">
                <a:solidFill>
                  <a:srgbClr val="262EA4"/>
                </a:solidFill>
                <a:latin typeface="Calibri"/>
                <a:cs typeface="Calibri"/>
              </a:rPr>
              <a:t>Specialists</a:t>
            </a:r>
            <a:r>
              <a:rPr sz="2400" spc="254" dirty="0">
                <a:solidFill>
                  <a:srgbClr val="262EA4"/>
                </a:solidFill>
                <a:latin typeface="Calibri"/>
                <a:cs typeface="Calibri"/>
              </a:rPr>
              <a:t>  </a:t>
            </a:r>
            <a:r>
              <a:rPr sz="2400" dirty="0">
                <a:solidFill>
                  <a:srgbClr val="262EA4"/>
                </a:solidFill>
                <a:latin typeface="Calibri"/>
                <a:cs typeface="Calibri"/>
              </a:rPr>
              <a:t>from</a:t>
            </a:r>
            <a:r>
              <a:rPr sz="2400" spc="254" dirty="0">
                <a:solidFill>
                  <a:srgbClr val="262EA4"/>
                </a:solidFill>
                <a:latin typeface="Calibri"/>
                <a:cs typeface="Calibri"/>
              </a:rPr>
              <a:t>  </a:t>
            </a:r>
            <a:r>
              <a:rPr sz="2400" dirty="0">
                <a:solidFill>
                  <a:srgbClr val="262EA4"/>
                </a:solidFill>
                <a:latin typeface="Calibri"/>
                <a:cs typeface="Calibri"/>
              </a:rPr>
              <a:t>different</a:t>
            </a:r>
            <a:r>
              <a:rPr sz="2400" spc="260" dirty="0">
                <a:solidFill>
                  <a:srgbClr val="262EA4"/>
                </a:solidFill>
                <a:latin typeface="Calibri"/>
                <a:cs typeface="Calibri"/>
              </a:rPr>
              <a:t>  </a:t>
            </a:r>
            <a:r>
              <a:rPr sz="2400" dirty="0">
                <a:solidFill>
                  <a:srgbClr val="262EA4"/>
                </a:solidFill>
                <a:latin typeface="Calibri"/>
                <a:cs typeface="Calibri"/>
              </a:rPr>
              <a:t>areas</a:t>
            </a:r>
            <a:r>
              <a:rPr sz="2400" spc="254" dirty="0">
                <a:solidFill>
                  <a:srgbClr val="262EA4"/>
                </a:solidFill>
                <a:latin typeface="Calibri"/>
                <a:cs typeface="Calibri"/>
              </a:rPr>
              <a:t>  </a:t>
            </a:r>
            <a:r>
              <a:rPr sz="2400" dirty="0">
                <a:solidFill>
                  <a:srgbClr val="262EA4"/>
                </a:solidFill>
                <a:latin typeface="Calibri"/>
                <a:cs typeface="Calibri"/>
              </a:rPr>
              <a:t>work</a:t>
            </a:r>
            <a:r>
              <a:rPr sz="2400" spc="260" dirty="0">
                <a:solidFill>
                  <a:srgbClr val="262EA4"/>
                </a:solidFill>
                <a:latin typeface="Calibri"/>
                <a:cs typeface="Calibri"/>
              </a:rPr>
              <a:t>  </a:t>
            </a:r>
            <a:r>
              <a:rPr sz="2400" spc="-10" dirty="0">
                <a:solidFill>
                  <a:srgbClr val="262EA4"/>
                </a:solidFill>
                <a:latin typeface="Calibri"/>
                <a:cs typeface="Calibri"/>
              </a:rPr>
              <a:t>closely 	</a:t>
            </a:r>
            <a:r>
              <a:rPr sz="2400" dirty="0">
                <a:solidFill>
                  <a:srgbClr val="262EA4"/>
                </a:solidFill>
                <a:latin typeface="Calibri"/>
                <a:cs typeface="Calibri"/>
              </a:rPr>
              <a:t>together</a:t>
            </a:r>
            <a:r>
              <a:rPr sz="2400" spc="-65" dirty="0">
                <a:solidFill>
                  <a:srgbClr val="262EA4"/>
                </a:solidFill>
                <a:latin typeface="Calibri"/>
                <a:cs typeface="Calibri"/>
              </a:rPr>
              <a:t> </a:t>
            </a:r>
            <a:r>
              <a:rPr sz="2400" dirty="0">
                <a:solidFill>
                  <a:srgbClr val="262EA4"/>
                </a:solidFill>
                <a:latin typeface="Calibri"/>
                <a:cs typeface="Calibri"/>
              </a:rPr>
              <a:t>and,</a:t>
            </a:r>
            <a:r>
              <a:rPr sz="2400" spc="-60" dirty="0">
                <a:solidFill>
                  <a:srgbClr val="262EA4"/>
                </a:solidFill>
                <a:latin typeface="Calibri"/>
                <a:cs typeface="Calibri"/>
              </a:rPr>
              <a:t> </a:t>
            </a:r>
            <a:r>
              <a:rPr sz="2400" dirty="0">
                <a:solidFill>
                  <a:srgbClr val="262EA4"/>
                </a:solidFill>
                <a:latin typeface="Calibri"/>
                <a:cs typeface="Calibri"/>
              </a:rPr>
              <a:t>with</a:t>
            </a:r>
            <a:r>
              <a:rPr sz="2400" spc="-55" dirty="0">
                <a:solidFill>
                  <a:srgbClr val="262EA4"/>
                </a:solidFill>
                <a:latin typeface="Calibri"/>
                <a:cs typeface="Calibri"/>
              </a:rPr>
              <a:t> </a:t>
            </a:r>
            <a:r>
              <a:rPr sz="2400" dirty="0">
                <a:solidFill>
                  <a:srgbClr val="262EA4"/>
                </a:solidFill>
                <a:latin typeface="Calibri"/>
                <a:cs typeface="Calibri"/>
              </a:rPr>
              <a:t>proper</a:t>
            </a:r>
            <a:r>
              <a:rPr sz="2400" spc="-60" dirty="0">
                <a:solidFill>
                  <a:srgbClr val="262EA4"/>
                </a:solidFill>
                <a:latin typeface="Calibri"/>
                <a:cs typeface="Calibri"/>
              </a:rPr>
              <a:t> </a:t>
            </a:r>
            <a:r>
              <a:rPr sz="2400" dirty="0">
                <a:solidFill>
                  <a:srgbClr val="262EA4"/>
                </a:solidFill>
                <a:latin typeface="Calibri"/>
                <a:cs typeface="Calibri"/>
              </a:rPr>
              <a:t>guidance,</a:t>
            </a:r>
            <a:r>
              <a:rPr sz="2400" spc="-55" dirty="0">
                <a:solidFill>
                  <a:srgbClr val="262EA4"/>
                </a:solidFill>
                <a:latin typeface="Calibri"/>
                <a:cs typeface="Calibri"/>
              </a:rPr>
              <a:t> </a:t>
            </a:r>
            <a:r>
              <a:rPr sz="2400" dirty="0">
                <a:solidFill>
                  <a:srgbClr val="262EA4"/>
                </a:solidFill>
                <a:latin typeface="Calibri"/>
                <a:cs typeface="Calibri"/>
              </a:rPr>
              <a:t>become</a:t>
            </a:r>
            <a:r>
              <a:rPr sz="2400" spc="-55" dirty="0">
                <a:solidFill>
                  <a:srgbClr val="262EA4"/>
                </a:solidFill>
                <a:latin typeface="Calibri"/>
                <a:cs typeface="Calibri"/>
              </a:rPr>
              <a:t> </a:t>
            </a:r>
            <a:r>
              <a:rPr sz="2400" spc="-10" dirty="0">
                <a:solidFill>
                  <a:srgbClr val="262EA4"/>
                </a:solidFill>
                <a:latin typeface="Calibri"/>
                <a:cs typeface="Calibri"/>
              </a:rPr>
              <a:t>committed</a:t>
            </a:r>
            <a:r>
              <a:rPr sz="2400" spc="-65" dirty="0">
                <a:solidFill>
                  <a:srgbClr val="262EA4"/>
                </a:solidFill>
                <a:latin typeface="Calibri"/>
                <a:cs typeface="Calibri"/>
              </a:rPr>
              <a:t> </a:t>
            </a:r>
            <a:r>
              <a:rPr sz="2400" dirty="0">
                <a:solidFill>
                  <a:srgbClr val="262EA4"/>
                </a:solidFill>
                <a:latin typeface="Calibri"/>
                <a:cs typeface="Calibri"/>
              </a:rPr>
              <a:t>to</a:t>
            </a:r>
            <a:r>
              <a:rPr sz="2400" spc="-60" dirty="0">
                <a:solidFill>
                  <a:srgbClr val="262EA4"/>
                </a:solidFill>
                <a:latin typeface="Calibri"/>
                <a:cs typeface="Calibri"/>
              </a:rPr>
              <a:t> </a:t>
            </a:r>
            <a:r>
              <a:rPr sz="2400" dirty="0">
                <a:solidFill>
                  <a:srgbClr val="262EA4"/>
                </a:solidFill>
                <a:latin typeface="Calibri"/>
                <a:cs typeface="Calibri"/>
              </a:rPr>
              <a:t>optimizing</a:t>
            </a:r>
            <a:r>
              <a:rPr sz="2400" spc="-65" dirty="0">
                <a:solidFill>
                  <a:srgbClr val="262EA4"/>
                </a:solidFill>
                <a:latin typeface="Calibri"/>
                <a:cs typeface="Calibri"/>
              </a:rPr>
              <a:t> </a:t>
            </a:r>
            <a:r>
              <a:rPr sz="2400" dirty="0">
                <a:solidFill>
                  <a:srgbClr val="262EA4"/>
                </a:solidFill>
                <a:latin typeface="Calibri"/>
                <a:cs typeface="Calibri"/>
              </a:rPr>
              <a:t>the</a:t>
            </a:r>
            <a:r>
              <a:rPr sz="2400" spc="-55" dirty="0">
                <a:solidFill>
                  <a:srgbClr val="262EA4"/>
                </a:solidFill>
                <a:latin typeface="Calibri"/>
                <a:cs typeface="Calibri"/>
              </a:rPr>
              <a:t> </a:t>
            </a:r>
            <a:r>
              <a:rPr sz="2400" spc="-10" dirty="0">
                <a:solidFill>
                  <a:srgbClr val="262EA4"/>
                </a:solidFill>
                <a:latin typeface="Calibri"/>
                <a:cs typeface="Calibri"/>
              </a:rPr>
              <a:t>project, 	</a:t>
            </a:r>
            <a:r>
              <a:rPr sz="2400" dirty="0">
                <a:solidFill>
                  <a:srgbClr val="262EA4"/>
                </a:solidFill>
                <a:latin typeface="Calibri"/>
                <a:cs typeface="Calibri"/>
              </a:rPr>
              <a:t>not</a:t>
            </a:r>
            <a:r>
              <a:rPr sz="2400" spc="-60" dirty="0">
                <a:solidFill>
                  <a:srgbClr val="262EA4"/>
                </a:solidFill>
                <a:latin typeface="Calibri"/>
                <a:cs typeface="Calibri"/>
              </a:rPr>
              <a:t> </a:t>
            </a:r>
            <a:r>
              <a:rPr sz="2400" dirty="0">
                <a:solidFill>
                  <a:srgbClr val="262EA4"/>
                </a:solidFill>
                <a:latin typeface="Calibri"/>
                <a:cs typeface="Calibri"/>
              </a:rPr>
              <a:t>their</a:t>
            </a:r>
            <a:r>
              <a:rPr sz="2400" spc="-55" dirty="0">
                <a:solidFill>
                  <a:srgbClr val="262EA4"/>
                </a:solidFill>
                <a:latin typeface="Calibri"/>
                <a:cs typeface="Calibri"/>
              </a:rPr>
              <a:t> </a:t>
            </a:r>
            <a:r>
              <a:rPr sz="2400" dirty="0">
                <a:solidFill>
                  <a:srgbClr val="262EA4"/>
                </a:solidFill>
                <a:latin typeface="Calibri"/>
                <a:cs typeface="Calibri"/>
              </a:rPr>
              <a:t>respective</a:t>
            </a:r>
            <a:r>
              <a:rPr sz="2400" spc="-50" dirty="0">
                <a:solidFill>
                  <a:srgbClr val="262EA4"/>
                </a:solidFill>
                <a:latin typeface="Calibri"/>
                <a:cs typeface="Calibri"/>
              </a:rPr>
              <a:t> </a:t>
            </a:r>
            <a:r>
              <a:rPr sz="2400" dirty="0">
                <a:solidFill>
                  <a:srgbClr val="262EA4"/>
                </a:solidFill>
                <a:latin typeface="Calibri"/>
                <a:cs typeface="Calibri"/>
              </a:rPr>
              <a:t>areas</a:t>
            </a:r>
            <a:r>
              <a:rPr sz="2400" spc="-60" dirty="0">
                <a:solidFill>
                  <a:srgbClr val="262EA4"/>
                </a:solidFill>
                <a:latin typeface="Calibri"/>
                <a:cs typeface="Calibri"/>
              </a:rPr>
              <a:t> </a:t>
            </a:r>
            <a:r>
              <a:rPr sz="2400" dirty="0">
                <a:solidFill>
                  <a:srgbClr val="262EA4"/>
                </a:solidFill>
                <a:latin typeface="Calibri"/>
                <a:cs typeface="Calibri"/>
              </a:rPr>
              <a:t>of</a:t>
            </a:r>
            <a:r>
              <a:rPr sz="2400" spc="-55" dirty="0">
                <a:solidFill>
                  <a:srgbClr val="262EA4"/>
                </a:solidFill>
                <a:latin typeface="Calibri"/>
                <a:cs typeface="Calibri"/>
              </a:rPr>
              <a:t> </a:t>
            </a:r>
            <a:r>
              <a:rPr sz="2400" spc="-10" dirty="0">
                <a:solidFill>
                  <a:srgbClr val="262EA4"/>
                </a:solidFill>
                <a:latin typeface="Calibri"/>
                <a:cs typeface="Calibri"/>
              </a:rPr>
              <a:t>expertise</a:t>
            </a:r>
            <a:endParaRPr sz="24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38</a:t>
            </a:fld>
            <a:endParaRPr spc="-50"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Dedicated Project Teams</a:t>
            </a:r>
            <a:r>
              <a:rPr spc="190" dirty="0"/>
              <a:t> </a:t>
            </a:r>
            <a:r>
              <a:rPr sz="2350" spc="50" dirty="0"/>
              <a:t>(3/5)</a:t>
            </a:r>
            <a:endParaRPr sz="2350" dirty="0"/>
          </a:p>
        </p:txBody>
      </p:sp>
      <p:pic>
        <p:nvPicPr>
          <p:cNvPr id="5" name="Picture 4">
            <a:extLst>
              <a:ext uri="{FF2B5EF4-FFF2-40B4-BE49-F238E27FC236}">
                <a16:creationId xmlns:a16="http://schemas.microsoft.com/office/drawing/2014/main" id="{933939BE-03DB-DC2B-42E7-E4EE7D636F4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643670"/>
            <a:ext cx="10800715" cy="4426585"/>
          </a:xfrm>
          <a:prstGeom prst="rect">
            <a:avLst/>
          </a:prstGeom>
        </p:spPr>
        <p:txBody>
          <a:bodyPr vert="horz" wrap="square" lIns="0" tIns="139065" rIns="0" bIns="0" rtlCol="0">
            <a:spAutoFit/>
          </a:bodyPr>
          <a:lstStyle/>
          <a:p>
            <a:pPr marL="240665" indent="-227965">
              <a:lnSpc>
                <a:spcPct val="100000"/>
              </a:lnSpc>
              <a:spcBef>
                <a:spcPts val="1095"/>
              </a:spcBef>
              <a:buFont typeface="Arial MT"/>
              <a:buChar char="•"/>
              <a:tabLst>
                <a:tab pos="240665" algn="l"/>
              </a:tabLst>
            </a:pPr>
            <a:r>
              <a:rPr sz="3600" b="1" u="heavy" spc="-10" dirty="0">
                <a:solidFill>
                  <a:srgbClr val="C00000"/>
                </a:solidFill>
                <a:uFill>
                  <a:solidFill>
                    <a:srgbClr val="C00000"/>
                  </a:solidFill>
                </a:uFill>
                <a:latin typeface="Calibri"/>
                <a:cs typeface="Calibri"/>
              </a:rPr>
              <a:t>Disadvantages</a:t>
            </a:r>
            <a:endParaRPr sz="3600" dirty="0">
              <a:latin typeface="Calibri"/>
              <a:cs typeface="Calibri"/>
            </a:endParaRPr>
          </a:p>
          <a:p>
            <a:pPr marL="527050" marR="5080" lvl="1" indent="-279400" algn="just">
              <a:lnSpc>
                <a:spcPts val="3000"/>
              </a:lnSpc>
              <a:spcBef>
                <a:spcPts val="1175"/>
              </a:spcBef>
              <a:buSzPct val="96428"/>
              <a:buAutoNum type="arabicPeriod"/>
              <a:tabLst>
                <a:tab pos="527050" algn="l"/>
              </a:tabLst>
            </a:pPr>
            <a:r>
              <a:rPr sz="2800" b="1" dirty="0">
                <a:latin typeface="Calibri"/>
                <a:cs typeface="Calibri"/>
              </a:rPr>
              <a:t>Expensive:</a:t>
            </a:r>
            <a:r>
              <a:rPr sz="2800" b="1" spc="484" dirty="0">
                <a:latin typeface="Calibri"/>
                <a:cs typeface="Calibri"/>
              </a:rPr>
              <a:t> </a:t>
            </a:r>
            <a:r>
              <a:rPr sz="2800" dirty="0">
                <a:latin typeface="Calibri"/>
                <a:cs typeface="Calibri"/>
              </a:rPr>
              <a:t>Not</a:t>
            </a:r>
            <a:r>
              <a:rPr sz="2800" spc="490" dirty="0">
                <a:latin typeface="Calibri"/>
                <a:cs typeface="Calibri"/>
              </a:rPr>
              <a:t> </a:t>
            </a:r>
            <a:r>
              <a:rPr sz="2800" dirty="0">
                <a:latin typeface="Calibri"/>
                <a:cs typeface="Calibri"/>
              </a:rPr>
              <a:t>only</a:t>
            </a:r>
            <a:r>
              <a:rPr sz="2800" spc="484" dirty="0">
                <a:latin typeface="Calibri"/>
                <a:cs typeface="Calibri"/>
              </a:rPr>
              <a:t> </a:t>
            </a:r>
            <a:r>
              <a:rPr sz="2800" dirty="0">
                <a:latin typeface="Calibri"/>
                <a:cs typeface="Calibri"/>
              </a:rPr>
              <a:t>have</a:t>
            </a:r>
            <a:r>
              <a:rPr sz="2800" spc="484" dirty="0">
                <a:latin typeface="Calibri"/>
                <a:cs typeface="Calibri"/>
              </a:rPr>
              <a:t> </a:t>
            </a:r>
            <a:r>
              <a:rPr sz="2800" dirty="0">
                <a:latin typeface="Calibri"/>
                <a:cs typeface="Calibri"/>
              </a:rPr>
              <a:t>you</a:t>
            </a:r>
            <a:r>
              <a:rPr sz="2800" spc="495" dirty="0">
                <a:latin typeface="Calibri"/>
                <a:cs typeface="Calibri"/>
              </a:rPr>
              <a:t> </a:t>
            </a:r>
            <a:r>
              <a:rPr sz="2800" dirty="0">
                <a:latin typeface="Calibri"/>
                <a:cs typeface="Calibri"/>
              </a:rPr>
              <a:t>created</a:t>
            </a:r>
            <a:r>
              <a:rPr sz="2800" spc="490" dirty="0">
                <a:latin typeface="Calibri"/>
                <a:cs typeface="Calibri"/>
              </a:rPr>
              <a:t> </a:t>
            </a:r>
            <a:r>
              <a:rPr sz="2800" dirty="0">
                <a:latin typeface="Calibri"/>
                <a:cs typeface="Calibri"/>
              </a:rPr>
              <a:t>a</a:t>
            </a:r>
            <a:r>
              <a:rPr sz="2800" spc="484" dirty="0">
                <a:latin typeface="Calibri"/>
                <a:cs typeface="Calibri"/>
              </a:rPr>
              <a:t> </a:t>
            </a:r>
            <a:r>
              <a:rPr sz="2800" dirty="0">
                <a:latin typeface="Calibri"/>
                <a:cs typeface="Calibri"/>
              </a:rPr>
              <a:t>new</a:t>
            </a:r>
            <a:r>
              <a:rPr sz="2800" spc="484" dirty="0">
                <a:latin typeface="Calibri"/>
                <a:cs typeface="Calibri"/>
              </a:rPr>
              <a:t> </a:t>
            </a:r>
            <a:r>
              <a:rPr sz="2800" dirty="0">
                <a:latin typeface="Calibri"/>
                <a:cs typeface="Calibri"/>
              </a:rPr>
              <a:t>management</a:t>
            </a:r>
            <a:r>
              <a:rPr sz="2800" spc="490" dirty="0">
                <a:latin typeface="Calibri"/>
                <a:cs typeface="Calibri"/>
              </a:rPr>
              <a:t> </a:t>
            </a:r>
            <a:r>
              <a:rPr sz="2800" spc="-10" dirty="0">
                <a:latin typeface="Calibri"/>
                <a:cs typeface="Calibri"/>
              </a:rPr>
              <a:t>position </a:t>
            </a:r>
            <a:r>
              <a:rPr sz="2800" dirty="0">
                <a:latin typeface="Calibri"/>
                <a:cs typeface="Calibri"/>
              </a:rPr>
              <a:t>(project</a:t>
            </a:r>
            <a:r>
              <a:rPr sz="2800" spc="15" dirty="0">
                <a:latin typeface="Calibri"/>
                <a:cs typeface="Calibri"/>
              </a:rPr>
              <a:t> </a:t>
            </a:r>
            <a:r>
              <a:rPr sz="2800" dirty="0">
                <a:latin typeface="Calibri"/>
                <a:cs typeface="Calibri"/>
              </a:rPr>
              <a:t>manager),</a:t>
            </a:r>
            <a:r>
              <a:rPr sz="2800" spc="15" dirty="0">
                <a:latin typeface="Calibri"/>
                <a:cs typeface="Calibri"/>
              </a:rPr>
              <a:t> </a:t>
            </a:r>
            <a:r>
              <a:rPr sz="2800" dirty="0">
                <a:latin typeface="Calibri"/>
                <a:cs typeface="Calibri"/>
              </a:rPr>
              <a:t>but</a:t>
            </a:r>
            <a:r>
              <a:rPr sz="2800" spc="15" dirty="0">
                <a:latin typeface="Calibri"/>
                <a:cs typeface="Calibri"/>
              </a:rPr>
              <a:t> </a:t>
            </a:r>
            <a:r>
              <a:rPr sz="2800" dirty="0">
                <a:latin typeface="Calibri"/>
                <a:cs typeface="Calibri"/>
              </a:rPr>
              <a:t>resources</a:t>
            </a:r>
            <a:r>
              <a:rPr sz="2800" spc="15" dirty="0">
                <a:latin typeface="Calibri"/>
                <a:cs typeface="Calibri"/>
              </a:rPr>
              <a:t> </a:t>
            </a:r>
            <a:r>
              <a:rPr sz="2800" dirty="0">
                <a:latin typeface="Calibri"/>
                <a:cs typeface="Calibri"/>
              </a:rPr>
              <a:t>are</a:t>
            </a:r>
            <a:r>
              <a:rPr sz="2800" spc="15" dirty="0">
                <a:latin typeface="Calibri"/>
                <a:cs typeface="Calibri"/>
              </a:rPr>
              <a:t> </a:t>
            </a:r>
            <a:r>
              <a:rPr sz="2800" dirty="0">
                <a:latin typeface="Calibri"/>
                <a:cs typeface="Calibri"/>
              </a:rPr>
              <a:t>also</a:t>
            </a:r>
            <a:r>
              <a:rPr sz="2800" spc="15" dirty="0">
                <a:latin typeface="Calibri"/>
                <a:cs typeface="Calibri"/>
              </a:rPr>
              <a:t> </a:t>
            </a:r>
            <a:r>
              <a:rPr sz="2800" dirty="0">
                <a:latin typeface="Calibri"/>
                <a:cs typeface="Calibri"/>
              </a:rPr>
              <a:t>assigned</a:t>
            </a:r>
            <a:r>
              <a:rPr sz="2800" spc="25" dirty="0">
                <a:latin typeface="Calibri"/>
                <a:cs typeface="Calibri"/>
              </a:rPr>
              <a:t> </a:t>
            </a:r>
            <a:r>
              <a:rPr sz="2800" dirty="0">
                <a:latin typeface="Calibri"/>
                <a:cs typeface="Calibri"/>
              </a:rPr>
              <a:t>on</a:t>
            </a:r>
            <a:r>
              <a:rPr sz="2800" spc="20" dirty="0">
                <a:latin typeface="Calibri"/>
                <a:cs typeface="Calibri"/>
              </a:rPr>
              <a:t> </a:t>
            </a:r>
            <a:r>
              <a:rPr sz="2800" dirty="0">
                <a:latin typeface="Calibri"/>
                <a:cs typeface="Calibri"/>
              </a:rPr>
              <a:t>a</a:t>
            </a:r>
            <a:r>
              <a:rPr sz="2800" spc="10" dirty="0">
                <a:latin typeface="Calibri"/>
                <a:cs typeface="Calibri"/>
              </a:rPr>
              <a:t> </a:t>
            </a:r>
            <a:r>
              <a:rPr sz="2800" spc="-10" dirty="0">
                <a:latin typeface="Calibri"/>
                <a:cs typeface="Calibri"/>
              </a:rPr>
              <a:t>full-</a:t>
            </a:r>
            <a:r>
              <a:rPr sz="2800" dirty="0">
                <a:latin typeface="Calibri"/>
                <a:cs typeface="Calibri"/>
              </a:rPr>
              <a:t>time</a:t>
            </a:r>
            <a:r>
              <a:rPr sz="2800" spc="15" dirty="0">
                <a:latin typeface="Calibri"/>
                <a:cs typeface="Calibri"/>
              </a:rPr>
              <a:t> </a:t>
            </a:r>
            <a:r>
              <a:rPr sz="2800" spc="-10" dirty="0">
                <a:latin typeface="Calibri"/>
                <a:cs typeface="Calibri"/>
              </a:rPr>
              <a:t>basis. </a:t>
            </a:r>
            <a:r>
              <a:rPr sz="2800" dirty="0">
                <a:latin typeface="Calibri"/>
                <a:cs typeface="Calibri"/>
              </a:rPr>
              <a:t>This</a:t>
            </a:r>
            <a:r>
              <a:rPr sz="2800" spc="355" dirty="0">
                <a:latin typeface="Calibri"/>
                <a:cs typeface="Calibri"/>
              </a:rPr>
              <a:t> </a:t>
            </a:r>
            <a:r>
              <a:rPr sz="2800" dirty="0">
                <a:latin typeface="Calibri"/>
                <a:cs typeface="Calibri"/>
              </a:rPr>
              <a:t>can</a:t>
            </a:r>
            <a:r>
              <a:rPr sz="2800" spc="360" dirty="0">
                <a:latin typeface="Calibri"/>
                <a:cs typeface="Calibri"/>
              </a:rPr>
              <a:t> </a:t>
            </a:r>
            <a:r>
              <a:rPr sz="2800" dirty="0">
                <a:latin typeface="Calibri"/>
                <a:cs typeface="Calibri"/>
              </a:rPr>
              <a:t>result</a:t>
            </a:r>
            <a:r>
              <a:rPr sz="2800" spc="350" dirty="0">
                <a:latin typeface="Calibri"/>
                <a:cs typeface="Calibri"/>
              </a:rPr>
              <a:t> </a:t>
            </a:r>
            <a:r>
              <a:rPr sz="2800" dirty="0">
                <a:latin typeface="Calibri"/>
                <a:cs typeface="Calibri"/>
              </a:rPr>
              <a:t>in</a:t>
            </a:r>
            <a:r>
              <a:rPr sz="2800" spc="360" dirty="0">
                <a:latin typeface="Calibri"/>
                <a:cs typeface="Calibri"/>
              </a:rPr>
              <a:t> </a:t>
            </a:r>
            <a:r>
              <a:rPr sz="2800" dirty="0">
                <a:latin typeface="Calibri"/>
                <a:cs typeface="Calibri"/>
              </a:rPr>
              <a:t>duplication</a:t>
            </a:r>
            <a:r>
              <a:rPr sz="2800" spc="360" dirty="0">
                <a:latin typeface="Calibri"/>
                <a:cs typeface="Calibri"/>
              </a:rPr>
              <a:t> </a:t>
            </a:r>
            <a:r>
              <a:rPr sz="2800" dirty="0">
                <a:latin typeface="Calibri"/>
                <a:cs typeface="Calibri"/>
              </a:rPr>
              <a:t>of</a:t>
            </a:r>
            <a:r>
              <a:rPr sz="2800" spc="350" dirty="0">
                <a:latin typeface="Calibri"/>
                <a:cs typeface="Calibri"/>
              </a:rPr>
              <a:t> </a:t>
            </a:r>
            <a:r>
              <a:rPr sz="2800" dirty="0">
                <a:latin typeface="Calibri"/>
                <a:cs typeface="Calibri"/>
              </a:rPr>
              <a:t>efforts</a:t>
            </a:r>
            <a:r>
              <a:rPr sz="2800" spc="365" dirty="0">
                <a:latin typeface="Calibri"/>
                <a:cs typeface="Calibri"/>
              </a:rPr>
              <a:t> </a:t>
            </a:r>
            <a:r>
              <a:rPr sz="2800" dirty="0">
                <a:latin typeface="Calibri"/>
                <a:cs typeface="Calibri"/>
              </a:rPr>
              <a:t>across</a:t>
            </a:r>
            <a:r>
              <a:rPr sz="2800" spc="365" dirty="0">
                <a:latin typeface="Calibri"/>
                <a:cs typeface="Calibri"/>
              </a:rPr>
              <a:t> </a:t>
            </a:r>
            <a:r>
              <a:rPr sz="2800" dirty="0">
                <a:latin typeface="Calibri"/>
                <a:cs typeface="Calibri"/>
              </a:rPr>
              <a:t>projects</a:t>
            </a:r>
            <a:r>
              <a:rPr sz="2800" spc="360" dirty="0">
                <a:latin typeface="Calibri"/>
                <a:cs typeface="Calibri"/>
              </a:rPr>
              <a:t> </a:t>
            </a:r>
            <a:r>
              <a:rPr sz="2800" dirty="0">
                <a:latin typeface="Calibri"/>
                <a:cs typeface="Calibri"/>
              </a:rPr>
              <a:t>and</a:t>
            </a:r>
            <a:r>
              <a:rPr sz="2800" spc="360" dirty="0">
                <a:latin typeface="Calibri"/>
                <a:cs typeface="Calibri"/>
              </a:rPr>
              <a:t> </a:t>
            </a:r>
            <a:r>
              <a:rPr sz="2800" dirty="0">
                <a:latin typeface="Calibri"/>
                <a:cs typeface="Calibri"/>
              </a:rPr>
              <a:t>a</a:t>
            </a:r>
            <a:r>
              <a:rPr sz="2800" spc="355" dirty="0">
                <a:latin typeface="Calibri"/>
                <a:cs typeface="Calibri"/>
              </a:rPr>
              <a:t> </a:t>
            </a:r>
            <a:r>
              <a:rPr sz="2800" dirty="0">
                <a:latin typeface="Calibri"/>
                <a:cs typeface="Calibri"/>
              </a:rPr>
              <a:t>loss</a:t>
            </a:r>
            <a:r>
              <a:rPr sz="2800" spc="360" dirty="0">
                <a:latin typeface="Calibri"/>
                <a:cs typeface="Calibri"/>
              </a:rPr>
              <a:t> </a:t>
            </a:r>
            <a:r>
              <a:rPr sz="2800" spc="-25" dirty="0">
                <a:latin typeface="Calibri"/>
                <a:cs typeface="Calibri"/>
              </a:rPr>
              <a:t>of </a:t>
            </a:r>
            <a:r>
              <a:rPr sz="2800" dirty="0">
                <a:latin typeface="Calibri"/>
                <a:cs typeface="Calibri"/>
              </a:rPr>
              <a:t>economies</a:t>
            </a:r>
            <a:r>
              <a:rPr sz="2800" spc="-45" dirty="0">
                <a:latin typeface="Calibri"/>
                <a:cs typeface="Calibri"/>
              </a:rPr>
              <a:t> </a:t>
            </a:r>
            <a:r>
              <a:rPr sz="2800" dirty="0">
                <a:latin typeface="Calibri"/>
                <a:cs typeface="Calibri"/>
              </a:rPr>
              <a:t>of</a:t>
            </a:r>
            <a:r>
              <a:rPr sz="2800" spc="-60" dirty="0">
                <a:latin typeface="Calibri"/>
                <a:cs typeface="Calibri"/>
              </a:rPr>
              <a:t> </a:t>
            </a:r>
            <a:r>
              <a:rPr sz="2800" spc="-10" dirty="0">
                <a:latin typeface="Calibri"/>
                <a:cs typeface="Calibri"/>
              </a:rPr>
              <a:t>scale.</a:t>
            </a:r>
            <a:endParaRPr sz="2800" dirty="0">
              <a:latin typeface="Calibri"/>
              <a:cs typeface="Calibri"/>
            </a:endParaRPr>
          </a:p>
          <a:p>
            <a:pPr marL="527050" marR="5080" lvl="1" indent="-279400" algn="just">
              <a:lnSpc>
                <a:spcPct val="90000"/>
              </a:lnSpc>
              <a:spcBef>
                <a:spcPts val="1040"/>
              </a:spcBef>
              <a:buSzPct val="96428"/>
              <a:buAutoNum type="arabicPeriod"/>
              <a:tabLst>
                <a:tab pos="527050" algn="l"/>
              </a:tabLst>
            </a:pPr>
            <a:r>
              <a:rPr sz="2800" b="1" dirty="0">
                <a:latin typeface="Calibri"/>
                <a:cs typeface="Calibri"/>
              </a:rPr>
              <a:t>Internal</a:t>
            </a:r>
            <a:r>
              <a:rPr sz="2800" b="1" spc="190" dirty="0">
                <a:latin typeface="Calibri"/>
                <a:cs typeface="Calibri"/>
              </a:rPr>
              <a:t> </a:t>
            </a:r>
            <a:r>
              <a:rPr sz="2800" b="1" dirty="0">
                <a:latin typeface="Calibri"/>
                <a:cs typeface="Calibri"/>
              </a:rPr>
              <a:t>strife:</a:t>
            </a:r>
            <a:r>
              <a:rPr sz="2800" b="1" spc="200" dirty="0">
                <a:latin typeface="Calibri"/>
                <a:cs typeface="Calibri"/>
              </a:rPr>
              <a:t> </a:t>
            </a:r>
            <a:r>
              <a:rPr sz="2800" dirty="0">
                <a:latin typeface="Calibri"/>
                <a:cs typeface="Calibri"/>
              </a:rPr>
              <a:t>Sometimes</a:t>
            </a:r>
            <a:r>
              <a:rPr sz="2800" spc="200" dirty="0">
                <a:latin typeface="Calibri"/>
                <a:cs typeface="Calibri"/>
              </a:rPr>
              <a:t> </a:t>
            </a:r>
            <a:r>
              <a:rPr sz="2800" dirty="0">
                <a:latin typeface="Calibri"/>
                <a:cs typeface="Calibri"/>
              </a:rPr>
              <a:t>dedicated</a:t>
            </a:r>
            <a:r>
              <a:rPr sz="2800" spc="195" dirty="0">
                <a:latin typeface="Calibri"/>
                <a:cs typeface="Calibri"/>
              </a:rPr>
              <a:t> </a:t>
            </a:r>
            <a:r>
              <a:rPr sz="2800" dirty="0">
                <a:latin typeface="Calibri"/>
                <a:cs typeface="Calibri"/>
              </a:rPr>
              <a:t>project</a:t>
            </a:r>
            <a:r>
              <a:rPr sz="2800" spc="190" dirty="0">
                <a:latin typeface="Calibri"/>
                <a:cs typeface="Calibri"/>
              </a:rPr>
              <a:t> </a:t>
            </a:r>
            <a:r>
              <a:rPr sz="2800" dirty="0">
                <a:latin typeface="Calibri"/>
                <a:cs typeface="Calibri"/>
              </a:rPr>
              <a:t>teams</a:t>
            </a:r>
            <a:r>
              <a:rPr sz="2800" spc="200" dirty="0">
                <a:latin typeface="Calibri"/>
                <a:cs typeface="Calibri"/>
              </a:rPr>
              <a:t> </a:t>
            </a:r>
            <a:r>
              <a:rPr sz="2800" dirty="0">
                <a:latin typeface="Calibri"/>
                <a:cs typeface="Calibri"/>
              </a:rPr>
              <a:t>become</a:t>
            </a:r>
            <a:r>
              <a:rPr sz="2800" spc="190" dirty="0">
                <a:latin typeface="Calibri"/>
                <a:cs typeface="Calibri"/>
              </a:rPr>
              <a:t> </a:t>
            </a:r>
            <a:r>
              <a:rPr sz="2800" dirty="0">
                <a:latin typeface="Calibri"/>
                <a:cs typeface="Calibri"/>
              </a:rPr>
              <a:t>an</a:t>
            </a:r>
            <a:r>
              <a:rPr sz="2800" spc="195" dirty="0">
                <a:latin typeface="Calibri"/>
                <a:cs typeface="Calibri"/>
              </a:rPr>
              <a:t> </a:t>
            </a:r>
            <a:r>
              <a:rPr sz="2800" spc="-10" dirty="0">
                <a:latin typeface="Calibri"/>
                <a:cs typeface="Calibri"/>
              </a:rPr>
              <a:t>entity </a:t>
            </a:r>
            <a:r>
              <a:rPr sz="2800" dirty="0">
                <a:latin typeface="Calibri"/>
                <a:cs typeface="Calibri"/>
              </a:rPr>
              <a:t>in</a:t>
            </a:r>
            <a:r>
              <a:rPr sz="2800" spc="484" dirty="0">
                <a:latin typeface="Calibri"/>
                <a:cs typeface="Calibri"/>
              </a:rPr>
              <a:t> </a:t>
            </a:r>
            <a:r>
              <a:rPr sz="2800" dirty="0">
                <a:latin typeface="Calibri"/>
                <a:cs typeface="Calibri"/>
              </a:rPr>
              <a:t>their</a:t>
            </a:r>
            <a:r>
              <a:rPr sz="2800" spc="484" dirty="0">
                <a:latin typeface="Calibri"/>
                <a:cs typeface="Calibri"/>
              </a:rPr>
              <a:t> </a:t>
            </a:r>
            <a:r>
              <a:rPr sz="2800" dirty="0">
                <a:latin typeface="Calibri"/>
                <a:cs typeface="Calibri"/>
              </a:rPr>
              <a:t>own</a:t>
            </a:r>
            <a:r>
              <a:rPr sz="2800" spc="490" dirty="0">
                <a:latin typeface="Calibri"/>
                <a:cs typeface="Calibri"/>
              </a:rPr>
              <a:t> </a:t>
            </a:r>
            <a:r>
              <a:rPr sz="2800" dirty="0">
                <a:latin typeface="Calibri"/>
                <a:cs typeface="Calibri"/>
              </a:rPr>
              <a:t>right</a:t>
            </a:r>
            <a:r>
              <a:rPr sz="2800" spc="484" dirty="0">
                <a:latin typeface="Calibri"/>
                <a:cs typeface="Calibri"/>
              </a:rPr>
              <a:t> </a:t>
            </a:r>
            <a:r>
              <a:rPr sz="2800" dirty="0">
                <a:latin typeface="Calibri"/>
                <a:cs typeface="Calibri"/>
              </a:rPr>
              <a:t>and</a:t>
            </a:r>
            <a:r>
              <a:rPr sz="2800" spc="495" dirty="0">
                <a:latin typeface="Calibri"/>
                <a:cs typeface="Calibri"/>
              </a:rPr>
              <a:t> </a:t>
            </a:r>
            <a:r>
              <a:rPr sz="2800" dirty="0">
                <a:latin typeface="Calibri"/>
                <a:cs typeface="Calibri"/>
              </a:rPr>
              <a:t>conflict</a:t>
            </a:r>
            <a:r>
              <a:rPr sz="2800" spc="484" dirty="0">
                <a:latin typeface="Calibri"/>
                <a:cs typeface="Calibri"/>
              </a:rPr>
              <a:t> </a:t>
            </a:r>
            <a:r>
              <a:rPr sz="2800" dirty="0">
                <a:latin typeface="Calibri"/>
                <a:cs typeface="Calibri"/>
              </a:rPr>
              <a:t>emerges</a:t>
            </a:r>
            <a:r>
              <a:rPr sz="2800" spc="490" dirty="0">
                <a:latin typeface="Calibri"/>
                <a:cs typeface="Calibri"/>
              </a:rPr>
              <a:t> </a:t>
            </a:r>
            <a:r>
              <a:rPr sz="2800" dirty="0">
                <a:latin typeface="Calibri"/>
                <a:cs typeface="Calibri"/>
              </a:rPr>
              <a:t>between</a:t>
            </a:r>
            <a:r>
              <a:rPr sz="2800" spc="490" dirty="0">
                <a:latin typeface="Calibri"/>
                <a:cs typeface="Calibri"/>
              </a:rPr>
              <a:t> </a:t>
            </a:r>
            <a:r>
              <a:rPr sz="2800" dirty="0">
                <a:latin typeface="Calibri"/>
                <a:cs typeface="Calibri"/>
              </a:rPr>
              <a:t>the</a:t>
            </a:r>
            <a:r>
              <a:rPr sz="2800" spc="484" dirty="0">
                <a:latin typeface="Calibri"/>
                <a:cs typeface="Calibri"/>
              </a:rPr>
              <a:t> </a:t>
            </a:r>
            <a:r>
              <a:rPr sz="2800" dirty="0">
                <a:latin typeface="Calibri"/>
                <a:cs typeface="Calibri"/>
              </a:rPr>
              <a:t>team</a:t>
            </a:r>
            <a:r>
              <a:rPr sz="2800" spc="484" dirty="0">
                <a:latin typeface="Calibri"/>
                <a:cs typeface="Calibri"/>
              </a:rPr>
              <a:t> </a:t>
            </a:r>
            <a:r>
              <a:rPr sz="2800" dirty="0">
                <a:latin typeface="Calibri"/>
                <a:cs typeface="Calibri"/>
              </a:rPr>
              <a:t>and</a:t>
            </a:r>
            <a:r>
              <a:rPr sz="2800" spc="495" dirty="0">
                <a:latin typeface="Calibri"/>
                <a:cs typeface="Calibri"/>
              </a:rPr>
              <a:t> </a:t>
            </a:r>
            <a:r>
              <a:rPr sz="2800" spc="-25" dirty="0">
                <a:latin typeface="Calibri"/>
                <a:cs typeface="Calibri"/>
              </a:rPr>
              <a:t>the </a:t>
            </a:r>
            <a:r>
              <a:rPr sz="2800" dirty="0">
                <a:latin typeface="Calibri"/>
                <a:cs typeface="Calibri"/>
              </a:rPr>
              <a:t>remainder</a:t>
            </a:r>
            <a:r>
              <a:rPr sz="2800" spc="484" dirty="0">
                <a:latin typeface="Calibri"/>
                <a:cs typeface="Calibri"/>
              </a:rPr>
              <a:t> </a:t>
            </a:r>
            <a:r>
              <a:rPr sz="2800" dirty="0">
                <a:latin typeface="Calibri"/>
                <a:cs typeface="Calibri"/>
              </a:rPr>
              <a:t>of</a:t>
            </a:r>
            <a:r>
              <a:rPr sz="2800" spc="490" dirty="0">
                <a:latin typeface="Calibri"/>
                <a:cs typeface="Calibri"/>
              </a:rPr>
              <a:t> </a:t>
            </a:r>
            <a:r>
              <a:rPr sz="2800" dirty="0">
                <a:latin typeface="Calibri"/>
                <a:cs typeface="Calibri"/>
              </a:rPr>
              <a:t>the</a:t>
            </a:r>
            <a:r>
              <a:rPr sz="2800" spc="495" dirty="0">
                <a:latin typeface="Calibri"/>
                <a:cs typeface="Calibri"/>
              </a:rPr>
              <a:t> </a:t>
            </a:r>
            <a:r>
              <a:rPr sz="2800" dirty="0">
                <a:latin typeface="Calibri"/>
                <a:cs typeface="Calibri"/>
              </a:rPr>
              <a:t>organization.</a:t>
            </a:r>
            <a:r>
              <a:rPr sz="2800" spc="500" dirty="0">
                <a:latin typeface="Calibri"/>
                <a:cs typeface="Calibri"/>
              </a:rPr>
              <a:t> </a:t>
            </a:r>
            <a:r>
              <a:rPr sz="2800" dirty="0">
                <a:latin typeface="Calibri"/>
                <a:cs typeface="Calibri"/>
              </a:rPr>
              <a:t>This</a:t>
            </a:r>
            <a:r>
              <a:rPr sz="2800" spc="500" dirty="0">
                <a:latin typeface="Calibri"/>
                <a:cs typeface="Calibri"/>
              </a:rPr>
              <a:t> </a:t>
            </a:r>
            <a:r>
              <a:rPr sz="2800" dirty="0">
                <a:latin typeface="Calibri"/>
                <a:cs typeface="Calibri"/>
              </a:rPr>
              <a:t>divisiveness</a:t>
            </a:r>
            <a:r>
              <a:rPr sz="2800" spc="500" dirty="0">
                <a:latin typeface="Calibri"/>
                <a:cs typeface="Calibri"/>
              </a:rPr>
              <a:t> </a:t>
            </a:r>
            <a:r>
              <a:rPr sz="2800" dirty="0">
                <a:latin typeface="Calibri"/>
                <a:cs typeface="Calibri"/>
              </a:rPr>
              <a:t>can</a:t>
            </a:r>
            <a:r>
              <a:rPr sz="2800" spc="495" dirty="0">
                <a:latin typeface="Calibri"/>
                <a:cs typeface="Calibri"/>
              </a:rPr>
              <a:t> </a:t>
            </a:r>
            <a:r>
              <a:rPr sz="2800" dirty="0">
                <a:latin typeface="Calibri"/>
                <a:cs typeface="Calibri"/>
              </a:rPr>
              <a:t>undermine</a:t>
            </a:r>
            <a:r>
              <a:rPr sz="2800" spc="484" dirty="0">
                <a:latin typeface="Calibri"/>
                <a:cs typeface="Calibri"/>
              </a:rPr>
              <a:t> </a:t>
            </a:r>
            <a:r>
              <a:rPr sz="2800" spc="-25" dirty="0">
                <a:latin typeface="Calibri"/>
                <a:cs typeface="Calibri"/>
              </a:rPr>
              <a:t>not </a:t>
            </a:r>
            <a:r>
              <a:rPr sz="2800" dirty="0">
                <a:latin typeface="Calibri"/>
                <a:cs typeface="Calibri"/>
              </a:rPr>
              <a:t>only</a:t>
            </a:r>
            <a:r>
              <a:rPr sz="2800" spc="675" dirty="0">
                <a:latin typeface="Calibri"/>
                <a:cs typeface="Calibri"/>
              </a:rPr>
              <a:t> </a:t>
            </a:r>
            <a:r>
              <a:rPr sz="2800" dirty="0">
                <a:latin typeface="Calibri"/>
                <a:cs typeface="Calibri"/>
              </a:rPr>
              <a:t>the</a:t>
            </a:r>
            <a:r>
              <a:rPr sz="2800" spc="675" dirty="0">
                <a:latin typeface="Calibri"/>
                <a:cs typeface="Calibri"/>
              </a:rPr>
              <a:t> </a:t>
            </a:r>
            <a:r>
              <a:rPr sz="2800" dirty="0">
                <a:latin typeface="Calibri"/>
                <a:cs typeface="Calibri"/>
              </a:rPr>
              <a:t>integration</a:t>
            </a:r>
            <a:r>
              <a:rPr sz="2800" spc="685" dirty="0">
                <a:latin typeface="Calibri"/>
                <a:cs typeface="Calibri"/>
              </a:rPr>
              <a:t> </a:t>
            </a:r>
            <a:r>
              <a:rPr sz="2800" dirty="0">
                <a:latin typeface="Calibri"/>
                <a:cs typeface="Calibri"/>
              </a:rPr>
              <a:t>of</a:t>
            </a:r>
            <a:r>
              <a:rPr sz="2800" spc="680" dirty="0">
                <a:latin typeface="Calibri"/>
                <a:cs typeface="Calibri"/>
              </a:rPr>
              <a:t> </a:t>
            </a:r>
            <a:r>
              <a:rPr sz="2800" dirty="0">
                <a:latin typeface="Calibri"/>
                <a:cs typeface="Calibri"/>
              </a:rPr>
              <a:t>the</a:t>
            </a:r>
            <a:r>
              <a:rPr sz="2800" spc="675" dirty="0">
                <a:latin typeface="Calibri"/>
                <a:cs typeface="Calibri"/>
              </a:rPr>
              <a:t> </a:t>
            </a:r>
            <a:r>
              <a:rPr sz="2800" dirty="0">
                <a:latin typeface="Calibri"/>
                <a:cs typeface="Calibri"/>
              </a:rPr>
              <a:t>eventual</a:t>
            </a:r>
            <a:r>
              <a:rPr sz="2800" spc="675" dirty="0">
                <a:latin typeface="Calibri"/>
                <a:cs typeface="Calibri"/>
              </a:rPr>
              <a:t> </a:t>
            </a:r>
            <a:r>
              <a:rPr sz="2800" dirty="0">
                <a:latin typeface="Calibri"/>
                <a:cs typeface="Calibri"/>
              </a:rPr>
              <a:t>outcomes</a:t>
            </a:r>
            <a:r>
              <a:rPr sz="2800" spc="690" dirty="0">
                <a:latin typeface="Calibri"/>
                <a:cs typeface="Calibri"/>
              </a:rPr>
              <a:t> </a:t>
            </a:r>
            <a:r>
              <a:rPr sz="2800" dirty="0">
                <a:latin typeface="Calibri"/>
                <a:cs typeface="Calibri"/>
              </a:rPr>
              <a:t>of</a:t>
            </a:r>
            <a:r>
              <a:rPr sz="2800" spc="675" dirty="0">
                <a:latin typeface="Calibri"/>
                <a:cs typeface="Calibri"/>
              </a:rPr>
              <a:t> </a:t>
            </a:r>
            <a:r>
              <a:rPr sz="2800" dirty="0">
                <a:latin typeface="Calibri"/>
                <a:cs typeface="Calibri"/>
              </a:rPr>
              <a:t>the</a:t>
            </a:r>
            <a:r>
              <a:rPr sz="2800" spc="675" dirty="0">
                <a:latin typeface="Calibri"/>
                <a:cs typeface="Calibri"/>
              </a:rPr>
              <a:t> </a:t>
            </a:r>
            <a:r>
              <a:rPr sz="2800" dirty="0">
                <a:latin typeface="Calibri"/>
                <a:cs typeface="Calibri"/>
              </a:rPr>
              <a:t>project</a:t>
            </a:r>
            <a:r>
              <a:rPr sz="2800" spc="685" dirty="0">
                <a:latin typeface="Calibri"/>
                <a:cs typeface="Calibri"/>
              </a:rPr>
              <a:t> </a:t>
            </a:r>
            <a:r>
              <a:rPr sz="2800" spc="-20" dirty="0">
                <a:latin typeface="Calibri"/>
                <a:cs typeface="Calibri"/>
              </a:rPr>
              <a:t>into </a:t>
            </a:r>
            <a:r>
              <a:rPr sz="2800" dirty="0">
                <a:latin typeface="Calibri"/>
                <a:cs typeface="Calibri"/>
              </a:rPr>
              <a:t>mainstream</a:t>
            </a:r>
            <a:r>
              <a:rPr sz="2800" spc="-10" dirty="0">
                <a:latin typeface="Calibri"/>
                <a:cs typeface="Calibri"/>
              </a:rPr>
              <a:t> </a:t>
            </a:r>
            <a:r>
              <a:rPr sz="2800" dirty="0">
                <a:latin typeface="Calibri"/>
                <a:cs typeface="Calibri"/>
              </a:rPr>
              <a:t>operations but</a:t>
            </a:r>
            <a:r>
              <a:rPr sz="2800" spc="-10" dirty="0">
                <a:latin typeface="Calibri"/>
                <a:cs typeface="Calibri"/>
              </a:rPr>
              <a:t> </a:t>
            </a:r>
            <a:r>
              <a:rPr sz="2800" dirty="0">
                <a:latin typeface="Calibri"/>
                <a:cs typeface="Calibri"/>
              </a:rPr>
              <a:t>also</a:t>
            </a:r>
            <a:r>
              <a:rPr sz="2800" spc="-5" dirty="0">
                <a:latin typeface="Calibri"/>
                <a:cs typeface="Calibri"/>
              </a:rPr>
              <a:t> </a:t>
            </a:r>
            <a:r>
              <a:rPr sz="2800" dirty="0">
                <a:latin typeface="Calibri"/>
                <a:cs typeface="Calibri"/>
              </a:rPr>
              <a:t>getting</a:t>
            </a:r>
            <a:r>
              <a:rPr sz="2800" spc="-10" dirty="0">
                <a:latin typeface="Calibri"/>
                <a:cs typeface="Calibri"/>
              </a:rPr>
              <a:t> </a:t>
            </a:r>
            <a:r>
              <a:rPr sz="2800" dirty="0">
                <a:latin typeface="Calibri"/>
                <a:cs typeface="Calibri"/>
              </a:rPr>
              <a:t>back</a:t>
            </a:r>
            <a:r>
              <a:rPr sz="2800" spc="-5" dirty="0">
                <a:latin typeface="Calibri"/>
                <a:cs typeface="Calibri"/>
              </a:rPr>
              <a:t> </a:t>
            </a:r>
            <a:r>
              <a:rPr sz="2800" dirty="0">
                <a:latin typeface="Calibri"/>
                <a:cs typeface="Calibri"/>
              </a:rPr>
              <a:t>of</a:t>
            </a:r>
            <a:r>
              <a:rPr sz="2800" spc="-5" dirty="0">
                <a:latin typeface="Calibri"/>
                <a:cs typeface="Calibri"/>
              </a:rPr>
              <a:t> </a:t>
            </a:r>
            <a:r>
              <a:rPr sz="2800" dirty="0">
                <a:latin typeface="Calibri"/>
                <a:cs typeface="Calibri"/>
              </a:rPr>
              <a:t>project</a:t>
            </a:r>
            <a:r>
              <a:rPr sz="2800" spc="-5" dirty="0">
                <a:latin typeface="Calibri"/>
                <a:cs typeface="Calibri"/>
              </a:rPr>
              <a:t> </a:t>
            </a:r>
            <a:r>
              <a:rPr sz="2800" dirty="0">
                <a:latin typeface="Calibri"/>
                <a:cs typeface="Calibri"/>
              </a:rPr>
              <a:t>team</a:t>
            </a:r>
            <a:r>
              <a:rPr sz="2800" spc="-10" dirty="0">
                <a:latin typeface="Calibri"/>
                <a:cs typeface="Calibri"/>
              </a:rPr>
              <a:t> members</a:t>
            </a:r>
            <a:endParaRPr sz="2800" dirty="0">
              <a:latin typeface="Calibri"/>
              <a:cs typeface="Calibri"/>
            </a:endParaRPr>
          </a:p>
        </p:txBody>
      </p:sp>
      <p:sp>
        <p:nvSpPr>
          <p:cNvPr id="4" name="object 4"/>
          <p:cNvSpPr txBox="1"/>
          <p:nvPr/>
        </p:nvSpPr>
        <p:spPr>
          <a:xfrm>
            <a:off x="1431289" y="6015987"/>
            <a:ext cx="8162290" cy="459740"/>
          </a:xfrm>
          <a:prstGeom prst="rect">
            <a:avLst/>
          </a:prstGeom>
        </p:spPr>
        <p:txBody>
          <a:bodyPr vert="horz" wrap="square" lIns="0" tIns="0" rIns="0" bIns="0" rtlCol="0">
            <a:spAutoFit/>
          </a:bodyPr>
          <a:lstStyle/>
          <a:p>
            <a:pPr marL="12700">
              <a:lnSpc>
                <a:spcPts val="3325"/>
              </a:lnSpc>
            </a:pPr>
            <a:r>
              <a:rPr sz="2800" dirty="0">
                <a:latin typeface="Calibri"/>
                <a:cs typeface="Calibri"/>
              </a:rPr>
              <a:t>into</a:t>
            </a:r>
            <a:r>
              <a:rPr sz="2800" spc="-50" dirty="0">
                <a:latin typeface="Calibri"/>
                <a:cs typeface="Calibri"/>
              </a:rPr>
              <a:t> </a:t>
            </a:r>
            <a:r>
              <a:rPr sz="2800" dirty="0">
                <a:latin typeface="Calibri"/>
                <a:cs typeface="Calibri"/>
              </a:rPr>
              <a:t>their</a:t>
            </a:r>
            <a:r>
              <a:rPr sz="2800" spc="-50" dirty="0">
                <a:latin typeface="Calibri"/>
                <a:cs typeface="Calibri"/>
              </a:rPr>
              <a:t> </a:t>
            </a:r>
            <a:r>
              <a:rPr sz="2800" dirty="0">
                <a:latin typeface="Calibri"/>
                <a:cs typeface="Calibri"/>
              </a:rPr>
              <a:t>functional</a:t>
            </a:r>
            <a:r>
              <a:rPr sz="2800" spc="-50" dirty="0">
                <a:latin typeface="Calibri"/>
                <a:cs typeface="Calibri"/>
              </a:rPr>
              <a:t> </a:t>
            </a:r>
            <a:r>
              <a:rPr sz="2800" dirty="0">
                <a:latin typeface="Calibri"/>
                <a:cs typeface="Calibri"/>
              </a:rPr>
              <a:t>units</a:t>
            </a:r>
            <a:r>
              <a:rPr sz="2800" spc="-45" dirty="0">
                <a:latin typeface="Calibri"/>
                <a:cs typeface="Calibri"/>
              </a:rPr>
              <a:t> </a:t>
            </a:r>
            <a:r>
              <a:rPr sz="2800" dirty="0">
                <a:latin typeface="Calibri"/>
                <a:cs typeface="Calibri"/>
              </a:rPr>
              <a:t>once</a:t>
            </a:r>
            <a:r>
              <a:rPr sz="2800" spc="-55" dirty="0">
                <a:latin typeface="Calibri"/>
                <a:cs typeface="Calibri"/>
              </a:rPr>
              <a:t> </a:t>
            </a:r>
            <a:r>
              <a:rPr sz="2800" dirty="0">
                <a:latin typeface="Calibri"/>
                <a:cs typeface="Calibri"/>
              </a:rPr>
              <a:t>the</a:t>
            </a:r>
            <a:r>
              <a:rPr sz="2800" spc="-50" dirty="0">
                <a:latin typeface="Calibri"/>
                <a:cs typeface="Calibri"/>
              </a:rPr>
              <a:t> </a:t>
            </a:r>
            <a:r>
              <a:rPr sz="2800" dirty="0">
                <a:latin typeface="Calibri"/>
                <a:cs typeface="Calibri"/>
              </a:rPr>
              <a:t>project</a:t>
            </a:r>
            <a:r>
              <a:rPr sz="2800" spc="-45" dirty="0">
                <a:latin typeface="Calibri"/>
                <a:cs typeface="Calibri"/>
              </a:rPr>
              <a:t> </a:t>
            </a:r>
            <a:r>
              <a:rPr sz="2800" dirty="0">
                <a:latin typeface="Calibri"/>
                <a:cs typeface="Calibri"/>
              </a:rPr>
              <a:t>is</a:t>
            </a:r>
            <a:r>
              <a:rPr sz="2800" spc="-45" dirty="0">
                <a:latin typeface="Calibri"/>
                <a:cs typeface="Calibri"/>
              </a:rPr>
              <a:t> </a:t>
            </a:r>
            <a:r>
              <a:rPr sz="2800" spc="-10" dirty="0">
                <a:latin typeface="Calibri"/>
                <a:cs typeface="Calibri"/>
              </a:rPr>
              <a:t>completed.</a:t>
            </a:r>
            <a:endParaRPr sz="280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39</a:t>
            </a:fld>
            <a:endParaRPr spc="-25"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Dedicated Project Teams </a:t>
            </a:r>
            <a:r>
              <a:rPr sz="2350" spc="50" dirty="0"/>
              <a:t>(4/5)</a:t>
            </a:r>
            <a:endParaRPr sz="2350" dirty="0"/>
          </a:p>
        </p:txBody>
      </p:sp>
      <p:pic>
        <p:nvPicPr>
          <p:cNvPr id="6" name="Picture 5">
            <a:extLst>
              <a:ext uri="{FF2B5EF4-FFF2-40B4-BE49-F238E27FC236}">
                <a16:creationId xmlns:a16="http://schemas.microsoft.com/office/drawing/2014/main" id="{EB4D58BF-0F42-C2C6-9C9B-6FD2CC63106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499870"/>
            <a:ext cx="11004550" cy="4772660"/>
          </a:xfrm>
          <a:prstGeom prst="rect">
            <a:avLst/>
          </a:prstGeom>
        </p:spPr>
        <p:txBody>
          <a:bodyPr vert="horz" wrap="square" lIns="0" tIns="95250" rIns="0" bIns="0" rtlCol="0">
            <a:spAutoFit/>
          </a:bodyPr>
          <a:lstStyle/>
          <a:p>
            <a:pPr marL="241300" indent="-228600">
              <a:lnSpc>
                <a:spcPct val="100000"/>
              </a:lnSpc>
              <a:spcBef>
                <a:spcPts val="750"/>
              </a:spcBef>
              <a:buFont typeface="Arial MT"/>
              <a:buChar char="•"/>
              <a:tabLst>
                <a:tab pos="241300" algn="l"/>
              </a:tabLst>
            </a:pPr>
            <a:r>
              <a:rPr sz="3900" b="1" u="heavy" spc="-30" dirty="0">
                <a:solidFill>
                  <a:srgbClr val="C00000"/>
                </a:solidFill>
                <a:uFill>
                  <a:solidFill>
                    <a:srgbClr val="C00000"/>
                  </a:solidFill>
                </a:uFill>
                <a:latin typeface="Calibri"/>
                <a:cs typeface="Calibri"/>
              </a:rPr>
              <a:t>Disadvantages</a:t>
            </a:r>
            <a:r>
              <a:rPr sz="3900" b="1" spc="-365" dirty="0">
                <a:solidFill>
                  <a:srgbClr val="C00000"/>
                </a:solidFill>
                <a:latin typeface="Calibri"/>
                <a:cs typeface="Calibri"/>
              </a:rPr>
              <a:t> </a:t>
            </a:r>
            <a:r>
              <a:rPr sz="1900" b="1" spc="-10" dirty="0">
                <a:solidFill>
                  <a:srgbClr val="C00000"/>
                </a:solidFill>
                <a:latin typeface="Calibri"/>
                <a:cs typeface="Calibri"/>
              </a:rPr>
              <a:t>(cont)</a:t>
            </a:r>
            <a:endParaRPr sz="1900">
              <a:latin typeface="Calibri"/>
              <a:cs typeface="Calibri"/>
            </a:endParaRPr>
          </a:p>
          <a:p>
            <a:pPr marL="646430" marR="5080" lvl="1" indent="-379730" algn="just">
              <a:lnSpc>
                <a:spcPct val="80100"/>
              </a:lnSpc>
              <a:spcBef>
                <a:spcPts val="1060"/>
              </a:spcBef>
              <a:buAutoNum type="arabicPeriod" startAt="3"/>
              <a:tabLst>
                <a:tab pos="647700" algn="l"/>
              </a:tabLst>
            </a:pPr>
            <a:r>
              <a:rPr sz="2600" b="1" dirty="0">
                <a:latin typeface="Calibri"/>
                <a:cs typeface="Calibri"/>
              </a:rPr>
              <a:t>Limited</a:t>
            </a:r>
            <a:r>
              <a:rPr sz="2600" b="1" spc="185" dirty="0">
                <a:latin typeface="Calibri"/>
                <a:cs typeface="Calibri"/>
              </a:rPr>
              <a:t>  </a:t>
            </a:r>
            <a:r>
              <a:rPr sz="2600" b="1" dirty="0">
                <a:latin typeface="Calibri"/>
                <a:cs typeface="Calibri"/>
              </a:rPr>
              <a:t>Technological</a:t>
            </a:r>
            <a:r>
              <a:rPr sz="2600" b="1" spc="185" dirty="0">
                <a:latin typeface="Calibri"/>
                <a:cs typeface="Calibri"/>
              </a:rPr>
              <a:t>  </a:t>
            </a:r>
            <a:r>
              <a:rPr sz="2600" b="1" dirty="0">
                <a:latin typeface="Calibri"/>
                <a:cs typeface="Calibri"/>
              </a:rPr>
              <a:t>Expertise.</a:t>
            </a:r>
            <a:r>
              <a:rPr sz="2600" b="1" spc="185" dirty="0">
                <a:latin typeface="Calibri"/>
                <a:cs typeface="Calibri"/>
              </a:rPr>
              <a:t>  </a:t>
            </a:r>
            <a:r>
              <a:rPr sz="2600" dirty="0">
                <a:latin typeface="Calibri"/>
                <a:cs typeface="Calibri"/>
              </a:rPr>
              <a:t>Creating</a:t>
            </a:r>
            <a:r>
              <a:rPr sz="2600" spc="185" dirty="0">
                <a:latin typeface="Calibri"/>
                <a:cs typeface="Calibri"/>
              </a:rPr>
              <a:t>  </a:t>
            </a:r>
            <a:r>
              <a:rPr sz="2600" spc="-30" dirty="0">
                <a:latin typeface="Calibri"/>
                <a:cs typeface="Calibri"/>
              </a:rPr>
              <a:t>self-</a:t>
            </a:r>
            <a:r>
              <a:rPr sz="2600" dirty="0">
                <a:latin typeface="Calibri"/>
                <a:cs typeface="Calibri"/>
              </a:rPr>
              <a:t>contained</a:t>
            </a:r>
            <a:r>
              <a:rPr sz="2600" spc="185" dirty="0">
                <a:latin typeface="Calibri"/>
                <a:cs typeface="Calibri"/>
              </a:rPr>
              <a:t>  </a:t>
            </a:r>
            <a:r>
              <a:rPr sz="2600" dirty="0">
                <a:latin typeface="Calibri"/>
                <a:cs typeface="Calibri"/>
              </a:rPr>
              <a:t>teams</a:t>
            </a:r>
            <a:r>
              <a:rPr sz="2600" spc="185" dirty="0">
                <a:latin typeface="Calibri"/>
                <a:cs typeface="Calibri"/>
              </a:rPr>
              <a:t>  </a:t>
            </a:r>
            <a:r>
              <a:rPr sz="2600" spc="-10" dirty="0">
                <a:latin typeface="Calibri"/>
                <a:cs typeface="Calibri"/>
              </a:rPr>
              <a:t>inhibits 	</a:t>
            </a:r>
            <a:r>
              <a:rPr sz="2600" dirty="0">
                <a:latin typeface="Calibri"/>
                <a:cs typeface="Calibri"/>
              </a:rPr>
              <a:t>maximum</a:t>
            </a:r>
            <a:r>
              <a:rPr sz="2600" spc="150" dirty="0">
                <a:latin typeface="Calibri"/>
                <a:cs typeface="Calibri"/>
              </a:rPr>
              <a:t>  </a:t>
            </a:r>
            <a:r>
              <a:rPr sz="2600" dirty="0">
                <a:latin typeface="Calibri"/>
                <a:cs typeface="Calibri"/>
              </a:rPr>
              <a:t>technological</a:t>
            </a:r>
            <a:r>
              <a:rPr sz="2600" spc="160" dirty="0">
                <a:latin typeface="Calibri"/>
                <a:cs typeface="Calibri"/>
              </a:rPr>
              <a:t>  </a:t>
            </a:r>
            <a:r>
              <a:rPr sz="2600" dirty="0">
                <a:latin typeface="Calibri"/>
                <a:cs typeface="Calibri"/>
              </a:rPr>
              <a:t>expertise</a:t>
            </a:r>
            <a:r>
              <a:rPr sz="2600" spc="150" dirty="0">
                <a:latin typeface="Calibri"/>
                <a:cs typeface="Calibri"/>
              </a:rPr>
              <a:t>  </a:t>
            </a:r>
            <a:r>
              <a:rPr sz="2600" dirty="0">
                <a:latin typeface="Calibri"/>
                <a:cs typeface="Calibri"/>
              </a:rPr>
              <a:t>being</a:t>
            </a:r>
            <a:r>
              <a:rPr sz="2600" spc="155" dirty="0">
                <a:latin typeface="Calibri"/>
                <a:cs typeface="Calibri"/>
              </a:rPr>
              <a:t>  </a:t>
            </a:r>
            <a:r>
              <a:rPr sz="2600" dirty="0">
                <a:latin typeface="Calibri"/>
                <a:cs typeface="Calibri"/>
              </a:rPr>
              <a:t>brought</a:t>
            </a:r>
            <a:r>
              <a:rPr sz="2600" spc="150" dirty="0">
                <a:latin typeface="Calibri"/>
                <a:cs typeface="Calibri"/>
              </a:rPr>
              <a:t>  </a:t>
            </a:r>
            <a:r>
              <a:rPr sz="2600" dirty="0">
                <a:latin typeface="Calibri"/>
                <a:cs typeface="Calibri"/>
              </a:rPr>
              <a:t>to</a:t>
            </a:r>
            <a:r>
              <a:rPr sz="2600" spc="160" dirty="0">
                <a:latin typeface="Calibri"/>
                <a:cs typeface="Calibri"/>
              </a:rPr>
              <a:t>  </a:t>
            </a:r>
            <a:r>
              <a:rPr sz="2600" dirty="0">
                <a:latin typeface="Calibri"/>
                <a:cs typeface="Calibri"/>
              </a:rPr>
              <a:t>bear</a:t>
            </a:r>
            <a:r>
              <a:rPr sz="2600" spc="155" dirty="0">
                <a:latin typeface="Calibri"/>
                <a:cs typeface="Calibri"/>
              </a:rPr>
              <a:t>  </a:t>
            </a:r>
            <a:r>
              <a:rPr sz="2600" dirty="0">
                <a:latin typeface="Calibri"/>
                <a:cs typeface="Calibri"/>
              </a:rPr>
              <a:t>on</a:t>
            </a:r>
            <a:r>
              <a:rPr sz="2600" spc="155" dirty="0">
                <a:latin typeface="Calibri"/>
                <a:cs typeface="Calibri"/>
              </a:rPr>
              <a:t>  </a:t>
            </a:r>
            <a:r>
              <a:rPr sz="2600" spc="-10" dirty="0">
                <a:latin typeface="Calibri"/>
                <a:cs typeface="Calibri"/>
              </a:rPr>
              <a:t>problems. 	Technical</a:t>
            </a:r>
            <a:r>
              <a:rPr sz="2600" spc="45" dirty="0">
                <a:latin typeface="Calibri"/>
                <a:cs typeface="Calibri"/>
              </a:rPr>
              <a:t> </a:t>
            </a:r>
            <a:r>
              <a:rPr sz="2600" dirty="0">
                <a:latin typeface="Calibri"/>
                <a:cs typeface="Calibri"/>
              </a:rPr>
              <a:t>expertise</a:t>
            </a:r>
            <a:r>
              <a:rPr sz="2600" spc="40" dirty="0">
                <a:latin typeface="Calibri"/>
                <a:cs typeface="Calibri"/>
              </a:rPr>
              <a:t> </a:t>
            </a:r>
            <a:r>
              <a:rPr sz="2600" dirty="0">
                <a:latin typeface="Calibri"/>
                <a:cs typeface="Calibri"/>
              </a:rPr>
              <a:t>is</a:t>
            </a:r>
            <a:r>
              <a:rPr sz="2600" spc="40" dirty="0">
                <a:latin typeface="Calibri"/>
                <a:cs typeface="Calibri"/>
              </a:rPr>
              <a:t> </a:t>
            </a:r>
            <a:r>
              <a:rPr sz="2600" dirty="0">
                <a:latin typeface="Calibri"/>
                <a:cs typeface="Calibri"/>
              </a:rPr>
              <a:t>limited</a:t>
            </a:r>
            <a:r>
              <a:rPr sz="2600" spc="40" dirty="0">
                <a:latin typeface="Calibri"/>
                <a:cs typeface="Calibri"/>
              </a:rPr>
              <a:t> </a:t>
            </a:r>
            <a:r>
              <a:rPr sz="2600" dirty="0">
                <a:latin typeface="Calibri"/>
                <a:cs typeface="Calibri"/>
              </a:rPr>
              <a:t>somewhat</a:t>
            </a:r>
            <a:r>
              <a:rPr sz="2600" spc="45" dirty="0">
                <a:latin typeface="Calibri"/>
                <a:cs typeface="Calibri"/>
              </a:rPr>
              <a:t> </a:t>
            </a:r>
            <a:r>
              <a:rPr sz="2600" dirty="0">
                <a:latin typeface="Calibri"/>
                <a:cs typeface="Calibri"/>
              </a:rPr>
              <a:t>to</a:t>
            </a:r>
            <a:r>
              <a:rPr sz="2600" spc="50" dirty="0">
                <a:latin typeface="Calibri"/>
                <a:cs typeface="Calibri"/>
              </a:rPr>
              <a:t> </a:t>
            </a:r>
            <a:r>
              <a:rPr sz="2600" dirty="0">
                <a:latin typeface="Calibri"/>
                <a:cs typeface="Calibri"/>
              </a:rPr>
              <a:t>the</a:t>
            </a:r>
            <a:r>
              <a:rPr sz="2600" spc="40" dirty="0">
                <a:latin typeface="Calibri"/>
                <a:cs typeface="Calibri"/>
              </a:rPr>
              <a:t> </a:t>
            </a:r>
            <a:r>
              <a:rPr sz="2600" dirty="0">
                <a:latin typeface="Calibri"/>
                <a:cs typeface="Calibri"/>
              </a:rPr>
              <a:t>talents</a:t>
            </a:r>
            <a:r>
              <a:rPr sz="2600" spc="40" dirty="0">
                <a:latin typeface="Calibri"/>
                <a:cs typeface="Calibri"/>
              </a:rPr>
              <a:t> </a:t>
            </a:r>
            <a:r>
              <a:rPr sz="2600" dirty="0">
                <a:latin typeface="Calibri"/>
                <a:cs typeface="Calibri"/>
              </a:rPr>
              <a:t>and</a:t>
            </a:r>
            <a:r>
              <a:rPr sz="2600" spc="45" dirty="0">
                <a:latin typeface="Calibri"/>
                <a:cs typeface="Calibri"/>
              </a:rPr>
              <a:t> </a:t>
            </a:r>
            <a:r>
              <a:rPr sz="2600" dirty="0">
                <a:latin typeface="Calibri"/>
                <a:cs typeface="Calibri"/>
              </a:rPr>
              <a:t>experience</a:t>
            </a:r>
            <a:r>
              <a:rPr sz="2600" spc="40" dirty="0">
                <a:latin typeface="Calibri"/>
                <a:cs typeface="Calibri"/>
              </a:rPr>
              <a:t> </a:t>
            </a:r>
            <a:r>
              <a:rPr sz="2600" dirty="0">
                <a:latin typeface="Calibri"/>
                <a:cs typeface="Calibri"/>
              </a:rPr>
              <a:t>of</a:t>
            </a:r>
            <a:r>
              <a:rPr sz="2600" spc="40" dirty="0">
                <a:latin typeface="Calibri"/>
                <a:cs typeface="Calibri"/>
              </a:rPr>
              <a:t> </a:t>
            </a:r>
            <a:r>
              <a:rPr sz="2600" spc="-25" dirty="0">
                <a:latin typeface="Calibri"/>
                <a:cs typeface="Calibri"/>
              </a:rPr>
              <a:t>the 	</a:t>
            </a:r>
            <a:r>
              <a:rPr sz="2600" dirty="0">
                <a:latin typeface="Calibri"/>
                <a:cs typeface="Calibri"/>
              </a:rPr>
              <a:t>specialists</a:t>
            </a:r>
            <a:r>
              <a:rPr sz="2600" spc="260" dirty="0">
                <a:latin typeface="Calibri"/>
                <a:cs typeface="Calibri"/>
              </a:rPr>
              <a:t> </a:t>
            </a:r>
            <a:r>
              <a:rPr sz="2600" dirty="0">
                <a:latin typeface="Calibri"/>
                <a:cs typeface="Calibri"/>
              </a:rPr>
              <a:t>assigned</a:t>
            </a:r>
            <a:r>
              <a:rPr sz="2600" spc="265" dirty="0">
                <a:latin typeface="Calibri"/>
                <a:cs typeface="Calibri"/>
              </a:rPr>
              <a:t> </a:t>
            </a:r>
            <a:r>
              <a:rPr sz="2600" dirty="0">
                <a:latin typeface="Calibri"/>
                <a:cs typeface="Calibri"/>
              </a:rPr>
              <a:t>to</a:t>
            </a:r>
            <a:r>
              <a:rPr sz="2600" spc="275" dirty="0">
                <a:latin typeface="Calibri"/>
                <a:cs typeface="Calibri"/>
              </a:rPr>
              <a:t> </a:t>
            </a:r>
            <a:r>
              <a:rPr sz="2600" dirty="0">
                <a:latin typeface="Calibri"/>
                <a:cs typeface="Calibri"/>
              </a:rPr>
              <a:t>the</a:t>
            </a:r>
            <a:r>
              <a:rPr sz="2600" spc="265" dirty="0">
                <a:latin typeface="Calibri"/>
                <a:cs typeface="Calibri"/>
              </a:rPr>
              <a:t> </a:t>
            </a:r>
            <a:r>
              <a:rPr sz="2600" dirty="0">
                <a:latin typeface="Calibri"/>
                <a:cs typeface="Calibri"/>
              </a:rPr>
              <a:t>project.</a:t>
            </a:r>
            <a:r>
              <a:rPr sz="2600" spc="275" dirty="0">
                <a:latin typeface="Calibri"/>
                <a:cs typeface="Calibri"/>
              </a:rPr>
              <a:t> </a:t>
            </a:r>
            <a:r>
              <a:rPr sz="2600" dirty="0">
                <a:latin typeface="Calibri"/>
                <a:cs typeface="Calibri"/>
              </a:rPr>
              <a:t>While</a:t>
            </a:r>
            <a:r>
              <a:rPr sz="2600" spc="260" dirty="0">
                <a:latin typeface="Calibri"/>
                <a:cs typeface="Calibri"/>
              </a:rPr>
              <a:t> </a:t>
            </a:r>
            <a:r>
              <a:rPr sz="2600" dirty="0">
                <a:latin typeface="Calibri"/>
                <a:cs typeface="Calibri"/>
              </a:rPr>
              <a:t>nothing</a:t>
            </a:r>
            <a:r>
              <a:rPr sz="2600" spc="270" dirty="0">
                <a:latin typeface="Calibri"/>
                <a:cs typeface="Calibri"/>
              </a:rPr>
              <a:t> </a:t>
            </a:r>
            <a:r>
              <a:rPr sz="2600" dirty="0">
                <a:latin typeface="Calibri"/>
                <a:cs typeface="Calibri"/>
              </a:rPr>
              <a:t>prevents</a:t>
            </a:r>
            <a:r>
              <a:rPr sz="2600" spc="265" dirty="0">
                <a:latin typeface="Calibri"/>
                <a:cs typeface="Calibri"/>
              </a:rPr>
              <a:t> </a:t>
            </a:r>
            <a:r>
              <a:rPr sz="2600" dirty="0">
                <a:latin typeface="Calibri"/>
                <a:cs typeface="Calibri"/>
              </a:rPr>
              <a:t>specialists</a:t>
            </a:r>
            <a:r>
              <a:rPr sz="2600" spc="270" dirty="0">
                <a:latin typeface="Calibri"/>
                <a:cs typeface="Calibri"/>
              </a:rPr>
              <a:t> </a:t>
            </a:r>
            <a:r>
              <a:rPr sz="2600" spc="-20" dirty="0">
                <a:latin typeface="Calibri"/>
                <a:cs typeface="Calibri"/>
              </a:rPr>
              <a:t>from 	</a:t>
            </a:r>
            <a:r>
              <a:rPr sz="2600" dirty="0">
                <a:latin typeface="Calibri"/>
                <a:cs typeface="Calibri"/>
              </a:rPr>
              <a:t>consulting</a:t>
            </a:r>
            <a:r>
              <a:rPr sz="2600" spc="55" dirty="0">
                <a:latin typeface="Calibri"/>
                <a:cs typeface="Calibri"/>
              </a:rPr>
              <a:t> </a:t>
            </a:r>
            <a:r>
              <a:rPr sz="2600" dirty="0">
                <a:latin typeface="Calibri"/>
                <a:cs typeface="Calibri"/>
              </a:rPr>
              <a:t>with</a:t>
            </a:r>
            <a:r>
              <a:rPr sz="2600" spc="55" dirty="0">
                <a:latin typeface="Calibri"/>
                <a:cs typeface="Calibri"/>
              </a:rPr>
              <a:t> </a:t>
            </a:r>
            <a:r>
              <a:rPr sz="2600" dirty="0">
                <a:latin typeface="Calibri"/>
                <a:cs typeface="Calibri"/>
              </a:rPr>
              <a:t>others</a:t>
            </a:r>
            <a:r>
              <a:rPr sz="2600" spc="55" dirty="0">
                <a:latin typeface="Calibri"/>
                <a:cs typeface="Calibri"/>
              </a:rPr>
              <a:t> </a:t>
            </a:r>
            <a:r>
              <a:rPr sz="2600" dirty="0">
                <a:latin typeface="Calibri"/>
                <a:cs typeface="Calibri"/>
              </a:rPr>
              <a:t>in</a:t>
            </a:r>
            <a:r>
              <a:rPr sz="2600" spc="55" dirty="0">
                <a:latin typeface="Calibri"/>
                <a:cs typeface="Calibri"/>
              </a:rPr>
              <a:t> </a:t>
            </a:r>
            <a:r>
              <a:rPr sz="2600" dirty="0">
                <a:latin typeface="Calibri"/>
                <a:cs typeface="Calibri"/>
              </a:rPr>
              <a:t>the</a:t>
            </a:r>
            <a:r>
              <a:rPr sz="2600" spc="55" dirty="0">
                <a:latin typeface="Calibri"/>
                <a:cs typeface="Calibri"/>
              </a:rPr>
              <a:t> </a:t>
            </a:r>
            <a:r>
              <a:rPr sz="2600" dirty="0">
                <a:latin typeface="Calibri"/>
                <a:cs typeface="Calibri"/>
              </a:rPr>
              <a:t>functional</a:t>
            </a:r>
            <a:r>
              <a:rPr sz="2600" spc="55" dirty="0">
                <a:latin typeface="Calibri"/>
                <a:cs typeface="Calibri"/>
              </a:rPr>
              <a:t> </a:t>
            </a:r>
            <a:r>
              <a:rPr sz="2600" dirty="0">
                <a:latin typeface="Calibri"/>
                <a:cs typeface="Calibri"/>
              </a:rPr>
              <a:t>division,</a:t>
            </a:r>
            <a:r>
              <a:rPr sz="2600" spc="55" dirty="0">
                <a:latin typeface="Calibri"/>
                <a:cs typeface="Calibri"/>
              </a:rPr>
              <a:t> </a:t>
            </a:r>
            <a:r>
              <a:rPr sz="2600" dirty="0">
                <a:latin typeface="Calibri"/>
                <a:cs typeface="Calibri"/>
              </a:rPr>
              <a:t>the</a:t>
            </a:r>
            <a:r>
              <a:rPr sz="2600" spc="55" dirty="0">
                <a:latin typeface="Calibri"/>
                <a:cs typeface="Calibri"/>
              </a:rPr>
              <a:t> </a:t>
            </a:r>
            <a:r>
              <a:rPr sz="2600" dirty="0">
                <a:latin typeface="Calibri"/>
                <a:cs typeface="Calibri"/>
              </a:rPr>
              <a:t>we–they</a:t>
            </a:r>
            <a:r>
              <a:rPr sz="2600" spc="60" dirty="0">
                <a:latin typeface="Calibri"/>
                <a:cs typeface="Calibri"/>
              </a:rPr>
              <a:t> </a:t>
            </a:r>
            <a:r>
              <a:rPr sz="2600" dirty="0">
                <a:latin typeface="Calibri"/>
                <a:cs typeface="Calibri"/>
              </a:rPr>
              <a:t>syndrome</a:t>
            </a:r>
            <a:r>
              <a:rPr sz="2600" spc="45" dirty="0">
                <a:latin typeface="Calibri"/>
                <a:cs typeface="Calibri"/>
              </a:rPr>
              <a:t> </a:t>
            </a:r>
            <a:r>
              <a:rPr sz="2600" spc="-25" dirty="0">
                <a:latin typeface="Calibri"/>
                <a:cs typeface="Calibri"/>
              </a:rPr>
              <a:t>and 	</a:t>
            </a:r>
            <a:r>
              <a:rPr sz="2600" dirty="0">
                <a:latin typeface="Calibri"/>
                <a:cs typeface="Calibri"/>
              </a:rPr>
              <a:t>the</a:t>
            </a:r>
            <a:r>
              <a:rPr sz="2600" spc="90" dirty="0">
                <a:latin typeface="Calibri"/>
                <a:cs typeface="Calibri"/>
              </a:rPr>
              <a:t>  </a:t>
            </a:r>
            <a:r>
              <a:rPr sz="2600" dirty="0">
                <a:latin typeface="Calibri"/>
                <a:cs typeface="Calibri"/>
              </a:rPr>
              <a:t>fact</a:t>
            </a:r>
            <a:r>
              <a:rPr sz="2600" spc="95" dirty="0">
                <a:latin typeface="Calibri"/>
                <a:cs typeface="Calibri"/>
              </a:rPr>
              <a:t>  </a:t>
            </a:r>
            <a:r>
              <a:rPr sz="2600" dirty="0">
                <a:latin typeface="Calibri"/>
                <a:cs typeface="Calibri"/>
              </a:rPr>
              <a:t>that</a:t>
            </a:r>
            <a:r>
              <a:rPr sz="2600" spc="100" dirty="0">
                <a:latin typeface="Calibri"/>
                <a:cs typeface="Calibri"/>
              </a:rPr>
              <a:t>  </a:t>
            </a:r>
            <a:r>
              <a:rPr sz="2600" dirty="0">
                <a:latin typeface="Calibri"/>
                <a:cs typeface="Calibri"/>
              </a:rPr>
              <a:t>such</a:t>
            </a:r>
            <a:r>
              <a:rPr sz="2600" spc="90" dirty="0">
                <a:latin typeface="Calibri"/>
                <a:cs typeface="Calibri"/>
              </a:rPr>
              <a:t>  </a:t>
            </a:r>
            <a:r>
              <a:rPr sz="2600" dirty="0">
                <a:latin typeface="Calibri"/>
                <a:cs typeface="Calibri"/>
              </a:rPr>
              <a:t>help</a:t>
            </a:r>
            <a:r>
              <a:rPr sz="2600" spc="90" dirty="0">
                <a:latin typeface="Calibri"/>
                <a:cs typeface="Calibri"/>
              </a:rPr>
              <a:t>  </a:t>
            </a:r>
            <a:r>
              <a:rPr sz="2600" dirty="0">
                <a:latin typeface="Calibri"/>
                <a:cs typeface="Calibri"/>
              </a:rPr>
              <a:t>is</a:t>
            </a:r>
            <a:r>
              <a:rPr sz="2600" spc="90" dirty="0">
                <a:latin typeface="Calibri"/>
                <a:cs typeface="Calibri"/>
              </a:rPr>
              <a:t>  </a:t>
            </a:r>
            <a:r>
              <a:rPr sz="2600" dirty="0">
                <a:latin typeface="Calibri"/>
                <a:cs typeface="Calibri"/>
              </a:rPr>
              <a:t>not</a:t>
            </a:r>
            <a:r>
              <a:rPr sz="2600" spc="95" dirty="0">
                <a:latin typeface="Calibri"/>
                <a:cs typeface="Calibri"/>
              </a:rPr>
              <a:t>  </a:t>
            </a:r>
            <a:r>
              <a:rPr sz="2600" dirty="0">
                <a:latin typeface="Calibri"/>
                <a:cs typeface="Calibri"/>
              </a:rPr>
              <a:t>formally</a:t>
            </a:r>
            <a:r>
              <a:rPr sz="2600" spc="95" dirty="0">
                <a:latin typeface="Calibri"/>
                <a:cs typeface="Calibri"/>
              </a:rPr>
              <a:t>  </a:t>
            </a:r>
            <a:r>
              <a:rPr sz="2600" dirty="0">
                <a:latin typeface="Calibri"/>
                <a:cs typeface="Calibri"/>
              </a:rPr>
              <a:t>sanctioned</a:t>
            </a:r>
            <a:r>
              <a:rPr sz="2600" spc="90" dirty="0">
                <a:latin typeface="Calibri"/>
                <a:cs typeface="Calibri"/>
              </a:rPr>
              <a:t>  </a:t>
            </a:r>
            <a:r>
              <a:rPr sz="2600" dirty="0">
                <a:latin typeface="Calibri"/>
                <a:cs typeface="Calibri"/>
              </a:rPr>
              <a:t>by</a:t>
            </a:r>
            <a:r>
              <a:rPr sz="2600" spc="95" dirty="0">
                <a:latin typeface="Calibri"/>
                <a:cs typeface="Calibri"/>
              </a:rPr>
              <a:t>  </a:t>
            </a:r>
            <a:r>
              <a:rPr sz="2600" dirty="0">
                <a:latin typeface="Calibri"/>
                <a:cs typeface="Calibri"/>
              </a:rPr>
              <a:t>the</a:t>
            </a:r>
            <a:r>
              <a:rPr sz="2600" spc="90" dirty="0">
                <a:latin typeface="Calibri"/>
                <a:cs typeface="Calibri"/>
              </a:rPr>
              <a:t>  </a:t>
            </a:r>
            <a:r>
              <a:rPr sz="2600" spc="-10" dirty="0">
                <a:latin typeface="Calibri"/>
                <a:cs typeface="Calibri"/>
              </a:rPr>
              <a:t>organization 	discourage</a:t>
            </a:r>
            <a:r>
              <a:rPr sz="2600" spc="-70" dirty="0">
                <a:latin typeface="Calibri"/>
                <a:cs typeface="Calibri"/>
              </a:rPr>
              <a:t> </a:t>
            </a:r>
            <a:r>
              <a:rPr sz="2600" dirty="0">
                <a:latin typeface="Calibri"/>
                <a:cs typeface="Calibri"/>
              </a:rPr>
              <a:t>this</a:t>
            </a:r>
            <a:r>
              <a:rPr sz="2600" spc="-60" dirty="0">
                <a:latin typeface="Calibri"/>
                <a:cs typeface="Calibri"/>
              </a:rPr>
              <a:t> </a:t>
            </a:r>
            <a:r>
              <a:rPr sz="2600" dirty="0">
                <a:latin typeface="Calibri"/>
                <a:cs typeface="Calibri"/>
              </a:rPr>
              <a:t>from</a:t>
            </a:r>
            <a:r>
              <a:rPr sz="2600" spc="-60" dirty="0">
                <a:latin typeface="Calibri"/>
                <a:cs typeface="Calibri"/>
              </a:rPr>
              <a:t> </a:t>
            </a:r>
            <a:r>
              <a:rPr sz="2600" spc="-10" dirty="0">
                <a:latin typeface="Calibri"/>
                <a:cs typeface="Calibri"/>
              </a:rPr>
              <a:t>happening</a:t>
            </a:r>
            <a:endParaRPr sz="2600">
              <a:latin typeface="Calibri"/>
              <a:cs typeface="Calibri"/>
            </a:endParaRPr>
          </a:p>
          <a:p>
            <a:pPr marL="646430" marR="5080" lvl="1" indent="-379730" algn="just">
              <a:lnSpc>
                <a:spcPts val="2500"/>
              </a:lnSpc>
              <a:spcBef>
                <a:spcPts val="985"/>
              </a:spcBef>
              <a:buAutoNum type="arabicPeriod" startAt="3"/>
              <a:tabLst>
                <a:tab pos="647700" algn="l"/>
              </a:tabLst>
            </a:pPr>
            <a:r>
              <a:rPr sz="2600" b="1" dirty="0">
                <a:latin typeface="Calibri"/>
                <a:cs typeface="Calibri"/>
              </a:rPr>
              <a:t>Difficult</a:t>
            </a:r>
            <a:r>
              <a:rPr sz="2600" b="1" spc="320" dirty="0">
                <a:latin typeface="Calibri"/>
                <a:cs typeface="Calibri"/>
              </a:rPr>
              <a:t> </a:t>
            </a:r>
            <a:r>
              <a:rPr sz="2600" b="1" spc="-45" dirty="0">
                <a:latin typeface="Calibri"/>
                <a:cs typeface="Calibri"/>
              </a:rPr>
              <a:t>Post-</a:t>
            </a:r>
            <a:r>
              <a:rPr sz="2600" b="1" dirty="0">
                <a:latin typeface="Calibri"/>
                <a:cs typeface="Calibri"/>
              </a:rPr>
              <a:t>Project</a:t>
            </a:r>
            <a:r>
              <a:rPr sz="2600" b="1" spc="325" dirty="0">
                <a:latin typeface="Calibri"/>
                <a:cs typeface="Calibri"/>
              </a:rPr>
              <a:t> </a:t>
            </a:r>
            <a:r>
              <a:rPr sz="2600" b="1" dirty="0">
                <a:latin typeface="Calibri"/>
                <a:cs typeface="Calibri"/>
              </a:rPr>
              <a:t>Transition.</a:t>
            </a:r>
            <a:r>
              <a:rPr sz="2600" b="1" spc="330" dirty="0">
                <a:latin typeface="Calibri"/>
                <a:cs typeface="Calibri"/>
              </a:rPr>
              <a:t> </a:t>
            </a:r>
            <a:r>
              <a:rPr sz="2600" dirty="0">
                <a:latin typeface="Calibri"/>
                <a:cs typeface="Calibri"/>
              </a:rPr>
              <a:t>Assigning</a:t>
            </a:r>
            <a:r>
              <a:rPr sz="2600" spc="325" dirty="0">
                <a:latin typeface="Calibri"/>
                <a:cs typeface="Calibri"/>
              </a:rPr>
              <a:t> </a:t>
            </a:r>
            <a:r>
              <a:rPr sz="2600" spc="-10" dirty="0">
                <a:latin typeface="Calibri"/>
                <a:cs typeface="Calibri"/>
              </a:rPr>
              <a:t>full-</a:t>
            </a:r>
            <a:r>
              <a:rPr sz="2600" dirty="0">
                <a:latin typeface="Calibri"/>
                <a:cs typeface="Calibri"/>
              </a:rPr>
              <a:t>time</a:t>
            </a:r>
            <a:r>
              <a:rPr sz="2600" spc="320" dirty="0">
                <a:latin typeface="Calibri"/>
                <a:cs typeface="Calibri"/>
              </a:rPr>
              <a:t> </a:t>
            </a:r>
            <a:r>
              <a:rPr sz="2600" dirty="0">
                <a:latin typeface="Calibri"/>
                <a:cs typeface="Calibri"/>
              </a:rPr>
              <a:t>personnel</a:t>
            </a:r>
            <a:r>
              <a:rPr sz="2600" spc="325" dirty="0">
                <a:latin typeface="Calibri"/>
                <a:cs typeface="Calibri"/>
              </a:rPr>
              <a:t> </a:t>
            </a:r>
            <a:r>
              <a:rPr sz="2600" dirty="0">
                <a:latin typeface="Calibri"/>
                <a:cs typeface="Calibri"/>
              </a:rPr>
              <a:t>to</a:t>
            </a:r>
            <a:r>
              <a:rPr sz="2600" spc="335" dirty="0">
                <a:latin typeface="Calibri"/>
                <a:cs typeface="Calibri"/>
              </a:rPr>
              <a:t> </a:t>
            </a:r>
            <a:r>
              <a:rPr sz="2600" dirty="0">
                <a:latin typeface="Calibri"/>
                <a:cs typeface="Calibri"/>
              </a:rPr>
              <a:t>a</a:t>
            </a:r>
            <a:r>
              <a:rPr sz="2600" spc="330" dirty="0">
                <a:latin typeface="Calibri"/>
                <a:cs typeface="Calibri"/>
              </a:rPr>
              <a:t> </a:t>
            </a:r>
            <a:r>
              <a:rPr sz="2600" spc="-10" dirty="0">
                <a:latin typeface="Calibri"/>
                <a:cs typeface="Calibri"/>
              </a:rPr>
              <a:t>project 	</a:t>
            </a:r>
            <a:r>
              <a:rPr sz="2600" dirty="0">
                <a:latin typeface="Calibri"/>
                <a:cs typeface="Calibri"/>
              </a:rPr>
              <a:t>creates</a:t>
            </a:r>
            <a:r>
              <a:rPr sz="2600" spc="635" dirty="0">
                <a:latin typeface="Calibri"/>
                <a:cs typeface="Calibri"/>
              </a:rPr>
              <a:t> </a:t>
            </a:r>
            <a:r>
              <a:rPr sz="2600" dirty="0">
                <a:latin typeface="Calibri"/>
                <a:cs typeface="Calibri"/>
              </a:rPr>
              <a:t>the</a:t>
            </a:r>
            <a:r>
              <a:rPr sz="2600" spc="645" dirty="0">
                <a:latin typeface="Calibri"/>
                <a:cs typeface="Calibri"/>
              </a:rPr>
              <a:t> </a:t>
            </a:r>
            <a:r>
              <a:rPr sz="2600" dirty="0">
                <a:latin typeface="Calibri"/>
                <a:cs typeface="Calibri"/>
              </a:rPr>
              <a:t>dilemma</a:t>
            </a:r>
            <a:r>
              <a:rPr sz="2600" spc="30" dirty="0">
                <a:latin typeface="Calibri"/>
                <a:cs typeface="Calibri"/>
              </a:rPr>
              <a:t>  </a:t>
            </a:r>
            <a:r>
              <a:rPr sz="2600" dirty="0">
                <a:latin typeface="Calibri"/>
                <a:cs typeface="Calibri"/>
              </a:rPr>
              <a:t>of</a:t>
            </a:r>
            <a:r>
              <a:rPr sz="2600" spc="640" dirty="0">
                <a:latin typeface="Calibri"/>
                <a:cs typeface="Calibri"/>
              </a:rPr>
              <a:t> </a:t>
            </a:r>
            <a:r>
              <a:rPr sz="2600" dirty="0">
                <a:latin typeface="Calibri"/>
                <a:cs typeface="Calibri"/>
              </a:rPr>
              <a:t>what</a:t>
            </a:r>
            <a:r>
              <a:rPr sz="2600" spc="30" dirty="0">
                <a:latin typeface="Calibri"/>
                <a:cs typeface="Calibri"/>
              </a:rPr>
              <a:t>  </a:t>
            </a:r>
            <a:r>
              <a:rPr sz="2600" dirty="0">
                <a:latin typeface="Calibri"/>
                <a:cs typeface="Calibri"/>
              </a:rPr>
              <a:t>to</a:t>
            </a:r>
            <a:r>
              <a:rPr sz="2600" spc="30" dirty="0">
                <a:latin typeface="Calibri"/>
                <a:cs typeface="Calibri"/>
              </a:rPr>
              <a:t>  </a:t>
            </a:r>
            <a:r>
              <a:rPr sz="2600" dirty="0">
                <a:latin typeface="Calibri"/>
                <a:cs typeface="Calibri"/>
              </a:rPr>
              <a:t>do</a:t>
            </a:r>
            <a:r>
              <a:rPr sz="2600" spc="30" dirty="0">
                <a:latin typeface="Calibri"/>
                <a:cs typeface="Calibri"/>
              </a:rPr>
              <a:t>  </a:t>
            </a:r>
            <a:r>
              <a:rPr sz="2600" dirty="0">
                <a:latin typeface="Calibri"/>
                <a:cs typeface="Calibri"/>
              </a:rPr>
              <a:t>with</a:t>
            </a:r>
            <a:r>
              <a:rPr sz="2600" spc="645" dirty="0">
                <a:latin typeface="Calibri"/>
                <a:cs typeface="Calibri"/>
              </a:rPr>
              <a:t> </a:t>
            </a:r>
            <a:r>
              <a:rPr sz="2600" dirty="0">
                <a:latin typeface="Calibri"/>
                <a:cs typeface="Calibri"/>
              </a:rPr>
              <a:t>personnel</a:t>
            </a:r>
            <a:r>
              <a:rPr sz="2600" spc="645" dirty="0">
                <a:latin typeface="Calibri"/>
                <a:cs typeface="Calibri"/>
              </a:rPr>
              <a:t> </a:t>
            </a:r>
            <a:r>
              <a:rPr sz="2600" dirty="0">
                <a:latin typeface="Calibri"/>
                <a:cs typeface="Calibri"/>
              </a:rPr>
              <a:t>after</a:t>
            </a:r>
            <a:r>
              <a:rPr sz="2600" spc="30" dirty="0">
                <a:latin typeface="Calibri"/>
                <a:cs typeface="Calibri"/>
              </a:rPr>
              <a:t>  </a:t>
            </a:r>
            <a:r>
              <a:rPr sz="2600" dirty="0">
                <a:latin typeface="Calibri"/>
                <a:cs typeface="Calibri"/>
              </a:rPr>
              <a:t>the</a:t>
            </a:r>
            <a:r>
              <a:rPr sz="2600" spc="645" dirty="0">
                <a:latin typeface="Calibri"/>
                <a:cs typeface="Calibri"/>
              </a:rPr>
              <a:t> </a:t>
            </a:r>
            <a:r>
              <a:rPr sz="2600" dirty="0">
                <a:latin typeface="Calibri"/>
                <a:cs typeface="Calibri"/>
              </a:rPr>
              <a:t>project</a:t>
            </a:r>
            <a:r>
              <a:rPr sz="2600" spc="30" dirty="0">
                <a:latin typeface="Calibri"/>
                <a:cs typeface="Calibri"/>
              </a:rPr>
              <a:t>  </a:t>
            </a:r>
            <a:r>
              <a:rPr sz="2600" spc="-25" dirty="0">
                <a:latin typeface="Calibri"/>
                <a:cs typeface="Calibri"/>
              </a:rPr>
              <a:t>is 	</a:t>
            </a:r>
            <a:r>
              <a:rPr sz="2600" dirty="0">
                <a:latin typeface="Calibri"/>
                <a:cs typeface="Calibri"/>
              </a:rPr>
              <a:t>completed.</a:t>
            </a:r>
            <a:r>
              <a:rPr sz="2600" spc="55" dirty="0">
                <a:latin typeface="Calibri"/>
                <a:cs typeface="Calibri"/>
              </a:rPr>
              <a:t> </a:t>
            </a:r>
            <a:r>
              <a:rPr sz="2600" dirty="0">
                <a:latin typeface="Calibri"/>
                <a:cs typeface="Calibri"/>
              </a:rPr>
              <a:t>If</a:t>
            </a:r>
            <a:r>
              <a:rPr sz="2600" spc="50" dirty="0">
                <a:latin typeface="Calibri"/>
                <a:cs typeface="Calibri"/>
              </a:rPr>
              <a:t> </a:t>
            </a:r>
            <a:r>
              <a:rPr sz="2600" dirty="0">
                <a:latin typeface="Calibri"/>
                <a:cs typeface="Calibri"/>
              </a:rPr>
              <a:t>other</a:t>
            </a:r>
            <a:r>
              <a:rPr sz="2600" spc="60" dirty="0">
                <a:latin typeface="Calibri"/>
                <a:cs typeface="Calibri"/>
              </a:rPr>
              <a:t> </a:t>
            </a:r>
            <a:r>
              <a:rPr sz="2600" dirty="0">
                <a:latin typeface="Calibri"/>
                <a:cs typeface="Calibri"/>
              </a:rPr>
              <a:t>project</a:t>
            </a:r>
            <a:r>
              <a:rPr sz="2600" spc="55" dirty="0">
                <a:latin typeface="Calibri"/>
                <a:cs typeface="Calibri"/>
              </a:rPr>
              <a:t> </a:t>
            </a:r>
            <a:r>
              <a:rPr sz="2600" dirty="0">
                <a:latin typeface="Calibri"/>
                <a:cs typeface="Calibri"/>
              </a:rPr>
              <a:t>work</a:t>
            </a:r>
            <a:r>
              <a:rPr sz="2600" spc="60" dirty="0">
                <a:latin typeface="Calibri"/>
                <a:cs typeface="Calibri"/>
              </a:rPr>
              <a:t> </a:t>
            </a:r>
            <a:r>
              <a:rPr sz="2600" dirty="0">
                <a:latin typeface="Calibri"/>
                <a:cs typeface="Calibri"/>
              </a:rPr>
              <a:t>is</a:t>
            </a:r>
            <a:r>
              <a:rPr sz="2600" spc="45" dirty="0">
                <a:latin typeface="Calibri"/>
                <a:cs typeface="Calibri"/>
              </a:rPr>
              <a:t> </a:t>
            </a:r>
            <a:r>
              <a:rPr sz="2600" dirty="0">
                <a:latin typeface="Calibri"/>
                <a:cs typeface="Calibri"/>
              </a:rPr>
              <a:t>not</a:t>
            </a:r>
            <a:r>
              <a:rPr sz="2600" spc="60" dirty="0">
                <a:latin typeface="Calibri"/>
                <a:cs typeface="Calibri"/>
              </a:rPr>
              <a:t> </a:t>
            </a:r>
            <a:r>
              <a:rPr sz="2600" dirty="0">
                <a:latin typeface="Calibri"/>
                <a:cs typeface="Calibri"/>
              </a:rPr>
              <a:t>available,</a:t>
            </a:r>
            <a:r>
              <a:rPr sz="2600" spc="50" dirty="0">
                <a:latin typeface="Calibri"/>
                <a:cs typeface="Calibri"/>
              </a:rPr>
              <a:t> </a:t>
            </a:r>
            <a:r>
              <a:rPr sz="2600" dirty="0">
                <a:latin typeface="Calibri"/>
                <a:cs typeface="Calibri"/>
              </a:rPr>
              <a:t>then</a:t>
            </a:r>
            <a:r>
              <a:rPr sz="2600" spc="55" dirty="0">
                <a:latin typeface="Calibri"/>
                <a:cs typeface="Calibri"/>
              </a:rPr>
              <a:t> </a:t>
            </a:r>
            <a:r>
              <a:rPr sz="2600" dirty="0">
                <a:latin typeface="Calibri"/>
                <a:cs typeface="Calibri"/>
              </a:rPr>
              <a:t>the</a:t>
            </a:r>
            <a:r>
              <a:rPr sz="2600" spc="45" dirty="0">
                <a:latin typeface="Calibri"/>
                <a:cs typeface="Calibri"/>
              </a:rPr>
              <a:t> </a:t>
            </a:r>
            <a:r>
              <a:rPr sz="2600" dirty="0">
                <a:latin typeface="Calibri"/>
                <a:cs typeface="Calibri"/>
              </a:rPr>
              <a:t>transition</a:t>
            </a:r>
            <a:r>
              <a:rPr sz="2600" spc="55" dirty="0">
                <a:latin typeface="Calibri"/>
                <a:cs typeface="Calibri"/>
              </a:rPr>
              <a:t> </a:t>
            </a:r>
            <a:r>
              <a:rPr sz="2600" dirty="0">
                <a:latin typeface="Calibri"/>
                <a:cs typeface="Calibri"/>
              </a:rPr>
              <a:t>back</a:t>
            </a:r>
            <a:r>
              <a:rPr sz="2600" spc="60" dirty="0">
                <a:latin typeface="Calibri"/>
                <a:cs typeface="Calibri"/>
              </a:rPr>
              <a:t> </a:t>
            </a:r>
            <a:r>
              <a:rPr sz="2600" spc="-25" dirty="0">
                <a:latin typeface="Calibri"/>
                <a:cs typeface="Calibri"/>
              </a:rPr>
              <a:t>to 	</a:t>
            </a:r>
            <a:r>
              <a:rPr sz="2600" dirty="0">
                <a:latin typeface="Calibri"/>
                <a:cs typeface="Calibri"/>
              </a:rPr>
              <a:t>their</a:t>
            </a:r>
            <a:r>
              <a:rPr sz="2600" spc="114" dirty="0">
                <a:latin typeface="Calibri"/>
                <a:cs typeface="Calibri"/>
              </a:rPr>
              <a:t>  </a:t>
            </a:r>
            <a:r>
              <a:rPr sz="2600" dirty="0">
                <a:latin typeface="Calibri"/>
                <a:cs typeface="Calibri"/>
              </a:rPr>
              <a:t>original</a:t>
            </a:r>
            <a:r>
              <a:rPr sz="2600" spc="114" dirty="0">
                <a:latin typeface="Calibri"/>
                <a:cs typeface="Calibri"/>
              </a:rPr>
              <a:t>  </a:t>
            </a:r>
            <a:r>
              <a:rPr sz="2600" dirty="0">
                <a:latin typeface="Calibri"/>
                <a:cs typeface="Calibri"/>
              </a:rPr>
              <a:t>functional</a:t>
            </a:r>
            <a:r>
              <a:rPr sz="2600" spc="114" dirty="0">
                <a:latin typeface="Calibri"/>
                <a:cs typeface="Calibri"/>
              </a:rPr>
              <a:t>  </a:t>
            </a:r>
            <a:r>
              <a:rPr sz="2600" dirty="0">
                <a:latin typeface="Calibri"/>
                <a:cs typeface="Calibri"/>
              </a:rPr>
              <a:t>departments</a:t>
            </a:r>
            <a:r>
              <a:rPr sz="2600" spc="105" dirty="0">
                <a:latin typeface="Calibri"/>
                <a:cs typeface="Calibri"/>
              </a:rPr>
              <a:t>  </a:t>
            </a:r>
            <a:r>
              <a:rPr sz="2600" dirty="0">
                <a:latin typeface="Calibri"/>
                <a:cs typeface="Calibri"/>
              </a:rPr>
              <a:t>may</a:t>
            </a:r>
            <a:r>
              <a:rPr sz="2600" spc="114" dirty="0">
                <a:latin typeface="Calibri"/>
                <a:cs typeface="Calibri"/>
              </a:rPr>
              <a:t>  </a:t>
            </a:r>
            <a:r>
              <a:rPr sz="2600" dirty="0">
                <a:latin typeface="Calibri"/>
                <a:cs typeface="Calibri"/>
              </a:rPr>
              <a:t>be</a:t>
            </a:r>
            <a:r>
              <a:rPr sz="2600" spc="105" dirty="0">
                <a:latin typeface="Calibri"/>
                <a:cs typeface="Calibri"/>
              </a:rPr>
              <a:t>  </a:t>
            </a:r>
            <a:r>
              <a:rPr sz="2600" dirty="0">
                <a:latin typeface="Calibri"/>
                <a:cs typeface="Calibri"/>
              </a:rPr>
              <a:t>difficult</a:t>
            </a:r>
            <a:r>
              <a:rPr sz="2600" spc="114" dirty="0">
                <a:latin typeface="Calibri"/>
                <a:cs typeface="Calibri"/>
              </a:rPr>
              <a:t>  </a:t>
            </a:r>
            <a:r>
              <a:rPr sz="2600" dirty="0">
                <a:latin typeface="Calibri"/>
                <a:cs typeface="Calibri"/>
              </a:rPr>
              <a:t>because</a:t>
            </a:r>
            <a:r>
              <a:rPr sz="2600" spc="110" dirty="0">
                <a:latin typeface="Calibri"/>
                <a:cs typeface="Calibri"/>
              </a:rPr>
              <a:t>  </a:t>
            </a:r>
            <a:r>
              <a:rPr sz="2600" dirty="0">
                <a:latin typeface="Calibri"/>
                <a:cs typeface="Calibri"/>
              </a:rPr>
              <a:t>of</a:t>
            </a:r>
            <a:r>
              <a:rPr sz="2600" spc="110" dirty="0">
                <a:latin typeface="Calibri"/>
                <a:cs typeface="Calibri"/>
              </a:rPr>
              <a:t>  </a:t>
            </a:r>
            <a:r>
              <a:rPr sz="2600" spc="-10" dirty="0">
                <a:latin typeface="Calibri"/>
                <a:cs typeface="Calibri"/>
              </a:rPr>
              <a:t>their 	</a:t>
            </a:r>
            <a:r>
              <a:rPr sz="2600" dirty="0">
                <a:latin typeface="Calibri"/>
                <a:cs typeface="Calibri"/>
              </a:rPr>
              <a:t>prolonged</a:t>
            </a:r>
            <a:r>
              <a:rPr sz="2600" spc="254" dirty="0">
                <a:latin typeface="Calibri"/>
                <a:cs typeface="Calibri"/>
              </a:rPr>
              <a:t> </a:t>
            </a:r>
            <a:r>
              <a:rPr sz="2600" dirty="0">
                <a:latin typeface="Calibri"/>
                <a:cs typeface="Calibri"/>
              </a:rPr>
              <a:t>absence</a:t>
            </a:r>
            <a:r>
              <a:rPr sz="2600" spc="260" dirty="0">
                <a:latin typeface="Calibri"/>
                <a:cs typeface="Calibri"/>
              </a:rPr>
              <a:t> </a:t>
            </a:r>
            <a:r>
              <a:rPr sz="2600" dirty="0">
                <a:latin typeface="Calibri"/>
                <a:cs typeface="Calibri"/>
              </a:rPr>
              <a:t>and</a:t>
            </a:r>
            <a:r>
              <a:rPr sz="2600" spc="260" dirty="0">
                <a:latin typeface="Calibri"/>
                <a:cs typeface="Calibri"/>
              </a:rPr>
              <a:t> </a:t>
            </a:r>
            <a:r>
              <a:rPr sz="2600" dirty="0">
                <a:latin typeface="Calibri"/>
                <a:cs typeface="Calibri"/>
              </a:rPr>
              <a:t>the</a:t>
            </a:r>
            <a:r>
              <a:rPr sz="2600" spc="260" dirty="0">
                <a:latin typeface="Calibri"/>
                <a:cs typeface="Calibri"/>
              </a:rPr>
              <a:t> </a:t>
            </a:r>
            <a:r>
              <a:rPr sz="2600" dirty="0">
                <a:latin typeface="Calibri"/>
                <a:cs typeface="Calibri"/>
              </a:rPr>
              <a:t>need</a:t>
            </a:r>
            <a:r>
              <a:rPr sz="2600" spc="260" dirty="0">
                <a:latin typeface="Calibri"/>
                <a:cs typeface="Calibri"/>
              </a:rPr>
              <a:t> </a:t>
            </a:r>
            <a:r>
              <a:rPr sz="2600" dirty="0">
                <a:latin typeface="Calibri"/>
                <a:cs typeface="Calibri"/>
              </a:rPr>
              <a:t>to</a:t>
            </a:r>
            <a:r>
              <a:rPr sz="2600" spc="270" dirty="0">
                <a:latin typeface="Calibri"/>
                <a:cs typeface="Calibri"/>
              </a:rPr>
              <a:t> </a:t>
            </a:r>
            <a:r>
              <a:rPr sz="2600" dirty="0">
                <a:latin typeface="Calibri"/>
                <a:cs typeface="Calibri"/>
              </a:rPr>
              <a:t>catch</a:t>
            </a:r>
            <a:r>
              <a:rPr sz="2600" spc="260" dirty="0">
                <a:latin typeface="Calibri"/>
                <a:cs typeface="Calibri"/>
              </a:rPr>
              <a:t> </a:t>
            </a:r>
            <a:r>
              <a:rPr sz="2600" dirty="0">
                <a:latin typeface="Calibri"/>
                <a:cs typeface="Calibri"/>
              </a:rPr>
              <a:t>up</a:t>
            </a:r>
            <a:r>
              <a:rPr sz="2600" spc="260" dirty="0">
                <a:latin typeface="Calibri"/>
                <a:cs typeface="Calibri"/>
              </a:rPr>
              <a:t> </a:t>
            </a:r>
            <a:r>
              <a:rPr sz="2600" dirty="0">
                <a:latin typeface="Calibri"/>
                <a:cs typeface="Calibri"/>
              </a:rPr>
              <a:t>with</a:t>
            </a:r>
            <a:r>
              <a:rPr sz="2600" spc="265" dirty="0">
                <a:latin typeface="Calibri"/>
                <a:cs typeface="Calibri"/>
              </a:rPr>
              <a:t> </a:t>
            </a:r>
            <a:r>
              <a:rPr sz="2600" dirty="0">
                <a:latin typeface="Calibri"/>
                <a:cs typeface="Calibri"/>
              </a:rPr>
              <a:t>recent</a:t>
            </a:r>
            <a:r>
              <a:rPr sz="2600" spc="260" dirty="0">
                <a:latin typeface="Calibri"/>
                <a:cs typeface="Calibri"/>
              </a:rPr>
              <a:t> </a:t>
            </a:r>
            <a:r>
              <a:rPr sz="2600" dirty="0">
                <a:latin typeface="Calibri"/>
                <a:cs typeface="Calibri"/>
              </a:rPr>
              <a:t>developments</a:t>
            </a:r>
            <a:r>
              <a:rPr sz="2600" spc="260" dirty="0">
                <a:latin typeface="Calibri"/>
                <a:cs typeface="Calibri"/>
              </a:rPr>
              <a:t> </a:t>
            </a:r>
            <a:r>
              <a:rPr sz="2600" spc="-25" dirty="0">
                <a:latin typeface="Calibri"/>
                <a:cs typeface="Calibri"/>
              </a:rPr>
              <a:t>in</a:t>
            </a:r>
            <a:endParaRPr sz="2600">
              <a:latin typeface="Calibri"/>
              <a:cs typeface="Calibri"/>
            </a:endParaRPr>
          </a:p>
        </p:txBody>
      </p:sp>
      <p:sp>
        <p:nvSpPr>
          <p:cNvPr id="3" name="object 3"/>
          <p:cNvSpPr txBox="1"/>
          <p:nvPr/>
        </p:nvSpPr>
        <p:spPr>
          <a:xfrm>
            <a:off x="1551939" y="6167628"/>
            <a:ext cx="2762250" cy="421640"/>
          </a:xfrm>
          <a:prstGeom prst="rect">
            <a:avLst/>
          </a:prstGeom>
        </p:spPr>
        <p:txBody>
          <a:bodyPr vert="horz" wrap="square" lIns="0" tIns="12700" rIns="0" bIns="0" rtlCol="0">
            <a:spAutoFit/>
          </a:bodyPr>
          <a:lstStyle/>
          <a:p>
            <a:pPr marL="12700">
              <a:lnSpc>
                <a:spcPct val="100000"/>
              </a:lnSpc>
              <a:spcBef>
                <a:spcPts val="100"/>
              </a:spcBef>
            </a:pPr>
            <a:r>
              <a:rPr sz="2600" dirty="0">
                <a:latin typeface="Calibri"/>
                <a:cs typeface="Calibri"/>
              </a:rPr>
              <a:t>their</a:t>
            </a:r>
            <a:r>
              <a:rPr sz="2600" spc="-65" dirty="0">
                <a:latin typeface="Calibri"/>
                <a:cs typeface="Calibri"/>
              </a:rPr>
              <a:t> </a:t>
            </a:r>
            <a:r>
              <a:rPr sz="2600" dirty="0">
                <a:latin typeface="Calibri"/>
                <a:cs typeface="Calibri"/>
              </a:rPr>
              <a:t>functional</a:t>
            </a:r>
            <a:r>
              <a:rPr sz="2600" spc="-65" dirty="0">
                <a:latin typeface="Calibri"/>
                <a:cs typeface="Calibri"/>
              </a:rPr>
              <a:t> </a:t>
            </a:r>
            <a:r>
              <a:rPr sz="2600" spc="-20" dirty="0">
                <a:latin typeface="Calibri"/>
                <a:cs typeface="Calibri"/>
              </a:rPr>
              <a:t>area</a:t>
            </a:r>
            <a:endParaRPr sz="260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11</a:t>
            </a:r>
            <a:endParaRPr sz="1200">
              <a:latin typeface="Calibri"/>
              <a:cs typeface="Calibri"/>
            </a:endParaRPr>
          </a:p>
        </p:txBody>
      </p:sp>
      <p:sp>
        <p:nvSpPr>
          <p:cNvPr id="5" name="object 5"/>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Dedicated Project Teams </a:t>
            </a:r>
            <a:r>
              <a:rPr sz="2350" spc="50" dirty="0"/>
              <a:t>(5/5)</a:t>
            </a:r>
            <a:endParaRPr sz="2350" dirty="0"/>
          </a:p>
        </p:txBody>
      </p:sp>
      <p:pic>
        <p:nvPicPr>
          <p:cNvPr id="6" name="Picture 5">
            <a:extLst>
              <a:ext uri="{FF2B5EF4-FFF2-40B4-BE49-F238E27FC236}">
                <a16:creationId xmlns:a16="http://schemas.microsoft.com/office/drawing/2014/main" id="{430B97E2-A28C-3D4A-C305-4E49EC1F9B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Matrix Arrangement </a:t>
            </a:r>
            <a:r>
              <a:rPr sz="1950" spc="-10" dirty="0"/>
              <a:t>(1/5)</a:t>
            </a:r>
            <a:endParaRPr sz="1950" dirty="0"/>
          </a:p>
        </p:txBody>
      </p:sp>
      <p:sp>
        <p:nvSpPr>
          <p:cNvPr id="3" name="object 3"/>
          <p:cNvSpPr txBox="1"/>
          <p:nvPr/>
        </p:nvSpPr>
        <p:spPr>
          <a:xfrm>
            <a:off x="784419" y="1513332"/>
            <a:ext cx="10874375" cy="5216525"/>
          </a:xfrm>
          <a:prstGeom prst="rect">
            <a:avLst/>
          </a:prstGeom>
        </p:spPr>
        <p:txBody>
          <a:bodyPr vert="horz" wrap="square" lIns="0" tIns="58419" rIns="0" bIns="0" rtlCol="0">
            <a:spAutoFit/>
          </a:bodyPr>
          <a:lstStyle/>
          <a:p>
            <a:pPr marL="241300" indent="-228600" algn="just">
              <a:lnSpc>
                <a:spcPct val="100000"/>
              </a:lnSpc>
              <a:spcBef>
                <a:spcPts val="459"/>
              </a:spcBef>
              <a:buFont typeface="Arial MT"/>
              <a:buChar char="•"/>
              <a:tabLst>
                <a:tab pos="241300" algn="l"/>
              </a:tabLst>
            </a:pPr>
            <a:r>
              <a:rPr sz="2600" dirty="0">
                <a:latin typeface="Calibri"/>
                <a:cs typeface="Calibri"/>
              </a:rPr>
              <a:t>One</a:t>
            </a:r>
            <a:r>
              <a:rPr sz="2600" spc="-45" dirty="0">
                <a:latin typeface="Calibri"/>
                <a:cs typeface="Calibri"/>
              </a:rPr>
              <a:t> </a:t>
            </a:r>
            <a:r>
              <a:rPr sz="2600" dirty="0">
                <a:latin typeface="Calibri"/>
                <a:cs typeface="Calibri"/>
              </a:rPr>
              <a:t>of</a:t>
            </a:r>
            <a:r>
              <a:rPr sz="2600" spc="-50" dirty="0">
                <a:latin typeface="Calibri"/>
                <a:cs typeface="Calibri"/>
              </a:rPr>
              <a:t> </a:t>
            </a:r>
            <a:r>
              <a:rPr sz="2600" dirty="0">
                <a:latin typeface="Calibri"/>
                <a:cs typeface="Calibri"/>
              </a:rPr>
              <a:t>the</a:t>
            </a:r>
            <a:r>
              <a:rPr sz="2600" spc="-45" dirty="0">
                <a:latin typeface="Calibri"/>
                <a:cs typeface="Calibri"/>
              </a:rPr>
              <a:t> </a:t>
            </a:r>
            <a:r>
              <a:rPr sz="2600" dirty="0">
                <a:latin typeface="Calibri"/>
                <a:cs typeface="Calibri"/>
              </a:rPr>
              <a:t>biggest</a:t>
            </a:r>
            <a:r>
              <a:rPr sz="2600" spc="-35" dirty="0">
                <a:latin typeface="Calibri"/>
                <a:cs typeface="Calibri"/>
              </a:rPr>
              <a:t> </a:t>
            </a:r>
            <a:r>
              <a:rPr sz="2600" spc="-10" dirty="0">
                <a:latin typeface="Calibri"/>
                <a:cs typeface="Calibri"/>
              </a:rPr>
              <a:t>management</a:t>
            </a:r>
            <a:r>
              <a:rPr sz="2600" spc="-45" dirty="0">
                <a:latin typeface="Calibri"/>
                <a:cs typeface="Calibri"/>
              </a:rPr>
              <a:t> </a:t>
            </a:r>
            <a:r>
              <a:rPr sz="2600" spc="-10" dirty="0">
                <a:latin typeface="Calibri"/>
                <a:cs typeface="Calibri"/>
              </a:rPr>
              <a:t>innovations</a:t>
            </a:r>
            <a:r>
              <a:rPr sz="2600" spc="-40" dirty="0">
                <a:latin typeface="Calibri"/>
                <a:cs typeface="Calibri"/>
              </a:rPr>
              <a:t> </a:t>
            </a:r>
            <a:r>
              <a:rPr sz="2600" dirty="0">
                <a:latin typeface="Calibri"/>
                <a:cs typeface="Calibri"/>
              </a:rPr>
              <a:t>to</a:t>
            </a:r>
            <a:r>
              <a:rPr sz="2600" spc="-40" dirty="0">
                <a:latin typeface="Calibri"/>
                <a:cs typeface="Calibri"/>
              </a:rPr>
              <a:t> </a:t>
            </a:r>
            <a:r>
              <a:rPr sz="2600" dirty="0">
                <a:latin typeface="Calibri"/>
                <a:cs typeface="Calibri"/>
              </a:rPr>
              <a:t>emerge</a:t>
            </a:r>
            <a:r>
              <a:rPr sz="2600" spc="-50" dirty="0">
                <a:latin typeface="Calibri"/>
                <a:cs typeface="Calibri"/>
              </a:rPr>
              <a:t> </a:t>
            </a:r>
            <a:r>
              <a:rPr sz="2600" dirty="0">
                <a:latin typeface="Calibri"/>
                <a:cs typeface="Calibri"/>
              </a:rPr>
              <a:t>in</a:t>
            </a:r>
            <a:r>
              <a:rPr sz="2600" spc="-45" dirty="0">
                <a:latin typeface="Calibri"/>
                <a:cs typeface="Calibri"/>
              </a:rPr>
              <a:t> </a:t>
            </a:r>
            <a:r>
              <a:rPr sz="2600" dirty="0">
                <a:latin typeface="Calibri"/>
                <a:cs typeface="Calibri"/>
              </a:rPr>
              <a:t>the</a:t>
            </a:r>
            <a:r>
              <a:rPr sz="2600" spc="-45" dirty="0">
                <a:latin typeface="Calibri"/>
                <a:cs typeface="Calibri"/>
              </a:rPr>
              <a:t> </a:t>
            </a:r>
            <a:r>
              <a:rPr sz="2600" dirty="0">
                <a:latin typeface="Calibri"/>
                <a:cs typeface="Calibri"/>
              </a:rPr>
              <a:t>past</a:t>
            </a:r>
            <a:r>
              <a:rPr sz="2600" spc="-35" dirty="0">
                <a:latin typeface="Calibri"/>
                <a:cs typeface="Calibri"/>
              </a:rPr>
              <a:t> </a:t>
            </a:r>
            <a:r>
              <a:rPr sz="2600" dirty="0">
                <a:latin typeface="Calibri"/>
                <a:cs typeface="Calibri"/>
              </a:rPr>
              <a:t>40</a:t>
            </a:r>
            <a:r>
              <a:rPr sz="2600" spc="-50" dirty="0">
                <a:latin typeface="Calibri"/>
                <a:cs typeface="Calibri"/>
              </a:rPr>
              <a:t> </a:t>
            </a:r>
            <a:r>
              <a:rPr sz="2600" spc="-10" dirty="0">
                <a:latin typeface="Calibri"/>
                <a:cs typeface="Calibri"/>
              </a:rPr>
              <a:t>years</a:t>
            </a:r>
            <a:endParaRPr sz="2600" dirty="0">
              <a:latin typeface="Calibri"/>
              <a:cs typeface="Calibri"/>
            </a:endParaRPr>
          </a:p>
          <a:p>
            <a:pPr marL="241300" marR="5715" indent="-228600" algn="just">
              <a:lnSpc>
                <a:spcPts val="2520"/>
              </a:lnSpc>
              <a:spcBef>
                <a:spcPts val="940"/>
              </a:spcBef>
              <a:buFont typeface="Arial MT"/>
              <a:buChar char="•"/>
              <a:tabLst>
                <a:tab pos="241300" algn="l"/>
              </a:tabLst>
            </a:pPr>
            <a:r>
              <a:rPr sz="2600" dirty="0">
                <a:latin typeface="Calibri"/>
                <a:cs typeface="Calibri"/>
              </a:rPr>
              <a:t>It</a:t>
            </a:r>
            <a:r>
              <a:rPr sz="2600" spc="320" dirty="0">
                <a:latin typeface="Calibri"/>
                <a:cs typeface="Calibri"/>
              </a:rPr>
              <a:t> </a:t>
            </a:r>
            <a:r>
              <a:rPr sz="2600" dirty="0">
                <a:latin typeface="Calibri"/>
                <a:cs typeface="Calibri"/>
              </a:rPr>
              <a:t>is</a:t>
            </a:r>
            <a:r>
              <a:rPr sz="2600" spc="315" dirty="0">
                <a:latin typeface="Calibri"/>
                <a:cs typeface="Calibri"/>
              </a:rPr>
              <a:t> </a:t>
            </a:r>
            <a:r>
              <a:rPr sz="2600" dirty="0">
                <a:latin typeface="Calibri"/>
                <a:cs typeface="Calibri"/>
              </a:rPr>
              <a:t>a</a:t>
            </a:r>
            <a:r>
              <a:rPr sz="2600" spc="320" dirty="0">
                <a:latin typeface="Calibri"/>
                <a:cs typeface="Calibri"/>
              </a:rPr>
              <a:t> </a:t>
            </a:r>
            <a:r>
              <a:rPr sz="2600" dirty="0">
                <a:latin typeface="Calibri"/>
                <a:cs typeface="Calibri"/>
              </a:rPr>
              <a:t>hybrid</a:t>
            </a:r>
            <a:r>
              <a:rPr sz="2600" spc="315" dirty="0">
                <a:latin typeface="Calibri"/>
                <a:cs typeface="Calibri"/>
              </a:rPr>
              <a:t> </a:t>
            </a:r>
            <a:r>
              <a:rPr sz="2600" dirty="0">
                <a:latin typeface="Calibri"/>
                <a:cs typeface="Calibri"/>
              </a:rPr>
              <a:t>organizational</a:t>
            </a:r>
            <a:r>
              <a:rPr sz="2600" spc="320" dirty="0">
                <a:latin typeface="Calibri"/>
                <a:cs typeface="Calibri"/>
              </a:rPr>
              <a:t> </a:t>
            </a:r>
            <a:r>
              <a:rPr sz="2600" dirty="0">
                <a:latin typeface="Calibri"/>
                <a:cs typeface="Calibri"/>
              </a:rPr>
              <a:t>form</a:t>
            </a:r>
            <a:r>
              <a:rPr sz="2600" spc="320" dirty="0">
                <a:latin typeface="Calibri"/>
                <a:cs typeface="Calibri"/>
              </a:rPr>
              <a:t> </a:t>
            </a:r>
            <a:r>
              <a:rPr sz="2600" dirty="0">
                <a:latin typeface="Calibri"/>
                <a:cs typeface="Calibri"/>
              </a:rPr>
              <a:t>in</a:t>
            </a:r>
            <a:r>
              <a:rPr sz="2600" spc="310" dirty="0">
                <a:latin typeface="Calibri"/>
                <a:cs typeface="Calibri"/>
              </a:rPr>
              <a:t> </a:t>
            </a:r>
            <a:r>
              <a:rPr sz="2600" dirty="0">
                <a:latin typeface="Calibri"/>
                <a:cs typeface="Calibri"/>
              </a:rPr>
              <a:t>which</a:t>
            </a:r>
            <a:r>
              <a:rPr sz="2600" spc="315" dirty="0">
                <a:latin typeface="Calibri"/>
                <a:cs typeface="Calibri"/>
              </a:rPr>
              <a:t> </a:t>
            </a:r>
            <a:r>
              <a:rPr sz="2600" dirty="0">
                <a:latin typeface="Calibri"/>
                <a:cs typeface="Calibri"/>
              </a:rPr>
              <a:t>a</a:t>
            </a:r>
            <a:r>
              <a:rPr sz="2600" spc="325" dirty="0">
                <a:latin typeface="Calibri"/>
                <a:cs typeface="Calibri"/>
              </a:rPr>
              <a:t> </a:t>
            </a:r>
            <a:r>
              <a:rPr sz="2600" dirty="0">
                <a:latin typeface="Calibri"/>
                <a:cs typeface="Calibri"/>
              </a:rPr>
              <a:t>horizontal</a:t>
            </a:r>
            <a:r>
              <a:rPr sz="2600" spc="320" dirty="0">
                <a:latin typeface="Calibri"/>
                <a:cs typeface="Calibri"/>
              </a:rPr>
              <a:t> </a:t>
            </a:r>
            <a:r>
              <a:rPr sz="2600" dirty="0">
                <a:latin typeface="Calibri"/>
                <a:cs typeface="Calibri"/>
              </a:rPr>
              <a:t>project</a:t>
            </a:r>
            <a:r>
              <a:rPr sz="2600" spc="320" dirty="0">
                <a:latin typeface="Calibri"/>
                <a:cs typeface="Calibri"/>
              </a:rPr>
              <a:t> </a:t>
            </a:r>
            <a:r>
              <a:rPr sz="2600" spc="-10" dirty="0">
                <a:latin typeface="Calibri"/>
                <a:cs typeface="Calibri"/>
              </a:rPr>
              <a:t>management </a:t>
            </a:r>
            <a:r>
              <a:rPr sz="2600" dirty="0">
                <a:latin typeface="Calibri"/>
                <a:cs typeface="Calibri"/>
              </a:rPr>
              <a:t>structure</a:t>
            </a:r>
            <a:r>
              <a:rPr sz="2600" spc="-70" dirty="0">
                <a:latin typeface="Calibri"/>
                <a:cs typeface="Calibri"/>
              </a:rPr>
              <a:t> </a:t>
            </a:r>
            <a:r>
              <a:rPr sz="2600" dirty="0">
                <a:latin typeface="Calibri"/>
                <a:cs typeface="Calibri"/>
              </a:rPr>
              <a:t>is</a:t>
            </a:r>
            <a:r>
              <a:rPr sz="2600" spc="-70" dirty="0">
                <a:latin typeface="Calibri"/>
                <a:cs typeface="Calibri"/>
              </a:rPr>
              <a:t> </a:t>
            </a:r>
            <a:r>
              <a:rPr sz="2600" spc="-10" dirty="0">
                <a:latin typeface="Calibri"/>
                <a:cs typeface="Calibri"/>
              </a:rPr>
              <a:t>“overlaid”</a:t>
            </a:r>
            <a:r>
              <a:rPr sz="2600" spc="-65" dirty="0">
                <a:latin typeface="Calibri"/>
                <a:cs typeface="Calibri"/>
              </a:rPr>
              <a:t> </a:t>
            </a:r>
            <a:r>
              <a:rPr sz="2600" dirty="0">
                <a:latin typeface="Calibri"/>
                <a:cs typeface="Calibri"/>
              </a:rPr>
              <a:t>on</a:t>
            </a:r>
            <a:r>
              <a:rPr sz="2600" spc="-65" dirty="0">
                <a:latin typeface="Calibri"/>
                <a:cs typeface="Calibri"/>
              </a:rPr>
              <a:t> </a:t>
            </a:r>
            <a:r>
              <a:rPr sz="2600" dirty="0">
                <a:latin typeface="Calibri"/>
                <a:cs typeface="Calibri"/>
              </a:rPr>
              <a:t>the</a:t>
            </a:r>
            <a:r>
              <a:rPr sz="2600" spc="-65" dirty="0">
                <a:latin typeface="Calibri"/>
                <a:cs typeface="Calibri"/>
              </a:rPr>
              <a:t> </a:t>
            </a:r>
            <a:r>
              <a:rPr sz="2600" dirty="0">
                <a:latin typeface="Calibri"/>
                <a:cs typeface="Calibri"/>
              </a:rPr>
              <a:t>normal</a:t>
            </a:r>
            <a:r>
              <a:rPr sz="2600" spc="-65" dirty="0">
                <a:latin typeface="Calibri"/>
                <a:cs typeface="Calibri"/>
              </a:rPr>
              <a:t> </a:t>
            </a:r>
            <a:r>
              <a:rPr sz="2600" dirty="0">
                <a:latin typeface="Calibri"/>
                <a:cs typeface="Calibri"/>
              </a:rPr>
              <a:t>functional</a:t>
            </a:r>
            <a:r>
              <a:rPr sz="2600" spc="-60" dirty="0">
                <a:latin typeface="Calibri"/>
                <a:cs typeface="Calibri"/>
              </a:rPr>
              <a:t> </a:t>
            </a:r>
            <a:r>
              <a:rPr sz="2600" spc="-10" dirty="0">
                <a:latin typeface="Calibri"/>
                <a:cs typeface="Calibri"/>
              </a:rPr>
              <a:t>hierarchy.</a:t>
            </a:r>
            <a:endParaRPr sz="2600" dirty="0">
              <a:latin typeface="Calibri"/>
              <a:cs typeface="Calibri"/>
            </a:endParaRPr>
          </a:p>
          <a:p>
            <a:pPr marL="241300" marR="5080" indent="-228600" algn="just">
              <a:lnSpc>
                <a:spcPct val="80400"/>
              </a:lnSpc>
              <a:spcBef>
                <a:spcPts val="990"/>
              </a:spcBef>
              <a:buFont typeface="Arial MT"/>
              <a:buChar char="•"/>
              <a:tabLst>
                <a:tab pos="241300" algn="l"/>
              </a:tabLst>
            </a:pPr>
            <a:r>
              <a:rPr sz="2600" dirty="0">
                <a:latin typeface="Calibri"/>
                <a:cs typeface="Calibri"/>
              </a:rPr>
              <a:t>Usually,</a:t>
            </a:r>
            <a:r>
              <a:rPr sz="2600" spc="125" dirty="0">
                <a:latin typeface="Calibri"/>
                <a:cs typeface="Calibri"/>
              </a:rPr>
              <a:t> </a:t>
            </a:r>
            <a:r>
              <a:rPr sz="2600" dirty="0">
                <a:latin typeface="Calibri"/>
                <a:cs typeface="Calibri"/>
              </a:rPr>
              <a:t>there</a:t>
            </a:r>
            <a:r>
              <a:rPr sz="2600" spc="120" dirty="0">
                <a:latin typeface="Calibri"/>
                <a:cs typeface="Calibri"/>
              </a:rPr>
              <a:t> </a:t>
            </a:r>
            <a:r>
              <a:rPr sz="2600" dirty="0">
                <a:latin typeface="Calibri"/>
                <a:cs typeface="Calibri"/>
              </a:rPr>
              <a:t>are</a:t>
            </a:r>
            <a:r>
              <a:rPr sz="2600" spc="114" dirty="0">
                <a:latin typeface="Calibri"/>
                <a:cs typeface="Calibri"/>
              </a:rPr>
              <a:t> </a:t>
            </a:r>
            <a:r>
              <a:rPr sz="2600" dirty="0">
                <a:latin typeface="Calibri"/>
                <a:cs typeface="Calibri"/>
              </a:rPr>
              <a:t>two</a:t>
            </a:r>
            <a:r>
              <a:rPr sz="2600" spc="125" dirty="0">
                <a:latin typeface="Calibri"/>
                <a:cs typeface="Calibri"/>
              </a:rPr>
              <a:t> </a:t>
            </a:r>
            <a:r>
              <a:rPr sz="2600" dirty="0">
                <a:latin typeface="Calibri"/>
                <a:cs typeface="Calibri"/>
              </a:rPr>
              <a:t>chains</a:t>
            </a:r>
            <a:r>
              <a:rPr sz="2600" spc="120" dirty="0">
                <a:latin typeface="Calibri"/>
                <a:cs typeface="Calibri"/>
              </a:rPr>
              <a:t> </a:t>
            </a:r>
            <a:r>
              <a:rPr sz="2600" dirty="0">
                <a:latin typeface="Calibri"/>
                <a:cs typeface="Calibri"/>
              </a:rPr>
              <a:t>of</a:t>
            </a:r>
            <a:r>
              <a:rPr sz="2600" spc="114" dirty="0">
                <a:latin typeface="Calibri"/>
                <a:cs typeface="Calibri"/>
              </a:rPr>
              <a:t> </a:t>
            </a:r>
            <a:r>
              <a:rPr sz="2600" dirty="0">
                <a:latin typeface="Calibri"/>
                <a:cs typeface="Calibri"/>
              </a:rPr>
              <a:t>command,</a:t>
            </a:r>
            <a:r>
              <a:rPr sz="2600" spc="130" dirty="0">
                <a:latin typeface="Calibri"/>
                <a:cs typeface="Calibri"/>
              </a:rPr>
              <a:t> </a:t>
            </a:r>
            <a:r>
              <a:rPr sz="2600" dirty="0">
                <a:latin typeface="Calibri"/>
                <a:cs typeface="Calibri"/>
              </a:rPr>
              <a:t>one</a:t>
            </a:r>
            <a:r>
              <a:rPr sz="2600" spc="114" dirty="0">
                <a:latin typeface="Calibri"/>
                <a:cs typeface="Calibri"/>
              </a:rPr>
              <a:t> </a:t>
            </a:r>
            <a:r>
              <a:rPr sz="2600" dirty="0">
                <a:latin typeface="Calibri"/>
                <a:cs typeface="Calibri"/>
              </a:rPr>
              <a:t>along</a:t>
            </a:r>
            <a:r>
              <a:rPr sz="2600" spc="120" dirty="0">
                <a:latin typeface="Calibri"/>
                <a:cs typeface="Calibri"/>
              </a:rPr>
              <a:t> </a:t>
            </a:r>
            <a:r>
              <a:rPr sz="2600" dirty="0">
                <a:latin typeface="Calibri"/>
                <a:cs typeface="Calibri"/>
              </a:rPr>
              <a:t>functional</a:t>
            </a:r>
            <a:r>
              <a:rPr sz="2600" spc="125" dirty="0">
                <a:latin typeface="Calibri"/>
                <a:cs typeface="Calibri"/>
              </a:rPr>
              <a:t> </a:t>
            </a:r>
            <a:r>
              <a:rPr sz="2600" dirty="0">
                <a:latin typeface="Calibri"/>
                <a:cs typeface="Calibri"/>
              </a:rPr>
              <a:t>lines</a:t>
            </a:r>
            <a:r>
              <a:rPr sz="2600" spc="120" dirty="0">
                <a:latin typeface="Calibri"/>
                <a:cs typeface="Calibri"/>
              </a:rPr>
              <a:t> </a:t>
            </a:r>
            <a:r>
              <a:rPr sz="2600" dirty="0">
                <a:latin typeface="Calibri"/>
                <a:cs typeface="Calibri"/>
              </a:rPr>
              <a:t>and</a:t>
            </a:r>
            <a:r>
              <a:rPr sz="2600" spc="120" dirty="0">
                <a:latin typeface="Calibri"/>
                <a:cs typeface="Calibri"/>
              </a:rPr>
              <a:t> </a:t>
            </a:r>
            <a:r>
              <a:rPr sz="2600" spc="-25" dirty="0">
                <a:latin typeface="Calibri"/>
                <a:cs typeface="Calibri"/>
              </a:rPr>
              <a:t>the </a:t>
            </a:r>
            <a:r>
              <a:rPr sz="2600" dirty="0">
                <a:latin typeface="Calibri"/>
                <a:cs typeface="Calibri"/>
              </a:rPr>
              <a:t>other</a:t>
            </a:r>
            <a:r>
              <a:rPr sz="2600" spc="345" dirty="0">
                <a:latin typeface="Calibri"/>
                <a:cs typeface="Calibri"/>
              </a:rPr>
              <a:t> </a:t>
            </a:r>
            <a:r>
              <a:rPr sz="2600" dirty="0">
                <a:latin typeface="Calibri"/>
                <a:cs typeface="Calibri"/>
              </a:rPr>
              <a:t>along</a:t>
            </a:r>
            <a:r>
              <a:rPr sz="2600" spc="340" dirty="0">
                <a:latin typeface="Calibri"/>
                <a:cs typeface="Calibri"/>
              </a:rPr>
              <a:t> </a:t>
            </a:r>
            <a:r>
              <a:rPr sz="2600" dirty="0">
                <a:latin typeface="Calibri"/>
                <a:cs typeface="Calibri"/>
              </a:rPr>
              <a:t>project</a:t>
            </a:r>
            <a:r>
              <a:rPr sz="2600" spc="340" dirty="0">
                <a:latin typeface="Calibri"/>
                <a:cs typeface="Calibri"/>
              </a:rPr>
              <a:t> </a:t>
            </a:r>
            <a:r>
              <a:rPr sz="2600" dirty="0">
                <a:latin typeface="Calibri"/>
                <a:cs typeface="Calibri"/>
              </a:rPr>
              <a:t>lines.</a:t>
            </a:r>
            <a:r>
              <a:rPr sz="2600" spc="345" dirty="0">
                <a:latin typeface="Calibri"/>
                <a:cs typeface="Calibri"/>
              </a:rPr>
              <a:t> </a:t>
            </a:r>
            <a:r>
              <a:rPr sz="2600" dirty="0">
                <a:latin typeface="Calibri"/>
                <a:cs typeface="Calibri"/>
              </a:rPr>
              <a:t>Project</a:t>
            </a:r>
            <a:r>
              <a:rPr sz="2600" spc="345" dirty="0">
                <a:latin typeface="Calibri"/>
                <a:cs typeface="Calibri"/>
              </a:rPr>
              <a:t> </a:t>
            </a:r>
            <a:r>
              <a:rPr sz="2600" dirty="0">
                <a:latin typeface="Calibri"/>
                <a:cs typeface="Calibri"/>
              </a:rPr>
              <a:t>participants</a:t>
            </a:r>
            <a:r>
              <a:rPr sz="2600" spc="330" dirty="0">
                <a:latin typeface="Calibri"/>
                <a:cs typeface="Calibri"/>
              </a:rPr>
              <a:t> </a:t>
            </a:r>
            <a:r>
              <a:rPr sz="2600" dirty="0">
                <a:latin typeface="Calibri"/>
                <a:cs typeface="Calibri"/>
              </a:rPr>
              <a:t>report</a:t>
            </a:r>
            <a:r>
              <a:rPr sz="2600" spc="345" dirty="0">
                <a:latin typeface="Calibri"/>
                <a:cs typeface="Calibri"/>
              </a:rPr>
              <a:t> </a:t>
            </a:r>
            <a:r>
              <a:rPr sz="2600" dirty="0">
                <a:latin typeface="Calibri"/>
                <a:cs typeface="Calibri"/>
              </a:rPr>
              <a:t>simultaneously</a:t>
            </a:r>
            <a:r>
              <a:rPr sz="2600" spc="340" dirty="0">
                <a:latin typeface="Calibri"/>
                <a:cs typeface="Calibri"/>
              </a:rPr>
              <a:t> </a:t>
            </a:r>
            <a:r>
              <a:rPr sz="2600" dirty="0">
                <a:latin typeface="Calibri"/>
                <a:cs typeface="Calibri"/>
              </a:rPr>
              <a:t>to</a:t>
            </a:r>
            <a:r>
              <a:rPr sz="2600" spc="345" dirty="0">
                <a:latin typeface="Calibri"/>
                <a:cs typeface="Calibri"/>
              </a:rPr>
              <a:t> </a:t>
            </a:r>
            <a:r>
              <a:rPr sz="2600" spc="-20" dirty="0">
                <a:latin typeface="Calibri"/>
                <a:cs typeface="Calibri"/>
              </a:rPr>
              <a:t>both </a:t>
            </a:r>
            <a:r>
              <a:rPr sz="2600" dirty="0">
                <a:latin typeface="Calibri"/>
                <a:cs typeface="Calibri"/>
              </a:rPr>
              <a:t>functional</a:t>
            </a:r>
            <a:r>
              <a:rPr sz="2600" spc="-80" dirty="0">
                <a:latin typeface="Calibri"/>
                <a:cs typeface="Calibri"/>
              </a:rPr>
              <a:t> </a:t>
            </a:r>
            <a:r>
              <a:rPr sz="2600" dirty="0">
                <a:latin typeface="Calibri"/>
                <a:cs typeface="Calibri"/>
              </a:rPr>
              <a:t>and</a:t>
            </a:r>
            <a:r>
              <a:rPr sz="2600" spc="-80" dirty="0">
                <a:latin typeface="Calibri"/>
                <a:cs typeface="Calibri"/>
              </a:rPr>
              <a:t> </a:t>
            </a:r>
            <a:r>
              <a:rPr sz="2600" dirty="0">
                <a:latin typeface="Calibri"/>
                <a:cs typeface="Calibri"/>
              </a:rPr>
              <a:t>project</a:t>
            </a:r>
            <a:r>
              <a:rPr sz="2600" spc="-75" dirty="0">
                <a:latin typeface="Calibri"/>
                <a:cs typeface="Calibri"/>
              </a:rPr>
              <a:t> </a:t>
            </a:r>
            <a:r>
              <a:rPr sz="2600" spc="-10" dirty="0">
                <a:latin typeface="Calibri"/>
                <a:cs typeface="Calibri"/>
              </a:rPr>
              <a:t>managers</a:t>
            </a:r>
            <a:endParaRPr sz="2600" dirty="0">
              <a:latin typeface="Calibri"/>
              <a:cs typeface="Calibri"/>
            </a:endParaRPr>
          </a:p>
          <a:p>
            <a:pPr marL="241300" marR="5080" indent="-228600" algn="just">
              <a:lnSpc>
                <a:spcPct val="80400"/>
              </a:lnSpc>
              <a:spcBef>
                <a:spcPts val="875"/>
              </a:spcBef>
              <a:buFont typeface="Arial MT"/>
              <a:buChar char="•"/>
              <a:tabLst>
                <a:tab pos="241300" algn="l"/>
              </a:tabLst>
            </a:pPr>
            <a:r>
              <a:rPr sz="2600" dirty="0">
                <a:latin typeface="Calibri"/>
                <a:cs typeface="Calibri"/>
              </a:rPr>
              <a:t>Companies</a:t>
            </a:r>
            <a:r>
              <a:rPr sz="2600" spc="75" dirty="0">
                <a:latin typeface="Calibri"/>
                <a:cs typeface="Calibri"/>
              </a:rPr>
              <a:t> </a:t>
            </a:r>
            <a:r>
              <a:rPr sz="2600" dirty="0">
                <a:latin typeface="Calibri"/>
                <a:cs typeface="Calibri"/>
              </a:rPr>
              <a:t>apply</a:t>
            </a:r>
            <a:r>
              <a:rPr sz="2600" spc="80" dirty="0">
                <a:latin typeface="Calibri"/>
                <a:cs typeface="Calibri"/>
              </a:rPr>
              <a:t> </a:t>
            </a:r>
            <a:r>
              <a:rPr sz="2600" dirty="0">
                <a:latin typeface="Calibri"/>
                <a:cs typeface="Calibri"/>
              </a:rPr>
              <a:t>this</a:t>
            </a:r>
            <a:r>
              <a:rPr sz="2600" spc="75" dirty="0">
                <a:latin typeface="Calibri"/>
                <a:cs typeface="Calibri"/>
              </a:rPr>
              <a:t> </a:t>
            </a:r>
            <a:r>
              <a:rPr sz="2600" dirty="0">
                <a:latin typeface="Calibri"/>
                <a:cs typeface="Calibri"/>
              </a:rPr>
              <a:t>matrix</a:t>
            </a:r>
            <a:r>
              <a:rPr sz="2600" spc="80" dirty="0">
                <a:latin typeface="Calibri"/>
                <a:cs typeface="Calibri"/>
              </a:rPr>
              <a:t> </a:t>
            </a:r>
            <a:r>
              <a:rPr sz="2600" dirty="0">
                <a:latin typeface="Calibri"/>
                <a:cs typeface="Calibri"/>
              </a:rPr>
              <a:t>arrangement</a:t>
            </a:r>
            <a:r>
              <a:rPr sz="2600" spc="85" dirty="0">
                <a:latin typeface="Calibri"/>
                <a:cs typeface="Calibri"/>
              </a:rPr>
              <a:t> </a:t>
            </a:r>
            <a:r>
              <a:rPr sz="2600" dirty="0">
                <a:latin typeface="Calibri"/>
                <a:cs typeface="Calibri"/>
              </a:rPr>
              <a:t>in</a:t>
            </a:r>
            <a:r>
              <a:rPr sz="2600" spc="80" dirty="0">
                <a:latin typeface="Calibri"/>
                <a:cs typeface="Calibri"/>
              </a:rPr>
              <a:t> </a:t>
            </a:r>
            <a:r>
              <a:rPr sz="2600" dirty="0">
                <a:latin typeface="Calibri"/>
                <a:cs typeface="Calibri"/>
              </a:rPr>
              <a:t>a</a:t>
            </a:r>
            <a:r>
              <a:rPr sz="2600" spc="80" dirty="0">
                <a:latin typeface="Calibri"/>
                <a:cs typeface="Calibri"/>
              </a:rPr>
              <a:t> </a:t>
            </a:r>
            <a:r>
              <a:rPr sz="2600" dirty="0">
                <a:latin typeface="Calibri"/>
                <a:cs typeface="Calibri"/>
              </a:rPr>
              <a:t>variety</a:t>
            </a:r>
            <a:r>
              <a:rPr sz="2600" spc="75" dirty="0">
                <a:latin typeface="Calibri"/>
                <a:cs typeface="Calibri"/>
              </a:rPr>
              <a:t> </a:t>
            </a:r>
            <a:r>
              <a:rPr sz="2600" dirty="0">
                <a:latin typeface="Calibri"/>
                <a:cs typeface="Calibri"/>
              </a:rPr>
              <a:t>of</a:t>
            </a:r>
            <a:r>
              <a:rPr sz="2600" spc="75" dirty="0">
                <a:latin typeface="Calibri"/>
                <a:cs typeface="Calibri"/>
              </a:rPr>
              <a:t> </a:t>
            </a:r>
            <a:r>
              <a:rPr sz="2600" dirty="0">
                <a:latin typeface="Calibri"/>
                <a:cs typeface="Calibri"/>
              </a:rPr>
              <a:t>different</a:t>
            </a:r>
            <a:r>
              <a:rPr sz="2600" spc="80" dirty="0">
                <a:latin typeface="Calibri"/>
                <a:cs typeface="Calibri"/>
              </a:rPr>
              <a:t> </a:t>
            </a:r>
            <a:r>
              <a:rPr sz="2600" dirty="0">
                <a:latin typeface="Calibri"/>
                <a:cs typeface="Calibri"/>
              </a:rPr>
              <a:t>ways.</a:t>
            </a:r>
            <a:r>
              <a:rPr sz="2600" spc="90" dirty="0">
                <a:latin typeface="Calibri"/>
                <a:cs typeface="Calibri"/>
              </a:rPr>
              <a:t> </a:t>
            </a:r>
            <a:r>
              <a:rPr sz="2600" spc="-20" dirty="0">
                <a:latin typeface="Calibri"/>
                <a:cs typeface="Calibri"/>
              </a:rPr>
              <a:t>Some </a:t>
            </a:r>
            <a:r>
              <a:rPr sz="2600" dirty="0">
                <a:latin typeface="Calibri"/>
                <a:cs typeface="Calibri"/>
              </a:rPr>
              <a:t>organizations</a:t>
            </a:r>
            <a:r>
              <a:rPr sz="2600" spc="204" dirty="0">
                <a:latin typeface="Calibri"/>
                <a:cs typeface="Calibri"/>
              </a:rPr>
              <a:t> </a:t>
            </a:r>
            <a:r>
              <a:rPr sz="2600" dirty="0">
                <a:latin typeface="Calibri"/>
                <a:cs typeface="Calibri"/>
              </a:rPr>
              <a:t>set</a:t>
            </a:r>
            <a:r>
              <a:rPr sz="2600" spc="215" dirty="0">
                <a:latin typeface="Calibri"/>
                <a:cs typeface="Calibri"/>
              </a:rPr>
              <a:t> </a:t>
            </a:r>
            <a:r>
              <a:rPr sz="2600" dirty="0">
                <a:latin typeface="Calibri"/>
                <a:cs typeface="Calibri"/>
              </a:rPr>
              <a:t>up</a:t>
            </a:r>
            <a:r>
              <a:rPr sz="2600" spc="204" dirty="0">
                <a:latin typeface="Calibri"/>
                <a:cs typeface="Calibri"/>
              </a:rPr>
              <a:t> </a:t>
            </a:r>
            <a:r>
              <a:rPr sz="2600" dirty="0">
                <a:latin typeface="Calibri"/>
                <a:cs typeface="Calibri"/>
              </a:rPr>
              <a:t>temporary</a:t>
            </a:r>
            <a:r>
              <a:rPr sz="2600" spc="210" dirty="0">
                <a:latin typeface="Calibri"/>
                <a:cs typeface="Calibri"/>
              </a:rPr>
              <a:t> </a:t>
            </a:r>
            <a:r>
              <a:rPr sz="2600" dirty="0">
                <a:latin typeface="Calibri"/>
                <a:cs typeface="Calibri"/>
              </a:rPr>
              <a:t>matrix</a:t>
            </a:r>
            <a:r>
              <a:rPr sz="2600" spc="210" dirty="0">
                <a:latin typeface="Calibri"/>
                <a:cs typeface="Calibri"/>
              </a:rPr>
              <a:t> </a:t>
            </a:r>
            <a:r>
              <a:rPr sz="2600" dirty="0">
                <a:latin typeface="Calibri"/>
                <a:cs typeface="Calibri"/>
              </a:rPr>
              <a:t>systems</a:t>
            </a:r>
            <a:r>
              <a:rPr sz="2600" spc="204" dirty="0">
                <a:latin typeface="Calibri"/>
                <a:cs typeface="Calibri"/>
              </a:rPr>
              <a:t> </a:t>
            </a:r>
            <a:r>
              <a:rPr sz="2600" dirty="0">
                <a:latin typeface="Calibri"/>
                <a:cs typeface="Calibri"/>
              </a:rPr>
              <a:t>to</a:t>
            </a:r>
            <a:r>
              <a:rPr sz="2600" spc="215" dirty="0">
                <a:latin typeface="Calibri"/>
                <a:cs typeface="Calibri"/>
              </a:rPr>
              <a:t> </a:t>
            </a:r>
            <a:r>
              <a:rPr sz="2600" dirty="0">
                <a:latin typeface="Calibri"/>
                <a:cs typeface="Calibri"/>
              </a:rPr>
              <a:t>deal</a:t>
            </a:r>
            <a:r>
              <a:rPr sz="2600" spc="210" dirty="0">
                <a:latin typeface="Calibri"/>
                <a:cs typeface="Calibri"/>
              </a:rPr>
              <a:t> </a:t>
            </a:r>
            <a:r>
              <a:rPr sz="2600" dirty="0">
                <a:latin typeface="Calibri"/>
                <a:cs typeface="Calibri"/>
              </a:rPr>
              <a:t>with</a:t>
            </a:r>
            <a:r>
              <a:rPr sz="2600" spc="210" dirty="0">
                <a:latin typeface="Calibri"/>
                <a:cs typeface="Calibri"/>
              </a:rPr>
              <a:t> </a:t>
            </a:r>
            <a:r>
              <a:rPr sz="2600" dirty="0">
                <a:latin typeface="Calibri"/>
                <a:cs typeface="Calibri"/>
              </a:rPr>
              <a:t>specific</a:t>
            </a:r>
            <a:r>
              <a:rPr sz="2600" spc="210" dirty="0">
                <a:latin typeface="Calibri"/>
                <a:cs typeface="Calibri"/>
              </a:rPr>
              <a:t> </a:t>
            </a:r>
            <a:r>
              <a:rPr sz="2600" spc="-10" dirty="0">
                <a:latin typeface="Calibri"/>
                <a:cs typeface="Calibri"/>
              </a:rPr>
              <a:t>projects, </a:t>
            </a:r>
            <a:r>
              <a:rPr sz="2600" dirty="0">
                <a:latin typeface="Calibri"/>
                <a:cs typeface="Calibri"/>
              </a:rPr>
              <a:t>while</a:t>
            </a:r>
            <a:r>
              <a:rPr sz="2600" spc="-55" dirty="0">
                <a:latin typeface="Calibri"/>
                <a:cs typeface="Calibri"/>
              </a:rPr>
              <a:t> </a:t>
            </a:r>
            <a:r>
              <a:rPr sz="2600" dirty="0">
                <a:latin typeface="Calibri"/>
                <a:cs typeface="Calibri"/>
              </a:rPr>
              <a:t>“matrix”</a:t>
            </a:r>
            <a:r>
              <a:rPr sz="2600" spc="-45" dirty="0">
                <a:latin typeface="Calibri"/>
                <a:cs typeface="Calibri"/>
              </a:rPr>
              <a:t> </a:t>
            </a:r>
            <a:r>
              <a:rPr sz="2600" dirty="0">
                <a:latin typeface="Calibri"/>
                <a:cs typeface="Calibri"/>
              </a:rPr>
              <a:t>may</a:t>
            </a:r>
            <a:r>
              <a:rPr sz="2600" spc="-45" dirty="0">
                <a:latin typeface="Calibri"/>
                <a:cs typeface="Calibri"/>
              </a:rPr>
              <a:t> </a:t>
            </a:r>
            <a:r>
              <a:rPr sz="2600" dirty="0">
                <a:latin typeface="Calibri"/>
                <a:cs typeface="Calibri"/>
              </a:rPr>
              <a:t>be</a:t>
            </a:r>
            <a:r>
              <a:rPr sz="2600" spc="-50" dirty="0">
                <a:latin typeface="Calibri"/>
                <a:cs typeface="Calibri"/>
              </a:rPr>
              <a:t> </a:t>
            </a:r>
            <a:r>
              <a:rPr sz="2600" dirty="0">
                <a:latin typeface="Calibri"/>
                <a:cs typeface="Calibri"/>
              </a:rPr>
              <a:t>a</a:t>
            </a:r>
            <a:r>
              <a:rPr sz="2600" spc="-40" dirty="0">
                <a:latin typeface="Calibri"/>
                <a:cs typeface="Calibri"/>
              </a:rPr>
              <a:t> </a:t>
            </a:r>
            <a:r>
              <a:rPr sz="2600" dirty="0">
                <a:latin typeface="Calibri"/>
                <a:cs typeface="Calibri"/>
              </a:rPr>
              <a:t>permanent</a:t>
            </a:r>
            <a:r>
              <a:rPr sz="2600" spc="-40" dirty="0">
                <a:latin typeface="Calibri"/>
                <a:cs typeface="Calibri"/>
              </a:rPr>
              <a:t> </a:t>
            </a:r>
            <a:r>
              <a:rPr sz="2600" dirty="0">
                <a:latin typeface="Calibri"/>
                <a:cs typeface="Calibri"/>
              </a:rPr>
              <a:t>fixture</a:t>
            </a:r>
            <a:r>
              <a:rPr sz="2600" spc="-50" dirty="0">
                <a:latin typeface="Calibri"/>
                <a:cs typeface="Calibri"/>
              </a:rPr>
              <a:t> </a:t>
            </a:r>
            <a:r>
              <a:rPr sz="2600" dirty="0">
                <a:latin typeface="Calibri"/>
                <a:cs typeface="Calibri"/>
              </a:rPr>
              <a:t>in</a:t>
            </a:r>
            <a:r>
              <a:rPr sz="2600" spc="-45" dirty="0">
                <a:latin typeface="Calibri"/>
                <a:cs typeface="Calibri"/>
              </a:rPr>
              <a:t> </a:t>
            </a:r>
            <a:r>
              <a:rPr sz="2600" dirty="0">
                <a:latin typeface="Calibri"/>
                <a:cs typeface="Calibri"/>
              </a:rPr>
              <a:t>other</a:t>
            </a:r>
            <a:r>
              <a:rPr sz="2600" spc="-40" dirty="0">
                <a:latin typeface="Calibri"/>
                <a:cs typeface="Calibri"/>
              </a:rPr>
              <a:t> </a:t>
            </a:r>
            <a:r>
              <a:rPr sz="2600" spc="-10" dirty="0">
                <a:latin typeface="Calibri"/>
                <a:cs typeface="Calibri"/>
              </a:rPr>
              <a:t>organizations.</a:t>
            </a:r>
            <a:endParaRPr sz="2600" dirty="0">
              <a:latin typeface="Calibri"/>
              <a:cs typeface="Calibri"/>
            </a:endParaRPr>
          </a:p>
          <a:p>
            <a:pPr marL="241300" marR="5080" indent="-228600" algn="just">
              <a:lnSpc>
                <a:spcPct val="80000"/>
              </a:lnSpc>
              <a:spcBef>
                <a:spcPts val="1010"/>
              </a:spcBef>
              <a:buFont typeface="Arial MT"/>
              <a:buChar char="•"/>
              <a:tabLst>
                <a:tab pos="241300" algn="l"/>
              </a:tabLst>
            </a:pPr>
            <a:r>
              <a:rPr sz="2600" dirty="0">
                <a:latin typeface="Calibri"/>
                <a:cs typeface="Calibri"/>
              </a:rPr>
              <a:t>Project</a:t>
            </a:r>
            <a:r>
              <a:rPr sz="2600" spc="509" dirty="0">
                <a:latin typeface="Calibri"/>
                <a:cs typeface="Calibri"/>
              </a:rPr>
              <a:t> </a:t>
            </a:r>
            <a:r>
              <a:rPr sz="2600" dirty="0">
                <a:latin typeface="Calibri"/>
                <a:cs typeface="Calibri"/>
              </a:rPr>
              <a:t>participants</a:t>
            </a:r>
            <a:r>
              <a:rPr sz="2600" spc="490" dirty="0">
                <a:latin typeface="Calibri"/>
                <a:cs typeface="Calibri"/>
              </a:rPr>
              <a:t> </a:t>
            </a:r>
            <a:r>
              <a:rPr sz="2600" dirty="0">
                <a:latin typeface="Calibri"/>
                <a:cs typeface="Calibri"/>
              </a:rPr>
              <a:t>are</a:t>
            </a:r>
            <a:r>
              <a:rPr sz="2600" spc="495" dirty="0">
                <a:latin typeface="Calibri"/>
                <a:cs typeface="Calibri"/>
              </a:rPr>
              <a:t> </a:t>
            </a:r>
            <a:r>
              <a:rPr sz="2600" dirty="0">
                <a:latin typeface="Calibri"/>
                <a:cs typeface="Calibri"/>
              </a:rPr>
              <a:t>assigned</a:t>
            </a:r>
            <a:r>
              <a:rPr sz="2600" spc="500" dirty="0">
                <a:latin typeface="Calibri"/>
                <a:cs typeface="Calibri"/>
              </a:rPr>
              <a:t> </a:t>
            </a:r>
            <a:r>
              <a:rPr sz="2600" dirty="0">
                <a:latin typeface="Calibri"/>
                <a:cs typeface="Calibri"/>
              </a:rPr>
              <a:t>to</a:t>
            </a:r>
            <a:r>
              <a:rPr sz="2600" spc="509" dirty="0">
                <a:latin typeface="Calibri"/>
                <a:cs typeface="Calibri"/>
              </a:rPr>
              <a:t> </a:t>
            </a:r>
            <a:r>
              <a:rPr sz="2600" dirty="0">
                <a:latin typeface="Calibri"/>
                <a:cs typeface="Calibri"/>
              </a:rPr>
              <a:t>the</a:t>
            </a:r>
            <a:r>
              <a:rPr sz="2600" spc="505" dirty="0">
                <a:latin typeface="Calibri"/>
                <a:cs typeface="Calibri"/>
              </a:rPr>
              <a:t> </a:t>
            </a:r>
            <a:r>
              <a:rPr sz="2600" dirty="0">
                <a:latin typeface="Calibri"/>
                <a:cs typeface="Calibri"/>
              </a:rPr>
              <a:t>project</a:t>
            </a:r>
            <a:r>
              <a:rPr sz="2600" spc="505" dirty="0">
                <a:latin typeface="Calibri"/>
                <a:cs typeface="Calibri"/>
              </a:rPr>
              <a:t> </a:t>
            </a:r>
            <a:r>
              <a:rPr sz="2600" dirty="0">
                <a:latin typeface="Calibri"/>
                <a:cs typeface="Calibri"/>
              </a:rPr>
              <a:t>on</a:t>
            </a:r>
            <a:r>
              <a:rPr sz="2600" spc="500" dirty="0">
                <a:latin typeface="Calibri"/>
                <a:cs typeface="Calibri"/>
              </a:rPr>
              <a:t> </a:t>
            </a:r>
            <a:r>
              <a:rPr sz="2600" dirty="0">
                <a:latin typeface="Calibri"/>
                <a:cs typeface="Calibri"/>
              </a:rPr>
              <a:t>a</a:t>
            </a:r>
            <a:r>
              <a:rPr sz="2600" spc="509" dirty="0">
                <a:latin typeface="Calibri"/>
                <a:cs typeface="Calibri"/>
              </a:rPr>
              <a:t> </a:t>
            </a:r>
            <a:r>
              <a:rPr sz="2600" spc="-35" dirty="0">
                <a:latin typeface="Calibri"/>
                <a:cs typeface="Calibri"/>
              </a:rPr>
              <a:t>part-</a:t>
            </a:r>
            <a:r>
              <a:rPr sz="2600" dirty="0">
                <a:latin typeface="Calibri"/>
                <a:cs typeface="Calibri"/>
              </a:rPr>
              <a:t>time</a:t>
            </a:r>
            <a:r>
              <a:rPr sz="2600" spc="495" dirty="0">
                <a:latin typeface="Calibri"/>
                <a:cs typeface="Calibri"/>
              </a:rPr>
              <a:t> </a:t>
            </a:r>
            <a:r>
              <a:rPr sz="2600" dirty="0">
                <a:latin typeface="Calibri"/>
                <a:cs typeface="Calibri"/>
              </a:rPr>
              <a:t>or</a:t>
            </a:r>
            <a:r>
              <a:rPr sz="2600" spc="509" dirty="0">
                <a:latin typeface="Calibri"/>
                <a:cs typeface="Calibri"/>
              </a:rPr>
              <a:t> </a:t>
            </a:r>
            <a:r>
              <a:rPr sz="2600" spc="-10" dirty="0">
                <a:latin typeface="Calibri"/>
                <a:cs typeface="Calibri"/>
              </a:rPr>
              <a:t>full-</a:t>
            </a:r>
            <a:r>
              <a:rPr sz="2600" spc="-20" dirty="0">
                <a:latin typeface="Calibri"/>
                <a:cs typeface="Calibri"/>
              </a:rPr>
              <a:t>time </a:t>
            </a:r>
            <a:r>
              <a:rPr sz="2600" dirty="0">
                <a:latin typeface="Calibri"/>
                <a:cs typeface="Calibri"/>
              </a:rPr>
              <a:t>basis,</a:t>
            </a:r>
            <a:r>
              <a:rPr sz="2600" spc="-45" dirty="0">
                <a:latin typeface="Calibri"/>
                <a:cs typeface="Calibri"/>
              </a:rPr>
              <a:t> </a:t>
            </a:r>
            <a:r>
              <a:rPr sz="2600" dirty="0">
                <a:latin typeface="Calibri"/>
                <a:cs typeface="Calibri"/>
              </a:rPr>
              <a:t>depending</a:t>
            </a:r>
            <a:r>
              <a:rPr sz="2600" spc="-45" dirty="0">
                <a:latin typeface="Calibri"/>
                <a:cs typeface="Calibri"/>
              </a:rPr>
              <a:t> </a:t>
            </a:r>
            <a:r>
              <a:rPr sz="2600" dirty="0">
                <a:latin typeface="Calibri"/>
                <a:cs typeface="Calibri"/>
              </a:rPr>
              <a:t>on</a:t>
            </a:r>
            <a:r>
              <a:rPr sz="2600" spc="-45" dirty="0">
                <a:latin typeface="Calibri"/>
                <a:cs typeface="Calibri"/>
              </a:rPr>
              <a:t> </a:t>
            </a:r>
            <a:r>
              <a:rPr sz="2600" dirty="0">
                <a:latin typeface="Calibri"/>
                <a:cs typeface="Calibri"/>
              </a:rPr>
              <a:t>the</a:t>
            </a:r>
            <a:r>
              <a:rPr sz="2600" spc="-45" dirty="0">
                <a:latin typeface="Calibri"/>
                <a:cs typeface="Calibri"/>
              </a:rPr>
              <a:t> </a:t>
            </a:r>
            <a:r>
              <a:rPr sz="2600" spc="-10" dirty="0">
                <a:latin typeface="Calibri"/>
                <a:cs typeface="Calibri"/>
              </a:rPr>
              <a:t>project’s</a:t>
            </a:r>
            <a:r>
              <a:rPr sz="2600" spc="-50" dirty="0">
                <a:latin typeface="Calibri"/>
                <a:cs typeface="Calibri"/>
              </a:rPr>
              <a:t> </a:t>
            </a:r>
            <a:r>
              <a:rPr sz="2600" dirty="0">
                <a:latin typeface="Calibri"/>
                <a:cs typeface="Calibri"/>
              </a:rPr>
              <a:t>needs</a:t>
            </a:r>
            <a:r>
              <a:rPr sz="2600" spc="-50" dirty="0">
                <a:latin typeface="Calibri"/>
                <a:cs typeface="Calibri"/>
              </a:rPr>
              <a:t> </a:t>
            </a:r>
            <a:r>
              <a:rPr sz="2600" dirty="0">
                <a:latin typeface="Calibri"/>
                <a:cs typeface="Calibri"/>
              </a:rPr>
              <a:t>during</a:t>
            </a:r>
            <a:r>
              <a:rPr sz="2600" spc="-50" dirty="0">
                <a:latin typeface="Calibri"/>
                <a:cs typeface="Calibri"/>
              </a:rPr>
              <a:t> </a:t>
            </a:r>
            <a:r>
              <a:rPr sz="2600" dirty="0">
                <a:latin typeface="Calibri"/>
                <a:cs typeface="Calibri"/>
              </a:rPr>
              <a:t>various</a:t>
            </a:r>
            <a:r>
              <a:rPr sz="2600" spc="-50" dirty="0">
                <a:latin typeface="Calibri"/>
                <a:cs typeface="Calibri"/>
              </a:rPr>
              <a:t> </a:t>
            </a:r>
            <a:r>
              <a:rPr sz="2600" dirty="0">
                <a:latin typeface="Calibri"/>
                <a:cs typeface="Calibri"/>
              </a:rPr>
              <a:t>phases</a:t>
            </a:r>
            <a:r>
              <a:rPr sz="2600" spc="-50" dirty="0">
                <a:latin typeface="Calibri"/>
                <a:cs typeface="Calibri"/>
              </a:rPr>
              <a:t> </a:t>
            </a:r>
            <a:r>
              <a:rPr sz="2600" dirty="0">
                <a:latin typeface="Calibri"/>
                <a:cs typeface="Calibri"/>
              </a:rPr>
              <a:t>of</a:t>
            </a:r>
            <a:r>
              <a:rPr sz="2600" spc="-50" dirty="0">
                <a:latin typeface="Calibri"/>
                <a:cs typeface="Calibri"/>
              </a:rPr>
              <a:t> </a:t>
            </a:r>
            <a:r>
              <a:rPr sz="2600" dirty="0">
                <a:latin typeface="Calibri"/>
                <a:cs typeface="Calibri"/>
              </a:rPr>
              <a:t>the</a:t>
            </a:r>
            <a:r>
              <a:rPr sz="2600" spc="-45" dirty="0">
                <a:latin typeface="Calibri"/>
                <a:cs typeface="Calibri"/>
              </a:rPr>
              <a:t> </a:t>
            </a:r>
            <a:r>
              <a:rPr sz="2600" spc="-10" dirty="0">
                <a:latin typeface="Calibri"/>
                <a:cs typeface="Calibri"/>
              </a:rPr>
              <a:t>project.</a:t>
            </a:r>
            <a:endParaRPr sz="2600" dirty="0">
              <a:latin typeface="Calibri"/>
              <a:cs typeface="Calibri"/>
            </a:endParaRPr>
          </a:p>
          <a:p>
            <a:pPr marL="241300" marR="5715" indent="-228600" algn="just">
              <a:lnSpc>
                <a:spcPct val="80000"/>
              </a:lnSpc>
              <a:spcBef>
                <a:spcPts val="1005"/>
              </a:spcBef>
              <a:buFont typeface="Arial MT"/>
              <a:buChar char="•"/>
              <a:tabLst>
                <a:tab pos="241300" algn="l"/>
              </a:tabLst>
            </a:pPr>
            <a:r>
              <a:rPr sz="2600" dirty="0">
                <a:latin typeface="Calibri"/>
                <a:cs typeface="Calibri"/>
              </a:rPr>
              <a:t>The</a:t>
            </a:r>
            <a:r>
              <a:rPr sz="2600" spc="75" dirty="0">
                <a:latin typeface="Calibri"/>
                <a:cs typeface="Calibri"/>
              </a:rPr>
              <a:t>  </a:t>
            </a:r>
            <a:r>
              <a:rPr sz="2600" dirty="0">
                <a:latin typeface="Calibri"/>
                <a:cs typeface="Calibri"/>
              </a:rPr>
              <a:t>matrix</a:t>
            </a:r>
            <a:r>
              <a:rPr sz="2600" spc="80" dirty="0">
                <a:latin typeface="Calibri"/>
                <a:cs typeface="Calibri"/>
              </a:rPr>
              <a:t>  </a:t>
            </a:r>
            <a:r>
              <a:rPr sz="2600" dirty="0">
                <a:latin typeface="Calibri"/>
                <a:cs typeface="Calibri"/>
              </a:rPr>
              <a:t>structure</a:t>
            </a:r>
            <a:r>
              <a:rPr sz="2600" spc="80" dirty="0">
                <a:latin typeface="Calibri"/>
                <a:cs typeface="Calibri"/>
              </a:rPr>
              <a:t>  </a:t>
            </a:r>
            <a:r>
              <a:rPr sz="2600" dirty="0">
                <a:latin typeface="Calibri"/>
                <a:cs typeface="Calibri"/>
              </a:rPr>
              <a:t>is</a:t>
            </a:r>
            <a:r>
              <a:rPr sz="2600" spc="75" dirty="0">
                <a:latin typeface="Calibri"/>
                <a:cs typeface="Calibri"/>
              </a:rPr>
              <a:t>  </a:t>
            </a:r>
            <a:r>
              <a:rPr sz="2600" dirty="0">
                <a:latin typeface="Calibri"/>
                <a:cs typeface="Calibri"/>
              </a:rPr>
              <a:t>designed</a:t>
            </a:r>
            <a:r>
              <a:rPr sz="2600" spc="80" dirty="0">
                <a:latin typeface="Calibri"/>
                <a:cs typeface="Calibri"/>
              </a:rPr>
              <a:t>  </a:t>
            </a:r>
            <a:r>
              <a:rPr sz="2600" dirty="0">
                <a:latin typeface="Calibri"/>
                <a:cs typeface="Calibri"/>
              </a:rPr>
              <a:t>to</a:t>
            </a:r>
            <a:r>
              <a:rPr sz="2600" spc="85" dirty="0">
                <a:latin typeface="Calibri"/>
                <a:cs typeface="Calibri"/>
              </a:rPr>
              <a:t>  </a:t>
            </a:r>
            <a:r>
              <a:rPr sz="2600" dirty="0">
                <a:latin typeface="Calibri"/>
                <a:cs typeface="Calibri"/>
              </a:rPr>
              <a:t>optimally</a:t>
            </a:r>
            <a:r>
              <a:rPr sz="2600" spc="75" dirty="0">
                <a:latin typeface="Calibri"/>
                <a:cs typeface="Calibri"/>
              </a:rPr>
              <a:t>  </a:t>
            </a:r>
            <a:r>
              <a:rPr sz="2600" dirty="0">
                <a:latin typeface="Calibri"/>
                <a:cs typeface="Calibri"/>
              </a:rPr>
              <a:t>utilize</a:t>
            </a:r>
            <a:r>
              <a:rPr sz="2600" spc="80" dirty="0">
                <a:latin typeface="Calibri"/>
                <a:cs typeface="Calibri"/>
              </a:rPr>
              <a:t>  </a:t>
            </a:r>
            <a:r>
              <a:rPr sz="2600" dirty="0">
                <a:latin typeface="Calibri"/>
                <a:cs typeface="Calibri"/>
              </a:rPr>
              <a:t>resources</a:t>
            </a:r>
            <a:r>
              <a:rPr sz="2600" spc="75" dirty="0">
                <a:latin typeface="Calibri"/>
                <a:cs typeface="Calibri"/>
              </a:rPr>
              <a:t>  </a:t>
            </a:r>
            <a:r>
              <a:rPr sz="2600" dirty="0">
                <a:latin typeface="Calibri"/>
                <a:cs typeface="Calibri"/>
              </a:rPr>
              <a:t>by</a:t>
            </a:r>
            <a:r>
              <a:rPr sz="2600" spc="80" dirty="0">
                <a:latin typeface="Calibri"/>
                <a:cs typeface="Calibri"/>
              </a:rPr>
              <a:t>  </a:t>
            </a:r>
            <a:r>
              <a:rPr sz="2600" spc="-10" dirty="0">
                <a:latin typeface="Calibri"/>
                <a:cs typeface="Calibri"/>
              </a:rPr>
              <a:t>having </a:t>
            </a:r>
            <a:r>
              <a:rPr sz="2600" dirty="0">
                <a:latin typeface="Calibri"/>
                <a:cs typeface="Calibri"/>
              </a:rPr>
              <a:t>individuals</a:t>
            </a:r>
            <a:r>
              <a:rPr sz="2600" spc="275" dirty="0">
                <a:latin typeface="Calibri"/>
                <a:cs typeface="Calibri"/>
              </a:rPr>
              <a:t> </a:t>
            </a:r>
            <a:r>
              <a:rPr sz="2600" dirty="0">
                <a:latin typeface="Calibri"/>
                <a:cs typeface="Calibri"/>
              </a:rPr>
              <a:t>work</a:t>
            </a:r>
            <a:r>
              <a:rPr sz="2600" spc="290" dirty="0">
                <a:latin typeface="Calibri"/>
                <a:cs typeface="Calibri"/>
              </a:rPr>
              <a:t> </a:t>
            </a:r>
            <a:r>
              <a:rPr sz="2600" dirty="0">
                <a:latin typeface="Calibri"/>
                <a:cs typeface="Calibri"/>
              </a:rPr>
              <a:t>on</a:t>
            </a:r>
            <a:r>
              <a:rPr sz="2600" spc="285" dirty="0">
                <a:latin typeface="Calibri"/>
                <a:cs typeface="Calibri"/>
              </a:rPr>
              <a:t> </a:t>
            </a:r>
            <a:r>
              <a:rPr sz="2600" dirty="0">
                <a:latin typeface="Calibri"/>
                <a:cs typeface="Calibri"/>
              </a:rPr>
              <a:t>multiple</a:t>
            </a:r>
            <a:r>
              <a:rPr sz="2600" spc="280" dirty="0">
                <a:latin typeface="Calibri"/>
                <a:cs typeface="Calibri"/>
              </a:rPr>
              <a:t> </a:t>
            </a:r>
            <a:r>
              <a:rPr sz="2600" dirty="0">
                <a:latin typeface="Calibri"/>
                <a:cs typeface="Calibri"/>
              </a:rPr>
              <a:t>projects</a:t>
            </a:r>
            <a:r>
              <a:rPr sz="2600" spc="280" dirty="0">
                <a:latin typeface="Calibri"/>
                <a:cs typeface="Calibri"/>
              </a:rPr>
              <a:t> </a:t>
            </a:r>
            <a:r>
              <a:rPr sz="2600" dirty="0">
                <a:latin typeface="Calibri"/>
                <a:cs typeface="Calibri"/>
              </a:rPr>
              <a:t>as</a:t>
            </a:r>
            <a:r>
              <a:rPr sz="2600" spc="275" dirty="0">
                <a:latin typeface="Calibri"/>
                <a:cs typeface="Calibri"/>
              </a:rPr>
              <a:t> </a:t>
            </a:r>
            <a:r>
              <a:rPr sz="2600" dirty="0">
                <a:latin typeface="Calibri"/>
                <a:cs typeface="Calibri"/>
              </a:rPr>
              <a:t>well</a:t>
            </a:r>
            <a:r>
              <a:rPr sz="2600" spc="290" dirty="0">
                <a:latin typeface="Calibri"/>
                <a:cs typeface="Calibri"/>
              </a:rPr>
              <a:t> </a:t>
            </a:r>
            <a:r>
              <a:rPr sz="2600" dirty="0">
                <a:latin typeface="Calibri"/>
                <a:cs typeface="Calibri"/>
              </a:rPr>
              <a:t>as</a:t>
            </a:r>
            <a:r>
              <a:rPr sz="2600" spc="280" dirty="0">
                <a:latin typeface="Calibri"/>
                <a:cs typeface="Calibri"/>
              </a:rPr>
              <a:t> </a:t>
            </a:r>
            <a:r>
              <a:rPr sz="2600" dirty="0">
                <a:latin typeface="Calibri"/>
                <a:cs typeface="Calibri"/>
              </a:rPr>
              <a:t>being</a:t>
            </a:r>
            <a:r>
              <a:rPr sz="2600" spc="285" dirty="0">
                <a:latin typeface="Calibri"/>
                <a:cs typeface="Calibri"/>
              </a:rPr>
              <a:t> </a:t>
            </a:r>
            <a:r>
              <a:rPr sz="2600" dirty="0">
                <a:latin typeface="Calibri"/>
                <a:cs typeface="Calibri"/>
              </a:rPr>
              <a:t>capable</a:t>
            </a:r>
            <a:r>
              <a:rPr sz="2600" spc="280" dirty="0">
                <a:latin typeface="Calibri"/>
                <a:cs typeface="Calibri"/>
              </a:rPr>
              <a:t> </a:t>
            </a:r>
            <a:r>
              <a:rPr sz="2600" dirty="0">
                <a:latin typeface="Calibri"/>
                <a:cs typeface="Calibri"/>
              </a:rPr>
              <a:t>of</a:t>
            </a:r>
            <a:r>
              <a:rPr sz="2600" spc="280" dirty="0">
                <a:latin typeface="Calibri"/>
                <a:cs typeface="Calibri"/>
              </a:rPr>
              <a:t> </a:t>
            </a:r>
            <a:r>
              <a:rPr sz="2600" spc="-10" dirty="0">
                <a:latin typeface="Calibri"/>
                <a:cs typeface="Calibri"/>
              </a:rPr>
              <a:t>performing </a:t>
            </a:r>
            <a:r>
              <a:rPr sz="2600" dirty="0">
                <a:latin typeface="Calibri"/>
                <a:cs typeface="Calibri"/>
              </a:rPr>
              <a:t>normal</a:t>
            </a:r>
            <a:r>
              <a:rPr sz="2600" spc="-80" dirty="0">
                <a:latin typeface="Calibri"/>
                <a:cs typeface="Calibri"/>
              </a:rPr>
              <a:t> </a:t>
            </a:r>
            <a:r>
              <a:rPr sz="2600" dirty="0">
                <a:latin typeface="Calibri"/>
                <a:cs typeface="Calibri"/>
              </a:rPr>
              <a:t>functional</a:t>
            </a:r>
            <a:r>
              <a:rPr sz="2600" spc="-75" dirty="0">
                <a:latin typeface="Calibri"/>
                <a:cs typeface="Calibri"/>
              </a:rPr>
              <a:t> </a:t>
            </a:r>
            <a:r>
              <a:rPr sz="2600" spc="-10" dirty="0">
                <a:latin typeface="Calibri"/>
                <a:cs typeface="Calibri"/>
              </a:rPr>
              <a:t>duties</a:t>
            </a:r>
            <a:endParaRPr sz="2600" dirty="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12</a:t>
            </a:r>
            <a:endParaRPr sz="1200">
              <a:latin typeface="Calibri"/>
              <a:cs typeface="Calibri"/>
            </a:endParaRPr>
          </a:p>
        </p:txBody>
      </p:sp>
      <p:pic>
        <p:nvPicPr>
          <p:cNvPr id="5" name="Picture 4">
            <a:extLst>
              <a:ext uri="{FF2B5EF4-FFF2-40B4-BE49-F238E27FC236}">
                <a16:creationId xmlns:a16="http://schemas.microsoft.com/office/drawing/2014/main" id="{CAC8D610-7485-FAF3-E74D-2AB1A7850FE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92212"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13</a:t>
            </a:r>
            <a:endParaRPr sz="1200">
              <a:latin typeface="Calibri"/>
              <a:cs typeface="Calibri"/>
            </a:endParaRPr>
          </a:p>
        </p:txBody>
      </p:sp>
      <p:grpSp>
        <p:nvGrpSpPr>
          <p:cNvPr id="3" name="object 3"/>
          <p:cNvGrpSpPr/>
          <p:nvPr/>
        </p:nvGrpSpPr>
        <p:grpSpPr>
          <a:xfrm>
            <a:off x="4800600" y="1615439"/>
            <a:ext cx="2593975" cy="859790"/>
            <a:chOff x="4800600" y="1615439"/>
            <a:chExt cx="2593975" cy="859790"/>
          </a:xfrm>
        </p:grpSpPr>
        <p:pic>
          <p:nvPicPr>
            <p:cNvPr id="4" name="object 4"/>
            <p:cNvPicPr/>
            <p:nvPr/>
          </p:nvPicPr>
          <p:blipFill>
            <a:blip r:embed="rId3" cstate="print"/>
            <a:stretch>
              <a:fillRect/>
            </a:stretch>
          </p:blipFill>
          <p:spPr>
            <a:xfrm>
              <a:off x="4828032" y="1627631"/>
              <a:ext cx="2542032" cy="774191"/>
            </a:xfrm>
            <a:prstGeom prst="rect">
              <a:avLst/>
            </a:prstGeom>
          </p:spPr>
        </p:pic>
        <p:pic>
          <p:nvPicPr>
            <p:cNvPr id="5" name="object 5"/>
            <p:cNvPicPr/>
            <p:nvPr/>
          </p:nvPicPr>
          <p:blipFill>
            <a:blip r:embed="rId4" cstate="print"/>
            <a:stretch>
              <a:fillRect/>
            </a:stretch>
          </p:blipFill>
          <p:spPr>
            <a:xfrm>
              <a:off x="4800600" y="1615439"/>
              <a:ext cx="2593848" cy="859536"/>
            </a:xfrm>
            <a:prstGeom prst="rect">
              <a:avLst/>
            </a:prstGeom>
          </p:spPr>
        </p:pic>
        <p:sp>
          <p:nvSpPr>
            <p:cNvPr id="6" name="object 6"/>
            <p:cNvSpPr/>
            <p:nvPr/>
          </p:nvSpPr>
          <p:spPr>
            <a:xfrm>
              <a:off x="4864607" y="1664207"/>
              <a:ext cx="2414270" cy="646430"/>
            </a:xfrm>
            <a:custGeom>
              <a:avLst/>
              <a:gdLst/>
              <a:ahLst/>
              <a:cxnLst/>
              <a:rect l="l" t="t" r="r" b="b"/>
              <a:pathLst>
                <a:path w="2414270" h="646430">
                  <a:moveTo>
                    <a:pt x="2414016" y="0"/>
                  </a:moveTo>
                  <a:lnTo>
                    <a:pt x="0" y="0"/>
                  </a:lnTo>
                  <a:lnTo>
                    <a:pt x="0" y="646330"/>
                  </a:lnTo>
                  <a:lnTo>
                    <a:pt x="2414016" y="646330"/>
                  </a:lnTo>
                  <a:lnTo>
                    <a:pt x="2414016" y="0"/>
                  </a:lnTo>
                  <a:close/>
                </a:path>
              </a:pathLst>
            </a:custGeom>
            <a:solidFill>
              <a:srgbClr val="FFFFFF"/>
            </a:solidFill>
          </p:spPr>
          <p:txBody>
            <a:bodyPr wrap="square" lIns="0" tIns="0" rIns="0" bIns="0" rtlCol="0"/>
            <a:lstStyle/>
            <a:p>
              <a:endParaRPr/>
            </a:p>
          </p:txBody>
        </p:sp>
        <p:sp>
          <p:nvSpPr>
            <p:cNvPr id="7" name="object 7"/>
            <p:cNvSpPr/>
            <p:nvPr/>
          </p:nvSpPr>
          <p:spPr>
            <a:xfrm>
              <a:off x="4864607" y="1664207"/>
              <a:ext cx="2414270" cy="646430"/>
            </a:xfrm>
            <a:custGeom>
              <a:avLst/>
              <a:gdLst/>
              <a:ahLst/>
              <a:cxnLst/>
              <a:rect l="l" t="t" r="r" b="b"/>
              <a:pathLst>
                <a:path w="2414270" h="646430">
                  <a:moveTo>
                    <a:pt x="0" y="0"/>
                  </a:moveTo>
                  <a:lnTo>
                    <a:pt x="2414016" y="0"/>
                  </a:lnTo>
                  <a:lnTo>
                    <a:pt x="2414016" y="646331"/>
                  </a:lnTo>
                  <a:lnTo>
                    <a:pt x="0" y="646331"/>
                  </a:lnTo>
                  <a:lnTo>
                    <a:pt x="0" y="0"/>
                  </a:lnTo>
                  <a:close/>
                </a:path>
              </a:pathLst>
            </a:custGeom>
            <a:ln w="22225">
              <a:solidFill>
                <a:srgbClr val="4472C4"/>
              </a:solidFill>
            </a:ln>
          </p:spPr>
          <p:txBody>
            <a:bodyPr wrap="square" lIns="0" tIns="0" rIns="0" bIns="0" rtlCol="0"/>
            <a:lstStyle/>
            <a:p>
              <a:endParaRPr/>
            </a:p>
          </p:txBody>
        </p:sp>
      </p:grpSp>
      <p:sp>
        <p:nvSpPr>
          <p:cNvPr id="8" name="object 8"/>
          <p:cNvSpPr txBox="1"/>
          <p:nvPr/>
        </p:nvSpPr>
        <p:spPr>
          <a:xfrm>
            <a:off x="4953603" y="1685035"/>
            <a:ext cx="2237740" cy="565150"/>
          </a:xfrm>
          <a:prstGeom prst="rect">
            <a:avLst/>
          </a:prstGeom>
        </p:spPr>
        <p:txBody>
          <a:bodyPr vert="horz" wrap="square" lIns="0" tIns="12700" rIns="0" bIns="0" rtlCol="0">
            <a:spAutoFit/>
          </a:bodyPr>
          <a:lstStyle/>
          <a:p>
            <a:pPr algn="ctr">
              <a:lnSpc>
                <a:spcPts val="2125"/>
              </a:lnSpc>
              <a:spcBef>
                <a:spcPts val="100"/>
              </a:spcBef>
            </a:pPr>
            <a:r>
              <a:rPr sz="1800" dirty="0">
                <a:latin typeface="Calibri"/>
                <a:cs typeface="Calibri"/>
              </a:rPr>
              <a:t>Zeta</a:t>
            </a:r>
            <a:r>
              <a:rPr sz="1800" spc="-30" dirty="0">
                <a:latin typeface="Calibri"/>
                <a:cs typeface="Calibri"/>
              </a:rPr>
              <a:t> </a:t>
            </a:r>
            <a:r>
              <a:rPr sz="1800" spc="-10" dirty="0">
                <a:latin typeface="Calibri"/>
                <a:cs typeface="Calibri"/>
              </a:rPr>
              <a:t>Manufacturing</a:t>
            </a:r>
            <a:r>
              <a:rPr sz="1800" spc="-25" dirty="0">
                <a:latin typeface="Calibri"/>
                <a:cs typeface="Calibri"/>
              </a:rPr>
              <a:t> </a:t>
            </a:r>
            <a:r>
              <a:rPr sz="1800" spc="-20" dirty="0">
                <a:latin typeface="Calibri"/>
                <a:cs typeface="Calibri"/>
              </a:rPr>
              <a:t>Inc.</a:t>
            </a:r>
            <a:endParaRPr sz="1800">
              <a:latin typeface="Calibri"/>
              <a:cs typeface="Calibri"/>
            </a:endParaRPr>
          </a:p>
          <a:p>
            <a:pPr algn="ctr">
              <a:lnSpc>
                <a:spcPts val="2125"/>
              </a:lnSpc>
            </a:pPr>
            <a:r>
              <a:rPr sz="1800" spc="-10" dirty="0">
                <a:latin typeface="Calibri"/>
                <a:cs typeface="Calibri"/>
              </a:rPr>
              <a:t>President</a:t>
            </a:r>
            <a:endParaRPr sz="1800">
              <a:latin typeface="Calibri"/>
              <a:cs typeface="Calibri"/>
            </a:endParaRPr>
          </a:p>
        </p:txBody>
      </p:sp>
      <p:grpSp>
        <p:nvGrpSpPr>
          <p:cNvPr id="9" name="object 9"/>
          <p:cNvGrpSpPr/>
          <p:nvPr/>
        </p:nvGrpSpPr>
        <p:grpSpPr>
          <a:xfrm>
            <a:off x="2026920" y="2581655"/>
            <a:ext cx="2542540" cy="591820"/>
            <a:chOff x="2026920" y="2581655"/>
            <a:chExt cx="2542540" cy="591820"/>
          </a:xfrm>
        </p:grpSpPr>
        <p:pic>
          <p:nvPicPr>
            <p:cNvPr id="10" name="object 10"/>
            <p:cNvPicPr/>
            <p:nvPr/>
          </p:nvPicPr>
          <p:blipFill>
            <a:blip r:embed="rId5" cstate="print"/>
            <a:stretch>
              <a:fillRect/>
            </a:stretch>
          </p:blipFill>
          <p:spPr>
            <a:xfrm>
              <a:off x="2026920" y="2593847"/>
              <a:ext cx="2542032" cy="496824"/>
            </a:xfrm>
            <a:prstGeom prst="rect">
              <a:avLst/>
            </a:prstGeom>
          </p:spPr>
        </p:pic>
        <p:pic>
          <p:nvPicPr>
            <p:cNvPr id="11" name="object 11"/>
            <p:cNvPicPr/>
            <p:nvPr/>
          </p:nvPicPr>
          <p:blipFill>
            <a:blip r:embed="rId6" cstate="print"/>
            <a:stretch>
              <a:fillRect/>
            </a:stretch>
          </p:blipFill>
          <p:spPr>
            <a:xfrm>
              <a:off x="2270760" y="2581655"/>
              <a:ext cx="2054352" cy="591312"/>
            </a:xfrm>
            <a:prstGeom prst="rect">
              <a:avLst/>
            </a:prstGeom>
          </p:spPr>
        </p:pic>
        <p:sp>
          <p:nvSpPr>
            <p:cNvPr id="12" name="object 12"/>
            <p:cNvSpPr/>
            <p:nvPr/>
          </p:nvSpPr>
          <p:spPr>
            <a:xfrm>
              <a:off x="2063814" y="2630346"/>
              <a:ext cx="2414270" cy="369570"/>
            </a:xfrm>
            <a:custGeom>
              <a:avLst/>
              <a:gdLst/>
              <a:ahLst/>
              <a:cxnLst/>
              <a:rect l="l" t="t" r="r" b="b"/>
              <a:pathLst>
                <a:path w="2414270" h="369569">
                  <a:moveTo>
                    <a:pt x="2414016" y="0"/>
                  </a:moveTo>
                  <a:lnTo>
                    <a:pt x="0" y="0"/>
                  </a:lnTo>
                  <a:lnTo>
                    <a:pt x="0" y="369331"/>
                  </a:lnTo>
                  <a:lnTo>
                    <a:pt x="2414016" y="369331"/>
                  </a:lnTo>
                  <a:lnTo>
                    <a:pt x="2414016" y="0"/>
                  </a:lnTo>
                  <a:close/>
                </a:path>
              </a:pathLst>
            </a:custGeom>
            <a:solidFill>
              <a:srgbClr val="FFFFFF"/>
            </a:solidFill>
          </p:spPr>
          <p:txBody>
            <a:bodyPr wrap="square" lIns="0" tIns="0" rIns="0" bIns="0" rtlCol="0"/>
            <a:lstStyle/>
            <a:p>
              <a:endParaRPr/>
            </a:p>
          </p:txBody>
        </p:sp>
        <p:sp>
          <p:nvSpPr>
            <p:cNvPr id="13" name="object 13"/>
            <p:cNvSpPr/>
            <p:nvPr/>
          </p:nvSpPr>
          <p:spPr>
            <a:xfrm>
              <a:off x="2063814" y="2630346"/>
              <a:ext cx="2414270" cy="369570"/>
            </a:xfrm>
            <a:custGeom>
              <a:avLst/>
              <a:gdLst/>
              <a:ahLst/>
              <a:cxnLst/>
              <a:rect l="l" t="t" r="r" b="b"/>
              <a:pathLst>
                <a:path w="2414270" h="369569">
                  <a:moveTo>
                    <a:pt x="0" y="0"/>
                  </a:moveTo>
                  <a:lnTo>
                    <a:pt x="2414016" y="0"/>
                  </a:lnTo>
                  <a:lnTo>
                    <a:pt x="2414016" y="369332"/>
                  </a:lnTo>
                  <a:lnTo>
                    <a:pt x="0" y="369332"/>
                  </a:lnTo>
                  <a:lnTo>
                    <a:pt x="0" y="0"/>
                  </a:lnTo>
                  <a:close/>
                </a:path>
              </a:pathLst>
            </a:custGeom>
            <a:ln w="22225">
              <a:solidFill>
                <a:srgbClr val="4472C4"/>
              </a:solidFill>
            </a:ln>
          </p:spPr>
          <p:txBody>
            <a:bodyPr wrap="square" lIns="0" tIns="0" rIns="0" bIns="0" rtlCol="0"/>
            <a:lstStyle/>
            <a:p>
              <a:endParaRPr/>
            </a:p>
          </p:txBody>
        </p:sp>
      </p:grpSp>
      <p:sp>
        <p:nvSpPr>
          <p:cNvPr id="14" name="object 14"/>
          <p:cNvSpPr txBox="1"/>
          <p:nvPr/>
        </p:nvSpPr>
        <p:spPr>
          <a:xfrm>
            <a:off x="2423605" y="2651252"/>
            <a:ext cx="169545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Human</a:t>
            </a:r>
            <a:r>
              <a:rPr sz="1800" spc="-30" dirty="0">
                <a:latin typeface="Calibri"/>
                <a:cs typeface="Calibri"/>
              </a:rPr>
              <a:t> </a:t>
            </a:r>
            <a:r>
              <a:rPr sz="1800" spc="-10" dirty="0">
                <a:latin typeface="Calibri"/>
                <a:cs typeface="Calibri"/>
              </a:rPr>
              <a:t>Resources</a:t>
            </a:r>
            <a:endParaRPr sz="1800">
              <a:latin typeface="Calibri"/>
              <a:cs typeface="Calibri"/>
            </a:endParaRPr>
          </a:p>
        </p:txBody>
      </p:sp>
      <p:grpSp>
        <p:nvGrpSpPr>
          <p:cNvPr id="15" name="object 15"/>
          <p:cNvGrpSpPr/>
          <p:nvPr/>
        </p:nvGrpSpPr>
        <p:grpSpPr>
          <a:xfrm>
            <a:off x="7437119" y="2548127"/>
            <a:ext cx="1750060" cy="594360"/>
            <a:chOff x="7437119" y="2548127"/>
            <a:chExt cx="1750060" cy="594360"/>
          </a:xfrm>
        </p:grpSpPr>
        <p:pic>
          <p:nvPicPr>
            <p:cNvPr id="16" name="object 16"/>
            <p:cNvPicPr/>
            <p:nvPr/>
          </p:nvPicPr>
          <p:blipFill>
            <a:blip r:embed="rId7" cstate="print"/>
            <a:stretch>
              <a:fillRect/>
            </a:stretch>
          </p:blipFill>
          <p:spPr>
            <a:xfrm>
              <a:off x="7437119" y="2560319"/>
              <a:ext cx="1749552" cy="496824"/>
            </a:xfrm>
            <a:prstGeom prst="rect">
              <a:avLst/>
            </a:prstGeom>
          </p:spPr>
        </p:pic>
        <p:pic>
          <p:nvPicPr>
            <p:cNvPr id="17" name="object 17"/>
            <p:cNvPicPr/>
            <p:nvPr/>
          </p:nvPicPr>
          <p:blipFill>
            <a:blip r:embed="rId8" cstate="print"/>
            <a:stretch>
              <a:fillRect/>
            </a:stretch>
          </p:blipFill>
          <p:spPr>
            <a:xfrm>
              <a:off x="7644383" y="2548127"/>
              <a:ext cx="1335024" cy="594360"/>
            </a:xfrm>
            <a:prstGeom prst="rect">
              <a:avLst/>
            </a:prstGeom>
          </p:spPr>
        </p:pic>
        <p:sp>
          <p:nvSpPr>
            <p:cNvPr id="18" name="object 18"/>
            <p:cNvSpPr/>
            <p:nvPr/>
          </p:nvSpPr>
          <p:spPr>
            <a:xfrm>
              <a:off x="7473695" y="2598003"/>
              <a:ext cx="1621790" cy="369570"/>
            </a:xfrm>
            <a:custGeom>
              <a:avLst/>
              <a:gdLst/>
              <a:ahLst/>
              <a:cxnLst/>
              <a:rect l="l" t="t" r="r" b="b"/>
              <a:pathLst>
                <a:path w="1621790" h="369569">
                  <a:moveTo>
                    <a:pt x="1621535" y="0"/>
                  </a:moveTo>
                  <a:lnTo>
                    <a:pt x="0" y="0"/>
                  </a:lnTo>
                  <a:lnTo>
                    <a:pt x="0" y="369331"/>
                  </a:lnTo>
                  <a:lnTo>
                    <a:pt x="1621535" y="369331"/>
                  </a:lnTo>
                  <a:lnTo>
                    <a:pt x="1621535" y="0"/>
                  </a:lnTo>
                  <a:close/>
                </a:path>
              </a:pathLst>
            </a:custGeom>
            <a:solidFill>
              <a:srgbClr val="FFFFFF"/>
            </a:solidFill>
          </p:spPr>
          <p:txBody>
            <a:bodyPr wrap="square" lIns="0" tIns="0" rIns="0" bIns="0" rtlCol="0"/>
            <a:lstStyle/>
            <a:p>
              <a:endParaRPr/>
            </a:p>
          </p:txBody>
        </p:sp>
        <p:sp>
          <p:nvSpPr>
            <p:cNvPr id="19" name="object 19"/>
            <p:cNvSpPr/>
            <p:nvPr/>
          </p:nvSpPr>
          <p:spPr>
            <a:xfrm>
              <a:off x="7473695" y="2598003"/>
              <a:ext cx="1621790" cy="369570"/>
            </a:xfrm>
            <a:custGeom>
              <a:avLst/>
              <a:gdLst/>
              <a:ahLst/>
              <a:cxnLst/>
              <a:rect l="l" t="t" r="r" b="b"/>
              <a:pathLst>
                <a:path w="1621790" h="369569">
                  <a:moveTo>
                    <a:pt x="0" y="0"/>
                  </a:moveTo>
                  <a:lnTo>
                    <a:pt x="1621536" y="0"/>
                  </a:lnTo>
                  <a:lnTo>
                    <a:pt x="1621536" y="369332"/>
                  </a:lnTo>
                  <a:lnTo>
                    <a:pt x="0" y="369332"/>
                  </a:lnTo>
                  <a:lnTo>
                    <a:pt x="0" y="0"/>
                  </a:lnTo>
                  <a:close/>
                </a:path>
              </a:pathLst>
            </a:custGeom>
            <a:ln w="22225">
              <a:solidFill>
                <a:srgbClr val="4472C4"/>
              </a:solidFill>
            </a:ln>
          </p:spPr>
          <p:txBody>
            <a:bodyPr wrap="square" lIns="0" tIns="0" rIns="0" bIns="0" rtlCol="0"/>
            <a:lstStyle/>
            <a:p>
              <a:endParaRPr/>
            </a:p>
          </p:txBody>
        </p:sp>
      </p:grpSp>
      <p:sp>
        <p:nvSpPr>
          <p:cNvPr id="20" name="object 20"/>
          <p:cNvSpPr txBox="1"/>
          <p:nvPr/>
        </p:nvSpPr>
        <p:spPr>
          <a:xfrm>
            <a:off x="7796624" y="2617723"/>
            <a:ext cx="97536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Marketing</a:t>
            </a:r>
            <a:endParaRPr sz="1800">
              <a:latin typeface="Calibri"/>
              <a:cs typeface="Calibri"/>
            </a:endParaRPr>
          </a:p>
        </p:txBody>
      </p:sp>
      <p:grpSp>
        <p:nvGrpSpPr>
          <p:cNvPr id="21" name="object 21"/>
          <p:cNvGrpSpPr/>
          <p:nvPr/>
        </p:nvGrpSpPr>
        <p:grpSpPr>
          <a:xfrm>
            <a:off x="0" y="3639311"/>
            <a:ext cx="2192020" cy="591820"/>
            <a:chOff x="0" y="3639311"/>
            <a:chExt cx="2192020" cy="591820"/>
          </a:xfrm>
        </p:grpSpPr>
        <p:pic>
          <p:nvPicPr>
            <p:cNvPr id="22" name="object 22"/>
            <p:cNvPicPr/>
            <p:nvPr/>
          </p:nvPicPr>
          <p:blipFill>
            <a:blip r:embed="rId9" cstate="print"/>
            <a:stretch>
              <a:fillRect/>
            </a:stretch>
          </p:blipFill>
          <p:spPr>
            <a:xfrm>
              <a:off x="0" y="3651503"/>
              <a:ext cx="2191512" cy="496824"/>
            </a:xfrm>
            <a:prstGeom prst="rect">
              <a:avLst/>
            </a:prstGeom>
          </p:spPr>
        </p:pic>
        <p:pic>
          <p:nvPicPr>
            <p:cNvPr id="23" name="object 23"/>
            <p:cNvPicPr/>
            <p:nvPr/>
          </p:nvPicPr>
          <p:blipFill>
            <a:blip r:embed="rId10" cstate="print"/>
            <a:stretch>
              <a:fillRect/>
            </a:stretch>
          </p:blipFill>
          <p:spPr>
            <a:xfrm>
              <a:off x="6095" y="3639311"/>
              <a:ext cx="2176272" cy="591312"/>
            </a:xfrm>
            <a:prstGeom prst="rect">
              <a:avLst/>
            </a:prstGeom>
          </p:spPr>
        </p:pic>
        <p:sp>
          <p:nvSpPr>
            <p:cNvPr id="24" name="object 24"/>
            <p:cNvSpPr/>
            <p:nvPr/>
          </p:nvSpPr>
          <p:spPr>
            <a:xfrm>
              <a:off x="34387" y="3687711"/>
              <a:ext cx="2066289" cy="369570"/>
            </a:xfrm>
            <a:custGeom>
              <a:avLst/>
              <a:gdLst/>
              <a:ahLst/>
              <a:cxnLst/>
              <a:rect l="l" t="t" r="r" b="b"/>
              <a:pathLst>
                <a:path w="2066289" h="369570">
                  <a:moveTo>
                    <a:pt x="2066117" y="0"/>
                  </a:moveTo>
                  <a:lnTo>
                    <a:pt x="0" y="0"/>
                  </a:lnTo>
                  <a:lnTo>
                    <a:pt x="0" y="369332"/>
                  </a:lnTo>
                  <a:lnTo>
                    <a:pt x="2066117" y="369332"/>
                  </a:lnTo>
                  <a:lnTo>
                    <a:pt x="2066117" y="0"/>
                  </a:lnTo>
                  <a:close/>
                </a:path>
              </a:pathLst>
            </a:custGeom>
            <a:solidFill>
              <a:srgbClr val="FFFFFF"/>
            </a:solidFill>
          </p:spPr>
          <p:txBody>
            <a:bodyPr wrap="square" lIns="0" tIns="0" rIns="0" bIns="0" rtlCol="0"/>
            <a:lstStyle/>
            <a:p>
              <a:endParaRPr/>
            </a:p>
          </p:txBody>
        </p:sp>
        <p:sp>
          <p:nvSpPr>
            <p:cNvPr id="25" name="object 25"/>
            <p:cNvSpPr/>
            <p:nvPr/>
          </p:nvSpPr>
          <p:spPr>
            <a:xfrm>
              <a:off x="34387" y="3687711"/>
              <a:ext cx="2066289" cy="369570"/>
            </a:xfrm>
            <a:custGeom>
              <a:avLst/>
              <a:gdLst/>
              <a:ahLst/>
              <a:cxnLst/>
              <a:rect l="l" t="t" r="r" b="b"/>
              <a:pathLst>
                <a:path w="2066289" h="369570">
                  <a:moveTo>
                    <a:pt x="0" y="0"/>
                  </a:moveTo>
                  <a:lnTo>
                    <a:pt x="2066117" y="0"/>
                  </a:lnTo>
                  <a:lnTo>
                    <a:pt x="2066117" y="369332"/>
                  </a:lnTo>
                  <a:lnTo>
                    <a:pt x="0" y="369332"/>
                  </a:lnTo>
                  <a:lnTo>
                    <a:pt x="0" y="0"/>
                  </a:lnTo>
                  <a:close/>
                </a:path>
              </a:pathLst>
            </a:custGeom>
            <a:ln w="22225">
              <a:solidFill>
                <a:srgbClr val="4472C4"/>
              </a:solidFill>
            </a:ln>
          </p:spPr>
          <p:txBody>
            <a:bodyPr wrap="square" lIns="0" tIns="0" rIns="0" bIns="0" rtlCol="0"/>
            <a:lstStyle/>
            <a:p>
              <a:endParaRPr/>
            </a:p>
          </p:txBody>
        </p:sp>
      </p:grpSp>
      <p:sp>
        <p:nvSpPr>
          <p:cNvPr id="26" name="object 26"/>
          <p:cNvSpPr txBox="1"/>
          <p:nvPr/>
        </p:nvSpPr>
        <p:spPr>
          <a:xfrm>
            <a:off x="157491" y="3708907"/>
            <a:ext cx="18205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Director</a:t>
            </a:r>
            <a:r>
              <a:rPr sz="1800" spc="-60" dirty="0">
                <a:latin typeface="Calibri"/>
                <a:cs typeface="Calibri"/>
              </a:rPr>
              <a:t> </a:t>
            </a:r>
            <a:r>
              <a:rPr sz="1800" dirty="0">
                <a:latin typeface="Calibri"/>
                <a:cs typeface="Calibri"/>
              </a:rPr>
              <a:t>of</a:t>
            </a:r>
            <a:r>
              <a:rPr sz="1800" spc="-55" dirty="0">
                <a:latin typeface="Calibri"/>
                <a:cs typeface="Calibri"/>
              </a:rPr>
              <a:t> </a:t>
            </a:r>
            <a:r>
              <a:rPr sz="1800" spc="-10" dirty="0">
                <a:latin typeface="Calibri"/>
                <a:cs typeface="Calibri"/>
              </a:rPr>
              <a:t>Projects</a:t>
            </a:r>
            <a:endParaRPr sz="1800">
              <a:latin typeface="Calibri"/>
              <a:cs typeface="Calibri"/>
            </a:endParaRPr>
          </a:p>
        </p:txBody>
      </p:sp>
      <p:grpSp>
        <p:nvGrpSpPr>
          <p:cNvPr id="27" name="object 27"/>
          <p:cNvGrpSpPr/>
          <p:nvPr/>
        </p:nvGrpSpPr>
        <p:grpSpPr>
          <a:xfrm>
            <a:off x="3029711" y="3621023"/>
            <a:ext cx="1487805" cy="594360"/>
            <a:chOff x="3029711" y="3621023"/>
            <a:chExt cx="1487805" cy="594360"/>
          </a:xfrm>
        </p:grpSpPr>
        <p:pic>
          <p:nvPicPr>
            <p:cNvPr id="28" name="object 28"/>
            <p:cNvPicPr/>
            <p:nvPr/>
          </p:nvPicPr>
          <p:blipFill>
            <a:blip r:embed="rId11" cstate="print"/>
            <a:stretch>
              <a:fillRect/>
            </a:stretch>
          </p:blipFill>
          <p:spPr>
            <a:xfrm>
              <a:off x="3054095" y="3633215"/>
              <a:ext cx="1438656" cy="496824"/>
            </a:xfrm>
            <a:prstGeom prst="rect">
              <a:avLst/>
            </a:prstGeom>
          </p:spPr>
        </p:pic>
        <p:pic>
          <p:nvPicPr>
            <p:cNvPr id="29" name="object 29"/>
            <p:cNvPicPr/>
            <p:nvPr/>
          </p:nvPicPr>
          <p:blipFill>
            <a:blip r:embed="rId12" cstate="print"/>
            <a:stretch>
              <a:fillRect/>
            </a:stretch>
          </p:blipFill>
          <p:spPr>
            <a:xfrm>
              <a:off x="3029711" y="3621023"/>
              <a:ext cx="1487424" cy="594359"/>
            </a:xfrm>
            <a:prstGeom prst="rect">
              <a:avLst/>
            </a:prstGeom>
          </p:spPr>
        </p:pic>
        <p:sp>
          <p:nvSpPr>
            <p:cNvPr id="30" name="object 30"/>
            <p:cNvSpPr/>
            <p:nvPr/>
          </p:nvSpPr>
          <p:spPr>
            <a:xfrm>
              <a:off x="3090537" y="3671056"/>
              <a:ext cx="1310640" cy="369570"/>
            </a:xfrm>
            <a:custGeom>
              <a:avLst/>
              <a:gdLst/>
              <a:ahLst/>
              <a:cxnLst/>
              <a:rect l="l" t="t" r="r" b="b"/>
              <a:pathLst>
                <a:path w="1310639" h="369570">
                  <a:moveTo>
                    <a:pt x="1310639" y="0"/>
                  </a:moveTo>
                  <a:lnTo>
                    <a:pt x="0" y="0"/>
                  </a:lnTo>
                  <a:lnTo>
                    <a:pt x="0" y="369332"/>
                  </a:lnTo>
                  <a:lnTo>
                    <a:pt x="1310639" y="369332"/>
                  </a:lnTo>
                  <a:lnTo>
                    <a:pt x="1310639" y="0"/>
                  </a:lnTo>
                  <a:close/>
                </a:path>
              </a:pathLst>
            </a:custGeom>
            <a:solidFill>
              <a:srgbClr val="FFFFFF"/>
            </a:solidFill>
          </p:spPr>
          <p:txBody>
            <a:bodyPr wrap="square" lIns="0" tIns="0" rIns="0" bIns="0" rtlCol="0"/>
            <a:lstStyle/>
            <a:p>
              <a:endParaRPr/>
            </a:p>
          </p:txBody>
        </p:sp>
        <p:sp>
          <p:nvSpPr>
            <p:cNvPr id="31" name="object 31"/>
            <p:cNvSpPr/>
            <p:nvPr/>
          </p:nvSpPr>
          <p:spPr>
            <a:xfrm>
              <a:off x="3090537" y="3671056"/>
              <a:ext cx="1310640" cy="369570"/>
            </a:xfrm>
            <a:custGeom>
              <a:avLst/>
              <a:gdLst/>
              <a:ahLst/>
              <a:cxnLst/>
              <a:rect l="l" t="t" r="r" b="b"/>
              <a:pathLst>
                <a:path w="1310639" h="369570">
                  <a:moveTo>
                    <a:pt x="0" y="0"/>
                  </a:moveTo>
                  <a:lnTo>
                    <a:pt x="1310640" y="0"/>
                  </a:lnTo>
                  <a:lnTo>
                    <a:pt x="1310640" y="369332"/>
                  </a:lnTo>
                  <a:lnTo>
                    <a:pt x="0" y="369332"/>
                  </a:lnTo>
                  <a:lnTo>
                    <a:pt x="0" y="0"/>
                  </a:lnTo>
                  <a:close/>
                </a:path>
              </a:pathLst>
            </a:custGeom>
            <a:ln w="22225">
              <a:solidFill>
                <a:srgbClr val="4472C4"/>
              </a:solidFill>
            </a:ln>
          </p:spPr>
          <p:txBody>
            <a:bodyPr wrap="square" lIns="0" tIns="0" rIns="0" bIns="0" rtlCol="0"/>
            <a:lstStyle/>
            <a:p>
              <a:endParaRPr/>
            </a:p>
          </p:txBody>
        </p:sp>
      </p:grpSp>
      <p:sp>
        <p:nvSpPr>
          <p:cNvPr id="32" name="object 32"/>
          <p:cNvSpPr txBox="1"/>
          <p:nvPr/>
        </p:nvSpPr>
        <p:spPr>
          <a:xfrm>
            <a:off x="3182294" y="3690620"/>
            <a:ext cx="112712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Engineering</a:t>
            </a:r>
            <a:endParaRPr sz="1800">
              <a:latin typeface="Calibri"/>
              <a:cs typeface="Calibri"/>
            </a:endParaRPr>
          </a:p>
        </p:txBody>
      </p:sp>
      <p:grpSp>
        <p:nvGrpSpPr>
          <p:cNvPr id="33" name="object 33"/>
          <p:cNvGrpSpPr/>
          <p:nvPr/>
        </p:nvGrpSpPr>
        <p:grpSpPr>
          <a:xfrm>
            <a:off x="9851135" y="3605784"/>
            <a:ext cx="1435735" cy="591820"/>
            <a:chOff x="9851135" y="3605784"/>
            <a:chExt cx="1435735" cy="591820"/>
          </a:xfrm>
        </p:grpSpPr>
        <p:pic>
          <p:nvPicPr>
            <p:cNvPr id="34" name="object 34"/>
            <p:cNvPicPr/>
            <p:nvPr/>
          </p:nvPicPr>
          <p:blipFill>
            <a:blip r:embed="rId13" cstate="print"/>
            <a:stretch>
              <a:fillRect/>
            </a:stretch>
          </p:blipFill>
          <p:spPr>
            <a:xfrm>
              <a:off x="9851135" y="3617976"/>
              <a:ext cx="1435607" cy="496824"/>
            </a:xfrm>
            <a:prstGeom prst="rect">
              <a:avLst/>
            </a:prstGeom>
          </p:spPr>
        </p:pic>
        <p:pic>
          <p:nvPicPr>
            <p:cNvPr id="35" name="object 35"/>
            <p:cNvPicPr/>
            <p:nvPr/>
          </p:nvPicPr>
          <p:blipFill>
            <a:blip r:embed="rId14" cstate="print"/>
            <a:stretch>
              <a:fillRect/>
            </a:stretch>
          </p:blipFill>
          <p:spPr>
            <a:xfrm>
              <a:off x="9899903" y="3605784"/>
              <a:ext cx="1335024" cy="591312"/>
            </a:xfrm>
            <a:prstGeom prst="rect">
              <a:avLst/>
            </a:prstGeom>
          </p:spPr>
        </p:pic>
        <p:sp>
          <p:nvSpPr>
            <p:cNvPr id="36" name="object 36"/>
            <p:cNvSpPr/>
            <p:nvPr/>
          </p:nvSpPr>
          <p:spPr>
            <a:xfrm>
              <a:off x="9886121" y="3654186"/>
              <a:ext cx="1310640" cy="369570"/>
            </a:xfrm>
            <a:custGeom>
              <a:avLst/>
              <a:gdLst/>
              <a:ahLst/>
              <a:cxnLst/>
              <a:rect l="l" t="t" r="r" b="b"/>
              <a:pathLst>
                <a:path w="1310640" h="369570">
                  <a:moveTo>
                    <a:pt x="1310640" y="0"/>
                  </a:moveTo>
                  <a:lnTo>
                    <a:pt x="0" y="0"/>
                  </a:lnTo>
                  <a:lnTo>
                    <a:pt x="0" y="369331"/>
                  </a:lnTo>
                  <a:lnTo>
                    <a:pt x="1310640" y="369331"/>
                  </a:lnTo>
                  <a:lnTo>
                    <a:pt x="1310640" y="0"/>
                  </a:lnTo>
                  <a:close/>
                </a:path>
              </a:pathLst>
            </a:custGeom>
            <a:solidFill>
              <a:srgbClr val="FFFFFF"/>
            </a:solidFill>
          </p:spPr>
          <p:txBody>
            <a:bodyPr wrap="square" lIns="0" tIns="0" rIns="0" bIns="0" rtlCol="0"/>
            <a:lstStyle/>
            <a:p>
              <a:endParaRPr/>
            </a:p>
          </p:txBody>
        </p:sp>
        <p:sp>
          <p:nvSpPr>
            <p:cNvPr id="37" name="object 37"/>
            <p:cNvSpPr/>
            <p:nvPr/>
          </p:nvSpPr>
          <p:spPr>
            <a:xfrm>
              <a:off x="9886121" y="3654186"/>
              <a:ext cx="1310640" cy="369570"/>
            </a:xfrm>
            <a:custGeom>
              <a:avLst/>
              <a:gdLst/>
              <a:ahLst/>
              <a:cxnLst/>
              <a:rect l="l" t="t" r="r" b="b"/>
              <a:pathLst>
                <a:path w="1310640" h="369570">
                  <a:moveTo>
                    <a:pt x="0" y="0"/>
                  </a:moveTo>
                  <a:lnTo>
                    <a:pt x="1310640" y="0"/>
                  </a:lnTo>
                  <a:lnTo>
                    <a:pt x="1310640" y="369332"/>
                  </a:lnTo>
                  <a:lnTo>
                    <a:pt x="0" y="369332"/>
                  </a:lnTo>
                  <a:lnTo>
                    <a:pt x="0" y="0"/>
                  </a:lnTo>
                  <a:close/>
                </a:path>
              </a:pathLst>
            </a:custGeom>
            <a:ln w="22225">
              <a:solidFill>
                <a:srgbClr val="4472C4"/>
              </a:solidFill>
            </a:ln>
          </p:spPr>
          <p:txBody>
            <a:bodyPr wrap="square" lIns="0" tIns="0" rIns="0" bIns="0" rtlCol="0"/>
            <a:lstStyle/>
            <a:p>
              <a:endParaRPr/>
            </a:p>
          </p:txBody>
        </p:sp>
      </p:grpSp>
      <p:sp>
        <p:nvSpPr>
          <p:cNvPr id="38" name="object 38"/>
          <p:cNvSpPr txBox="1"/>
          <p:nvPr/>
        </p:nvSpPr>
        <p:spPr>
          <a:xfrm>
            <a:off x="10053601" y="3675379"/>
            <a:ext cx="97536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Marketing</a:t>
            </a:r>
            <a:endParaRPr sz="1800">
              <a:latin typeface="Calibri"/>
              <a:cs typeface="Calibri"/>
            </a:endParaRPr>
          </a:p>
        </p:txBody>
      </p:sp>
      <p:grpSp>
        <p:nvGrpSpPr>
          <p:cNvPr id="39" name="object 39"/>
          <p:cNvGrpSpPr/>
          <p:nvPr/>
        </p:nvGrpSpPr>
        <p:grpSpPr>
          <a:xfrm>
            <a:off x="85343" y="2297839"/>
            <a:ext cx="10447020" cy="4560570"/>
            <a:chOff x="85343" y="2297839"/>
            <a:chExt cx="10447020" cy="4560570"/>
          </a:xfrm>
        </p:grpSpPr>
        <p:pic>
          <p:nvPicPr>
            <p:cNvPr id="40" name="object 40"/>
            <p:cNvPicPr/>
            <p:nvPr/>
          </p:nvPicPr>
          <p:blipFill>
            <a:blip r:embed="rId15" cstate="print"/>
            <a:stretch>
              <a:fillRect/>
            </a:stretch>
          </p:blipFill>
          <p:spPr>
            <a:xfrm>
              <a:off x="7178039" y="3617976"/>
              <a:ext cx="1749552" cy="496824"/>
            </a:xfrm>
            <a:prstGeom prst="rect">
              <a:avLst/>
            </a:prstGeom>
          </p:spPr>
        </p:pic>
        <p:pic>
          <p:nvPicPr>
            <p:cNvPr id="41" name="object 41"/>
            <p:cNvPicPr/>
            <p:nvPr/>
          </p:nvPicPr>
          <p:blipFill>
            <a:blip r:embed="rId16" cstate="print"/>
            <a:stretch>
              <a:fillRect/>
            </a:stretch>
          </p:blipFill>
          <p:spPr>
            <a:xfrm>
              <a:off x="7174991" y="3605784"/>
              <a:ext cx="1758696" cy="591312"/>
            </a:xfrm>
            <a:prstGeom prst="rect">
              <a:avLst/>
            </a:prstGeom>
          </p:spPr>
        </p:pic>
        <p:sp>
          <p:nvSpPr>
            <p:cNvPr id="42" name="object 42"/>
            <p:cNvSpPr/>
            <p:nvPr/>
          </p:nvSpPr>
          <p:spPr>
            <a:xfrm>
              <a:off x="7215771" y="3654187"/>
              <a:ext cx="1621790" cy="369570"/>
            </a:xfrm>
            <a:custGeom>
              <a:avLst/>
              <a:gdLst/>
              <a:ahLst/>
              <a:cxnLst/>
              <a:rect l="l" t="t" r="r" b="b"/>
              <a:pathLst>
                <a:path w="1621790" h="369570">
                  <a:moveTo>
                    <a:pt x="1621535" y="0"/>
                  </a:moveTo>
                  <a:lnTo>
                    <a:pt x="0" y="0"/>
                  </a:lnTo>
                  <a:lnTo>
                    <a:pt x="0" y="369329"/>
                  </a:lnTo>
                  <a:lnTo>
                    <a:pt x="1621535" y="369329"/>
                  </a:lnTo>
                  <a:lnTo>
                    <a:pt x="1621535" y="0"/>
                  </a:lnTo>
                  <a:close/>
                </a:path>
              </a:pathLst>
            </a:custGeom>
            <a:solidFill>
              <a:srgbClr val="FFFFFF"/>
            </a:solidFill>
          </p:spPr>
          <p:txBody>
            <a:bodyPr wrap="square" lIns="0" tIns="0" rIns="0" bIns="0" rtlCol="0"/>
            <a:lstStyle/>
            <a:p>
              <a:endParaRPr/>
            </a:p>
          </p:txBody>
        </p:sp>
        <p:sp>
          <p:nvSpPr>
            <p:cNvPr id="43" name="object 43"/>
            <p:cNvSpPr/>
            <p:nvPr/>
          </p:nvSpPr>
          <p:spPr>
            <a:xfrm>
              <a:off x="7215771" y="3654187"/>
              <a:ext cx="1621790" cy="369570"/>
            </a:xfrm>
            <a:custGeom>
              <a:avLst/>
              <a:gdLst/>
              <a:ahLst/>
              <a:cxnLst/>
              <a:rect l="l" t="t" r="r" b="b"/>
              <a:pathLst>
                <a:path w="1621790" h="369570">
                  <a:moveTo>
                    <a:pt x="0" y="0"/>
                  </a:moveTo>
                  <a:lnTo>
                    <a:pt x="1621536" y="0"/>
                  </a:lnTo>
                  <a:lnTo>
                    <a:pt x="1621536" y="369331"/>
                  </a:lnTo>
                  <a:lnTo>
                    <a:pt x="0" y="369331"/>
                  </a:lnTo>
                  <a:lnTo>
                    <a:pt x="0" y="0"/>
                  </a:lnTo>
                  <a:close/>
                </a:path>
              </a:pathLst>
            </a:custGeom>
            <a:ln w="22225">
              <a:solidFill>
                <a:srgbClr val="4472C4"/>
              </a:solidFill>
            </a:ln>
          </p:spPr>
          <p:txBody>
            <a:bodyPr wrap="square" lIns="0" tIns="0" rIns="0" bIns="0" rtlCol="0"/>
            <a:lstStyle/>
            <a:p>
              <a:endParaRPr/>
            </a:p>
          </p:txBody>
        </p:sp>
        <p:sp>
          <p:nvSpPr>
            <p:cNvPr id="44" name="object 44"/>
            <p:cNvSpPr/>
            <p:nvPr/>
          </p:nvSpPr>
          <p:spPr>
            <a:xfrm>
              <a:off x="6071615" y="2310539"/>
              <a:ext cx="24765" cy="1038860"/>
            </a:xfrm>
            <a:custGeom>
              <a:avLst/>
              <a:gdLst/>
              <a:ahLst/>
              <a:cxnLst/>
              <a:rect l="l" t="t" r="r" b="b"/>
              <a:pathLst>
                <a:path w="24764" h="1038860">
                  <a:moveTo>
                    <a:pt x="0" y="0"/>
                  </a:moveTo>
                  <a:lnTo>
                    <a:pt x="24384" y="1038467"/>
                  </a:lnTo>
                </a:path>
              </a:pathLst>
            </a:custGeom>
            <a:ln w="25400">
              <a:solidFill>
                <a:srgbClr val="4472C4"/>
              </a:solidFill>
            </a:ln>
          </p:spPr>
          <p:txBody>
            <a:bodyPr wrap="square" lIns="0" tIns="0" rIns="0" bIns="0" rtlCol="0"/>
            <a:lstStyle/>
            <a:p>
              <a:endParaRPr/>
            </a:p>
          </p:txBody>
        </p:sp>
        <p:sp>
          <p:nvSpPr>
            <p:cNvPr id="45" name="object 45"/>
            <p:cNvSpPr/>
            <p:nvPr/>
          </p:nvSpPr>
          <p:spPr>
            <a:xfrm>
              <a:off x="4477830" y="2782669"/>
              <a:ext cx="2995930" cy="32384"/>
            </a:xfrm>
            <a:custGeom>
              <a:avLst/>
              <a:gdLst/>
              <a:ahLst/>
              <a:cxnLst/>
              <a:rect l="l" t="t" r="r" b="b"/>
              <a:pathLst>
                <a:path w="2995929" h="32385">
                  <a:moveTo>
                    <a:pt x="2995865" y="0"/>
                  </a:moveTo>
                  <a:lnTo>
                    <a:pt x="0" y="32343"/>
                  </a:lnTo>
                </a:path>
              </a:pathLst>
            </a:custGeom>
            <a:ln w="25400">
              <a:solidFill>
                <a:srgbClr val="4472C4"/>
              </a:solidFill>
            </a:ln>
          </p:spPr>
          <p:txBody>
            <a:bodyPr wrap="square" lIns="0" tIns="0" rIns="0" bIns="0" rtlCol="0"/>
            <a:lstStyle/>
            <a:p>
              <a:endParaRPr/>
            </a:p>
          </p:txBody>
        </p:sp>
        <p:sp>
          <p:nvSpPr>
            <p:cNvPr id="46" name="object 46"/>
            <p:cNvSpPr/>
            <p:nvPr/>
          </p:nvSpPr>
          <p:spPr>
            <a:xfrm>
              <a:off x="1027608" y="3319056"/>
              <a:ext cx="9491980" cy="30480"/>
            </a:xfrm>
            <a:custGeom>
              <a:avLst/>
              <a:gdLst/>
              <a:ahLst/>
              <a:cxnLst/>
              <a:rect l="l" t="t" r="r" b="b"/>
              <a:pathLst>
                <a:path w="9491980" h="30479">
                  <a:moveTo>
                    <a:pt x="9491472" y="0"/>
                  </a:moveTo>
                  <a:lnTo>
                    <a:pt x="0" y="29950"/>
                  </a:lnTo>
                </a:path>
              </a:pathLst>
            </a:custGeom>
            <a:ln w="25400">
              <a:solidFill>
                <a:srgbClr val="4472C4"/>
              </a:solidFill>
            </a:ln>
          </p:spPr>
          <p:txBody>
            <a:bodyPr wrap="square" lIns="0" tIns="0" rIns="0" bIns="0" rtlCol="0"/>
            <a:lstStyle/>
            <a:p>
              <a:endParaRPr/>
            </a:p>
          </p:txBody>
        </p:sp>
        <p:sp>
          <p:nvSpPr>
            <p:cNvPr id="47" name="object 47"/>
            <p:cNvSpPr/>
            <p:nvPr/>
          </p:nvSpPr>
          <p:spPr>
            <a:xfrm>
              <a:off x="1027609" y="3349006"/>
              <a:ext cx="0" cy="322580"/>
            </a:xfrm>
            <a:custGeom>
              <a:avLst/>
              <a:gdLst/>
              <a:ahLst/>
              <a:cxnLst/>
              <a:rect l="l" t="t" r="r" b="b"/>
              <a:pathLst>
                <a:path h="322579">
                  <a:moveTo>
                    <a:pt x="0" y="0"/>
                  </a:moveTo>
                  <a:lnTo>
                    <a:pt x="1" y="322052"/>
                  </a:lnTo>
                </a:path>
              </a:pathLst>
            </a:custGeom>
            <a:ln w="25400">
              <a:solidFill>
                <a:srgbClr val="4472C4"/>
              </a:solidFill>
            </a:ln>
          </p:spPr>
          <p:txBody>
            <a:bodyPr wrap="square" lIns="0" tIns="0" rIns="0" bIns="0" rtlCol="0"/>
            <a:lstStyle/>
            <a:p>
              <a:endParaRPr/>
            </a:p>
          </p:txBody>
        </p:sp>
        <p:sp>
          <p:nvSpPr>
            <p:cNvPr id="48" name="object 48"/>
            <p:cNvSpPr/>
            <p:nvPr/>
          </p:nvSpPr>
          <p:spPr>
            <a:xfrm>
              <a:off x="3751632" y="3336814"/>
              <a:ext cx="0" cy="322580"/>
            </a:xfrm>
            <a:custGeom>
              <a:avLst/>
              <a:gdLst/>
              <a:ahLst/>
              <a:cxnLst/>
              <a:rect l="l" t="t" r="r" b="b"/>
              <a:pathLst>
                <a:path h="322579">
                  <a:moveTo>
                    <a:pt x="0" y="0"/>
                  </a:moveTo>
                  <a:lnTo>
                    <a:pt x="1" y="322052"/>
                  </a:lnTo>
                </a:path>
              </a:pathLst>
            </a:custGeom>
            <a:ln w="25400">
              <a:solidFill>
                <a:srgbClr val="4472C4"/>
              </a:solidFill>
            </a:ln>
          </p:spPr>
          <p:txBody>
            <a:bodyPr wrap="square" lIns="0" tIns="0" rIns="0" bIns="0" rtlCol="0"/>
            <a:lstStyle/>
            <a:p>
              <a:endParaRPr/>
            </a:p>
          </p:txBody>
        </p:sp>
        <p:sp>
          <p:nvSpPr>
            <p:cNvPr id="49" name="object 49"/>
            <p:cNvSpPr/>
            <p:nvPr/>
          </p:nvSpPr>
          <p:spPr>
            <a:xfrm>
              <a:off x="8014134" y="3324622"/>
              <a:ext cx="0" cy="322580"/>
            </a:xfrm>
            <a:custGeom>
              <a:avLst/>
              <a:gdLst/>
              <a:ahLst/>
              <a:cxnLst/>
              <a:rect l="l" t="t" r="r" b="b"/>
              <a:pathLst>
                <a:path h="322579">
                  <a:moveTo>
                    <a:pt x="0" y="0"/>
                  </a:moveTo>
                  <a:lnTo>
                    <a:pt x="1" y="322052"/>
                  </a:lnTo>
                </a:path>
              </a:pathLst>
            </a:custGeom>
            <a:ln w="25400">
              <a:solidFill>
                <a:srgbClr val="4472C4"/>
              </a:solidFill>
            </a:ln>
          </p:spPr>
          <p:txBody>
            <a:bodyPr wrap="square" lIns="0" tIns="0" rIns="0" bIns="0" rtlCol="0"/>
            <a:lstStyle/>
            <a:p>
              <a:endParaRPr/>
            </a:p>
          </p:txBody>
        </p:sp>
        <p:sp>
          <p:nvSpPr>
            <p:cNvPr id="50" name="object 50"/>
            <p:cNvSpPr/>
            <p:nvPr/>
          </p:nvSpPr>
          <p:spPr>
            <a:xfrm>
              <a:off x="10519080" y="3312430"/>
              <a:ext cx="0" cy="322580"/>
            </a:xfrm>
            <a:custGeom>
              <a:avLst/>
              <a:gdLst/>
              <a:ahLst/>
              <a:cxnLst/>
              <a:rect l="l" t="t" r="r" b="b"/>
              <a:pathLst>
                <a:path h="322579">
                  <a:moveTo>
                    <a:pt x="0" y="0"/>
                  </a:moveTo>
                  <a:lnTo>
                    <a:pt x="1" y="322052"/>
                  </a:lnTo>
                </a:path>
              </a:pathLst>
            </a:custGeom>
            <a:ln w="25400">
              <a:solidFill>
                <a:srgbClr val="4472C4"/>
              </a:solidFill>
            </a:ln>
          </p:spPr>
          <p:txBody>
            <a:bodyPr wrap="square" lIns="0" tIns="0" rIns="0" bIns="0" rtlCol="0"/>
            <a:lstStyle/>
            <a:p>
              <a:endParaRPr/>
            </a:p>
          </p:txBody>
        </p:sp>
        <p:pic>
          <p:nvPicPr>
            <p:cNvPr id="51" name="object 51"/>
            <p:cNvPicPr/>
            <p:nvPr/>
          </p:nvPicPr>
          <p:blipFill>
            <a:blip r:embed="rId17" cstate="print"/>
            <a:stretch>
              <a:fillRect/>
            </a:stretch>
          </p:blipFill>
          <p:spPr>
            <a:xfrm>
              <a:off x="85343" y="6208775"/>
              <a:ext cx="999744" cy="649224"/>
            </a:xfrm>
            <a:prstGeom prst="rect">
              <a:avLst/>
            </a:prstGeom>
          </p:spPr>
        </p:pic>
        <p:pic>
          <p:nvPicPr>
            <p:cNvPr id="52" name="object 52"/>
            <p:cNvPicPr/>
            <p:nvPr/>
          </p:nvPicPr>
          <p:blipFill>
            <a:blip r:embed="rId18" cstate="print"/>
            <a:stretch>
              <a:fillRect/>
            </a:stretch>
          </p:blipFill>
          <p:spPr>
            <a:xfrm>
              <a:off x="100583" y="6211823"/>
              <a:ext cx="1008888" cy="646176"/>
            </a:xfrm>
            <a:prstGeom prst="rect">
              <a:avLst/>
            </a:prstGeom>
          </p:spPr>
        </p:pic>
        <p:sp>
          <p:nvSpPr>
            <p:cNvPr id="53" name="object 53"/>
            <p:cNvSpPr/>
            <p:nvPr/>
          </p:nvSpPr>
          <p:spPr>
            <a:xfrm>
              <a:off x="121340" y="6243943"/>
              <a:ext cx="875030" cy="523240"/>
            </a:xfrm>
            <a:custGeom>
              <a:avLst/>
              <a:gdLst/>
              <a:ahLst/>
              <a:cxnLst/>
              <a:rect l="l" t="t" r="r" b="b"/>
              <a:pathLst>
                <a:path w="875030" h="523240">
                  <a:moveTo>
                    <a:pt x="874454" y="0"/>
                  </a:moveTo>
                  <a:lnTo>
                    <a:pt x="0" y="0"/>
                  </a:lnTo>
                  <a:lnTo>
                    <a:pt x="0" y="523219"/>
                  </a:lnTo>
                  <a:lnTo>
                    <a:pt x="874454" y="523219"/>
                  </a:lnTo>
                  <a:lnTo>
                    <a:pt x="874454" y="0"/>
                  </a:lnTo>
                  <a:close/>
                </a:path>
              </a:pathLst>
            </a:custGeom>
            <a:solidFill>
              <a:srgbClr val="FFFFFF"/>
            </a:solidFill>
          </p:spPr>
          <p:txBody>
            <a:bodyPr wrap="square" lIns="0" tIns="0" rIns="0" bIns="0" rtlCol="0"/>
            <a:lstStyle/>
            <a:p>
              <a:endParaRPr/>
            </a:p>
          </p:txBody>
        </p:sp>
        <p:sp>
          <p:nvSpPr>
            <p:cNvPr id="54" name="object 54"/>
            <p:cNvSpPr/>
            <p:nvPr/>
          </p:nvSpPr>
          <p:spPr>
            <a:xfrm>
              <a:off x="121340" y="6243943"/>
              <a:ext cx="875030" cy="523240"/>
            </a:xfrm>
            <a:custGeom>
              <a:avLst/>
              <a:gdLst/>
              <a:ahLst/>
              <a:cxnLst/>
              <a:rect l="l" t="t" r="r" b="b"/>
              <a:pathLst>
                <a:path w="875030" h="523240">
                  <a:moveTo>
                    <a:pt x="0" y="0"/>
                  </a:moveTo>
                  <a:lnTo>
                    <a:pt x="874455" y="0"/>
                  </a:lnTo>
                  <a:lnTo>
                    <a:pt x="874455" y="523220"/>
                  </a:lnTo>
                  <a:lnTo>
                    <a:pt x="0" y="523220"/>
                  </a:lnTo>
                  <a:lnTo>
                    <a:pt x="0" y="0"/>
                  </a:lnTo>
                  <a:close/>
                </a:path>
              </a:pathLst>
            </a:custGeom>
            <a:ln w="22225">
              <a:solidFill>
                <a:srgbClr val="4472C4"/>
              </a:solidFill>
            </a:ln>
          </p:spPr>
          <p:txBody>
            <a:bodyPr wrap="square" lIns="0" tIns="0" rIns="0" bIns="0" rtlCol="0"/>
            <a:lstStyle/>
            <a:p>
              <a:endParaRPr/>
            </a:p>
          </p:txBody>
        </p:sp>
      </p:grpSp>
      <p:sp>
        <p:nvSpPr>
          <p:cNvPr id="55" name="object 55"/>
          <p:cNvSpPr txBox="1"/>
          <p:nvPr/>
        </p:nvSpPr>
        <p:spPr>
          <a:xfrm>
            <a:off x="220366" y="6265164"/>
            <a:ext cx="677545" cy="455295"/>
          </a:xfrm>
          <a:prstGeom prst="rect">
            <a:avLst/>
          </a:prstGeom>
        </p:spPr>
        <p:txBody>
          <a:bodyPr vert="horz" wrap="square" lIns="0" tIns="9525" rIns="0" bIns="0" rtlCol="0">
            <a:spAutoFit/>
          </a:bodyPr>
          <a:lstStyle/>
          <a:p>
            <a:pPr marL="12700" marR="5080" indent="1905">
              <a:lnSpc>
                <a:spcPct val="101400"/>
              </a:lnSpc>
              <a:spcBef>
                <a:spcPts val="75"/>
              </a:spcBef>
            </a:pPr>
            <a:r>
              <a:rPr sz="1400" dirty="0">
                <a:latin typeface="Calibri"/>
                <a:cs typeface="Calibri"/>
              </a:rPr>
              <a:t>Project</a:t>
            </a:r>
            <a:r>
              <a:rPr sz="1400" spc="-70" dirty="0">
                <a:latin typeface="Calibri"/>
                <a:cs typeface="Calibri"/>
              </a:rPr>
              <a:t> </a:t>
            </a:r>
            <a:r>
              <a:rPr sz="1400" spc="-50" dirty="0">
                <a:latin typeface="Calibri"/>
                <a:cs typeface="Calibri"/>
              </a:rPr>
              <a:t>C </a:t>
            </a:r>
            <a:r>
              <a:rPr sz="1400" spc="-10" dirty="0">
                <a:latin typeface="Calibri"/>
                <a:cs typeface="Calibri"/>
              </a:rPr>
              <a:t>Manager</a:t>
            </a:r>
            <a:endParaRPr sz="1400">
              <a:latin typeface="Calibri"/>
              <a:cs typeface="Calibri"/>
            </a:endParaRPr>
          </a:p>
        </p:txBody>
      </p:sp>
      <p:grpSp>
        <p:nvGrpSpPr>
          <p:cNvPr id="56" name="object 56"/>
          <p:cNvGrpSpPr/>
          <p:nvPr/>
        </p:nvGrpSpPr>
        <p:grpSpPr>
          <a:xfrm>
            <a:off x="82296" y="5556503"/>
            <a:ext cx="1024255" cy="701040"/>
            <a:chOff x="82296" y="5556503"/>
            <a:chExt cx="1024255" cy="701040"/>
          </a:xfrm>
        </p:grpSpPr>
        <p:pic>
          <p:nvPicPr>
            <p:cNvPr id="57" name="object 57"/>
            <p:cNvPicPr/>
            <p:nvPr/>
          </p:nvPicPr>
          <p:blipFill>
            <a:blip r:embed="rId19" cstate="print"/>
            <a:stretch>
              <a:fillRect/>
            </a:stretch>
          </p:blipFill>
          <p:spPr>
            <a:xfrm>
              <a:off x="82296" y="5556503"/>
              <a:ext cx="999744" cy="649223"/>
            </a:xfrm>
            <a:prstGeom prst="rect">
              <a:avLst/>
            </a:prstGeom>
          </p:spPr>
        </p:pic>
        <p:pic>
          <p:nvPicPr>
            <p:cNvPr id="58" name="object 58"/>
            <p:cNvPicPr/>
            <p:nvPr/>
          </p:nvPicPr>
          <p:blipFill>
            <a:blip r:embed="rId20" cstate="print"/>
            <a:stretch>
              <a:fillRect/>
            </a:stretch>
          </p:blipFill>
          <p:spPr>
            <a:xfrm>
              <a:off x="97536" y="5559551"/>
              <a:ext cx="1008888" cy="697992"/>
            </a:xfrm>
            <a:prstGeom prst="rect">
              <a:avLst/>
            </a:prstGeom>
          </p:spPr>
        </p:pic>
        <p:sp>
          <p:nvSpPr>
            <p:cNvPr id="59" name="object 59"/>
            <p:cNvSpPr/>
            <p:nvPr/>
          </p:nvSpPr>
          <p:spPr>
            <a:xfrm>
              <a:off x="118080" y="5592531"/>
              <a:ext cx="875030" cy="523240"/>
            </a:xfrm>
            <a:custGeom>
              <a:avLst/>
              <a:gdLst/>
              <a:ahLst/>
              <a:cxnLst/>
              <a:rect l="l" t="t" r="r" b="b"/>
              <a:pathLst>
                <a:path w="875030" h="523239">
                  <a:moveTo>
                    <a:pt x="874454" y="0"/>
                  </a:moveTo>
                  <a:lnTo>
                    <a:pt x="0" y="0"/>
                  </a:lnTo>
                  <a:lnTo>
                    <a:pt x="0" y="523219"/>
                  </a:lnTo>
                  <a:lnTo>
                    <a:pt x="874454" y="523219"/>
                  </a:lnTo>
                  <a:lnTo>
                    <a:pt x="874454" y="0"/>
                  </a:lnTo>
                  <a:close/>
                </a:path>
              </a:pathLst>
            </a:custGeom>
            <a:solidFill>
              <a:srgbClr val="FFFFFF"/>
            </a:solidFill>
          </p:spPr>
          <p:txBody>
            <a:bodyPr wrap="square" lIns="0" tIns="0" rIns="0" bIns="0" rtlCol="0"/>
            <a:lstStyle/>
            <a:p>
              <a:endParaRPr/>
            </a:p>
          </p:txBody>
        </p:sp>
        <p:sp>
          <p:nvSpPr>
            <p:cNvPr id="60" name="object 60"/>
            <p:cNvSpPr/>
            <p:nvPr/>
          </p:nvSpPr>
          <p:spPr>
            <a:xfrm>
              <a:off x="118080" y="5592531"/>
              <a:ext cx="875030" cy="523240"/>
            </a:xfrm>
            <a:custGeom>
              <a:avLst/>
              <a:gdLst/>
              <a:ahLst/>
              <a:cxnLst/>
              <a:rect l="l" t="t" r="r" b="b"/>
              <a:pathLst>
                <a:path w="875030" h="523239">
                  <a:moveTo>
                    <a:pt x="0" y="0"/>
                  </a:moveTo>
                  <a:lnTo>
                    <a:pt x="874455" y="0"/>
                  </a:lnTo>
                  <a:lnTo>
                    <a:pt x="874455" y="523220"/>
                  </a:lnTo>
                  <a:lnTo>
                    <a:pt x="0" y="523220"/>
                  </a:lnTo>
                  <a:lnTo>
                    <a:pt x="0" y="0"/>
                  </a:lnTo>
                  <a:close/>
                </a:path>
              </a:pathLst>
            </a:custGeom>
            <a:ln w="22225">
              <a:solidFill>
                <a:srgbClr val="4472C4"/>
              </a:solidFill>
            </a:ln>
          </p:spPr>
          <p:txBody>
            <a:bodyPr wrap="square" lIns="0" tIns="0" rIns="0" bIns="0" rtlCol="0"/>
            <a:lstStyle/>
            <a:p>
              <a:endParaRPr/>
            </a:p>
          </p:txBody>
        </p:sp>
      </p:grpSp>
      <p:sp>
        <p:nvSpPr>
          <p:cNvPr id="61" name="object 61"/>
          <p:cNvSpPr txBox="1"/>
          <p:nvPr/>
        </p:nvSpPr>
        <p:spPr>
          <a:xfrm>
            <a:off x="217105" y="5612891"/>
            <a:ext cx="677545" cy="455295"/>
          </a:xfrm>
          <a:prstGeom prst="rect">
            <a:avLst/>
          </a:prstGeom>
        </p:spPr>
        <p:txBody>
          <a:bodyPr vert="horz" wrap="square" lIns="0" tIns="9525" rIns="0" bIns="0" rtlCol="0">
            <a:spAutoFit/>
          </a:bodyPr>
          <a:lstStyle/>
          <a:p>
            <a:pPr marL="12700" marR="5080" indent="1270">
              <a:lnSpc>
                <a:spcPct val="101400"/>
              </a:lnSpc>
              <a:spcBef>
                <a:spcPts val="75"/>
              </a:spcBef>
            </a:pPr>
            <a:r>
              <a:rPr sz="1400" dirty="0">
                <a:latin typeface="Calibri"/>
                <a:cs typeface="Calibri"/>
              </a:rPr>
              <a:t>Project</a:t>
            </a:r>
            <a:r>
              <a:rPr sz="1400" spc="-70" dirty="0">
                <a:latin typeface="Calibri"/>
                <a:cs typeface="Calibri"/>
              </a:rPr>
              <a:t> </a:t>
            </a:r>
            <a:r>
              <a:rPr sz="1400" spc="-50" dirty="0">
                <a:latin typeface="Calibri"/>
                <a:cs typeface="Calibri"/>
              </a:rPr>
              <a:t>B </a:t>
            </a:r>
            <a:r>
              <a:rPr sz="1400" spc="-10" dirty="0">
                <a:latin typeface="Calibri"/>
                <a:cs typeface="Calibri"/>
              </a:rPr>
              <a:t>Manager</a:t>
            </a:r>
            <a:endParaRPr sz="1400">
              <a:latin typeface="Calibri"/>
              <a:cs typeface="Calibri"/>
            </a:endParaRPr>
          </a:p>
        </p:txBody>
      </p:sp>
      <p:grpSp>
        <p:nvGrpSpPr>
          <p:cNvPr id="62" name="object 62"/>
          <p:cNvGrpSpPr/>
          <p:nvPr/>
        </p:nvGrpSpPr>
        <p:grpSpPr>
          <a:xfrm>
            <a:off x="82296" y="4907279"/>
            <a:ext cx="1018540" cy="701040"/>
            <a:chOff x="82296" y="4907279"/>
            <a:chExt cx="1018540" cy="701040"/>
          </a:xfrm>
        </p:grpSpPr>
        <p:pic>
          <p:nvPicPr>
            <p:cNvPr id="63" name="object 63"/>
            <p:cNvPicPr/>
            <p:nvPr/>
          </p:nvPicPr>
          <p:blipFill>
            <a:blip r:embed="rId21" cstate="print"/>
            <a:stretch>
              <a:fillRect/>
            </a:stretch>
          </p:blipFill>
          <p:spPr>
            <a:xfrm>
              <a:off x="82296" y="4907279"/>
              <a:ext cx="984504" cy="652272"/>
            </a:xfrm>
            <a:prstGeom prst="rect">
              <a:avLst/>
            </a:prstGeom>
          </p:spPr>
        </p:pic>
        <p:pic>
          <p:nvPicPr>
            <p:cNvPr id="64" name="object 64"/>
            <p:cNvPicPr/>
            <p:nvPr/>
          </p:nvPicPr>
          <p:blipFill>
            <a:blip r:embed="rId22" cstate="print"/>
            <a:stretch>
              <a:fillRect/>
            </a:stretch>
          </p:blipFill>
          <p:spPr>
            <a:xfrm>
              <a:off x="85344" y="4910327"/>
              <a:ext cx="1014984" cy="697991"/>
            </a:xfrm>
            <a:prstGeom prst="rect">
              <a:avLst/>
            </a:prstGeom>
          </p:spPr>
        </p:pic>
        <p:sp>
          <p:nvSpPr>
            <p:cNvPr id="65" name="object 65"/>
            <p:cNvSpPr/>
            <p:nvPr/>
          </p:nvSpPr>
          <p:spPr>
            <a:xfrm>
              <a:off x="118080" y="4945034"/>
              <a:ext cx="857885" cy="523240"/>
            </a:xfrm>
            <a:custGeom>
              <a:avLst/>
              <a:gdLst/>
              <a:ahLst/>
              <a:cxnLst/>
              <a:rect l="l" t="t" r="r" b="b"/>
              <a:pathLst>
                <a:path w="857885" h="523239">
                  <a:moveTo>
                    <a:pt x="857331" y="0"/>
                  </a:moveTo>
                  <a:lnTo>
                    <a:pt x="0" y="0"/>
                  </a:lnTo>
                  <a:lnTo>
                    <a:pt x="0" y="523220"/>
                  </a:lnTo>
                  <a:lnTo>
                    <a:pt x="857331" y="523220"/>
                  </a:lnTo>
                  <a:lnTo>
                    <a:pt x="857331" y="0"/>
                  </a:lnTo>
                  <a:close/>
                </a:path>
              </a:pathLst>
            </a:custGeom>
            <a:solidFill>
              <a:srgbClr val="FFFFFF"/>
            </a:solidFill>
          </p:spPr>
          <p:txBody>
            <a:bodyPr wrap="square" lIns="0" tIns="0" rIns="0" bIns="0" rtlCol="0"/>
            <a:lstStyle/>
            <a:p>
              <a:endParaRPr/>
            </a:p>
          </p:txBody>
        </p:sp>
        <p:sp>
          <p:nvSpPr>
            <p:cNvPr id="66" name="object 66"/>
            <p:cNvSpPr/>
            <p:nvPr/>
          </p:nvSpPr>
          <p:spPr>
            <a:xfrm>
              <a:off x="118080" y="4945034"/>
              <a:ext cx="857885" cy="523240"/>
            </a:xfrm>
            <a:custGeom>
              <a:avLst/>
              <a:gdLst/>
              <a:ahLst/>
              <a:cxnLst/>
              <a:rect l="l" t="t" r="r" b="b"/>
              <a:pathLst>
                <a:path w="857885" h="523239">
                  <a:moveTo>
                    <a:pt x="0" y="0"/>
                  </a:moveTo>
                  <a:lnTo>
                    <a:pt x="857332" y="0"/>
                  </a:lnTo>
                  <a:lnTo>
                    <a:pt x="857332" y="523220"/>
                  </a:lnTo>
                  <a:lnTo>
                    <a:pt x="0" y="523220"/>
                  </a:lnTo>
                  <a:lnTo>
                    <a:pt x="0" y="0"/>
                  </a:lnTo>
                  <a:close/>
                </a:path>
              </a:pathLst>
            </a:custGeom>
            <a:ln w="22225">
              <a:solidFill>
                <a:srgbClr val="4472C4"/>
              </a:solidFill>
            </a:ln>
          </p:spPr>
          <p:txBody>
            <a:bodyPr wrap="square" lIns="0" tIns="0" rIns="0" bIns="0" rtlCol="0"/>
            <a:lstStyle/>
            <a:p>
              <a:endParaRPr/>
            </a:p>
          </p:txBody>
        </p:sp>
      </p:grpSp>
      <p:sp>
        <p:nvSpPr>
          <p:cNvPr id="67" name="object 67"/>
          <p:cNvSpPr txBox="1"/>
          <p:nvPr/>
        </p:nvSpPr>
        <p:spPr>
          <a:xfrm>
            <a:off x="206862" y="4966716"/>
            <a:ext cx="679450" cy="452120"/>
          </a:xfrm>
          <a:prstGeom prst="rect">
            <a:avLst/>
          </a:prstGeom>
        </p:spPr>
        <p:txBody>
          <a:bodyPr vert="horz" wrap="square" lIns="0" tIns="12700" rIns="0" bIns="0" rtlCol="0">
            <a:spAutoFit/>
          </a:bodyPr>
          <a:lstStyle/>
          <a:p>
            <a:pPr marL="13970" marR="5080" indent="-1905">
              <a:lnSpc>
                <a:spcPct val="100000"/>
              </a:lnSpc>
              <a:spcBef>
                <a:spcPts val="100"/>
              </a:spcBef>
            </a:pPr>
            <a:r>
              <a:rPr sz="1400" dirty="0">
                <a:latin typeface="Calibri"/>
                <a:cs typeface="Calibri"/>
              </a:rPr>
              <a:t>Project</a:t>
            </a:r>
            <a:r>
              <a:rPr sz="1400" spc="-70" dirty="0">
                <a:latin typeface="Calibri"/>
                <a:cs typeface="Calibri"/>
              </a:rPr>
              <a:t> </a:t>
            </a:r>
            <a:r>
              <a:rPr sz="1400" spc="-50" dirty="0">
                <a:latin typeface="Calibri"/>
                <a:cs typeface="Calibri"/>
              </a:rPr>
              <a:t>A </a:t>
            </a:r>
            <a:r>
              <a:rPr sz="1400" spc="-10" dirty="0">
                <a:latin typeface="Calibri"/>
                <a:cs typeface="Calibri"/>
              </a:rPr>
              <a:t>Manager</a:t>
            </a:r>
            <a:endParaRPr sz="1400">
              <a:latin typeface="Calibri"/>
              <a:cs typeface="Calibri"/>
            </a:endParaRPr>
          </a:p>
        </p:txBody>
      </p:sp>
      <p:grpSp>
        <p:nvGrpSpPr>
          <p:cNvPr id="68" name="object 68"/>
          <p:cNvGrpSpPr/>
          <p:nvPr/>
        </p:nvGrpSpPr>
        <p:grpSpPr>
          <a:xfrm>
            <a:off x="7400" y="4060997"/>
            <a:ext cx="3248025" cy="2499995"/>
            <a:chOff x="7400" y="4060997"/>
            <a:chExt cx="3248025" cy="2499995"/>
          </a:xfrm>
        </p:grpSpPr>
        <p:sp>
          <p:nvSpPr>
            <p:cNvPr id="69" name="object 69"/>
            <p:cNvSpPr/>
            <p:nvPr/>
          </p:nvSpPr>
          <p:spPr>
            <a:xfrm>
              <a:off x="20100" y="4073697"/>
              <a:ext cx="15240" cy="2474595"/>
            </a:xfrm>
            <a:custGeom>
              <a:avLst/>
              <a:gdLst/>
              <a:ahLst/>
              <a:cxnLst/>
              <a:rect l="l" t="t" r="r" b="b"/>
              <a:pathLst>
                <a:path w="15240" h="2474595">
                  <a:moveTo>
                    <a:pt x="14922" y="0"/>
                  </a:moveTo>
                  <a:lnTo>
                    <a:pt x="0" y="2474118"/>
                  </a:lnTo>
                </a:path>
              </a:pathLst>
            </a:custGeom>
            <a:ln w="25400">
              <a:solidFill>
                <a:srgbClr val="4472C4"/>
              </a:solidFill>
            </a:ln>
          </p:spPr>
          <p:txBody>
            <a:bodyPr wrap="square" lIns="0" tIns="0" rIns="0" bIns="0" rtlCol="0"/>
            <a:lstStyle/>
            <a:p>
              <a:endParaRPr/>
            </a:p>
          </p:txBody>
        </p:sp>
        <p:sp>
          <p:nvSpPr>
            <p:cNvPr id="70" name="object 70"/>
            <p:cNvSpPr/>
            <p:nvPr/>
          </p:nvSpPr>
          <p:spPr>
            <a:xfrm>
              <a:off x="20100" y="6547816"/>
              <a:ext cx="86360" cy="0"/>
            </a:xfrm>
            <a:custGeom>
              <a:avLst/>
              <a:gdLst/>
              <a:ahLst/>
              <a:cxnLst/>
              <a:rect l="l" t="t" r="r" b="b"/>
              <a:pathLst>
                <a:path w="86360">
                  <a:moveTo>
                    <a:pt x="85788" y="0"/>
                  </a:moveTo>
                  <a:lnTo>
                    <a:pt x="0" y="1"/>
                  </a:lnTo>
                </a:path>
              </a:pathLst>
            </a:custGeom>
            <a:ln w="25400">
              <a:solidFill>
                <a:srgbClr val="4472C4"/>
              </a:solidFill>
            </a:ln>
          </p:spPr>
          <p:txBody>
            <a:bodyPr wrap="square" lIns="0" tIns="0" rIns="0" bIns="0" rtlCol="0"/>
            <a:lstStyle/>
            <a:p>
              <a:endParaRPr/>
            </a:p>
          </p:txBody>
        </p:sp>
        <p:sp>
          <p:nvSpPr>
            <p:cNvPr id="71" name="object 71"/>
            <p:cNvSpPr/>
            <p:nvPr/>
          </p:nvSpPr>
          <p:spPr>
            <a:xfrm>
              <a:off x="35022" y="5908751"/>
              <a:ext cx="77470" cy="0"/>
            </a:xfrm>
            <a:custGeom>
              <a:avLst/>
              <a:gdLst/>
              <a:ahLst/>
              <a:cxnLst/>
              <a:rect l="l" t="t" r="r" b="b"/>
              <a:pathLst>
                <a:path w="77470">
                  <a:moveTo>
                    <a:pt x="76962" y="0"/>
                  </a:moveTo>
                  <a:lnTo>
                    <a:pt x="0" y="1"/>
                  </a:lnTo>
                </a:path>
              </a:pathLst>
            </a:custGeom>
            <a:ln w="25400">
              <a:solidFill>
                <a:srgbClr val="4472C4"/>
              </a:solidFill>
            </a:ln>
          </p:spPr>
          <p:txBody>
            <a:bodyPr wrap="square" lIns="0" tIns="0" rIns="0" bIns="0" rtlCol="0"/>
            <a:lstStyle/>
            <a:p>
              <a:endParaRPr/>
            </a:p>
          </p:txBody>
        </p:sp>
        <p:sp>
          <p:nvSpPr>
            <p:cNvPr id="72" name="object 72"/>
            <p:cNvSpPr/>
            <p:nvPr/>
          </p:nvSpPr>
          <p:spPr>
            <a:xfrm>
              <a:off x="35022" y="5270959"/>
              <a:ext cx="71120" cy="0"/>
            </a:xfrm>
            <a:custGeom>
              <a:avLst/>
              <a:gdLst/>
              <a:ahLst/>
              <a:cxnLst/>
              <a:rect l="l" t="t" r="r" b="b"/>
              <a:pathLst>
                <a:path w="71120">
                  <a:moveTo>
                    <a:pt x="70866" y="0"/>
                  </a:moveTo>
                  <a:lnTo>
                    <a:pt x="0" y="1"/>
                  </a:lnTo>
                </a:path>
              </a:pathLst>
            </a:custGeom>
            <a:ln w="25400">
              <a:solidFill>
                <a:srgbClr val="4472C4"/>
              </a:solidFill>
            </a:ln>
          </p:spPr>
          <p:txBody>
            <a:bodyPr wrap="square" lIns="0" tIns="0" rIns="0" bIns="0" rtlCol="0"/>
            <a:lstStyle/>
            <a:p>
              <a:endParaRPr/>
            </a:p>
          </p:txBody>
        </p:sp>
        <p:pic>
          <p:nvPicPr>
            <p:cNvPr id="73" name="object 73"/>
            <p:cNvPicPr/>
            <p:nvPr/>
          </p:nvPicPr>
          <p:blipFill>
            <a:blip r:embed="rId23" cstate="print"/>
            <a:stretch>
              <a:fillRect/>
            </a:stretch>
          </p:blipFill>
          <p:spPr>
            <a:xfrm>
              <a:off x="2069591" y="4236720"/>
              <a:ext cx="1185671" cy="652271"/>
            </a:xfrm>
            <a:prstGeom prst="rect">
              <a:avLst/>
            </a:prstGeom>
          </p:spPr>
        </p:pic>
        <p:pic>
          <p:nvPicPr>
            <p:cNvPr id="74" name="object 74"/>
            <p:cNvPicPr/>
            <p:nvPr/>
          </p:nvPicPr>
          <p:blipFill>
            <a:blip r:embed="rId24" cstate="print"/>
            <a:stretch>
              <a:fillRect/>
            </a:stretch>
          </p:blipFill>
          <p:spPr>
            <a:xfrm>
              <a:off x="2072640" y="4239768"/>
              <a:ext cx="1182624" cy="697992"/>
            </a:xfrm>
            <a:prstGeom prst="rect">
              <a:avLst/>
            </a:prstGeom>
          </p:spPr>
        </p:pic>
        <p:sp>
          <p:nvSpPr>
            <p:cNvPr id="75" name="object 75"/>
            <p:cNvSpPr/>
            <p:nvPr/>
          </p:nvSpPr>
          <p:spPr>
            <a:xfrm>
              <a:off x="2107176" y="4274508"/>
              <a:ext cx="1058545" cy="523240"/>
            </a:xfrm>
            <a:custGeom>
              <a:avLst/>
              <a:gdLst/>
              <a:ahLst/>
              <a:cxnLst/>
              <a:rect l="l" t="t" r="r" b="b"/>
              <a:pathLst>
                <a:path w="1058545" h="523239">
                  <a:moveTo>
                    <a:pt x="1058202" y="0"/>
                  </a:moveTo>
                  <a:lnTo>
                    <a:pt x="0" y="0"/>
                  </a:lnTo>
                  <a:lnTo>
                    <a:pt x="0" y="523219"/>
                  </a:lnTo>
                  <a:lnTo>
                    <a:pt x="1058202" y="523219"/>
                  </a:lnTo>
                  <a:lnTo>
                    <a:pt x="1058202" y="0"/>
                  </a:lnTo>
                  <a:close/>
                </a:path>
              </a:pathLst>
            </a:custGeom>
            <a:solidFill>
              <a:srgbClr val="FFFFFF"/>
            </a:solidFill>
          </p:spPr>
          <p:txBody>
            <a:bodyPr wrap="square" lIns="0" tIns="0" rIns="0" bIns="0" rtlCol="0"/>
            <a:lstStyle/>
            <a:p>
              <a:endParaRPr/>
            </a:p>
          </p:txBody>
        </p:sp>
        <p:sp>
          <p:nvSpPr>
            <p:cNvPr id="76" name="object 76"/>
            <p:cNvSpPr/>
            <p:nvPr/>
          </p:nvSpPr>
          <p:spPr>
            <a:xfrm>
              <a:off x="2107176" y="4274508"/>
              <a:ext cx="1058545" cy="523240"/>
            </a:xfrm>
            <a:custGeom>
              <a:avLst/>
              <a:gdLst/>
              <a:ahLst/>
              <a:cxnLst/>
              <a:rect l="l" t="t" r="r" b="b"/>
              <a:pathLst>
                <a:path w="1058545" h="523239">
                  <a:moveTo>
                    <a:pt x="0" y="0"/>
                  </a:moveTo>
                  <a:lnTo>
                    <a:pt x="1058202" y="0"/>
                  </a:lnTo>
                  <a:lnTo>
                    <a:pt x="1058202" y="523220"/>
                  </a:lnTo>
                  <a:lnTo>
                    <a:pt x="0" y="523220"/>
                  </a:lnTo>
                  <a:lnTo>
                    <a:pt x="0" y="0"/>
                  </a:lnTo>
                  <a:close/>
                </a:path>
              </a:pathLst>
            </a:custGeom>
            <a:ln w="22225">
              <a:solidFill>
                <a:srgbClr val="4472C4"/>
              </a:solidFill>
            </a:ln>
          </p:spPr>
          <p:txBody>
            <a:bodyPr wrap="square" lIns="0" tIns="0" rIns="0" bIns="0" rtlCol="0"/>
            <a:lstStyle/>
            <a:p>
              <a:endParaRPr/>
            </a:p>
          </p:txBody>
        </p:sp>
      </p:grpSp>
      <p:sp>
        <p:nvSpPr>
          <p:cNvPr id="77" name="object 77"/>
          <p:cNvSpPr txBox="1"/>
          <p:nvPr/>
        </p:nvSpPr>
        <p:spPr>
          <a:xfrm>
            <a:off x="2194157" y="4296155"/>
            <a:ext cx="884555" cy="452120"/>
          </a:xfrm>
          <a:prstGeom prst="rect">
            <a:avLst/>
          </a:prstGeom>
        </p:spPr>
        <p:txBody>
          <a:bodyPr vert="horz" wrap="square" lIns="0" tIns="12700" rIns="0" bIns="0" rtlCol="0">
            <a:spAutoFit/>
          </a:bodyPr>
          <a:lstStyle/>
          <a:p>
            <a:pPr marL="12700" marR="5080" indent="36830">
              <a:lnSpc>
                <a:spcPct val="100000"/>
              </a:lnSpc>
              <a:spcBef>
                <a:spcPts val="100"/>
              </a:spcBef>
            </a:pPr>
            <a:r>
              <a:rPr sz="1400" spc="-10" dirty="0">
                <a:latin typeface="Calibri"/>
                <a:cs typeface="Calibri"/>
              </a:rPr>
              <a:t>Electronics Engineering</a:t>
            </a:r>
            <a:endParaRPr sz="1400">
              <a:latin typeface="Calibri"/>
              <a:cs typeface="Calibri"/>
            </a:endParaRPr>
          </a:p>
        </p:txBody>
      </p:sp>
      <p:grpSp>
        <p:nvGrpSpPr>
          <p:cNvPr id="78" name="object 78"/>
          <p:cNvGrpSpPr/>
          <p:nvPr/>
        </p:nvGrpSpPr>
        <p:grpSpPr>
          <a:xfrm>
            <a:off x="3179064" y="4233671"/>
            <a:ext cx="1186180" cy="701040"/>
            <a:chOff x="3179064" y="4233671"/>
            <a:chExt cx="1186180" cy="701040"/>
          </a:xfrm>
        </p:grpSpPr>
        <p:pic>
          <p:nvPicPr>
            <p:cNvPr id="79" name="object 79"/>
            <p:cNvPicPr/>
            <p:nvPr/>
          </p:nvPicPr>
          <p:blipFill>
            <a:blip r:embed="rId25" cstate="print"/>
            <a:stretch>
              <a:fillRect/>
            </a:stretch>
          </p:blipFill>
          <p:spPr>
            <a:xfrm>
              <a:off x="3179064" y="4233671"/>
              <a:ext cx="1185672" cy="649224"/>
            </a:xfrm>
            <a:prstGeom prst="rect">
              <a:avLst/>
            </a:prstGeom>
          </p:spPr>
        </p:pic>
        <p:pic>
          <p:nvPicPr>
            <p:cNvPr id="80" name="object 80"/>
            <p:cNvPicPr/>
            <p:nvPr/>
          </p:nvPicPr>
          <p:blipFill>
            <a:blip r:embed="rId26" cstate="print"/>
            <a:stretch>
              <a:fillRect/>
            </a:stretch>
          </p:blipFill>
          <p:spPr>
            <a:xfrm>
              <a:off x="3182112" y="4236719"/>
              <a:ext cx="1179576" cy="697992"/>
            </a:xfrm>
            <a:prstGeom prst="rect">
              <a:avLst/>
            </a:prstGeom>
          </p:spPr>
        </p:pic>
        <p:sp>
          <p:nvSpPr>
            <p:cNvPr id="81" name="object 81"/>
            <p:cNvSpPr/>
            <p:nvPr/>
          </p:nvSpPr>
          <p:spPr>
            <a:xfrm>
              <a:off x="3216648" y="4269476"/>
              <a:ext cx="1057910" cy="523240"/>
            </a:xfrm>
            <a:custGeom>
              <a:avLst/>
              <a:gdLst/>
              <a:ahLst/>
              <a:cxnLst/>
              <a:rect l="l" t="t" r="r" b="b"/>
              <a:pathLst>
                <a:path w="1057910" h="523239">
                  <a:moveTo>
                    <a:pt x="1057542" y="0"/>
                  </a:moveTo>
                  <a:lnTo>
                    <a:pt x="0" y="0"/>
                  </a:lnTo>
                  <a:lnTo>
                    <a:pt x="0" y="523219"/>
                  </a:lnTo>
                  <a:lnTo>
                    <a:pt x="1057542" y="523219"/>
                  </a:lnTo>
                  <a:lnTo>
                    <a:pt x="1057542" y="0"/>
                  </a:lnTo>
                  <a:close/>
                </a:path>
              </a:pathLst>
            </a:custGeom>
            <a:solidFill>
              <a:srgbClr val="FFFFFF"/>
            </a:solidFill>
          </p:spPr>
          <p:txBody>
            <a:bodyPr wrap="square" lIns="0" tIns="0" rIns="0" bIns="0" rtlCol="0"/>
            <a:lstStyle/>
            <a:p>
              <a:endParaRPr/>
            </a:p>
          </p:txBody>
        </p:sp>
        <p:sp>
          <p:nvSpPr>
            <p:cNvPr id="82" name="object 82"/>
            <p:cNvSpPr/>
            <p:nvPr/>
          </p:nvSpPr>
          <p:spPr>
            <a:xfrm>
              <a:off x="3216648" y="4269476"/>
              <a:ext cx="1057910" cy="523240"/>
            </a:xfrm>
            <a:custGeom>
              <a:avLst/>
              <a:gdLst/>
              <a:ahLst/>
              <a:cxnLst/>
              <a:rect l="l" t="t" r="r" b="b"/>
              <a:pathLst>
                <a:path w="1057910" h="523239">
                  <a:moveTo>
                    <a:pt x="0" y="0"/>
                  </a:moveTo>
                  <a:lnTo>
                    <a:pt x="1057544" y="0"/>
                  </a:lnTo>
                  <a:lnTo>
                    <a:pt x="1057544" y="523220"/>
                  </a:lnTo>
                  <a:lnTo>
                    <a:pt x="0" y="523220"/>
                  </a:lnTo>
                  <a:lnTo>
                    <a:pt x="0" y="0"/>
                  </a:lnTo>
                  <a:close/>
                </a:path>
              </a:pathLst>
            </a:custGeom>
            <a:ln w="22225">
              <a:solidFill>
                <a:srgbClr val="4472C4"/>
              </a:solidFill>
            </a:ln>
          </p:spPr>
          <p:txBody>
            <a:bodyPr wrap="square" lIns="0" tIns="0" rIns="0" bIns="0" rtlCol="0"/>
            <a:lstStyle/>
            <a:p>
              <a:endParaRPr/>
            </a:p>
          </p:txBody>
        </p:sp>
      </p:grpSp>
      <p:sp>
        <p:nvSpPr>
          <p:cNvPr id="83" name="object 83"/>
          <p:cNvSpPr txBox="1"/>
          <p:nvPr/>
        </p:nvSpPr>
        <p:spPr>
          <a:xfrm>
            <a:off x="3303300" y="4290060"/>
            <a:ext cx="884555" cy="455295"/>
          </a:xfrm>
          <a:prstGeom prst="rect">
            <a:avLst/>
          </a:prstGeom>
        </p:spPr>
        <p:txBody>
          <a:bodyPr vert="horz" wrap="square" lIns="0" tIns="9525" rIns="0" bIns="0" rtlCol="0">
            <a:spAutoFit/>
          </a:bodyPr>
          <a:lstStyle/>
          <a:p>
            <a:pPr marL="12700" marR="5080" indent="104775">
              <a:lnSpc>
                <a:spcPct val="101400"/>
              </a:lnSpc>
              <a:spcBef>
                <a:spcPts val="75"/>
              </a:spcBef>
            </a:pPr>
            <a:r>
              <a:rPr sz="1400" spc="-10" dirty="0">
                <a:latin typeface="Calibri"/>
                <a:cs typeface="Calibri"/>
              </a:rPr>
              <a:t>Software Engineering</a:t>
            </a:r>
            <a:endParaRPr sz="1400">
              <a:latin typeface="Calibri"/>
              <a:cs typeface="Calibri"/>
            </a:endParaRPr>
          </a:p>
        </p:txBody>
      </p:sp>
      <p:grpSp>
        <p:nvGrpSpPr>
          <p:cNvPr id="84" name="object 84"/>
          <p:cNvGrpSpPr/>
          <p:nvPr/>
        </p:nvGrpSpPr>
        <p:grpSpPr>
          <a:xfrm>
            <a:off x="4276344" y="4230623"/>
            <a:ext cx="1207135" cy="701040"/>
            <a:chOff x="4276344" y="4230623"/>
            <a:chExt cx="1207135" cy="701040"/>
          </a:xfrm>
        </p:grpSpPr>
        <p:pic>
          <p:nvPicPr>
            <p:cNvPr id="85" name="object 85"/>
            <p:cNvPicPr/>
            <p:nvPr/>
          </p:nvPicPr>
          <p:blipFill>
            <a:blip r:embed="rId27" cstate="print"/>
            <a:stretch>
              <a:fillRect/>
            </a:stretch>
          </p:blipFill>
          <p:spPr>
            <a:xfrm>
              <a:off x="4276344" y="4230623"/>
              <a:ext cx="1185672" cy="649224"/>
            </a:xfrm>
            <a:prstGeom prst="rect">
              <a:avLst/>
            </a:prstGeom>
          </p:spPr>
        </p:pic>
        <p:pic>
          <p:nvPicPr>
            <p:cNvPr id="86" name="object 86"/>
            <p:cNvPicPr/>
            <p:nvPr/>
          </p:nvPicPr>
          <p:blipFill>
            <a:blip r:embed="rId28" cstate="print"/>
            <a:stretch>
              <a:fillRect/>
            </a:stretch>
          </p:blipFill>
          <p:spPr>
            <a:xfrm>
              <a:off x="4279392" y="4230623"/>
              <a:ext cx="1203960" cy="701039"/>
            </a:xfrm>
            <a:prstGeom prst="rect">
              <a:avLst/>
            </a:prstGeom>
          </p:spPr>
        </p:pic>
        <p:sp>
          <p:nvSpPr>
            <p:cNvPr id="87" name="object 87"/>
            <p:cNvSpPr/>
            <p:nvPr/>
          </p:nvSpPr>
          <p:spPr>
            <a:xfrm>
              <a:off x="4313603" y="4265735"/>
              <a:ext cx="1057910" cy="523240"/>
            </a:xfrm>
            <a:custGeom>
              <a:avLst/>
              <a:gdLst/>
              <a:ahLst/>
              <a:cxnLst/>
              <a:rect l="l" t="t" r="r" b="b"/>
              <a:pathLst>
                <a:path w="1057910" h="523239">
                  <a:moveTo>
                    <a:pt x="1057544" y="0"/>
                  </a:moveTo>
                  <a:lnTo>
                    <a:pt x="0" y="0"/>
                  </a:lnTo>
                  <a:lnTo>
                    <a:pt x="0" y="523219"/>
                  </a:lnTo>
                  <a:lnTo>
                    <a:pt x="1057544" y="523219"/>
                  </a:lnTo>
                  <a:lnTo>
                    <a:pt x="1057544" y="0"/>
                  </a:lnTo>
                  <a:close/>
                </a:path>
              </a:pathLst>
            </a:custGeom>
            <a:solidFill>
              <a:srgbClr val="FFFFFF"/>
            </a:solidFill>
          </p:spPr>
          <p:txBody>
            <a:bodyPr wrap="square" lIns="0" tIns="0" rIns="0" bIns="0" rtlCol="0"/>
            <a:lstStyle/>
            <a:p>
              <a:endParaRPr/>
            </a:p>
          </p:txBody>
        </p:sp>
        <p:sp>
          <p:nvSpPr>
            <p:cNvPr id="88" name="object 88"/>
            <p:cNvSpPr/>
            <p:nvPr/>
          </p:nvSpPr>
          <p:spPr>
            <a:xfrm>
              <a:off x="4313603" y="4265735"/>
              <a:ext cx="1057910" cy="523240"/>
            </a:xfrm>
            <a:custGeom>
              <a:avLst/>
              <a:gdLst/>
              <a:ahLst/>
              <a:cxnLst/>
              <a:rect l="l" t="t" r="r" b="b"/>
              <a:pathLst>
                <a:path w="1057910" h="523239">
                  <a:moveTo>
                    <a:pt x="0" y="0"/>
                  </a:moveTo>
                  <a:lnTo>
                    <a:pt x="1057545" y="0"/>
                  </a:lnTo>
                  <a:lnTo>
                    <a:pt x="1057545" y="523220"/>
                  </a:lnTo>
                  <a:lnTo>
                    <a:pt x="0" y="523220"/>
                  </a:lnTo>
                  <a:lnTo>
                    <a:pt x="0" y="0"/>
                  </a:lnTo>
                  <a:close/>
                </a:path>
              </a:pathLst>
            </a:custGeom>
            <a:ln w="22225">
              <a:solidFill>
                <a:srgbClr val="4472C4"/>
              </a:solidFill>
            </a:ln>
          </p:spPr>
          <p:txBody>
            <a:bodyPr wrap="square" lIns="0" tIns="0" rIns="0" bIns="0" rtlCol="0"/>
            <a:lstStyle/>
            <a:p>
              <a:endParaRPr/>
            </a:p>
          </p:txBody>
        </p:sp>
      </p:grpSp>
      <p:sp>
        <p:nvSpPr>
          <p:cNvPr id="89" name="object 89"/>
          <p:cNvSpPr txBox="1"/>
          <p:nvPr/>
        </p:nvSpPr>
        <p:spPr>
          <a:xfrm>
            <a:off x="4400256" y="4287011"/>
            <a:ext cx="884555" cy="455295"/>
          </a:xfrm>
          <a:prstGeom prst="rect">
            <a:avLst/>
          </a:prstGeom>
        </p:spPr>
        <p:txBody>
          <a:bodyPr vert="horz" wrap="square" lIns="0" tIns="9525" rIns="0" bIns="0" rtlCol="0">
            <a:spAutoFit/>
          </a:bodyPr>
          <a:lstStyle/>
          <a:p>
            <a:pPr marL="12700" marR="5080" indent="13970">
              <a:lnSpc>
                <a:spcPct val="101400"/>
              </a:lnSpc>
              <a:spcBef>
                <a:spcPts val="75"/>
              </a:spcBef>
            </a:pPr>
            <a:r>
              <a:rPr sz="1400" spc="-10" dirty="0">
                <a:latin typeface="Calibri"/>
                <a:cs typeface="Calibri"/>
              </a:rPr>
              <a:t>Mechanical Engineering</a:t>
            </a:r>
            <a:endParaRPr sz="1400">
              <a:latin typeface="Calibri"/>
              <a:cs typeface="Calibri"/>
            </a:endParaRPr>
          </a:p>
        </p:txBody>
      </p:sp>
      <p:grpSp>
        <p:nvGrpSpPr>
          <p:cNvPr id="90" name="object 90"/>
          <p:cNvGrpSpPr/>
          <p:nvPr/>
        </p:nvGrpSpPr>
        <p:grpSpPr>
          <a:xfrm>
            <a:off x="5379720" y="4230623"/>
            <a:ext cx="1438910" cy="701040"/>
            <a:chOff x="5379720" y="4230623"/>
            <a:chExt cx="1438910" cy="701040"/>
          </a:xfrm>
        </p:grpSpPr>
        <p:pic>
          <p:nvPicPr>
            <p:cNvPr id="91" name="object 91"/>
            <p:cNvPicPr/>
            <p:nvPr/>
          </p:nvPicPr>
          <p:blipFill>
            <a:blip r:embed="rId29" cstate="print"/>
            <a:stretch>
              <a:fillRect/>
            </a:stretch>
          </p:blipFill>
          <p:spPr>
            <a:xfrm>
              <a:off x="5379720" y="4230623"/>
              <a:ext cx="1438655" cy="649224"/>
            </a:xfrm>
            <a:prstGeom prst="rect">
              <a:avLst/>
            </a:prstGeom>
          </p:spPr>
        </p:pic>
        <p:pic>
          <p:nvPicPr>
            <p:cNvPr id="92" name="object 92"/>
            <p:cNvPicPr/>
            <p:nvPr/>
          </p:nvPicPr>
          <p:blipFill>
            <a:blip r:embed="rId30" cstate="print"/>
            <a:stretch>
              <a:fillRect/>
            </a:stretch>
          </p:blipFill>
          <p:spPr>
            <a:xfrm>
              <a:off x="5382768" y="4230623"/>
              <a:ext cx="1429512" cy="701039"/>
            </a:xfrm>
            <a:prstGeom prst="rect">
              <a:avLst/>
            </a:prstGeom>
          </p:spPr>
        </p:pic>
        <p:sp>
          <p:nvSpPr>
            <p:cNvPr id="93" name="object 93"/>
            <p:cNvSpPr/>
            <p:nvPr/>
          </p:nvSpPr>
          <p:spPr>
            <a:xfrm>
              <a:off x="5416778" y="4265735"/>
              <a:ext cx="1310640" cy="523240"/>
            </a:xfrm>
            <a:custGeom>
              <a:avLst/>
              <a:gdLst/>
              <a:ahLst/>
              <a:cxnLst/>
              <a:rect l="l" t="t" r="r" b="b"/>
              <a:pathLst>
                <a:path w="1310640" h="523239">
                  <a:moveTo>
                    <a:pt x="1310639" y="0"/>
                  </a:moveTo>
                  <a:lnTo>
                    <a:pt x="0" y="0"/>
                  </a:lnTo>
                  <a:lnTo>
                    <a:pt x="0" y="523219"/>
                  </a:lnTo>
                  <a:lnTo>
                    <a:pt x="1310639" y="523219"/>
                  </a:lnTo>
                  <a:lnTo>
                    <a:pt x="1310639" y="0"/>
                  </a:lnTo>
                  <a:close/>
                </a:path>
              </a:pathLst>
            </a:custGeom>
            <a:solidFill>
              <a:srgbClr val="FFFFFF"/>
            </a:solidFill>
          </p:spPr>
          <p:txBody>
            <a:bodyPr wrap="square" lIns="0" tIns="0" rIns="0" bIns="0" rtlCol="0"/>
            <a:lstStyle/>
            <a:p>
              <a:endParaRPr/>
            </a:p>
          </p:txBody>
        </p:sp>
        <p:sp>
          <p:nvSpPr>
            <p:cNvPr id="94" name="object 94"/>
            <p:cNvSpPr/>
            <p:nvPr/>
          </p:nvSpPr>
          <p:spPr>
            <a:xfrm>
              <a:off x="5416778" y="4265735"/>
              <a:ext cx="1310640" cy="523240"/>
            </a:xfrm>
            <a:custGeom>
              <a:avLst/>
              <a:gdLst/>
              <a:ahLst/>
              <a:cxnLst/>
              <a:rect l="l" t="t" r="r" b="b"/>
              <a:pathLst>
                <a:path w="1310640" h="523239">
                  <a:moveTo>
                    <a:pt x="0" y="0"/>
                  </a:moveTo>
                  <a:lnTo>
                    <a:pt x="1310640" y="0"/>
                  </a:lnTo>
                  <a:lnTo>
                    <a:pt x="1310640" y="523220"/>
                  </a:lnTo>
                  <a:lnTo>
                    <a:pt x="0" y="523220"/>
                  </a:lnTo>
                  <a:lnTo>
                    <a:pt x="0" y="0"/>
                  </a:lnTo>
                  <a:close/>
                </a:path>
              </a:pathLst>
            </a:custGeom>
            <a:ln w="22225">
              <a:solidFill>
                <a:srgbClr val="4472C4"/>
              </a:solidFill>
            </a:ln>
          </p:spPr>
          <p:txBody>
            <a:bodyPr wrap="square" lIns="0" tIns="0" rIns="0" bIns="0" rtlCol="0"/>
            <a:lstStyle/>
            <a:p>
              <a:endParaRPr/>
            </a:p>
          </p:txBody>
        </p:sp>
      </p:grpSp>
      <p:sp>
        <p:nvSpPr>
          <p:cNvPr id="95" name="object 95"/>
          <p:cNvSpPr txBox="1"/>
          <p:nvPr/>
        </p:nvSpPr>
        <p:spPr>
          <a:xfrm>
            <a:off x="5504916" y="4287011"/>
            <a:ext cx="1134745" cy="455295"/>
          </a:xfrm>
          <a:prstGeom prst="rect">
            <a:avLst/>
          </a:prstGeom>
        </p:spPr>
        <p:txBody>
          <a:bodyPr vert="horz" wrap="square" lIns="0" tIns="9525" rIns="0" bIns="0" rtlCol="0">
            <a:spAutoFit/>
          </a:bodyPr>
          <a:lstStyle/>
          <a:p>
            <a:pPr marL="12700" marR="5080" indent="222250">
              <a:lnSpc>
                <a:spcPct val="101400"/>
              </a:lnSpc>
              <a:spcBef>
                <a:spcPts val="75"/>
              </a:spcBef>
            </a:pPr>
            <a:r>
              <a:rPr sz="1400" spc="-10" dirty="0">
                <a:latin typeface="Calibri"/>
                <a:cs typeface="Calibri"/>
              </a:rPr>
              <a:t>Technical documentation</a:t>
            </a:r>
            <a:endParaRPr sz="1400">
              <a:latin typeface="Calibri"/>
              <a:cs typeface="Calibri"/>
            </a:endParaRPr>
          </a:p>
        </p:txBody>
      </p:sp>
      <p:grpSp>
        <p:nvGrpSpPr>
          <p:cNvPr id="96" name="object 96"/>
          <p:cNvGrpSpPr/>
          <p:nvPr/>
        </p:nvGrpSpPr>
        <p:grpSpPr>
          <a:xfrm>
            <a:off x="6723888" y="4218432"/>
            <a:ext cx="2499360" cy="487680"/>
            <a:chOff x="6723888" y="4218432"/>
            <a:chExt cx="2499360" cy="487680"/>
          </a:xfrm>
        </p:grpSpPr>
        <p:pic>
          <p:nvPicPr>
            <p:cNvPr id="97" name="object 97"/>
            <p:cNvPicPr/>
            <p:nvPr/>
          </p:nvPicPr>
          <p:blipFill>
            <a:blip r:embed="rId31" cstate="print"/>
            <a:stretch>
              <a:fillRect/>
            </a:stretch>
          </p:blipFill>
          <p:spPr>
            <a:xfrm>
              <a:off x="6723888" y="4221480"/>
              <a:ext cx="1011936" cy="445007"/>
            </a:xfrm>
            <a:prstGeom prst="rect">
              <a:avLst/>
            </a:prstGeom>
          </p:spPr>
        </p:pic>
        <p:pic>
          <p:nvPicPr>
            <p:cNvPr id="98" name="object 98"/>
            <p:cNvPicPr/>
            <p:nvPr/>
          </p:nvPicPr>
          <p:blipFill>
            <a:blip r:embed="rId32" cstate="print"/>
            <a:stretch>
              <a:fillRect/>
            </a:stretch>
          </p:blipFill>
          <p:spPr>
            <a:xfrm>
              <a:off x="6723888" y="4224528"/>
              <a:ext cx="1008888" cy="481584"/>
            </a:xfrm>
            <a:prstGeom prst="rect">
              <a:avLst/>
            </a:prstGeom>
          </p:spPr>
        </p:pic>
        <p:sp>
          <p:nvSpPr>
            <p:cNvPr id="99" name="object 99"/>
            <p:cNvSpPr/>
            <p:nvPr/>
          </p:nvSpPr>
          <p:spPr>
            <a:xfrm>
              <a:off x="6759244" y="4258428"/>
              <a:ext cx="887094" cy="319405"/>
            </a:xfrm>
            <a:custGeom>
              <a:avLst/>
              <a:gdLst/>
              <a:ahLst/>
              <a:cxnLst/>
              <a:rect l="l" t="t" r="r" b="b"/>
              <a:pathLst>
                <a:path w="887095" h="319404">
                  <a:moveTo>
                    <a:pt x="886675" y="0"/>
                  </a:moveTo>
                  <a:lnTo>
                    <a:pt x="0" y="0"/>
                  </a:lnTo>
                  <a:lnTo>
                    <a:pt x="0" y="319081"/>
                  </a:lnTo>
                  <a:lnTo>
                    <a:pt x="886675" y="319081"/>
                  </a:lnTo>
                  <a:lnTo>
                    <a:pt x="886675" y="0"/>
                  </a:lnTo>
                  <a:close/>
                </a:path>
              </a:pathLst>
            </a:custGeom>
            <a:solidFill>
              <a:srgbClr val="FFFFFF"/>
            </a:solidFill>
          </p:spPr>
          <p:txBody>
            <a:bodyPr wrap="square" lIns="0" tIns="0" rIns="0" bIns="0" rtlCol="0"/>
            <a:lstStyle/>
            <a:p>
              <a:endParaRPr/>
            </a:p>
          </p:txBody>
        </p:sp>
        <p:sp>
          <p:nvSpPr>
            <p:cNvPr id="100" name="object 100"/>
            <p:cNvSpPr/>
            <p:nvPr/>
          </p:nvSpPr>
          <p:spPr>
            <a:xfrm>
              <a:off x="6759244" y="4258428"/>
              <a:ext cx="887094" cy="319405"/>
            </a:xfrm>
            <a:custGeom>
              <a:avLst/>
              <a:gdLst/>
              <a:ahLst/>
              <a:cxnLst/>
              <a:rect l="l" t="t" r="r" b="b"/>
              <a:pathLst>
                <a:path w="887095" h="319404">
                  <a:moveTo>
                    <a:pt x="0" y="0"/>
                  </a:moveTo>
                  <a:lnTo>
                    <a:pt x="886677" y="0"/>
                  </a:lnTo>
                  <a:lnTo>
                    <a:pt x="886677" y="319080"/>
                  </a:lnTo>
                  <a:lnTo>
                    <a:pt x="0" y="319080"/>
                  </a:lnTo>
                  <a:lnTo>
                    <a:pt x="0" y="0"/>
                  </a:lnTo>
                  <a:close/>
                </a:path>
              </a:pathLst>
            </a:custGeom>
            <a:ln w="22225">
              <a:solidFill>
                <a:srgbClr val="4472C4"/>
              </a:solidFill>
            </a:ln>
          </p:spPr>
          <p:txBody>
            <a:bodyPr wrap="square" lIns="0" tIns="0" rIns="0" bIns="0" rtlCol="0"/>
            <a:lstStyle/>
            <a:p>
              <a:endParaRPr/>
            </a:p>
          </p:txBody>
        </p:sp>
        <p:pic>
          <p:nvPicPr>
            <p:cNvPr id="101" name="object 101"/>
            <p:cNvPicPr/>
            <p:nvPr/>
          </p:nvPicPr>
          <p:blipFill>
            <a:blip r:embed="rId33" cstate="print"/>
            <a:stretch>
              <a:fillRect/>
            </a:stretch>
          </p:blipFill>
          <p:spPr>
            <a:xfrm>
              <a:off x="7638288" y="4218432"/>
              <a:ext cx="838200" cy="435863"/>
            </a:xfrm>
            <a:prstGeom prst="rect">
              <a:avLst/>
            </a:prstGeom>
          </p:spPr>
        </p:pic>
        <p:pic>
          <p:nvPicPr>
            <p:cNvPr id="102" name="object 102"/>
            <p:cNvPicPr/>
            <p:nvPr/>
          </p:nvPicPr>
          <p:blipFill>
            <a:blip r:embed="rId34" cstate="print"/>
            <a:stretch>
              <a:fillRect/>
            </a:stretch>
          </p:blipFill>
          <p:spPr>
            <a:xfrm>
              <a:off x="7644384" y="4221480"/>
              <a:ext cx="829055" cy="481584"/>
            </a:xfrm>
            <a:prstGeom prst="rect">
              <a:avLst/>
            </a:prstGeom>
          </p:spPr>
        </p:pic>
        <p:sp>
          <p:nvSpPr>
            <p:cNvPr id="103" name="object 103"/>
            <p:cNvSpPr/>
            <p:nvPr/>
          </p:nvSpPr>
          <p:spPr>
            <a:xfrm>
              <a:off x="7675529" y="4255446"/>
              <a:ext cx="711200" cy="307975"/>
            </a:xfrm>
            <a:custGeom>
              <a:avLst/>
              <a:gdLst/>
              <a:ahLst/>
              <a:cxnLst/>
              <a:rect l="l" t="t" r="r" b="b"/>
              <a:pathLst>
                <a:path w="711200" h="307975">
                  <a:moveTo>
                    <a:pt x="710946" y="0"/>
                  </a:moveTo>
                  <a:lnTo>
                    <a:pt x="0" y="0"/>
                  </a:lnTo>
                  <a:lnTo>
                    <a:pt x="0" y="307774"/>
                  </a:lnTo>
                  <a:lnTo>
                    <a:pt x="710946" y="307774"/>
                  </a:lnTo>
                  <a:lnTo>
                    <a:pt x="710946" y="0"/>
                  </a:lnTo>
                  <a:close/>
                </a:path>
              </a:pathLst>
            </a:custGeom>
            <a:solidFill>
              <a:srgbClr val="FFFFFF"/>
            </a:solidFill>
          </p:spPr>
          <p:txBody>
            <a:bodyPr wrap="square" lIns="0" tIns="0" rIns="0" bIns="0" rtlCol="0"/>
            <a:lstStyle/>
            <a:p>
              <a:endParaRPr/>
            </a:p>
          </p:txBody>
        </p:sp>
        <p:sp>
          <p:nvSpPr>
            <p:cNvPr id="104" name="object 104"/>
            <p:cNvSpPr/>
            <p:nvPr/>
          </p:nvSpPr>
          <p:spPr>
            <a:xfrm>
              <a:off x="7675529" y="4255446"/>
              <a:ext cx="711200" cy="307975"/>
            </a:xfrm>
            <a:custGeom>
              <a:avLst/>
              <a:gdLst/>
              <a:ahLst/>
              <a:cxnLst/>
              <a:rect l="l" t="t" r="r" b="b"/>
              <a:pathLst>
                <a:path w="711200" h="307975">
                  <a:moveTo>
                    <a:pt x="0" y="0"/>
                  </a:moveTo>
                  <a:lnTo>
                    <a:pt x="710946" y="0"/>
                  </a:lnTo>
                  <a:lnTo>
                    <a:pt x="710946" y="307775"/>
                  </a:lnTo>
                  <a:lnTo>
                    <a:pt x="0" y="307775"/>
                  </a:lnTo>
                  <a:lnTo>
                    <a:pt x="0" y="0"/>
                  </a:lnTo>
                  <a:close/>
                </a:path>
              </a:pathLst>
            </a:custGeom>
            <a:ln w="22225">
              <a:solidFill>
                <a:srgbClr val="4472C4"/>
              </a:solidFill>
            </a:ln>
          </p:spPr>
          <p:txBody>
            <a:bodyPr wrap="square" lIns="0" tIns="0" rIns="0" bIns="0" rtlCol="0"/>
            <a:lstStyle/>
            <a:p>
              <a:endParaRPr/>
            </a:p>
          </p:txBody>
        </p:sp>
        <p:pic>
          <p:nvPicPr>
            <p:cNvPr id="105" name="object 105"/>
            <p:cNvPicPr/>
            <p:nvPr/>
          </p:nvPicPr>
          <p:blipFill>
            <a:blip r:embed="rId35" cstate="print"/>
            <a:stretch>
              <a:fillRect/>
            </a:stretch>
          </p:blipFill>
          <p:spPr>
            <a:xfrm>
              <a:off x="8378952" y="4218432"/>
              <a:ext cx="844296" cy="435863"/>
            </a:xfrm>
            <a:prstGeom prst="rect">
              <a:avLst/>
            </a:prstGeom>
          </p:spPr>
        </p:pic>
        <p:pic>
          <p:nvPicPr>
            <p:cNvPr id="106" name="object 106"/>
            <p:cNvPicPr/>
            <p:nvPr/>
          </p:nvPicPr>
          <p:blipFill>
            <a:blip r:embed="rId36" cstate="print"/>
            <a:stretch>
              <a:fillRect/>
            </a:stretch>
          </p:blipFill>
          <p:spPr>
            <a:xfrm>
              <a:off x="8378952" y="4221480"/>
              <a:ext cx="844296" cy="481584"/>
            </a:xfrm>
            <a:prstGeom prst="rect">
              <a:avLst/>
            </a:prstGeom>
          </p:spPr>
        </p:pic>
        <p:sp>
          <p:nvSpPr>
            <p:cNvPr id="107" name="object 107"/>
            <p:cNvSpPr/>
            <p:nvPr/>
          </p:nvSpPr>
          <p:spPr>
            <a:xfrm>
              <a:off x="8416082" y="4255448"/>
              <a:ext cx="715645" cy="307975"/>
            </a:xfrm>
            <a:custGeom>
              <a:avLst/>
              <a:gdLst/>
              <a:ahLst/>
              <a:cxnLst/>
              <a:rect l="l" t="t" r="r" b="b"/>
              <a:pathLst>
                <a:path w="715645" h="307975">
                  <a:moveTo>
                    <a:pt x="715545" y="0"/>
                  </a:moveTo>
                  <a:lnTo>
                    <a:pt x="0" y="0"/>
                  </a:lnTo>
                  <a:lnTo>
                    <a:pt x="0" y="307774"/>
                  </a:lnTo>
                  <a:lnTo>
                    <a:pt x="715545" y="307774"/>
                  </a:lnTo>
                  <a:lnTo>
                    <a:pt x="715545" y="0"/>
                  </a:lnTo>
                  <a:close/>
                </a:path>
              </a:pathLst>
            </a:custGeom>
            <a:solidFill>
              <a:srgbClr val="FFFFFF"/>
            </a:solidFill>
          </p:spPr>
          <p:txBody>
            <a:bodyPr wrap="square" lIns="0" tIns="0" rIns="0" bIns="0" rtlCol="0"/>
            <a:lstStyle/>
            <a:p>
              <a:endParaRPr/>
            </a:p>
          </p:txBody>
        </p:sp>
        <p:sp>
          <p:nvSpPr>
            <p:cNvPr id="108" name="object 108"/>
            <p:cNvSpPr/>
            <p:nvPr/>
          </p:nvSpPr>
          <p:spPr>
            <a:xfrm>
              <a:off x="8416082" y="4255448"/>
              <a:ext cx="715645" cy="307975"/>
            </a:xfrm>
            <a:custGeom>
              <a:avLst/>
              <a:gdLst/>
              <a:ahLst/>
              <a:cxnLst/>
              <a:rect l="l" t="t" r="r" b="b"/>
              <a:pathLst>
                <a:path w="715645" h="307975">
                  <a:moveTo>
                    <a:pt x="0" y="0"/>
                  </a:moveTo>
                  <a:lnTo>
                    <a:pt x="715546" y="0"/>
                  </a:lnTo>
                  <a:lnTo>
                    <a:pt x="715546" y="307775"/>
                  </a:lnTo>
                  <a:lnTo>
                    <a:pt x="0" y="307775"/>
                  </a:lnTo>
                  <a:lnTo>
                    <a:pt x="0" y="0"/>
                  </a:lnTo>
                  <a:close/>
                </a:path>
              </a:pathLst>
            </a:custGeom>
            <a:ln w="22225">
              <a:solidFill>
                <a:srgbClr val="4472C4"/>
              </a:solidFill>
            </a:ln>
          </p:spPr>
          <p:txBody>
            <a:bodyPr wrap="square" lIns="0" tIns="0" rIns="0" bIns="0" rtlCol="0"/>
            <a:lstStyle/>
            <a:p>
              <a:endParaRPr/>
            </a:p>
          </p:txBody>
        </p:sp>
      </p:grpSp>
      <p:sp>
        <p:nvSpPr>
          <p:cNvPr id="109" name="object 109"/>
          <p:cNvSpPr txBox="1"/>
          <p:nvPr/>
        </p:nvSpPr>
        <p:spPr>
          <a:xfrm>
            <a:off x="6845395" y="3675379"/>
            <a:ext cx="2202180" cy="841375"/>
          </a:xfrm>
          <a:prstGeom prst="rect">
            <a:avLst/>
          </a:prstGeom>
        </p:spPr>
        <p:txBody>
          <a:bodyPr vert="horz" wrap="square" lIns="0" tIns="12700" rIns="0" bIns="0" rtlCol="0">
            <a:spAutoFit/>
          </a:bodyPr>
          <a:lstStyle/>
          <a:p>
            <a:pPr marL="493395">
              <a:lnSpc>
                <a:spcPct val="100000"/>
              </a:lnSpc>
              <a:spcBef>
                <a:spcPts val="100"/>
              </a:spcBef>
            </a:pPr>
            <a:r>
              <a:rPr sz="1800" spc="-10" dirty="0">
                <a:latin typeface="Calibri"/>
                <a:cs typeface="Calibri"/>
              </a:rPr>
              <a:t>Manufacturing</a:t>
            </a:r>
            <a:endParaRPr sz="1800">
              <a:latin typeface="Calibri"/>
              <a:cs typeface="Calibri"/>
            </a:endParaRPr>
          </a:p>
          <a:p>
            <a:pPr>
              <a:lnSpc>
                <a:spcPct val="100000"/>
              </a:lnSpc>
              <a:spcBef>
                <a:spcPts val="385"/>
              </a:spcBef>
            </a:pPr>
            <a:endParaRPr sz="1800">
              <a:latin typeface="Calibri"/>
              <a:cs typeface="Calibri"/>
            </a:endParaRPr>
          </a:p>
          <a:p>
            <a:pPr marL="12700">
              <a:lnSpc>
                <a:spcPct val="100000"/>
              </a:lnSpc>
              <a:tabLst>
                <a:tab pos="931544" algn="l"/>
                <a:tab pos="1666875" algn="l"/>
              </a:tabLst>
            </a:pPr>
            <a:r>
              <a:rPr sz="1400" spc="-10" dirty="0">
                <a:latin typeface="Calibri"/>
                <a:cs typeface="Calibri"/>
              </a:rPr>
              <a:t>Assembly</a:t>
            </a:r>
            <a:r>
              <a:rPr sz="1400" dirty="0">
                <a:latin typeface="Calibri"/>
                <a:cs typeface="Calibri"/>
              </a:rPr>
              <a:t>	</a:t>
            </a:r>
            <a:r>
              <a:rPr sz="1400" spc="-10" dirty="0">
                <a:latin typeface="Calibri"/>
                <a:cs typeface="Calibri"/>
              </a:rPr>
              <a:t>Testing</a:t>
            </a:r>
            <a:r>
              <a:rPr sz="1400" dirty="0">
                <a:latin typeface="Calibri"/>
                <a:cs typeface="Calibri"/>
              </a:rPr>
              <a:t>	</a:t>
            </a:r>
            <a:r>
              <a:rPr sz="1400" spc="-10" dirty="0">
                <a:latin typeface="Calibri"/>
                <a:cs typeface="Calibri"/>
              </a:rPr>
              <a:t>Quality</a:t>
            </a:r>
            <a:endParaRPr sz="1400">
              <a:latin typeface="Calibri"/>
              <a:cs typeface="Calibri"/>
            </a:endParaRPr>
          </a:p>
        </p:txBody>
      </p:sp>
      <p:grpSp>
        <p:nvGrpSpPr>
          <p:cNvPr id="110" name="object 110"/>
          <p:cNvGrpSpPr/>
          <p:nvPr/>
        </p:nvGrpSpPr>
        <p:grpSpPr>
          <a:xfrm>
            <a:off x="9125711" y="4218432"/>
            <a:ext cx="1061085" cy="701040"/>
            <a:chOff x="9125711" y="4218432"/>
            <a:chExt cx="1061085" cy="701040"/>
          </a:xfrm>
        </p:grpSpPr>
        <p:pic>
          <p:nvPicPr>
            <p:cNvPr id="111" name="object 111"/>
            <p:cNvPicPr/>
            <p:nvPr/>
          </p:nvPicPr>
          <p:blipFill>
            <a:blip r:embed="rId37" cstate="print"/>
            <a:stretch>
              <a:fillRect/>
            </a:stretch>
          </p:blipFill>
          <p:spPr>
            <a:xfrm>
              <a:off x="9125711" y="4218432"/>
              <a:ext cx="1018031" cy="649224"/>
            </a:xfrm>
            <a:prstGeom prst="rect">
              <a:avLst/>
            </a:prstGeom>
          </p:spPr>
        </p:pic>
        <p:pic>
          <p:nvPicPr>
            <p:cNvPr id="112" name="object 112"/>
            <p:cNvPicPr/>
            <p:nvPr/>
          </p:nvPicPr>
          <p:blipFill>
            <a:blip r:embed="rId38" cstate="print"/>
            <a:stretch>
              <a:fillRect/>
            </a:stretch>
          </p:blipFill>
          <p:spPr>
            <a:xfrm>
              <a:off x="9125711" y="4221480"/>
              <a:ext cx="1060703" cy="697992"/>
            </a:xfrm>
            <a:prstGeom prst="rect">
              <a:avLst/>
            </a:prstGeom>
          </p:spPr>
        </p:pic>
        <p:sp>
          <p:nvSpPr>
            <p:cNvPr id="113" name="object 113"/>
            <p:cNvSpPr/>
            <p:nvPr/>
          </p:nvSpPr>
          <p:spPr>
            <a:xfrm>
              <a:off x="9163305" y="4254178"/>
              <a:ext cx="890269" cy="523240"/>
            </a:xfrm>
            <a:custGeom>
              <a:avLst/>
              <a:gdLst/>
              <a:ahLst/>
              <a:cxnLst/>
              <a:rect l="l" t="t" r="r" b="b"/>
              <a:pathLst>
                <a:path w="890270" h="523239">
                  <a:moveTo>
                    <a:pt x="889673" y="0"/>
                  </a:moveTo>
                  <a:lnTo>
                    <a:pt x="0" y="0"/>
                  </a:lnTo>
                  <a:lnTo>
                    <a:pt x="0" y="523219"/>
                  </a:lnTo>
                  <a:lnTo>
                    <a:pt x="889673" y="523219"/>
                  </a:lnTo>
                  <a:lnTo>
                    <a:pt x="889673" y="0"/>
                  </a:lnTo>
                  <a:close/>
                </a:path>
              </a:pathLst>
            </a:custGeom>
            <a:solidFill>
              <a:srgbClr val="FFFFFF"/>
            </a:solidFill>
          </p:spPr>
          <p:txBody>
            <a:bodyPr wrap="square" lIns="0" tIns="0" rIns="0" bIns="0" rtlCol="0"/>
            <a:lstStyle/>
            <a:p>
              <a:endParaRPr/>
            </a:p>
          </p:txBody>
        </p:sp>
        <p:sp>
          <p:nvSpPr>
            <p:cNvPr id="114" name="object 114"/>
            <p:cNvSpPr/>
            <p:nvPr/>
          </p:nvSpPr>
          <p:spPr>
            <a:xfrm>
              <a:off x="9163305" y="4254178"/>
              <a:ext cx="890269" cy="523240"/>
            </a:xfrm>
            <a:custGeom>
              <a:avLst/>
              <a:gdLst/>
              <a:ahLst/>
              <a:cxnLst/>
              <a:rect l="l" t="t" r="r" b="b"/>
              <a:pathLst>
                <a:path w="890270" h="523239">
                  <a:moveTo>
                    <a:pt x="0" y="0"/>
                  </a:moveTo>
                  <a:lnTo>
                    <a:pt x="889672" y="0"/>
                  </a:lnTo>
                  <a:lnTo>
                    <a:pt x="889672" y="523220"/>
                  </a:lnTo>
                  <a:lnTo>
                    <a:pt x="0" y="523220"/>
                  </a:lnTo>
                  <a:lnTo>
                    <a:pt x="0" y="0"/>
                  </a:lnTo>
                  <a:close/>
                </a:path>
              </a:pathLst>
            </a:custGeom>
            <a:ln w="22225">
              <a:solidFill>
                <a:srgbClr val="4472C4"/>
              </a:solidFill>
            </a:ln>
          </p:spPr>
          <p:txBody>
            <a:bodyPr wrap="square" lIns="0" tIns="0" rIns="0" bIns="0" rtlCol="0"/>
            <a:lstStyle/>
            <a:p>
              <a:endParaRPr/>
            </a:p>
          </p:txBody>
        </p:sp>
      </p:grpSp>
      <p:sp>
        <p:nvSpPr>
          <p:cNvPr id="115" name="object 115"/>
          <p:cNvSpPr txBox="1"/>
          <p:nvPr/>
        </p:nvSpPr>
        <p:spPr>
          <a:xfrm>
            <a:off x="9244858" y="4274820"/>
            <a:ext cx="727075" cy="455295"/>
          </a:xfrm>
          <a:prstGeom prst="rect">
            <a:avLst/>
          </a:prstGeom>
        </p:spPr>
        <p:txBody>
          <a:bodyPr vert="horz" wrap="square" lIns="0" tIns="9525" rIns="0" bIns="0" rtlCol="0">
            <a:spAutoFit/>
          </a:bodyPr>
          <a:lstStyle/>
          <a:p>
            <a:pPr marL="109220" marR="5080" indent="-97155">
              <a:lnSpc>
                <a:spcPct val="101400"/>
              </a:lnSpc>
              <a:spcBef>
                <a:spcPts val="75"/>
              </a:spcBef>
            </a:pPr>
            <a:r>
              <a:rPr sz="1400" spc="-10" dirty="0">
                <a:latin typeface="Calibri"/>
                <a:cs typeface="Calibri"/>
              </a:rPr>
              <a:t>Customer service</a:t>
            </a:r>
            <a:endParaRPr sz="1400">
              <a:latin typeface="Calibri"/>
              <a:cs typeface="Calibri"/>
            </a:endParaRPr>
          </a:p>
        </p:txBody>
      </p:sp>
      <p:grpSp>
        <p:nvGrpSpPr>
          <p:cNvPr id="116" name="object 116"/>
          <p:cNvGrpSpPr/>
          <p:nvPr/>
        </p:nvGrpSpPr>
        <p:grpSpPr>
          <a:xfrm>
            <a:off x="10055352" y="4218432"/>
            <a:ext cx="1049020" cy="701040"/>
            <a:chOff x="10055352" y="4218432"/>
            <a:chExt cx="1049020" cy="701040"/>
          </a:xfrm>
        </p:grpSpPr>
        <p:pic>
          <p:nvPicPr>
            <p:cNvPr id="117" name="object 117"/>
            <p:cNvPicPr/>
            <p:nvPr/>
          </p:nvPicPr>
          <p:blipFill>
            <a:blip r:embed="rId39" cstate="print"/>
            <a:stretch>
              <a:fillRect/>
            </a:stretch>
          </p:blipFill>
          <p:spPr>
            <a:xfrm>
              <a:off x="10055352" y="4218432"/>
              <a:ext cx="1018031" cy="649224"/>
            </a:xfrm>
            <a:prstGeom prst="rect">
              <a:avLst/>
            </a:prstGeom>
          </p:spPr>
        </p:pic>
        <p:pic>
          <p:nvPicPr>
            <p:cNvPr id="118" name="object 118"/>
            <p:cNvPicPr/>
            <p:nvPr/>
          </p:nvPicPr>
          <p:blipFill>
            <a:blip r:embed="rId40" cstate="print"/>
            <a:stretch>
              <a:fillRect/>
            </a:stretch>
          </p:blipFill>
          <p:spPr>
            <a:xfrm>
              <a:off x="10067544" y="4221480"/>
              <a:ext cx="1036320" cy="697992"/>
            </a:xfrm>
            <a:prstGeom prst="rect">
              <a:avLst/>
            </a:prstGeom>
          </p:spPr>
        </p:pic>
        <p:sp>
          <p:nvSpPr>
            <p:cNvPr id="119" name="object 119"/>
            <p:cNvSpPr/>
            <p:nvPr/>
          </p:nvSpPr>
          <p:spPr>
            <a:xfrm>
              <a:off x="10093269" y="4255030"/>
              <a:ext cx="890269" cy="523240"/>
            </a:xfrm>
            <a:custGeom>
              <a:avLst/>
              <a:gdLst/>
              <a:ahLst/>
              <a:cxnLst/>
              <a:rect l="l" t="t" r="r" b="b"/>
              <a:pathLst>
                <a:path w="890270" h="523239">
                  <a:moveTo>
                    <a:pt x="889671" y="0"/>
                  </a:moveTo>
                  <a:lnTo>
                    <a:pt x="0" y="0"/>
                  </a:lnTo>
                  <a:lnTo>
                    <a:pt x="0" y="523219"/>
                  </a:lnTo>
                  <a:lnTo>
                    <a:pt x="889671" y="523219"/>
                  </a:lnTo>
                  <a:lnTo>
                    <a:pt x="889671" y="0"/>
                  </a:lnTo>
                  <a:close/>
                </a:path>
              </a:pathLst>
            </a:custGeom>
            <a:solidFill>
              <a:srgbClr val="FFFFFF"/>
            </a:solidFill>
          </p:spPr>
          <p:txBody>
            <a:bodyPr wrap="square" lIns="0" tIns="0" rIns="0" bIns="0" rtlCol="0"/>
            <a:lstStyle/>
            <a:p>
              <a:endParaRPr/>
            </a:p>
          </p:txBody>
        </p:sp>
        <p:sp>
          <p:nvSpPr>
            <p:cNvPr id="120" name="object 120"/>
            <p:cNvSpPr/>
            <p:nvPr/>
          </p:nvSpPr>
          <p:spPr>
            <a:xfrm>
              <a:off x="10093269" y="4255030"/>
              <a:ext cx="890269" cy="523240"/>
            </a:xfrm>
            <a:custGeom>
              <a:avLst/>
              <a:gdLst/>
              <a:ahLst/>
              <a:cxnLst/>
              <a:rect l="l" t="t" r="r" b="b"/>
              <a:pathLst>
                <a:path w="890270" h="523239">
                  <a:moveTo>
                    <a:pt x="0" y="0"/>
                  </a:moveTo>
                  <a:lnTo>
                    <a:pt x="889672" y="0"/>
                  </a:lnTo>
                  <a:lnTo>
                    <a:pt x="889672" y="523220"/>
                  </a:lnTo>
                  <a:lnTo>
                    <a:pt x="0" y="523220"/>
                  </a:lnTo>
                  <a:lnTo>
                    <a:pt x="0" y="0"/>
                  </a:lnTo>
                  <a:close/>
                </a:path>
              </a:pathLst>
            </a:custGeom>
            <a:ln w="22225">
              <a:solidFill>
                <a:srgbClr val="4472C4"/>
              </a:solidFill>
            </a:ln>
          </p:spPr>
          <p:txBody>
            <a:bodyPr wrap="square" lIns="0" tIns="0" rIns="0" bIns="0" rtlCol="0"/>
            <a:lstStyle/>
            <a:p>
              <a:endParaRPr/>
            </a:p>
          </p:txBody>
        </p:sp>
      </p:grpSp>
      <p:sp>
        <p:nvSpPr>
          <p:cNvPr id="121" name="object 121"/>
          <p:cNvSpPr txBox="1"/>
          <p:nvPr/>
        </p:nvSpPr>
        <p:spPr>
          <a:xfrm>
            <a:off x="10186663" y="4274820"/>
            <a:ext cx="703580" cy="455295"/>
          </a:xfrm>
          <a:prstGeom prst="rect">
            <a:avLst/>
          </a:prstGeom>
        </p:spPr>
        <p:txBody>
          <a:bodyPr vert="horz" wrap="square" lIns="0" tIns="9525" rIns="0" bIns="0" rtlCol="0">
            <a:spAutoFit/>
          </a:bodyPr>
          <a:lstStyle/>
          <a:p>
            <a:pPr marL="167640" marR="5080" indent="-155575">
              <a:lnSpc>
                <a:spcPct val="101400"/>
              </a:lnSpc>
              <a:spcBef>
                <a:spcPts val="75"/>
              </a:spcBef>
            </a:pPr>
            <a:r>
              <a:rPr sz="1400" spc="-10" dirty="0">
                <a:latin typeface="Calibri"/>
                <a:cs typeface="Calibri"/>
              </a:rPr>
              <a:t>Domestic Sales</a:t>
            </a:r>
            <a:endParaRPr sz="1400">
              <a:latin typeface="Calibri"/>
              <a:cs typeface="Calibri"/>
            </a:endParaRPr>
          </a:p>
        </p:txBody>
      </p:sp>
      <p:grpSp>
        <p:nvGrpSpPr>
          <p:cNvPr id="122" name="object 122"/>
          <p:cNvGrpSpPr/>
          <p:nvPr/>
        </p:nvGrpSpPr>
        <p:grpSpPr>
          <a:xfrm>
            <a:off x="10981943" y="4224528"/>
            <a:ext cx="1207135" cy="701040"/>
            <a:chOff x="10981943" y="4224528"/>
            <a:chExt cx="1207135" cy="701040"/>
          </a:xfrm>
        </p:grpSpPr>
        <p:pic>
          <p:nvPicPr>
            <p:cNvPr id="123" name="object 123"/>
            <p:cNvPicPr/>
            <p:nvPr/>
          </p:nvPicPr>
          <p:blipFill>
            <a:blip r:embed="rId41" cstate="print"/>
            <a:stretch>
              <a:fillRect/>
            </a:stretch>
          </p:blipFill>
          <p:spPr>
            <a:xfrm>
              <a:off x="10981943" y="4224528"/>
              <a:ext cx="1207007" cy="649224"/>
            </a:xfrm>
            <a:prstGeom prst="rect">
              <a:avLst/>
            </a:prstGeom>
          </p:spPr>
        </p:pic>
        <p:pic>
          <p:nvPicPr>
            <p:cNvPr id="124" name="object 124"/>
            <p:cNvPicPr/>
            <p:nvPr/>
          </p:nvPicPr>
          <p:blipFill>
            <a:blip r:embed="rId42" cstate="print"/>
            <a:stretch>
              <a:fillRect/>
            </a:stretch>
          </p:blipFill>
          <p:spPr>
            <a:xfrm>
              <a:off x="10984991" y="4227576"/>
              <a:ext cx="1203959" cy="697992"/>
            </a:xfrm>
            <a:prstGeom prst="rect">
              <a:avLst/>
            </a:prstGeom>
          </p:spPr>
        </p:pic>
        <p:sp>
          <p:nvSpPr>
            <p:cNvPr id="125" name="object 125"/>
            <p:cNvSpPr/>
            <p:nvPr/>
          </p:nvSpPr>
          <p:spPr>
            <a:xfrm>
              <a:off x="11017398" y="4260565"/>
              <a:ext cx="1140460" cy="523240"/>
            </a:xfrm>
            <a:custGeom>
              <a:avLst/>
              <a:gdLst/>
              <a:ahLst/>
              <a:cxnLst/>
              <a:rect l="l" t="t" r="r" b="b"/>
              <a:pathLst>
                <a:path w="1140459" h="523239">
                  <a:moveTo>
                    <a:pt x="1139908" y="0"/>
                  </a:moveTo>
                  <a:lnTo>
                    <a:pt x="0" y="0"/>
                  </a:lnTo>
                  <a:lnTo>
                    <a:pt x="0" y="523220"/>
                  </a:lnTo>
                  <a:lnTo>
                    <a:pt x="1139908" y="523220"/>
                  </a:lnTo>
                  <a:lnTo>
                    <a:pt x="1139908" y="0"/>
                  </a:lnTo>
                  <a:close/>
                </a:path>
              </a:pathLst>
            </a:custGeom>
            <a:solidFill>
              <a:srgbClr val="FFFFFF"/>
            </a:solidFill>
          </p:spPr>
          <p:txBody>
            <a:bodyPr wrap="square" lIns="0" tIns="0" rIns="0" bIns="0" rtlCol="0"/>
            <a:lstStyle/>
            <a:p>
              <a:endParaRPr/>
            </a:p>
          </p:txBody>
        </p:sp>
        <p:sp>
          <p:nvSpPr>
            <p:cNvPr id="126" name="object 126"/>
            <p:cNvSpPr/>
            <p:nvPr/>
          </p:nvSpPr>
          <p:spPr>
            <a:xfrm>
              <a:off x="11017398" y="4260565"/>
              <a:ext cx="1140460" cy="523240"/>
            </a:xfrm>
            <a:custGeom>
              <a:avLst/>
              <a:gdLst/>
              <a:ahLst/>
              <a:cxnLst/>
              <a:rect l="l" t="t" r="r" b="b"/>
              <a:pathLst>
                <a:path w="1140459" h="523239">
                  <a:moveTo>
                    <a:pt x="0" y="0"/>
                  </a:moveTo>
                  <a:lnTo>
                    <a:pt x="1139908" y="0"/>
                  </a:lnTo>
                  <a:lnTo>
                    <a:pt x="1139908" y="523220"/>
                  </a:lnTo>
                  <a:lnTo>
                    <a:pt x="0" y="523220"/>
                  </a:lnTo>
                  <a:lnTo>
                    <a:pt x="0" y="0"/>
                  </a:lnTo>
                  <a:close/>
                </a:path>
              </a:pathLst>
            </a:custGeom>
            <a:ln w="22225">
              <a:solidFill>
                <a:srgbClr val="4472C4"/>
              </a:solidFill>
            </a:ln>
          </p:spPr>
          <p:txBody>
            <a:bodyPr wrap="square" lIns="0" tIns="0" rIns="0" bIns="0" rtlCol="0"/>
            <a:lstStyle/>
            <a:p>
              <a:endParaRPr/>
            </a:p>
          </p:txBody>
        </p:sp>
      </p:grpSp>
      <p:sp>
        <p:nvSpPr>
          <p:cNvPr id="127" name="object 127"/>
          <p:cNvSpPr txBox="1"/>
          <p:nvPr/>
        </p:nvSpPr>
        <p:spPr>
          <a:xfrm>
            <a:off x="11104974" y="4280916"/>
            <a:ext cx="964565" cy="455295"/>
          </a:xfrm>
          <a:prstGeom prst="rect">
            <a:avLst/>
          </a:prstGeom>
        </p:spPr>
        <p:txBody>
          <a:bodyPr vert="horz" wrap="square" lIns="0" tIns="9525" rIns="0" bIns="0" rtlCol="0">
            <a:spAutoFit/>
          </a:bodyPr>
          <a:lstStyle/>
          <a:p>
            <a:pPr marL="304165" marR="5080" indent="-292100">
              <a:lnSpc>
                <a:spcPct val="101400"/>
              </a:lnSpc>
              <a:spcBef>
                <a:spcPts val="75"/>
              </a:spcBef>
            </a:pPr>
            <a:r>
              <a:rPr sz="1400" spc="-10" dirty="0">
                <a:latin typeface="Calibri"/>
                <a:cs typeface="Calibri"/>
              </a:rPr>
              <a:t>International sales</a:t>
            </a:r>
            <a:endParaRPr sz="1400">
              <a:latin typeface="Calibri"/>
              <a:cs typeface="Calibri"/>
            </a:endParaRPr>
          </a:p>
        </p:txBody>
      </p:sp>
      <p:grpSp>
        <p:nvGrpSpPr>
          <p:cNvPr id="128" name="object 128"/>
          <p:cNvGrpSpPr/>
          <p:nvPr/>
        </p:nvGrpSpPr>
        <p:grpSpPr>
          <a:xfrm>
            <a:off x="984503" y="4236720"/>
            <a:ext cx="1186180" cy="701040"/>
            <a:chOff x="984503" y="4236720"/>
            <a:chExt cx="1186180" cy="701040"/>
          </a:xfrm>
        </p:grpSpPr>
        <p:pic>
          <p:nvPicPr>
            <p:cNvPr id="129" name="object 129"/>
            <p:cNvPicPr/>
            <p:nvPr/>
          </p:nvPicPr>
          <p:blipFill>
            <a:blip r:embed="rId43" cstate="print"/>
            <a:stretch>
              <a:fillRect/>
            </a:stretch>
          </p:blipFill>
          <p:spPr>
            <a:xfrm>
              <a:off x="984503" y="4236720"/>
              <a:ext cx="1185672" cy="652271"/>
            </a:xfrm>
            <a:prstGeom prst="rect">
              <a:avLst/>
            </a:prstGeom>
          </p:spPr>
        </p:pic>
        <p:pic>
          <p:nvPicPr>
            <p:cNvPr id="130" name="object 130"/>
            <p:cNvPicPr/>
            <p:nvPr/>
          </p:nvPicPr>
          <p:blipFill>
            <a:blip r:embed="rId44" cstate="print"/>
            <a:stretch>
              <a:fillRect/>
            </a:stretch>
          </p:blipFill>
          <p:spPr>
            <a:xfrm>
              <a:off x="987551" y="4239768"/>
              <a:ext cx="1179575" cy="697992"/>
            </a:xfrm>
            <a:prstGeom prst="rect">
              <a:avLst/>
            </a:prstGeom>
          </p:spPr>
        </p:pic>
        <p:sp>
          <p:nvSpPr>
            <p:cNvPr id="131" name="object 131"/>
            <p:cNvSpPr/>
            <p:nvPr/>
          </p:nvSpPr>
          <p:spPr>
            <a:xfrm>
              <a:off x="1021551" y="4274508"/>
              <a:ext cx="1058545" cy="523240"/>
            </a:xfrm>
            <a:custGeom>
              <a:avLst/>
              <a:gdLst/>
              <a:ahLst/>
              <a:cxnLst/>
              <a:rect l="l" t="t" r="r" b="b"/>
              <a:pathLst>
                <a:path w="1058545" h="523239">
                  <a:moveTo>
                    <a:pt x="1058201" y="0"/>
                  </a:moveTo>
                  <a:lnTo>
                    <a:pt x="0" y="0"/>
                  </a:lnTo>
                  <a:lnTo>
                    <a:pt x="0" y="523219"/>
                  </a:lnTo>
                  <a:lnTo>
                    <a:pt x="1058201" y="523219"/>
                  </a:lnTo>
                  <a:lnTo>
                    <a:pt x="1058201" y="0"/>
                  </a:lnTo>
                  <a:close/>
                </a:path>
              </a:pathLst>
            </a:custGeom>
            <a:solidFill>
              <a:srgbClr val="FFFFFF"/>
            </a:solidFill>
          </p:spPr>
          <p:txBody>
            <a:bodyPr wrap="square" lIns="0" tIns="0" rIns="0" bIns="0" rtlCol="0"/>
            <a:lstStyle/>
            <a:p>
              <a:endParaRPr/>
            </a:p>
          </p:txBody>
        </p:sp>
        <p:sp>
          <p:nvSpPr>
            <p:cNvPr id="132" name="object 132"/>
            <p:cNvSpPr/>
            <p:nvPr/>
          </p:nvSpPr>
          <p:spPr>
            <a:xfrm>
              <a:off x="1021551" y="4274508"/>
              <a:ext cx="1058545" cy="523240"/>
            </a:xfrm>
            <a:custGeom>
              <a:avLst/>
              <a:gdLst/>
              <a:ahLst/>
              <a:cxnLst/>
              <a:rect l="l" t="t" r="r" b="b"/>
              <a:pathLst>
                <a:path w="1058545" h="523239">
                  <a:moveTo>
                    <a:pt x="0" y="0"/>
                  </a:moveTo>
                  <a:lnTo>
                    <a:pt x="1058201" y="0"/>
                  </a:lnTo>
                  <a:lnTo>
                    <a:pt x="1058201" y="523220"/>
                  </a:lnTo>
                  <a:lnTo>
                    <a:pt x="0" y="523220"/>
                  </a:lnTo>
                  <a:lnTo>
                    <a:pt x="0" y="0"/>
                  </a:lnTo>
                  <a:close/>
                </a:path>
              </a:pathLst>
            </a:custGeom>
            <a:ln w="22225">
              <a:solidFill>
                <a:srgbClr val="4472C4"/>
              </a:solidFill>
            </a:ln>
          </p:spPr>
          <p:txBody>
            <a:bodyPr wrap="square" lIns="0" tIns="0" rIns="0" bIns="0" rtlCol="0"/>
            <a:lstStyle/>
            <a:p>
              <a:endParaRPr/>
            </a:p>
          </p:txBody>
        </p:sp>
      </p:grpSp>
      <p:sp>
        <p:nvSpPr>
          <p:cNvPr id="133" name="object 133"/>
          <p:cNvSpPr txBox="1"/>
          <p:nvPr/>
        </p:nvSpPr>
        <p:spPr>
          <a:xfrm>
            <a:off x="1108533" y="4296155"/>
            <a:ext cx="884555" cy="452120"/>
          </a:xfrm>
          <a:prstGeom prst="rect">
            <a:avLst/>
          </a:prstGeom>
        </p:spPr>
        <p:txBody>
          <a:bodyPr vert="horz" wrap="square" lIns="0" tIns="12700" rIns="0" bIns="0" rtlCol="0">
            <a:spAutoFit/>
          </a:bodyPr>
          <a:lstStyle/>
          <a:p>
            <a:pPr marL="12700" marR="5080" indent="185420">
              <a:lnSpc>
                <a:spcPct val="100000"/>
              </a:lnSpc>
              <a:spcBef>
                <a:spcPts val="100"/>
              </a:spcBef>
            </a:pPr>
            <a:r>
              <a:rPr sz="1400" spc="-10" dirty="0">
                <a:latin typeface="Calibri"/>
                <a:cs typeface="Calibri"/>
              </a:rPr>
              <a:t>Design Engineering</a:t>
            </a:r>
            <a:endParaRPr sz="1400">
              <a:latin typeface="Calibri"/>
              <a:cs typeface="Calibri"/>
            </a:endParaRPr>
          </a:p>
        </p:txBody>
      </p:sp>
      <p:grpSp>
        <p:nvGrpSpPr>
          <p:cNvPr id="134" name="object 134"/>
          <p:cNvGrpSpPr/>
          <p:nvPr/>
        </p:nvGrpSpPr>
        <p:grpSpPr>
          <a:xfrm>
            <a:off x="1453896" y="5056632"/>
            <a:ext cx="426720" cy="500380"/>
            <a:chOff x="1453896" y="5056632"/>
            <a:chExt cx="426720" cy="500380"/>
          </a:xfrm>
        </p:grpSpPr>
        <p:pic>
          <p:nvPicPr>
            <p:cNvPr id="135" name="object 135"/>
            <p:cNvPicPr/>
            <p:nvPr/>
          </p:nvPicPr>
          <p:blipFill>
            <a:blip r:embed="rId45" cstate="print"/>
            <a:stretch>
              <a:fillRect/>
            </a:stretch>
          </p:blipFill>
          <p:spPr>
            <a:xfrm>
              <a:off x="1453896" y="5056632"/>
              <a:ext cx="426720" cy="457200"/>
            </a:xfrm>
            <a:prstGeom prst="rect">
              <a:avLst/>
            </a:prstGeom>
          </p:spPr>
        </p:pic>
        <p:pic>
          <p:nvPicPr>
            <p:cNvPr id="136" name="object 136"/>
            <p:cNvPicPr/>
            <p:nvPr/>
          </p:nvPicPr>
          <p:blipFill>
            <a:blip r:embed="rId46" cstate="print"/>
            <a:stretch>
              <a:fillRect/>
            </a:stretch>
          </p:blipFill>
          <p:spPr>
            <a:xfrm>
              <a:off x="1463040" y="5071872"/>
              <a:ext cx="411479" cy="484631"/>
            </a:xfrm>
            <a:prstGeom prst="rect">
              <a:avLst/>
            </a:prstGeom>
          </p:spPr>
        </p:pic>
        <p:sp>
          <p:nvSpPr>
            <p:cNvPr id="137" name="object 137"/>
            <p:cNvSpPr/>
            <p:nvPr/>
          </p:nvSpPr>
          <p:spPr>
            <a:xfrm>
              <a:off x="1486556" y="5089452"/>
              <a:ext cx="309880" cy="339725"/>
            </a:xfrm>
            <a:custGeom>
              <a:avLst/>
              <a:gdLst/>
              <a:ahLst/>
              <a:cxnLst/>
              <a:rect l="l" t="t" r="r" b="b"/>
              <a:pathLst>
                <a:path w="309880"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138" name="object 138"/>
          <p:cNvSpPr txBox="1"/>
          <p:nvPr/>
        </p:nvSpPr>
        <p:spPr>
          <a:xfrm>
            <a:off x="1583311" y="5128260"/>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2</a:t>
            </a:r>
            <a:endParaRPr sz="1400">
              <a:latin typeface="Calibri"/>
              <a:cs typeface="Calibri"/>
            </a:endParaRPr>
          </a:p>
        </p:txBody>
      </p:sp>
      <p:grpSp>
        <p:nvGrpSpPr>
          <p:cNvPr id="139" name="object 139"/>
          <p:cNvGrpSpPr/>
          <p:nvPr/>
        </p:nvGrpSpPr>
        <p:grpSpPr>
          <a:xfrm>
            <a:off x="1246862" y="4010817"/>
            <a:ext cx="10377805" cy="2550160"/>
            <a:chOff x="1246862" y="4010817"/>
            <a:chExt cx="10377805" cy="2550160"/>
          </a:xfrm>
        </p:grpSpPr>
        <p:sp>
          <p:nvSpPr>
            <p:cNvPr id="140" name="object 140"/>
            <p:cNvSpPr/>
            <p:nvPr/>
          </p:nvSpPr>
          <p:spPr>
            <a:xfrm>
              <a:off x="3745420" y="4040389"/>
              <a:ext cx="635" cy="229235"/>
            </a:xfrm>
            <a:custGeom>
              <a:avLst/>
              <a:gdLst/>
              <a:ahLst/>
              <a:cxnLst/>
              <a:rect l="l" t="t" r="r" b="b"/>
              <a:pathLst>
                <a:path w="635" h="229235">
                  <a:moveTo>
                    <a:pt x="437" y="0"/>
                  </a:moveTo>
                  <a:lnTo>
                    <a:pt x="0" y="229088"/>
                  </a:lnTo>
                </a:path>
              </a:pathLst>
            </a:custGeom>
            <a:ln w="25400">
              <a:solidFill>
                <a:srgbClr val="4472C4"/>
              </a:solidFill>
            </a:ln>
          </p:spPr>
          <p:txBody>
            <a:bodyPr wrap="square" lIns="0" tIns="0" rIns="0" bIns="0" rtlCol="0"/>
            <a:lstStyle/>
            <a:p>
              <a:endParaRPr/>
            </a:p>
          </p:txBody>
        </p:sp>
        <p:sp>
          <p:nvSpPr>
            <p:cNvPr id="141" name="object 141"/>
            <p:cNvSpPr/>
            <p:nvPr/>
          </p:nvSpPr>
          <p:spPr>
            <a:xfrm>
              <a:off x="8026539" y="4023517"/>
              <a:ext cx="5080" cy="232410"/>
            </a:xfrm>
            <a:custGeom>
              <a:avLst/>
              <a:gdLst/>
              <a:ahLst/>
              <a:cxnLst/>
              <a:rect l="l" t="t" r="r" b="b"/>
              <a:pathLst>
                <a:path w="5079" h="232410">
                  <a:moveTo>
                    <a:pt x="0" y="0"/>
                  </a:moveTo>
                  <a:lnTo>
                    <a:pt x="4462" y="231928"/>
                  </a:lnTo>
                </a:path>
              </a:pathLst>
            </a:custGeom>
            <a:ln w="25400">
              <a:solidFill>
                <a:srgbClr val="4472C4"/>
              </a:solidFill>
            </a:ln>
          </p:spPr>
          <p:txBody>
            <a:bodyPr wrap="square" lIns="0" tIns="0" rIns="0" bIns="0" rtlCol="0"/>
            <a:lstStyle/>
            <a:p>
              <a:endParaRPr/>
            </a:p>
          </p:txBody>
        </p:sp>
        <p:sp>
          <p:nvSpPr>
            <p:cNvPr id="142" name="object 142"/>
            <p:cNvSpPr/>
            <p:nvPr/>
          </p:nvSpPr>
          <p:spPr>
            <a:xfrm>
              <a:off x="10538104" y="4023517"/>
              <a:ext cx="3810" cy="231775"/>
            </a:xfrm>
            <a:custGeom>
              <a:avLst/>
              <a:gdLst/>
              <a:ahLst/>
              <a:cxnLst/>
              <a:rect l="l" t="t" r="r" b="b"/>
              <a:pathLst>
                <a:path w="3809" h="231775">
                  <a:moveTo>
                    <a:pt x="3337" y="0"/>
                  </a:moveTo>
                  <a:lnTo>
                    <a:pt x="0" y="231513"/>
                  </a:lnTo>
                </a:path>
              </a:pathLst>
            </a:custGeom>
            <a:ln w="25400">
              <a:solidFill>
                <a:srgbClr val="4472C4"/>
              </a:solidFill>
            </a:ln>
          </p:spPr>
          <p:txBody>
            <a:bodyPr wrap="square" lIns="0" tIns="0" rIns="0" bIns="0" rtlCol="0"/>
            <a:lstStyle/>
            <a:p>
              <a:endParaRPr/>
            </a:p>
          </p:txBody>
        </p:sp>
        <p:sp>
          <p:nvSpPr>
            <p:cNvPr id="143" name="object 143"/>
            <p:cNvSpPr/>
            <p:nvPr/>
          </p:nvSpPr>
          <p:spPr>
            <a:xfrm>
              <a:off x="9608140" y="4139943"/>
              <a:ext cx="2003425" cy="0"/>
            </a:xfrm>
            <a:custGeom>
              <a:avLst/>
              <a:gdLst/>
              <a:ahLst/>
              <a:cxnLst/>
              <a:rect l="l" t="t" r="r" b="b"/>
              <a:pathLst>
                <a:path w="2003425">
                  <a:moveTo>
                    <a:pt x="2003253" y="0"/>
                  </a:moveTo>
                  <a:lnTo>
                    <a:pt x="0" y="1"/>
                  </a:lnTo>
                </a:path>
              </a:pathLst>
            </a:custGeom>
            <a:ln w="25400">
              <a:solidFill>
                <a:srgbClr val="4472C4"/>
              </a:solidFill>
            </a:ln>
          </p:spPr>
          <p:txBody>
            <a:bodyPr wrap="square" lIns="0" tIns="0" rIns="0" bIns="0" rtlCol="0"/>
            <a:lstStyle/>
            <a:p>
              <a:endParaRPr/>
            </a:p>
          </p:txBody>
        </p:sp>
        <p:sp>
          <p:nvSpPr>
            <p:cNvPr id="144" name="object 144"/>
            <p:cNvSpPr/>
            <p:nvPr/>
          </p:nvSpPr>
          <p:spPr>
            <a:xfrm>
              <a:off x="7215771" y="4131778"/>
              <a:ext cx="1621790" cy="15875"/>
            </a:xfrm>
            <a:custGeom>
              <a:avLst/>
              <a:gdLst/>
              <a:ahLst/>
              <a:cxnLst/>
              <a:rect l="l" t="t" r="r" b="b"/>
              <a:pathLst>
                <a:path w="1621790" h="15875">
                  <a:moveTo>
                    <a:pt x="1621536" y="0"/>
                  </a:moveTo>
                  <a:lnTo>
                    <a:pt x="0" y="15659"/>
                  </a:lnTo>
                </a:path>
              </a:pathLst>
            </a:custGeom>
            <a:ln w="25400">
              <a:solidFill>
                <a:srgbClr val="4472C4"/>
              </a:solidFill>
            </a:ln>
          </p:spPr>
          <p:txBody>
            <a:bodyPr wrap="square" lIns="0" tIns="0" rIns="0" bIns="0" rtlCol="0"/>
            <a:lstStyle/>
            <a:p>
              <a:endParaRPr/>
            </a:p>
          </p:txBody>
        </p:sp>
        <p:sp>
          <p:nvSpPr>
            <p:cNvPr id="145" name="object 145"/>
            <p:cNvSpPr/>
            <p:nvPr/>
          </p:nvSpPr>
          <p:spPr>
            <a:xfrm>
              <a:off x="1550651" y="4147102"/>
              <a:ext cx="4521200" cy="8255"/>
            </a:xfrm>
            <a:custGeom>
              <a:avLst/>
              <a:gdLst/>
              <a:ahLst/>
              <a:cxnLst/>
              <a:rect l="l" t="t" r="r" b="b"/>
              <a:pathLst>
                <a:path w="4521200" h="8254">
                  <a:moveTo>
                    <a:pt x="4520964" y="0"/>
                  </a:moveTo>
                  <a:lnTo>
                    <a:pt x="0" y="7830"/>
                  </a:lnTo>
                </a:path>
              </a:pathLst>
            </a:custGeom>
            <a:ln w="25400">
              <a:solidFill>
                <a:srgbClr val="4472C4"/>
              </a:solidFill>
            </a:ln>
          </p:spPr>
          <p:txBody>
            <a:bodyPr wrap="square" lIns="0" tIns="0" rIns="0" bIns="0" rtlCol="0"/>
            <a:lstStyle/>
            <a:p>
              <a:endParaRPr/>
            </a:p>
          </p:txBody>
        </p:sp>
        <p:sp>
          <p:nvSpPr>
            <p:cNvPr id="146" name="object 146"/>
            <p:cNvSpPr/>
            <p:nvPr/>
          </p:nvSpPr>
          <p:spPr>
            <a:xfrm>
              <a:off x="1550652" y="4139274"/>
              <a:ext cx="0" cy="135255"/>
            </a:xfrm>
            <a:custGeom>
              <a:avLst/>
              <a:gdLst/>
              <a:ahLst/>
              <a:cxnLst/>
              <a:rect l="l" t="t" r="r" b="b"/>
              <a:pathLst>
                <a:path h="135254">
                  <a:moveTo>
                    <a:pt x="0" y="0"/>
                  </a:moveTo>
                  <a:lnTo>
                    <a:pt x="1" y="135235"/>
                  </a:lnTo>
                </a:path>
              </a:pathLst>
            </a:custGeom>
            <a:ln w="25400">
              <a:solidFill>
                <a:srgbClr val="4472C4"/>
              </a:solidFill>
            </a:ln>
          </p:spPr>
          <p:txBody>
            <a:bodyPr wrap="square" lIns="0" tIns="0" rIns="0" bIns="0" rtlCol="0"/>
            <a:lstStyle/>
            <a:p>
              <a:endParaRPr/>
            </a:p>
          </p:txBody>
        </p:sp>
        <p:sp>
          <p:nvSpPr>
            <p:cNvPr id="147" name="object 147"/>
            <p:cNvSpPr/>
            <p:nvPr/>
          </p:nvSpPr>
          <p:spPr>
            <a:xfrm>
              <a:off x="2647429" y="4126783"/>
              <a:ext cx="0" cy="135255"/>
            </a:xfrm>
            <a:custGeom>
              <a:avLst/>
              <a:gdLst/>
              <a:ahLst/>
              <a:cxnLst/>
              <a:rect l="l" t="t" r="r" b="b"/>
              <a:pathLst>
                <a:path h="135254">
                  <a:moveTo>
                    <a:pt x="0" y="0"/>
                  </a:moveTo>
                  <a:lnTo>
                    <a:pt x="1" y="135235"/>
                  </a:lnTo>
                </a:path>
              </a:pathLst>
            </a:custGeom>
            <a:ln w="25400">
              <a:solidFill>
                <a:srgbClr val="4472C4"/>
              </a:solidFill>
            </a:ln>
          </p:spPr>
          <p:txBody>
            <a:bodyPr wrap="square" lIns="0" tIns="0" rIns="0" bIns="0" rtlCol="0"/>
            <a:lstStyle/>
            <a:p>
              <a:endParaRPr/>
            </a:p>
          </p:txBody>
        </p:sp>
        <p:sp>
          <p:nvSpPr>
            <p:cNvPr id="148" name="object 148"/>
            <p:cNvSpPr/>
            <p:nvPr/>
          </p:nvSpPr>
          <p:spPr>
            <a:xfrm>
              <a:off x="4853480" y="4129284"/>
              <a:ext cx="0" cy="135255"/>
            </a:xfrm>
            <a:custGeom>
              <a:avLst/>
              <a:gdLst/>
              <a:ahLst/>
              <a:cxnLst/>
              <a:rect l="l" t="t" r="r" b="b"/>
              <a:pathLst>
                <a:path h="135254">
                  <a:moveTo>
                    <a:pt x="0" y="0"/>
                  </a:moveTo>
                  <a:lnTo>
                    <a:pt x="1" y="135235"/>
                  </a:lnTo>
                </a:path>
              </a:pathLst>
            </a:custGeom>
            <a:ln w="25400">
              <a:solidFill>
                <a:srgbClr val="4472C4"/>
              </a:solidFill>
            </a:ln>
          </p:spPr>
          <p:txBody>
            <a:bodyPr wrap="square" lIns="0" tIns="0" rIns="0" bIns="0" rtlCol="0"/>
            <a:lstStyle/>
            <a:p>
              <a:endParaRPr/>
            </a:p>
          </p:txBody>
        </p:sp>
        <p:sp>
          <p:nvSpPr>
            <p:cNvPr id="149" name="object 149"/>
            <p:cNvSpPr/>
            <p:nvPr/>
          </p:nvSpPr>
          <p:spPr>
            <a:xfrm>
              <a:off x="6055189" y="4131783"/>
              <a:ext cx="0" cy="135255"/>
            </a:xfrm>
            <a:custGeom>
              <a:avLst/>
              <a:gdLst/>
              <a:ahLst/>
              <a:cxnLst/>
              <a:rect l="l" t="t" r="r" b="b"/>
              <a:pathLst>
                <a:path h="135254">
                  <a:moveTo>
                    <a:pt x="0" y="0"/>
                  </a:moveTo>
                  <a:lnTo>
                    <a:pt x="1" y="135235"/>
                  </a:lnTo>
                </a:path>
              </a:pathLst>
            </a:custGeom>
            <a:ln w="25400">
              <a:solidFill>
                <a:srgbClr val="4472C4"/>
              </a:solidFill>
            </a:ln>
          </p:spPr>
          <p:txBody>
            <a:bodyPr wrap="square" lIns="0" tIns="0" rIns="0" bIns="0" rtlCol="0"/>
            <a:lstStyle/>
            <a:p>
              <a:endParaRPr/>
            </a:p>
          </p:txBody>
        </p:sp>
        <p:sp>
          <p:nvSpPr>
            <p:cNvPr id="150" name="object 150"/>
            <p:cNvSpPr/>
            <p:nvPr/>
          </p:nvSpPr>
          <p:spPr>
            <a:xfrm>
              <a:off x="7226281" y="4131783"/>
              <a:ext cx="0" cy="135255"/>
            </a:xfrm>
            <a:custGeom>
              <a:avLst/>
              <a:gdLst/>
              <a:ahLst/>
              <a:cxnLst/>
              <a:rect l="l" t="t" r="r" b="b"/>
              <a:pathLst>
                <a:path h="135254">
                  <a:moveTo>
                    <a:pt x="0" y="0"/>
                  </a:moveTo>
                  <a:lnTo>
                    <a:pt x="1" y="135235"/>
                  </a:lnTo>
                </a:path>
              </a:pathLst>
            </a:custGeom>
            <a:ln w="25400">
              <a:solidFill>
                <a:srgbClr val="4472C4"/>
              </a:solidFill>
            </a:ln>
          </p:spPr>
          <p:txBody>
            <a:bodyPr wrap="square" lIns="0" tIns="0" rIns="0" bIns="0" rtlCol="0"/>
            <a:lstStyle/>
            <a:p>
              <a:endParaRPr/>
            </a:p>
          </p:txBody>
        </p:sp>
        <p:sp>
          <p:nvSpPr>
            <p:cNvPr id="151" name="object 151"/>
            <p:cNvSpPr/>
            <p:nvPr/>
          </p:nvSpPr>
          <p:spPr>
            <a:xfrm>
              <a:off x="8825229" y="4119293"/>
              <a:ext cx="0" cy="135255"/>
            </a:xfrm>
            <a:custGeom>
              <a:avLst/>
              <a:gdLst/>
              <a:ahLst/>
              <a:cxnLst/>
              <a:rect l="l" t="t" r="r" b="b"/>
              <a:pathLst>
                <a:path h="135254">
                  <a:moveTo>
                    <a:pt x="0" y="0"/>
                  </a:moveTo>
                  <a:lnTo>
                    <a:pt x="1" y="135235"/>
                  </a:lnTo>
                </a:path>
              </a:pathLst>
            </a:custGeom>
            <a:ln w="25400">
              <a:solidFill>
                <a:srgbClr val="4472C4"/>
              </a:solidFill>
            </a:ln>
          </p:spPr>
          <p:txBody>
            <a:bodyPr wrap="square" lIns="0" tIns="0" rIns="0" bIns="0" rtlCol="0"/>
            <a:lstStyle/>
            <a:p>
              <a:endParaRPr/>
            </a:p>
          </p:txBody>
        </p:sp>
        <p:sp>
          <p:nvSpPr>
            <p:cNvPr id="152" name="object 152"/>
            <p:cNvSpPr/>
            <p:nvPr/>
          </p:nvSpPr>
          <p:spPr>
            <a:xfrm>
              <a:off x="9604719" y="4111799"/>
              <a:ext cx="0" cy="135255"/>
            </a:xfrm>
            <a:custGeom>
              <a:avLst/>
              <a:gdLst/>
              <a:ahLst/>
              <a:cxnLst/>
              <a:rect l="l" t="t" r="r" b="b"/>
              <a:pathLst>
                <a:path h="135254">
                  <a:moveTo>
                    <a:pt x="0" y="0"/>
                  </a:moveTo>
                  <a:lnTo>
                    <a:pt x="1" y="135235"/>
                  </a:lnTo>
                </a:path>
              </a:pathLst>
            </a:custGeom>
            <a:ln w="25400">
              <a:solidFill>
                <a:srgbClr val="4472C4"/>
              </a:solidFill>
            </a:ln>
          </p:spPr>
          <p:txBody>
            <a:bodyPr wrap="square" lIns="0" tIns="0" rIns="0" bIns="0" rtlCol="0"/>
            <a:lstStyle/>
            <a:p>
              <a:endParaRPr/>
            </a:p>
          </p:txBody>
        </p:sp>
        <p:sp>
          <p:nvSpPr>
            <p:cNvPr id="153" name="object 153"/>
            <p:cNvSpPr/>
            <p:nvPr/>
          </p:nvSpPr>
          <p:spPr>
            <a:xfrm>
              <a:off x="11600909" y="4121794"/>
              <a:ext cx="0" cy="135255"/>
            </a:xfrm>
            <a:custGeom>
              <a:avLst/>
              <a:gdLst/>
              <a:ahLst/>
              <a:cxnLst/>
              <a:rect l="l" t="t" r="r" b="b"/>
              <a:pathLst>
                <a:path h="135254">
                  <a:moveTo>
                    <a:pt x="0" y="0"/>
                  </a:moveTo>
                  <a:lnTo>
                    <a:pt x="1" y="135235"/>
                  </a:lnTo>
                </a:path>
              </a:pathLst>
            </a:custGeom>
            <a:ln w="25400">
              <a:solidFill>
                <a:srgbClr val="4472C4"/>
              </a:solidFill>
            </a:ln>
          </p:spPr>
          <p:txBody>
            <a:bodyPr wrap="square" lIns="0" tIns="0" rIns="0" bIns="0" rtlCol="0"/>
            <a:lstStyle/>
            <a:p>
              <a:endParaRPr/>
            </a:p>
          </p:txBody>
        </p:sp>
        <p:sp>
          <p:nvSpPr>
            <p:cNvPr id="154" name="object 154"/>
            <p:cNvSpPr/>
            <p:nvPr/>
          </p:nvSpPr>
          <p:spPr>
            <a:xfrm>
              <a:off x="1267263" y="4815675"/>
              <a:ext cx="0" cy="1732280"/>
            </a:xfrm>
            <a:custGeom>
              <a:avLst/>
              <a:gdLst/>
              <a:ahLst/>
              <a:cxnLst/>
              <a:rect l="l" t="t" r="r" b="b"/>
              <a:pathLst>
                <a:path h="1732279">
                  <a:moveTo>
                    <a:pt x="0" y="0"/>
                  </a:moveTo>
                  <a:lnTo>
                    <a:pt x="1" y="1732141"/>
                  </a:lnTo>
                </a:path>
              </a:pathLst>
            </a:custGeom>
            <a:ln w="25400">
              <a:solidFill>
                <a:srgbClr val="4472C4"/>
              </a:solidFill>
            </a:ln>
          </p:spPr>
          <p:txBody>
            <a:bodyPr wrap="square" lIns="0" tIns="0" rIns="0" bIns="0" rtlCol="0"/>
            <a:lstStyle/>
            <a:p>
              <a:endParaRPr/>
            </a:p>
          </p:txBody>
        </p:sp>
        <p:sp>
          <p:nvSpPr>
            <p:cNvPr id="155" name="object 155"/>
            <p:cNvSpPr/>
            <p:nvPr/>
          </p:nvSpPr>
          <p:spPr>
            <a:xfrm>
              <a:off x="1259562" y="5259277"/>
              <a:ext cx="210820" cy="0"/>
            </a:xfrm>
            <a:custGeom>
              <a:avLst/>
              <a:gdLst/>
              <a:ahLst/>
              <a:cxnLst/>
              <a:rect l="l" t="t" r="r" b="b"/>
              <a:pathLst>
                <a:path w="210819">
                  <a:moveTo>
                    <a:pt x="210240" y="0"/>
                  </a:moveTo>
                  <a:lnTo>
                    <a:pt x="0" y="1"/>
                  </a:lnTo>
                </a:path>
              </a:pathLst>
            </a:custGeom>
            <a:ln w="25400">
              <a:solidFill>
                <a:srgbClr val="4472C4"/>
              </a:solidFill>
            </a:ln>
          </p:spPr>
          <p:txBody>
            <a:bodyPr wrap="square" lIns="0" tIns="0" rIns="0" bIns="0" rtlCol="0"/>
            <a:lstStyle/>
            <a:p>
              <a:endParaRPr/>
            </a:p>
          </p:txBody>
        </p:sp>
        <p:pic>
          <p:nvPicPr>
            <p:cNvPr id="156" name="object 156"/>
            <p:cNvPicPr/>
            <p:nvPr/>
          </p:nvPicPr>
          <p:blipFill>
            <a:blip r:embed="rId47" cstate="print"/>
            <a:stretch>
              <a:fillRect/>
            </a:stretch>
          </p:blipFill>
          <p:spPr>
            <a:xfrm>
              <a:off x="1450847" y="5666232"/>
              <a:ext cx="426720" cy="457200"/>
            </a:xfrm>
            <a:prstGeom prst="rect">
              <a:avLst/>
            </a:prstGeom>
          </p:spPr>
        </p:pic>
        <p:pic>
          <p:nvPicPr>
            <p:cNvPr id="157" name="object 157"/>
            <p:cNvPicPr/>
            <p:nvPr/>
          </p:nvPicPr>
          <p:blipFill>
            <a:blip r:embed="rId48" cstate="print"/>
            <a:stretch>
              <a:fillRect/>
            </a:stretch>
          </p:blipFill>
          <p:spPr>
            <a:xfrm>
              <a:off x="1456943" y="5681472"/>
              <a:ext cx="411480" cy="484631"/>
            </a:xfrm>
            <a:prstGeom prst="rect">
              <a:avLst/>
            </a:prstGeom>
          </p:spPr>
        </p:pic>
        <p:sp>
          <p:nvSpPr>
            <p:cNvPr id="158" name="object 158"/>
            <p:cNvSpPr/>
            <p:nvPr/>
          </p:nvSpPr>
          <p:spPr>
            <a:xfrm>
              <a:off x="1481789" y="5699058"/>
              <a:ext cx="309880" cy="339725"/>
            </a:xfrm>
            <a:custGeom>
              <a:avLst/>
              <a:gdLst/>
              <a:ahLst/>
              <a:cxnLst/>
              <a:rect l="l" t="t" r="r" b="b"/>
              <a:pathLst>
                <a:path w="309880"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159" name="object 159"/>
          <p:cNvSpPr txBox="1"/>
          <p:nvPr/>
        </p:nvSpPr>
        <p:spPr>
          <a:xfrm>
            <a:off x="1578543" y="5737860"/>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3</a:t>
            </a:r>
            <a:endParaRPr sz="1400">
              <a:latin typeface="Calibri"/>
              <a:cs typeface="Calibri"/>
            </a:endParaRPr>
          </a:p>
        </p:txBody>
      </p:sp>
      <p:grpSp>
        <p:nvGrpSpPr>
          <p:cNvPr id="160" name="object 160"/>
          <p:cNvGrpSpPr/>
          <p:nvPr/>
        </p:nvGrpSpPr>
        <p:grpSpPr>
          <a:xfrm>
            <a:off x="1242095" y="5856182"/>
            <a:ext cx="635635" cy="965835"/>
            <a:chOff x="1242095" y="5856182"/>
            <a:chExt cx="635635" cy="965835"/>
          </a:xfrm>
        </p:grpSpPr>
        <p:sp>
          <p:nvSpPr>
            <p:cNvPr id="161" name="object 161"/>
            <p:cNvSpPr/>
            <p:nvPr/>
          </p:nvSpPr>
          <p:spPr>
            <a:xfrm>
              <a:off x="1254795" y="5868882"/>
              <a:ext cx="210820" cy="0"/>
            </a:xfrm>
            <a:custGeom>
              <a:avLst/>
              <a:gdLst/>
              <a:ahLst/>
              <a:cxnLst/>
              <a:rect l="l" t="t" r="r" b="b"/>
              <a:pathLst>
                <a:path w="210819">
                  <a:moveTo>
                    <a:pt x="210240" y="0"/>
                  </a:moveTo>
                  <a:lnTo>
                    <a:pt x="0" y="1"/>
                  </a:lnTo>
                </a:path>
              </a:pathLst>
            </a:custGeom>
            <a:ln w="25400">
              <a:solidFill>
                <a:srgbClr val="4472C4"/>
              </a:solidFill>
            </a:ln>
          </p:spPr>
          <p:txBody>
            <a:bodyPr wrap="square" lIns="0" tIns="0" rIns="0" bIns="0" rtlCol="0"/>
            <a:lstStyle/>
            <a:p>
              <a:endParaRPr/>
            </a:p>
          </p:txBody>
        </p:sp>
        <p:pic>
          <p:nvPicPr>
            <p:cNvPr id="162" name="object 162"/>
            <p:cNvPicPr/>
            <p:nvPr/>
          </p:nvPicPr>
          <p:blipFill>
            <a:blip r:embed="rId49" cstate="print"/>
            <a:stretch>
              <a:fillRect/>
            </a:stretch>
          </p:blipFill>
          <p:spPr>
            <a:xfrm>
              <a:off x="1450848" y="6324599"/>
              <a:ext cx="426720" cy="457200"/>
            </a:xfrm>
            <a:prstGeom prst="rect">
              <a:avLst/>
            </a:prstGeom>
          </p:spPr>
        </p:pic>
        <p:pic>
          <p:nvPicPr>
            <p:cNvPr id="163" name="object 163"/>
            <p:cNvPicPr/>
            <p:nvPr/>
          </p:nvPicPr>
          <p:blipFill>
            <a:blip r:embed="rId50" cstate="print"/>
            <a:stretch>
              <a:fillRect/>
            </a:stretch>
          </p:blipFill>
          <p:spPr>
            <a:xfrm>
              <a:off x="1456944" y="6339839"/>
              <a:ext cx="411480" cy="481584"/>
            </a:xfrm>
            <a:prstGeom prst="rect">
              <a:avLst/>
            </a:prstGeom>
          </p:spPr>
        </p:pic>
        <p:sp>
          <p:nvSpPr>
            <p:cNvPr id="164" name="object 164"/>
            <p:cNvSpPr/>
            <p:nvPr/>
          </p:nvSpPr>
          <p:spPr>
            <a:xfrm>
              <a:off x="1481792" y="6356283"/>
              <a:ext cx="309880" cy="339725"/>
            </a:xfrm>
            <a:custGeom>
              <a:avLst/>
              <a:gdLst/>
              <a:ahLst/>
              <a:cxnLst/>
              <a:rect l="l" t="t" r="r" b="b"/>
              <a:pathLst>
                <a:path w="309880"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165" name="object 165"/>
          <p:cNvSpPr txBox="1"/>
          <p:nvPr/>
        </p:nvSpPr>
        <p:spPr>
          <a:xfrm>
            <a:off x="1578547" y="6393179"/>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1</a:t>
            </a:r>
            <a:endParaRPr sz="1400">
              <a:latin typeface="Calibri"/>
              <a:cs typeface="Calibri"/>
            </a:endParaRPr>
          </a:p>
        </p:txBody>
      </p:sp>
      <p:grpSp>
        <p:nvGrpSpPr>
          <p:cNvPr id="166" name="object 166"/>
          <p:cNvGrpSpPr/>
          <p:nvPr/>
        </p:nvGrpSpPr>
        <p:grpSpPr>
          <a:xfrm>
            <a:off x="1242098" y="5053584"/>
            <a:ext cx="1675130" cy="1485265"/>
            <a:chOff x="1242098" y="5053584"/>
            <a:chExt cx="1675130" cy="1485265"/>
          </a:xfrm>
        </p:grpSpPr>
        <p:sp>
          <p:nvSpPr>
            <p:cNvPr id="167" name="object 167"/>
            <p:cNvSpPr/>
            <p:nvPr/>
          </p:nvSpPr>
          <p:spPr>
            <a:xfrm>
              <a:off x="1254798" y="6526108"/>
              <a:ext cx="210820" cy="0"/>
            </a:xfrm>
            <a:custGeom>
              <a:avLst/>
              <a:gdLst/>
              <a:ahLst/>
              <a:cxnLst/>
              <a:rect l="l" t="t" r="r" b="b"/>
              <a:pathLst>
                <a:path w="210819">
                  <a:moveTo>
                    <a:pt x="210240" y="0"/>
                  </a:moveTo>
                  <a:lnTo>
                    <a:pt x="0" y="1"/>
                  </a:lnTo>
                </a:path>
              </a:pathLst>
            </a:custGeom>
            <a:ln w="25400">
              <a:solidFill>
                <a:srgbClr val="4472C4"/>
              </a:solidFill>
            </a:ln>
          </p:spPr>
          <p:txBody>
            <a:bodyPr wrap="square" lIns="0" tIns="0" rIns="0" bIns="0" rtlCol="0"/>
            <a:lstStyle/>
            <a:p>
              <a:endParaRPr/>
            </a:p>
          </p:txBody>
        </p:sp>
        <p:pic>
          <p:nvPicPr>
            <p:cNvPr id="168" name="object 168"/>
            <p:cNvPicPr/>
            <p:nvPr/>
          </p:nvPicPr>
          <p:blipFill>
            <a:blip r:embed="rId51" cstate="print"/>
            <a:stretch>
              <a:fillRect/>
            </a:stretch>
          </p:blipFill>
          <p:spPr>
            <a:xfrm>
              <a:off x="2490216" y="5053584"/>
              <a:ext cx="426719" cy="454151"/>
            </a:xfrm>
            <a:prstGeom prst="rect">
              <a:avLst/>
            </a:prstGeom>
          </p:spPr>
        </p:pic>
        <p:pic>
          <p:nvPicPr>
            <p:cNvPr id="169" name="object 169"/>
            <p:cNvPicPr/>
            <p:nvPr/>
          </p:nvPicPr>
          <p:blipFill>
            <a:blip r:embed="rId50" cstate="print"/>
            <a:stretch>
              <a:fillRect/>
            </a:stretch>
          </p:blipFill>
          <p:spPr>
            <a:xfrm>
              <a:off x="2499360" y="5068824"/>
              <a:ext cx="411480" cy="481584"/>
            </a:xfrm>
            <a:prstGeom prst="rect">
              <a:avLst/>
            </a:prstGeom>
          </p:spPr>
        </p:pic>
        <p:sp>
          <p:nvSpPr>
            <p:cNvPr id="170" name="object 170"/>
            <p:cNvSpPr/>
            <p:nvPr/>
          </p:nvSpPr>
          <p:spPr>
            <a:xfrm>
              <a:off x="2522965" y="5083996"/>
              <a:ext cx="309880" cy="339725"/>
            </a:xfrm>
            <a:custGeom>
              <a:avLst/>
              <a:gdLst/>
              <a:ahLst/>
              <a:cxnLst/>
              <a:rect l="l" t="t" r="r" b="b"/>
              <a:pathLst>
                <a:path w="309880"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171" name="object 171"/>
          <p:cNvSpPr txBox="1"/>
          <p:nvPr/>
        </p:nvSpPr>
        <p:spPr>
          <a:xfrm>
            <a:off x="2619720" y="5122164"/>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1</a:t>
            </a:r>
            <a:endParaRPr sz="1400">
              <a:latin typeface="Calibri"/>
              <a:cs typeface="Calibri"/>
            </a:endParaRPr>
          </a:p>
        </p:txBody>
      </p:sp>
      <p:grpSp>
        <p:nvGrpSpPr>
          <p:cNvPr id="172" name="object 172"/>
          <p:cNvGrpSpPr/>
          <p:nvPr/>
        </p:nvGrpSpPr>
        <p:grpSpPr>
          <a:xfrm>
            <a:off x="2283270" y="4797518"/>
            <a:ext cx="631190" cy="1757680"/>
            <a:chOff x="2283270" y="4797518"/>
            <a:chExt cx="631190" cy="1757680"/>
          </a:xfrm>
        </p:grpSpPr>
        <p:sp>
          <p:nvSpPr>
            <p:cNvPr id="173" name="object 173"/>
            <p:cNvSpPr/>
            <p:nvPr/>
          </p:nvSpPr>
          <p:spPr>
            <a:xfrm>
              <a:off x="2303670" y="4810218"/>
              <a:ext cx="0" cy="1732280"/>
            </a:xfrm>
            <a:custGeom>
              <a:avLst/>
              <a:gdLst/>
              <a:ahLst/>
              <a:cxnLst/>
              <a:rect l="l" t="t" r="r" b="b"/>
              <a:pathLst>
                <a:path h="1732279">
                  <a:moveTo>
                    <a:pt x="0" y="0"/>
                  </a:moveTo>
                  <a:lnTo>
                    <a:pt x="1" y="1732141"/>
                  </a:lnTo>
                </a:path>
              </a:pathLst>
            </a:custGeom>
            <a:ln w="25400">
              <a:solidFill>
                <a:srgbClr val="4472C4"/>
              </a:solidFill>
            </a:ln>
          </p:spPr>
          <p:txBody>
            <a:bodyPr wrap="square" lIns="0" tIns="0" rIns="0" bIns="0" rtlCol="0"/>
            <a:lstStyle/>
            <a:p>
              <a:endParaRPr/>
            </a:p>
          </p:txBody>
        </p:sp>
        <p:sp>
          <p:nvSpPr>
            <p:cNvPr id="174" name="object 174"/>
            <p:cNvSpPr/>
            <p:nvPr/>
          </p:nvSpPr>
          <p:spPr>
            <a:xfrm>
              <a:off x="2295970" y="5253820"/>
              <a:ext cx="210820" cy="0"/>
            </a:xfrm>
            <a:custGeom>
              <a:avLst/>
              <a:gdLst/>
              <a:ahLst/>
              <a:cxnLst/>
              <a:rect l="l" t="t" r="r" b="b"/>
              <a:pathLst>
                <a:path w="210819">
                  <a:moveTo>
                    <a:pt x="210240" y="0"/>
                  </a:moveTo>
                  <a:lnTo>
                    <a:pt x="0" y="1"/>
                  </a:lnTo>
                </a:path>
              </a:pathLst>
            </a:custGeom>
            <a:ln w="25400">
              <a:solidFill>
                <a:srgbClr val="4472C4"/>
              </a:solidFill>
            </a:ln>
          </p:spPr>
          <p:txBody>
            <a:bodyPr wrap="square" lIns="0" tIns="0" rIns="0" bIns="0" rtlCol="0"/>
            <a:lstStyle/>
            <a:p>
              <a:endParaRPr/>
            </a:p>
          </p:txBody>
        </p:sp>
        <p:pic>
          <p:nvPicPr>
            <p:cNvPr id="175" name="object 175"/>
            <p:cNvPicPr/>
            <p:nvPr/>
          </p:nvPicPr>
          <p:blipFill>
            <a:blip r:embed="rId52" cstate="print"/>
            <a:stretch>
              <a:fillRect/>
            </a:stretch>
          </p:blipFill>
          <p:spPr>
            <a:xfrm>
              <a:off x="2487167" y="5663183"/>
              <a:ext cx="426719" cy="457200"/>
            </a:xfrm>
            <a:prstGeom prst="rect">
              <a:avLst/>
            </a:prstGeom>
          </p:spPr>
        </p:pic>
        <p:pic>
          <p:nvPicPr>
            <p:cNvPr id="176" name="object 176"/>
            <p:cNvPicPr/>
            <p:nvPr/>
          </p:nvPicPr>
          <p:blipFill>
            <a:blip r:embed="rId50" cstate="print"/>
            <a:stretch>
              <a:fillRect/>
            </a:stretch>
          </p:blipFill>
          <p:spPr>
            <a:xfrm>
              <a:off x="2493263" y="5678423"/>
              <a:ext cx="411480" cy="481584"/>
            </a:xfrm>
            <a:prstGeom prst="rect">
              <a:avLst/>
            </a:prstGeom>
          </p:spPr>
        </p:pic>
        <p:sp>
          <p:nvSpPr>
            <p:cNvPr id="177" name="object 177"/>
            <p:cNvSpPr/>
            <p:nvPr/>
          </p:nvSpPr>
          <p:spPr>
            <a:xfrm>
              <a:off x="2518196" y="5693602"/>
              <a:ext cx="309880" cy="339725"/>
            </a:xfrm>
            <a:custGeom>
              <a:avLst/>
              <a:gdLst/>
              <a:ahLst/>
              <a:cxnLst/>
              <a:rect l="l" t="t" r="r" b="b"/>
              <a:pathLst>
                <a:path w="309880"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178" name="object 178"/>
          <p:cNvSpPr txBox="1"/>
          <p:nvPr/>
        </p:nvSpPr>
        <p:spPr>
          <a:xfrm>
            <a:off x="2614951" y="5731764"/>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1</a:t>
            </a:r>
            <a:endParaRPr sz="1400">
              <a:latin typeface="Calibri"/>
              <a:cs typeface="Calibri"/>
            </a:endParaRPr>
          </a:p>
        </p:txBody>
      </p:sp>
      <p:grpSp>
        <p:nvGrpSpPr>
          <p:cNvPr id="179" name="object 179"/>
          <p:cNvGrpSpPr/>
          <p:nvPr/>
        </p:nvGrpSpPr>
        <p:grpSpPr>
          <a:xfrm>
            <a:off x="2278502" y="4814831"/>
            <a:ext cx="1769745" cy="1757680"/>
            <a:chOff x="2278502" y="4814831"/>
            <a:chExt cx="1769745" cy="1757680"/>
          </a:xfrm>
        </p:grpSpPr>
        <p:sp>
          <p:nvSpPr>
            <p:cNvPr id="180" name="object 180"/>
            <p:cNvSpPr/>
            <p:nvPr/>
          </p:nvSpPr>
          <p:spPr>
            <a:xfrm>
              <a:off x="2291202" y="5863426"/>
              <a:ext cx="210820" cy="0"/>
            </a:xfrm>
            <a:custGeom>
              <a:avLst/>
              <a:gdLst/>
              <a:ahLst/>
              <a:cxnLst/>
              <a:rect l="l" t="t" r="r" b="b"/>
              <a:pathLst>
                <a:path w="210819">
                  <a:moveTo>
                    <a:pt x="210240" y="0"/>
                  </a:moveTo>
                  <a:lnTo>
                    <a:pt x="0" y="1"/>
                  </a:lnTo>
                </a:path>
              </a:pathLst>
            </a:custGeom>
            <a:ln w="25400">
              <a:solidFill>
                <a:srgbClr val="4472C4"/>
              </a:solidFill>
            </a:ln>
          </p:spPr>
          <p:txBody>
            <a:bodyPr wrap="square" lIns="0" tIns="0" rIns="0" bIns="0" rtlCol="0"/>
            <a:lstStyle/>
            <a:p>
              <a:endParaRPr/>
            </a:p>
          </p:txBody>
        </p:sp>
        <p:sp>
          <p:nvSpPr>
            <p:cNvPr id="181" name="object 181"/>
            <p:cNvSpPr/>
            <p:nvPr/>
          </p:nvSpPr>
          <p:spPr>
            <a:xfrm>
              <a:off x="3439618" y="4827531"/>
              <a:ext cx="0" cy="1732280"/>
            </a:xfrm>
            <a:custGeom>
              <a:avLst/>
              <a:gdLst/>
              <a:ahLst/>
              <a:cxnLst/>
              <a:rect l="l" t="t" r="r" b="b"/>
              <a:pathLst>
                <a:path h="1732279">
                  <a:moveTo>
                    <a:pt x="0" y="0"/>
                  </a:moveTo>
                  <a:lnTo>
                    <a:pt x="1" y="1732141"/>
                  </a:lnTo>
                </a:path>
              </a:pathLst>
            </a:custGeom>
            <a:ln w="25400">
              <a:solidFill>
                <a:srgbClr val="4472C4"/>
              </a:solidFill>
            </a:ln>
          </p:spPr>
          <p:txBody>
            <a:bodyPr wrap="square" lIns="0" tIns="0" rIns="0" bIns="0" rtlCol="0"/>
            <a:lstStyle/>
            <a:p>
              <a:endParaRPr/>
            </a:p>
          </p:txBody>
        </p:sp>
        <p:pic>
          <p:nvPicPr>
            <p:cNvPr id="182" name="object 182"/>
            <p:cNvPicPr/>
            <p:nvPr/>
          </p:nvPicPr>
          <p:blipFill>
            <a:blip r:embed="rId53" cstate="print"/>
            <a:stretch>
              <a:fillRect/>
            </a:stretch>
          </p:blipFill>
          <p:spPr>
            <a:xfrm>
              <a:off x="3621023" y="5678423"/>
              <a:ext cx="426720" cy="457200"/>
            </a:xfrm>
            <a:prstGeom prst="rect">
              <a:avLst/>
            </a:prstGeom>
          </p:spPr>
        </p:pic>
        <p:pic>
          <p:nvPicPr>
            <p:cNvPr id="183" name="object 183"/>
            <p:cNvPicPr/>
            <p:nvPr/>
          </p:nvPicPr>
          <p:blipFill>
            <a:blip r:embed="rId54" cstate="print"/>
            <a:stretch>
              <a:fillRect/>
            </a:stretch>
          </p:blipFill>
          <p:spPr>
            <a:xfrm>
              <a:off x="3630167" y="5693663"/>
              <a:ext cx="411479" cy="484631"/>
            </a:xfrm>
            <a:prstGeom prst="rect">
              <a:avLst/>
            </a:prstGeom>
          </p:spPr>
        </p:pic>
        <p:sp>
          <p:nvSpPr>
            <p:cNvPr id="184" name="object 184"/>
            <p:cNvSpPr/>
            <p:nvPr/>
          </p:nvSpPr>
          <p:spPr>
            <a:xfrm>
              <a:off x="3654144" y="5710916"/>
              <a:ext cx="309880" cy="339725"/>
            </a:xfrm>
            <a:custGeom>
              <a:avLst/>
              <a:gdLst/>
              <a:ahLst/>
              <a:cxnLst/>
              <a:rect l="l" t="t" r="r" b="b"/>
              <a:pathLst>
                <a:path w="309879"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185" name="object 185"/>
          <p:cNvSpPr txBox="1"/>
          <p:nvPr/>
        </p:nvSpPr>
        <p:spPr>
          <a:xfrm>
            <a:off x="3750899" y="5750052"/>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1</a:t>
            </a:r>
            <a:endParaRPr sz="1400">
              <a:latin typeface="Calibri"/>
              <a:cs typeface="Calibri"/>
            </a:endParaRPr>
          </a:p>
        </p:txBody>
      </p:sp>
      <p:grpSp>
        <p:nvGrpSpPr>
          <p:cNvPr id="186" name="object 186"/>
          <p:cNvGrpSpPr/>
          <p:nvPr/>
        </p:nvGrpSpPr>
        <p:grpSpPr>
          <a:xfrm>
            <a:off x="3414450" y="5038344"/>
            <a:ext cx="1761489" cy="855344"/>
            <a:chOff x="3414450" y="5038344"/>
            <a:chExt cx="1761489" cy="855344"/>
          </a:xfrm>
        </p:grpSpPr>
        <p:sp>
          <p:nvSpPr>
            <p:cNvPr id="187" name="object 187"/>
            <p:cNvSpPr/>
            <p:nvPr/>
          </p:nvSpPr>
          <p:spPr>
            <a:xfrm>
              <a:off x="3427150" y="5880739"/>
              <a:ext cx="210820" cy="0"/>
            </a:xfrm>
            <a:custGeom>
              <a:avLst/>
              <a:gdLst/>
              <a:ahLst/>
              <a:cxnLst/>
              <a:rect l="l" t="t" r="r" b="b"/>
              <a:pathLst>
                <a:path w="210820">
                  <a:moveTo>
                    <a:pt x="210240" y="0"/>
                  </a:moveTo>
                  <a:lnTo>
                    <a:pt x="0" y="1"/>
                  </a:lnTo>
                </a:path>
              </a:pathLst>
            </a:custGeom>
            <a:ln w="25400">
              <a:solidFill>
                <a:srgbClr val="4472C4"/>
              </a:solidFill>
            </a:ln>
          </p:spPr>
          <p:txBody>
            <a:bodyPr wrap="square" lIns="0" tIns="0" rIns="0" bIns="0" rtlCol="0"/>
            <a:lstStyle/>
            <a:p>
              <a:endParaRPr/>
            </a:p>
          </p:txBody>
        </p:sp>
        <p:pic>
          <p:nvPicPr>
            <p:cNvPr id="188" name="object 188"/>
            <p:cNvPicPr/>
            <p:nvPr/>
          </p:nvPicPr>
          <p:blipFill>
            <a:blip r:embed="rId55" cstate="print"/>
            <a:stretch>
              <a:fillRect/>
            </a:stretch>
          </p:blipFill>
          <p:spPr>
            <a:xfrm>
              <a:off x="4748783" y="5038344"/>
              <a:ext cx="426720" cy="457200"/>
            </a:xfrm>
            <a:prstGeom prst="rect">
              <a:avLst/>
            </a:prstGeom>
          </p:spPr>
        </p:pic>
        <p:pic>
          <p:nvPicPr>
            <p:cNvPr id="189" name="object 189"/>
            <p:cNvPicPr/>
            <p:nvPr/>
          </p:nvPicPr>
          <p:blipFill>
            <a:blip r:embed="rId56" cstate="print"/>
            <a:stretch>
              <a:fillRect/>
            </a:stretch>
          </p:blipFill>
          <p:spPr>
            <a:xfrm>
              <a:off x="4757927" y="5056632"/>
              <a:ext cx="411479" cy="481584"/>
            </a:xfrm>
            <a:prstGeom prst="rect">
              <a:avLst/>
            </a:prstGeom>
          </p:spPr>
        </p:pic>
        <p:sp>
          <p:nvSpPr>
            <p:cNvPr id="190" name="object 190"/>
            <p:cNvSpPr/>
            <p:nvPr/>
          </p:nvSpPr>
          <p:spPr>
            <a:xfrm>
              <a:off x="4781520" y="5071507"/>
              <a:ext cx="309880" cy="339725"/>
            </a:xfrm>
            <a:custGeom>
              <a:avLst/>
              <a:gdLst/>
              <a:ahLst/>
              <a:cxnLst/>
              <a:rect l="l" t="t" r="r" b="b"/>
              <a:pathLst>
                <a:path w="309879"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191" name="object 191"/>
          <p:cNvSpPr txBox="1"/>
          <p:nvPr/>
        </p:nvSpPr>
        <p:spPr>
          <a:xfrm>
            <a:off x="4878275" y="5109972"/>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2</a:t>
            </a:r>
            <a:endParaRPr sz="1400">
              <a:latin typeface="Calibri"/>
              <a:cs typeface="Calibri"/>
            </a:endParaRPr>
          </a:p>
        </p:txBody>
      </p:sp>
      <p:grpSp>
        <p:nvGrpSpPr>
          <p:cNvPr id="192" name="object 192"/>
          <p:cNvGrpSpPr/>
          <p:nvPr/>
        </p:nvGrpSpPr>
        <p:grpSpPr>
          <a:xfrm>
            <a:off x="4541827" y="4785028"/>
            <a:ext cx="631190" cy="1757680"/>
            <a:chOff x="4541827" y="4785028"/>
            <a:chExt cx="631190" cy="1757680"/>
          </a:xfrm>
        </p:grpSpPr>
        <p:sp>
          <p:nvSpPr>
            <p:cNvPr id="193" name="object 193"/>
            <p:cNvSpPr/>
            <p:nvPr/>
          </p:nvSpPr>
          <p:spPr>
            <a:xfrm>
              <a:off x="4562227" y="4797728"/>
              <a:ext cx="0" cy="1732280"/>
            </a:xfrm>
            <a:custGeom>
              <a:avLst/>
              <a:gdLst/>
              <a:ahLst/>
              <a:cxnLst/>
              <a:rect l="l" t="t" r="r" b="b"/>
              <a:pathLst>
                <a:path h="1732279">
                  <a:moveTo>
                    <a:pt x="0" y="0"/>
                  </a:moveTo>
                  <a:lnTo>
                    <a:pt x="1" y="1732141"/>
                  </a:lnTo>
                </a:path>
              </a:pathLst>
            </a:custGeom>
            <a:ln w="25400">
              <a:solidFill>
                <a:srgbClr val="4472C4"/>
              </a:solidFill>
            </a:ln>
          </p:spPr>
          <p:txBody>
            <a:bodyPr wrap="square" lIns="0" tIns="0" rIns="0" bIns="0" rtlCol="0"/>
            <a:lstStyle/>
            <a:p>
              <a:endParaRPr/>
            </a:p>
          </p:txBody>
        </p:sp>
        <p:sp>
          <p:nvSpPr>
            <p:cNvPr id="194" name="object 194"/>
            <p:cNvSpPr/>
            <p:nvPr/>
          </p:nvSpPr>
          <p:spPr>
            <a:xfrm>
              <a:off x="4554527" y="5241330"/>
              <a:ext cx="210820" cy="0"/>
            </a:xfrm>
            <a:custGeom>
              <a:avLst/>
              <a:gdLst/>
              <a:ahLst/>
              <a:cxnLst/>
              <a:rect l="l" t="t" r="r" b="b"/>
              <a:pathLst>
                <a:path w="210820">
                  <a:moveTo>
                    <a:pt x="210240" y="0"/>
                  </a:moveTo>
                  <a:lnTo>
                    <a:pt x="0" y="1"/>
                  </a:lnTo>
                </a:path>
              </a:pathLst>
            </a:custGeom>
            <a:ln w="25400">
              <a:solidFill>
                <a:srgbClr val="4472C4"/>
              </a:solidFill>
            </a:ln>
          </p:spPr>
          <p:txBody>
            <a:bodyPr wrap="square" lIns="0" tIns="0" rIns="0" bIns="0" rtlCol="0"/>
            <a:lstStyle/>
            <a:p>
              <a:endParaRPr/>
            </a:p>
          </p:txBody>
        </p:sp>
        <p:pic>
          <p:nvPicPr>
            <p:cNvPr id="195" name="object 195"/>
            <p:cNvPicPr/>
            <p:nvPr/>
          </p:nvPicPr>
          <p:blipFill>
            <a:blip r:embed="rId57" cstate="print"/>
            <a:stretch>
              <a:fillRect/>
            </a:stretch>
          </p:blipFill>
          <p:spPr>
            <a:xfrm>
              <a:off x="4745736" y="5647943"/>
              <a:ext cx="426720" cy="457200"/>
            </a:xfrm>
            <a:prstGeom prst="rect">
              <a:avLst/>
            </a:prstGeom>
          </p:spPr>
        </p:pic>
        <p:pic>
          <p:nvPicPr>
            <p:cNvPr id="196" name="object 196"/>
            <p:cNvPicPr/>
            <p:nvPr/>
          </p:nvPicPr>
          <p:blipFill>
            <a:blip r:embed="rId50" cstate="print"/>
            <a:stretch>
              <a:fillRect/>
            </a:stretch>
          </p:blipFill>
          <p:spPr>
            <a:xfrm>
              <a:off x="4751832" y="5666231"/>
              <a:ext cx="411479" cy="481584"/>
            </a:xfrm>
            <a:prstGeom prst="rect">
              <a:avLst/>
            </a:prstGeom>
          </p:spPr>
        </p:pic>
        <p:sp>
          <p:nvSpPr>
            <p:cNvPr id="197" name="object 197"/>
            <p:cNvSpPr/>
            <p:nvPr/>
          </p:nvSpPr>
          <p:spPr>
            <a:xfrm>
              <a:off x="4776753" y="5681112"/>
              <a:ext cx="309880" cy="339725"/>
            </a:xfrm>
            <a:custGeom>
              <a:avLst/>
              <a:gdLst/>
              <a:ahLst/>
              <a:cxnLst/>
              <a:rect l="l" t="t" r="r" b="b"/>
              <a:pathLst>
                <a:path w="309879"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198" name="object 198"/>
          <p:cNvSpPr txBox="1"/>
          <p:nvPr/>
        </p:nvSpPr>
        <p:spPr>
          <a:xfrm>
            <a:off x="4873508" y="5719572"/>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1</a:t>
            </a:r>
            <a:endParaRPr sz="1400">
              <a:latin typeface="Calibri"/>
              <a:cs typeface="Calibri"/>
            </a:endParaRPr>
          </a:p>
        </p:txBody>
      </p:sp>
      <p:grpSp>
        <p:nvGrpSpPr>
          <p:cNvPr id="199" name="object 199"/>
          <p:cNvGrpSpPr/>
          <p:nvPr/>
        </p:nvGrpSpPr>
        <p:grpSpPr>
          <a:xfrm>
            <a:off x="4537059" y="5026152"/>
            <a:ext cx="1766570" cy="837565"/>
            <a:chOff x="4537059" y="5026152"/>
            <a:chExt cx="1766570" cy="837565"/>
          </a:xfrm>
        </p:grpSpPr>
        <p:sp>
          <p:nvSpPr>
            <p:cNvPr id="200" name="object 200"/>
            <p:cNvSpPr/>
            <p:nvPr/>
          </p:nvSpPr>
          <p:spPr>
            <a:xfrm>
              <a:off x="4549759" y="5850936"/>
              <a:ext cx="210820" cy="0"/>
            </a:xfrm>
            <a:custGeom>
              <a:avLst/>
              <a:gdLst/>
              <a:ahLst/>
              <a:cxnLst/>
              <a:rect l="l" t="t" r="r" b="b"/>
              <a:pathLst>
                <a:path w="210820">
                  <a:moveTo>
                    <a:pt x="210240" y="0"/>
                  </a:moveTo>
                  <a:lnTo>
                    <a:pt x="0" y="1"/>
                  </a:lnTo>
                </a:path>
              </a:pathLst>
            </a:custGeom>
            <a:ln w="25400">
              <a:solidFill>
                <a:srgbClr val="4472C4"/>
              </a:solidFill>
            </a:ln>
          </p:spPr>
          <p:txBody>
            <a:bodyPr wrap="square" lIns="0" tIns="0" rIns="0" bIns="0" rtlCol="0"/>
            <a:lstStyle/>
            <a:p>
              <a:endParaRPr/>
            </a:p>
          </p:txBody>
        </p:sp>
        <p:pic>
          <p:nvPicPr>
            <p:cNvPr id="201" name="object 201"/>
            <p:cNvPicPr/>
            <p:nvPr/>
          </p:nvPicPr>
          <p:blipFill>
            <a:blip r:embed="rId58" cstate="print"/>
            <a:stretch>
              <a:fillRect/>
            </a:stretch>
          </p:blipFill>
          <p:spPr>
            <a:xfrm>
              <a:off x="5876544" y="5026152"/>
              <a:ext cx="426720" cy="457200"/>
            </a:xfrm>
            <a:prstGeom prst="rect">
              <a:avLst/>
            </a:prstGeom>
          </p:spPr>
        </p:pic>
        <p:pic>
          <p:nvPicPr>
            <p:cNvPr id="202" name="object 202"/>
            <p:cNvPicPr/>
            <p:nvPr/>
          </p:nvPicPr>
          <p:blipFill>
            <a:blip r:embed="rId50" cstate="print"/>
            <a:stretch>
              <a:fillRect/>
            </a:stretch>
          </p:blipFill>
          <p:spPr>
            <a:xfrm>
              <a:off x="5885688" y="5041392"/>
              <a:ext cx="411479" cy="481584"/>
            </a:xfrm>
            <a:prstGeom prst="rect">
              <a:avLst/>
            </a:prstGeom>
          </p:spPr>
        </p:pic>
        <p:sp>
          <p:nvSpPr>
            <p:cNvPr id="203" name="object 203"/>
            <p:cNvSpPr/>
            <p:nvPr/>
          </p:nvSpPr>
          <p:spPr>
            <a:xfrm>
              <a:off x="5909574" y="5057564"/>
              <a:ext cx="309880" cy="339725"/>
            </a:xfrm>
            <a:custGeom>
              <a:avLst/>
              <a:gdLst/>
              <a:ahLst/>
              <a:cxnLst/>
              <a:rect l="l" t="t" r="r" b="b"/>
              <a:pathLst>
                <a:path w="309879"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204" name="object 204"/>
          <p:cNvSpPr txBox="1"/>
          <p:nvPr/>
        </p:nvSpPr>
        <p:spPr>
          <a:xfrm>
            <a:off x="6006329" y="5094732"/>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1</a:t>
            </a:r>
            <a:endParaRPr sz="1400">
              <a:latin typeface="Calibri"/>
              <a:cs typeface="Calibri"/>
            </a:endParaRPr>
          </a:p>
        </p:txBody>
      </p:sp>
      <p:grpSp>
        <p:nvGrpSpPr>
          <p:cNvPr id="205" name="object 205"/>
          <p:cNvGrpSpPr/>
          <p:nvPr/>
        </p:nvGrpSpPr>
        <p:grpSpPr>
          <a:xfrm>
            <a:off x="5669880" y="4771086"/>
            <a:ext cx="630555" cy="1757680"/>
            <a:chOff x="5669880" y="4771086"/>
            <a:chExt cx="630555" cy="1757680"/>
          </a:xfrm>
        </p:grpSpPr>
        <p:sp>
          <p:nvSpPr>
            <p:cNvPr id="206" name="object 206"/>
            <p:cNvSpPr/>
            <p:nvPr/>
          </p:nvSpPr>
          <p:spPr>
            <a:xfrm>
              <a:off x="5690279" y="4783786"/>
              <a:ext cx="0" cy="1732280"/>
            </a:xfrm>
            <a:custGeom>
              <a:avLst/>
              <a:gdLst/>
              <a:ahLst/>
              <a:cxnLst/>
              <a:rect l="l" t="t" r="r" b="b"/>
              <a:pathLst>
                <a:path h="1732279">
                  <a:moveTo>
                    <a:pt x="0" y="0"/>
                  </a:moveTo>
                  <a:lnTo>
                    <a:pt x="1" y="1732141"/>
                  </a:lnTo>
                </a:path>
              </a:pathLst>
            </a:custGeom>
            <a:ln w="25400">
              <a:solidFill>
                <a:srgbClr val="4472C4"/>
              </a:solidFill>
            </a:ln>
          </p:spPr>
          <p:txBody>
            <a:bodyPr wrap="square" lIns="0" tIns="0" rIns="0" bIns="0" rtlCol="0"/>
            <a:lstStyle/>
            <a:p>
              <a:endParaRPr/>
            </a:p>
          </p:txBody>
        </p:sp>
        <p:sp>
          <p:nvSpPr>
            <p:cNvPr id="207" name="object 207"/>
            <p:cNvSpPr/>
            <p:nvPr/>
          </p:nvSpPr>
          <p:spPr>
            <a:xfrm>
              <a:off x="5682580" y="5227388"/>
              <a:ext cx="210820" cy="0"/>
            </a:xfrm>
            <a:custGeom>
              <a:avLst/>
              <a:gdLst/>
              <a:ahLst/>
              <a:cxnLst/>
              <a:rect l="l" t="t" r="r" b="b"/>
              <a:pathLst>
                <a:path w="210820">
                  <a:moveTo>
                    <a:pt x="210240" y="0"/>
                  </a:moveTo>
                  <a:lnTo>
                    <a:pt x="0" y="1"/>
                  </a:lnTo>
                </a:path>
              </a:pathLst>
            </a:custGeom>
            <a:ln w="25400">
              <a:solidFill>
                <a:srgbClr val="4472C4"/>
              </a:solidFill>
            </a:ln>
          </p:spPr>
          <p:txBody>
            <a:bodyPr wrap="square" lIns="0" tIns="0" rIns="0" bIns="0" rtlCol="0"/>
            <a:lstStyle/>
            <a:p>
              <a:endParaRPr/>
            </a:p>
          </p:txBody>
        </p:sp>
        <p:pic>
          <p:nvPicPr>
            <p:cNvPr id="208" name="object 208"/>
            <p:cNvPicPr/>
            <p:nvPr/>
          </p:nvPicPr>
          <p:blipFill>
            <a:blip r:embed="rId59" cstate="print"/>
            <a:stretch>
              <a:fillRect/>
            </a:stretch>
          </p:blipFill>
          <p:spPr>
            <a:xfrm>
              <a:off x="5873495" y="5635751"/>
              <a:ext cx="426720" cy="457200"/>
            </a:xfrm>
            <a:prstGeom prst="rect">
              <a:avLst/>
            </a:prstGeom>
          </p:spPr>
        </p:pic>
        <p:pic>
          <p:nvPicPr>
            <p:cNvPr id="209" name="object 209"/>
            <p:cNvPicPr/>
            <p:nvPr/>
          </p:nvPicPr>
          <p:blipFill>
            <a:blip r:embed="rId60" cstate="print"/>
            <a:stretch>
              <a:fillRect/>
            </a:stretch>
          </p:blipFill>
          <p:spPr>
            <a:xfrm>
              <a:off x="5879591" y="5650991"/>
              <a:ext cx="411479" cy="481583"/>
            </a:xfrm>
            <a:prstGeom prst="rect">
              <a:avLst/>
            </a:prstGeom>
          </p:spPr>
        </p:pic>
        <p:sp>
          <p:nvSpPr>
            <p:cNvPr id="210" name="object 210"/>
            <p:cNvSpPr/>
            <p:nvPr/>
          </p:nvSpPr>
          <p:spPr>
            <a:xfrm>
              <a:off x="5904806" y="5667169"/>
              <a:ext cx="309880" cy="339725"/>
            </a:xfrm>
            <a:custGeom>
              <a:avLst/>
              <a:gdLst/>
              <a:ahLst/>
              <a:cxnLst/>
              <a:rect l="l" t="t" r="r" b="b"/>
              <a:pathLst>
                <a:path w="309879"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211" name="object 211"/>
          <p:cNvSpPr txBox="1"/>
          <p:nvPr/>
        </p:nvSpPr>
        <p:spPr>
          <a:xfrm>
            <a:off x="6001560" y="5704332"/>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1</a:t>
            </a:r>
            <a:endParaRPr sz="1400">
              <a:latin typeface="Calibri"/>
              <a:cs typeface="Calibri"/>
            </a:endParaRPr>
          </a:p>
        </p:txBody>
      </p:sp>
      <p:grpSp>
        <p:nvGrpSpPr>
          <p:cNvPr id="212" name="object 212"/>
          <p:cNvGrpSpPr/>
          <p:nvPr/>
        </p:nvGrpSpPr>
        <p:grpSpPr>
          <a:xfrm>
            <a:off x="5665111" y="4781266"/>
            <a:ext cx="4305300" cy="1757680"/>
            <a:chOff x="5665111" y="4781266"/>
            <a:chExt cx="4305300" cy="1757680"/>
          </a:xfrm>
        </p:grpSpPr>
        <p:sp>
          <p:nvSpPr>
            <p:cNvPr id="213" name="object 213"/>
            <p:cNvSpPr/>
            <p:nvPr/>
          </p:nvSpPr>
          <p:spPr>
            <a:xfrm>
              <a:off x="5677811" y="5836993"/>
              <a:ext cx="210820" cy="0"/>
            </a:xfrm>
            <a:custGeom>
              <a:avLst/>
              <a:gdLst/>
              <a:ahLst/>
              <a:cxnLst/>
              <a:rect l="l" t="t" r="r" b="b"/>
              <a:pathLst>
                <a:path w="210820">
                  <a:moveTo>
                    <a:pt x="210240" y="0"/>
                  </a:moveTo>
                  <a:lnTo>
                    <a:pt x="0" y="1"/>
                  </a:lnTo>
                </a:path>
              </a:pathLst>
            </a:custGeom>
            <a:ln w="25400">
              <a:solidFill>
                <a:srgbClr val="4472C4"/>
              </a:solidFill>
            </a:ln>
          </p:spPr>
          <p:txBody>
            <a:bodyPr wrap="square" lIns="0" tIns="0" rIns="0" bIns="0" rtlCol="0"/>
            <a:lstStyle/>
            <a:p>
              <a:endParaRPr/>
            </a:p>
          </p:txBody>
        </p:sp>
        <p:sp>
          <p:nvSpPr>
            <p:cNvPr id="214" name="object 214"/>
            <p:cNvSpPr/>
            <p:nvPr/>
          </p:nvSpPr>
          <p:spPr>
            <a:xfrm>
              <a:off x="9331779" y="4793966"/>
              <a:ext cx="0" cy="1732280"/>
            </a:xfrm>
            <a:custGeom>
              <a:avLst/>
              <a:gdLst/>
              <a:ahLst/>
              <a:cxnLst/>
              <a:rect l="l" t="t" r="r" b="b"/>
              <a:pathLst>
                <a:path h="1732279">
                  <a:moveTo>
                    <a:pt x="0" y="0"/>
                  </a:moveTo>
                  <a:lnTo>
                    <a:pt x="1" y="1732141"/>
                  </a:lnTo>
                </a:path>
              </a:pathLst>
            </a:custGeom>
            <a:ln w="25400">
              <a:solidFill>
                <a:srgbClr val="4472C4"/>
              </a:solidFill>
            </a:ln>
          </p:spPr>
          <p:txBody>
            <a:bodyPr wrap="square" lIns="0" tIns="0" rIns="0" bIns="0" rtlCol="0"/>
            <a:lstStyle/>
            <a:p>
              <a:endParaRPr/>
            </a:p>
          </p:txBody>
        </p:sp>
        <p:pic>
          <p:nvPicPr>
            <p:cNvPr id="215" name="object 215"/>
            <p:cNvPicPr/>
            <p:nvPr/>
          </p:nvPicPr>
          <p:blipFill>
            <a:blip r:embed="rId61" cstate="print"/>
            <a:stretch>
              <a:fillRect/>
            </a:stretch>
          </p:blipFill>
          <p:spPr>
            <a:xfrm>
              <a:off x="9543288" y="5644895"/>
              <a:ext cx="426720" cy="457200"/>
            </a:xfrm>
            <a:prstGeom prst="rect">
              <a:avLst/>
            </a:prstGeom>
          </p:spPr>
        </p:pic>
        <p:pic>
          <p:nvPicPr>
            <p:cNvPr id="216" name="object 216"/>
            <p:cNvPicPr/>
            <p:nvPr/>
          </p:nvPicPr>
          <p:blipFill>
            <a:blip r:embed="rId62" cstate="print"/>
            <a:stretch>
              <a:fillRect/>
            </a:stretch>
          </p:blipFill>
          <p:spPr>
            <a:xfrm>
              <a:off x="9552432" y="5660135"/>
              <a:ext cx="408431" cy="484631"/>
            </a:xfrm>
            <a:prstGeom prst="rect">
              <a:avLst/>
            </a:prstGeom>
          </p:spPr>
        </p:pic>
        <p:sp>
          <p:nvSpPr>
            <p:cNvPr id="217" name="object 217"/>
            <p:cNvSpPr/>
            <p:nvPr/>
          </p:nvSpPr>
          <p:spPr>
            <a:xfrm>
              <a:off x="9574880" y="5677350"/>
              <a:ext cx="309880" cy="339725"/>
            </a:xfrm>
            <a:custGeom>
              <a:avLst/>
              <a:gdLst/>
              <a:ahLst/>
              <a:cxnLst/>
              <a:rect l="l" t="t" r="r" b="b"/>
              <a:pathLst>
                <a:path w="309879"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218" name="object 218"/>
          <p:cNvSpPr txBox="1"/>
          <p:nvPr/>
        </p:nvSpPr>
        <p:spPr>
          <a:xfrm>
            <a:off x="9671635" y="5716523"/>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1</a:t>
            </a:r>
            <a:endParaRPr sz="1400">
              <a:latin typeface="Calibri"/>
              <a:cs typeface="Calibri"/>
            </a:endParaRPr>
          </a:p>
        </p:txBody>
      </p:sp>
      <p:grpSp>
        <p:nvGrpSpPr>
          <p:cNvPr id="219" name="object 219"/>
          <p:cNvGrpSpPr/>
          <p:nvPr/>
        </p:nvGrpSpPr>
        <p:grpSpPr>
          <a:xfrm>
            <a:off x="9335186" y="5834474"/>
            <a:ext cx="802640" cy="926465"/>
            <a:chOff x="9335186" y="5834474"/>
            <a:chExt cx="802640" cy="926465"/>
          </a:xfrm>
        </p:grpSpPr>
        <p:sp>
          <p:nvSpPr>
            <p:cNvPr id="220" name="object 220"/>
            <p:cNvSpPr/>
            <p:nvPr/>
          </p:nvSpPr>
          <p:spPr>
            <a:xfrm>
              <a:off x="9347886" y="5847174"/>
              <a:ext cx="210820" cy="0"/>
            </a:xfrm>
            <a:custGeom>
              <a:avLst/>
              <a:gdLst/>
              <a:ahLst/>
              <a:cxnLst/>
              <a:rect l="l" t="t" r="r" b="b"/>
              <a:pathLst>
                <a:path w="210820">
                  <a:moveTo>
                    <a:pt x="210240" y="0"/>
                  </a:moveTo>
                  <a:lnTo>
                    <a:pt x="0" y="1"/>
                  </a:lnTo>
                </a:path>
              </a:pathLst>
            </a:custGeom>
            <a:ln w="25400">
              <a:solidFill>
                <a:srgbClr val="4472C4"/>
              </a:solidFill>
            </a:ln>
          </p:spPr>
          <p:txBody>
            <a:bodyPr wrap="square" lIns="0" tIns="0" rIns="0" bIns="0" rtlCol="0"/>
            <a:lstStyle/>
            <a:p>
              <a:endParaRPr/>
            </a:p>
          </p:txBody>
        </p:sp>
        <p:pic>
          <p:nvPicPr>
            <p:cNvPr id="221" name="object 221"/>
            <p:cNvPicPr/>
            <p:nvPr/>
          </p:nvPicPr>
          <p:blipFill>
            <a:blip r:embed="rId63" cstate="print"/>
            <a:stretch>
              <a:fillRect/>
            </a:stretch>
          </p:blipFill>
          <p:spPr>
            <a:xfrm>
              <a:off x="9543288" y="6303263"/>
              <a:ext cx="594359" cy="457200"/>
            </a:xfrm>
            <a:prstGeom prst="rect">
              <a:avLst/>
            </a:prstGeom>
          </p:spPr>
        </p:pic>
        <p:pic>
          <p:nvPicPr>
            <p:cNvPr id="222" name="object 222"/>
            <p:cNvPicPr/>
            <p:nvPr/>
          </p:nvPicPr>
          <p:blipFill>
            <a:blip r:embed="rId64" cstate="print"/>
            <a:stretch>
              <a:fillRect/>
            </a:stretch>
          </p:blipFill>
          <p:spPr>
            <a:xfrm>
              <a:off x="9653016" y="6385559"/>
              <a:ext cx="374903" cy="313944"/>
            </a:xfrm>
            <a:prstGeom prst="rect">
              <a:avLst/>
            </a:prstGeom>
          </p:spPr>
        </p:pic>
        <p:sp>
          <p:nvSpPr>
            <p:cNvPr id="223" name="object 223"/>
            <p:cNvSpPr/>
            <p:nvPr/>
          </p:nvSpPr>
          <p:spPr>
            <a:xfrm>
              <a:off x="9574884" y="6334575"/>
              <a:ext cx="477520" cy="339725"/>
            </a:xfrm>
            <a:custGeom>
              <a:avLst/>
              <a:gdLst/>
              <a:ahLst/>
              <a:cxnLst/>
              <a:rect l="l" t="t" r="r" b="b"/>
              <a:pathLst>
                <a:path w="477520" h="339725">
                  <a:moveTo>
                    <a:pt x="0" y="169824"/>
                  </a:moveTo>
                  <a:lnTo>
                    <a:pt x="6305" y="130884"/>
                  </a:lnTo>
                  <a:lnTo>
                    <a:pt x="24266" y="95139"/>
                  </a:lnTo>
                  <a:lnTo>
                    <a:pt x="52450" y="63607"/>
                  </a:lnTo>
                  <a:lnTo>
                    <a:pt x="89424" y="37308"/>
                  </a:lnTo>
                  <a:lnTo>
                    <a:pt x="133753" y="17261"/>
                  </a:lnTo>
                  <a:lnTo>
                    <a:pt x="184006" y="4485"/>
                  </a:lnTo>
                  <a:lnTo>
                    <a:pt x="238750" y="0"/>
                  </a:lnTo>
                  <a:lnTo>
                    <a:pt x="293493" y="4485"/>
                  </a:lnTo>
                  <a:lnTo>
                    <a:pt x="343746" y="17261"/>
                  </a:lnTo>
                  <a:lnTo>
                    <a:pt x="388075" y="37308"/>
                  </a:lnTo>
                  <a:lnTo>
                    <a:pt x="425049" y="63607"/>
                  </a:lnTo>
                  <a:lnTo>
                    <a:pt x="453233" y="95139"/>
                  </a:lnTo>
                  <a:lnTo>
                    <a:pt x="471194" y="130884"/>
                  </a:lnTo>
                  <a:lnTo>
                    <a:pt x="477500" y="169824"/>
                  </a:lnTo>
                  <a:lnTo>
                    <a:pt x="471194" y="208763"/>
                  </a:lnTo>
                  <a:lnTo>
                    <a:pt x="453233" y="244508"/>
                  </a:lnTo>
                  <a:lnTo>
                    <a:pt x="425049" y="276040"/>
                  </a:lnTo>
                  <a:lnTo>
                    <a:pt x="388075" y="302339"/>
                  </a:lnTo>
                  <a:lnTo>
                    <a:pt x="343746" y="322386"/>
                  </a:lnTo>
                  <a:lnTo>
                    <a:pt x="293493" y="335162"/>
                  </a:lnTo>
                  <a:lnTo>
                    <a:pt x="238750" y="339648"/>
                  </a:lnTo>
                  <a:lnTo>
                    <a:pt x="184006" y="335162"/>
                  </a:lnTo>
                  <a:lnTo>
                    <a:pt x="133753" y="322386"/>
                  </a:lnTo>
                  <a:lnTo>
                    <a:pt x="89424" y="302339"/>
                  </a:lnTo>
                  <a:lnTo>
                    <a:pt x="52450" y="276040"/>
                  </a:lnTo>
                  <a:lnTo>
                    <a:pt x="24266" y="244508"/>
                  </a:lnTo>
                  <a:lnTo>
                    <a:pt x="6305" y="208763"/>
                  </a:lnTo>
                  <a:lnTo>
                    <a:pt x="0" y="169824"/>
                  </a:lnTo>
                  <a:close/>
                </a:path>
              </a:pathLst>
            </a:custGeom>
            <a:ln w="12700">
              <a:solidFill>
                <a:srgbClr val="2F528F"/>
              </a:solidFill>
            </a:ln>
          </p:spPr>
          <p:txBody>
            <a:bodyPr wrap="square" lIns="0" tIns="0" rIns="0" bIns="0" rtlCol="0"/>
            <a:lstStyle/>
            <a:p>
              <a:endParaRPr/>
            </a:p>
          </p:txBody>
        </p:sp>
      </p:grpSp>
      <p:sp>
        <p:nvSpPr>
          <p:cNvPr id="224" name="object 224"/>
          <p:cNvSpPr txBox="1"/>
          <p:nvPr/>
        </p:nvSpPr>
        <p:spPr>
          <a:xfrm>
            <a:off x="9730290" y="6417564"/>
            <a:ext cx="167640" cy="147320"/>
          </a:xfrm>
          <a:prstGeom prst="rect">
            <a:avLst/>
          </a:prstGeom>
        </p:spPr>
        <p:txBody>
          <a:bodyPr vert="horz" wrap="square" lIns="0" tIns="12700" rIns="0" bIns="0" rtlCol="0">
            <a:spAutoFit/>
          </a:bodyPr>
          <a:lstStyle/>
          <a:p>
            <a:pPr marL="12700">
              <a:lnSpc>
                <a:spcPct val="100000"/>
              </a:lnSpc>
              <a:spcBef>
                <a:spcPts val="100"/>
              </a:spcBef>
            </a:pPr>
            <a:r>
              <a:rPr sz="800" spc="-25" dirty="0">
                <a:solidFill>
                  <a:srgbClr val="C00000"/>
                </a:solidFill>
                <a:latin typeface="Calibri"/>
                <a:cs typeface="Calibri"/>
              </a:rPr>
              <a:t>1/2</a:t>
            </a:r>
            <a:endParaRPr sz="800">
              <a:latin typeface="Calibri"/>
              <a:cs typeface="Calibri"/>
            </a:endParaRPr>
          </a:p>
        </p:txBody>
      </p:sp>
      <p:grpSp>
        <p:nvGrpSpPr>
          <p:cNvPr id="225" name="object 225"/>
          <p:cNvGrpSpPr/>
          <p:nvPr/>
        </p:nvGrpSpPr>
        <p:grpSpPr>
          <a:xfrm>
            <a:off x="9335190" y="4765752"/>
            <a:ext cx="1586230" cy="1757680"/>
            <a:chOff x="9335190" y="4765752"/>
            <a:chExt cx="1586230" cy="1757680"/>
          </a:xfrm>
        </p:grpSpPr>
        <p:sp>
          <p:nvSpPr>
            <p:cNvPr id="226" name="object 226"/>
            <p:cNvSpPr/>
            <p:nvPr/>
          </p:nvSpPr>
          <p:spPr>
            <a:xfrm>
              <a:off x="9347890" y="6504399"/>
              <a:ext cx="210820" cy="0"/>
            </a:xfrm>
            <a:custGeom>
              <a:avLst/>
              <a:gdLst/>
              <a:ahLst/>
              <a:cxnLst/>
              <a:rect l="l" t="t" r="r" b="b"/>
              <a:pathLst>
                <a:path w="210820">
                  <a:moveTo>
                    <a:pt x="210240" y="0"/>
                  </a:moveTo>
                  <a:lnTo>
                    <a:pt x="0" y="1"/>
                  </a:lnTo>
                </a:path>
              </a:pathLst>
            </a:custGeom>
            <a:ln w="25400">
              <a:solidFill>
                <a:srgbClr val="4472C4"/>
              </a:solidFill>
            </a:ln>
          </p:spPr>
          <p:txBody>
            <a:bodyPr wrap="square" lIns="0" tIns="0" rIns="0" bIns="0" rtlCol="0"/>
            <a:lstStyle/>
            <a:p>
              <a:endParaRPr/>
            </a:p>
          </p:txBody>
        </p:sp>
        <p:sp>
          <p:nvSpPr>
            <p:cNvPr id="227" name="object 227"/>
            <p:cNvSpPr/>
            <p:nvPr/>
          </p:nvSpPr>
          <p:spPr>
            <a:xfrm>
              <a:off x="10311508" y="4778452"/>
              <a:ext cx="0" cy="1732280"/>
            </a:xfrm>
            <a:custGeom>
              <a:avLst/>
              <a:gdLst/>
              <a:ahLst/>
              <a:cxnLst/>
              <a:rect l="l" t="t" r="r" b="b"/>
              <a:pathLst>
                <a:path h="1732279">
                  <a:moveTo>
                    <a:pt x="0" y="0"/>
                  </a:moveTo>
                  <a:lnTo>
                    <a:pt x="1" y="1732141"/>
                  </a:lnTo>
                </a:path>
              </a:pathLst>
            </a:custGeom>
            <a:ln w="25400">
              <a:solidFill>
                <a:srgbClr val="4472C4"/>
              </a:solidFill>
            </a:ln>
          </p:spPr>
          <p:txBody>
            <a:bodyPr wrap="square" lIns="0" tIns="0" rIns="0" bIns="0" rtlCol="0"/>
            <a:lstStyle/>
            <a:p>
              <a:endParaRPr/>
            </a:p>
          </p:txBody>
        </p:sp>
        <p:pic>
          <p:nvPicPr>
            <p:cNvPr id="228" name="object 228"/>
            <p:cNvPicPr/>
            <p:nvPr/>
          </p:nvPicPr>
          <p:blipFill>
            <a:blip r:embed="rId65" cstate="print"/>
            <a:stretch>
              <a:fillRect/>
            </a:stretch>
          </p:blipFill>
          <p:spPr>
            <a:xfrm>
              <a:off x="10494264" y="5629655"/>
              <a:ext cx="426720" cy="457200"/>
            </a:xfrm>
            <a:prstGeom prst="rect">
              <a:avLst/>
            </a:prstGeom>
          </p:spPr>
        </p:pic>
        <p:pic>
          <p:nvPicPr>
            <p:cNvPr id="229" name="object 229"/>
            <p:cNvPicPr/>
            <p:nvPr/>
          </p:nvPicPr>
          <p:blipFill>
            <a:blip r:embed="rId66" cstate="print"/>
            <a:stretch>
              <a:fillRect/>
            </a:stretch>
          </p:blipFill>
          <p:spPr>
            <a:xfrm>
              <a:off x="10503408" y="5644895"/>
              <a:ext cx="408431" cy="484631"/>
            </a:xfrm>
            <a:prstGeom prst="rect">
              <a:avLst/>
            </a:prstGeom>
          </p:spPr>
        </p:pic>
        <p:sp>
          <p:nvSpPr>
            <p:cNvPr id="230" name="object 230"/>
            <p:cNvSpPr/>
            <p:nvPr/>
          </p:nvSpPr>
          <p:spPr>
            <a:xfrm>
              <a:off x="10526034" y="5661835"/>
              <a:ext cx="309880" cy="339725"/>
            </a:xfrm>
            <a:custGeom>
              <a:avLst/>
              <a:gdLst/>
              <a:ahLst/>
              <a:cxnLst/>
              <a:rect l="l" t="t" r="r" b="b"/>
              <a:pathLst>
                <a:path w="309879"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231" name="object 231"/>
          <p:cNvSpPr txBox="1"/>
          <p:nvPr/>
        </p:nvSpPr>
        <p:spPr>
          <a:xfrm>
            <a:off x="10622789" y="5698235"/>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2</a:t>
            </a:r>
            <a:endParaRPr sz="1400">
              <a:latin typeface="Calibri"/>
              <a:cs typeface="Calibri"/>
            </a:endParaRPr>
          </a:p>
        </p:txBody>
      </p:sp>
      <p:grpSp>
        <p:nvGrpSpPr>
          <p:cNvPr id="232" name="object 232"/>
          <p:cNvGrpSpPr/>
          <p:nvPr/>
        </p:nvGrpSpPr>
        <p:grpSpPr>
          <a:xfrm>
            <a:off x="10286340" y="5818959"/>
            <a:ext cx="635000" cy="966469"/>
            <a:chOff x="10286340" y="5818959"/>
            <a:chExt cx="635000" cy="966469"/>
          </a:xfrm>
        </p:grpSpPr>
        <p:sp>
          <p:nvSpPr>
            <p:cNvPr id="233" name="object 233"/>
            <p:cNvSpPr/>
            <p:nvPr/>
          </p:nvSpPr>
          <p:spPr>
            <a:xfrm>
              <a:off x="10299040" y="5831659"/>
              <a:ext cx="210820" cy="0"/>
            </a:xfrm>
            <a:custGeom>
              <a:avLst/>
              <a:gdLst/>
              <a:ahLst/>
              <a:cxnLst/>
              <a:rect l="l" t="t" r="r" b="b"/>
              <a:pathLst>
                <a:path w="210820">
                  <a:moveTo>
                    <a:pt x="210240" y="0"/>
                  </a:moveTo>
                  <a:lnTo>
                    <a:pt x="0" y="1"/>
                  </a:lnTo>
                </a:path>
              </a:pathLst>
            </a:custGeom>
            <a:ln w="25400">
              <a:solidFill>
                <a:srgbClr val="4472C4"/>
              </a:solidFill>
            </a:ln>
          </p:spPr>
          <p:txBody>
            <a:bodyPr wrap="square" lIns="0" tIns="0" rIns="0" bIns="0" rtlCol="0"/>
            <a:lstStyle/>
            <a:p>
              <a:endParaRPr/>
            </a:p>
          </p:txBody>
        </p:sp>
        <p:pic>
          <p:nvPicPr>
            <p:cNvPr id="234" name="object 234"/>
            <p:cNvPicPr/>
            <p:nvPr/>
          </p:nvPicPr>
          <p:blipFill>
            <a:blip r:embed="rId67" cstate="print"/>
            <a:stretch>
              <a:fillRect/>
            </a:stretch>
          </p:blipFill>
          <p:spPr>
            <a:xfrm>
              <a:off x="10494263" y="6288023"/>
              <a:ext cx="426720" cy="457200"/>
            </a:xfrm>
            <a:prstGeom prst="rect">
              <a:avLst/>
            </a:prstGeom>
          </p:spPr>
        </p:pic>
        <p:pic>
          <p:nvPicPr>
            <p:cNvPr id="235" name="object 235"/>
            <p:cNvPicPr/>
            <p:nvPr/>
          </p:nvPicPr>
          <p:blipFill>
            <a:blip r:embed="rId68" cstate="print"/>
            <a:stretch>
              <a:fillRect/>
            </a:stretch>
          </p:blipFill>
          <p:spPr>
            <a:xfrm>
              <a:off x="10503407" y="6303263"/>
              <a:ext cx="408431" cy="481584"/>
            </a:xfrm>
            <a:prstGeom prst="rect">
              <a:avLst/>
            </a:prstGeom>
          </p:spPr>
        </p:pic>
        <p:sp>
          <p:nvSpPr>
            <p:cNvPr id="236" name="object 236"/>
            <p:cNvSpPr/>
            <p:nvPr/>
          </p:nvSpPr>
          <p:spPr>
            <a:xfrm>
              <a:off x="10526038" y="6319061"/>
              <a:ext cx="309880" cy="339725"/>
            </a:xfrm>
            <a:custGeom>
              <a:avLst/>
              <a:gdLst/>
              <a:ahLst/>
              <a:cxnLst/>
              <a:rect l="l" t="t" r="r" b="b"/>
              <a:pathLst>
                <a:path w="309879"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237" name="object 237"/>
          <p:cNvSpPr txBox="1"/>
          <p:nvPr/>
        </p:nvSpPr>
        <p:spPr>
          <a:xfrm>
            <a:off x="10622793" y="6356603"/>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2</a:t>
            </a:r>
            <a:endParaRPr sz="1400">
              <a:latin typeface="Calibri"/>
              <a:cs typeface="Calibri"/>
            </a:endParaRPr>
          </a:p>
        </p:txBody>
      </p:sp>
      <p:grpSp>
        <p:nvGrpSpPr>
          <p:cNvPr id="238" name="object 238"/>
          <p:cNvGrpSpPr/>
          <p:nvPr/>
        </p:nvGrpSpPr>
        <p:grpSpPr>
          <a:xfrm>
            <a:off x="10286345" y="4751809"/>
            <a:ext cx="1591945" cy="1757680"/>
            <a:chOff x="10286345" y="4751809"/>
            <a:chExt cx="1591945" cy="1757680"/>
          </a:xfrm>
        </p:grpSpPr>
        <p:sp>
          <p:nvSpPr>
            <p:cNvPr id="239" name="object 239"/>
            <p:cNvSpPr/>
            <p:nvPr/>
          </p:nvSpPr>
          <p:spPr>
            <a:xfrm>
              <a:off x="10299045" y="6488884"/>
              <a:ext cx="210820" cy="0"/>
            </a:xfrm>
            <a:custGeom>
              <a:avLst/>
              <a:gdLst/>
              <a:ahLst/>
              <a:cxnLst/>
              <a:rect l="l" t="t" r="r" b="b"/>
              <a:pathLst>
                <a:path w="210820">
                  <a:moveTo>
                    <a:pt x="210240" y="0"/>
                  </a:moveTo>
                  <a:lnTo>
                    <a:pt x="0" y="1"/>
                  </a:lnTo>
                </a:path>
              </a:pathLst>
            </a:custGeom>
            <a:ln w="25400">
              <a:solidFill>
                <a:srgbClr val="4472C4"/>
              </a:solidFill>
            </a:ln>
          </p:spPr>
          <p:txBody>
            <a:bodyPr wrap="square" lIns="0" tIns="0" rIns="0" bIns="0" rtlCol="0"/>
            <a:lstStyle/>
            <a:p>
              <a:endParaRPr/>
            </a:p>
          </p:txBody>
        </p:sp>
        <p:sp>
          <p:nvSpPr>
            <p:cNvPr id="240" name="object 240"/>
            <p:cNvSpPr/>
            <p:nvPr/>
          </p:nvSpPr>
          <p:spPr>
            <a:xfrm>
              <a:off x="11268112" y="4764509"/>
              <a:ext cx="0" cy="1732280"/>
            </a:xfrm>
            <a:custGeom>
              <a:avLst/>
              <a:gdLst/>
              <a:ahLst/>
              <a:cxnLst/>
              <a:rect l="l" t="t" r="r" b="b"/>
              <a:pathLst>
                <a:path h="1732279">
                  <a:moveTo>
                    <a:pt x="0" y="0"/>
                  </a:moveTo>
                  <a:lnTo>
                    <a:pt x="1" y="1732141"/>
                  </a:lnTo>
                </a:path>
              </a:pathLst>
            </a:custGeom>
            <a:ln w="25400">
              <a:solidFill>
                <a:srgbClr val="4472C4"/>
              </a:solidFill>
            </a:ln>
          </p:spPr>
          <p:txBody>
            <a:bodyPr wrap="square" lIns="0" tIns="0" rIns="0" bIns="0" rtlCol="0"/>
            <a:lstStyle/>
            <a:p>
              <a:endParaRPr/>
            </a:p>
          </p:txBody>
        </p:sp>
        <p:pic>
          <p:nvPicPr>
            <p:cNvPr id="241" name="object 241"/>
            <p:cNvPicPr/>
            <p:nvPr/>
          </p:nvPicPr>
          <p:blipFill>
            <a:blip r:embed="rId69" cstate="print"/>
            <a:stretch>
              <a:fillRect/>
            </a:stretch>
          </p:blipFill>
          <p:spPr>
            <a:xfrm>
              <a:off x="11451336" y="5617463"/>
              <a:ext cx="426720" cy="457200"/>
            </a:xfrm>
            <a:prstGeom prst="rect">
              <a:avLst/>
            </a:prstGeom>
          </p:spPr>
        </p:pic>
        <p:pic>
          <p:nvPicPr>
            <p:cNvPr id="242" name="object 242"/>
            <p:cNvPicPr/>
            <p:nvPr/>
          </p:nvPicPr>
          <p:blipFill>
            <a:blip r:embed="rId60" cstate="print"/>
            <a:stretch>
              <a:fillRect/>
            </a:stretch>
          </p:blipFill>
          <p:spPr>
            <a:xfrm>
              <a:off x="11457432" y="5632703"/>
              <a:ext cx="411479" cy="481583"/>
            </a:xfrm>
            <a:prstGeom prst="rect">
              <a:avLst/>
            </a:prstGeom>
          </p:spPr>
        </p:pic>
        <p:sp>
          <p:nvSpPr>
            <p:cNvPr id="243" name="object 243"/>
            <p:cNvSpPr/>
            <p:nvPr/>
          </p:nvSpPr>
          <p:spPr>
            <a:xfrm>
              <a:off x="11482637" y="5647892"/>
              <a:ext cx="309880" cy="339725"/>
            </a:xfrm>
            <a:custGeom>
              <a:avLst/>
              <a:gdLst/>
              <a:ahLst/>
              <a:cxnLst/>
              <a:rect l="l" t="t" r="r" b="b"/>
              <a:pathLst>
                <a:path w="309879"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244" name="object 244"/>
          <p:cNvSpPr txBox="1"/>
          <p:nvPr/>
        </p:nvSpPr>
        <p:spPr>
          <a:xfrm>
            <a:off x="11579392" y="5686044"/>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1</a:t>
            </a:r>
            <a:endParaRPr sz="1400">
              <a:latin typeface="Calibri"/>
              <a:cs typeface="Calibri"/>
            </a:endParaRPr>
          </a:p>
        </p:txBody>
      </p:sp>
      <p:grpSp>
        <p:nvGrpSpPr>
          <p:cNvPr id="245" name="object 245"/>
          <p:cNvGrpSpPr/>
          <p:nvPr/>
        </p:nvGrpSpPr>
        <p:grpSpPr>
          <a:xfrm>
            <a:off x="11242943" y="5805016"/>
            <a:ext cx="635635" cy="967740"/>
            <a:chOff x="11242943" y="5805016"/>
            <a:chExt cx="635635" cy="967740"/>
          </a:xfrm>
        </p:grpSpPr>
        <p:sp>
          <p:nvSpPr>
            <p:cNvPr id="246" name="object 246"/>
            <p:cNvSpPr/>
            <p:nvPr/>
          </p:nvSpPr>
          <p:spPr>
            <a:xfrm>
              <a:off x="11255643" y="5817716"/>
              <a:ext cx="210820" cy="0"/>
            </a:xfrm>
            <a:custGeom>
              <a:avLst/>
              <a:gdLst/>
              <a:ahLst/>
              <a:cxnLst/>
              <a:rect l="l" t="t" r="r" b="b"/>
              <a:pathLst>
                <a:path w="210820">
                  <a:moveTo>
                    <a:pt x="210240" y="0"/>
                  </a:moveTo>
                  <a:lnTo>
                    <a:pt x="0" y="1"/>
                  </a:lnTo>
                </a:path>
              </a:pathLst>
            </a:custGeom>
            <a:ln w="25400">
              <a:solidFill>
                <a:srgbClr val="4472C4"/>
              </a:solidFill>
            </a:ln>
          </p:spPr>
          <p:txBody>
            <a:bodyPr wrap="square" lIns="0" tIns="0" rIns="0" bIns="0" rtlCol="0"/>
            <a:lstStyle/>
            <a:p>
              <a:endParaRPr/>
            </a:p>
          </p:txBody>
        </p:sp>
        <p:pic>
          <p:nvPicPr>
            <p:cNvPr id="247" name="object 247"/>
            <p:cNvPicPr/>
            <p:nvPr/>
          </p:nvPicPr>
          <p:blipFill>
            <a:blip r:embed="rId70" cstate="print"/>
            <a:stretch>
              <a:fillRect/>
            </a:stretch>
          </p:blipFill>
          <p:spPr>
            <a:xfrm>
              <a:off x="11451336" y="6272783"/>
              <a:ext cx="426720" cy="457200"/>
            </a:xfrm>
            <a:prstGeom prst="rect">
              <a:avLst/>
            </a:prstGeom>
          </p:spPr>
        </p:pic>
        <p:pic>
          <p:nvPicPr>
            <p:cNvPr id="248" name="object 248"/>
            <p:cNvPicPr/>
            <p:nvPr/>
          </p:nvPicPr>
          <p:blipFill>
            <a:blip r:embed="rId71" cstate="print"/>
            <a:stretch>
              <a:fillRect/>
            </a:stretch>
          </p:blipFill>
          <p:spPr>
            <a:xfrm>
              <a:off x="11457432" y="6288023"/>
              <a:ext cx="411479" cy="484631"/>
            </a:xfrm>
            <a:prstGeom prst="rect">
              <a:avLst/>
            </a:prstGeom>
          </p:spPr>
        </p:pic>
        <p:sp>
          <p:nvSpPr>
            <p:cNvPr id="249" name="object 249"/>
            <p:cNvSpPr/>
            <p:nvPr/>
          </p:nvSpPr>
          <p:spPr>
            <a:xfrm>
              <a:off x="11482641" y="6305117"/>
              <a:ext cx="309880" cy="339725"/>
            </a:xfrm>
            <a:custGeom>
              <a:avLst/>
              <a:gdLst/>
              <a:ahLst/>
              <a:cxnLst/>
              <a:rect l="l" t="t" r="r" b="b"/>
              <a:pathLst>
                <a:path w="309879"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250" name="object 250"/>
          <p:cNvSpPr txBox="1"/>
          <p:nvPr/>
        </p:nvSpPr>
        <p:spPr>
          <a:xfrm>
            <a:off x="11579396" y="6341364"/>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2</a:t>
            </a:r>
            <a:endParaRPr sz="1400">
              <a:latin typeface="Calibri"/>
              <a:cs typeface="Calibri"/>
            </a:endParaRPr>
          </a:p>
        </p:txBody>
      </p:sp>
      <p:grpSp>
        <p:nvGrpSpPr>
          <p:cNvPr id="251" name="object 251"/>
          <p:cNvGrpSpPr/>
          <p:nvPr/>
        </p:nvGrpSpPr>
        <p:grpSpPr>
          <a:xfrm>
            <a:off x="7110983" y="4986528"/>
            <a:ext cx="4368165" cy="1501140"/>
            <a:chOff x="7110983" y="4986528"/>
            <a:chExt cx="4368165" cy="1501140"/>
          </a:xfrm>
        </p:grpSpPr>
        <p:sp>
          <p:nvSpPr>
            <p:cNvPr id="252" name="object 252"/>
            <p:cNvSpPr/>
            <p:nvPr/>
          </p:nvSpPr>
          <p:spPr>
            <a:xfrm>
              <a:off x="11255647" y="6474941"/>
              <a:ext cx="210820" cy="0"/>
            </a:xfrm>
            <a:custGeom>
              <a:avLst/>
              <a:gdLst/>
              <a:ahLst/>
              <a:cxnLst/>
              <a:rect l="l" t="t" r="r" b="b"/>
              <a:pathLst>
                <a:path w="210820">
                  <a:moveTo>
                    <a:pt x="210240" y="0"/>
                  </a:moveTo>
                  <a:lnTo>
                    <a:pt x="0" y="1"/>
                  </a:lnTo>
                </a:path>
              </a:pathLst>
            </a:custGeom>
            <a:ln w="25400">
              <a:solidFill>
                <a:srgbClr val="4472C4"/>
              </a:solidFill>
            </a:ln>
          </p:spPr>
          <p:txBody>
            <a:bodyPr wrap="square" lIns="0" tIns="0" rIns="0" bIns="0" rtlCol="0"/>
            <a:lstStyle/>
            <a:p>
              <a:endParaRPr/>
            </a:p>
          </p:txBody>
        </p:sp>
        <p:pic>
          <p:nvPicPr>
            <p:cNvPr id="253" name="object 253"/>
            <p:cNvPicPr/>
            <p:nvPr/>
          </p:nvPicPr>
          <p:blipFill>
            <a:blip r:embed="rId72" cstate="print"/>
            <a:stretch>
              <a:fillRect/>
            </a:stretch>
          </p:blipFill>
          <p:spPr>
            <a:xfrm>
              <a:off x="7110983" y="4986528"/>
              <a:ext cx="426720" cy="457200"/>
            </a:xfrm>
            <a:prstGeom prst="rect">
              <a:avLst/>
            </a:prstGeom>
          </p:spPr>
        </p:pic>
        <p:pic>
          <p:nvPicPr>
            <p:cNvPr id="254" name="object 254"/>
            <p:cNvPicPr/>
            <p:nvPr/>
          </p:nvPicPr>
          <p:blipFill>
            <a:blip r:embed="rId56" cstate="print"/>
            <a:stretch>
              <a:fillRect/>
            </a:stretch>
          </p:blipFill>
          <p:spPr>
            <a:xfrm>
              <a:off x="7120127" y="5001768"/>
              <a:ext cx="411479" cy="481584"/>
            </a:xfrm>
            <a:prstGeom prst="rect">
              <a:avLst/>
            </a:prstGeom>
          </p:spPr>
        </p:pic>
        <p:sp>
          <p:nvSpPr>
            <p:cNvPr id="255" name="object 255"/>
            <p:cNvSpPr/>
            <p:nvPr/>
          </p:nvSpPr>
          <p:spPr>
            <a:xfrm>
              <a:off x="7144194" y="5017861"/>
              <a:ext cx="309880" cy="339725"/>
            </a:xfrm>
            <a:custGeom>
              <a:avLst/>
              <a:gdLst/>
              <a:ahLst/>
              <a:cxnLst/>
              <a:rect l="l" t="t" r="r" b="b"/>
              <a:pathLst>
                <a:path w="309879"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256" name="object 256"/>
          <p:cNvSpPr txBox="1"/>
          <p:nvPr/>
        </p:nvSpPr>
        <p:spPr>
          <a:xfrm>
            <a:off x="7240949" y="5055108"/>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2</a:t>
            </a:r>
            <a:endParaRPr sz="1400">
              <a:latin typeface="Calibri"/>
              <a:cs typeface="Calibri"/>
            </a:endParaRPr>
          </a:p>
        </p:txBody>
      </p:sp>
      <p:grpSp>
        <p:nvGrpSpPr>
          <p:cNvPr id="257" name="object 257"/>
          <p:cNvGrpSpPr/>
          <p:nvPr/>
        </p:nvGrpSpPr>
        <p:grpSpPr>
          <a:xfrm>
            <a:off x="6899731" y="4574220"/>
            <a:ext cx="635000" cy="1893570"/>
            <a:chOff x="6899731" y="4574220"/>
            <a:chExt cx="635000" cy="1893570"/>
          </a:xfrm>
        </p:grpSpPr>
        <p:sp>
          <p:nvSpPr>
            <p:cNvPr id="258" name="object 258"/>
            <p:cNvSpPr/>
            <p:nvPr/>
          </p:nvSpPr>
          <p:spPr>
            <a:xfrm>
              <a:off x="6912431" y="4586920"/>
              <a:ext cx="12700" cy="1868170"/>
            </a:xfrm>
            <a:custGeom>
              <a:avLst/>
              <a:gdLst/>
              <a:ahLst/>
              <a:cxnLst/>
              <a:rect l="l" t="t" r="r" b="b"/>
              <a:pathLst>
                <a:path w="12700" h="1868170">
                  <a:moveTo>
                    <a:pt x="12468" y="0"/>
                  </a:moveTo>
                  <a:lnTo>
                    <a:pt x="0" y="1867596"/>
                  </a:lnTo>
                </a:path>
              </a:pathLst>
            </a:custGeom>
            <a:ln w="25400">
              <a:solidFill>
                <a:srgbClr val="4472C4"/>
              </a:solidFill>
            </a:ln>
          </p:spPr>
          <p:txBody>
            <a:bodyPr wrap="square" lIns="0" tIns="0" rIns="0" bIns="0" rtlCol="0"/>
            <a:lstStyle/>
            <a:p>
              <a:endParaRPr/>
            </a:p>
          </p:txBody>
        </p:sp>
        <p:sp>
          <p:nvSpPr>
            <p:cNvPr id="259" name="object 259"/>
            <p:cNvSpPr/>
            <p:nvPr/>
          </p:nvSpPr>
          <p:spPr>
            <a:xfrm>
              <a:off x="6917199" y="5187684"/>
              <a:ext cx="210820" cy="0"/>
            </a:xfrm>
            <a:custGeom>
              <a:avLst/>
              <a:gdLst/>
              <a:ahLst/>
              <a:cxnLst/>
              <a:rect l="l" t="t" r="r" b="b"/>
              <a:pathLst>
                <a:path w="210820">
                  <a:moveTo>
                    <a:pt x="210240" y="0"/>
                  </a:moveTo>
                  <a:lnTo>
                    <a:pt x="0" y="1"/>
                  </a:lnTo>
                </a:path>
              </a:pathLst>
            </a:custGeom>
            <a:ln w="25400">
              <a:solidFill>
                <a:srgbClr val="4472C4"/>
              </a:solidFill>
            </a:ln>
          </p:spPr>
          <p:txBody>
            <a:bodyPr wrap="square" lIns="0" tIns="0" rIns="0" bIns="0" rtlCol="0"/>
            <a:lstStyle/>
            <a:p>
              <a:endParaRPr/>
            </a:p>
          </p:txBody>
        </p:sp>
        <p:pic>
          <p:nvPicPr>
            <p:cNvPr id="260" name="object 260"/>
            <p:cNvPicPr/>
            <p:nvPr/>
          </p:nvPicPr>
          <p:blipFill>
            <a:blip r:embed="rId73" cstate="print"/>
            <a:stretch>
              <a:fillRect/>
            </a:stretch>
          </p:blipFill>
          <p:spPr>
            <a:xfrm>
              <a:off x="7107935" y="5596127"/>
              <a:ext cx="426720" cy="457200"/>
            </a:xfrm>
            <a:prstGeom prst="rect">
              <a:avLst/>
            </a:prstGeom>
          </p:spPr>
        </p:pic>
        <p:pic>
          <p:nvPicPr>
            <p:cNvPr id="261" name="object 261"/>
            <p:cNvPicPr/>
            <p:nvPr/>
          </p:nvPicPr>
          <p:blipFill>
            <a:blip r:embed="rId60" cstate="print"/>
            <a:stretch>
              <a:fillRect/>
            </a:stretch>
          </p:blipFill>
          <p:spPr>
            <a:xfrm>
              <a:off x="7114031" y="5611367"/>
              <a:ext cx="411479" cy="481584"/>
            </a:xfrm>
            <a:prstGeom prst="rect">
              <a:avLst/>
            </a:prstGeom>
          </p:spPr>
        </p:pic>
        <p:sp>
          <p:nvSpPr>
            <p:cNvPr id="262" name="object 262"/>
            <p:cNvSpPr/>
            <p:nvPr/>
          </p:nvSpPr>
          <p:spPr>
            <a:xfrm>
              <a:off x="7139425" y="5627467"/>
              <a:ext cx="309880" cy="339725"/>
            </a:xfrm>
            <a:custGeom>
              <a:avLst/>
              <a:gdLst/>
              <a:ahLst/>
              <a:cxnLst/>
              <a:rect l="l" t="t" r="r" b="b"/>
              <a:pathLst>
                <a:path w="309879"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263" name="object 263"/>
          <p:cNvSpPr txBox="1"/>
          <p:nvPr/>
        </p:nvSpPr>
        <p:spPr>
          <a:xfrm>
            <a:off x="7236180" y="5664708"/>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1</a:t>
            </a:r>
            <a:endParaRPr sz="1400">
              <a:latin typeface="Calibri"/>
              <a:cs typeface="Calibri"/>
            </a:endParaRPr>
          </a:p>
        </p:txBody>
      </p:sp>
      <p:grpSp>
        <p:nvGrpSpPr>
          <p:cNvPr id="264" name="object 264"/>
          <p:cNvGrpSpPr/>
          <p:nvPr/>
        </p:nvGrpSpPr>
        <p:grpSpPr>
          <a:xfrm>
            <a:off x="6899731" y="5001767"/>
            <a:ext cx="1741805" cy="808355"/>
            <a:chOff x="6899731" y="5001767"/>
            <a:chExt cx="1741805" cy="808355"/>
          </a:xfrm>
        </p:grpSpPr>
        <p:sp>
          <p:nvSpPr>
            <p:cNvPr id="265" name="object 265"/>
            <p:cNvSpPr/>
            <p:nvPr/>
          </p:nvSpPr>
          <p:spPr>
            <a:xfrm>
              <a:off x="6912431" y="5797291"/>
              <a:ext cx="210820" cy="0"/>
            </a:xfrm>
            <a:custGeom>
              <a:avLst/>
              <a:gdLst/>
              <a:ahLst/>
              <a:cxnLst/>
              <a:rect l="l" t="t" r="r" b="b"/>
              <a:pathLst>
                <a:path w="210820">
                  <a:moveTo>
                    <a:pt x="210240" y="0"/>
                  </a:moveTo>
                  <a:lnTo>
                    <a:pt x="0" y="1"/>
                  </a:lnTo>
                </a:path>
              </a:pathLst>
            </a:custGeom>
            <a:ln w="25400">
              <a:solidFill>
                <a:srgbClr val="4472C4"/>
              </a:solidFill>
            </a:ln>
          </p:spPr>
          <p:txBody>
            <a:bodyPr wrap="square" lIns="0" tIns="0" rIns="0" bIns="0" rtlCol="0"/>
            <a:lstStyle/>
            <a:p>
              <a:endParaRPr/>
            </a:p>
          </p:txBody>
        </p:sp>
        <p:pic>
          <p:nvPicPr>
            <p:cNvPr id="266" name="object 266"/>
            <p:cNvPicPr/>
            <p:nvPr/>
          </p:nvPicPr>
          <p:blipFill>
            <a:blip r:embed="rId74" cstate="print"/>
            <a:stretch>
              <a:fillRect/>
            </a:stretch>
          </p:blipFill>
          <p:spPr>
            <a:xfrm>
              <a:off x="7982711" y="5001767"/>
              <a:ext cx="658368" cy="426719"/>
            </a:xfrm>
            <a:prstGeom prst="rect">
              <a:avLst/>
            </a:prstGeom>
          </p:spPr>
        </p:pic>
        <p:pic>
          <p:nvPicPr>
            <p:cNvPr id="267" name="object 267"/>
            <p:cNvPicPr/>
            <p:nvPr/>
          </p:nvPicPr>
          <p:blipFill>
            <a:blip r:embed="rId75" cstate="print"/>
            <a:stretch>
              <a:fillRect/>
            </a:stretch>
          </p:blipFill>
          <p:spPr>
            <a:xfrm>
              <a:off x="8125967" y="5068823"/>
              <a:ext cx="371855" cy="313944"/>
            </a:xfrm>
            <a:prstGeom prst="rect">
              <a:avLst/>
            </a:prstGeom>
          </p:spPr>
        </p:pic>
        <p:sp>
          <p:nvSpPr>
            <p:cNvPr id="268" name="object 268"/>
            <p:cNvSpPr/>
            <p:nvPr/>
          </p:nvSpPr>
          <p:spPr>
            <a:xfrm>
              <a:off x="8014134" y="5033521"/>
              <a:ext cx="542290" cy="308610"/>
            </a:xfrm>
            <a:custGeom>
              <a:avLst/>
              <a:gdLst/>
              <a:ahLst/>
              <a:cxnLst/>
              <a:rect l="l" t="t" r="r" b="b"/>
              <a:pathLst>
                <a:path w="542290" h="308610">
                  <a:moveTo>
                    <a:pt x="0" y="154235"/>
                  </a:moveTo>
                  <a:lnTo>
                    <a:pt x="27559" y="86406"/>
                  </a:lnTo>
                  <a:lnTo>
                    <a:pt x="59567" y="57769"/>
                  </a:lnTo>
                  <a:lnTo>
                    <a:pt x="101557" y="33883"/>
                  </a:lnTo>
                  <a:lnTo>
                    <a:pt x="151902" y="15676"/>
                  </a:lnTo>
                  <a:lnTo>
                    <a:pt x="208973" y="4073"/>
                  </a:lnTo>
                  <a:lnTo>
                    <a:pt x="271144" y="0"/>
                  </a:lnTo>
                  <a:lnTo>
                    <a:pt x="333315" y="4073"/>
                  </a:lnTo>
                  <a:lnTo>
                    <a:pt x="390387" y="15676"/>
                  </a:lnTo>
                  <a:lnTo>
                    <a:pt x="440731" y="33883"/>
                  </a:lnTo>
                  <a:lnTo>
                    <a:pt x="482721" y="57769"/>
                  </a:lnTo>
                  <a:lnTo>
                    <a:pt x="514729" y="86406"/>
                  </a:lnTo>
                  <a:lnTo>
                    <a:pt x="535127" y="118870"/>
                  </a:lnTo>
                  <a:lnTo>
                    <a:pt x="542289" y="154235"/>
                  </a:lnTo>
                  <a:lnTo>
                    <a:pt x="535127" y="189600"/>
                  </a:lnTo>
                  <a:lnTo>
                    <a:pt x="514729" y="222064"/>
                  </a:lnTo>
                  <a:lnTo>
                    <a:pt x="482721" y="250701"/>
                  </a:lnTo>
                  <a:lnTo>
                    <a:pt x="440731" y="274587"/>
                  </a:lnTo>
                  <a:lnTo>
                    <a:pt x="390387" y="292794"/>
                  </a:lnTo>
                  <a:lnTo>
                    <a:pt x="333315" y="304397"/>
                  </a:lnTo>
                  <a:lnTo>
                    <a:pt x="271144" y="308471"/>
                  </a:lnTo>
                  <a:lnTo>
                    <a:pt x="208973" y="304397"/>
                  </a:lnTo>
                  <a:lnTo>
                    <a:pt x="151902" y="292794"/>
                  </a:lnTo>
                  <a:lnTo>
                    <a:pt x="101557" y="274587"/>
                  </a:lnTo>
                  <a:lnTo>
                    <a:pt x="59567" y="250701"/>
                  </a:lnTo>
                  <a:lnTo>
                    <a:pt x="27559" y="222064"/>
                  </a:lnTo>
                  <a:lnTo>
                    <a:pt x="7161" y="189600"/>
                  </a:lnTo>
                  <a:lnTo>
                    <a:pt x="0" y="154235"/>
                  </a:lnTo>
                  <a:close/>
                </a:path>
              </a:pathLst>
            </a:custGeom>
            <a:ln w="12700">
              <a:solidFill>
                <a:srgbClr val="2F528F"/>
              </a:solidFill>
            </a:ln>
          </p:spPr>
          <p:txBody>
            <a:bodyPr wrap="square" lIns="0" tIns="0" rIns="0" bIns="0" rtlCol="0"/>
            <a:lstStyle/>
            <a:p>
              <a:endParaRPr/>
            </a:p>
          </p:txBody>
        </p:sp>
      </p:grpSp>
      <p:sp>
        <p:nvSpPr>
          <p:cNvPr id="269" name="object 269"/>
          <p:cNvSpPr txBox="1"/>
          <p:nvPr/>
        </p:nvSpPr>
        <p:spPr>
          <a:xfrm>
            <a:off x="8201934" y="5100828"/>
            <a:ext cx="167640" cy="147320"/>
          </a:xfrm>
          <a:prstGeom prst="rect">
            <a:avLst/>
          </a:prstGeom>
        </p:spPr>
        <p:txBody>
          <a:bodyPr vert="horz" wrap="square" lIns="0" tIns="12700" rIns="0" bIns="0" rtlCol="0">
            <a:spAutoFit/>
          </a:bodyPr>
          <a:lstStyle/>
          <a:p>
            <a:pPr marL="12700">
              <a:lnSpc>
                <a:spcPct val="100000"/>
              </a:lnSpc>
              <a:spcBef>
                <a:spcPts val="100"/>
              </a:spcBef>
            </a:pPr>
            <a:r>
              <a:rPr sz="800" spc="-25" dirty="0">
                <a:solidFill>
                  <a:srgbClr val="C00000"/>
                </a:solidFill>
                <a:latin typeface="Calibri"/>
                <a:cs typeface="Calibri"/>
              </a:rPr>
              <a:t>1/2</a:t>
            </a:r>
            <a:endParaRPr sz="800">
              <a:latin typeface="Calibri"/>
              <a:cs typeface="Calibri"/>
            </a:endParaRPr>
          </a:p>
        </p:txBody>
      </p:sp>
      <p:grpSp>
        <p:nvGrpSpPr>
          <p:cNvPr id="270" name="object 270"/>
          <p:cNvGrpSpPr/>
          <p:nvPr/>
        </p:nvGrpSpPr>
        <p:grpSpPr>
          <a:xfrm>
            <a:off x="7812789" y="4558704"/>
            <a:ext cx="630555" cy="1893570"/>
            <a:chOff x="7812789" y="4558704"/>
            <a:chExt cx="630555" cy="1893570"/>
          </a:xfrm>
        </p:grpSpPr>
        <p:sp>
          <p:nvSpPr>
            <p:cNvPr id="271" name="object 271"/>
            <p:cNvSpPr/>
            <p:nvPr/>
          </p:nvSpPr>
          <p:spPr>
            <a:xfrm>
              <a:off x="7833190" y="4571404"/>
              <a:ext cx="0" cy="1868170"/>
            </a:xfrm>
            <a:custGeom>
              <a:avLst/>
              <a:gdLst/>
              <a:ahLst/>
              <a:cxnLst/>
              <a:rect l="l" t="t" r="r" b="b"/>
              <a:pathLst>
                <a:path h="1868170">
                  <a:moveTo>
                    <a:pt x="0" y="0"/>
                  </a:moveTo>
                  <a:lnTo>
                    <a:pt x="1" y="1867596"/>
                  </a:lnTo>
                </a:path>
              </a:pathLst>
            </a:custGeom>
            <a:ln w="25400">
              <a:solidFill>
                <a:srgbClr val="4472C4"/>
              </a:solidFill>
            </a:ln>
          </p:spPr>
          <p:txBody>
            <a:bodyPr wrap="square" lIns="0" tIns="0" rIns="0" bIns="0" rtlCol="0"/>
            <a:lstStyle/>
            <a:p>
              <a:endParaRPr/>
            </a:p>
          </p:txBody>
        </p:sp>
        <p:sp>
          <p:nvSpPr>
            <p:cNvPr id="272" name="object 272"/>
            <p:cNvSpPr/>
            <p:nvPr/>
          </p:nvSpPr>
          <p:spPr>
            <a:xfrm>
              <a:off x="7825489" y="5172170"/>
              <a:ext cx="210820" cy="0"/>
            </a:xfrm>
            <a:custGeom>
              <a:avLst/>
              <a:gdLst/>
              <a:ahLst/>
              <a:cxnLst/>
              <a:rect l="l" t="t" r="r" b="b"/>
              <a:pathLst>
                <a:path w="210820">
                  <a:moveTo>
                    <a:pt x="210240" y="0"/>
                  </a:moveTo>
                  <a:lnTo>
                    <a:pt x="0" y="1"/>
                  </a:lnTo>
                </a:path>
              </a:pathLst>
            </a:custGeom>
            <a:ln w="25400">
              <a:solidFill>
                <a:srgbClr val="4472C4"/>
              </a:solidFill>
            </a:ln>
          </p:spPr>
          <p:txBody>
            <a:bodyPr wrap="square" lIns="0" tIns="0" rIns="0" bIns="0" rtlCol="0"/>
            <a:lstStyle/>
            <a:p>
              <a:endParaRPr/>
            </a:p>
          </p:txBody>
        </p:sp>
        <p:pic>
          <p:nvPicPr>
            <p:cNvPr id="273" name="object 273"/>
            <p:cNvPicPr/>
            <p:nvPr/>
          </p:nvPicPr>
          <p:blipFill>
            <a:blip r:embed="rId76" cstate="print"/>
            <a:stretch>
              <a:fillRect/>
            </a:stretch>
          </p:blipFill>
          <p:spPr>
            <a:xfrm>
              <a:off x="8016240" y="5580887"/>
              <a:ext cx="426720" cy="457200"/>
            </a:xfrm>
            <a:prstGeom prst="rect">
              <a:avLst/>
            </a:prstGeom>
          </p:spPr>
        </p:pic>
        <p:pic>
          <p:nvPicPr>
            <p:cNvPr id="274" name="object 274"/>
            <p:cNvPicPr/>
            <p:nvPr/>
          </p:nvPicPr>
          <p:blipFill>
            <a:blip r:embed="rId60" cstate="print"/>
            <a:stretch>
              <a:fillRect/>
            </a:stretch>
          </p:blipFill>
          <p:spPr>
            <a:xfrm>
              <a:off x="8022336" y="5596127"/>
              <a:ext cx="411479" cy="481584"/>
            </a:xfrm>
            <a:prstGeom prst="rect">
              <a:avLst/>
            </a:prstGeom>
          </p:spPr>
        </p:pic>
        <p:sp>
          <p:nvSpPr>
            <p:cNvPr id="275" name="object 275"/>
            <p:cNvSpPr/>
            <p:nvPr/>
          </p:nvSpPr>
          <p:spPr>
            <a:xfrm>
              <a:off x="8047716" y="5611952"/>
              <a:ext cx="309880" cy="339725"/>
            </a:xfrm>
            <a:custGeom>
              <a:avLst/>
              <a:gdLst/>
              <a:ahLst/>
              <a:cxnLst/>
              <a:rect l="l" t="t" r="r" b="b"/>
              <a:pathLst>
                <a:path w="309879"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276" name="object 276"/>
          <p:cNvSpPr txBox="1"/>
          <p:nvPr/>
        </p:nvSpPr>
        <p:spPr>
          <a:xfrm>
            <a:off x="8144470" y="5649467"/>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1</a:t>
            </a:r>
            <a:endParaRPr sz="1400">
              <a:latin typeface="Calibri"/>
              <a:cs typeface="Calibri"/>
            </a:endParaRPr>
          </a:p>
        </p:txBody>
      </p:sp>
      <p:grpSp>
        <p:nvGrpSpPr>
          <p:cNvPr id="277" name="object 277"/>
          <p:cNvGrpSpPr/>
          <p:nvPr/>
        </p:nvGrpSpPr>
        <p:grpSpPr>
          <a:xfrm>
            <a:off x="7808021" y="4956047"/>
            <a:ext cx="1397000" cy="838835"/>
            <a:chOff x="7808021" y="4956047"/>
            <a:chExt cx="1397000" cy="838835"/>
          </a:xfrm>
        </p:grpSpPr>
        <p:sp>
          <p:nvSpPr>
            <p:cNvPr id="278" name="object 278"/>
            <p:cNvSpPr/>
            <p:nvPr/>
          </p:nvSpPr>
          <p:spPr>
            <a:xfrm>
              <a:off x="7820721" y="5781775"/>
              <a:ext cx="210820" cy="0"/>
            </a:xfrm>
            <a:custGeom>
              <a:avLst/>
              <a:gdLst/>
              <a:ahLst/>
              <a:cxnLst/>
              <a:rect l="l" t="t" r="r" b="b"/>
              <a:pathLst>
                <a:path w="210820">
                  <a:moveTo>
                    <a:pt x="210240" y="0"/>
                  </a:moveTo>
                  <a:lnTo>
                    <a:pt x="0" y="1"/>
                  </a:lnTo>
                </a:path>
              </a:pathLst>
            </a:custGeom>
            <a:ln w="25400">
              <a:solidFill>
                <a:srgbClr val="4472C4"/>
              </a:solidFill>
            </a:ln>
          </p:spPr>
          <p:txBody>
            <a:bodyPr wrap="square" lIns="0" tIns="0" rIns="0" bIns="0" rtlCol="0"/>
            <a:lstStyle/>
            <a:p>
              <a:endParaRPr/>
            </a:p>
          </p:txBody>
        </p:sp>
        <p:pic>
          <p:nvPicPr>
            <p:cNvPr id="279" name="object 279"/>
            <p:cNvPicPr/>
            <p:nvPr/>
          </p:nvPicPr>
          <p:blipFill>
            <a:blip r:embed="rId77" cstate="print"/>
            <a:stretch>
              <a:fillRect/>
            </a:stretch>
          </p:blipFill>
          <p:spPr>
            <a:xfrm>
              <a:off x="8778240" y="4956047"/>
              <a:ext cx="426720" cy="457199"/>
            </a:xfrm>
            <a:prstGeom prst="rect">
              <a:avLst/>
            </a:prstGeom>
          </p:spPr>
        </p:pic>
        <p:pic>
          <p:nvPicPr>
            <p:cNvPr id="280" name="object 280"/>
            <p:cNvPicPr/>
            <p:nvPr/>
          </p:nvPicPr>
          <p:blipFill>
            <a:blip r:embed="rId54" cstate="print"/>
            <a:stretch>
              <a:fillRect/>
            </a:stretch>
          </p:blipFill>
          <p:spPr>
            <a:xfrm>
              <a:off x="8784336" y="4971287"/>
              <a:ext cx="411479" cy="484631"/>
            </a:xfrm>
            <a:prstGeom prst="rect">
              <a:avLst/>
            </a:prstGeom>
          </p:spPr>
        </p:pic>
        <p:sp>
          <p:nvSpPr>
            <p:cNvPr id="281" name="object 281"/>
            <p:cNvSpPr/>
            <p:nvPr/>
          </p:nvSpPr>
          <p:spPr>
            <a:xfrm>
              <a:off x="8809059" y="4988402"/>
              <a:ext cx="309880" cy="339725"/>
            </a:xfrm>
            <a:custGeom>
              <a:avLst/>
              <a:gdLst/>
              <a:ahLst/>
              <a:cxnLst/>
              <a:rect l="l" t="t" r="r" b="b"/>
              <a:pathLst>
                <a:path w="309879"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282" name="object 282"/>
          <p:cNvSpPr txBox="1"/>
          <p:nvPr/>
        </p:nvSpPr>
        <p:spPr>
          <a:xfrm>
            <a:off x="8905813" y="5024628"/>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1</a:t>
            </a:r>
            <a:endParaRPr sz="1400">
              <a:latin typeface="Calibri"/>
              <a:cs typeface="Calibri"/>
            </a:endParaRPr>
          </a:p>
        </p:txBody>
      </p:sp>
      <p:grpSp>
        <p:nvGrpSpPr>
          <p:cNvPr id="283" name="object 283"/>
          <p:cNvGrpSpPr/>
          <p:nvPr/>
        </p:nvGrpSpPr>
        <p:grpSpPr>
          <a:xfrm>
            <a:off x="8564596" y="4544762"/>
            <a:ext cx="634365" cy="1907539"/>
            <a:chOff x="8564596" y="4544762"/>
            <a:chExt cx="634365" cy="1907539"/>
          </a:xfrm>
        </p:grpSpPr>
        <p:sp>
          <p:nvSpPr>
            <p:cNvPr id="284" name="object 284"/>
            <p:cNvSpPr/>
            <p:nvPr/>
          </p:nvSpPr>
          <p:spPr>
            <a:xfrm>
              <a:off x="8577296" y="4557462"/>
              <a:ext cx="12700" cy="1882139"/>
            </a:xfrm>
            <a:custGeom>
              <a:avLst/>
              <a:gdLst/>
              <a:ahLst/>
              <a:cxnLst/>
              <a:rect l="l" t="t" r="r" b="b"/>
              <a:pathLst>
                <a:path w="12700" h="1882139">
                  <a:moveTo>
                    <a:pt x="12468" y="0"/>
                  </a:moveTo>
                  <a:lnTo>
                    <a:pt x="0" y="1881539"/>
                  </a:lnTo>
                </a:path>
              </a:pathLst>
            </a:custGeom>
            <a:ln w="25400">
              <a:solidFill>
                <a:srgbClr val="4472C4"/>
              </a:solidFill>
            </a:ln>
          </p:spPr>
          <p:txBody>
            <a:bodyPr wrap="square" lIns="0" tIns="0" rIns="0" bIns="0" rtlCol="0"/>
            <a:lstStyle/>
            <a:p>
              <a:endParaRPr/>
            </a:p>
          </p:txBody>
        </p:sp>
        <p:sp>
          <p:nvSpPr>
            <p:cNvPr id="285" name="object 285"/>
            <p:cNvSpPr/>
            <p:nvPr/>
          </p:nvSpPr>
          <p:spPr>
            <a:xfrm>
              <a:off x="8582065" y="5158226"/>
              <a:ext cx="210820" cy="0"/>
            </a:xfrm>
            <a:custGeom>
              <a:avLst/>
              <a:gdLst/>
              <a:ahLst/>
              <a:cxnLst/>
              <a:rect l="l" t="t" r="r" b="b"/>
              <a:pathLst>
                <a:path w="210820">
                  <a:moveTo>
                    <a:pt x="210240" y="0"/>
                  </a:moveTo>
                  <a:lnTo>
                    <a:pt x="0" y="1"/>
                  </a:lnTo>
                </a:path>
              </a:pathLst>
            </a:custGeom>
            <a:ln w="25400">
              <a:solidFill>
                <a:srgbClr val="4472C4"/>
              </a:solidFill>
            </a:ln>
          </p:spPr>
          <p:txBody>
            <a:bodyPr wrap="square" lIns="0" tIns="0" rIns="0" bIns="0" rtlCol="0"/>
            <a:lstStyle/>
            <a:p>
              <a:endParaRPr/>
            </a:p>
          </p:txBody>
        </p:sp>
        <p:pic>
          <p:nvPicPr>
            <p:cNvPr id="286" name="object 286"/>
            <p:cNvPicPr/>
            <p:nvPr/>
          </p:nvPicPr>
          <p:blipFill>
            <a:blip r:embed="rId78" cstate="print"/>
            <a:stretch>
              <a:fillRect/>
            </a:stretch>
          </p:blipFill>
          <p:spPr>
            <a:xfrm>
              <a:off x="8772144" y="5565647"/>
              <a:ext cx="426720" cy="457200"/>
            </a:xfrm>
            <a:prstGeom prst="rect">
              <a:avLst/>
            </a:prstGeom>
          </p:spPr>
        </p:pic>
        <p:pic>
          <p:nvPicPr>
            <p:cNvPr id="287" name="object 287"/>
            <p:cNvPicPr/>
            <p:nvPr/>
          </p:nvPicPr>
          <p:blipFill>
            <a:blip r:embed="rId54" cstate="print"/>
            <a:stretch>
              <a:fillRect/>
            </a:stretch>
          </p:blipFill>
          <p:spPr>
            <a:xfrm>
              <a:off x="8781288" y="5580887"/>
              <a:ext cx="411479" cy="484632"/>
            </a:xfrm>
            <a:prstGeom prst="rect">
              <a:avLst/>
            </a:prstGeom>
          </p:spPr>
        </p:pic>
        <p:sp>
          <p:nvSpPr>
            <p:cNvPr id="288" name="object 288"/>
            <p:cNvSpPr/>
            <p:nvPr/>
          </p:nvSpPr>
          <p:spPr>
            <a:xfrm>
              <a:off x="8804290" y="5598008"/>
              <a:ext cx="309880" cy="339725"/>
            </a:xfrm>
            <a:custGeom>
              <a:avLst/>
              <a:gdLst/>
              <a:ahLst/>
              <a:cxnLst/>
              <a:rect l="l" t="t" r="r" b="b"/>
              <a:pathLst>
                <a:path w="309879" h="339725">
                  <a:moveTo>
                    <a:pt x="0" y="169824"/>
                  </a:moveTo>
                  <a:lnTo>
                    <a:pt x="5525" y="124678"/>
                  </a:lnTo>
                  <a:lnTo>
                    <a:pt x="21120" y="84110"/>
                  </a:lnTo>
                  <a:lnTo>
                    <a:pt x="45310" y="49740"/>
                  </a:lnTo>
                  <a:lnTo>
                    <a:pt x="76619" y="23185"/>
                  </a:lnTo>
                  <a:lnTo>
                    <a:pt x="113573" y="6066"/>
                  </a:lnTo>
                  <a:lnTo>
                    <a:pt x="154699" y="0"/>
                  </a:lnTo>
                  <a:lnTo>
                    <a:pt x="195824" y="6066"/>
                  </a:lnTo>
                  <a:lnTo>
                    <a:pt x="232778" y="23185"/>
                  </a:lnTo>
                  <a:lnTo>
                    <a:pt x="264087" y="49740"/>
                  </a:lnTo>
                  <a:lnTo>
                    <a:pt x="288277" y="84110"/>
                  </a:lnTo>
                  <a:lnTo>
                    <a:pt x="303872" y="124678"/>
                  </a:lnTo>
                  <a:lnTo>
                    <a:pt x="309398" y="169824"/>
                  </a:lnTo>
                  <a:lnTo>
                    <a:pt x="303872" y="214969"/>
                  </a:lnTo>
                  <a:lnTo>
                    <a:pt x="288277" y="255537"/>
                  </a:lnTo>
                  <a:lnTo>
                    <a:pt x="264087" y="289907"/>
                  </a:lnTo>
                  <a:lnTo>
                    <a:pt x="232778" y="316462"/>
                  </a:lnTo>
                  <a:lnTo>
                    <a:pt x="195824" y="333581"/>
                  </a:lnTo>
                  <a:lnTo>
                    <a:pt x="154699" y="339648"/>
                  </a:lnTo>
                  <a:lnTo>
                    <a:pt x="113573" y="333581"/>
                  </a:lnTo>
                  <a:lnTo>
                    <a:pt x="76619" y="316462"/>
                  </a:lnTo>
                  <a:lnTo>
                    <a:pt x="45310" y="289907"/>
                  </a:lnTo>
                  <a:lnTo>
                    <a:pt x="21120" y="255537"/>
                  </a:lnTo>
                  <a:lnTo>
                    <a:pt x="5525" y="214969"/>
                  </a:lnTo>
                  <a:lnTo>
                    <a:pt x="0" y="169824"/>
                  </a:lnTo>
                  <a:close/>
                </a:path>
              </a:pathLst>
            </a:custGeom>
            <a:ln w="12700">
              <a:solidFill>
                <a:srgbClr val="2F528F"/>
              </a:solidFill>
            </a:ln>
          </p:spPr>
          <p:txBody>
            <a:bodyPr wrap="square" lIns="0" tIns="0" rIns="0" bIns="0" rtlCol="0"/>
            <a:lstStyle/>
            <a:p>
              <a:endParaRPr/>
            </a:p>
          </p:txBody>
        </p:sp>
      </p:grpSp>
      <p:sp>
        <p:nvSpPr>
          <p:cNvPr id="289" name="object 289"/>
          <p:cNvSpPr txBox="1"/>
          <p:nvPr/>
        </p:nvSpPr>
        <p:spPr>
          <a:xfrm>
            <a:off x="8901045" y="5637276"/>
            <a:ext cx="115570" cy="238760"/>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C00000"/>
                </a:solidFill>
                <a:latin typeface="Calibri"/>
                <a:cs typeface="Calibri"/>
              </a:rPr>
              <a:t>1</a:t>
            </a:r>
            <a:endParaRPr sz="1400">
              <a:latin typeface="Calibri"/>
              <a:cs typeface="Calibri"/>
            </a:endParaRPr>
          </a:p>
        </p:txBody>
      </p:sp>
      <p:sp>
        <p:nvSpPr>
          <p:cNvPr id="290" name="object 290"/>
          <p:cNvSpPr/>
          <p:nvPr/>
        </p:nvSpPr>
        <p:spPr>
          <a:xfrm>
            <a:off x="8577297" y="5767832"/>
            <a:ext cx="210820" cy="0"/>
          </a:xfrm>
          <a:custGeom>
            <a:avLst/>
            <a:gdLst/>
            <a:ahLst/>
            <a:cxnLst/>
            <a:rect l="l" t="t" r="r" b="b"/>
            <a:pathLst>
              <a:path w="210820">
                <a:moveTo>
                  <a:pt x="210240" y="0"/>
                </a:moveTo>
                <a:lnTo>
                  <a:pt x="0" y="1"/>
                </a:lnTo>
              </a:path>
            </a:pathLst>
          </a:custGeom>
          <a:ln w="25400">
            <a:solidFill>
              <a:srgbClr val="4472C4"/>
            </a:solidFill>
          </a:ln>
        </p:spPr>
        <p:txBody>
          <a:bodyPr wrap="square" lIns="0" tIns="0" rIns="0" bIns="0" rtlCol="0"/>
          <a:lstStyle/>
          <a:p>
            <a:endParaRPr/>
          </a:p>
        </p:txBody>
      </p:sp>
      <p:sp>
        <p:nvSpPr>
          <p:cNvPr id="291" name="object 291"/>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Matrix Arrangement </a:t>
            </a:r>
            <a:r>
              <a:rPr lang="en-US" b="1" u="sng" spc="114" dirty="0">
                <a:solidFill>
                  <a:srgbClr val="FF0000"/>
                </a:solidFill>
              </a:rPr>
              <a:t>example </a:t>
            </a:r>
            <a:r>
              <a:rPr sz="1950" spc="-10" dirty="0"/>
              <a:t>(2/5)</a:t>
            </a:r>
            <a:endParaRPr sz="1950" dirty="0"/>
          </a:p>
        </p:txBody>
      </p:sp>
      <p:pic>
        <p:nvPicPr>
          <p:cNvPr id="292" name="Picture 291">
            <a:extLst>
              <a:ext uri="{FF2B5EF4-FFF2-40B4-BE49-F238E27FC236}">
                <a16:creationId xmlns:a16="http://schemas.microsoft.com/office/drawing/2014/main" id="{E3FD491A-4214-C02F-68FA-EC9EDDB80FF0}"/>
              </a:ext>
            </a:extLst>
          </p:cNvPr>
          <p:cNvPicPr>
            <a:picLocks noChangeAspect="1" noChangeArrowheads="1"/>
          </p:cNvPicPr>
          <p:nvPr/>
        </p:nvPicPr>
        <p:blipFill>
          <a:blip r:embed="rId79"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E4B4E-B67A-4EBC-BC96-9ADB1087B2ED}"/>
              </a:ext>
            </a:extLst>
          </p:cNvPr>
          <p:cNvSpPr>
            <a:spLocks noGrp="1"/>
          </p:cNvSpPr>
          <p:nvPr>
            <p:ph type="title"/>
          </p:nvPr>
        </p:nvSpPr>
        <p:spPr/>
        <p:txBody>
          <a:bodyPr/>
          <a:lstStyle/>
          <a:p>
            <a:r>
              <a:rPr lang="en-US" b="1" u="sng" spc="114" dirty="0">
                <a:solidFill>
                  <a:srgbClr val="FF0000"/>
                </a:solidFill>
              </a:rPr>
              <a:t>Matrix Arrangement example</a:t>
            </a:r>
            <a:r>
              <a:rPr lang="en-US" sz="1950" spc="-10" dirty="0"/>
              <a:t>(2/5)</a:t>
            </a:r>
            <a:endParaRPr lang="en-US" dirty="0"/>
          </a:p>
        </p:txBody>
      </p:sp>
      <p:sp>
        <p:nvSpPr>
          <p:cNvPr id="3" name="Text Placeholder 2">
            <a:extLst>
              <a:ext uri="{FF2B5EF4-FFF2-40B4-BE49-F238E27FC236}">
                <a16:creationId xmlns:a16="http://schemas.microsoft.com/office/drawing/2014/main" id="{A3DA0332-7EDA-46FA-A072-8C6613ECF4B1}"/>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68B98DE0-2F40-43F9-9C2E-AB3051232D87}"/>
              </a:ext>
            </a:extLst>
          </p:cNvPr>
          <p:cNvPicPr>
            <a:picLocks noChangeAspect="1"/>
          </p:cNvPicPr>
          <p:nvPr/>
        </p:nvPicPr>
        <p:blipFill>
          <a:blip r:embed="rId3"/>
          <a:stretch>
            <a:fillRect/>
          </a:stretch>
        </p:blipFill>
        <p:spPr>
          <a:xfrm>
            <a:off x="652461" y="1642745"/>
            <a:ext cx="9863139" cy="4953142"/>
          </a:xfrm>
          <a:prstGeom prst="rect">
            <a:avLst/>
          </a:prstGeom>
        </p:spPr>
      </p:pic>
      <p:pic>
        <p:nvPicPr>
          <p:cNvPr id="4" name="Picture 3">
            <a:extLst>
              <a:ext uri="{FF2B5EF4-FFF2-40B4-BE49-F238E27FC236}">
                <a16:creationId xmlns:a16="http://schemas.microsoft.com/office/drawing/2014/main" id="{747624DB-54EF-3046-8D63-2DF58C7A9B1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7766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446275"/>
            <a:ext cx="10632440" cy="5298440"/>
          </a:xfrm>
          <a:prstGeom prst="rect">
            <a:avLst/>
          </a:prstGeom>
        </p:spPr>
        <p:txBody>
          <a:bodyPr vert="horz" wrap="square" lIns="0" tIns="100965" rIns="0" bIns="0" rtlCol="0">
            <a:spAutoFit/>
          </a:bodyPr>
          <a:lstStyle/>
          <a:p>
            <a:pPr marL="241300" indent="-228600" algn="just">
              <a:lnSpc>
                <a:spcPct val="100000"/>
              </a:lnSpc>
              <a:spcBef>
                <a:spcPts val="795"/>
              </a:spcBef>
              <a:buFont typeface="Arial MT"/>
              <a:buChar char="•"/>
              <a:tabLst>
                <a:tab pos="241300" algn="l"/>
              </a:tabLst>
            </a:pPr>
            <a:r>
              <a:rPr sz="2600" b="1" u="heavy" spc="-10" dirty="0">
                <a:solidFill>
                  <a:srgbClr val="C00000"/>
                </a:solidFill>
                <a:uFill>
                  <a:solidFill>
                    <a:srgbClr val="C00000"/>
                  </a:solidFill>
                </a:uFill>
                <a:latin typeface="Calibri"/>
                <a:cs typeface="Calibri"/>
              </a:rPr>
              <a:t>Advantages</a:t>
            </a:r>
            <a:endParaRPr sz="2600">
              <a:latin typeface="Calibri"/>
              <a:cs typeface="Calibri"/>
            </a:endParaRPr>
          </a:p>
          <a:p>
            <a:pPr marL="508000" marR="5080" lvl="1" indent="-300355" algn="just">
              <a:lnSpc>
                <a:spcPct val="90800"/>
              </a:lnSpc>
              <a:spcBef>
                <a:spcPts val="985"/>
              </a:spcBef>
              <a:buAutoNum type="arabicPeriod"/>
              <a:tabLst>
                <a:tab pos="509270" algn="l"/>
              </a:tabLst>
            </a:pPr>
            <a:r>
              <a:rPr sz="2600" b="1" spc="-10" dirty="0">
                <a:latin typeface="Calibri"/>
                <a:cs typeface="Calibri"/>
              </a:rPr>
              <a:t>Efficient:</a:t>
            </a:r>
            <a:r>
              <a:rPr sz="2600" b="1" spc="-50" dirty="0">
                <a:latin typeface="Calibri"/>
                <a:cs typeface="Calibri"/>
              </a:rPr>
              <a:t> </a:t>
            </a:r>
            <a:r>
              <a:rPr sz="2600" spc="-10" dirty="0">
                <a:latin typeface="Calibri"/>
                <a:cs typeface="Calibri"/>
              </a:rPr>
              <a:t>Resources</a:t>
            </a:r>
            <a:r>
              <a:rPr sz="2600" spc="-50" dirty="0">
                <a:latin typeface="Calibri"/>
                <a:cs typeface="Calibri"/>
              </a:rPr>
              <a:t> </a:t>
            </a:r>
            <a:r>
              <a:rPr sz="2600" dirty="0">
                <a:latin typeface="Calibri"/>
                <a:cs typeface="Calibri"/>
              </a:rPr>
              <a:t>can</a:t>
            </a:r>
            <a:r>
              <a:rPr sz="2600" spc="-45" dirty="0">
                <a:latin typeface="Calibri"/>
                <a:cs typeface="Calibri"/>
              </a:rPr>
              <a:t> </a:t>
            </a:r>
            <a:r>
              <a:rPr sz="2600" dirty="0">
                <a:latin typeface="Calibri"/>
                <a:cs typeface="Calibri"/>
              </a:rPr>
              <a:t>be</a:t>
            </a:r>
            <a:r>
              <a:rPr sz="2600" spc="-50" dirty="0">
                <a:latin typeface="Calibri"/>
                <a:cs typeface="Calibri"/>
              </a:rPr>
              <a:t> </a:t>
            </a:r>
            <a:r>
              <a:rPr sz="2600" dirty="0">
                <a:latin typeface="Calibri"/>
                <a:cs typeface="Calibri"/>
              </a:rPr>
              <a:t>shared</a:t>
            </a:r>
            <a:r>
              <a:rPr sz="2600" spc="-45" dirty="0">
                <a:latin typeface="Calibri"/>
                <a:cs typeface="Calibri"/>
              </a:rPr>
              <a:t> </a:t>
            </a:r>
            <a:r>
              <a:rPr sz="2600" dirty="0">
                <a:latin typeface="Calibri"/>
                <a:cs typeface="Calibri"/>
              </a:rPr>
              <a:t>across</a:t>
            </a:r>
            <a:r>
              <a:rPr sz="2600" spc="-50" dirty="0">
                <a:latin typeface="Calibri"/>
                <a:cs typeface="Calibri"/>
              </a:rPr>
              <a:t> </a:t>
            </a:r>
            <a:r>
              <a:rPr sz="2600" dirty="0">
                <a:latin typeface="Calibri"/>
                <a:cs typeface="Calibri"/>
              </a:rPr>
              <a:t>multiple</a:t>
            </a:r>
            <a:r>
              <a:rPr sz="2600" spc="-50" dirty="0">
                <a:latin typeface="Calibri"/>
                <a:cs typeface="Calibri"/>
              </a:rPr>
              <a:t> </a:t>
            </a:r>
            <a:r>
              <a:rPr sz="2600" dirty="0">
                <a:latin typeface="Calibri"/>
                <a:cs typeface="Calibri"/>
              </a:rPr>
              <a:t>projects</a:t>
            </a:r>
            <a:r>
              <a:rPr sz="2600" spc="-50" dirty="0">
                <a:latin typeface="Calibri"/>
                <a:cs typeface="Calibri"/>
              </a:rPr>
              <a:t> </a:t>
            </a:r>
            <a:r>
              <a:rPr sz="2600" dirty="0">
                <a:latin typeface="Calibri"/>
                <a:cs typeface="Calibri"/>
              </a:rPr>
              <a:t>as</a:t>
            </a:r>
            <a:r>
              <a:rPr sz="2600" spc="-45" dirty="0">
                <a:latin typeface="Calibri"/>
                <a:cs typeface="Calibri"/>
              </a:rPr>
              <a:t> </a:t>
            </a:r>
            <a:r>
              <a:rPr sz="2600" dirty="0">
                <a:latin typeface="Calibri"/>
                <a:cs typeface="Calibri"/>
              </a:rPr>
              <a:t>well</a:t>
            </a:r>
            <a:r>
              <a:rPr sz="2600" spc="-40" dirty="0">
                <a:latin typeface="Calibri"/>
                <a:cs typeface="Calibri"/>
              </a:rPr>
              <a:t> </a:t>
            </a:r>
            <a:r>
              <a:rPr sz="2600" dirty="0">
                <a:latin typeface="Calibri"/>
                <a:cs typeface="Calibri"/>
              </a:rPr>
              <a:t>as</a:t>
            </a:r>
            <a:r>
              <a:rPr sz="2600" spc="-45" dirty="0">
                <a:latin typeface="Calibri"/>
                <a:cs typeface="Calibri"/>
              </a:rPr>
              <a:t> </a:t>
            </a:r>
            <a:r>
              <a:rPr sz="2600" spc="-10" dirty="0">
                <a:latin typeface="Calibri"/>
                <a:cs typeface="Calibri"/>
              </a:rPr>
              <a:t>within 	</a:t>
            </a:r>
            <a:r>
              <a:rPr sz="2600" dirty="0">
                <a:latin typeface="Calibri"/>
                <a:cs typeface="Calibri"/>
              </a:rPr>
              <a:t>functional</a:t>
            </a:r>
            <a:r>
              <a:rPr sz="2600" spc="610" dirty="0">
                <a:latin typeface="Calibri"/>
                <a:cs typeface="Calibri"/>
              </a:rPr>
              <a:t> </a:t>
            </a:r>
            <a:r>
              <a:rPr sz="2600" dirty="0">
                <a:latin typeface="Calibri"/>
                <a:cs typeface="Calibri"/>
              </a:rPr>
              <a:t>divisions.</a:t>
            </a:r>
            <a:r>
              <a:rPr sz="2600" spc="615" dirty="0">
                <a:latin typeface="Calibri"/>
                <a:cs typeface="Calibri"/>
              </a:rPr>
              <a:t> </a:t>
            </a:r>
            <a:r>
              <a:rPr sz="2600" dirty="0">
                <a:latin typeface="Calibri"/>
                <a:cs typeface="Calibri"/>
              </a:rPr>
              <a:t>Individuals</a:t>
            </a:r>
            <a:r>
              <a:rPr sz="2600" spc="600" dirty="0">
                <a:latin typeface="Calibri"/>
                <a:cs typeface="Calibri"/>
              </a:rPr>
              <a:t> </a:t>
            </a:r>
            <a:r>
              <a:rPr sz="2600" dirty="0">
                <a:latin typeface="Calibri"/>
                <a:cs typeface="Calibri"/>
              </a:rPr>
              <a:t>can</a:t>
            </a:r>
            <a:r>
              <a:rPr sz="2600" spc="605" dirty="0">
                <a:latin typeface="Calibri"/>
                <a:cs typeface="Calibri"/>
              </a:rPr>
              <a:t> </a:t>
            </a:r>
            <a:r>
              <a:rPr sz="2600" dirty="0">
                <a:latin typeface="Calibri"/>
                <a:cs typeface="Calibri"/>
              </a:rPr>
              <a:t>divide</a:t>
            </a:r>
            <a:r>
              <a:rPr sz="2600" spc="600" dirty="0">
                <a:latin typeface="Calibri"/>
                <a:cs typeface="Calibri"/>
              </a:rPr>
              <a:t> </a:t>
            </a:r>
            <a:r>
              <a:rPr sz="2600" dirty="0">
                <a:latin typeface="Calibri"/>
                <a:cs typeface="Calibri"/>
              </a:rPr>
              <a:t>their</a:t>
            </a:r>
            <a:r>
              <a:rPr sz="2600" spc="615" dirty="0">
                <a:latin typeface="Calibri"/>
                <a:cs typeface="Calibri"/>
              </a:rPr>
              <a:t> </a:t>
            </a:r>
            <a:r>
              <a:rPr sz="2600" dirty="0">
                <a:latin typeface="Calibri"/>
                <a:cs typeface="Calibri"/>
              </a:rPr>
              <a:t>energy</a:t>
            </a:r>
            <a:r>
              <a:rPr sz="2600" spc="605" dirty="0">
                <a:latin typeface="Calibri"/>
                <a:cs typeface="Calibri"/>
              </a:rPr>
              <a:t> </a:t>
            </a:r>
            <a:r>
              <a:rPr sz="2600" dirty="0">
                <a:latin typeface="Calibri"/>
                <a:cs typeface="Calibri"/>
              </a:rPr>
              <a:t>across</a:t>
            </a:r>
            <a:r>
              <a:rPr sz="2600" spc="605" dirty="0">
                <a:latin typeface="Calibri"/>
                <a:cs typeface="Calibri"/>
              </a:rPr>
              <a:t> </a:t>
            </a:r>
            <a:r>
              <a:rPr sz="2600" spc="-10" dirty="0">
                <a:latin typeface="Calibri"/>
                <a:cs typeface="Calibri"/>
              </a:rPr>
              <a:t>multiple 	</a:t>
            </a:r>
            <a:r>
              <a:rPr sz="2600" dirty="0">
                <a:latin typeface="Calibri"/>
                <a:cs typeface="Calibri"/>
              </a:rPr>
              <a:t>projects</a:t>
            </a:r>
            <a:r>
              <a:rPr sz="2600" spc="434" dirty="0">
                <a:latin typeface="Calibri"/>
                <a:cs typeface="Calibri"/>
              </a:rPr>
              <a:t> </a:t>
            </a:r>
            <a:r>
              <a:rPr sz="2600" dirty="0">
                <a:latin typeface="Calibri"/>
                <a:cs typeface="Calibri"/>
              </a:rPr>
              <a:t>on</a:t>
            </a:r>
            <a:r>
              <a:rPr sz="2600" spc="440" dirty="0">
                <a:latin typeface="Calibri"/>
                <a:cs typeface="Calibri"/>
              </a:rPr>
              <a:t> </a:t>
            </a:r>
            <a:r>
              <a:rPr sz="2600" dirty="0">
                <a:latin typeface="Calibri"/>
                <a:cs typeface="Calibri"/>
              </a:rPr>
              <a:t>an</a:t>
            </a:r>
            <a:r>
              <a:rPr sz="2600" spc="440" dirty="0">
                <a:latin typeface="Calibri"/>
                <a:cs typeface="Calibri"/>
              </a:rPr>
              <a:t> </a:t>
            </a:r>
            <a:r>
              <a:rPr sz="2600" spc="-10" dirty="0">
                <a:latin typeface="Calibri"/>
                <a:cs typeface="Calibri"/>
              </a:rPr>
              <a:t>as-</a:t>
            </a:r>
            <a:r>
              <a:rPr sz="2600" dirty="0">
                <a:latin typeface="Calibri"/>
                <a:cs typeface="Calibri"/>
              </a:rPr>
              <a:t>needed</a:t>
            </a:r>
            <a:r>
              <a:rPr sz="2600" spc="440" dirty="0">
                <a:latin typeface="Calibri"/>
                <a:cs typeface="Calibri"/>
              </a:rPr>
              <a:t> </a:t>
            </a:r>
            <a:r>
              <a:rPr sz="2600" dirty="0">
                <a:latin typeface="Calibri"/>
                <a:cs typeface="Calibri"/>
              </a:rPr>
              <a:t>basis.</a:t>
            </a:r>
            <a:r>
              <a:rPr sz="2600" spc="450" dirty="0">
                <a:latin typeface="Calibri"/>
                <a:cs typeface="Calibri"/>
              </a:rPr>
              <a:t> </a:t>
            </a:r>
            <a:r>
              <a:rPr sz="2600" dirty="0">
                <a:latin typeface="Calibri"/>
                <a:cs typeface="Calibri"/>
              </a:rPr>
              <a:t>This</a:t>
            </a:r>
            <a:r>
              <a:rPr sz="2600" spc="440" dirty="0">
                <a:latin typeface="Calibri"/>
                <a:cs typeface="Calibri"/>
              </a:rPr>
              <a:t> </a:t>
            </a:r>
            <a:r>
              <a:rPr sz="2600" dirty="0">
                <a:latin typeface="Calibri"/>
                <a:cs typeface="Calibri"/>
              </a:rPr>
              <a:t>reduces</a:t>
            </a:r>
            <a:r>
              <a:rPr sz="2600" spc="440" dirty="0">
                <a:latin typeface="Calibri"/>
                <a:cs typeface="Calibri"/>
              </a:rPr>
              <a:t> </a:t>
            </a:r>
            <a:r>
              <a:rPr sz="2600" dirty="0">
                <a:latin typeface="Calibri"/>
                <a:cs typeface="Calibri"/>
              </a:rPr>
              <a:t>duplication</a:t>
            </a:r>
            <a:r>
              <a:rPr sz="2600" spc="440" dirty="0">
                <a:latin typeface="Calibri"/>
                <a:cs typeface="Calibri"/>
              </a:rPr>
              <a:t> </a:t>
            </a:r>
            <a:r>
              <a:rPr sz="2600" dirty="0">
                <a:latin typeface="Calibri"/>
                <a:cs typeface="Calibri"/>
              </a:rPr>
              <a:t>as</a:t>
            </a:r>
            <a:r>
              <a:rPr sz="2600" spc="445" dirty="0">
                <a:latin typeface="Calibri"/>
                <a:cs typeface="Calibri"/>
              </a:rPr>
              <a:t> </a:t>
            </a:r>
            <a:r>
              <a:rPr sz="2600" dirty="0">
                <a:latin typeface="Calibri"/>
                <a:cs typeface="Calibri"/>
              </a:rPr>
              <a:t>opposed</a:t>
            </a:r>
            <a:r>
              <a:rPr sz="2600" spc="440" dirty="0">
                <a:latin typeface="Calibri"/>
                <a:cs typeface="Calibri"/>
              </a:rPr>
              <a:t> </a:t>
            </a:r>
            <a:r>
              <a:rPr sz="2600" spc="-25" dirty="0">
                <a:latin typeface="Calibri"/>
                <a:cs typeface="Calibri"/>
              </a:rPr>
              <a:t>to 	</a:t>
            </a:r>
            <a:r>
              <a:rPr sz="2600" dirty="0">
                <a:latin typeface="Calibri"/>
                <a:cs typeface="Calibri"/>
              </a:rPr>
              <a:t>dedicated</a:t>
            </a:r>
            <a:r>
              <a:rPr sz="2600" spc="-135" dirty="0">
                <a:latin typeface="Calibri"/>
                <a:cs typeface="Calibri"/>
              </a:rPr>
              <a:t> </a:t>
            </a:r>
            <a:r>
              <a:rPr sz="2600" dirty="0">
                <a:latin typeface="Calibri"/>
                <a:cs typeface="Calibri"/>
              </a:rPr>
              <a:t>project</a:t>
            </a:r>
            <a:r>
              <a:rPr sz="2600" spc="-125" dirty="0">
                <a:latin typeface="Calibri"/>
                <a:cs typeface="Calibri"/>
              </a:rPr>
              <a:t> </a:t>
            </a:r>
            <a:r>
              <a:rPr sz="2600" spc="-10" dirty="0">
                <a:latin typeface="Calibri"/>
                <a:cs typeface="Calibri"/>
              </a:rPr>
              <a:t>teams.</a:t>
            </a:r>
            <a:endParaRPr sz="2600">
              <a:latin typeface="Calibri"/>
              <a:cs typeface="Calibri"/>
            </a:endParaRPr>
          </a:p>
          <a:p>
            <a:pPr marL="508000" marR="6350" lvl="1" indent="-300355" algn="just">
              <a:lnSpc>
                <a:spcPts val="2810"/>
              </a:lnSpc>
              <a:spcBef>
                <a:spcPts val="1019"/>
              </a:spcBef>
              <a:buAutoNum type="arabicPeriod"/>
              <a:tabLst>
                <a:tab pos="509270" algn="l"/>
              </a:tabLst>
            </a:pPr>
            <a:r>
              <a:rPr sz="2600" b="1" dirty="0">
                <a:latin typeface="Calibri"/>
                <a:cs typeface="Calibri"/>
              </a:rPr>
              <a:t>Strong</a:t>
            </a:r>
            <a:r>
              <a:rPr sz="2600" b="1" spc="509" dirty="0">
                <a:latin typeface="Calibri"/>
                <a:cs typeface="Calibri"/>
              </a:rPr>
              <a:t> </a:t>
            </a:r>
            <a:r>
              <a:rPr sz="2600" b="1" dirty="0">
                <a:latin typeface="Calibri"/>
                <a:cs typeface="Calibri"/>
              </a:rPr>
              <a:t>Project</a:t>
            </a:r>
            <a:r>
              <a:rPr sz="2600" b="1" spc="505" dirty="0">
                <a:latin typeface="Calibri"/>
                <a:cs typeface="Calibri"/>
              </a:rPr>
              <a:t> </a:t>
            </a:r>
            <a:r>
              <a:rPr sz="2600" b="1" dirty="0">
                <a:latin typeface="Calibri"/>
                <a:cs typeface="Calibri"/>
              </a:rPr>
              <a:t>Focus:</a:t>
            </a:r>
            <a:r>
              <a:rPr sz="2600" b="1" spc="505" dirty="0">
                <a:latin typeface="Calibri"/>
                <a:cs typeface="Calibri"/>
              </a:rPr>
              <a:t> </a:t>
            </a:r>
            <a:r>
              <a:rPr sz="2600" dirty="0">
                <a:solidFill>
                  <a:srgbClr val="262EA4"/>
                </a:solidFill>
                <a:latin typeface="Calibri"/>
                <a:cs typeface="Calibri"/>
              </a:rPr>
              <a:t>A</a:t>
            </a:r>
            <a:r>
              <a:rPr sz="2600" spc="500" dirty="0">
                <a:solidFill>
                  <a:srgbClr val="262EA4"/>
                </a:solidFill>
                <a:latin typeface="Calibri"/>
                <a:cs typeface="Calibri"/>
              </a:rPr>
              <a:t> </a:t>
            </a:r>
            <a:r>
              <a:rPr sz="2600" dirty="0">
                <a:solidFill>
                  <a:srgbClr val="262EA4"/>
                </a:solidFill>
                <a:latin typeface="Calibri"/>
                <a:cs typeface="Calibri"/>
              </a:rPr>
              <a:t>stronger</a:t>
            </a:r>
            <a:r>
              <a:rPr sz="2600" spc="515" dirty="0">
                <a:solidFill>
                  <a:srgbClr val="262EA4"/>
                </a:solidFill>
                <a:latin typeface="Calibri"/>
                <a:cs typeface="Calibri"/>
              </a:rPr>
              <a:t> </a:t>
            </a:r>
            <a:r>
              <a:rPr sz="2600" dirty="0">
                <a:solidFill>
                  <a:srgbClr val="262EA4"/>
                </a:solidFill>
                <a:latin typeface="Calibri"/>
                <a:cs typeface="Calibri"/>
              </a:rPr>
              <a:t>project</a:t>
            </a:r>
            <a:r>
              <a:rPr sz="2600" spc="509" dirty="0">
                <a:solidFill>
                  <a:srgbClr val="262EA4"/>
                </a:solidFill>
                <a:latin typeface="Calibri"/>
                <a:cs typeface="Calibri"/>
              </a:rPr>
              <a:t> </a:t>
            </a:r>
            <a:r>
              <a:rPr sz="2600" dirty="0">
                <a:solidFill>
                  <a:srgbClr val="262EA4"/>
                </a:solidFill>
                <a:latin typeface="Calibri"/>
                <a:cs typeface="Calibri"/>
              </a:rPr>
              <a:t>focus</a:t>
            </a:r>
            <a:r>
              <a:rPr sz="2600" spc="505" dirty="0">
                <a:solidFill>
                  <a:srgbClr val="262EA4"/>
                </a:solidFill>
                <a:latin typeface="Calibri"/>
                <a:cs typeface="Calibri"/>
              </a:rPr>
              <a:t> </a:t>
            </a:r>
            <a:r>
              <a:rPr sz="2600" dirty="0">
                <a:solidFill>
                  <a:srgbClr val="262EA4"/>
                </a:solidFill>
                <a:latin typeface="Calibri"/>
                <a:cs typeface="Calibri"/>
              </a:rPr>
              <a:t>is</a:t>
            </a:r>
            <a:r>
              <a:rPr sz="2600" spc="505" dirty="0">
                <a:solidFill>
                  <a:srgbClr val="262EA4"/>
                </a:solidFill>
                <a:latin typeface="Calibri"/>
                <a:cs typeface="Calibri"/>
              </a:rPr>
              <a:t> </a:t>
            </a:r>
            <a:r>
              <a:rPr sz="2600" dirty="0">
                <a:solidFill>
                  <a:srgbClr val="262EA4"/>
                </a:solidFill>
                <a:latin typeface="Calibri"/>
                <a:cs typeface="Calibri"/>
              </a:rPr>
              <a:t>provided</a:t>
            </a:r>
            <a:r>
              <a:rPr sz="2600" spc="495" dirty="0">
                <a:solidFill>
                  <a:srgbClr val="262EA4"/>
                </a:solidFill>
                <a:latin typeface="Calibri"/>
                <a:cs typeface="Calibri"/>
              </a:rPr>
              <a:t> </a:t>
            </a:r>
            <a:r>
              <a:rPr sz="2600" dirty="0">
                <a:solidFill>
                  <a:srgbClr val="262EA4"/>
                </a:solidFill>
                <a:latin typeface="Calibri"/>
                <a:cs typeface="Calibri"/>
              </a:rPr>
              <a:t>by</a:t>
            </a:r>
            <a:r>
              <a:rPr sz="2600" spc="505" dirty="0">
                <a:solidFill>
                  <a:srgbClr val="262EA4"/>
                </a:solidFill>
                <a:latin typeface="Calibri"/>
                <a:cs typeface="Calibri"/>
              </a:rPr>
              <a:t> </a:t>
            </a:r>
            <a:r>
              <a:rPr sz="2600" dirty="0">
                <a:solidFill>
                  <a:srgbClr val="262EA4"/>
                </a:solidFill>
                <a:latin typeface="Calibri"/>
                <a:cs typeface="Calibri"/>
              </a:rPr>
              <a:t>having</a:t>
            </a:r>
            <a:r>
              <a:rPr sz="2600" spc="509" dirty="0">
                <a:solidFill>
                  <a:srgbClr val="262EA4"/>
                </a:solidFill>
                <a:latin typeface="Calibri"/>
                <a:cs typeface="Calibri"/>
              </a:rPr>
              <a:t> </a:t>
            </a:r>
            <a:r>
              <a:rPr sz="2600" spc="-50" dirty="0">
                <a:solidFill>
                  <a:srgbClr val="262EA4"/>
                </a:solidFill>
                <a:latin typeface="Calibri"/>
                <a:cs typeface="Calibri"/>
              </a:rPr>
              <a:t>a 	</a:t>
            </a:r>
            <a:r>
              <a:rPr sz="2600" dirty="0">
                <a:solidFill>
                  <a:srgbClr val="262EA4"/>
                </a:solidFill>
                <a:latin typeface="Calibri"/>
                <a:cs typeface="Calibri"/>
              </a:rPr>
              <a:t>formally</a:t>
            </a:r>
            <a:r>
              <a:rPr sz="2600" spc="290" dirty="0">
                <a:solidFill>
                  <a:srgbClr val="262EA4"/>
                </a:solidFill>
                <a:latin typeface="Calibri"/>
                <a:cs typeface="Calibri"/>
              </a:rPr>
              <a:t> </a:t>
            </a:r>
            <a:r>
              <a:rPr sz="2600" dirty="0">
                <a:solidFill>
                  <a:srgbClr val="262EA4"/>
                </a:solidFill>
                <a:latin typeface="Calibri"/>
                <a:cs typeface="Calibri"/>
              </a:rPr>
              <a:t>designated</a:t>
            </a:r>
            <a:r>
              <a:rPr sz="2600" spc="290" dirty="0">
                <a:solidFill>
                  <a:srgbClr val="262EA4"/>
                </a:solidFill>
                <a:latin typeface="Calibri"/>
                <a:cs typeface="Calibri"/>
              </a:rPr>
              <a:t> </a:t>
            </a:r>
            <a:r>
              <a:rPr sz="2600" dirty="0">
                <a:solidFill>
                  <a:srgbClr val="262EA4"/>
                </a:solidFill>
                <a:latin typeface="Calibri"/>
                <a:cs typeface="Calibri"/>
              </a:rPr>
              <a:t>project</a:t>
            </a:r>
            <a:r>
              <a:rPr sz="2600" spc="295" dirty="0">
                <a:solidFill>
                  <a:srgbClr val="262EA4"/>
                </a:solidFill>
                <a:latin typeface="Calibri"/>
                <a:cs typeface="Calibri"/>
              </a:rPr>
              <a:t> </a:t>
            </a:r>
            <a:r>
              <a:rPr sz="2600" dirty="0">
                <a:solidFill>
                  <a:srgbClr val="262EA4"/>
                </a:solidFill>
                <a:latin typeface="Calibri"/>
                <a:cs typeface="Calibri"/>
              </a:rPr>
              <a:t>manager</a:t>
            </a:r>
            <a:r>
              <a:rPr sz="2600" spc="295" dirty="0">
                <a:solidFill>
                  <a:srgbClr val="262EA4"/>
                </a:solidFill>
                <a:latin typeface="Calibri"/>
                <a:cs typeface="Calibri"/>
              </a:rPr>
              <a:t> </a:t>
            </a:r>
            <a:r>
              <a:rPr sz="2600" dirty="0">
                <a:solidFill>
                  <a:srgbClr val="262EA4"/>
                </a:solidFill>
                <a:latin typeface="Calibri"/>
                <a:cs typeface="Calibri"/>
              </a:rPr>
              <a:t>who</a:t>
            </a:r>
            <a:r>
              <a:rPr sz="2600" spc="295" dirty="0">
                <a:solidFill>
                  <a:srgbClr val="262EA4"/>
                </a:solidFill>
                <a:latin typeface="Calibri"/>
                <a:cs typeface="Calibri"/>
              </a:rPr>
              <a:t> </a:t>
            </a:r>
            <a:r>
              <a:rPr sz="2600" dirty="0">
                <a:solidFill>
                  <a:srgbClr val="262EA4"/>
                </a:solidFill>
                <a:latin typeface="Calibri"/>
                <a:cs typeface="Calibri"/>
              </a:rPr>
              <a:t>is</a:t>
            </a:r>
            <a:r>
              <a:rPr sz="2600" spc="290" dirty="0">
                <a:solidFill>
                  <a:srgbClr val="262EA4"/>
                </a:solidFill>
                <a:latin typeface="Calibri"/>
                <a:cs typeface="Calibri"/>
              </a:rPr>
              <a:t> </a:t>
            </a:r>
            <a:r>
              <a:rPr sz="2600" dirty="0">
                <a:solidFill>
                  <a:srgbClr val="262EA4"/>
                </a:solidFill>
                <a:latin typeface="Calibri"/>
                <a:cs typeface="Calibri"/>
              </a:rPr>
              <a:t>responsible</a:t>
            </a:r>
            <a:r>
              <a:rPr sz="2600" spc="290" dirty="0">
                <a:solidFill>
                  <a:srgbClr val="262EA4"/>
                </a:solidFill>
                <a:latin typeface="Calibri"/>
                <a:cs typeface="Calibri"/>
              </a:rPr>
              <a:t> </a:t>
            </a:r>
            <a:r>
              <a:rPr sz="2600" dirty="0">
                <a:solidFill>
                  <a:srgbClr val="262EA4"/>
                </a:solidFill>
                <a:latin typeface="Calibri"/>
                <a:cs typeface="Calibri"/>
              </a:rPr>
              <a:t>for</a:t>
            </a:r>
            <a:r>
              <a:rPr sz="2600" spc="300" dirty="0">
                <a:solidFill>
                  <a:srgbClr val="262EA4"/>
                </a:solidFill>
                <a:latin typeface="Calibri"/>
                <a:cs typeface="Calibri"/>
              </a:rPr>
              <a:t> </a:t>
            </a:r>
            <a:r>
              <a:rPr sz="2600" spc="-10" dirty="0">
                <a:solidFill>
                  <a:srgbClr val="262EA4"/>
                </a:solidFill>
                <a:latin typeface="Calibri"/>
                <a:cs typeface="Calibri"/>
              </a:rPr>
              <a:t>coordinating 	</a:t>
            </a:r>
            <a:r>
              <a:rPr sz="2600" dirty="0">
                <a:solidFill>
                  <a:srgbClr val="262EA4"/>
                </a:solidFill>
                <a:latin typeface="Calibri"/>
                <a:cs typeface="Calibri"/>
              </a:rPr>
              <a:t>and</a:t>
            </a:r>
            <a:r>
              <a:rPr sz="2600" spc="-65" dirty="0">
                <a:solidFill>
                  <a:srgbClr val="262EA4"/>
                </a:solidFill>
                <a:latin typeface="Calibri"/>
                <a:cs typeface="Calibri"/>
              </a:rPr>
              <a:t> </a:t>
            </a:r>
            <a:r>
              <a:rPr sz="2600" spc="-10" dirty="0">
                <a:solidFill>
                  <a:srgbClr val="262EA4"/>
                </a:solidFill>
                <a:latin typeface="Calibri"/>
                <a:cs typeface="Calibri"/>
              </a:rPr>
              <a:t>integrating</a:t>
            </a:r>
            <a:r>
              <a:rPr sz="2600" spc="-55" dirty="0">
                <a:solidFill>
                  <a:srgbClr val="262EA4"/>
                </a:solidFill>
                <a:latin typeface="Calibri"/>
                <a:cs typeface="Calibri"/>
              </a:rPr>
              <a:t> </a:t>
            </a:r>
            <a:r>
              <a:rPr sz="2600" spc="-10" dirty="0">
                <a:solidFill>
                  <a:srgbClr val="262EA4"/>
                </a:solidFill>
                <a:latin typeface="Calibri"/>
                <a:cs typeface="Calibri"/>
              </a:rPr>
              <a:t>contributions</a:t>
            </a:r>
            <a:r>
              <a:rPr sz="2600" spc="-60" dirty="0">
                <a:solidFill>
                  <a:srgbClr val="262EA4"/>
                </a:solidFill>
                <a:latin typeface="Calibri"/>
                <a:cs typeface="Calibri"/>
              </a:rPr>
              <a:t> </a:t>
            </a:r>
            <a:r>
              <a:rPr sz="2600" dirty="0">
                <a:solidFill>
                  <a:srgbClr val="262EA4"/>
                </a:solidFill>
                <a:latin typeface="Calibri"/>
                <a:cs typeface="Calibri"/>
              </a:rPr>
              <a:t>of</a:t>
            </a:r>
            <a:r>
              <a:rPr sz="2600" spc="-65" dirty="0">
                <a:solidFill>
                  <a:srgbClr val="262EA4"/>
                </a:solidFill>
                <a:latin typeface="Calibri"/>
                <a:cs typeface="Calibri"/>
              </a:rPr>
              <a:t> </a:t>
            </a:r>
            <a:r>
              <a:rPr sz="2600" spc="-10" dirty="0">
                <a:solidFill>
                  <a:srgbClr val="262EA4"/>
                </a:solidFill>
                <a:latin typeface="Calibri"/>
                <a:cs typeface="Calibri"/>
              </a:rPr>
              <a:t>different</a:t>
            </a:r>
            <a:r>
              <a:rPr sz="2600" spc="-55" dirty="0">
                <a:solidFill>
                  <a:srgbClr val="262EA4"/>
                </a:solidFill>
                <a:latin typeface="Calibri"/>
                <a:cs typeface="Calibri"/>
              </a:rPr>
              <a:t> </a:t>
            </a:r>
            <a:r>
              <a:rPr sz="2600" spc="-10" dirty="0">
                <a:solidFill>
                  <a:srgbClr val="262EA4"/>
                </a:solidFill>
                <a:latin typeface="Calibri"/>
                <a:cs typeface="Calibri"/>
              </a:rPr>
              <a:t>units.</a:t>
            </a:r>
            <a:endParaRPr sz="2600">
              <a:latin typeface="Calibri"/>
              <a:cs typeface="Calibri"/>
            </a:endParaRPr>
          </a:p>
          <a:p>
            <a:pPr marL="508000" marR="5080" lvl="1" indent="-300355" algn="just">
              <a:lnSpc>
                <a:spcPct val="89600"/>
              </a:lnSpc>
              <a:spcBef>
                <a:spcPts val="950"/>
              </a:spcBef>
              <a:buAutoNum type="arabicPeriod"/>
              <a:tabLst>
                <a:tab pos="509270" algn="l"/>
              </a:tabLst>
            </a:pPr>
            <a:r>
              <a:rPr sz="2600" b="1" dirty="0">
                <a:latin typeface="Calibri"/>
                <a:cs typeface="Calibri"/>
              </a:rPr>
              <a:t>Easier</a:t>
            </a:r>
            <a:r>
              <a:rPr sz="2600" b="1" spc="45" dirty="0">
                <a:latin typeface="Calibri"/>
                <a:cs typeface="Calibri"/>
              </a:rPr>
              <a:t> </a:t>
            </a:r>
            <a:r>
              <a:rPr sz="2600" b="1" spc="-45" dirty="0">
                <a:latin typeface="Calibri"/>
                <a:cs typeface="Calibri"/>
              </a:rPr>
              <a:t>Post-</a:t>
            </a:r>
            <a:r>
              <a:rPr sz="2600" b="1" dirty="0">
                <a:latin typeface="Calibri"/>
                <a:cs typeface="Calibri"/>
              </a:rPr>
              <a:t>Project</a:t>
            </a:r>
            <a:r>
              <a:rPr sz="2600" b="1" spc="45" dirty="0">
                <a:latin typeface="Calibri"/>
                <a:cs typeface="Calibri"/>
              </a:rPr>
              <a:t> </a:t>
            </a:r>
            <a:r>
              <a:rPr sz="2600" b="1" spc="-10" dirty="0">
                <a:latin typeface="Calibri"/>
                <a:cs typeface="Calibri"/>
              </a:rPr>
              <a:t>Transition:</a:t>
            </a:r>
            <a:r>
              <a:rPr sz="2600" b="1" spc="40" dirty="0">
                <a:latin typeface="Calibri"/>
                <a:cs typeface="Calibri"/>
              </a:rPr>
              <a:t> </a:t>
            </a:r>
            <a:r>
              <a:rPr sz="2600" dirty="0">
                <a:latin typeface="Calibri"/>
                <a:cs typeface="Calibri"/>
              </a:rPr>
              <a:t>Because</a:t>
            </a:r>
            <a:r>
              <a:rPr sz="2600" spc="35" dirty="0">
                <a:latin typeface="Calibri"/>
                <a:cs typeface="Calibri"/>
              </a:rPr>
              <a:t> </a:t>
            </a:r>
            <a:r>
              <a:rPr sz="2600" dirty="0">
                <a:latin typeface="Calibri"/>
                <a:cs typeface="Calibri"/>
              </a:rPr>
              <a:t>the</a:t>
            </a:r>
            <a:r>
              <a:rPr sz="2600" spc="45" dirty="0">
                <a:latin typeface="Calibri"/>
                <a:cs typeface="Calibri"/>
              </a:rPr>
              <a:t> </a:t>
            </a:r>
            <a:r>
              <a:rPr sz="2600" dirty="0">
                <a:latin typeface="Calibri"/>
                <a:cs typeface="Calibri"/>
              </a:rPr>
              <a:t>project</a:t>
            </a:r>
            <a:r>
              <a:rPr sz="2600" spc="45" dirty="0">
                <a:latin typeface="Calibri"/>
                <a:cs typeface="Calibri"/>
              </a:rPr>
              <a:t> </a:t>
            </a:r>
            <a:r>
              <a:rPr sz="2600" spc="-10" dirty="0">
                <a:latin typeface="Calibri"/>
                <a:cs typeface="Calibri"/>
              </a:rPr>
              <a:t>organization</a:t>
            </a:r>
            <a:r>
              <a:rPr sz="2600" spc="45" dirty="0">
                <a:latin typeface="Calibri"/>
                <a:cs typeface="Calibri"/>
              </a:rPr>
              <a:t> </a:t>
            </a:r>
            <a:r>
              <a:rPr sz="2600" dirty="0">
                <a:latin typeface="Calibri"/>
                <a:cs typeface="Calibri"/>
              </a:rPr>
              <a:t>is</a:t>
            </a:r>
            <a:r>
              <a:rPr sz="2600" spc="40" dirty="0">
                <a:latin typeface="Calibri"/>
                <a:cs typeface="Calibri"/>
              </a:rPr>
              <a:t> </a:t>
            </a:r>
            <a:r>
              <a:rPr sz="2600" spc="-10" dirty="0">
                <a:latin typeface="Calibri"/>
                <a:cs typeface="Calibri"/>
              </a:rPr>
              <a:t>overlaid 	</a:t>
            </a:r>
            <a:r>
              <a:rPr sz="2600" dirty="0">
                <a:latin typeface="Calibri"/>
                <a:cs typeface="Calibri"/>
              </a:rPr>
              <a:t>on</a:t>
            </a:r>
            <a:r>
              <a:rPr sz="2600" spc="305" dirty="0">
                <a:latin typeface="Calibri"/>
                <a:cs typeface="Calibri"/>
              </a:rPr>
              <a:t> </a:t>
            </a:r>
            <a:r>
              <a:rPr sz="2600" dirty="0">
                <a:latin typeface="Calibri"/>
                <a:cs typeface="Calibri"/>
              </a:rPr>
              <a:t>the</a:t>
            </a:r>
            <a:r>
              <a:rPr sz="2600" spc="305" dirty="0">
                <a:latin typeface="Calibri"/>
                <a:cs typeface="Calibri"/>
              </a:rPr>
              <a:t> </a:t>
            </a:r>
            <a:r>
              <a:rPr sz="2600" dirty="0">
                <a:latin typeface="Calibri"/>
                <a:cs typeface="Calibri"/>
              </a:rPr>
              <a:t>functional</a:t>
            </a:r>
            <a:r>
              <a:rPr sz="2600" spc="320" dirty="0">
                <a:latin typeface="Calibri"/>
                <a:cs typeface="Calibri"/>
              </a:rPr>
              <a:t> </a:t>
            </a:r>
            <a:r>
              <a:rPr sz="2600" dirty="0">
                <a:latin typeface="Calibri"/>
                <a:cs typeface="Calibri"/>
              </a:rPr>
              <a:t>divisions,</a:t>
            </a:r>
            <a:r>
              <a:rPr sz="2600" spc="310" dirty="0">
                <a:latin typeface="Calibri"/>
                <a:cs typeface="Calibri"/>
              </a:rPr>
              <a:t> </a:t>
            </a:r>
            <a:r>
              <a:rPr sz="2600" dirty="0">
                <a:latin typeface="Calibri"/>
                <a:cs typeface="Calibri"/>
              </a:rPr>
              <a:t>specialists</a:t>
            </a:r>
            <a:r>
              <a:rPr sz="2600" spc="315" dirty="0">
                <a:latin typeface="Calibri"/>
                <a:cs typeface="Calibri"/>
              </a:rPr>
              <a:t> </a:t>
            </a:r>
            <a:r>
              <a:rPr sz="2600" dirty="0">
                <a:latin typeface="Calibri"/>
                <a:cs typeface="Calibri"/>
              </a:rPr>
              <a:t>maintain</a:t>
            </a:r>
            <a:r>
              <a:rPr sz="2600" spc="305" dirty="0">
                <a:latin typeface="Calibri"/>
                <a:cs typeface="Calibri"/>
              </a:rPr>
              <a:t> </a:t>
            </a:r>
            <a:r>
              <a:rPr sz="2600" dirty="0">
                <a:latin typeface="Calibri"/>
                <a:cs typeface="Calibri"/>
              </a:rPr>
              <a:t>ties</a:t>
            </a:r>
            <a:r>
              <a:rPr sz="2600" spc="310" dirty="0">
                <a:latin typeface="Calibri"/>
                <a:cs typeface="Calibri"/>
              </a:rPr>
              <a:t> </a:t>
            </a:r>
            <a:r>
              <a:rPr sz="2600" dirty="0">
                <a:latin typeface="Calibri"/>
                <a:cs typeface="Calibri"/>
              </a:rPr>
              <a:t>with</a:t>
            </a:r>
            <a:r>
              <a:rPr sz="2600" spc="310" dirty="0">
                <a:latin typeface="Calibri"/>
                <a:cs typeface="Calibri"/>
              </a:rPr>
              <a:t> </a:t>
            </a:r>
            <a:r>
              <a:rPr sz="2600" dirty="0">
                <a:latin typeface="Calibri"/>
                <a:cs typeface="Calibri"/>
              </a:rPr>
              <a:t>their</a:t>
            </a:r>
            <a:r>
              <a:rPr sz="2600" spc="315" dirty="0">
                <a:latin typeface="Calibri"/>
                <a:cs typeface="Calibri"/>
              </a:rPr>
              <a:t> </a:t>
            </a:r>
            <a:r>
              <a:rPr sz="2600" spc="-10" dirty="0">
                <a:latin typeface="Calibri"/>
                <a:cs typeface="Calibri"/>
              </a:rPr>
              <a:t>functional 	</a:t>
            </a:r>
            <a:r>
              <a:rPr sz="2600" dirty="0">
                <a:latin typeface="Calibri"/>
                <a:cs typeface="Calibri"/>
              </a:rPr>
              <a:t>group,</a:t>
            </a:r>
            <a:r>
              <a:rPr sz="2600" spc="-65" dirty="0">
                <a:latin typeface="Calibri"/>
                <a:cs typeface="Calibri"/>
              </a:rPr>
              <a:t> </a:t>
            </a:r>
            <a:r>
              <a:rPr sz="2600" dirty="0">
                <a:latin typeface="Calibri"/>
                <a:cs typeface="Calibri"/>
              </a:rPr>
              <a:t>so</a:t>
            </a:r>
            <a:r>
              <a:rPr sz="2600" spc="-55" dirty="0">
                <a:latin typeface="Calibri"/>
                <a:cs typeface="Calibri"/>
              </a:rPr>
              <a:t> </a:t>
            </a:r>
            <a:r>
              <a:rPr sz="2600" dirty="0">
                <a:latin typeface="Calibri"/>
                <a:cs typeface="Calibri"/>
              </a:rPr>
              <a:t>they</a:t>
            </a:r>
            <a:r>
              <a:rPr sz="2600" spc="-55" dirty="0">
                <a:latin typeface="Calibri"/>
                <a:cs typeface="Calibri"/>
              </a:rPr>
              <a:t> </a:t>
            </a:r>
            <a:r>
              <a:rPr sz="2600" dirty="0">
                <a:latin typeface="Calibri"/>
                <a:cs typeface="Calibri"/>
              </a:rPr>
              <a:t>have</a:t>
            </a:r>
            <a:r>
              <a:rPr sz="2600" spc="-65" dirty="0">
                <a:latin typeface="Calibri"/>
                <a:cs typeface="Calibri"/>
              </a:rPr>
              <a:t> </a:t>
            </a:r>
            <a:r>
              <a:rPr sz="2600" dirty="0">
                <a:latin typeface="Calibri"/>
                <a:cs typeface="Calibri"/>
              </a:rPr>
              <a:t>a</a:t>
            </a:r>
            <a:r>
              <a:rPr sz="2600" spc="-60" dirty="0">
                <a:latin typeface="Calibri"/>
                <a:cs typeface="Calibri"/>
              </a:rPr>
              <a:t> </a:t>
            </a:r>
            <a:r>
              <a:rPr sz="2600" dirty="0">
                <a:latin typeface="Calibri"/>
                <a:cs typeface="Calibri"/>
              </a:rPr>
              <a:t>homeport</a:t>
            </a:r>
            <a:r>
              <a:rPr sz="2600" spc="-55" dirty="0">
                <a:latin typeface="Calibri"/>
                <a:cs typeface="Calibri"/>
              </a:rPr>
              <a:t> </a:t>
            </a:r>
            <a:r>
              <a:rPr sz="2600" dirty="0">
                <a:latin typeface="Calibri"/>
                <a:cs typeface="Calibri"/>
              </a:rPr>
              <a:t>to</a:t>
            </a:r>
            <a:r>
              <a:rPr sz="2600" spc="-55" dirty="0">
                <a:latin typeface="Calibri"/>
                <a:cs typeface="Calibri"/>
              </a:rPr>
              <a:t> </a:t>
            </a:r>
            <a:r>
              <a:rPr sz="2600" dirty="0">
                <a:latin typeface="Calibri"/>
                <a:cs typeface="Calibri"/>
              </a:rPr>
              <a:t>return</a:t>
            </a:r>
            <a:r>
              <a:rPr sz="2600" spc="-60" dirty="0">
                <a:latin typeface="Calibri"/>
                <a:cs typeface="Calibri"/>
              </a:rPr>
              <a:t> </a:t>
            </a:r>
            <a:r>
              <a:rPr sz="2600" dirty="0">
                <a:latin typeface="Calibri"/>
                <a:cs typeface="Calibri"/>
              </a:rPr>
              <a:t>to</a:t>
            </a:r>
            <a:r>
              <a:rPr sz="2600" spc="-55" dirty="0">
                <a:latin typeface="Calibri"/>
                <a:cs typeface="Calibri"/>
              </a:rPr>
              <a:t> </a:t>
            </a:r>
            <a:r>
              <a:rPr sz="2600" dirty="0">
                <a:latin typeface="Calibri"/>
                <a:cs typeface="Calibri"/>
              </a:rPr>
              <a:t>once</a:t>
            </a:r>
            <a:r>
              <a:rPr sz="2600" spc="-65" dirty="0">
                <a:latin typeface="Calibri"/>
                <a:cs typeface="Calibri"/>
              </a:rPr>
              <a:t> </a:t>
            </a:r>
            <a:r>
              <a:rPr sz="2600" dirty="0">
                <a:latin typeface="Calibri"/>
                <a:cs typeface="Calibri"/>
              </a:rPr>
              <a:t>the</a:t>
            </a:r>
            <a:r>
              <a:rPr sz="2600" spc="-60" dirty="0">
                <a:latin typeface="Calibri"/>
                <a:cs typeface="Calibri"/>
              </a:rPr>
              <a:t> </a:t>
            </a:r>
            <a:r>
              <a:rPr sz="2600" dirty="0">
                <a:latin typeface="Calibri"/>
                <a:cs typeface="Calibri"/>
              </a:rPr>
              <a:t>project</a:t>
            </a:r>
            <a:r>
              <a:rPr sz="2600" spc="-55" dirty="0">
                <a:latin typeface="Calibri"/>
                <a:cs typeface="Calibri"/>
              </a:rPr>
              <a:t> </a:t>
            </a:r>
            <a:r>
              <a:rPr sz="2600" dirty="0">
                <a:latin typeface="Calibri"/>
                <a:cs typeface="Calibri"/>
              </a:rPr>
              <a:t>is</a:t>
            </a:r>
            <a:r>
              <a:rPr sz="2600" spc="-65" dirty="0">
                <a:latin typeface="Calibri"/>
                <a:cs typeface="Calibri"/>
              </a:rPr>
              <a:t> </a:t>
            </a:r>
            <a:r>
              <a:rPr sz="2600" spc="-10" dirty="0">
                <a:latin typeface="Calibri"/>
                <a:cs typeface="Calibri"/>
              </a:rPr>
              <a:t>completed.</a:t>
            </a:r>
            <a:endParaRPr sz="2600">
              <a:latin typeface="Calibri"/>
              <a:cs typeface="Calibri"/>
            </a:endParaRPr>
          </a:p>
          <a:p>
            <a:pPr marL="508000" marR="5080" lvl="1" indent="-300355" algn="just">
              <a:lnSpc>
                <a:spcPts val="2780"/>
              </a:lnSpc>
              <a:spcBef>
                <a:spcPts val="1075"/>
              </a:spcBef>
              <a:buAutoNum type="arabicPeriod"/>
              <a:tabLst>
                <a:tab pos="509270" algn="l"/>
              </a:tabLst>
            </a:pPr>
            <a:r>
              <a:rPr sz="2600" b="1" dirty="0">
                <a:latin typeface="Calibri"/>
                <a:cs typeface="Calibri"/>
              </a:rPr>
              <a:t>Flexible:</a:t>
            </a:r>
            <a:r>
              <a:rPr sz="2600" b="1" spc="235" dirty="0">
                <a:latin typeface="Calibri"/>
                <a:cs typeface="Calibri"/>
              </a:rPr>
              <a:t> </a:t>
            </a:r>
            <a:r>
              <a:rPr sz="2600" dirty="0">
                <a:solidFill>
                  <a:srgbClr val="262EA4"/>
                </a:solidFill>
                <a:latin typeface="Calibri"/>
                <a:cs typeface="Calibri"/>
              </a:rPr>
              <a:t>Matrix</a:t>
            </a:r>
            <a:r>
              <a:rPr sz="2600" spc="235" dirty="0">
                <a:solidFill>
                  <a:srgbClr val="262EA4"/>
                </a:solidFill>
                <a:latin typeface="Calibri"/>
                <a:cs typeface="Calibri"/>
              </a:rPr>
              <a:t> </a:t>
            </a:r>
            <a:r>
              <a:rPr sz="2600" dirty="0">
                <a:solidFill>
                  <a:srgbClr val="262EA4"/>
                </a:solidFill>
                <a:latin typeface="Calibri"/>
                <a:cs typeface="Calibri"/>
              </a:rPr>
              <a:t>arrangements</a:t>
            </a:r>
            <a:r>
              <a:rPr sz="2600" spc="245" dirty="0">
                <a:solidFill>
                  <a:srgbClr val="262EA4"/>
                </a:solidFill>
                <a:latin typeface="Calibri"/>
                <a:cs typeface="Calibri"/>
              </a:rPr>
              <a:t> </a:t>
            </a:r>
            <a:r>
              <a:rPr sz="2600" dirty="0">
                <a:solidFill>
                  <a:srgbClr val="262EA4"/>
                </a:solidFill>
                <a:latin typeface="Calibri"/>
                <a:cs typeface="Calibri"/>
              </a:rPr>
              <a:t>provide</a:t>
            </a:r>
            <a:r>
              <a:rPr sz="2600" spc="229" dirty="0">
                <a:solidFill>
                  <a:srgbClr val="262EA4"/>
                </a:solidFill>
                <a:latin typeface="Calibri"/>
                <a:cs typeface="Calibri"/>
              </a:rPr>
              <a:t> </a:t>
            </a:r>
            <a:r>
              <a:rPr sz="2600" dirty="0">
                <a:solidFill>
                  <a:srgbClr val="262EA4"/>
                </a:solidFill>
                <a:latin typeface="Calibri"/>
                <a:cs typeface="Calibri"/>
              </a:rPr>
              <a:t>for</a:t>
            </a:r>
            <a:r>
              <a:rPr sz="2600" spc="250" dirty="0">
                <a:solidFill>
                  <a:srgbClr val="262EA4"/>
                </a:solidFill>
                <a:latin typeface="Calibri"/>
                <a:cs typeface="Calibri"/>
              </a:rPr>
              <a:t> </a:t>
            </a:r>
            <a:r>
              <a:rPr sz="2600" dirty="0">
                <a:solidFill>
                  <a:srgbClr val="262EA4"/>
                </a:solidFill>
                <a:latin typeface="Calibri"/>
                <a:cs typeface="Calibri"/>
              </a:rPr>
              <a:t>flexible</a:t>
            </a:r>
            <a:r>
              <a:rPr sz="2600" spc="235" dirty="0">
                <a:solidFill>
                  <a:srgbClr val="262EA4"/>
                </a:solidFill>
                <a:latin typeface="Calibri"/>
                <a:cs typeface="Calibri"/>
              </a:rPr>
              <a:t> </a:t>
            </a:r>
            <a:r>
              <a:rPr sz="2600" dirty="0">
                <a:solidFill>
                  <a:srgbClr val="262EA4"/>
                </a:solidFill>
                <a:latin typeface="Calibri"/>
                <a:cs typeface="Calibri"/>
              </a:rPr>
              <a:t>utilization</a:t>
            </a:r>
            <a:r>
              <a:rPr sz="2600" spc="235" dirty="0">
                <a:solidFill>
                  <a:srgbClr val="262EA4"/>
                </a:solidFill>
                <a:latin typeface="Calibri"/>
                <a:cs typeface="Calibri"/>
              </a:rPr>
              <a:t> </a:t>
            </a:r>
            <a:r>
              <a:rPr sz="2600" dirty="0">
                <a:solidFill>
                  <a:srgbClr val="262EA4"/>
                </a:solidFill>
                <a:latin typeface="Calibri"/>
                <a:cs typeface="Calibri"/>
              </a:rPr>
              <a:t>of</a:t>
            </a:r>
            <a:r>
              <a:rPr sz="2600" spc="235" dirty="0">
                <a:solidFill>
                  <a:srgbClr val="262EA4"/>
                </a:solidFill>
                <a:latin typeface="Calibri"/>
                <a:cs typeface="Calibri"/>
              </a:rPr>
              <a:t> </a:t>
            </a:r>
            <a:r>
              <a:rPr sz="2600" spc="-10" dirty="0">
                <a:solidFill>
                  <a:srgbClr val="262EA4"/>
                </a:solidFill>
                <a:latin typeface="Calibri"/>
                <a:cs typeface="Calibri"/>
              </a:rPr>
              <a:t>resources 	</a:t>
            </a:r>
            <a:r>
              <a:rPr sz="2600" dirty="0">
                <a:solidFill>
                  <a:srgbClr val="262EA4"/>
                </a:solidFill>
                <a:latin typeface="Calibri"/>
                <a:cs typeface="Calibri"/>
              </a:rPr>
              <a:t>and</a:t>
            </a:r>
            <a:r>
              <a:rPr sz="2600" spc="-60" dirty="0">
                <a:solidFill>
                  <a:srgbClr val="262EA4"/>
                </a:solidFill>
                <a:latin typeface="Calibri"/>
                <a:cs typeface="Calibri"/>
              </a:rPr>
              <a:t> </a:t>
            </a:r>
            <a:r>
              <a:rPr sz="2600" dirty="0">
                <a:solidFill>
                  <a:srgbClr val="262EA4"/>
                </a:solidFill>
                <a:latin typeface="Calibri"/>
                <a:cs typeface="Calibri"/>
              </a:rPr>
              <a:t>expertise</a:t>
            </a:r>
            <a:r>
              <a:rPr sz="2600" spc="-60" dirty="0">
                <a:solidFill>
                  <a:srgbClr val="262EA4"/>
                </a:solidFill>
                <a:latin typeface="Calibri"/>
                <a:cs typeface="Calibri"/>
              </a:rPr>
              <a:t> </a:t>
            </a:r>
            <a:r>
              <a:rPr sz="2600" dirty="0">
                <a:solidFill>
                  <a:srgbClr val="262EA4"/>
                </a:solidFill>
                <a:latin typeface="Calibri"/>
                <a:cs typeface="Calibri"/>
              </a:rPr>
              <a:t>within</a:t>
            </a:r>
            <a:r>
              <a:rPr sz="2600" spc="-60" dirty="0">
                <a:solidFill>
                  <a:srgbClr val="262EA4"/>
                </a:solidFill>
                <a:latin typeface="Calibri"/>
                <a:cs typeface="Calibri"/>
              </a:rPr>
              <a:t> </a:t>
            </a:r>
            <a:r>
              <a:rPr sz="2600" dirty="0">
                <a:solidFill>
                  <a:srgbClr val="262EA4"/>
                </a:solidFill>
                <a:latin typeface="Calibri"/>
                <a:cs typeface="Calibri"/>
              </a:rPr>
              <a:t>the</a:t>
            </a:r>
            <a:r>
              <a:rPr sz="2600" spc="-60" dirty="0">
                <a:solidFill>
                  <a:srgbClr val="262EA4"/>
                </a:solidFill>
                <a:latin typeface="Calibri"/>
                <a:cs typeface="Calibri"/>
              </a:rPr>
              <a:t> </a:t>
            </a:r>
            <a:r>
              <a:rPr sz="2600" spc="-10" dirty="0">
                <a:solidFill>
                  <a:srgbClr val="262EA4"/>
                </a:solidFill>
                <a:latin typeface="Calibri"/>
                <a:cs typeface="Calibri"/>
              </a:rPr>
              <a:t>firm.</a:t>
            </a:r>
            <a:endParaRPr sz="2600">
              <a:latin typeface="Calibri"/>
              <a:cs typeface="Calibri"/>
            </a:endParaRPr>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14</a:t>
            </a:r>
            <a:endParaRPr sz="1200">
              <a:latin typeface="Calibri"/>
              <a:cs typeface="Calibri"/>
            </a:endParaRPr>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Matrix Arrangement </a:t>
            </a:r>
            <a:r>
              <a:rPr sz="1950" spc="-10" dirty="0"/>
              <a:t>(3/5)</a:t>
            </a:r>
            <a:endParaRPr sz="1950" dirty="0"/>
          </a:p>
        </p:txBody>
      </p:sp>
      <p:pic>
        <p:nvPicPr>
          <p:cNvPr id="5" name="Picture 4">
            <a:extLst>
              <a:ext uri="{FF2B5EF4-FFF2-40B4-BE49-F238E27FC236}">
                <a16:creationId xmlns:a16="http://schemas.microsoft.com/office/drawing/2014/main" id="{734001AC-AEA0-2AC7-6A7B-6F28FF27DC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413986" rIns="0" bIns="0" rtlCol="0">
            <a:spAutoFit/>
          </a:bodyPr>
          <a:lstStyle/>
          <a:p>
            <a:pPr marL="240665" indent="-227965" algn="just">
              <a:lnSpc>
                <a:spcPct val="100000"/>
              </a:lnSpc>
              <a:spcBef>
                <a:spcPts val="100"/>
              </a:spcBef>
              <a:buFont typeface="Arial MT"/>
              <a:buChar char="•"/>
              <a:tabLst>
                <a:tab pos="240665" algn="l"/>
              </a:tabLst>
            </a:pPr>
            <a:r>
              <a:rPr b="1" u="heavy" spc="-10" dirty="0">
                <a:solidFill>
                  <a:srgbClr val="C00000"/>
                </a:solidFill>
                <a:uFill>
                  <a:solidFill>
                    <a:srgbClr val="C00000"/>
                  </a:solidFill>
                </a:uFill>
                <a:latin typeface="Calibri"/>
                <a:cs typeface="Calibri"/>
              </a:rPr>
              <a:t>Disadvantages</a:t>
            </a:r>
          </a:p>
          <a:p>
            <a:pPr marL="646430" marR="5080" lvl="1" indent="-362585" algn="just">
              <a:lnSpc>
                <a:spcPct val="91500"/>
              </a:lnSpc>
              <a:spcBef>
                <a:spcPts val="390"/>
              </a:spcBef>
              <a:buAutoNum type="arabicPeriod"/>
              <a:tabLst>
                <a:tab pos="647700" algn="l"/>
              </a:tabLst>
            </a:pPr>
            <a:r>
              <a:rPr sz="2600" b="1" dirty="0">
                <a:latin typeface="Calibri"/>
                <a:cs typeface="Calibri"/>
              </a:rPr>
              <a:t>Complex:</a:t>
            </a:r>
            <a:r>
              <a:rPr sz="2600" b="1" spc="365" dirty="0">
                <a:latin typeface="Calibri"/>
                <a:cs typeface="Calibri"/>
              </a:rPr>
              <a:t> </a:t>
            </a:r>
            <a:r>
              <a:rPr sz="2600" dirty="0">
                <a:latin typeface="Calibri"/>
                <a:cs typeface="Calibri"/>
              </a:rPr>
              <a:t>It</a:t>
            </a:r>
            <a:r>
              <a:rPr sz="2600" spc="390" dirty="0">
                <a:latin typeface="Calibri"/>
                <a:cs typeface="Calibri"/>
              </a:rPr>
              <a:t> </a:t>
            </a:r>
            <a:r>
              <a:rPr sz="2600" dirty="0">
                <a:latin typeface="Calibri"/>
                <a:cs typeface="Calibri"/>
              </a:rPr>
              <a:t>is</a:t>
            </a:r>
            <a:r>
              <a:rPr sz="2600" spc="380" dirty="0">
                <a:latin typeface="Calibri"/>
                <a:cs typeface="Calibri"/>
              </a:rPr>
              <a:t> </a:t>
            </a:r>
            <a:r>
              <a:rPr sz="2600" dirty="0">
                <a:latin typeface="Calibri"/>
                <a:cs typeface="Calibri"/>
              </a:rPr>
              <a:t>more</a:t>
            </a:r>
            <a:r>
              <a:rPr sz="2600" spc="375" dirty="0">
                <a:latin typeface="Calibri"/>
                <a:cs typeface="Calibri"/>
              </a:rPr>
              <a:t> </a:t>
            </a:r>
            <a:r>
              <a:rPr sz="2600" dirty="0">
                <a:latin typeface="Calibri"/>
                <a:cs typeface="Calibri"/>
              </a:rPr>
              <a:t>complicated</a:t>
            </a:r>
            <a:r>
              <a:rPr sz="2600" spc="385" dirty="0">
                <a:latin typeface="Calibri"/>
                <a:cs typeface="Calibri"/>
              </a:rPr>
              <a:t> </a:t>
            </a:r>
            <a:r>
              <a:rPr sz="2600" dirty="0">
                <a:latin typeface="Calibri"/>
                <a:cs typeface="Calibri"/>
              </a:rPr>
              <a:t>and</a:t>
            </a:r>
            <a:r>
              <a:rPr sz="2600" spc="385" dirty="0">
                <a:latin typeface="Calibri"/>
                <a:cs typeface="Calibri"/>
              </a:rPr>
              <a:t> </a:t>
            </a:r>
            <a:r>
              <a:rPr sz="2600" dirty="0">
                <a:latin typeface="Calibri"/>
                <a:cs typeface="Calibri"/>
              </a:rPr>
              <a:t>the</a:t>
            </a:r>
            <a:r>
              <a:rPr sz="2600" spc="380" dirty="0">
                <a:latin typeface="Calibri"/>
                <a:cs typeface="Calibri"/>
              </a:rPr>
              <a:t> </a:t>
            </a:r>
            <a:r>
              <a:rPr sz="2600" dirty="0">
                <a:latin typeface="Calibri"/>
                <a:cs typeface="Calibri"/>
              </a:rPr>
              <a:t>creation</a:t>
            </a:r>
            <a:r>
              <a:rPr sz="2600" spc="385" dirty="0">
                <a:latin typeface="Calibri"/>
                <a:cs typeface="Calibri"/>
              </a:rPr>
              <a:t> </a:t>
            </a:r>
            <a:r>
              <a:rPr sz="2600" dirty="0">
                <a:latin typeface="Calibri"/>
                <a:cs typeface="Calibri"/>
              </a:rPr>
              <a:t>of</a:t>
            </a:r>
            <a:r>
              <a:rPr sz="2600" spc="380" dirty="0">
                <a:latin typeface="Calibri"/>
                <a:cs typeface="Calibri"/>
              </a:rPr>
              <a:t> </a:t>
            </a:r>
            <a:r>
              <a:rPr sz="2600" dirty="0">
                <a:latin typeface="Calibri"/>
                <a:cs typeface="Calibri"/>
              </a:rPr>
              <a:t>multiple</a:t>
            </a:r>
            <a:r>
              <a:rPr sz="2600" spc="380" dirty="0">
                <a:latin typeface="Calibri"/>
                <a:cs typeface="Calibri"/>
              </a:rPr>
              <a:t> </a:t>
            </a:r>
            <a:r>
              <a:rPr sz="2600" spc="-10" dirty="0">
                <a:latin typeface="Calibri"/>
                <a:cs typeface="Calibri"/>
              </a:rPr>
              <a:t>bosses 	</a:t>
            </a:r>
            <a:r>
              <a:rPr sz="2600" dirty="0">
                <a:latin typeface="Calibri"/>
                <a:cs typeface="Calibri"/>
              </a:rPr>
              <a:t>represents</a:t>
            </a:r>
            <a:r>
              <a:rPr sz="2600" spc="390" dirty="0">
                <a:latin typeface="Calibri"/>
                <a:cs typeface="Calibri"/>
              </a:rPr>
              <a:t>  </a:t>
            </a:r>
            <a:r>
              <a:rPr sz="2600" dirty="0">
                <a:latin typeface="Calibri"/>
                <a:cs typeface="Calibri"/>
              </a:rPr>
              <a:t>a</a:t>
            </a:r>
            <a:r>
              <a:rPr sz="2600" spc="400" dirty="0">
                <a:latin typeface="Calibri"/>
                <a:cs typeface="Calibri"/>
              </a:rPr>
              <a:t>  </a:t>
            </a:r>
            <a:r>
              <a:rPr sz="2600" dirty="0">
                <a:latin typeface="Calibri"/>
                <a:cs typeface="Calibri"/>
              </a:rPr>
              <a:t>radical</a:t>
            </a:r>
            <a:r>
              <a:rPr sz="2600" spc="395" dirty="0">
                <a:latin typeface="Calibri"/>
                <a:cs typeface="Calibri"/>
              </a:rPr>
              <a:t>  </a:t>
            </a:r>
            <a:r>
              <a:rPr sz="2600" dirty="0">
                <a:latin typeface="Calibri"/>
                <a:cs typeface="Calibri"/>
              </a:rPr>
              <a:t>departure</a:t>
            </a:r>
            <a:r>
              <a:rPr sz="2600" spc="395" dirty="0">
                <a:latin typeface="Calibri"/>
                <a:cs typeface="Calibri"/>
              </a:rPr>
              <a:t>  </a:t>
            </a:r>
            <a:r>
              <a:rPr sz="2600" dirty="0">
                <a:latin typeface="Calibri"/>
                <a:cs typeface="Calibri"/>
              </a:rPr>
              <a:t>from</a:t>
            </a:r>
            <a:r>
              <a:rPr sz="2600" spc="390" dirty="0">
                <a:latin typeface="Calibri"/>
                <a:cs typeface="Calibri"/>
              </a:rPr>
              <a:t>  </a:t>
            </a:r>
            <a:r>
              <a:rPr sz="2600" dirty="0">
                <a:latin typeface="Calibri"/>
                <a:cs typeface="Calibri"/>
              </a:rPr>
              <a:t>the</a:t>
            </a:r>
            <a:r>
              <a:rPr sz="2600" spc="395" dirty="0">
                <a:latin typeface="Calibri"/>
                <a:cs typeface="Calibri"/>
              </a:rPr>
              <a:t>  </a:t>
            </a:r>
            <a:r>
              <a:rPr sz="2600" dirty="0">
                <a:latin typeface="Calibri"/>
                <a:cs typeface="Calibri"/>
              </a:rPr>
              <a:t>traditional</a:t>
            </a:r>
            <a:r>
              <a:rPr sz="2600" spc="400" dirty="0">
                <a:latin typeface="Calibri"/>
                <a:cs typeface="Calibri"/>
              </a:rPr>
              <a:t>  </a:t>
            </a:r>
            <a:r>
              <a:rPr sz="2600" spc="-10" dirty="0">
                <a:latin typeface="Calibri"/>
                <a:cs typeface="Calibri"/>
              </a:rPr>
              <a:t>hierarchical 	</a:t>
            </a:r>
            <a:r>
              <a:rPr sz="2600" dirty="0">
                <a:latin typeface="Calibri"/>
                <a:cs typeface="Calibri"/>
              </a:rPr>
              <a:t>authority</a:t>
            </a:r>
            <a:r>
              <a:rPr sz="2600" spc="-95" dirty="0">
                <a:latin typeface="Calibri"/>
                <a:cs typeface="Calibri"/>
              </a:rPr>
              <a:t> </a:t>
            </a:r>
            <a:r>
              <a:rPr sz="2600" spc="-10" dirty="0">
                <a:latin typeface="Calibri"/>
                <a:cs typeface="Calibri"/>
              </a:rPr>
              <a:t>system.</a:t>
            </a:r>
            <a:endParaRPr sz="2600">
              <a:latin typeface="Calibri"/>
              <a:cs typeface="Calibri"/>
            </a:endParaRPr>
          </a:p>
          <a:p>
            <a:pPr marL="646430" marR="5715" lvl="1" indent="-362585" algn="just">
              <a:lnSpc>
                <a:spcPts val="2810"/>
              </a:lnSpc>
              <a:spcBef>
                <a:spcPts val="520"/>
              </a:spcBef>
              <a:buAutoNum type="arabicPeriod"/>
              <a:tabLst>
                <a:tab pos="647700" algn="l"/>
              </a:tabLst>
            </a:pPr>
            <a:r>
              <a:rPr sz="2600" b="1" dirty="0">
                <a:latin typeface="Calibri"/>
                <a:cs typeface="Calibri"/>
              </a:rPr>
              <a:t>Long</a:t>
            </a:r>
            <a:r>
              <a:rPr sz="2600" b="1" spc="375" dirty="0">
                <a:latin typeface="Calibri"/>
                <a:cs typeface="Calibri"/>
              </a:rPr>
              <a:t> </a:t>
            </a:r>
            <a:r>
              <a:rPr sz="2600" b="1" dirty="0">
                <a:latin typeface="Calibri"/>
                <a:cs typeface="Calibri"/>
              </a:rPr>
              <a:t>time</a:t>
            </a:r>
            <a:r>
              <a:rPr sz="2600" b="1" spc="375" dirty="0">
                <a:latin typeface="Calibri"/>
                <a:cs typeface="Calibri"/>
              </a:rPr>
              <a:t> </a:t>
            </a:r>
            <a:r>
              <a:rPr sz="2600" b="1" dirty="0">
                <a:latin typeface="Calibri"/>
                <a:cs typeface="Calibri"/>
              </a:rPr>
              <a:t>for</a:t>
            </a:r>
            <a:r>
              <a:rPr sz="2600" b="1" spc="375" dirty="0">
                <a:latin typeface="Calibri"/>
                <a:cs typeface="Calibri"/>
              </a:rPr>
              <a:t> </a:t>
            </a:r>
            <a:r>
              <a:rPr sz="2600" b="1" dirty="0">
                <a:latin typeface="Calibri"/>
                <a:cs typeface="Calibri"/>
              </a:rPr>
              <a:t>system</a:t>
            </a:r>
            <a:r>
              <a:rPr sz="2600" b="1" spc="370" dirty="0">
                <a:latin typeface="Calibri"/>
                <a:cs typeface="Calibri"/>
              </a:rPr>
              <a:t> </a:t>
            </a:r>
            <a:r>
              <a:rPr sz="2600" b="1" dirty="0">
                <a:latin typeface="Calibri"/>
                <a:cs typeface="Calibri"/>
              </a:rPr>
              <a:t>implementation:</a:t>
            </a:r>
            <a:r>
              <a:rPr sz="2600" b="1" spc="365" dirty="0">
                <a:latin typeface="Calibri"/>
                <a:cs typeface="Calibri"/>
              </a:rPr>
              <a:t> </a:t>
            </a:r>
            <a:r>
              <a:rPr sz="2600" dirty="0">
                <a:solidFill>
                  <a:srgbClr val="262EA4"/>
                </a:solidFill>
                <a:latin typeface="Calibri"/>
                <a:cs typeface="Calibri"/>
              </a:rPr>
              <a:t>It</a:t>
            </a:r>
            <a:r>
              <a:rPr sz="2600" spc="380" dirty="0">
                <a:solidFill>
                  <a:srgbClr val="262EA4"/>
                </a:solidFill>
                <a:latin typeface="Calibri"/>
                <a:cs typeface="Calibri"/>
              </a:rPr>
              <a:t> </a:t>
            </a:r>
            <a:r>
              <a:rPr sz="2600" dirty="0">
                <a:solidFill>
                  <a:srgbClr val="262EA4"/>
                </a:solidFill>
                <a:latin typeface="Calibri"/>
                <a:cs typeface="Calibri"/>
              </a:rPr>
              <a:t>is</a:t>
            </a:r>
            <a:r>
              <a:rPr sz="2600" spc="365" dirty="0">
                <a:solidFill>
                  <a:srgbClr val="262EA4"/>
                </a:solidFill>
                <a:latin typeface="Calibri"/>
                <a:cs typeface="Calibri"/>
              </a:rPr>
              <a:t> </a:t>
            </a:r>
            <a:r>
              <a:rPr sz="2600" dirty="0">
                <a:solidFill>
                  <a:srgbClr val="262EA4"/>
                </a:solidFill>
                <a:latin typeface="Calibri"/>
                <a:cs typeface="Calibri"/>
              </a:rPr>
              <a:t>said</a:t>
            </a:r>
            <a:r>
              <a:rPr sz="2600" spc="375" dirty="0">
                <a:solidFill>
                  <a:srgbClr val="262EA4"/>
                </a:solidFill>
                <a:latin typeface="Calibri"/>
                <a:cs typeface="Calibri"/>
              </a:rPr>
              <a:t> </a:t>
            </a:r>
            <a:r>
              <a:rPr sz="2600" dirty="0">
                <a:solidFill>
                  <a:srgbClr val="262EA4"/>
                </a:solidFill>
                <a:latin typeface="Calibri"/>
                <a:cs typeface="Calibri"/>
              </a:rPr>
              <a:t>that</a:t>
            </a:r>
            <a:r>
              <a:rPr sz="2600" spc="375" dirty="0">
                <a:solidFill>
                  <a:srgbClr val="262EA4"/>
                </a:solidFill>
                <a:latin typeface="Calibri"/>
                <a:cs typeface="Calibri"/>
              </a:rPr>
              <a:t> </a:t>
            </a:r>
            <a:r>
              <a:rPr sz="2600" dirty="0">
                <a:solidFill>
                  <a:srgbClr val="262EA4"/>
                </a:solidFill>
                <a:latin typeface="Calibri"/>
                <a:cs typeface="Calibri"/>
              </a:rPr>
              <a:t>it</a:t>
            </a:r>
            <a:r>
              <a:rPr sz="2600" spc="375" dirty="0">
                <a:solidFill>
                  <a:srgbClr val="262EA4"/>
                </a:solidFill>
                <a:latin typeface="Calibri"/>
                <a:cs typeface="Calibri"/>
              </a:rPr>
              <a:t> </a:t>
            </a:r>
            <a:r>
              <a:rPr sz="2600" dirty="0">
                <a:solidFill>
                  <a:srgbClr val="262EA4"/>
                </a:solidFill>
                <a:latin typeface="Calibri"/>
                <a:cs typeface="Calibri"/>
              </a:rPr>
              <a:t>takes</a:t>
            </a:r>
            <a:r>
              <a:rPr sz="2600" spc="365" dirty="0">
                <a:solidFill>
                  <a:srgbClr val="262EA4"/>
                </a:solidFill>
                <a:latin typeface="Calibri"/>
                <a:cs typeface="Calibri"/>
              </a:rPr>
              <a:t> </a:t>
            </a:r>
            <a:r>
              <a:rPr sz="2600" dirty="0">
                <a:solidFill>
                  <a:srgbClr val="262EA4"/>
                </a:solidFill>
                <a:latin typeface="Calibri"/>
                <a:cs typeface="Calibri"/>
              </a:rPr>
              <a:t>(3</a:t>
            </a:r>
            <a:r>
              <a:rPr sz="2600" spc="370" dirty="0">
                <a:solidFill>
                  <a:srgbClr val="262EA4"/>
                </a:solidFill>
                <a:latin typeface="Calibri"/>
                <a:cs typeface="Calibri"/>
              </a:rPr>
              <a:t> </a:t>
            </a:r>
            <a:r>
              <a:rPr sz="2600" dirty="0">
                <a:solidFill>
                  <a:srgbClr val="262EA4"/>
                </a:solidFill>
                <a:latin typeface="Calibri"/>
                <a:cs typeface="Calibri"/>
              </a:rPr>
              <a:t>–</a:t>
            </a:r>
            <a:r>
              <a:rPr sz="2600" spc="375" dirty="0">
                <a:solidFill>
                  <a:srgbClr val="262EA4"/>
                </a:solidFill>
                <a:latin typeface="Calibri"/>
                <a:cs typeface="Calibri"/>
              </a:rPr>
              <a:t> </a:t>
            </a:r>
            <a:r>
              <a:rPr sz="2600" spc="-25" dirty="0">
                <a:solidFill>
                  <a:srgbClr val="262EA4"/>
                </a:solidFill>
                <a:latin typeface="Calibri"/>
                <a:cs typeface="Calibri"/>
              </a:rPr>
              <a:t>5) 	</a:t>
            </a:r>
            <a:r>
              <a:rPr sz="2600" dirty="0">
                <a:solidFill>
                  <a:srgbClr val="262EA4"/>
                </a:solidFill>
                <a:latin typeface="Calibri"/>
                <a:cs typeface="Calibri"/>
              </a:rPr>
              <a:t>years</a:t>
            </a:r>
            <a:r>
              <a:rPr sz="2600" spc="-70" dirty="0">
                <a:solidFill>
                  <a:srgbClr val="262EA4"/>
                </a:solidFill>
                <a:latin typeface="Calibri"/>
                <a:cs typeface="Calibri"/>
              </a:rPr>
              <a:t> </a:t>
            </a:r>
            <a:r>
              <a:rPr sz="2600" dirty="0">
                <a:solidFill>
                  <a:srgbClr val="262EA4"/>
                </a:solidFill>
                <a:latin typeface="Calibri"/>
                <a:cs typeface="Calibri"/>
              </a:rPr>
              <a:t>for</a:t>
            </a:r>
            <a:r>
              <a:rPr sz="2600" spc="-60" dirty="0">
                <a:solidFill>
                  <a:srgbClr val="262EA4"/>
                </a:solidFill>
                <a:latin typeface="Calibri"/>
                <a:cs typeface="Calibri"/>
              </a:rPr>
              <a:t> </a:t>
            </a:r>
            <a:r>
              <a:rPr sz="2600" dirty="0">
                <a:solidFill>
                  <a:srgbClr val="262EA4"/>
                </a:solidFill>
                <a:latin typeface="Calibri"/>
                <a:cs typeface="Calibri"/>
              </a:rPr>
              <a:t>a</a:t>
            </a:r>
            <a:r>
              <a:rPr sz="2600" spc="-65" dirty="0">
                <a:solidFill>
                  <a:srgbClr val="262EA4"/>
                </a:solidFill>
                <a:latin typeface="Calibri"/>
                <a:cs typeface="Calibri"/>
              </a:rPr>
              <a:t> </a:t>
            </a:r>
            <a:r>
              <a:rPr sz="2600" dirty="0">
                <a:solidFill>
                  <a:srgbClr val="262EA4"/>
                </a:solidFill>
                <a:latin typeface="Calibri"/>
                <a:cs typeface="Calibri"/>
              </a:rPr>
              <a:t>matrix</a:t>
            </a:r>
            <a:r>
              <a:rPr sz="2600" spc="-65" dirty="0">
                <a:solidFill>
                  <a:srgbClr val="262EA4"/>
                </a:solidFill>
                <a:latin typeface="Calibri"/>
                <a:cs typeface="Calibri"/>
              </a:rPr>
              <a:t> </a:t>
            </a:r>
            <a:r>
              <a:rPr sz="2600" spc="-10" dirty="0">
                <a:solidFill>
                  <a:srgbClr val="262EA4"/>
                </a:solidFill>
                <a:latin typeface="Calibri"/>
                <a:cs typeface="Calibri"/>
              </a:rPr>
              <a:t>system</a:t>
            </a:r>
            <a:r>
              <a:rPr sz="2600" spc="-70" dirty="0">
                <a:solidFill>
                  <a:srgbClr val="262EA4"/>
                </a:solidFill>
                <a:latin typeface="Calibri"/>
                <a:cs typeface="Calibri"/>
              </a:rPr>
              <a:t> </a:t>
            </a:r>
            <a:r>
              <a:rPr sz="2600" dirty="0">
                <a:solidFill>
                  <a:srgbClr val="262EA4"/>
                </a:solidFill>
                <a:latin typeface="Calibri"/>
                <a:cs typeface="Calibri"/>
              </a:rPr>
              <a:t>to</a:t>
            </a:r>
            <a:r>
              <a:rPr sz="2600" spc="-65" dirty="0">
                <a:solidFill>
                  <a:srgbClr val="262EA4"/>
                </a:solidFill>
                <a:latin typeface="Calibri"/>
                <a:cs typeface="Calibri"/>
              </a:rPr>
              <a:t> </a:t>
            </a:r>
            <a:r>
              <a:rPr sz="2600" dirty="0">
                <a:solidFill>
                  <a:srgbClr val="262EA4"/>
                </a:solidFill>
                <a:latin typeface="Calibri"/>
                <a:cs typeface="Calibri"/>
              </a:rPr>
              <a:t>fully</a:t>
            </a:r>
            <a:r>
              <a:rPr sz="2600" spc="-70" dirty="0">
                <a:solidFill>
                  <a:srgbClr val="262EA4"/>
                </a:solidFill>
                <a:latin typeface="Calibri"/>
                <a:cs typeface="Calibri"/>
              </a:rPr>
              <a:t> </a:t>
            </a:r>
            <a:r>
              <a:rPr sz="2600" spc="-10" dirty="0">
                <a:solidFill>
                  <a:srgbClr val="262EA4"/>
                </a:solidFill>
                <a:latin typeface="Calibri"/>
                <a:cs typeface="Calibri"/>
              </a:rPr>
              <a:t>mature.</a:t>
            </a:r>
            <a:endParaRPr sz="2600">
              <a:latin typeface="Calibri"/>
              <a:cs typeface="Calibri"/>
            </a:endParaRPr>
          </a:p>
          <a:p>
            <a:pPr marL="646430" marR="5080" lvl="1" indent="-362585" algn="just">
              <a:lnSpc>
                <a:spcPct val="89700"/>
              </a:lnSpc>
              <a:spcBef>
                <a:spcPts val="445"/>
              </a:spcBef>
              <a:buAutoNum type="arabicPeriod"/>
              <a:tabLst>
                <a:tab pos="647700" algn="l"/>
              </a:tabLst>
            </a:pPr>
            <a:r>
              <a:rPr sz="2600" b="1" dirty="0">
                <a:latin typeface="Calibri"/>
                <a:cs typeface="Calibri"/>
              </a:rPr>
              <a:t>Slow:</a:t>
            </a:r>
            <a:r>
              <a:rPr sz="2600" b="1" spc="270" dirty="0">
                <a:latin typeface="Calibri"/>
                <a:cs typeface="Calibri"/>
              </a:rPr>
              <a:t> </a:t>
            </a:r>
            <a:r>
              <a:rPr sz="2600" dirty="0">
                <a:latin typeface="Calibri"/>
                <a:cs typeface="Calibri"/>
              </a:rPr>
              <a:t>In</a:t>
            </a:r>
            <a:r>
              <a:rPr sz="2600" spc="275" dirty="0">
                <a:latin typeface="Calibri"/>
                <a:cs typeface="Calibri"/>
              </a:rPr>
              <a:t> </a:t>
            </a:r>
            <a:r>
              <a:rPr sz="2600" dirty="0">
                <a:latin typeface="Calibri"/>
                <a:cs typeface="Calibri"/>
              </a:rPr>
              <a:t>theory,</a:t>
            </a:r>
            <a:r>
              <a:rPr sz="2600" spc="280" dirty="0">
                <a:latin typeface="Calibri"/>
                <a:cs typeface="Calibri"/>
              </a:rPr>
              <a:t> </a:t>
            </a:r>
            <a:r>
              <a:rPr sz="2600" dirty="0">
                <a:latin typeface="Calibri"/>
                <a:cs typeface="Calibri"/>
              </a:rPr>
              <a:t>the</a:t>
            </a:r>
            <a:r>
              <a:rPr sz="2600" spc="270" dirty="0">
                <a:latin typeface="Calibri"/>
                <a:cs typeface="Calibri"/>
              </a:rPr>
              <a:t> </a:t>
            </a:r>
            <a:r>
              <a:rPr sz="2600" dirty="0">
                <a:latin typeface="Calibri"/>
                <a:cs typeface="Calibri"/>
              </a:rPr>
              <a:t>presence</a:t>
            </a:r>
            <a:r>
              <a:rPr sz="2600" spc="270" dirty="0">
                <a:latin typeface="Calibri"/>
                <a:cs typeface="Calibri"/>
              </a:rPr>
              <a:t> </a:t>
            </a:r>
            <a:r>
              <a:rPr sz="2600" dirty="0">
                <a:latin typeface="Calibri"/>
                <a:cs typeface="Calibri"/>
              </a:rPr>
              <a:t>of</a:t>
            </a:r>
            <a:r>
              <a:rPr sz="2600" spc="275" dirty="0">
                <a:latin typeface="Calibri"/>
                <a:cs typeface="Calibri"/>
              </a:rPr>
              <a:t> </a:t>
            </a:r>
            <a:r>
              <a:rPr sz="2600" dirty="0">
                <a:latin typeface="Calibri"/>
                <a:cs typeface="Calibri"/>
              </a:rPr>
              <a:t>a</a:t>
            </a:r>
            <a:r>
              <a:rPr sz="2600" spc="280" dirty="0">
                <a:latin typeface="Calibri"/>
                <a:cs typeface="Calibri"/>
              </a:rPr>
              <a:t> </a:t>
            </a:r>
            <a:r>
              <a:rPr sz="2600" dirty="0">
                <a:latin typeface="Calibri"/>
                <a:cs typeface="Calibri"/>
              </a:rPr>
              <a:t>project</a:t>
            </a:r>
            <a:r>
              <a:rPr sz="2600" spc="280" dirty="0">
                <a:latin typeface="Calibri"/>
                <a:cs typeface="Calibri"/>
              </a:rPr>
              <a:t> </a:t>
            </a:r>
            <a:r>
              <a:rPr sz="2600" dirty="0">
                <a:latin typeface="Calibri"/>
                <a:cs typeface="Calibri"/>
              </a:rPr>
              <a:t>manager</a:t>
            </a:r>
            <a:r>
              <a:rPr sz="2600" spc="280" dirty="0">
                <a:latin typeface="Calibri"/>
                <a:cs typeface="Calibri"/>
              </a:rPr>
              <a:t> </a:t>
            </a:r>
            <a:r>
              <a:rPr sz="2600" dirty="0">
                <a:latin typeface="Calibri"/>
                <a:cs typeface="Calibri"/>
              </a:rPr>
              <a:t>to</a:t>
            </a:r>
            <a:r>
              <a:rPr sz="2600" spc="280" dirty="0">
                <a:latin typeface="Calibri"/>
                <a:cs typeface="Calibri"/>
              </a:rPr>
              <a:t> </a:t>
            </a:r>
            <a:r>
              <a:rPr sz="2600" dirty="0">
                <a:latin typeface="Calibri"/>
                <a:cs typeface="Calibri"/>
              </a:rPr>
              <a:t>coordinate</a:t>
            </a:r>
            <a:r>
              <a:rPr sz="2600" spc="275" dirty="0">
                <a:latin typeface="Calibri"/>
                <a:cs typeface="Calibri"/>
              </a:rPr>
              <a:t> </a:t>
            </a:r>
            <a:r>
              <a:rPr sz="2600" spc="-25" dirty="0">
                <a:latin typeface="Calibri"/>
                <a:cs typeface="Calibri"/>
              </a:rPr>
              <a:t>the 	</a:t>
            </a:r>
            <a:r>
              <a:rPr sz="2600" dirty="0">
                <a:latin typeface="Calibri"/>
                <a:cs typeface="Calibri"/>
              </a:rPr>
              <a:t>project</a:t>
            </a:r>
            <a:r>
              <a:rPr sz="2600" spc="500" dirty="0">
                <a:latin typeface="Calibri"/>
                <a:cs typeface="Calibri"/>
              </a:rPr>
              <a:t> </a:t>
            </a:r>
            <a:r>
              <a:rPr sz="2600" dirty="0">
                <a:latin typeface="Calibri"/>
                <a:cs typeface="Calibri"/>
              </a:rPr>
              <a:t>should</a:t>
            </a:r>
            <a:r>
              <a:rPr sz="2600" spc="500" dirty="0">
                <a:latin typeface="Calibri"/>
                <a:cs typeface="Calibri"/>
              </a:rPr>
              <a:t> </a:t>
            </a:r>
            <a:r>
              <a:rPr sz="2600" dirty="0">
                <a:latin typeface="Calibri"/>
                <a:cs typeface="Calibri"/>
              </a:rPr>
              <a:t>accelerate</a:t>
            </a:r>
            <a:r>
              <a:rPr sz="2600" spc="495" dirty="0">
                <a:latin typeface="Calibri"/>
                <a:cs typeface="Calibri"/>
              </a:rPr>
              <a:t> </a:t>
            </a:r>
            <a:r>
              <a:rPr sz="2600" dirty="0">
                <a:latin typeface="Calibri"/>
                <a:cs typeface="Calibri"/>
              </a:rPr>
              <a:t>the</a:t>
            </a:r>
            <a:r>
              <a:rPr sz="2600" spc="500" dirty="0">
                <a:latin typeface="Calibri"/>
                <a:cs typeface="Calibri"/>
              </a:rPr>
              <a:t> </a:t>
            </a:r>
            <a:r>
              <a:rPr sz="2600" dirty="0">
                <a:latin typeface="Calibri"/>
                <a:cs typeface="Calibri"/>
              </a:rPr>
              <a:t>completion</a:t>
            </a:r>
            <a:r>
              <a:rPr sz="2600" spc="500" dirty="0">
                <a:latin typeface="Calibri"/>
                <a:cs typeface="Calibri"/>
              </a:rPr>
              <a:t> </a:t>
            </a:r>
            <a:r>
              <a:rPr sz="2600" dirty="0">
                <a:latin typeface="Calibri"/>
                <a:cs typeface="Calibri"/>
              </a:rPr>
              <a:t>of</a:t>
            </a:r>
            <a:r>
              <a:rPr sz="2600" spc="495" dirty="0">
                <a:latin typeface="Calibri"/>
                <a:cs typeface="Calibri"/>
              </a:rPr>
              <a:t> </a:t>
            </a:r>
            <a:r>
              <a:rPr sz="2600" dirty="0">
                <a:latin typeface="Calibri"/>
                <a:cs typeface="Calibri"/>
              </a:rPr>
              <a:t>the</a:t>
            </a:r>
            <a:r>
              <a:rPr sz="2600" spc="500" dirty="0">
                <a:latin typeface="Calibri"/>
                <a:cs typeface="Calibri"/>
              </a:rPr>
              <a:t> </a:t>
            </a:r>
            <a:r>
              <a:rPr sz="2600" dirty="0">
                <a:latin typeface="Calibri"/>
                <a:cs typeface="Calibri"/>
              </a:rPr>
              <a:t>project.</a:t>
            </a:r>
            <a:r>
              <a:rPr sz="2600" spc="505" dirty="0">
                <a:latin typeface="Calibri"/>
                <a:cs typeface="Calibri"/>
              </a:rPr>
              <a:t> </a:t>
            </a:r>
            <a:r>
              <a:rPr sz="2600" dirty="0">
                <a:latin typeface="Calibri"/>
                <a:cs typeface="Calibri"/>
              </a:rPr>
              <a:t>In</a:t>
            </a:r>
            <a:r>
              <a:rPr sz="2600" spc="500" dirty="0">
                <a:latin typeface="Calibri"/>
                <a:cs typeface="Calibri"/>
              </a:rPr>
              <a:t> </a:t>
            </a:r>
            <a:r>
              <a:rPr sz="2600" spc="-10" dirty="0">
                <a:latin typeface="Calibri"/>
                <a:cs typeface="Calibri"/>
              </a:rPr>
              <a:t>practice, 	</a:t>
            </a:r>
            <a:r>
              <a:rPr sz="2600" dirty="0">
                <a:latin typeface="Calibri"/>
                <a:cs typeface="Calibri"/>
              </a:rPr>
              <a:t>decision</a:t>
            </a:r>
            <a:r>
              <a:rPr sz="2600" spc="95" dirty="0">
                <a:latin typeface="Calibri"/>
                <a:cs typeface="Calibri"/>
              </a:rPr>
              <a:t>  </a:t>
            </a:r>
            <a:r>
              <a:rPr sz="2600" dirty="0">
                <a:latin typeface="Calibri"/>
                <a:cs typeface="Calibri"/>
              </a:rPr>
              <a:t>making</a:t>
            </a:r>
            <a:r>
              <a:rPr sz="2600" spc="100" dirty="0">
                <a:latin typeface="Calibri"/>
                <a:cs typeface="Calibri"/>
              </a:rPr>
              <a:t>  </a:t>
            </a:r>
            <a:r>
              <a:rPr sz="2600" dirty="0">
                <a:latin typeface="Calibri"/>
                <a:cs typeface="Calibri"/>
              </a:rPr>
              <a:t>can</a:t>
            </a:r>
            <a:r>
              <a:rPr sz="2600" spc="100" dirty="0">
                <a:latin typeface="Calibri"/>
                <a:cs typeface="Calibri"/>
              </a:rPr>
              <a:t>  </a:t>
            </a:r>
            <a:r>
              <a:rPr sz="2600" dirty="0">
                <a:latin typeface="Calibri"/>
                <a:cs typeface="Calibri"/>
              </a:rPr>
              <a:t>get</a:t>
            </a:r>
            <a:r>
              <a:rPr sz="2600" spc="105" dirty="0">
                <a:latin typeface="Calibri"/>
                <a:cs typeface="Calibri"/>
              </a:rPr>
              <a:t>  </a:t>
            </a:r>
            <a:r>
              <a:rPr sz="2600" dirty="0">
                <a:latin typeface="Calibri"/>
                <a:cs typeface="Calibri"/>
              </a:rPr>
              <a:t>bogged</a:t>
            </a:r>
            <a:r>
              <a:rPr sz="2600" spc="100" dirty="0">
                <a:latin typeface="Calibri"/>
                <a:cs typeface="Calibri"/>
              </a:rPr>
              <a:t>  </a:t>
            </a:r>
            <a:r>
              <a:rPr sz="2600" dirty="0">
                <a:latin typeface="Calibri"/>
                <a:cs typeface="Calibri"/>
              </a:rPr>
              <a:t>down</a:t>
            </a:r>
            <a:r>
              <a:rPr sz="2600" spc="100" dirty="0">
                <a:latin typeface="Calibri"/>
                <a:cs typeface="Calibri"/>
              </a:rPr>
              <a:t>  </a:t>
            </a:r>
            <a:r>
              <a:rPr sz="2600" dirty="0">
                <a:latin typeface="Calibri"/>
                <a:cs typeface="Calibri"/>
              </a:rPr>
              <a:t>as</a:t>
            </a:r>
            <a:r>
              <a:rPr sz="2600" spc="100" dirty="0">
                <a:latin typeface="Calibri"/>
                <a:cs typeface="Calibri"/>
              </a:rPr>
              <a:t>  </a:t>
            </a:r>
            <a:r>
              <a:rPr sz="2600" dirty="0">
                <a:latin typeface="Calibri"/>
                <a:cs typeface="Calibri"/>
              </a:rPr>
              <a:t>agreements</a:t>
            </a:r>
            <a:r>
              <a:rPr sz="2600" spc="100" dirty="0">
                <a:latin typeface="Calibri"/>
                <a:cs typeface="Calibri"/>
              </a:rPr>
              <a:t>  </a:t>
            </a:r>
            <a:r>
              <a:rPr sz="2600" dirty="0">
                <a:latin typeface="Calibri"/>
                <a:cs typeface="Calibri"/>
              </a:rPr>
              <a:t>have</a:t>
            </a:r>
            <a:r>
              <a:rPr sz="2600" spc="100" dirty="0">
                <a:latin typeface="Calibri"/>
                <a:cs typeface="Calibri"/>
              </a:rPr>
              <a:t>  </a:t>
            </a:r>
            <a:r>
              <a:rPr sz="2600" dirty="0">
                <a:latin typeface="Calibri"/>
                <a:cs typeface="Calibri"/>
              </a:rPr>
              <a:t>to</a:t>
            </a:r>
            <a:r>
              <a:rPr sz="2600" spc="100" dirty="0">
                <a:latin typeface="Calibri"/>
                <a:cs typeface="Calibri"/>
              </a:rPr>
              <a:t>  </a:t>
            </a:r>
            <a:r>
              <a:rPr sz="2600" spc="-25" dirty="0">
                <a:latin typeface="Calibri"/>
                <a:cs typeface="Calibri"/>
              </a:rPr>
              <a:t>be 	</a:t>
            </a:r>
            <a:r>
              <a:rPr sz="2600" dirty="0">
                <a:latin typeface="Calibri"/>
                <a:cs typeface="Calibri"/>
              </a:rPr>
              <a:t>managed</a:t>
            </a:r>
            <a:r>
              <a:rPr sz="2600" spc="-85" dirty="0">
                <a:latin typeface="Calibri"/>
                <a:cs typeface="Calibri"/>
              </a:rPr>
              <a:t> </a:t>
            </a:r>
            <a:r>
              <a:rPr sz="2600" dirty="0">
                <a:latin typeface="Calibri"/>
                <a:cs typeface="Calibri"/>
              </a:rPr>
              <a:t>across</a:t>
            </a:r>
            <a:r>
              <a:rPr sz="2600" spc="-80" dirty="0">
                <a:latin typeface="Calibri"/>
                <a:cs typeface="Calibri"/>
              </a:rPr>
              <a:t> </a:t>
            </a:r>
            <a:r>
              <a:rPr sz="2600" dirty="0">
                <a:latin typeface="Calibri"/>
                <a:cs typeface="Calibri"/>
              </a:rPr>
              <a:t>multiple</a:t>
            </a:r>
            <a:r>
              <a:rPr sz="2600" spc="-80" dirty="0">
                <a:latin typeface="Calibri"/>
                <a:cs typeface="Calibri"/>
              </a:rPr>
              <a:t> </a:t>
            </a:r>
            <a:r>
              <a:rPr sz="2600" dirty="0">
                <a:latin typeface="Calibri"/>
                <a:cs typeface="Calibri"/>
              </a:rPr>
              <a:t>functional</a:t>
            </a:r>
            <a:r>
              <a:rPr sz="2600" spc="-75" dirty="0">
                <a:latin typeface="Calibri"/>
                <a:cs typeface="Calibri"/>
              </a:rPr>
              <a:t> </a:t>
            </a:r>
            <a:r>
              <a:rPr sz="2600" spc="-10" dirty="0">
                <a:latin typeface="Calibri"/>
                <a:cs typeface="Calibri"/>
              </a:rPr>
              <a:t>groups.</a:t>
            </a:r>
            <a:endParaRPr sz="2600">
              <a:latin typeface="Calibri"/>
              <a:cs typeface="Calibri"/>
            </a:endParaRPr>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15</a:t>
            </a:r>
            <a:endParaRPr sz="1200">
              <a:latin typeface="Calibri"/>
              <a:cs typeface="Calibri"/>
            </a:endParaRPr>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Matrix Arrangement </a:t>
            </a:r>
            <a:r>
              <a:rPr sz="1950" spc="-10" dirty="0"/>
              <a:t>(4/5)</a:t>
            </a:r>
            <a:endParaRPr sz="1950" dirty="0"/>
          </a:p>
        </p:txBody>
      </p:sp>
      <p:pic>
        <p:nvPicPr>
          <p:cNvPr id="5" name="Picture 4">
            <a:extLst>
              <a:ext uri="{FF2B5EF4-FFF2-40B4-BE49-F238E27FC236}">
                <a16:creationId xmlns:a16="http://schemas.microsoft.com/office/drawing/2014/main" id="{2DA4A414-5CE1-17ED-8AB8-3A76D1E570C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602661"/>
            <a:ext cx="10358755" cy="5098415"/>
          </a:xfrm>
          <a:prstGeom prst="rect">
            <a:avLst/>
          </a:prstGeom>
        </p:spPr>
        <p:txBody>
          <a:bodyPr vert="horz" wrap="square" lIns="0" tIns="99060" rIns="0" bIns="0" rtlCol="0">
            <a:spAutoFit/>
          </a:bodyPr>
          <a:lstStyle/>
          <a:p>
            <a:pPr marL="240665" indent="-227965" algn="just">
              <a:lnSpc>
                <a:spcPct val="100000"/>
              </a:lnSpc>
              <a:spcBef>
                <a:spcPts val="780"/>
              </a:spcBef>
              <a:buFont typeface="Arial MT"/>
              <a:buChar char="•"/>
              <a:tabLst>
                <a:tab pos="240665" algn="l"/>
              </a:tabLst>
            </a:pPr>
            <a:r>
              <a:rPr sz="2800" b="1" u="heavy" spc="-10" dirty="0">
                <a:solidFill>
                  <a:srgbClr val="C00000"/>
                </a:solidFill>
                <a:uFill>
                  <a:solidFill>
                    <a:srgbClr val="C00000"/>
                  </a:solidFill>
                </a:uFill>
                <a:latin typeface="Calibri"/>
                <a:cs typeface="Calibri"/>
              </a:rPr>
              <a:t>Disadvantages</a:t>
            </a:r>
            <a:r>
              <a:rPr sz="2800" b="1" spc="-95" dirty="0">
                <a:solidFill>
                  <a:srgbClr val="C00000"/>
                </a:solidFill>
                <a:latin typeface="Calibri"/>
                <a:cs typeface="Calibri"/>
              </a:rPr>
              <a:t> </a:t>
            </a:r>
            <a:r>
              <a:rPr sz="2800" b="1" spc="-10" dirty="0">
                <a:solidFill>
                  <a:srgbClr val="C00000"/>
                </a:solidFill>
                <a:latin typeface="Calibri"/>
                <a:cs typeface="Calibri"/>
              </a:rPr>
              <a:t>(cont.)</a:t>
            </a:r>
            <a:endParaRPr sz="2800">
              <a:latin typeface="Calibri"/>
              <a:cs typeface="Calibri"/>
            </a:endParaRPr>
          </a:p>
          <a:p>
            <a:pPr marL="525780" marR="5080" lvl="1" indent="-287655" algn="just">
              <a:lnSpc>
                <a:spcPct val="90500"/>
              </a:lnSpc>
              <a:spcBef>
                <a:spcPts val="930"/>
              </a:spcBef>
              <a:buAutoNum type="arabicPeriod" startAt="4"/>
              <a:tabLst>
                <a:tab pos="527050" algn="l"/>
              </a:tabLst>
            </a:pPr>
            <a:r>
              <a:rPr sz="2600" b="1" dirty="0">
                <a:latin typeface="Calibri"/>
                <a:cs typeface="Calibri"/>
              </a:rPr>
              <a:t>Stressful:</a:t>
            </a:r>
            <a:r>
              <a:rPr sz="2600" b="1" spc="635" dirty="0">
                <a:latin typeface="Calibri"/>
                <a:cs typeface="Calibri"/>
              </a:rPr>
              <a:t> </a:t>
            </a:r>
            <a:r>
              <a:rPr sz="2600" dirty="0">
                <a:latin typeface="Calibri"/>
                <a:cs typeface="Calibri"/>
              </a:rPr>
              <a:t>Matrix</a:t>
            </a:r>
            <a:r>
              <a:rPr sz="2600" spc="645" dirty="0">
                <a:latin typeface="Calibri"/>
                <a:cs typeface="Calibri"/>
              </a:rPr>
              <a:t> </a:t>
            </a:r>
            <a:r>
              <a:rPr sz="2600" dirty="0">
                <a:latin typeface="Calibri"/>
                <a:cs typeface="Calibri"/>
              </a:rPr>
              <a:t>management</a:t>
            </a:r>
            <a:r>
              <a:rPr sz="2600" spc="645" dirty="0">
                <a:latin typeface="Calibri"/>
                <a:cs typeface="Calibri"/>
              </a:rPr>
              <a:t> </a:t>
            </a:r>
            <a:r>
              <a:rPr sz="2600" dirty="0">
                <a:latin typeface="Calibri"/>
                <a:cs typeface="Calibri"/>
              </a:rPr>
              <a:t>violates</a:t>
            </a:r>
            <a:r>
              <a:rPr sz="2600" spc="635" dirty="0">
                <a:latin typeface="Calibri"/>
                <a:cs typeface="Calibri"/>
              </a:rPr>
              <a:t> </a:t>
            </a:r>
            <a:r>
              <a:rPr sz="2600" dirty="0">
                <a:latin typeface="Calibri"/>
                <a:cs typeface="Calibri"/>
              </a:rPr>
              <a:t>the</a:t>
            </a:r>
            <a:r>
              <a:rPr sz="2600" spc="640" dirty="0">
                <a:latin typeface="Calibri"/>
                <a:cs typeface="Calibri"/>
              </a:rPr>
              <a:t> </a:t>
            </a:r>
            <a:r>
              <a:rPr sz="2600" dirty="0">
                <a:latin typeface="Calibri"/>
                <a:cs typeface="Calibri"/>
              </a:rPr>
              <a:t>management</a:t>
            </a:r>
            <a:r>
              <a:rPr sz="2600" spc="645" dirty="0">
                <a:latin typeface="Calibri"/>
                <a:cs typeface="Calibri"/>
              </a:rPr>
              <a:t> </a:t>
            </a:r>
            <a:r>
              <a:rPr sz="2600" dirty="0">
                <a:latin typeface="Calibri"/>
                <a:cs typeface="Calibri"/>
              </a:rPr>
              <a:t>principle</a:t>
            </a:r>
            <a:r>
              <a:rPr sz="2600" spc="630" dirty="0">
                <a:latin typeface="Calibri"/>
                <a:cs typeface="Calibri"/>
              </a:rPr>
              <a:t> </a:t>
            </a:r>
            <a:r>
              <a:rPr sz="2600" spc="-25" dirty="0">
                <a:latin typeface="Calibri"/>
                <a:cs typeface="Calibri"/>
              </a:rPr>
              <a:t>of 	</a:t>
            </a:r>
            <a:r>
              <a:rPr sz="2600" dirty="0">
                <a:latin typeface="Calibri"/>
                <a:cs typeface="Calibri"/>
              </a:rPr>
              <a:t>unity</a:t>
            </a:r>
            <a:r>
              <a:rPr sz="2600" spc="285" dirty="0">
                <a:latin typeface="Calibri"/>
                <a:cs typeface="Calibri"/>
              </a:rPr>
              <a:t> </a:t>
            </a:r>
            <a:r>
              <a:rPr sz="2600" dirty="0">
                <a:latin typeface="Calibri"/>
                <a:cs typeface="Calibri"/>
              </a:rPr>
              <a:t>of</a:t>
            </a:r>
            <a:r>
              <a:rPr sz="2600" spc="285" dirty="0">
                <a:latin typeface="Calibri"/>
                <a:cs typeface="Calibri"/>
              </a:rPr>
              <a:t> </a:t>
            </a:r>
            <a:r>
              <a:rPr sz="2600" dirty="0">
                <a:latin typeface="Calibri"/>
                <a:cs typeface="Calibri"/>
              </a:rPr>
              <a:t>command.</a:t>
            </a:r>
            <a:r>
              <a:rPr sz="2600" spc="295" dirty="0">
                <a:latin typeface="Calibri"/>
                <a:cs typeface="Calibri"/>
              </a:rPr>
              <a:t> </a:t>
            </a:r>
            <a:r>
              <a:rPr sz="2600" dirty="0">
                <a:latin typeface="Calibri"/>
                <a:cs typeface="Calibri"/>
              </a:rPr>
              <a:t>Project</a:t>
            </a:r>
            <a:r>
              <a:rPr sz="2600" spc="295" dirty="0">
                <a:latin typeface="Calibri"/>
                <a:cs typeface="Calibri"/>
              </a:rPr>
              <a:t> </a:t>
            </a:r>
            <a:r>
              <a:rPr sz="2600" dirty="0">
                <a:latin typeface="Calibri"/>
                <a:cs typeface="Calibri"/>
              </a:rPr>
              <a:t>participants</a:t>
            </a:r>
            <a:r>
              <a:rPr sz="2600" spc="280" dirty="0">
                <a:latin typeface="Calibri"/>
                <a:cs typeface="Calibri"/>
              </a:rPr>
              <a:t> </a:t>
            </a:r>
            <a:r>
              <a:rPr sz="2600" dirty="0">
                <a:latin typeface="Calibri"/>
                <a:cs typeface="Calibri"/>
              </a:rPr>
              <a:t>have</a:t>
            </a:r>
            <a:r>
              <a:rPr sz="2600" spc="290" dirty="0">
                <a:latin typeface="Calibri"/>
                <a:cs typeface="Calibri"/>
              </a:rPr>
              <a:t> </a:t>
            </a:r>
            <a:r>
              <a:rPr sz="2600" dirty="0">
                <a:latin typeface="Calibri"/>
                <a:cs typeface="Calibri"/>
              </a:rPr>
              <a:t>at</a:t>
            </a:r>
            <a:r>
              <a:rPr sz="2600" spc="295" dirty="0">
                <a:latin typeface="Calibri"/>
                <a:cs typeface="Calibri"/>
              </a:rPr>
              <a:t> </a:t>
            </a:r>
            <a:r>
              <a:rPr sz="2600" dirty="0">
                <a:latin typeface="Calibri"/>
                <a:cs typeface="Calibri"/>
              </a:rPr>
              <a:t>least</a:t>
            </a:r>
            <a:r>
              <a:rPr sz="2600" spc="295" dirty="0">
                <a:latin typeface="Calibri"/>
                <a:cs typeface="Calibri"/>
              </a:rPr>
              <a:t> </a:t>
            </a:r>
            <a:r>
              <a:rPr sz="2600" dirty="0">
                <a:latin typeface="Calibri"/>
                <a:cs typeface="Calibri"/>
              </a:rPr>
              <a:t>two</a:t>
            </a:r>
            <a:r>
              <a:rPr sz="2600" spc="290" dirty="0">
                <a:latin typeface="Calibri"/>
                <a:cs typeface="Calibri"/>
              </a:rPr>
              <a:t> </a:t>
            </a:r>
            <a:r>
              <a:rPr sz="2600" dirty="0">
                <a:latin typeface="Calibri"/>
                <a:cs typeface="Calibri"/>
              </a:rPr>
              <a:t>bosses:</a:t>
            </a:r>
            <a:r>
              <a:rPr sz="2600" spc="295" dirty="0">
                <a:latin typeface="Calibri"/>
                <a:cs typeface="Calibri"/>
              </a:rPr>
              <a:t> </a:t>
            </a:r>
            <a:r>
              <a:rPr sz="2600" spc="-10" dirty="0">
                <a:latin typeface="Calibri"/>
                <a:cs typeface="Calibri"/>
              </a:rPr>
              <a:t>their 	</a:t>
            </a:r>
            <a:r>
              <a:rPr sz="2600" dirty="0">
                <a:latin typeface="Calibri"/>
                <a:cs typeface="Calibri"/>
              </a:rPr>
              <a:t>functional</a:t>
            </a:r>
            <a:r>
              <a:rPr sz="2600" spc="80" dirty="0">
                <a:latin typeface="Calibri"/>
                <a:cs typeface="Calibri"/>
              </a:rPr>
              <a:t> </a:t>
            </a:r>
            <a:r>
              <a:rPr sz="2600" dirty="0">
                <a:latin typeface="Calibri"/>
                <a:cs typeface="Calibri"/>
              </a:rPr>
              <a:t>head</a:t>
            </a:r>
            <a:r>
              <a:rPr sz="2600" spc="70" dirty="0">
                <a:latin typeface="Calibri"/>
                <a:cs typeface="Calibri"/>
              </a:rPr>
              <a:t> </a:t>
            </a:r>
            <a:r>
              <a:rPr sz="2600" dirty="0">
                <a:latin typeface="Calibri"/>
                <a:cs typeface="Calibri"/>
              </a:rPr>
              <a:t>and</a:t>
            </a:r>
            <a:r>
              <a:rPr sz="2600" spc="80" dirty="0">
                <a:latin typeface="Calibri"/>
                <a:cs typeface="Calibri"/>
              </a:rPr>
              <a:t> </a:t>
            </a:r>
            <a:r>
              <a:rPr sz="2600" dirty="0">
                <a:latin typeface="Calibri"/>
                <a:cs typeface="Calibri"/>
              </a:rPr>
              <a:t>one</a:t>
            </a:r>
            <a:r>
              <a:rPr sz="2600" spc="75" dirty="0">
                <a:latin typeface="Calibri"/>
                <a:cs typeface="Calibri"/>
              </a:rPr>
              <a:t> </a:t>
            </a:r>
            <a:r>
              <a:rPr sz="2600" dirty="0">
                <a:latin typeface="Calibri"/>
                <a:cs typeface="Calibri"/>
              </a:rPr>
              <a:t>or</a:t>
            </a:r>
            <a:r>
              <a:rPr sz="2600" spc="80" dirty="0">
                <a:latin typeface="Calibri"/>
                <a:cs typeface="Calibri"/>
              </a:rPr>
              <a:t> </a:t>
            </a:r>
            <a:r>
              <a:rPr sz="2600" dirty="0">
                <a:latin typeface="Calibri"/>
                <a:cs typeface="Calibri"/>
              </a:rPr>
              <a:t>more</a:t>
            </a:r>
            <a:r>
              <a:rPr sz="2600" spc="75" dirty="0">
                <a:latin typeface="Calibri"/>
                <a:cs typeface="Calibri"/>
              </a:rPr>
              <a:t> </a:t>
            </a:r>
            <a:r>
              <a:rPr sz="2600" dirty="0">
                <a:latin typeface="Calibri"/>
                <a:cs typeface="Calibri"/>
              </a:rPr>
              <a:t>project</a:t>
            </a:r>
            <a:r>
              <a:rPr sz="2600" spc="80" dirty="0">
                <a:latin typeface="Calibri"/>
                <a:cs typeface="Calibri"/>
              </a:rPr>
              <a:t> </a:t>
            </a:r>
            <a:r>
              <a:rPr sz="2600" dirty="0">
                <a:latin typeface="Calibri"/>
                <a:cs typeface="Calibri"/>
              </a:rPr>
              <a:t>managers.</a:t>
            </a:r>
            <a:r>
              <a:rPr sz="2600" spc="80" dirty="0">
                <a:latin typeface="Calibri"/>
                <a:cs typeface="Calibri"/>
              </a:rPr>
              <a:t> </a:t>
            </a:r>
            <a:r>
              <a:rPr sz="2600" dirty="0">
                <a:latin typeface="Calibri"/>
                <a:cs typeface="Calibri"/>
              </a:rPr>
              <a:t>Working</a:t>
            </a:r>
            <a:r>
              <a:rPr sz="2600" spc="85" dirty="0">
                <a:latin typeface="Calibri"/>
                <a:cs typeface="Calibri"/>
              </a:rPr>
              <a:t> </a:t>
            </a:r>
            <a:r>
              <a:rPr sz="2600" dirty="0">
                <a:latin typeface="Calibri"/>
                <a:cs typeface="Calibri"/>
              </a:rPr>
              <a:t>in</a:t>
            </a:r>
            <a:r>
              <a:rPr sz="2600" spc="70" dirty="0">
                <a:latin typeface="Calibri"/>
                <a:cs typeface="Calibri"/>
              </a:rPr>
              <a:t> </a:t>
            </a:r>
            <a:r>
              <a:rPr sz="2600" dirty="0">
                <a:latin typeface="Calibri"/>
                <a:cs typeface="Calibri"/>
              </a:rPr>
              <a:t>a</a:t>
            </a:r>
            <a:r>
              <a:rPr sz="2600" spc="85" dirty="0">
                <a:latin typeface="Calibri"/>
                <a:cs typeface="Calibri"/>
              </a:rPr>
              <a:t> </a:t>
            </a:r>
            <a:r>
              <a:rPr sz="2600" spc="-10" dirty="0">
                <a:latin typeface="Calibri"/>
                <a:cs typeface="Calibri"/>
              </a:rPr>
              <a:t>matrix 	</a:t>
            </a:r>
            <a:r>
              <a:rPr sz="2600" dirty="0">
                <a:latin typeface="Calibri"/>
                <a:cs typeface="Calibri"/>
              </a:rPr>
              <a:t>environment</a:t>
            </a:r>
            <a:r>
              <a:rPr sz="2600" spc="-15" dirty="0">
                <a:latin typeface="Calibri"/>
                <a:cs typeface="Calibri"/>
              </a:rPr>
              <a:t> </a:t>
            </a:r>
            <a:r>
              <a:rPr sz="2600" dirty="0">
                <a:latin typeface="Calibri"/>
                <a:cs typeface="Calibri"/>
              </a:rPr>
              <a:t>can</a:t>
            </a:r>
            <a:r>
              <a:rPr sz="2600" spc="-20" dirty="0">
                <a:latin typeface="Calibri"/>
                <a:cs typeface="Calibri"/>
              </a:rPr>
              <a:t> </a:t>
            </a:r>
            <a:r>
              <a:rPr sz="2600" dirty="0">
                <a:latin typeface="Calibri"/>
                <a:cs typeface="Calibri"/>
              </a:rPr>
              <a:t>be</a:t>
            </a:r>
            <a:r>
              <a:rPr sz="2600" spc="-25" dirty="0">
                <a:latin typeface="Calibri"/>
                <a:cs typeface="Calibri"/>
              </a:rPr>
              <a:t> </a:t>
            </a:r>
            <a:r>
              <a:rPr sz="2600" dirty="0">
                <a:latin typeface="Calibri"/>
                <a:cs typeface="Calibri"/>
              </a:rPr>
              <a:t>extremely</a:t>
            </a:r>
            <a:r>
              <a:rPr sz="2600" spc="-15" dirty="0">
                <a:latin typeface="Calibri"/>
                <a:cs typeface="Calibri"/>
              </a:rPr>
              <a:t> </a:t>
            </a:r>
            <a:r>
              <a:rPr sz="2600" dirty="0">
                <a:latin typeface="Calibri"/>
                <a:cs typeface="Calibri"/>
              </a:rPr>
              <a:t>stressful.</a:t>
            </a:r>
            <a:r>
              <a:rPr sz="2600" spc="-10" dirty="0">
                <a:latin typeface="Calibri"/>
                <a:cs typeface="Calibri"/>
              </a:rPr>
              <a:t> </a:t>
            </a:r>
            <a:r>
              <a:rPr sz="2600" dirty="0">
                <a:latin typeface="Calibri"/>
                <a:cs typeface="Calibri"/>
              </a:rPr>
              <a:t>Imagine</a:t>
            </a:r>
            <a:r>
              <a:rPr sz="2600" spc="-25" dirty="0">
                <a:latin typeface="Calibri"/>
                <a:cs typeface="Calibri"/>
              </a:rPr>
              <a:t> </a:t>
            </a:r>
            <a:r>
              <a:rPr sz="2600" dirty="0">
                <a:latin typeface="Calibri"/>
                <a:cs typeface="Calibri"/>
              </a:rPr>
              <a:t>what</a:t>
            </a:r>
            <a:r>
              <a:rPr sz="2600" spc="-10" dirty="0">
                <a:latin typeface="Calibri"/>
                <a:cs typeface="Calibri"/>
              </a:rPr>
              <a:t> </a:t>
            </a:r>
            <a:r>
              <a:rPr sz="2600" dirty="0">
                <a:latin typeface="Calibri"/>
                <a:cs typeface="Calibri"/>
              </a:rPr>
              <a:t>it</a:t>
            </a:r>
            <a:r>
              <a:rPr sz="2600" spc="-15" dirty="0">
                <a:latin typeface="Calibri"/>
                <a:cs typeface="Calibri"/>
              </a:rPr>
              <a:t> </a:t>
            </a:r>
            <a:r>
              <a:rPr sz="2600" dirty="0">
                <a:latin typeface="Calibri"/>
                <a:cs typeface="Calibri"/>
              </a:rPr>
              <a:t>would</a:t>
            </a:r>
            <a:r>
              <a:rPr sz="2600" spc="-15" dirty="0">
                <a:latin typeface="Calibri"/>
                <a:cs typeface="Calibri"/>
              </a:rPr>
              <a:t> </a:t>
            </a:r>
            <a:r>
              <a:rPr sz="2600" dirty="0">
                <a:latin typeface="Calibri"/>
                <a:cs typeface="Calibri"/>
              </a:rPr>
              <a:t>be</a:t>
            </a:r>
            <a:r>
              <a:rPr sz="2600" spc="-25" dirty="0">
                <a:latin typeface="Calibri"/>
                <a:cs typeface="Calibri"/>
              </a:rPr>
              <a:t> </a:t>
            </a:r>
            <a:r>
              <a:rPr sz="2600" dirty="0">
                <a:latin typeface="Calibri"/>
                <a:cs typeface="Calibri"/>
              </a:rPr>
              <a:t>like</a:t>
            </a:r>
            <a:r>
              <a:rPr sz="2600" spc="-25" dirty="0">
                <a:latin typeface="Calibri"/>
                <a:cs typeface="Calibri"/>
              </a:rPr>
              <a:t> to 	</a:t>
            </a:r>
            <a:r>
              <a:rPr sz="2600" dirty="0">
                <a:latin typeface="Calibri"/>
                <a:cs typeface="Calibri"/>
              </a:rPr>
              <a:t>work</a:t>
            </a:r>
            <a:r>
              <a:rPr sz="2600" spc="120" dirty="0">
                <a:latin typeface="Calibri"/>
                <a:cs typeface="Calibri"/>
              </a:rPr>
              <a:t>  </a:t>
            </a:r>
            <a:r>
              <a:rPr sz="2600" dirty="0">
                <a:latin typeface="Calibri"/>
                <a:cs typeface="Calibri"/>
              </a:rPr>
              <a:t>in</a:t>
            </a:r>
            <a:r>
              <a:rPr sz="2600" spc="114" dirty="0">
                <a:latin typeface="Calibri"/>
                <a:cs typeface="Calibri"/>
              </a:rPr>
              <a:t>  </a:t>
            </a:r>
            <a:r>
              <a:rPr sz="2600" dirty="0">
                <a:latin typeface="Calibri"/>
                <a:cs typeface="Calibri"/>
              </a:rPr>
              <a:t>an</a:t>
            </a:r>
            <a:r>
              <a:rPr sz="2600" spc="120" dirty="0">
                <a:latin typeface="Calibri"/>
                <a:cs typeface="Calibri"/>
              </a:rPr>
              <a:t>  </a:t>
            </a:r>
            <a:r>
              <a:rPr sz="2600" dirty="0">
                <a:latin typeface="Calibri"/>
                <a:cs typeface="Calibri"/>
              </a:rPr>
              <a:t>environment</a:t>
            </a:r>
            <a:r>
              <a:rPr sz="2600" spc="120" dirty="0">
                <a:latin typeface="Calibri"/>
                <a:cs typeface="Calibri"/>
              </a:rPr>
              <a:t>  </a:t>
            </a:r>
            <a:r>
              <a:rPr sz="2600" dirty="0">
                <a:latin typeface="Calibri"/>
                <a:cs typeface="Calibri"/>
              </a:rPr>
              <a:t>in</a:t>
            </a:r>
            <a:r>
              <a:rPr sz="2600" spc="114" dirty="0">
                <a:latin typeface="Calibri"/>
                <a:cs typeface="Calibri"/>
              </a:rPr>
              <a:t>  </a:t>
            </a:r>
            <a:r>
              <a:rPr sz="2600" dirty="0">
                <a:latin typeface="Calibri"/>
                <a:cs typeface="Calibri"/>
              </a:rPr>
              <a:t>which</a:t>
            </a:r>
            <a:r>
              <a:rPr sz="2600" spc="114" dirty="0">
                <a:latin typeface="Calibri"/>
                <a:cs typeface="Calibri"/>
              </a:rPr>
              <a:t>  </a:t>
            </a:r>
            <a:r>
              <a:rPr sz="2600" dirty="0">
                <a:latin typeface="Calibri"/>
                <a:cs typeface="Calibri"/>
              </a:rPr>
              <a:t>you</a:t>
            </a:r>
            <a:r>
              <a:rPr sz="2600" spc="120" dirty="0">
                <a:latin typeface="Calibri"/>
                <a:cs typeface="Calibri"/>
              </a:rPr>
              <a:t>  </a:t>
            </a:r>
            <a:r>
              <a:rPr sz="2600" dirty="0">
                <a:latin typeface="Calibri"/>
                <a:cs typeface="Calibri"/>
              </a:rPr>
              <a:t>are</a:t>
            </a:r>
            <a:r>
              <a:rPr sz="2600" spc="114" dirty="0">
                <a:latin typeface="Calibri"/>
                <a:cs typeface="Calibri"/>
              </a:rPr>
              <a:t>  </a:t>
            </a:r>
            <a:r>
              <a:rPr sz="2600" dirty="0">
                <a:latin typeface="Calibri"/>
                <a:cs typeface="Calibri"/>
              </a:rPr>
              <a:t>being</a:t>
            </a:r>
            <a:r>
              <a:rPr sz="2600" spc="120" dirty="0">
                <a:latin typeface="Calibri"/>
                <a:cs typeface="Calibri"/>
              </a:rPr>
              <a:t>  </a:t>
            </a:r>
            <a:r>
              <a:rPr sz="2600" dirty="0">
                <a:latin typeface="Calibri"/>
                <a:cs typeface="Calibri"/>
              </a:rPr>
              <a:t>told</a:t>
            </a:r>
            <a:r>
              <a:rPr sz="2600" spc="114" dirty="0">
                <a:latin typeface="Calibri"/>
                <a:cs typeface="Calibri"/>
              </a:rPr>
              <a:t>  </a:t>
            </a:r>
            <a:r>
              <a:rPr sz="2600" dirty="0">
                <a:latin typeface="Calibri"/>
                <a:cs typeface="Calibri"/>
              </a:rPr>
              <a:t>to</a:t>
            </a:r>
            <a:r>
              <a:rPr sz="2600" spc="120" dirty="0">
                <a:latin typeface="Calibri"/>
                <a:cs typeface="Calibri"/>
              </a:rPr>
              <a:t>  </a:t>
            </a:r>
            <a:r>
              <a:rPr sz="2600" dirty="0">
                <a:latin typeface="Calibri"/>
                <a:cs typeface="Calibri"/>
              </a:rPr>
              <a:t>do</a:t>
            </a:r>
            <a:r>
              <a:rPr sz="2600" spc="125" dirty="0">
                <a:latin typeface="Calibri"/>
                <a:cs typeface="Calibri"/>
              </a:rPr>
              <a:t>  </a:t>
            </a:r>
            <a:r>
              <a:rPr sz="2600" spc="-10" dirty="0">
                <a:latin typeface="Calibri"/>
                <a:cs typeface="Calibri"/>
              </a:rPr>
              <a:t>three 	</a:t>
            </a:r>
            <a:r>
              <a:rPr sz="2600" dirty="0">
                <a:latin typeface="Calibri"/>
                <a:cs typeface="Calibri"/>
              </a:rPr>
              <a:t>conflicting</a:t>
            </a:r>
            <a:r>
              <a:rPr sz="2600" spc="-85" dirty="0">
                <a:latin typeface="Calibri"/>
                <a:cs typeface="Calibri"/>
              </a:rPr>
              <a:t> </a:t>
            </a:r>
            <a:r>
              <a:rPr sz="2600" dirty="0">
                <a:latin typeface="Calibri"/>
                <a:cs typeface="Calibri"/>
              </a:rPr>
              <a:t>things</a:t>
            </a:r>
            <a:r>
              <a:rPr sz="2600" spc="-80" dirty="0">
                <a:latin typeface="Calibri"/>
                <a:cs typeface="Calibri"/>
              </a:rPr>
              <a:t> </a:t>
            </a:r>
            <a:r>
              <a:rPr sz="2600" dirty="0">
                <a:latin typeface="Calibri"/>
                <a:cs typeface="Calibri"/>
              </a:rPr>
              <a:t>by</a:t>
            </a:r>
            <a:r>
              <a:rPr sz="2600" spc="-85" dirty="0">
                <a:latin typeface="Calibri"/>
                <a:cs typeface="Calibri"/>
              </a:rPr>
              <a:t> </a:t>
            </a:r>
            <a:r>
              <a:rPr sz="2600" dirty="0">
                <a:latin typeface="Calibri"/>
                <a:cs typeface="Calibri"/>
              </a:rPr>
              <a:t>three</a:t>
            </a:r>
            <a:r>
              <a:rPr sz="2600" spc="-85" dirty="0">
                <a:latin typeface="Calibri"/>
                <a:cs typeface="Calibri"/>
              </a:rPr>
              <a:t> </a:t>
            </a:r>
            <a:r>
              <a:rPr sz="2600" spc="-10" dirty="0">
                <a:latin typeface="Calibri"/>
                <a:cs typeface="Calibri"/>
              </a:rPr>
              <a:t>different</a:t>
            </a:r>
            <a:r>
              <a:rPr sz="2600" spc="-80" dirty="0">
                <a:latin typeface="Calibri"/>
                <a:cs typeface="Calibri"/>
              </a:rPr>
              <a:t> </a:t>
            </a:r>
            <a:r>
              <a:rPr sz="2600" spc="-10" dirty="0">
                <a:latin typeface="Calibri"/>
                <a:cs typeface="Calibri"/>
              </a:rPr>
              <a:t>managers.</a:t>
            </a:r>
            <a:endParaRPr sz="2600">
              <a:latin typeface="Calibri"/>
              <a:cs typeface="Calibri"/>
            </a:endParaRPr>
          </a:p>
          <a:p>
            <a:pPr marL="525780" marR="5080" lvl="1" indent="-287655" algn="just">
              <a:lnSpc>
                <a:spcPct val="89900"/>
              </a:lnSpc>
              <a:spcBef>
                <a:spcPts val="985"/>
              </a:spcBef>
              <a:buAutoNum type="arabicPeriod" startAt="4"/>
              <a:tabLst>
                <a:tab pos="527050" algn="l"/>
              </a:tabLst>
            </a:pPr>
            <a:r>
              <a:rPr sz="2600" b="1" dirty="0">
                <a:latin typeface="Calibri"/>
                <a:cs typeface="Calibri"/>
              </a:rPr>
              <a:t>Infighting</a:t>
            </a:r>
            <a:r>
              <a:rPr sz="2600" b="1" spc="155" dirty="0">
                <a:latin typeface="Calibri"/>
                <a:cs typeface="Calibri"/>
              </a:rPr>
              <a:t> </a:t>
            </a:r>
            <a:r>
              <a:rPr sz="2600" b="1" dirty="0">
                <a:latin typeface="Calibri"/>
                <a:cs typeface="Calibri"/>
              </a:rPr>
              <a:t>and</a:t>
            </a:r>
            <a:r>
              <a:rPr sz="2600" b="1" spc="160" dirty="0">
                <a:latin typeface="Calibri"/>
                <a:cs typeface="Calibri"/>
              </a:rPr>
              <a:t> </a:t>
            </a:r>
            <a:r>
              <a:rPr sz="2600" b="1" dirty="0">
                <a:latin typeface="Calibri"/>
                <a:cs typeface="Calibri"/>
              </a:rPr>
              <a:t>Dysfunctional</a:t>
            </a:r>
            <a:r>
              <a:rPr sz="2600" b="1" spc="155" dirty="0">
                <a:latin typeface="Calibri"/>
                <a:cs typeface="Calibri"/>
              </a:rPr>
              <a:t> </a:t>
            </a:r>
            <a:r>
              <a:rPr sz="2600" b="1" dirty="0">
                <a:latin typeface="Calibri"/>
                <a:cs typeface="Calibri"/>
              </a:rPr>
              <a:t>Conflict:</a:t>
            </a:r>
            <a:r>
              <a:rPr sz="2600" b="1" spc="150" dirty="0">
                <a:latin typeface="Calibri"/>
                <a:cs typeface="Calibri"/>
              </a:rPr>
              <a:t> </a:t>
            </a:r>
            <a:r>
              <a:rPr sz="2600" dirty="0">
                <a:solidFill>
                  <a:srgbClr val="262EA4"/>
                </a:solidFill>
                <a:latin typeface="Calibri"/>
                <a:cs typeface="Calibri"/>
              </a:rPr>
              <a:t>The</a:t>
            </a:r>
            <a:r>
              <a:rPr sz="2600" spc="150" dirty="0">
                <a:solidFill>
                  <a:srgbClr val="262EA4"/>
                </a:solidFill>
                <a:latin typeface="Calibri"/>
                <a:cs typeface="Calibri"/>
              </a:rPr>
              <a:t> </a:t>
            </a:r>
            <a:r>
              <a:rPr sz="2600" dirty="0">
                <a:solidFill>
                  <a:srgbClr val="262EA4"/>
                </a:solidFill>
                <a:latin typeface="Calibri"/>
                <a:cs typeface="Calibri"/>
              </a:rPr>
              <a:t>matrix</a:t>
            </a:r>
            <a:r>
              <a:rPr sz="2600" spc="155" dirty="0">
                <a:solidFill>
                  <a:srgbClr val="262EA4"/>
                </a:solidFill>
                <a:latin typeface="Calibri"/>
                <a:cs typeface="Calibri"/>
              </a:rPr>
              <a:t> </a:t>
            </a:r>
            <a:r>
              <a:rPr sz="2600" dirty="0">
                <a:solidFill>
                  <a:srgbClr val="262EA4"/>
                </a:solidFill>
                <a:latin typeface="Calibri"/>
                <a:cs typeface="Calibri"/>
              </a:rPr>
              <a:t>approach</a:t>
            </a:r>
            <a:r>
              <a:rPr sz="2600" spc="155" dirty="0">
                <a:solidFill>
                  <a:srgbClr val="262EA4"/>
                </a:solidFill>
                <a:latin typeface="Calibri"/>
                <a:cs typeface="Calibri"/>
              </a:rPr>
              <a:t> </a:t>
            </a:r>
            <a:r>
              <a:rPr sz="2600" dirty="0">
                <a:solidFill>
                  <a:srgbClr val="262EA4"/>
                </a:solidFill>
                <a:latin typeface="Calibri"/>
                <a:cs typeface="Calibri"/>
              </a:rPr>
              <a:t>is</a:t>
            </a:r>
            <a:r>
              <a:rPr sz="2600" spc="155" dirty="0">
                <a:solidFill>
                  <a:srgbClr val="262EA4"/>
                </a:solidFill>
                <a:latin typeface="Calibri"/>
                <a:cs typeface="Calibri"/>
              </a:rPr>
              <a:t> </a:t>
            </a:r>
            <a:r>
              <a:rPr sz="2600" spc="-10" dirty="0">
                <a:solidFill>
                  <a:srgbClr val="262EA4"/>
                </a:solidFill>
                <a:latin typeface="Calibri"/>
                <a:cs typeface="Calibri"/>
              </a:rPr>
              <a:t>subjected 	</a:t>
            </a:r>
            <a:r>
              <a:rPr sz="2600" dirty="0">
                <a:solidFill>
                  <a:srgbClr val="262EA4"/>
                </a:solidFill>
                <a:latin typeface="Calibri"/>
                <a:cs typeface="Calibri"/>
              </a:rPr>
              <a:t>to</a:t>
            </a:r>
            <a:r>
              <a:rPr sz="2600" spc="635" dirty="0">
                <a:solidFill>
                  <a:srgbClr val="262EA4"/>
                </a:solidFill>
                <a:latin typeface="Calibri"/>
                <a:cs typeface="Calibri"/>
              </a:rPr>
              <a:t> </a:t>
            </a:r>
            <a:r>
              <a:rPr sz="2600" dirty="0">
                <a:solidFill>
                  <a:srgbClr val="262EA4"/>
                </a:solidFill>
                <a:latin typeface="Calibri"/>
                <a:cs typeface="Calibri"/>
              </a:rPr>
              <a:t>tension</a:t>
            </a:r>
            <a:r>
              <a:rPr sz="2600" spc="625" dirty="0">
                <a:solidFill>
                  <a:srgbClr val="262EA4"/>
                </a:solidFill>
                <a:latin typeface="Calibri"/>
                <a:cs typeface="Calibri"/>
              </a:rPr>
              <a:t> </a:t>
            </a:r>
            <a:r>
              <a:rPr sz="2600" dirty="0">
                <a:solidFill>
                  <a:srgbClr val="262EA4"/>
                </a:solidFill>
                <a:latin typeface="Calibri"/>
                <a:cs typeface="Calibri"/>
              </a:rPr>
              <a:t>between</a:t>
            </a:r>
            <a:r>
              <a:rPr sz="2600" spc="620" dirty="0">
                <a:solidFill>
                  <a:srgbClr val="262EA4"/>
                </a:solidFill>
                <a:latin typeface="Calibri"/>
                <a:cs typeface="Calibri"/>
              </a:rPr>
              <a:t> </a:t>
            </a:r>
            <a:r>
              <a:rPr sz="2600" dirty="0">
                <a:solidFill>
                  <a:srgbClr val="262EA4"/>
                </a:solidFill>
                <a:latin typeface="Calibri"/>
                <a:cs typeface="Calibri"/>
              </a:rPr>
              <a:t>functional</a:t>
            </a:r>
            <a:r>
              <a:rPr sz="2600" spc="635" dirty="0">
                <a:solidFill>
                  <a:srgbClr val="262EA4"/>
                </a:solidFill>
                <a:latin typeface="Calibri"/>
                <a:cs typeface="Calibri"/>
              </a:rPr>
              <a:t> </a:t>
            </a:r>
            <a:r>
              <a:rPr sz="2600" dirty="0">
                <a:solidFill>
                  <a:srgbClr val="262EA4"/>
                </a:solidFill>
                <a:latin typeface="Calibri"/>
                <a:cs typeface="Calibri"/>
              </a:rPr>
              <a:t>managers</a:t>
            </a:r>
            <a:r>
              <a:rPr sz="2600" spc="620" dirty="0">
                <a:solidFill>
                  <a:srgbClr val="262EA4"/>
                </a:solidFill>
                <a:latin typeface="Calibri"/>
                <a:cs typeface="Calibri"/>
              </a:rPr>
              <a:t> </a:t>
            </a:r>
            <a:r>
              <a:rPr sz="2600" dirty="0">
                <a:solidFill>
                  <a:srgbClr val="262EA4"/>
                </a:solidFill>
                <a:latin typeface="Calibri"/>
                <a:cs typeface="Calibri"/>
              </a:rPr>
              <a:t>and</a:t>
            </a:r>
            <a:r>
              <a:rPr sz="2600" spc="625" dirty="0">
                <a:solidFill>
                  <a:srgbClr val="262EA4"/>
                </a:solidFill>
                <a:latin typeface="Calibri"/>
                <a:cs typeface="Calibri"/>
              </a:rPr>
              <a:t> </a:t>
            </a:r>
            <a:r>
              <a:rPr sz="2600" dirty="0">
                <a:solidFill>
                  <a:srgbClr val="262EA4"/>
                </a:solidFill>
                <a:latin typeface="Calibri"/>
                <a:cs typeface="Calibri"/>
              </a:rPr>
              <a:t>project</a:t>
            </a:r>
            <a:r>
              <a:rPr sz="2600" spc="630" dirty="0">
                <a:solidFill>
                  <a:srgbClr val="262EA4"/>
                </a:solidFill>
                <a:latin typeface="Calibri"/>
                <a:cs typeface="Calibri"/>
              </a:rPr>
              <a:t> </a:t>
            </a:r>
            <a:r>
              <a:rPr sz="2600" dirty="0">
                <a:solidFill>
                  <a:srgbClr val="262EA4"/>
                </a:solidFill>
                <a:latin typeface="Calibri"/>
                <a:cs typeface="Calibri"/>
              </a:rPr>
              <a:t>managers.</a:t>
            </a:r>
            <a:r>
              <a:rPr sz="2600" spc="640" dirty="0">
                <a:solidFill>
                  <a:srgbClr val="262EA4"/>
                </a:solidFill>
                <a:latin typeface="Calibri"/>
                <a:cs typeface="Calibri"/>
              </a:rPr>
              <a:t> </a:t>
            </a:r>
            <a:r>
              <a:rPr sz="2600" spc="-25" dirty="0">
                <a:solidFill>
                  <a:srgbClr val="262EA4"/>
                </a:solidFill>
                <a:latin typeface="Calibri"/>
                <a:cs typeface="Calibri"/>
              </a:rPr>
              <a:t>Any 	</a:t>
            </a:r>
            <a:r>
              <a:rPr sz="2600" dirty="0">
                <a:solidFill>
                  <a:srgbClr val="262EA4"/>
                </a:solidFill>
                <a:latin typeface="Calibri"/>
                <a:cs typeface="Calibri"/>
              </a:rPr>
              <a:t>situation</a:t>
            </a:r>
            <a:r>
              <a:rPr sz="2600" spc="355" dirty="0">
                <a:solidFill>
                  <a:srgbClr val="262EA4"/>
                </a:solidFill>
                <a:latin typeface="Calibri"/>
                <a:cs typeface="Calibri"/>
              </a:rPr>
              <a:t> </a:t>
            </a:r>
            <a:r>
              <a:rPr sz="2600" dirty="0">
                <a:solidFill>
                  <a:srgbClr val="262EA4"/>
                </a:solidFill>
                <a:latin typeface="Calibri"/>
                <a:cs typeface="Calibri"/>
              </a:rPr>
              <a:t>in</a:t>
            </a:r>
            <a:r>
              <a:rPr sz="2600" spc="355" dirty="0">
                <a:solidFill>
                  <a:srgbClr val="262EA4"/>
                </a:solidFill>
                <a:latin typeface="Calibri"/>
                <a:cs typeface="Calibri"/>
              </a:rPr>
              <a:t> </a:t>
            </a:r>
            <a:r>
              <a:rPr sz="2600" dirty="0">
                <a:solidFill>
                  <a:srgbClr val="262EA4"/>
                </a:solidFill>
                <a:latin typeface="Calibri"/>
                <a:cs typeface="Calibri"/>
              </a:rPr>
              <a:t>which</a:t>
            </a:r>
            <a:r>
              <a:rPr sz="2600" spc="355" dirty="0">
                <a:solidFill>
                  <a:srgbClr val="262EA4"/>
                </a:solidFill>
                <a:latin typeface="Calibri"/>
                <a:cs typeface="Calibri"/>
              </a:rPr>
              <a:t> </a:t>
            </a:r>
            <a:r>
              <a:rPr sz="2600" dirty="0">
                <a:solidFill>
                  <a:srgbClr val="262EA4"/>
                </a:solidFill>
                <a:latin typeface="Calibri"/>
                <a:cs typeface="Calibri"/>
              </a:rPr>
              <a:t>equipment,</a:t>
            </a:r>
            <a:r>
              <a:rPr sz="2600" spc="360" dirty="0">
                <a:solidFill>
                  <a:srgbClr val="262EA4"/>
                </a:solidFill>
                <a:latin typeface="Calibri"/>
                <a:cs typeface="Calibri"/>
              </a:rPr>
              <a:t> </a:t>
            </a:r>
            <a:r>
              <a:rPr sz="2600" dirty="0">
                <a:solidFill>
                  <a:srgbClr val="262EA4"/>
                </a:solidFill>
                <a:latin typeface="Calibri"/>
                <a:cs typeface="Calibri"/>
              </a:rPr>
              <a:t>resources,</a:t>
            </a:r>
            <a:r>
              <a:rPr sz="2600" spc="350" dirty="0">
                <a:solidFill>
                  <a:srgbClr val="262EA4"/>
                </a:solidFill>
                <a:latin typeface="Calibri"/>
                <a:cs typeface="Calibri"/>
              </a:rPr>
              <a:t> </a:t>
            </a:r>
            <a:r>
              <a:rPr sz="2600" dirty="0">
                <a:solidFill>
                  <a:srgbClr val="262EA4"/>
                </a:solidFill>
                <a:latin typeface="Calibri"/>
                <a:cs typeface="Calibri"/>
              </a:rPr>
              <a:t>and</a:t>
            </a:r>
            <a:r>
              <a:rPr sz="2600" spc="355" dirty="0">
                <a:solidFill>
                  <a:srgbClr val="262EA4"/>
                </a:solidFill>
                <a:latin typeface="Calibri"/>
                <a:cs typeface="Calibri"/>
              </a:rPr>
              <a:t> </a:t>
            </a:r>
            <a:r>
              <a:rPr sz="2600" dirty="0">
                <a:solidFill>
                  <a:srgbClr val="262EA4"/>
                </a:solidFill>
                <a:latin typeface="Calibri"/>
                <a:cs typeface="Calibri"/>
              </a:rPr>
              <a:t>people</a:t>
            </a:r>
            <a:r>
              <a:rPr sz="2600" spc="350" dirty="0">
                <a:solidFill>
                  <a:srgbClr val="262EA4"/>
                </a:solidFill>
                <a:latin typeface="Calibri"/>
                <a:cs typeface="Calibri"/>
              </a:rPr>
              <a:t> </a:t>
            </a:r>
            <a:r>
              <a:rPr sz="2600" dirty="0">
                <a:solidFill>
                  <a:srgbClr val="262EA4"/>
                </a:solidFill>
                <a:latin typeface="Calibri"/>
                <a:cs typeface="Calibri"/>
              </a:rPr>
              <a:t>are</a:t>
            </a:r>
            <a:r>
              <a:rPr sz="2600" spc="350" dirty="0">
                <a:solidFill>
                  <a:srgbClr val="262EA4"/>
                </a:solidFill>
                <a:latin typeface="Calibri"/>
                <a:cs typeface="Calibri"/>
              </a:rPr>
              <a:t> </a:t>
            </a:r>
            <a:r>
              <a:rPr sz="2600" dirty="0">
                <a:solidFill>
                  <a:srgbClr val="262EA4"/>
                </a:solidFill>
                <a:latin typeface="Calibri"/>
                <a:cs typeface="Calibri"/>
              </a:rPr>
              <a:t>being</a:t>
            </a:r>
            <a:r>
              <a:rPr sz="2600" spc="355" dirty="0">
                <a:solidFill>
                  <a:srgbClr val="262EA4"/>
                </a:solidFill>
                <a:latin typeface="Calibri"/>
                <a:cs typeface="Calibri"/>
              </a:rPr>
              <a:t> </a:t>
            </a:r>
            <a:r>
              <a:rPr sz="2600" spc="-10" dirty="0">
                <a:solidFill>
                  <a:srgbClr val="262EA4"/>
                </a:solidFill>
                <a:latin typeface="Calibri"/>
                <a:cs typeface="Calibri"/>
              </a:rPr>
              <a:t>shared 	</a:t>
            </a:r>
            <a:r>
              <a:rPr sz="2600" dirty="0">
                <a:solidFill>
                  <a:srgbClr val="262EA4"/>
                </a:solidFill>
                <a:latin typeface="Calibri"/>
                <a:cs typeface="Calibri"/>
              </a:rPr>
              <a:t>across</a:t>
            </a:r>
            <a:r>
              <a:rPr sz="2600" spc="114" dirty="0">
                <a:solidFill>
                  <a:srgbClr val="262EA4"/>
                </a:solidFill>
                <a:latin typeface="Calibri"/>
                <a:cs typeface="Calibri"/>
              </a:rPr>
              <a:t>  </a:t>
            </a:r>
            <a:r>
              <a:rPr sz="2600" dirty="0">
                <a:solidFill>
                  <a:srgbClr val="262EA4"/>
                </a:solidFill>
                <a:latin typeface="Calibri"/>
                <a:cs typeface="Calibri"/>
              </a:rPr>
              <a:t>projects</a:t>
            </a:r>
            <a:r>
              <a:rPr sz="2600" spc="120" dirty="0">
                <a:solidFill>
                  <a:srgbClr val="262EA4"/>
                </a:solidFill>
                <a:latin typeface="Calibri"/>
                <a:cs typeface="Calibri"/>
              </a:rPr>
              <a:t>  </a:t>
            </a:r>
            <a:r>
              <a:rPr sz="2600" dirty="0">
                <a:solidFill>
                  <a:srgbClr val="262EA4"/>
                </a:solidFill>
                <a:latin typeface="Calibri"/>
                <a:cs typeface="Calibri"/>
              </a:rPr>
              <a:t>and</a:t>
            </a:r>
            <a:r>
              <a:rPr sz="2600" spc="120" dirty="0">
                <a:solidFill>
                  <a:srgbClr val="262EA4"/>
                </a:solidFill>
                <a:latin typeface="Calibri"/>
                <a:cs typeface="Calibri"/>
              </a:rPr>
              <a:t>  </a:t>
            </a:r>
            <a:r>
              <a:rPr sz="2600" dirty="0">
                <a:solidFill>
                  <a:srgbClr val="262EA4"/>
                </a:solidFill>
                <a:latin typeface="Calibri"/>
                <a:cs typeface="Calibri"/>
              </a:rPr>
              <a:t>functional</a:t>
            </a:r>
            <a:r>
              <a:rPr sz="2600" spc="125" dirty="0">
                <a:solidFill>
                  <a:srgbClr val="262EA4"/>
                </a:solidFill>
                <a:latin typeface="Calibri"/>
                <a:cs typeface="Calibri"/>
              </a:rPr>
              <a:t>  </a:t>
            </a:r>
            <a:r>
              <a:rPr sz="2600" dirty="0">
                <a:solidFill>
                  <a:srgbClr val="262EA4"/>
                </a:solidFill>
                <a:latin typeface="Calibri"/>
                <a:cs typeface="Calibri"/>
              </a:rPr>
              <a:t>activities</a:t>
            </a:r>
            <a:r>
              <a:rPr sz="2600" spc="114" dirty="0">
                <a:solidFill>
                  <a:srgbClr val="262EA4"/>
                </a:solidFill>
                <a:latin typeface="Calibri"/>
                <a:cs typeface="Calibri"/>
              </a:rPr>
              <a:t>  </a:t>
            </a:r>
            <a:r>
              <a:rPr sz="2600" dirty="0">
                <a:solidFill>
                  <a:srgbClr val="262EA4"/>
                </a:solidFill>
                <a:latin typeface="Calibri"/>
                <a:cs typeface="Calibri"/>
              </a:rPr>
              <a:t>lends</a:t>
            </a:r>
            <a:r>
              <a:rPr sz="2600" spc="120" dirty="0">
                <a:solidFill>
                  <a:srgbClr val="262EA4"/>
                </a:solidFill>
                <a:latin typeface="Calibri"/>
                <a:cs typeface="Calibri"/>
              </a:rPr>
              <a:t>  </a:t>
            </a:r>
            <a:r>
              <a:rPr sz="2600" dirty="0">
                <a:solidFill>
                  <a:srgbClr val="262EA4"/>
                </a:solidFill>
                <a:latin typeface="Calibri"/>
                <a:cs typeface="Calibri"/>
              </a:rPr>
              <a:t>itself</a:t>
            </a:r>
            <a:r>
              <a:rPr sz="2600" spc="120" dirty="0">
                <a:solidFill>
                  <a:srgbClr val="262EA4"/>
                </a:solidFill>
                <a:latin typeface="Calibri"/>
                <a:cs typeface="Calibri"/>
              </a:rPr>
              <a:t>  </a:t>
            </a:r>
            <a:r>
              <a:rPr sz="2600" dirty="0">
                <a:solidFill>
                  <a:srgbClr val="262EA4"/>
                </a:solidFill>
                <a:latin typeface="Calibri"/>
                <a:cs typeface="Calibri"/>
              </a:rPr>
              <a:t>to</a:t>
            </a:r>
            <a:r>
              <a:rPr sz="2600" spc="125" dirty="0">
                <a:solidFill>
                  <a:srgbClr val="262EA4"/>
                </a:solidFill>
                <a:latin typeface="Calibri"/>
                <a:cs typeface="Calibri"/>
              </a:rPr>
              <a:t>  </a:t>
            </a:r>
            <a:r>
              <a:rPr sz="2600" dirty="0">
                <a:solidFill>
                  <a:srgbClr val="262EA4"/>
                </a:solidFill>
                <a:latin typeface="Calibri"/>
                <a:cs typeface="Calibri"/>
              </a:rPr>
              <a:t>conflict</a:t>
            </a:r>
            <a:r>
              <a:rPr sz="2600" spc="130" dirty="0">
                <a:solidFill>
                  <a:srgbClr val="262EA4"/>
                </a:solidFill>
                <a:latin typeface="Calibri"/>
                <a:cs typeface="Calibri"/>
              </a:rPr>
              <a:t>  </a:t>
            </a:r>
            <a:r>
              <a:rPr sz="2600" spc="-25" dirty="0">
                <a:solidFill>
                  <a:srgbClr val="262EA4"/>
                </a:solidFill>
                <a:latin typeface="Calibri"/>
                <a:cs typeface="Calibri"/>
              </a:rPr>
              <a:t>and 	</a:t>
            </a:r>
            <a:r>
              <a:rPr sz="2600" dirty="0">
                <a:solidFill>
                  <a:srgbClr val="262EA4"/>
                </a:solidFill>
                <a:latin typeface="Calibri"/>
                <a:cs typeface="Calibri"/>
              </a:rPr>
              <a:t>competition</a:t>
            </a:r>
            <a:r>
              <a:rPr sz="2600" spc="110" dirty="0">
                <a:solidFill>
                  <a:srgbClr val="262EA4"/>
                </a:solidFill>
                <a:latin typeface="Calibri"/>
                <a:cs typeface="Calibri"/>
              </a:rPr>
              <a:t>  </a:t>
            </a:r>
            <a:r>
              <a:rPr sz="2600" dirty="0">
                <a:solidFill>
                  <a:srgbClr val="262EA4"/>
                </a:solidFill>
                <a:latin typeface="Calibri"/>
                <a:cs typeface="Calibri"/>
              </a:rPr>
              <a:t>for</a:t>
            </a:r>
            <a:r>
              <a:rPr sz="2600" spc="114" dirty="0">
                <a:solidFill>
                  <a:srgbClr val="262EA4"/>
                </a:solidFill>
                <a:latin typeface="Calibri"/>
                <a:cs typeface="Calibri"/>
              </a:rPr>
              <a:t>  </a:t>
            </a:r>
            <a:r>
              <a:rPr sz="2600" dirty="0">
                <a:solidFill>
                  <a:srgbClr val="262EA4"/>
                </a:solidFill>
                <a:latin typeface="Calibri"/>
                <a:cs typeface="Calibri"/>
              </a:rPr>
              <a:t>rare</a:t>
            </a:r>
            <a:r>
              <a:rPr sz="2600" spc="110" dirty="0">
                <a:solidFill>
                  <a:srgbClr val="262EA4"/>
                </a:solidFill>
                <a:latin typeface="Calibri"/>
                <a:cs typeface="Calibri"/>
              </a:rPr>
              <a:t>  </a:t>
            </a:r>
            <a:r>
              <a:rPr sz="2600" dirty="0">
                <a:solidFill>
                  <a:srgbClr val="262EA4"/>
                </a:solidFill>
                <a:latin typeface="Calibri"/>
                <a:cs typeface="Calibri"/>
              </a:rPr>
              <a:t>resources.</a:t>
            </a:r>
            <a:r>
              <a:rPr sz="2600" spc="114" dirty="0">
                <a:solidFill>
                  <a:srgbClr val="262EA4"/>
                </a:solidFill>
                <a:latin typeface="Calibri"/>
                <a:cs typeface="Calibri"/>
              </a:rPr>
              <a:t>  </a:t>
            </a:r>
            <a:r>
              <a:rPr sz="2600" dirty="0">
                <a:solidFill>
                  <a:srgbClr val="262EA4"/>
                </a:solidFill>
                <a:latin typeface="Calibri"/>
                <a:cs typeface="Calibri"/>
              </a:rPr>
              <a:t>Infighting</a:t>
            </a:r>
            <a:r>
              <a:rPr sz="2600" spc="114" dirty="0">
                <a:solidFill>
                  <a:srgbClr val="262EA4"/>
                </a:solidFill>
                <a:latin typeface="Calibri"/>
                <a:cs typeface="Calibri"/>
              </a:rPr>
              <a:t>  </a:t>
            </a:r>
            <a:r>
              <a:rPr sz="2600" dirty="0">
                <a:solidFill>
                  <a:srgbClr val="262EA4"/>
                </a:solidFill>
                <a:latin typeface="Calibri"/>
                <a:cs typeface="Calibri"/>
              </a:rPr>
              <a:t>can</a:t>
            </a:r>
            <a:r>
              <a:rPr sz="2600" spc="110" dirty="0">
                <a:solidFill>
                  <a:srgbClr val="262EA4"/>
                </a:solidFill>
                <a:latin typeface="Calibri"/>
                <a:cs typeface="Calibri"/>
              </a:rPr>
              <a:t>  </a:t>
            </a:r>
            <a:r>
              <a:rPr sz="2600" dirty="0">
                <a:solidFill>
                  <a:srgbClr val="262EA4"/>
                </a:solidFill>
                <a:latin typeface="Calibri"/>
                <a:cs typeface="Calibri"/>
              </a:rPr>
              <a:t>occur</a:t>
            </a:r>
            <a:r>
              <a:rPr sz="2600" spc="114" dirty="0">
                <a:solidFill>
                  <a:srgbClr val="262EA4"/>
                </a:solidFill>
                <a:latin typeface="Calibri"/>
                <a:cs typeface="Calibri"/>
              </a:rPr>
              <a:t>  </a:t>
            </a:r>
            <a:r>
              <a:rPr sz="2600" dirty="0">
                <a:solidFill>
                  <a:srgbClr val="262EA4"/>
                </a:solidFill>
                <a:latin typeface="Calibri"/>
                <a:cs typeface="Calibri"/>
              </a:rPr>
              <a:t>among</a:t>
            </a:r>
            <a:r>
              <a:rPr sz="2600" spc="110" dirty="0">
                <a:solidFill>
                  <a:srgbClr val="262EA4"/>
                </a:solidFill>
                <a:latin typeface="Calibri"/>
                <a:cs typeface="Calibri"/>
              </a:rPr>
              <a:t>  </a:t>
            </a:r>
            <a:r>
              <a:rPr sz="2600" spc="-10" dirty="0">
                <a:solidFill>
                  <a:srgbClr val="262EA4"/>
                </a:solidFill>
                <a:latin typeface="Calibri"/>
                <a:cs typeface="Calibri"/>
              </a:rPr>
              <a:t>project 	managers,</a:t>
            </a:r>
            <a:r>
              <a:rPr sz="2600" spc="-65" dirty="0">
                <a:solidFill>
                  <a:srgbClr val="262EA4"/>
                </a:solidFill>
                <a:latin typeface="Calibri"/>
                <a:cs typeface="Calibri"/>
              </a:rPr>
              <a:t> </a:t>
            </a:r>
            <a:r>
              <a:rPr sz="2600" dirty="0">
                <a:solidFill>
                  <a:srgbClr val="262EA4"/>
                </a:solidFill>
                <a:latin typeface="Calibri"/>
                <a:cs typeface="Calibri"/>
              </a:rPr>
              <a:t>who</a:t>
            </a:r>
            <a:r>
              <a:rPr sz="2600" spc="-55" dirty="0">
                <a:solidFill>
                  <a:srgbClr val="262EA4"/>
                </a:solidFill>
                <a:latin typeface="Calibri"/>
                <a:cs typeface="Calibri"/>
              </a:rPr>
              <a:t> </a:t>
            </a:r>
            <a:r>
              <a:rPr sz="2600" dirty="0">
                <a:solidFill>
                  <a:srgbClr val="262EA4"/>
                </a:solidFill>
                <a:latin typeface="Calibri"/>
                <a:cs typeface="Calibri"/>
              </a:rPr>
              <a:t>are</a:t>
            </a:r>
            <a:r>
              <a:rPr sz="2600" spc="-65" dirty="0">
                <a:solidFill>
                  <a:srgbClr val="262EA4"/>
                </a:solidFill>
                <a:latin typeface="Calibri"/>
                <a:cs typeface="Calibri"/>
              </a:rPr>
              <a:t> </a:t>
            </a:r>
            <a:r>
              <a:rPr sz="2600" dirty="0">
                <a:solidFill>
                  <a:srgbClr val="262EA4"/>
                </a:solidFill>
                <a:latin typeface="Calibri"/>
                <a:cs typeface="Calibri"/>
              </a:rPr>
              <a:t>primarily</a:t>
            </a:r>
            <a:r>
              <a:rPr sz="2600" spc="-65" dirty="0">
                <a:solidFill>
                  <a:srgbClr val="262EA4"/>
                </a:solidFill>
                <a:latin typeface="Calibri"/>
                <a:cs typeface="Calibri"/>
              </a:rPr>
              <a:t> </a:t>
            </a:r>
            <a:r>
              <a:rPr sz="2600" spc="-10" dirty="0">
                <a:solidFill>
                  <a:srgbClr val="262EA4"/>
                </a:solidFill>
                <a:latin typeface="Calibri"/>
                <a:cs typeface="Calibri"/>
              </a:rPr>
              <a:t>interested</a:t>
            </a:r>
            <a:r>
              <a:rPr sz="2600" spc="-60" dirty="0">
                <a:solidFill>
                  <a:srgbClr val="262EA4"/>
                </a:solidFill>
                <a:latin typeface="Calibri"/>
                <a:cs typeface="Calibri"/>
              </a:rPr>
              <a:t> </a:t>
            </a:r>
            <a:r>
              <a:rPr sz="2600" dirty="0">
                <a:solidFill>
                  <a:srgbClr val="262EA4"/>
                </a:solidFill>
                <a:latin typeface="Calibri"/>
                <a:cs typeface="Calibri"/>
              </a:rPr>
              <a:t>in</a:t>
            </a:r>
            <a:r>
              <a:rPr sz="2600" spc="-65" dirty="0">
                <a:solidFill>
                  <a:srgbClr val="262EA4"/>
                </a:solidFill>
                <a:latin typeface="Calibri"/>
                <a:cs typeface="Calibri"/>
              </a:rPr>
              <a:t> </a:t>
            </a:r>
            <a:r>
              <a:rPr sz="2600" dirty="0">
                <a:solidFill>
                  <a:srgbClr val="262EA4"/>
                </a:solidFill>
                <a:latin typeface="Calibri"/>
                <a:cs typeface="Calibri"/>
              </a:rPr>
              <a:t>what</a:t>
            </a:r>
            <a:r>
              <a:rPr sz="2600" spc="-50" dirty="0">
                <a:solidFill>
                  <a:srgbClr val="262EA4"/>
                </a:solidFill>
                <a:latin typeface="Calibri"/>
                <a:cs typeface="Calibri"/>
              </a:rPr>
              <a:t> </a:t>
            </a:r>
            <a:r>
              <a:rPr sz="2600" dirty="0">
                <a:solidFill>
                  <a:srgbClr val="262EA4"/>
                </a:solidFill>
                <a:latin typeface="Calibri"/>
                <a:cs typeface="Calibri"/>
              </a:rPr>
              <a:t>is</a:t>
            </a:r>
            <a:r>
              <a:rPr sz="2600" spc="-65" dirty="0">
                <a:solidFill>
                  <a:srgbClr val="262EA4"/>
                </a:solidFill>
                <a:latin typeface="Calibri"/>
                <a:cs typeface="Calibri"/>
              </a:rPr>
              <a:t> </a:t>
            </a:r>
            <a:r>
              <a:rPr sz="2600" dirty="0">
                <a:solidFill>
                  <a:srgbClr val="262EA4"/>
                </a:solidFill>
                <a:latin typeface="Calibri"/>
                <a:cs typeface="Calibri"/>
              </a:rPr>
              <a:t>best</a:t>
            </a:r>
            <a:r>
              <a:rPr sz="2600" spc="-55" dirty="0">
                <a:solidFill>
                  <a:srgbClr val="262EA4"/>
                </a:solidFill>
                <a:latin typeface="Calibri"/>
                <a:cs typeface="Calibri"/>
              </a:rPr>
              <a:t> </a:t>
            </a:r>
            <a:r>
              <a:rPr sz="2600" dirty="0">
                <a:solidFill>
                  <a:srgbClr val="262EA4"/>
                </a:solidFill>
                <a:latin typeface="Calibri"/>
                <a:cs typeface="Calibri"/>
              </a:rPr>
              <a:t>for</a:t>
            </a:r>
            <a:r>
              <a:rPr sz="2600" spc="-55" dirty="0">
                <a:solidFill>
                  <a:srgbClr val="262EA4"/>
                </a:solidFill>
                <a:latin typeface="Calibri"/>
                <a:cs typeface="Calibri"/>
              </a:rPr>
              <a:t> </a:t>
            </a:r>
            <a:r>
              <a:rPr sz="2600" dirty="0">
                <a:solidFill>
                  <a:srgbClr val="262EA4"/>
                </a:solidFill>
                <a:latin typeface="Calibri"/>
                <a:cs typeface="Calibri"/>
              </a:rPr>
              <a:t>their</a:t>
            </a:r>
            <a:r>
              <a:rPr sz="2600" spc="-50" dirty="0">
                <a:solidFill>
                  <a:srgbClr val="262EA4"/>
                </a:solidFill>
                <a:latin typeface="Calibri"/>
                <a:cs typeface="Calibri"/>
              </a:rPr>
              <a:t> </a:t>
            </a:r>
            <a:r>
              <a:rPr sz="2600" spc="-10" dirty="0">
                <a:solidFill>
                  <a:srgbClr val="262EA4"/>
                </a:solidFill>
                <a:latin typeface="Calibri"/>
                <a:cs typeface="Calibri"/>
              </a:rPr>
              <a:t>project</a:t>
            </a:r>
            <a:r>
              <a:rPr sz="2800" spc="-10" dirty="0">
                <a:solidFill>
                  <a:srgbClr val="262EA4"/>
                </a:solidFill>
                <a:latin typeface="Calibri"/>
                <a:cs typeface="Calibri"/>
              </a:rPr>
              <a:t>.</a:t>
            </a:r>
            <a:endParaRPr sz="2800">
              <a:latin typeface="Calibri"/>
              <a:cs typeface="Calibri"/>
            </a:endParaRPr>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16</a:t>
            </a:r>
            <a:endParaRPr sz="1200">
              <a:latin typeface="Calibri"/>
              <a:cs typeface="Calibri"/>
            </a:endParaRPr>
          </a:p>
        </p:txBody>
      </p:sp>
      <p:sp>
        <p:nvSpPr>
          <p:cNvPr id="4" name="object 4"/>
          <p:cNvSpPr txBox="1">
            <a:spLocks noGrp="1"/>
          </p:cNvSpPr>
          <p:nvPr>
            <p:ph type="title"/>
          </p:nvPr>
        </p:nvSpPr>
        <p:spPr>
          <a:xfrm>
            <a:off x="1143000" y="532441"/>
            <a:ext cx="11233150" cy="686247"/>
          </a:xfrm>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Matrix Arrangement </a:t>
            </a:r>
            <a:r>
              <a:rPr sz="1950" spc="-10" dirty="0"/>
              <a:t>(5/5)</a:t>
            </a:r>
            <a:endParaRPr sz="1950" dirty="0"/>
          </a:p>
        </p:txBody>
      </p:sp>
      <p:pic>
        <p:nvPicPr>
          <p:cNvPr id="5" name="Picture 4">
            <a:extLst>
              <a:ext uri="{FF2B5EF4-FFF2-40B4-BE49-F238E27FC236}">
                <a16:creationId xmlns:a16="http://schemas.microsoft.com/office/drawing/2014/main" id="{3C20FF56-220F-4C0A-AD88-B772C709ED1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413902" rIns="0" bIns="0" rtlCol="0">
            <a:spAutoFit/>
          </a:bodyPr>
          <a:lstStyle/>
          <a:p>
            <a:pPr marL="240665" indent="-227965" algn="just">
              <a:lnSpc>
                <a:spcPct val="100000"/>
              </a:lnSpc>
              <a:spcBef>
                <a:spcPts val="370"/>
              </a:spcBef>
              <a:buFont typeface="Arial MT"/>
              <a:buChar char="•"/>
              <a:tabLst>
                <a:tab pos="240665" algn="l"/>
              </a:tabLst>
            </a:pPr>
            <a:r>
              <a:rPr b="1" dirty="0">
                <a:solidFill>
                  <a:srgbClr val="C00000"/>
                </a:solidFill>
                <a:latin typeface="Calibri"/>
                <a:cs typeface="Calibri"/>
              </a:rPr>
              <a:t>Weak</a:t>
            </a:r>
            <a:r>
              <a:rPr b="1" spc="-160" dirty="0">
                <a:solidFill>
                  <a:srgbClr val="C00000"/>
                </a:solidFill>
                <a:latin typeface="Calibri"/>
                <a:cs typeface="Calibri"/>
              </a:rPr>
              <a:t> </a:t>
            </a:r>
            <a:r>
              <a:rPr b="1" spc="-10" dirty="0">
                <a:solidFill>
                  <a:srgbClr val="C00000"/>
                </a:solidFill>
                <a:latin typeface="Calibri"/>
                <a:cs typeface="Calibri"/>
              </a:rPr>
              <a:t>matrix</a:t>
            </a:r>
            <a:r>
              <a:rPr b="1" spc="-10" dirty="0">
                <a:latin typeface="Calibri"/>
                <a:cs typeface="Calibri"/>
              </a:rPr>
              <a:t>:</a:t>
            </a:r>
          </a:p>
          <a:p>
            <a:pPr marL="697230" marR="5080" lvl="1" indent="-227329" algn="just">
              <a:lnSpc>
                <a:spcPct val="90400"/>
              </a:lnSpc>
              <a:spcBef>
                <a:spcPts val="509"/>
              </a:spcBef>
              <a:buFont typeface="Arial MT"/>
              <a:buChar char="•"/>
              <a:tabLst>
                <a:tab pos="698500" algn="l"/>
              </a:tabLst>
            </a:pPr>
            <a:r>
              <a:rPr sz="2400" dirty="0">
                <a:latin typeface="Calibri"/>
                <a:cs typeface="Calibri"/>
              </a:rPr>
              <a:t>Very</a:t>
            </a:r>
            <a:r>
              <a:rPr sz="2400" spc="540" dirty="0">
                <a:latin typeface="Calibri"/>
                <a:cs typeface="Calibri"/>
              </a:rPr>
              <a:t> </a:t>
            </a:r>
            <a:r>
              <a:rPr sz="2400" dirty="0">
                <a:latin typeface="Calibri"/>
                <a:cs typeface="Calibri"/>
              </a:rPr>
              <a:t>similar</a:t>
            </a:r>
            <a:r>
              <a:rPr sz="2400" spc="545" dirty="0">
                <a:latin typeface="Calibri"/>
                <a:cs typeface="Calibri"/>
              </a:rPr>
              <a:t> </a:t>
            </a:r>
            <a:r>
              <a:rPr sz="2400" dirty="0">
                <a:latin typeface="Calibri"/>
                <a:cs typeface="Calibri"/>
              </a:rPr>
              <a:t>to</a:t>
            </a:r>
            <a:r>
              <a:rPr sz="2400" spc="545" dirty="0">
                <a:latin typeface="Calibri"/>
                <a:cs typeface="Calibri"/>
              </a:rPr>
              <a:t> </a:t>
            </a:r>
            <a:r>
              <a:rPr sz="2400" dirty="0">
                <a:latin typeface="Calibri"/>
                <a:cs typeface="Calibri"/>
              </a:rPr>
              <a:t>a</a:t>
            </a:r>
            <a:r>
              <a:rPr sz="2400" spc="545" dirty="0">
                <a:latin typeface="Calibri"/>
                <a:cs typeface="Calibri"/>
              </a:rPr>
              <a:t> </a:t>
            </a:r>
            <a:r>
              <a:rPr sz="2400" dirty="0">
                <a:latin typeface="Calibri"/>
                <a:cs typeface="Calibri"/>
              </a:rPr>
              <a:t>functional</a:t>
            </a:r>
            <a:r>
              <a:rPr sz="2400" spc="545" dirty="0">
                <a:latin typeface="Calibri"/>
                <a:cs typeface="Calibri"/>
              </a:rPr>
              <a:t> </a:t>
            </a:r>
            <a:r>
              <a:rPr sz="2400" dirty="0">
                <a:latin typeface="Calibri"/>
                <a:cs typeface="Calibri"/>
              </a:rPr>
              <a:t>approach</a:t>
            </a:r>
            <a:r>
              <a:rPr sz="2400" spc="545" dirty="0">
                <a:latin typeface="Calibri"/>
                <a:cs typeface="Calibri"/>
              </a:rPr>
              <a:t> </a:t>
            </a:r>
            <a:r>
              <a:rPr sz="2400" dirty="0">
                <a:latin typeface="Calibri"/>
                <a:cs typeface="Calibri"/>
              </a:rPr>
              <a:t>with</a:t>
            </a:r>
            <a:r>
              <a:rPr sz="2400" spc="545" dirty="0">
                <a:latin typeface="Calibri"/>
                <a:cs typeface="Calibri"/>
              </a:rPr>
              <a:t> </a:t>
            </a:r>
            <a:r>
              <a:rPr sz="2400" dirty="0">
                <a:latin typeface="Calibri"/>
                <a:cs typeface="Calibri"/>
              </a:rPr>
              <a:t>the</a:t>
            </a:r>
            <a:r>
              <a:rPr sz="2400" spc="555" dirty="0">
                <a:latin typeface="Calibri"/>
                <a:cs typeface="Calibri"/>
              </a:rPr>
              <a:t> </a:t>
            </a:r>
            <a:r>
              <a:rPr sz="2400" dirty="0">
                <a:latin typeface="Calibri"/>
                <a:cs typeface="Calibri"/>
              </a:rPr>
              <a:t>exception</a:t>
            </a:r>
            <a:r>
              <a:rPr sz="2400" spc="550" dirty="0">
                <a:latin typeface="Calibri"/>
                <a:cs typeface="Calibri"/>
              </a:rPr>
              <a:t> </a:t>
            </a:r>
            <a:r>
              <a:rPr sz="2400" dirty="0">
                <a:latin typeface="Calibri"/>
                <a:cs typeface="Calibri"/>
              </a:rPr>
              <a:t>that</a:t>
            </a:r>
            <a:r>
              <a:rPr sz="2400" spc="540" dirty="0">
                <a:latin typeface="Calibri"/>
                <a:cs typeface="Calibri"/>
              </a:rPr>
              <a:t> </a:t>
            </a:r>
            <a:r>
              <a:rPr sz="2400" dirty="0">
                <a:latin typeface="Calibri"/>
                <a:cs typeface="Calibri"/>
              </a:rPr>
              <a:t>there</a:t>
            </a:r>
            <a:r>
              <a:rPr sz="2400" spc="550" dirty="0">
                <a:latin typeface="Calibri"/>
                <a:cs typeface="Calibri"/>
              </a:rPr>
              <a:t> </a:t>
            </a:r>
            <a:r>
              <a:rPr sz="2400" dirty="0">
                <a:latin typeface="Calibri"/>
                <a:cs typeface="Calibri"/>
              </a:rPr>
              <a:t>is</a:t>
            </a:r>
            <a:r>
              <a:rPr sz="2400" spc="545" dirty="0">
                <a:latin typeface="Calibri"/>
                <a:cs typeface="Calibri"/>
              </a:rPr>
              <a:t> </a:t>
            </a:r>
            <a:r>
              <a:rPr sz="2400" spc="-50" dirty="0">
                <a:latin typeface="Calibri"/>
                <a:cs typeface="Calibri"/>
              </a:rPr>
              <a:t>a 	</a:t>
            </a:r>
            <a:r>
              <a:rPr sz="2400" dirty="0">
                <a:latin typeface="Calibri"/>
                <a:cs typeface="Calibri"/>
              </a:rPr>
              <a:t>formally</a:t>
            </a:r>
            <a:r>
              <a:rPr sz="2400" spc="550" dirty="0">
                <a:latin typeface="Calibri"/>
                <a:cs typeface="Calibri"/>
              </a:rPr>
              <a:t> </a:t>
            </a:r>
            <a:r>
              <a:rPr sz="2400" dirty="0">
                <a:latin typeface="Calibri"/>
                <a:cs typeface="Calibri"/>
              </a:rPr>
              <a:t>designated</a:t>
            </a:r>
            <a:r>
              <a:rPr sz="2400" spc="550" dirty="0">
                <a:latin typeface="Calibri"/>
                <a:cs typeface="Calibri"/>
              </a:rPr>
              <a:t> </a:t>
            </a:r>
            <a:r>
              <a:rPr sz="2400" dirty="0">
                <a:latin typeface="Calibri"/>
                <a:cs typeface="Calibri"/>
              </a:rPr>
              <a:t>project</a:t>
            </a:r>
            <a:r>
              <a:rPr sz="2400" spc="540" dirty="0">
                <a:latin typeface="Calibri"/>
                <a:cs typeface="Calibri"/>
              </a:rPr>
              <a:t> </a:t>
            </a:r>
            <a:r>
              <a:rPr sz="2400" dirty="0">
                <a:latin typeface="Calibri"/>
                <a:cs typeface="Calibri"/>
              </a:rPr>
              <a:t>manager</a:t>
            </a:r>
            <a:r>
              <a:rPr sz="2400" spc="560" dirty="0">
                <a:latin typeface="Calibri"/>
                <a:cs typeface="Calibri"/>
              </a:rPr>
              <a:t> </a:t>
            </a:r>
            <a:r>
              <a:rPr sz="2400" dirty="0">
                <a:latin typeface="Calibri"/>
                <a:cs typeface="Calibri"/>
              </a:rPr>
              <a:t>responsible</a:t>
            </a:r>
            <a:r>
              <a:rPr sz="2400" spc="560" dirty="0">
                <a:latin typeface="Calibri"/>
                <a:cs typeface="Calibri"/>
              </a:rPr>
              <a:t> </a:t>
            </a:r>
            <a:r>
              <a:rPr sz="2400" dirty="0">
                <a:latin typeface="Calibri"/>
                <a:cs typeface="Calibri"/>
              </a:rPr>
              <a:t>for</a:t>
            </a:r>
            <a:r>
              <a:rPr sz="2400" spc="550" dirty="0">
                <a:latin typeface="Calibri"/>
                <a:cs typeface="Calibri"/>
              </a:rPr>
              <a:t> </a:t>
            </a:r>
            <a:r>
              <a:rPr sz="2400" dirty="0">
                <a:latin typeface="Calibri"/>
                <a:cs typeface="Calibri"/>
              </a:rPr>
              <a:t>coordinating</a:t>
            </a:r>
            <a:r>
              <a:rPr sz="2400" spc="540" dirty="0">
                <a:latin typeface="Calibri"/>
                <a:cs typeface="Calibri"/>
              </a:rPr>
              <a:t> </a:t>
            </a:r>
            <a:r>
              <a:rPr sz="2400" spc="-10" dirty="0">
                <a:latin typeface="Calibri"/>
                <a:cs typeface="Calibri"/>
              </a:rPr>
              <a:t>project 	activities.</a:t>
            </a:r>
            <a:endParaRPr sz="2400">
              <a:latin typeface="Calibri"/>
              <a:cs typeface="Calibri"/>
            </a:endParaRPr>
          </a:p>
          <a:p>
            <a:pPr marL="697230" marR="5715" lvl="1" indent="-227329" algn="just">
              <a:lnSpc>
                <a:spcPct val="89200"/>
              </a:lnSpc>
              <a:spcBef>
                <a:spcPts val="525"/>
              </a:spcBef>
              <a:buFont typeface="Arial MT"/>
              <a:buChar char="•"/>
              <a:tabLst>
                <a:tab pos="698500" algn="l"/>
              </a:tabLst>
            </a:pPr>
            <a:r>
              <a:rPr sz="2400" dirty="0">
                <a:latin typeface="Calibri"/>
                <a:cs typeface="Calibri"/>
              </a:rPr>
              <a:t>Functional</a:t>
            </a:r>
            <a:r>
              <a:rPr sz="2400" spc="35" dirty="0">
                <a:latin typeface="Calibri"/>
                <a:cs typeface="Calibri"/>
              </a:rPr>
              <a:t>  </a:t>
            </a:r>
            <a:r>
              <a:rPr sz="2400" dirty="0">
                <a:latin typeface="Calibri"/>
                <a:cs typeface="Calibri"/>
              </a:rPr>
              <a:t>managers</a:t>
            </a:r>
            <a:r>
              <a:rPr sz="2400" spc="45" dirty="0">
                <a:latin typeface="Calibri"/>
                <a:cs typeface="Calibri"/>
              </a:rPr>
              <a:t>  </a:t>
            </a:r>
            <a:r>
              <a:rPr sz="2400" dirty="0">
                <a:latin typeface="Calibri"/>
                <a:cs typeface="Calibri"/>
              </a:rPr>
              <a:t>are</a:t>
            </a:r>
            <a:r>
              <a:rPr sz="2400" spc="40" dirty="0">
                <a:latin typeface="Calibri"/>
                <a:cs typeface="Calibri"/>
              </a:rPr>
              <a:t>  </a:t>
            </a:r>
            <a:r>
              <a:rPr sz="2400" dirty="0">
                <a:latin typeface="Calibri"/>
                <a:cs typeface="Calibri"/>
              </a:rPr>
              <a:t>responsible</a:t>
            </a:r>
            <a:r>
              <a:rPr sz="2400" spc="45" dirty="0">
                <a:latin typeface="Calibri"/>
                <a:cs typeface="Calibri"/>
              </a:rPr>
              <a:t>  </a:t>
            </a:r>
            <a:r>
              <a:rPr sz="2400" dirty="0">
                <a:latin typeface="Calibri"/>
                <a:cs typeface="Calibri"/>
              </a:rPr>
              <a:t>for</a:t>
            </a:r>
            <a:r>
              <a:rPr sz="2400" spc="40" dirty="0">
                <a:latin typeface="Calibri"/>
                <a:cs typeface="Calibri"/>
              </a:rPr>
              <a:t>  </a:t>
            </a:r>
            <a:r>
              <a:rPr sz="2400" dirty="0">
                <a:latin typeface="Calibri"/>
                <a:cs typeface="Calibri"/>
              </a:rPr>
              <a:t>managing</a:t>
            </a:r>
            <a:r>
              <a:rPr sz="2400" spc="40" dirty="0">
                <a:latin typeface="Calibri"/>
                <a:cs typeface="Calibri"/>
              </a:rPr>
              <a:t>  </a:t>
            </a:r>
            <a:r>
              <a:rPr sz="2400" dirty="0">
                <a:latin typeface="Calibri"/>
                <a:cs typeface="Calibri"/>
              </a:rPr>
              <a:t>their</a:t>
            </a:r>
            <a:r>
              <a:rPr sz="2400" spc="40" dirty="0">
                <a:latin typeface="Calibri"/>
                <a:cs typeface="Calibri"/>
              </a:rPr>
              <a:t>  </a:t>
            </a:r>
            <a:r>
              <a:rPr sz="2400" dirty="0">
                <a:latin typeface="Calibri"/>
                <a:cs typeface="Calibri"/>
              </a:rPr>
              <a:t>segment</a:t>
            </a:r>
            <a:r>
              <a:rPr sz="2400" spc="40" dirty="0">
                <a:latin typeface="Calibri"/>
                <a:cs typeface="Calibri"/>
              </a:rPr>
              <a:t>  </a:t>
            </a:r>
            <a:r>
              <a:rPr sz="2400" dirty="0">
                <a:latin typeface="Calibri"/>
                <a:cs typeface="Calibri"/>
              </a:rPr>
              <a:t>of</a:t>
            </a:r>
            <a:r>
              <a:rPr sz="2400" spc="45" dirty="0">
                <a:latin typeface="Calibri"/>
                <a:cs typeface="Calibri"/>
              </a:rPr>
              <a:t>  </a:t>
            </a:r>
            <a:r>
              <a:rPr sz="2400" spc="-25" dirty="0">
                <a:latin typeface="Calibri"/>
                <a:cs typeface="Calibri"/>
              </a:rPr>
              <a:t>the 	</a:t>
            </a:r>
            <a:r>
              <a:rPr sz="2400" dirty="0">
                <a:latin typeface="Calibri"/>
                <a:cs typeface="Calibri"/>
              </a:rPr>
              <a:t>project;</a:t>
            </a:r>
            <a:r>
              <a:rPr sz="2400" spc="475" dirty="0">
                <a:latin typeface="Calibri"/>
                <a:cs typeface="Calibri"/>
              </a:rPr>
              <a:t> </a:t>
            </a:r>
            <a:r>
              <a:rPr sz="2400" dirty="0">
                <a:latin typeface="Calibri"/>
                <a:cs typeface="Calibri"/>
              </a:rPr>
              <a:t>while</a:t>
            </a:r>
            <a:r>
              <a:rPr sz="2400" spc="484" dirty="0">
                <a:latin typeface="Calibri"/>
                <a:cs typeface="Calibri"/>
              </a:rPr>
              <a:t> </a:t>
            </a:r>
            <a:r>
              <a:rPr sz="2400" dirty="0">
                <a:latin typeface="Calibri"/>
                <a:cs typeface="Calibri"/>
              </a:rPr>
              <a:t>the</a:t>
            </a:r>
            <a:r>
              <a:rPr sz="2400" spc="484" dirty="0">
                <a:latin typeface="Calibri"/>
                <a:cs typeface="Calibri"/>
              </a:rPr>
              <a:t> </a:t>
            </a:r>
            <a:r>
              <a:rPr sz="2400" dirty="0">
                <a:latin typeface="Calibri"/>
                <a:cs typeface="Calibri"/>
              </a:rPr>
              <a:t>project</a:t>
            </a:r>
            <a:r>
              <a:rPr sz="2400" spc="470" dirty="0">
                <a:latin typeface="Calibri"/>
                <a:cs typeface="Calibri"/>
              </a:rPr>
              <a:t> </a:t>
            </a:r>
            <a:r>
              <a:rPr sz="2400" dirty="0">
                <a:latin typeface="Calibri"/>
                <a:cs typeface="Calibri"/>
              </a:rPr>
              <a:t>manager</a:t>
            </a:r>
            <a:r>
              <a:rPr sz="2400" spc="484" dirty="0">
                <a:latin typeface="Calibri"/>
                <a:cs typeface="Calibri"/>
              </a:rPr>
              <a:t> </a:t>
            </a:r>
            <a:r>
              <a:rPr sz="2400" dirty="0">
                <a:latin typeface="Calibri"/>
                <a:cs typeface="Calibri"/>
              </a:rPr>
              <a:t>basically</a:t>
            </a:r>
            <a:r>
              <a:rPr sz="2400" spc="484" dirty="0">
                <a:latin typeface="Calibri"/>
                <a:cs typeface="Calibri"/>
              </a:rPr>
              <a:t> </a:t>
            </a:r>
            <a:r>
              <a:rPr sz="2400" dirty="0">
                <a:latin typeface="Calibri"/>
                <a:cs typeface="Calibri"/>
              </a:rPr>
              <a:t>acts</a:t>
            </a:r>
            <a:r>
              <a:rPr sz="2400" spc="475" dirty="0">
                <a:latin typeface="Calibri"/>
                <a:cs typeface="Calibri"/>
              </a:rPr>
              <a:t> </a:t>
            </a:r>
            <a:r>
              <a:rPr sz="2400" dirty="0">
                <a:latin typeface="Calibri"/>
                <a:cs typeface="Calibri"/>
              </a:rPr>
              <a:t>as</a:t>
            </a:r>
            <a:r>
              <a:rPr sz="2400" spc="480" dirty="0">
                <a:latin typeface="Calibri"/>
                <a:cs typeface="Calibri"/>
              </a:rPr>
              <a:t> </a:t>
            </a:r>
            <a:r>
              <a:rPr sz="2400" dirty="0">
                <a:latin typeface="Calibri"/>
                <a:cs typeface="Calibri"/>
              </a:rPr>
              <a:t>a</a:t>
            </a:r>
            <a:r>
              <a:rPr sz="2400" spc="480" dirty="0">
                <a:latin typeface="Calibri"/>
                <a:cs typeface="Calibri"/>
              </a:rPr>
              <a:t> </a:t>
            </a:r>
            <a:r>
              <a:rPr sz="2400" dirty="0">
                <a:latin typeface="Calibri"/>
                <a:cs typeface="Calibri"/>
              </a:rPr>
              <a:t>staff</a:t>
            </a:r>
            <a:r>
              <a:rPr sz="2400" spc="484" dirty="0">
                <a:latin typeface="Calibri"/>
                <a:cs typeface="Calibri"/>
              </a:rPr>
              <a:t> </a:t>
            </a:r>
            <a:r>
              <a:rPr sz="2400" dirty="0">
                <a:latin typeface="Calibri"/>
                <a:cs typeface="Calibri"/>
              </a:rPr>
              <a:t>assistant</a:t>
            </a:r>
            <a:r>
              <a:rPr sz="2400" spc="480" dirty="0">
                <a:latin typeface="Calibri"/>
                <a:cs typeface="Calibri"/>
              </a:rPr>
              <a:t> </a:t>
            </a:r>
            <a:r>
              <a:rPr sz="2400" spc="-25" dirty="0">
                <a:latin typeface="Calibri"/>
                <a:cs typeface="Calibri"/>
              </a:rPr>
              <a:t>who 	</a:t>
            </a:r>
            <a:r>
              <a:rPr sz="2400" dirty="0">
                <a:latin typeface="Calibri"/>
                <a:cs typeface="Calibri"/>
              </a:rPr>
              <a:t>draws</a:t>
            </a:r>
            <a:r>
              <a:rPr sz="2400" spc="280" dirty="0">
                <a:latin typeface="Calibri"/>
                <a:cs typeface="Calibri"/>
              </a:rPr>
              <a:t> </a:t>
            </a:r>
            <a:r>
              <a:rPr sz="2400" dirty="0">
                <a:latin typeface="Calibri"/>
                <a:cs typeface="Calibri"/>
              </a:rPr>
              <a:t>the</a:t>
            </a:r>
            <a:r>
              <a:rPr sz="2400" spc="285" dirty="0">
                <a:latin typeface="Calibri"/>
                <a:cs typeface="Calibri"/>
              </a:rPr>
              <a:t> </a:t>
            </a:r>
            <a:r>
              <a:rPr sz="2400" dirty="0">
                <a:latin typeface="Calibri"/>
                <a:cs typeface="Calibri"/>
              </a:rPr>
              <a:t>schedules</a:t>
            </a:r>
            <a:r>
              <a:rPr sz="2400" spc="285" dirty="0">
                <a:latin typeface="Calibri"/>
                <a:cs typeface="Calibri"/>
              </a:rPr>
              <a:t> </a:t>
            </a:r>
            <a:r>
              <a:rPr sz="2400" dirty="0">
                <a:latin typeface="Calibri"/>
                <a:cs typeface="Calibri"/>
              </a:rPr>
              <a:t>and</a:t>
            </a:r>
            <a:r>
              <a:rPr sz="2400" spc="285" dirty="0">
                <a:latin typeface="Calibri"/>
                <a:cs typeface="Calibri"/>
              </a:rPr>
              <a:t> </a:t>
            </a:r>
            <a:r>
              <a:rPr sz="2400" dirty="0">
                <a:latin typeface="Calibri"/>
                <a:cs typeface="Calibri"/>
              </a:rPr>
              <a:t>checklists,</a:t>
            </a:r>
            <a:r>
              <a:rPr sz="2400" spc="285" dirty="0">
                <a:latin typeface="Calibri"/>
                <a:cs typeface="Calibri"/>
              </a:rPr>
              <a:t> </a:t>
            </a:r>
            <a:r>
              <a:rPr sz="2400" dirty="0">
                <a:latin typeface="Calibri"/>
                <a:cs typeface="Calibri"/>
              </a:rPr>
              <a:t>collects</a:t>
            </a:r>
            <a:r>
              <a:rPr sz="2400" spc="280" dirty="0">
                <a:latin typeface="Calibri"/>
                <a:cs typeface="Calibri"/>
              </a:rPr>
              <a:t> </a:t>
            </a:r>
            <a:r>
              <a:rPr sz="2400" dirty="0">
                <a:latin typeface="Calibri"/>
                <a:cs typeface="Calibri"/>
              </a:rPr>
              <a:t>information</a:t>
            </a:r>
            <a:r>
              <a:rPr sz="2400" spc="285" dirty="0">
                <a:latin typeface="Calibri"/>
                <a:cs typeface="Calibri"/>
              </a:rPr>
              <a:t> </a:t>
            </a:r>
            <a:r>
              <a:rPr sz="2400" dirty="0">
                <a:latin typeface="Calibri"/>
                <a:cs typeface="Calibri"/>
              </a:rPr>
              <a:t>on</a:t>
            </a:r>
            <a:r>
              <a:rPr sz="2400" spc="285" dirty="0">
                <a:latin typeface="Calibri"/>
                <a:cs typeface="Calibri"/>
              </a:rPr>
              <a:t> </a:t>
            </a:r>
            <a:r>
              <a:rPr sz="2400" dirty="0">
                <a:latin typeface="Calibri"/>
                <a:cs typeface="Calibri"/>
              </a:rPr>
              <a:t>status</a:t>
            </a:r>
            <a:r>
              <a:rPr sz="2400" spc="280" dirty="0">
                <a:latin typeface="Calibri"/>
                <a:cs typeface="Calibri"/>
              </a:rPr>
              <a:t> </a:t>
            </a:r>
            <a:r>
              <a:rPr sz="2400" dirty="0">
                <a:latin typeface="Calibri"/>
                <a:cs typeface="Calibri"/>
              </a:rPr>
              <a:t>of</a:t>
            </a:r>
            <a:r>
              <a:rPr sz="2400" spc="285" dirty="0">
                <a:latin typeface="Calibri"/>
                <a:cs typeface="Calibri"/>
              </a:rPr>
              <a:t> </a:t>
            </a:r>
            <a:r>
              <a:rPr sz="2400" spc="-10" dirty="0">
                <a:latin typeface="Calibri"/>
                <a:cs typeface="Calibri"/>
              </a:rPr>
              <a:t>work, 	</a:t>
            </a:r>
            <a:r>
              <a:rPr sz="2400" dirty="0">
                <a:latin typeface="Calibri"/>
                <a:cs typeface="Calibri"/>
              </a:rPr>
              <a:t>and</a:t>
            </a:r>
            <a:r>
              <a:rPr sz="2400" spc="-75" dirty="0">
                <a:latin typeface="Calibri"/>
                <a:cs typeface="Calibri"/>
              </a:rPr>
              <a:t> </a:t>
            </a:r>
            <a:r>
              <a:rPr sz="2400" spc="-10" dirty="0">
                <a:latin typeface="Calibri"/>
                <a:cs typeface="Calibri"/>
              </a:rPr>
              <a:t>facilitates</a:t>
            </a:r>
            <a:r>
              <a:rPr sz="2400" spc="-75" dirty="0">
                <a:latin typeface="Calibri"/>
                <a:cs typeface="Calibri"/>
              </a:rPr>
              <a:t> </a:t>
            </a:r>
            <a:r>
              <a:rPr sz="2400" dirty="0">
                <a:latin typeface="Calibri"/>
                <a:cs typeface="Calibri"/>
              </a:rPr>
              <a:t>project</a:t>
            </a:r>
            <a:r>
              <a:rPr sz="2400" spc="-80" dirty="0">
                <a:latin typeface="Calibri"/>
                <a:cs typeface="Calibri"/>
              </a:rPr>
              <a:t> </a:t>
            </a:r>
            <a:r>
              <a:rPr sz="2400" spc="-10" dirty="0">
                <a:latin typeface="Calibri"/>
                <a:cs typeface="Calibri"/>
              </a:rPr>
              <a:t>completion.</a:t>
            </a:r>
            <a:endParaRPr sz="2400">
              <a:latin typeface="Calibri"/>
              <a:cs typeface="Calibri"/>
            </a:endParaRPr>
          </a:p>
          <a:p>
            <a:pPr marL="697230" marR="5715" lvl="1" indent="-227329" algn="just">
              <a:lnSpc>
                <a:spcPct val="90400"/>
              </a:lnSpc>
              <a:spcBef>
                <a:spcPts val="490"/>
              </a:spcBef>
              <a:buFont typeface="Arial MT"/>
              <a:buChar char="•"/>
              <a:tabLst>
                <a:tab pos="698500" algn="l"/>
              </a:tabLst>
            </a:pPr>
            <a:r>
              <a:rPr sz="2400" dirty="0">
                <a:latin typeface="Calibri"/>
                <a:cs typeface="Calibri"/>
              </a:rPr>
              <a:t>The</a:t>
            </a:r>
            <a:r>
              <a:rPr sz="2400" spc="555" dirty="0">
                <a:latin typeface="Calibri"/>
                <a:cs typeface="Calibri"/>
              </a:rPr>
              <a:t> </a:t>
            </a:r>
            <a:r>
              <a:rPr sz="2400" dirty="0">
                <a:latin typeface="Calibri"/>
                <a:cs typeface="Calibri"/>
              </a:rPr>
              <a:t>project</a:t>
            </a:r>
            <a:r>
              <a:rPr sz="2400" spc="540" dirty="0">
                <a:latin typeface="Calibri"/>
                <a:cs typeface="Calibri"/>
              </a:rPr>
              <a:t> </a:t>
            </a:r>
            <a:r>
              <a:rPr sz="2400" dirty="0">
                <a:latin typeface="Calibri"/>
                <a:cs typeface="Calibri"/>
              </a:rPr>
              <a:t>manager</a:t>
            </a:r>
            <a:r>
              <a:rPr sz="2400" spc="555" dirty="0">
                <a:latin typeface="Calibri"/>
                <a:cs typeface="Calibri"/>
              </a:rPr>
              <a:t> </a:t>
            </a:r>
            <a:r>
              <a:rPr sz="2400" dirty="0">
                <a:latin typeface="Calibri"/>
                <a:cs typeface="Calibri"/>
              </a:rPr>
              <a:t>has</a:t>
            </a:r>
            <a:r>
              <a:rPr sz="2400" spc="545" dirty="0">
                <a:latin typeface="Calibri"/>
                <a:cs typeface="Calibri"/>
              </a:rPr>
              <a:t> </a:t>
            </a:r>
            <a:r>
              <a:rPr sz="2400" dirty="0">
                <a:latin typeface="Calibri"/>
                <a:cs typeface="Calibri"/>
              </a:rPr>
              <a:t>indirect</a:t>
            </a:r>
            <a:r>
              <a:rPr sz="2400" spc="540" dirty="0">
                <a:latin typeface="Calibri"/>
                <a:cs typeface="Calibri"/>
              </a:rPr>
              <a:t> </a:t>
            </a:r>
            <a:r>
              <a:rPr sz="2400" dirty="0">
                <a:latin typeface="Calibri"/>
                <a:cs typeface="Calibri"/>
              </a:rPr>
              <a:t>authority</a:t>
            </a:r>
            <a:r>
              <a:rPr sz="2400" spc="555" dirty="0">
                <a:latin typeface="Calibri"/>
                <a:cs typeface="Calibri"/>
              </a:rPr>
              <a:t> </a:t>
            </a:r>
            <a:r>
              <a:rPr sz="2400" dirty="0">
                <a:latin typeface="Calibri"/>
                <a:cs typeface="Calibri"/>
              </a:rPr>
              <a:t>to</a:t>
            </a:r>
            <a:r>
              <a:rPr sz="2400" spc="550" dirty="0">
                <a:latin typeface="Calibri"/>
                <a:cs typeface="Calibri"/>
              </a:rPr>
              <a:t> </a:t>
            </a:r>
            <a:r>
              <a:rPr sz="2400" dirty="0">
                <a:latin typeface="Calibri"/>
                <a:cs typeface="Calibri"/>
              </a:rPr>
              <a:t>expedite</a:t>
            </a:r>
            <a:r>
              <a:rPr sz="2400" spc="555" dirty="0">
                <a:latin typeface="Calibri"/>
                <a:cs typeface="Calibri"/>
              </a:rPr>
              <a:t> </a:t>
            </a:r>
            <a:r>
              <a:rPr sz="2400" dirty="0">
                <a:latin typeface="Calibri"/>
                <a:cs typeface="Calibri"/>
              </a:rPr>
              <a:t>and</a:t>
            </a:r>
            <a:r>
              <a:rPr sz="2400" spc="555" dirty="0">
                <a:latin typeface="Calibri"/>
                <a:cs typeface="Calibri"/>
              </a:rPr>
              <a:t> </a:t>
            </a:r>
            <a:r>
              <a:rPr sz="2400" dirty="0">
                <a:latin typeface="Calibri"/>
                <a:cs typeface="Calibri"/>
              </a:rPr>
              <a:t>monitor</a:t>
            </a:r>
            <a:r>
              <a:rPr sz="2400" spc="555" dirty="0">
                <a:latin typeface="Calibri"/>
                <a:cs typeface="Calibri"/>
              </a:rPr>
              <a:t> </a:t>
            </a:r>
            <a:r>
              <a:rPr sz="2400" spc="-25" dirty="0">
                <a:latin typeface="Calibri"/>
                <a:cs typeface="Calibri"/>
              </a:rPr>
              <a:t>the 	</a:t>
            </a:r>
            <a:r>
              <a:rPr sz="2400" dirty="0">
                <a:latin typeface="Calibri"/>
                <a:cs typeface="Calibri"/>
              </a:rPr>
              <a:t>project;</a:t>
            </a:r>
            <a:r>
              <a:rPr sz="2400" spc="365" dirty="0">
                <a:latin typeface="Calibri"/>
                <a:cs typeface="Calibri"/>
              </a:rPr>
              <a:t> </a:t>
            </a:r>
            <a:r>
              <a:rPr sz="2400" dirty="0">
                <a:latin typeface="Calibri"/>
                <a:cs typeface="Calibri"/>
              </a:rPr>
              <a:t>while</a:t>
            </a:r>
            <a:r>
              <a:rPr sz="2400" spc="380" dirty="0">
                <a:latin typeface="Calibri"/>
                <a:cs typeface="Calibri"/>
              </a:rPr>
              <a:t> </a:t>
            </a:r>
            <a:r>
              <a:rPr sz="2400" dirty="0">
                <a:latin typeface="Calibri"/>
                <a:cs typeface="Calibri"/>
              </a:rPr>
              <a:t>functional</a:t>
            </a:r>
            <a:r>
              <a:rPr sz="2400" spc="370" dirty="0">
                <a:latin typeface="Calibri"/>
                <a:cs typeface="Calibri"/>
              </a:rPr>
              <a:t> </a:t>
            </a:r>
            <a:r>
              <a:rPr sz="2400" dirty="0">
                <a:latin typeface="Calibri"/>
                <a:cs typeface="Calibri"/>
              </a:rPr>
              <a:t>managers</a:t>
            </a:r>
            <a:r>
              <a:rPr sz="2400" spc="380" dirty="0">
                <a:latin typeface="Calibri"/>
                <a:cs typeface="Calibri"/>
              </a:rPr>
              <a:t> </a:t>
            </a:r>
            <a:r>
              <a:rPr sz="2400" dirty="0">
                <a:latin typeface="Calibri"/>
                <a:cs typeface="Calibri"/>
              </a:rPr>
              <a:t>call</a:t>
            </a:r>
            <a:r>
              <a:rPr sz="2400" spc="375" dirty="0">
                <a:latin typeface="Calibri"/>
                <a:cs typeface="Calibri"/>
              </a:rPr>
              <a:t> </a:t>
            </a:r>
            <a:r>
              <a:rPr sz="2400" dirty="0">
                <a:latin typeface="Calibri"/>
                <a:cs typeface="Calibri"/>
              </a:rPr>
              <a:t>most</a:t>
            </a:r>
            <a:r>
              <a:rPr sz="2400" spc="370" dirty="0">
                <a:latin typeface="Calibri"/>
                <a:cs typeface="Calibri"/>
              </a:rPr>
              <a:t> </a:t>
            </a:r>
            <a:r>
              <a:rPr sz="2400" dirty="0">
                <a:latin typeface="Calibri"/>
                <a:cs typeface="Calibri"/>
              </a:rPr>
              <a:t>of</a:t>
            </a:r>
            <a:r>
              <a:rPr sz="2400" spc="380" dirty="0">
                <a:latin typeface="Calibri"/>
                <a:cs typeface="Calibri"/>
              </a:rPr>
              <a:t> </a:t>
            </a:r>
            <a:r>
              <a:rPr sz="2400" dirty="0">
                <a:latin typeface="Calibri"/>
                <a:cs typeface="Calibri"/>
              </a:rPr>
              <a:t>the</a:t>
            </a:r>
            <a:r>
              <a:rPr sz="2400" spc="385" dirty="0">
                <a:latin typeface="Calibri"/>
                <a:cs typeface="Calibri"/>
              </a:rPr>
              <a:t> </a:t>
            </a:r>
            <a:r>
              <a:rPr sz="2400" dirty="0">
                <a:latin typeface="Calibri"/>
                <a:cs typeface="Calibri"/>
              </a:rPr>
              <a:t>shots</a:t>
            </a:r>
            <a:r>
              <a:rPr sz="2400" spc="380" dirty="0">
                <a:latin typeface="Calibri"/>
                <a:cs typeface="Calibri"/>
              </a:rPr>
              <a:t> </a:t>
            </a:r>
            <a:r>
              <a:rPr sz="2400" dirty="0">
                <a:latin typeface="Calibri"/>
                <a:cs typeface="Calibri"/>
              </a:rPr>
              <a:t>and</a:t>
            </a:r>
            <a:r>
              <a:rPr sz="2400" spc="375" dirty="0">
                <a:latin typeface="Calibri"/>
                <a:cs typeface="Calibri"/>
              </a:rPr>
              <a:t> </a:t>
            </a:r>
            <a:r>
              <a:rPr sz="2400" dirty="0">
                <a:latin typeface="Calibri"/>
                <a:cs typeface="Calibri"/>
              </a:rPr>
              <a:t>decide</a:t>
            </a:r>
            <a:r>
              <a:rPr sz="2400" spc="380" dirty="0">
                <a:latin typeface="Calibri"/>
                <a:cs typeface="Calibri"/>
              </a:rPr>
              <a:t> </a:t>
            </a:r>
            <a:r>
              <a:rPr sz="2400" spc="-25" dirty="0">
                <a:latin typeface="Calibri"/>
                <a:cs typeface="Calibri"/>
              </a:rPr>
              <a:t>who 	</a:t>
            </a:r>
            <a:r>
              <a:rPr sz="2400" dirty="0">
                <a:latin typeface="Calibri"/>
                <a:cs typeface="Calibri"/>
              </a:rPr>
              <a:t>does</a:t>
            </a:r>
            <a:r>
              <a:rPr sz="2400" spc="-35" dirty="0">
                <a:latin typeface="Calibri"/>
                <a:cs typeface="Calibri"/>
              </a:rPr>
              <a:t> </a:t>
            </a:r>
            <a:r>
              <a:rPr sz="2400" dirty="0">
                <a:latin typeface="Calibri"/>
                <a:cs typeface="Calibri"/>
              </a:rPr>
              <a:t>what</a:t>
            </a:r>
            <a:r>
              <a:rPr sz="2400" spc="-35" dirty="0">
                <a:latin typeface="Calibri"/>
                <a:cs typeface="Calibri"/>
              </a:rPr>
              <a:t> </a:t>
            </a:r>
            <a:r>
              <a:rPr sz="2400" dirty="0">
                <a:latin typeface="Calibri"/>
                <a:cs typeface="Calibri"/>
              </a:rPr>
              <a:t>and</a:t>
            </a:r>
            <a:r>
              <a:rPr sz="2400" spc="-30" dirty="0">
                <a:latin typeface="Calibri"/>
                <a:cs typeface="Calibri"/>
              </a:rPr>
              <a:t> </a:t>
            </a:r>
            <a:r>
              <a:rPr sz="2400" dirty="0">
                <a:latin typeface="Calibri"/>
                <a:cs typeface="Calibri"/>
              </a:rPr>
              <a:t>when</a:t>
            </a:r>
            <a:r>
              <a:rPr sz="2400" spc="-30" dirty="0">
                <a:latin typeface="Calibri"/>
                <a:cs typeface="Calibri"/>
              </a:rPr>
              <a:t> </a:t>
            </a:r>
            <a:r>
              <a:rPr sz="2400" dirty="0">
                <a:latin typeface="Calibri"/>
                <a:cs typeface="Calibri"/>
              </a:rPr>
              <a:t>the</a:t>
            </a:r>
            <a:r>
              <a:rPr sz="2400" spc="-25" dirty="0">
                <a:latin typeface="Calibri"/>
                <a:cs typeface="Calibri"/>
              </a:rPr>
              <a:t> </a:t>
            </a:r>
            <a:r>
              <a:rPr sz="2400" dirty="0">
                <a:latin typeface="Calibri"/>
                <a:cs typeface="Calibri"/>
              </a:rPr>
              <a:t>work</a:t>
            </a:r>
            <a:r>
              <a:rPr sz="2400" spc="-35" dirty="0">
                <a:latin typeface="Calibri"/>
                <a:cs typeface="Calibri"/>
              </a:rPr>
              <a:t> </a:t>
            </a:r>
            <a:r>
              <a:rPr sz="2400" dirty="0">
                <a:latin typeface="Calibri"/>
                <a:cs typeface="Calibri"/>
              </a:rPr>
              <a:t>is</a:t>
            </a:r>
            <a:r>
              <a:rPr sz="2400" spc="-35" dirty="0">
                <a:latin typeface="Calibri"/>
                <a:cs typeface="Calibri"/>
              </a:rPr>
              <a:t> </a:t>
            </a:r>
            <a:r>
              <a:rPr sz="2400" spc="-10" dirty="0">
                <a:latin typeface="Calibri"/>
                <a:cs typeface="Calibri"/>
              </a:rPr>
              <a:t>completed.</a:t>
            </a:r>
            <a:endParaRPr sz="240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47</a:t>
            </a:fld>
            <a:endParaRPr spc="-25"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Different Matrix Forms </a:t>
            </a:r>
            <a:r>
              <a:rPr sz="1950" spc="-10" dirty="0"/>
              <a:t>(1/3)</a:t>
            </a:r>
            <a:endParaRPr sz="1950" dirty="0"/>
          </a:p>
        </p:txBody>
      </p:sp>
      <p:pic>
        <p:nvPicPr>
          <p:cNvPr id="5" name="Picture 4">
            <a:extLst>
              <a:ext uri="{FF2B5EF4-FFF2-40B4-BE49-F238E27FC236}">
                <a16:creationId xmlns:a16="http://schemas.microsoft.com/office/drawing/2014/main" id="{BF2ED337-FB93-4826-C7DA-239760B47A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413902" rIns="0" bIns="0" rtlCol="0">
            <a:spAutoFit/>
          </a:bodyPr>
          <a:lstStyle/>
          <a:p>
            <a:pPr marL="240665" indent="-227965" algn="just">
              <a:lnSpc>
                <a:spcPct val="100000"/>
              </a:lnSpc>
              <a:spcBef>
                <a:spcPts val="370"/>
              </a:spcBef>
              <a:buFont typeface="Arial MT"/>
              <a:buChar char="•"/>
              <a:tabLst>
                <a:tab pos="240665" algn="l"/>
              </a:tabLst>
            </a:pPr>
            <a:r>
              <a:rPr b="1" dirty="0">
                <a:solidFill>
                  <a:srgbClr val="C00000"/>
                </a:solidFill>
                <a:latin typeface="Calibri"/>
                <a:cs typeface="Calibri"/>
              </a:rPr>
              <a:t>Balanced</a:t>
            </a:r>
            <a:r>
              <a:rPr b="1" spc="-100" dirty="0">
                <a:solidFill>
                  <a:srgbClr val="C00000"/>
                </a:solidFill>
                <a:latin typeface="Calibri"/>
                <a:cs typeface="Calibri"/>
              </a:rPr>
              <a:t> </a:t>
            </a:r>
            <a:r>
              <a:rPr b="1" spc="-10" dirty="0">
                <a:solidFill>
                  <a:srgbClr val="C00000"/>
                </a:solidFill>
                <a:latin typeface="Calibri"/>
                <a:cs typeface="Calibri"/>
              </a:rPr>
              <a:t>matrix:</a:t>
            </a:r>
          </a:p>
          <a:p>
            <a:pPr marL="697230" marR="5080" lvl="1" indent="-227329" algn="just">
              <a:lnSpc>
                <a:spcPct val="90400"/>
              </a:lnSpc>
              <a:spcBef>
                <a:spcPts val="509"/>
              </a:spcBef>
              <a:buFont typeface="Arial MT"/>
              <a:buChar char="•"/>
              <a:tabLst>
                <a:tab pos="698500" algn="l"/>
              </a:tabLst>
            </a:pPr>
            <a:r>
              <a:rPr sz="2400" dirty="0">
                <a:latin typeface="Calibri"/>
                <a:cs typeface="Calibri"/>
              </a:rPr>
              <a:t>The</a:t>
            </a:r>
            <a:r>
              <a:rPr sz="2400" spc="315" dirty="0">
                <a:latin typeface="Calibri"/>
                <a:cs typeface="Calibri"/>
              </a:rPr>
              <a:t> </a:t>
            </a:r>
            <a:r>
              <a:rPr sz="2400" dirty="0">
                <a:latin typeface="Calibri"/>
                <a:cs typeface="Calibri"/>
              </a:rPr>
              <a:t>classic</a:t>
            </a:r>
            <a:r>
              <a:rPr sz="2400" spc="310" dirty="0">
                <a:latin typeface="Calibri"/>
                <a:cs typeface="Calibri"/>
              </a:rPr>
              <a:t> </a:t>
            </a:r>
            <a:r>
              <a:rPr sz="2400" dirty="0">
                <a:latin typeface="Calibri"/>
                <a:cs typeface="Calibri"/>
              </a:rPr>
              <a:t>matrix</a:t>
            </a:r>
            <a:r>
              <a:rPr sz="2400" spc="310" dirty="0">
                <a:latin typeface="Calibri"/>
                <a:cs typeface="Calibri"/>
              </a:rPr>
              <a:t> </a:t>
            </a:r>
            <a:r>
              <a:rPr sz="2400" dirty="0">
                <a:latin typeface="Calibri"/>
                <a:cs typeface="Calibri"/>
              </a:rPr>
              <a:t>in</a:t>
            </a:r>
            <a:r>
              <a:rPr sz="2400" spc="315" dirty="0">
                <a:latin typeface="Calibri"/>
                <a:cs typeface="Calibri"/>
              </a:rPr>
              <a:t> </a:t>
            </a:r>
            <a:r>
              <a:rPr sz="2400" dirty="0">
                <a:latin typeface="Calibri"/>
                <a:cs typeface="Calibri"/>
              </a:rPr>
              <a:t>which</a:t>
            </a:r>
            <a:r>
              <a:rPr sz="2400" spc="315" dirty="0">
                <a:latin typeface="Calibri"/>
                <a:cs typeface="Calibri"/>
              </a:rPr>
              <a:t> </a:t>
            </a:r>
            <a:r>
              <a:rPr sz="2400" dirty="0">
                <a:latin typeface="Calibri"/>
                <a:cs typeface="Calibri"/>
              </a:rPr>
              <a:t>the</a:t>
            </a:r>
            <a:r>
              <a:rPr sz="2400" spc="320" dirty="0">
                <a:latin typeface="Calibri"/>
                <a:cs typeface="Calibri"/>
              </a:rPr>
              <a:t> </a:t>
            </a:r>
            <a:r>
              <a:rPr sz="2400" dirty="0">
                <a:latin typeface="Calibri"/>
                <a:cs typeface="Calibri"/>
              </a:rPr>
              <a:t>project</a:t>
            </a:r>
            <a:r>
              <a:rPr sz="2400" spc="305" dirty="0">
                <a:latin typeface="Calibri"/>
                <a:cs typeface="Calibri"/>
              </a:rPr>
              <a:t> </a:t>
            </a:r>
            <a:r>
              <a:rPr sz="2400" dirty="0">
                <a:latin typeface="Calibri"/>
                <a:cs typeface="Calibri"/>
              </a:rPr>
              <a:t>manager</a:t>
            </a:r>
            <a:r>
              <a:rPr sz="2400" spc="315" dirty="0">
                <a:latin typeface="Calibri"/>
                <a:cs typeface="Calibri"/>
              </a:rPr>
              <a:t> </a:t>
            </a:r>
            <a:r>
              <a:rPr sz="2400" dirty="0">
                <a:latin typeface="Calibri"/>
                <a:cs typeface="Calibri"/>
              </a:rPr>
              <a:t>is</a:t>
            </a:r>
            <a:r>
              <a:rPr sz="2400" spc="310" dirty="0">
                <a:latin typeface="Calibri"/>
                <a:cs typeface="Calibri"/>
              </a:rPr>
              <a:t> </a:t>
            </a:r>
            <a:r>
              <a:rPr sz="2400" dirty="0">
                <a:latin typeface="Calibri"/>
                <a:cs typeface="Calibri"/>
              </a:rPr>
              <a:t>responsible</a:t>
            </a:r>
            <a:r>
              <a:rPr sz="2400" spc="315" dirty="0">
                <a:latin typeface="Calibri"/>
                <a:cs typeface="Calibri"/>
              </a:rPr>
              <a:t> </a:t>
            </a:r>
            <a:r>
              <a:rPr sz="2400" dirty="0">
                <a:latin typeface="Calibri"/>
                <a:cs typeface="Calibri"/>
              </a:rPr>
              <a:t>for</a:t>
            </a:r>
            <a:r>
              <a:rPr sz="2400" spc="315" dirty="0">
                <a:latin typeface="Calibri"/>
                <a:cs typeface="Calibri"/>
              </a:rPr>
              <a:t> </a:t>
            </a:r>
            <a:r>
              <a:rPr sz="2400" spc="-10" dirty="0">
                <a:latin typeface="Calibri"/>
                <a:cs typeface="Calibri"/>
              </a:rPr>
              <a:t>defining 	</a:t>
            </a:r>
            <a:r>
              <a:rPr sz="2400" dirty="0">
                <a:latin typeface="Calibri"/>
                <a:cs typeface="Calibri"/>
              </a:rPr>
              <a:t>what</a:t>
            </a:r>
            <a:r>
              <a:rPr sz="2400" spc="-5" dirty="0">
                <a:latin typeface="Calibri"/>
                <a:cs typeface="Calibri"/>
              </a:rPr>
              <a:t> </a:t>
            </a:r>
            <a:r>
              <a:rPr sz="2400" dirty="0">
                <a:latin typeface="Calibri"/>
                <a:cs typeface="Calibri"/>
              </a:rPr>
              <a:t>needs</a:t>
            </a:r>
            <a:r>
              <a:rPr sz="2400" spc="-5" dirty="0">
                <a:latin typeface="Calibri"/>
                <a:cs typeface="Calibri"/>
              </a:rPr>
              <a:t> </a:t>
            </a:r>
            <a:r>
              <a:rPr sz="2400" dirty="0">
                <a:latin typeface="Calibri"/>
                <a:cs typeface="Calibri"/>
              </a:rPr>
              <a:t>to</a:t>
            </a:r>
            <a:r>
              <a:rPr sz="2400" spc="-5" dirty="0">
                <a:latin typeface="Calibri"/>
                <a:cs typeface="Calibri"/>
              </a:rPr>
              <a:t> </a:t>
            </a:r>
            <a:r>
              <a:rPr sz="2400" dirty="0">
                <a:latin typeface="Calibri"/>
                <a:cs typeface="Calibri"/>
              </a:rPr>
              <a:t>be</a:t>
            </a:r>
            <a:r>
              <a:rPr sz="2400" spc="5" dirty="0">
                <a:latin typeface="Calibri"/>
                <a:cs typeface="Calibri"/>
              </a:rPr>
              <a:t> </a:t>
            </a:r>
            <a:r>
              <a:rPr sz="2400" dirty="0">
                <a:latin typeface="Calibri"/>
                <a:cs typeface="Calibri"/>
              </a:rPr>
              <a:t>accomplished</a:t>
            </a:r>
            <a:r>
              <a:rPr sz="2400" spc="-5" dirty="0">
                <a:latin typeface="Calibri"/>
                <a:cs typeface="Calibri"/>
              </a:rPr>
              <a:t> </a:t>
            </a:r>
            <a:r>
              <a:rPr sz="2400" dirty="0">
                <a:latin typeface="Calibri"/>
                <a:cs typeface="Calibri"/>
              </a:rPr>
              <a:t>while</a:t>
            </a:r>
            <a:r>
              <a:rPr sz="2400" spc="5" dirty="0">
                <a:latin typeface="Calibri"/>
                <a:cs typeface="Calibri"/>
              </a:rPr>
              <a:t> </a:t>
            </a:r>
            <a:r>
              <a:rPr sz="2400" dirty="0">
                <a:latin typeface="Calibri"/>
                <a:cs typeface="Calibri"/>
              </a:rPr>
              <a:t>the</a:t>
            </a:r>
            <a:r>
              <a:rPr sz="2400" spc="5" dirty="0">
                <a:latin typeface="Calibri"/>
                <a:cs typeface="Calibri"/>
              </a:rPr>
              <a:t> </a:t>
            </a:r>
            <a:r>
              <a:rPr sz="2400" dirty="0">
                <a:latin typeface="Calibri"/>
                <a:cs typeface="Calibri"/>
              </a:rPr>
              <a:t>functional managers are </a:t>
            </a:r>
            <a:r>
              <a:rPr sz="2400" spc="-10" dirty="0">
                <a:latin typeface="Calibri"/>
                <a:cs typeface="Calibri"/>
              </a:rPr>
              <a:t>concerned 	</a:t>
            </a:r>
            <a:r>
              <a:rPr sz="2400" dirty="0">
                <a:latin typeface="Calibri"/>
                <a:cs typeface="Calibri"/>
              </a:rPr>
              <a:t>with</a:t>
            </a:r>
            <a:r>
              <a:rPr sz="2400" spc="-20" dirty="0">
                <a:latin typeface="Calibri"/>
                <a:cs typeface="Calibri"/>
              </a:rPr>
              <a:t> </a:t>
            </a:r>
            <a:r>
              <a:rPr sz="2400" dirty="0">
                <a:latin typeface="Calibri"/>
                <a:cs typeface="Calibri"/>
              </a:rPr>
              <a:t>how</a:t>
            </a:r>
            <a:r>
              <a:rPr sz="2400" spc="-20" dirty="0">
                <a:latin typeface="Calibri"/>
                <a:cs typeface="Calibri"/>
              </a:rPr>
              <a:t> </a:t>
            </a:r>
            <a:r>
              <a:rPr sz="2400" dirty="0">
                <a:latin typeface="Calibri"/>
                <a:cs typeface="Calibri"/>
              </a:rPr>
              <a:t>it</a:t>
            </a:r>
            <a:r>
              <a:rPr sz="2400" spc="-25" dirty="0">
                <a:latin typeface="Calibri"/>
                <a:cs typeface="Calibri"/>
              </a:rPr>
              <a:t> </a:t>
            </a:r>
            <a:r>
              <a:rPr sz="2400" dirty="0">
                <a:latin typeface="Calibri"/>
                <a:cs typeface="Calibri"/>
              </a:rPr>
              <a:t>will</a:t>
            </a:r>
            <a:r>
              <a:rPr sz="2400" spc="-20" dirty="0">
                <a:latin typeface="Calibri"/>
                <a:cs typeface="Calibri"/>
              </a:rPr>
              <a:t> </a:t>
            </a:r>
            <a:r>
              <a:rPr sz="2400" dirty="0">
                <a:latin typeface="Calibri"/>
                <a:cs typeface="Calibri"/>
              </a:rPr>
              <a:t>be</a:t>
            </a:r>
            <a:r>
              <a:rPr sz="2400" spc="-15" dirty="0">
                <a:latin typeface="Calibri"/>
                <a:cs typeface="Calibri"/>
              </a:rPr>
              <a:t> </a:t>
            </a:r>
            <a:r>
              <a:rPr sz="2400" spc="-10" dirty="0">
                <a:latin typeface="Calibri"/>
                <a:cs typeface="Calibri"/>
              </a:rPr>
              <a:t>accomplished.</a:t>
            </a:r>
            <a:endParaRPr sz="2400">
              <a:latin typeface="Calibri"/>
              <a:cs typeface="Calibri"/>
            </a:endParaRPr>
          </a:p>
          <a:p>
            <a:pPr marL="697230" marR="5715" lvl="1" indent="-227329" algn="just">
              <a:lnSpc>
                <a:spcPct val="88300"/>
              </a:lnSpc>
              <a:spcBef>
                <a:spcPts val="550"/>
              </a:spcBef>
              <a:buFont typeface="Arial MT"/>
              <a:buChar char="•"/>
              <a:tabLst>
                <a:tab pos="698500" algn="l"/>
              </a:tabLst>
            </a:pPr>
            <a:r>
              <a:rPr sz="2400" dirty="0">
                <a:latin typeface="Calibri"/>
                <a:cs typeface="Calibri"/>
              </a:rPr>
              <a:t>More</a:t>
            </a:r>
            <a:r>
              <a:rPr sz="2400" spc="140" dirty="0">
                <a:latin typeface="Calibri"/>
                <a:cs typeface="Calibri"/>
              </a:rPr>
              <a:t>  </a:t>
            </a:r>
            <a:r>
              <a:rPr sz="2400" dirty="0">
                <a:latin typeface="Calibri"/>
                <a:cs typeface="Calibri"/>
              </a:rPr>
              <a:t>specifically,</a:t>
            </a:r>
            <a:r>
              <a:rPr sz="2400" spc="145" dirty="0">
                <a:latin typeface="Calibri"/>
                <a:cs typeface="Calibri"/>
              </a:rPr>
              <a:t>  </a:t>
            </a:r>
            <a:r>
              <a:rPr sz="2400" dirty="0">
                <a:latin typeface="Calibri"/>
                <a:cs typeface="Calibri"/>
              </a:rPr>
              <a:t>the</a:t>
            </a:r>
            <a:r>
              <a:rPr sz="2400" spc="145" dirty="0">
                <a:latin typeface="Calibri"/>
                <a:cs typeface="Calibri"/>
              </a:rPr>
              <a:t>  </a:t>
            </a:r>
            <a:r>
              <a:rPr sz="2400" dirty="0">
                <a:latin typeface="Calibri"/>
                <a:cs typeface="Calibri"/>
              </a:rPr>
              <a:t>project</a:t>
            </a:r>
            <a:r>
              <a:rPr sz="2400" spc="135" dirty="0">
                <a:latin typeface="Calibri"/>
                <a:cs typeface="Calibri"/>
              </a:rPr>
              <a:t>  </a:t>
            </a:r>
            <a:r>
              <a:rPr sz="2400" dirty="0">
                <a:latin typeface="Calibri"/>
                <a:cs typeface="Calibri"/>
              </a:rPr>
              <a:t>manager</a:t>
            </a:r>
            <a:r>
              <a:rPr sz="2400" spc="145" dirty="0">
                <a:latin typeface="Calibri"/>
                <a:cs typeface="Calibri"/>
              </a:rPr>
              <a:t>  </a:t>
            </a:r>
            <a:r>
              <a:rPr sz="2400" dirty="0">
                <a:latin typeface="Calibri"/>
                <a:cs typeface="Calibri"/>
              </a:rPr>
              <a:t>establishes</a:t>
            </a:r>
            <a:r>
              <a:rPr sz="2400" spc="145" dirty="0">
                <a:latin typeface="Calibri"/>
                <a:cs typeface="Calibri"/>
              </a:rPr>
              <a:t>  </a:t>
            </a:r>
            <a:r>
              <a:rPr sz="2400" dirty="0">
                <a:latin typeface="Calibri"/>
                <a:cs typeface="Calibri"/>
              </a:rPr>
              <a:t>the</a:t>
            </a:r>
            <a:r>
              <a:rPr sz="2400" spc="145" dirty="0">
                <a:latin typeface="Calibri"/>
                <a:cs typeface="Calibri"/>
              </a:rPr>
              <a:t>  </a:t>
            </a:r>
            <a:r>
              <a:rPr sz="2400" dirty="0">
                <a:latin typeface="Calibri"/>
                <a:cs typeface="Calibri"/>
              </a:rPr>
              <a:t>overall</a:t>
            </a:r>
            <a:r>
              <a:rPr sz="2400" spc="140" dirty="0">
                <a:latin typeface="Calibri"/>
                <a:cs typeface="Calibri"/>
              </a:rPr>
              <a:t>  </a:t>
            </a:r>
            <a:r>
              <a:rPr sz="2400" dirty="0">
                <a:latin typeface="Calibri"/>
                <a:cs typeface="Calibri"/>
              </a:rPr>
              <a:t>plan</a:t>
            </a:r>
            <a:r>
              <a:rPr sz="2400" spc="145" dirty="0">
                <a:latin typeface="Calibri"/>
                <a:cs typeface="Calibri"/>
              </a:rPr>
              <a:t>  </a:t>
            </a:r>
            <a:r>
              <a:rPr sz="2400" spc="-25" dirty="0">
                <a:latin typeface="Calibri"/>
                <a:cs typeface="Calibri"/>
              </a:rPr>
              <a:t>for 	</a:t>
            </a:r>
            <a:r>
              <a:rPr sz="2400" dirty="0">
                <a:latin typeface="Calibri"/>
                <a:cs typeface="Calibri"/>
              </a:rPr>
              <a:t>completing</a:t>
            </a:r>
            <a:r>
              <a:rPr sz="2400" spc="370" dirty="0">
                <a:latin typeface="Calibri"/>
                <a:cs typeface="Calibri"/>
              </a:rPr>
              <a:t>  </a:t>
            </a:r>
            <a:r>
              <a:rPr sz="2400" dirty="0">
                <a:latin typeface="Calibri"/>
                <a:cs typeface="Calibri"/>
              </a:rPr>
              <a:t>the</a:t>
            </a:r>
            <a:r>
              <a:rPr sz="2400" spc="385" dirty="0">
                <a:latin typeface="Calibri"/>
                <a:cs typeface="Calibri"/>
              </a:rPr>
              <a:t>  </a:t>
            </a:r>
            <a:r>
              <a:rPr sz="2400" dirty="0">
                <a:latin typeface="Calibri"/>
                <a:cs typeface="Calibri"/>
              </a:rPr>
              <a:t>project,</a:t>
            </a:r>
            <a:r>
              <a:rPr sz="2400" spc="375" dirty="0">
                <a:latin typeface="Calibri"/>
                <a:cs typeface="Calibri"/>
              </a:rPr>
              <a:t>  </a:t>
            </a:r>
            <a:r>
              <a:rPr sz="2400" dirty="0">
                <a:latin typeface="Calibri"/>
                <a:cs typeface="Calibri"/>
              </a:rPr>
              <a:t>integrates</a:t>
            </a:r>
            <a:r>
              <a:rPr sz="2400" spc="380" dirty="0">
                <a:latin typeface="Calibri"/>
                <a:cs typeface="Calibri"/>
              </a:rPr>
              <a:t>  </a:t>
            </a:r>
            <a:r>
              <a:rPr sz="2400" dirty="0">
                <a:latin typeface="Calibri"/>
                <a:cs typeface="Calibri"/>
              </a:rPr>
              <a:t>the</a:t>
            </a:r>
            <a:r>
              <a:rPr sz="2400" spc="380" dirty="0">
                <a:latin typeface="Calibri"/>
                <a:cs typeface="Calibri"/>
              </a:rPr>
              <a:t>  </a:t>
            </a:r>
            <a:r>
              <a:rPr sz="2400" dirty="0">
                <a:latin typeface="Calibri"/>
                <a:cs typeface="Calibri"/>
              </a:rPr>
              <a:t>contribution</a:t>
            </a:r>
            <a:r>
              <a:rPr sz="2400" spc="380" dirty="0">
                <a:latin typeface="Calibri"/>
                <a:cs typeface="Calibri"/>
              </a:rPr>
              <a:t>  </a:t>
            </a:r>
            <a:r>
              <a:rPr sz="2400" dirty="0">
                <a:latin typeface="Calibri"/>
                <a:cs typeface="Calibri"/>
              </a:rPr>
              <a:t>of</a:t>
            </a:r>
            <a:r>
              <a:rPr sz="2400" spc="385" dirty="0">
                <a:latin typeface="Calibri"/>
                <a:cs typeface="Calibri"/>
              </a:rPr>
              <a:t>  </a:t>
            </a:r>
            <a:r>
              <a:rPr sz="2400" dirty="0">
                <a:latin typeface="Calibri"/>
                <a:cs typeface="Calibri"/>
              </a:rPr>
              <a:t>the</a:t>
            </a:r>
            <a:r>
              <a:rPr sz="2400" spc="380" dirty="0">
                <a:latin typeface="Calibri"/>
                <a:cs typeface="Calibri"/>
              </a:rPr>
              <a:t>  </a:t>
            </a:r>
            <a:r>
              <a:rPr sz="2400" spc="-10" dirty="0">
                <a:latin typeface="Calibri"/>
                <a:cs typeface="Calibri"/>
              </a:rPr>
              <a:t>different 	</a:t>
            </a:r>
            <a:r>
              <a:rPr sz="2400" dirty="0">
                <a:latin typeface="Calibri"/>
                <a:cs typeface="Calibri"/>
              </a:rPr>
              <a:t>disciplines,</a:t>
            </a:r>
            <a:r>
              <a:rPr sz="2400" spc="-85" dirty="0">
                <a:latin typeface="Calibri"/>
                <a:cs typeface="Calibri"/>
              </a:rPr>
              <a:t> </a:t>
            </a:r>
            <a:r>
              <a:rPr sz="2400" dirty="0">
                <a:latin typeface="Calibri"/>
                <a:cs typeface="Calibri"/>
              </a:rPr>
              <a:t>sets</a:t>
            </a:r>
            <a:r>
              <a:rPr sz="2400" spc="-85" dirty="0">
                <a:latin typeface="Calibri"/>
                <a:cs typeface="Calibri"/>
              </a:rPr>
              <a:t> </a:t>
            </a:r>
            <a:r>
              <a:rPr sz="2400" dirty="0">
                <a:latin typeface="Calibri"/>
                <a:cs typeface="Calibri"/>
              </a:rPr>
              <a:t>schedules,</a:t>
            </a:r>
            <a:r>
              <a:rPr sz="2400" spc="-80" dirty="0">
                <a:latin typeface="Calibri"/>
                <a:cs typeface="Calibri"/>
              </a:rPr>
              <a:t> </a:t>
            </a:r>
            <a:r>
              <a:rPr sz="2400" dirty="0">
                <a:latin typeface="Calibri"/>
                <a:cs typeface="Calibri"/>
              </a:rPr>
              <a:t>and</a:t>
            </a:r>
            <a:r>
              <a:rPr sz="2400" spc="-75" dirty="0">
                <a:latin typeface="Calibri"/>
                <a:cs typeface="Calibri"/>
              </a:rPr>
              <a:t> </a:t>
            </a:r>
            <a:r>
              <a:rPr sz="2400" dirty="0">
                <a:latin typeface="Calibri"/>
                <a:cs typeface="Calibri"/>
              </a:rPr>
              <a:t>monitors</a:t>
            </a:r>
            <a:r>
              <a:rPr sz="2400" spc="-80" dirty="0">
                <a:latin typeface="Calibri"/>
                <a:cs typeface="Calibri"/>
              </a:rPr>
              <a:t> </a:t>
            </a:r>
            <a:r>
              <a:rPr sz="2400" spc="-10" dirty="0">
                <a:latin typeface="Calibri"/>
                <a:cs typeface="Calibri"/>
              </a:rPr>
              <a:t>progress.</a:t>
            </a:r>
            <a:endParaRPr sz="2400">
              <a:latin typeface="Calibri"/>
              <a:cs typeface="Calibri"/>
            </a:endParaRPr>
          </a:p>
          <a:p>
            <a:pPr marL="697230" marR="6350" lvl="1" indent="-227329" algn="just">
              <a:lnSpc>
                <a:spcPts val="2590"/>
              </a:lnSpc>
              <a:spcBef>
                <a:spcPts val="570"/>
              </a:spcBef>
              <a:buFont typeface="Arial MT"/>
              <a:buChar char="•"/>
              <a:tabLst>
                <a:tab pos="698500" algn="l"/>
              </a:tabLst>
            </a:pPr>
            <a:r>
              <a:rPr sz="2400" dirty="0">
                <a:latin typeface="Calibri"/>
                <a:cs typeface="Calibri"/>
              </a:rPr>
              <a:t>The</a:t>
            </a:r>
            <a:r>
              <a:rPr sz="2400" spc="254" dirty="0">
                <a:latin typeface="Calibri"/>
                <a:cs typeface="Calibri"/>
              </a:rPr>
              <a:t>  </a:t>
            </a:r>
            <a:r>
              <a:rPr sz="2400" dirty="0">
                <a:latin typeface="Calibri"/>
                <a:cs typeface="Calibri"/>
              </a:rPr>
              <a:t>functional</a:t>
            </a:r>
            <a:r>
              <a:rPr sz="2400" spc="250" dirty="0">
                <a:latin typeface="Calibri"/>
                <a:cs typeface="Calibri"/>
              </a:rPr>
              <a:t>  </a:t>
            </a:r>
            <a:r>
              <a:rPr sz="2400" dirty="0">
                <a:latin typeface="Calibri"/>
                <a:cs typeface="Calibri"/>
              </a:rPr>
              <a:t>managers</a:t>
            </a:r>
            <a:r>
              <a:rPr sz="2400" spc="254" dirty="0">
                <a:latin typeface="Calibri"/>
                <a:cs typeface="Calibri"/>
              </a:rPr>
              <a:t>  </a:t>
            </a:r>
            <a:r>
              <a:rPr sz="2400" dirty="0">
                <a:latin typeface="Calibri"/>
                <a:cs typeface="Calibri"/>
              </a:rPr>
              <a:t>are</a:t>
            </a:r>
            <a:r>
              <a:rPr sz="2400" spc="254" dirty="0">
                <a:latin typeface="Calibri"/>
                <a:cs typeface="Calibri"/>
              </a:rPr>
              <a:t>  </a:t>
            </a:r>
            <a:r>
              <a:rPr sz="2400" dirty="0">
                <a:latin typeface="Calibri"/>
                <a:cs typeface="Calibri"/>
              </a:rPr>
              <a:t>responsible</a:t>
            </a:r>
            <a:r>
              <a:rPr sz="2400" spc="254" dirty="0">
                <a:latin typeface="Calibri"/>
                <a:cs typeface="Calibri"/>
              </a:rPr>
              <a:t>  </a:t>
            </a:r>
            <a:r>
              <a:rPr sz="2400" dirty="0">
                <a:latin typeface="Calibri"/>
                <a:cs typeface="Calibri"/>
              </a:rPr>
              <a:t>for</a:t>
            </a:r>
            <a:r>
              <a:rPr sz="2400" spc="254" dirty="0">
                <a:latin typeface="Calibri"/>
                <a:cs typeface="Calibri"/>
              </a:rPr>
              <a:t>  </a:t>
            </a:r>
            <a:r>
              <a:rPr sz="2400" dirty="0">
                <a:latin typeface="Calibri"/>
                <a:cs typeface="Calibri"/>
              </a:rPr>
              <a:t>assigning</a:t>
            </a:r>
            <a:r>
              <a:rPr sz="2400" spc="250" dirty="0">
                <a:latin typeface="Calibri"/>
                <a:cs typeface="Calibri"/>
              </a:rPr>
              <a:t>  </a:t>
            </a:r>
            <a:r>
              <a:rPr sz="2400" dirty="0">
                <a:latin typeface="Calibri"/>
                <a:cs typeface="Calibri"/>
              </a:rPr>
              <a:t>personnel</a:t>
            </a:r>
            <a:r>
              <a:rPr sz="2400" spc="250" dirty="0">
                <a:latin typeface="Calibri"/>
                <a:cs typeface="Calibri"/>
              </a:rPr>
              <a:t>  </a:t>
            </a:r>
            <a:r>
              <a:rPr sz="2400" spc="-25" dirty="0">
                <a:latin typeface="Calibri"/>
                <a:cs typeface="Calibri"/>
              </a:rPr>
              <a:t>and 	</a:t>
            </a:r>
            <a:r>
              <a:rPr sz="2400" dirty="0">
                <a:latin typeface="Calibri"/>
                <a:cs typeface="Calibri"/>
              </a:rPr>
              <a:t>executing</a:t>
            </a:r>
            <a:r>
              <a:rPr sz="2400" spc="85" dirty="0">
                <a:latin typeface="Calibri"/>
                <a:cs typeface="Calibri"/>
              </a:rPr>
              <a:t>  </a:t>
            </a:r>
            <a:r>
              <a:rPr sz="2400" dirty="0">
                <a:latin typeface="Calibri"/>
                <a:cs typeface="Calibri"/>
              </a:rPr>
              <a:t>their</a:t>
            </a:r>
            <a:r>
              <a:rPr sz="2400" spc="95" dirty="0">
                <a:latin typeface="Calibri"/>
                <a:cs typeface="Calibri"/>
              </a:rPr>
              <a:t>  </a:t>
            </a:r>
            <a:r>
              <a:rPr sz="2400" dirty="0">
                <a:latin typeface="Calibri"/>
                <a:cs typeface="Calibri"/>
              </a:rPr>
              <a:t>segment</a:t>
            </a:r>
            <a:r>
              <a:rPr sz="2400" spc="90" dirty="0">
                <a:latin typeface="Calibri"/>
                <a:cs typeface="Calibri"/>
              </a:rPr>
              <a:t>  </a:t>
            </a:r>
            <a:r>
              <a:rPr sz="2400" dirty="0">
                <a:latin typeface="Calibri"/>
                <a:cs typeface="Calibri"/>
              </a:rPr>
              <a:t>of</a:t>
            </a:r>
            <a:r>
              <a:rPr sz="2400" spc="90" dirty="0">
                <a:latin typeface="Calibri"/>
                <a:cs typeface="Calibri"/>
              </a:rPr>
              <a:t>  </a:t>
            </a:r>
            <a:r>
              <a:rPr sz="2400" dirty="0">
                <a:latin typeface="Calibri"/>
                <a:cs typeface="Calibri"/>
              </a:rPr>
              <a:t>the</a:t>
            </a:r>
            <a:r>
              <a:rPr sz="2400" spc="95" dirty="0">
                <a:latin typeface="Calibri"/>
                <a:cs typeface="Calibri"/>
              </a:rPr>
              <a:t>  </a:t>
            </a:r>
            <a:r>
              <a:rPr sz="2400" dirty="0">
                <a:latin typeface="Calibri"/>
                <a:cs typeface="Calibri"/>
              </a:rPr>
              <a:t>project</a:t>
            </a:r>
            <a:r>
              <a:rPr sz="2400" spc="85" dirty="0">
                <a:latin typeface="Calibri"/>
                <a:cs typeface="Calibri"/>
              </a:rPr>
              <a:t>  </a:t>
            </a:r>
            <a:r>
              <a:rPr sz="2400" dirty="0">
                <a:latin typeface="Calibri"/>
                <a:cs typeface="Calibri"/>
              </a:rPr>
              <a:t>according</a:t>
            </a:r>
            <a:r>
              <a:rPr sz="2400" spc="90" dirty="0">
                <a:latin typeface="Calibri"/>
                <a:cs typeface="Calibri"/>
              </a:rPr>
              <a:t>  </a:t>
            </a:r>
            <a:r>
              <a:rPr sz="2400" dirty="0">
                <a:latin typeface="Calibri"/>
                <a:cs typeface="Calibri"/>
              </a:rPr>
              <a:t>to</a:t>
            </a:r>
            <a:r>
              <a:rPr sz="2400" spc="90" dirty="0">
                <a:latin typeface="Calibri"/>
                <a:cs typeface="Calibri"/>
              </a:rPr>
              <a:t>  </a:t>
            </a:r>
            <a:r>
              <a:rPr sz="2400" dirty="0">
                <a:latin typeface="Calibri"/>
                <a:cs typeface="Calibri"/>
              </a:rPr>
              <a:t>the</a:t>
            </a:r>
            <a:r>
              <a:rPr sz="2400" spc="90" dirty="0">
                <a:latin typeface="Calibri"/>
                <a:cs typeface="Calibri"/>
              </a:rPr>
              <a:t>  </a:t>
            </a:r>
            <a:r>
              <a:rPr sz="2400" dirty="0">
                <a:latin typeface="Calibri"/>
                <a:cs typeface="Calibri"/>
              </a:rPr>
              <a:t>standards</a:t>
            </a:r>
            <a:r>
              <a:rPr sz="2400" spc="90" dirty="0">
                <a:latin typeface="Calibri"/>
                <a:cs typeface="Calibri"/>
              </a:rPr>
              <a:t>  </a:t>
            </a:r>
            <a:r>
              <a:rPr sz="2400" spc="-25" dirty="0">
                <a:latin typeface="Calibri"/>
                <a:cs typeface="Calibri"/>
              </a:rPr>
              <a:t>and 	</a:t>
            </a:r>
            <a:r>
              <a:rPr sz="2400" dirty="0">
                <a:latin typeface="Calibri"/>
                <a:cs typeface="Calibri"/>
              </a:rPr>
              <a:t>schedules</a:t>
            </a:r>
            <a:r>
              <a:rPr sz="2400" spc="-55" dirty="0">
                <a:latin typeface="Calibri"/>
                <a:cs typeface="Calibri"/>
              </a:rPr>
              <a:t> </a:t>
            </a:r>
            <a:r>
              <a:rPr sz="2400" dirty="0">
                <a:latin typeface="Calibri"/>
                <a:cs typeface="Calibri"/>
              </a:rPr>
              <a:t>set</a:t>
            </a:r>
            <a:r>
              <a:rPr sz="2400" spc="-60" dirty="0">
                <a:latin typeface="Calibri"/>
                <a:cs typeface="Calibri"/>
              </a:rPr>
              <a:t> </a:t>
            </a:r>
            <a:r>
              <a:rPr sz="2400" dirty="0">
                <a:latin typeface="Calibri"/>
                <a:cs typeface="Calibri"/>
              </a:rPr>
              <a:t>by</a:t>
            </a:r>
            <a:r>
              <a:rPr sz="2400" spc="-60"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project</a:t>
            </a:r>
            <a:r>
              <a:rPr sz="2400" spc="-60" dirty="0">
                <a:latin typeface="Calibri"/>
                <a:cs typeface="Calibri"/>
              </a:rPr>
              <a:t> </a:t>
            </a:r>
            <a:r>
              <a:rPr sz="2400" spc="-10" dirty="0">
                <a:latin typeface="Calibri"/>
                <a:cs typeface="Calibri"/>
              </a:rPr>
              <a:t>manager.</a:t>
            </a:r>
            <a:endParaRPr sz="2400">
              <a:latin typeface="Calibri"/>
              <a:cs typeface="Calibri"/>
            </a:endParaRPr>
          </a:p>
          <a:p>
            <a:pPr marL="697230" marR="5715" lvl="1" indent="-227329" algn="just">
              <a:lnSpc>
                <a:spcPts val="2620"/>
              </a:lnSpc>
              <a:spcBef>
                <a:spcPts val="484"/>
              </a:spcBef>
              <a:buFont typeface="Arial MT"/>
              <a:buChar char="•"/>
              <a:tabLst>
                <a:tab pos="698500" algn="l"/>
              </a:tabLst>
            </a:pPr>
            <a:r>
              <a:rPr sz="2400" dirty="0">
                <a:latin typeface="Calibri"/>
                <a:cs typeface="Calibri"/>
              </a:rPr>
              <a:t>The</a:t>
            </a:r>
            <a:r>
              <a:rPr sz="2400" spc="5" dirty="0">
                <a:latin typeface="Calibri"/>
                <a:cs typeface="Calibri"/>
              </a:rPr>
              <a:t> </a:t>
            </a:r>
            <a:r>
              <a:rPr sz="2400" dirty="0">
                <a:latin typeface="Calibri"/>
                <a:cs typeface="Calibri"/>
              </a:rPr>
              <a:t>merger</a:t>
            </a:r>
            <a:r>
              <a:rPr sz="2400" spc="5" dirty="0">
                <a:latin typeface="Calibri"/>
                <a:cs typeface="Calibri"/>
              </a:rPr>
              <a:t> </a:t>
            </a:r>
            <a:r>
              <a:rPr sz="2400" dirty="0">
                <a:latin typeface="Calibri"/>
                <a:cs typeface="Calibri"/>
              </a:rPr>
              <a:t>of</a:t>
            </a:r>
            <a:r>
              <a:rPr sz="2400" spc="5" dirty="0">
                <a:latin typeface="Calibri"/>
                <a:cs typeface="Calibri"/>
              </a:rPr>
              <a:t> </a:t>
            </a:r>
            <a:r>
              <a:rPr sz="2400" dirty="0">
                <a:latin typeface="Calibri"/>
                <a:cs typeface="Calibri"/>
              </a:rPr>
              <a:t>“what</a:t>
            </a:r>
            <a:r>
              <a:rPr sz="2400" spc="5" dirty="0">
                <a:latin typeface="Calibri"/>
                <a:cs typeface="Calibri"/>
              </a:rPr>
              <a:t> </a:t>
            </a:r>
            <a:r>
              <a:rPr sz="2400" dirty="0">
                <a:latin typeface="Calibri"/>
                <a:cs typeface="Calibri"/>
              </a:rPr>
              <a:t>and how” requires both</a:t>
            </a:r>
            <a:r>
              <a:rPr sz="2400" spc="5" dirty="0">
                <a:latin typeface="Calibri"/>
                <a:cs typeface="Calibri"/>
              </a:rPr>
              <a:t> </a:t>
            </a:r>
            <a:r>
              <a:rPr sz="2400" dirty="0">
                <a:latin typeface="Calibri"/>
                <a:cs typeface="Calibri"/>
              </a:rPr>
              <a:t>parties to work closely</a:t>
            </a:r>
            <a:r>
              <a:rPr sz="2400" spc="5" dirty="0">
                <a:latin typeface="Calibri"/>
                <a:cs typeface="Calibri"/>
              </a:rPr>
              <a:t> </a:t>
            </a:r>
            <a:r>
              <a:rPr sz="2400" spc="-10" dirty="0">
                <a:latin typeface="Calibri"/>
                <a:cs typeface="Calibri"/>
              </a:rPr>
              <a:t>together 	</a:t>
            </a:r>
            <a:r>
              <a:rPr sz="2400" dirty="0">
                <a:latin typeface="Calibri"/>
                <a:cs typeface="Calibri"/>
              </a:rPr>
              <a:t>and</a:t>
            </a:r>
            <a:r>
              <a:rPr sz="2400" spc="-70" dirty="0">
                <a:latin typeface="Calibri"/>
                <a:cs typeface="Calibri"/>
              </a:rPr>
              <a:t> </a:t>
            </a:r>
            <a:r>
              <a:rPr sz="2400" dirty="0">
                <a:latin typeface="Calibri"/>
                <a:cs typeface="Calibri"/>
              </a:rPr>
              <a:t>jointly</a:t>
            </a:r>
            <a:r>
              <a:rPr sz="2400" spc="-70" dirty="0">
                <a:latin typeface="Calibri"/>
                <a:cs typeface="Calibri"/>
              </a:rPr>
              <a:t> </a:t>
            </a:r>
            <a:r>
              <a:rPr sz="2400" spc="-10" dirty="0">
                <a:latin typeface="Calibri"/>
                <a:cs typeface="Calibri"/>
              </a:rPr>
              <a:t>approve</a:t>
            </a:r>
            <a:r>
              <a:rPr sz="2400" spc="-65" dirty="0">
                <a:latin typeface="Calibri"/>
                <a:cs typeface="Calibri"/>
              </a:rPr>
              <a:t> </a:t>
            </a:r>
            <a:r>
              <a:rPr sz="2400" dirty="0">
                <a:latin typeface="Calibri"/>
                <a:cs typeface="Calibri"/>
              </a:rPr>
              <a:t>technical</a:t>
            </a:r>
            <a:r>
              <a:rPr sz="2400" spc="-75" dirty="0">
                <a:latin typeface="Calibri"/>
                <a:cs typeface="Calibri"/>
              </a:rPr>
              <a:t> </a:t>
            </a:r>
            <a:r>
              <a:rPr sz="2400" dirty="0">
                <a:latin typeface="Calibri"/>
                <a:cs typeface="Calibri"/>
              </a:rPr>
              <a:t>and</a:t>
            </a:r>
            <a:r>
              <a:rPr sz="2400" spc="-65" dirty="0">
                <a:latin typeface="Calibri"/>
                <a:cs typeface="Calibri"/>
              </a:rPr>
              <a:t> </a:t>
            </a:r>
            <a:r>
              <a:rPr sz="2400" spc="-10" dirty="0">
                <a:latin typeface="Calibri"/>
                <a:cs typeface="Calibri"/>
              </a:rPr>
              <a:t>operational</a:t>
            </a:r>
            <a:r>
              <a:rPr sz="2400" spc="-70" dirty="0">
                <a:latin typeface="Calibri"/>
                <a:cs typeface="Calibri"/>
              </a:rPr>
              <a:t> </a:t>
            </a:r>
            <a:r>
              <a:rPr sz="2400" spc="-10" dirty="0">
                <a:latin typeface="Calibri"/>
                <a:cs typeface="Calibri"/>
              </a:rPr>
              <a:t>decisions.</a:t>
            </a:r>
            <a:endParaRPr sz="240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48</a:t>
            </a:fld>
            <a:endParaRPr spc="-25"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Different Matrix Forms </a:t>
            </a:r>
            <a:r>
              <a:rPr sz="1950" spc="-10" dirty="0"/>
              <a:t>(2/3)</a:t>
            </a:r>
            <a:endParaRPr sz="1950" dirty="0"/>
          </a:p>
        </p:txBody>
      </p:sp>
      <p:pic>
        <p:nvPicPr>
          <p:cNvPr id="5" name="Picture 4">
            <a:extLst>
              <a:ext uri="{FF2B5EF4-FFF2-40B4-BE49-F238E27FC236}">
                <a16:creationId xmlns:a16="http://schemas.microsoft.com/office/drawing/2014/main" id="{B8A176A3-6A53-84D6-95D8-6FF1BD2FCFB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Different Matrix Forms </a:t>
            </a:r>
            <a:r>
              <a:rPr sz="1950" spc="-10" dirty="0"/>
              <a:t>(3/3)</a:t>
            </a:r>
            <a:endParaRPr sz="195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49</a:t>
            </a:fld>
            <a:endParaRPr spc="-25" dirty="0"/>
          </a:p>
        </p:txBody>
      </p:sp>
      <p:sp>
        <p:nvSpPr>
          <p:cNvPr id="3" name="object 3"/>
          <p:cNvSpPr txBox="1"/>
          <p:nvPr/>
        </p:nvSpPr>
        <p:spPr>
          <a:xfrm>
            <a:off x="916939" y="1761404"/>
            <a:ext cx="10357485" cy="3701415"/>
          </a:xfrm>
          <a:prstGeom prst="rect">
            <a:avLst/>
          </a:prstGeom>
        </p:spPr>
        <p:txBody>
          <a:bodyPr vert="horz" wrap="square" lIns="0" tIns="46990" rIns="0" bIns="0" rtlCol="0">
            <a:spAutoFit/>
          </a:bodyPr>
          <a:lstStyle/>
          <a:p>
            <a:pPr marL="240665" indent="-227965" algn="just">
              <a:lnSpc>
                <a:spcPct val="100000"/>
              </a:lnSpc>
              <a:spcBef>
                <a:spcPts val="370"/>
              </a:spcBef>
              <a:buFont typeface="Arial MT"/>
              <a:buChar char="•"/>
              <a:tabLst>
                <a:tab pos="240665" algn="l"/>
              </a:tabLst>
            </a:pPr>
            <a:r>
              <a:rPr sz="2800" b="1" dirty="0">
                <a:solidFill>
                  <a:srgbClr val="C00000"/>
                </a:solidFill>
                <a:latin typeface="Calibri"/>
                <a:cs typeface="Calibri"/>
              </a:rPr>
              <a:t>Strong</a:t>
            </a:r>
            <a:r>
              <a:rPr sz="2800" b="1" spc="-80" dirty="0">
                <a:solidFill>
                  <a:srgbClr val="C00000"/>
                </a:solidFill>
                <a:latin typeface="Calibri"/>
                <a:cs typeface="Calibri"/>
              </a:rPr>
              <a:t> </a:t>
            </a:r>
            <a:r>
              <a:rPr sz="2800" b="1" spc="-10" dirty="0">
                <a:solidFill>
                  <a:srgbClr val="C00000"/>
                </a:solidFill>
                <a:latin typeface="Calibri"/>
                <a:cs typeface="Calibri"/>
              </a:rPr>
              <a:t>matrix:</a:t>
            </a:r>
            <a:endParaRPr sz="2800" dirty="0">
              <a:latin typeface="Calibri"/>
              <a:cs typeface="Calibri"/>
            </a:endParaRPr>
          </a:p>
          <a:p>
            <a:pPr marL="697230" lvl="1" indent="-227329" algn="just">
              <a:lnSpc>
                <a:spcPct val="100000"/>
              </a:lnSpc>
              <a:spcBef>
                <a:spcPts val="229"/>
              </a:spcBef>
              <a:buFont typeface="Arial MT"/>
              <a:buChar char="•"/>
              <a:tabLst>
                <a:tab pos="697230" algn="l"/>
              </a:tabLst>
            </a:pPr>
            <a:r>
              <a:rPr sz="2400" spc="-10" dirty="0">
                <a:latin typeface="Calibri"/>
                <a:cs typeface="Calibri"/>
              </a:rPr>
              <a:t>Attempts</a:t>
            </a:r>
            <a:r>
              <a:rPr sz="2400" spc="-65" dirty="0">
                <a:latin typeface="Calibri"/>
                <a:cs typeface="Calibri"/>
              </a:rPr>
              <a:t> </a:t>
            </a:r>
            <a:r>
              <a:rPr sz="2400" dirty="0">
                <a:latin typeface="Calibri"/>
                <a:cs typeface="Calibri"/>
              </a:rPr>
              <a:t>to</a:t>
            </a:r>
            <a:r>
              <a:rPr sz="2400" spc="-60" dirty="0">
                <a:latin typeface="Calibri"/>
                <a:cs typeface="Calibri"/>
              </a:rPr>
              <a:t> </a:t>
            </a:r>
            <a:r>
              <a:rPr sz="2400" dirty="0">
                <a:latin typeface="Calibri"/>
                <a:cs typeface="Calibri"/>
              </a:rPr>
              <a:t>create</a:t>
            </a:r>
            <a:r>
              <a:rPr sz="2400" spc="-60" dirty="0">
                <a:latin typeface="Calibri"/>
                <a:cs typeface="Calibri"/>
              </a:rPr>
              <a:t> </a:t>
            </a:r>
            <a:r>
              <a:rPr sz="2400" dirty="0">
                <a:latin typeface="Calibri"/>
                <a:cs typeface="Calibri"/>
              </a:rPr>
              <a:t>the</a:t>
            </a:r>
            <a:r>
              <a:rPr sz="2400" spc="-55" dirty="0">
                <a:latin typeface="Calibri"/>
                <a:cs typeface="Calibri"/>
              </a:rPr>
              <a:t> </a:t>
            </a:r>
            <a:r>
              <a:rPr sz="2400" dirty="0">
                <a:latin typeface="Calibri"/>
                <a:cs typeface="Calibri"/>
              </a:rPr>
              <a:t>“feel”</a:t>
            </a:r>
            <a:r>
              <a:rPr sz="2400" spc="-65" dirty="0">
                <a:latin typeface="Calibri"/>
                <a:cs typeface="Calibri"/>
              </a:rPr>
              <a:t> </a:t>
            </a:r>
            <a:r>
              <a:rPr sz="2400" dirty="0">
                <a:latin typeface="Calibri"/>
                <a:cs typeface="Calibri"/>
              </a:rPr>
              <a:t>of</a:t>
            </a:r>
            <a:r>
              <a:rPr sz="2400" spc="-60" dirty="0">
                <a:latin typeface="Calibri"/>
                <a:cs typeface="Calibri"/>
              </a:rPr>
              <a:t> </a:t>
            </a:r>
            <a:r>
              <a:rPr sz="2400" dirty="0">
                <a:latin typeface="Calibri"/>
                <a:cs typeface="Calibri"/>
              </a:rPr>
              <a:t>a</a:t>
            </a:r>
            <a:r>
              <a:rPr sz="2400" spc="-55" dirty="0">
                <a:latin typeface="Calibri"/>
                <a:cs typeface="Calibri"/>
              </a:rPr>
              <a:t> </a:t>
            </a:r>
            <a:r>
              <a:rPr sz="2400" dirty="0">
                <a:latin typeface="Calibri"/>
                <a:cs typeface="Calibri"/>
              </a:rPr>
              <a:t>project</a:t>
            </a:r>
            <a:r>
              <a:rPr sz="2400" spc="-70" dirty="0">
                <a:latin typeface="Calibri"/>
                <a:cs typeface="Calibri"/>
              </a:rPr>
              <a:t> </a:t>
            </a:r>
            <a:r>
              <a:rPr sz="2400" dirty="0">
                <a:latin typeface="Calibri"/>
                <a:cs typeface="Calibri"/>
              </a:rPr>
              <a:t>team</a:t>
            </a:r>
            <a:r>
              <a:rPr sz="2400" spc="-65" dirty="0">
                <a:latin typeface="Calibri"/>
                <a:cs typeface="Calibri"/>
              </a:rPr>
              <a:t> </a:t>
            </a:r>
            <a:r>
              <a:rPr sz="2400" dirty="0">
                <a:latin typeface="Calibri"/>
                <a:cs typeface="Calibri"/>
              </a:rPr>
              <a:t>within</a:t>
            </a:r>
            <a:r>
              <a:rPr sz="2400" spc="-60" dirty="0">
                <a:latin typeface="Calibri"/>
                <a:cs typeface="Calibri"/>
              </a:rPr>
              <a:t> </a:t>
            </a:r>
            <a:r>
              <a:rPr sz="2400" dirty="0">
                <a:latin typeface="Calibri"/>
                <a:cs typeface="Calibri"/>
              </a:rPr>
              <a:t>a</a:t>
            </a:r>
            <a:r>
              <a:rPr sz="2400" spc="-55" dirty="0">
                <a:latin typeface="Calibri"/>
                <a:cs typeface="Calibri"/>
              </a:rPr>
              <a:t> </a:t>
            </a:r>
            <a:r>
              <a:rPr sz="2400" dirty="0">
                <a:latin typeface="Calibri"/>
                <a:cs typeface="Calibri"/>
              </a:rPr>
              <a:t>matrix</a:t>
            </a:r>
            <a:r>
              <a:rPr sz="2400" spc="-65" dirty="0">
                <a:latin typeface="Calibri"/>
                <a:cs typeface="Calibri"/>
              </a:rPr>
              <a:t> </a:t>
            </a:r>
            <a:r>
              <a:rPr sz="2400" spc="-10" dirty="0">
                <a:latin typeface="Calibri"/>
                <a:cs typeface="Calibri"/>
              </a:rPr>
              <a:t>environment.</a:t>
            </a:r>
            <a:endParaRPr sz="2400" dirty="0">
              <a:latin typeface="Calibri"/>
              <a:cs typeface="Calibri"/>
            </a:endParaRPr>
          </a:p>
          <a:p>
            <a:pPr marL="697230" marR="5715" lvl="1" indent="-227329" algn="just">
              <a:lnSpc>
                <a:spcPts val="2620"/>
              </a:lnSpc>
              <a:spcBef>
                <a:spcPts val="520"/>
              </a:spcBef>
              <a:buFont typeface="Arial MT"/>
              <a:buChar char="•"/>
              <a:tabLst>
                <a:tab pos="698500" algn="l"/>
              </a:tabLst>
            </a:pPr>
            <a:r>
              <a:rPr sz="2400" dirty="0">
                <a:latin typeface="Calibri"/>
                <a:cs typeface="Calibri"/>
              </a:rPr>
              <a:t>The</a:t>
            </a:r>
            <a:r>
              <a:rPr sz="2400" spc="340" dirty="0">
                <a:latin typeface="Calibri"/>
                <a:cs typeface="Calibri"/>
              </a:rPr>
              <a:t> </a:t>
            </a:r>
            <a:r>
              <a:rPr sz="2400" dirty="0">
                <a:latin typeface="Calibri"/>
                <a:cs typeface="Calibri"/>
              </a:rPr>
              <a:t>project</a:t>
            </a:r>
            <a:r>
              <a:rPr sz="2400" spc="320" dirty="0">
                <a:latin typeface="Calibri"/>
                <a:cs typeface="Calibri"/>
              </a:rPr>
              <a:t> </a:t>
            </a:r>
            <a:r>
              <a:rPr sz="2400" dirty="0">
                <a:latin typeface="Calibri"/>
                <a:cs typeface="Calibri"/>
              </a:rPr>
              <a:t>manager</a:t>
            </a:r>
            <a:r>
              <a:rPr sz="2400" spc="340" dirty="0">
                <a:latin typeface="Calibri"/>
                <a:cs typeface="Calibri"/>
              </a:rPr>
              <a:t> </a:t>
            </a:r>
            <a:r>
              <a:rPr sz="2400" dirty="0">
                <a:latin typeface="Calibri"/>
                <a:cs typeface="Calibri"/>
              </a:rPr>
              <a:t>controls</a:t>
            </a:r>
            <a:r>
              <a:rPr sz="2400" spc="330" dirty="0">
                <a:latin typeface="Calibri"/>
                <a:cs typeface="Calibri"/>
              </a:rPr>
              <a:t> </a:t>
            </a:r>
            <a:r>
              <a:rPr sz="2400" dirty="0">
                <a:latin typeface="Calibri"/>
                <a:cs typeface="Calibri"/>
              </a:rPr>
              <a:t>most</a:t>
            </a:r>
            <a:r>
              <a:rPr sz="2400" spc="335" dirty="0">
                <a:latin typeface="Calibri"/>
                <a:cs typeface="Calibri"/>
              </a:rPr>
              <a:t> </a:t>
            </a:r>
            <a:r>
              <a:rPr sz="2400" dirty="0">
                <a:latin typeface="Calibri"/>
                <a:cs typeface="Calibri"/>
              </a:rPr>
              <a:t>aspects</a:t>
            </a:r>
            <a:r>
              <a:rPr sz="2400" spc="330" dirty="0">
                <a:latin typeface="Calibri"/>
                <a:cs typeface="Calibri"/>
              </a:rPr>
              <a:t> </a:t>
            </a:r>
            <a:r>
              <a:rPr sz="2400" dirty="0">
                <a:latin typeface="Calibri"/>
                <a:cs typeface="Calibri"/>
              </a:rPr>
              <a:t>of</a:t>
            </a:r>
            <a:r>
              <a:rPr sz="2400" spc="335" dirty="0">
                <a:latin typeface="Calibri"/>
                <a:cs typeface="Calibri"/>
              </a:rPr>
              <a:t> </a:t>
            </a:r>
            <a:r>
              <a:rPr sz="2400" dirty="0">
                <a:latin typeface="Calibri"/>
                <a:cs typeface="Calibri"/>
              </a:rPr>
              <a:t>the</a:t>
            </a:r>
            <a:r>
              <a:rPr sz="2400" spc="345" dirty="0">
                <a:latin typeface="Calibri"/>
                <a:cs typeface="Calibri"/>
              </a:rPr>
              <a:t> </a:t>
            </a:r>
            <a:r>
              <a:rPr sz="2400" dirty="0">
                <a:latin typeface="Calibri"/>
                <a:cs typeface="Calibri"/>
              </a:rPr>
              <a:t>project,</a:t>
            </a:r>
            <a:r>
              <a:rPr sz="2400" spc="330" dirty="0">
                <a:latin typeface="Calibri"/>
                <a:cs typeface="Calibri"/>
              </a:rPr>
              <a:t> </a:t>
            </a:r>
            <a:r>
              <a:rPr sz="2400" dirty="0">
                <a:latin typeface="Calibri"/>
                <a:cs typeface="Calibri"/>
              </a:rPr>
              <a:t>including</a:t>
            </a:r>
            <a:r>
              <a:rPr sz="2400" spc="330" dirty="0">
                <a:latin typeface="Calibri"/>
                <a:cs typeface="Calibri"/>
              </a:rPr>
              <a:t> </a:t>
            </a:r>
            <a:r>
              <a:rPr sz="2400" spc="-10" dirty="0">
                <a:latin typeface="Calibri"/>
                <a:cs typeface="Calibri"/>
              </a:rPr>
              <a:t>scope 	</a:t>
            </a:r>
            <a:r>
              <a:rPr sz="2400" spc="-25" dirty="0">
                <a:latin typeface="Calibri"/>
                <a:cs typeface="Calibri"/>
              </a:rPr>
              <a:t>trade-</a:t>
            </a:r>
            <a:r>
              <a:rPr sz="2400" dirty="0">
                <a:latin typeface="Calibri"/>
                <a:cs typeface="Calibri"/>
              </a:rPr>
              <a:t>offs</a:t>
            </a:r>
            <a:r>
              <a:rPr sz="2400" spc="-60" dirty="0">
                <a:latin typeface="Calibri"/>
                <a:cs typeface="Calibri"/>
              </a:rPr>
              <a:t> </a:t>
            </a:r>
            <a:r>
              <a:rPr sz="2400" dirty="0">
                <a:latin typeface="Calibri"/>
                <a:cs typeface="Calibri"/>
              </a:rPr>
              <a:t>and</a:t>
            </a:r>
            <a:r>
              <a:rPr sz="2400" spc="-55" dirty="0">
                <a:latin typeface="Calibri"/>
                <a:cs typeface="Calibri"/>
              </a:rPr>
              <a:t> </a:t>
            </a:r>
            <a:r>
              <a:rPr sz="2400" dirty="0">
                <a:latin typeface="Calibri"/>
                <a:cs typeface="Calibri"/>
              </a:rPr>
              <a:t>assignment</a:t>
            </a:r>
            <a:r>
              <a:rPr sz="2400" spc="-60" dirty="0">
                <a:latin typeface="Calibri"/>
                <a:cs typeface="Calibri"/>
              </a:rPr>
              <a:t> </a:t>
            </a:r>
            <a:r>
              <a:rPr sz="2400" dirty="0">
                <a:latin typeface="Calibri"/>
                <a:cs typeface="Calibri"/>
              </a:rPr>
              <a:t>of</a:t>
            </a:r>
            <a:r>
              <a:rPr sz="2400" spc="-60" dirty="0">
                <a:latin typeface="Calibri"/>
                <a:cs typeface="Calibri"/>
              </a:rPr>
              <a:t> </a:t>
            </a:r>
            <a:r>
              <a:rPr sz="2400" dirty="0">
                <a:latin typeface="Calibri"/>
                <a:cs typeface="Calibri"/>
              </a:rPr>
              <a:t>functional</a:t>
            </a:r>
            <a:r>
              <a:rPr sz="2400" spc="-60" dirty="0">
                <a:latin typeface="Calibri"/>
                <a:cs typeface="Calibri"/>
              </a:rPr>
              <a:t> </a:t>
            </a:r>
            <a:r>
              <a:rPr sz="2400" spc="-10" dirty="0">
                <a:latin typeface="Calibri"/>
                <a:cs typeface="Calibri"/>
              </a:rPr>
              <a:t>personnel.</a:t>
            </a:r>
            <a:endParaRPr sz="2400" dirty="0">
              <a:latin typeface="Calibri"/>
              <a:cs typeface="Calibri"/>
            </a:endParaRPr>
          </a:p>
          <a:p>
            <a:pPr marL="697230" marR="5080" lvl="1" indent="-227329" algn="just">
              <a:lnSpc>
                <a:spcPct val="88300"/>
              </a:lnSpc>
              <a:spcBef>
                <a:spcPts val="505"/>
              </a:spcBef>
              <a:buFont typeface="Arial MT"/>
              <a:buChar char="•"/>
              <a:tabLst>
                <a:tab pos="698500" algn="l"/>
              </a:tabLst>
            </a:pPr>
            <a:r>
              <a:rPr sz="2400" dirty="0">
                <a:latin typeface="Calibri"/>
                <a:cs typeface="Calibri"/>
              </a:rPr>
              <a:t>The</a:t>
            </a:r>
            <a:r>
              <a:rPr sz="2400" spc="85" dirty="0">
                <a:latin typeface="Calibri"/>
                <a:cs typeface="Calibri"/>
              </a:rPr>
              <a:t> </a:t>
            </a:r>
            <a:r>
              <a:rPr sz="2400" dirty="0">
                <a:latin typeface="Calibri"/>
                <a:cs typeface="Calibri"/>
              </a:rPr>
              <a:t>project</a:t>
            </a:r>
            <a:r>
              <a:rPr sz="2400" spc="70" dirty="0">
                <a:latin typeface="Calibri"/>
                <a:cs typeface="Calibri"/>
              </a:rPr>
              <a:t> </a:t>
            </a:r>
            <a:r>
              <a:rPr sz="2400" dirty="0">
                <a:latin typeface="Calibri"/>
                <a:cs typeface="Calibri"/>
              </a:rPr>
              <a:t>manager</a:t>
            </a:r>
            <a:r>
              <a:rPr sz="2400" spc="85" dirty="0">
                <a:latin typeface="Calibri"/>
                <a:cs typeface="Calibri"/>
              </a:rPr>
              <a:t> </a:t>
            </a:r>
            <a:r>
              <a:rPr sz="2400" dirty="0">
                <a:latin typeface="Calibri"/>
                <a:cs typeface="Calibri"/>
              </a:rPr>
              <a:t>controls</a:t>
            </a:r>
            <a:r>
              <a:rPr sz="2400" spc="75" dirty="0">
                <a:latin typeface="Calibri"/>
                <a:cs typeface="Calibri"/>
              </a:rPr>
              <a:t> </a:t>
            </a:r>
            <a:r>
              <a:rPr sz="2400" dirty="0">
                <a:latin typeface="Calibri"/>
                <a:cs typeface="Calibri"/>
              </a:rPr>
              <a:t>when</a:t>
            </a:r>
            <a:r>
              <a:rPr sz="2400" spc="85" dirty="0">
                <a:latin typeface="Calibri"/>
                <a:cs typeface="Calibri"/>
              </a:rPr>
              <a:t> </a:t>
            </a:r>
            <a:r>
              <a:rPr sz="2400" dirty="0">
                <a:latin typeface="Calibri"/>
                <a:cs typeface="Calibri"/>
              </a:rPr>
              <a:t>and</a:t>
            </a:r>
            <a:r>
              <a:rPr sz="2400" spc="80" dirty="0">
                <a:latin typeface="Calibri"/>
                <a:cs typeface="Calibri"/>
              </a:rPr>
              <a:t> </a:t>
            </a:r>
            <a:r>
              <a:rPr sz="2400" dirty="0">
                <a:latin typeface="Calibri"/>
                <a:cs typeface="Calibri"/>
              </a:rPr>
              <a:t>what</a:t>
            </a:r>
            <a:r>
              <a:rPr sz="2400" spc="80" dirty="0">
                <a:latin typeface="Calibri"/>
                <a:cs typeface="Calibri"/>
              </a:rPr>
              <a:t> </a:t>
            </a:r>
            <a:r>
              <a:rPr sz="2400" dirty="0">
                <a:latin typeface="Calibri"/>
                <a:cs typeface="Calibri"/>
              </a:rPr>
              <a:t>specialists</a:t>
            </a:r>
            <a:r>
              <a:rPr sz="2400" spc="75" dirty="0">
                <a:latin typeface="Calibri"/>
                <a:cs typeface="Calibri"/>
              </a:rPr>
              <a:t> </a:t>
            </a:r>
            <a:r>
              <a:rPr sz="2400" dirty="0">
                <a:latin typeface="Calibri"/>
                <a:cs typeface="Calibri"/>
              </a:rPr>
              <a:t>do</a:t>
            </a:r>
            <a:r>
              <a:rPr sz="2400" spc="80" dirty="0">
                <a:latin typeface="Calibri"/>
                <a:cs typeface="Calibri"/>
              </a:rPr>
              <a:t> </a:t>
            </a:r>
            <a:r>
              <a:rPr sz="2400" dirty="0">
                <a:latin typeface="Calibri"/>
                <a:cs typeface="Calibri"/>
              </a:rPr>
              <a:t>and</a:t>
            </a:r>
            <a:r>
              <a:rPr sz="2400" spc="80" dirty="0">
                <a:latin typeface="Calibri"/>
                <a:cs typeface="Calibri"/>
              </a:rPr>
              <a:t> </a:t>
            </a:r>
            <a:r>
              <a:rPr sz="2400" dirty="0">
                <a:latin typeface="Calibri"/>
                <a:cs typeface="Calibri"/>
              </a:rPr>
              <a:t>has</a:t>
            </a:r>
            <a:r>
              <a:rPr sz="2400" spc="80" dirty="0">
                <a:latin typeface="Calibri"/>
                <a:cs typeface="Calibri"/>
              </a:rPr>
              <a:t> </a:t>
            </a:r>
            <a:r>
              <a:rPr sz="2400" dirty="0">
                <a:latin typeface="Calibri"/>
                <a:cs typeface="Calibri"/>
              </a:rPr>
              <a:t>final</a:t>
            </a:r>
            <a:r>
              <a:rPr sz="2400" spc="75" dirty="0">
                <a:latin typeface="Calibri"/>
                <a:cs typeface="Calibri"/>
              </a:rPr>
              <a:t> </a:t>
            </a:r>
            <a:r>
              <a:rPr sz="2400" spc="-25" dirty="0">
                <a:latin typeface="Calibri"/>
                <a:cs typeface="Calibri"/>
              </a:rPr>
              <a:t>say 	</a:t>
            </a:r>
            <a:r>
              <a:rPr sz="2400" dirty="0">
                <a:latin typeface="Calibri"/>
                <a:cs typeface="Calibri"/>
              </a:rPr>
              <a:t>on</a:t>
            </a:r>
            <a:r>
              <a:rPr sz="2400" spc="60" dirty="0">
                <a:latin typeface="Calibri"/>
                <a:cs typeface="Calibri"/>
              </a:rPr>
              <a:t>  </a:t>
            </a:r>
            <a:r>
              <a:rPr sz="2400" dirty="0">
                <a:latin typeface="Calibri"/>
                <a:cs typeface="Calibri"/>
              </a:rPr>
              <a:t>major</a:t>
            </a:r>
            <a:r>
              <a:rPr sz="2400" spc="60" dirty="0">
                <a:latin typeface="Calibri"/>
                <a:cs typeface="Calibri"/>
              </a:rPr>
              <a:t>  </a:t>
            </a:r>
            <a:r>
              <a:rPr sz="2400" dirty="0">
                <a:latin typeface="Calibri"/>
                <a:cs typeface="Calibri"/>
              </a:rPr>
              <a:t>project</a:t>
            </a:r>
            <a:r>
              <a:rPr sz="2400" spc="55" dirty="0">
                <a:latin typeface="Calibri"/>
                <a:cs typeface="Calibri"/>
              </a:rPr>
              <a:t>  </a:t>
            </a:r>
            <a:r>
              <a:rPr sz="2400" dirty="0">
                <a:latin typeface="Calibri"/>
                <a:cs typeface="Calibri"/>
              </a:rPr>
              <a:t>decisions;</a:t>
            </a:r>
            <a:r>
              <a:rPr sz="2400" spc="60" dirty="0">
                <a:latin typeface="Calibri"/>
                <a:cs typeface="Calibri"/>
              </a:rPr>
              <a:t>  </a:t>
            </a:r>
            <a:r>
              <a:rPr sz="2400" dirty="0">
                <a:latin typeface="Calibri"/>
                <a:cs typeface="Calibri"/>
              </a:rPr>
              <a:t>while</a:t>
            </a:r>
            <a:r>
              <a:rPr sz="2400" spc="60" dirty="0">
                <a:latin typeface="Calibri"/>
                <a:cs typeface="Calibri"/>
              </a:rPr>
              <a:t>  </a:t>
            </a:r>
            <a:r>
              <a:rPr sz="2400" dirty="0">
                <a:latin typeface="Calibri"/>
                <a:cs typeface="Calibri"/>
              </a:rPr>
              <a:t>the</a:t>
            </a:r>
            <a:r>
              <a:rPr sz="2400" spc="65" dirty="0">
                <a:latin typeface="Calibri"/>
                <a:cs typeface="Calibri"/>
              </a:rPr>
              <a:t>  </a:t>
            </a:r>
            <a:r>
              <a:rPr sz="2400" dirty="0">
                <a:latin typeface="Calibri"/>
                <a:cs typeface="Calibri"/>
              </a:rPr>
              <a:t>functional</a:t>
            </a:r>
            <a:r>
              <a:rPr sz="2400" spc="60" dirty="0">
                <a:latin typeface="Calibri"/>
                <a:cs typeface="Calibri"/>
              </a:rPr>
              <a:t>  </a:t>
            </a:r>
            <a:r>
              <a:rPr sz="2400" dirty="0">
                <a:latin typeface="Calibri"/>
                <a:cs typeface="Calibri"/>
              </a:rPr>
              <a:t>manager</a:t>
            </a:r>
            <a:r>
              <a:rPr sz="2400" spc="60" dirty="0">
                <a:latin typeface="Calibri"/>
                <a:cs typeface="Calibri"/>
              </a:rPr>
              <a:t>  </a:t>
            </a:r>
            <a:r>
              <a:rPr sz="2400" dirty="0">
                <a:latin typeface="Calibri"/>
                <a:cs typeface="Calibri"/>
              </a:rPr>
              <a:t>has</a:t>
            </a:r>
            <a:r>
              <a:rPr sz="2400" spc="60" dirty="0">
                <a:latin typeface="Calibri"/>
                <a:cs typeface="Calibri"/>
              </a:rPr>
              <a:t>  </a:t>
            </a:r>
            <a:r>
              <a:rPr sz="2400" dirty="0">
                <a:latin typeface="Calibri"/>
                <a:cs typeface="Calibri"/>
              </a:rPr>
              <a:t>title</a:t>
            </a:r>
            <a:r>
              <a:rPr sz="2400" spc="60" dirty="0">
                <a:latin typeface="Calibri"/>
                <a:cs typeface="Calibri"/>
              </a:rPr>
              <a:t>  </a:t>
            </a:r>
            <a:r>
              <a:rPr sz="2400" spc="-20" dirty="0">
                <a:latin typeface="Calibri"/>
                <a:cs typeface="Calibri"/>
              </a:rPr>
              <a:t>over 	</a:t>
            </a:r>
            <a:r>
              <a:rPr sz="2400" dirty="0">
                <a:latin typeface="Calibri"/>
                <a:cs typeface="Calibri"/>
              </a:rPr>
              <a:t>his/her</a:t>
            </a:r>
            <a:r>
              <a:rPr sz="2400" spc="-55" dirty="0">
                <a:latin typeface="Calibri"/>
                <a:cs typeface="Calibri"/>
              </a:rPr>
              <a:t> </a:t>
            </a:r>
            <a:r>
              <a:rPr sz="2400" dirty="0">
                <a:latin typeface="Calibri"/>
                <a:cs typeface="Calibri"/>
              </a:rPr>
              <a:t>people</a:t>
            </a:r>
            <a:r>
              <a:rPr sz="2400" spc="-45" dirty="0">
                <a:latin typeface="Calibri"/>
                <a:cs typeface="Calibri"/>
              </a:rPr>
              <a:t> </a:t>
            </a:r>
            <a:r>
              <a:rPr sz="2400" dirty="0">
                <a:latin typeface="Calibri"/>
                <a:cs typeface="Calibri"/>
              </a:rPr>
              <a:t>and</a:t>
            </a:r>
            <a:r>
              <a:rPr sz="2400" spc="-45" dirty="0">
                <a:latin typeface="Calibri"/>
                <a:cs typeface="Calibri"/>
              </a:rPr>
              <a:t> </a:t>
            </a:r>
            <a:r>
              <a:rPr sz="2400" dirty="0">
                <a:latin typeface="Calibri"/>
                <a:cs typeface="Calibri"/>
              </a:rPr>
              <a:t>is</a:t>
            </a:r>
            <a:r>
              <a:rPr sz="2400" spc="-50" dirty="0">
                <a:latin typeface="Calibri"/>
                <a:cs typeface="Calibri"/>
              </a:rPr>
              <a:t> </a:t>
            </a:r>
            <a:r>
              <a:rPr sz="2400" dirty="0">
                <a:latin typeface="Calibri"/>
                <a:cs typeface="Calibri"/>
              </a:rPr>
              <a:t>consulted</a:t>
            </a:r>
            <a:r>
              <a:rPr sz="2400" spc="-50" dirty="0">
                <a:latin typeface="Calibri"/>
                <a:cs typeface="Calibri"/>
              </a:rPr>
              <a:t> </a:t>
            </a:r>
            <a:r>
              <a:rPr sz="2400" dirty="0">
                <a:latin typeface="Calibri"/>
                <a:cs typeface="Calibri"/>
              </a:rPr>
              <a:t>on</a:t>
            </a:r>
            <a:r>
              <a:rPr sz="2400" spc="-50" dirty="0">
                <a:latin typeface="Calibri"/>
                <a:cs typeface="Calibri"/>
              </a:rPr>
              <a:t> </a:t>
            </a:r>
            <a:r>
              <a:rPr sz="2400" dirty="0">
                <a:latin typeface="Calibri"/>
                <a:cs typeface="Calibri"/>
              </a:rPr>
              <a:t>a</a:t>
            </a:r>
            <a:r>
              <a:rPr sz="2400" spc="-45" dirty="0">
                <a:latin typeface="Calibri"/>
                <a:cs typeface="Calibri"/>
              </a:rPr>
              <a:t> </a:t>
            </a:r>
            <a:r>
              <a:rPr sz="2400" dirty="0">
                <a:latin typeface="Calibri"/>
                <a:cs typeface="Calibri"/>
              </a:rPr>
              <a:t>need</a:t>
            </a:r>
            <a:r>
              <a:rPr sz="2400" spc="-50" dirty="0">
                <a:latin typeface="Calibri"/>
                <a:cs typeface="Calibri"/>
              </a:rPr>
              <a:t> </a:t>
            </a:r>
            <a:r>
              <a:rPr sz="2400" spc="-10" dirty="0">
                <a:latin typeface="Calibri"/>
                <a:cs typeface="Calibri"/>
              </a:rPr>
              <a:t>basis.</a:t>
            </a:r>
            <a:endParaRPr sz="2400" dirty="0">
              <a:latin typeface="Calibri"/>
              <a:cs typeface="Calibri"/>
            </a:endParaRPr>
          </a:p>
          <a:p>
            <a:pPr marL="697230" marR="5080" lvl="1" indent="-227329" algn="just">
              <a:lnSpc>
                <a:spcPct val="90400"/>
              </a:lnSpc>
              <a:spcBef>
                <a:spcPts val="495"/>
              </a:spcBef>
              <a:buFont typeface="Arial MT"/>
              <a:buChar char="•"/>
              <a:tabLst>
                <a:tab pos="698500" algn="l"/>
              </a:tabLst>
            </a:pPr>
            <a:r>
              <a:rPr sz="2400" dirty="0">
                <a:latin typeface="Calibri"/>
                <a:cs typeface="Calibri"/>
              </a:rPr>
              <a:t>In</a:t>
            </a:r>
            <a:r>
              <a:rPr sz="2400" spc="90" dirty="0">
                <a:latin typeface="Calibri"/>
                <a:cs typeface="Calibri"/>
              </a:rPr>
              <a:t>  </a:t>
            </a:r>
            <a:r>
              <a:rPr sz="2400" dirty="0">
                <a:latin typeface="Calibri"/>
                <a:cs typeface="Calibri"/>
              </a:rPr>
              <a:t>some</a:t>
            </a:r>
            <a:r>
              <a:rPr sz="2400" spc="95" dirty="0">
                <a:latin typeface="Calibri"/>
                <a:cs typeface="Calibri"/>
              </a:rPr>
              <a:t>  </a:t>
            </a:r>
            <a:r>
              <a:rPr sz="2400" dirty="0">
                <a:latin typeface="Calibri"/>
                <a:cs typeface="Calibri"/>
              </a:rPr>
              <a:t>situations,</a:t>
            </a:r>
            <a:r>
              <a:rPr sz="2400" spc="95" dirty="0">
                <a:latin typeface="Calibri"/>
                <a:cs typeface="Calibri"/>
              </a:rPr>
              <a:t>  </a:t>
            </a:r>
            <a:r>
              <a:rPr sz="2400" dirty="0">
                <a:latin typeface="Calibri"/>
                <a:cs typeface="Calibri"/>
              </a:rPr>
              <a:t>a</a:t>
            </a:r>
            <a:r>
              <a:rPr sz="2400" spc="95" dirty="0">
                <a:latin typeface="Calibri"/>
                <a:cs typeface="Calibri"/>
              </a:rPr>
              <a:t>  </a:t>
            </a:r>
            <a:r>
              <a:rPr sz="2400" dirty="0">
                <a:latin typeface="Calibri"/>
                <a:cs typeface="Calibri"/>
              </a:rPr>
              <a:t>functional</a:t>
            </a:r>
            <a:r>
              <a:rPr sz="2400" spc="90" dirty="0">
                <a:latin typeface="Calibri"/>
                <a:cs typeface="Calibri"/>
              </a:rPr>
              <a:t>  </a:t>
            </a:r>
            <a:r>
              <a:rPr sz="2400" dirty="0">
                <a:latin typeface="Calibri"/>
                <a:cs typeface="Calibri"/>
              </a:rPr>
              <a:t>manager’s</a:t>
            </a:r>
            <a:r>
              <a:rPr sz="2400" spc="90" dirty="0">
                <a:latin typeface="Calibri"/>
                <a:cs typeface="Calibri"/>
              </a:rPr>
              <a:t>  </a:t>
            </a:r>
            <a:r>
              <a:rPr sz="2400" dirty="0">
                <a:latin typeface="Calibri"/>
                <a:cs typeface="Calibri"/>
              </a:rPr>
              <a:t>department</a:t>
            </a:r>
            <a:r>
              <a:rPr sz="2400" spc="95" dirty="0">
                <a:latin typeface="Calibri"/>
                <a:cs typeface="Calibri"/>
              </a:rPr>
              <a:t>  </a:t>
            </a:r>
            <a:r>
              <a:rPr sz="2400" dirty="0">
                <a:latin typeface="Calibri"/>
                <a:cs typeface="Calibri"/>
              </a:rPr>
              <a:t>may</a:t>
            </a:r>
            <a:r>
              <a:rPr sz="2400" spc="90" dirty="0">
                <a:latin typeface="Calibri"/>
                <a:cs typeface="Calibri"/>
              </a:rPr>
              <a:t>  </a:t>
            </a:r>
            <a:r>
              <a:rPr sz="2400" dirty="0">
                <a:latin typeface="Calibri"/>
                <a:cs typeface="Calibri"/>
              </a:rPr>
              <a:t>serve</a:t>
            </a:r>
            <a:r>
              <a:rPr sz="2400" spc="95" dirty="0">
                <a:latin typeface="Calibri"/>
                <a:cs typeface="Calibri"/>
              </a:rPr>
              <a:t>  </a:t>
            </a:r>
            <a:r>
              <a:rPr sz="2400" dirty="0">
                <a:latin typeface="Calibri"/>
                <a:cs typeface="Calibri"/>
              </a:rPr>
              <a:t>as</a:t>
            </a:r>
            <a:r>
              <a:rPr sz="2400" spc="90" dirty="0">
                <a:latin typeface="Calibri"/>
                <a:cs typeface="Calibri"/>
              </a:rPr>
              <a:t>  </a:t>
            </a:r>
            <a:r>
              <a:rPr sz="2400" spc="-50" dirty="0">
                <a:latin typeface="Calibri"/>
                <a:cs typeface="Calibri"/>
              </a:rPr>
              <a:t>a 	</a:t>
            </a:r>
            <a:r>
              <a:rPr sz="2400" dirty="0">
                <a:latin typeface="Calibri"/>
                <a:cs typeface="Calibri"/>
              </a:rPr>
              <a:t>“subcontractor”</a:t>
            </a:r>
            <a:r>
              <a:rPr sz="2400" spc="225" dirty="0">
                <a:latin typeface="Calibri"/>
                <a:cs typeface="Calibri"/>
              </a:rPr>
              <a:t> </a:t>
            </a:r>
            <a:r>
              <a:rPr sz="2400" dirty="0">
                <a:latin typeface="Calibri"/>
                <a:cs typeface="Calibri"/>
              </a:rPr>
              <a:t>for</a:t>
            </a:r>
            <a:r>
              <a:rPr sz="2400" spc="235" dirty="0">
                <a:latin typeface="Calibri"/>
                <a:cs typeface="Calibri"/>
              </a:rPr>
              <a:t> </a:t>
            </a:r>
            <a:r>
              <a:rPr sz="2400" dirty="0">
                <a:latin typeface="Calibri"/>
                <a:cs typeface="Calibri"/>
              </a:rPr>
              <a:t>the</a:t>
            </a:r>
            <a:r>
              <a:rPr sz="2400" spc="235" dirty="0">
                <a:latin typeface="Calibri"/>
                <a:cs typeface="Calibri"/>
              </a:rPr>
              <a:t> </a:t>
            </a:r>
            <a:r>
              <a:rPr sz="2400" dirty="0">
                <a:latin typeface="Calibri"/>
                <a:cs typeface="Calibri"/>
              </a:rPr>
              <a:t>project,</a:t>
            </a:r>
            <a:r>
              <a:rPr sz="2400" spc="229" dirty="0">
                <a:latin typeface="Calibri"/>
                <a:cs typeface="Calibri"/>
              </a:rPr>
              <a:t> </a:t>
            </a:r>
            <a:r>
              <a:rPr sz="2400" dirty="0">
                <a:latin typeface="Calibri"/>
                <a:cs typeface="Calibri"/>
              </a:rPr>
              <a:t>in</a:t>
            </a:r>
            <a:r>
              <a:rPr sz="2400" spc="240" dirty="0">
                <a:latin typeface="Calibri"/>
                <a:cs typeface="Calibri"/>
              </a:rPr>
              <a:t> </a:t>
            </a:r>
            <a:r>
              <a:rPr sz="2400" dirty="0">
                <a:latin typeface="Calibri"/>
                <a:cs typeface="Calibri"/>
              </a:rPr>
              <a:t>which</a:t>
            </a:r>
            <a:r>
              <a:rPr sz="2400" spc="235" dirty="0">
                <a:latin typeface="Calibri"/>
                <a:cs typeface="Calibri"/>
              </a:rPr>
              <a:t> </a:t>
            </a:r>
            <a:r>
              <a:rPr sz="2400" dirty="0">
                <a:latin typeface="Calibri"/>
                <a:cs typeface="Calibri"/>
              </a:rPr>
              <a:t>case</a:t>
            </a:r>
            <a:r>
              <a:rPr sz="2400" spc="240" dirty="0">
                <a:latin typeface="Calibri"/>
                <a:cs typeface="Calibri"/>
              </a:rPr>
              <a:t> </a:t>
            </a:r>
            <a:r>
              <a:rPr sz="2400" dirty="0">
                <a:latin typeface="Calibri"/>
                <a:cs typeface="Calibri"/>
              </a:rPr>
              <a:t>they</a:t>
            </a:r>
            <a:r>
              <a:rPr sz="2400" spc="235" dirty="0">
                <a:latin typeface="Calibri"/>
                <a:cs typeface="Calibri"/>
              </a:rPr>
              <a:t> </a:t>
            </a:r>
            <a:r>
              <a:rPr sz="2400" dirty="0">
                <a:latin typeface="Calibri"/>
                <a:cs typeface="Calibri"/>
              </a:rPr>
              <a:t>have</a:t>
            </a:r>
            <a:r>
              <a:rPr sz="2400" spc="240" dirty="0">
                <a:latin typeface="Calibri"/>
                <a:cs typeface="Calibri"/>
              </a:rPr>
              <a:t> </a:t>
            </a:r>
            <a:r>
              <a:rPr sz="2400" dirty="0">
                <a:latin typeface="Calibri"/>
                <a:cs typeface="Calibri"/>
              </a:rPr>
              <a:t>more</a:t>
            </a:r>
            <a:r>
              <a:rPr sz="2400" spc="245" dirty="0">
                <a:latin typeface="Calibri"/>
                <a:cs typeface="Calibri"/>
              </a:rPr>
              <a:t> </a:t>
            </a:r>
            <a:r>
              <a:rPr sz="2400" dirty="0">
                <a:latin typeface="Calibri"/>
                <a:cs typeface="Calibri"/>
              </a:rPr>
              <a:t>control</a:t>
            </a:r>
            <a:r>
              <a:rPr sz="2400" spc="229" dirty="0">
                <a:latin typeface="Calibri"/>
                <a:cs typeface="Calibri"/>
              </a:rPr>
              <a:t> </a:t>
            </a:r>
            <a:r>
              <a:rPr sz="2400" spc="-20" dirty="0">
                <a:latin typeface="Calibri"/>
                <a:cs typeface="Calibri"/>
              </a:rPr>
              <a:t>over 	</a:t>
            </a:r>
            <a:r>
              <a:rPr sz="2400" spc="-10" dirty="0">
                <a:latin typeface="Calibri"/>
                <a:cs typeface="Calibri"/>
              </a:rPr>
              <a:t>specialized</a:t>
            </a:r>
            <a:r>
              <a:rPr sz="2400" spc="-40" dirty="0">
                <a:latin typeface="Calibri"/>
                <a:cs typeface="Calibri"/>
              </a:rPr>
              <a:t> </a:t>
            </a:r>
            <a:r>
              <a:rPr sz="2400" spc="-10" dirty="0">
                <a:latin typeface="Calibri"/>
                <a:cs typeface="Calibri"/>
              </a:rPr>
              <a:t>work.</a:t>
            </a:r>
            <a:endParaRPr sz="2400" dirty="0">
              <a:latin typeface="Calibri"/>
              <a:cs typeface="Calibri"/>
            </a:endParaRPr>
          </a:p>
        </p:txBody>
      </p:sp>
      <p:pic>
        <p:nvPicPr>
          <p:cNvPr id="5" name="Picture 4">
            <a:extLst>
              <a:ext uri="{FF2B5EF4-FFF2-40B4-BE49-F238E27FC236}">
                <a16:creationId xmlns:a16="http://schemas.microsoft.com/office/drawing/2014/main" id="{90B81B3D-4572-6F71-D75F-0CB8F661AE5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B963A-EA8A-46F2-8D2A-70521EEA6ED0}"/>
              </a:ext>
            </a:extLst>
          </p:cNvPr>
          <p:cNvSpPr>
            <a:spLocks noGrp="1"/>
          </p:cNvSpPr>
          <p:nvPr>
            <p:ph type="title"/>
          </p:nvPr>
        </p:nvSpPr>
        <p:spPr/>
        <p:txBody>
          <a:bodyPr/>
          <a:lstStyle/>
          <a:p>
            <a:r>
              <a:rPr lang="en-US" dirty="0"/>
              <a:t>Comparison </a:t>
            </a:r>
          </a:p>
        </p:txBody>
      </p:sp>
      <p:graphicFrame>
        <p:nvGraphicFramePr>
          <p:cNvPr id="4" name="Table 3">
            <a:extLst>
              <a:ext uri="{FF2B5EF4-FFF2-40B4-BE49-F238E27FC236}">
                <a16:creationId xmlns:a16="http://schemas.microsoft.com/office/drawing/2014/main" id="{CEBB5EDE-BA3A-401D-882F-305724A49756}"/>
              </a:ext>
            </a:extLst>
          </p:cNvPr>
          <p:cNvGraphicFramePr>
            <a:graphicFrameLocks noGrp="1"/>
          </p:cNvGraphicFramePr>
          <p:nvPr>
            <p:extLst>
              <p:ext uri="{D42A27DB-BD31-4B8C-83A1-F6EECF244321}">
                <p14:modId xmlns:p14="http://schemas.microsoft.com/office/powerpoint/2010/main" val="277972577"/>
              </p:ext>
            </p:extLst>
          </p:nvPr>
        </p:nvGraphicFramePr>
        <p:xfrm>
          <a:off x="618018" y="1622584"/>
          <a:ext cx="10955964" cy="5235416"/>
        </p:xfrm>
        <a:graphic>
          <a:graphicData uri="http://schemas.openxmlformats.org/drawingml/2006/table">
            <a:tbl>
              <a:tblPr>
                <a:tableStyleId>{3C2FFA5D-87B4-456A-9821-1D502468CF0F}</a:tableStyleId>
              </a:tblPr>
              <a:tblGrid>
                <a:gridCol w="1825994">
                  <a:extLst>
                    <a:ext uri="{9D8B030D-6E8A-4147-A177-3AD203B41FA5}">
                      <a16:colId xmlns:a16="http://schemas.microsoft.com/office/drawing/2014/main" val="1722278767"/>
                    </a:ext>
                  </a:extLst>
                </a:gridCol>
                <a:gridCol w="1825994">
                  <a:extLst>
                    <a:ext uri="{9D8B030D-6E8A-4147-A177-3AD203B41FA5}">
                      <a16:colId xmlns:a16="http://schemas.microsoft.com/office/drawing/2014/main" val="1591072209"/>
                    </a:ext>
                  </a:extLst>
                </a:gridCol>
                <a:gridCol w="1825994">
                  <a:extLst>
                    <a:ext uri="{9D8B030D-6E8A-4147-A177-3AD203B41FA5}">
                      <a16:colId xmlns:a16="http://schemas.microsoft.com/office/drawing/2014/main" val="2043071773"/>
                    </a:ext>
                  </a:extLst>
                </a:gridCol>
                <a:gridCol w="1825994">
                  <a:extLst>
                    <a:ext uri="{9D8B030D-6E8A-4147-A177-3AD203B41FA5}">
                      <a16:colId xmlns:a16="http://schemas.microsoft.com/office/drawing/2014/main" val="3823839211"/>
                    </a:ext>
                  </a:extLst>
                </a:gridCol>
                <a:gridCol w="1825994">
                  <a:extLst>
                    <a:ext uri="{9D8B030D-6E8A-4147-A177-3AD203B41FA5}">
                      <a16:colId xmlns:a16="http://schemas.microsoft.com/office/drawing/2014/main" val="4116282708"/>
                    </a:ext>
                  </a:extLst>
                </a:gridCol>
                <a:gridCol w="1825994">
                  <a:extLst>
                    <a:ext uri="{9D8B030D-6E8A-4147-A177-3AD203B41FA5}">
                      <a16:colId xmlns:a16="http://schemas.microsoft.com/office/drawing/2014/main" val="547216402"/>
                    </a:ext>
                  </a:extLst>
                </a:gridCol>
              </a:tblGrid>
              <a:tr h="297656">
                <a:tc>
                  <a:txBody>
                    <a:bodyPr/>
                    <a:lstStyle/>
                    <a:p>
                      <a:r>
                        <a:rPr lang="en-US" sz="1800" b="1"/>
                        <a:t>Matrix Form</a:t>
                      </a:r>
                      <a:endParaRPr lang="en-US" sz="1800"/>
                    </a:p>
                  </a:txBody>
                  <a:tcPr marL="74414" marR="74414" marT="37207" marB="37207" anchor="ctr"/>
                </a:tc>
                <a:tc>
                  <a:txBody>
                    <a:bodyPr/>
                    <a:lstStyle/>
                    <a:p>
                      <a:r>
                        <a:rPr lang="en-US" sz="1800" b="1"/>
                        <a:t>Description</a:t>
                      </a:r>
                      <a:endParaRPr lang="en-US" sz="1800"/>
                    </a:p>
                  </a:txBody>
                  <a:tcPr marL="74414" marR="74414" marT="37207" marB="37207" anchor="ctr"/>
                </a:tc>
                <a:tc>
                  <a:txBody>
                    <a:bodyPr/>
                    <a:lstStyle/>
                    <a:p>
                      <a:r>
                        <a:rPr lang="en-US" sz="1800" b="1"/>
                        <a:t>Authority</a:t>
                      </a:r>
                      <a:endParaRPr lang="en-US" sz="1800"/>
                    </a:p>
                  </a:txBody>
                  <a:tcPr marL="74414" marR="74414" marT="37207" marB="37207" anchor="ctr"/>
                </a:tc>
                <a:tc>
                  <a:txBody>
                    <a:bodyPr/>
                    <a:lstStyle/>
                    <a:p>
                      <a:r>
                        <a:rPr lang="en-US" sz="1800" b="1"/>
                        <a:t>Characteristics</a:t>
                      </a:r>
                      <a:endParaRPr lang="en-US" sz="1800"/>
                    </a:p>
                  </a:txBody>
                  <a:tcPr marL="74414" marR="74414" marT="37207" marB="37207" anchor="ctr"/>
                </a:tc>
                <a:tc>
                  <a:txBody>
                    <a:bodyPr/>
                    <a:lstStyle/>
                    <a:p>
                      <a:r>
                        <a:rPr lang="en-US" sz="1800" b="1"/>
                        <a:t>Advantages</a:t>
                      </a:r>
                      <a:endParaRPr lang="en-US" sz="1800"/>
                    </a:p>
                  </a:txBody>
                  <a:tcPr marL="74414" marR="74414" marT="37207" marB="37207" anchor="ctr"/>
                </a:tc>
                <a:tc>
                  <a:txBody>
                    <a:bodyPr/>
                    <a:lstStyle/>
                    <a:p>
                      <a:r>
                        <a:rPr lang="en-US" sz="1800" b="1"/>
                        <a:t>Disadvantages</a:t>
                      </a:r>
                      <a:endParaRPr lang="en-US" sz="1800"/>
                    </a:p>
                  </a:txBody>
                  <a:tcPr marL="74414" marR="74414" marT="37207" marB="37207" anchor="ctr"/>
                </a:tc>
                <a:extLst>
                  <a:ext uri="{0D108BD9-81ED-4DB2-BD59-A6C34878D82A}">
                    <a16:rowId xmlns:a16="http://schemas.microsoft.com/office/drawing/2014/main" val="3275052299"/>
                  </a:ext>
                </a:extLst>
              </a:tr>
              <a:tr h="1637109">
                <a:tc>
                  <a:txBody>
                    <a:bodyPr/>
                    <a:lstStyle/>
                    <a:p>
                      <a:r>
                        <a:rPr lang="en-US" sz="1800" b="1" dirty="0"/>
                        <a:t>Weak Matrix</a:t>
                      </a:r>
                      <a:endParaRPr lang="en-US" sz="1800" dirty="0"/>
                    </a:p>
                  </a:txBody>
                  <a:tcPr marL="74414" marR="74414" marT="37207" marB="37207" anchor="ctr"/>
                </a:tc>
                <a:tc>
                  <a:txBody>
                    <a:bodyPr/>
                    <a:lstStyle/>
                    <a:p>
                      <a:r>
                        <a:rPr lang="en-US" sz="1800" dirty="0"/>
                        <a:t>Functional managers have more authority than project managers.</a:t>
                      </a:r>
                    </a:p>
                  </a:txBody>
                  <a:tcPr marL="74414" marR="74414" marT="37207" marB="37207" anchor="ctr"/>
                </a:tc>
                <a:tc>
                  <a:txBody>
                    <a:bodyPr/>
                    <a:lstStyle/>
                    <a:p>
                      <a:r>
                        <a:rPr lang="en-US" sz="1800" dirty="0"/>
                        <a:t>Functional managers dominate decision-making.</a:t>
                      </a:r>
                    </a:p>
                  </a:txBody>
                  <a:tcPr marL="74414" marR="74414" marT="37207" marB="37207" anchor="ctr"/>
                </a:tc>
                <a:tc>
                  <a:txBody>
                    <a:bodyPr/>
                    <a:lstStyle/>
                    <a:p>
                      <a:r>
                        <a:rPr lang="en-US" sz="1800" dirty="0"/>
                        <a:t>Project managers have limited authority and mainly coordinate activities.</a:t>
                      </a:r>
                    </a:p>
                  </a:txBody>
                  <a:tcPr marL="74414" marR="74414" marT="37207" marB="37207" anchor="ctr"/>
                </a:tc>
                <a:tc>
                  <a:txBody>
                    <a:bodyPr/>
                    <a:lstStyle/>
                    <a:p>
                      <a:r>
                        <a:rPr lang="en-US" sz="1800"/>
                        <a:t>Clear functional leadership; efficient resource use.</a:t>
                      </a:r>
                    </a:p>
                  </a:txBody>
                  <a:tcPr marL="74414" marR="74414" marT="37207" marB="37207" anchor="ctr"/>
                </a:tc>
                <a:tc>
                  <a:txBody>
                    <a:bodyPr/>
                    <a:lstStyle/>
                    <a:p>
                      <a:r>
                        <a:rPr lang="en-US" sz="1800"/>
                        <a:t>Confusion over roles; potential conflicts.</a:t>
                      </a:r>
                    </a:p>
                  </a:txBody>
                  <a:tcPr marL="74414" marR="74414" marT="37207" marB="37207" anchor="ctr"/>
                </a:tc>
                <a:extLst>
                  <a:ext uri="{0D108BD9-81ED-4DB2-BD59-A6C34878D82A}">
                    <a16:rowId xmlns:a16="http://schemas.microsoft.com/office/drawing/2014/main" val="4260745963"/>
                  </a:ext>
                </a:extLst>
              </a:tr>
              <a:tr h="1190625">
                <a:tc>
                  <a:txBody>
                    <a:bodyPr/>
                    <a:lstStyle/>
                    <a:p>
                      <a:r>
                        <a:rPr lang="en-US" sz="1800" b="1"/>
                        <a:t>Balanced Matrix</a:t>
                      </a:r>
                      <a:endParaRPr lang="en-US" sz="1800"/>
                    </a:p>
                  </a:txBody>
                  <a:tcPr marL="74414" marR="74414" marT="37207" marB="37207" anchor="ctr"/>
                </a:tc>
                <a:tc>
                  <a:txBody>
                    <a:bodyPr/>
                    <a:lstStyle/>
                    <a:p>
                      <a:r>
                        <a:rPr lang="en-US" sz="1800" dirty="0"/>
                        <a:t>Authority is shared between functional and project managers.</a:t>
                      </a:r>
                    </a:p>
                  </a:txBody>
                  <a:tcPr marL="74414" marR="74414" marT="37207" marB="37207" anchor="ctr"/>
                </a:tc>
                <a:tc>
                  <a:txBody>
                    <a:bodyPr/>
                    <a:lstStyle/>
                    <a:p>
                      <a:r>
                        <a:rPr lang="en-US" sz="1800"/>
                        <a:t>Shared authority among project and functional managers.</a:t>
                      </a:r>
                    </a:p>
                  </a:txBody>
                  <a:tcPr marL="74414" marR="74414" marT="37207" marB="37207" anchor="ctr"/>
                </a:tc>
                <a:tc>
                  <a:txBody>
                    <a:bodyPr/>
                    <a:lstStyle/>
                    <a:p>
                      <a:r>
                        <a:rPr lang="en-US" sz="1800"/>
                        <a:t>Team members report to both managers; collaboration is encouraged.</a:t>
                      </a:r>
                    </a:p>
                  </a:txBody>
                  <a:tcPr marL="74414" marR="74414" marT="37207" marB="37207" anchor="ctr"/>
                </a:tc>
                <a:tc>
                  <a:txBody>
                    <a:bodyPr/>
                    <a:lstStyle/>
                    <a:p>
                      <a:r>
                        <a:rPr lang="en-US" sz="1800"/>
                        <a:t>Better communication; balanced decision-making.</a:t>
                      </a:r>
                    </a:p>
                  </a:txBody>
                  <a:tcPr marL="74414" marR="74414" marT="37207" marB="37207" anchor="ctr"/>
                </a:tc>
                <a:tc>
                  <a:txBody>
                    <a:bodyPr/>
                    <a:lstStyle/>
                    <a:p>
                      <a:r>
                        <a:rPr lang="en-US" sz="1800"/>
                        <a:t>Possible power struggles; requires clear communication.</a:t>
                      </a:r>
                    </a:p>
                  </a:txBody>
                  <a:tcPr marL="74414" marR="74414" marT="37207" marB="37207" anchor="ctr"/>
                </a:tc>
                <a:extLst>
                  <a:ext uri="{0D108BD9-81ED-4DB2-BD59-A6C34878D82A}">
                    <a16:rowId xmlns:a16="http://schemas.microsoft.com/office/drawing/2014/main" val="707612629"/>
                  </a:ext>
                </a:extLst>
              </a:tr>
              <a:tr h="1637109">
                <a:tc>
                  <a:txBody>
                    <a:bodyPr/>
                    <a:lstStyle/>
                    <a:p>
                      <a:r>
                        <a:rPr lang="en-US" sz="1800" b="1"/>
                        <a:t>Strong Matrix</a:t>
                      </a:r>
                      <a:endParaRPr lang="en-US" sz="1800"/>
                    </a:p>
                  </a:txBody>
                  <a:tcPr marL="74414" marR="74414" marT="37207" marB="37207" anchor="ctr"/>
                </a:tc>
                <a:tc>
                  <a:txBody>
                    <a:bodyPr/>
                    <a:lstStyle/>
                    <a:p>
                      <a:r>
                        <a:rPr lang="en-US" sz="1800"/>
                        <a:t>Project managers have more authority than functional managers.</a:t>
                      </a:r>
                    </a:p>
                  </a:txBody>
                  <a:tcPr marL="74414" marR="74414" marT="37207" marB="37207" anchor="ctr"/>
                </a:tc>
                <a:tc>
                  <a:txBody>
                    <a:bodyPr/>
                    <a:lstStyle/>
                    <a:p>
                      <a:r>
                        <a:rPr lang="en-US" sz="1800"/>
                        <a:t>Project managers dominate decision-making.</a:t>
                      </a:r>
                    </a:p>
                  </a:txBody>
                  <a:tcPr marL="74414" marR="74414" marT="37207" marB="37207" anchor="ctr"/>
                </a:tc>
                <a:tc>
                  <a:txBody>
                    <a:bodyPr/>
                    <a:lstStyle/>
                    <a:p>
                      <a:r>
                        <a:rPr lang="en-US" sz="1800"/>
                        <a:t>Team members report primarily to the project manager.</a:t>
                      </a:r>
                    </a:p>
                  </a:txBody>
                  <a:tcPr marL="74414" marR="74414" marT="37207" marB="37207" anchor="ctr"/>
                </a:tc>
                <a:tc>
                  <a:txBody>
                    <a:bodyPr/>
                    <a:lstStyle/>
                    <a:p>
                      <a:r>
                        <a:rPr lang="en-US" sz="1800"/>
                        <a:t>Enhanced focus on project goals; quicker decision-making.</a:t>
                      </a:r>
                    </a:p>
                  </a:txBody>
                  <a:tcPr marL="74414" marR="74414" marT="37207" marB="37207" anchor="ctr"/>
                </a:tc>
                <a:tc>
                  <a:txBody>
                    <a:bodyPr/>
                    <a:lstStyle/>
                    <a:p>
                      <a:r>
                        <a:rPr lang="en-US" sz="1800" dirty="0"/>
                        <a:t>Risk of neglecting functional development; dependency on project managers.</a:t>
                      </a:r>
                    </a:p>
                  </a:txBody>
                  <a:tcPr marL="74414" marR="74414" marT="37207" marB="37207" anchor="ctr"/>
                </a:tc>
                <a:extLst>
                  <a:ext uri="{0D108BD9-81ED-4DB2-BD59-A6C34878D82A}">
                    <a16:rowId xmlns:a16="http://schemas.microsoft.com/office/drawing/2014/main" val="1904190749"/>
                  </a:ext>
                </a:extLst>
              </a:tr>
            </a:tbl>
          </a:graphicData>
        </a:graphic>
      </p:graphicFrame>
      <p:sp>
        <p:nvSpPr>
          <p:cNvPr id="5" name="Rectangle 1">
            <a:extLst>
              <a:ext uri="{FF2B5EF4-FFF2-40B4-BE49-F238E27FC236}">
                <a16:creationId xmlns:a16="http://schemas.microsoft.com/office/drawing/2014/main" id="{A450CA91-BECD-4AD3-8CAA-E548EB7B0823}"/>
              </a:ext>
            </a:extLst>
          </p:cNvPr>
          <p:cNvSpPr>
            <a:spLocks noGrp="1" noChangeArrowheads="1"/>
          </p:cNvSpPr>
          <p:nvPr>
            <p:ph type="body" idx="1"/>
          </p:nvPr>
        </p:nvSpPr>
        <p:spPr bwMode="auto">
          <a:xfrm>
            <a:off x="916939" y="359107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763625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6791A-E2DA-4CD4-AC7D-1801A5D68F05}"/>
              </a:ext>
            </a:extLst>
          </p:cNvPr>
          <p:cNvSpPr>
            <a:spLocks noGrp="1"/>
          </p:cNvSpPr>
          <p:nvPr>
            <p:ph type="title"/>
          </p:nvPr>
        </p:nvSpPr>
        <p:spPr>
          <a:xfrm>
            <a:off x="916939" y="615856"/>
            <a:ext cx="11233150" cy="1323439"/>
          </a:xfrm>
        </p:spPr>
        <p:txBody>
          <a:bodyPr/>
          <a:lstStyle/>
          <a:p>
            <a:r>
              <a:rPr lang="en-US" b="1" u="sng" spc="114" dirty="0">
                <a:solidFill>
                  <a:srgbClr val="FF0000"/>
                </a:solidFill>
              </a:rPr>
              <a:t>Composite (Hybrid) Structure</a:t>
            </a:r>
            <a:br>
              <a:rPr lang="en-US" b="1" i="0" dirty="0">
                <a:effectLst/>
                <a:latin typeface="Inter"/>
              </a:rPr>
            </a:br>
            <a:endParaRPr lang="en-US" dirty="0"/>
          </a:p>
        </p:txBody>
      </p:sp>
      <p:sp>
        <p:nvSpPr>
          <p:cNvPr id="3" name="Text Placeholder 2">
            <a:extLst>
              <a:ext uri="{FF2B5EF4-FFF2-40B4-BE49-F238E27FC236}">
                <a16:creationId xmlns:a16="http://schemas.microsoft.com/office/drawing/2014/main" id="{DB3FFC74-C88E-457D-9DC4-5C684F294750}"/>
              </a:ext>
            </a:extLst>
          </p:cNvPr>
          <p:cNvSpPr>
            <a:spLocks noGrp="1"/>
          </p:cNvSpPr>
          <p:nvPr>
            <p:ph type="body" idx="1"/>
          </p:nvPr>
        </p:nvSpPr>
        <p:spPr>
          <a:xfrm>
            <a:off x="344169" y="1524000"/>
            <a:ext cx="11857581" cy="5601533"/>
          </a:xfrm>
        </p:spPr>
        <p:txBody>
          <a:bodyPr/>
          <a:lstStyle/>
          <a:p>
            <a:pPr algn="l"/>
            <a:r>
              <a:rPr lang="en-US" sz="2400" spc="70" dirty="0"/>
              <a:t>A composite or hybrid structure is a combination of several types of project management structures tailored to the specific needs of an organization. For example, some parts of the organization may follow a functional structure, while others may adopt a projectized or matrix structure, depending on the type of work being done.</a:t>
            </a:r>
          </a:p>
          <a:p>
            <a:pPr algn="l"/>
            <a:endParaRPr lang="en-US" sz="2400" spc="70" dirty="0"/>
          </a:p>
          <a:p>
            <a:pPr algn="l"/>
            <a:r>
              <a:rPr lang="en-US" sz="2400" b="1" spc="70" dirty="0">
                <a:solidFill>
                  <a:srgbClr val="FF0000"/>
                </a:solidFill>
              </a:rPr>
              <a:t>Advantages:</a:t>
            </a:r>
          </a:p>
          <a:p>
            <a:pPr algn="l">
              <a:buFont typeface="Arial" panose="020B0604020202020204" pitchFamily="34" charset="0"/>
              <a:buChar char="•"/>
            </a:pPr>
            <a:r>
              <a:rPr lang="en-US" sz="2400" spc="70" dirty="0"/>
              <a:t>Offers flexibility by allowing the organization to use the most appropriate structure for different projects or departments.</a:t>
            </a:r>
          </a:p>
          <a:p>
            <a:pPr algn="l">
              <a:buFont typeface="Arial" panose="020B0604020202020204" pitchFamily="34" charset="0"/>
              <a:buChar char="•"/>
            </a:pPr>
            <a:r>
              <a:rPr lang="en-US" sz="2400" spc="70" dirty="0"/>
              <a:t>Can be more adaptable to change and diverse project types.</a:t>
            </a:r>
          </a:p>
          <a:p>
            <a:pPr algn="l"/>
            <a:r>
              <a:rPr lang="en-US" sz="2400" b="1" spc="70" dirty="0">
                <a:solidFill>
                  <a:srgbClr val="FF0000"/>
                </a:solidFill>
              </a:rPr>
              <a:t>Disadvantages:</a:t>
            </a:r>
          </a:p>
          <a:p>
            <a:pPr algn="l">
              <a:buFont typeface="Arial" panose="020B0604020202020204" pitchFamily="34" charset="0"/>
              <a:buChar char="•"/>
            </a:pPr>
            <a:r>
              <a:rPr lang="en-US" sz="2400" spc="70" dirty="0"/>
              <a:t>It can be complex to manage and may lead to confusion over reporting lines and authority.</a:t>
            </a:r>
          </a:p>
          <a:p>
            <a:pPr algn="l">
              <a:buFont typeface="Arial" panose="020B0604020202020204" pitchFamily="34" charset="0"/>
              <a:buChar char="•"/>
            </a:pPr>
            <a:r>
              <a:rPr lang="en-US" sz="2400" spc="70" dirty="0"/>
              <a:t>Requires a clear strategy and communication to ensure alignment between different structures within the organization.</a:t>
            </a:r>
          </a:p>
          <a:p>
            <a:endParaRPr lang="en-US" dirty="0"/>
          </a:p>
        </p:txBody>
      </p:sp>
      <p:pic>
        <p:nvPicPr>
          <p:cNvPr id="4" name="Picture 3">
            <a:extLst>
              <a:ext uri="{FF2B5EF4-FFF2-40B4-BE49-F238E27FC236}">
                <a16:creationId xmlns:a16="http://schemas.microsoft.com/office/drawing/2014/main" id="{FDE586C9-9F75-9B12-5115-E4B1E089CF4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3152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FA5DC-3914-41D7-BA11-FEF4CFD144FF}"/>
              </a:ext>
            </a:extLst>
          </p:cNvPr>
          <p:cNvSpPr>
            <a:spLocks noGrp="1"/>
          </p:cNvSpPr>
          <p:nvPr>
            <p:ph type="title"/>
          </p:nvPr>
        </p:nvSpPr>
        <p:spPr/>
        <p:txBody>
          <a:bodyPr/>
          <a:lstStyle/>
          <a:p>
            <a:r>
              <a:rPr lang="en-US" dirty="0"/>
              <a:t>Comparison </a:t>
            </a:r>
          </a:p>
        </p:txBody>
      </p:sp>
      <p:sp>
        <p:nvSpPr>
          <p:cNvPr id="3" name="Text Placeholder 2">
            <a:extLst>
              <a:ext uri="{FF2B5EF4-FFF2-40B4-BE49-F238E27FC236}">
                <a16:creationId xmlns:a16="http://schemas.microsoft.com/office/drawing/2014/main" id="{1CA0A71D-2A38-411A-94ED-F15E7F51133A}"/>
              </a:ext>
            </a:extLst>
          </p:cNvPr>
          <p:cNvSpPr>
            <a:spLocks noGrp="1"/>
          </p:cNvSpPr>
          <p:nvPr>
            <p:ph type="body" idx="1"/>
          </p:nvPr>
        </p:nvSpPr>
        <p:spPr/>
        <p:txBody>
          <a:bodyPr/>
          <a:lstStyle/>
          <a:p>
            <a:endParaRPr lang="en-US" dirty="0"/>
          </a:p>
        </p:txBody>
      </p:sp>
      <p:graphicFrame>
        <p:nvGraphicFramePr>
          <p:cNvPr id="4" name="Table 3">
            <a:extLst>
              <a:ext uri="{FF2B5EF4-FFF2-40B4-BE49-F238E27FC236}">
                <a16:creationId xmlns:a16="http://schemas.microsoft.com/office/drawing/2014/main" id="{89CF80E7-BDF2-492F-BF95-8F0277052F0F}"/>
              </a:ext>
            </a:extLst>
          </p:cNvPr>
          <p:cNvGraphicFramePr>
            <a:graphicFrameLocks noGrp="1"/>
          </p:cNvGraphicFramePr>
          <p:nvPr>
            <p:extLst>
              <p:ext uri="{D42A27DB-BD31-4B8C-83A1-F6EECF244321}">
                <p14:modId xmlns:p14="http://schemas.microsoft.com/office/powerpoint/2010/main" val="3120150854"/>
              </p:ext>
            </p:extLst>
          </p:nvPr>
        </p:nvGraphicFramePr>
        <p:xfrm>
          <a:off x="1148080" y="1600200"/>
          <a:ext cx="9906000" cy="5257800"/>
        </p:xfrm>
        <a:graphic>
          <a:graphicData uri="http://schemas.openxmlformats.org/drawingml/2006/table">
            <a:tbl>
              <a:tblPr>
                <a:tableStyleId>{3C2FFA5D-87B4-456A-9821-1D502468CF0F}</a:tableStyleId>
              </a:tblPr>
              <a:tblGrid>
                <a:gridCol w="1981200">
                  <a:extLst>
                    <a:ext uri="{9D8B030D-6E8A-4147-A177-3AD203B41FA5}">
                      <a16:colId xmlns:a16="http://schemas.microsoft.com/office/drawing/2014/main" val="1124422180"/>
                    </a:ext>
                  </a:extLst>
                </a:gridCol>
                <a:gridCol w="1981200">
                  <a:extLst>
                    <a:ext uri="{9D8B030D-6E8A-4147-A177-3AD203B41FA5}">
                      <a16:colId xmlns:a16="http://schemas.microsoft.com/office/drawing/2014/main" val="105756460"/>
                    </a:ext>
                  </a:extLst>
                </a:gridCol>
                <a:gridCol w="1981200">
                  <a:extLst>
                    <a:ext uri="{9D8B030D-6E8A-4147-A177-3AD203B41FA5}">
                      <a16:colId xmlns:a16="http://schemas.microsoft.com/office/drawing/2014/main" val="149433535"/>
                    </a:ext>
                  </a:extLst>
                </a:gridCol>
                <a:gridCol w="1981200">
                  <a:extLst>
                    <a:ext uri="{9D8B030D-6E8A-4147-A177-3AD203B41FA5}">
                      <a16:colId xmlns:a16="http://schemas.microsoft.com/office/drawing/2014/main" val="4003833833"/>
                    </a:ext>
                  </a:extLst>
                </a:gridCol>
                <a:gridCol w="1981200">
                  <a:extLst>
                    <a:ext uri="{9D8B030D-6E8A-4147-A177-3AD203B41FA5}">
                      <a16:colId xmlns:a16="http://schemas.microsoft.com/office/drawing/2014/main" val="2250528877"/>
                    </a:ext>
                  </a:extLst>
                </a:gridCol>
              </a:tblGrid>
              <a:tr h="808892">
                <a:tc>
                  <a:txBody>
                    <a:bodyPr/>
                    <a:lstStyle/>
                    <a:p>
                      <a:r>
                        <a:rPr lang="en-US" sz="1600" b="1" dirty="0"/>
                        <a:t>Project Management Structure</a:t>
                      </a:r>
                      <a:endParaRPr lang="en-US" sz="1600" dirty="0"/>
                    </a:p>
                  </a:txBody>
                  <a:tcPr marL="73269" marR="73269" marT="36635" marB="36635" anchor="ctr"/>
                </a:tc>
                <a:tc>
                  <a:txBody>
                    <a:bodyPr/>
                    <a:lstStyle/>
                    <a:p>
                      <a:r>
                        <a:rPr lang="en-US" sz="1600" b="1"/>
                        <a:t>Description</a:t>
                      </a:r>
                      <a:endParaRPr lang="en-US" sz="1600"/>
                    </a:p>
                  </a:txBody>
                  <a:tcPr marL="73269" marR="73269" marT="36635" marB="36635" anchor="ctr"/>
                </a:tc>
                <a:tc>
                  <a:txBody>
                    <a:bodyPr/>
                    <a:lstStyle/>
                    <a:p>
                      <a:r>
                        <a:rPr lang="en-US" sz="1600" b="1"/>
                        <a:t>Characteristics</a:t>
                      </a:r>
                      <a:endParaRPr lang="en-US" sz="1600"/>
                    </a:p>
                  </a:txBody>
                  <a:tcPr marL="73269" marR="73269" marT="36635" marB="36635" anchor="ctr"/>
                </a:tc>
                <a:tc>
                  <a:txBody>
                    <a:bodyPr/>
                    <a:lstStyle/>
                    <a:p>
                      <a:r>
                        <a:rPr lang="en-US" sz="1600" b="1"/>
                        <a:t>Advantages</a:t>
                      </a:r>
                      <a:endParaRPr lang="en-US" sz="1600"/>
                    </a:p>
                  </a:txBody>
                  <a:tcPr marL="73269" marR="73269" marT="36635" marB="36635" anchor="ctr"/>
                </a:tc>
                <a:tc>
                  <a:txBody>
                    <a:bodyPr/>
                    <a:lstStyle/>
                    <a:p>
                      <a:r>
                        <a:rPr lang="en-US" sz="1600" b="1"/>
                        <a:t>Disadvantages</a:t>
                      </a:r>
                      <a:endParaRPr lang="en-US" sz="1600"/>
                    </a:p>
                  </a:txBody>
                  <a:tcPr marL="73269" marR="73269" marT="36635" marB="36635" anchor="ctr"/>
                </a:tc>
                <a:extLst>
                  <a:ext uri="{0D108BD9-81ED-4DB2-BD59-A6C34878D82A}">
                    <a16:rowId xmlns:a16="http://schemas.microsoft.com/office/drawing/2014/main" val="660083186"/>
                  </a:ext>
                </a:extLst>
              </a:tr>
              <a:tr h="1294228">
                <a:tc>
                  <a:txBody>
                    <a:bodyPr/>
                    <a:lstStyle/>
                    <a:p>
                      <a:r>
                        <a:rPr lang="en-US" sz="1600" b="1"/>
                        <a:t>Functional Structure</a:t>
                      </a:r>
                      <a:endParaRPr lang="en-US" sz="1600"/>
                    </a:p>
                  </a:txBody>
                  <a:tcPr marL="73269" marR="73269" marT="36635" marB="36635" anchor="ctr"/>
                </a:tc>
                <a:tc>
                  <a:txBody>
                    <a:bodyPr/>
                    <a:lstStyle/>
                    <a:p>
                      <a:r>
                        <a:rPr lang="en-US" sz="1600" dirty="0"/>
                        <a:t>Organized by functions or departments.</a:t>
                      </a:r>
                    </a:p>
                  </a:txBody>
                  <a:tcPr marL="73269" marR="73269" marT="36635" marB="36635" anchor="ctr"/>
                </a:tc>
                <a:tc>
                  <a:txBody>
                    <a:bodyPr/>
                    <a:lstStyle/>
                    <a:p>
                      <a:r>
                        <a:rPr lang="en-US" sz="1600"/>
                        <a:t>Team members report to functional managers.</a:t>
                      </a:r>
                    </a:p>
                  </a:txBody>
                  <a:tcPr marL="73269" marR="73269" marT="36635" marB="36635" anchor="ctr"/>
                </a:tc>
                <a:tc>
                  <a:txBody>
                    <a:bodyPr/>
                    <a:lstStyle/>
                    <a:p>
                      <a:r>
                        <a:rPr lang="en-US" sz="1600"/>
                        <a:t>Clear authority lines; efficient use of specialized resources.</a:t>
                      </a:r>
                    </a:p>
                  </a:txBody>
                  <a:tcPr marL="73269" marR="73269" marT="36635" marB="36635" anchor="ctr"/>
                </a:tc>
                <a:tc>
                  <a:txBody>
                    <a:bodyPr/>
                    <a:lstStyle/>
                    <a:p>
                      <a:r>
                        <a:rPr lang="en-US" sz="1600"/>
                        <a:t>Poor communication between departments; slow decision-making.</a:t>
                      </a:r>
                    </a:p>
                  </a:txBody>
                  <a:tcPr marL="73269" marR="73269" marT="36635" marB="36635" anchor="ctr"/>
                </a:tc>
                <a:extLst>
                  <a:ext uri="{0D108BD9-81ED-4DB2-BD59-A6C34878D82A}">
                    <a16:rowId xmlns:a16="http://schemas.microsoft.com/office/drawing/2014/main" val="3735697897"/>
                  </a:ext>
                </a:extLst>
              </a:tr>
              <a:tr h="1051560">
                <a:tc>
                  <a:txBody>
                    <a:bodyPr/>
                    <a:lstStyle/>
                    <a:p>
                      <a:r>
                        <a:rPr lang="en-US" sz="1600" b="1"/>
                        <a:t>Projectized Structure</a:t>
                      </a:r>
                      <a:endParaRPr lang="en-US" sz="1600"/>
                    </a:p>
                  </a:txBody>
                  <a:tcPr marL="73269" marR="73269" marT="36635" marB="36635" anchor="ctr"/>
                </a:tc>
                <a:tc>
                  <a:txBody>
                    <a:bodyPr/>
                    <a:lstStyle/>
                    <a:p>
                      <a:r>
                        <a:rPr lang="en-US" sz="1600" dirty="0"/>
                        <a:t>Organized around specific projects.</a:t>
                      </a:r>
                    </a:p>
                  </a:txBody>
                  <a:tcPr marL="73269" marR="73269" marT="36635" marB="36635" anchor="ctr"/>
                </a:tc>
                <a:tc>
                  <a:txBody>
                    <a:bodyPr/>
                    <a:lstStyle/>
                    <a:p>
                      <a:r>
                        <a:rPr lang="en-US" sz="1600"/>
                        <a:t>Team members report directly to the project manager.</a:t>
                      </a:r>
                    </a:p>
                  </a:txBody>
                  <a:tcPr marL="73269" marR="73269" marT="36635" marB="36635" anchor="ctr"/>
                </a:tc>
                <a:tc>
                  <a:txBody>
                    <a:bodyPr/>
                    <a:lstStyle/>
                    <a:p>
                      <a:r>
                        <a:rPr lang="en-US" sz="1600"/>
                        <a:t>Clear project focus; enhanced communication and collaboration.</a:t>
                      </a:r>
                    </a:p>
                  </a:txBody>
                  <a:tcPr marL="73269" marR="73269" marT="36635" marB="36635" anchor="ctr"/>
                </a:tc>
                <a:tc>
                  <a:txBody>
                    <a:bodyPr/>
                    <a:lstStyle/>
                    <a:p>
                      <a:r>
                        <a:rPr lang="en-US" sz="1600"/>
                        <a:t>Inefficient resource utilization; team members may feel isolated.</a:t>
                      </a:r>
                    </a:p>
                  </a:txBody>
                  <a:tcPr marL="73269" marR="73269" marT="36635" marB="36635" anchor="ctr"/>
                </a:tc>
                <a:extLst>
                  <a:ext uri="{0D108BD9-81ED-4DB2-BD59-A6C34878D82A}">
                    <a16:rowId xmlns:a16="http://schemas.microsoft.com/office/drawing/2014/main" val="3871099006"/>
                  </a:ext>
                </a:extLst>
              </a:tr>
              <a:tr h="1051560">
                <a:tc>
                  <a:txBody>
                    <a:bodyPr/>
                    <a:lstStyle/>
                    <a:p>
                      <a:r>
                        <a:rPr lang="en-US" sz="1600" b="1"/>
                        <a:t>Matrix Structure</a:t>
                      </a:r>
                      <a:endParaRPr lang="en-US" sz="1600"/>
                    </a:p>
                  </a:txBody>
                  <a:tcPr marL="73269" marR="73269" marT="36635" marB="36635" anchor="ctr"/>
                </a:tc>
                <a:tc>
                  <a:txBody>
                    <a:bodyPr/>
                    <a:lstStyle/>
                    <a:p>
                      <a:r>
                        <a:rPr lang="en-US" sz="1600"/>
                        <a:t>Combines functional and projectized structures.</a:t>
                      </a:r>
                    </a:p>
                  </a:txBody>
                  <a:tcPr marL="73269" marR="73269" marT="36635" marB="36635" anchor="ctr"/>
                </a:tc>
                <a:tc>
                  <a:txBody>
                    <a:bodyPr/>
                    <a:lstStyle/>
                    <a:p>
                      <a:r>
                        <a:rPr lang="en-US" sz="1600"/>
                        <a:t>Team members report to both functional and project managers.</a:t>
                      </a:r>
                    </a:p>
                  </a:txBody>
                  <a:tcPr marL="73269" marR="73269" marT="36635" marB="36635" anchor="ctr"/>
                </a:tc>
                <a:tc>
                  <a:txBody>
                    <a:bodyPr/>
                    <a:lstStyle/>
                    <a:p>
                      <a:r>
                        <a:rPr lang="en-US" sz="1600"/>
                        <a:t>Efficient resource allocation; improved communication.</a:t>
                      </a:r>
                    </a:p>
                  </a:txBody>
                  <a:tcPr marL="73269" marR="73269" marT="36635" marB="36635" anchor="ctr"/>
                </a:tc>
                <a:tc>
                  <a:txBody>
                    <a:bodyPr/>
                    <a:lstStyle/>
                    <a:p>
                      <a:r>
                        <a:rPr lang="en-US" sz="1600"/>
                        <a:t>Potential conflicts between managers; confusion in reporting.</a:t>
                      </a:r>
                    </a:p>
                  </a:txBody>
                  <a:tcPr marL="73269" marR="73269" marT="36635" marB="36635" anchor="ctr"/>
                </a:tc>
                <a:extLst>
                  <a:ext uri="{0D108BD9-81ED-4DB2-BD59-A6C34878D82A}">
                    <a16:rowId xmlns:a16="http://schemas.microsoft.com/office/drawing/2014/main" val="1152936922"/>
                  </a:ext>
                </a:extLst>
              </a:tr>
              <a:tr h="1051560">
                <a:tc>
                  <a:txBody>
                    <a:bodyPr/>
                    <a:lstStyle/>
                    <a:p>
                      <a:r>
                        <a:rPr lang="en-US" sz="1600" b="1"/>
                        <a:t>Composite Structure</a:t>
                      </a:r>
                      <a:endParaRPr lang="en-US" sz="1600"/>
                    </a:p>
                  </a:txBody>
                  <a:tcPr marL="73269" marR="73269" marT="36635" marB="36635" anchor="ctr"/>
                </a:tc>
                <a:tc>
                  <a:txBody>
                    <a:bodyPr/>
                    <a:lstStyle/>
                    <a:p>
                      <a:r>
                        <a:rPr lang="en-US" sz="1600"/>
                        <a:t>Hybrid approach tailored to project needs.</a:t>
                      </a:r>
                    </a:p>
                  </a:txBody>
                  <a:tcPr marL="73269" marR="73269" marT="36635" marB="36635" anchor="ctr"/>
                </a:tc>
                <a:tc>
                  <a:txBody>
                    <a:bodyPr/>
                    <a:lstStyle/>
                    <a:p>
                      <a:r>
                        <a:rPr lang="en-US" sz="1600"/>
                        <a:t>Different projects use different structures.</a:t>
                      </a:r>
                    </a:p>
                  </a:txBody>
                  <a:tcPr marL="73269" marR="73269" marT="36635" marB="36635" anchor="ctr"/>
                </a:tc>
                <a:tc>
                  <a:txBody>
                    <a:bodyPr/>
                    <a:lstStyle/>
                    <a:p>
                      <a:r>
                        <a:rPr lang="en-US" sz="1600"/>
                        <a:t>Tailored approach; leverages strengths of various structures.</a:t>
                      </a:r>
                    </a:p>
                  </a:txBody>
                  <a:tcPr marL="73269" marR="73269" marT="36635" marB="36635" anchor="ctr"/>
                </a:tc>
                <a:tc>
                  <a:txBody>
                    <a:bodyPr/>
                    <a:lstStyle/>
                    <a:p>
                      <a:r>
                        <a:rPr lang="en-US" sz="1600" dirty="0"/>
                        <a:t>Complexity in management; potential inconsistency.</a:t>
                      </a:r>
                    </a:p>
                  </a:txBody>
                  <a:tcPr marL="73269" marR="73269" marT="36635" marB="36635" anchor="ctr"/>
                </a:tc>
                <a:extLst>
                  <a:ext uri="{0D108BD9-81ED-4DB2-BD59-A6C34878D82A}">
                    <a16:rowId xmlns:a16="http://schemas.microsoft.com/office/drawing/2014/main" val="3471774125"/>
                  </a:ext>
                </a:extLst>
              </a:tr>
            </a:tbl>
          </a:graphicData>
        </a:graphic>
      </p:graphicFrame>
    </p:spTree>
    <p:extLst>
      <p:ext uri="{BB962C8B-B14F-4D97-AF65-F5344CB8AC3E}">
        <p14:creationId xmlns:p14="http://schemas.microsoft.com/office/powerpoint/2010/main" val="972813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FA786-A0EB-4E9F-8050-B9E8335C4165}"/>
              </a:ext>
            </a:extLst>
          </p:cNvPr>
          <p:cNvSpPr>
            <a:spLocks noGrp="1"/>
          </p:cNvSpPr>
          <p:nvPr>
            <p:ph type="title"/>
          </p:nvPr>
        </p:nvSpPr>
        <p:spPr>
          <a:xfrm>
            <a:off x="304800" y="466817"/>
            <a:ext cx="11233150" cy="1323439"/>
          </a:xfrm>
        </p:spPr>
        <p:txBody>
          <a:bodyPr/>
          <a:lstStyle/>
          <a:p>
            <a:r>
              <a:rPr lang="en-US" b="1" u="sng" spc="114" dirty="0">
                <a:solidFill>
                  <a:srgbClr val="FF0000"/>
                </a:solidFill>
              </a:rPr>
              <a:t>Features of Project Organization Structure</a:t>
            </a:r>
            <a:br>
              <a:rPr lang="en-US" b="1" i="0" dirty="0">
                <a:solidFill>
                  <a:srgbClr val="231F20"/>
                </a:solidFill>
                <a:effectLst/>
                <a:latin typeface="Inter"/>
              </a:rPr>
            </a:br>
            <a:endParaRPr lang="en-US" dirty="0"/>
          </a:p>
        </p:txBody>
      </p:sp>
      <p:sp>
        <p:nvSpPr>
          <p:cNvPr id="3" name="Text Placeholder 2">
            <a:extLst>
              <a:ext uri="{FF2B5EF4-FFF2-40B4-BE49-F238E27FC236}">
                <a16:creationId xmlns:a16="http://schemas.microsoft.com/office/drawing/2014/main" id="{B8D028A5-7DA5-42C1-A74F-42D43D000A1B}"/>
              </a:ext>
            </a:extLst>
          </p:cNvPr>
          <p:cNvSpPr>
            <a:spLocks noGrp="1"/>
          </p:cNvSpPr>
          <p:nvPr>
            <p:ph type="body" idx="1"/>
          </p:nvPr>
        </p:nvSpPr>
        <p:spPr>
          <a:xfrm>
            <a:off x="281014" y="1583730"/>
            <a:ext cx="12111925" cy="5663089"/>
          </a:xfrm>
        </p:spPr>
        <p:txBody>
          <a:bodyPr/>
          <a:lstStyle/>
          <a:p>
            <a:pPr algn="l"/>
            <a:r>
              <a:rPr lang="en-US" sz="2400" spc="70" dirty="0"/>
              <a:t>The project organization structure refers to how an organization organizes its resources, authority, roles, and relationships to manage and execute projects. The structure defines how project teams are formed, how project managers interact with other departments, and how resources are allocated. Below are the key features of a project organization structure:</a:t>
            </a:r>
          </a:p>
          <a:p>
            <a:pPr algn="l"/>
            <a:r>
              <a:rPr lang="en-US" sz="2000" spc="70" dirty="0"/>
              <a:t>1. Clear Roles and Responsibilities‍</a:t>
            </a:r>
          </a:p>
          <a:p>
            <a:pPr algn="l"/>
            <a:r>
              <a:rPr lang="en-US" sz="2000" spc="70" dirty="0"/>
              <a:t>2. Authority and Decision-Making‍</a:t>
            </a:r>
          </a:p>
          <a:p>
            <a:pPr algn="l"/>
            <a:r>
              <a:rPr lang="en-US" sz="2000" spc="70" dirty="0"/>
              <a:t>3. Resource Allocation‍</a:t>
            </a:r>
          </a:p>
          <a:p>
            <a:pPr algn="l"/>
            <a:r>
              <a:rPr lang="en-US" sz="2000" spc="70" dirty="0"/>
              <a:t>4. Collaboration and Communication‍</a:t>
            </a:r>
          </a:p>
          <a:p>
            <a:pPr algn="l"/>
            <a:r>
              <a:rPr lang="en-US" sz="2000" spc="70" dirty="0"/>
              <a:t>5. Project Orientation‍</a:t>
            </a:r>
          </a:p>
          <a:p>
            <a:pPr algn="l"/>
            <a:r>
              <a:rPr lang="en-US" sz="2000" spc="70" dirty="0"/>
              <a:t>6. Flexibility and Adaptability‍</a:t>
            </a:r>
          </a:p>
          <a:p>
            <a:pPr algn="l"/>
            <a:r>
              <a:rPr lang="en-US" sz="2000" spc="70" dirty="0"/>
              <a:t>7. Integration of Functional and Project Activities‍</a:t>
            </a:r>
          </a:p>
          <a:p>
            <a:pPr algn="l"/>
            <a:r>
              <a:rPr lang="en-US" sz="2000" spc="70" dirty="0"/>
              <a:t>8. Focus on Project Deliverables‍</a:t>
            </a:r>
          </a:p>
          <a:p>
            <a:pPr algn="l"/>
            <a:r>
              <a:rPr lang="en-US" sz="2000" spc="70" dirty="0"/>
              <a:t>9. Project Team Autonomy‍</a:t>
            </a:r>
          </a:p>
          <a:p>
            <a:pPr algn="l"/>
            <a:r>
              <a:rPr lang="en-US" sz="2000" spc="70" dirty="0"/>
              <a:t>10. Scalability</a:t>
            </a:r>
          </a:p>
          <a:p>
            <a:pPr algn="l"/>
            <a:r>
              <a:rPr lang="en-US" sz="2000" spc="70" dirty="0"/>
              <a:t>11. Focus on Efficiency</a:t>
            </a:r>
          </a:p>
          <a:p>
            <a:endParaRPr lang="en-US" dirty="0"/>
          </a:p>
        </p:txBody>
      </p:sp>
      <p:pic>
        <p:nvPicPr>
          <p:cNvPr id="4" name="Picture 3">
            <a:extLst>
              <a:ext uri="{FF2B5EF4-FFF2-40B4-BE49-F238E27FC236}">
                <a16:creationId xmlns:a16="http://schemas.microsoft.com/office/drawing/2014/main" id="{C9E9726E-B99A-4908-EDFD-88312B844D0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038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76159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9CCB0-6820-4737-9BDC-58EB0F0B0ABD}"/>
              </a:ext>
            </a:extLst>
          </p:cNvPr>
          <p:cNvSpPr>
            <a:spLocks noGrp="1"/>
          </p:cNvSpPr>
          <p:nvPr>
            <p:ph type="title"/>
          </p:nvPr>
        </p:nvSpPr>
        <p:spPr>
          <a:xfrm>
            <a:off x="152400" y="715107"/>
            <a:ext cx="11233150" cy="1985159"/>
          </a:xfrm>
        </p:spPr>
        <p:txBody>
          <a:bodyPr/>
          <a:lstStyle/>
          <a:p>
            <a:r>
              <a:rPr lang="en-US" b="1" u="sng" spc="114" dirty="0">
                <a:solidFill>
                  <a:srgbClr val="FF0000"/>
                </a:solidFill>
              </a:rPr>
              <a:t>How to Make a Project Organizational Chart?</a:t>
            </a:r>
            <a:br>
              <a:rPr lang="en-US" b="1" u="sng" spc="114" dirty="0">
                <a:solidFill>
                  <a:srgbClr val="FF0000"/>
                </a:solidFill>
              </a:rPr>
            </a:br>
            <a:r>
              <a:rPr lang="en-US" b="0" i="0" dirty="0">
                <a:effectLst/>
                <a:latin typeface="Inter"/>
              </a:rPr>
              <a:t>‍</a:t>
            </a:r>
            <a:br>
              <a:rPr lang="en-US" b="0" i="0" dirty="0">
                <a:effectLst/>
                <a:latin typeface="Inter"/>
              </a:rPr>
            </a:br>
            <a:endParaRPr lang="en-US" dirty="0"/>
          </a:p>
        </p:txBody>
      </p:sp>
      <p:sp>
        <p:nvSpPr>
          <p:cNvPr id="3" name="Text Placeholder 2">
            <a:extLst>
              <a:ext uri="{FF2B5EF4-FFF2-40B4-BE49-F238E27FC236}">
                <a16:creationId xmlns:a16="http://schemas.microsoft.com/office/drawing/2014/main" id="{A23451E5-9474-4410-84D9-434539264AF5}"/>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FC9C42EB-F31D-4E0B-9861-AA199D4E734E}"/>
              </a:ext>
            </a:extLst>
          </p:cNvPr>
          <p:cNvPicPr>
            <a:picLocks noChangeAspect="1"/>
          </p:cNvPicPr>
          <p:nvPr/>
        </p:nvPicPr>
        <p:blipFill>
          <a:blip r:embed="rId3"/>
          <a:stretch>
            <a:fillRect/>
          </a:stretch>
        </p:blipFill>
        <p:spPr>
          <a:xfrm>
            <a:off x="1905000" y="1707687"/>
            <a:ext cx="8757214" cy="4762500"/>
          </a:xfrm>
          <a:prstGeom prst="rect">
            <a:avLst/>
          </a:prstGeom>
        </p:spPr>
      </p:pic>
      <p:pic>
        <p:nvPicPr>
          <p:cNvPr id="4" name="Picture 3">
            <a:extLst>
              <a:ext uri="{FF2B5EF4-FFF2-40B4-BE49-F238E27FC236}">
                <a16:creationId xmlns:a16="http://schemas.microsoft.com/office/drawing/2014/main" id="{21A438D7-B4CB-5661-14BA-405888946E8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39399" y="0"/>
            <a:ext cx="1710689" cy="950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45926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EC97B-A433-46C1-88B2-5E9C0E2B09B0}"/>
              </a:ext>
            </a:extLst>
          </p:cNvPr>
          <p:cNvSpPr>
            <a:spLocks noGrp="1"/>
          </p:cNvSpPr>
          <p:nvPr>
            <p:ph type="title"/>
          </p:nvPr>
        </p:nvSpPr>
        <p:spPr>
          <a:xfrm>
            <a:off x="304800" y="5166"/>
            <a:ext cx="11233150" cy="1985159"/>
          </a:xfrm>
        </p:spPr>
        <p:txBody>
          <a:bodyPr/>
          <a:lstStyle/>
          <a:p>
            <a:r>
              <a:rPr lang="en-US" b="1" u="sng" spc="114" dirty="0">
                <a:solidFill>
                  <a:srgbClr val="FF0000"/>
                </a:solidFill>
              </a:rPr>
              <a:t>Impact of Organizational Structure on Project Management</a:t>
            </a:r>
            <a:br>
              <a:rPr lang="en-US" b="1" u="sng" spc="114" dirty="0">
                <a:solidFill>
                  <a:srgbClr val="FF0000"/>
                </a:solidFill>
              </a:rPr>
            </a:br>
            <a:endParaRPr lang="en-US" b="1" u="sng" spc="114" dirty="0">
              <a:solidFill>
                <a:srgbClr val="FF0000"/>
              </a:solidFill>
            </a:endParaRPr>
          </a:p>
        </p:txBody>
      </p:sp>
      <p:sp>
        <p:nvSpPr>
          <p:cNvPr id="3" name="Text Placeholder 2">
            <a:extLst>
              <a:ext uri="{FF2B5EF4-FFF2-40B4-BE49-F238E27FC236}">
                <a16:creationId xmlns:a16="http://schemas.microsoft.com/office/drawing/2014/main" id="{F5CDE774-BDED-4BBE-A252-1A2178534749}"/>
              </a:ext>
            </a:extLst>
          </p:cNvPr>
          <p:cNvSpPr>
            <a:spLocks noGrp="1"/>
          </p:cNvSpPr>
          <p:nvPr>
            <p:ph type="body" idx="1"/>
          </p:nvPr>
        </p:nvSpPr>
        <p:spPr>
          <a:xfrm>
            <a:off x="153670" y="1805299"/>
            <a:ext cx="11884660" cy="3447098"/>
          </a:xfrm>
        </p:spPr>
        <p:txBody>
          <a:bodyPr/>
          <a:lstStyle/>
          <a:p>
            <a:pPr algn="l" fontAlgn="base"/>
            <a:r>
              <a:rPr lang="en-US" sz="3200" b="0" i="0" dirty="0">
                <a:solidFill>
                  <a:srgbClr val="212529"/>
                </a:solidFill>
                <a:effectLst/>
                <a:latin typeface="Roboto" panose="02000000000000000000" pitchFamily="2" charset="0"/>
              </a:rPr>
              <a:t>The type of organizational structure you choose for your company will impact communication, resource allocation, decision-making, and project implementation.</a:t>
            </a:r>
          </a:p>
          <a:p>
            <a:pPr algn="l" fontAlgn="base">
              <a:buFont typeface="Arial" panose="020B0604020202020204" pitchFamily="34" charset="0"/>
              <a:buChar char="•"/>
            </a:pPr>
            <a:r>
              <a:rPr lang="en-US" sz="3200" b="1" i="0" dirty="0">
                <a:solidFill>
                  <a:srgbClr val="212529"/>
                </a:solidFill>
                <a:effectLst/>
                <a:latin typeface="Roboto" panose="02000000000000000000" pitchFamily="2" charset="0"/>
              </a:rPr>
              <a:t>Communication</a:t>
            </a:r>
            <a:endParaRPr lang="en-US" sz="3200" b="1" dirty="0">
              <a:solidFill>
                <a:srgbClr val="212529"/>
              </a:solidFill>
              <a:latin typeface="Roboto" panose="02000000000000000000" pitchFamily="2" charset="0"/>
            </a:endParaRPr>
          </a:p>
          <a:p>
            <a:pPr algn="l" fontAlgn="base">
              <a:buFont typeface="Arial" panose="020B0604020202020204" pitchFamily="34" charset="0"/>
              <a:buChar char="•"/>
            </a:pPr>
            <a:r>
              <a:rPr lang="en-US" sz="3200" b="1" i="0" dirty="0">
                <a:solidFill>
                  <a:srgbClr val="212529"/>
                </a:solidFill>
                <a:effectLst/>
                <a:latin typeface="Roboto" panose="02000000000000000000" pitchFamily="2" charset="0"/>
              </a:rPr>
              <a:t>Resource Allocation</a:t>
            </a:r>
            <a:endParaRPr lang="en-US" sz="3200" b="1" dirty="0">
              <a:solidFill>
                <a:srgbClr val="212529"/>
              </a:solidFill>
              <a:latin typeface="Roboto" panose="02000000000000000000" pitchFamily="2" charset="0"/>
            </a:endParaRPr>
          </a:p>
          <a:p>
            <a:pPr algn="l" fontAlgn="base">
              <a:buFont typeface="Arial" panose="020B0604020202020204" pitchFamily="34" charset="0"/>
              <a:buChar char="•"/>
            </a:pPr>
            <a:r>
              <a:rPr lang="en-US" sz="3200" b="1" i="0" dirty="0">
                <a:solidFill>
                  <a:srgbClr val="212529"/>
                </a:solidFill>
                <a:effectLst/>
                <a:latin typeface="Roboto" panose="02000000000000000000" pitchFamily="2" charset="0"/>
              </a:rPr>
              <a:t>Decision-Making</a:t>
            </a:r>
          </a:p>
          <a:p>
            <a:pPr algn="l" fontAlgn="base">
              <a:buFont typeface="Arial" panose="020B0604020202020204" pitchFamily="34" charset="0"/>
              <a:buChar char="•"/>
            </a:pPr>
            <a:r>
              <a:rPr lang="en-US" sz="3200" b="1" i="0" dirty="0">
                <a:solidFill>
                  <a:srgbClr val="212529"/>
                </a:solidFill>
                <a:effectLst/>
                <a:latin typeface="Roboto" panose="02000000000000000000" pitchFamily="2" charset="0"/>
              </a:rPr>
              <a:t>Project Implementation</a:t>
            </a:r>
            <a:endParaRPr lang="en-US" dirty="0"/>
          </a:p>
        </p:txBody>
      </p:sp>
      <p:pic>
        <p:nvPicPr>
          <p:cNvPr id="4" name="Picture 3">
            <a:extLst>
              <a:ext uri="{FF2B5EF4-FFF2-40B4-BE49-F238E27FC236}">
                <a16:creationId xmlns:a16="http://schemas.microsoft.com/office/drawing/2014/main" id="{4888E16D-37B0-9CE9-8CF0-6FC2CE52A2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55832" y="0"/>
            <a:ext cx="1645918" cy="914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52236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685800"/>
            <a:ext cx="12570461" cy="721182"/>
          </a:xfrm>
          <a:prstGeom prst="rect">
            <a:avLst/>
          </a:prstGeom>
        </p:spPr>
        <p:txBody>
          <a:bodyPr vert="horz" wrap="square" lIns="0" tIns="58887" rIns="0" bIns="0" rtlCol="0">
            <a:spAutoFit/>
          </a:bodyPr>
          <a:lstStyle/>
          <a:p>
            <a:pPr marL="12700">
              <a:lnSpc>
                <a:spcPct val="100000"/>
              </a:lnSpc>
              <a:spcBef>
                <a:spcPts val="120"/>
              </a:spcBef>
            </a:pPr>
            <a:r>
              <a:rPr b="1" u="sng" spc="114" dirty="0">
                <a:solidFill>
                  <a:srgbClr val="FF0000"/>
                </a:solidFill>
              </a:rPr>
              <a:t>What is the Right Project Management Structure? </a:t>
            </a:r>
            <a:r>
              <a:rPr sz="1950" spc="-10" dirty="0"/>
              <a:t>(1/4)</a:t>
            </a:r>
            <a:endParaRPr sz="195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56</a:t>
            </a:fld>
            <a:endParaRPr spc="-25" dirty="0"/>
          </a:p>
        </p:txBody>
      </p:sp>
      <p:sp>
        <p:nvSpPr>
          <p:cNvPr id="3" name="object 3"/>
          <p:cNvSpPr txBox="1"/>
          <p:nvPr/>
        </p:nvSpPr>
        <p:spPr>
          <a:xfrm>
            <a:off x="916939" y="1612899"/>
            <a:ext cx="10357485" cy="4441190"/>
          </a:xfrm>
          <a:prstGeom prst="rect">
            <a:avLst/>
          </a:prstGeom>
        </p:spPr>
        <p:txBody>
          <a:bodyPr vert="horz" wrap="square" lIns="0" tIns="63500" rIns="0" bIns="0" rtlCol="0">
            <a:spAutoFit/>
          </a:bodyPr>
          <a:lstStyle/>
          <a:p>
            <a:pPr marL="527050" marR="5080" indent="-514350" algn="just">
              <a:lnSpc>
                <a:spcPts val="3000"/>
              </a:lnSpc>
              <a:spcBef>
                <a:spcPts val="500"/>
              </a:spcBef>
              <a:buAutoNum type="arabicPeriod"/>
              <a:tabLst>
                <a:tab pos="527050" algn="l"/>
              </a:tabLst>
            </a:pPr>
            <a:r>
              <a:rPr sz="2800" u="heavy" dirty="0">
                <a:uFill>
                  <a:solidFill>
                    <a:srgbClr val="000000"/>
                  </a:solidFill>
                </a:uFill>
                <a:latin typeface="Calibri"/>
                <a:cs typeface="Calibri"/>
              </a:rPr>
              <a:t>At</a:t>
            </a:r>
            <a:r>
              <a:rPr sz="2800" u="heavy" spc="-45" dirty="0">
                <a:uFill>
                  <a:solidFill>
                    <a:srgbClr val="000000"/>
                  </a:solidFill>
                </a:uFill>
                <a:latin typeface="Calibri"/>
                <a:cs typeface="Calibri"/>
              </a:rPr>
              <a:t> </a:t>
            </a:r>
            <a:r>
              <a:rPr sz="2800" u="heavy" dirty="0">
                <a:uFill>
                  <a:solidFill>
                    <a:srgbClr val="000000"/>
                  </a:solidFill>
                </a:uFill>
                <a:latin typeface="Calibri"/>
                <a:cs typeface="Calibri"/>
              </a:rPr>
              <a:t>the</a:t>
            </a:r>
            <a:r>
              <a:rPr sz="2800" u="heavy" spc="-50" dirty="0">
                <a:uFill>
                  <a:solidFill>
                    <a:srgbClr val="000000"/>
                  </a:solidFill>
                </a:uFill>
                <a:latin typeface="Calibri"/>
                <a:cs typeface="Calibri"/>
              </a:rPr>
              <a:t> </a:t>
            </a:r>
            <a:r>
              <a:rPr sz="2800" u="heavy" spc="-10" dirty="0">
                <a:uFill>
                  <a:solidFill>
                    <a:srgbClr val="000000"/>
                  </a:solidFill>
                </a:uFill>
                <a:latin typeface="Calibri"/>
                <a:cs typeface="Calibri"/>
              </a:rPr>
              <a:t>organization</a:t>
            </a:r>
            <a:r>
              <a:rPr sz="2800" u="heavy" spc="-45" dirty="0">
                <a:uFill>
                  <a:solidFill>
                    <a:srgbClr val="000000"/>
                  </a:solidFill>
                </a:uFill>
                <a:latin typeface="Calibri"/>
                <a:cs typeface="Calibri"/>
              </a:rPr>
              <a:t> </a:t>
            </a:r>
            <a:r>
              <a:rPr sz="2800" u="heavy" dirty="0">
                <a:uFill>
                  <a:solidFill>
                    <a:srgbClr val="000000"/>
                  </a:solidFill>
                </a:uFill>
                <a:latin typeface="Calibri"/>
                <a:cs typeface="Calibri"/>
              </a:rPr>
              <a:t>level</a:t>
            </a:r>
            <a:r>
              <a:rPr sz="2800" dirty="0">
                <a:latin typeface="Calibri"/>
                <a:cs typeface="Calibri"/>
              </a:rPr>
              <a:t>,</a:t>
            </a:r>
            <a:r>
              <a:rPr sz="2800" spc="-45" dirty="0">
                <a:latin typeface="Calibri"/>
                <a:cs typeface="Calibri"/>
              </a:rPr>
              <a:t> </a:t>
            </a:r>
            <a:r>
              <a:rPr sz="2800" dirty="0">
                <a:latin typeface="Calibri"/>
                <a:cs typeface="Calibri"/>
              </a:rPr>
              <a:t>the</a:t>
            </a:r>
            <a:r>
              <a:rPr sz="2800" spc="-50" dirty="0">
                <a:latin typeface="Calibri"/>
                <a:cs typeface="Calibri"/>
              </a:rPr>
              <a:t> </a:t>
            </a:r>
            <a:r>
              <a:rPr sz="2800" dirty="0">
                <a:latin typeface="Calibri"/>
                <a:cs typeface="Calibri"/>
              </a:rPr>
              <a:t>first</a:t>
            </a:r>
            <a:r>
              <a:rPr sz="2800" spc="-50" dirty="0">
                <a:latin typeface="Calibri"/>
                <a:cs typeface="Calibri"/>
              </a:rPr>
              <a:t> </a:t>
            </a:r>
            <a:r>
              <a:rPr sz="2800" dirty="0">
                <a:latin typeface="Calibri"/>
                <a:cs typeface="Calibri"/>
              </a:rPr>
              <a:t>question</a:t>
            </a:r>
            <a:r>
              <a:rPr sz="2800" spc="-50" dirty="0">
                <a:latin typeface="Calibri"/>
                <a:cs typeface="Calibri"/>
              </a:rPr>
              <a:t> </a:t>
            </a:r>
            <a:r>
              <a:rPr sz="2800" dirty="0">
                <a:latin typeface="Calibri"/>
                <a:cs typeface="Calibri"/>
              </a:rPr>
              <a:t>that</a:t>
            </a:r>
            <a:r>
              <a:rPr sz="2800" spc="-45" dirty="0">
                <a:latin typeface="Calibri"/>
                <a:cs typeface="Calibri"/>
              </a:rPr>
              <a:t> </a:t>
            </a:r>
            <a:r>
              <a:rPr sz="2800" dirty="0">
                <a:latin typeface="Calibri"/>
                <a:cs typeface="Calibri"/>
              </a:rPr>
              <a:t>needs</a:t>
            </a:r>
            <a:r>
              <a:rPr sz="2800" spc="-45" dirty="0">
                <a:latin typeface="Calibri"/>
                <a:cs typeface="Calibri"/>
              </a:rPr>
              <a:t> </a:t>
            </a:r>
            <a:r>
              <a:rPr sz="2800" dirty="0">
                <a:latin typeface="Calibri"/>
                <a:cs typeface="Calibri"/>
              </a:rPr>
              <a:t>to</a:t>
            </a:r>
            <a:r>
              <a:rPr sz="2800" spc="-45" dirty="0">
                <a:latin typeface="Calibri"/>
                <a:cs typeface="Calibri"/>
              </a:rPr>
              <a:t> </a:t>
            </a:r>
            <a:r>
              <a:rPr sz="2800" dirty="0">
                <a:latin typeface="Calibri"/>
                <a:cs typeface="Calibri"/>
              </a:rPr>
              <a:t>be</a:t>
            </a:r>
            <a:r>
              <a:rPr sz="2800" spc="-55" dirty="0">
                <a:latin typeface="Calibri"/>
                <a:cs typeface="Calibri"/>
              </a:rPr>
              <a:t> </a:t>
            </a:r>
            <a:r>
              <a:rPr sz="2800" dirty="0">
                <a:latin typeface="Calibri"/>
                <a:cs typeface="Calibri"/>
              </a:rPr>
              <a:t>asked</a:t>
            </a:r>
            <a:r>
              <a:rPr sz="2800" spc="-40" dirty="0">
                <a:latin typeface="Calibri"/>
                <a:cs typeface="Calibri"/>
              </a:rPr>
              <a:t> </a:t>
            </a:r>
            <a:r>
              <a:rPr sz="2800" spc="-25" dirty="0">
                <a:latin typeface="Calibri"/>
                <a:cs typeface="Calibri"/>
              </a:rPr>
              <a:t>is </a:t>
            </a:r>
            <a:r>
              <a:rPr sz="2800" dirty="0">
                <a:latin typeface="Calibri"/>
                <a:cs typeface="Calibri"/>
              </a:rPr>
              <a:t>how</a:t>
            </a:r>
            <a:r>
              <a:rPr sz="2800" spc="229" dirty="0">
                <a:latin typeface="Calibri"/>
                <a:cs typeface="Calibri"/>
              </a:rPr>
              <a:t> </a:t>
            </a:r>
            <a:r>
              <a:rPr sz="2800" dirty="0">
                <a:latin typeface="Calibri"/>
                <a:cs typeface="Calibri"/>
              </a:rPr>
              <a:t>important</a:t>
            </a:r>
            <a:r>
              <a:rPr sz="2800" spc="229" dirty="0">
                <a:latin typeface="Calibri"/>
                <a:cs typeface="Calibri"/>
              </a:rPr>
              <a:t> </a:t>
            </a:r>
            <a:r>
              <a:rPr sz="2800" dirty="0">
                <a:latin typeface="Calibri"/>
                <a:cs typeface="Calibri"/>
              </a:rPr>
              <a:t>is</a:t>
            </a:r>
            <a:r>
              <a:rPr sz="2800" spc="240" dirty="0">
                <a:latin typeface="Calibri"/>
                <a:cs typeface="Calibri"/>
              </a:rPr>
              <a:t> </a:t>
            </a:r>
            <a:r>
              <a:rPr sz="2800" dirty="0">
                <a:latin typeface="Calibri"/>
                <a:cs typeface="Calibri"/>
              </a:rPr>
              <a:t>project</a:t>
            </a:r>
            <a:r>
              <a:rPr sz="2800" spc="225" dirty="0">
                <a:latin typeface="Calibri"/>
                <a:cs typeface="Calibri"/>
              </a:rPr>
              <a:t> </a:t>
            </a:r>
            <a:r>
              <a:rPr sz="2800" dirty="0">
                <a:latin typeface="Calibri"/>
                <a:cs typeface="Calibri"/>
              </a:rPr>
              <a:t>management</a:t>
            </a:r>
            <a:r>
              <a:rPr sz="2800" spc="235" dirty="0">
                <a:latin typeface="Calibri"/>
                <a:cs typeface="Calibri"/>
              </a:rPr>
              <a:t> </a:t>
            </a:r>
            <a:r>
              <a:rPr sz="2800" dirty="0">
                <a:latin typeface="Calibri"/>
                <a:cs typeface="Calibri"/>
              </a:rPr>
              <a:t>to</a:t>
            </a:r>
            <a:r>
              <a:rPr sz="2800" spc="229" dirty="0">
                <a:latin typeface="Calibri"/>
                <a:cs typeface="Calibri"/>
              </a:rPr>
              <a:t> </a:t>
            </a:r>
            <a:r>
              <a:rPr sz="2800" dirty="0">
                <a:latin typeface="Calibri"/>
                <a:cs typeface="Calibri"/>
              </a:rPr>
              <a:t>the</a:t>
            </a:r>
            <a:r>
              <a:rPr sz="2800" spc="229" dirty="0">
                <a:latin typeface="Calibri"/>
                <a:cs typeface="Calibri"/>
              </a:rPr>
              <a:t> </a:t>
            </a:r>
            <a:r>
              <a:rPr sz="2800" dirty="0">
                <a:latin typeface="Calibri"/>
                <a:cs typeface="Calibri"/>
              </a:rPr>
              <a:t>success</a:t>
            </a:r>
            <a:r>
              <a:rPr sz="2800" spc="229" dirty="0">
                <a:latin typeface="Calibri"/>
                <a:cs typeface="Calibri"/>
              </a:rPr>
              <a:t> </a:t>
            </a:r>
            <a:r>
              <a:rPr sz="2800" dirty="0">
                <a:latin typeface="Calibri"/>
                <a:cs typeface="Calibri"/>
              </a:rPr>
              <a:t>of</a:t>
            </a:r>
            <a:r>
              <a:rPr sz="2800" spc="225" dirty="0">
                <a:latin typeface="Calibri"/>
                <a:cs typeface="Calibri"/>
              </a:rPr>
              <a:t> </a:t>
            </a:r>
            <a:r>
              <a:rPr sz="2800" dirty="0">
                <a:latin typeface="Calibri"/>
                <a:cs typeface="Calibri"/>
              </a:rPr>
              <a:t>the</a:t>
            </a:r>
            <a:r>
              <a:rPr sz="2800" spc="229" dirty="0">
                <a:latin typeface="Calibri"/>
                <a:cs typeface="Calibri"/>
              </a:rPr>
              <a:t> </a:t>
            </a:r>
            <a:r>
              <a:rPr sz="2800" spc="-10" dirty="0">
                <a:latin typeface="Calibri"/>
                <a:cs typeface="Calibri"/>
              </a:rPr>
              <a:t>firm? </a:t>
            </a:r>
            <a:r>
              <a:rPr sz="2800" dirty="0">
                <a:latin typeface="Calibri"/>
                <a:cs typeface="Calibri"/>
              </a:rPr>
              <a:t>What</a:t>
            </a:r>
            <a:r>
              <a:rPr sz="2800" spc="-75" dirty="0">
                <a:latin typeface="Calibri"/>
                <a:cs typeface="Calibri"/>
              </a:rPr>
              <a:t> </a:t>
            </a:r>
            <a:r>
              <a:rPr sz="2800" spc="-10" dirty="0">
                <a:latin typeface="Calibri"/>
                <a:cs typeface="Calibri"/>
              </a:rPr>
              <a:t>percentage</a:t>
            </a:r>
            <a:r>
              <a:rPr sz="2800" spc="-80" dirty="0">
                <a:latin typeface="Calibri"/>
                <a:cs typeface="Calibri"/>
              </a:rPr>
              <a:t> </a:t>
            </a:r>
            <a:r>
              <a:rPr sz="2800" dirty="0">
                <a:latin typeface="Calibri"/>
                <a:cs typeface="Calibri"/>
              </a:rPr>
              <a:t>of</a:t>
            </a:r>
            <a:r>
              <a:rPr sz="2800" spc="-80" dirty="0">
                <a:latin typeface="Calibri"/>
                <a:cs typeface="Calibri"/>
              </a:rPr>
              <a:t> </a:t>
            </a:r>
            <a:r>
              <a:rPr sz="2800" dirty="0">
                <a:latin typeface="Calibri"/>
                <a:cs typeface="Calibri"/>
              </a:rPr>
              <a:t>core</a:t>
            </a:r>
            <a:r>
              <a:rPr sz="2800" spc="-75" dirty="0">
                <a:latin typeface="Calibri"/>
                <a:cs typeface="Calibri"/>
              </a:rPr>
              <a:t> </a:t>
            </a:r>
            <a:r>
              <a:rPr sz="2800" dirty="0">
                <a:latin typeface="Calibri"/>
                <a:cs typeface="Calibri"/>
              </a:rPr>
              <a:t>work</a:t>
            </a:r>
            <a:r>
              <a:rPr sz="2800" spc="-75" dirty="0">
                <a:latin typeface="Calibri"/>
                <a:cs typeface="Calibri"/>
              </a:rPr>
              <a:t> </a:t>
            </a:r>
            <a:r>
              <a:rPr sz="2800" dirty="0">
                <a:latin typeface="Calibri"/>
                <a:cs typeface="Calibri"/>
              </a:rPr>
              <a:t>involves</a:t>
            </a:r>
            <a:r>
              <a:rPr sz="2800" spc="-70" dirty="0">
                <a:latin typeface="Calibri"/>
                <a:cs typeface="Calibri"/>
              </a:rPr>
              <a:t> </a:t>
            </a:r>
            <a:r>
              <a:rPr sz="2800" spc="-10" dirty="0">
                <a:latin typeface="Calibri"/>
                <a:cs typeface="Calibri"/>
              </a:rPr>
              <a:t>projects?</a:t>
            </a:r>
            <a:endParaRPr sz="2800">
              <a:latin typeface="Calibri"/>
              <a:cs typeface="Calibri"/>
            </a:endParaRPr>
          </a:p>
          <a:p>
            <a:pPr marL="697230" marR="5080" lvl="1" indent="-227329" algn="just">
              <a:lnSpc>
                <a:spcPts val="2590"/>
              </a:lnSpc>
              <a:spcBef>
                <a:spcPts val="2725"/>
              </a:spcBef>
              <a:buFont typeface="Arial MT"/>
              <a:buChar char="•"/>
              <a:tabLst>
                <a:tab pos="698500" algn="l"/>
              </a:tabLst>
            </a:pPr>
            <a:r>
              <a:rPr sz="2400" dirty="0">
                <a:solidFill>
                  <a:srgbClr val="C00000"/>
                </a:solidFill>
                <a:latin typeface="Calibri"/>
                <a:cs typeface="Calibri"/>
              </a:rPr>
              <a:t>If</a:t>
            </a:r>
            <a:r>
              <a:rPr sz="2400" spc="55" dirty="0">
                <a:solidFill>
                  <a:srgbClr val="C00000"/>
                </a:solidFill>
                <a:latin typeface="Calibri"/>
                <a:cs typeface="Calibri"/>
              </a:rPr>
              <a:t> </a:t>
            </a:r>
            <a:r>
              <a:rPr sz="2400" dirty="0">
                <a:solidFill>
                  <a:srgbClr val="C00000"/>
                </a:solidFill>
                <a:latin typeface="Calibri"/>
                <a:cs typeface="Calibri"/>
              </a:rPr>
              <a:t>over</a:t>
            </a:r>
            <a:r>
              <a:rPr sz="2400" spc="50" dirty="0">
                <a:solidFill>
                  <a:srgbClr val="C00000"/>
                </a:solidFill>
                <a:latin typeface="Calibri"/>
                <a:cs typeface="Calibri"/>
              </a:rPr>
              <a:t> </a:t>
            </a:r>
            <a:r>
              <a:rPr sz="2400" dirty="0">
                <a:solidFill>
                  <a:srgbClr val="C00000"/>
                </a:solidFill>
                <a:latin typeface="Calibri"/>
                <a:cs typeface="Calibri"/>
              </a:rPr>
              <a:t>75%</a:t>
            </a:r>
            <a:r>
              <a:rPr sz="2400" spc="50" dirty="0">
                <a:solidFill>
                  <a:srgbClr val="C00000"/>
                </a:solidFill>
                <a:latin typeface="Calibri"/>
                <a:cs typeface="Calibri"/>
              </a:rPr>
              <a:t> </a:t>
            </a:r>
            <a:r>
              <a:rPr sz="2400" dirty="0">
                <a:solidFill>
                  <a:srgbClr val="C00000"/>
                </a:solidFill>
                <a:latin typeface="Calibri"/>
                <a:cs typeface="Calibri"/>
              </a:rPr>
              <a:t>of</a:t>
            </a:r>
            <a:r>
              <a:rPr sz="2400" spc="55" dirty="0">
                <a:solidFill>
                  <a:srgbClr val="C00000"/>
                </a:solidFill>
                <a:latin typeface="Calibri"/>
                <a:cs typeface="Calibri"/>
              </a:rPr>
              <a:t> </a:t>
            </a:r>
            <a:r>
              <a:rPr sz="2400" dirty="0">
                <a:solidFill>
                  <a:srgbClr val="C00000"/>
                </a:solidFill>
                <a:latin typeface="Calibri"/>
                <a:cs typeface="Calibri"/>
              </a:rPr>
              <a:t>work</a:t>
            </a:r>
            <a:r>
              <a:rPr sz="2400" spc="50" dirty="0">
                <a:solidFill>
                  <a:srgbClr val="C00000"/>
                </a:solidFill>
                <a:latin typeface="Calibri"/>
                <a:cs typeface="Calibri"/>
              </a:rPr>
              <a:t> </a:t>
            </a:r>
            <a:r>
              <a:rPr sz="2400" dirty="0">
                <a:solidFill>
                  <a:srgbClr val="C00000"/>
                </a:solidFill>
                <a:latin typeface="Calibri"/>
                <a:cs typeface="Calibri"/>
              </a:rPr>
              <a:t>involves</a:t>
            </a:r>
            <a:r>
              <a:rPr sz="2400" spc="50" dirty="0">
                <a:solidFill>
                  <a:srgbClr val="C00000"/>
                </a:solidFill>
                <a:latin typeface="Calibri"/>
                <a:cs typeface="Calibri"/>
              </a:rPr>
              <a:t> </a:t>
            </a:r>
            <a:r>
              <a:rPr sz="2400" dirty="0">
                <a:solidFill>
                  <a:srgbClr val="C00000"/>
                </a:solidFill>
                <a:latin typeface="Calibri"/>
                <a:cs typeface="Calibri"/>
              </a:rPr>
              <a:t>projects,</a:t>
            </a:r>
            <a:r>
              <a:rPr sz="2400" spc="45" dirty="0">
                <a:solidFill>
                  <a:srgbClr val="C00000"/>
                </a:solidFill>
                <a:latin typeface="Calibri"/>
                <a:cs typeface="Calibri"/>
              </a:rPr>
              <a:t> </a:t>
            </a:r>
            <a:r>
              <a:rPr sz="2400" dirty="0">
                <a:solidFill>
                  <a:srgbClr val="C00000"/>
                </a:solidFill>
                <a:latin typeface="Calibri"/>
                <a:cs typeface="Calibri"/>
              </a:rPr>
              <a:t>then</a:t>
            </a:r>
            <a:r>
              <a:rPr sz="2400" spc="55" dirty="0">
                <a:solidFill>
                  <a:srgbClr val="C00000"/>
                </a:solidFill>
                <a:latin typeface="Calibri"/>
                <a:cs typeface="Calibri"/>
              </a:rPr>
              <a:t> </a:t>
            </a:r>
            <a:r>
              <a:rPr sz="2400" dirty="0">
                <a:solidFill>
                  <a:srgbClr val="C00000"/>
                </a:solidFill>
                <a:latin typeface="Calibri"/>
                <a:cs typeface="Calibri"/>
              </a:rPr>
              <a:t>an</a:t>
            </a:r>
            <a:r>
              <a:rPr sz="2400" spc="55" dirty="0">
                <a:solidFill>
                  <a:srgbClr val="C00000"/>
                </a:solidFill>
                <a:latin typeface="Calibri"/>
                <a:cs typeface="Calibri"/>
              </a:rPr>
              <a:t> </a:t>
            </a:r>
            <a:r>
              <a:rPr sz="2400" dirty="0">
                <a:solidFill>
                  <a:srgbClr val="C00000"/>
                </a:solidFill>
                <a:latin typeface="Calibri"/>
                <a:cs typeface="Calibri"/>
              </a:rPr>
              <a:t>organization</a:t>
            </a:r>
            <a:r>
              <a:rPr sz="2400" spc="55" dirty="0">
                <a:solidFill>
                  <a:srgbClr val="C00000"/>
                </a:solidFill>
                <a:latin typeface="Calibri"/>
                <a:cs typeface="Calibri"/>
              </a:rPr>
              <a:t> </a:t>
            </a:r>
            <a:r>
              <a:rPr sz="2400" dirty="0">
                <a:solidFill>
                  <a:srgbClr val="C00000"/>
                </a:solidFill>
                <a:latin typeface="Calibri"/>
                <a:cs typeface="Calibri"/>
              </a:rPr>
              <a:t>should</a:t>
            </a:r>
            <a:r>
              <a:rPr sz="2400" spc="55" dirty="0">
                <a:solidFill>
                  <a:srgbClr val="C00000"/>
                </a:solidFill>
                <a:latin typeface="Calibri"/>
                <a:cs typeface="Calibri"/>
              </a:rPr>
              <a:t> </a:t>
            </a:r>
            <a:r>
              <a:rPr sz="2400" dirty="0">
                <a:solidFill>
                  <a:srgbClr val="C00000"/>
                </a:solidFill>
                <a:latin typeface="Calibri"/>
                <a:cs typeface="Calibri"/>
              </a:rPr>
              <a:t>consider</a:t>
            </a:r>
            <a:r>
              <a:rPr sz="2400" spc="50" dirty="0">
                <a:solidFill>
                  <a:srgbClr val="C00000"/>
                </a:solidFill>
                <a:latin typeface="Calibri"/>
                <a:cs typeface="Calibri"/>
              </a:rPr>
              <a:t> </a:t>
            </a:r>
            <a:r>
              <a:rPr sz="2400" spc="-50" dirty="0">
                <a:solidFill>
                  <a:srgbClr val="C00000"/>
                </a:solidFill>
                <a:latin typeface="Calibri"/>
                <a:cs typeface="Calibri"/>
              </a:rPr>
              <a:t>a 	</a:t>
            </a:r>
            <a:r>
              <a:rPr sz="2400" dirty="0">
                <a:solidFill>
                  <a:srgbClr val="C00000"/>
                </a:solidFill>
                <a:latin typeface="Calibri"/>
                <a:cs typeface="Calibri"/>
              </a:rPr>
              <a:t>fully</a:t>
            </a:r>
            <a:r>
              <a:rPr sz="2400" spc="-60" dirty="0">
                <a:solidFill>
                  <a:srgbClr val="C00000"/>
                </a:solidFill>
                <a:latin typeface="Calibri"/>
                <a:cs typeface="Calibri"/>
              </a:rPr>
              <a:t> </a:t>
            </a:r>
            <a:r>
              <a:rPr sz="2400" spc="-10" dirty="0">
                <a:solidFill>
                  <a:srgbClr val="C00000"/>
                </a:solidFill>
                <a:latin typeface="Calibri"/>
                <a:cs typeface="Calibri"/>
              </a:rPr>
              <a:t>projectized</a:t>
            </a:r>
            <a:r>
              <a:rPr sz="2400" spc="-65" dirty="0">
                <a:solidFill>
                  <a:srgbClr val="C00000"/>
                </a:solidFill>
                <a:latin typeface="Calibri"/>
                <a:cs typeface="Calibri"/>
              </a:rPr>
              <a:t> </a:t>
            </a:r>
            <a:r>
              <a:rPr sz="2400" spc="-10" dirty="0">
                <a:solidFill>
                  <a:srgbClr val="C00000"/>
                </a:solidFill>
                <a:latin typeface="Calibri"/>
                <a:cs typeface="Calibri"/>
              </a:rPr>
              <a:t>organization</a:t>
            </a:r>
            <a:endParaRPr sz="2400">
              <a:latin typeface="Calibri"/>
              <a:cs typeface="Calibri"/>
            </a:endParaRPr>
          </a:p>
          <a:p>
            <a:pPr marL="697230" marR="5080" lvl="1" indent="-227329" algn="just">
              <a:lnSpc>
                <a:spcPts val="2620"/>
              </a:lnSpc>
              <a:spcBef>
                <a:spcPts val="2285"/>
              </a:spcBef>
              <a:buFont typeface="Arial MT"/>
              <a:buChar char="•"/>
              <a:tabLst>
                <a:tab pos="698500" algn="l"/>
              </a:tabLst>
            </a:pPr>
            <a:r>
              <a:rPr sz="2400" dirty="0">
                <a:latin typeface="Calibri"/>
                <a:cs typeface="Calibri"/>
              </a:rPr>
              <a:t>If</a:t>
            </a:r>
            <a:r>
              <a:rPr sz="2400" spc="380" dirty="0">
                <a:latin typeface="Calibri"/>
                <a:cs typeface="Calibri"/>
              </a:rPr>
              <a:t> </a:t>
            </a:r>
            <a:r>
              <a:rPr sz="2400" dirty="0">
                <a:latin typeface="Calibri"/>
                <a:cs typeface="Calibri"/>
              </a:rPr>
              <a:t>an</a:t>
            </a:r>
            <a:r>
              <a:rPr sz="2400" spc="380" dirty="0">
                <a:latin typeface="Calibri"/>
                <a:cs typeface="Calibri"/>
              </a:rPr>
              <a:t> </a:t>
            </a:r>
            <a:r>
              <a:rPr sz="2400" dirty="0">
                <a:latin typeface="Calibri"/>
                <a:cs typeface="Calibri"/>
              </a:rPr>
              <a:t>organization</a:t>
            </a:r>
            <a:r>
              <a:rPr sz="2400" spc="380" dirty="0">
                <a:latin typeface="Calibri"/>
                <a:cs typeface="Calibri"/>
              </a:rPr>
              <a:t> </a:t>
            </a:r>
            <a:r>
              <a:rPr sz="2400" dirty="0">
                <a:latin typeface="Calibri"/>
                <a:cs typeface="Calibri"/>
              </a:rPr>
              <a:t>has</a:t>
            </a:r>
            <a:r>
              <a:rPr sz="2400" spc="375" dirty="0">
                <a:latin typeface="Calibri"/>
                <a:cs typeface="Calibri"/>
              </a:rPr>
              <a:t> </a:t>
            </a:r>
            <a:r>
              <a:rPr sz="2400" dirty="0">
                <a:latin typeface="Calibri"/>
                <a:cs typeface="Calibri"/>
              </a:rPr>
              <a:t>both</a:t>
            </a:r>
            <a:r>
              <a:rPr sz="2400" spc="380" dirty="0">
                <a:latin typeface="Calibri"/>
                <a:cs typeface="Calibri"/>
              </a:rPr>
              <a:t> </a:t>
            </a:r>
            <a:r>
              <a:rPr sz="2400" dirty="0">
                <a:latin typeface="Calibri"/>
                <a:cs typeface="Calibri"/>
              </a:rPr>
              <a:t>standard</a:t>
            </a:r>
            <a:r>
              <a:rPr sz="2400" spc="375" dirty="0">
                <a:latin typeface="Calibri"/>
                <a:cs typeface="Calibri"/>
              </a:rPr>
              <a:t> </a:t>
            </a:r>
            <a:r>
              <a:rPr sz="2400" dirty="0">
                <a:latin typeface="Calibri"/>
                <a:cs typeface="Calibri"/>
              </a:rPr>
              <a:t>products</a:t>
            </a:r>
            <a:r>
              <a:rPr sz="2400" spc="375" dirty="0">
                <a:latin typeface="Calibri"/>
                <a:cs typeface="Calibri"/>
              </a:rPr>
              <a:t> </a:t>
            </a:r>
            <a:r>
              <a:rPr sz="2400" dirty="0">
                <a:latin typeface="Calibri"/>
                <a:cs typeface="Calibri"/>
              </a:rPr>
              <a:t>and</a:t>
            </a:r>
            <a:r>
              <a:rPr sz="2400" spc="375" dirty="0">
                <a:latin typeface="Calibri"/>
                <a:cs typeface="Calibri"/>
              </a:rPr>
              <a:t> </a:t>
            </a:r>
            <a:r>
              <a:rPr sz="2400" dirty="0">
                <a:latin typeface="Calibri"/>
                <a:cs typeface="Calibri"/>
              </a:rPr>
              <a:t>projects,</a:t>
            </a:r>
            <a:r>
              <a:rPr sz="2400" spc="375" dirty="0">
                <a:latin typeface="Calibri"/>
                <a:cs typeface="Calibri"/>
              </a:rPr>
              <a:t> </a:t>
            </a:r>
            <a:r>
              <a:rPr sz="2400" dirty="0">
                <a:latin typeface="Calibri"/>
                <a:cs typeface="Calibri"/>
              </a:rPr>
              <a:t>then</a:t>
            </a:r>
            <a:r>
              <a:rPr sz="2400" spc="380" dirty="0">
                <a:latin typeface="Calibri"/>
                <a:cs typeface="Calibri"/>
              </a:rPr>
              <a:t> </a:t>
            </a:r>
            <a:r>
              <a:rPr sz="2400" dirty="0">
                <a:latin typeface="Calibri"/>
                <a:cs typeface="Calibri"/>
              </a:rPr>
              <a:t>a</a:t>
            </a:r>
            <a:r>
              <a:rPr sz="2400" spc="380" dirty="0">
                <a:latin typeface="Calibri"/>
                <a:cs typeface="Calibri"/>
              </a:rPr>
              <a:t> </a:t>
            </a:r>
            <a:r>
              <a:rPr sz="2400" spc="-10" dirty="0">
                <a:latin typeface="Calibri"/>
                <a:cs typeface="Calibri"/>
              </a:rPr>
              <a:t>matrix 	arrangement</a:t>
            </a:r>
            <a:r>
              <a:rPr sz="2400" spc="-65" dirty="0">
                <a:latin typeface="Calibri"/>
                <a:cs typeface="Calibri"/>
              </a:rPr>
              <a:t> </a:t>
            </a:r>
            <a:r>
              <a:rPr sz="2400" dirty="0">
                <a:latin typeface="Calibri"/>
                <a:cs typeface="Calibri"/>
              </a:rPr>
              <a:t>would</a:t>
            </a:r>
            <a:r>
              <a:rPr sz="2400" spc="-60" dirty="0">
                <a:latin typeface="Calibri"/>
                <a:cs typeface="Calibri"/>
              </a:rPr>
              <a:t> </a:t>
            </a:r>
            <a:r>
              <a:rPr sz="2400" dirty="0">
                <a:latin typeface="Calibri"/>
                <a:cs typeface="Calibri"/>
              </a:rPr>
              <a:t>appear</a:t>
            </a:r>
            <a:r>
              <a:rPr sz="2400" spc="-60" dirty="0">
                <a:latin typeface="Calibri"/>
                <a:cs typeface="Calibri"/>
              </a:rPr>
              <a:t> </a:t>
            </a:r>
            <a:r>
              <a:rPr sz="2400" dirty="0">
                <a:latin typeface="Calibri"/>
                <a:cs typeface="Calibri"/>
              </a:rPr>
              <a:t>to</a:t>
            </a:r>
            <a:r>
              <a:rPr sz="2400" spc="-60" dirty="0">
                <a:latin typeface="Calibri"/>
                <a:cs typeface="Calibri"/>
              </a:rPr>
              <a:t> </a:t>
            </a:r>
            <a:r>
              <a:rPr sz="2400" dirty="0">
                <a:latin typeface="Calibri"/>
                <a:cs typeface="Calibri"/>
              </a:rPr>
              <a:t>be</a:t>
            </a:r>
            <a:r>
              <a:rPr sz="2400" spc="-60" dirty="0">
                <a:latin typeface="Calibri"/>
                <a:cs typeface="Calibri"/>
              </a:rPr>
              <a:t> </a:t>
            </a:r>
            <a:r>
              <a:rPr sz="2400" spc="-10" dirty="0">
                <a:latin typeface="Calibri"/>
                <a:cs typeface="Calibri"/>
              </a:rPr>
              <a:t>appropriate.</a:t>
            </a:r>
            <a:endParaRPr sz="2400">
              <a:latin typeface="Calibri"/>
              <a:cs typeface="Calibri"/>
            </a:endParaRPr>
          </a:p>
          <a:p>
            <a:pPr marL="697230" marR="5080" lvl="1" indent="-227329" algn="just">
              <a:lnSpc>
                <a:spcPts val="2590"/>
              </a:lnSpc>
              <a:spcBef>
                <a:spcPts val="2200"/>
              </a:spcBef>
              <a:buFont typeface="Arial MT"/>
              <a:buChar char="•"/>
              <a:tabLst>
                <a:tab pos="698500" algn="l"/>
              </a:tabLst>
            </a:pPr>
            <a:r>
              <a:rPr sz="2400" dirty="0">
                <a:solidFill>
                  <a:srgbClr val="C00000"/>
                </a:solidFill>
                <a:latin typeface="Calibri"/>
                <a:cs typeface="Calibri"/>
              </a:rPr>
              <a:t>If</a:t>
            </a:r>
            <a:r>
              <a:rPr sz="2400" spc="275" dirty="0">
                <a:solidFill>
                  <a:srgbClr val="C00000"/>
                </a:solidFill>
                <a:latin typeface="Calibri"/>
                <a:cs typeface="Calibri"/>
              </a:rPr>
              <a:t> </a:t>
            </a:r>
            <a:r>
              <a:rPr sz="2400" dirty="0">
                <a:solidFill>
                  <a:srgbClr val="C00000"/>
                </a:solidFill>
                <a:latin typeface="Calibri"/>
                <a:cs typeface="Calibri"/>
              </a:rPr>
              <a:t>an</a:t>
            </a:r>
            <a:r>
              <a:rPr sz="2400" spc="275" dirty="0">
                <a:solidFill>
                  <a:srgbClr val="C00000"/>
                </a:solidFill>
                <a:latin typeface="Calibri"/>
                <a:cs typeface="Calibri"/>
              </a:rPr>
              <a:t> </a:t>
            </a:r>
            <a:r>
              <a:rPr sz="2400" dirty="0">
                <a:solidFill>
                  <a:srgbClr val="C00000"/>
                </a:solidFill>
                <a:latin typeface="Calibri"/>
                <a:cs typeface="Calibri"/>
              </a:rPr>
              <a:t>organization</a:t>
            </a:r>
            <a:r>
              <a:rPr sz="2400" spc="280" dirty="0">
                <a:solidFill>
                  <a:srgbClr val="C00000"/>
                </a:solidFill>
                <a:latin typeface="Calibri"/>
                <a:cs typeface="Calibri"/>
              </a:rPr>
              <a:t> </a:t>
            </a:r>
            <a:r>
              <a:rPr sz="2400" dirty="0">
                <a:solidFill>
                  <a:srgbClr val="C00000"/>
                </a:solidFill>
                <a:latin typeface="Calibri"/>
                <a:cs typeface="Calibri"/>
              </a:rPr>
              <a:t>has</a:t>
            </a:r>
            <a:r>
              <a:rPr sz="2400" spc="275" dirty="0">
                <a:solidFill>
                  <a:srgbClr val="C00000"/>
                </a:solidFill>
                <a:latin typeface="Calibri"/>
                <a:cs typeface="Calibri"/>
              </a:rPr>
              <a:t> </a:t>
            </a:r>
            <a:r>
              <a:rPr sz="2400" dirty="0">
                <a:solidFill>
                  <a:srgbClr val="C00000"/>
                </a:solidFill>
                <a:latin typeface="Calibri"/>
                <a:cs typeface="Calibri"/>
              </a:rPr>
              <a:t>very</a:t>
            </a:r>
            <a:r>
              <a:rPr sz="2400" spc="275" dirty="0">
                <a:solidFill>
                  <a:srgbClr val="C00000"/>
                </a:solidFill>
                <a:latin typeface="Calibri"/>
                <a:cs typeface="Calibri"/>
              </a:rPr>
              <a:t> </a:t>
            </a:r>
            <a:r>
              <a:rPr sz="2400" dirty="0">
                <a:solidFill>
                  <a:srgbClr val="C00000"/>
                </a:solidFill>
                <a:latin typeface="Calibri"/>
                <a:cs typeface="Calibri"/>
              </a:rPr>
              <a:t>few</a:t>
            </a:r>
            <a:r>
              <a:rPr sz="2400" spc="270" dirty="0">
                <a:solidFill>
                  <a:srgbClr val="C00000"/>
                </a:solidFill>
                <a:latin typeface="Calibri"/>
                <a:cs typeface="Calibri"/>
              </a:rPr>
              <a:t> </a:t>
            </a:r>
            <a:r>
              <a:rPr sz="2400" dirty="0">
                <a:solidFill>
                  <a:srgbClr val="C00000"/>
                </a:solidFill>
                <a:latin typeface="Calibri"/>
                <a:cs typeface="Calibri"/>
              </a:rPr>
              <a:t>projects,</a:t>
            </a:r>
            <a:r>
              <a:rPr sz="2400" spc="270" dirty="0">
                <a:solidFill>
                  <a:srgbClr val="C00000"/>
                </a:solidFill>
                <a:latin typeface="Calibri"/>
                <a:cs typeface="Calibri"/>
              </a:rPr>
              <a:t> </a:t>
            </a:r>
            <a:r>
              <a:rPr sz="2400" dirty="0">
                <a:solidFill>
                  <a:srgbClr val="C00000"/>
                </a:solidFill>
                <a:latin typeface="Calibri"/>
                <a:cs typeface="Calibri"/>
              </a:rPr>
              <a:t>then</a:t>
            </a:r>
            <a:r>
              <a:rPr sz="2400" spc="275" dirty="0">
                <a:solidFill>
                  <a:srgbClr val="C00000"/>
                </a:solidFill>
                <a:latin typeface="Calibri"/>
                <a:cs typeface="Calibri"/>
              </a:rPr>
              <a:t> </a:t>
            </a:r>
            <a:r>
              <a:rPr sz="2400" dirty="0">
                <a:solidFill>
                  <a:srgbClr val="C00000"/>
                </a:solidFill>
                <a:latin typeface="Calibri"/>
                <a:cs typeface="Calibri"/>
              </a:rPr>
              <a:t>a</a:t>
            </a:r>
            <a:r>
              <a:rPr sz="2400" spc="275" dirty="0">
                <a:solidFill>
                  <a:srgbClr val="C00000"/>
                </a:solidFill>
                <a:latin typeface="Calibri"/>
                <a:cs typeface="Calibri"/>
              </a:rPr>
              <a:t> </a:t>
            </a:r>
            <a:r>
              <a:rPr sz="2400" dirty="0">
                <a:solidFill>
                  <a:srgbClr val="C00000"/>
                </a:solidFill>
                <a:latin typeface="Calibri"/>
                <a:cs typeface="Calibri"/>
              </a:rPr>
              <a:t>less</a:t>
            </a:r>
            <a:r>
              <a:rPr sz="2400" spc="270" dirty="0">
                <a:solidFill>
                  <a:srgbClr val="C00000"/>
                </a:solidFill>
                <a:latin typeface="Calibri"/>
                <a:cs typeface="Calibri"/>
              </a:rPr>
              <a:t> </a:t>
            </a:r>
            <a:r>
              <a:rPr sz="2400" dirty="0">
                <a:solidFill>
                  <a:srgbClr val="C00000"/>
                </a:solidFill>
                <a:latin typeface="Calibri"/>
                <a:cs typeface="Calibri"/>
              </a:rPr>
              <a:t>formal</a:t>
            </a:r>
            <a:r>
              <a:rPr sz="2400" spc="275" dirty="0">
                <a:solidFill>
                  <a:srgbClr val="C00000"/>
                </a:solidFill>
                <a:latin typeface="Calibri"/>
                <a:cs typeface="Calibri"/>
              </a:rPr>
              <a:t> </a:t>
            </a:r>
            <a:r>
              <a:rPr sz="2400" dirty="0">
                <a:solidFill>
                  <a:srgbClr val="C00000"/>
                </a:solidFill>
                <a:latin typeface="Calibri"/>
                <a:cs typeface="Calibri"/>
              </a:rPr>
              <a:t>arrangement</a:t>
            </a:r>
            <a:r>
              <a:rPr sz="2400" spc="270" dirty="0">
                <a:solidFill>
                  <a:srgbClr val="C00000"/>
                </a:solidFill>
                <a:latin typeface="Calibri"/>
                <a:cs typeface="Calibri"/>
              </a:rPr>
              <a:t> </a:t>
            </a:r>
            <a:r>
              <a:rPr sz="2400" spc="-25" dirty="0">
                <a:solidFill>
                  <a:srgbClr val="C00000"/>
                </a:solidFill>
                <a:latin typeface="Calibri"/>
                <a:cs typeface="Calibri"/>
              </a:rPr>
              <a:t>is 	</a:t>
            </a:r>
            <a:r>
              <a:rPr sz="2400" dirty="0">
                <a:solidFill>
                  <a:srgbClr val="C00000"/>
                </a:solidFill>
                <a:latin typeface="Calibri"/>
                <a:cs typeface="Calibri"/>
              </a:rPr>
              <a:t>probably</a:t>
            </a:r>
            <a:r>
              <a:rPr sz="2400" spc="365" dirty="0">
                <a:solidFill>
                  <a:srgbClr val="C00000"/>
                </a:solidFill>
                <a:latin typeface="Calibri"/>
                <a:cs typeface="Calibri"/>
              </a:rPr>
              <a:t> </a:t>
            </a:r>
            <a:r>
              <a:rPr sz="2400" dirty="0">
                <a:solidFill>
                  <a:srgbClr val="C00000"/>
                </a:solidFill>
                <a:latin typeface="Calibri"/>
                <a:cs typeface="Calibri"/>
              </a:rPr>
              <a:t>all</a:t>
            </a:r>
            <a:r>
              <a:rPr sz="2400" spc="375" dirty="0">
                <a:solidFill>
                  <a:srgbClr val="C00000"/>
                </a:solidFill>
                <a:latin typeface="Calibri"/>
                <a:cs typeface="Calibri"/>
              </a:rPr>
              <a:t> </a:t>
            </a:r>
            <a:r>
              <a:rPr sz="2400" dirty="0">
                <a:solidFill>
                  <a:srgbClr val="C00000"/>
                </a:solidFill>
                <a:latin typeface="Calibri"/>
                <a:cs typeface="Calibri"/>
              </a:rPr>
              <a:t>that</a:t>
            </a:r>
            <a:r>
              <a:rPr sz="2400" spc="370" dirty="0">
                <a:solidFill>
                  <a:srgbClr val="C00000"/>
                </a:solidFill>
                <a:latin typeface="Calibri"/>
                <a:cs typeface="Calibri"/>
              </a:rPr>
              <a:t> </a:t>
            </a:r>
            <a:r>
              <a:rPr sz="2400" dirty="0">
                <a:solidFill>
                  <a:srgbClr val="C00000"/>
                </a:solidFill>
                <a:latin typeface="Calibri"/>
                <a:cs typeface="Calibri"/>
              </a:rPr>
              <a:t>is</a:t>
            </a:r>
            <a:r>
              <a:rPr sz="2400" spc="370" dirty="0">
                <a:solidFill>
                  <a:srgbClr val="C00000"/>
                </a:solidFill>
                <a:latin typeface="Calibri"/>
                <a:cs typeface="Calibri"/>
              </a:rPr>
              <a:t> </a:t>
            </a:r>
            <a:r>
              <a:rPr sz="2400" dirty="0">
                <a:solidFill>
                  <a:srgbClr val="C00000"/>
                </a:solidFill>
                <a:latin typeface="Calibri"/>
                <a:cs typeface="Calibri"/>
              </a:rPr>
              <a:t>required.</a:t>
            </a:r>
            <a:r>
              <a:rPr sz="2400" spc="365" dirty="0">
                <a:solidFill>
                  <a:srgbClr val="C00000"/>
                </a:solidFill>
                <a:latin typeface="Calibri"/>
                <a:cs typeface="Calibri"/>
              </a:rPr>
              <a:t> </a:t>
            </a:r>
            <a:r>
              <a:rPr sz="2400" dirty="0">
                <a:solidFill>
                  <a:srgbClr val="C00000"/>
                </a:solidFill>
                <a:latin typeface="Calibri"/>
                <a:cs typeface="Calibri"/>
              </a:rPr>
              <a:t>Dedicated</a:t>
            </a:r>
            <a:r>
              <a:rPr sz="2400" spc="375" dirty="0">
                <a:solidFill>
                  <a:srgbClr val="C00000"/>
                </a:solidFill>
                <a:latin typeface="Calibri"/>
                <a:cs typeface="Calibri"/>
              </a:rPr>
              <a:t> </a:t>
            </a:r>
            <a:r>
              <a:rPr sz="2400" dirty="0">
                <a:solidFill>
                  <a:srgbClr val="C00000"/>
                </a:solidFill>
                <a:latin typeface="Calibri"/>
                <a:cs typeface="Calibri"/>
              </a:rPr>
              <a:t>teams</a:t>
            </a:r>
            <a:r>
              <a:rPr sz="2400" spc="370" dirty="0">
                <a:solidFill>
                  <a:srgbClr val="C00000"/>
                </a:solidFill>
                <a:latin typeface="Calibri"/>
                <a:cs typeface="Calibri"/>
              </a:rPr>
              <a:t> </a:t>
            </a:r>
            <a:r>
              <a:rPr sz="2400" dirty="0">
                <a:solidFill>
                  <a:srgbClr val="C00000"/>
                </a:solidFill>
                <a:latin typeface="Calibri"/>
                <a:cs typeface="Calibri"/>
              </a:rPr>
              <a:t>could</a:t>
            </a:r>
            <a:r>
              <a:rPr sz="2400" spc="370" dirty="0">
                <a:solidFill>
                  <a:srgbClr val="C00000"/>
                </a:solidFill>
                <a:latin typeface="Calibri"/>
                <a:cs typeface="Calibri"/>
              </a:rPr>
              <a:t> </a:t>
            </a:r>
            <a:r>
              <a:rPr sz="2400" dirty="0">
                <a:solidFill>
                  <a:srgbClr val="C00000"/>
                </a:solidFill>
                <a:latin typeface="Calibri"/>
                <a:cs typeface="Calibri"/>
              </a:rPr>
              <a:t>be</a:t>
            </a:r>
            <a:r>
              <a:rPr sz="2400" spc="370" dirty="0">
                <a:solidFill>
                  <a:srgbClr val="C00000"/>
                </a:solidFill>
                <a:latin typeface="Calibri"/>
                <a:cs typeface="Calibri"/>
              </a:rPr>
              <a:t> </a:t>
            </a:r>
            <a:r>
              <a:rPr sz="2400" dirty="0">
                <a:solidFill>
                  <a:srgbClr val="C00000"/>
                </a:solidFill>
                <a:latin typeface="Calibri"/>
                <a:cs typeface="Calibri"/>
              </a:rPr>
              <a:t>created</a:t>
            </a:r>
            <a:r>
              <a:rPr sz="2400" spc="370" dirty="0">
                <a:solidFill>
                  <a:srgbClr val="C00000"/>
                </a:solidFill>
                <a:latin typeface="Calibri"/>
                <a:cs typeface="Calibri"/>
              </a:rPr>
              <a:t> </a:t>
            </a:r>
            <a:r>
              <a:rPr sz="2400" dirty="0">
                <a:solidFill>
                  <a:srgbClr val="C00000"/>
                </a:solidFill>
                <a:latin typeface="Calibri"/>
                <a:cs typeface="Calibri"/>
              </a:rPr>
              <a:t>on</a:t>
            </a:r>
            <a:r>
              <a:rPr sz="2400" spc="375" dirty="0">
                <a:solidFill>
                  <a:srgbClr val="C00000"/>
                </a:solidFill>
                <a:latin typeface="Calibri"/>
                <a:cs typeface="Calibri"/>
              </a:rPr>
              <a:t> </a:t>
            </a:r>
            <a:r>
              <a:rPr sz="2400" dirty="0">
                <a:solidFill>
                  <a:srgbClr val="C00000"/>
                </a:solidFill>
                <a:latin typeface="Calibri"/>
                <a:cs typeface="Calibri"/>
              </a:rPr>
              <a:t>an</a:t>
            </a:r>
            <a:r>
              <a:rPr sz="2400" spc="375" dirty="0">
                <a:solidFill>
                  <a:srgbClr val="C00000"/>
                </a:solidFill>
                <a:latin typeface="Calibri"/>
                <a:cs typeface="Calibri"/>
              </a:rPr>
              <a:t> </a:t>
            </a:r>
            <a:r>
              <a:rPr sz="2400" spc="-25" dirty="0">
                <a:solidFill>
                  <a:srgbClr val="C00000"/>
                </a:solidFill>
                <a:latin typeface="Calibri"/>
                <a:cs typeface="Calibri"/>
              </a:rPr>
              <a:t>as- 	</a:t>
            </a:r>
            <a:r>
              <a:rPr sz="2400" dirty="0">
                <a:solidFill>
                  <a:srgbClr val="C00000"/>
                </a:solidFill>
                <a:latin typeface="Calibri"/>
                <a:cs typeface="Calibri"/>
              </a:rPr>
              <a:t>needed</a:t>
            </a:r>
            <a:r>
              <a:rPr sz="2400" spc="-75" dirty="0">
                <a:solidFill>
                  <a:srgbClr val="C00000"/>
                </a:solidFill>
                <a:latin typeface="Calibri"/>
                <a:cs typeface="Calibri"/>
              </a:rPr>
              <a:t> </a:t>
            </a:r>
            <a:r>
              <a:rPr sz="2400" dirty="0">
                <a:solidFill>
                  <a:srgbClr val="C00000"/>
                </a:solidFill>
                <a:latin typeface="Calibri"/>
                <a:cs typeface="Calibri"/>
              </a:rPr>
              <a:t>basis</a:t>
            </a:r>
            <a:r>
              <a:rPr sz="2400" spc="-70" dirty="0">
                <a:solidFill>
                  <a:srgbClr val="C00000"/>
                </a:solidFill>
                <a:latin typeface="Calibri"/>
                <a:cs typeface="Calibri"/>
              </a:rPr>
              <a:t> </a:t>
            </a:r>
            <a:r>
              <a:rPr sz="2400" dirty="0">
                <a:solidFill>
                  <a:srgbClr val="C00000"/>
                </a:solidFill>
                <a:latin typeface="Calibri"/>
                <a:cs typeface="Calibri"/>
              </a:rPr>
              <a:t>and</a:t>
            </a:r>
            <a:r>
              <a:rPr sz="2400" spc="-65" dirty="0">
                <a:solidFill>
                  <a:srgbClr val="C00000"/>
                </a:solidFill>
                <a:latin typeface="Calibri"/>
                <a:cs typeface="Calibri"/>
              </a:rPr>
              <a:t> </a:t>
            </a:r>
            <a:r>
              <a:rPr sz="2400" dirty="0">
                <a:solidFill>
                  <a:srgbClr val="C00000"/>
                </a:solidFill>
                <a:latin typeface="Calibri"/>
                <a:cs typeface="Calibri"/>
              </a:rPr>
              <a:t>the</a:t>
            </a:r>
            <a:r>
              <a:rPr sz="2400" spc="-60" dirty="0">
                <a:solidFill>
                  <a:srgbClr val="C00000"/>
                </a:solidFill>
                <a:latin typeface="Calibri"/>
                <a:cs typeface="Calibri"/>
              </a:rPr>
              <a:t> </a:t>
            </a:r>
            <a:r>
              <a:rPr sz="2400" spc="-10" dirty="0">
                <a:solidFill>
                  <a:srgbClr val="C00000"/>
                </a:solidFill>
                <a:latin typeface="Calibri"/>
                <a:cs typeface="Calibri"/>
              </a:rPr>
              <a:t>organization</a:t>
            </a:r>
            <a:r>
              <a:rPr sz="2400" spc="-65" dirty="0">
                <a:solidFill>
                  <a:srgbClr val="C00000"/>
                </a:solidFill>
                <a:latin typeface="Calibri"/>
                <a:cs typeface="Calibri"/>
              </a:rPr>
              <a:t> </a:t>
            </a:r>
            <a:r>
              <a:rPr sz="2400" dirty="0">
                <a:solidFill>
                  <a:srgbClr val="C00000"/>
                </a:solidFill>
                <a:latin typeface="Calibri"/>
                <a:cs typeface="Calibri"/>
              </a:rPr>
              <a:t>could</a:t>
            </a:r>
            <a:r>
              <a:rPr sz="2400" spc="-70" dirty="0">
                <a:solidFill>
                  <a:srgbClr val="C00000"/>
                </a:solidFill>
                <a:latin typeface="Calibri"/>
                <a:cs typeface="Calibri"/>
              </a:rPr>
              <a:t> </a:t>
            </a:r>
            <a:r>
              <a:rPr sz="2400" dirty="0">
                <a:solidFill>
                  <a:srgbClr val="C00000"/>
                </a:solidFill>
                <a:latin typeface="Calibri"/>
                <a:cs typeface="Calibri"/>
              </a:rPr>
              <a:t>outsource</a:t>
            </a:r>
            <a:r>
              <a:rPr sz="2400" spc="-65" dirty="0">
                <a:solidFill>
                  <a:srgbClr val="C00000"/>
                </a:solidFill>
                <a:latin typeface="Calibri"/>
                <a:cs typeface="Calibri"/>
              </a:rPr>
              <a:t> </a:t>
            </a:r>
            <a:r>
              <a:rPr sz="2400" dirty="0">
                <a:solidFill>
                  <a:srgbClr val="C00000"/>
                </a:solidFill>
                <a:latin typeface="Calibri"/>
                <a:cs typeface="Calibri"/>
              </a:rPr>
              <a:t>project</a:t>
            </a:r>
            <a:r>
              <a:rPr sz="2400" spc="-75" dirty="0">
                <a:solidFill>
                  <a:srgbClr val="C00000"/>
                </a:solidFill>
                <a:latin typeface="Calibri"/>
                <a:cs typeface="Calibri"/>
              </a:rPr>
              <a:t> </a:t>
            </a:r>
            <a:r>
              <a:rPr sz="2400" spc="-10" dirty="0">
                <a:solidFill>
                  <a:srgbClr val="C00000"/>
                </a:solidFill>
                <a:latin typeface="Calibri"/>
                <a:cs typeface="Calibri"/>
              </a:rPr>
              <a:t>work.</a:t>
            </a:r>
            <a:endParaRPr sz="2400">
              <a:latin typeface="Calibri"/>
              <a:cs typeface="Calibri"/>
            </a:endParaRPr>
          </a:p>
        </p:txBody>
      </p:sp>
      <p:pic>
        <p:nvPicPr>
          <p:cNvPr id="5" name="Picture 4">
            <a:extLst>
              <a:ext uri="{FF2B5EF4-FFF2-40B4-BE49-F238E27FC236}">
                <a16:creationId xmlns:a16="http://schemas.microsoft.com/office/drawing/2014/main" id="{DD9E11DC-7385-653F-6AAD-D00BADEA381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91800" y="1"/>
            <a:ext cx="1609950" cy="8944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455896" rIns="0" bIns="0" rtlCol="0">
            <a:spAutoFit/>
          </a:bodyPr>
          <a:lstStyle/>
          <a:p>
            <a:pPr marL="527050" marR="5080" indent="-514350" algn="just">
              <a:lnSpc>
                <a:spcPct val="90200"/>
              </a:lnSpc>
              <a:spcBef>
                <a:spcPts val="430"/>
              </a:spcBef>
              <a:buAutoNum type="arabicPeriod" startAt="2"/>
              <a:tabLst>
                <a:tab pos="527050" algn="l"/>
              </a:tabLst>
            </a:pPr>
            <a:r>
              <a:rPr dirty="0"/>
              <a:t>A</a:t>
            </a:r>
            <a:r>
              <a:rPr spc="385" dirty="0"/>
              <a:t> </a:t>
            </a:r>
            <a:r>
              <a:rPr dirty="0"/>
              <a:t>second</a:t>
            </a:r>
            <a:r>
              <a:rPr spc="385" dirty="0"/>
              <a:t> </a:t>
            </a:r>
            <a:r>
              <a:rPr dirty="0"/>
              <a:t>key</a:t>
            </a:r>
            <a:r>
              <a:rPr spc="375" dirty="0"/>
              <a:t> </a:t>
            </a:r>
            <a:r>
              <a:rPr dirty="0"/>
              <a:t>question</a:t>
            </a:r>
            <a:r>
              <a:rPr spc="385" dirty="0"/>
              <a:t> </a:t>
            </a:r>
            <a:r>
              <a:rPr dirty="0"/>
              <a:t>is</a:t>
            </a:r>
            <a:r>
              <a:rPr spc="385" dirty="0"/>
              <a:t> </a:t>
            </a:r>
            <a:r>
              <a:rPr dirty="0"/>
              <a:t>resource</a:t>
            </a:r>
            <a:r>
              <a:rPr spc="375" dirty="0"/>
              <a:t> </a:t>
            </a:r>
            <a:r>
              <a:rPr dirty="0"/>
              <a:t>availability.</a:t>
            </a:r>
            <a:r>
              <a:rPr spc="390" dirty="0"/>
              <a:t> </a:t>
            </a:r>
            <a:r>
              <a:rPr dirty="0"/>
              <a:t>Remember,</a:t>
            </a:r>
            <a:r>
              <a:rPr spc="385" dirty="0"/>
              <a:t> </a:t>
            </a:r>
            <a:r>
              <a:rPr spc="-10" dirty="0"/>
              <a:t>matrix </a:t>
            </a:r>
            <a:r>
              <a:rPr dirty="0"/>
              <a:t>evolved</a:t>
            </a:r>
            <a:r>
              <a:rPr spc="620" dirty="0"/>
              <a:t> </a:t>
            </a:r>
            <a:r>
              <a:rPr dirty="0"/>
              <a:t>out</a:t>
            </a:r>
            <a:r>
              <a:rPr spc="615" dirty="0"/>
              <a:t> </a:t>
            </a:r>
            <a:r>
              <a:rPr dirty="0"/>
              <a:t>of</a:t>
            </a:r>
            <a:r>
              <a:rPr spc="610" dirty="0"/>
              <a:t> </a:t>
            </a:r>
            <a:r>
              <a:rPr dirty="0"/>
              <a:t>the</a:t>
            </a:r>
            <a:r>
              <a:rPr spc="615" dirty="0"/>
              <a:t> </a:t>
            </a:r>
            <a:r>
              <a:rPr dirty="0"/>
              <a:t>necessity</a:t>
            </a:r>
            <a:r>
              <a:rPr spc="610" dirty="0"/>
              <a:t> </a:t>
            </a:r>
            <a:r>
              <a:rPr dirty="0"/>
              <a:t>to</a:t>
            </a:r>
            <a:r>
              <a:rPr spc="615" dirty="0"/>
              <a:t> </a:t>
            </a:r>
            <a:r>
              <a:rPr dirty="0"/>
              <a:t>share</a:t>
            </a:r>
            <a:r>
              <a:rPr spc="610" dirty="0"/>
              <a:t> </a:t>
            </a:r>
            <a:r>
              <a:rPr dirty="0"/>
              <a:t>resources</a:t>
            </a:r>
            <a:r>
              <a:rPr spc="620" dirty="0"/>
              <a:t> </a:t>
            </a:r>
            <a:r>
              <a:rPr dirty="0"/>
              <a:t>across</a:t>
            </a:r>
            <a:r>
              <a:rPr spc="625" dirty="0"/>
              <a:t> </a:t>
            </a:r>
            <a:r>
              <a:rPr spc="-10" dirty="0"/>
              <a:t>multiple </a:t>
            </a:r>
            <a:r>
              <a:rPr dirty="0"/>
              <a:t>projects</a:t>
            </a:r>
            <a:r>
              <a:rPr spc="425" dirty="0"/>
              <a:t> </a:t>
            </a:r>
            <a:r>
              <a:rPr dirty="0"/>
              <a:t>and</a:t>
            </a:r>
            <a:r>
              <a:rPr spc="430" dirty="0"/>
              <a:t> </a:t>
            </a:r>
            <a:r>
              <a:rPr dirty="0"/>
              <a:t>functional</a:t>
            </a:r>
            <a:r>
              <a:rPr spc="425" dirty="0"/>
              <a:t> </a:t>
            </a:r>
            <a:r>
              <a:rPr dirty="0"/>
              <a:t>domains</a:t>
            </a:r>
            <a:r>
              <a:rPr spc="425" dirty="0"/>
              <a:t> </a:t>
            </a:r>
            <a:r>
              <a:rPr dirty="0"/>
              <a:t>while</a:t>
            </a:r>
            <a:r>
              <a:rPr spc="425" dirty="0"/>
              <a:t> </a:t>
            </a:r>
            <a:r>
              <a:rPr dirty="0"/>
              <a:t>at</a:t>
            </a:r>
            <a:r>
              <a:rPr spc="425" dirty="0"/>
              <a:t> </a:t>
            </a:r>
            <a:r>
              <a:rPr dirty="0"/>
              <a:t>the</a:t>
            </a:r>
            <a:r>
              <a:rPr spc="420" dirty="0"/>
              <a:t> </a:t>
            </a:r>
            <a:r>
              <a:rPr dirty="0"/>
              <a:t>same</a:t>
            </a:r>
            <a:r>
              <a:rPr spc="415" dirty="0"/>
              <a:t> </a:t>
            </a:r>
            <a:r>
              <a:rPr dirty="0"/>
              <a:t>time</a:t>
            </a:r>
            <a:r>
              <a:rPr spc="420" dirty="0"/>
              <a:t> </a:t>
            </a:r>
            <a:r>
              <a:rPr spc="-10" dirty="0"/>
              <a:t>creating </a:t>
            </a:r>
            <a:r>
              <a:rPr dirty="0"/>
              <a:t>legitimate</a:t>
            </a:r>
            <a:r>
              <a:rPr spc="-110" dirty="0"/>
              <a:t> </a:t>
            </a:r>
            <a:r>
              <a:rPr dirty="0"/>
              <a:t>project</a:t>
            </a:r>
            <a:r>
              <a:rPr spc="-100" dirty="0"/>
              <a:t> </a:t>
            </a:r>
            <a:r>
              <a:rPr spc="-10" dirty="0"/>
              <a:t>leadership.</a:t>
            </a:r>
          </a:p>
          <a:p>
            <a:pPr>
              <a:lnSpc>
                <a:spcPct val="100000"/>
              </a:lnSpc>
              <a:spcBef>
                <a:spcPts val="1100"/>
              </a:spcBef>
              <a:buFont typeface="Calibri"/>
              <a:buAutoNum type="arabicPeriod" startAt="2"/>
            </a:pPr>
            <a:endParaRPr spc="-10" dirty="0"/>
          </a:p>
          <a:p>
            <a:pPr marL="697230" marR="5715" lvl="1" indent="-227329" algn="just">
              <a:lnSpc>
                <a:spcPct val="90300"/>
              </a:lnSpc>
              <a:buFont typeface="Arial MT"/>
              <a:buChar char="•"/>
              <a:tabLst>
                <a:tab pos="698500" algn="l"/>
              </a:tabLst>
            </a:pPr>
            <a:r>
              <a:rPr sz="2400" dirty="0">
                <a:solidFill>
                  <a:srgbClr val="C00000"/>
                </a:solidFill>
                <a:latin typeface="Calibri"/>
                <a:cs typeface="Calibri"/>
              </a:rPr>
              <a:t>For</a:t>
            </a:r>
            <a:r>
              <a:rPr sz="2400" spc="100" dirty="0">
                <a:solidFill>
                  <a:srgbClr val="C00000"/>
                </a:solidFill>
                <a:latin typeface="Calibri"/>
                <a:cs typeface="Calibri"/>
              </a:rPr>
              <a:t> </a:t>
            </a:r>
            <a:r>
              <a:rPr sz="2400" dirty="0">
                <a:solidFill>
                  <a:srgbClr val="C00000"/>
                </a:solidFill>
                <a:latin typeface="Calibri"/>
                <a:cs typeface="Calibri"/>
              </a:rPr>
              <a:t>organizations</a:t>
            </a:r>
            <a:r>
              <a:rPr sz="2400" spc="100" dirty="0">
                <a:solidFill>
                  <a:srgbClr val="C00000"/>
                </a:solidFill>
                <a:latin typeface="Calibri"/>
                <a:cs typeface="Calibri"/>
              </a:rPr>
              <a:t> </a:t>
            </a:r>
            <a:r>
              <a:rPr sz="2400" dirty="0">
                <a:solidFill>
                  <a:srgbClr val="C00000"/>
                </a:solidFill>
                <a:latin typeface="Calibri"/>
                <a:cs typeface="Calibri"/>
              </a:rPr>
              <a:t>that</a:t>
            </a:r>
            <a:r>
              <a:rPr sz="2400" spc="100" dirty="0">
                <a:solidFill>
                  <a:srgbClr val="C00000"/>
                </a:solidFill>
                <a:latin typeface="Calibri"/>
                <a:cs typeface="Calibri"/>
              </a:rPr>
              <a:t> </a:t>
            </a:r>
            <a:r>
              <a:rPr sz="2400" dirty="0">
                <a:solidFill>
                  <a:srgbClr val="C00000"/>
                </a:solidFill>
                <a:latin typeface="Calibri"/>
                <a:cs typeface="Calibri"/>
              </a:rPr>
              <a:t>cannot</a:t>
            </a:r>
            <a:r>
              <a:rPr sz="2400" spc="100" dirty="0">
                <a:solidFill>
                  <a:srgbClr val="C00000"/>
                </a:solidFill>
                <a:latin typeface="Calibri"/>
                <a:cs typeface="Calibri"/>
              </a:rPr>
              <a:t> </a:t>
            </a:r>
            <a:r>
              <a:rPr sz="2400" dirty="0">
                <a:solidFill>
                  <a:srgbClr val="C00000"/>
                </a:solidFill>
                <a:latin typeface="Calibri"/>
                <a:cs typeface="Calibri"/>
              </a:rPr>
              <a:t>afford</a:t>
            </a:r>
            <a:r>
              <a:rPr sz="2400" spc="105" dirty="0">
                <a:solidFill>
                  <a:srgbClr val="C00000"/>
                </a:solidFill>
                <a:latin typeface="Calibri"/>
                <a:cs typeface="Calibri"/>
              </a:rPr>
              <a:t> </a:t>
            </a:r>
            <a:r>
              <a:rPr sz="2400" dirty="0">
                <a:solidFill>
                  <a:srgbClr val="C00000"/>
                </a:solidFill>
                <a:latin typeface="Calibri"/>
                <a:cs typeface="Calibri"/>
              </a:rPr>
              <a:t>to</a:t>
            </a:r>
            <a:r>
              <a:rPr sz="2400" spc="100" dirty="0">
                <a:solidFill>
                  <a:srgbClr val="C00000"/>
                </a:solidFill>
                <a:latin typeface="Calibri"/>
                <a:cs typeface="Calibri"/>
              </a:rPr>
              <a:t> </a:t>
            </a:r>
            <a:r>
              <a:rPr sz="2400" dirty="0">
                <a:solidFill>
                  <a:srgbClr val="C00000"/>
                </a:solidFill>
                <a:latin typeface="Calibri"/>
                <a:cs typeface="Calibri"/>
              </a:rPr>
              <a:t>tie</a:t>
            </a:r>
            <a:r>
              <a:rPr sz="2400" spc="114" dirty="0">
                <a:solidFill>
                  <a:srgbClr val="C00000"/>
                </a:solidFill>
                <a:latin typeface="Calibri"/>
                <a:cs typeface="Calibri"/>
              </a:rPr>
              <a:t> </a:t>
            </a:r>
            <a:r>
              <a:rPr sz="2400" dirty="0">
                <a:solidFill>
                  <a:srgbClr val="C00000"/>
                </a:solidFill>
                <a:latin typeface="Calibri"/>
                <a:cs typeface="Calibri"/>
              </a:rPr>
              <a:t>up</a:t>
            </a:r>
            <a:r>
              <a:rPr sz="2400" spc="105" dirty="0">
                <a:solidFill>
                  <a:srgbClr val="C00000"/>
                </a:solidFill>
                <a:latin typeface="Calibri"/>
                <a:cs typeface="Calibri"/>
              </a:rPr>
              <a:t> </a:t>
            </a:r>
            <a:r>
              <a:rPr sz="2400" dirty="0">
                <a:solidFill>
                  <a:srgbClr val="C00000"/>
                </a:solidFill>
                <a:latin typeface="Calibri"/>
                <a:cs typeface="Calibri"/>
              </a:rPr>
              <a:t>critical</a:t>
            </a:r>
            <a:r>
              <a:rPr sz="2400" spc="105" dirty="0">
                <a:solidFill>
                  <a:srgbClr val="C00000"/>
                </a:solidFill>
                <a:latin typeface="Calibri"/>
                <a:cs typeface="Calibri"/>
              </a:rPr>
              <a:t> </a:t>
            </a:r>
            <a:r>
              <a:rPr sz="2400" dirty="0">
                <a:solidFill>
                  <a:srgbClr val="C00000"/>
                </a:solidFill>
                <a:latin typeface="Calibri"/>
                <a:cs typeface="Calibri"/>
              </a:rPr>
              <a:t>personnel</a:t>
            </a:r>
            <a:r>
              <a:rPr sz="2400" spc="100" dirty="0">
                <a:solidFill>
                  <a:srgbClr val="C00000"/>
                </a:solidFill>
                <a:latin typeface="Calibri"/>
                <a:cs typeface="Calibri"/>
              </a:rPr>
              <a:t> </a:t>
            </a:r>
            <a:r>
              <a:rPr sz="2400" dirty="0">
                <a:solidFill>
                  <a:srgbClr val="C00000"/>
                </a:solidFill>
                <a:latin typeface="Calibri"/>
                <a:cs typeface="Calibri"/>
              </a:rPr>
              <a:t>on</a:t>
            </a:r>
            <a:r>
              <a:rPr sz="2400" spc="105" dirty="0">
                <a:solidFill>
                  <a:srgbClr val="C00000"/>
                </a:solidFill>
                <a:latin typeface="Calibri"/>
                <a:cs typeface="Calibri"/>
              </a:rPr>
              <a:t> </a:t>
            </a:r>
            <a:r>
              <a:rPr sz="2400" spc="-10" dirty="0">
                <a:solidFill>
                  <a:srgbClr val="C00000"/>
                </a:solidFill>
                <a:latin typeface="Calibri"/>
                <a:cs typeface="Calibri"/>
              </a:rPr>
              <a:t>individual 	</a:t>
            </a:r>
            <a:r>
              <a:rPr sz="2400" dirty="0">
                <a:solidFill>
                  <a:srgbClr val="C00000"/>
                </a:solidFill>
                <a:latin typeface="Calibri"/>
                <a:cs typeface="Calibri"/>
              </a:rPr>
              <a:t>projects,</a:t>
            </a:r>
            <a:r>
              <a:rPr sz="2400" spc="434" dirty="0">
                <a:solidFill>
                  <a:srgbClr val="C00000"/>
                </a:solidFill>
                <a:latin typeface="Calibri"/>
                <a:cs typeface="Calibri"/>
              </a:rPr>
              <a:t> </a:t>
            </a:r>
            <a:r>
              <a:rPr sz="2400" dirty="0">
                <a:solidFill>
                  <a:srgbClr val="C00000"/>
                </a:solidFill>
                <a:latin typeface="Calibri"/>
                <a:cs typeface="Calibri"/>
              </a:rPr>
              <a:t>a</a:t>
            </a:r>
            <a:r>
              <a:rPr sz="2400" spc="445" dirty="0">
                <a:solidFill>
                  <a:srgbClr val="C00000"/>
                </a:solidFill>
                <a:latin typeface="Calibri"/>
                <a:cs typeface="Calibri"/>
              </a:rPr>
              <a:t> </a:t>
            </a:r>
            <a:r>
              <a:rPr sz="2400" dirty="0">
                <a:solidFill>
                  <a:srgbClr val="C00000"/>
                </a:solidFill>
                <a:latin typeface="Calibri"/>
                <a:cs typeface="Calibri"/>
              </a:rPr>
              <a:t>matrix</a:t>
            </a:r>
            <a:r>
              <a:rPr sz="2400" spc="445" dirty="0">
                <a:solidFill>
                  <a:srgbClr val="C00000"/>
                </a:solidFill>
                <a:latin typeface="Calibri"/>
                <a:cs typeface="Calibri"/>
              </a:rPr>
              <a:t> </a:t>
            </a:r>
            <a:r>
              <a:rPr sz="2400" dirty="0">
                <a:solidFill>
                  <a:srgbClr val="C00000"/>
                </a:solidFill>
                <a:latin typeface="Calibri"/>
                <a:cs typeface="Calibri"/>
              </a:rPr>
              <a:t>system</a:t>
            </a:r>
            <a:r>
              <a:rPr sz="2400" spc="440" dirty="0">
                <a:solidFill>
                  <a:srgbClr val="C00000"/>
                </a:solidFill>
                <a:latin typeface="Calibri"/>
                <a:cs typeface="Calibri"/>
              </a:rPr>
              <a:t> </a:t>
            </a:r>
            <a:r>
              <a:rPr sz="2400" dirty="0">
                <a:solidFill>
                  <a:srgbClr val="C00000"/>
                </a:solidFill>
                <a:latin typeface="Calibri"/>
                <a:cs typeface="Calibri"/>
              </a:rPr>
              <a:t>would</a:t>
            </a:r>
            <a:r>
              <a:rPr sz="2400" spc="445" dirty="0">
                <a:solidFill>
                  <a:srgbClr val="C00000"/>
                </a:solidFill>
                <a:latin typeface="Calibri"/>
                <a:cs typeface="Calibri"/>
              </a:rPr>
              <a:t> </a:t>
            </a:r>
            <a:r>
              <a:rPr sz="2400" dirty="0">
                <a:solidFill>
                  <a:srgbClr val="C00000"/>
                </a:solidFill>
                <a:latin typeface="Calibri"/>
                <a:cs typeface="Calibri"/>
              </a:rPr>
              <a:t>appear</a:t>
            </a:r>
            <a:r>
              <a:rPr sz="2400" spc="445" dirty="0">
                <a:solidFill>
                  <a:srgbClr val="C00000"/>
                </a:solidFill>
                <a:latin typeface="Calibri"/>
                <a:cs typeface="Calibri"/>
              </a:rPr>
              <a:t> </a:t>
            </a:r>
            <a:r>
              <a:rPr sz="2400" dirty="0">
                <a:solidFill>
                  <a:srgbClr val="C00000"/>
                </a:solidFill>
                <a:latin typeface="Calibri"/>
                <a:cs typeface="Calibri"/>
              </a:rPr>
              <a:t>to</a:t>
            </a:r>
            <a:r>
              <a:rPr sz="2400" spc="445" dirty="0">
                <a:solidFill>
                  <a:srgbClr val="C00000"/>
                </a:solidFill>
                <a:latin typeface="Calibri"/>
                <a:cs typeface="Calibri"/>
              </a:rPr>
              <a:t> </a:t>
            </a:r>
            <a:r>
              <a:rPr sz="2400" dirty="0">
                <a:solidFill>
                  <a:srgbClr val="C00000"/>
                </a:solidFill>
                <a:latin typeface="Calibri"/>
                <a:cs typeface="Calibri"/>
              </a:rPr>
              <a:t>be</a:t>
            </a:r>
            <a:r>
              <a:rPr sz="2400" spc="450" dirty="0">
                <a:solidFill>
                  <a:srgbClr val="C00000"/>
                </a:solidFill>
                <a:latin typeface="Calibri"/>
                <a:cs typeface="Calibri"/>
              </a:rPr>
              <a:t> </a:t>
            </a:r>
            <a:r>
              <a:rPr sz="2400" dirty="0">
                <a:solidFill>
                  <a:srgbClr val="C00000"/>
                </a:solidFill>
                <a:latin typeface="Calibri"/>
                <a:cs typeface="Calibri"/>
              </a:rPr>
              <a:t>appropriate.</a:t>
            </a:r>
            <a:r>
              <a:rPr sz="2400" spc="440" dirty="0">
                <a:solidFill>
                  <a:srgbClr val="C00000"/>
                </a:solidFill>
                <a:latin typeface="Calibri"/>
                <a:cs typeface="Calibri"/>
              </a:rPr>
              <a:t> </a:t>
            </a:r>
            <a:r>
              <a:rPr sz="2400" dirty="0">
                <a:solidFill>
                  <a:srgbClr val="C00000"/>
                </a:solidFill>
                <a:latin typeface="Calibri"/>
                <a:cs typeface="Calibri"/>
              </a:rPr>
              <a:t>An</a:t>
            </a:r>
            <a:r>
              <a:rPr sz="2400" spc="445" dirty="0">
                <a:solidFill>
                  <a:srgbClr val="C00000"/>
                </a:solidFill>
                <a:latin typeface="Calibri"/>
                <a:cs typeface="Calibri"/>
              </a:rPr>
              <a:t> </a:t>
            </a:r>
            <a:r>
              <a:rPr sz="2400" spc="-10" dirty="0">
                <a:solidFill>
                  <a:srgbClr val="C00000"/>
                </a:solidFill>
                <a:latin typeface="Calibri"/>
                <a:cs typeface="Calibri"/>
              </a:rPr>
              <a:t>alternative 	</a:t>
            </a:r>
            <a:r>
              <a:rPr sz="2400" dirty="0">
                <a:solidFill>
                  <a:srgbClr val="C00000"/>
                </a:solidFill>
                <a:latin typeface="Calibri"/>
                <a:cs typeface="Calibri"/>
              </a:rPr>
              <a:t>would</a:t>
            </a:r>
            <a:r>
              <a:rPr sz="2400" spc="580" dirty="0">
                <a:solidFill>
                  <a:srgbClr val="C00000"/>
                </a:solidFill>
                <a:latin typeface="Calibri"/>
                <a:cs typeface="Calibri"/>
              </a:rPr>
              <a:t> </a:t>
            </a:r>
            <a:r>
              <a:rPr sz="2400" dirty="0">
                <a:solidFill>
                  <a:srgbClr val="C00000"/>
                </a:solidFill>
                <a:latin typeface="Calibri"/>
                <a:cs typeface="Calibri"/>
              </a:rPr>
              <a:t>be</a:t>
            </a:r>
            <a:r>
              <a:rPr sz="2400" spc="580" dirty="0">
                <a:solidFill>
                  <a:srgbClr val="C00000"/>
                </a:solidFill>
                <a:latin typeface="Calibri"/>
                <a:cs typeface="Calibri"/>
              </a:rPr>
              <a:t> </a:t>
            </a:r>
            <a:r>
              <a:rPr sz="2400" dirty="0">
                <a:solidFill>
                  <a:srgbClr val="C00000"/>
                </a:solidFill>
                <a:latin typeface="Calibri"/>
                <a:cs typeface="Calibri"/>
              </a:rPr>
              <a:t>to</a:t>
            </a:r>
            <a:r>
              <a:rPr sz="2400" spc="580" dirty="0">
                <a:solidFill>
                  <a:srgbClr val="C00000"/>
                </a:solidFill>
                <a:latin typeface="Calibri"/>
                <a:cs typeface="Calibri"/>
              </a:rPr>
              <a:t> </a:t>
            </a:r>
            <a:r>
              <a:rPr sz="2400" dirty="0">
                <a:solidFill>
                  <a:srgbClr val="C00000"/>
                </a:solidFill>
                <a:latin typeface="Calibri"/>
                <a:cs typeface="Calibri"/>
              </a:rPr>
              <a:t>create</a:t>
            </a:r>
            <a:r>
              <a:rPr sz="2400" spc="580" dirty="0">
                <a:solidFill>
                  <a:srgbClr val="C00000"/>
                </a:solidFill>
                <a:latin typeface="Calibri"/>
                <a:cs typeface="Calibri"/>
              </a:rPr>
              <a:t> </a:t>
            </a:r>
            <a:r>
              <a:rPr sz="2400" dirty="0">
                <a:solidFill>
                  <a:srgbClr val="C00000"/>
                </a:solidFill>
                <a:latin typeface="Calibri"/>
                <a:cs typeface="Calibri"/>
              </a:rPr>
              <a:t>a</a:t>
            </a:r>
            <a:r>
              <a:rPr sz="2400" spc="580" dirty="0">
                <a:solidFill>
                  <a:srgbClr val="C00000"/>
                </a:solidFill>
                <a:latin typeface="Calibri"/>
                <a:cs typeface="Calibri"/>
              </a:rPr>
              <a:t> </a:t>
            </a:r>
            <a:r>
              <a:rPr sz="2400" dirty="0">
                <a:solidFill>
                  <a:srgbClr val="C00000"/>
                </a:solidFill>
                <a:latin typeface="Calibri"/>
                <a:cs typeface="Calibri"/>
              </a:rPr>
              <a:t>dedicated</a:t>
            </a:r>
            <a:r>
              <a:rPr sz="2400" spc="580" dirty="0">
                <a:solidFill>
                  <a:srgbClr val="C00000"/>
                </a:solidFill>
                <a:latin typeface="Calibri"/>
                <a:cs typeface="Calibri"/>
              </a:rPr>
              <a:t> </a:t>
            </a:r>
            <a:r>
              <a:rPr sz="2400" dirty="0">
                <a:solidFill>
                  <a:srgbClr val="C00000"/>
                </a:solidFill>
                <a:latin typeface="Calibri"/>
                <a:cs typeface="Calibri"/>
              </a:rPr>
              <a:t>team</a:t>
            </a:r>
            <a:r>
              <a:rPr sz="2400" spc="575" dirty="0">
                <a:solidFill>
                  <a:srgbClr val="C00000"/>
                </a:solidFill>
                <a:latin typeface="Calibri"/>
                <a:cs typeface="Calibri"/>
              </a:rPr>
              <a:t> </a:t>
            </a:r>
            <a:r>
              <a:rPr sz="2400" dirty="0">
                <a:solidFill>
                  <a:srgbClr val="C00000"/>
                </a:solidFill>
                <a:latin typeface="Calibri"/>
                <a:cs typeface="Calibri"/>
              </a:rPr>
              <a:t>but</a:t>
            </a:r>
            <a:r>
              <a:rPr sz="2400" spc="575" dirty="0">
                <a:solidFill>
                  <a:srgbClr val="C00000"/>
                </a:solidFill>
                <a:latin typeface="Calibri"/>
                <a:cs typeface="Calibri"/>
              </a:rPr>
              <a:t> </a:t>
            </a:r>
            <a:r>
              <a:rPr sz="2400" dirty="0">
                <a:solidFill>
                  <a:srgbClr val="C00000"/>
                </a:solidFill>
                <a:latin typeface="Calibri"/>
                <a:cs typeface="Calibri"/>
              </a:rPr>
              <a:t>outsource</a:t>
            </a:r>
            <a:r>
              <a:rPr sz="2400" spc="580" dirty="0">
                <a:solidFill>
                  <a:srgbClr val="C00000"/>
                </a:solidFill>
                <a:latin typeface="Calibri"/>
                <a:cs typeface="Calibri"/>
              </a:rPr>
              <a:t> </a:t>
            </a:r>
            <a:r>
              <a:rPr sz="2400" dirty="0">
                <a:solidFill>
                  <a:srgbClr val="C00000"/>
                </a:solidFill>
                <a:latin typeface="Calibri"/>
                <a:cs typeface="Calibri"/>
              </a:rPr>
              <a:t>project</a:t>
            </a:r>
            <a:r>
              <a:rPr sz="2400" spc="570" dirty="0">
                <a:solidFill>
                  <a:srgbClr val="C00000"/>
                </a:solidFill>
                <a:latin typeface="Calibri"/>
                <a:cs typeface="Calibri"/>
              </a:rPr>
              <a:t> </a:t>
            </a:r>
            <a:r>
              <a:rPr sz="2400" dirty="0">
                <a:solidFill>
                  <a:srgbClr val="C00000"/>
                </a:solidFill>
                <a:latin typeface="Calibri"/>
                <a:cs typeface="Calibri"/>
              </a:rPr>
              <a:t>work</a:t>
            </a:r>
            <a:r>
              <a:rPr sz="2400" spc="575" dirty="0">
                <a:solidFill>
                  <a:srgbClr val="C00000"/>
                </a:solidFill>
                <a:latin typeface="Calibri"/>
                <a:cs typeface="Calibri"/>
              </a:rPr>
              <a:t> </a:t>
            </a:r>
            <a:r>
              <a:rPr sz="2400" spc="-20" dirty="0">
                <a:solidFill>
                  <a:srgbClr val="C00000"/>
                </a:solidFill>
                <a:latin typeface="Calibri"/>
                <a:cs typeface="Calibri"/>
              </a:rPr>
              <a:t>when 	</a:t>
            </a:r>
            <a:r>
              <a:rPr sz="2400" spc="-10" dirty="0">
                <a:solidFill>
                  <a:srgbClr val="C00000"/>
                </a:solidFill>
                <a:latin typeface="Calibri"/>
                <a:cs typeface="Calibri"/>
              </a:rPr>
              <a:t>resources</a:t>
            </a:r>
            <a:r>
              <a:rPr sz="2400" spc="-50" dirty="0">
                <a:solidFill>
                  <a:srgbClr val="C00000"/>
                </a:solidFill>
                <a:latin typeface="Calibri"/>
                <a:cs typeface="Calibri"/>
              </a:rPr>
              <a:t> </a:t>
            </a:r>
            <a:r>
              <a:rPr sz="2400" dirty="0">
                <a:solidFill>
                  <a:srgbClr val="C00000"/>
                </a:solidFill>
                <a:latin typeface="Calibri"/>
                <a:cs typeface="Calibri"/>
              </a:rPr>
              <a:t>are</a:t>
            </a:r>
            <a:r>
              <a:rPr sz="2400" spc="-50" dirty="0">
                <a:solidFill>
                  <a:srgbClr val="C00000"/>
                </a:solidFill>
                <a:latin typeface="Calibri"/>
                <a:cs typeface="Calibri"/>
              </a:rPr>
              <a:t> </a:t>
            </a:r>
            <a:r>
              <a:rPr sz="2400" dirty="0">
                <a:solidFill>
                  <a:srgbClr val="C00000"/>
                </a:solidFill>
                <a:latin typeface="Calibri"/>
                <a:cs typeface="Calibri"/>
              </a:rPr>
              <a:t>not</a:t>
            </a:r>
            <a:r>
              <a:rPr sz="2400" spc="-45" dirty="0">
                <a:solidFill>
                  <a:srgbClr val="C00000"/>
                </a:solidFill>
                <a:latin typeface="Calibri"/>
                <a:cs typeface="Calibri"/>
              </a:rPr>
              <a:t> </a:t>
            </a:r>
            <a:r>
              <a:rPr sz="2400" spc="-10" dirty="0">
                <a:solidFill>
                  <a:srgbClr val="C00000"/>
                </a:solidFill>
                <a:latin typeface="Calibri"/>
                <a:cs typeface="Calibri"/>
              </a:rPr>
              <a:t>available</a:t>
            </a:r>
            <a:r>
              <a:rPr sz="2400" spc="-50" dirty="0">
                <a:solidFill>
                  <a:srgbClr val="C00000"/>
                </a:solidFill>
                <a:latin typeface="Calibri"/>
                <a:cs typeface="Calibri"/>
              </a:rPr>
              <a:t> </a:t>
            </a:r>
            <a:r>
              <a:rPr sz="2400" spc="-10" dirty="0">
                <a:solidFill>
                  <a:srgbClr val="C00000"/>
                </a:solidFill>
                <a:latin typeface="Calibri"/>
                <a:cs typeface="Calibri"/>
              </a:rPr>
              <a:t>internally</a:t>
            </a:r>
            <a:r>
              <a:rPr sz="2400" spc="-10" dirty="0">
                <a:latin typeface="Calibri"/>
                <a:cs typeface="Calibri"/>
              </a:rPr>
              <a:t>.</a:t>
            </a:r>
            <a:endParaRPr sz="24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57</a:t>
            </a:fld>
            <a:endParaRPr spc="-25" dirty="0"/>
          </a:p>
        </p:txBody>
      </p:sp>
      <p:sp>
        <p:nvSpPr>
          <p:cNvPr id="3" name="object 3"/>
          <p:cNvSpPr txBox="1">
            <a:spLocks noGrp="1"/>
          </p:cNvSpPr>
          <p:nvPr>
            <p:ph type="title"/>
          </p:nvPr>
        </p:nvSpPr>
        <p:spPr>
          <a:xfrm>
            <a:off x="125524" y="708245"/>
            <a:ext cx="12066475" cy="721182"/>
          </a:xfrm>
          <a:prstGeom prst="rect">
            <a:avLst/>
          </a:prstGeom>
        </p:spPr>
        <p:txBody>
          <a:bodyPr vert="horz" wrap="square" lIns="0" tIns="58887" rIns="0" bIns="0" rtlCol="0">
            <a:spAutoFit/>
          </a:bodyPr>
          <a:lstStyle/>
          <a:p>
            <a:pPr marL="12700">
              <a:lnSpc>
                <a:spcPct val="100000"/>
              </a:lnSpc>
              <a:spcBef>
                <a:spcPts val="120"/>
              </a:spcBef>
            </a:pPr>
            <a:r>
              <a:rPr b="1" u="sng" spc="114" dirty="0">
                <a:solidFill>
                  <a:srgbClr val="FF0000"/>
                </a:solidFill>
              </a:rPr>
              <a:t>What is the Right Project Management Structure? </a:t>
            </a:r>
            <a:r>
              <a:rPr sz="1950" spc="-10" dirty="0"/>
              <a:t>(2/4)</a:t>
            </a:r>
            <a:endParaRPr sz="1950" dirty="0"/>
          </a:p>
        </p:txBody>
      </p:sp>
      <p:pic>
        <p:nvPicPr>
          <p:cNvPr id="5" name="Picture 4">
            <a:extLst>
              <a:ext uri="{FF2B5EF4-FFF2-40B4-BE49-F238E27FC236}">
                <a16:creationId xmlns:a16="http://schemas.microsoft.com/office/drawing/2014/main" id="{4EC1F7CF-007C-2B67-61D9-7217A49D79B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15600" y="1"/>
            <a:ext cx="1686150" cy="936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715515"/>
            <a:ext cx="9891395" cy="4241165"/>
          </a:xfrm>
          <a:prstGeom prst="rect">
            <a:avLst/>
          </a:prstGeom>
        </p:spPr>
        <p:txBody>
          <a:bodyPr vert="horz" wrap="square" lIns="0" tIns="53340" rIns="0" bIns="0" rtlCol="0">
            <a:spAutoFit/>
          </a:bodyPr>
          <a:lstStyle/>
          <a:p>
            <a:pPr marL="240029" marR="5080" indent="-227329">
              <a:lnSpc>
                <a:spcPct val="88800"/>
              </a:lnSpc>
              <a:spcBef>
                <a:spcPts val="420"/>
              </a:spcBef>
              <a:buFont typeface="Arial MT"/>
              <a:buChar char="•"/>
              <a:tabLst>
                <a:tab pos="241300" algn="l"/>
              </a:tabLst>
            </a:pPr>
            <a:r>
              <a:rPr sz="2400" u="heavy" dirty="0">
                <a:uFill>
                  <a:solidFill>
                    <a:srgbClr val="000000"/>
                  </a:solidFill>
                </a:uFill>
                <a:latin typeface="Calibri"/>
                <a:cs typeface="Calibri"/>
              </a:rPr>
              <a:t>At</a:t>
            </a:r>
            <a:r>
              <a:rPr sz="2400" u="heavy" spc="-60" dirty="0">
                <a:uFill>
                  <a:solidFill>
                    <a:srgbClr val="000000"/>
                  </a:solidFill>
                </a:uFill>
                <a:latin typeface="Calibri"/>
                <a:cs typeface="Calibri"/>
              </a:rPr>
              <a:t> </a:t>
            </a:r>
            <a:r>
              <a:rPr sz="2400" u="heavy" dirty="0">
                <a:uFill>
                  <a:solidFill>
                    <a:srgbClr val="000000"/>
                  </a:solidFill>
                </a:uFill>
                <a:latin typeface="Calibri"/>
                <a:cs typeface="Calibri"/>
              </a:rPr>
              <a:t>the</a:t>
            </a:r>
            <a:r>
              <a:rPr sz="2400" u="heavy" spc="-55" dirty="0">
                <a:uFill>
                  <a:solidFill>
                    <a:srgbClr val="000000"/>
                  </a:solidFill>
                </a:uFill>
                <a:latin typeface="Calibri"/>
                <a:cs typeface="Calibri"/>
              </a:rPr>
              <a:t> </a:t>
            </a:r>
            <a:r>
              <a:rPr sz="2400" u="heavy" dirty="0">
                <a:uFill>
                  <a:solidFill>
                    <a:srgbClr val="000000"/>
                  </a:solidFill>
                </a:uFill>
                <a:latin typeface="Calibri"/>
                <a:cs typeface="Calibri"/>
              </a:rPr>
              <a:t>project</a:t>
            </a:r>
            <a:r>
              <a:rPr sz="2400" u="heavy" spc="-60" dirty="0">
                <a:uFill>
                  <a:solidFill>
                    <a:srgbClr val="000000"/>
                  </a:solidFill>
                </a:uFill>
                <a:latin typeface="Calibri"/>
                <a:cs typeface="Calibri"/>
              </a:rPr>
              <a:t> </a:t>
            </a:r>
            <a:r>
              <a:rPr sz="2400" u="heavy" dirty="0">
                <a:uFill>
                  <a:solidFill>
                    <a:srgbClr val="000000"/>
                  </a:solidFill>
                </a:uFill>
                <a:latin typeface="Calibri"/>
                <a:cs typeface="Calibri"/>
              </a:rPr>
              <a:t>level</a:t>
            </a:r>
            <a:r>
              <a:rPr sz="2400" dirty="0">
                <a:latin typeface="Calibri"/>
                <a:cs typeface="Calibri"/>
              </a:rPr>
              <a:t>,</a:t>
            </a:r>
            <a:r>
              <a:rPr sz="2400" spc="-55"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question</a:t>
            </a:r>
            <a:r>
              <a:rPr sz="2400" spc="-50" dirty="0">
                <a:latin typeface="Calibri"/>
                <a:cs typeface="Calibri"/>
              </a:rPr>
              <a:t> </a:t>
            </a:r>
            <a:r>
              <a:rPr sz="2400" dirty="0">
                <a:latin typeface="Calibri"/>
                <a:cs typeface="Calibri"/>
              </a:rPr>
              <a:t>is</a:t>
            </a:r>
            <a:r>
              <a:rPr sz="2400" spc="-60" dirty="0">
                <a:latin typeface="Calibri"/>
                <a:cs typeface="Calibri"/>
              </a:rPr>
              <a:t> </a:t>
            </a:r>
            <a:r>
              <a:rPr sz="2400" dirty="0">
                <a:latin typeface="Calibri"/>
                <a:cs typeface="Calibri"/>
              </a:rPr>
              <a:t>how</a:t>
            </a:r>
            <a:r>
              <a:rPr sz="2400" spc="-60" dirty="0">
                <a:latin typeface="Calibri"/>
                <a:cs typeface="Calibri"/>
              </a:rPr>
              <a:t> </a:t>
            </a:r>
            <a:r>
              <a:rPr sz="2400" dirty="0">
                <a:latin typeface="Calibri"/>
                <a:cs typeface="Calibri"/>
              </a:rPr>
              <a:t>much</a:t>
            </a:r>
            <a:r>
              <a:rPr sz="2400" spc="-55" dirty="0">
                <a:latin typeface="Calibri"/>
                <a:cs typeface="Calibri"/>
              </a:rPr>
              <a:t> </a:t>
            </a:r>
            <a:r>
              <a:rPr sz="2400" spc="-10" dirty="0">
                <a:latin typeface="Calibri"/>
                <a:cs typeface="Calibri"/>
              </a:rPr>
              <a:t>autonomy</a:t>
            </a:r>
            <a:r>
              <a:rPr sz="2400" spc="-50"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project</a:t>
            </a:r>
            <a:r>
              <a:rPr sz="2400" spc="-60" dirty="0">
                <a:latin typeface="Calibri"/>
                <a:cs typeface="Calibri"/>
              </a:rPr>
              <a:t> </a:t>
            </a:r>
            <a:r>
              <a:rPr sz="2400" dirty="0">
                <a:latin typeface="Calibri"/>
                <a:cs typeface="Calibri"/>
              </a:rPr>
              <a:t>needs</a:t>
            </a:r>
            <a:r>
              <a:rPr sz="2400" spc="-60" dirty="0">
                <a:latin typeface="Calibri"/>
                <a:cs typeface="Calibri"/>
              </a:rPr>
              <a:t> </a:t>
            </a:r>
            <a:r>
              <a:rPr sz="2400" spc="-25" dirty="0">
                <a:latin typeface="Calibri"/>
                <a:cs typeface="Calibri"/>
              </a:rPr>
              <a:t>in 	</a:t>
            </a:r>
            <a:r>
              <a:rPr sz="2400" dirty="0">
                <a:latin typeface="Calibri"/>
                <a:cs typeface="Calibri"/>
              </a:rPr>
              <a:t>order</a:t>
            </a:r>
            <a:r>
              <a:rPr sz="2400" spc="-65" dirty="0">
                <a:latin typeface="Calibri"/>
                <a:cs typeface="Calibri"/>
              </a:rPr>
              <a:t> </a:t>
            </a:r>
            <a:r>
              <a:rPr sz="2400" dirty="0">
                <a:latin typeface="Calibri"/>
                <a:cs typeface="Calibri"/>
              </a:rPr>
              <a:t>to</a:t>
            </a:r>
            <a:r>
              <a:rPr sz="2400" spc="-65" dirty="0">
                <a:latin typeface="Calibri"/>
                <a:cs typeface="Calibri"/>
              </a:rPr>
              <a:t> </a:t>
            </a:r>
            <a:r>
              <a:rPr sz="2400" dirty="0">
                <a:latin typeface="Calibri"/>
                <a:cs typeface="Calibri"/>
              </a:rPr>
              <a:t>be</a:t>
            </a:r>
            <a:r>
              <a:rPr sz="2400" spc="-55" dirty="0">
                <a:latin typeface="Calibri"/>
                <a:cs typeface="Calibri"/>
              </a:rPr>
              <a:t> </a:t>
            </a:r>
            <a:r>
              <a:rPr sz="2400" dirty="0">
                <a:latin typeface="Calibri"/>
                <a:cs typeface="Calibri"/>
              </a:rPr>
              <a:t>successfully</a:t>
            </a:r>
            <a:r>
              <a:rPr sz="2400" spc="-60" dirty="0">
                <a:latin typeface="Calibri"/>
                <a:cs typeface="Calibri"/>
              </a:rPr>
              <a:t> </a:t>
            </a:r>
            <a:r>
              <a:rPr sz="2400" spc="-10" dirty="0">
                <a:latin typeface="Calibri"/>
                <a:cs typeface="Calibri"/>
              </a:rPr>
              <a:t>completed.</a:t>
            </a:r>
            <a:r>
              <a:rPr sz="2400" spc="-70" dirty="0">
                <a:latin typeface="Calibri"/>
                <a:cs typeface="Calibri"/>
              </a:rPr>
              <a:t> </a:t>
            </a:r>
            <a:r>
              <a:rPr sz="2400" dirty="0">
                <a:latin typeface="Calibri"/>
                <a:cs typeface="Calibri"/>
              </a:rPr>
              <a:t>There</a:t>
            </a:r>
            <a:r>
              <a:rPr sz="2400" spc="-55" dirty="0">
                <a:latin typeface="Calibri"/>
                <a:cs typeface="Calibri"/>
              </a:rPr>
              <a:t> </a:t>
            </a:r>
            <a:r>
              <a:rPr sz="2400" dirty="0">
                <a:latin typeface="Calibri"/>
                <a:cs typeface="Calibri"/>
              </a:rPr>
              <a:t>are</a:t>
            </a:r>
            <a:r>
              <a:rPr sz="2400" spc="-55" dirty="0">
                <a:latin typeface="Calibri"/>
                <a:cs typeface="Calibri"/>
              </a:rPr>
              <a:t> </a:t>
            </a:r>
            <a:r>
              <a:rPr sz="2400" dirty="0">
                <a:latin typeface="Calibri"/>
                <a:cs typeface="Calibri"/>
              </a:rPr>
              <a:t>(7)</a:t>
            </a:r>
            <a:r>
              <a:rPr sz="2400" spc="-65" dirty="0">
                <a:latin typeface="Calibri"/>
                <a:cs typeface="Calibri"/>
              </a:rPr>
              <a:t> </a:t>
            </a:r>
            <a:r>
              <a:rPr sz="2400" spc="-10" dirty="0">
                <a:latin typeface="Calibri"/>
                <a:cs typeface="Calibri"/>
              </a:rPr>
              <a:t>factors</a:t>
            </a:r>
            <a:r>
              <a:rPr sz="2400" spc="-65" dirty="0">
                <a:latin typeface="Calibri"/>
                <a:cs typeface="Calibri"/>
              </a:rPr>
              <a:t> </a:t>
            </a:r>
            <a:r>
              <a:rPr sz="2400" dirty="0">
                <a:latin typeface="Calibri"/>
                <a:cs typeface="Calibri"/>
              </a:rPr>
              <a:t>that</a:t>
            </a:r>
            <a:r>
              <a:rPr sz="2400" spc="-65" dirty="0">
                <a:latin typeface="Calibri"/>
                <a:cs typeface="Calibri"/>
              </a:rPr>
              <a:t> </a:t>
            </a:r>
            <a:r>
              <a:rPr sz="2400" dirty="0">
                <a:latin typeface="Calibri"/>
                <a:cs typeface="Calibri"/>
              </a:rPr>
              <a:t>should</a:t>
            </a:r>
            <a:r>
              <a:rPr sz="2400" spc="-60" dirty="0">
                <a:latin typeface="Calibri"/>
                <a:cs typeface="Calibri"/>
              </a:rPr>
              <a:t> </a:t>
            </a:r>
            <a:r>
              <a:rPr sz="2400" spc="-10" dirty="0">
                <a:latin typeface="Calibri"/>
                <a:cs typeface="Calibri"/>
              </a:rPr>
              <a:t>influence 	</a:t>
            </a:r>
            <a:r>
              <a:rPr sz="2400" dirty="0">
                <a:latin typeface="Calibri"/>
                <a:cs typeface="Calibri"/>
              </a:rPr>
              <a:t>the</a:t>
            </a:r>
            <a:r>
              <a:rPr sz="2400" spc="-60" dirty="0">
                <a:latin typeface="Calibri"/>
                <a:cs typeface="Calibri"/>
              </a:rPr>
              <a:t> </a:t>
            </a:r>
            <a:r>
              <a:rPr sz="2400" dirty="0">
                <a:latin typeface="Calibri"/>
                <a:cs typeface="Calibri"/>
              </a:rPr>
              <a:t>choice</a:t>
            </a:r>
            <a:r>
              <a:rPr sz="2400" spc="-60" dirty="0">
                <a:latin typeface="Calibri"/>
                <a:cs typeface="Calibri"/>
              </a:rPr>
              <a:t> </a:t>
            </a:r>
            <a:r>
              <a:rPr sz="2400" dirty="0">
                <a:latin typeface="Calibri"/>
                <a:cs typeface="Calibri"/>
              </a:rPr>
              <a:t>of</a:t>
            </a:r>
            <a:r>
              <a:rPr sz="2400" spc="-60" dirty="0">
                <a:latin typeface="Calibri"/>
                <a:cs typeface="Calibri"/>
              </a:rPr>
              <a:t> </a:t>
            </a:r>
            <a:r>
              <a:rPr sz="2400" dirty="0">
                <a:latin typeface="Calibri"/>
                <a:cs typeface="Calibri"/>
              </a:rPr>
              <a:t>project</a:t>
            </a:r>
            <a:r>
              <a:rPr sz="2400" spc="-65" dirty="0">
                <a:latin typeface="Calibri"/>
                <a:cs typeface="Calibri"/>
              </a:rPr>
              <a:t> </a:t>
            </a:r>
            <a:r>
              <a:rPr sz="2400" dirty="0">
                <a:latin typeface="Calibri"/>
                <a:cs typeface="Calibri"/>
              </a:rPr>
              <a:t>management</a:t>
            </a:r>
            <a:r>
              <a:rPr sz="2400" spc="-70" dirty="0">
                <a:latin typeface="Calibri"/>
                <a:cs typeface="Calibri"/>
              </a:rPr>
              <a:t> </a:t>
            </a:r>
            <a:r>
              <a:rPr sz="2400" spc="-10" dirty="0">
                <a:latin typeface="Calibri"/>
                <a:cs typeface="Calibri"/>
              </a:rPr>
              <a:t>structure:</a:t>
            </a:r>
            <a:endParaRPr sz="2400" dirty="0">
              <a:latin typeface="Calibri"/>
              <a:cs typeface="Calibri"/>
            </a:endParaRPr>
          </a:p>
          <a:p>
            <a:pPr marL="786765" lvl="1" indent="-456565">
              <a:lnSpc>
                <a:spcPct val="100000"/>
              </a:lnSpc>
              <a:spcBef>
                <a:spcPts val="720"/>
              </a:spcBef>
              <a:buFont typeface="Wingdings"/>
              <a:buChar char=""/>
              <a:tabLst>
                <a:tab pos="786765" algn="l"/>
              </a:tabLst>
            </a:pPr>
            <a:r>
              <a:rPr sz="2400" dirty="0">
                <a:solidFill>
                  <a:srgbClr val="C00000"/>
                </a:solidFill>
                <a:latin typeface="Calibri"/>
                <a:cs typeface="Calibri"/>
              </a:rPr>
              <a:t>Size</a:t>
            </a:r>
            <a:r>
              <a:rPr sz="2400" spc="-60" dirty="0">
                <a:solidFill>
                  <a:srgbClr val="C00000"/>
                </a:solidFill>
                <a:latin typeface="Calibri"/>
                <a:cs typeface="Calibri"/>
              </a:rPr>
              <a:t> </a:t>
            </a:r>
            <a:r>
              <a:rPr sz="2400" dirty="0">
                <a:solidFill>
                  <a:srgbClr val="C00000"/>
                </a:solidFill>
                <a:latin typeface="Calibri"/>
                <a:cs typeface="Calibri"/>
              </a:rPr>
              <a:t>of</a:t>
            </a:r>
            <a:r>
              <a:rPr sz="2400" spc="-55" dirty="0">
                <a:solidFill>
                  <a:srgbClr val="C00000"/>
                </a:solidFill>
                <a:latin typeface="Calibri"/>
                <a:cs typeface="Calibri"/>
              </a:rPr>
              <a:t> </a:t>
            </a:r>
            <a:r>
              <a:rPr sz="2400" spc="-10" dirty="0">
                <a:solidFill>
                  <a:srgbClr val="C00000"/>
                </a:solidFill>
                <a:latin typeface="Calibri"/>
                <a:cs typeface="Calibri"/>
              </a:rPr>
              <a:t>project.</a:t>
            </a:r>
            <a:endParaRPr sz="2400" dirty="0">
              <a:latin typeface="Calibri"/>
              <a:cs typeface="Calibri"/>
            </a:endParaRPr>
          </a:p>
          <a:p>
            <a:pPr marL="786765" lvl="1" indent="-456565">
              <a:lnSpc>
                <a:spcPct val="100000"/>
              </a:lnSpc>
              <a:spcBef>
                <a:spcPts val="720"/>
              </a:spcBef>
              <a:buFont typeface="Wingdings"/>
              <a:buChar char=""/>
              <a:tabLst>
                <a:tab pos="786765" algn="l"/>
              </a:tabLst>
            </a:pPr>
            <a:r>
              <a:rPr sz="2400" spc="-10" dirty="0">
                <a:latin typeface="Calibri"/>
                <a:cs typeface="Calibri"/>
              </a:rPr>
              <a:t>Strategic</a:t>
            </a:r>
            <a:r>
              <a:rPr sz="2400" spc="-75" dirty="0">
                <a:latin typeface="Calibri"/>
                <a:cs typeface="Calibri"/>
              </a:rPr>
              <a:t> </a:t>
            </a:r>
            <a:r>
              <a:rPr sz="2400" spc="-10" dirty="0">
                <a:latin typeface="Calibri"/>
                <a:cs typeface="Calibri"/>
              </a:rPr>
              <a:t>importance.</a:t>
            </a:r>
            <a:endParaRPr sz="2400" dirty="0">
              <a:latin typeface="Calibri"/>
              <a:cs typeface="Calibri"/>
            </a:endParaRPr>
          </a:p>
          <a:p>
            <a:pPr marL="786765" lvl="1" indent="-456565">
              <a:lnSpc>
                <a:spcPct val="100000"/>
              </a:lnSpc>
              <a:spcBef>
                <a:spcPts val="720"/>
              </a:spcBef>
              <a:buFont typeface="Wingdings"/>
              <a:buChar char=""/>
              <a:tabLst>
                <a:tab pos="786765" algn="l"/>
              </a:tabLst>
            </a:pPr>
            <a:r>
              <a:rPr sz="2400" dirty="0">
                <a:solidFill>
                  <a:srgbClr val="C00000"/>
                </a:solidFill>
                <a:latin typeface="Calibri"/>
                <a:cs typeface="Calibri"/>
              </a:rPr>
              <a:t>Novelty</a:t>
            </a:r>
            <a:r>
              <a:rPr sz="2400" spc="-65" dirty="0">
                <a:solidFill>
                  <a:srgbClr val="C00000"/>
                </a:solidFill>
                <a:latin typeface="Calibri"/>
                <a:cs typeface="Calibri"/>
              </a:rPr>
              <a:t> </a:t>
            </a:r>
            <a:r>
              <a:rPr sz="2400" dirty="0">
                <a:solidFill>
                  <a:srgbClr val="C00000"/>
                </a:solidFill>
                <a:latin typeface="Calibri"/>
                <a:cs typeface="Calibri"/>
              </a:rPr>
              <a:t>and</a:t>
            </a:r>
            <a:r>
              <a:rPr sz="2400" spc="-70" dirty="0">
                <a:solidFill>
                  <a:srgbClr val="C00000"/>
                </a:solidFill>
                <a:latin typeface="Calibri"/>
                <a:cs typeface="Calibri"/>
              </a:rPr>
              <a:t> </a:t>
            </a:r>
            <a:r>
              <a:rPr sz="2400" dirty="0">
                <a:solidFill>
                  <a:srgbClr val="C00000"/>
                </a:solidFill>
                <a:latin typeface="Calibri"/>
                <a:cs typeface="Calibri"/>
              </a:rPr>
              <a:t>need</a:t>
            </a:r>
            <a:r>
              <a:rPr sz="2400" spc="-70" dirty="0">
                <a:solidFill>
                  <a:srgbClr val="C00000"/>
                </a:solidFill>
                <a:latin typeface="Calibri"/>
                <a:cs typeface="Calibri"/>
              </a:rPr>
              <a:t> </a:t>
            </a:r>
            <a:r>
              <a:rPr sz="2400" dirty="0">
                <a:solidFill>
                  <a:srgbClr val="C00000"/>
                </a:solidFill>
                <a:latin typeface="Calibri"/>
                <a:cs typeface="Calibri"/>
              </a:rPr>
              <a:t>for</a:t>
            </a:r>
            <a:r>
              <a:rPr sz="2400" spc="-70" dirty="0">
                <a:solidFill>
                  <a:srgbClr val="C00000"/>
                </a:solidFill>
                <a:latin typeface="Calibri"/>
                <a:cs typeface="Calibri"/>
              </a:rPr>
              <a:t> </a:t>
            </a:r>
            <a:r>
              <a:rPr sz="2400" spc="-10" dirty="0">
                <a:solidFill>
                  <a:srgbClr val="C00000"/>
                </a:solidFill>
                <a:latin typeface="Calibri"/>
                <a:cs typeface="Calibri"/>
              </a:rPr>
              <a:t>innovation.</a:t>
            </a:r>
            <a:endParaRPr sz="2400" dirty="0">
              <a:latin typeface="Calibri"/>
              <a:cs typeface="Calibri"/>
            </a:endParaRPr>
          </a:p>
          <a:p>
            <a:pPr marL="786765" lvl="1" indent="-456565">
              <a:lnSpc>
                <a:spcPct val="100000"/>
              </a:lnSpc>
              <a:spcBef>
                <a:spcPts val="720"/>
              </a:spcBef>
              <a:buFont typeface="Wingdings"/>
              <a:buChar char=""/>
              <a:tabLst>
                <a:tab pos="786765" algn="l"/>
              </a:tabLst>
            </a:pPr>
            <a:r>
              <a:rPr sz="2400" dirty="0">
                <a:latin typeface="Calibri"/>
                <a:cs typeface="Calibri"/>
              </a:rPr>
              <a:t>Need</a:t>
            </a:r>
            <a:r>
              <a:rPr sz="2400" spc="-75" dirty="0">
                <a:latin typeface="Calibri"/>
                <a:cs typeface="Calibri"/>
              </a:rPr>
              <a:t> </a:t>
            </a:r>
            <a:r>
              <a:rPr sz="2400" dirty="0">
                <a:latin typeface="Calibri"/>
                <a:cs typeface="Calibri"/>
              </a:rPr>
              <a:t>for</a:t>
            </a:r>
            <a:r>
              <a:rPr sz="2400" spc="-75" dirty="0">
                <a:latin typeface="Calibri"/>
                <a:cs typeface="Calibri"/>
              </a:rPr>
              <a:t> </a:t>
            </a:r>
            <a:r>
              <a:rPr sz="2400" spc="-10" dirty="0">
                <a:latin typeface="Calibri"/>
                <a:cs typeface="Calibri"/>
              </a:rPr>
              <a:t>integration</a:t>
            </a:r>
            <a:r>
              <a:rPr sz="2400" spc="-75" dirty="0">
                <a:latin typeface="Calibri"/>
                <a:cs typeface="Calibri"/>
              </a:rPr>
              <a:t> </a:t>
            </a:r>
            <a:r>
              <a:rPr sz="2400" dirty="0">
                <a:latin typeface="Calibri"/>
                <a:cs typeface="Calibri"/>
              </a:rPr>
              <a:t>(number</a:t>
            </a:r>
            <a:r>
              <a:rPr sz="2400" spc="-80" dirty="0">
                <a:latin typeface="Calibri"/>
                <a:cs typeface="Calibri"/>
              </a:rPr>
              <a:t> </a:t>
            </a:r>
            <a:r>
              <a:rPr sz="2400" dirty="0">
                <a:latin typeface="Calibri"/>
                <a:cs typeface="Calibri"/>
              </a:rPr>
              <a:t>of</a:t>
            </a:r>
            <a:r>
              <a:rPr sz="2400" spc="-75" dirty="0">
                <a:latin typeface="Calibri"/>
                <a:cs typeface="Calibri"/>
              </a:rPr>
              <a:t> </a:t>
            </a:r>
            <a:r>
              <a:rPr sz="2400" dirty="0">
                <a:latin typeface="Calibri"/>
                <a:cs typeface="Calibri"/>
              </a:rPr>
              <a:t>departments</a:t>
            </a:r>
            <a:r>
              <a:rPr sz="2400" spc="-80" dirty="0">
                <a:latin typeface="Calibri"/>
                <a:cs typeface="Calibri"/>
              </a:rPr>
              <a:t> </a:t>
            </a:r>
            <a:r>
              <a:rPr sz="2400" spc="-10" dirty="0">
                <a:latin typeface="Calibri"/>
                <a:cs typeface="Calibri"/>
              </a:rPr>
              <a:t>involved).</a:t>
            </a:r>
            <a:endParaRPr sz="2400" dirty="0">
              <a:latin typeface="Calibri"/>
              <a:cs typeface="Calibri"/>
            </a:endParaRPr>
          </a:p>
          <a:p>
            <a:pPr marL="786765" lvl="1" indent="-456565">
              <a:lnSpc>
                <a:spcPct val="100000"/>
              </a:lnSpc>
              <a:spcBef>
                <a:spcPts val="720"/>
              </a:spcBef>
              <a:buFont typeface="Wingdings"/>
              <a:buChar char=""/>
              <a:tabLst>
                <a:tab pos="786765" algn="l"/>
              </a:tabLst>
            </a:pPr>
            <a:r>
              <a:rPr sz="2400" spc="-10" dirty="0">
                <a:solidFill>
                  <a:srgbClr val="C00000"/>
                </a:solidFill>
                <a:latin typeface="Calibri"/>
                <a:cs typeface="Calibri"/>
              </a:rPr>
              <a:t>Environmental</a:t>
            </a:r>
            <a:r>
              <a:rPr sz="2400" spc="-100" dirty="0">
                <a:solidFill>
                  <a:srgbClr val="C00000"/>
                </a:solidFill>
                <a:latin typeface="Calibri"/>
                <a:cs typeface="Calibri"/>
              </a:rPr>
              <a:t> </a:t>
            </a:r>
            <a:r>
              <a:rPr sz="2400" dirty="0">
                <a:solidFill>
                  <a:srgbClr val="C00000"/>
                </a:solidFill>
                <a:latin typeface="Calibri"/>
                <a:cs typeface="Calibri"/>
              </a:rPr>
              <a:t>complexity</a:t>
            </a:r>
            <a:r>
              <a:rPr sz="2400" spc="-95" dirty="0">
                <a:solidFill>
                  <a:srgbClr val="C00000"/>
                </a:solidFill>
                <a:latin typeface="Calibri"/>
                <a:cs typeface="Calibri"/>
              </a:rPr>
              <a:t> </a:t>
            </a:r>
            <a:r>
              <a:rPr sz="2400" dirty="0">
                <a:solidFill>
                  <a:srgbClr val="C00000"/>
                </a:solidFill>
                <a:latin typeface="Calibri"/>
                <a:cs typeface="Calibri"/>
              </a:rPr>
              <a:t>(number</a:t>
            </a:r>
            <a:r>
              <a:rPr sz="2400" spc="-95" dirty="0">
                <a:solidFill>
                  <a:srgbClr val="C00000"/>
                </a:solidFill>
                <a:latin typeface="Calibri"/>
                <a:cs typeface="Calibri"/>
              </a:rPr>
              <a:t> </a:t>
            </a:r>
            <a:r>
              <a:rPr sz="2400" dirty="0">
                <a:solidFill>
                  <a:srgbClr val="C00000"/>
                </a:solidFill>
                <a:latin typeface="Calibri"/>
                <a:cs typeface="Calibri"/>
              </a:rPr>
              <a:t>of</a:t>
            </a:r>
            <a:r>
              <a:rPr sz="2400" spc="-90" dirty="0">
                <a:solidFill>
                  <a:srgbClr val="C00000"/>
                </a:solidFill>
                <a:latin typeface="Calibri"/>
                <a:cs typeface="Calibri"/>
              </a:rPr>
              <a:t> </a:t>
            </a:r>
            <a:r>
              <a:rPr sz="2400" dirty="0">
                <a:solidFill>
                  <a:srgbClr val="C00000"/>
                </a:solidFill>
                <a:latin typeface="Calibri"/>
                <a:cs typeface="Calibri"/>
              </a:rPr>
              <a:t>external</a:t>
            </a:r>
            <a:r>
              <a:rPr sz="2400" spc="-90" dirty="0">
                <a:solidFill>
                  <a:srgbClr val="C00000"/>
                </a:solidFill>
                <a:latin typeface="Calibri"/>
                <a:cs typeface="Calibri"/>
              </a:rPr>
              <a:t> </a:t>
            </a:r>
            <a:r>
              <a:rPr sz="2400" spc="-10" dirty="0">
                <a:solidFill>
                  <a:srgbClr val="C00000"/>
                </a:solidFill>
                <a:latin typeface="Calibri"/>
                <a:cs typeface="Calibri"/>
              </a:rPr>
              <a:t>interfaces).</a:t>
            </a:r>
            <a:endParaRPr sz="2400" dirty="0">
              <a:latin typeface="Calibri"/>
              <a:cs typeface="Calibri"/>
            </a:endParaRPr>
          </a:p>
          <a:p>
            <a:pPr marL="786765" lvl="1" indent="-456565">
              <a:lnSpc>
                <a:spcPct val="100000"/>
              </a:lnSpc>
              <a:spcBef>
                <a:spcPts val="720"/>
              </a:spcBef>
              <a:buFont typeface="Wingdings"/>
              <a:buChar char=""/>
              <a:tabLst>
                <a:tab pos="786765" algn="l"/>
              </a:tabLst>
            </a:pPr>
            <a:r>
              <a:rPr sz="2400" dirty="0">
                <a:latin typeface="Calibri"/>
                <a:cs typeface="Calibri"/>
              </a:rPr>
              <a:t>Budget</a:t>
            </a:r>
            <a:r>
              <a:rPr sz="2400" spc="-65" dirty="0">
                <a:latin typeface="Calibri"/>
                <a:cs typeface="Calibri"/>
              </a:rPr>
              <a:t> </a:t>
            </a:r>
            <a:r>
              <a:rPr sz="2400" dirty="0">
                <a:latin typeface="Calibri"/>
                <a:cs typeface="Calibri"/>
              </a:rPr>
              <a:t>and</a:t>
            </a:r>
            <a:r>
              <a:rPr sz="2400" spc="-60" dirty="0">
                <a:latin typeface="Calibri"/>
                <a:cs typeface="Calibri"/>
              </a:rPr>
              <a:t> </a:t>
            </a:r>
            <a:r>
              <a:rPr sz="2400" dirty="0">
                <a:latin typeface="Calibri"/>
                <a:cs typeface="Calibri"/>
              </a:rPr>
              <a:t>time</a:t>
            </a:r>
            <a:r>
              <a:rPr sz="2400" spc="-55" dirty="0">
                <a:latin typeface="Calibri"/>
                <a:cs typeface="Calibri"/>
              </a:rPr>
              <a:t> </a:t>
            </a:r>
            <a:r>
              <a:rPr sz="2400" spc="-10" dirty="0">
                <a:latin typeface="Calibri"/>
                <a:cs typeface="Calibri"/>
              </a:rPr>
              <a:t>constraints.</a:t>
            </a:r>
            <a:endParaRPr sz="2400" dirty="0">
              <a:latin typeface="Calibri"/>
              <a:cs typeface="Calibri"/>
            </a:endParaRPr>
          </a:p>
          <a:p>
            <a:pPr marL="786765" lvl="1" indent="-456565">
              <a:lnSpc>
                <a:spcPct val="100000"/>
              </a:lnSpc>
              <a:spcBef>
                <a:spcPts val="720"/>
              </a:spcBef>
              <a:buFont typeface="Wingdings"/>
              <a:buChar char=""/>
              <a:tabLst>
                <a:tab pos="786765" algn="l"/>
              </a:tabLst>
            </a:pPr>
            <a:r>
              <a:rPr sz="2400" dirty="0">
                <a:solidFill>
                  <a:srgbClr val="C00000"/>
                </a:solidFill>
                <a:latin typeface="Calibri"/>
                <a:cs typeface="Calibri"/>
              </a:rPr>
              <a:t>Stability</a:t>
            </a:r>
            <a:r>
              <a:rPr sz="2400" spc="-95" dirty="0">
                <a:solidFill>
                  <a:srgbClr val="C00000"/>
                </a:solidFill>
                <a:latin typeface="Calibri"/>
                <a:cs typeface="Calibri"/>
              </a:rPr>
              <a:t> </a:t>
            </a:r>
            <a:r>
              <a:rPr sz="2400" dirty="0">
                <a:solidFill>
                  <a:srgbClr val="C00000"/>
                </a:solidFill>
                <a:latin typeface="Calibri"/>
                <a:cs typeface="Calibri"/>
              </a:rPr>
              <a:t>of</a:t>
            </a:r>
            <a:r>
              <a:rPr sz="2400" spc="-90" dirty="0">
                <a:solidFill>
                  <a:srgbClr val="C00000"/>
                </a:solidFill>
                <a:latin typeface="Calibri"/>
                <a:cs typeface="Calibri"/>
              </a:rPr>
              <a:t> </a:t>
            </a:r>
            <a:r>
              <a:rPr sz="2400" dirty="0">
                <a:solidFill>
                  <a:srgbClr val="C00000"/>
                </a:solidFill>
                <a:latin typeface="Calibri"/>
                <a:cs typeface="Calibri"/>
              </a:rPr>
              <a:t>resource</a:t>
            </a:r>
            <a:r>
              <a:rPr sz="2400" spc="-85" dirty="0">
                <a:solidFill>
                  <a:srgbClr val="C00000"/>
                </a:solidFill>
                <a:latin typeface="Calibri"/>
                <a:cs typeface="Calibri"/>
              </a:rPr>
              <a:t> </a:t>
            </a:r>
            <a:r>
              <a:rPr sz="2400" spc="-10" dirty="0">
                <a:solidFill>
                  <a:srgbClr val="C00000"/>
                </a:solidFill>
                <a:latin typeface="Calibri"/>
                <a:cs typeface="Calibri"/>
              </a:rPr>
              <a:t>requirements.</a:t>
            </a:r>
            <a:endParaRPr sz="24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58</a:t>
            </a:fld>
            <a:endParaRPr spc="-25" dirty="0"/>
          </a:p>
        </p:txBody>
      </p:sp>
      <p:sp>
        <p:nvSpPr>
          <p:cNvPr id="3" name="object 3"/>
          <p:cNvSpPr txBox="1">
            <a:spLocks noGrp="1"/>
          </p:cNvSpPr>
          <p:nvPr>
            <p:ph type="title"/>
          </p:nvPr>
        </p:nvSpPr>
        <p:spPr>
          <a:xfrm>
            <a:off x="28082" y="762000"/>
            <a:ext cx="12494261" cy="721182"/>
          </a:xfrm>
          <a:prstGeom prst="rect">
            <a:avLst/>
          </a:prstGeom>
        </p:spPr>
        <p:txBody>
          <a:bodyPr vert="horz" wrap="square" lIns="0" tIns="58887" rIns="0" bIns="0" rtlCol="0">
            <a:spAutoFit/>
          </a:bodyPr>
          <a:lstStyle/>
          <a:p>
            <a:pPr marL="12700">
              <a:lnSpc>
                <a:spcPct val="100000"/>
              </a:lnSpc>
              <a:spcBef>
                <a:spcPts val="120"/>
              </a:spcBef>
            </a:pPr>
            <a:r>
              <a:rPr b="1" u="sng" spc="114" dirty="0">
                <a:solidFill>
                  <a:srgbClr val="FF0000"/>
                </a:solidFill>
              </a:rPr>
              <a:t>What is the Right Project Management Structure? </a:t>
            </a:r>
            <a:r>
              <a:rPr sz="1950" spc="-10" dirty="0"/>
              <a:t>(3/4)</a:t>
            </a:r>
            <a:endParaRPr sz="1950" dirty="0"/>
          </a:p>
        </p:txBody>
      </p:sp>
      <p:pic>
        <p:nvPicPr>
          <p:cNvPr id="5" name="Picture 4">
            <a:extLst>
              <a:ext uri="{FF2B5EF4-FFF2-40B4-BE49-F238E27FC236}">
                <a16:creationId xmlns:a16="http://schemas.microsoft.com/office/drawing/2014/main" id="{3E94F67A-D297-66E5-B262-171C1068B03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15600" y="1"/>
            <a:ext cx="1686150" cy="936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806955"/>
            <a:ext cx="10357485" cy="4241165"/>
          </a:xfrm>
          <a:prstGeom prst="rect">
            <a:avLst/>
          </a:prstGeom>
        </p:spPr>
        <p:txBody>
          <a:bodyPr vert="horz" wrap="square" lIns="0" tIns="51435" rIns="0" bIns="0" rtlCol="0">
            <a:spAutoFit/>
          </a:bodyPr>
          <a:lstStyle/>
          <a:p>
            <a:pPr marL="240029" marR="5080" indent="-227329">
              <a:lnSpc>
                <a:spcPts val="2620"/>
              </a:lnSpc>
              <a:spcBef>
                <a:spcPts val="405"/>
              </a:spcBef>
              <a:buFont typeface="Arial MT"/>
              <a:buChar char="•"/>
              <a:tabLst>
                <a:tab pos="241300" algn="l"/>
                <a:tab pos="871219" algn="l"/>
                <a:tab pos="1831975" algn="l"/>
                <a:tab pos="2414905" algn="l"/>
                <a:tab pos="3280410" algn="l"/>
                <a:tab pos="3702685" algn="l"/>
                <a:tab pos="4557395" algn="l"/>
                <a:tab pos="5443220" algn="l"/>
                <a:tab pos="6529705" algn="l"/>
                <a:tab pos="7112000" algn="l"/>
                <a:tab pos="7938770" algn="l"/>
                <a:tab pos="9876790" algn="l"/>
              </a:tabLst>
            </a:pPr>
            <a:r>
              <a:rPr sz="2400" spc="-25" dirty="0">
                <a:latin typeface="Calibri"/>
                <a:cs typeface="Calibri"/>
              </a:rPr>
              <a:t>The</a:t>
            </a:r>
            <a:r>
              <a:rPr sz="2400" dirty="0">
                <a:latin typeface="Calibri"/>
                <a:cs typeface="Calibri"/>
              </a:rPr>
              <a:t>	</a:t>
            </a:r>
            <a:r>
              <a:rPr sz="2400" spc="-10" dirty="0">
                <a:latin typeface="Calibri"/>
                <a:cs typeface="Calibri"/>
              </a:rPr>
              <a:t>higher</a:t>
            </a:r>
            <a:r>
              <a:rPr sz="2400" dirty="0">
                <a:latin typeface="Calibri"/>
                <a:cs typeface="Calibri"/>
              </a:rPr>
              <a:t>	</a:t>
            </a:r>
            <a:r>
              <a:rPr sz="2400" spc="-25" dirty="0">
                <a:latin typeface="Calibri"/>
                <a:cs typeface="Calibri"/>
              </a:rPr>
              <a:t>the</a:t>
            </a:r>
            <a:r>
              <a:rPr sz="2400" dirty="0">
                <a:latin typeface="Calibri"/>
                <a:cs typeface="Calibri"/>
              </a:rPr>
              <a:t>	</a:t>
            </a:r>
            <a:r>
              <a:rPr sz="2400" spc="-10" dirty="0">
                <a:latin typeface="Calibri"/>
                <a:cs typeface="Calibri"/>
              </a:rPr>
              <a:t>levels</a:t>
            </a:r>
            <a:r>
              <a:rPr sz="2400" dirty="0">
                <a:latin typeface="Calibri"/>
                <a:cs typeface="Calibri"/>
              </a:rPr>
              <a:t>	</a:t>
            </a:r>
            <a:r>
              <a:rPr sz="2400" spc="-25" dirty="0">
                <a:latin typeface="Calibri"/>
                <a:cs typeface="Calibri"/>
              </a:rPr>
              <a:t>of</a:t>
            </a:r>
            <a:r>
              <a:rPr sz="2400" dirty="0">
                <a:latin typeface="Calibri"/>
                <a:cs typeface="Calibri"/>
              </a:rPr>
              <a:t>	</a:t>
            </a:r>
            <a:r>
              <a:rPr sz="2400" spc="-10" dirty="0">
                <a:latin typeface="Calibri"/>
                <a:cs typeface="Calibri"/>
              </a:rPr>
              <a:t>these</a:t>
            </a:r>
            <a:r>
              <a:rPr sz="2400" dirty="0">
                <a:latin typeface="Calibri"/>
                <a:cs typeface="Calibri"/>
              </a:rPr>
              <a:t>	</a:t>
            </a:r>
            <a:r>
              <a:rPr sz="2400" spc="-10" dirty="0">
                <a:latin typeface="Calibri"/>
                <a:cs typeface="Calibri"/>
              </a:rPr>
              <a:t>seven</a:t>
            </a:r>
            <a:r>
              <a:rPr sz="2400" dirty="0">
                <a:latin typeface="Calibri"/>
                <a:cs typeface="Calibri"/>
              </a:rPr>
              <a:t>	</a:t>
            </a:r>
            <a:r>
              <a:rPr sz="2400" spc="-10" dirty="0">
                <a:latin typeface="Calibri"/>
                <a:cs typeface="Calibri"/>
              </a:rPr>
              <a:t>factors,</a:t>
            </a:r>
            <a:r>
              <a:rPr sz="2400" dirty="0">
                <a:latin typeface="Calibri"/>
                <a:cs typeface="Calibri"/>
              </a:rPr>
              <a:t>	</a:t>
            </a:r>
            <a:r>
              <a:rPr sz="2400" spc="-25" dirty="0">
                <a:latin typeface="Calibri"/>
                <a:cs typeface="Calibri"/>
              </a:rPr>
              <a:t>the</a:t>
            </a:r>
            <a:r>
              <a:rPr sz="2400" dirty="0">
                <a:latin typeface="Calibri"/>
                <a:cs typeface="Calibri"/>
              </a:rPr>
              <a:t>	</a:t>
            </a:r>
            <a:r>
              <a:rPr sz="2400" spc="-20" dirty="0">
                <a:latin typeface="Calibri"/>
                <a:cs typeface="Calibri"/>
              </a:rPr>
              <a:t>more</a:t>
            </a:r>
            <a:r>
              <a:rPr sz="2400" dirty="0">
                <a:latin typeface="Calibri"/>
                <a:cs typeface="Calibri"/>
              </a:rPr>
              <a:t>	</a:t>
            </a:r>
            <a:r>
              <a:rPr sz="2400" spc="-10" dirty="0">
                <a:latin typeface="Calibri"/>
                <a:cs typeface="Calibri"/>
              </a:rPr>
              <a:t>independence</a:t>
            </a:r>
            <a:r>
              <a:rPr sz="2400" dirty="0">
                <a:latin typeface="Calibri"/>
                <a:cs typeface="Calibri"/>
              </a:rPr>
              <a:t>	</a:t>
            </a:r>
            <a:r>
              <a:rPr sz="2400" spc="-25" dirty="0">
                <a:latin typeface="Calibri"/>
                <a:cs typeface="Calibri"/>
              </a:rPr>
              <a:t>and 	</a:t>
            </a:r>
            <a:r>
              <a:rPr sz="2400" dirty="0">
                <a:latin typeface="Calibri"/>
                <a:cs typeface="Calibri"/>
              </a:rPr>
              <a:t>authority</a:t>
            </a:r>
            <a:r>
              <a:rPr sz="2400" spc="-60" dirty="0">
                <a:latin typeface="Calibri"/>
                <a:cs typeface="Calibri"/>
              </a:rPr>
              <a:t> </a:t>
            </a:r>
            <a:r>
              <a:rPr sz="2400" dirty="0">
                <a:latin typeface="Calibri"/>
                <a:cs typeface="Calibri"/>
              </a:rPr>
              <a:t>the</a:t>
            </a:r>
            <a:r>
              <a:rPr sz="2400" spc="-55" dirty="0">
                <a:latin typeface="Calibri"/>
                <a:cs typeface="Calibri"/>
              </a:rPr>
              <a:t> </a:t>
            </a:r>
            <a:r>
              <a:rPr sz="2400" dirty="0">
                <a:latin typeface="Calibri"/>
                <a:cs typeface="Calibri"/>
              </a:rPr>
              <a:t>project</a:t>
            </a:r>
            <a:r>
              <a:rPr sz="2400" spc="-70" dirty="0">
                <a:latin typeface="Calibri"/>
                <a:cs typeface="Calibri"/>
              </a:rPr>
              <a:t> </a:t>
            </a:r>
            <a:r>
              <a:rPr sz="2400" dirty="0">
                <a:latin typeface="Calibri"/>
                <a:cs typeface="Calibri"/>
              </a:rPr>
              <a:t>manager</a:t>
            </a:r>
            <a:r>
              <a:rPr sz="2400" spc="-55" dirty="0">
                <a:latin typeface="Calibri"/>
                <a:cs typeface="Calibri"/>
              </a:rPr>
              <a:t> </a:t>
            </a:r>
            <a:r>
              <a:rPr sz="2400" dirty="0">
                <a:latin typeface="Calibri"/>
                <a:cs typeface="Calibri"/>
              </a:rPr>
              <a:t>and</a:t>
            </a:r>
            <a:r>
              <a:rPr sz="2400" spc="-60" dirty="0">
                <a:latin typeface="Calibri"/>
                <a:cs typeface="Calibri"/>
              </a:rPr>
              <a:t> </a:t>
            </a:r>
            <a:r>
              <a:rPr sz="2400" dirty="0">
                <a:latin typeface="Calibri"/>
                <a:cs typeface="Calibri"/>
              </a:rPr>
              <a:t>project</a:t>
            </a:r>
            <a:r>
              <a:rPr sz="2400" spc="-70" dirty="0">
                <a:latin typeface="Calibri"/>
                <a:cs typeface="Calibri"/>
              </a:rPr>
              <a:t> </a:t>
            </a:r>
            <a:r>
              <a:rPr sz="2400" dirty="0">
                <a:latin typeface="Calibri"/>
                <a:cs typeface="Calibri"/>
              </a:rPr>
              <a:t>team</a:t>
            </a:r>
            <a:r>
              <a:rPr sz="2400" spc="-65" dirty="0">
                <a:latin typeface="Calibri"/>
                <a:cs typeface="Calibri"/>
              </a:rPr>
              <a:t> </a:t>
            </a:r>
            <a:r>
              <a:rPr sz="2400" dirty="0">
                <a:latin typeface="Calibri"/>
                <a:cs typeface="Calibri"/>
              </a:rPr>
              <a:t>need</a:t>
            </a:r>
            <a:r>
              <a:rPr sz="2400" spc="-65" dirty="0">
                <a:latin typeface="Calibri"/>
                <a:cs typeface="Calibri"/>
              </a:rPr>
              <a:t> </a:t>
            </a:r>
            <a:r>
              <a:rPr sz="2400" dirty="0">
                <a:latin typeface="Calibri"/>
                <a:cs typeface="Calibri"/>
              </a:rPr>
              <a:t>to</a:t>
            </a:r>
            <a:r>
              <a:rPr sz="2400" spc="-60" dirty="0">
                <a:latin typeface="Calibri"/>
                <a:cs typeface="Calibri"/>
              </a:rPr>
              <a:t> </a:t>
            </a:r>
            <a:r>
              <a:rPr sz="2400" dirty="0">
                <a:latin typeface="Calibri"/>
                <a:cs typeface="Calibri"/>
              </a:rPr>
              <a:t>be</a:t>
            </a:r>
            <a:r>
              <a:rPr sz="2400" spc="-60" dirty="0">
                <a:latin typeface="Calibri"/>
                <a:cs typeface="Calibri"/>
              </a:rPr>
              <a:t> </a:t>
            </a:r>
            <a:r>
              <a:rPr sz="2400" spc="-10" dirty="0">
                <a:latin typeface="Calibri"/>
                <a:cs typeface="Calibri"/>
              </a:rPr>
              <a:t>successful.</a:t>
            </a:r>
            <a:endParaRPr sz="2400" dirty="0">
              <a:latin typeface="Calibri"/>
              <a:cs typeface="Calibri"/>
            </a:endParaRPr>
          </a:p>
          <a:p>
            <a:pPr>
              <a:lnSpc>
                <a:spcPct val="100000"/>
              </a:lnSpc>
              <a:spcBef>
                <a:spcPts val="1065"/>
              </a:spcBef>
              <a:buFont typeface="Arial MT"/>
              <a:buChar char="•"/>
            </a:pPr>
            <a:endParaRPr sz="2400" dirty="0">
              <a:latin typeface="Calibri"/>
              <a:cs typeface="Calibri"/>
            </a:endParaRPr>
          </a:p>
          <a:p>
            <a:pPr marL="240029" marR="5080" indent="-227329">
              <a:lnSpc>
                <a:spcPts val="2590"/>
              </a:lnSpc>
              <a:spcBef>
                <a:spcPts val="5"/>
              </a:spcBef>
              <a:buFont typeface="Arial MT"/>
              <a:buChar char="•"/>
              <a:tabLst>
                <a:tab pos="241300" algn="l"/>
                <a:tab pos="867410" algn="l"/>
                <a:tab pos="2205990" algn="l"/>
                <a:tab pos="2820670" algn="l"/>
                <a:tab pos="3601085" algn="l"/>
                <a:tab pos="4472940" algn="l"/>
                <a:tab pos="4747260" algn="l"/>
                <a:tab pos="6098540" algn="l"/>
                <a:tab pos="7104380" algn="l"/>
                <a:tab pos="7872730" algn="l"/>
                <a:tab pos="8267700" algn="l"/>
                <a:tab pos="8542020" algn="l"/>
                <a:tab pos="9547860" algn="l"/>
              </a:tabLst>
            </a:pPr>
            <a:r>
              <a:rPr sz="2400" spc="-20" dirty="0">
                <a:solidFill>
                  <a:srgbClr val="262EA4"/>
                </a:solidFill>
                <a:latin typeface="Calibri"/>
                <a:cs typeface="Calibri"/>
              </a:rPr>
              <a:t>This</a:t>
            </a:r>
            <a:r>
              <a:rPr sz="2400" dirty="0">
                <a:solidFill>
                  <a:srgbClr val="262EA4"/>
                </a:solidFill>
                <a:latin typeface="Calibri"/>
                <a:cs typeface="Calibri"/>
              </a:rPr>
              <a:t>	</a:t>
            </a:r>
            <a:r>
              <a:rPr sz="2400" spc="-10" dirty="0">
                <a:solidFill>
                  <a:srgbClr val="262EA4"/>
                </a:solidFill>
                <a:latin typeface="Calibri"/>
                <a:cs typeface="Calibri"/>
              </a:rPr>
              <a:t>translates</a:t>
            </a:r>
            <a:r>
              <a:rPr sz="2400" dirty="0">
                <a:solidFill>
                  <a:srgbClr val="262EA4"/>
                </a:solidFill>
                <a:latin typeface="Calibri"/>
                <a:cs typeface="Calibri"/>
              </a:rPr>
              <a:t>	</a:t>
            </a:r>
            <a:r>
              <a:rPr sz="2400" spc="-20" dirty="0">
                <a:solidFill>
                  <a:srgbClr val="262EA4"/>
                </a:solidFill>
                <a:latin typeface="Calibri"/>
                <a:cs typeface="Calibri"/>
              </a:rPr>
              <a:t>into</a:t>
            </a:r>
            <a:r>
              <a:rPr sz="2400" dirty="0">
                <a:solidFill>
                  <a:srgbClr val="262EA4"/>
                </a:solidFill>
                <a:latin typeface="Calibri"/>
                <a:cs typeface="Calibri"/>
              </a:rPr>
              <a:t>	</a:t>
            </a:r>
            <a:r>
              <a:rPr sz="2400" spc="-20" dirty="0">
                <a:solidFill>
                  <a:srgbClr val="262EA4"/>
                </a:solidFill>
                <a:latin typeface="Calibri"/>
                <a:cs typeface="Calibri"/>
              </a:rPr>
              <a:t>using</a:t>
            </a:r>
            <a:r>
              <a:rPr sz="2400" dirty="0">
                <a:solidFill>
                  <a:srgbClr val="262EA4"/>
                </a:solidFill>
                <a:latin typeface="Calibri"/>
                <a:cs typeface="Calibri"/>
              </a:rPr>
              <a:t>	</a:t>
            </a:r>
            <a:r>
              <a:rPr sz="2400" spc="-10" dirty="0">
                <a:solidFill>
                  <a:srgbClr val="262EA4"/>
                </a:solidFill>
                <a:latin typeface="Calibri"/>
                <a:cs typeface="Calibri"/>
              </a:rPr>
              <a:t>either</a:t>
            </a:r>
            <a:r>
              <a:rPr sz="2400" dirty="0">
                <a:solidFill>
                  <a:srgbClr val="262EA4"/>
                </a:solidFill>
                <a:latin typeface="Calibri"/>
                <a:cs typeface="Calibri"/>
              </a:rPr>
              <a:t>	</a:t>
            </a:r>
            <a:r>
              <a:rPr sz="2400" spc="-50" dirty="0">
                <a:solidFill>
                  <a:srgbClr val="262EA4"/>
                </a:solidFill>
                <a:latin typeface="Calibri"/>
                <a:cs typeface="Calibri"/>
              </a:rPr>
              <a:t>a</a:t>
            </a:r>
            <a:r>
              <a:rPr sz="2400" dirty="0">
                <a:solidFill>
                  <a:srgbClr val="262EA4"/>
                </a:solidFill>
                <a:latin typeface="Calibri"/>
                <a:cs typeface="Calibri"/>
              </a:rPr>
              <a:t>	</a:t>
            </a:r>
            <a:r>
              <a:rPr sz="2400" spc="-10" dirty="0">
                <a:solidFill>
                  <a:srgbClr val="262EA4"/>
                </a:solidFill>
                <a:latin typeface="Calibri"/>
                <a:cs typeface="Calibri"/>
              </a:rPr>
              <a:t>dedicated</a:t>
            </a:r>
            <a:r>
              <a:rPr sz="2400" dirty="0">
                <a:solidFill>
                  <a:srgbClr val="262EA4"/>
                </a:solidFill>
                <a:latin typeface="Calibri"/>
                <a:cs typeface="Calibri"/>
              </a:rPr>
              <a:t>	</a:t>
            </a:r>
            <a:r>
              <a:rPr sz="2400" spc="-10" dirty="0">
                <a:solidFill>
                  <a:srgbClr val="262EA4"/>
                </a:solidFill>
                <a:latin typeface="Calibri"/>
                <a:cs typeface="Calibri"/>
              </a:rPr>
              <a:t>project</a:t>
            </a:r>
            <a:r>
              <a:rPr sz="2400" dirty="0">
                <a:solidFill>
                  <a:srgbClr val="262EA4"/>
                </a:solidFill>
                <a:latin typeface="Calibri"/>
                <a:cs typeface="Calibri"/>
              </a:rPr>
              <a:t>	</a:t>
            </a:r>
            <a:r>
              <a:rPr sz="2400" spc="-20" dirty="0">
                <a:solidFill>
                  <a:srgbClr val="262EA4"/>
                </a:solidFill>
                <a:latin typeface="Calibri"/>
                <a:cs typeface="Calibri"/>
              </a:rPr>
              <a:t>team</a:t>
            </a:r>
            <a:r>
              <a:rPr sz="2400" dirty="0">
                <a:solidFill>
                  <a:srgbClr val="262EA4"/>
                </a:solidFill>
                <a:latin typeface="Calibri"/>
                <a:cs typeface="Calibri"/>
              </a:rPr>
              <a:t>	</a:t>
            </a:r>
            <a:r>
              <a:rPr sz="2400" spc="-25" dirty="0">
                <a:solidFill>
                  <a:srgbClr val="262EA4"/>
                </a:solidFill>
                <a:latin typeface="Calibri"/>
                <a:cs typeface="Calibri"/>
              </a:rPr>
              <a:t>or</a:t>
            </a:r>
            <a:r>
              <a:rPr sz="2400" dirty="0">
                <a:solidFill>
                  <a:srgbClr val="262EA4"/>
                </a:solidFill>
                <a:latin typeface="Calibri"/>
                <a:cs typeface="Calibri"/>
              </a:rPr>
              <a:t>	</a:t>
            </a:r>
            <a:r>
              <a:rPr sz="2400" spc="-50" dirty="0">
                <a:solidFill>
                  <a:srgbClr val="262EA4"/>
                </a:solidFill>
                <a:latin typeface="Calibri"/>
                <a:cs typeface="Calibri"/>
              </a:rPr>
              <a:t>a</a:t>
            </a:r>
            <a:r>
              <a:rPr sz="2400" dirty="0">
                <a:solidFill>
                  <a:srgbClr val="262EA4"/>
                </a:solidFill>
                <a:latin typeface="Calibri"/>
                <a:cs typeface="Calibri"/>
              </a:rPr>
              <a:t>	</a:t>
            </a:r>
            <a:r>
              <a:rPr sz="2400" spc="-10" dirty="0">
                <a:solidFill>
                  <a:srgbClr val="262EA4"/>
                </a:solidFill>
                <a:latin typeface="Calibri"/>
                <a:cs typeface="Calibri"/>
              </a:rPr>
              <a:t>project</a:t>
            </a:r>
            <a:r>
              <a:rPr sz="2400" dirty="0">
                <a:solidFill>
                  <a:srgbClr val="262EA4"/>
                </a:solidFill>
                <a:latin typeface="Calibri"/>
                <a:cs typeface="Calibri"/>
              </a:rPr>
              <a:t>	</a:t>
            </a:r>
            <a:r>
              <a:rPr sz="2400" spc="-10" dirty="0">
                <a:solidFill>
                  <a:srgbClr val="262EA4"/>
                </a:solidFill>
                <a:latin typeface="Calibri"/>
                <a:cs typeface="Calibri"/>
              </a:rPr>
              <a:t>matrix 	structure.</a:t>
            </a:r>
            <a:endParaRPr sz="2400" dirty="0">
              <a:latin typeface="Calibri"/>
              <a:cs typeface="Calibri"/>
            </a:endParaRPr>
          </a:p>
          <a:p>
            <a:pPr>
              <a:lnSpc>
                <a:spcPct val="100000"/>
              </a:lnSpc>
              <a:spcBef>
                <a:spcPts val="1245"/>
              </a:spcBef>
              <a:buFont typeface="Arial MT"/>
              <a:buChar char="•"/>
            </a:pPr>
            <a:endParaRPr sz="2400" dirty="0">
              <a:latin typeface="Calibri"/>
              <a:cs typeface="Calibri"/>
            </a:endParaRPr>
          </a:p>
          <a:p>
            <a:pPr marL="240029" marR="5080" indent="-227329">
              <a:lnSpc>
                <a:spcPts val="2500"/>
              </a:lnSpc>
              <a:spcBef>
                <a:spcPts val="5"/>
              </a:spcBef>
              <a:buFont typeface="Arial MT"/>
              <a:buChar char="•"/>
              <a:tabLst>
                <a:tab pos="241300" algn="l"/>
                <a:tab pos="828675" algn="l"/>
                <a:tab pos="2136140" algn="l"/>
                <a:tab pos="3007360" algn="l"/>
                <a:tab pos="4441190" algn="l"/>
                <a:tab pos="5457190" algn="l"/>
                <a:tab pos="5955030" algn="l"/>
                <a:tab pos="6732905" algn="l"/>
                <a:tab pos="7272020" algn="l"/>
                <a:tab pos="8068309" algn="l"/>
                <a:tab pos="9250680" algn="l"/>
                <a:tab pos="9942830" algn="l"/>
              </a:tabLst>
            </a:pPr>
            <a:r>
              <a:rPr sz="2400" spc="-25" dirty="0">
                <a:latin typeface="Calibri"/>
                <a:cs typeface="Calibri"/>
              </a:rPr>
              <a:t>For</a:t>
            </a:r>
            <a:r>
              <a:rPr sz="2400" dirty="0">
                <a:latin typeface="Calibri"/>
                <a:cs typeface="Calibri"/>
              </a:rPr>
              <a:t>	</a:t>
            </a:r>
            <a:r>
              <a:rPr sz="2400" spc="-10" dirty="0">
                <a:latin typeface="Calibri"/>
                <a:cs typeface="Calibri"/>
              </a:rPr>
              <a:t>example,</a:t>
            </a:r>
            <a:r>
              <a:rPr sz="2400" dirty="0">
                <a:latin typeface="Calibri"/>
                <a:cs typeface="Calibri"/>
              </a:rPr>
              <a:t>	</a:t>
            </a:r>
            <a:r>
              <a:rPr sz="2400" spc="-20" dirty="0">
                <a:latin typeface="Calibri"/>
                <a:cs typeface="Calibri"/>
              </a:rPr>
              <a:t>these</a:t>
            </a:r>
            <a:r>
              <a:rPr sz="2400" dirty="0">
                <a:latin typeface="Calibri"/>
                <a:cs typeface="Calibri"/>
              </a:rPr>
              <a:t>	</a:t>
            </a:r>
            <a:r>
              <a:rPr sz="2400" spc="-10" dirty="0">
                <a:latin typeface="Calibri"/>
                <a:cs typeface="Calibri"/>
              </a:rPr>
              <a:t>structures</a:t>
            </a:r>
            <a:r>
              <a:rPr sz="2400" dirty="0">
                <a:latin typeface="Calibri"/>
                <a:cs typeface="Calibri"/>
              </a:rPr>
              <a:t>	</a:t>
            </a:r>
            <a:r>
              <a:rPr sz="2400" spc="-10" dirty="0">
                <a:latin typeface="Calibri"/>
                <a:cs typeface="Calibri"/>
              </a:rPr>
              <a:t>should</a:t>
            </a:r>
            <a:r>
              <a:rPr sz="2400" dirty="0">
                <a:latin typeface="Calibri"/>
                <a:cs typeface="Calibri"/>
              </a:rPr>
              <a:t>	</a:t>
            </a:r>
            <a:r>
              <a:rPr sz="2400" spc="-25" dirty="0">
                <a:latin typeface="Calibri"/>
                <a:cs typeface="Calibri"/>
              </a:rPr>
              <a:t>be</a:t>
            </a:r>
            <a:r>
              <a:rPr sz="2400" dirty="0">
                <a:latin typeface="Calibri"/>
                <a:cs typeface="Calibri"/>
              </a:rPr>
              <a:t>	</a:t>
            </a:r>
            <a:r>
              <a:rPr sz="2400" spc="-20" dirty="0">
                <a:latin typeface="Calibri"/>
                <a:cs typeface="Calibri"/>
              </a:rPr>
              <a:t>used</a:t>
            </a:r>
            <a:r>
              <a:rPr sz="2400" dirty="0">
                <a:latin typeface="Calibri"/>
                <a:cs typeface="Calibri"/>
              </a:rPr>
              <a:t>	</a:t>
            </a:r>
            <a:r>
              <a:rPr sz="2400" spc="-25" dirty="0">
                <a:latin typeface="Calibri"/>
                <a:cs typeface="Calibri"/>
              </a:rPr>
              <a:t>for</a:t>
            </a:r>
            <a:r>
              <a:rPr sz="2400" dirty="0">
                <a:latin typeface="Calibri"/>
                <a:cs typeface="Calibri"/>
              </a:rPr>
              <a:t>	</a:t>
            </a:r>
            <a:r>
              <a:rPr sz="2400" spc="-10" dirty="0">
                <a:latin typeface="Calibri"/>
                <a:cs typeface="Calibri"/>
              </a:rPr>
              <a:t>large</a:t>
            </a:r>
            <a:r>
              <a:rPr sz="2400" dirty="0">
                <a:latin typeface="Calibri"/>
                <a:cs typeface="Calibri"/>
              </a:rPr>
              <a:t>	</a:t>
            </a:r>
            <a:r>
              <a:rPr sz="2400" spc="-10" dirty="0">
                <a:latin typeface="Calibri"/>
                <a:cs typeface="Calibri"/>
              </a:rPr>
              <a:t>projects</a:t>
            </a:r>
            <a:r>
              <a:rPr sz="2400" dirty="0">
                <a:latin typeface="Calibri"/>
                <a:cs typeface="Calibri"/>
              </a:rPr>
              <a:t>	</a:t>
            </a:r>
            <a:r>
              <a:rPr sz="2400" spc="-20" dirty="0">
                <a:latin typeface="Calibri"/>
                <a:cs typeface="Calibri"/>
              </a:rPr>
              <a:t>that</a:t>
            </a:r>
            <a:r>
              <a:rPr sz="2400" dirty="0">
                <a:latin typeface="Calibri"/>
                <a:cs typeface="Calibri"/>
              </a:rPr>
              <a:t>	</a:t>
            </a:r>
            <a:r>
              <a:rPr sz="2400" spc="-30" dirty="0">
                <a:latin typeface="Calibri"/>
                <a:cs typeface="Calibri"/>
              </a:rPr>
              <a:t>are 	</a:t>
            </a:r>
            <a:r>
              <a:rPr sz="2400" spc="-10" dirty="0">
                <a:latin typeface="Calibri"/>
                <a:cs typeface="Calibri"/>
              </a:rPr>
              <a:t>strategically</a:t>
            </a:r>
            <a:r>
              <a:rPr sz="2400" spc="-60" dirty="0">
                <a:latin typeface="Calibri"/>
                <a:cs typeface="Calibri"/>
              </a:rPr>
              <a:t> </a:t>
            </a:r>
            <a:r>
              <a:rPr sz="2400" dirty="0">
                <a:latin typeface="Calibri"/>
                <a:cs typeface="Calibri"/>
              </a:rPr>
              <a:t>critical</a:t>
            </a:r>
            <a:r>
              <a:rPr sz="2400" spc="-60" dirty="0">
                <a:latin typeface="Calibri"/>
                <a:cs typeface="Calibri"/>
              </a:rPr>
              <a:t> </a:t>
            </a:r>
            <a:r>
              <a:rPr sz="2400" dirty="0">
                <a:latin typeface="Calibri"/>
                <a:cs typeface="Calibri"/>
              </a:rPr>
              <a:t>and</a:t>
            </a:r>
            <a:r>
              <a:rPr sz="2400" spc="-55" dirty="0">
                <a:latin typeface="Calibri"/>
                <a:cs typeface="Calibri"/>
              </a:rPr>
              <a:t> </a:t>
            </a:r>
            <a:r>
              <a:rPr sz="2400" dirty="0">
                <a:latin typeface="Calibri"/>
                <a:cs typeface="Calibri"/>
              </a:rPr>
              <a:t>are</a:t>
            </a:r>
            <a:r>
              <a:rPr sz="2400" spc="-60" dirty="0">
                <a:latin typeface="Calibri"/>
                <a:cs typeface="Calibri"/>
              </a:rPr>
              <a:t> </a:t>
            </a:r>
            <a:r>
              <a:rPr sz="2400" dirty="0">
                <a:latin typeface="Calibri"/>
                <a:cs typeface="Calibri"/>
              </a:rPr>
              <a:t>new</a:t>
            </a:r>
            <a:r>
              <a:rPr sz="2400" spc="-65" dirty="0">
                <a:latin typeface="Calibri"/>
                <a:cs typeface="Calibri"/>
              </a:rPr>
              <a:t> </a:t>
            </a:r>
            <a:r>
              <a:rPr sz="2400" dirty="0">
                <a:latin typeface="Calibri"/>
                <a:cs typeface="Calibri"/>
              </a:rPr>
              <a:t>to</a:t>
            </a:r>
            <a:r>
              <a:rPr sz="2400" spc="-60" dirty="0">
                <a:latin typeface="Calibri"/>
                <a:cs typeface="Calibri"/>
              </a:rPr>
              <a:t> </a:t>
            </a:r>
            <a:r>
              <a:rPr sz="2400" dirty="0">
                <a:latin typeface="Calibri"/>
                <a:cs typeface="Calibri"/>
              </a:rPr>
              <a:t>the</a:t>
            </a:r>
            <a:r>
              <a:rPr sz="2400" spc="-55" dirty="0">
                <a:latin typeface="Calibri"/>
                <a:cs typeface="Calibri"/>
              </a:rPr>
              <a:t> </a:t>
            </a:r>
            <a:r>
              <a:rPr sz="2400" spc="-30" dirty="0">
                <a:latin typeface="Calibri"/>
                <a:cs typeface="Calibri"/>
              </a:rPr>
              <a:t>company,</a:t>
            </a:r>
            <a:r>
              <a:rPr sz="2400" spc="-55" dirty="0">
                <a:latin typeface="Calibri"/>
                <a:cs typeface="Calibri"/>
              </a:rPr>
              <a:t> </a:t>
            </a:r>
            <a:r>
              <a:rPr sz="2400" dirty="0">
                <a:latin typeface="Calibri"/>
                <a:cs typeface="Calibri"/>
              </a:rPr>
              <a:t>thus</a:t>
            </a:r>
            <a:r>
              <a:rPr sz="2400" spc="-65" dirty="0">
                <a:latin typeface="Calibri"/>
                <a:cs typeface="Calibri"/>
              </a:rPr>
              <a:t> </a:t>
            </a:r>
            <a:r>
              <a:rPr sz="2400" dirty="0">
                <a:latin typeface="Calibri"/>
                <a:cs typeface="Calibri"/>
              </a:rPr>
              <a:t>requiring</a:t>
            </a:r>
            <a:r>
              <a:rPr sz="2400" spc="-60" dirty="0">
                <a:latin typeface="Calibri"/>
                <a:cs typeface="Calibri"/>
              </a:rPr>
              <a:t> </a:t>
            </a:r>
            <a:r>
              <a:rPr sz="2400" dirty="0">
                <a:latin typeface="Calibri"/>
                <a:cs typeface="Calibri"/>
              </a:rPr>
              <a:t>much</a:t>
            </a:r>
            <a:r>
              <a:rPr sz="2400" spc="-60" dirty="0">
                <a:latin typeface="Calibri"/>
                <a:cs typeface="Calibri"/>
              </a:rPr>
              <a:t> </a:t>
            </a:r>
            <a:r>
              <a:rPr sz="2400" spc="-10" dirty="0">
                <a:latin typeface="Calibri"/>
                <a:cs typeface="Calibri"/>
              </a:rPr>
              <a:t>innovation.</a:t>
            </a:r>
            <a:endParaRPr sz="2400" dirty="0">
              <a:latin typeface="Calibri"/>
              <a:cs typeface="Calibri"/>
            </a:endParaRPr>
          </a:p>
          <a:p>
            <a:pPr>
              <a:lnSpc>
                <a:spcPct val="100000"/>
              </a:lnSpc>
              <a:spcBef>
                <a:spcPts val="1165"/>
              </a:spcBef>
              <a:buFont typeface="Arial MT"/>
              <a:buChar char="•"/>
            </a:pPr>
            <a:endParaRPr sz="2400" dirty="0">
              <a:latin typeface="Calibri"/>
              <a:cs typeface="Calibri"/>
            </a:endParaRPr>
          </a:p>
          <a:p>
            <a:pPr marL="240029" marR="5715" indent="-227329">
              <a:lnSpc>
                <a:spcPts val="2620"/>
              </a:lnSpc>
              <a:buFont typeface="Arial MT"/>
              <a:buChar char="•"/>
              <a:tabLst>
                <a:tab pos="241300" algn="l"/>
                <a:tab pos="1171575" algn="l"/>
                <a:tab pos="2616200" algn="l"/>
                <a:tab pos="3578860" algn="l"/>
                <a:tab pos="4271010" algn="l"/>
                <a:tab pos="4780280" algn="l"/>
                <a:tab pos="6436360" algn="l"/>
                <a:tab pos="6986905" algn="l"/>
                <a:tab pos="8299450" algn="l"/>
              </a:tabLst>
            </a:pPr>
            <a:r>
              <a:rPr sz="2400" spc="-10" dirty="0">
                <a:solidFill>
                  <a:srgbClr val="262EA4"/>
                </a:solidFill>
                <a:latin typeface="Calibri"/>
                <a:cs typeface="Calibri"/>
              </a:rPr>
              <a:t>These</a:t>
            </a:r>
            <a:r>
              <a:rPr sz="2400" dirty="0">
                <a:solidFill>
                  <a:srgbClr val="262EA4"/>
                </a:solidFill>
                <a:latin typeface="Calibri"/>
                <a:cs typeface="Calibri"/>
              </a:rPr>
              <a:t>	</a:t>
            </a:r>
            <a:r>
              <a:rPr sz="2400" spc="-10" dirty="0">
                <a:solidFill>
                  <a:srgbClr val="262EA4"/>
                </a:solidFill>
                <a:latin typeface="Calibri"/>
                <a:cs typeface="Calibri"/>
              </a:rPr>
              <a:t>structures</a:t>
            </a:r>
            <a:r>
              <a:rPr sz="2400" dirty="0">
                <a:solidFill>
                  <a:srgbClr val="262EA4"/>
                </a:solidFill>
                <a:latin typeface="Calibri"/>
                <a:cs typeface="Calibri"/>
              </a:rPr>
              <a:t>	</a:t>
            </a:r>
            <a:r>
              <a:rPr sz="2400" spc="-20" dirty="0">
                <a:solidFill>
                  <a:srgbClr val="262EA4"/>
                </a:solidFill>
                <a:latin typeface="Calibri"/>
                <a:cs typeface="Calibri"/>
              </a:rPr>
              <a:t>would</a:t>
            </a:r>
            <a:r>
              <a:rPr sz="2400" dirty="0">
                <a:solidFill>
                  <a:srgbClr val="262EA4"/>
                </a:solidFill>
                <a:latin typeface="Calibri"/>
                <a:cs typeface="Calibri"/>
              </a:rPr>
              <a:t>	</a:t>
            </a:r>
            <a:r>
              <a:rPr sz="2400" spc="-20" dirty="0">
                <a:solidFill>
                  <a:srgbClr val="262EA4"/>
                </a:solidFill>
                <a:latin typeface="Calibri"/>
                <a:cs typeface="Calibri"/>
              </a:rPr>
              <a:t>also</a:t>
            </a:r>
            <a:r>
              <a:rPr sz="2400" dirty="0">
                <a:solidFill>
                  <a:srgbClr val="262EA4"/>
                </a:solidFill>
                <a:latin typeface="Calibri"/>
                <a:cs typeface="Calibri"/>
              </a:rPr>
              <a:t>	</a:t>
            </a:r>
            <a:r>
              <a:rPr sz="2400" spc="-25" dirty="0">
                <a:solidFill>
                  <a:srgbClr val="262EA4"/>
                </a:solidFill>
                <a:latin typeface="Calibri"/>
                <a:cs typeface="Calibri"/>
              </a:rPr>
              <a:t>be</a:t>
            </a:r>
            <a:r>
              <a:rPr sz="2400" dirty="0">
                <a:solidFill>
                  <a:srgbClr val="262EA4"/>
                </a:solidFill>
                <a:latin typeface="Calibri"/>
                <a:cs typeface="Calibri"/>
              </a:rPr>
              <a:t>	</a:t>
            </a:r>
            <a:r>
              <a:rPr sz="2400" spc="-10" dirty="0">
                <a:solidFill>
                  <a:srgbClr val="262EA4"/>
                </a:solidFill>
                <a:latin typeface="Calibri"/>
                <a:cs typeface="Calibri"/>
              </a:rPr>
              <a:t>appropriate</a:t>
            </a:r>
            <a:r>
              <a:rPr sz="2400" dirty="0">
                <a:solidFill>
                  <a:srgbClr val="262EA4"/>
                </a:solidFill>
                <a:latin typeface="Calibri"/>
                <a:cs typeface="Calibri"/>
              </a:rPr>
              <a:t>	</a:t>
            </a:r>
            <a:r>
              <a:rPr sz="2400" spc="-25" dirty="0">
                <a:solidFill>
                  <a:srgbClr val="262EA4"/>
                </a:solidFill>
                <a:latin typeface="Calibri"/>
                <a:cs typeface="Calibri"/>
              </a:rPr>
              <a:t>for</a:t>
            </a:r>
            <a:r>
              <a:rPr sz="2400" dirty="0">
                <a:solidFill>
                  <a:srgbClr val="262EA4"/>
                </a:solidFill>
                <a:latin typeface="Calibri"/>
                <a:cs typeface="Calibri"/>
              </a:rPr>
              <a:t>	</a:t>
            </a:r>
            <a:r>
              <a:rPr sz="2400" spc="-10" dirty="0">
                <a:solidFill>
                  <a:srgbClr val="262EA4"/>
                </a:solidFill>
                <a:latin typeface="Calibri"/>
                <a:cs typeface="Calibri"/>
              </a:rPr>
              <a:t>complex,</a:t>
            </a:r>
            <a:r>
              <a:rPr sz="2400" dirty="0">
                <a:solidFill>
                  <a:srgbClr val="262EA4"/>
                </a:solidFill>
                <a:latin typeface="Calibri"/>
                <a:cs typeface="Calibri"/>
              </a:rPr>
              <a:t>	</a:t>
            </a:r>
            <a:r>
              <a:rPr sz="2400" spc="-10" dirty="0">
                <a:solidFill>
                  <a:srgbClr val="262EA4"/>
                </a:solidFill>
                <a:latin typeface="Calibri"/>
                <a:cs typeface="Calibri"/>
              </a:rPr>
              <a:t>multidisciplinary 	</a:t>
            </a:r>
            <a:r>
              <a:rPr sz="2400" dirty="0">
                <a:solidFill>
                  <a:srgbClr val="262EA4"/>
                </a:solidFill>
                <a:latin typeface="Calibri"/>
                <a:cs typeface="Calibri"/>
              </a:rPr>
              <a:t>projects</a:t>
            </a:r>
            <a:r>
              <a:rPr sz="2400" spc="-80" dirty="0">
                <a:solidFill>
                  <a:srgbClr val="262EA4"/>
                </a:solidFill>
                <a:latin typeface="Calibri"/>
                <a:cs typeface="Calibri"/>
              </a:rPr>
              <a:t> </a:t>
            </a:r>
            <a:r>
              <a:rPr sz="2400" dirty="0">
                <a:solidFill>
                  <a:srgbClr val="262EA4"/>
                </a:solidFill>
                <a:latin typeface="Calibri"/>
                <a:cs typeface="Calibri"/>
              </a:rPr>
              <a:t>that</a:t>
            </a:r>
            <a:r>
              <a:rPr sz="2400" spc="-75" dirty="0">
                <a:solidFill>
                  <a:srgbClr val="262EA4"/>
                </a:solidFill>
                <a:latin typeface="Calibri"/>
                <a:cs typeface="Calibri"/>
              </a:rPr>
              <a:t> </a:t>
            </a:r>
            <a:r>
              <a:rPr sz="2400" spc="-10" dirty="0">
                <a:solidFill>
                  <a:srgbClr val="262EA4"/>
                </a:solidFill>
                <a:latin typeface="Calibri"/>
                <a:cs typeface="Calibri"/>
              </a:rPr>
              <a:t>require</a:t>
            </a:r>
            <a:r>
              <a:rPr sz="2400" spc="-60" dirty="0">
                <a:solidFill>
                  <a:srgbClr val="262EA4"/>
                </a:solidFill>
                <a:latin typeface="Calibri"/>
                <a:cs typeface="Calibri"/>
              </a:rPr>
              <a:t> </a:t>
            </a:r>
            <a:r>
              <a:rPr sz="2400" dirty="0">
                <a:solidFill>
                  <a:srgbClr val="262EA4"/>
                </a:solidFill>
                <a:latin typeface="Calibri"/>
                <a:cs typeface="Calibri"/>
              </a:rPr>
              <a:t>input</a:t>
            </a:r>
            <a:r>
              <a:rPr sz="2400" spc="-80" dirty="0">
                <a:solidFill>
                  <a:srgbClr val="262EA4"/>
                </a:solidFill>
                <a:latin typeface="Calibri"/>
                <a:cs typeface="Calibri"/>
              </a:rPr>
              <a:t> </a:t>
            </a:r>
            <a:r>
              <a:rPr sz="2400" dirty="0">
                <a:solidFill>
                  <a:srgbClr val="262EA4"/>
                </a:solidFill>
                <a:latin typeface="Calibri"/>
                <a:cs typeface="Calibri"/>
              </a:rPr>
              <a:t>from</a:t>
            </a:r>
            <a:r>
              <a:rPr sz="2400" spc="-80" dirty="0">
                <a:solidFill>
                  <a:srgbClr val="262EA4"/>
                </a:solidFill>
                <a:latin typeface="Calibri"/>
                <a:cs typeface="Calibri"/>
              </a:rPr>
              <a:t> </a:t>
            </a:r>
            <a:r>
              <a:rPr sz="2400" dirty="0">
                <a:solidFill>
                  <a:srgbClr val="262EA4"/>
                </a:solidFill>
                <a:latin typeface="Calibri"/>
                <a:cs typeface="Calibri"/>
              </a:rPr>
              <a:t>many</a:t>
            </a:r>
            <a:r>
              <a:rPr sz="2400" spc="-65" dirty="0">
                <a:solidFill>
                  <a:srgbClr val="262EA4"/>
                </a:solidFill>
                <a:latin typeface="Calibri"/>
                <a:cs typeface="Calibri"/>
              </a:rPr>
              <a:t> </a:t>
            </a:r>
            <a:r>
              <a:rPr sz="2400" spc="-10" dirty="0">
                <a:solidFill>
                  <a:srgbClr val="262EA4"/>
                </a:solidFill>
                <a:latin typeface="Calibri"/>
                <a:cs typeface="Calibri"/>
              </a:rPr>
              <a:t>departments.</a:t>
            </a:r>
            <a:endParaRPr sz="24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59</a:t>
            </a:fld>
            <a:endParaRPr spc="-25" dirty="0"/>
          </a:p>
        </p:txBody>
      </p:sp>
      <p:sp>
        <p:nvSpPr>
          <p:cNvPr id="3" name="object 3"/>
          <p:cNvSpPr txBox="1">
            <a:spLocks noGrp="1"/>
          </p:cNvSpPr>
          <p:nvPr>
            <p:ph type="title"/>
          </p:nvPr>
        </p:nvSpPr>
        <p:spPr>
          <a:xfrm>
            <a:off x="228600" y="650671"/>
            <a:ext cx="13027661" cy="721182"/>
          </a:xfrm>
          <a:prstGeom prst="rect">
            <a:avLst/>
          </a:prstGeom>
        </p:spPr>
        <p:txBody>
          <a:bodyPr vert="horz" wrap="square" lIns="0" tIns="58887" rIns="0" bIns="0" rtlCol="0">
            <a:spAutoFit/>
          </a:bodyPr>
          <a:lstStyle/>
          <a:p>
            <a:pPr marL="12700">
              <a:lnSpc>
                <a:spcPct val="100000"/>
              </a:lnSpc>
              <a:spcBef>
                <a:spcPts val="120"/>
              </a:spcBef>
            </a:pPr>
            <a:r>
              <a:rPr b="1" u="sng" spc="114" dirty="0">
                <a:solidFill>
                  <a:srgbClr val="FF0000"/>
                </a:solidFill>
              </a:rPr>
              <a:t>What is the Right Project Management Structure? </a:t>
            </a:r>
            <a:r>
              <a:rPr sz="1950" spc="-10" dirty="0"/>
              <a:t>(4/4)</a:t>
            </a:r>
            <a:endParaRPr sz="1950" dirty="0"/>
          </a:p>
        </p:txBody>
      </p:sp>
      <p:pic>
        <p:nvPicPr>
          <p:cNvPr id="5" name="Picture 4">
            <a:extLst>
              <a:ext uri="{FF2B5EF4-FFF2-40B4-BE49-F238E27FC236}">
                <a16:creationId xmlns:a16="http://schemas.microsoft.com/office/drawing/2014/main" id="{E0903CEF-230F-3DEF-944F-2478EB6A6D7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15600" y="1"/>
            <a:ext cx="1686150" cy="936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F269D-A77C-4460-87B1-D162DD61785B}"/>
              </a:ext>
            </a:extLst>
          </p:cNvPr>
          <p:cNvSpPr>
            <a:spLocks noGrp="1"/>
          </p:cNvSpPr>
          <p:nvPr>
            <p:ph type="title"/>
          </p:nvPr>
        </p:nvSpPr>
        <p:spPr>
          <a:xfrm>
            <a:off x="1450338" y="-6927"/>
            <a:ext cx="20212217" cy="732454"/>
          </a:xfrm>
        </p:spPr>
        <p:txBody>
          <a:bodyPr/>
          <a:lstStyle/>
          <a:p>
            <a:endParaRPr lang="en-US"/>
          </a:p>
        </p:txBody>
      </p:sp>
      <p:graphicFrame>
        <p:nvGraphicFramePr>
          <p:cNvPr id="4" name="Table 3">
            <a:extLst>
              <a:ext uri="{FF2B5EF4-FFF2-40B4-BE49-F238E27FC236}">
                <a16:creationId xmlns:a16="http://schemas.microsoft.com/office/drawing/2014/main" id="{97B0F055-228C-48F6-8147-C5934A9EF75E}"/>
              </a:ext>
            </a:extLst>
          </p:cNvPr>
          <p:cNvGraphicFramePr>
            <a:graphicFrameLocks noGrp="1"/>
          </p:cNvGraphicFramePr>
          <p:nvPr>
            <p:extLst>
              <p:ext uri="{D42A27DB-BD31-4B8C-83A1-F6EECF244321}">
                <p14:modId xmlns:p14="http://schemas.microsoft.com/office/powerpoint/2010/main" val="1707766625"/>
              </p:ext>
            </p:extLst>
          </p:nvPr>
        </p:nvGraphicFramePr>
        <p:xfrm>
          <a:off x="224415" y="96341"/>
          <a:ext cx="11967585" cy="6852870"/>
        </p:xfrm>
        <a:graphic>
          <a:graphicData uri="http://schemas.openxmlformats.org/drawingml/2006/table">
            <a:tbl>
              <a:tblPr>
                <a:tableStyleId>{3C2FFA5D-87B4-456A-9821-1D502468CF0F}</a:tableStyleId>
              </a:tblPr>
              <a:tblGrid>
                <a:gridCol w="2393517">
                  <a:extLst>
                    <a:ext uri="{9D8B030D-6E8A-4147-A177-3AD203B41FA5}">
                      <a16:colId xmlns:a16="http://schemas.microsoft.com/office/drawing/2014/main" val="615217994"/>
                    </a:ext>
                  </a:extLst>
                </a:gridCol>
                <a:gridCol w="2393517">
                  <a:extLst>
                    <a:ext uri="{9D8B030D-6E8A-4147-A177-3AD203B41FA5}">
                      <a16:colId xmlns:a16="http://schemas.microsoft.com/office/drawing/2014/main" val="1811591403"/>
                    </a:ext>
                  </a:extLst>
                </a:gridCol>
                <a:gridCol w="2393517">
                  <a:extLst>
                    <a:ext uri="{9D8B030D-6E8A-4147-A177-3AD203B41FA5}">
                      <a16:colId xmlns:a16="http://schemas.microsoft.com/office/drawing/2014/main" val="1011959722"/>
                    </a:ext>
                  </a:extLst>
                </a:gridCol>
                <a:gridCol w="2393517">
                  <a:extLst>
                    <a:ext uri="{9D8B030D-6E8A-4147-A177-3AD203B41FA5}">
                      <a16:colId xmlns:a16="http://schemas.microsoft.com/office/drawing/2014/main" val="1688248839"/>
                    </a:ext>
                  </a:extLst>
                </a:gridCol>
                <a:gridCol w="2393517">
                  <a:extLst>
                    <a:ext uri="{9D8B030D-6E8A-4147-A177-3AD203B41FA5}">
                      <a16:colId xmlns:a16="http://schemas.microsoft.com/office/drawing/2014/main" val="2241527497"/>
                    </a:ext>
                  </a:extLst>
                </a:gridCol>
              </a:tblGrid>
              <a:tr h="376856">
                <a:tc>
                  <a:txBody>
                    <a:bodyPr/>
                    <a:lstStyle/>
                    <a:p>
                      <a:r>
                        <a:rPr lang="en-US" sz="1600" b="1"/>
                        <a:t>Factor</a:t>
                      </a:r>
                      <a:endParaRPr lang="en-US" sz="1600"/>
                    </a:p>
                  </a:txBody>
                  <a:tcPr marL="37798" marR="37798" marT="18899" marB="18899" anchor="ctr"/>
                </a:tc>
                <a:tc>
                  <a:txBody>
                    <a:bodyPr/>
                    <a:lstStyle/>
                    <a:p>
                      <a:r>
                        <a:rPr lang="en-US" sz="1600" b="1"/>
                        <a:t>Functional Structure</a:t>
                      </a:r>
                      <a:endParaRPr lang="en-US" sz="1600"/>
                    </a:p>
                  </a:txBody>
                  <a:tcPr marL="37798" marR="37798" marT="18899" marB="18899" anchor="ctr"/>
                </a:tc>
                <a:tc>
                  <a:txBody>
                    <a:bodyPr/>
                    <a:lstStyle/>
                    <a:p>
                      <a:r>
                        <a:rPr lang="en-US" sz="1600" b="1"/>
                        <a:t>Projectized Structure</a:t>
                      </a:r>
                      <a:endParaRPr lang="en-US" sz="1600"/>
                    </a:p>
                  </a:txBody>
                  <a:tcPr marL="37798" marR="37798" marT="18899" marB="18899" anchor="ctr"/>
                </a:tc>
                <a:tc>
                  <a:txBody>
                    <a:bodyPr/>
                    <a:lstStyle/>
                    <a:p>
                      <a:r>
                        <a:rPr lang="en-US" sz="1600" b="1"/>
                        <a:t>Matrix Structure</a:t>
                      </a:r>
                      <a:endParaRPr lang="en-US" sz="1600"/>
                    </a:p>
                  </a:txBody>
                  <a:tcPr marL="37798" marR="37798" marT="18899" marB="18899" anchor="ctr"/>
                </a:tc>
                <a:tc>
                  <a:txBody>
                    <a:bodyPr/>
                    <a:lstStyle/>
                    <a:p>
                      <a:r>
                        <a:rPr lang="en-US" sz="1600" b="1"/>
                        <a:t>Composite Structure</a:t>
                      </a:r>
                      <a:endParaRPr lang="en-US" sz="1600"/>
                    </a:p>
                  </a:txBody>
                  <a:tcPr marL="37798" marR="37798" marT="18899" marB="18899" anchor="ctr"/>
                </a:tc>
                <a:extLst>
                  <a:ext uri="{0D108BD9-81ED-4DB2-BD59-A6C34878D82A}">
                    <a16:rowId xmlns:a16="http://schemas.microsoft.com/office/drawing/2014/main" val="273423172"/>
                  </a:ext>
                </a:extLst>
              </a:tr>
              <a:tr h="1022898">
                <a:tc>
                  <a:txBody>
                    <a:bodyPr/>
                    <a:lstStyle/>
                    <a:p>
                      <a:r>
                        <a:rPr lang="en-US" sz="1600" b="1"/>
                        <a:t>Project Complexity</a:t>
                      </a:r>
                      <a:endParaRPr lang="en-US" sz="1600"/>
                    </a:p>
                  </a:txBody>
                  <a:tcPr marL="37798" marR="37798" marT="18899" marB="18899" anchor="ctr"/>
                </a:tc>
                <a:tc>
                  <a:txBody>
                    <a:bodyPr/>
                    <a:lstStyle/>
                    <a:p>
                      <a:r>
                        <a:rPr lang="en-US" sz="1600"/>
                        <a:t>Suitable for less complex projects.</a:t>
                      </a:r>
                    </a:p>
                  </a:txBody>
                  <a:tcPr marL="37798" marR="37798" marT="18899" marB="18899" anchor="ctr"/>
                </a:tc>
                <a:tc>
                  <a:txBody>
                    <a:bodyPr/>
                    <a:lstStyle/>
                    <a:p>
                      <a:r>
                        <a:rPr lang="en-US" sz="1600"/>
                        <a:t>Ideal for complex projects requiring full focus.</a:t>
                      </a:r>
                    </a:p>
                  </a:txBody>
                  <a:tcPr marL="37798" marR="37798" marT="18899" marB="18899" anchor="ctr"/>
                </a:tc>
                <a:tc>
                  <a:txBody>
                    <a:bodyPr/>
                    <a:lstStyle/>
                    <a:p>
                      <a:r>
                        <a:rPr lang="en-US" sz="1600"/>
                        <a:t>Good for projects needing collaboration across functions.</a:t>
                      </a:r>
                    </a:p>
                  </a:txBody>
                  <a:tcPr marL="37798" marR="37798" marT="18899" marB="18899" anchor="ctr"/>
                </a:tc>
                <a:tc>
                  <a:txBody>
                    <a:bodyPr/>
                    <a:lstStyle/>
                    <a:p>
                      <a:r>
                        <a:rPr lang="en-US" sz="1600"/>
                        <a:t>Flexible; adapts to project complexity.</a:t>
                      </a:r>
                    </a:p>
                  </a:txBody>
                  <a:tcPr marL="37798" marR="37798" marT="18899" marB="18899" anchor="ctr"/>
                </a:tc>
                <a:extLst>
                  <a:ext uri="{0D108BD9-81ED-4DB2-BD59-A6C34878D82A}">
                    <a16:rowId xmlns:a16="http://schemas.microsoft.com/office/drawing/2014/main" val="950122699"/>
                  </a:ext>
                </a:extLst>
              </a:tr>
              <a:tr h="861388">
                <a:tc>
                  <a:txBody>
                    <a:bodyPr/>
                    <a:lstStyle/>
                    <a:p>
                      <a:r>
                        <a:rPr lang="en-US" sz="1600" b="1"/>
                        <a:t>Resource Availability</a:t>
                      </a:r>
                      <a:endParaRPr lang="en-US" sz="1600"/>
                    </a:p>
                  </a:txBody>
                  <a:tcPr marL="37798" marR="37798" marT="18899" marB="18899" anchor="ctr"/>
                </a:tc>
                <a:tc>
                  <a:txBody>
                    <a:bodyPr/>
                    <a:lstStyle/>
                    <a:p>
                      <a:r>
                        <a:rPr lang="en-US" sz="1600" dirty="0"/>
                        <a:t>Resources are used within functional areas.</a:t>
                      </a:r>
                    </a:p>
                  </a:txBody>
                  <a:tcPr marL="37798" marR="37798" marT="18899" marB="18899" anchor="ctr"/>
                </a:tc>
                <a:tc>
                  <a:txBody>
                    <a:bodyPr/>
                    <a:lstStyle/>
                    <a:p>
                      <a:r>
                        <a:rPr lang="en-US" sz="1600"/>
                        <a:t>Resources fully dedicated to the project.</a:t>
                      </a:r>
                    </a:p>
                  </a:txBody>
                  <a:tcPr marL="37798" marR="37798" marT="18899" marB="18899" anchor="ctr"/>
                </a:tc>
                <a:tc>
                  <a:txBody>
                    <a:bodyPr/>
                    <a:lstStyle/>
                    <a:p>
                      <a:r>
                        <a:rPr lang="en-US" sz="1600"/>
                        <a:t>Shared resources across projects, optimizing usage.</a:t>
                      </a:r>
                    </a:p>
                  </a:txBody>
                  <a:tcPr marL="37798" marR="37798" marT="18899" marB="18899" anchor="ctr"/>
                </a:tc>
                <a:tc>
                  <a:txBody>
                    <a:bodyPr/>
                    <a:lstStyle/>
                    <a:p>
                      <a:r>
                        <a:rPr lang="en-US" sz="1600"/>
                        <a:t>Varies; tailored to resource needs.</a:t>
                      </a:r>
                    </a:p>
                  </a:txBody>
                  <a:tcPr marL="37798" marR="37798" marT="18899" marB="18899" anchor="ctr"/>
                </a:tc>
                <a:extLst>
                  <a:ext uri="{0D108BD9-81ED-4DB2-BD59-A6C34878D82A}">
                    <a16:rowId xmlns:a16="http://schemas.microsoft.com/office/drawing/2014/main" val="2658912174"/>
                  </a:ext>
                </a:extLst>
              </a:tr>
              <a:tr h="699878">
                <a:tc>
                  <a:txBody>
                    <a:bodyPr/>
                    <a:lstStyle/>
                    <a:p>
                      <a:r>
                        <a:rPr lang="en-US" sz="1600" b="1" dirty="0"/>
                        <a:t>Control and Authority</a:t>
                      </a:r>
                      <a:endParaRPr lang="en-US" sz="1600" dirty="0"/>
                    </a:p>
                  </a:txBody>
                  <a:tcPr marL="37798" marR="37798" marT="18899" marB="18899" anchor="ctr"/>
                </a:tc>
                <a:tc>
                  <a:txBody>
                    <a:bodyPr/>
                    <a:lstStyle/>
                    <a:p>
                      <a:r>
                        <a:rPr lang="en-US" sz="1600"/>
                        <a:t>Functional managers hold primary authority.</a:t>
                      </a:r>
                    </a:p>
                  </a:txBody>
                  <a:tcPr marL="37798" marR="37798" marT="18899" marB="18899" anchor="ctr"/>
                </a:tc>
                <a:tc>
                  <a:txBody>
                    <a:bodyPr/>
                    <a:lstStyle/>
                    <a:p>
                      <a:r>
                        <a:rPr lang="en-US" sz="1600"/>
                        <a:t>Project managers have total authority.</a:t>
                      </a:r>
                    </a:p>
                  </a:txBody>
                  <a:tcPr marL="37798" marR="37798" marT="18899" marB="18899" anchor="ctr"/>
                </a:tc>
                <a:tc>
                  <a:txBody>
                    <a:bodyPr/>
                    <a:lstStyle/>
                    <a:p>
                      <a:r>
                        <a:rPr lang="en-US" sz="1600" dirty="0"/>
                        <a:t>Shared authority can lead to conflicts.</a:t>
                      </a:r>
                    </a:p>
                  </a:txBody>
                  <a:tcPr marL="37798" marR="37798" marT="18899" marB="18899" anchor="ctr"/>
                </a:tc>
                <a:tc>
                  <a:txBody>
                    <a:bodyPr/>
                    <a:lstStyle/>
                    <a:p>
                      <a:r>
                        <a:rPr lang="en-US" sz="1600"/>
                        <a:t>Varies; depends on project needs.</a:t>
                      </a:r>
                    </a:p>
                  </a:txBody>
                  <a:tcPr marL="37798" marR="37798" marT="18899" marB="18899" anchor="ctr"/>
                </a:tc>
                <a:extLst>
                  <a:ext uri="{0D108BD9-81ED-4DB2-BD59-A6C34878D82A}">
                    <a16:rowId xmlns:a16="http://schemas.microsoft.com/office/drawing/2014/main" val="2924566709"/>
                  </a:ext>
                </a:extLst>
              </a:tr>
              <a:tr h="861388">
                <a:tc>
                  <a:txBody>
                    <a:bodyPr/>
                    <a:lstStyle/>
                    <a:p>
                      <a:r>
                        <a:rPr lang="en-US" sz="1600" b="1"/>
                        <a:t>Communication</a:t>
                      </a:r>
                      <a:endParaRPr lang="en-US" sz="1600"/>
                    </a:p>
                  </a:txBody>
                  <a:tcPr marL="37798" marR="37798" marT="18899" marB="18899" anchor="ctr"/>
                </a:tc>
                <a:tc>
                  <a:txBody>
                    <a:bodyPr/>
                    <a:lstStyle/>
                    <a:p>
                      <a:r>
                        <a:rPr lang="en-US" sz="1600" dirty="0"/>
                        <a:t>Limited between departments; hierarchical.</a:t>
                      </a:r>
                    </a:p>
                  </a:txBody>
                  <a:tcPr marL="37798" marR="37798" marT="18899" marB="18899" anchor="ctr"/>
                </a:tc>
                <a:tc>
                  <a:txBody>
                    <a:bodyPr/>
                    <a:lstStyle/>
                    <a:p>
                      <a:r>
                        <a:rPr lang="en-US" sz="1600"/>
                        <a:t>Direct and frequent communication within the project.</a:t>
                      </a:r>
                    </a:p>
                  </a:txBody>
                  <a:tcPr marL="37798" marR="37798" marT="18899" marB="18899" anchor="ctr"/>
                </a:tc>
                <a:tc>
                  <a:txBody>
                    <a:bodyPr/>
                    <a:lstStyle/>
                    <a:p>
                      <a:r>
                        <a:rPr lang="en-US" sz="1600"/>
                        <a:t>Requires clear communication channels.</a:t>
                      </a:r>
                    </a:p>
                  </a:txBody>
                  <a:tcPr marL="37798" marR="37798" marT="18899" marB="18899" anchor="ctr"/>
                </a:tc>
                <a:tc>
                  <a:txBody>
                    <a:bodyPr/>
                    <a:lstStyle/>
                    <a:p>
                      <a:r>
                        <a:rPr lang="en-US" sz="1600"/>
                        <a:t>Varies based on the structure used.</a:t>
                      </a:r>
                    </a:p>
                  </a:txBody>
                  <a:tcPr marL="37798" marR="37798" marT="18899" marB="18899" anchor="ctr"/>
                </a:tc>
                <a:extLst>
                  <a:ext uri="{0D108BD9-81ED-4DB2-BD59-A6C34878D82A}">
                    <a16:rowId xmlns:a16="http://schemas.microsoft.com/office/drawing/2014/main" val="4035556077"/>
                  </a:ext>
                </a:extLst>
              </a:tr>
              <a:tr h="699878">
                <a:tc>
                  <a:txBody>
                    <a:bodyPr/>
                    <a:lstStyle/>
                    <a:p>
                      <a:r>
                        <a:rPr lang="en-US" sz="1600" b="1"/>
                        <a:t>Decision-Making Speed</a:t>
                      </a:r>
                      <a:endParaRPr lang="en-US" sz="1600"/>
                    </a:p>
                  </a:txBody>
                  <a:tcPr marL="37798" marR="37798" marT="18899" marB="18899" anchor="ctr"/>
                </a:tc>
                <a:tc>
                  <a:txBody>
                    <a:bodyPr/>
                    <a:lstStyle/>
                    <a:p>
                      <a:r>
                        <a:rPr lang="en-US" sz="1600" dirty="0"/>
                        <a:t>Slower due to hierarchical processes.</a:t>
                      </a:r>
                    </a:p>
                  </a:txBody>
                  <a:tcPr marL="37798" marR="37798" marT="18899" marB="18899" anchor="ctr"/>
                </a:tc>
                <a:tc>
                  <a:txBody>
                    <a:bodyPr/>
                    <a:lstStyle/>
                    <a:p>
                      <a:r>
                        <a:rPr lang="en-US" sz="1600"/>
                        <a:t>Faster due to focused project management.</a:t>
                      </a:r>
                    </a:p>
                  </a:txBody>
                  <a:tcPr marL="37798" marR="37798" marT="18899" marB="18899" anchor="ctr"/>
                </a:tc>
                <a:tc>
                  <a:txBody>
                    <a:bodyPr/>
                    <a:lstStyle/>
                    <a:p>
                      <a:r>
                        <a:rPr lang="en-US" sz="1600"/>
                        <a:t>Moderate speed; depends on authority balance.</a:t>
                      </a:r>
                    </a:p>
                  </a:txBody>
                  <a:tcPr marL="37798" marR="37798" marT="18899" marB="18899" anchor="ctr"/>
                </a:tc>
                <a:tc>
                  <a:txBody>
                    <a:bodyPr/>
                    <a:lstStyle/>
                    <a:p>
                      <a:r>
                        <a:rPr lang="en-US" sz="1600"/>
                        <a:t>Flexible; can be quick if structured correctly.</a:t>
                      </a:r>
                    </a:p>
                  </a:txBody>
                  <a:tcPr marL="37798" marR="37798" marT="18899" marB="18899" anchor="ctr"/>
                </a:tc>
                <a:extLst>
                  <a:ext uri="{0D108BD9-81ED-4DB2-BD59-A6C34878D82A}">
                    <a16:rowId xmlns:a16="http://schemas.microsoft.com/office/drawing/2014/main" val="3284080976"/>
                  </a:ext>
                </a:extLst>
              </a:tr>
              <a:tr h="699878">
                <a:tc>
                  <a:txBody>
                    <a:bodyPr/>
                    <a:lstStyle/>
                    <a:p>
                      <a:r>
                        <a:rPr lang="en-US" sz="1600" b="1"/>
                        <a:t>Flexibility and Adaptability</a:t>
                      </a:r>
                      <a:endParaRPr lang="en-US" sz="1600"/>
                    </a:p>
                  </a:txBody>
                  <a:tcPr marL="37798" marR="37798" marT="18899" marB="18899" anchor="ctr"/>
                </a:tc>
                <a:tc>
                  <a:txBody>
                    <a:bodyPr/>
                    <a:lstStyle/>
                    <a:p>
                      <a:r>
                        <a:rPr lang="en-US" sz="1600"/>
                        <a:t>Less flexible; changes can be slow to implement.</a:t>
                      </a:r>
                    </a:p>
                  </a:txBody>
                  <a:tcPr marL="37798" marR="37798" marT="18899" marB="18899" anchor="ctr"/>
                </a:tc>
                <a:tc>
                  <a:txBody>
                    <a:bodyPr/>
                    <a:lstStyle/>
                    <a:p>
                      <a:r>
                        <a:rPr lang="en-US" sz="1600"/>
                        <a:t>Less adaptable once the project starts.</a:t>
                      </a:r>
                    </a:p>
                  </a:txBody>
                  <a:tcPr marL="37798" marR="37798" marT="18899" marB="18899" anchor="ctr"/>
                </a:tc>
                <a:tc>
                  <a:txBody>
                    <a:bodyPr/>
                    <a:lstStyle/>
                    <a:p>
                      <a:r>
                        <a:rPr lang="en-US" sz="1600"/>
                        <a:t>Moderate flexibility; can adapt based on needs.</a:t>
                      </a:r>
                    </a:p>
                  </a:txBody>
                  <a:tcPr marL="37798" marR="37798" marT="18899" marB="18899" anchor="ctr"/>
                </a:tc>
                <a:tc>
                  <a:txBody>
                    <a:bodyPr/>
                    <a:lstStyle/>
                    <a:p>
                      <a:r>
                        <a:rPr lang="en-US" sz="1600"/>
                        <a:t>Highly adaptable to project requirements.</a:t>
                      </a:r>
                    </a:p>
                  </a:txBody>
                  <a:tcPr marL="37798" marR="37798" marT="18899" marB="18899" anchor="ctr"/>
                </a:tc>
                <a:extLst>
                  <a:ext uri="{0D108BD9-81ED-4DB2-BD59-A6C34878D82A}">
                    <a16:rowId xmlns:a16="http://schemas.microsoft.com/office/drawing/2014/main" val="1969199899"/>
                  </a:ext>
                </a:extLst>
              </a:tr>
              <a:tr h="861388">
                <a:tc>
                  <a:txBody>
                    <a:bodyPr/>
                    <a:lstStyle/>
                    <a:p>
                      <a:r>
                        <a:rPr lang="en-US" sz="1600" b="1"/>
                        <a:t>Team Dynamics</a:t>
                      </a:r>
                      <a:endParaRPr lang="en-US" sz="1600"/>
                    </a:p>
                  </a:txBody>
                  <a:tcPr marL="37798" marR="37798" marT="18899" marB="18899" anchor="ctr"/>
                </a:tc>
                <a:tc>
                  <a:txBody>
                    <a:bodyPr/>
                    <a:lstStyle/>
                    <a:p>
                      <a:r>
                        <a:rPr lang="en-US" sz="1600" dirty="0"/>
                        <a:t>Strong functional relationships; weaker project focus.</a:t>
                      </a:r>
                    </a:p>
                  </a:txBody>
                  <a:tcPr marL="37798" marR="37798" marT="18899" marB="18899" anchor="ctr"/>
                </a:tc>
                <a:tc>
                  <a:txBody>
                    <a:bodyPr/>
                    <a:lstStyle/>
                    <a:p>
                      <a:r>
                        <a:rPr lang="en-US" sz="1600"/>
                        <a:t>Strong team cohesion around project goals.</a:t>
                      </a:r>
                    </a:p>
                  </a:txBody>
                  <a:tcPr marL="37798" marR="37798" marT="18899" marB="18899" anchor="ctr"/>
                </a:tc>
                <a:tc>
                  <a:txBody>
                    <a:bodyPr/>
                    <a:lstStyle/>
                    <a:p>
                      <a:r>
                        <a:rPr lang="en-US" sz="1600"/>
                        <a:t>Mixed dynamics can create challenges.</a:t>
                      </a:r>
                    </a:p>
                  </a:txBody>
                  <a:tcPr marL="37798" marR="37798" marT="18899" marB="18899" anchor="ctr"/>
                </a:tc>
                <a:tc>
                  <a:txBody>
                    <a:bodyPr/>
                    <a:lstStyle/>
                    <a:p>
                      <a:r>
                        <a:rPr lang="en-US" sz="1600"/>
                        <a:t>Depends on the combination of structures used.</a:t>
                      </a:r>
                    </a:p>
                  </a:txBody>
                  <a:tcPr marL="37798" marR="37798" marT="18899" marB="18899" anchor="ctr"/>
                </a:tc>
                <a:extLst>
                  <a:ext uri="{0D108BD9-81ED-4DB2-BD59-A6C34878D82A}">
                    <a16:rowId xmlns:a16="http://schemas.microsoft.com/office/drawing/2014/main" val="3434586978"/>
                  </a:ext>
                </a:extLst>
              </a:tr>
              <a:tr h="699878">
                <a:tc>
                  <a:txBody>
                    <a:bodyPr/>
                    <a:lstStyle/>
                    <a:p>
                      <a:r>
                        <a:rPr lang="en-US" sz="1600" b="1"/>
                        <a:t>Suitable Industries</a:t>
                      </a:r>
                      <a:endParaRPr lang="en-US" sz="1600"/>
                    </a:p>
                  </a:txBody>
                  <a:tcPr marL="37798" marR="37798" marT="18899" marB="18899" anchor="ctr"/>
                </a:tc>
                <a:tc>
                  <a:txBody>
                    <a:bodyPr/>
                    <a:lstStyle/>
                    <a:p>
                      <a:r>
                        <a:rPr lang="en-US" sz="1600"/>
                        <a:t>Common in manufacturing and operations.</a:t>
                      </a:r>
                    </a:p>
                  </a:txBody>
                  <a:tcPr marL="37798" marR="37798" marT="18899" marB="18899" anchor="ctr"/>
                </a:tc>
                <a:tc>
                  <a:txBody>
                    <a:bodyPr/>
                    <a:lstStyle/>
                    <a:p>
                      <a:r>
                        <a:rPr lang="en-US" sz="1600"/>
                        <a:t>Common in construction and large-scale projects.</a:t>
                      </a:r>
                    </a:p>
                  </a:txBody>
                  <a:tcPr marL="37798" marR="37798" marT="18899" marB="18899" anchor="ctr"/>
                </a:tc>
                <a:tc>
                  <a:txBody>
                    <a:bodyPr/>
                    <a:lstStyle/>
                    <a:p>
                      <a:r>
                        <a:rPr lang="en-US" sz="1600"/>
                        <a:t>Used in various industries, especially tech and consulting.</a:t>
                      </a:r>
                    </a:p>
                  </a:txBody>
                  <a:tcPr marL="37798" marR="37798" marT="18899" marB="18899" anchor="ctr"/>
                </a:tc>
                <a:tc>
                  <a:txBody>
                    <a:bodyPr/>
                    <a:lstStyle/>
                    <a:p>
                      <a:r>
                        <a:rPr lang="en-US" sz="1600" dirty="0"/>
                        <a:t>Applicable across sectors; tailored to needs.</a:t>
                      </a:r>
                    </a:p>
                  </a:txBody>
                  <a:tcPr marL="37798" marR="37798" marT="18899" marB="18899" anchor="ctr"/>
                </a:tc>
                <a:extLst>
                  <a:ext uri="{0D108BD9-81ED-4DB2-BD59-A6C34878D82A}">
                    <a16:rowId xmlns:a16="http://schemas.microsoft.com/office/drawing/2014/main" val="60150757"/>
                  </a:ext>
                </a:extLst>
              </a:tr>
            </a:tbl>
          </a:graphicData>
        </a:graphic>
      </p:graphicFrame>
    </p:spTree>
    <p:extLst>
      <p:ext uri="{BB962C8B-B14F-4D97-AF65-F5344CB8AC3E}">
        <p14:creationId xmlns:p14="http://schemas.microsoft.com/office/powerpoint/2010/main" val="23332220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55271"/>
            <a:ext cx="10091420" cy="392430"/>
          </a:xfrm>
          <a:custGeom>
            <a:avLst/>
            <a:gdLst/>
            <a:ahLst/>
            <a:cxnLst/>
            <a:rect l="l" t="t" r="r" b="b"/>
            <a:pathLst>
              <a:path w="10091420" h="392430">
                <a:moveTo>
                  <a:pt x="10091056" y="0"/>
                </a:moveTo>
                <a:lnTo>
                  <a:pt x="0" y="0"/>
                </a:lnTo>
                <a:lnTo>
                  <a:pt x="0" y="391885"/>
                </a:lnTo>
                <a:lnTo>
                  <a:pt x="10091056" y="391885"/>
                </a:lnTo>
                <a:lnTo>
                  <a:pt x="10091056" y="0"/>
                </a:lnTo>
                <a:close/>
              </a:path>
            </a:pathLst>
          </a:custGeom>
          <a:solidFill>
            <a:srgbClr val="FFFFFF"/>
          </a:solidFill>
        </p:spPr>
        <p:txBody>
          <a:bodyPr wrap="square" lIns="0" tIns="0" rIns="0" bIns="0" rtlCol="0"/>
          <a:lstStyle/>
          <a:p>
            <a:endParaRPr/>
          </a:p>
        </p:txBody>
      </p:sp>
      <p:sp>
        <p:nvSpPr>
          <p:cNvPr id="3" name="object 3"/>
          <p:cNvSpPr txBox="1">
            <a:spLocks noGrp="1"/>
          </p:cNvSpPr>
          <p:nvPr>
            <p:ph type="title"/>
          </p:nvPr>
        </p:nvSpPr>
        <p:spPr>
          <a:xfrm>
            <a:off x="3445320" y="2416436"/>
            <a:ext cx="5716905" cy="832485"/>
          </a:xfrm>
          <a:prstGeom prst="rect">
            <a:avLst/>
          </a:prstGeom>
        </p:spPr>
        <p:txBody>
          <a:bodyPr vert="horz" wrap="square" lIns="0" tIns="12065" rIns="0" bIns="0" rtlCol="0">
            <a:spAutoFit/>
          </a:bodyPr>
          <a:lstStyle/>
          <a:p>
            <a:pPr marL="12700">
              <a:lnSpc>
                <a:spcPct val="100000"/>
              </a:lnSpc>
              <a:spcBef>
                <a:spcPts val="95"/>
              </a:spcBef>
            </a:pPr>
            <a:r>
              <a:rPr sz="5300" spc="110" dirty="0">
                <a:solidFill>
                  <a:srgbClr val="C00000"/>
                </a:solidFill>
              </a:rPr>
              <a:t>Defining</a:t>
            </a:r>
            <a:r>
              <a:rPr sz="5300" spc="145" dirty="0">
                <a:solidFill>
                  <a:srgbClr val="C00000"/>
                </a:solidFill>
              </a:rPr>
              <a:t> </a:t>
            </a:r>
            <a:r>
              <a:rPr sz="5300" spc="110" dirty="0">
                <a:solidFill>
                  <a:srgbClr val="C00000"/>
                </a:solidFill>
              </a:rPr>
              <a:t>the</a:t>
            </a:r>
            <a:r>
              <a:rPr sz="5300" spc="155" dirty="0">
                <a:solidFill>
                  <a:srgbClr val="C00000"/>
                </a:solidFill>
              </a:rPr>
              <a:t> </a:t>
            </a:r>
            <a:r>
              <a:rPr sz="5300" spc="85" dirty="0">
                <a:solidFill>
                  <a:srgbClr val="C00000"/>
                </a:solidFill>
              </a:rPr>
              <a:t>Project</a:t>
            </a:r>
            <a:endParaRPr sz="53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19093" y="2217420"/>
            <a:ext cx="10259695" cy="2211070"/>
          </a:xfrm>
          <a:prstGeom prst="rect">
            <a:avLst/>
          </a:prstGeom>
        </p:spPr>
        <p:txBody>
          <a:bodyPr vert="horz" wrap="square" lIns="0" tIns="12700" rIns="0" bIns="0" rtlCol="0">
            <a:spAutoFit/>
          </a:bodyPr>
          <a:lstStyle/>
          <a:p>
            <a:pPr marL="12700" marR="5080" algn="ctr">
              <a:lnSpc>
                <a:spcPct val="108200"/>
              </a:lnSpc>
              <a:spcBef>
                <a:spcPts val="100"/>
              </a:spcBef>
            </a:pPr>
            <a:r>
              <a:rPr sz="4400" dirty="0">
                <a:latin typeface="Calibri"/>
                <a:cs typeface="Calibri"/>
              </a:rPr>
              <a:t>“</a:t>
            </a:r>
            <a:r>
              <a:rPr sz="4400" dirty="0">
                <a:solidFill>
                  <a:srgbClr val="C00000"/>
                </a:solidFill>
                <a:latin typeface="Calibri"/>
                <a:cs typeface="Calibri"/>
              </a:rPr>
              <a:t>We</a:t>
            </a:r>
            <a:r>
              <a:rPr sz="4400" spc="-120" dirty="0">
                <a:solidFill>
                  <a:srgbClr val="C00000"/>
                </a:solidFill>
                <a:latin typeface="Calibri"/>
                <a:cs typeface="Calibri"/>
              </a:rPr>
              <a:t> </a:t>
            </a:r>
            <a:r>
              <a:rPr sz="4400" dirty="0">
                <a:solidFill>
                  <a:srgbClr val="C00000"/>
                </a:solidFill>
                <a:latin typeface="Calibri"/>
                <a:cs typeface="Calibri"/>
              </a:rPr>
              <a:t>can</a:t>
            </a:r>
            <a:r>
              <a:rPr sz="4400" spc="-120" dirty="0">
                <a:solidFill>
                  <a:srgbClr val="C00000"/>
                </a:solidFill>
                <a:latin typeface="Calibri"/>
                <a:cs typeface="Calibri"/>
              </a:rPr>
              <a:t> </a:t>
            </a:r>
            <a:r>
              <a:rPr sz="4400" spc="-10" dirty="0">
                <a:solidFill>
                  <a:srgbClr val="C00000"/>
                </a:solidFill>
                <a:latin typeface="Calibri"/>
                <a:cs typeface="Calibri"/>
              </a:rPr>
              <a:t>control</a:t>
            </a:r>
            <a:r>
              <a:rPr sz="4400" spc="-120" dirty="0">
                <a:solidFill>
                  <a:srgbClr val="C00000"/>
                </a:solidFill>
                <a:latin typeface="Calibri"/>
                <a:cs typeface="Calibri"/>
              </a:rPr>
              <a:t> </a:t>
            </a:r>
            <a:r>
              <a:rPr sz="4400" dirty="0">
                <a:solidFill>
                  <a:srgbClr val="C00000"/>
                </a:solidFill>
                <a:latin typeface="Calibri"/>
                <a:cs typeface="Calibri"/>
              </a:rPr>
              <a:t>only</a:t>
            </a:r>
            <a:r>
              <a:rPr sz="4400" spc="-120" dirty="0">
                <a:solidFill>
                  <a:srgbClr val="C00000"/>
                </a:solidFill>
                <a:latin typeface="Calibri"/>
                <a:cs typeface="Calibri"/>
              </a:rPr>
              <a:t> </a:t>
            </a:r>
            <a:r>
              <a:rPr sz="4400" dirty="0">
                <a:solidFill>
                  <a:srgbClr val="C00000"/>
                </a:solidFill>
                <a:latin typeface="Calibri"/>
                <a:cs typeface="Calibri"/>
              </a:rPr>
              <a:t>what</a:t>
            </a:r>
            <a:r>
              <a:rPr sz="4400" spc="-120" dirty="0">
                <a:solidFill>
                  <a:srgbClr val="C00000"/>
                </a:solidFill>
                <a:latin typeface="Calibri"/>
                <a:cs typeface="Calibri"/>
              </a:rPr>
              <a:t> </a:t>
            </a:r>
            <a:r>
              <a:rPr sz="4400" dirty="0">
                <a:solidFill>
                  <a:srgbClr val="C00000"/>
                </a:solidFill>
                <a:latin typeface="Calibri"/>
                <a:cs typeface="Calibri"/>
              </a:rPr>
              <a:t>we</a:t>
            </a:r>
            <a:r>
              <a:rPr sz="4400" spc="-120" dirty="0">
                <a:solidFill>
                  <a:srgbClr val="C00000"/>
                </a:solidFill>
                <a:latin typeface="Calibri"/>
                <a:cs typeface="Calibri"/>
              </a:rPr>
              <a:t> </a:t>
            </a:r>
            <a:r>
              <a:rPr sz="4400" dirty="0">
                <a:solidFill>
                  <a:srgbClr val="C00000"/>
                </a:solidFill>
                <a:latin typeface="Calibri"/>
                <a:cs typeface="Calibri"/>
              </a:rPr>
              <a:t>have</a:t>
            </a:r>
            <a:r>
              <a:rPr sz="4400" spc="-120" dirty="0">
                <a:solidFill>
                  <a:srgbClr val="C00000"/>
                </a:solidFill>
                <a:latin typeface="Calibri"/>
                <a:cs typeface="Calibri"/>
              </a:rPr>
              <a:t> </a:t>
            </a:r>
            <a:r>
              <a:rPr sz="4400" spc="-10" dirty="0">
                <a:solidFill>
                  <a:srgbClr val="C00000"/>
                </a:solidFill>
                <a:latin typeface="Calibri"/>
                <a:cs typeface="Calibri"/>
              </a:rPr>
              <a:t>planned</a:t>
            </a:r>
            <a:r>
              <a:rPr sz="4400" spc="-10" dirty="0">
                <a:latin typeface="Calibri"/>
                <a:cs typeface="Calibri"/>
              </a:rPr>
              <a:t>” Therefore,</a:t>
            </a:r>
            <a:endParaRPr sz="4400">
              <a:latin typeface="Calibri"/>
              <a:cs typeface="Calibri"/>
            </a:endParaRPr>
          </a:p>
          <a:p>
            <a:pPr marL="2540" algn="ctr">
              <a:lnSpc>
                <a:spcPct val="100000"/>
              </a:lnSpc>
              <a:spcBef>
                <a:spcPts val="500"/>
              </a:spcBef>
            </a:pPr>
            <a:r>
              <a:rPr sz="4400" dirty="0">
                <a:latin typeface="Calibri"/>
                <a:cs typeface="Calibri"/>
              </a:rPr>
              <a:t>Defining</a:t>
            </a:r>
            <a:r>
              <a:rPr sz="4400" spc="-105" dirty="0">
                <a:latin typeface="Calibri"/>
                <a:cs typeface="Calibri"/>
              </a:rPr>
              <a:t> </a:t>
            </a:r>
            <a:r>
              <a:rPr sz="4400" dirty="0">
                <a:latin typeface="Calibri"/>
                <a:cs typeface="Calibri"/>
              </a:rPr>
              <a:t>the</a:t>
            </a:r>
            <a:r>
              <a:rPr sz="4400" spc="-105" dirty="0">
                <a:latin typeface="Calibri"/>
                <a:cs typeface="Calibri"/>
              </a:rPr>
              <a:t> </a:t>
            </a:r>
            <a:r>
              <a:rPr sz="4400" dirty="0">
                <a:latin typeface="Calibri"/>
                <a:cs typeface="Calibri"/>
              </a:rPr>
              <a:t>project</a:t>
            </a:r>
            <a:r>
              <a:rPr sz="4400" spc="-100" dirty="0">
                <a:latin typeface="Calibri"/>
                <a:cs typeface="Calibri"/>
              </a:rPr>
              <a:t> </a:t>
            </a:r>
            <a:r>
              <a:rPr sz="4400" dirty="0">
                <a:latin typeface="Calibri"/>
                <a:cs typeface="Calibri"/>
              </a:rPr>
              <a:t>is</a:t>
            </a:r>
            <a:r>
              <a:rPr sz="4400" spc="-105" dirty="0">
                <a:latin typeface="Calibri"/>
                <a:cs typeface="Calibri"/>
              </a:rPr>
              <a:t> </a:t>
            </a:r>
            <a:r>
              <a:rPr sz="4400" dirty="0">
                <a:latin typeface="Calibri"/>
                <a:cs typeface="Calibri"/>
              </a:rPr>
              <a:t>the</a:t>
            </a:r>
            <a:r>
              <a:rPr sz="4400" spc="-100" dirty="0">
                <a:latin typeface="Calibri"/>
                <a:cs typeface="Calibri"/>
              </a:rPr>
              <a:t> </a:t>
            </a:r>
            <a:r>
              <a:rPr sz="4400" dirty="0">
                <a:latin typeface="Calibri"/>
                <a:cs typeface="Calibri"/>
              </a:rPr>
              <a:t>first</a:t>
            </a:r>
            <a:r>
              <a:rPr sz="4400" spc="-105" dirty="0">
                <a:latin typeface="Calibri"/>
                <a:cs typeface="Calibri"/>
              </a:rPr>
              <a:t> </a:t>
            </a:r>
            <a:r>
              <a:rPr sz="4400" spc="-20" dirty="0">
                <a:latin typeface="Calibri"/>
                <a:cs typeface="Calibri"/>
              </a:rPr>
              <a:t>step</a:t>
            </a:r>
            <a:endParaRPr sz="4400">
              <a:latin typeface="Calibri"/>
              <a:cs typeface="Calibri"/>
            </a:endParaRPr>
          </a:p>
        </p:txBody>
      </p:sp>
      <p:sp>
        <p:nvSpPr>
          <p:cNvPr id="3" name="object 3"/>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62</a:t>
            </a:fld>
            <a:endParaRPr spc="-25" dirty="0"/>
          </a:p>
        </p:txBody>
      </p:sp>
      <p:pic>
        <p:nvPicPr>
          <p:cNvPr id="4" name="Picture 3">
            <a:extLst>
              <a:ext uri="{FF2B5EF4-FFF2-40B4-BE49-F238E27FC236}">
                <a16:creationId xmlns:a16="http://schemas.microsoft.com/office/drawing/2014/main" id="{8443C9AB-016B-8AC5-1200-A1909A55B1C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15600" y="1"/>
            <a:ext cx="1686150" cy="936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70" dirty="0">
                <a:solidFill>
                  <a:srgbClr val="FF0000"/>
                </a:solidFill>
              </a:rPr>
              <a:t>1-</a:t>
            </a:r>
            <a:r>
              <a:rPr spc="125" dirty="0">
                <a:solidFill>
                  <a:srgbClr val="FF0000"/>
                </a:solidFill>
              </a:rPr>
              <a:t> </a:t>
            </a:r>
            <a:r>
              <a:rPr b="1" u="sng" spc="114" dirty="0">
                <a:solidFill>
                  <a:srgbClr val="FF0000"/>
                </a:solidFill>
              </a:rPr>
              <a:t>Defining the Project Scope </a:t>
            </a:r>
            <a:r>
              <a:rPr sz="1950" spc="-10" dirty="0"/>
              <a:t>(1/2)</a:t>
            </a:r>
            <a:endParaRPr sz="195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63</a:t>
            </a:fld>
            <a:endParaRPr spc="-25" dirty="0"/>
          </a:p>
        </p:txBody>
      </p:sp>
      <p:sp>
        <p:nvSpPr>
          <p:cNvPr id="3" name="object 3"/>
          <p:cNvSpPr txBox="1"/>
          <p:nvPr/>
        </p:nvSpPr>
        <p:spPr>
          <a:xfrm>
            <a:off x="574686" y="1629156"/>
            <a:ext cx="10702290" cy="4399280"/>
          </a:xfrm>
          <a:prstGeom prst="rect">
            <a:avLst/>
          </a:prstGeom>
        </p:spPr>
        <p:txBody>
          <a:bodyPr vert="horz" wrap="square" lIns="0" tIns="63500" rIns="0" bIns="0" rtlCol="0">
            <a:spAutoFit/>
          </a:bodyPr>
          <a:lstStyle/>
          <a:p>
            <a:pPr marL="241300" marR="6350" indent="-228600" algn="just">
              <a:lnSpc>
                <a:spcPts val="3500"/>
              </a:lnSpc>
              <a:spcBef>
                <a:spcPts val="500"/>
              </a:spcBef>
              <a:buFont typeface="Arial MT"/>
              <a:buChar char="•"/>
              <a:tabLst>
                <a:tab pos="241300" algn="l"/>
              </a:tabLst>
            </a:pPr>
            <a:r>
              <a:rPr sz="3200" dirty="0">
                <a:latin typeface="Calibri"/>
                <a:cs typeface="Calibri"/>
              </a:rPr>
              <a:t>Project</a:t>
            </a:r>
            <a:r>
              <a:rPr sz="3200" spc="-40" dirty="0">
                <a:latin typeface="Calibri"/>
                <a:cs typeface="Calibri"/>
              </a:rPr>
              <a:t> </a:t>
            </a:r>
            <a:r>
              <a:rPr sz="3200" dirty="0">
                <a:latin typeface="Calibri"/>
                <a:cs typeface="Calibri"/>
              </a:rPr>
              <a:t>scope</a:t>
            </a:r>
            <a:r>
              <a:rPr sz="3200" spc="-45" dirty="0">
                <a:latin typeface="Calibri"/>
                <a:cs typeface="Calibri"/>
              </a:rPr>
              <a:t> </a:t>
            </a:r>
            <a:r>
              <a:rPr sz="3200" dirty="0">
                <a:latin typeface="Calibri"/>
                <a:cs typeface="Calibri"/>
              </a:rPr>
              <a:t>is</a:t>
            </a:r>
            <a:r>
              <a:rPr sz="3200" spc="-40" dirty="0">
                <a:latin typeface="Calibri"/>
                <a:cs typeface="Calibri"/>
              </a:rPr>
              <a:t> </a:t>
            </a:r>
            <a:r>
              <a:rPr sz="3200" dirty="0">
                <a:latin typeface="Calibri"/>
                <a:cs typeface="Calibri"/>
              </a:rPr>
              <a:t>a</a:t>
            </a:r>
            <a:r>
              <a:rPr sz="3200" spc="-35" dirty="0">
                <a:latin typeface="Calibri"/>
                <a:cs typeface="Calibri"/>
              </a:rPr>
              <a:t> </a:t>
            </a:r>
            <a:r>
              <a:rPr sz="3200" dirty="0">
                <a:latin typeface="Calibri"/>
                <a:cs typeface="Calibri"/>
              </a:rPr>
              <a:t>definition</a:t>
            </a:r>
            <a:r>
              <a:rPr sz="3200" spc="-40" dirty="0">
                <a:latin typeface="Calibri"/>
                <a:cs typeface="Calibri"/>
              </a:rPr>
              <a:t> </a:t>
            </a:r>
            <a:r>
              <a:rPr sz="3200" dirty="0">
                <a:latin typeface="Calibri"/>
                <a:cs typeface="Calibri"/>
              </a:rPr>
              <a:t>of</a:t>
            </a:r>
            <a:r>
              <a:rPr sz="3200" spc="-40" dirty="0">
                <a:latin typeface="Calibri"/>
                <a:cs typeface="Calibri"/>
              </a:rPr>
              <a:t> </a:t>
            </a:r>
            <a:r>
              <a:rPr sz="3200" dirty="0">
                <a:latin typeface="Calibri"/>
                <a:cs typeface="Calibri"/>
              </a:rPr>
              <a:t>the</a:t>
            </a:r>
            <a:r>
              <a:rPr sz="3200" spc="-40" dirty="0">
                <a:latin typeface="Calibri"/>
                <a:cs typeface="Calibri"/>
              </a:rPr>
              <a:t> </a:t>
            </a:r>
            <a:r>
              <a:rPr sz="3200" dirty="0">
                <a:latin typeface="Calibri"/>
                <a:cs typeface="Calibri"/>
              </a:rPr>
              <a:t>end</a:t>
            </a:r>
            <a:r>
              <a:rPr sz="3200" spc="-35" dirty="0">
                <a:latin typeface="Calibri"/>
                <a:cs typeface="Calibri"/>
              </a:rPr>
              <a:t> </a:t>
            </a:r>
            <a:r>
              <a:rPr sz="3200" dirty="0">
                <a:latin typeface="Calibri"/>
                <a:cs typeface="Calibri"/>
              </a:rPr>
              <a:t>result</a:t>
            </a:r>
            <a:r>
              <a:rPr sz="3200" spc="-35" dirty="0">
                <a:latin typeface="Calibri"/>
                <a:cs typeface="Calibri"/>
              </a:rPr>
              <a:t> </a:t>
            </a:r>
            <a:r>
              <a:rPr sz="3200" dirty="0">
                <a:latin typeface="Calibri"/>
                <a:cs typeface="Calibri"/>
              </a:rPr>
              <a:t>or</a:t>
            </a:r>
            <a:r>
              <a:rPr sz="3200" spc="-45" dirty="0">
                <a:latin typeface="Calibri"/>
                <a:cs typeface="Calibri"/>
              </a:rPr>
              <a:t> </a:t>
            </a:r>
            <a:r>
              <a:rPr sz="3200" dirty="0">
                <a:latin typeface="Calibri"/>
                <a:cs typeface="Calibri"/>
              </a:rPr>
              <a:t>mission</a:t>
            </a:r>
            <a:r>
              <a:rPr sz="3200" spc="-35" dirty="0">
                <a:latin typeface="Calibri"/>
                <a:cs typeface="Calibri"/>
              </a:rPr>
              <a:t> </a:t>
            </a:r>
            <a:r>
              <a:rPr sz="3200" dirty="0">
                <a:latin typeface="Calibri"/>
                <a:cs typeface="Calibri"/>
              </a:rPr>
              <a:t>of</a:t>
            </a:r>
            <a:r>
              <a:rPr sz="3200" spc="-45" dirty="0">
                <a:latin typeface="Calibri"/>
                <a:cs typeface="Calibri"/>
              </a:rPr>
              <a:t> </a:t>
            </a:r>
            <a:r>
              <a:rPr sz="3200" spc="-20" dirty="0">
                <a:latin typeface="Calibri"/>
                <a:cs typeface="Calibri"/>
              </a:rPr>
              <a:t>your </a:t>
            </a:r>
            <a:r>
              <a:rPr sz="3200" spc="-25" dirty="0">
                <a:latin typeface="Calibri"/>
                <a:cs typeface="Calibri"/>
              </a:rPr>
              <a:t>project—</a:t>
            </a:r>
            <a:r>
              <a:rPr sz="3200" dirty="0">
                <a:latin typeface="Calibri"/>
                <a:cs typeface="Calibri"/>
              </a:rPr>
              <a:t>a</a:t>
            </a:r>
            <a:r>
              <a:rPr sz="3200" spc="-40" dirty="0">
                <a:latin typeface="Calibri"/>
                <a:cs typeface="Calibri"/>
              </a:rPr>
              <a:t> </a:t>
            </a:r>
            <a:r>
              <a:rPr sz="3200" dirty="0">
                <a:latin typeface="Calibri"/>
                <a:cs typeface="Calibri"/>
              </a:rPr>
              <a:t>product</a:t>
            </a:r>
            <a:r>
              <a:rPr sz="3200" spc="-50" dirty="0">
                <a:latin typeface="Calibri"/>
                <a:cs typeface="Calibri"/>
              </a:rPr>
              <a:t> </a:t>
            </a:r>
            <a:r>
              <a:rPr sz="3200" dirty="0">
                <a:latin typeface="Calibri"/>
                <a:cs typeface="Calibri"/>
              </a:rPr>
              <a:t>or</a:t>
            </a:r>
            <a:r>
              <a:rPr sz="3200" spc="-50" dirty="0">
                <a:latin typeface="Calibri"/>
                <a:cs typeface="Calibri"/>
              </a:rPr>
              <a:t> </a:t>
            </a:r>
            <a:r>
              <a:rPr sz="3200" dirty="0">
                <a:latin typeface="Calibri"/>
                <a:cs typeface="Calibri"/>
              </a:rPr>
              <a:t>service</a:t>
            </a:r>
            <a:r>
              <a:rPr sz="3200" spc="-50" dirty="0">
                <a:latin typeface="Calibri"/>
                <a:cs typeface="Calibri"/>
              </a:rPr>
              <a:t> </a:t>
            </a:r>
            <a:r>
              <a:rPr sz="3200" dirty="0">
                <a:latin typeface="Calibri"/>
                <a:cs typeface="Calibri"/>
              </a:rPr>
              <a:t>for</a:t>
            </a:r>
            <a:r>
              <a:rPr sz="3200" spc="-50" dirty="0">
                <a:latin typeface="Calibri"/>
                <a:cs typeface="Calibri"/>
              </a:rPr>
              <a:t> </a:t>
            </a:r>
            <a:r>
              <a:rPr sz="3200" dirty="0">
                <a:latin typeface="Calibri"/>
                <a:cs typeface="Calibri"/>
              </a:rPr>
              <a:t>your</a:t>
            </a:r>
            <a:r>
              <a:rPr sz="3200" spc="-40" dirty="0">
                <a:latin typeface="Calibri"/>
                <a:cs typeface="Calibri"/>
              </a:rPr>
              <a:t> </a:t>
            </a:r>
            <a:r>
              <a:rPr sz="3200" spc="-10" dirty="0">
                <a:latin typeface="Calibri"/>
                <a:cs typeface="Calibri"/>
              </a:rPr>
              <a:t>client/customer.</a:t>
            </a:r>
            <a:endParaRPr sz="3200">
              <a:latin typeface="Calibri"/>
              <a:cs typeface="Calibri"/>
            </a:endParaRPr>
          </a:p>
          <a:p>
            <a:pPr marL="241300" marR="6350" indent="-228600" algn="just">
              <a:lnSpc>
                <a:spcPct val="89700"/>
              </a:lnSpc>
              <a:spcBef>
                <a:spcPts val="3195"/>
              </a:spcBef>
              <a:buFont typeface="Arial MT"/>
              <a:buChar char="•"/>
              <a:tabLst>
                <a:tab pos="241300" algn="l"/>
              </a:tabLst>
            </a:pPr>
            <a:r>
              <a:rPr sz="3200" dirty="0">
                <a:solidFill>
                  <a:srgbClr val="262EA4"/>
                </a:solidFill>
                <a:latin typeface="Calibri"/>
                <a:cs typeface="Calibri"/>
              </a:rPr>
              <a:t>The</a:t>
            </a:r>
            <a:r>
              <a:rPr sz="3200" spc="665" dirty="0">
                <a:solidFill>
                  <a:srgbClr val="262EA4"/>
                </a:solidFill>
                <a:latin typeface="Calibri"/>
                <a:cs typeface="Calibri"/>
              </a:rPr>
              <a:t> </a:t>
            </a:r>
            <a:r>
              <a:rPr sz="3200" dirty="0">
                <a:solidFill>
                  <a:srgbClr val="262EA4"/>
                </a:solidFill>
                <a:latin typeface="Calibri"/>
                <a:cs typeface="Calibri"/>
              </a:rPr>
              <a:t>primary</a:t>
            </a:r>
            <a:r>
              <a:rPr sz="3200" spc="670" dirty="0">
                <a:solidFill>
                  <a:srgbClr val="262EA4"/>
                </a:solidFill>
                <a:latin typeface="Calibri"/>
                <a:cs typeface="Calibri"/>
              </a:rPr>
              <a:t> </a:t>
            </a:r>
            <a:r>
              <a:rPr sz="3200" dirty="0">
                <a:solidFill>
                  <a:srgbClr val="262EA4"/>
                </a:solidFill>
                <a:latin typeface="Calibri"/>
                <a:cs typeface="Calibri"/>
              </a:rPr>
              <a:t>purpose</a:t>
            </a:r>
            <a:r>
              <a:rPr sz="3200" spc="660" dirty="0">
                <a:solidFill>
                  <a:srgbClr val="262EA4"/>
                </a:solidFill>
                <a:latin typeface="Calibri"/>
                <a:cs typeface="Calibri"/>
              </a:rPr>
              <a:t> </a:t>
            </a:r>
            <a:r>
              <a:rPr sz="3200" dirty="0">
                <a:solidFill>
                  <a:srgbClr val="262EA4"/>
                </a:solidFill>
                <a:latin typeface="Calibri"/>
                <a:cs typeface="Calibri"/>
              </a:rPr>
              <a:t>is</a:t>
            </a:r>
            <a:r>
              <a:rPr sz="3200" spc="665" dirty="0">
                <a:solidFill>
                  <a:srgbClr val="262EA4"/>
                </a:solidFill>
                <a:latin typeface="Calibri"/>
                <a:cs typeface="Calibri"/>
              </a:rPr>
              <a:t> </a:t>
            </a:r>
            <a:r>
              <a:rPr sz="3200" dirty="0">
                <a:solidFill>
                  <a:srgbClr val="262EA4"/>
                </a:solidFill>
                <a:latin typeface="Calibri"/>
                <a:cs typeface="Calibri"/>
              </a:rPr>
              <a:t>to</a:t>
            </a:r>
            <a:r>
              <a:rPr sz="3200" spc="670" dirty="0">
                <a:solidFill>
                  <a:srgbClr val="262EA4"/>
                </a:solidFill>
                <a:latin typeface="Calibri"/>
                <a:cs typeface="Calibri"/>
              </a:rPr>
              <a:t> </a:t>
            </a:r>
            <a:r>
              <a:rPr sz="3200" dirty="0">
                <a:solidFill>
                  <a:srgbClr val="262EA4"/>
                </a:solidFill>
                <a:latin typeface="Calibri"/>
                <a:cs typeface="Calibri"/>
              </a:rPr>
              <a:t>define</a:t>
            </a:r>
            <a:r>
              <a:rPr sz="3200" spc="660" dirty="0">
                <a:solidFill>
                  <a:srgbClr val="262EA4"/>
                </a:solidFill>
                <a:latin typeface="Calibri"/>
                <a:cs typeface="Calibri"/>
              </a:rPr>
              <a:t> </a:t>
            </a:r>
            <a:r>
              <a:rPr sz="3200" dirty="0">
                <a:solidFill>
                  <a:srgbClr val="262EA4"/>
                </a:solidFill>
                <a:latin typeface="Calibri"/>
                <a:cs typeface="Calibri"/>
              </a:rPr>
              <a:t>as</a:t>
            </a:r>
            <a:r>
              <a:rPr sz="3200" spc="670" dirty="0">
                <a:solidFill>
                  <a:srgbClr val="262EA4"/>
                </a:solidFill>
                <a:latin typeface="Calibri"/>
                <a:cs typeface="Calibri"/>
              </a:rPr>
              <a:t> </a:t>
            </a:r>
            <a:r>
              <a:rPr sz="3200" dirty="0">
                <a:solidFill>
                  <a:srgbClr val="262EA4"/>
                </a:solidFill>
                <a:latin typeface="Calibri"/>
                <a:cs typeface="Calibri"/>
              </a:rPr>
              <a:t>clearly</a:t>
            </a:r>
            <a:r>
              <a:rPr sz="3200" spc="670" dirty="0">
                <a:solidFill>
                  <a:srgbClr val="262EA4"/>
                </a:solidFill>
                <a:latin typeface="Calibri"/>
                <a:cs typeface="Calibri"/>
              </a:rPr>
              <a:t> </a:t>
            </a:r>
            <a:r>
              <a:rPr sz="3200" dirty="0">
                <a:solidFill>
                  <a:srgbClr val="262EA4"/>
                </a:solidFill>
                <a:latin typeface="Calibri"/>
                <a:cs typeface="Calibri"/>
              </a:rPr>
              <a:t>as</a:t>
            </a:r>
            <a:r>
              <a:rPr sz="3200" spc="670" dirty="0">
                <a:solidFill>
                  <a:srgbClr val="262EA4"/>
                </a:solidFill>
                <a:latin typeface="Calibri"/>
                <a:cs typeface="Calibri"/>
              </a:rPr>
              <a:t> </a:t>
            </a:r>
            <a:r>
              <a:rPr sz="3200" dirty="0">
                <a:solidFill>
                  <a:srgbClr val="262EA4"/>
                </a:solidFill>
                <a:latin typeface="Calibri"/>
                <a:cs typeface="Calibri"/>
              </a:rPr>
              <a:t>possible</a:t>
            </a:r>
            <a:r>
              <a:rPr sz="3200" spc="670" dirty="0">
                <a:solidFill>
                  <a:srgbClr val="262EA4"/>
                </a:solidFill>
                <a:latin typeface="Calibri"/>
                <a:cs typeface="Calibri"/>
              </a:rPr>
              <a:t> </a:t>
            </a:r>
            <a:r>
              <a:rPr sz="3200" spc="-25" dirty="0">
                <a:solidFill>
                  <a:srgbClr val="262EA4"/>
                </a:solidFill>
                <a:latin typeface="Calibri"/>
                <a:cs typeface="Calibri"/>
              </a:rPr>
              <a:t>the </a:t>
            </a:r>
            <a:r>
              <a:rPr sz="3200" dirty="0">
                <a:solidFill>
                  <a:srgbClr val="262EA4"/>
                </a:solidFill>
                <a:latin typeface="Calibri"/>
                <a:cs typeface="Calibri"/>
              </a:rPr>
              <a:t>deliverable(s)</a:t>
            </a:r>
            <a:r>
              <a:rPr sz="3200" spc="459" dirty="0">
                <a:solidFill>
                  <a:srgbClr val="262EA4"/>
                </a:solidFill>
                <a:latin typeface="Calibri"/>
                <a:cs typeface="Calibri"/>
              </a:rPr>
              <a:t> </a:t>
            </a:r>
            <a:r>
              <a:rPr sz="3200" dirty="0">
                <a:solidFill>
                  <a:srgbClr val="262EA4"/>
                </a:solidFill>
                <a:latin typeface="Calibri"/>
                <a:cs typeface="Calibri"/>
              </a:rPr>
              <a:t>in</a:t>
            </a:r>
            <a:r>
              <a:rPr sz="3200" spc="470" dirty="0">
                <a:solidFill>
                  <a:srgbClr val="262EA4"/>
                </a:solidFill>
                <a:latin typeface="Calibri"/>
                <a:cs typeface="Calibri"/>
              </a:rPr>
              <a:t> </a:t>
            </a:r>
            <a:r>
              <a:rPr sz="3200" dirty="0">
                <a:solidFill>
                  <a:srgbClr val="262EA4"/>
                </a:solidFill>
                <a:latin typeface="Calibri"/>
                <a:cs typeface="Calibri"/>
              </a:rPr>
              <a:t>specific,</a:t>
            </a:r>
            <a:r>
              <a:rPr sz="3200" spc="465" dirty="0">
                <a:solidFill>
                  <a:srgbClr val="262EA4"/>
                </a:solidFill>
                <a:latin typeface="Calibri"/>
                <a:cs typeface="Calibri"/>
              </a:rPr>
              <a:t> </a:t>
            </a:r>
            <a:r>
              <a:rPr sz="3200" dirty="0">
                <a:solidFill>
                  <a:srgbClr val="262EA4"/>
                </a:solidFill>
                <a:latin typeface="Calibri"/>
                <a:cs typeface="Calibri"/>
              </a:rPr>
              <a:t>tangible,</a:t>
            </a:r>
            <a:r>
              <a:rPr sz="3200" spc="459" dirty="0">
                <a:solidFill>
                  <a:srgbClr val="262EA4"/>
                </a:solidFill>
                <a:latin typeface="Calibri"/>
                <a:cs typeface="Calibri"/>
              </a:rPr>
              <a:t> </a:t>
            </a:r>
            <a:r>
              <a:rPr sz="3200" dirty="0">
                <a:solidFill>
                  <a:srgbClr val="262EA4"/>
                </a:solidFill>
                <a:latin typeface="Calibri"/>
                <a:cs typeface="Calibri"/>
              </a:rPr>
              <a:t>and</a:t>
            </a:r>
            <a:r>
              <a:rPr sz="3200" spc="465" dirty="0">
                <a:solidFill>
                  <a:srgbClr val="262EA4"/>
                </a:solidFill>
                <a:latin typeface="Calibri"/>
                <a:cs typeface="Calibri"/>
              </a:rPr>
              <a:t> </a:t>
            </a:r>
            <a:r>
              <a:rPr sz="3200" dirty="0">
                <a:solidFill>
                  <a:srgbClr val="262EA4"/>
                </a:solidFill>
                <a:latin typeface="Calibri"/>
                <a:cs typeface="Calibri"/>
              </a:rPr>
              <a:t>measurable</a:t>
            </a:r>
            <a:r>
              <a:rPr sz="3200" spc="450" dirty="0">
                <a:solidFill>
                  <a:srgbClr val="262EA4"/>
                </a:solidFill>
                <a:latin typeface="Calibri"/>
                <a:cs typeface="Calibri"/>
              </a:rPr>
              <a:t> </a:t>
            </a:r>
            <a:r>
              <a:rPr sz="3200" dirty="0">
                <a:solidFill>
                  <a:srgbClr val="262EA4"/>
                </a:solidFill>
                <a:latin typeface="Calibri"/>
                <a:cs typeface="Calibri"/>
              </a:rPr>
              <a:t>terms</a:t>
            </a:r>
            <a:r>
              <a:rPr sz="3200" spc="455" dirty="0">
                <a:solidFill>
                  <a:srgbClr val="262EA4"/>
                </a:solidFill>
                <a:latin typeface="Calibri"/>
                <a:cs typeface="Calibri"/>
              </a:rPr>
              <a:t> </a:t>
            </a:r>
            <a:r>
              <a:rPr sz="3200" spc="-25" dirty="0">
                <a:solidFill>
                  <a:srgbClr val="262EA4"/>
                </a:solidFill>
                <a:latin typeface="Calibri"/>
                <a:cs typeface="Calibri"/>
              </a:rPr>
              <a:t>for </a:t>
            </a:r>
            <a:r>
              <a:rPr sz="3200" dirty="0">
                <a:solidFill>
                  <a:srgbClr val="262EA4"/>
                </a:solidFill>
                <a:latin typeface="Calibri"/>
                <a:cs typeface="Calibri"/>
              </a:rPr>
              <a:t>the</a:t>
            </a:r>
            <a:r>
              <a:rPr sz="3200" spc="-35" dirty="0">
                <a:solidFill>
                  <a:srgbClr val="262EA4"/>
                </a:solidFill>
                <a:latin typeface="Calibri"/>
                <a:cs typeface="Calibri"/>
              </a:rPr>
              <a:t> </a:t>
            </a:r>
            <a:r>
              <a:rPr sz="3200" dirty="0">
                <a:solidFill>
                  <a:srgbClr val="262EA4"/>
                </a:solidFill>
                <a:latin typeface="Calibri"/>
                <a:cs typeface="Calibri"/>
              </a:rPr>
              <a:t>end</a:t>
            </a:r>
            <a:r>
              <a:rPr sz="3200" spc="-20" dirty="0">
                <a:solidFill>
                  <a:srgbClr val="262EA4"/>
                </a:solidFill>
                <a:latin typeface="Calibri"/>
                <a:cs typeface="Calibri"/>
              </a:rPr>
              <a:t> </a:t>
            </a:r>
            <a:r>
              <a:rPr sz="3200" dirty="0">
                <a:solidFill>
                  <a:srgbClr val="262EA4"/>
                </a:solidFill>
                <a:latin typeface="Calibri"/>
                <a:cs typeface="Calibri"/>
              </a:rPr>
              <a:t>user</a:t>
            </a:r>
            <a:r>
              <a:rPr sz="3200" spc="-35" dirty="0">
                <a:solidFill>
                  <a:srgbClr val="262EA4"/>
                </a:solidFill>
                <a:latin typeface="Calibri"/>
                <a:cs typeface="Calibri"/>
              </a:rPr>
              <a:t> </a:t>
            </a:r>
            <a:r>
              <a:rPr sz="3200" dirty="0">
                <a:solidFill>
                  <a:srgbClr val="262EA4"/>
                </a:solidFill>
                <a:latin typeface="Calibri"/>
                <a:cs typeface="Calibri"/>
              </a:rPr>
              <a:t>or</a:t>
            </a:r>
            <a:r>
              <a:rPr sz="3200" spc="-35" dirty="0">
                <a:solidFill>
                  <a:srgbClr val="262EA4"/>
                </a:solidFill>
                <a:latin typeface="Calibri"/>
                <a:cs typeface="Calibri"/>
              </a:rPr>
              <a:t> </a:t>
            </a:r>
            <a:r>
              <a:rPr sz="3200" dirty="0">
                <a:solidFill>
                  <a:srgbClr val="262EA4"/>
                </a:solidFill>
                <a:latin typeface="Calibri"/>
                <a:cs typeface="Calibri"/>
              </a:rPr>
              <a:t>the</a:t>
            </a:r>
            <a:r>
              <a:rPr sz="3200" spc="-30" dirty="0">
                <a:solidFill>
                  <a:srgbClr val="262EA4"/>
                </a:solidFill>
                <a:latin typeface="Calibri"/>
                <a:cs typeface="Calibri"/>
              </a:rPr>
              <a:t> </a:t>
            </a:r>
            <a:r>
              <a:rPr sz="3200" spc="-10" dirty="0">
                <a:solidFill>
                  <a:srgbClr val="262EA4"/>
                </a:solidFill>
                <a:latin typeface="Calibri"/>
                <a:cs typeface="Calibri"/>
              </a:rPr>
              <a:t>customer.</a:t>
            </a:r>
            <a:endParaRPr sz="3200">
              <a:latin typeface="Calibri"/>
              <a:cs typeface="Calibri"/>
            </a:endParaRPr>
          </a:p>
          <a:p>
            <a:pPr marL="241300" marR="5080" indent="-228600" algn="just">
              <a:lnSpc>
                <a:spcPct val="90000"/>
              </a:lnSpc>
              <a:spcBef>
                <a:spcPts val="3145"/>
              </a:spcBef>
              <a:buFont typeface="Arial MT"/>
              <a:buChar char="•"/>
              <a:tabLst>
                <a:tab pos="241300" algn="l"/>
              </a:tabLst>
            </a:pPr>
            <a:r>
              <a:rPr sz="3200" dirty="0">
                <a:latin typeface="Calibri"/>
                <a:cs typeface="Calibri"/>
              </a:rPr>
              <a:t>The</a:t>
            </a:r>
            <a:r>
              <a:rPr sz="3200" spc="245" dirty="0">
                <a:latin typeface="Calibri"/>
                <a:cs typeface="Calibri"/>
              </a:rPr>
              <a:t>  </a:t>
            </a:r>
            <a:r>
              <a:rPr sz="3200" dirty="0">
                <a:latin typeface="Calibri"/>
                <a:cs typeface="Calibri"/>
              </a:rPr>
              <a:t>project</a:t>
            </a:r>
            <a:r>
              <a:rPr sz="3200" spc="250" dirty="0">
                <a:latin typeface="Calibri"/>
                <a:cs typeface="Calibri"/>
              </a:rPr>
              <a:t>  </a:t>
            </a:r>
            <a:r>
              <a:rPr sz="3200" dirty="0">
                <a:latin typeface="Calibri"/>
                <a:cs typeface="Calibri"/>
              </a:rPr>
              <a:t>scope</a:t>
            </a:r>
            <a:r>
              <a:rPr sz="3200" spc="245" dirty="0">
                <a:latin typeface="Calibri"/>
                <a:cs typeface="Calibri"/>
              </a:rPr>
              <a:t>  </a:t>
            </a:r>
            <a:r>
              <a:rPr sz="3200" dirty="0">
                <a:latin typeface="Calibri"/>
                <a:cs typeface="Calibri"/>
              </a:rPr>
              <a:t>definition</a:t>
            </a:r>
            <a:r>
              <a:rPr sz="3200" spc="250" dirty="0">
                <a:latin typeface="Calibri"/>
                <a:cs typeface="Calibri"/>
              </a:rPr>
              <a:t>  </a:t>
            </a:r>
            <a:r>
              <a:rPr sz="3200" dirty="0">
                <a:latin typeface="Calibri"/>
                <a:cs typeface="Calibri"/>
              </a:rPr>
              <a:t>is</a:t>
            </a:r>
            <a:r>
              <a:rPr sz="3200" spc="250" dirty="0">
                <a:latin typeface="Calibri"/>
                <a:cs typeface="Calibri"/>
              </a:rPr>
              <a:t>  </a:t>
            </a:r>
            <a:r>
              <a:rPr sz="3200" dirty="0">
                <a:latin typeface="Calibri"/>
                <a:cs typeface="Calibri"/>
              </a:rPr>
              <a:t>a</a:t>
            </a:r>
            <a:r>
              <a:rPr sz="3200" spc="250" dirty="0">
                <a:latin typeface="Calibri"/>
                <a:cs typeface="Calibri"/>
              </a:rPr>
              <a:t>  </a:t>
            </a:r>
            <a:r>
              <a:rPr sz="3200" dirty="0">
                <a:latin typeface="Calibri"/>
                <a:cs typeface="Calibri"/>
              </a:rPr>
              <a:t>document</a:t>
            </a:r>
            <a:r>
              <a:rPr sz="3200" spc="250" dirty="0">
                <a:latin typeface="Calibri"/>
                <a:cs typeface="Calibri"/>
              </a:rPr>
              <a:t>  </a:t>
            </a:r>
            <a:r>
              <a:rPr sz="3200" dirty="0">
                <a:latin typeface="Calibri"/>
                <a:cs typeface="Calibri"/>
              </a:rPr>
              <a:t>that</a:t>
            </a:r>
            <a:r>
              <a:rPr sz="3200" spc="250" dirty="0">
                <a:latin typeface="Calibri"/>
                <a:cs typeface="Calibri"/>
              </a:rPr>
              <a:t>  </a:t>
            </a:r>
            <a:r>
              <a:rPr sz="3200" dirty="0">
                <a:latin typeface="Calibri"/>
                <a:cs typeface="Calibri"/>
              </a:rPr>
              <a:t>will</a:t>
            </a:r>
            <a:r>
              <a:rPr sz="3200" spc="250" dirty="0">
                <a:latin typeface="Calibri"/>
                <a:cs typeface="Calibri"/>
              </a:rPr>
              <a:t>  </a:t>
            </a:r>
            <a:r>
              <a:rPr sz="3200" spc="-25" dirty="0">
                <a:latin typeface="Calibri"/>
                <a:cs typeface="Calibri"/>
              </a:rPr>
              <a:t>be </a:t>
            </a:r>
            <a:r>
              <a:rPr sz="3200" dirty="0">
                <a:latin typeface="Calibri"/>
                <a:cs typeface="Calibri"/>
              </a:rPr>
              <a:t>published</a:t>
            </a:r>
            <a:r>
              <a:rPr sz="3200" spc="450" dirty="0">
                <a:latin typeface="Calibri"/>
                <a:cs typeface="Calibri"/>
              </a:rPr>
              <a:t>  </a:t>
            </a:r>
            <a:r>
              <a:rPr sz="3200" dirty="0">
                <a:latin typeface="Calibri"/>
                <a:cs typeface="Calibri"/>
              </a:rPr>
              <a:t>and</a:t>
            </a:r>
            <a:r>
              <a:rPr sz="3200" spc="450" dirty="0">
                <a:latin typeface="Calibri"/>
                <a:cs typeface="Calibri"/>
              </a:rPr>
              <a:t>  </a:t>
            </a:r>
            <a:r>
              <a:rPr sz="3200" dirty="0">
                <a:latin typeface="Calibri"/>
                <a:cs typeface="Calibri"/>
              </a:rPr>
              <a:t>used</a:t>
            </a:r>
            <a:r>
              <a:rPr sz="3200" spc="450" dirty="0">
                <a:latin typeface="Calibri"/>
                <a:cs typeface="Calibri"/>
              </a:rPr>
              <a:t>  </a:t>
            </a:r>
            <a:r>
              <a:rPr sz="3200" dirty="0">
                <a:latin typeface="Calibri"/>
                <a:cs typeface="Calibri"/>
              </a:rPr>
              <a:t>by</a:t>
            </a:r>
            <a:r>
              <a:rPr sz="3200" spc="450" dirty="0">
                <a:latin typeface="Calibri"/>
                <a:cs typeface="Calibri"/>
              </a:rPr>
              <a:t>  </a:t>
            </a:r>
            <a:r>
              <a:rPr sz="3200" dirty="0">
                <a:latin typeface="Calibri"/>
                <a:cs typeface="Calibri"/>
              </a:rPr>
              <a:t>the</a:t>
            </a:r>
            <a:r>
              <a:rPr sz="3200" spc="445" dirty="0">
                <a:latin typeface="Calibri"/>
                <a:cs typeface="Calibri"/>
              </a:rPr>
              <a:t>  </a:t>
            </a:r>
            <a:r>
              <a:rPr sz="3200" dirty="0">
                <a:latin typeface="Calibri"/>
                <a:cs typeface="Calibri"/>
              </a:rPr>
              <a:t>project</a:t>
            </a:r>
            <a:r>
              <a:rPr sz="3200" spc="450" dirty="0">
                <a:latin typeface="Calibri"/>
                <a:cs typeface="Calibri"/>
              </a:rPr>
              <a:t>  </a:t>
            </a:r>
            <a:r>
              <a:rPr sz="3200" dirty="0">
                <a:latin typeface="Calibri"/>
                <a:cs typeface="Calibri"/>
              </a:rPr>
              <a:t>owner</a:t>
            </a:r>
            <a:r>
              <a:rPr sz="3200" spc="445" dirty="0">
                <a:latin typeface="Calibri"/>
                <a:cs typeface="Calibri"/>
              </a:rPr>
              <a:t>  </a:t>
            </a:r>
            <a:r>
              <a:rPr sz="3200" dirty="0">
                <a:latin typeface="Calibri"/>
                <a:cs typeface="Calibri"/>
              </a:rPr>
              <a:t>and</a:t>
            </a:r>
            <a:r>
              <a:rPr sz="3200" spc="455" dirty="0">
                <a:latin typeface="Calibri"/>
                <a:cs typeface="Calibri"/>
              </a:rPr>
              <a:t>  </a:t>
            </a:r>
            <a:r>
              <a:rPr sz="3200" spc="-10" dirty="0">
                <a:latin typeface="Calibri"/>
                <a:cs typeface="Calibri"/>
              </a:rPr>
              <a:t>project </a:t>
            </a:r>
            <a:r>
              <a:rPr sz="3200" dirty="0">
                <a:latin typeface="Calibri"/>
                <a:cs typeface="Calibri"/>
              </a:rPr>
              <a:t>participants</a:t>
            </a:r>
            <a:r>
              <a:rPr sz="3200" spc="-105" dirty="0">
                <a:latin typeface="Calibri"/>
                <a:cs typeface="Calibri"/>
              </a:rPr>
              <a:t> </a:t>
            </a:r>
            <a:r>
              <a:rPr sz="3200" dirty="0">
                <a:latin typeface="Calibri"/>
                <a:cs typeface="Calibri"/>
              </a:rPr>
              <a:t>for</a:t>
            </a:r>
            <a:r>
              <a:rPr sz="3200" spc="-105" dirty="0">
                <a:latin typeface="Calibri"/>
                <a:cs typeface="Calibri"/>
              </a:rPr>
              <a:t> </a:t>
            </a:r>
            <a:r>
              <a:rPr sz="3200" dirty="0">
                <a:latin typeface="Calibri"/>
                <a:cs typeface="Calibri"/>
              </a:rPr>
              <a:t>planning</a:t>
            </a:r>
            <a:r>
              <a:rPr sz="3200" spc="-95" dirty="0">
                <a:latin typeface="Calibri"/>
                <a:cs typeface="Calibri"/>
              </a:rPr>
              <a:t> </a:t>
            </a:r>
            <a:r>
              <a:rPr sz="3200" dirty="0">
                <a:latin typeface="Calibri"/>
                <a:cs typeface="Calibri"/>
              </a:rPr>
              <a:t>and</a:t>
            </a:r>
            <a:r>
              <a:rPr sz="3200" spc="-95" dirty="0">
                <a:latin typeface="Calibri"/>
                <a:cs typeface="Calibri"/>
              </a:rPr>
              <a:t> </a:t>
            </a:r>
            <a:r>
              <a:rPr sz="3200" dirty="0">
                <a:latin typeface="Calibri"/>
                <a:cs typeface="Calibri"/>
              </a:rPr>
              <a:t>measuring</a:t>
            </a:r>
            <a:r>
              <a:rPr sz="3200" spc="-100" dirty="0">
                <a:latin typeface="Calibri"/>
                <a:cs typeface="Calibri"/>
              </a:rPr>
              <a:t> </a:t>
            </a:r>
            <a:r>
              <a:rPr sz="3200" dirty="0">
                <a:latin typeface="Calibri"/>
                <a:cs typeface="Calibri"/>
              </a:rPr>
              <a:t>project</a:t>
            </a:r>
            <a:r>
              <a:rPr sz="3200" spc="-95" dirty="0">
                <a:latin typeface="Calibri"/>
                <a:cs typeface="Calibri"/>
              </a:rPr>
              <a:t> </a:t>
            </a:r>
            <a:r>
              <a:rPr sz="3200" spc="-10" dirty="0">
                <a:latin typeface="Calibri"/>
                <a:cs typeface="Calibri"/>
              </a:rPr>
              <a:t>success.</a:t>
            </a:r>
            <a:endParaRPr sz="3200">
              <a:latin typeface="Calibri"/>
              <a:cs typeface="Calibri"/>
            </a:endParaRPr>
          </a:p>
        </p:txBody>
      </p:sp>
      <p:pic>
        <p:nvPicPr>
          <p:cNvPr id="5" name="Picture 4">
            <a:extLst>
              <a:ext uri="{FF2B5EF4-FFF2-40B4-BE49-F238E27FC236}">
                <a16:creationId xmlns:a16="http://schemas.microsoft.com/office/drawing/2014/main" id="{33D5613B-100E-BBC9-69AA-76D7F46B501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15600" y="1"/>
            <a:ext cx="1686150" cy="936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1- Defining the Project Scope </a:t>
            </a:r>
            <a:r>
              <a:rPr sz="1950" spc="-10" dirty="0"/>
              <a:t>(2/2)</a:t>
            </a:r>
            <a:endParaRPr sz="1950" dirty="0"/>
          </a:p>
        </p:txBody>
      </p:sp>
      <p:sp>
        <p:nvSpPr>
          <p:cNvPr id="3" name="object 3"/>
          <p:cNvSpPr txBox="1"/>
          <p:nvPr/>
        </p:nvSpPr>
        <p:spPr>
          <a:xfrm>
            <a:off x="574686" y="1742947"/>
            <a:ext cx="10701020" cy="3088640"/>
          </a:xfrm>
          <a:prstGeom prst="rect">
            <a:avLst/>
          </a:prstGeom>
        </p:spPr>
        <p:txBody>
          <a:bodyPr vert="horz" wrap="square" lIns="0" tIns="66040" rIns="0" bIns="0" rtlCol="0">
            <a:spAutoFit/>
          </a:bodyPr>
          <a:lstStyle/>
          <a:p>
            <a:pPr marL="241300" marR="5080" indent="-228600" algn="just">
              <a:lnSpc>
                <a:spcPct val="90300"/>
              </a:lnSpc>
              <a:spcBef>
                <a:spcPts val="520"/>
              </a:spcBef>
              <a:buFont typeface="Arial MT"/>
              <a:buChar char="•"/>
              <a:tabLst>
                <a:tab pos="241300" algn="l"/>
              </a:tabLst>
            </a:pPr>
            <a:r>
              <a:rPr sz="3600" dirty="0">
                <a:solidFill>
                  <a:srgbClr val="262EA4"/>
                </a:solidFill>
                <a:latin typeface="Calibri"/>
                <a:cs typeface="Calibri"/>
              </a:rPr>
              <a:t>The</a:t>
            </a:r>
            <a:r>
              <a:rPr sz="3600" spc="355" dirty="0">
                <a:solidFill>
                  <a:srgbClr val="262EA4"/>
                </a:solidFill>
                <a:latin typeface="Calibri"/>
                <a:cs typeface="Calibri"/>
              </a:rPr>
              <a:t> </a:t>
            </a:r>
            <a:r>
              <a:rPr sz="3600" dirty="0">
                <a:solidFill>
                  <a:srgbClr val="262EA4"/>
                </a:solidFill>
                <a:latin typeface="Calibri"/>
                <a:cs typeface="Calibri"/>
              </a:rPr>
              <a:t>scope</a:t>
            </a:r>
            <a:r>
              <a:rPr sz="3600" spc="360" dirty="0">
                <a:solidFill>
                  <a:srgbClr val="262EA4"/>
                </a:solidFill>
                <a:latin typeface="Calibri"/>
                <a:cs typeface="Calibri"/>
              </a:rPr>
              <a:t> </a:t>
            </a:r>
            <a:r>
              <a:rPr sz="3600" dirty="0">
                <a:solidFill>
                  <a:srgbClr val="262EA4"/>
                </a:solidFill>
                <a:latin typeface="Calibri"/>
                <a:cs typeface="Calibri"/>
              </a:rPr>
              <a:t>should</a:t>
            </a:r>
            <a:r>
              <a:rPr sz="3600" spc="370" dirty="0">
                <a:solidFill>
                  <a:srgbClr val="262EA4"/>
                </a:solidFill>
                <a:latin typeface="Calibri"/>
                <a:cs typeface="Calibri"/>
              </a:rPr>
              <a:t> </a:t>
            </a:r>
            <a:r>
              <a:rPr sz="3600" dirty="0">
                <a:solidFill>
                  <a:srgbClr val="262EA4"/>
                </a:solidFill>
                <a:latin typeface="Calibri"/>
                <a:cs typeface="Calibri"/>
              </a:rPr>
              <a:t>be</a:t>
            </a:r>
            <a:r>
              <a:rPr sz="3600" spc="360" dirty="0">
                <a:solidFill>
                  <a:srgbClr val="262EA4"/>
                </a:solidFill>
                <a:latin typeface="Calibri"/>
                <a:cs typeface="Calibri"/>
              </a:rPr>
              <a:t> </a:t>
            </a:r>
            <a:r>
              <a:rPr sz="3600" dirty="0">
                <a:solidFill>
                  <a:srgbClr val="262EA4"/>
                </a:solidFill>
                <a:latin typeface="Calibri"/>
                <a:cs typeface="Calibri"/>
              </a:rPr>
              <a:t>developed</a:t>
            </a:r>
            <a:r>
              <a:rPr sz="3600" spc="365" dirty="0">
                <a:solidFill>
                  <a:srgbClr val="262EA4"/>
                </a:solidFill>
                <a:latin typeface="Calibri"/>
                <a:cs typeface="Calibri"/>
              </a:rPr>
              <a:t> </a:t>
            </a:r>
            <a:r>
              <a:rPr sz="3600" dirty="0">
                <a:solidFill>
                  <a:srgbClr val="262EA4"/>
                </a:solidFill>
                <a:latin typeface="Calibri"/>
                <a:cs typeface="Calibri"/>
              </a:rPr>
              <a:t>under</a:t>
            </a:r>
            <a:r>
              <a:rPr sz="3600" spc="355" dirty="0">
                <a:solidFill>
                  <a:srgbClr val="262EA4"/>
                </a:solidFill>
                <a:latin typeface="Calibri"/>
                <a:cs typeface="Calibri"/>
              </a:rPr>
              <a:t> </a:t>
            </a:r>
            <a:r>
              <a:rPr sz="3600" dirty="0">
                <a:solidFill>
                  <a:srgbClr val="262EA4"/>
                </a:solidFill>
                <a:latin typeface="Calibri"/>
                <a:cs typeface="Calibri"/>
              </a:rPr>
              <a:t>the</a:t>
            </a:r>
            <a:r>
              <a:rPr sz="3600" spc="365" dirty="0">
                <a:solidFill>
                  <a:srgbClr val="262EA4"/>
                </a:solidFill>
                <a:latin typeface="Calibri"/>
                <a:cs typeface="Calibri"/>
              </a:rPr>
              <a:t> </a:t>
            </a:r>
            <a:r>
              <a:rPr sz="3600" dirty="0">
                <a:solidFill>
                  <a:srgbClr val="262EA4"/>
                </a:solidFill>
                <a:latin typeface="Calibri"/>
                <a:cs typeface="Calibri"/>
              </a:rPr>
              <a:t>direction</a:t>
            </a:r>
            <a:r>
              <a:rPr sz="3600" spc="365" dirty="0">
                <a:solidFill>
                  <a:srgbClr val="262EA4"/>
                </a:solidFill>
                <a:latin typeface="Calibri"/>
                <a:cs typeface="Calibri"/>
              </a:rPr>
              <a:t> </a:t>
            </a:r>
            <a:r>
              <a:rPr sz="3600" spc="-25" dirty="0">
                <a:solidFill>
                  <a:srgbClr val="262EA4"/>
                </a:solidFill>
                <a:latin typeface="Calibri"/>
                <a:cs typeface="Calibri"/>
              </a:rPr>
              <a:t>of </a:t>
            </a:r>
            <a:r>
              <a:rPr sz="3600" dirty="0">
                <a:solidFill>
                  <a:srgbClr val="262EA4"/>
                </a:solidFill>
                <a:latin typeface="Calibri"/>
                <a:cs typeface="Calibri"/>
              </a:rPr>
              <a:t>the</a:t>
            </a:r>
            <a:r>
              <a:rPr sz="3600" spc="800" dirty="0">
                <a:solidFill>
                  <a:srgbClr val="262EA4"/>
                </a:solidFill>
                <a:latin typeface="Calibri"/>
                <a:cs typeface="Calibri"/>
              </a:rPr>
              <a:t> </a:t>
            </a:r>
            <a:r>
              <a:rPr sz="3600" dirty="0">
                <a:solidFill>
                  <a:srgbClr val="262EA4"/>
                </a:solidFill>
                <a:latin typeface="Calibri"/>
                <a:cs typeface="Calibri"/>
              </a:rPr>
              <a:t>project</a:t>
            </a:r>
            <a:r>
              <a:rPr sz="3600" spc="795" dirty="0">
                <a:solidFill>
                  <a:srgbClr val="262EA4"/>
                </a:solidFill>
                <a:latin typeface="Calibri"/>
                <a:cs typeface="Calibri"/>
              </a:rPr>
              <a:t> </a:t>
            </a:r>
            <a:r>
              <a:rPr sz="3600" dirty="0">
                <a:solidFill>
                  <a:srgbClr val="262EA4"/>
                </a:solidFill>
                <a:latin typeface="Calibri"/>
                <a:cs typeface="Calibri"/>
              </a:rPr>
              <a:t>manager,</a:t>
            </a:r>
            <a:r>
              <a:rPr sz="3600" spc="805" dirty="0">
                <a:solidFill>
                  <a:srgbClr val="262EA4"/>
                </a:solidFill>
                <a:latin typeface="Calibri"/>
                <a:cs typeface="Calibri"/>
              </a:rPr>
              <a:t> </a:t>
            </a:r>
            <a:r>
              <a:rPr sz="3600" dirty="0">
                <a:solidFill>
                  <a:srgbClr val="262EA4"/>
                </a:solidFill>
                <a:latin typeface="Calibri"/>
                <a:cs typeface="Calibri"/>
              </a:rPr>
              <a:t>customer,</a:t>
            </a:r>
            <a:r>
              <a:rPr sz="3600" spc="805" dirty="0">
                <a:solidFill>
                  <a:srgbClr val="262EA4"/>
                </a:solidFill>
                <a:latin typeface="Calibri"/>
                <a:cs typeface="Calibri"/>
              </a:rPr>
              <a:t> </a:t>
            </a:r>
            <a:r>
              <a:rPr sz="3600" dirty="0">
                <a:solidFill>
                  <a:srgbClr val="262EA4"/>
                </a:solidFill>
                <a:latin typeface="Calibri"/>
                <a:cs typeface="Calibri"/>
              </a:rPr>
              <a:t>and</a:t>
            </a:r>
            <a:r>
              <a:rPr sz="3600" spc="800" dirty="0">
                <a:solidFill>
                  <a:srgbClr val="262EA4"/>
                </a:solidFill>
                <a:latin typeface="Calibri"/>
                <a:cs typeface="Calibri"/>
              </a:rPr>
              <a:t> </a:t>
            </a:r>
            <a:r>
              <a:rPr sz="3600" dirty="0">
                <a:solidFill>
                  <a:srgbClr val="262EA4"/>
                </a:solidFill>
                <a:latin typeface="Calibri"/>
                <a:cs typeface="Calibri"/>
              </a:rPr>
              <a:t>other</a:t>
            </a:r>
            <a:r>
              <a:rPr sz="3600" spc="805" dirty="0">
                <a:solidFill>
                  <a:srgbClr val="262EA4"/>
                </a:solidFill>
                <a:latin typeface="Calibri"/>
                <a:cs typeface="Calibri"/>
              </a:rPr>
              <a:t> </a:t>
            </a:r>
            <a:r>
              <a:rPr sz="3600" spc="-10" dirty="0">
                <a:solidFill>
                  <a:srgbClr val="262EA4"/>
                </a:solidFill>
                <a:latin typeface="Calibri"/>
                <a:cs typeface="Calibri"/>
              </a:rPr>
              <a:t>significant stakeholders.</a:t>
            </a:r>
            <a:endParaRPr sz="3600">
              <a:latin typeface="Calibri"/>
              <a:cs typeface="Calibri"/>
            </a:endParaRPr>
          </a:p>
          <a:p>
            <a:pPr marL="241300" marR="5080" indent="-228600" algn="just">
              <a:lnSpc>
                <a:spcPts val="3910"/>
              </a:lnSpc>
              <a:spcBef>
                <a:spcPts val="4240"/>
              </a:spcBef>
              <a:buFont typeface="Arial MT"/>
              <a:buChar char="•"/>
              <a:tabLst>
                <a:tab pos="241300" algn="l"/>
              </a:tabLst>
            </a:pPr>
            <a:r>
              <a:rPr sz="3600" dirty="0">
                <a:latin typeface="Calibri"/>
                <a:cs typeface="Calibri"/>
              </a:rPr>
              <a:t>Approximately,</a:t>
            </a:r>
            <a:r>
              <a:rPr sz="3600" spc="370" dirty="0">
                <a:latin typeface="Calibri"/>
                <a:cs typeface="Calibri"/>
              </a:rPr>
              <a:t>  </a:t>
            </a:r>
            <a:r>
              <a:rPr sz="3600" dirty="0">
                <a:latin typeface="Calibri"/>
                <a:cs typeface="Calibri"/>
              </a:rPr>
              <a:t>50%</a:t>
            </a:r>
            <a:r>
              <a:rPr sz="3600" spc="370" dirty="0">
                <a:latin typeface="Calibri"/>
                <a:cs typeface="Calibri"/>
              </a:rPr>
              <a:t>  </a:t>
            </a:r>
            <a:r>
              <a:rPr sz="3600" dirty="0">
                <a:latin typeface="Calibri"/>
                <a:cs typeface="Calibri"/>
              </a:rPr>
              <a:t>of</a:t>
            </a:r>
            <a:r>
              <a:rPr sz="3600" spc="365" dirty="0">
                <a:latin typeface="Calibri"/>
                <a:cs typeface="Calibri"/>
              </a:rPr>
              <a:t>  </a:t>
            </a:r>
            <a:r>
              <a:rPr sz="3600" dirty="0">
                <a:latin typeface="Calibri"/>
                <a:cs typeface="Calibri"/>
              </a:rPr>
              <a:t>the</a:t>
            </a:r>
            <a:r>
              <a:rPr sz="3600" spc="370" dirty="0">
                <a:latin typeface="Calibri"/>
                <a:cs typeface="Calibri"/>
              </a:rPr>
              <a:t>  </a:t>
            </a:r>
            <a:r>
              <a:rPr sz="3600" dirty="0">
                <a:latin typeface="Calibri"/>
                <a:cs typeface="Calibri"/>
              </a:rPr>
              <a:t>planning</a:t>
            </a:r>
            <a:r>
              <a:rPr sz="3600" spc="365" dirty="0">
                <a:latin typeface="Calibri"/>
                <a:cs typeface="Calibri"/>
              </a:rPr>
              <a:t>  </a:t>
            </a:r>
            <a:r>
              <a:rPr sz="3600" dirty="0">
                <a:latin typeface="Calibri"/>
                <a:cs typeface="Calibri"/>
              </a:rPr>
              <a:t>problems</a:t>
            </a:r>
            <a:r>
              <a:rPr sz="3600" spc="370" dirty="0">
                <a:latin typeface="Calibri"/>
                <a:cs typeface="Calibri"/>
              </a:rPr>
              <a:t>  </a:t>
            </a:r>
            <a:r>
              <a:rPr sz="3600" spc="-25" dirty="0">
                <a:latin typeface="Calibri"/>
                <a:cs typeface="Calibri"/>
              </a:rPr>
              <a:t>are </a:t>
            </a:r>
            <a:r>
              <a:rPr sz="3600" dirty="0">
                <a:latin typeface="Calibri"/>
                <a:cs typeface="Calibri"/>
              </a:rPr>
              <a:t>related</a:t>
            </a:r>
            <a:r>
              <a:rPr sz="3600" spc="-80" dirty="0">
                <a:latin typeface="Calibri"/>
                <a:cs typeface="Calibri"/>
              </a:rPr>
              <a:t> </a:t>
            </a:r>
            <a:r>
              <a:rPr sz="3600" dirty="0">
                <a:latin typeface="Calibri"/>
                <a:cs typeface="Calibri"/>
              </a:rPr>
              <a:t>to</a:t>
            </a:r>
            <a:r>
              <a:rPr sz="3600" spc="-70" dirty="0">
                <a:latin typeface="Calibri"/>
                <a:cs typeface="Calibri"/>
              </a:rPr>
              <a:t> </a:t>
            </a:r>
            <a:r>
              <a:rPr sz="3600" dirty="0">
                <a:latin typeface="Calibri"/>
                <a:cs typeface="Calibri"/>
              </a:rPr>
              <a:t>unclear</a:t>
            </a:r>
            <a:r>
              <a:rPr sz="3600" spc="-75" dirty="0">
                <a:latin typeface="Calibri"/>
                <a:cs typeface="Calibri"/>
              </a:rPr>
              <a:t> </a:t>
            </a:r>
            <a:r>
              <a:rPr sz="3600" dirty="0">
                <a:latin typeface="Calibri"/>
                <a:cs typeface="Calibri"/>
              </a:rPr>
              <a:t>definition</a:t>
            </a:r>
            <a:r>
              <a:rPr sz="3600" spc="-80" dirty="0">
                <a:latin typeface="Calibri"/>
                <a:cs typeface="Calibri"/>
              </a:rPr>
              <a:t> </a:t>
            </a:r>
            <a:r>
              <a:rPr sz="3600" dirty="0">
                <a:latin typeface="Calibri"/>
                <a:cs typeface="Calibri"/>
              </a:rPr>
              <a:t>of</a:t>
            </a:r>
            <a:r>
              <a:rPr sz="3600" spc="-70" dirty="0">
                <a:latin typeface="Calibri"/>
                <a:cs typeface="Calibri"/>
              </a:rPr>
              <a:t> </a:t>
            </a:r>
            <a:r>
              <a:rPr sz="3600" dirty="0">
                <a:latin typeface="Calibri"/>
                <a:cs typeface="Calibri"/>
              </a:rPr>
              <a:t>scope</a:t>
            </a:r>
            <a:r>
              <a:rPr sz="3600" spc="-80" dirty="0">
                <a:latin typeface="Calibri"/>
                <a:cs typeface="Calibri"/>
              </a:rPr>
              <a:t> </a:t>
            </a:r>
            <a:r>
              <a:rPr sz="3600" dirty="0">
                <a:latin typeface="Calibri"/>
                <a:cs typeface="Calibri"/>
              </a:rPr>
              <a:t>and</a:t>
            </a:r>
            <a:r>
              <a:rPr sz="3600" spc="-70" dirty="0">
                <a:latin typeface="Calibri"/>
                <a:cs typeface="Calibri"/>
              </a:rPr>
              <a:t> </a:t>
            </a:r>
            <a:r>
              <a:rPr sz="3600" spc="-10" dirty="0">
                <a:latin typeface="Calibri"/>
                <a:cs typeface="Calibri"/>
              </a:rPr>
              <a:t>goals*.</a:t>
            </a:r>
            <a:endParaRPr sz="360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27</a:t>
            </a:r>
            <a:endParaRPr sz="1200">
              <a:latin typeface="Calibri"/>
              <a:cs typeface="Calibri"/>
            </a:endParaRPr>
          </a:p>
        </p:txBody>
      </p:sp>
      <p:sp>
        <p:nvSpPr>
          <p:cNvPr id="5" name="object 5"/>
          <p:cNvSpPr txBox="1"/>
          <p:nvPr/>
        </p:nvSpPr>
        <p:spPr>
          <a:xfrm>
            <a:off x="401467" y="6522211"/>
            <a:ext cx="1033589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a:t>
            </a:r>
            <a:r>
              <a:rPr sz="1800" spc="-50" dirty="0">
                <a:latin typeface="Calibri"/>
                <a:cs typeface="Calibri"/>
              </a:rPr>
              <a:t> </a:t>
            </a:r>
            <a:r>
              <a:rPr sz="1800" dirty="0">
                <a:latin typeface="Calibri"/>
                <a:cs typeface="Calibri"/>
              </a:rPr>
              <a:t>Study</a:t>
            </a:r>
            <a:r>
              <a:rPr sz="1800" spc="-50" dirty="0">
                <a:latin typeface="Calibri"/>
                <a:cs typeface="Calibri"/>
              </a:rPr>
              <a:t> </a:t>
            </a:r>
            <a:r>
              <a:rPr sz="1800" dirty="0">
                <a:latin typeface="Calibri"/>
                <a:cs typeface="Calibri"/>
              </a:rPr>
              <a:t>involving</a:t>
            </a:r>
            <a:r>
              <a:rPr sz="1800" spc="-45" dirty="0">
                <a:latin typeface="Calibri"/>
                <a:cs typeface="Calibri"/>
              </a:rPr>
              <a:t> </a:t>
            </a:r>
            <a:r>
              <a:rPr sz="1800" dirty="0">
                <a:latin typeface="Calibri"/>
                <a:cs typeface="Calibri"/>
              </a:rPr>
              <a:t>more</a:t>
            </a:r>
            <a:r>
              <a:rPr sz="1800" spc="-40" dirty="0">
                <a:latin typeface="Calibri"/>
                <a:cs typeface="Calibri"/>
              </a:rPr>
              <a:t> </a:t>
            </a:r>
            <a:r>
              <a:rPr sz="1800" dirty="0">
                <a:latin typeface="Calibri"/>
                <a:cs typeface="Calibri"/>
              </a:rPr>
              <a:t>than</a:t>
            </a:r>
            <a:r>
              <a:rPr sz="1800" spc="-40" dirty="0">
                <a:latin typeface="Calibri"/>
                <a:cs typeface="Calibri"/>
              </a:rPr>
              <a:t> </a:t>
            </a:r>
            <a:r>
              <a:rPr sz="1800" dirty="0">
                <a:latin typeface="Calibri"/>
                <a:cs typeface="Calibri"/>
              </a:rPr>
              <a:t>1,400</a:t>
            </a:r>
            <a:r>
              <a:rPr sz="1800" spc="-45" dirty="0">
                <a:latin typeface="Calibri"/>
                <a:cs typeface="Calibri"/>
              </a:rPr>
              <a:t> </a:t>
            </a:r>
            <a:r>
              <a:rPr sz="1800" dirty="0">
                <a:latin typeface="Calibri"/>
                <a:cs typeface="Calibri"/>
              </a:rPr>
              <a:t>project</a:t>
            </a:r>
            <a:r>
              <a:rPr sz="1800" spc="-50" dirty="0">
                <a:latin typeface="Calibri"/>
                <a:cs typeface="Calibri"/>
              </a:rPr>
              <a:t> </a:t>
            </a:r>
            <a:r>
              <a:rPr sz="1800" dirty="0">
                <a:latin typeface="Calibri"/>
                <a:cs typeface="Calibri"/>
              </a:rPr>
              <a:t>managers</a:t>
            </a:r>
            <a:r>
              <a:rPr sz="1800" spc="-50" dirty="0">
                <a:latin typeface="Calibri"/>
                <a:cs typeface="Calibri"/>
              </a:rPr>
              <a:t> </a:t>
            </a:r>
            <a:r>
              <a:rPr sz="1800" dirty="0">
                <a:latin typeface="Calibri"/>
                <a:cs typeface="Calibri"/>
              </a:rPr>
              <a:t>in</a:t>
            </a:r>
            <a:r>
              <a:rPr sz="1800" spc="-40" dirty="0">
                <a:latin typeface="Calibri"/>
                <a:cs typeface="Calibri"/>
              </a:rPr>
              <a:t> </a:t>
            </a:r>
            <a:r>
              <a:rPr sz="1800" dirty="0">
                <a:latin typeface="Calibri"/>
                <a:cs typeface="Calibri"/>
              </a:rPr>
              <a:t>the</a:t>
            </a:r>
            <a:r>
              <a:rPr sz="1800" spc="-45" dirty="0">
                <a:latin typeface="Calibri"/>
                <a:cs typeface="Calibri"/>
              </a:rPr>
              <a:t> </a:t>
            </a:r>
            <a:r>
              <a:rPr sz="1800" dirty="0">
                <a:latin typeface="Calibri"/>
                <a:cs typeface="Calibri"/>
              </a:rPr>
              <a:t>United</a:t>
            </a:r>
            <a:r>
              <a:rPr sz="1800" spc="-40" dirty="0">
                <a:latin typeface="Calibri"/>
                <a:cs typeface="Calibri"/>
              </a:rPr>
              <a:t> </a:t>
            </a:r>
            <a:r>
              <a:rPr sz="1800" dirty="0">
                <a:latin typeface="Calibri"/>
                <a:cs typeface="Calibri"/>
              </a:rPr>
              <a:t>States</a:t>
            </a:r>
            <a:r>
              <a:rPr sz="1800" spc="-50" dirty="0">
                <a:latin typeface="Calibri"/>
                <a:cs typeface="Calibri"/>
              </a:rPr>
              <a:t> </a:t>
            </a:r>
            <a:r>
              <a:rPr sz="1800" dirty="0">
                <a:latin typeface="Calibri"/>
                <a:cs typeface="Calibri"/>
              </a:rPr>
              <a:t>and</a:t>
            </a:r>
            <a:r>
              <a:rPr sz="1800" spc="-40" dirty="0">
                <a:latin typeface="Calibri"/>
                <a:cs typeface="Calibri"/>
              </a:rPr>
              <a:t> </a:t>
            </a:r>
            <a:r>
              <a:rPr sz="1800" dirty="0">
                <a:latin typeface="Calibri"/>
                <a:cs typeface="Calibri"/>
              </a:rPr>
              <a:t>Canada,</a:t>
            </a:r>
            <a:r>
              <a:rPr sz="1800" spc="-45" dirty="0">
                <a:latin typeface="Calibri"/>
                <a:cs typeface="Calibri"/>
              </a:rPr>
              <a:t> </a:t>
            </a:r>
            <a:r>
              <a:rPr sz="1800" dirty="0">
                <a:latin typeface="Calibri"/>
                <a:cs typeface="Calibri"/>
              </a:rPr>
              <a:t>Gobeli</a:t>
            </a:r>
            <a:r>
              <a:rPr sz="1800" spc="-45" dirty="0">
                <a:latin typeface="Calibri"/>
                <a:cs typeface="Calibri"/>
              </a:rPr>
              <a:t> </a:t>
            </a:r>
            <a:r>
              <a:rPr sz="1800" dirty="0">
                <a:latin typeface="Calibri"/>
                <a:cs typeface="Calibri"/>
              </a:rPr>
              <a:t>and</a:t>
            </a:r>
            <a:r>
              <a:rPr sz="1800" spc="-45" dirty="0">
                <a:latin typeface="Calibri"/>
                <a:cs typeface="Calibri"/>
              </a:rPr>
              <a:t> </a:t>
            </a:r>
            <a:r>
              <a:rPr sz="1800" dirty="0">
                <a:latin typeface="Calibri"/>
                <a:cs typeface="Calibri"/>
              </a:rPr>
              <a:t>Larson</a:t>
            </a:r>
            <a:r>
              <a:rPr sz="1800" spc="-40" dirty="0">
                <a:latin typeface="Calibri"/>
                <a:cs typeface="Calibri"/>
              </a:rPr>
              <a:t> </a:t>
            </a:r>
            <a:r>
              <a:rPr sz="1800" spc="-10" dirty="0">
                <a:latin typeface="Calibri"/>
                <a:cs typeface="Calibri"/>
              </a:rPr>
              <a:t>(1990)</a:t>
            </a:r>
            <a:endParaRPr sz="1800" dirty="0">
              <a:latin typeface="Calibri"/>
              <a:cs typeface="Calibri"/>
            </a:endParaRPr>
          </a:p>
        </p:txBody>
      </p:sp>
      <p:pic>
        <p:nvPicPr>
          <p:cNvPr id="6" name="Picture 5">
            <a:extLst>
              <a:ext uri="{FF2B5EF4-FFF2-40B4-BE49-F238E27FC236}">
                <a16:creationId xmlns:a16="http://schemas.microsoft.com/office/drawing/2014/main" id="{3DE3F393-9079-BE99-041E-4FE1096F94E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15600" y="1"/>
            <a:ext cx="1686150" cy="936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Employing a Project Scope Checklist </a:t>
            </a:r>
            <a:r>
              <a:rPr sz="1950" spc="-10" dirty="0"/>
              <a:t>(1/5)</a:t>
            </a:r>
            <a:endParaRPr sz="1950" dirty="0"/>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28</a:t>
            </a:r>
            <a:endParaRPr sz="1200">
              <a:latin typeface="Calibri"/>
              <a:cs typeface="Calibri"/>
            </a:endParaRPr>
          </a:p>
        </p:txBody>
      </p:sp>
      <p:sp>
        <p:nvSpPr>
          <p:cNvPr id="4" name="object 4"/>
          <p:cNvSpPr txBox="1"/>
          <p:nvPr/>
        </p:nvSpPr>
        <p:spPr>
          <a:xfrm>
            <a:off x="1073924" y="1965451"/>
            <a:ext cx="4961255" cy="3759200"/>
          </a:xfrm>
          <a:prstGeom prst="rect">
            <a:avLst/>
          </a:prstGeom>
        </p:spPr>
        <p:txBody>
          <a:bodyPr vert="horz" wrap="square" lIns="0" tIns="85725" rIns="0" bIns="0" rtlCol="0">
            <a:spAutoFit/>
          </a:bodyPr>
          <a:lstStyle/>
          <a:p>
            <a:pPr marL="526415" indent="-513715">
              <a:lnSpc>
                <a:spcPct val="100000"/>
              </a:lnSpc>
              <a:spcBef>
                <a:spcPts val="675"/>
              </a:spcBef>
              <a:buAutoNum type="arabicPeriod"/>
              <a:tabLst>
                <a:tab pos="526415" algn="l"/>
              </a:tabLst>
            </a:pPr>
            <a:r>
              <a:rPr sz="3600" dirty="0">
                <a:latin typeface="Calibri"/>
                <a:cs typeface="Calibri"/>
              </a:rPr>
              <a:t>Project</a:t>
            </a:r>
            <a:r>
              <a:rPr sz="3600" spc="-80" dirty="0">
                <a:latin typeface="Calibri"/>
                <a:cs typeface="Calibri"/>
              </a:rPr>
              <a:t> </a:t>
            </a:r>
            <a:r>
              <a:rPr sz="3600" spc="-10" dirty="0">
                <a:latin typeface="Calibri"/>
                <a:cs typeface="Calibri"/>
              </a:rPr>
              <a:t>objective</a:t>
            </a:r>
            <a:endParaRPr sz="3600">
              <a:latin typeface="Calibri"/>
              <a:cs typeface="Calibri"/>
            </a:endParaRPr>
          </a:p>
          <a:p>
            <a:pPr marL="526415" indent="-513715">
              <a:lnSpc>
                <a:spcPct val="100000"/>
              </a:lnSpc>
              <a:spcBef>
                <a:spcPts val="575"/>
              </a:spcBef>
              <a:buAutoNum type="arabicPeriod"/>
              <a:tabLst>
                <a:tab pos="526415" algn="l"/>
              </a:tabLst>
            </a:pPr>
            <a:r>
              <a:rPr sz="3600" spc="-10" dirty="0">
                <a:solidFill>
                  <a:srgbClr val="262EA4"/>
                </a:solidFill>
                <a:latin typeface="Calibri"/>
                <a:cs typeface="Calibri"/>
              </a:rPr>
              <a:t>Deliverables</a:t>
            </a:r>
            <a:endParaRPr sz="3600">
              <a:latin typeface="Calibri"/>
              <a:cs typeface="Calibri"/>
            </a:endParaRPr>
          </a:p>
          <a:p>
            <a:pPr marL="526415" indent="-513715">
              <a:lnSpc>
                <a:spcPct val="100000"/>
              </a:lnSpc>
              <a:spcBef>
                <a:spcPts val="575"/>
              </a:spcBef>
              <a:buAutoNum type="arabicPeriod"/>
              <a:tabLst>
                <a:tab pos="526415" algn="l"/>
              </a:tabLst>
            </a:pPr>
            <a:r>
              <a:rPr sz="3600" spc="-10" dirty="0">
                <a:latin typeface="Calibri"/>
                <a:cs typeface="Calibri"/>
              </a:rPr>
              <a:t>Milestones</a:t>
            </a:r>
            <a:endParaRPr sz="3600">
              <a:latin typeface="Calibri"/>
              <a:cs typeface="Calibri"/>
            </a:endParaRPr>
          </a:p>
          <a:p>
            <a:pPr marL="526415" indent="-513715">
              <a:lnSpc>
                <a:spcPct val="100000"/>
              </a:lnSpc>
              <a:spcBef>
                <a:spcPts val="580"/>
              </a:spcBef>
              <a:buAutoNum type="arabicPeriod"/>
              <a:tabLst>
                <a:tab pos="526415" algn="l"/>
              </a:tabLst>
            </a:pPr>
            <a:r>
              <a:rPr sz="3600" spc="-35" dirty="0">
                <a:solidFill>
                  <a:srgbClr val="262EA4"/>
                </a:solidFill>
                <a:latin typeface="Calibri"/>
                <a:cs typeface="Calibri"/>
              </a:rPr>
              <a:t>Technical</a:t>
            </a:r>
            <a:r>
              <a:rPr sz="3600" spc="-114" dirty="0">
                <a:solidFill>
                  <a:srgbClr val="262EA4"/>
                </a:solidFill>
                <a:latin typeface="Calibri"/>
                <a:cs typeface="Calibri"/>
              </a:rPr>
              <a:t> </a:t>
            </a:r>
            <a:r>
              <a:rPr sz="3600" spc="-10" dirty="0">
                <a:solidFill>
                  <a:srgbClr val="262EA4"/>
                </a:solidFill>
                <a:latin typeface="Calibri"/>
                <a:cs typeface="Calibri"/>
              </a:rPr>
              <a:t>requirements.</a:t>
            </a:r>
            <a:endParaRPr sz="3600">
              <a:latin typeface="Calibri"/>
              <a:cs typeface="Calibri"/>
            </a:endParaRPr>
          </a:p>
          <a:p>
            <a:pPr marL="526415" indent="-513715">
              <a:lnSpc>
                <a:spcPct val="100000"/>
              </a:lnSpc>
              <a:spcBef>
                <a:spcPts val="575"/>
              </a:spcBef>
              <a:buAutoNum type="arabicPeriod"/>
              <a:tabLst>
                <a:tab pos="526415" algn="l"/>
              </a:tabLst>
            </a:pPr>
            <a:r>
              <a:rPr sz="3600" dirty="0">
                <a:latin typeface="Calibri"/>
                <a:cs typeface="Calibri"/>
              </a:rPr>
              <a:t>Limits</a:t>
            </a:r>
            <a:r>
              <a:rPr sz="3600" spc="-20" dirty="0">
                <a:latin typeface="Calibri"/>
                <a:cs typeface="Calibri"/>
              </a:rPr>
              <a:t> </a:t>
            </a:r>
            <a:r>
              <a:rPr sz="3600" dirty="0">
                <a:latin typeface="Calibri"/>
                <a:cs typeface="Calibri"/>
              </a:rPr>
              <a:t>and</a:t>
            </a:r>
            <a:r>
              <a:rPr sz="3600" spc="-25" dirty="0">
                <a:latin typeface="Calibri"/>
                <a:cs typeface="Calibri"/>
              </a:rPr>
              <a:t> </a:t>
            </a:r>
            <a:r>
              <a:rPr sz="3600" spc="-10" dirty="0">
                <a:latin typeface="Calibri"/>
                <a:cs typeface="Calibri"/>
              </a:rPr>
              <a:t>exclusions</a:t>
            </a:r>
            <a:endParaRPr sz="3600">
              <a:latin typeface="Calibri"/>
              <a:cs typeface="Calibri"/>
            </a:endParaRPr>
          </a:p>
          <a:p>
            <a:pPr marL="526415" indent="-513715">
              <a:lnSpc>
                <a:spcPct val="100000"/>
              </a:lnSpc>
              <a:spcBef>
                <a:spcPts val="600"/>
              </a:spcBef>
              <a:buAutoNum type="arabicPeriod"/>
              <a:tabLst>
                <a:tab pos="526415" algn="l"/>
              </a:tabLst>
            </a:pPr>
            <a:r>
              <a:rPr sz="3600" dirty="0">
                <a:solidFill>
                  <a:srgbClr val="262EA4"/>
                </a:solidFill>
                <a:latin typeface="Calibri"/>
                <a:cs typeface="Calibri"/>
              </a:rPr>
              <a:t>Reviews</a:t>
            </a:r>
            <a:r>
              <a:rPr sz="3600" spc="-120" dirty="0">
                <a:solidFill>
                  <a:srgbClr val="262EA4"/>
                </a:solidFill>
                <a:latin typeface="Calibri"/>
                <a:cs typeface="Calibri"/>
              </a:rPr>
              <a:t> </a:t>
            </a:r>
            <a:r>
              <a:rPr sz="3600" dirty="0">
                <a:solidFill>
                  <a:srgbClr val="262EA4"/>
                </a:solidFill>
                <a:latin typeface="Calibri"/>
                <a:cs typeface="Calibri"/>
              </a:rPr>
              <a:t>with</a:t>
            </a:r>
            <a:r>
              <a:rPr sz="3600" spc="-125" dirty="0">
                <a:solidFill>
                  <a:srgbClr val="262EA4"/>
                </a:solidFill>
                <a:latin typeface="Calibri"/>
                <a:cs typeface="Calibri"/>
              </a:rPr>
              <a:t> </a:t>
            </a:r>
            <a:r>
              <a:rPr sz="3600" spc="-10" dirty="0">
                <a:solidFill>
                  <a:srgbClr val="262EA4"/>
                </a:solidFill>
                <a:latin typeface="Calibri"/>
                <a:cs typeface="Calibri"/>
              </a:rPr>
              <a:t>customer.</a:t>
            </a:r>
            <a:endParaRPr sz="3600">
              <a:latin typeface="Calibri"/>
              <a:cs typeface="Calibri"/>
            </a:endParaRPr>
          </a:p>
        </p:txBody>
      </p:sp>
      <p:pic>
        <p:nvPicPr>
          <p:cNvPr id="5" name="Picture 4">
            <a:extLst>
              <a:ext uri="{FF2B5EF4-FFF2-40B4-BE49-F238E27FC236}">
                <a16:creationId xmlns:a16="http://schemas.microsoft.com/office/drawing/2014/main" id="{6AF1AB07-49A1-E0E0-BF0C-60ACAB943FB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15600" y="1"/>
            <a:ext cx="1686150" cy="936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91539" y="1493181"/>
            <a:ext cx="10408920" cy="5262245"/>
          </a:xfrm>
          <a:prstGeom prst="rect">
            <a:avLst/>
          </a:prstGeom>
        </p:spPr>
        <p:txBody>
          <a:bodyPr vert="horz" wrap="square" lIns="0" tIns="46990" rIns="0" bIns="0" rtlCol="0">
            <a:spAutoFit/>
          </a:bodyPr>
          <a:lstStyle/>
          <a:p>
            <a:pPr marL="389890" indent="-351790" algn="just">
              <a:lnSpc>
                <a:spcPct val="100000"/>
              </a:lnSpc>
              <a:spcBef>
                <a:spcPts val="370"/>
              </a:spcBef>
              <a:buAutoNum type="arabicPeriod"/>
              <a:tabLst>
                <a:tab pos="389890" algn="l"/>
              </a:tabLst>
            </a:pPr>
            <a:r>
              <a:rPr sz="2800" b="1" dirty="0">
                <a:solidFill>
                  <a:srgbClr val="262EA4"/>
                </a:solidFill>
                <a:latin typeface="Calibri"/>
                <a:cs typeface="Calibri"/>
              </a:rPr>
              <a:t>Project</a:t>
            </a:r>
            <a:r>
              <a:rPr sz="2800" b="1" spc="-105" dirty="0">
                <a:solidFill>
                  <a:srgbClr val="262EA4"/>
                </a:solidFill>
                <a:latin typeface="Calibri"/>
                <a:cs typeface="Calibri"/>
              </a:rPr>
              <a:t> </a:t>
            </a:r>
            <a:r>
              <a:rPr sz="2800" b="1" spc="-10" dirty="0">
                <a:solidFill>
                  <a:srgbClr val="262EA4"/>
                </a:solidFill>
                <a:latin typeface="Calibri"/>
                <a:cs typeface="Calibri"/>
              </a:rPr>
              <a:t>objective:</a:t>
            </a:r>
            <a:endParaRPr sz="2800">
              <a:latin typeface="Calibri"/>
              <a:cs typeface="Calibri"/>
            </a:endParaRPr>
          </a:p>
          <a:p>
            <a:pPr marL="530225" marR="33020" lvl="1" indent="-211454" algn="just">
              <a:lnSpc>
                <a:spcPts val="2590"/>
              </a:lnSpc>
              <a:spcBef>
                <a:spcPts val="560"/>
              </a:spcBef>
              <a:buFont typeface="Arial MT"/>
              <a:buChar char="•"/>
              <a:tabLst>
                <a:tab pos="531495" algn="l"/>
              </a:tabLst>
            </a:pPr>
            <a:r>
              <a:rPr sz="2400" dirty="0">
                <a:latin typeface="Calibri"/>
                <a:cs typeface="Calibri"/>
              </a:rPr>
              <a:t>The</a:t>
            </a:r>
            <a:r>
              <a:rPr sz="2400" spc="65" dirty="0">
                <a:latin typeface="Calibri"/>
                <a:cs typeface="Calibri"/>
              </a:rPr>
              <a:t> </a:t>
            </a:r>
            <a:r>
              <a:rPr sz="2400" dirty="0">
                <a:latin typeface="Calibri"/>
                <a:cs typeface="Calibri"/>
              </a:rPr>
              <a:t>project</a:t>
            </a:r>
            <a:r>
              <a:rPr sz="2400" spc="55" dirty="0">
                <a:latin typeface="Calibri"/>
                <a:cs typeface="Calibri"/>
              </a:rPr>
              <a:t> </a:t>
            </a:r>
            <a:r>
              <a:rPr sz="2400" dirty="0">
                <a:latin typeface="Calibri"/>
                <a:cs typeface="Calibri"/>
              </a:rPr>
              <a:t>objective</a:t>
            </a:r>
            <a:r>
              <a:rPr sz="2400" spc="65" dirty="0">
                <a:latin typeface="Calibri"/>
                <a:cs typeface="Calibri"/>
              </a:rPr>
              <a:t> </a:t>
            </a:r>
            <a:r>
              <a:rPr sz="2400" dirty="0">
                <a:latin typeface="Calibri"/>
                <a:cs typeface="Calibri"/>
              </a:rPr>
              <a:t>answers</a:t>
            </a:r>
            <a:r>
              <a:rPr sz="2400" spc="60" dirty="0">
                <a:latin typeface="Calibri"/>
                <a:cs typeface="Calibri"/>
              </a:rPr>
              <a:t> </a:t>
            </a:r>
            <a:r>
              <a:rPr sz="2400" dirty="0">
                <a:latin typeface="Calibri"/>
                <a:cs typeface="Calibri"/>
              </a:rPr>
              <a:t>the</a:t>
            </a:r>
            <a:r>
              <a:rPr sz="2400" spc="65" dirty="0">
                <a:latin typeface="Calibri"/>
                <a:cs typeface="Calibri"/>
              </a:rPr>
              <a:t> </a:t>
            </a:r>
            <a:r>
              <a:rPr sz="2400" dirty="0">
                <a:latin typeface="Calibri"/>
                <a:cs typeface="Calibri"/>
              </a:rPr>
              <a:t>questions</a:t>
            </a:r>
            <a:r>
              <a:rPr sz="2400" spc="60" dirty="0">
                <a:latin typeface="Calibri"/>
                <a:cs typeface="Calibri"/>
              </a:rPr>
              <a:t> </a:t>
            </a:r>
            <a:r>
              <a:rPr sz="2400" dirty="0">
                <a:latin typeface="Calibri"/>
                <a:cs typeface="Calibri"/>
              </a:rPr>
              <a:t>of</a:t>
            </a:r>
            <a:r>
              <a:rPr sz="2400" spc="60" dirty="0">
                <a:latin typeface="Calibri"/>
                <a:cs typeface="Calibri"/>
              </a:rPr>
              <a:t> </a:t>
            </a:r>
            <a:r>
              <a:rPr sz="2400" dirty="0">
                <a:latin typeface="Calibri"/>
                <a:cs typeface="Calibri"/>
              </a:rPr>
              <a:t>what,</a:t>
            </a:r>
            <a:r>
              <a:rPr sz="2400" spc="65" dirty="0">
                <a:latin typeface="Calibri"/>
                <a:cs typeface="Calibri"/>
              </a:rPr>
              <a:t> </a:t>
            </a:r>
            <a:r>
              <a:rPr sz="2400" dirty="0">
                <a:latin typeface="Calibri"/>
                <a:cs typeface="Calibri"/>
              </a:rPr>
              <a:t>when,</a:t>
            </a:r>
            <a:r>
              <a:rPr sz="2400" spc="55" dirty="0">
                <a:latin typeface="Calibri"/>
                <a:cs typeface="Calibri"/>
              </a:rPr>
              <a:t> </a:t>
            </a:r>
            <a:r>
              <a:rPr sz="2400" dirty="0">
                <a:latin typeface="Calibri"/>
                <a:cs typeface="Calibri"/>
              </a:rPr>
              <a:t>how</a:t>
            </a:r>
            <a:r>
              <a:rPr sz="2400" spc="60" dirty="0">
                <a:latin typeface="Calibri"/>
                <a:cs typeface="Calibri"/>
              </a:rPr>
              <a:t> </a:t>
            </a:r>
            <a:r>
              <a:rPr sz="2400" dirty="0">
                <a:latin typeface="Calibri"/>
                <a:cs typeface="Calibri"/>
              </a:rPr>
              <a:t>much,</a:t>
            </a:r>
            <a:r>
              <a:rPr sz="2400" spc="60" dirty="0">
                <a:latin typeface="Calibri"/>
                <a:cs typeface="Calibri"/>
              </a:rPr>
              <a:t> </a:t>
            </a:r>
            <a:r>
              <a:rPr sz="2400" dirty="0">
                <a:latin typeface="Calibri"/>
                <a:cs typeface="Calibri"/>
              </a:rPr>
              <a:t>and</a:t>
            </a:r>
            <a:r>
              <a:rPr sz="2400" spc="65" dirty="0">
                <a:latin typeface="Calibri"/>
                <a:cs typeface="Calibri"/>
              </a:rPr>
              <a:t> </a:t>
            </a:r>
            <a:r>
              <a:rPr sz="2400" spc="-25" dirty="0">
                <a:latin typeface="Calibri"/>
                <a:cs typeface="Calibri"/>
              </a:rPr>
              <a:t>at 	</a:t>
            </a:r>
            <a:r>
              <a:rPr sz="2400" dirty="0">
                <a:latin typeface="Calibri"/>
                <a:cs typeface="Calibri"/>
              </a:rPr>
              <a:t>times,</a:t>
            </a:r>
            <a:r>
              <a:rPr sz="2400" spc="-55" dirty="0">
                <a:latin typeface="Calibri"/>
                <a:cs typeface="Calibri"/>
              </a:rPr>
              <a:t> </a:t>
            </a:r>
            <a:r>
              <a:rPr sz="2400" dirty="0">
                <a:latin typeface="Calibri"/>
                <a:cs typeface="Calibri"/>
              </a:rPr>
              <a:t>where</a:t>
            </a:r>
            <a:r>
              <a:rPr sz="2400" spc="-50" dirty="0">
                <a:latin typeface="Calibri"/>
                <a:cs typeface="Calibri"/>
              </a:rPr>
              <a:t> </a:t>
            </a:r>
            <a:r>
              <a:rPr sz="2400" dirty="0">
                <a:latin typeface="Calibri"/>
                <a:cs typeface="Calibri"/>
              </a:rPr>
              <a:t>of</a:t>
            </a:r>
            <a:r>
              <a:rPr sz="2400" spc="-55" dirty="0">
                <a:latin typeface="Calibri"/>
                <a:cs typeface="Calibri"/>
              </a:rPr>
              <a:t> </a:t>
            </a:r>
            <a:r>
              <a:rPr sz="2400" dirty="0">
                <a:latin typeface="Calibri"/>
                <a:cs typeface="Calibri"/>
              </a:rPr>
              <a:t>the</a:t>
            </a:r>
            <a:r>
              <a:rPr sz="2400" spc="-50" dirty="0">
                <a:latin typeface="Calibri"/>
                <a:cs typeface="Calibri"/>
              </a:rPr>
              <a:t> </a:t>
            </a:r>
            <a:r>
              <a:rPr sz="2400" spc="-10" dirty="0">
                <a:latin typeface="Calibri"/>
                <a:cs typeface="Calibri"/>
              </a:rPr>
              <a:t>overall</a:t>
            </a:r>
            <a:r>
              <a:rPr sz="2400" spc="-65" dirty="0">
                <a:latin typeface="Calibri"/>
                <a:cs typeface="Calibri"/>
              </a:rPr>
              <a:t> </a:t>
            </a:r>
            <a:r>
              <a:rPr sz="2400" dirty="0">
                <a:latin typeface="Calibri"/>
                <a:cs typeface="Calibri"/>
              </a:rPr>
              <a:t>objective</a:t>
            </a:r>
            <a:r>
              <a:rPr sz="2400" spc="-50" dirty="0">
                <a:latin typeface="Calibri"/>
                <a:cs typeface="Calibri"/>
              </a:rPr>
              <a:t> </a:t>
            </a:r>
            <a:r>
              <a:rPr sz="2400" dirty="0">
                <a:latin typeface="Calibri"/>
                <a:cs typeface="Calibri"/>
              </a:rPr>
              <a:t>to</a:t>
            </a:r>
            <a:r>
              <a:rPr sz="2400" spc="-60" dirty="0">
                <a:latin typeface="Calibri"/>
                <a:cs typeface="Calibri"/>
              </a:rPr>
              <a:t> </a:t>
            </a:r>
            <a:r>
              <a:rPr sz="2400" dirty="0">
                <a:latin typeface="Calibri"/>
                <a:cs typeface="Calibri"/>
              </a:rPr>
              <a:t>meet</a:t>
            </a:r>
            <a:r>
              <a:rPr sz="2400" spc="-60" dirty="0">
                <a:latin typeface="Calibri"/>
                <a:cs typeface="Calibri"/>
              </a:rPr>
              <a:t> </a:t>
            </a:r>
            <a:r>
              <a:rPr sz="2400" dirty="0">
                <a:latin typeface="Calibri"/>
                <a:cs typeface="Calibri"/>
              </a:rPr>
              <a:t>your</a:t>
            </a:r>
            <a:r>
              <a:rPr sz="2400" spc="-55" dirty="0">
                <a:latin typeface="Calibri"/>
                <a:cs typeface="Calibri"/>
              </a:rPr>
              <a:t> </a:t>
            </a:r>
            <a:r>
              <a:rPr sz="2400" spc="-10" dirty="0">
                <a:latin typeface="Calibri"/>
                <a:cs typeface="Calibri"/>
              </a:rPr>
              <a:t>customer’s</a:t>
            </a:r>
            <a:r>
              <a:rPr sz="2400" spc="-55" dirty="0">
                <a:latin typeface="Calibri"/>
                <a:cs typeface="Calibri"/>
              </a:rPr>
              <a:t> </a:t>
            </a:r>
            <a:r>
              <a:rPr sz="2400" spc="-10" dirty="0">
                <a:latin typeface="Calibri"/>
                <a:cs typeface="Calibri"/>
              </a:rPr>
              <a:t>need(s).</a:t>
            </a:r>
            <a:endParaRPr sz="2400">
              <a:latin typeface="Calibri"/>
              <a:cs typeface="Calibri"/>
            </a:endParaRPr>
          </a:p>
          <a:p>
            <a:pPr marL="530225" marR="31115" lvl="1" indent="-211454" algn="just">
              <a:lnSpc>
                <a:spcPct val="90400"/>
              </a:lnSpc>
              <a:spcBef>
                <a:spcPts val="455"/>
              </a:spcBef>
              <a:buFont typeface="Arial MT"/>
              <a:buChar char="•"/>
              <a:tabLst>
                <a:tab pos="531495" algn="l"/>
              </a:tabLst>
            </a:pPr>
            <a:r>
              <a:rPr sz="2400" dirty="0">
                <a:latin typeface="Calibri"/>
                <a:cs typeface="Calibri"/>
              </a:rPr>
              <a:t>For</a:t>
            </a:r>
            <a:r>
              <a:rPr sz="2400" spc="-10" dirty="0">
                <a:latin typeface="Calibri"/>
                <a:cs typeface="Calibri"/>
              </a:rPr>
              <a:t> </a:t>
            </a:r>
            <a:r>
              <a:rPr sz="2400" dirty="0">
                <a:latin typeface="Calibri"/>
                <a:cs typeface="Calibri"/>
              </a:rPr>
              <a:t>example,</a:t>
            </a:r>
            <a:r>
              <a:rPr sz="2400" spc="-5" dirty="0">
                <a:latin typeface="Calibri"/>
                <a:cs typeface="Calibri"/>
              </a:rPr>
              <a:t> </a:t>
            </a:r>
            <a:r>
              <a:rPr sz="2400" dirty="0">
                <a:latin typeface="Calibri"/>
                <a:cs typeface="Calibri"/>
              </a:rPr>
              <a:t>develop</a:t>
            </a:r>
            <a:r>
              <a:rPr sz="2400" spc="-10" dirty="0">
                <a:latin typeface="Calibri"/>
                <a:cs typeface="Calibri"/>
              </a:rPr>
              <a:t> </a:t>
            </a:r>
            <a:r>
              <a:rPr sz="2400" dirty="0">
                <a:latin typeface="Calibri"/>
                <a:cs typeface="Calibri"/>
              </a:rPr>
              <a:t>a</a:t>
            </a:r>
            <a:r>
              <a:rPr sz="2400" spc="-10" dirty="0">
                <a:latin typeface="Calibri"/>
                <a:cs typeface="Calibri"/>
              </a:rPr>
              <a:t> </a:t>
            </a:r>
            <a:r>
              <a:rPr sz="2400" dirty="0">
                <a:latin typeface="Calibri"/>
                <a:cs typeface="Calibri"/>
              </a:rPr>
              <a:t>program</a:t>
            </a:r>
            <a:r>
              <a:rPr sz="2400" spc="-15" dirty="0">
                <a:latin typeface="Calibri"/>
                <a:cs typeface="Calibri"/>
              </a:rPr>
              <a:t> </a:t>
            </a:r>
            <a:r>
              <a:rPr sz="2400" dirty="0">
                <a:latin typeface="Calibri"/>
                <a:cs typeface="Calibri"/>
              </a:rPr>
              <a:t>that</a:t>
            </a:r>
            <a:r>
              <a:rPr sz="2400" spc="-10" dirty="0">
                <a:latin typeface="Calibri"/>
                <a:cs typeface="Calibri"/>
              </a:rPr>
              <a:t> </a:t>
            </a:r>
            <a:r>
              <a:rPr sz="2400" dirty="0">
                <a:latin typeface="Calibri"/>
                <a:cs typeface="Calibri"/>
              </a:rPr>
              <a:t>automatically</a:t>
            </a:r>
            <a:r>
              <a:rPr sz="2400" spc="-15" dirty="0">
                <a:latin typeface="Calibri"/>
                <a:cs typeface="Calibri"/>
              </a:rPr>
              <a:t> </a:t>
            </a:r>
            <a:r>
              <a:rPr sz="2400" dirty="0">
                <a:latin typeface="Calibri"/>
                <a:cs typeface="Calibri"/>
              </a:rPr>
              <a:t>translates</a:t>
            </a:r>
            <a:r>
              <a:rPr sz="2400" spc="-15" dirty="0">
                <a:latin typeface="Calibri"/>
                <a:cs typeface="Calibri"/>
              </a:rPr>
              <a:t> </a:t>
            </a:r>
            <a:r>
              <a:rPr sz="2400" dirty="0">
                <a:latin typeface="Calibri"/>
                <a:cs typeface="Calibri"/>
              </a:rPr>
              <a:t>verbal</a:t>
            </a:r>
            <a:r>
              <a:rPr sz="2400" spc="-10" dirty="0">
                <a:latin typeface="Calibri"/>
                <a:cs typeface="Calibri"/>
              </a:rPr>
              <a:t> sentences 	</a:t>
            </a:r>
            <a:r>
              <a:rPr sz="2400" dirty="0">
                <a:latin typeface="Calibri"/>
                <a:cs typeface="Calibri"/>
              </a:rPr>
              <a:t>in</a:t>
            </a:r>
            <a:r>
              <a:rPr sz="2400" spc="105" dirty="0">
                <a:latin typeface="Calibri"/>
                <a:cs typeface="Calibri"/>
              </a:rPr>
              <a:t> </a:t>
            </a:r>
            <a:r>
              <a:rPr sz="2400" dirty="0">
                <a:latin typeface="Calibri"/>
                <a:cs typeface="Calibri"/>
              </a:rPr>
              <a:t>English</a:t>
            </a:r>
            <a:r>
              <a:rPr sz="2400" spc="105" dirty="0">
                <a:latin typeface="Calibri"/>
                <a:cs typeface="Calibri"/>
              </a:rPr>
              <a:t> </a:t>
            </a:r>
            <a:r>
              <a:rPr sz="2400" dirty="0">
                <a:latin typeface="Calibri"/>
                <a:cs typeface="Calibri"/>
              </a:rPr>
              <a:t>to</a:t>
            </a:r>
            <a:r>
              <a:rPr sz="2400" spc="110" dirty="0">
                <a:latin typeface="Calibri"/>
                <a:cs typeface="Calibri"/>
              </a:rPr>
              <a:t> </a:t>
            </a:r>
            <a:r>
              <a:rPr sz="2400" dirty="0">
                <a:latin typeface="Calibri"/>
                <a:cs typeface="Calibri"/>
              </a:rPr>
              <a:t>Russian.</a:t>
            </a:r>
            <a:r>
              <a:rPr sz="2400" spc="100" dirty="0">
                <a:latin typeface="Calibri"/>
                <a:cs typeface="Calibri"/>
              </a:rPr>
              <a:t> </a:t>
            </a:r>
            <a:r>
              <a:rPr sz="2400" dirty="0">
                <a:latin typeface="Calibri"/>
                <a:cs typeface="Calibri"/>
              </a:rPr>
              <a:t>The</a:t>
            </a:r>
            <a:r>
              <a:rPr sz="2400" spc="110" dirty="0">
                <a:latin typeface="Calibri"/>
                <a:cs typeface="Calibri"/>
              </a:rPr>
              <a:t> </a:t>
            </a:r>
            <a:r>
              <a:rPr sz="2400" dirty="0">
                <a:latin typeface="Calibri"/>
                <a:cs typeface="Calibri"/>
              </a:rPr>
              <a:t>project</a:t>
            </a:r>
            <a:r>
              <a:rPr sz="2400" spc="100" dirty="0">
                <a:latin typeface="Calibri"/>
                <a:cs typeface="Calibri"/>
              </a:rPr>
              <a:t> </a:t>
            </a:r>
            <a:r>
              <a:rPr sz="2400" dirty="0">
                <a:latin typeface="Calibri"/>
                <a:cs typeface="Calibri"/>
              </a:rPr>
              <a:t>should</a:t>
            </a:r>
            <a:r>
              <a:rPr sz="2400" spc="110" dirty="0">
                <a:latin typeface="Calibri"/>
                <a:cs typeface="Calibri"/>
              </a:rPr>
              <a:t> </a:t>
            </a:r>
            <a:r>
              <a:rPr sz="2400" dirty="0">
                <a:latin typeface="Calibri"/>
                <a:cs typeface="Calibri"/>
              </a:rPr>
              <a:t>be</a:t>
            </a:r>
            <a:r>
              <a:rPr sz="2400" spc="110" dirty="0">
                <a:latin typeface="Calibri"/>
                <a:cs typeface="Calibri"/>
              </a:rPr>
              <a:t> </a:t>
            </a:r>
            <a:r>
              <a:rPr sz="2400" dirty="0">
                <a:latin typeface="Calibri"/>
                <a:cs typeface="Calibri"/>
              </a:rPr>
              <a:t>completed</a:t>
            </a:r>
            <a:r>
              <a:rPr sz="2400" spc="110" dirty="0">
                <a:latin typeface="Calibri"/>
                <a:cs typeface="Calibri"/>
              </a:rPr>
              <a:t> </a:t>
            </a:r>
            <a:r>
              <a:rPr sz="2400" dirty="0">
                <a:latin typeface="Calibri"/>
                <a:cs typeface="Calibri"/>
              </a:rPr>
              <a:t>within</a:t>
            </a:r>
            <a:r>
              <a:rPr sz="2400" spc="105" dirty="0">
                <a:latin typeface="Calibri"/>
                <a:cs typeface="Calibri"/>
              </a:rPr>
              <a:t> </a:t>
            </a:r>
            <a:r>
              <a:rPr sz="2400" dirty="0">
                <a:latin typeface="Calibri"/>
                <a:cs typeface="Calibri"/>
              </a:rPr>
              <a:t>three</a:t>
            </a:r>
            <a:r>
              <a:rPr sz="2400" spc="110" dirty="0">
                <a:latin typeface="Calibri"/>
                <a:cs typeface="Calibri"/>
              </a:rPr>
              <a:t> </a:t>
            </a:r>
            <a:r>
              <a:rPr sz="2400" dirty="0">
                <a:latin typeface="Calibri"/>
                <a:cs typeface="Calibri"/>
              </a:rPr>
              <a:t>years</a:t>
            </a:r>
            <a:r>
              <a:rPr sz="2400" spc="105" dirty="0">
                <a:latin typeface="Calibri"/>
                <a:cs typeface="Calibri"/>
              </a:rPr>
              <a:t> </a:t>
            </a:r>
            <a:r>
              <a:rPr sz="2400" dirty="0">
                <a:latin typeface="Calibri"/>
                <a:cs typeface="Calibri"/>
              </a:rPr>
              <a:t>at</a:t>
            </a:r>
            <a:r>
              <a:rPr sz="2400" spc="105" dirty="0">
                <a:latin typeface="Calibri"/>
                <a:cs typeface="Calibri"/>
              </a:rPr>
              <a:t> </a:t>
            </a:r>
            <a:r>
              <a:rPr sz="2400" spc="-50" dirty="0">
                <a:latin typeface="Calibri"/>
                <a:cs typeface="Calibri"/>
              </a:rPr>
              <a:t>a 	</a:t>
            </a:r>
            <a:r>
              <a:rPr sz="2400" dirty="0">
                <a:latin typeface="Calibri"/>
                <a:cs typeface="Calibri"/>
              </a:rPr>
              <a:t>cost</a:t>
            </a:r>
            <a:r>
              <a:rPr sz="2400" spc="-55" dirty="0">
                <a:latin typeface="Calibri"/>
                <a:cs typeface="Calibri"/>
              </a:rPr>
              <a:t> </a:t>
            </a:r>
            <a:r>
              <a:rPr sz="2400" dirty="0">
                <a:latin typeface="Calibri"/>
                <a:cs typeface="Calibri"/>
              </a:rPr>
              <a:t>not</a:t>
            </a:r>
            <a:r>
              <a:rPr sz="2400" spc="-50" dirty="0">
                <a:latin typeface="Calibri"/>
                <a:cs typeface="Calibri"/>
              </a:rPr>
              <a:t> </a:t>
            </a:r>
            <a:r>
              <a:rPr sz="2400" dirty="0">
                <a:latin typeface="Calibri"/>
                <a:cs typeface="Calibri"/>
              </a:rPr>
              <a:t>to</a:t>
            </a:r>
            <a:r>
              <a:rPr sz="2400" spc="-50" dirty="0">
                <a:latin typeface="Calibri"/>
                <a:cs typeface="Calibri"/>
              </a:rPr>
              <a:t> </a:t>
            </a:r>
            <a:r>
              <a:rPr sz="2400" spc="-10" dirty="0">
                <a:latin typeface="Calibri"/>
                <a:cs typeface="Calibri"/>
              </a:rPr>
              <a:t>exceed</a:t>
            </a:r>
            <a:r>
              <a:rPr sz="2400" spc="-45" dirty="0">
                <a:latin typeface="Calibri"/>
                <a:cs typeface="Calibri"/>
              </a:rPr>
              <a:t> </a:t>
            </a:r>
            <a:r>
              <a:rPr sz="2400" dirty="0">
                <a:latin typeface="Calibri"/>
                <a:cs typeface="Calibri"/>
              </a:rPr>
              <a:t>$1.5</a:t>
            </a:r>
            <a:r>
              <a:rPr sz="2400" spc="-50" dirty="0">
                <a:latin typeface="Calibri"/>
                <a:cs typeface="Calibri"/>
              </a:rPr>
              <a:t> </a:t>
            </a:r>
            <a:r>
              <a:rPr sz="2400" spc="-10" dirty="0">
                <a:latin typeface="Calibri"/>
                <a:cs typeface="Calibri"/>
              </a:rPr>
              <a:t>million.</a:t>
            </a:r>
            <a:endParaRPr sz="2400">
              <a:latin typeface="Calibri"/>
              <a:cs typeface="Calibri"/>
            </a:endParaRPr>
          </a:p>
          <a:p>
            <a:pPr marL="478790" indent="-440690" algn="just">
              <a:lnSpc>
                <a:spcPct val="100000"/>
              </a:lnSpc>
              <a:spcBef>
                <a:spcPts val="635"/>
              </a:spcBef>
              <a:buAutoNum type="arabicPeriod"/>
              <a:tabLst>
                <a:tab pos="478790" algn="l"/>
              </a:tabLst>
            </a:pPr>
            <a:r>
              <a:rPr sz="2800" b="1" spc="-10" dirty="0">
                <a:solidFill>
                  <a:srgbClr val="262EA4"/>
                </a:solidFill>
                <a:latin typeface="Calibri"/>
                <a:cs typeface="Calibri"/>
              </a:rPr>
              <a:t>Deliverables:</a:t>
            </a:r>
            <a:endParaRPr sz="2800">
              <a:latin typeface="Calibri"/>
              <a:cs typeface="Calibri"/>
            </a:endParaRPr>
          </a:p>
          <a:p>
            <a:pPr marL="582930" marR="31750" lvl="1" indent="-227329" algn="just">
              <a:lnSpc>
                <a:spcPts val="2590"/>
              </a:lnSpc>
              <a:spcBef>
                <a:spcPts val="560"/>
              </a:spcBef>
              <a:buFont typeface="Arial MT"/>
              <a:buChar char="•"/>
              <a:tabLst>
                <a:tab pos="584200" algn="l"/>
              </a:tabLst>
            </a:pPr>
            <a:r>
              <a:rPr sz="2400" dirty="0">
                <a:latin typeface="Calibri"/>
                <a:cs typeface="Calibri"/>
              </a:rPr>
              <a:t>Define</a:t>
            </a:r>
            <a:r>
              <a:rPr sz="2400" spc="-20" dirty="0">
                <a:latin typeface="Calibri"/>
                <a:cs typeface="Calibri"/>
              </a:rPr>
              <a:t> </a:t>
            </a:r>
            <a:r>
              <a:rPr sz="2400" dirty="0">
                <a:latin typeface="Calibri"/>
                <a:cs typeface="Calibri"/>
              </a:rPr>
              <a:t>major</a:t>
            </a:r>
            <a:r>
              <a:rPr sz="2400" spc="-15" dirty="0">
                <a:latin typeface="Calibri"/>
                <a:cs typeface="Calibri"/>
              </a:rPr>
              <a:t> </a:t>
            </a:r>
            <a:r>
              <a:rPr sz="2400" dirty="0">
                <a:latin typeface="Calibri"/>
                <a:cs typeface="Calibri"/>
              </a:rPr>
              <a:t>deliverables</a:t>
            </a:r>
            <a:r>
              <a:rPr sz="2400" spc="-15"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the</a:t>
            </a:r>
            <a:r>
              <a:rPr sz="2400" spc="-10" dirty="0">
                <a:latin typeface="Calibri"/>
                <a:cs typeface="Calibri"/>
              </a:rPr>
              <a:t> </a:t>
            </a:r>
            <a:r>
              <a:rPr sz="2400" dirty="0">
                <a:latin typeface="Calibri"/>
                <a:cs typeface="Calibri"/>
              </a:rPr>
              <a:t>expected,</a:t>
            </a:r>
            <a:r>
              <a:rPr sz="2400" spc="-15" dirty="0">
                <a:latin typeface="Calibri"/>
                <a:cs typeface="Calibri"/>
              </a:rPr>
              <a:t> </a:t>
            </a:r>
            <a:r>
              <a:rPr sz="2400" dirty="0">
                <a:latin typeface="Calibri"/>
                <a:cs typeface="Calibri"/>
              </a:rPr>
              <a:t>measurable</a:t>
            </a:r>
            <a:r>
              <a:rPr sz="2400" spc="-15" dirty="0">
                <a:latin typeface="Calibri"/>
                <a:cs typeface="Calibri"/>
              </a:rPr>
              <a:t> </a:t>
            </a:r>
            <a:r>
              <a:rPr sz="2400" dirty="0">
                <a:latin typeface="Calibri"/>
                <a:cs typeface="Calibri"/>
              </a:rPr>
              <a:t>outputs</a:t>
            </a:r>
            <a:r>
              <a:rPr sz="2400" spc="-15" dirty="0">
                <a:latin typeface="Calibri"/>
                <a:cs typeface="Calibri"/>
              </a:rPr>
              <a:t> </a:t>
            </a:r>
            <a:r>
              <a:rPr sz="2400" dirty="0">
                <a:latin typeface="Calibri"/>
                <a:cs typeface="Calibri"/>
              </a:rPr>
              <a:t>over</a:t>
            </a:r>
            <a:r>
              <a:rPr sz="2400" spc="-15" dirty="0">
                <a:latin typeface="Calibri"/>
                <a:cs typeface="Calibri"/>
              </a:rPr>
              <a:t> </a:t>
            </a:r>
            <a:r>
              <a:rPr sz="2400" dirty="0">
                <a:latin typeface="Calibri"/>
                <a:cs typeface="Calibri"/>
              </a:rPr>
              <a:t>the</a:t>
            </a:r>
            <a:r>
              <a:rPr sz="2400" spc="-15" dirty="0">
                <a:latin typeface="Calibri"/>
                <a:cs typeface="Calibri"/>
              </a:rPr>
              <a:t> </a:t>
            </a:r>
            <a:r>
              <a:rPr sz="2400" dirty="0">
                <a:latin typeface="Calibri"/>
                <a:cs typeface="Calibri"/>
              </a:rPr>
              <a:t>life</a:t>
            </a:r>
            <a:r>
              <a:rPr sz="2400" spc="-10" dirty="0">
                <a:latin typeface="Calibri"/>
                <a:cs typeface="Calibri"/>
              </a:rPr>
              <a:t> </a:t>
            </a:r>
            <a:r>
              <a:rPr sz="2400" spc="-25" dirty="0">
                <a:latin typeface="Calibri"/>
                <a:cs typeface="Calibri"/>
              </a:rPr>
              <a:t>of 	</a:t>
            </a:r>
            <a:r>
              <a:rPr sz="2400" dirty="0">
                <a:latin typeface="Calibri"/>
                <a:cs typeface="Calibri"/>
              </a:rPr>
              <a:t>the</a:t>
            </a:r>
            <a:r>
              <a:rPr sz="2400" spc="-20" dirty="0">
                <a:latin typeface="Calibri"/>
                <a:cs typeface="Calibri"/>
              </a:rPr>
              <a:t> </a:t>
            </a:r>
            <a:r>
              <a:rPr sz="2400" spc="-10" dirty="0">
                <a:latin typeface="Calibri"/>
                <a:cs typeface="Calibri"/>
              </a:rPr>
              <a:t>project.</a:t>
            </a:r>
            <a:endParaRPr sz="2400">
              <a:latin typeface="Calibri"/>
              <a:cs typeface="Calibri"/>
            </a:endParaRPr>
          </a:p>
          <a:p>
            <a:pPr marL="582930" marR="30480" lvl="1" indent="-227329" algn="just">
              <a:lnSpc>
                <a:spcPct val="89200"/>
              </a:lnSpc>
              <a:spcBef>
                <a:spcPts val="490"/>
              </a:spcBef>
              <a:buFont typeface="Arial MT"/>
              <a:buChar char="•"/>
              <a:tabLst>
                <a:tab pos="584200" algn="l"/>
              </a:tabLst>
            </a:pPr>
            <a:r>
              <a:rPr sz="2400" dirty="0">
                <a:latin typeface="Calibri"/>
                <a:cs typeface="Calibri"/>
              </a:rPr>
              <a:t>For</a:t>
            </a:r>
            <a:r>
              <a:rPr sz="2400" spc="55" dirty="0">
                <a:latin typeface="Calibri"/>
                <a:cs typeface="Calibri"/>
              </a:rPr>
              <a:t> </a:t>
            </a:r>
            <a:r>
              <a:rPr sz="2400" dirty="0">
                <a:latin typeface="Calibri"/>
                <a:cs typeface="Calibri"/>
              </a:rPr>
              <a:t>example,</a:t>
            </a:r>
            <a:r>
              <a:rPr sz="2400" spc="55" dirty="0">
                <a:latin typeface="Calibri"/>
                <a:cs typeface="Calibri"/>
              </a:rPr>
              <a:t> </a:t>
            </a:r>
            <a:r>
              <a:rPr sz="2400" dirty="0">
                <a:latin typeface="Calibri"/>
                <a:cs typeface="Calibri"/>
              </a:rPr>
              <a:t>deliverables</a:t>
            </a:r>
            <a:r>
              <a:rPr sz="2400" spc="55" dirty="0">
                <a:latin typeface="Calibri"/>
                <a:cs typeface="Calibri"/>
              </a:rPr>
              <a:t> </a:t>
            </a:r>
            <a:r>
              <a:rPr sz="2400" dirty="0">
                <a:latin typeface="Calibri"/>
                <a:cs typeface="Calibri"/>
              </a:rPr>
              <a:t>in</a:t>
            </a:r>
            <a:r>
              <a:rPr sz="2400" spc="55" dirty="0">
                <a:latin typeface="Calibri"/>
                <a:cs typeface="Calibri"/>
              </a:rPr>
              <a:t> </a:t>
            </a:r>
            <a:r>
              <a:rPr sz="2400" dirty="0">
                <a:latin typeface="Calibri"/>
                <a:cs typeface="Calibri"/>
              </a:rPr>
              <a:t>the</a:t>
            </a:r>
            <a:r>
              <a:rPr sz="2400" spc="60" dirty="0">
                <a:latin typeface="Calibri"/>
                <a:cs typeface="Calibri"/>
              </a:rPr>
              <a:t> </a:t>
            </a:r>
            <a:r>
              <a:rPr sz="2400" dirty="0">
                <a:latin typeface="Calibri"/>
                <a:cs typeface="Calibri"/>
              </a:rPr>
              <a:t>early</a:t>
            </a:r>
            <a:r>
              <a:rPr sz="2400" spc="60" dirty="0">
                <a:latin typeface="Calibri"/>
                <a:cs typeface="Calibri"/>
              </a:rPr>
              <a:t> </a:t>
            </a:r>
            <a:r>
              <a:rPr sz="2400" dirty="0">
                <a:latin typeface="Calibri"/>
                <a:cs typeface="Calibri"/>
              </a:rPr>
              <a:t>design</a:t>
            </a:r>
            <a:r>
              <a:rPr sz="2400" spc="55" dirty="0">
                <a:latin typeface="Calibri"/>
                <a:cs typeface="Calibri"/>
              </a:rPr>
              <a:t> </a:t>
            </a:r>
            <a:r>
              <a:rPr sz="2400" dirty="0">
                <a:latin typeface="Calibri"/>
                <a:cs typeface="Calibri"/>
              </a:rPr>
              <a:t>phase</a:t>
            </a:r>
            <a:r>
              <a:rPr sz="2400" spc="60" dirty="0">
                <a:latin typeface="Calibri"/>
                <a:cs typeface="Calibri"/>
              </a:rPr>
              <a:t> </a:t>
            </a:r>
            <a:r>
              <a:rPr sz="2400" dirty="0">
                <a:latin typeface="Calibri"/>
                <a:cs typeface="Calibri"/>
              </a:rPr>
              <a:t>of</a:t>
            </a:r>
            <a:r>
              <a:rPr sz="2400" spc="60" dirty="0">
                <a:latin typeface="Calibri"/>
                <a:cs typeface="Calibri"/>
              </a:rPr>
              <a:t> </a:t>
            </a:r>
            <a:r>
              <a:rPr sz="2400" dirty="0">
                <a:latin typeface="Calibri"/>
                <a:cs typeface="Calibri"/>
              </a:rPr>
              <a:t>a</a:t>
            </a:r>
            <a:r>
              <a:rPr sz="2400" spc="55" dirty="0">
                <a:latin typeface="Calibri"/>
                <a:cs typeface="Calibri"/>
              </a:rPr>
              <a:t> </a:t>
            </a:r>
            <a:r>
              <a:rPr sz="2400" dirty="0">
                <a:latin typeface="Calibri"/>
                <a:cs typeface="Calibri"/>
              </a:rPr>
              <a:t>project</a:t>
            </a:r>
            <a:r>
              <a:rPr sz="2400" spc="45" dirty="0">
                <a:latin typeface="Calibri"/>
                <a:cs typeface="Calibri"/>
              </a:rPr>
              <a:t> </a:t>
            </a:r>
            <a:r>
              <a:rPr sz="2400" dirty="0">
                <a:latin typeface="Calibri"/>
                <a:cs typeface="Calibri"/>
              </a:rPr>
              <a:t>might</a:t>
            </a:r>
            <a:r>
              <a:rPr sz="2400" spc="55" dirty="0">
                <a:latin typeface="Calibri"/>
                <a:cs typeface="Calibri"/>
              </a:rPr>
              <a:t> </a:t>
            </a:r>
            <a:r>
              <a:rPr sz="2400" dirty="0">
                <a:latin typeface="Calibri"/>
                <a:cs typeface="Calibri"/>
              </a:rPr>
              <a:t>be</a:t>
            </a:r>
            <a:r>
              <a:rPr sz="2400" spc="60" dirty="0">
                <a:latin typeface="Calibri"/>
                <a:cs typeface="Calibri"/>
              </a:rPr>
              <a:t> </a:t>
            </a:r>
            <a:r>
              <a:rPr sz="2400" dirty="0">
                <a:latin typeface="Calibri"/>
                <a:cs typeface="Calibri"/>
              </a:rPr>
              <a:t>a</a:t>
            </a:r>
            <a:r>
              <a:rPr sz="2400" spc="55" dirty="0">
                <a:latin typeface="Calibri"/>
                <a:cs typeface="Calibri"/>
              </a:rPr>
              <a:t> </a:t>
            </a:r>
            <a:r>
              <a:rPr sz="2400" spc="-20" dirty="0">
                <a:latin typeface="Calibri"/>
                <a:cs typeface="Calibri"/>
              </a:rPr>
              <a:t>list 	</a:t>
            </a:r>
            <a:r>
              <a:rPr sz="2400" dirty="0">
                <a:latin typeface="Calibri"/>
                <a:cs typeface="Calibri"/>
              </a:rPr>
              <a:t>of</a:t>
            </a:r>
            <a:r>
              <a:rPr sz="2400" spc="75" dirty="0">
                <a:latin typeface="Calibri"/>
                <a:cs typeface="Calibri"/>
              </a:rPr>
              <a:t> </a:t>
            </a:r>
            <a:r>
              <a:rPr sz="2400" dirty="0">
                <a:latin typeface="Calibri"/>
                <a:cs typeface="Calibri"/>
              </a:rPr>
              <a:t>specifications.</a:t>
            </a:r>
            <a:r>
              <a:rPr sz="2400" spc="60" dirty="0">
                <a:latin typeface="Calibri"/>
                <a:cs typeface="Calibri"/>
              </a:rPr>
              <a:t> </a:t>
            </a:r>
            <a:r>
              <a:rPr sz="2400" dirty="0">
                <a:latin typeface="Calibri"/>
                <a:cs typeface="Calibri"/>
              </a:rPr>
              <a:t>In</a:t>
            </a:r>
            <a:r>
              <a:rPr sz="2400" spc="70" dirty="0">
                <a:latin typeface="Calibri"/>
                <a:cs typeface="Calibri"/>
              </a:rPr>
              <a:t> </a:t>
            </a:r>
            <a:r>
              <a:rPr sz="2400" dirty="0">
                <a:latin typeface="Calibri"/>
                <a:cs typeface="Calibri"/>
              </a:rPr>
              <a:t>the</a:t>
            </a:r>
            <a:r>
              <a:rPr sz="2400" spc="75" dirty="0">
                <a:latin typeface="Calibri"/>
                <a:cs typeface="Calibri"/>
              </a:rPr>
              <a:t> </a:t>
            </a:r>
            <a:r>
              <a:rPr sz="2400" dirty="0">
                <a:latin typeface="Calibri"/>
                <a:cs typeface="Calibri"/>
              </a:rPr>
              <a:t>2</a:t>
            </a:r>
            <a:r>
              <a:rPr sz="2400" baseline="24305" dirty="0">
                <a:latin typeface="Calibri"/>
                <a:cs typeface="Calibri"/>
              </a:rPr>
              <a:t>nd</a:t>
            </a:r>
            <a:r>
              <a:rPr sz="2400" spc="367" baseline="24305" dirty="0">
                <a:latin typeface="Calibri"/>
                <a:cs typeface="Calibri"/>
              </a:rPr>
              <a:t> </a:t>
            </a:r>
            <a:r>
              <a:rPr sz="2400" dirty="0">
                <a:latin typeface="Calibri"/>
                <a:cs typeface="Calibri"/>
              </a:rPr>
              <a:t>phase</a:t>
            </a:r>
            <a:r>
              <a:rPr sz="2400" spc="70" dirty="0">
                <a:latin typeface="Calibri"/>
                <a:cs typeface="Calibri"/>
              </a:rPr>
              <a:t> </a:t>
            </a:r>
            <a:r>
              <a:rPr sz="2400" dirty="0">
                <a:latin typeface="Calibri"/>
                <a:cs typeface="Calibri"/>
              </a:rPr>
              <a:t>deliverables</a:t>
            </a:r>
            <a:r>
              <a:rPr sz="2400" spc="75" dirty="0">
                <a:latin typeface="Calibri"/>
                <a:cs typeface="Calibri"/>
              </a:rPr>
              <a:t> </a:t>
            </a:r>
            <a:r>
              <a:rPr sz="2400" dirty="0">
                <a:latin typeface="Calibri"/>
                <a:cs typeface="Calibri"/>
              </a:rPr>
              <a:t>could</a:t>
            </a:r>
            <a:r>
              <a:rPr sz="2400" spc="70" dirty="0">
                <a:latin typeface="Calibri"/>
                <a:cs typeface="Calibri"/>
              </a:rPr>
              <a:t> </a:t>
            </a:r>
            <a:r>
              <a:rPr sz="2400" dirty="0">
                <a:latin typeface="Calibri"/>
                <a:cs typeface="Calibri"/>
              </a:rPr>
              <a:t>be</a:t>
            </a:r>
            <a:r>
              <a:rPr sz="2400" spc="70" dirty="0">
                <a:latin typeface="Calibri"/>
                <a:cs typeface="Calibri"/>
              </a:rPr>
              <a:t> </a:t>
            </a:r>
            <a:r>
              <a:rPr sz="2400" dirty="0">
                <a:latin typeface="Calibri"/>
                <a:cs typeface="Calibri"/>
              </a:rPr>
              <a:t>software</a:t>
            </a:r>
            <a:r>
              <a:rPr sz="2400" spc="75" dirty="0">
                <a:latin typeface="Calibri"/>
                <a:cs typeface="Calibri"/>
              </a:rPr>
              <a:t> </a:t>
            </a:r>
            <a:r>
              <a:rPr sz="2400" dirty="0">
                <a:latin typeface="Calibri"/>
                <a:cs typeface="Calibri"/>
              </a:rPr>
              <a:t>coding</a:t>
            </a:r>
            <a:r>
              <a:rPr sz="2400" spc="60" dirty="0">
                <a:latin typeface="Calibri"/>
                <a:cs typeface="Calibri"/>
              </a:rPr>
              <a:t> </a:t>
            </a:r>
            <a:r>
              <a:rPr sz="2400" dirty="0">
                <a:latin typeface="Calibri"/>
                <a:cs typeface="Calibri"/>
              </a:rPr>
              <a:t>and</a:t>
            </a:r>
            <a:r>
              <a:rPr sz="2400" spc="75" dirty="0">
                <a:latin typeface="Calibri"/>
                <a:cs typeface="Calibri"/>
              </a:rPr>
              <a:t> </a:t>
            </a:r>
            <a:r>
              <a:rPr sz="2400" spc="-50" dirty="0">
                <a:latin typeface="Calibri"/>
                <a:cs typeface="Calibri"/>
              </a:rPr>
              <a:t>a 	</a:t>
            </a:r>
            <a:r>
              <a:rPr sz="2400" dirty="0">
                <a:latin typeface="Calibri"/>
                <a:cs typeface="Calibri"/>
              </a:rPr>
              <a:t>technical</a:t>
            </a:r>
            <a:r>
              <a:rPr sz="2400" spc="440" dirty="0">
                <a:latin typeface="Calibri"/>
                <a:cs typeface="Calibri"/>
              </a:rPr>
              <a:t> </a:t>
            </a:r>
            <a:r>
              <a:rPr sz="2400" dirty="0">
                <a:latin typeface="Calibri"/>
                <a:cs typeface="Calibri"/>
              </a:rPr>
              <a:t>manual.</a:t>
            </a:r>
            <a:r>
              <a:rPr sz="2400" spc="445" dirty="0">
                <a:latin typeface="Calibri"/>
                <a:cs typeface="Calibri"/>
              </a:rPr>
              <a:t> </a:t>
            </a:r>
            <a:r>
              <a:rPr sz="2400" dirty="0">
                <a:latin typeface="Calibri"/>
                <a:cs typeface="Calibri"/>
              </a:rPr>
              <a:t>The</a:t>
            </a:r>
            <a:r>
              <a:rPr sz="2400" spc="455" dirty="0">
                <a:latin typeface="Calibri"/>
                <a:cs typeface="Calibri"/>
              </a:rPr>
              <a:t> </a:t>
            </a:r>
            <a:r>
              <a:rPr sz="2400" dirty="0">
                <a:latin typeface="Calibri"/>
                <a:cs typeface="Calibri"/>
              </a:rPr>
              <a:t>next</a:t>
            </a:r>
            <a:r>
              <a:rPr sz="2400" spc="445" dirty="0">
                <a:latin typeface="Calibri"/>
                <a:cs typeface="Calibri"/>
              </a:rPr>
              <a:t> </a:t>
            </a:r>
            <a:r>
              <a:rPr sz="2400" dirty="0">
                <a:latin typeface="Calibri"/>
                <a:cs typeface="Calibri"/>
              </a:rPr>
              <a:t>phase</a:t>
            </a:r>
            <a:r>
              <a:rPr sz="2400" spc="450" dirty="0">
                <a:latin typeface="Calibri"/>
                <a:cs typeface="Calibri"/>
              </a:rPr>
              <a:t> </a:t>
            </a:r>
            <a:r>
              <a:rPr sz="2400" dirty="0">
                <a:latin typeface="Calibri"/>
                <a:cs typeface="Calibri"/>
              </a:rPr>
              <a:t>could</a:t>
            </a:r>
            <a:r>
              <a:rPr sz="2400" spc="450" dirty="0">
                <a:latin typeface="Calibri"/>
                <a:cs typeface="Calibri"/>
              </a:rPr>
              <a:t> </a:t>
            </a:r>
            <a:r>
              <a:rPr sz="2400" dirty="0">
                <a:latin typeface="Calibri"/>
                <a:cs typeface="Calibri"/>
              </a:rPr>
              <a:t>be</a:t>
            </a:r>
            <a:r>
              <a:rPr sz="2400" spc="455" dirty="0">
                <a:latin typeface="Calibri"/>
                <a:cs typeface="Calibri"/>
              </a:rPr>
              <a:t> </a:t>
            </a:r>
            <a:r>
              <a:rPr sz="2400" dirty="0">
                <a:latin typeface="Calibri"/>
                <a:cs typeface="Calibri"/>
              </a:rPr>
              <a:t>the</a:t>
            </a:r>
            <a:r>
              <a:rPr sz="2400" spc="450" dirty="0">
                <a:latin typeface="Calibri"/>
                <a:cs typeface="Calibri"/>
              </a:rPr>
              <a:t> </a:t>
            </a:r>
            <a:r>
              <a:rPr sz="2400" dirty="0">
                <a:latin typeface="Calibri"/>
                <a:cs typeface="Calibri"/>
              </a:rPr>
              <a:t>prototype.</a:t>
            </a:r>
            <a:r>
              <a:rPr sz="2400" spc="445" dirty="0">
                <a:latin typeface="Calibri"/>
                <a:cs typeface="Calibri"/>
              </a:rPr>
              <a:t> </a:t>
            </a:r>
            <a:r>
              <a:rPr sz="2400" dirty="0">
                <a:latin typeface="Calibri"/>
                <a:cs typeface="Calibri"/>
              </a:rPr>
              <a:t>The</a:t>
            </a:r>
            <a:r>
              <a:rPr sz="2400" spc="455" dirty="0">
                <a:latin typeface="Calibri"/>
                <a:cs typeface="Calibri"/>
              </a:rPr>
              <a:t> </a:t>
            </a:r>
            <a:r>
              <a:rPr sz="2400" dirty="0">
                <a:latin typeface="Calibri"/>
                <a:cs typeface="Calibri"/>
              </a:rPr>
              <a:t>final</a:t>
            </a:r>
            <a:r>
              <a:rPr sz="2400" spc="450" dirty="0">
                <a:latin typeface="Calibri"/>
                <a:cs typeface="Calibri"/>
              </a:rPr>
              <a:t> </a:t>
            </a:r>
            <a:r>
              <a:rPr sz="2400" spc="-10" dirty="0">
                <a:latin typeface="Calibri"/>
                <a:cs typeface="Calibri"/>
              </a:rPr>
              <a:t>phase 	</a:t>
            </a:r>
            <a:r>
              <a:rPr sz="2400" dirty="0">
                <a:latin typeface="Calibri"/>
                <a:cs typeface="Calibri"/>
              </a:rPr>
              <a:t>could</a:t>
            </a:r>
            <a:r>
              <a:rPr sz="2400" spc="-65" dirty="0">
                <a:latin typeface="Calibri"/>
                <a:cs typeface="Calibri"/>
              </a:rPr>
              <a:t> </a:t>
            </a:r>
            <a:r>
              <a:rPr sz="2400" dirty="0">
                <a:latin typeface="Calibri"/>
                <a:cs typeface="Calibri"/>
              </a:rPr>
              <a:t>be</a:t>
            </a:r>
            <a:r>
              <a:rPr sz="2400" spc="-60" dirty="0">
                <a:latin typeface="Calibri"/>
                <a:cs typeface="Calibri"/>
              </a:rPr>
              <a:t> </a:t>
            </a:r>
            <a:r>
              <a:rPr sz="2400" dirty="0">
                <a:latin typeface="Calibri"/>
                <a:cs typeface="Calibri"/>
              </a:rPr>
              <a:t>final</a:t>
            </a:r>
            <a:r>
              <a:rPr sz="2400" spc="-65" dirty="0">
                <a:latin typeface="Calibri"/>
                <a:cs typeface="Calibri"/>
              </a:rPr>
              <a:t> </a:t>
            </a:r>
            <a:r>
              <a:rPr sz="2400" dirty="0">
                <a:latin typeface="Calibri"/>
                <a:cs typeface="Calibri"/>
              </a:rPr>
              <a:t>tests</a:t>
            </a:r>
            <a:r>
              <a:rPr sz="2400" spc="-65" dirty="0">
                <a:latin typeface="Calibri"/>
                <a:cs typeface="Calibri"/>
              </a:rPr>
              <a:t> </a:t>
            </a:r>
            <a:r>
              <a:rPr sz="2400" dirty="0">
                <a:latin typeface="Calibri"/>
                <a:cs typeface="Calibri"/>
              </a:rPr>
              <a:t>and</a:t>
            </a:r>
            <a:r>
              <a:rPr sz="2400" spc="-55" dirty="0">
                <a:latin typeface="Calibri"/>
                <a:cs typeface="Calibri"/>
              </a:rPr>
              <a:t> </a:t>
            </a:r>
            <a:r>
              <a:rPr sz="2400" spc="-10" dirty="0">
                <a:latin typeface="Calibri"/>
                <a:cs typeface="Calibri"/>
              </a:rPr>
              <a:t>approved</a:t>
            </a:r>
            <a:r>
              <a:rPr sz="2400" spc="-60" dirty="0">
                <a:latin typeface="Calibri"/>
                <a:cs typeface="Calibri"/>
              </a:rPr>
              <a:t> </a:t>
            </a:r>
            <a:r>
              <a:rPr sz="2400" spc="-10" dirty="0">
                <a:latin typeface="Calibri"/>
                <a:cs typeface="Calibri"/>
              </a:rPr>
              <a:t>software.</a:t>
            </a:r>
            <a:endParaRPr sz="2400">
              <a:latin typeface="Calibri"/>
              <a:cs typeface="Calibri"/>
            </a:endParaRPr>
          </a:p>
          <a:p>
            <a:pPr marL="582930" lvl="1" indent="-227329" algn="just">
              <a:lnSpc>
                <a:spcPct val="100000"/>
              </a:lnSpc>
              <a:spcBef>
                <a:spcPts val="215"/>
              </a:spcBef>
              <a:buFont typeface="Arial MT"/>
              <a:buChar char="•"/>
              <a:tabLst>
                <a:tab pos="582930" algn="l"/>
              </a:tabLst>
            </a:pPr>
            <a:r>
              <a:rPr sz="2400" dirty="0">
                <a:latin typeface="Calibri"/>
                <a:cs typeface="Calibri"/>
              </a:rPr>
              <a:t>Note:</a:t>
            </a:r>
            <a:r>
              <a:rPr sz="2400" spc="-65" dirty="0">
                <a:latin typeface="Calibri"/>
                <a:cs typeface="Calibri"/>
              </a:rPr>
              <a:t> </a:t>
            </a:r>
            <a:r>
              <a:rPr sz="2400" spc="-10" dirty="0">
                <a:latin typeface="Calibri"/>
                <a:cs typeface="Calibri"/>
              </a:rPr>
              <a:t>Deliverables</a:t>
            </a:r>
            <a:r>
              <a:rPr sz="2400" spc="-65" dirty="0">
                <a:latin typeface="Calibri"/>
                <a:cs typeface="Calibri"/>
              </a:rPr>
              <a:t> </a:t>
            </a:r>
            <a:r>
              <a:rPr sz="2400" dirty="0">
                <a:latin typeface="Calibri"/>
                <a:cs typeface="Calibri"/>
              </a:rPr>
              <a:t>and</a:t>
            </a:r>
            <a:r>
              <a:rPr sz="2400" spc="-65" dirty="0">
                <a:latin typeface="Calibri"/>
                <a:cs typeface="Calibri"/>
              </a:rPr>
              <a:t> </a:t>
            </a:r>
            <a:r>
              <a:rPr sz="2400" spc="-10" dirty="0">
                <a:latin typeface="Calibri"/>
                <a:cs typeface="Calibri"/>
              </a:rPr>
              <a:t>requirements</a:t>
            </a:r>
            <a:r>
              <a:rPr sz="2400" spc="-60" dirty="0">
                <a:latin typeface="Calibri"/>
                <a:cs typeface="Calibri"/>
              </a:rPr>
              <a:t> </a:t>
            </a:r>
            <a:r>
              <a:rPr sz="2400" dirty="0">
                <a:latin typeface="Calibri"/>
                <a:cs typeface="Calibri"/>
              </a:rPr>
              <a:t>are</a:t>
            </a:r>
            <a:r>
              <a:rPr sz="2400" spc="-60" dirty="0">
                <a:latin typeface="Calibri"/>
                <a:cs typeface="Calibri"/>
              </a:rPr>
              <a:t> </a:t>
            </a:r>
            <a:r>
              <a:rPr sz="2400" dirty="0">
                <a:latin typeface="Calibri"/>
                <a:cs typeface="Calibri"/>
              </a:rPr>
              <a:t>often</a:t>
            </a:r>
            <a:r>
              <a:rPr sz="2400" spc="-60" dirty="0">
                <a:latin typeface="Calibri"/>
                <a:cs typeface="Calibri"/>
              </a:rPr>
              <a:t> </a:t>
            </a:r>
            <a:r>
              <a:rPr sz="2400" dirty="0">
                <a:latin typeface="Calibri"/>
                <a:cs typeface="Calibri"/>
              </a:rPr>
              <a:t>used</a:t>
            </a:r>
            <a:r>
              <a:rPr sz="2400" spc="-60" dirty="0">
                <a:latin typeface="Calibri"/>
                <a:cs typeface="Calibri"/>
              </a:rPr>
              <a:t> </a:t>
            </a:r>
            <a:r>
              <a:rPr sz="2400" spc="-10" dirty="0">
                <a:latin typeface="Calibri"/>
                <a:cs typeface="Calibri"/>
              </a:rPr>
              <a:t>interchangeably.</a:t>
            </a:r>
            <a:endParaRPr sz="2400">
              <a:latin typeface="Calibri"/>
              <a:cs typeface="Calibri"/>
            </a:endParaRPr>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29</a:t>
            </a:r>
            <a:endParaRPr sz="1200">
              <a:latin typeface="Calibri"/>
              <a:cs typeface="Calibri"/>
            </a:endParaRPr>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Employing a Project Scope Checklist </a:t>
            </a:r>
            <a:r>
              <a:rPr sz="1950" spc="-10" dirty="0"/>
              <a:t>(2/5)</a:t>
            </a:r>
            <a:endParaRPr sz="1950" dirty="0"/>
          </a:p>
        </p:txBody>
      </p:sp>
      <p:pic>
        <p:nvPicPr>
          <p:cNvPr id="5" name="Picture 4">
            <a:extLst>
              <a:ext uri="{FF2B5EF4-FFF2-40B4-BE49-F238E27FC236}">
                <a16:creationId xmlns:a16="http://schemas.microsoft.com/office/drawing/2014/main" id="{05F85BC6-4F08-3A23-1CEF-EF4C1A7964D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15600" y="1"/>
            <a:ext cx="1686150" cy="936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474893"/>
            <a:ext cx="10358120" cy="5188585"/>
          </a:xfrm>
          <a:prstGeom prst="rect">
            <a:avLst/>
          </a:prstGeom>
        </p:spPr>
        <p:txBody>
          <a:bodyPr vert="horz" wrap="square" lIns="0" tIns="46990" rIns="0" bIns="0" rtlCol="0">
            <a:spAutoFit/>
          </a:bodyPr>
          <a:lstStyle/>
          <a:p>
            <a:pPr marL="417195" indent="-404495">
              <a:lnSpc>
                <a:spcPct val="100000"/>
              </a:lnSpc>
              <a:spcBef>
                <a:spcPts val="370"/>
              </a:spcBef>
              <a:buAutoNum type="arabicPeriod" startAt="3"/>
              <a:tabLst>
                <a:tab pos="417195" algn="l"/>
              </a:tabLst>
            </a:pPr>
            <a:r>
              <a:rPr sz="2800" b="1" spc="-10" dirty="0">
                <a:solidFill>
                  <a:srgbClr val="262EA4"/>
                </a:solidFill>
                <a:latin typeface="Calibri"/>
                <a:cs typeface="Calibri"/>
              </a:rPr>
              <a:t>Milestones:</a:t>
            </a:r>
            <a:endParaRPr sz="2800">
              <a:latin typeface="Calibri"/>
              <a:cs typeface="Calibri"/>
            </a:endParaRPr>
          </a:p>
          <a:p>
            <a:pPr marL="504825" lvl="1" indent="-211454">
              <a:lnSpc>
                <a:spcPct val="100000"/>
              </a:lnSpc>
              <a:spcBef>
                <a:spcPts val="229"/>
              </a:spcBef>
              <a:buFont typeface="Arial MT"/>
              <a:buChar char="•"/>
              <a:tabLst>
                <a:tab pos="504825" algn="l"/>
              </a:tabLst>
            </a:pPr>
            <a:r>
              <a:rPr sz="2400" dirty="0">
                <a:latin typeface="Calibri"/>
                <a:cs typeface="Calibri"/>
              </a:rPr>
              <a:t>It</a:t>
            </a:r>
            <a:r>
              <a:rPr sz="2400" spc="-50" dirty="0">
                <a:latin typeface="Calibri"/>
                <a:cs typeface="Calibri"/>
              </a:rPr>
              <a:t> </a:t>
            </a:r>
            <a:r>
              <a:rPr sz="2400" dirty="0">
                <a:latin typeface="Calibri"/>
                <a:cs typeface="Calibri"/>
              </a:rPr>
              <a:t>is</a:t>
            </a:r>
            <a:r>
              <a:rPr sz="2400" spc="-50" dirty="0">
                <a:latin typeface="Calibri"/>
                <a:cs typeface="Calibri"/>
              </a:rPr>
              <a:t> </a:t>
            </a:r>
            <a:r>
              <a:rPr sz="2400" dirty="0">
                <a:latin typeface="Calibri"/>
                <a:cs typeface="Calibri"/>
              </a:rPr>
              <a:t>a</a:t>
            </a:r>
            <a:r>
              <a:rPr sz="2400" spc="-45" dirty="0">
                <a:latin typeface="Calibri"/>
                <a:cs typeface="Calibri"/>
              </a:rPr>
              <a:t> </a:t>
            </a:r>
            <a:r>
              <a:rPr sz="2400" dirty="0">
                <a:latin typeface="Calibri"/>
                <a:cs typeface="Calibri"/>
              </a:rPr>
              <a:t>significant</a:t>
            </a:r>
            <a:r>
              <a:rPr sz="2400" spc="-55" dirty="0">
                <a:latin typeface="Calibri"/>
                <a:cs typeface="Calibri"/>
              </a:rPr>
              <a:t> </a:t>
            </a:r>
            <a:r>
              <a:rPr sz="2400" dirty="0">
                <a:latin typeface="Calibri"/>
                <a:cs typeface="Calibri"/>
              </a:rPr>
              <a:t>event</a:t>
            </a:r>
            <a:r>
              <a:rPr sz="2400" spc="-50" dirty="0">
                <a:latin typeface="Calibri"/>
                <a:cs typeface="Calibri"/>
              </a:rPr>
              <a:t> </a:t>
            </a:r>
            <a:r>
              <a:rPr sz="2400" dirty="0">
                <a:latin typeface="Calibri"/>
                <a:cs typeface="Calibri"/>
              </a:rPr>
              <a:t>in</a:t>
            </a:r>
            <a:r>
              <a:rPr sz="2400" spc="-40" dirty="0">
                <a:latin typeface="Calibri"/>
                <a:cs typeface="Calibri"/>
              </a:rPr>
              <a:t> </a:t>
            </a:r>
            <a:r>
              <a:rPr sz="2400" dirty="0">
                <a:latin typeface="Calibri"/>
                <a:cs typeface="Calibri"/>
              </a:rPr>
              <a:t>a</a:t>
            </a:r>
            <a:r>
              <a:rPr sz="2400" spc="-45" dirty="0">
                <a:latin typeface="Calibri"/>
                <a:cs typeface="Calibri"/>
              </a:rPr>
              <a:t> </a:t>
            </a:r>
            <a:r>
              <a:rPr sz="2400" dirty="0">
                <a:latin typeface="Calibri"/>
                <a:cs typeface="Calibri"/>
              </a:rPr>
              <a:t>project</a:t>
            </a:r>
            <a:r>
              <a:rPr sz="2400" spc="-55" dirty="0">
                <a:latin typeface="Calibri"/>
                <a:cs typeface="Calibri"/>
              </a:rPr>
              <a:t> </a:t>
            </a:r>
            <a:r>
              <a:rPr sz="2400" dirty="0">
                <a:latin typeface="Calibri"/>
                <a:cs typeface="Calibri"/>
              </a:rPr>
              <a:t>that</a:t>
            </a:r>
            <a:r>
              <a:rPr sz="2400" spc="-50" dirty="0">
                <a:latin typeface="Calibri"/>
                <a:cs typeface="Calibri"/>
              </a:rPr>
              <a:t> </a:t>
            </a:r>
            <a:r>
              <a:rPr sz="2400" dirty="0">
                <a:latin typeface="Calibri"/>
                <a:cs typeface="Calibri"/>
              </a:rPr>
              <a:t>occurs</a:t>
            </a:r>
            <a:r>
              <a:rPr sz="2400" spc="-45" dirty="0">
                <a:latin typeface="Calibri"/>
                <a:cs typeface="Calibri"/>
              </a:rPr>
              <a:t> </a:t>
            </a:r>
            <a:r>
              <a:rPr sz="2400" dirty="0">
                <a:latin typeface="Calibri"/>
                <a:cs typeface="Calibri"/>
              </a:rPr>
              <a:t>at</a:t>
            </a:r>
            <a:r>
              <a:rPr sz="2400" spc="-50" dirty="0">
                <a:latin typeface="Calibri"/>
                <a:cs typeface="Calibri"/>
              </a:rPr>
              <a:t> </a:t>
            </a:r>
            <a:r>
              <a:rPr sz="2400" dirty="0">
                <a:latin typeface="Calibri"/>
                <a:cs typeface="Calibri"/>
              </a:rPr>
              <a:t>a</a:t>
            </a:r>
            <a:r>
              <a:rPr sz="2400" spc="-45" dirty="0">
                <a:latin typeface="Calibri"/>
                <a:cs typeface="Calibri"/>
              </a:rPr>
              <a:t> </a:t>
            </a:r>
            <a:r>
              <a:rPr sz="2400" dirty="0">
                <a:latin typeface="Calibri"/>
                <a:cs typeface="Calibri"/>
              </a:rPr>
              <a:t>point</a:t>
            </a:r>
            <a:r>
              <a:rPr sz="2400" spc="-45" dirty="0">
                <a:latin typeface="Calibri"/>
                <a:cs typeface="Calibri"/>
              </a:rPr>
              <a:t> </a:t>
            </a:r>
            <a:r>
              <a:rPr sz="2400" dirty="0">
                <a:latin typeface="Calibri"/>
                <a:cs typeface="Calibri"/>
              </a:rPr>
              <a:t>in</a:t>
            </a:r>
            <a:r>
              <a:rPr sz="2400" spc="-45" dirty="0">
                <a:latin typeface="Calibri"/>
                <a:cs typeface="Calibri"/>
              </a:rPr>
              <a:t> </a:t>
            </a:r>
            <a:r>
              <a:rPr sz="2400" spc="-10" dirty="0">
                <a:latin typeface="Calibri"/>
                <a:cs typeface="Calibri"/>
              </a:rPr>
              <a:t>time.</a:t>
            </a:r>
            <a:endParaRPr sz="2400">
              <a:latin typeface="Calibri"/>
              <a:cs typeface="Calibri"/>
            </a:endParaRPr>
          </a:p>
          <a:p>
            <a:pPr marL="504825" marR="5715" lvl="1" indent="-211454">
              <a:lnSpc>
                <a:spcPts val="2620"/>
              </a:lnSpc>
              <a:spcBef>
                <a:spcPts val="520"/>
              </a:spcBef>
              <a:buFont typeface="Arial MT"/>
              <a:buChar char="•"/>
              <a:tabLst>
                <a:tab pos="506095" algn="l"/>
              </a:tabLst>
            </a:pPr>
            <a:r>
              <a:rPr sz="2400" dirty="0">
                <a:latin typeface="Calibri"/>
                <a:cs typeface="Calibri"/>
              </a:rPr>
              <a:t>The</a:t>
            </a:r>
            <a:r>
              <a:rPr sz="2400" spc="-10" dirty="0">
                <a:latin typeface="Calibri"/>
                <a:cs typeface="Calibri"/>
              </a:rPr>
              <a:t> </a:t>
            </a:r>
            <a:r>
              <a:rPr sz="2400" dirty="0">
                <a:latin typeface="Calibri"/>
                <a:cs typeface="Calibri"/>
              </a:rPr>
              <a:t>milestone schedule</a:t>
            </a:r>
            <a:r>
              <a:rPr sz="2400" spc="-5" dirty="0">
                <a:latin typeface="Calibri"/>
                <a:cs typeface="Calibri"/>
              </a:rPr>
              <a:t> </a:t>
            </a:r>
            <a:r>
              <a:rPr sz="2400" dirty="0">
                <a:latin typeface="Calibri"/>
                <a:cs typeface="Calibri"/>
              </a:rPr>
              <a:t>shows</a:t>
            </a:r>
            <a:r>
              <a:rPr sz="2400" spc="-10" dirty="0">
                <a:latin typeface="Calibri"/>
                <a:cs typeface="Calibri"/>
              </a:rPr>
              <a:t> </a:t>
            </a:r>
            <a:r>
              <a:rPr sz="2400" dirty="0">
                <a:latin typeface="Calibri"/>
                <a:cs typeface="Calibri"/>
              </a:rPr>
              <a:t>only</a:t>
            </a:r>
            <a:r>
              <a:rPr sz="2400" spc="-10" dirty="0">
                <a:latin typeface="Calibri"/>
                <a:cs typeface="Calibri"/>
              </a:rPr>
              <a:t> </a:t>
            </a:r>
            <a:r>
              <a:rPr sz="2400" dirty="0">
                <a:latin typeface="Calibri"/>
                <a:cs typeface="Calibri"/>
              </a:rPr>
              <a:t>major</a:t>
            </a:r>
            <a:r>
              <a:rPr sz="2400" spc="-10" dirty="0">
                <a:latin typeface="Calibri"/>
                <a:cs typeface="Calibri"/>
              </a:rPr>
              <a:t> </a:t>
            </a:r>
            <a:r>
              <a:rPr sz="2400" dirty="0">
                <a:latin typeface="Calibri"/>
                <a:cs typeface="Calibri"/>
              </a:rPr>
              <a:t>segments</a:t>
            </a:r>
            <a:r>
              <a:rPr sz="2400" spc="-10" dirty="0">
                <a:latin typeface="Calibri"/>
                <a:cs typeface="Calibri"/>
              </a:rPr>
              <a:t> </a:t>
            </a:r>
            <a:r>
              <a:rPr sz="2400" dirty="0">
                <a:latin typeface="Calibri"/>
                <a:cs typeface="Calibri"/>
              </a:rPr>
              <a:t>of</a:t>
            </a:r>
            <a:r>
              <a:rPr sz="2400" spc="-5" dirty="0">
                <a:latin typeface="Calibri"/>
                <a:cs typeface="Calibri"/>
              </a:rPr>
              <a:t> </a:t>
            </a:r>
            <a:r>
              <a:rPr sz="2400" dirty="0">
                <a:latin typeface="Calibri"/>
                <a:cs typeface="Calibri"/>
              </a:rPr>
              <a:t>work;</a:t>
            </a:r>
            <a:r>
              <a:rPr sz="2400" spc="-15" dirty="0">
                <a:latin typeface="Calibri"/>
                <a:cs typeface="Calibri"/>
              </a:rPr>
              <a:t> </a:t>
            </a:r>
            <a:r>
              <a:rPr sz="2400" dirty="0">
                <a:latin typeface="Calibri"/>
                <a:cs typeface="Calibri"/>
              </a:rPr>
              <a:t>it</a:t>
            </a:r>
            <a:r>
              <a:rPr sz="2400" spc="-15" dirty="0">
                <a:latin typeface="Calibri"/>
                <a:cs typeface="Calibri"/>
              </a:rPr>
              <a:t> </a:t>
            </a:r>
            <a:r>
              <a:rPr sz="2400" dirty="0">
                <a:latin typeface="Calibri"/>
                <a:cs typeface="Calibri"/>
              </a:rPr>
              <a:t>represents</a:t>
            </a:r>
            <a:r>
              <a:rPr sz="2400" spc="-15" dirty="0">
                <a:latin typeface="Calibri"/>
                <a:cs typeface="Calibri"/>
              </a:rPr>
              <a:t> </a:t>
            </a:r>
            <a:r>
              <a:rPr sz="2400" spc="-10" dirty="0">
                <a:latin typeface="Calibri"/>
                <a:cs typeface="Calibri"/>
              </a:rPr>
              <a:t>first, 	</a:t>
            </a:r>
            <a:r>
              <a:rPr sz="2400" spc="-20" dirty="0">
                <a:latin typeface="Calibri"/>
                <a:cs typeface="Calibri"/>
              </a:rPr>
              <a:t>rough-</a:t>
            </a:r>
            <a:r>
              <a:rPr sz="2400" dirty="0">
                <a:latin typeface="Calibri"/>
                <a:cs typeface="Calibri"/>
              </a:rPr>
              <a:t>cut</a:t>
            </a:r>
            <a:r>
              <a:rPr sz="2400" spc="-55" dirty="0">
                <a:latin typeface="Calibri"/>
                <a:cs typeface="Calibri"/>
              </a:rPr>
              <a:t> </a:t>
            </a:r>
            <a:r>
              <a:rPr sz="2400" spc="-10" dirty="0">
                <a:latin typeface="Calibri"/>
                <a:cs typeface="Calibri"/>
              </a:rPr>
              <a:t>estimates</a:t>
            </a:r>
            <a:r>
              <a:rPr sz="2400" spc="-45" dirty="0">
                <a:latin typeface="Calibri"/>
                <a:cs typeface="Calibri"/>
              </a:rPr>
              <a:t> </a:t>
            </a:r>
            <a:r>
              <a:rPr sz="2400" dirty="0">
                <a:latin typeface="Calibri"/>
                <a:cs typeface="Calibri"/>
              </a:rPr>
              <a:t>of</a:t>
            </a:r>
            <a:r>
              <a:rPr sz="2400" spc="-45" dirty="0">
                <a:latin typeface="Calibri"/>
                <a:cs typeface="Calibri"/>
              </a:rPr>
              <a:t> </a:t>
            </a:r>
            <a:r>
              <a:rPr sz="2400" dirty="0">
                <a:latin typeface="Calibri"/>
                <a:cs typeface="Calibri"/>
              </a:rPr>
              <a:t>time,</a:t>
            </a:r>
            <a:r>
              <a:rPr sz="2400" spc="-50" dirty="0">
                <a:latin typeface="Calibri"/>
                <a:cs typeface="Calibri"/>
              </a:rPr>
              <a:t> </a:t>
            </a:r>
            <a:r>
              <a:rPr sz="2400" dirty="0">
                <a:latin typeface="Calibri"/>
                <a:cs typeface="Calibri"/>
              </a:rPr>
              <a:t>cost,</a:t>
            </a:r>
            <a:r>
              <a:rPr sz="2400" spc="-45" dirty="0">
                <a:latin typeface="Calibri"/>
                <a:cs typeface="Calibri"/>
              </a:rPr>
              <a:t> </a:t>
            </a:r>
            <a:r>
              <a:rPr sz="2400" dirty="0">
                <a:latin typeface="Calibri"/>
                <a:cs typeface="Calibri"/>
              </a:rPr>
              <a:t>and</a:t>
            </a:r>
            <a:r>
              <a:rPr sz="2400" spc="-45" dirty="0">
                <a:latin typeface="Calibri"/>
                <a:cs typeface="Calibri"/>
              </a:rPr>
              <a:t> </a:t>
            </a:r>
            <a:r>
              <a:rPr sz="2400" spc="-10" dirty="0">
                <a:latin typeface="Calibri"/>
                <a:cs typeface="Calibri"/>
              </a:rPr>
              <a:t>resources</a:t>
            </a:r>
            <a:r>
              <a:rPr sz="2400" spc="-50" dirty="0">
                <a:latin typeface="Calibri"/>
                <a:cs typeface="Calibri"/>
              </a:rPr>
              <a:t> </a:t>
            </a:r>
            <a:r>
              <a:rPr sz="2400" dirty="0">
                <a:latin typeface="Calibri"/>
                <a:cs typeface="Calibri"/>
              </a:rPr>
              <a:t>for</a:t>
            </a:r>
            <a:r>
              <a:rPr sz="2400" spc="-45" dirty="0">
                <a:latin typeface="Calibri"/>
                <a:cs typeface="Calibri"/>
              </a:rPr>
              <a:t> </a:t>
            </a:r>
            <a:r>
              <a:rPr sz="2400" dirty="0">
                <a:latin typeface="Calibri"/>
                <a:cs typeface="Calibri"/>
              </a:rPr>
              <a:t>the</a:t>
            </a:r>
            <a:r>
              <a:rPr sz="2400" spc="-45" dirty="0">
                <a:latin typeface="Calibri"/>
                <a:cs typeface="Calibri"/>
              </a:rPr>
              <a:t> </a:t>
            </a:r>
            <a:r>
              <a:rPr sz="2400" spc="-10" dirty="0">
                <a:latin typeface="Calibri"/>
                <a:cs typeface="Calibri"/>
              </a:rPr>
              <a:t>project.</a:t>
            </a:r>
            <a:endParaRPr sz="2400">
              <a:latin typeface="Calibri"/>
              <a:cs typeface="Calibri"/>
            </a:endParaRPr>
          </a:p>
          <a:p>
            <a:pPr marL="504825" lvl="1" indent="-211454">
              <a:lnSpc>
                <a:spcPct val="100000"/>
              </a:lnSpc>
              <a:spcBef>
                <a:spcPts val="170"/>
              </a:spcBef>
              <a:buFont typeface="Arial MT"/>
              <a:buChar char="•"/>
              <a:tabLst>
                <a:tab pos="504825" algn="l"/>
              </a:tabLst>
            </a:pPr>
            <a:r>
              <a:rPr sz="2400" dirty="0">
                <a:latin typeface="Calibri"/>
                <a:cs typeface="Calibri"/>
              </a:rPr>
              <a:t>For</a:t>
            </a:r>
            <a:r>
              <a:rPr sz="2400" spc="-65" dirty="0">
                <a:latin typeface="Calibri"/>
                <a:cs typeface="Calibri"/>
              </a:rPr>
              <a:t> </a:t>
            </a:r>
            <a:r>
              <a:rPr sz="2400" spc="-10" dirty="0">
                <a:latin typeface="Calibri"/>
                <a:cs typeface="Calibri"/>
              </a:rPr>
              <a:t>example,</a:t>
            </a:r>
            <a:r>
              <a:rPr sz="2400" spc="-50" dirty="0">
                <a:latin typeface="Calibri"/>
                <a:cs typeface="Calibri"/>
              </a:rPr>
              <a:t> </a:t>
            </a:r>
            <a:r>
              <a:rPr sz="2400" dirty="0">
                <a:latin typeface="Calibri"/>
                <a:cs typeface="Calibri"/>
              </a:rPr>
              <a:t>testing</a:t>
            </a:r>
            <a:r>
              <a:rPr sz="2400" spc="-60" dirty="0">
                <a:latin typeface="Calibri"/>
                <a:cs typeface="Calibri"/>
              </a:rPr>
              <a:t> </a:t>
            </a:r>
            <a:r>
              <a:rPr sz="2400" dirty="0">
                <a:latin typeface="Calibri"/>
                <a:cs typeface="Calibri"/>
              </a:rPr>
              <a:t>complete</a:t>
            </a:r>
            <a:r>
              <a:rPr sz="2400" spc="-50" dirty="0">
                <a:latin typeface="Calibri"/>
                <a:cs typeface="Calibri"/>
              </a:rPr>
              <a:t> </a:t>
            </a:r>
            <a:r>
              <a:rPr sz="2400" dirty="0">
                <a:latin typeface="Calibri"/>
                <a:cs typeface="Calibri"/>
              </a:rPr>
              <a:t>and</a:t>
            </a:r>
            <a:r>
              <a:rPr sz="2400" spc="-55" dirty="0">
                <a:latin typeface="Calibri"/>
                <a:cs typeface="Calibri"/>
              </a:rPr>
              <a:t> </a:t>
            </a:r>
            <a:r>
              <a:rPr sz="2400" dirty="0">
                <a:latin typeface="Calibri"/>
                <a:cs typeface="Calibri"/>
              </a:rPr>
              <a:t>finished</a:t>
            </a:r>
            <a:r>
              <a:rPr sz="2400" spc="-50" dirty="0">
                <a:latin typeface="Calibri"/>
                <a:cs typeface="Calibri"/>
              </a:rPr>
              <a:t> </a:t>
            </a:r>
            <a:r>
              <a:rPr sz="2400" dirty="0">
                <a:latin typeface="Calibri"/>
                <a:cs typeface="Calibri"/>
              </a:rPr>
              <a:t>by</a:t>
            </a:r>
            <a:r>
              <a:rPr sz="2400" spc="-60" dirty="0">
                <a:latin typeface="Calibri"/>
                <a:cs typeface="Calibri"/>
              </a:rPr>
              <a:t> </a:t>
            </a:r>
            <a:r>
              <a:rPr sz="2400" dirty="0">
                <a:latin typeface="Calibri"/>
                <a:cs typeface="Calibri"/>
              </a:rPr>
              <a:t>July</a:t>
            </a:r>
            <a:r>
              <a:rPr sz="2400" spc="-55" dirty="0">
                <a:latin typeface="Calibri"/>
                <a:cs typeface="Calibri"/>
              </a:rPr>
              <a:t> </a:t>
            </a:r>
            <a:r>
              <a:rPr sz="2400" dirty="0">
                <a:latin typeface="Calibri"/>
                <a:cs typeface="Calibri"/>
              </a:rPr>
              <a:t>1</a:t>
            </a:r>
            <a:r>
              <a:rPr sz="2400" spc="-55" dirty="0">
                <a:latin typeface="Calibri"/>
                <a:cs typeface="Calibri"/>
              </a:rPr>
              <a:t> </a:t>
            </a:r>
            <a:r>
              <a:rPr sz="2400" dirty="0">
                <a:latin typeface="Calibri"/>
                <a:cs typeface="Calibri"/>
              </a:rPr>
              <a:t>of</a:t>
            </a:r>
            <a:r>
              <a:rPr sz="2400" spc="-55"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same</a:t>
            </a:r>
            <a:r>
              <a:rPr sz="2400" spc="-45" dirty="0">
                <a:latin typeface="Calibri"/>
                <a:cs typeface="Calibri"/>
              </a:rPr>
              <a:t> </a:t>
            </a:r>
            <a:r>
              <a:rPr sz="2400" spc="-10" dirty="0">
                <a:latin typeface="Calibri"/>
                <a:cs typeface="Calibri"/>
              </a:rPr>
              <a:t>year.</a:t>
            </a:r>
            <a:endParaRPr sz="2400">
              <a:latin typeface="Calibri"/>
              <a:cs typeface="Calibri"/>
            </a:endParaRPr>
          </a:p>
          <a:p>
            <a:pPr marL="417195" indent="-404495">
              <a:lnSpc>
                <a:spcPct val="100000"/>
              </a:lnSpc>
              <a:spcBef>
                <a:spcPts val="605"/>
              </a:spcBef>
              <a:buAutoNum type="arabicPeriod" startAt="3"/>
              <a:tabLst>
                <a:tab pos="417195" algn="l"/>
              </a:tabLst>
            </a:pPr>
            <a:r>
              <a:rPr sz="2800" b="1" spc="-30" dirty="0">
                <a:solidFill>
                  <a:srgbClr val="262EA4"/>
                </a:solidFill>
                <a:latin typeface="Calibri"/>
                <a:cs typeface="Calibri"/>
              </a:rPr>
              <a:t>Technical</a:t>
            </a:r>
            <a:r>
              <a:rPr sz="2800" b="1" spc="-75" dirty="0">
                <a:solidFill>
                  <a:srgbClr val="262EA4"/>
                </a:solidFill>
                <a:latin typeface="Calibri"/>
                <a:cs typeface="Calibri"/>
              </a:rPr>
              <a:t> </a:t>
            </a:r>
            <a:r>
              <a:rPr sz="2800" b="1" spc="-10" dirty="0">
                <a:solidFill>
                  <a:srgbClr val="262EA4"/>
                </a:solidFill>
                <a:latin typeface="Calibri"/>
                <a:cs typeface="Calibri"/>
              </a:rPr>
              <a:t>requirements:</a:t>
            </a:r>
            <a:endParaRPr sz="2800">
              <a:latin typeface="Calibri"/>
              <a:cs typeface="Calibri"/>
            </a:endParaRPr>
          </a:p>
          <a:p>
            <a:pPr marL="592455" marR="6350" lvl="1" indent="-316230" algn="just">
              <a:lnSpc>
                <a:spcPts val="2620"/>
              </a:lnSpc>
              <a:spcBef>
                <a:spcPts val="1040"/>
              </a:spcBef>
              <a:buFont typeface="Arial MT"/>
              <a:buChar char="•"/>
              <a:tabLst>
                <a:tab pos="593725" algn="l"/>
              </a:tabLst>
            </a:pPr>
            <a:r>
              <a:rPr sz="2400" dirty="0">
                <a:latin typeface="Calibri"/>
                <a:cs typeface="Calibri"/>
              </a:rPr>
              <a:t>Technical</a:t>
            </a:r>
            <a:r>
              <a:rPr sz="2400" spc="265" dirty="0">
                <a:latin typeface="Calibri"/>
                <a:cs typeface="Calibri"/>
              </a:rPr>
              <a:t> </a:t>
            </a:r>
            <a:r>
              <a:rPr sz="2400" dirty="0">
                <a:latin typeface="Calibri"/>
                <a:cs typeface="Calibri"/>
              </a:rPr>
              <a:t>requirements</a:t>
            </a:r>
            <a:r>
              <a:rPr sz="2400" spc="265" dirty="0">
                <a:latin typeface="Calibri"/>
                <a:cs typeface="Calibri"/>
              </a:rPr>
              <a:t> </a:t>
            </a:r>
            <a:r>
              <a:rPr sz="2400" dirty="0">
                <a:latin typeface="Calibri"/>
                <a:cs typeface="Calibri"/>
              </a:rPr>
              <a:t>typically</a:t>
            </a:r>
            <a:r>
              <a:rPr sz="2400" spc="265" dirty="0">
                <a:latin typeface="Calibri"/>
                <a:cs typeface="Calibri"/>
              </a:rPr>
              <a:t> </a:t>
            </a:r>
            <a:r>
              <a:rPr sz="2400" dirty="0">
                <a:latin typeface="Calibri"/>
                <a:cs typeface="Calibri"/>
              </a:rPr>
              <a:t>clarify</a:t>
            </a:r>
            <a:r>
              <a:rPr sz="2400" spc="275" dirty="0">
                <a:latin typeface="Calibri"/>
                <a:cs typeface="Calibri"/>
              </a:rPr>
              <a:t> </a:t>
            </a:r>
            <a:r>
              <a:rPr sz="2400" dirty="0">
                <a:latin typeface="Calibri"/>
                <a:cs typeface="Calibri"/>
              </a:rPr>
              <a:t>either</a:t>
            </a:r>
            <a:r>
              <a:rPr sz="2400" spc="270" dirty="0">
                <a:latin typeface="Calibri"/>
                <a:cs typeface="Calibri"/>
              </a:rPr>
              <a:t> </a:t>
            </a:r>
            <a:r>
              <a:rPr sz="2400" dirty="0">
                <a:latin typeface="Calibri"/>
                <a:cs typeface="Calibri"/>
              </a:rPr>
              <a:t>the</a:t>
            </a:r>
            <a:r>
              <a:rPr sz="2400" spc="270" dirty="0">
                <a:latin typeface="Calibri"/>
                <a:cs typeface="Calibri"/>
              </a:rPr>
              <a:t> </a:t>
            </a:r>
            <a:r>
              <a:rPr sz="2400" dirty="0">
                <a:latin typeface="Calibri"/>
                <a:cs typeface="Calibri"/>
              </a:rPr>
              <a:t>deliverables</a:t>
            </a:r>
            <a:r>
              <a:rPr sz="2400" spc="265" dirty="0">
                <a:latin typeface="Calibri"/>
                <a:cs typeface="Calibri"/>
              </a:rPr>
              <a:t> </a:t>
            </a:r>
            <a:r>
              <a:rPr sz="2400" dirty="0">
                <a:latin typeface="Calibri"/>
                <a:cs typeface="Calibri"/>
              </a:rPr>
              <a:t>or</a:t>
            </a:r>
            <a:r>
              <a:rPr sz="2400" spc="270" dirty="0">
                <a:latin typeface="Calibri"/>
                <a:cs typeface="Calibri"/>
              </a:rPr>
              <a:t> </a:t>
            </a:r>
            <a:r>
              <a:rPr sz="2400" dirty="0">
                <a:latin typeface="Calibri"/>
                <a:cs typeface="Calibri"/>
              </a:rPr>
              <a:t>define</a:t>
            </a:r>
            <a:r>
              <a:rPr sz="2400" spc="270" dirty="0">
                <a:latin typeface="Calibri"/>
                <a:cs typeface="Calibri"/>
              </a:rPr>
              <a:t> </a:t>
            </a:r>
            <a:r>
              <a:rPr sz="2400" spc="-25" dirty="0">
                <a:latin typeface="Calibri"/>
                <a:cs typeface="Calibri"/>
              </a:rPr>
              <a:t>the 	</a:t>
            </a:r>
            <a:r>
              <a:rPr sz="2400" spc="-10" dirty="0">
                <a:latin typeface="Calibri"/>
                <a:cs typeface="Calibri"/>
              </a:rPr>
              <a:t>performance</a:t>
            </a:r>
            <a:r>
              <a:rPr sz="2400" spc="-35" dirty="0">
                <a:latin typeface="Calibri"/>
                <a:cs typeface="Calibri"/>
              </a:rPr>
              <a:t> </a:t>
            </a:r>
            <a:r>
              <a:rPr sz="2400" spc="-10" dirty="0">
                <a:latin typeface="Calibri"/>
                <a:cs typeface="Calibri"/>
              </a:rPr>
              <a:t>specifications.</a:t>
            </a:r>
            <a:endParaRPr sz="2400">
              <a:latin typeface="Calibri"/>
              <a:cs typeface="Calibri"/>
            </a:endParaRPr>
          </a:p>
          <a:p>
            <a:pPr marL="592455" marR="5080" lvl="1" indent="-316230" algn="just">
              <a:lnSpc>
                <a:spcPct val="88300"/>
              </a:lnSpc>
              <a:spcBef>
                <a:spcPts val="1010"/>
              </a:spcBef>
              <a:buFont typeface="Arial MT"/>
              <a:buChar char="•"/>
              <a:tabLst>
                <a:tab pos="593725" algn="l"/>
              </a:tabLst>
            </a:pPr>
            <a:r>
              <a:rPr sz="2400" dirty="0">
                <a:latin typeface="Calibri"/>
                <a:cs typeface="Calibri"/>
              </a:rPr>
              <a:t>For</a:t>
            </a:r>
            <a:r>
              <a:rPr sz="2400" spc="220" dirty="0">
                <a:latin typeface="Calibri"/>
                <a:cs typeface="Calibri"/>
              </a:rPr>
              <a:t> </a:t>
            </a:r>
            <a:r>
              <a:rPr sz="2400" dirty="0">
                <a:latin typeface="Calibri"/>
                <a:cs typeface="Calibri"/>
              </a:rPr>
              <a:t>example,</a:t>
            </a:r>
            <a:r>
              <a:rPr sz="2400" spc="229" dirty="0">
                <a:latin typeface="Calibri"/>
                <a:cs typeface="Calibri"/>
              </a:rPr>
              <a:t> </a:t>
            </a:r>
            <a:r>
              <a:rPr sz="2400" dirty="0">
                <a:latin typeface="Calibri"/>
                <a:cs typeface="Calibri"/>
              </a:rPr>
              <a:t>a</a:t>
            </a:r>
            <a:r>
              <a:rPr sz="2400" spc="220" dirty="0">
                <a:latin typeface="Calibri"/>
                <a:cs typeface="Calibri"/>
              </a:rPr>
              <a:t> </a:t>
            </a:r>
            <a:r>
              <a:rPr sz="2400" dirty="0">
                <a:latin typeface="Calibri"/>
                <a:cs typeface="Calibri"/>
              </a:rPr>
              <a:t>technical</a:t>
            </a:r>
            <a:r>
              <a:rPr sz="2400" spc="220" dirty="0">
                <a:latin typeface="Calibri"/>
                <a:cs typeface="Calibri"/>
              </a:rPr>
              <a:t> </a:t>
            </a:r>
            <a:r>
              <a:rPr sz="2400" dirty="0">
                <a:latin typeface="Calibri"/>
                <a:cs typeface="Calibri"/>
              </a:rPr>
              <a:t>requirement</a:t>
            </a:r>
            <a:r>
              <a:rPr sz="2400" spc="225" dirty="0">
                <a:latin typeface="Calibri"/>
                <a:cs typeface="Calibri"/>
              </a:rPr>
              <a:t> </a:t>
            </a:r>
            <a:r>
              <a:rPr sz="2400" dirty="0">
                <a:latin typeface="Calibri"/>
                <a:cs typeface="Calibri"/>
              </a:rPr>
              <a:t>for</a:t>
            </a:r>
            <a:r>
              <a:rPr sz="2400" spc="220" dirty="0">
                <a:latin typeface="Calibri"/>
                <a:cs typeface="Calibri"/>
              </a:rPr>
              <a:t> </a:t>
            </a:r>
            <a:r>
              <a:rPr sz="2400" dirty="0">
                <a:latin typeface="Calibri"/>
                <a:cs typeface="Calibri"/>
              </a:rPr>
              <a:t>a</a:t>
            </a:r>
            <a:r>
              <a:rPr sz="2400" spc="225" dirty="0">
                <a:latin typeface="Calibri"/>
                <a:cs typeface="Calibri"/>
              </a:rPr>
              <a:t> </a:t>
            </a:r>
            <a:r>
              <a:rPr sz="2400" dirty="0">
                <a:latin typeface="Calibri"/>
                <a:cs typeface="Calibri"/>
              </a:rPr>
              <a:t>personal</a:t>
            </a:r>
            <a:r>
              <a:rPr sz="2400" spc="220" dirty="0">
                <a:latin typeface="Calibri"/>
                <a:cs typeface="Calibri"/>
              </a:rPr>
              <a:t> </a:t>
            </a:r>
            <a:r>
              <a:rPr sz="2400" dirty="0">
                <a:latin typeface="Calibri"/>
                <a:cs typeface="Calibri"/>
              </a:rPr>
              <a:t>computer</a:t>
            </a:r>
            <a:r>
              <a:rPr sz="2400" spc="220" dirty="0">
                <a:latin typeface="Calibri"/>
                <a:cs typeface="Calibri"/>
              </a:rPr>
              <a:t> </a:t>
            </a:r>
            <a:r>
              <a:rPr sz="2400" dirty="0">
                <a:latin typeface="Calibri"/>
                <a:cs typeface="Calibri"/>
              </a:rPr>
              <a:t>might</a:t>
            </a:r>
            <a:r>
              <a:rPr sz="2400" spc="220" dirty="0">
                <a:latin typeface="Calibri"/>
                <a:cs typeface="Calibri"/>
              </a:rPr>
              <a:t> </a:t>
            </a:r>
            <a:r>
              <a:rPr sz="2400" dirty="0">
                <a:latin typeface="Calibri"/>
                <a:cs typeface="Calibri"/>
              </a:rPr>
              <a:t>be</a:t>
            </a:r>
            <a:r>
              <a:rPr sz="2400" spc="229" dirty="0">
                <a:latin typeface="Calibri"/>
                <a:cs typeface="Calibri"/>
              </a:rPr>
              <a:t> </a:t>
            </a:r>
            <a:r>
              <a:rPr sz="2400" spc="-25" dirty="0">
                <a:latin typeface="Calibri"/>
                <a:cs typeface="Calibri"/>
              </a:rPr>
              <a:t>the 	</a:t>
            </a:r>
            <a:r>
              <a:rPr sz="2400" dirty="0">
                <a:latin typeface="Calibri"/>
                <a:cs typeface="Calibri"/>
              </a:rPr>
              <a:t>ability</a:t>
            </a:r>
            <a:r>
              <a:rPr sz="2400" spc="-15" dirty="0">
                <a:latin typeface="Calibri"/>
                <a:cs typeface="Calibri"/>
              </a:rPr>
              <a:t> </a:t>
            </a:r>
            <a:r>
              <a:rPr sz="2400" dirty="0">
                <a:latin typeface="Calibri"/>
                <a:cs typeface="Calibri"/>
              </a:rPr>
              <a:t>to</a:t>
            </a:r>
            <a:r>
              <a:rPr sz="2400" spc="-10" dirty="0">
                <a:latin typeface="Calibri"/>
                <a:cs typeface="Calibri"/>
              </a:rPr>
              <a:t> </a:t>
            </a:r>
            <a:r>
              <a:rPr sz="2400" dirty="0">
                <a:latin typeface="Calibri"/>
                <a:cs typeface="Calibri"/>
              </a:rPr>
              <a:t>accept</a:t>
            </a:r>
            <a:r>
              <a:rPr sz="2400" spc="-15" dirty="0">
                <a:latin typeface="Calibri"/>
                <a:cs typeface="Calibri"/>
              </a:rPr>
              <a:t> </a:t>
            </a:r>
            <a:r>
              <a:rPr sz="2400" spc="-20" dirty="0">
                <a:latin typeface="Calibri"/>
                <a:cs typeface="Calibri"/>
              </a:rPr>
              <a:t>120-</a:t>
            </a:r>
            <a:r>
              <a:rPr sz="2400" dirty="0">
                <a:latin typeface="Calibri"/>
                <a:cs typeface="Calibri"/>
              </a:rPr>
              <a:t>volt</a:t>
            </a:r>
            <a:r>
              <a:rPr sz="2400" spc="-10" dirty="0">
                <a:latin typeface="Calibri"/>
                <a:cs typeface="Calibri"/>
              </a:rPr>
              <a:t> </a:t>
            </a:r>
            <a:r>
              <a:rPr sz="2400" dirty="0">
                <a:latin typeface="Calibri"/>
                <a:cs typeface="Calibri"/>
              </a:rPr>
              <a:t>alternating</a:t>
            </a:r>
            <a:r>
              <a:rPr sz="2400" spc="-10" dirty="0">
                <a:latin typeface="Calibri"/>
                <a:cs typeface="Calibri"/>
              </a:rPr>
              <a:t> </a:t>
            </a:r>
            <a:r>
              <a:rPr sz="2400" dirty="0">
                <a:latin typeface="Calibri"/>
                <a:cs typeface="Calibri"/>
              </a:rPr>
              <a:t>current</a:t>
            </a:r>
            <a:r>
              <a:rPr sz="2400" spc="-15" dirty="0">
                <a:latin typeface="Calibri"/>
                <a:cs typeface="Calibri"/>
              </a:rPr>
              <a:t> </a:t>
            </a:r>
            <a:r>
              <a:rPr sz="2400" dirty="0">
                <a:latin typeface="Calibri"/>
                <a:cs typeface="Calibri"/>
              </a:rPr>
              <a:t>or</a:t>
            </a:r>
            <a:r>
              <a:rPr sz="2400" spc="-10" dirty="0">
                <a:latin typeface="Calibri"/>
                <a:cs typeface="Calibri"/>
              </a:rPr>
              <a:t> </a:t>
            </a:r>
            <a:r>
              <a:rPr sz="2400" spc="-20" dirty="0">
                <a:latin typeface="Calibri"/>
                <a:cs typeface="Calibri"/>
              </a:rPr>
              <a:t>240-</a:t>
            </a:r>
            <a:r>
              <a:rPr sz="2400" dirty="0">
                <a:latin typeface="Calibri"/>
                <a:cs typeface="Calibri"/>
              </a:rPr>
              <a:t>volt</a:t>
            </a:r>
            <a:r>
              <a:rPr sz="2400" spc="-10" dirty="0">
                <a:latin typeface="Calibri"/>
                <a:cs typeface="Calibri"/>
              </a:rPr>
              <a:t> </a:t>
            </a:r>
            <a:r>
              <a:rPr sz="2400" dirty="0">
                <a:latin typeface="Calibri"/>
                <a:cs typeface="Calibri"/>
              </a:rPr>
              <a:t>direct</a:t>
            </a:r>
            <a:r>
              <a:rPr sz="2400" spc="-15" dirty="0">
                <a:latin typeface="Calibri"/>
                <a:cs typeface="Calibri"/>
              </a:rPr>
              <a:t> </a:t>
            </a:r>
            <a:r>
              <a:rPr sz="2400" dirty="0">
                <a:latin typeface="Calibri"/>
                <a:cs typeface="Calibri"/>
              </a:rPr>
              <a:t>current</a:t>
            </a:r>
            <a:r>
              <a:rPr sz="2400" spc="-15" dirty="0">
                <a:latin typeface="Calibri"/>
                <a:cs typeface="Calibri"/>
              </a:rPr>
              <a:t> </a:t>
            </a:r>
            <a:r>
              <a:rPr sz="2400" spc="-10" dirty="0">
                <a:latin typeface="Calibri"/>
                <a:cs typeface="Calibri"/>
              </a:rPr>
              <a:t>without 	</a:t>
            </a:r>
            <a:r>
              <a:rPr sz="2400" dirty="0">
                <a:latin typeface="Calibri"/>
                <a:cs typeface="Calibri"/>
              </a:rPr>
              <a:t>any</a:t>
            </a:r>
            <a:r>
              <a:rPr sz="2400" spc="-60" dirty="0">
                <a:latin typeface="Calibri"/>
                <a:cs typeface="Calibri"/>
              </a:rPr>
              <a:t> </a:t>
            </a:r>
            <a:r>
              <a:rPr sz="2400" spc="-10" dirty="0">
                <a:latin typeface="Calibri"/>
                <a:cs typeface="Calibri"/>
              </a:rPr>
              <a:t>adapters</a:t>
            </a:r>
            <a:r>
              <a:rPr sz="2400" spc="-60" dirty="0">
                <a:latin typeface="Calibri"/>
                <a:cs typeface="Calibri"/>
              </a:rPr>
              <a:t> </a:t>
            </a:r>
            <a:r>
              <a:rPr sz="2400" dirty="0">
                <a:latin typeface="Calibri"/>
                <a:cs typeface="Calibri"/>
              </a:rPr>
              <a:t>or</a:t>
            </a:r>
            <a:r>
              <a:rPr sz="2400" spc="-65" dirty="0">
                <a:latin typeface="Calibri"/>
                <a:cs typeface="Calibri"/>
              </a:rPr>
              <a:t> </a:t>
            </a:r>
            <a:r>
              <a:rPr sz="2400" dirty="0">
                <a:latin typeface="Calibri"/>
                <a:cs typeface="Calibri"/>
              </a:rPr>
              <a:t>user</a:t>
            </a:r>
            <a:r>
              <a:rPr sz="2400" spc="-65" dirty="0">
                <a:latin typeface="Calibri"/>
                <a:cs typeface="Calibri"/>
              </a:rPr>
              <a:t> </a:t>
            </a:r>
            <a:r>
              <a:rPr sz="2400" spc="-10" dirty="0">
                <a:latin typeface="Calibri"/>
                <a:cs typeface="Calibri"/>
              </a:rPr>
              <a:t>switches.</a:t>
            </a:r>
            <a:endParaRPr sz="2400">
              <a:latin typeface="Calibri"/>
              <a:cs typeface="Calibri"/>
            </a:endParaRPr>
          </a:p>
          <a:p>
            <a:pPr marL="592455" marR="8890" lvl="1" indent="-316230" algn="just">
              <a:lnSpc>
                <a:spcPts val="2620"/>
              </a:lnSpc>
              <a:spcBef>
                <a:spcPts val="1025"/>
              </a:spcBef>
              <a:buFont typeface="Arial MT"/>
              <a:buChar char="•"/>
              <a:tabLst>
                <a:tab pos="593725" algn="l"/>
              </a:tabLst>
            </a:pPr>
            <a:r>
              <a:rPr sz="2400" dirty="0">
                <a:latin typeface="Calibri"/>
                <a:cs typeface="Calibri"/>
              </a:rPr>
              <a:t>Another</a:t>
            </a:r>
            <a:r>
              <a:rPr sz="2400" spc="40" dirty="0">
                <a:latin typeface="Calibri"/>
                <a:cs typeface="Calibri"/>
              </a:rPr>
              <a:t>  </a:t>
            </a:r>
            <a:r>
              <a:rPr sz="2400" spc="-20" dirty="0">
                <a:latin typeface="Calibri"/>
                <a:cs typeface="Calibri"/>
              </a:rPr>
              <a:t>well-</a:t>
            </a:r>
            <a:r>
              <a:rPr sz="2400" dirty="0">
                <a:latin typeface="Calibri"/>
                <a:cs typeface="Calibri"/>
              </a:rPr>
              <a:t>known</a:t>
            </a:r>
            <a:r>
              <a:rPr sz="2400" spc="45" dirty="0">
                <a:latin typeface="Calibri"/>
                <a:cs typeface="Calibri"/>
              </a:rPr>
              <a:t>  </a:t>
            </a:r>
            <a:r>
              <a:rPr sz="2400" dirty="0">
                <a:latin typeface="Calibri"/>
                <a:cs typeface="Calibri"/>
              </a:rPr>
              <a:t>example</a:t>
            </a:r>
            <a:r>
              <a:rPr sz="2400" spc="45" dirty="0">
                <a:latin typeface="Calibri"/>
                <a:cs typeface="Calibri"/>
              </a:rPr>
              <a:t>  </a:t>
            </a:r>
            <a:r>
              <a:rPr sz="2400" dirty="0">
                <a:latin typeface="Calibri"/>
                <a:cs typeface="Calibri"/>
              </a:rPr>
              <a:t>is</a:t>
            </a:r>
            <a:r>
              <a:rPr sz="2400" spc="40" dirty="0">
                <a:latin typeface="Calibri"/>
                <a:cs typeface="Calibri"/>
              </a:rPr>
              <a:t>  </a:t>
            </a:r>
            <a:r>
              <a:rPr sz="2400" dirty="0">
                <a:latin typeface="Calibri"/>
                <a:cs typeface="Calibri"/>
              </a:rPr>
              <a:t>the</a:t>
            </a:r>
            <a:r>
              <a:rPr sz="2400" spc="45" dirty="0">
                <a:latin typeface="Calibri"/>
                <a:cs typeface="Calibri"/>
              </a:rPr>
              <a:t>  </a:t>
            </a:r>
            <a:r>
              <a:rPr sz="2400" dirty="0">
                <a:latin typeface="Calibri"/>
                <a:cs typeface="Calibri"/>
              </a:rPr>
              <a:t>ability</a:t>
            </a:r>
            <a:r>
              <a:rPr sz="2400" spc="40" dirty="0">
                <a:latin typeface="Calibri"/>
                <a:cs typeface="Calibri"/>
              </a:rPr>
              <a:t>  </a:t>
            </a:r>
            <a:r>
              <a:rPr sz="2400" dirty="0">
                <a:latin typeface="Calibri"/>
                <a:cs typeface="Calibri"/>
              </a:rPr>
              <a:t>of</a:t>
            </a:r>
            <a:r>
              <a:rPr sz="2400" spc="45" dirty="0">
                <a:latin typeface="Calibri"/>
                <a:cs typeface="Calibri"/>
              </a:rPr>
              <a:t>  </a:t>
            </a:r>
            <a:r>
              <a:rPr sz="2400" dirty="0">
                <a:latin typeface="Calibri"/>
                <a:cs typeface="Calibri"/>
              </a:rPr>
              <a:t>911</a:t>
            </a:r>
            <a:r>
              <a:rPr sz="2400" spc="40" dirty="0">
                <a:latin typeface="Calibri"/>
                <a:cs typeface="Calibri"/>
              </a:rPr>
              <a:t>  </a:t>
            </a:r>
            <a:r>
              <a:rPr sz="2400" dirty="0">
                <a:latin typeface="Calibri"/>
                <a:cs typeface="Calibri"/>
              </a:rPr>
              <a:t>emergency</a:t>
            </a:r>
            <a:r>
              <a:rPr sz="2400" spc="45" dirty="0">
                <a:latin typeface="Calibri"/>
                <a:cs typeface="Calibri"/>
              </a:rPr>
              <a:t>  </a:t>
            </a:r>
            <a:r>
              <a:rPr sz="2400" dirty="0">
                <a:latin typeface="Calibri"/>
                <a:cs typeface="Calibri"/>
              </a:rPr>
              <a:t>systems</a:t>
            </a:r>
            <a:r>
              <a:rPr sz="2400" spc="40" dirty="0">
                <a:latin typeface="Calibri"/>
                <a:cs typeface="Calibri"/>
              </a:rPr>
              <a:t>  </a:t>
            </a:r>
            <a:r>
              <a:rPr sz="2400" spc="-25" dirty="0">
                <a:latin typeface="Calibri"/>
                <a:cs typeface="Calibri"/>
              </a:rPr>
              <a:t>to 	</a:t>
            </a:r>
            <a:r>
              <a:rPr sz="2400" dirty="0">
                <a:latin typeface="Calibri"/>
                <a:cs typeface="Calibri"/>
              </a:rPr>
              <a:t>identify</a:t>
            </a:r>
            <a:r>
              <a:rPr sz="2400" spc="-55"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caller’s</a:t>
            </a:r>
            <a:r>
              <a:rPr sz="2400" spc="-60" dirty="0">
                <a:latin typeface="Calibri"/>
                <a:cs typeface="Calibri"/>
              </a:rPr>
              <a:t> </a:t>
            </a:r>
            <a:r>
              <a:rPr sz="2400" dirty="0">
                <a:latin typeface="Calibri"/>
                <a:cs typeface="Calibri"/>
              </a:rPr>
              <a:t>phone</a:t>
            </a:r>
            <a:r>
              <a:rPr sz="2400" spc="-50" dirty="0">
                <a:latin typeface="Calibri"/>
                <a:cs typeface="Calibri"/>
              </a:rPr>
              <a:t> </a:t>
            </a:r>
            <a:r>
              <a:rPr sz="2400" dirty="0">
                <a:latin typeface="Calibri"/>
                <a:cs typeface="Calibri"/>
              </a:rPr>
              <a:t>number</a:t>
            </a:r>
            <a:r>
              <a:rPr sz="2400" spc="-60" dirty="0">
                <a:latin typeface="Calibri"/>
                <a:cs typeface="Calibri"/>
              </a:rPr>
              <a:t> </a:t>
            </a:r>
            <a:r>
              <a:rPr sz="2400" dirty="0">
                <a:latin typeface="Calibri"/>
                <a:cs typeface="Calibri"/>
              </a:rPr>
              <a:t>and</a:t>
            </a:r>
            <a:r>
              <a:rPr sz="2400" spc="-50" dirty="0">
                <a:latin typeface="Calibri"/>
                <a:cs typeface="Calibri"/>
              </a:rPr>
              <a:t> </a:t>
            </a:r>
            <a:r>
              <a:rPr sz="2400" dirty="0">
                <a:latin typeface="Calibri"/>
                <a:cs typeface="Calibri"/>
              </a:rPr>
              <a:t>location</a:t>
            </a:r>
            <a:r>
              <a:rPr sz="2400" spc="-55" dirty="0">
                <a:latin typeface="Calibri"/>
                <a:cs typeface="Calibri"/>
              </a:rPr>
              <a:t> </a:t>
            </a:r>
            <a:r>
              <a:rPr sz="2400" dirty="0">
                <a:latin typeface="Calibri"/>
                <a:cs typeface="Calibri"/>
              </a:rPr>
              <a:t>of</a:t>
            </a:r>
            <a:r>
              <a:rPr sz="2400" spc="-55" dirty="0">
                <a:latin typeface="Calibri"/>
                <a:cs typeface="Calibri"/>
              </a:rPr>
              <a:t> </a:t>
            </a:r>
            <a:r>
              <a:rPr sz="2400" dirty="0">
                <a:latin typeface="Calibri"/>
                <a:cs typeface="Calibri"/>
              </a:rPr>
              <a:t>the</a:t>
            </a:r>
            <a:r>
              <a:rPr sz="2400" spc="-50" dirty="0">
                <a:latin typeface="Calibri"/>
                <a:cs typeface="Calibri"/>
              </a:rPr>
              <a:t> </a:t>
            </a:r>
            <a:r>
              <a:rPr sz="2400" spc="-10" dirty="0">
                <a:latin typeface="Calibri"/>
                <a:cs typeface="Calibri"/>
              </a:rPr>
              <a:t>phone.</a:t>
            </a:r>
            <a:endParaRPr sz="2400">
              <a:latin typeface="Calibri"/>
              <a:cs typeface="Calibri"/>
            </a:endParaRPr>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30</a:t>
            </a:r>
            <a:endParaRPr sz="1200">
              <a:latin typeface="Calibri"/>
              <a:cs typeface="Calibri"/>
            </a:endParaRPr>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Employing a Project Scope Checklist </a:t>
            </a:r>
            <a:r>
              <a:rPr sz="1950" spc="-10" dirty="0"/>
              <a:t>(3/5)</a:t>
            </a:r>
            <a:endParaRPr sz="1950" dirty="0"/>
          </a:p>
        </p:txBody>
      </p:sp>
      <p:pic>
        <p:nvPicPr>
          <p:cNvPr id="5" name="Picture 4">
            <a:extLst>
              <a:ext uri="{FF2B5EF4-FFF2-40B4-BE49-F238E27FC236}">
                <a16:creationId xmlns:a16="http://schemas.microsoft.com/office/drawing/2014/main" id="{53D3B5D1-76EE-2E2F-EB7F-4150D359D94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15600" y="1"/>
            <a:ext cx="1686150" cy="936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472692"/>
            <a:ext cx="10356850" cy="4027804"/>
          </a:xfrm>
          <a:prstGeom prst="rect">
            <a:avLst/>
          </a:prstGeom>
        </p:spPr>
        <p:txBody>
          <a:bodyPr vert="horz" wrap="square" lIns="0" tIns="33655" rIns="0" bIns="0" rtlCol="0">
            <a:spAutoFit/>
          </a:bodyPr>
          <a:lstStyle/>
          <a:p>
            <a:pPr marL="330200" indent="-317500">
              <a:lnSpc>
                <a:spcPct val="100000"/>
              </a:lnSpc>
              <a:spcBef>
                <a:spcPts val="265"/>
              </a:spcBef>
              <a:buAutoNum type="arabicPeriod" startAt="5"/>
              <a:tabLst>
                <a:tab pos="330200" algn="l"/>
              </a:tabLst>
            </a:pPr>
            <a:r>
              <a:rPr sz="2200" b="1" dirty="0">
                <a:solidFill>
                  <a:srgbClr val="262EA4"/>
                </a:solidFill>
                <a:latin typeface="Calibri"/>
                <a:cs typeface="Calibri"/>
              </a:rPr>
              <a:t>Limits</a:t>
            </a:r>
            <a:r>
              <a:rPr sz="2200" b="1" spc="-25" dirty="0">
                <a:solidFill>
                  <a:srgbClr val="262EA4"/>
                </a:solidFill>
                <a:latin typeface="Calibri"/>
                <a:cs typeface="Calibri"/>
              </a:rPr>
              <a:t> </a:t>
            </a:r>
            <a:r>
              <a:rPr sz="2200" b="1" dirty="0">
                <a:solidFill>
                  <a:srgbClr val="262EA4"/>
                </a:solidFill>
                <a:latin typeface="Calibri"/>
                <a:cs typeface="Calibri"/>
              </a:rPr>
              <a:t>and</a:t>
            </a:r>
            <a:r>
              <a:rPr sz="2200" b="1" spc="-20" dirty="0">
                <a:solidFill>
                  <a:srgbClr val="262EA4"/>
                </a:solidFill>
                <a:latin typeface="Calibri"/>
                <a:cs typeface="Calibri"/>
              </a:rPr>
              <a:t> </a:t>
            </a:r>
            <a:r>
              <a:rPr sz="2200" b="1" spc="-10" dirty="0">
                <a:solidFill>
                  <a:srgbClr val="262EA4"/>
                </a:solidFill>
                <a:latin typeface="Calibri"/>
                <a:cs typeface="Calibri"/>
              </a:rPr>
              <a:t>exclusions:</a:t>
            </a:r>
            <a:endParaRPr sz="2200">
              <a:latin typeface="Calibri"/>
              <a:cs typeface="Calibri"/>
            </a:endParaRPr>
          </a:p>
          <a:p>
            <a:pPr marL="558800" marR="5080" lvl="1" indent="-176530">
              <a:lnSpc>
                <a:spcPct val="71800"/>
              </a:lnSpc>
              <a:spcBef>
                <a:spcPts val="915"/>
              </a:spcBef>
              <a:buFont typeface="Arial MT"/>
              <a:buChar char="•"/>
              <a:tabLst>
                <a:tab pos="558800" algn="l"/>
              </a:tabLst>
            </a:pPr>
            <a:r>
              <a:rPr sz="2200" dirty="0">
                <a:latin typeface="Calibri"/>
                <a:cs typeface="Calibri"/>
              </a:rPr>
              <a:t>The</a:t>
            </a:r>
            <a:r>
              <a:rPr sz="2200" spc="120" dirty="0">
                <a:latin typeface="Calibri"/>
                <a:cs typeface="Calibri"/>
              </a:rPr>
              <a:t> </a:t>
            </a:r>
            <a:r>
              <a:rPr sz="2200" dirty="0">
                <a:latin typeface="Calibri"/>
                <a:cs typeface="Calibri"/>
              </a:rPr>
              <a:t>limits</a:t>
            </a:r>
            <a:r>
              <a:rPr sz="2200" spc="114" dirty="0">
                <a:latin typeface="Calibri"/>
                <a:cs typeface="Calibri"/>
              </a:rPr>
              <a:t> </a:t>
            </a:r>
            <a:r>
              <a:rPr sz="2200" dirty="0">
                <a:latin typeface="Calibri"/>
                <a:cs typeface="Calibri"/>
              </a:rPr>
              <a:t>of</a:t>
            </a:r>
            <a:r>
              <a:rPr sz="2200" spc="114" dirty="0">
                <a:latin typeface="Calibri"/>
                <a:cs typeface="Calibri"/>
              </a:rPr>
              <a:t> </a:t>
            </a:r>
            <a:r>
              <a:rPr sz="2200" dirty="0">
                <a:latin typeface="Calibri"/>
                <a:cs typeface="Calibri"/>
              </a:rPr>
              <a:t>scope</a:t>
            </a:r>
            <a:r>
              <a:rPr sz="2200" spc="120" dirty="0">
                <a:latin typeface="Calibri"/>
                <a:cs typeface="Calibri"/>
              </a:rPr>
              <a:t> </a:t>
            </a:r>
            <a:r>
              <a:rPr sz="2200" dirty="0">
                <a:latin typeface="Calibri"/>
                <a:cs typeface="Calibri"/>
              </a:rPr>
              <a:t>should</a:t>
            </a:r>
            <a:r>
              <a:rPr sz="2200" spc="114" dirty="0">
                <a:latin typeface="Calibri"/>
                <a:cs typeface="Calibri"/>
              </a:rPr>
              <a:t> </a:t>
            </a:r>
            <a:r>
              <a:rPr sz="2200" dirty="0">
                <a:latin typeface="Calibri"/>
                <a:cs typeface="Calibri"/>
              </a:rPr>
              <a:t>be</a:t>
            </a:r>
            <a:r>
              <a:rPr sz="2200" spc="120" dirty="0">
                <a:latin typeface="Calibri"/>
                <a:cs typeface="Calibri"/>
              </a:rPr>
              <a:t> </a:t>
            </a:r>
            <a:r>
              <a:rPr sz="2200" dirty="0">
                <a:latin typeface="Calibri"/>
                <a:cs typeface="Calibri"/>
              </a:rPr>
              <a:t>defined.</a:t>
            </a:r>
            <a:r>
              <a:rPr sz="2200" spc="105" dirty="0">
                <a:latin typeface="Calibri"/>
                <a:cs typeface="Calibri"/>
              </a:rPr>
              <a:t> </a:t>
            </a:r>
            <a:r>
              <a:rPr sz="2200" dirty="0">
                <a:latin typeface="Calibri"/>
                <a:cs typeface="Calibri"/>
              </a:rPr>
              <a:t>Failure</a:t>
            </a:r>
            <a:r>
              <a:rPr sz="2200" spc="120" dirty="0">
                <a:latin typeface="Calibri"/>
                <a:cs typeface="Calibri"/>
              </a:rPr>
              <a:t> </a:t>
            </a:r>
            <a:r>
              <a:rPr sz="2200" dirty="0">
                <a:latin typeface="Calibri"/>
                <a:cs typeface="Calibri"/>
              </a:rPr>
              <a:t>to</a:t>
            </a:r>
            <a:r>
              <a:rPr sz="2200" spc="114" dirty="0">
                <a:latin typeface="Calibri"/>
                <a:cs typeface="Calibri"/>
              </a:rPr>
              <a:t> </a:t>
            </a:r>
            <a:r>
              <a:rPr sz="2200" dirty="0">
                <a:latin typeface="Calibri"/>
                <a:cs typeface="Calibri"/>
              </a:rPr>
              <a:t>do</a:t>
            </a:r>
            <a:r>
              <a:rPr sz="2200" spc="120" dirty="0">
                <a:latin typeface="Calibri"/>
                <a:cs typeface="Calibri"/>
              </a:rPr>
              <a:t> </a:t>
            </a:r>
            <a:r>
              <a:rPr sz="2200" dirty="0">
                <a:latin typeface="Calibri"/>
                <a:cs typeface="Calibri"/>
              </a:rPr>
              <a:t>so</a:t>
            </a:r>
            <a:r>
              <a:rPr sz="2200" spc="114" dirty="0">
                <a:latin typeface="Calibri"/>
                <a:cs typeface="Calibri"/>
              </a:rPr>
              <a:t> </a:t>
            </a:r>
            <a:r>
              <a:rPr sz="2200" dirty="0">
                <a:latin typeface="Calibri"/>
                <a:cs typeface="Calibri"/>
              </a:rPr>
              <a:t>can</a:t>
            </a:r>
            <a:r>
              <a:rPr sz="2200" spc="114" dirty="0">
                <a:latin typeface="Calibri"/>
                <a:cs typeface="Calibri"/>
              </a:rPr>
              <a:t> </a:t>
            </a:r>
            <a:r>
              <a:rPr sz="2200" dirty="0">
                <a:latin typeface="Calibri"/>
                <a:cs typeface="Calibri"/>
              </a:rPr>
              <a:t>lead</a:t>
            </a:r>
            <a:r>
              <a:rPr sz="2200" spc="105" dirty="0">
                <a:latin typeface="Calibri"/>
                <a:cs typeface="Calibri"/>
              </a:rPr>
              <a:t> </a:t>
            </a:r>
            <a:r>
              <a:rPr sz="2200" dirty="0">
                <a:latin typeface="Calibri"/>
                <a:cs typeface="Calibri"/>
              </a:rPr>
              <a:t>to</a:t>
            </a:r>
            <a:r>
              <a:rPr sz="2200" spc="120" dirty="0">
                <a:latin typeface="Calibri"/>
                <a:cs typeface="Calibri"/>
              </a:rPr>
              <a:t> </a:t>
            </a:r>
            <a:r>
              <a:rPr sz="2200" dirty="0">
                <a:latin typeface="Calibri"/>
                <a:cs typeface="Calibri"/>
              </a:rPr>
              <a:t>false</a:t>
            </a:r>
            <a:r>
              <a:rPr sz="2200" spc="114" dirty="0">
                <a:latin typeface="Calibri"/>
                <a:cs typeface="Calibri"/>
              </a:rPr>
              <a:t> </a:t>
            </a:r>
            <a:r>
              <a:rPr sz="2200" spc="-10" dirty="0">
                <a:latin typeface="Calibri"/>
                <a:cs typeface="Calibri"/>
              </a:rPr>
              <a:t>expectations </a:t>
            </a:r>
            <a:r>
              <a:rPr sz="2200" dirty="0">
                <a:latin typeface="Calibri"/>
                <a:cs typeface="Calibri"/>
              </a:rPr>
              <a:t>and</a:t>
            </a:r>
            <a:r>
              <a:rPr sz="2200" spc="-50" dirty="0">
                <a:latin typeface="Calibri"/>
                <a:cs typeface="Calibri"/>
              </a:rPr>
              <a:t> </a:t>
            </a:r>
            <a:r>
              <a:rPr sz="2200" dirty="0">
                <a:latin typeface="Calibri"/>
                <a:cs typeface="Calibri"/>
              </a:rPr>
              <a:t>to</a:t>
            </a:r>
            <a:r>
              <a:rPr sz="2200" spc="-35" dirty="0">
                <a:latin typeface="Calibri"/>
                <a:cs typeface="Calibri"/>
              </a:rPr>
              <a:t> </a:t>
            </a:r>
            <a:r>
              <a:rPr sz="2200" dirty="0">
                <a:latin typeface="Calibri"/>
                <a:cs typeface="Calibri"/>
              </a:rPr>
              <a:t>expending</a:t>
            </a:r>
            <a:r>
              <a:rPr sz="2200" spc="-40" dirty="0">
                <a:latin typeface="Calibri"/>
                <a:cs typeface="Calibri"/>
              </a:rPr>
              <a:t> </a:t>
            </a:r>
            <a:r>
              <a:rPr sz="2200" spc="-10" dirty="0">
                <a:latin typeface="Calibri"/>
                <a:cs typeface="Calibri"/>
              </a:rPr>
              <a:t>resources</a:t>
            </a:r>
            <a:r>
              <a:rPr sz="2200" spc="-40" dirty="0">
                <a:latin typeface="Calibri"/>
                <a:cs typeface="Calibri"/>
              </a:rPr>
              <a:t> </a:t>
            </a:r>
            <a:r>
              <a:rPr sz="2200" dirty="0">
                <a:latin typeface="Calibri"/>
                <a:cs typeface="Calibri"/>
              </a:rPr>
              <a:t>and</a:t>
            </a:r>
            <a:r>
              <a:rPr sz="2200" spc="-45" dirty="0">
                <a:latin typeface="Calibri"/>
                <a:cs typeface="Calibri"/>
              </a:rPr>
              <a:t> </a:t>
            </a:r>
            <a:r>
              <a:rPr sz="2200" dirty="0">
                <a:latin typeface="Calibri"/>
                <a:cs typeface="Calibri"/>
              </a:rPr>
              <a:t>time</a:t>
            </a:r>
            <a:r>
              <a:rPr sz="2200" spc="-40" dirty="0">
                <a:latin typeface="Calibri"/>
                <a:cs typeface="Calibri"/>
              </a:rPr>
              <a:t> </a:t>
            </a:r>
            <a:r>
              <a:rPr sz="2200" dirty="0">
                <a:latin typeface="Calibri"/>
                <a:cs typeface="Calibri"/>
              </a:rPr>
              <a:t>on</a:t>
            </a:r>
            <a:r>
              <a:rPr sz="2200" spc="-45" dirty="0">
                <a:latin typeface="Calibri"/>
                <a:cs typeface="Calibri"/>
              </a:rPr>
              <a:t> </a:t>
            </a:r>
            <a:r>
              <a:rPr sz="2200" dirty="0">
                <a:latin typeface="Calibri"/>
                <a:cs typeface="Calibri"/>
              </a:rPr>
              <a:t>the</a:t>
            </a:r>
            <a:r>
              <a:rPr sz="2200" spc="-30" dirty="0">
                <a:latin typeface="Calibri"/>
                <a:cs typeface="Calibri"/>
              </a:rPr>
              <a:t> </a:t>
            </a:r>
            <a:r>
              <a:rPr sz="2200" dirty="0">
                <a:latin typeface="Calibri"/>
                <a:cs typeface="Calibri"/>
              </a:rPr>
              <a:t>wrong</a:t>
            </a:r>
            <a:r>
              <a:rPr sz="2200" spc="-40" dirty="0">
                <a:latin typeface="Calibri"/>
                <a:cs typeface="Calibri"/>
              </a:rPr>
              <a:t> </a:t>
            </a:r>
            <a:r>
              <a:rPr sz="2200" spc="-10" dirty="0">
                <a:latin typeface="Calibri"/>
                <a:cs typeface="Calibri"/>
              </a:rPr>
              <a:t>problem.</a:t>
            </a:r>
            <a:endParaRPr sz="2200">
              <a:latin typeface="Calibri"/>
              <a:cs typeface="Calibri"/>
            </a:endParaRPr>
          </a:p>
          <a:p>
            <a:pPr marL="557530" lvl="1" indent="-175895">
              <a:lnSpc>
                <a:spcPts val="2575"/>
              </a:lnSpc>
              <a:spcBef>
                <a:spcPts val="165"/>
              </a:spcBef>
              <a:buFont typeface="Arial MT"/>
              <a:buChar char="•"/>
              <a:tabLst>
                <a:tab pos="557530" algn="l"/>
              </a:tabLst>
            </a:pPr>
            <a:r>
              <a:rPr sz="2200" dirty="0">
                <a:latin typeface="Calibri"/>
                <a:cs typeface="Calibri"/>
              </a:rPr>
              <a:t>Examples</a:t>
            </a:r>
            <a:r>
              <a:rPr sz="2200" spc="-45" dirty="0">
                <a:latin typeface="Calibri"/>
                <a:cs typeface="Calibri"/>
              </a:rPr>
              <a:t> </a:t>
            </a:r>
            <a:r>
              <a:rPr sz="2200" dirty="0">
                <a:latin typeface="Calibri"/>
                <a:cs typeface="Calibri"/>
              </a:rPr>
              <a:t>of</a:t>
            </a:r>
            <a:r>
              <a:rPr sz="2200" spc="-40" dirty="0">
                <a:latin typeface="Calibri"/>
                <a:cs typeface="Calibri"/>
              </a:rPr>
              <a:t> </a:t>
            </a:r>
            <a:r>
              <a:rPr sz="2200" dirty="0">
                <a:latin typeface="Calibri"/>
                <a:cs typeface="Calibri"/>
              </a:rPr>
              <a:t>limits</a:t>
            </a:r>
            <a:r>
              <a:rPr sz="2200" spc="-50" dirty="0">
                <a:latin typeface="Calibri"/>
                <a:cs typeface="Calibri"/>
              </a:rPr>
              <a:t> </a:t>
            </a:r>
            <a:r>
              <a:rPr sz="2200" spc="-20" dirty="0">
                <a:latin typeface="Calibri"/>
                <a:cs typeface="Calibri"/>
              </a:rPr>
              <a:t>are:</a:t>
            </a:r>
            <a:endParaRPr sz="2200">
              <a:latin typeface="Calibri"/>
              <a:cs typeface="Calibri"/>
            </a:endParaRPr>
          </a:p>
          <a:p>
            <a:pPr marL="848994" lvl="2" indent="-255270">
              <a:lnSpc>
                <a:spcPts val="2120"/>
              </a:lnSpc>
              <a:buFont typeface="Wingdings"/>
              <a:buChar char=""/>
              <a:tabLst>
                <a:tab pos="848994" algn="l"/>
              </a:tabLst>
            </a:pPr>
            <a:r>
              <a:rPr sz="1900" dirty="0">
                <a:latin typeface="Calibri"/>
                <a:cs typeface="Calibri"/>
              </a:rPr>
              <a:t>work</a:t>
            </a:r>
            <a:r>
              <a:rPr sz="1900" spc="-35" dirty="0">
                <a:latin typeface="Calibri"/>
                <a:cs typeface="Calibri"/>
              </a:rPr>
              <a:t> </a:t>
            </a:r>
            <a:r>
              <a:rPr sz="1900" dirty="0">
                <a:latin typeface="Calibri"/>
                <a:cs typeface="Calibri"/>
              </a:rPr>
              <a:t>on</a:t>
            </a:r>
            <a:r>
              <a:rPr sz="1900" spc="-35" dirty="0">
                <a:latin typeface="Calibri"/>
                <a:cs typeface="Calibri"/>
              </a:rPr>
              <a:t> </a:t>
            </a:r>
            <a:r>
              <a:rPr sz="1900" dirty="0">
                <a:latin typeface="Calibri"/>
                <a:cs typeface="Calibri"/>
              </a:rPr>
              <a:t>site</a:t>
            </a:r>
            <a:r>
              <a:rPr sz="1900" spc="-30" dirty="0">
                <a:latin typeface="Calibri"/>
                <a:cs typeface="Calibri"/>
              </a:rPr>
              <a:t> </a:t>
            </a:r>
            <a:r>
              <a:rPr sz="1900" dirty="0">
                <a:latin typeface="Calibri"/>
                <a:cs typeface="Calibri"/>
              </a:rPr>
              <a:t>is</a:t>
            </a:r>
            <a:r>
              <a:rPr sz="1900" spc="-45" dirty="0">
                <a:latin typeface="Calibri"/>
                <a:cs typeface="Calibri"/>
              </a:rPr>
              <a:t> </a:t>
            </a:r>
            <a:r>
              <a:rPr sz="1900" dirty="0">
                <a:latin typeface="Calibri"/>
                <a:cs typeface="Calibri"/>
              </a:rPr>
              <a:t>allowed</a:t>
            </a:r>
            <a:r>
              <a:rPr sz="1900" spc="-35" dirty="0">
                <a:latin typeface="Calibri"/>
                <a:cs typeface="Calibri"/>
              </a:rPr>
              <a:t> </a:t>
            </a:r>
            <a:r>
              <a:rPr sz="1900" dirty="0">
                <a:latin typeface="Calibri"/>
                <a:cs typeface="Calibri"/>
              </a:rPr>
              <a:t>only</a:t>
            </a:r>
            <a:r>
              <a:rPr sz="1900" spc="-35" dirty="0">
                <a:latin typeface="Calibri"/>
                <a:cs typeface="Calibri"/>
              </a:rPr>
              <a:t> </a:t>
            </a:r>
            <a:r>
              <a:rPr sz="1900" dirty="0">
                <a:latin typeface="Calibri"/>
                <a:cs typeface="Calibri"/>
              </a:rPr>
              <a:t>between</a:t>
            </a:r>
            <a:r>
              <a:rPr sz="1900" spc="-35" dirty="0">
                <a:latin typeface="Calibri"/>
                <a:cs typeface="Calibri"/>
              </a:rPr>
              <a:t> </a:t>
            </a:r>
            <a:r>
              <a:rPr sz="1900" dirty="0">
                <a:latin typeface="Calibri"/>
                <a:cs typeface="Calibri"/>
              </a:rPr>
              <a:t>the</a:t>
            </a:r>
            <a:r>
              <a:rPr sz="1900" spc="-30" dirty="0">
                <a:latin typeface="Calibri"/>
                <a:cs typeface="Calibri"/>
              </a:rPr>
              <a:t> </a:t>
            </a:r>
            <a:r>
              <a:rPr sz="1900" dirty="0">
                <a:latin typeface="Calibri"/>
                <a:cs typeface="Calibri"/>
              </a:rPr>
              <a:t>hours</a:t>
            </a:r>
            <a:r>
              <a:rPr sz="1900" spc="-45" dirty="0">
                <a:latin typeface="Calibri"/>
                <a:cs typeface="Calibri"/>
              </a:rPr>
              <a:t> </a:t>
            </a:r>
            <a:r>
              <a:rPr sz="1900" dirty="0">
                <a:latin typeface="Calibri"/>
                <a:cs typeface="Calibri"/>
              </a:rPr>
              <a:t>of</a:t>
            </a:r>
            <a:r>
              <a:rPr sz="1900" spc="-35" dirty="0">
                <a:latin typeface="Calibri"/>
                <a:cs typeface="Calibri"/>
              </a:rPr>
              <a:t> </a:t>
            </a:r>
            <a:r>
              <a:rPr sz="1900" dirty="0">
                <a:latin typeface="Calibri"/>
                <a:cs typeface="Calibri"/>
              </a:rPr>
              <a:t>8:00</a:t>
            </a:r>
            <a:r>
              <a:rPr sz="1900" spc="-40" dirty="0">
                <a:latin typeface="Calibri"/>
                <a:cs typeface="Calibri"/>
              </a:rPr>
              <a:t> </a:t>
            </a:r>
            <a:r>
              <a:rPr sz="1900" dirty="0">
                <a:latin typeface="Calibri"/>
                <a:cs typeface="Calibri"/>
              </a:rPr>
              <a:t>pm</a:t>
            </a:r>
            <a:r>
              <a:rPr sz="1900" spc="-45" dirty="0">
                <a:latin typeface="Calibri"/>
                <a:cs typeface="Calibri"/>
              </a:rPr>
              <a:t> </a:t>
            </a:r>
            <a:r>
              <a:rPr sz="1900" dirty="0">
                <a:latin typeface="Calibri"/>
                <a:cs typeface="Calibri"/>
              </a:rPr>
              <a:t>-</a:t>
            </a:r>
            <a:r>
              <a:rPr sz="1900" spc="-30" dirty="0">
                <a:latin typeface="Calibri"/>
                <a:cs typeface="Calibri"/>
              </a:rPr>
              <a:t> </a:t>
            </a:r>
            <a:r>
              <a:rPr sz="1900" dirty="0">
                <a:latin typeface="Calibri"/>
                <a:cs typeface="Calibri"/>
              </a:rPr>
              <a:t>5:00</a:t>
            </a:r>
            <a:r>
              <a:rPr sz="1900" spc="-40" dirty="0">
                <a:latin typeface="Calibri"/>
                <a:cs typeface="Calibri"/>
              </a:rPr>
              <a:t> </a:t>
            </a:r>
            <a:r>
              <a:rPr sz="1900" spc="-25" dirty="0">
                <a:latin typeface="Calibri"/>
                <a:cs typeface="Calibri"/>
              </a:rPr>
              <a:t>am.</a:t>
            </a:r>
            <a:endParaRPr sz="1900">
              <a:latin typeface="Calibri"/>
              <a:cs typeface="Calibri"/>
            </a:endParaRPr>
          </a:p>
          <a:p>
            <a:pPr marL="848994" lvl="2" indent="-255270">
              <a:lnSpc>
                <a:spcPts val="2100"/>
              </a:lnSpc>
              <a:buFont typeface="Wingdings"/>
              <a:buChar char=""/>
              <a:tabLst>
                <a:tab pos="848994" algn="l"/>
              </a:tabLst>
            </a:pPr>
            <a:r>
              <a:rPr sz="1900" spc="-10" dirty="0">
                <a:latin typeface="Calibri"/>
                <a:cs typeface="Calibri"/>
              </a:rPr>
              <a:t>System</a:t>
            </a:r>
            <a:r>
              <a:rPr sz="1900" spc="-50" dirty="0">
                <a:latin typeface="Calibri"/>
                <a:cs typeface="Calibri"/>
              </a:rPr>
              <a:t> </a:t>
            </a:r>
            <a:r>
              <a:rPr sz="1900" spc="-10" dirty="0">
                <a:latin typeface="Calibri"/>
                <a:cs typeface="Calibri"/>
              </a:rPr>
              <a:t>maintenance</a:t>
            </a:r>
            <a:r>
              <a:rPr sz="1900" spc="-35" dirty="0">
                <a:latin typeface="Calibri"/>
                <a:cs typeface="Calibri"/>
              </a:rPr>
              <a:t> </a:t>
            </a:r>
            <a:r>
              <a:rPr sz="1900" dirty="0">
                <a:latin typeface="Calibri"/>
                <a:cs typeface="Calibri"/>
              </a:rPr>
              <a:t>and</a:t>
            </a:r>
            <a:r>
              <a:rPr sz="1900" spc="-35" dirty="0">
                <a:latin typeface="Calibri"/>
                <a:cs typeface="Calibri"/>
              </a:rPr>
              <a:t> </a:t>
            </a:r>
            <a:r>
              <a:rPr sz="1900" dirty="0">
                <a:latin typeface="Calibri"/>
                <a:cs typeface="Calibri"/>
              </a:rPr>
              <a:t>repair</a:t>
            </a:r>
            <a:r>
              <a:rPr sz="1900" spc="-45" dirty="0">
                <a:latin typeface="Calibri"/>
                <a:cs typeface="Calibri"/>
              </a:rPr>
              <a:t> </a:t>
            </a:r>
            <a:r>
              <a:rPr sz="1900" dirty="0">
                <a:latin typeface="Calibri"/>
                <a:cs typeface="Calibri"/>
              </a:rPr>
              <a:t>will</a:t>
            </a:r>
            <a:r>
              <a:rPr sz="1900" spc="-35" dirty="0">
                <a:latin typeface="Calibri"/>
                <a:cs typeface="Calibri"/>
              </a:rPr>
              <a:t> </a:t>
            </a:r>
            <a:r>
              <a:rPr sz="1900" dirty="0">
                <a:latin typeface="Calibri"/>
                <a:cs typeface="Calibri"/>
              </a:rPr>
              <a:t>be</a:t>
            </a:r>
            <a:r>
              <a:rPr sz="1900" spc="-40" dirty="0">
                <a:latin typeface="Calibri"/>
                <a:cs typeface="Calibri"/>
              </a:rPr>
              <a:t> </a:t>
            </a:r>
            <a:r>
              <a:rPr sz="1900" dirty="0">
                <a:latin typeface="Calibri"/>
                <a:cs typeface="Calibri"/>
              </a:rPr>
              <a:t>done</a:t>
            </a:r>
            <a:r>
              <a:rPr sz="1900" spc="-40" dirty="0">
                <a:latin typeface="Calibri"/>
                <a:cs typeface="Calibri"/>
              </a:rPr>
              <a:t> </a:t>
            </a:r>
            <a:r>
              <a:rPr sz="1900" dirty="0">
                <a:latin typeface="Calibri"/>
                <a:cs typeface="Calibri"/>
              </a:rPr>
              <a:t>only</a:t>
            </a:r>
            <a:r>
              <a:rPr sz="1900" spc="-35" dirty="0">
                <a:latin typeface="Calibri"/>
                <a:cs typeface="Calibri"/>
              </a:rPr>
              <a:t> </a:t>
            </a:r>
            <a:r>
              <a:rPr sz="1900" dirty="0">
                <a:latin typeface="Calibri"/>
                <a:cs typeface="Calibri"/>
              </a:rPr>
              <a:t>up</a:t>
            </a:r>
            <a:r>
              <a:rPr sz="1900" spc="-40" dirty="0">
                <a:latin typeface="Calibri"/>
                <a:cs typeface="Calibri"/>
              </a:rPr>
              <a:t> </a:t>
            </a:r>
            <a:r>
              <a:rPr sz="1900" dirty="0">
                <a:latin typeface="Calibri"/>
                <a:cs typeface="Calibri"/>
              </a:rPr>
              <a:t>to</a:t>
            </a:r>
            <a:r>
              <a:rPr sz="1900" spc="-45" dirty="0">
                <a:latin typeface="Calibri"/>
                <a:cs typeface="Calibri"/>
              </a:rPr>
              <a:t> </a:t>
            </a:r>
            <a:r>
              <a:rPr sz="1900" dirty="0">
                <a:latin typeface="Calibri"/>
                <a:cs typeface="Calibri"/>
              </a:rPr>
              <a:t>one</a:t>
            </a:r>
            <a:r>
              <a:rPr sz="1900" spc="-30" dirty="0">
                <a:latin typeface="Calibri"/>
                <a:cs typeface="Calibri"/>
              </a:rPr>
              <a:t> </a:t>
            </a:r>
            <a:r>
              <a:rPr sz="1900" dirty="0">
                <a:latin typeface="Calibri"/>
                <a:cs typeface="Calibri"/>
              </a:rPr>
              <a:t>month</a:t>
            </a:r>
            <a:r>
              <a:rPr sz="1900" spc="-40" dirty="0">
                <a:latin typeface="Calibri"/>
                <a:cs typeface="Calibri"/>
              </a:rPr>
              <a:t> </a:t>
            </a:r>
            <a:r>
              <a:rPr sz="1900" dirty="0">
                <a:latin typeface="Calibri"/>
                <a:cs typeface="Calibri"/>
              </a:rPr>
              <a:t>after</a:t>
            </a:r>
            <a:r>
              <a:rPr sz="1900" spc="-35" dirty="0">
                <a:latin typeface="Calibri"/>
                <a:cs typeface="Calibri"/>
              </a:rPr>
              <a:t> </a:t>
            </a:r>
            <a:r>
              <a:rPr sz="1900" dirty="0">
                <a:latin typeface="Calibri"/>
                <a:cs typeface="Calibri"/>
              </a:rPr>
              <a:t>final</a:t>
            </a:r>
            <a:r>
              <a:rPr sz="1900" spc="-40" dirty="0">
                <a:latin typeface="Calibri"/>
                <a:cs typeface="Calibri"/>
              </a:rPr>
              <a:t> </a:t>
            </a:r>
            <a:r>
              <a:rPr sz="1900" spc="-10" dirty="0">
                <a:latin typeface="Calibri"/>
                <a:cs typeface="Calibri"/>
              </a:rPr>
              <a:t>inspection.</a:t>
            </a:r>
            <a:endParaRPr sz="1900">
              <a:latin typeface="Calibri"/>
              <a:cs typeface="Calibri"/>
            </a:endParaRPr>
          </a:p>
          <a:p>
            <a:pPr marL="848994" lvl="2" indent="-255270">
              <a:lnSpc>
                <a:spcPts val="2195"/>
              </a:lnSpc>
              <a:buFont typeface="Wingdings"/>
              <a:buChar char=""/>
              <a:tabLst>
                <a:tab pos="848994" algn="l"/>
              </a:tabLst>
            </a:pPr>
            <a:r>
              <a:rPr sz="1900" dirty="0">
                <a:latin typeface="Calibri"/>
                <a:cs typeface="Calibri"/>
              </a:rPr>
              <a:t>Client</a:t>
            </a:r>
            <a:r>
              <a:rPr sz="1900" spc="-55" dirty="0">
                <a:latin typeface="Calibri"/>
                <a:cs typeface="Calibri"/>
              </a:rPr>
              <a:t> </a:t>
            </a:r>
            <a:r>
              <a:rPr sz="1900" dirty="0">
                <a:latin typeface="Calibri"/>
                <a:cs typeface="Calibri"/>
              </a:rPr>
              <a:t>will</a:t>
            </a:r>
            <a:r>
              <a:rPr sz="1900" spc="-50" dirty="0">
                <a:latin typeface="Calibri"/>
                <a:cs typeface="Calibri"/>
              </a:rPr>
              <a:t> </a:t>
            </a:r>
            <a:r>
              <a:rPr sz="1900" dirty="0">
                <a:latin typeface="Calibri"/>
                <a:cs typeface="Calibri"/>
              </a:rPr>
              <a:t>be</a:t>
            </a:r>
            <a:r>
              <a:rPr sz="1900" spc="-55" dirty="0">
                <a:latin typeface="Calibri"/>
                <a:cs typeface="Calibri"/>
              </a:rPr>
              <a:t> </a:t>
            </a:r>
            <a:r>
              <a:rPr sz="1900" dirty="0">
                <a:latin typeface="Calibri"/>
                <a:cs typeface="Calibri"/>
              </a:rPr>
              <a:t>billed</a:t>
            </a:r>
            <a:r>
              <a:rPr sz="1900" spc="-60" dirty="0">
                <a:latin typeface="Calibri"/>
                <a:cs typeface="Calibri"/>
              </a:rPr>
              <a:t> </a:t>
            </a:r>
            <a:r>
              <a:rPr sz="1900" dirty="0">
                <a:latin typeface="Calibri"/>
                <a:cs typeface="Calibri"/>
              </a:rPr>
              <a:t>for</a:t>
            </a:r>
            <a:r>
              <a:rPr sz="1900" spc="-50" dirty="0">
                <a:latin typeface="Calibri"/>
                <a:cs typeface="Calibri"/>
              </a:rPr>
              <a:t> </a:t>
            </a:r>
            <a:r>
              <a:rPr sz="1900" dirty="0">
                <a:latin typeface="Calibri"/>
                <a:cs typeface="Calibri"/>
              </a:rPr>
              <a:t>additional</a:t>
            </a:r>
            <a:r>
              <a:rPr sz="1900" spc="-50" dirty="0">
                <a:latin typeface="Calibri"/>
                <a:cs typeface="Calibri"/>
              </a:rPr>
              <a:t> </a:t>
            </a:r>
            <a:r>
              <a:rPr sz="1900" dirty="0">
                <a:latin typeface="Calibri"/>
                <a:cs typeface="Calibri"/>
              </a:rPr>
              <a:t>training</a:t>
            </a:r>
            <a:r>
              <a:rPr sz="1900" spc="-55" dirty="0">
                <a:latin typeface="Calibri"/>
                <a:cs typeface="Calibri"/>
              </a:rPr>
              <a:t> </a:t>
            </a:r>
            <a:r>
              <a:rPr sz="1900" dirty="0">
                <a:latin typeface="Calibri"/>
                <a:cs typeface="Calibri"/>
              </a:rPr>
              <a:t>beyond</a:t>
            </a:r>
            <a:r>
              <a:rPr sz="1900" spc="-50" dirty="0">
                <a:latin typeface="Calibri"/>
                <a:cs typeface="Calibri"/>
              </a:rPr>
              <a:t> </a:t>
            </a:r>
            <a:r>
              <a:rPr sz="1900" dirty="0">
                <a:latin typeface="Calibri"/>
                <a:cs typeface="Calibri"/>
              </a:rPr>
              <a:t>that</a:t>
            </a:r>
            <a:r>
              <a:rPr sz="1900" spc="-50" dirty="0">
                <a:latin typeface="Calibri"/>
                <a:cs typeface="Calibri"/>
              </a:rPr>
              <a:t> </a:t>
            </a:r>
            <a:r>
              <a:rPr sz="1900" spc="-10" dirty="0">
                <a:latin typeface="Calibri"/>
                <a:cs typeface="Calibri"/>
              </a:rPr>
              <a:t>prescribed</a:t>
            </a:r>
            <a:r>
              <a:rPr sz="1900" spc="-60" dirty="0">
                <a:latin typeface="Calibri"/>
                <a:cs typeface="Calibri"/>
              </a:rPr>
              <a:t> </a:t>
            </a:r>
            <a:r>
              <a:rPr sz="1900" dirty="0">
                <a:latin typeface="Calibri"/>
                <a:cs typeface="Calibri"/>
              </a:rPr>
              <a:t>in</a:t>
            </a:r>
            <a:r>
              <a:rPr sz="1900" spc="-50" dirty="0">
                <a:latin typeface="Calibri"/>
                <a:cs typeface="Calibri"/>
              </a:rPr>
              <a:t> </a:t>
            </a:r>
            <a:r>
              <a:rPr sz="1900" dirty="0">
                <a:latin typeface="Calibri"/>
                <a:cs typeface="Calibri"/>
              </a:rPr>
              <a:t>the</a:t>
            </a:r>
            <a:r>
              <a:rPr sz="1900" spc="-50" dirty="0">
                <a:latin typeface="Calibri"/>
                <a:cs typeface="Calibri"/>
              </a:rPr>
              <a:t> </a:t>
            </a:r>
            <a:r>
              <a:rPr sz="1900" spc="-10" dirty="0">
                <a:latin typeface="Calibri"/>
                <a:cs typeface="Calibri"/>
              </a:rPr>
              <a:t>contract.</a:t>
            </a:r>
            <a:endParaRPr sz="1900">
              <a:latin typeface="Calibri"/>
              <a:cs typeface="Calibri"/>
            </a:endParaRPr>
          </a:p>
          <a:p>
            <a:pPr marL="583565" lvl="1" indent="-227965">
              <a:lnSpc>
                <a:spcPct val="100000"/>
              </a:lnSpc>
              <a:spcBef>
                <a:spcPts val="204"/>
              </a:spcBef>
              <a:buFont typeface="Arial MT"/>
              <a:buChar char="•"/>
              <a:tabLst>
                <a:tab pos="583565" algn="l"/>
              </a:tabLst>
            </a:pPr>
            <a:r>
              <a:rPr sz="2200" dirty="0">
                <a:latin typeface="Calibri"/>
                <a:cs typeface="Calibri"/>
              </a:rPr>
              <a:t>Exclusions</a:t>
            </a:r>
            <a:r>
              <a:rPr sz="2200" spc="-45" dirty="0">
                <a:latin typeface="Calibri"/>
                <a:cs typeface="Calibri"/>
              </a:rPr>
              <a:t> </a:t>
            </a:r>
            <a:r>
              <a:rPr sz="2200" dirty="0">
                <a:latin typeface="Calibri"/>
                <a:cs typeface="Calibri"/>
              </a:rPr>
              <a:t>further</a:t>
            </a:r>
            <a:r>
              <a:rPr sz="2200" spc="-45" dirty="0">
                <a:latin typeface="Calibri"/>
                <a:cs typeface="Calibri"/>
              </a:rPr>
              <a:t> </a:t>
            </a:r>
            <a:r>
              <a:rPr sz="2200" dirty="0">
                <a:latin typeface="Calibri"/>
                <a:cs typeface="Calibri"/>
              </a:rPr>
              <a:t>define</a:t>
            </a:r>
            <a:r>
              <a:rPr sz="2200" spc="-45" dirty="0">
                <a:latin typeface="Calibri"/>
                <a:cs typeface="Calibri"/>
              </a:rPr>
              <a:t> </a:t>
            </a:r>
            <a:r>
              <a:rPr sz="2200" dirty="0">
                <a:latin typeface="Calibri"/>
                <a:cs typeface="Calibri"/>
              </a:rPr>
              <a:t>the</a:t>
            </a:r>
            <a:r>
              <a:rPr sz="2200" spc="-35" dirty="0">
                <a:latin typeface="Calibri"/>
                <a:cs typeface="Calibri"/>
              </a:rPr>
              <a:t> </a:t>
            </a:r>
            <a:r>
              <a:rPr sz="2200" dirty="0">
                <a:latin typeface="Calibri"/>
                <a:cs typeface="Calibri"/>
              </a:rPr>
              <a:t>boundary</a:t>
            </a:r>
            <a:r>
              <a:rPr sz="2200" spc="-40" dirty="0">
                <a:latin typeface="Calibri"/>
                <a:cs typeface="Calibri"/>
              </a:rPr>
              <a:t> </a:t>
            </a:r>
            <a:r>
              <a:rPr sz="2200" dirty="0">
                <a:latin typeface="Calibri"/>
                <a:cs typeface="Calibri"/>
              </a:rPr>
              <a:t>of</a:t>
            </a:r>
            <a:r>
              <a:rPr sz="2200" spc="-40" dirty="0">
                <a:latin typeface="Calibri"/>
                <a:cs typeface="Calibri"/>
              </a:rPr>
              <a:t> </a:t>
            </a:r>
            <a:r>
              <a:rPr sz="2200" dirty="0">
                <a:latin typeface="Calibri"/>
                <a:cs typeface="Calibri"/>
              </a:rPr>
              <a:t>the</a:t>
            </a:r>
            <a:r>
              <a:rPr sz="2200" spc="-30" dirty="0">
                <a:latin typeface="Calibri"/>
                <a:cs typeface="Calibri"/>
              </a:rPr>
              <a:t> </a:t>
            </a:r>
            <a:r>
              <a:rPr sz="2200" dirty="0">
                <a:latin typeface="Calibri"/>
                <a:cs typeface="Calibri"/>
              </a:rPr>
              <a:t>project</a:t>
            </a:r>
            <a:r>
              <a:rPr sz="2200" spc="-45" dirty="0">
                <a:latin typeface="Calibri"/>
                <a:cs typeface="Calibri"/>
              </a:rPr>
              <a:t> </a:t>
            </a:r>
            <a:r>
              <a:rPr sz="2200" dirty="0">
                <a:latin typeface="Calibri"/>
                <a:cs typeface="Calibri"/>
              </a:rPr>
              <a:t>by</a:t>
            </a:r>
            <a:r>
              <a:rPr sz="2200" spc="-35" dirty="0">
                <a:latin typeface="Calibri"/>
                <a:cs typeface="Calibri"/>
              </a:rPr>
              <a:t> </a:t>
            </a:r>
            <a:r>
              <a:rPr sz="2200" spc="-10" dirty="0">
                <a:latin typeface="Calibri"/>
                <a:cs typeface="Calibri"/>
              </a:rPr>
              <a:t>stating</a:t>
            </a:r>
            <a:r>
              <a:rPr sz="2200" spc="-40" dirty="0">
                <a:latin typeface="Calibri"/>
                <a:cs typeface="Calibri"/>
              </a:rPr>
              <a:t> </a:t>
            </a:r>
            <a:r>
              <a:rPr sz="2200" dirty="0">
                <a:latin typeface="Calibri"/>
                <a:cs typeface="Calibri"/>
              </a:rPr>
              <a:t>what</a:t>
            </a:r>
            <a:r>
              <a:rPr sz="2200" spc="-40" dirty="0">
                <a:latin typeface="Calibri"/>
                <a:cs typeface="Calibri"/>
              </a:rPr>
              <a:t> </a:t>
            </a:r>
            <a:r>
              <a:rPr sz="2200" dirty="0">
                <a:latin typeface="Calibri"/>
                <a:cs typeface="Calibri"/>
              </a:rPr>
              <a:t>is</a:t>
            </a:r>
            <a:r>
              <a:rPr sz="2200" spc="-45" dirty="0">
                <a:latin typeface="Calibri"/>
                <a:cs typeface="Calibri"/>
              </a:rPr>
              <a:t> </a:t>
            </a:r>
            <a:r>
              <a:rPr sz="2200" dirty="0">
                <a:latin typeface="Calibri"/>
                <a:cs typeface="Calibri"/>
              </a:rPr>
              <a:t>not</a:t>
            </a:r>
            <a:r>
              <a:rPr sz="2200" spc="-40" dirty="0">
                <a:latin typeface="Calibri"/>
                <a:cs typeface="Calibri"/>
              </a:rPr>
              <a:t> </a:t>
            </a:r>
            <a:r>
              <a:rPr sz="2200" spc="-10" dirty="0">
                <a:latin typeface="Calibri"/>
                <a:cs typeface="Calibri"/>
              </a:rPr>
              <a:t>included.</a:t>
            </a:r>
            <a:endParaRPr sz="2200">
              <a:latin typeface="Calibri"/>
              <a:cs typeface="Calibri"/>
            </a:endParaRPr>
          </a:p>
          <a:p>
            <a:pPr marL="583565" lvl="1" indent="-227965">
              <a:lnSpc>
                <a:spcPts val="2575"/>
              </a:lnSpc>
              <a:spcBef>
                <a:spcPts val="170"/>
              </a:spcBef>
              <a:buFont typeface="Arial MT"/>
              <a:buChar char="•"/>
              <a:tabLst>
                <a:tab pos="583565" algn="l"/>
              </a:tabLst>
            </a:pPr>
            <a:r>
              <a:rPr sz="2200" dirty="0">
                <a:latin typeface="Calibri"/>
                <a:cs typeface="Calibri"/>
              </a:rPr>
              <a:t>Examples</a:t>
            </a:r>
            <a:r>
              <a:rPr sz="2200" spc="-100" dirty="0">
                <a:latin typeface="Calibri"/>
                <a:cs typeface="Calibri"/>
              </a:rPr>
              <a:t> </a:t>
            </a:r>
            <a:r>
              <a:rPr sz="2200" spc="-10" dirty="0">
                <a:latin typeface="Calibri"/>
                <a:cs typeface="Calibri"/>
              </a:rPr>
              <a:t>include:</a:t>
            </a:r>
            <a:endParaRPr sz="2200">
              <a:latin typeface="Calibri"/>
              <a:cs typeface="Calibri"/>
            </a:endParaRPr>
          </a:p>
          <a:p>
            <a:pPr marL="847090" lvl="2" indent="-253365">
              <a:lnSpc>
                <a:spcPts val="2120"/>
              </a:lnSpc>
              <a:buFont typeface="Wingdings"/>
              <a:buChar char=""/>
              <a:tabLst>
                <a:tab pos="847090" algn="l"/>
              </a:tabLst>
            </a:pPr>
            <a:r>
              <a:rPr sz="1900" dirty="0">
                <a:latin typeface="Calibri"/>
                <a:cs typeface="Calibri"/>
              </a:rPr>
              <a:t>data</a:t>
            </a:r>
            <a:r>
              <a:rPr sz="1900" spc="-50" dirty="0">
                <a:latin typeface="Calibri"/>
                <a:cs typeface="Calibri"/>
              </a:rPr>
              <a:t> </a:t>
            </a:r>
            <a:r>
              <a:rPr sz="1900" dirty="0">
                <a:latin typeface="Calibri"/>
                <a:cs typeface="Calibri"/>
              </a:rPr>
              <a:t>will</a:t>
            </a:r>
            <a:r>
              <a:rPr sz="1900" spc="-45" dirty="0">
                <a:latin typeface="Calibri"/>
                <a:cs typeface="Calibri"/>
              </a:rPr>
              <a:t> </a:t>
            </a:r>
            <a:r>
              <a:rPr sz="1900" dirty="0">
                <a:latin typeface="Calibri"/>
                <a:cs typeface="Calibri"/>
              </a:rPr>
              <a:t>be</a:t>
            </a:r>
            <a:r>
              <a:rPr sz="1900" spc="-45" dirty="0">
                <a:latin typeface="Calibri"/>
                <a:cs typeface="Calibri"/>
              </a:rPr>
              <a:t> </a:t>
            </a:r>
            <a:r>
              <a:rPr sz="1900" dirty="0">
                <a:latin typeface="Calibri"/>
                <a:cs typeface="Calibri"/>
              </a:rPr>
              <a:t>collected</a:t>
            </a:r>
            <a:r>
              <a:rPr sz="1900" spc="-45" dirty="0">
                <a:latin typeface="Calibri"/>
                <a:cs typeface="Calibri"/>
              </a:rPr>
              <a:t> </a:t>
            </a:r>
            <a:r>
              <a:rPr sz="1900" dirty="0">
                <a:latin typeface="Calibri"/>
                <a:cs typeface="Calibri"/>
              </a:rPr>
              <a:t>by</a:t>
            </a:r>
            <a:r>
              <a:rPr sz="1900" spc="-50" dirty="0">
                <a:latin typeface="Calibri"/>
                <a:cs typeface="Calibri"/>
              </a:rPr>
              <a:t> </a:t>
            </a:r>
            <a:r>
              <a:rPr sz="1900" dirty="0">
                <a:latin typeface="Calibri"/>
                <a:cs typeface="Calibri"/>
              </a:rPr>
              <a:t>the</a:t>
            </a:r>
            <a:r>
              <a:rPr sz="1900" spc="-40" dirty="0">
                <a:latin typeface="Calibri"/>
                <a:cs typeface="Calibri"/>
              </a:rPr>
              <a:t> </a:t>
            </a:r>
            <a:r>
              <a:rPr sz="1900" dirty="0">
                <a:latin typeface="Calibri"/>
                <a:cs typeface="Calibri"/>
              </a:rPr>
              <a:t>client,</a:t>
            </a:r>
            <a:r>
              <a:rPr sz="1900" spc="-45" dirty="0">
                <a:latin typeface="Calibri"/>
                <a:cs typeface="Calibri"/>
              </a:rPr>
              <a:t> </a:t>
            </a:r>
            <a:r>
              <a:rPr sz="1900" dirty="0">
                <a:latin typeface="Calibri"/>
                <a:cs typeface="Calibri"/>
              </a:rPr>
              <a:t>not</a:t>
            </a:r>
            <a:r>
              <a:rPr sz="1900" spc="-50" dirty="0">
                <a:latin typeface="Calibri"/>
                <a:cs typeface="Calibri"/>
              </a:rPr>
              <a:t> </a:t>
            </a:r>
            <a:r>
              <a:rPr sz="1900" dirty="0">
                <a:latin typeface="Calibri"/>
                <a:cs typeface="Calibri"/>
              </a:rPr>
              <a:t>the</a:t>
            </a:r>
            <a:r>
              <a:rPr sz="1900" spc="-40" dirty="0">
                <a:latin typeface="Calibri"/>
                <a:cs typeface="Calibri"/>
              </a:rPr>
              <a:t> </a:t>
            </a:r>
            <a:r>
              <a:rPr sz="1900" spc="-10" dirty="0">
                <a:latin typeface="Calibri"/>
                <a:cs typeface="Calibri"/>
              </a:rPr>
              <a:t>contractor;</a:t>
            </a:r>
            <a:endParaRPr sz="1900">
              <a:latin typeface="Calibri"/>
              <a:cs typeface="Calibri"/>
            </a:endParaRPr>
          </a:p>
          <a:p>
            <a:pPr marL="847090" lvl="2" indent="-253365">
              <a:lnSpc>
                <a:spcPts val="2100"/>
              </a:lnSpc>
              <a:buFont typeface="Wingdings"/>
              <a:buChar char=""/>
              <a:tabLst>
                <a:tab pos="847090" algn="l"/>
              </a:tabLst>
            </a:pPr>
            <a:r>
              <a:rPr sz="1900" dirty="0">
                <a:latin typeface="Calibri"/>
                <a:cs typeface="Calibri"/>
              </a:rPr>
              <a:t>A</a:t>
            </a:r>
            <a:r>
              <a:rPr sz="1900" spc="-40" dirty="0">
                <a:latin typeface="Calibri"/>
                <a:cs typeface="Calibri"/>
              </a:rPr>
              <a:t> </a:t>
            </a:r>
            <a:r>
              <a:rPr sz="1900" dirty="0">
                <a:latin typeface="Calibri"/>
                <a:cs typeface="Calibri"/>
              </a:rPr>
              <a:t>house</a:t>
            </a:r>
            <a:r>
              <a:rPr sz="1900" spc="-25" dirty="0">
                <a:latin typeface="Calibri"/>
                <a:cs typeface="Calibri"/>
              </a:rPr>
              <a:t> </a:t>
            </a:r>
            <a:r>
              <a:rPr sz="1900" dirty="0">
                <a:latin typeface="Calibri"/>
                <a:cs typeface="Calibri"/>
              </a:rPr>
              <a:t>will</a:t>
            </a:r>
            <a:r>
              <a:rPr sz="1900" spc="-25" dirty="0">
                <a:latin typeface="Calibri"/>
                <a:cs typeface="Calibri"/>
              </a:rPr>
              <a:t> </a:t>
            </a:r>
            <a:r>
              <a:rPr sz="1900" dirty="0">
                <a:latin typeface="Calibri"/>
                <a:cs typeface="Calibri"/>
              </a:rPr>
              <a:t>be</a:t>
            </a:r>
            <a:r>
              <a:rPr sz="1900" spc="-30" dirty="0">
                <a:latin typeface="Calibri"/>
                <a:cs typeface="Calibri"/>
              </a:rPr>
              <a:t> </a:t>
            </a:r>
            <a:r>
              <a:rPr sz="1900" dirty="0">
                <a:latin typeface="Calibri"/>
                <a:cs typeface="Calibri"/>
              </a:rPr>
              <a:t>built,</a:t>
            </a:r>
            <a:r>
              <a:rPr sz="1900" spc="-30" dirty="0">
                <a:latin typeface="Calibri"/>
                <a:cs typeface="Calibri"/>
              </a:rPr>
              <a:t> </a:t>
            </a:r>
            <a:r>
              <a:rPr sz="1900" dirty="0">
                <a:latin typeface="Calibri"/>
                <a:cs typeface="Calibri"/>
              </a:rPr>
              <a:t>but</a:t>
            </a:r>
            <a:r>
              <a:rPr sz="1900" spc="-25" dirty="0">
                <a:latin typeface="Calibri"/>
                <a:cs typeface="Calibri"/>
              </a:rPr>
              <a:t> </a:t>
            </a:r>
            <a:r>
              <a:rPr sz="1900" dirty="0">
                <a:latin typeface="Calibri"/>
                <a:cs typeface="Calibri"/>
              </a:rPr>
              <a:t>no</a:t>
            </a:r>
            <a:r>
              <a:rPr sz="1900" spc="-30" dirty="0">
                <a:latin typeface="Calibri"/>
                <a:cs typeface="Calibri"/>
              </a:rPr>
              <a:t> </a:t>
            </a:r>
            <a:r>
              <a:rPr sz="1900" spc="-10" dirty="0">
                <a:latin typeface="Calibri"/>
                <a:cs typeface="Calibri"/>
              </a:rPr>
              <a:t>landscaping</a:t>
            </a:r>
            <a:r>
              <a:rPr sz="1900" spc="-30" dirty="0">
                <a:latin typeface="Calibri"/>
                <a:cs typeface="Calibri"/>
              </a:rPr>
              <a:t> </a:t>
            </a:r>
            <a:r>
              <a:rPr sz="1900" dirty="0">
                <a:latin typeface="Calibri"/>
                <a:cs typeface="Calibri"/>
              </a:rPr>
              <a:t>or</a:t>
            </a:r>
            <a:r>
              <a:rPr sz="1900" spc="-30" dirty="0">
                <a:latin typeface="Calibri"/>
                <a:cs typeface="Calibri"/>
              </a:rPr>
              <a:t> </a:t>
            </a:r>
            <a:r>
              <a:rPr sz="1900" dirty="0">
                <a:latin typeface="Calibri"/>
                <a:cs typeface="Calibri"/>
              </a:rPr>
              <a:t>security</a:t>
            </a:r>
            <a:r>
              <a:rPr sz="1900" spc="-25" dirty="0">
                <a:latin typeface="Calibri"/>
                <a:cs typeface="Calibri"/>
              </a:rPr>
              <a:t> </a:t>
            </a:r>
            <a:r>
              <a:rPr sz="1900" dirty="0">
                <a:latin typeface="Calibri"/>
                <a:cs typeface="Calibri"/>
              </a:rPr>
              <a:t>devices</a:t>
            </a:r>
            <a:r>
              <a:rPr sz="1900" spc="-40" dirty="0">
                <a:latin typeface="Calibri"/>
                <a:cs typeface="Calibri"/>
              </a:rPr>
              <a:t> </a:t>
            </a:r>
            <a:r>
              <a:rPr sz="1900" spc="-10" dirty="0">
                <a:latin typeface="Calibri"/>
                <a:cs typeface="Calibri"/>
              </a:rPr>
              <a:t>added.</a:t>
            </a:r>
            <a:endParaRPr sz="1900">
              <a:latin typeface="Calibri"/>
              <a:cs typeface="Calibri"/>
            </a:endParaRPr>
          </a:p>
          <a:p>
            <a:pPr marL="847090" lvl="2" indent="-253365">
              <a:lnSpc>
                <a:spcPts val="2195"/>
              </a:lnSpc>
              <a:buFont typeface="Wingdings"/>
              <a:buChar char=""/>
              <a:tabLst>
                <a:tab pos="847090" algn="l"/>
              </a:tabLst>
            </a:pPr>
            <a:r>
              <a:rPr sz="1900" spc="-10" dirty="0">
                <a:latin typeface="Calibri"/>
                <a:cs typeface="Calibri"/>
              </a:rPr>
              <a:t>Software</a:t>
            </a:r>
            <a:r>
              <a:rPr sz="1900" spc="-35" dirty="0">
                <a:latin typeface="Calibri"/>
                <a:cs typeface="Calibri"/>
              </a:rPr>
              <a:t> </a:t>
            </a:r>
            <a:r>
              <a:rPr sz="1900" dirty="0">
                <a:latin typeface="Calibri"/>
                <a:cs typeface="Calibri"/>
              </a:rPr>
              <a:t>will</a:t>
            </a:r>
            <a:r>
              <a:rPr sz="1900" spc="-35" dirty="0">
                <a:latin typeface="Calibri"/>
                <a:cs typeface="Calibri"/>
              </a:rPr>
              <a:t> </a:t>
            </a:r>
            <a:r>
              <a:rPr sz="1900" dirty="0">
                <a:latin typeface="Calibri"/>
                <a:cs typeface="Calibri"/>
              </a:rPr>
              <a:t>be</a:t>
            </a:r>
            <a:r>
              <a:rPr sz="1900" spc="-30" dirty="0">
                <a:latin typeface="Calibri"/>
                <a:cs typeface="Calibri"/>
              </a:rPr>
              <a:t> </a:t>
            </a:r>
            <a:r>
              <a:rPr sz="1900" spc="-10" dirty="0">
                <a:latin typeface="Calibri"/>
                <a:cs typeface="Calibri"/>
              </a:rPr>
              <a:t>installed,</a:t>
            </a:r>
            <a:r>
              <a:rPr sz="1900" spc="-45" dirty="0">
                <a:latin typeface="Calibri"/>
                <a:cs typeface="Calibri"/>
              </a:rPr>
              <a:t> </a:t>
            </a:r>
            <a:r>
              <a:rPr sz="1900" dirty="0">
                <a:latin typeface="Calibri"/>
                <a:cs typeface="Calibri"/>
              </a:rPr>
              <a:t>but</a:t>
            </a:r>
            <a:r>
              <a:rPr sz="1900" spc="-35" dirty="0">
                <a:latin typeface="Calibri"/>
                <a:cs typeface="Calibri"/>
              </a:rPr>
              <a:t> </a:t>
            </a:r>
            <a:r>
              <a:rPr sz="1900" dirty="0">
                <a:latin typeface="Calibri"/>
                <a:cs typeface="Calibri"/>
              </a:rPr>
              <a:t>no</a:t>
            </a:r>
            <a:r>
              <a:rPr sz="1900" spc="-35" dirty="0">
                <a:latin typeface="Calibri"/>
                <a:cs typeface="Calibri"/>
              </a:rPr>
              <a:t> </a:t>
            </a:r>
            <a:r>
              <a:rPr sz="1900" dirty="0">
                <a:latin typeface="Calibri"/>
                <a:cs typeface="Calibri"/>
              </a:rPr>
              <a:t>training</a:t>
            </a:r>
            <a:r>
              <a:rPr sz="1900" spc="-35" dirty="0">
                <a:latin typeface="Calibri"/>
                <a:cs typeface="Calibri"/>
              </a:rPr>
              <a:t> </a:t>
            </a:r>
            <a:r>
              <a:rPr sz="1900" spc="-10" dirty="0">
                <a:latin typeface="Calibri"/>
                <a:cs typeface="Calibri"/>
              </a:rPr>
              <a:t>given.</a:t>
            </a:r>
            <a:endParaRPr sz="1900">
              <a:latin typeface="Calibri"/>
              <a:cs typeface="Calibri"/>
            </a:endParaRPr>
          </a:p>
          <a:p>
            <a:pPr marL="402590" indent="-389890">
              <a:lnSpc>
                <a:spcPct val="100000"/>
              </a:lnSpc>
              <a:spcBef>
                <a:spcPts val="204"/>
              </a:spcBef>
              <a:buAutoNum type="arabicPeriod" startAt="5"/>
              <a:tabLst>
                <a:tab pos="402590" algn="l"/>
              </a:tabLst>
            </a:pPr>
            <a:r>
              <a:rPr sz="2200" b="1" dirty="0">
                <a:solidFill>
                  <a:srgbClr val="262EA4"/>
                </a:solidFill>
                <a:latin typeface="Calibri"/>
                <a:cs typeface="Calibri"/>
              </a:rPr>
              <a:t>Reviews</a:t>
            </a:r>
            <a:r>
              <a:rPr sz="2200" b="1" spc="-70" dirty="0">
                <a:solidFill>
                  <a:srgbClr val="262EA4"/>
                </a:solidFill>
                <a:latin typeface="Calibri"/>
                <a:cs typeface="Calibri"/>
              </a:rPr>
              <a:t> </a:t>
            </a:r>
            <a:r>
              <a:rPr sz="2200" b="1" dirty="0">
                <a:solidFill>
                  <a:srgbClr val="262EA4"/>
                </a:solidFill>
                <a:latin typeface="Calibri"/>
                <a:cs typeface="Calibri"/>
              </a:rPr>
              <a:t>with</a:t>
            </a:r>
            <a:r>
              <a:rPr sz="2200" b="1" spc="-70" dirty="0">
                <a:solidFill>
                  <a:srgbClr val="262EA4"/>
                </a:solidFill>
                <a:latin typeface="Calibri"/>
                <a:cs typeface="Calibri"/>
              </a:rPr>
              <a:t> </a:t>
            </a:r>
            <a:r>
              <a:rPr sz="2200" b="1" spc="-10" dirty="0">
                <a:solidFill>
                  <a:srgbClr val="262EA4"/>
                </a:solidFill>
                <a:latin typeface="Calibri"/>
                <a:cs typeface="Calibri"/>
              </a:rPr>
              <a:t>customer:</a:t>
            </a:r>
            <a:endParaRPr sz="2200">
              <a:latin typeface="Calibri"/>
              <a:cs typeface="Calibri"/>
            </a:endParaRPr>
          </a:p>
        </p:txBody>
      </p:sp>
      <p:sp>
        <p:nvSpPr>
          <p:cNvPr id="3" name="object 3"/>
          <p:cNvSpPr txBox="1"/>
          <p:nvPr/>
        </p:nvSpPr>
        <p:spPr>
          <a:xfrm>
            <a:off x="1286510" y="5496052"/>
            <a:ext cx="9988550" cy="360680"/>
          </a:xfrm>
          <a:prstGeom prst="rect">
            <a:avLst/>
          </a:prstGeom>
        </p:spPr>
        <p:txBody>
          <a:bodyPr vert="horz" wrap="square" lIns="0" tIns="12700" rIns="0" bIns="0" rtlCol="0">
            <a:spAutoFit/>
          </a:bodyPr>
          <a:lstStyle/>
          <a:p>
            <a:pPr marL="188595" indent="-175895">
              <a:lnSpc>
                <a:spcPct val="100000"/>
              </a:lnSpc>
              <a:spcBef>
                <a:spcPts val="100"/>
              </a:spcBef>
              <a:buFont typeface="Arial MT"/>
              <a:buChar char="•"/>
              <a:tabLst>
                <a:tab pos="188595" algn="l"/>
              </a:tabLst>
            </a:pPr>
            <a:r>
              <a:rPr sz="2200" dirty="0">
                <a:latin typeface="Calibri"/>
                <a:cs typeface="Calibri"/>
              </a:rPr>
              <a:t>Completion</a:t>
            </a:r>
            <a:r>
              <a:rPr sz="2200" spc="40" dirty="0">
                <a:latin typeface="Calibri"/>
                <a:cs typeface="Calibri"/>
              </a:rPr>
              <a:t> </a:t>
            </a:r>
            <a:r>
              <a:rPr sz="2200" dirty="0">
                <a:latin typeface="Calibri"/>
                <a:cs typeface="Calibri"/>
              </a:rPr>
              <a:t>of</a:t>
            </a:r>
            <a:r>
              <a:rPr sz="2200" spc="50" dirty="0">
                <a:latin typeface="Calibri"/>
                <a:cs typeface="Calibri"/>
              </a:rPr>
              <a:t> </a:t>
            </a:r>
            <a:r>
              <a:rPr sz="2200" dirty="0">
                <a:latin typeface="Calibri"/>
                <a:cs typeface="Calibri"/>
              </a:rPr>
              <a:t>the</a:t>
            </a:r>
            <a:r>
              <a:rPr sz="2200" spc="55" dirty="0">
                <a:latin typeface="Calibri"/>
                <a:cs typeface="Calibri"/>
              </a:rPr>
              <a:t> </a:t>
            </a:r>
            <a:r>
              <a:rPr sz="2200" dirty="0">
                <a:latin typeface="Calibri"/>
                <a:cs typeface="Calibri"/>
              </a:rPr>
              <a:t>scope</a:t>
            </a:r>
            <a:r>
              <a:rPr sz="2200" spc="55" dirty="0">
                <a:latin typeface="Calibri"/>
                <a:cs typeface="Calibri"/>
              </a:rPr>
              <a:t> </a:t>
            </a:r>
            <a:r>
              <a:rPr sz="2200" dirty="0">
                <a:latin typeface="Calibri"/>
                <a:cs typeface="Calibri"/>
              </a:rPr>
              <a:t>checklist</a:t>
            </a:r>
            <a:r>
              <a:rPr sz="2200" spc="40" dirty="0">
                <a:latin typeface="Calibri"/>
                <a:cs typeface="Calibri"/>
              </a:rPr>
              <a:t> </a:t>
            </a:r>
            <a:r>
              <a:rPr sz="2200" dirty="0">
                <a:latin typeface="Calibri"/>
                <a:cs typeface="Calibri"/>
              </a:rPr>
              <a:t>ends</a:t>
            </a:r>
            <a:r>
              <a:rPr sz="2200" spc="50" dirty="0">
                <a:latin typeface="Calibri"/>
                <a:cs typeface="Calibri"/>
              </a:rPr>
              <a:t> </a:t>
            </a:r>
            <a:r>
              <a:rPr sz="2200" dirty="0">
                <a:latin typeface="Calibri"/>
                <a:cs typeface="Calibri"/>
              </a:rPr>
              <a:t>with</a:t>
            </a:r>
            <a:r>
              <a:rPr sz="2200" spc="50" dirty="0">
                <a:latin typeface="Calibri"/>
                <a:cs typeface="Calibri"/>
              </a:rPr>
              <a:t> </a:t>
            </a:r>
            <a:r>
              <a:rPr sz="2200" dirty="0">
                <a:latin typeface="Calibri"/>
                <a:cs typeface="Calibri"/>
              </a:rPr>
              <a:t>a</a:t>
            </a:r>
            <a:r>
              <a:rPr sz="2200" spc="40" dirty="0">
                <a:latin typeface="Calibri"/>
                <a:cs typeface="Calibri"/>
              </a:rPr>
              <a:t> </a:t>
            </a:r>
            <a:r>
              <a:rPr sz="2200" dirty="0">
                <a:latin typeface="Calibri"/>
                <a:cs typeface="Calibri"/>
              </a:rPr>
              <a:t>review</a:t>
            </a:r>
            <a:r>
              <a:rPr sz="2200" spc="50" dirty="0">
                <a:latin typeface="Calibri"/>
                <a:cs typeface="Calibri"/>
              </a:rPr>
              <a:t> </a:t>
            </a:r>
            <a:r>
              <a:rPr sz="2200" dirty="0">
                <a:latin typeface="Calibri"/>
                <a:cs typeface="Calibri"/>
              </a:rPr>
              <a:t>with</a:t>
            </a:r>
            <a:r>
              <a:rPr sz="2200" spc="45" dirty="0">
                <a:latin typeface="Calibri"/>
                <a:cs typeface="Calibri"/>
              </a:rPr>
              <a:t> </a:t>
            </a:r>
            <a:r>
              <a:rPr sz="2200" dirty="0">
                <a:latin typeface="Calibri"/>
                <a:cs typeface="Calibri"/>
              </a:rPr>
              <a:t>your</a:t>
            </a:r>
            <a:r>
              <a:rPr sz="2200" spc="45" dirty="0">
                <a:latin typeface="Calibri"/>
                <a:cs typeface="Calibri"/>
              </a:rPr>
              <a:t> </a:t>
            </a:r>
            <a:r>
              <a:rPr sz="2200" dirty="0">
                <a:latin typeface="Calibri"/>
                <a:cs typeface="Calibri"/>
              </a:rPr>
              <a:t>customer</a:t>
            </a:r>
            <a:r>
              <a:rPr sz="2200" spc="45" dirty="0">
                <a:latin typeface="Calibri"/>
                <a:cs typeface="Calibri"/>
              </a:rPr>
              <a:t> </a:t>
            </a:r>
            <a:r>
              <a:rPr sz="2200" dirty="0">
                <a:latin typeface="Calibri"/>
                <a:cs typeface="Calibri"/>
              </a:rPr>
              <a:t>(internal</a:t>
            </a:r>
            <a:r>
              <a:rPr sz="2200" spc="45" dirty="0">
                <a:latin typeface="Calibri"/>
                <a:cs typeface="Calibri"/>
              </a:rPr>
              <a:t> </a:t>
            </a:r>
            <a:r>
              <a:rPr sz="2200" spc="-25" dirty="0">
                <a:latin typeface="Calibri"/>
                <a:cs typeface="Calibri"/>
              </a:rPr>
              <a:t>or</a:t>
            </a:r>
            <a:endParaRPr sz="2200">
              <a:latin typeface="Calibri"/>
              <a:cs typeface="Calibri"/>
            </a:endParaRPr>
          </a:p>
        </p:txBody>
      </p:sp>
      <p:sp>
        <p:nvSpPr>
          <p:cNvPr id="4" name="object 4"/>
          <p:cNvSpPr txBox="1"/>
          <p:nvPr/>
        </p:nvSpPr>
        <p:spPr>
          <a:xfrm>
            <a:off x="1463039" y="5724652"/>
            <a:ext cx="1107440" cy="360680"/>
          </a:xfrm>
          <a:prstGeom prst="rect">
            <a:avLst/>
          </a:prstGeom>
        </p:spPr>
        <p:txBody>
          <a:bodyPr vert="horz" wrap="square" lIns="0" tIns="12700" rIns="0" bIns="0" rtlCol="0">
            <a:spAutoFit/>
          </a:bodyPr>
          <a:lstStyle/>
          <a:p>
            <a:pPr marL="12700">
              <a:lnSpc>
                <a:spcPct val="100000"/>
              </a:lnSpc>
              <a:spcBef>
                <a:spcPts val="100"/>
              </a:spcBef>
            </a:pPr>
            <a:r>
              <a:rPr sz="2200" spc="-10" dirty="0">
                <a:latin typeface="Calibri"/>
                <a:cs typeface="Calibri"/>
              </a:rPr>
              <a:t>external).</a:t>
            </a:r>
            <a:endParaRPr sz="2200">
              <a:latin typeface="Calibri"/>
              <a:cs typeface="Calibri"/>
            </a:endParaRPr>
          </a:p>
        </p:txBody>
      </p:sp>
      <p:sp>
        <p:nvSpPr>
          <p:cNvPr id="5" name="object 5"/>
          <p:cNvSpPr txBox="1"/>
          <p:nvPr/>
        </p:nvSpPr>
        <p:spPr>
          <a:xfrm>
            <a:off x="1286510" y="6093459"/>
            <a:ext cx="9987915" cy="360680"/>
          </a:xfrm>
          <a:prstGeom prst="rect">
            <a:avLst/>
          </a:prstGeom>
        </p:spPr>
        <p:txBody>
          <a:bodyPr vert="horz" wrap="square" lIns="0" tIns="12700" rIns="0" bIns="0" rtlCol="0">
            <a:spAutoFit/>
          </a:bodyPr>
          <a:lstStyle/>
          <a:p>
            <a:pPr marL="188595" indent="-175895">
              <a:lnSpc>
                <a:spcPct val="100000"/>
              </a:lnSpc>
              <a:spcBef>
                <a:spcPts val="100"/>
              </a:spcBef>
              <a:buFont typeface="Arial MT"/>
              <a:buChar char="•"/>
              <a:tabLst>
                <a:tab pos="188595" algn="l"/>
                <a:tab pos="753745" algn="l"/>
                <a:tab pos="1462405" algn="l"/>
                <a:tab pos="2513965" algn="l"/>
                <a:tab pos="2828925" algn="l"/>
                <a:tab pos="3350895" algn="l"/>
                <a:tab pos="5126355" algn="l"/>
                <a:tab pos="5694045" algn="l"/>
                <a:tab pos="7074534" algn="l"/>
                <a:tab pos="7455534" algn="l"/>
                <a:tab pos="7977505" algn="l"/>
                <a:tab pos="8816340" algn="l"/>
              </a:tabLst>
            </a:pPr>
            <a:r>
              <a:rPr sz="2200" spc="-25" dirty="0">
                <a:latin typeface="Calibri"/>
                <a:cs typeface="Calibri"/>
              </a:rPr>
              <a:t>The</a:t>
            </a:r>
            <a:r>
              <a:rPr sz="2200" dirty="0">
                <a:latin typeface="Calibri"/>
                <a:cs typeface="Calibri"/>
              </a:rPr>
              <a:t>	</a:t>
            </a:r>
            <a:r>
              <a:rPr sz="2200" spc="-20" dirty="0">
                <a:latin typeface="Calibri"/>
                <a:cs typeface="Calibri"/>
              </a:rPr>
              <a:t>main</a:t>
            </a:r>
            <a:r>
              <a:rPr sz="2200" dirty="0">
                <a:latin typeface="Calibri"/>
                <a:cs typeface="Calibri"/>
              </a:rPr>
              <a:t>	</a:t>
            </a:r>
            <a:r>
              <a:rPr sz="2200" spc="-10" dirty="0">
                <a:latin typeface="Calibri"/>
                <a:cs typeface="Calibri"/>
              </a:rPr>
              <a:t>concern</a:t>
            </a:r>
            <a:r>
              <a:rPr sz="2200" dirty="0">
                <a:latin typeface="Calibri"/>
                <a:cs typeface="Calibri"/>
              </a:rPr>
              <a:t>	</a:t>
            </a:r>
            <a:r>
              <a:rPr sz="2200" spc="-25" dirty="0">
                <a:latin typeface="Calibri"/>
                <a:cs typeface="Calibri"/>
              </a:rPr>
              <a:t>is</a:t>
            </a:r>
            <a:r>
              <a:rPr sz="2200" dirty="0">
                <a:latin typeface="Calibri"/>
                <a:cs typeface="Calibri"/>
              </a:rPr>
              <a:t>	</a:t>
            </a:r>
            <a:r>
              <a:rPr sz="2200" spc="-25" dirty="0">
                <a:latin typeface="Calibri"/>
                <a:cs typeface="Calibri"/>
              </a:rPr>
              <a:t>the</a:t>
            </a:r>
            <a:r>
              <a:rPr sz="2200" dirty="0">
                <a:latin typeface="Calibri"/>
                <a:cs typeface="Calibri"/>
              </a:rPr>
              <a:t>	</a:t>
            </a:r>
            <a:r>
              <a:rPr sz="2200" spc="-10" dirty="0">
                <a:latin typeface="Calibri"/>
                <a:cs typeface="Calibri"/>
              </a:rPr>
              <a:t>understanding</a:t>
            </a:r>
            <a:r>
              <a:rPr sz="2200" dirty="0">
                <a:latin typeface="Calibri"/>
                <a:cs typeface="Calibri"/>
              </a:rPr>
              <a:t>	</a:t>
            </a:r>
            <a:r>
              <a:rPr sz="2200" spc="-25" dirty="0">
                <a:latin typeface="Calibri"/>
                <a:cs typeface="Calibri"/>
              </a:rPr>
              <a:t>and</a:t>
            </a:r>
            <a:r>
              <a:rPr sz="2200" dirty="0">
                <a:latin typeface="Calibri"/>
                <a:cs typeface="Calibri"/>
              </a:rPr>
              <a:t>	</a:t>
            </a:r>
            <a:r>
              <a:rPr sz="2200" spc="-10" dirty="0">
                <a:latin typeface="Calibri"/>
                <a:cs typeface="Calibri"/>
              </a:rPr>
              <a:t>agreement</a:t>
            </a:r>
            <a:r>
              <a:rPr sz="2200" dirty="0">
                <a:latin typeface="Calibri"/>
                <a:cs typeface="Calibri"/>
              </a:rPr>
              <a:t>	</a:t>
            </a:r>
            <a:r>
              <a:rPr sz="2200" spc="-25" dirty="0">
                <a:latin typeface="Calibri"/>
                <a:cs typeface="Calibri"/>
              </a:rPr>
              <a:t>to</a:t>
            </a:r>
            <a:r>
              <a:rPr sz="2200" dirty="0">
                <a:latin typeface="Calibri"/>
                <a:cs typeface="Calibri"/>
              </a:rPr>
              <a:t>	</a:t>
            </a:r>
            <a:r>
              <a:rPr sz="2200" spc="-25" dirty="0">
                <a:latin typeface="Calibri"/>
                <a:cs typeface="Calibri"/>
              </a:rPr>
              <a:t>the</a:t>
            </a:r>
            <a:r>
              <a:rPr sz="2200" dirty="0">
                <a:latin typeface="Calibri"/>
                <a:cs typeface="Calibri"/>
              </a:rPr>
              <a:t>	</a:t>
            </a:r>
            <a:r>
              <a:rPr sz="2200" spc="-10" dirty="0">
                <a:latin typeface="Calibri"/>
                <a:cs typeface="Calibri"/>
              </a:rPr>
              <a:t>whole</a:t>
            </a:r>
            <a:r>
              <a:rPr sz="2200" dirty="0">
                <a:latin typeface="Calibri"/>
                <a:cs typeface="Calibri"/>
              </a:rPr>
              <a:t>	</a:t>
            </a:r>
            <a:r>
              <a:rPr sz="2200" spc="-10" dirty="0">
                <a:latin typeface="Calibri"/>
                <a:cs typeface="Calibri"/>
              </a:rPr>
              <a:t>document</a:t>
            </a:r>
            <a:endParaRPr sz="2200">
              <a:latin typeface="Calibri"/>
              <a:cs typeface="Calibri"/>
            </a:endParaRPr>
          </a:p>
        </p:txBody>
      </p:sp>
      <p:sp>
        <p:nvSpPr>
          <p:cNvPr id="6" name="object 6"/>
          <p:cNvSpPr txBox="1"/>
          <p:nvPr/>
        </p:nvSpPr>
        <p:spPr>
          <a:xfrm>
            <a:off x="1463039" y="6322059"/>
            <a:ext cx="6690995"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Calibri"/>
                <a:cs typeface="Calibri"/>
              </a:rPr>
              <a:t>between</a:t>
            </a:r>
            <a:r>
              <a:rPr sz="2200" spc="-55" dirty="0">
                <a:latin typeface="Calibri"/>
                <a:cs typeface="Calibri"/>
              </a:rPr>
              <a:t> </a:t>
            </a:r>
            <a:r>
              <a:rPr sz="2200" dirty="0">
                <a:latin typeface="Calibri"/>
                <a:cs typeface="Calibri"/>
              </a:rPr>
              <a:t>both</a:t>
            </a:r>
            <a:r>
              <a:rPr sz="2200" spc="-50" dirty="0">
                <a:latin typeface="Calibri"/>
                <a:cs typeface="Calibri"/>
              </a:rPr>
              <a:t> </a:t>
            </a:r>
            <a:r>
              <a:rPr sz="2200" dirty="0">
                <a:latin typeface="Calibri"/>
                <a:cs typeface="Calibri"/>
              </a:rPr>
              <a:t>parties</a:t>
            </a:r>
            <a:r>
              <a:rPr sz="2200" spc="-45" dirty="0">
                <a:latin typeface="Calibri"/>
                <a:cs typeface="Calibri"/>
              </a:rPr>
              <a:t> </a:t>
            </a:r>
            <a:r>
              <a:rPr sz="2200" dirty="0">
                <a:latin typeface="Calibri"/>
                <a:cs typeface="Calibri"/>
              </a:rPr>
              <a:t>to</a:t>
            </a:r>
            <a:r>
              <a:rPr sz="2200" spc="-40" dirty="0">
                <a:latin typeface="Calibri"/>
                <a:cs typeface="Calibri"/>
              </a:rPr>
              <a:t> </a:t>
            </a:r>
            <a:r>
              <a:rPr sz="2200" dirty="0">
                <a:latin typeface="Calibri"/>
                <a:cs typeface="Calibri"/>
              </a:rPr>
              <a:t>avoid</a:t>
            </a:r>
            <a:r>
              <a:rPr sz="2200" spc="-55" dirty="0">
                <a:latin typeface="Calibri"/>
                <a:cs typeface="Calibri"/>
              </a:rPr>
              <a:t> </a:t>
            </a:r>
            <a:r>
              <a:rPr sz="2200" dirty="0">
                <a:latin typeface="Calibri"/>
                <a:cs typeface="Calibri"/>
              </a:rPr>
              <a:t>claims</a:t>
            </a:r>
            <a:r>
              <a:rPr sz="2200" spc="-45" dirty="0">
                <a:latin typeface="Calibri"/>
                <a:cs typeface="Calibri"/>
              </a:rPr>
              <a:t> </a:t>
            </a:r>
            <a:r>
              <a:rPr sz="2200" dirty="0">
                <a:latin typeface="Calibri"/>
                <a:cs typeface="Calibri"/>
              </a:rPr>
              <a:t>or</a:t>
            </a:r>
            <a:r>
              <a:rPr sz="2200" spc="-50" dirty="0">
                <a:latin typeface="Calibri"/>
                <a:cs typeface="Calibri"/>
              </a:rPr>
              <a:t> </a:t>
            </a:r>
            <a:r>
              <a:rPr sz="2200" spc="-10" dirty="0">
                <a:latin typeface="Calibri"/>
                <a:cs typeface="Calibri"/>
              </a:rPr>
              <a:t>misunderstanding.</a:t>
            </a:r>
            <a:endParaRPr sz="2200">
              <a:latin typeface="Calibri"/>
              <a:cs typeface="Calibri"/>
            </a:endParaRPr>
          </a:p>
        </p:txBody>
      </p:sp>
      <p:sp>
        <p:nvSpPr>
          <p:cNvPr id="7" name="object 7"/>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31</a:t>
            </a:r>
            <a:endParaRPr sz="1200">
              <a:latin typeface="Calibri"/>
              <a:cs typeface="Calibri"/>
            </a:endParaRPr>
          </a:p>
        </p:txBody>
      </p:sp>
      <p:sp>
        <p:nvSpPr>
          <p:cNvPr id="8" name="object 8"/>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Employing a Project Scope Checklist </a:t>
            </a:r>
            <a:r>
              <a:rPr sz="1950" spc="-10" dirty="0"/>
              <a:t>(4/5)</a:t>
            </a:r>
            <a:endParaRPr sz="1950" dirty="0"/>
          </a:p>
        </p:txBody>
      </p:sp>
      <p:pic>
        <p:nvPicPr>
          <p:cNvPr id="9" name="Picture 8">
            <a:extLst>
              <a:ext uri="{FF2B5EF4-FFF2-40B4-BE49-F238E27FC236}">
                <a16:creationId xmlns:a16="http://schemas.microsoft.com/office/drawing/2014/main" id="{D7C81BF1-29A3-8416-6661-0FB62C3613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15600" y="1"/>
            <a:ext cx="1686150" cy="936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19353" y="1608096"/>
            <a:ext cx="6554952" cy="5196115"/>
          </a:xfrm>
          <a:prstGeom prst="rect">
            <a:avLst/>
          </a:prstGeom>
        </p:spPr>
      </p:pic>
      <p:sp>
        <p:nvSpPr>
          <p:cNvPr id="3" name="object 3"/>
          <p:cNvSpPr txBox="1">
            <a:spLocks noGrp="1"/>
          </p:cNvSpPr>
          <p:nvPr>
            <p:ph type="ctr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Employing a Project Scope Checklist </a:t>
            </a:r>
            <a:r>
              <a:rPr sz="1950" spc="-10" dirty="0"/>
              <a:t>(5/5)</a:t>
            </a:r>
            <a:endParaRPr sz="1950" dirty="0"/>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69</a:t>
            </a:fld>
            <a:endParaRPr spc="-25" dirty="0"/>
          </a:p>
        </p:txBody>
      </p:sp>
      <p:sp>
        <p:nvSpPr>
          <p:cNvPr id="4" name="object 4"/>
          <p:cNvSpPr txBox="1"/>
          <p:nvPr/>
        </p:nvSpPr>
        <p:spPr>
          <a:xfrm>
            <a:off x="1173478" y="3445764"/>
            <a:ext cx="1423670" cy="513080"/>
          </a:xfrm>
          <a:prstGeom prst="rect">
            <a:avLst/>
          </a:prstGeom>
        </p:spPr>
        <p:txBody>
          <a:bodyPr vert="horz" wrap="square" lIns="0" tIns="12700" rIns="0" bIns="0" rtlCol="0">
            <a:spAutoFit/>
          </a:bodyPr>
          <a:lstStyle/>
          <a:p>
            <a:pPr marL="12700">
              <a:lnSpc>
                <a:spcPct val="100000"/>
              </a:lnSpc>
              <a:spcBef>
                <a:spcPts val="100"/>
              </a:spcBef>
            </a:pPr>
            <a:r>
              <a:rPr sz="3200" spc="-10" dirty="0">
                <a:latin typeface="Calibri"/>
                <a:cs typeface="Calibri"/>
              </a:rPr>
              <a:t>Example</a:t>
            </a:r>
            <a:endParaRPr sz="3200">
              <a:latin typeface="Calibri"/>
              <a:cs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835403"/>
            <a:ext cx="10358755" cy="3652520"/>
          </a:xfrm>
          <a:prstGeom prst="rect">
            <a:avLst/>
          </a:prstGeom>
        </p:spPr>
        <p:txBody>
          <a:bodyPr vert="horz" wrap="square" lIns="0" tIns="63500" rIns="0" bIns="0" rtlCol="0">
            <a:spAutoFit/>
          </a:bodyPr>
          <a:lstStyle/>
          <a:p>
            <a:pPr marL="527050" marR="5080" indent="-514350" algn="just">
              <a:lnSpc>
                <a:spcPts val="3000"/>
              </a:lnSpc>
              <a:spcBef>
                <a:spcPts val="500"/>
              </a:spcBef>
              <a:buAutoNum type="arabicPeriod"/>
              <a:tabLst>
                <a:tab pos="527050" algn="l"/>
              </a:tabLst>
            </a:pPr>
            <a:r>
              <a:rPr sz="2800" dirty="0">
                <a:latin typeface="Calibri"/>
                <a:cs typeface="Calibri"/>
              </a:rPr>
              <a:t>What</a:t>
            </a:r>
            <a:r>
              <a:rPr sz="2800" spc="315" dirty="0">
                <a:latin typeface="Calibri"/>
                <a:cs typeface="Calibri"/>
              </a:rPr>
              <a:t>  </a:t>
            </a:r>
            <a:r>
              <a:rPr sz="2800" dirty="0">
                <a:latin typeface="Calibri"/>
                <a:cs typeface="Calibri"/>
              </a:rPr>
              <a:t>are</a:t>
            </a:r>
            <a:r>
              <a:rPr sz="2800" spc="315" dirty="0">
                <a:latin typeface="Calibri"/>
                <a:cs typeface="Calibri"/>
              </a:rPr>
              <a:t>  </a:t>
            </a:r>
            <a:r>
              <a:rPr sz="2800" dirty="0">
                <a:latin typeface="Calibri"/>
                <a:cs typeface="Calibri"/>
              </a:rPr>
              <a:t>the</a:t>
            </a:r>
            <a:r>
              <a:rPr sz="2800" spc="315" dirty="0">
                <a:latin typeface="Calibri"/>
                <a:cs typeface="Calibri"/>
              </a:rPr>
              <a:t>  </a:t>
            </a:r>
            <a:r>
              <a:rPr sz="2800" dirty="0">
                <a:latin typeface="Calibri"/>
                <a:cs typeface="Calibri"/>
              </a:rPr>
              <a:t>relative</a:t>
            </a:r>
            <a:r>
              <a:rPr sz="2800" spc="310" dirty="0">
                <a:latin typeface="Calibri"/>
                <a:cs typeface="Calibri"/>
              </a:rPr>
              <a:t>  </a:t>
            </a:r>
            <a:r>
              <a:rPr sz="2800" dirty="0">
                <a:latin typeface="Calibri"/>
                <a:cs typeface="Calibri"/>
              </a:rPr>
              <a:t>advantages</a:t>
            </a:r>
            <a:r>
              <a:rPr sz="2800" spc="315" dirty="0">
                <a:latin typeface="Calibri"/>
                <a:cs typeface="Calibri"/>
              </a:rPr>
              <a:t>  </a:t>
            </a:r>
            <a:r>
              <a:rPr sz="2800" dirty="0">
                <a:latin typeface="Calibri"/>
                <a:cs typeface="Calibri"/>
              </a:rPr>
              <a:t>and</a:t>
            </a:r>
            <a:r>
              <a:rPr sz="2800" spc="320" dirty="0">
                <a:latin typeface="Calibri"/>
                <a:cs typeface="Calibri"/>
              </a:rPr>
              <a:t>  </a:t>
            </a:r>
            <a:r>
              <a:rPr sz="2800" dirty="0">
                <a:latin typeface="Calibri"/>
                <a:cs typeface="Calibri"/>
              </a:rPr>
              <a:t>disadvantages</a:t>
            </a:r>
            <a:r>
              <a:rPr sz="2800" spc="315" dirty="0">
                <a:latin typeface="Calibri"/>
                <a:cs typeface="Calibri"/>
              </a:rPr>
              <a:t>  </a:t>
            </a:r>
            <a:r>
              <a:rPr sz="2800" dirty="0">
                <a:latin typeface="Calibri"/>
                <a:cs typeface="Calibri"/>
              </a:rPr>
              <a:t>of</a:t>
            </a:r>
            <a:r>
              <a:rPr sz="2800" spc="315" dirty="0">
                <a:latin typeface="Calibri"/>
                <a:cs typeface="Calibri"/>
              </a:rPr>
              <a:t>  </a:t>
            </a:r>
            <a:r>
              <a:rPr sz="2800" spc="-25" dirty="0">
                <a:latin typeface="Calibri"/>
                <a:cs typeface="Calibri"/>
              </a:rPr>
              <a:t>the </a:t>
            </a:r>
            <a:r>
              <a:rPr sz="2800" dirty="0">
                <a:latin typeface="Calibri"/>
                <a:cs typeface="Calibri"/>
              </a:rPr>
              <a:t>functional,</a:t>
            </a:r>
            <a:r>
              <a:rPr sz="2800" spc="580" dirty="0">
                <a:latin typeface="Calibri"/>
                <a:cs typeface="Calibri"/>
              </a:rPr>
              <a:t> </a:t>
            </a:r>
            <a:r>
              <a:rPr sz="2800" dirty="0">
                <a:latin typeface="Calibri"/>
                <a:cs typeface="Calibri"/>
              </a:rPr>
              <a:t>matrix,</a:t>
            </a:r>
            <a:r>
              <a:rPr sz="2800" spc="580" dirty="0">
                <a:latin typeface="Calibri"/>
                <a:cs typeface="Calibri"/>
              </a:rPr>
              <a:t> </a:t>
            </a:r>
            <a:r>
              <a:rPr sz="2800" dirty="0">
                <a:latin typeface="Calibri"/>
                <a:cs typeface="Calibri"/>
              </a:rPr>
              <a:t>and</a:t>
            </a:r>
            <a:r>
              <a:rPr sz="2800" spc="590" dirty="0">
                <a:latin typeface="Calibri"/>
                <a:cs typeface="Calibri"/>
              </a:rPr>
              <a:t> </a:t>
            </a:r>
            <a:r>
              <a:rPr sz="2800" dirty="0">
                <a:latin typeface="Calibri"/>
                <a:cs typeface="Calibri"/>
              </a:rPr>
              <a:t>dedicated</a:t>
            </a:r>
            <a:r>
              <a:rPr sz="2800" spc="580" dirty="0">
                <a:latin typeface="Calibri"/>
                <a:cs typeface="Calibri"/>
              </a:rPr>
              <a:t> </a:t>
            </a:r>
            <a:r>
              <a:rPr sz="2800" dirty="0">
                <a:latin typeface="Calibri"/>
                <a:cs typeface="Calibri"/>
              </a:rPr>
              <a:t>team</a:t>
            </a:r>
            <a:r>
              <a:rPr sz="2800" spc="580" dirty="0">
                <a:latin typeface="Calibri"/>
                <a:cs typeface="Calibri"/>
              </a:rPr>
              <a:t> </a:t>
            </a:r>
            <a:r>
              <a:rPr sz="2800" dirty="0">
                <a:latin typeface="Calibri"/>
                <a:cs typeface="Calibri"/>
              </a:rPr>
              <a:t>approaches</a:t>
            </a:r>
            <a:r>
              <a:rPr sz="2800" spc="595" dirty="0">
                <a:latin typeface="Calibri"/>
                <a:cs typeface="Calibri"/>
              </a:rPr>
              <a:t> </a:t>
            </a:r>
            <a:r>
              <a:rPr sz="2800" dirty="0">
                <a:latin typeface="Calibri"/>
                <a:cs typeface="Calibri"/>
              </a:rPr>
              <a:t>to</a:t>
            </a:r>
            <a:r>
              <a:rPr sz="2800" spc="580" dirty="0">
                <a:latin typeface="Calibri"/>
                <a:cs typeface="Calibri"/>
              </a:rPr>
              <a:t> </a:t>
            </a:r>
            <a:r>
              <a:rPr sz="2800" spc="-10" dirty="0">
                <a:latin typeface="Calibri"/>
                <a:cs typeface="Calibri"/>
              </a:rPr>
              <a:t>managing projects?</a:t>
            </a:r>
            <a:endParaRPr sz="2800" dirty="0">
              <a:latin typeface="Calibri"/>
              <a:cs typeface="Calibri"/>
            </a:endParaRPr>
          </a:p>
          <a:p>
            <a:pPr marL="527685" indent="-514984" algn="just">
              <a:lnSpc>
                <a:spcPct val="100000"/>
              </a:lnSpc>
              <a:spcBef>
                <a:spcPts val="680"/>
              </a:spcBef>
              <a:buAutoNum type="arabicPeriod"/>
              <a:tabLst>
                <a:tab pos="527685" algn="l"/>
              </a:tabLst>
            </a:pPr>
            <a:r>
              <a:rPr sz="2800" dirty="0">
                <a:latin typeface="Calibri"/>
                <a:cs typeface="Calibri"/>
              </a:rPr>
              <a:t>What</a:t>
            </a:r>
            <a:r>
              <a:rPr sz="2800" spc="-55" dirty="0">
                <a:latin typeface="Calibri"/>
                <a:cs typeface="Calibri"/>
              </a:rPr>
              <a:t> </a:t>
            </a:r>
            <a:r>
              <a:rPr sz="2800" dirty="0">
                <a:latin typeface="Calibri"/>
                <a:cs typeface="Calibri"/>
              </a:rPr>
              <a:t>distinguishes</a:t>
            </a:r>
            <a:r>
              <a:rPr sz="2800" spc="-55" dirty="0">
                <a:latin typeface="Calibri"/>
                <a:cs typeface="Calibri"/>
              </a:rPr>
              <a:t> </a:t>
            </a:r>
            <a:r>
              <a:rPr sz="2800" dirty="0">
                <a:latin typeface="Calibri"/>
                <a:cs typeface="Calibri"/>
              </a:rPr>
              <a:t>a</a:t>
            </a:r>
            <a:r>
              <a:rPr sz="2800" spc="-55" dirty="0">
                <a:latin typeface="Calibri"/>
                <a:cs typeface="Calibri"/>
              </a:rPr>
              <a:t> </a:t>
            </a:r>
            <a:r>
              <a:rPr sz="2800" dirty="0">
                <a:latin typeface="Calibri"/>
                <a:cs typeface="Calibri"/>
              </a:rPr>
              <a:t>weak</a:t>
            </a:r>
            <a:r>
              <a:rPr sz="2800" spc="-55" dirty="0">
                <a:latin typeface="Calibri"/>
                <a:cs typeface="Calibri"/>
              </a:rPr>
              <a:t> </a:t>
            </a:r>
            <a:r>
              <a:rPr sz="2800" dirty="0">
                <a:latin typeface="Calibri"/>
                <a:cs typeface="Calibri"/>
              </a:rPr>
              <a:t>matrix</a:t>
            </a:r>
            <a:r>
              <a:rPr sz="2800" spc="-55" dirty="0">
                <a:latin typeface="Calibri"/>
                <a:cs typeface="Calibri"/>
              </a:rPr>
              <a:t> </a:t>
            </a:r>
            <a:r>
              <a:rPr sz="2800" dirty="0">
                <a:latin typeface="Calibri"/>
                <a:cs typeface="Calibri"/>
              </a:rPr>
              <a:t>from</a:t>
            </a:r>
            <a:r>
              <a:rPr sz="2800" spc="-55" dirty="0">
                <a:latin typeface="Calibri"/>
                <a:cs typeface="Calibri"/>
              </a:rPr>
              <a:t> </a:t>
            </a:r>
            <a:r>
              <a:rPr sz="2800" dirty="0">
                <a:latin typeface="Calibri"/>
                <a:cs typeface="Calibri"/>
              </a:rPr>
              <a:t>a</a:t>
            </a:r>
            <a:r>
              <a:rPr sz="2800" spc="-60" dirty="0">
                <a:latin typeface="Calibri"/>
                <a:cs typeface="Calibri"/>
              </a:rPr>
              <a:t> </a:t>
            </a:r>
            <a:r>
              <a:rPr sz="2800" dirty="0">
                <a:latin typeface="Calibri"/>
                <a:cs typeface="Calibri"/>
              </a:rPr>
              <a:t>strong</a:t>
            </a:r>
            <a:r>
              <a:rPr sz="2800" spc="-60" dirty="0">
                <a:latin typeface="Calibri"/>
                <a:cs typeface="Calibri"/>
              </a:rPr>
              <a:t> </a:t>
            </a:r>
            <a:r>
              <a:rPr sz="2800" spc="-10" dirty="0">
                <a:latin typeface="Calibri"/>
                <a:cs typeface="Calibri"/>
              </a:rPr>
              <a:t>matrix?</a:t>
            </a:r>
            <a:endParaRPr sz="2800" dirty="0">
              <a:latin typeface="Calibri"/>
              <a:cs typeface="Calibri"/>
            </a:endParaRPr>
          </a:p>
          <a:p>
            <a:pPr marL="527050" marR="5715" indent="-514350">
              <a:lnSpc>
                <a:spcPts val="3000"/>
              </a:lnSpc>
              <a:spcBef>
                <a:spcPts val="1045"/>
              </a:spcBef>
              <a:buAutoNum type="arabicPeriod"/>
              <a:tabLst>
                <a:tab pos="527050" algn="l"/>
              </a:tabLst>
            </a:pPr>
            <a:r>
              <a:rPr sz="2800" dirty="0">
                <a:latin typeface="Calibri"/>
                <a:cs typeface="Calibri"/>
              </a:rPr>
              <a:t>Under</a:t>
            </a:r>
            <a:r>
              <a:rPr sz="2800" spc="60" dirty="0">
                <a:latin typeface="Calibri"/>
                <a:cs typeface="Calibri"/>
              </a:rPr>
              <a:t> </a:t>
            </a:r>
            <a:r>
              <a:rPr sz="2800" dirty="0">
                <a:latin typeface="Calibri"/>
                <a:cs typeface="Calibri"/>
              </a:rPr>
              <a:t>what</a:t>
            </a:r>
            <a:r>
              <a:rPr sz="2800" spc="70" dirty="0">
                <a:latin typeface="Calibri"/>
                <a:cs typeface="Calibri"/>
              </a:rPr>
              <a:t> </a:t>
            </a:r>
            <a:r>
              <a:rPr sz="2800" dirty="0">
                <a:latin typeface="Calibri"/>
                <a:cs typeface="Calibri"/>
              </a:rPr>
              <a:t>conditions</a:t>
            </a:r>
            <a:r>
              <a:rPr sz="2800" spc="70" dirty="0">
                <a:latin typeface="Calibri"/>
                <a:cs typeface="Calibri"/>
              </a:rPr>
              <a:t> </a:t>
            </a:r>
            <a:r>
              <a:rPr sz="2800" dirty="0">
                <a:latin typeface="Calibri"/>
                <a:cs typeface="Calibri"/>
              </a:rPr>
              <a:t>would</a:t>
            </a:r>
            <a:r>
              <a:rPr sz="2800" spc="70" dirty="0">
                <a:latin typeface="Calibri"/>
                <a:cs typeface="Calibri"/>
              </a:rPr>
              <a:t> </a:t>
            </a:r>
            <a:r>
              <a:rPr sz="2800" dirty="0">
                <a:latin typeface="Calibri"/>
                <a:cs typeface="Calibri"/>
              </a:rPr>
              <a:t>it</a:t>
            </a:r>
            <a:r>
              <a:rPr sz="2800" spc="65" dirty="0">
                <a:latin typeface="Calibri"/>
                <a:cs typeface="Calibri"/>
              </a:rPr>
              <a:t> </a:t>
            </a:r>
            <a:r>
              <a:rPr sz="2800" dirty="0">
                <a:latin typeface="Calibri"/>
                <a:cs typeface="Calibri"/>
              </a:rPr>
              <a:t>be</a:t>
            </a:r>
            <a:r>
              <a:rPr sz="2800" spc="60" dirty="0">
                <a:latin typeface="Calibri"/>
                <a:cs typeface="Calibri"/>
              </a:rPr>
              <a:t> </a:t>
            </a:r>
            <a:r>
              <a:rPr sz="2800" dirty="0">
                <a:latin typeface="Calibri"/>
                <a:cs typeface="Calibri"/>
              </a:rPr>
              <a:t>advisable</a:t>
            </a:r>
            <a:r>
              <a:rPr sz="2800" spc="65" dirty="0">
                <a:latin typeface="Calibri"/>
                <a:cs typeface="Calibri"/>
              </a:rPr>
              <a:t> </a:t>
            </a:r>
            <a:r>
              <a:rPr sz="2800" dirty="0">
                <a:latin typeface="Calibri"/>
                <a:cs typeface="Calibri"/>
              </a:rPr>
              <a:t>to</a:t>
            </a:r>
            <a:r>
              <a:rPr sz="2800" spc="70" dirty="0">
                <a:latin typeface="Calibri"/>
                <a:cs typeface="Calibri"/>
              </a:rPr>
              <a:t> </a:t>
            </a:r>
            <a:r>
              <a:rPr sz="2800" dirty="0">
                <a:latin typeface="Calibri"/>
                <a:cs typeface="Calibri"/>
              </a:rPr>
              <a:t>use</a:t>
            </a:r>
            <a:r>
              <a:rPr sz="2800" spc="60" dirty="0">
                <a:latin typeface="Calibri"/>
                <a:cs typeface="Calibri"/>
              </a:rPr>
              <a:t> </a:t>
            </a:r>
            <a:r>
              <a:rPr sz="2800" dirty="0">
                <a:latin typeface="Calibri"/>
                <a:cs typeface="Calibri"/>
              </a:rPr>
              <a:t>a</a:t>
            </a:r>
            <a:r>
              <a:rPr sz="2800" spc="65" dirty="0">
                <a:latin typeface="Calibri"/>
                <a:cs typeface="Calibri"/>
              </a:rPr>
              <a:t> </a:t>
            </a:r>
            <a:r>
              <a:rPr sz="2800" dirty="0">
                <a:latin typeface="Calibri"/>
                <a:cs typeface="Calibri"/>
              </a:rPr>
              <a:t>strong</a:t>
            </a:r>
            <a:r>
              <a:rPr sz="2800" spc="65" dirty="0">
                <a:latin typeface="Calibri"/>
                <a:cs typeface="Calibri"/>
              </a:rPr>
              <a:t> </a:t>
            </a:r>
            <a:r>
              <a:rPr sz="2800" spc="-10" dirty="0">
                <a:latin typeface="Calibri"/>
                <a:cs typeface="Calibri"/>
              </a:rPr>
              <a:t>matrix </a:t>
            </a:r>
            <a:r>
              <a:rPr sz="2800" dirty="0">
                <a:latin typeface="Calibri"/>
                <a:cs typeface="Calibri"/>
              </a:rPr>
              <a:t>instead</a:t>
            </a:r>
            <a:r>
              <a:rPr sz="2800" spc="-75" dirty="0">
                <a:latin typeface="Calibri"/>
                <a:cs typeface="Calibri"/>
              </a:rPr>
              <a:t> </a:t>
            </a:r>
            <a:r>
              <a:rPr sz="2800" dirty="0">
                <a:latin typeface="Calibri"/>
                <a:cs typeface="Calibri"/>
              </a:rPr>
              <a:t>of</a:t>
            </a:r>
            <a:r>
              <a:rPr sz="2800" spc="-70" dirty="0">
                <a:latin typeface="Calibri"/>
                <a:cs typeface="Calibri"/>
              </a:rPr>
              <a:t> </a:t>
            </a:r>
            <a:r>
              <a:rPr sz="2800" dirty="0">
                <a:latin typeface="Calibri"/>
                <a:cs typeface="Calibri"/>
              </a:rPr>
              <a:t>a</a:t>
            </a:r>
            <a:r>
              <a:rPr sz="2800" spc="-65" dirty="0">
                <a:latin typeface="Calibri"/>
                <a:cs typeface="Calibri"/>
              </a:rPr>
              <a:t> </a:t>
            </a:r>
            <a:r>
              <a:rPr sz="2800" dirty="0">
                <a:latin typeface="Calibri"/>
                <a:cs typeface="Calibri"/>
              </a:rPr>
              <a:t>dedicated</a:t>
            </a:r>
            <a:r>
              <a:rPr sz="2800" spc="-70" dirty="0">
                <a:latin typeface="Calibri"/>
                <a:cs typeface="Calibri"/>
              </a:rPr>
              <a:t> </a:t>
            </a:r>
            <a:r>
              <a:rPr sz="2800" dirty="0">
                <a:latin typeface="Calibri"/>
                <a:cs typeface="Calibri"/>
              </a:rPr>
              <a:t>project</a:t>
            </a:r>
            <a:r>
              <a:rPr sz="2800" spc="-65" dirty="0">
                <a:latin typeface="Calibri"/>
                <a:cs typeface="Calibri"/>
              </a:rPr>
              <a:t> </a:t>
            </a:r>
            <a:r>
              <a:rPr sz="2800" spc="-10" dirty="0">
                <a:latin typeface="Calibri"/>
                <a:cs typeface="Calibri"/>
              </a:rPr>
              <a:t>team?</a:t>
            </a:r>
            <a:endParaRPr sz="2800" dirty="0">
              <a:latin typeface="Calibri"/>
              <a:cs typeface="Calibri"/>
            </a:endParaRPr>
          </a:p>
          <a:p>
            <a:pPr marL="526415" indent="-513715">
              <a:lnSpc>
                <a:spcPct val="100000"/>
              </a:lnSpc>
              <a:spcBef>
                <a:spcPts val="610"/>
              </a:spcBef>
              <a:buAutoNum type="arabicPeriod"/>
              <a:tabLst>
                <a:tab pos="526415" algn="l"/>
              </a:tabLst>
            </a:pPr>
            <a:r>
              <a:rPr sz="2800" dirty="0">
                <a:latin typeface="Calibri"/>
                <a:cs typeface="Calibri"/>
              </a:rPr>
              <a:t>What</a:t>
            </a:r>
            <a:r>
              <a:rPr sz="2800" spc="-35" dirty="0">
                <a:latin typeface="Calibri"/>
                <a:cs typeface="Calibri"/>
              </a:rPr>
              <a:t> </a:t>
            </a:r>
            <a:r>
              <a:rPr sz="2800" dirty="0">
                <a:latin typeface="Calibri"/>
                <a:cs typeface="Calibri"/>
              </a:rPr>
              <a:t>are</a:t>
            </a:r>
            <a:r>
              <a:rPr sz="2800" spc="-40" dirty="0">
                <a:latin typeface="Calibri"/>
                <a:cs typeface="Calibri"/>
              </a:rPr>
              <a:t> </a:t>
            </a:r>
            <a:r>
              <a:rPr sz="2800" dirty="0">
                <a:latin typeface="Calibri"/>
                <a:cs typeface="Calibri"/>
              </a:rPr>
              <a:t>the</a:t>
            </a:r>
            <a:r>
              <a:rPr sz="2800" spc="-40" dirty="0">
                <a:latin typeface="Calibri"/>
                <a:cs typeface="Calibri"/>
              </a:rPr>
              <a:t> </a:t>
            </a:r>
            <a:r>
              <a:rPr sz="2800" dirty="0">
                <a:latin typeface="Calibri"/>
                <a:cs typeface="Calibri"/>
              </a:rPr>
              <a:t>(6)</a:t>
            </a:r>
            <a:r>
              <a:rPr sz="2800" spc="-30" dirty="0">
                <a:latin typeface="Calibri"/>
                <a:cs typeface="Calibri"/>
              </a:rPr>
              <a:t> </a:t>
            </a:r>
            <a:r>
              <a:rPr sz="2800" dirty="0">
                <a:latin typeface="Calibri"/>
                <a:cs typeface="Calibri"/>
              </a:rPr>
              <a:t>elements</a:t>
            </a:r>
            <a:r>
              <a:rPr sz="2800" spc="-20" dirty="0">
                <a:latin typeface="Calibri"/>
                <a:cs typeface="Calibri"/>
              </a:rPr>
              <a:t> </a:t>
            </a:r>
            <a:r>
              <a:rPr sz="2800" dirty="0">
                <a:latin typeface="Calibri"/>
                <a:cs typeface="Calibri"/>
              </a:rPr>
              <a:t>of</a:t>
            </a:r>
            <a:r>
              <a:rPr sz="2800" spc="-45" dirty="0">
                <a:latin typeface="Calibri"/>
                <a:cs typeface="Calibri"/>
              </a:rPr>
              <a:t> </a:t>
            </a:r>
            <a:r>
              <a:rPr sz="2800" dirty="0">
                <a:latin typeface="Calibri"/>
                <a:cs typeface="Calibri"/>
              </a:rPr>
              <a:t>a</a:t>
            </a:r>
            <a:r>
              <a:rPr sz="2800" spc="-35" dirty="0">
                <a:latin typeface="Calibri"/>
                <a:cs typeface="Calibri"/>
              </a:rPr>
              <a:t> </a:t>
            </a:r>
            <a:r>
              <a:rPr sz="2800" dirty="0">
                <a:latin typeface="Calibri"/>
                <a:cs typeface="Calibri"/>
              </a:rPr>
              <a:t>typical</a:t>
            </a:r>
            <a:r>
              <a:rPr sz="2800" spc="-40" dirty="0">
                <a:latin typeface="Calibri"/>
                <a:cs typeface="Calibri"/>
              </a:rPr>
              <a:t> </a:t>
            </a:r>
            <a:r>
              <a:rPr sz="2800" dirty="0">
                <a:latin typeface="Calibri"/>
                <a:cs typeface="Calibri"/>
              </a:rPr>
              <a:t>scope</a:t>
            </a:r>
            <a:r>
              <a:rPr sz="2800" spc="-45" dirty="0">
                <a:latin typeface="Calibri"/>
                <a:cs typeface="Calibri"/>
              </a:rPr>
              <a:t> </a:t>
            </a:r>
            <a:r>
              <a:rPr sz="2800" spc="-10" dirty="0">
                <a:latin typeface="Calibri"/>
                <a:cs typeface="Calibri"/>
              </a:rPr>
              <a:t>statement?</a:t>
            </a:r>
            <a:endParaRPr sz="2800" dirty="0">
              <a:latin typeface="Calibri"/>
              <a:cs typeface="Calibri"/>
            </a:endParaRPr>
          </a:p>
          <a:p>
            <a:pPr marL="526415" indent="-513715">
              <a:lnSpc>
                <a:spcPct val="100000"/>
              </a:lnSpc>
              <a:spcBef>
                <a:spcPts val="745"/>
              </a:spcBef>
              <a:buAutoNum type="arabicPeriod"/>
              <a:tabLst>
                <a:tab pos="526415" algn="l"/>
              </a:tabLst>
            </a:pPr>
            <a:r>
              <a:rPr sz="2800" dirty="0">
                <a:latin typeface="Calibri"/>
                <a:cs typeface="Calibri"/>
              </a:rPr>
              <a:t>What</a:t>
            </a:r>
            <a:r>
              <a:rPr sz="2800" spc="-65" dirty="0">
                <a:latin typeface="Calibri"/>
                <a:cs typeface="Calibri"/>
              </a:rPr>
              <a:t> </a:t>
            </a:r>
            <a:r>
              <a:rPr sz="2800" dirty="0">
                <a:latin typeface="Calibri"/>
                <a:cs typeface="Calibri"/>
              </a:rPr>
              <a:t>questions</a:t>
            </a:r>
            <a:r>
              <a:rPr sz="2800" spc="-65" dirty="0">
                <a:latin typeface="Calibri"/>
                <a:cs typeface="Calibri"/>
              </a:rPr>
              <a:t> </a:t>
            </a:r>
            <a:r>
              <a:rPr sz="2800" dirty="0">
                <a:latin typeface="Calibri"/>
                <a:cs typeface="Calibri"/>
              </a:rPr>
              <a:t>does</a:t>
            </a:r>
            <a:r>
              <a:rPr sz="2800" spc="-65" dirty="0">
                <a:latin typeface="Calibri"/>
                <a:cs typeface="Calibri"/>
              </a:rPr>
              <a:t> </a:t>
            </a:r>
            <a:r>
              <a:rPr sz="2800" dirty="0">
                <a:latin typeface="Calibri"/>
                <a:cs typeface="Calibri"/>
              </a:rPr>
              <a:t>a</a:t>
            </a:r>
            <a:r>
              <a:rPr sz="2800" spc="-65" dirty="0">
                <a:latin typeface="Calibri"/>
                <a:cs typeface="Calibri"/>
              </a:rPr>
              <a:t> </a:t>
            </a:r>
            <a:r>
              <a:rPr sz="2800" dirty="0">
                <a:latin typeface="Calibri"/>
                <a:cs typeface="Calibri"/>
              </a:rPr>
              <a:t>project</a:t>
            </a:r>
            <a:r>
              <a:rPr sz="2800" spc="-65" dirty="0">
                <a:latin typeface="Calibri"/>
                <a:cs typeface="Calibri"/>
              </a:rPr>
              <a:t> </a:t>
            </a:r>
            <a:r>
              <a:rPr sz="2800" dirty="0">
                <a:latin typeface="Calibri"/>
                <a:cs typeface="Calibri"/>
              </a:rPr>
              <a:t>objective</a:t>
            </a:r>
            <a:r>
              <a:rPr sz="2800" spc="-70" dirty="0">
                <a:latin typeface="Calibri"/>
                <a:cs typeface="Calibri"/>
              </a:rPr>
              <a:t> </a:t>
            </a:r>
            <a:r>
              <a:rPr sz="2800" spc="-10" dirty="0">
                <a:latin typeface="Calibri"/>
                <a:cs typeface="Calibri"/>
              </a:rPr>
              <a:t>answer?</a:t>
            </a:r>
            <a:endParaRPr sz="28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70</a:t>
            </a:fld>
            <a:endParaRPr spc="-25"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Assignment 2</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Exercise 2</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71</a:t>
            </a:fld>
            <a:endParaRPr spc="-25" dirty="0"/>
          </a:p>
        </p:txBody>
      </p:sp>
      <p:sp>
        <p:nvSpPr>
          <p:cNvPr id="3" name="object 3"/>
          <p:cNvSpPr txBox="1"/>
          <p:nvPr/>
        </p:nvSpPr>
        <p:spPr>
          <a:xfrm>
            <a:off x="916939" y="1770379"/>
            <a:ext cx="7094855" cy="574040"/>
          </a:xfrm>
          <a:prstGeom prst="rect">
            <a:avLst/>
          </a:prstGeom>
        </p:spPr>
        <p:txBody>
          <a:bodyPr vert="horz" wrap="square" lIns="0" tIns="12700" rIns="0" bIns="0" rtlCol="0">
            <a:spAutoFit/>
          </a:bodyPr>
          <a:lstStyle/>
          <a:p>
            <a:pPr marL="12700">
              <a:lnSpc>
                <a:spcPct val="100000"/>
              </a:lnSpc>
              <a:spcBef>
                <a:spcPts val="100"/>
              </a:spcBef>
            </a:pPr>
            <a:r>
              <a:rPr sz="3600" dirty="0">
                <a:latin typeface="Calibri"/>
                <a:cs typeface="Calibri"/>
              </a:rPr>
              <a:t>Define</a:t>
            </a:r>
            <a:r>
              <a:rPr sz="3600" spc="-80" dirty="0">
                <a:latin typeface="Calibri"/>
                <a:cs typeface="Calibri"/>
              </a:rPr>
              <a:t> </a:t>
            </a:r>
            <a:r>
              <a:rPr sz="3600" dirty="0">
                <a:latin typeface="Calibri"/>
                <a:cs typeface="Calibri"/>
              </a:rPr>
              <a:t>your</a:t>
            </a:r>
            <a:r>
              <a:rPr sz="3600" spc="-70" dirty="0">
                <a:latin typeface="Calibri"/>
                <a:cs typeface="Calibri"/>
              </a:rPr>
              <a:t> </a:t>
            </a:r>
            <a:r>
              <a:rPr sz="3600" dirty="0">
                <a:latin typeface="Calibri"/>
                <a:cs typeface="Calibri"/>
              </a:rPr>
              <a:t>project</a:t>
            </a:r>
            <a:r>
              <a:rPr sz="3600" spc="-75" dirty="0">
                <a:latin typeface="Calibri"/>
                <a:cs typeface="Calibri"/>
              </a:rPr>
              <a:t> </a:t>
            </a:r>
            <a:r>
              <a:rPr sz="3600" dirty="0">
                <a:latin typeface="Calibri"/>
                <a:cs typeface="Calibri"/>
              </a:rPr>
              <a:t>scope</a:t>
            </a:r>
            <a:r>
              <a:rPr sz="3600" spc="-75" dirty="0">
                <a:latin typeface="Calibri"/>
                <a:cs typeface="Calibri"/>
              </a:rPr>
              <a:t> </a:t>
            </a:r>
            <a:r>
              <a:rPr sz="3600" dirty="0">
                <a:latin typeface="Calibri"/>
                <a:cs typeface="Calibri"/>
              </a:rPr>
              <a:t>(per</a:t>
            </a:r>
            <a:r>
              <a:rPr sz="3600" spc="-75" dirty="0">
                <a:latin typeface="Calibri"/>
                <a:cs typeface="Calibri"/>
              </a:rPr>
              <a:t> </a:t>
            </a:r>
            <a:r>
              <a:rPr sz="3600" spc="-10" dirty="0">
                <a:latin typeface="Calibri"/>
                <a:cs typeface="Calibri"/>
              </a:rPr>
              <a:t>group).</a:t>
            </a:r>
            <a:endParaRPr sz="3600">
              <a:latin typeface="Calibri"/>
              <a:cs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Project guidelines </a:t>
            </a:r>
            <a:r>
              <a:rPr sz="1950" spc="-10" dirty="0"/>
              <a:t>(1/2)</a:t>
            </a:r>
            <a:endParaRPr sz="195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72</a:t>
            </a:fld>
            <a:endParaRPr spc="-25" dirty="0"/>
          </a:p>
        </p:txBody>
      </p:sp>
      <p:sp>
        <p:nvSpPr>
          <p:cNvPr id="3" name="object 3"/>
          <p:cNvSpPr txBox="1"/>
          <p:nvPr/>
        </p:nvSpPr>
        <p:spPr>
          <a:xfrm>
            <a:off x="916939" y="1793748"/>
            <a:ext cx="10358755" cy="4667885"/>
          </a:xfrm>
          <a:prstGeom prst="rect">
            <a:avLst/>
          </a:prstGeom>
        </p:spPr>
        <p:txBody>
          <a:bodyPr vert="horz" wrap="square" lIns="0" tIns="63500" rIns="0" bIns="0" rtlCol="0">
            <a:spAutoFit/>
          </a:bodyPr>
          <a:lstStyle/>
          <a:p>
            <a:pPr marL="527050" marR="5080" indent="-514350">
              <a:lnSpc>
                <a:spcPts val="3500"/>
              </a:lnSpc>
              <a:spcBef>
                <a:spcPts val="500"/>
              </a:spcBef>
              <a:buAutoNum type="arabicPeriod"/>
              <a:tabLst>
                <a:tab pos="527050" algn="l"/>
                <a:tab pos="1863725" algn="l"/>
                <a:tab pos="2743835" algn="l"/>
                <a:tab pos="3343275" algn="l"/>
                <a:tab pos="3826510" algn="l"/>
                <a:tab pos="5431790" algn="l"/>
                <a:tab pos="5734050" algn="l"/>
                <a:tab pos="6849109" algn="l"/>
                <a:tab pos="8077200" algn="l"/>
                <a:tab pos="8541385" algn="l"/>
              </a:tabLst>
            </a:pPr>
            <a:r>
              <a:rPr sz="3200" spc="-10" dirty="0">
                <a:latin typeface="Calibri"/>
                <a:cs typeface="Calibri"/>
              </a:rPr>
              <a:t>Groups</a:t>
            </a:r>
            <a:r>
              <a:rPr sz="3200" dirty="0">
                <a:latin typeface="Calibri"/>
                <a:cs typeface="Calibri"/>
              </a:rPr>
              <a:t>	</a:t>
            </a:r>
            <a:r>
              <a:rPr sz="3200" spc="-20" dirty="0">
                <a:latin typeface="Calibri"/>
                <a:cs typeface="Calibri"/>
              </a:rPr>
              <a:t>with</a:t>
            </a:r>
            <a:r>
              <a:rPr sz="3200" dirty="0">
                <a:latin typeface="Calibri"/>
                <a:cs typeface="Calibri"/>
              </a:rPr>
              <a:t>	</a:t>
            </a:r>
            <a:r>
              <a:rPr sz="3200" spc="-25" dirty="0">
                <a:latin typeface="Calibri"/>
                <a:cs typeface="Calibri"/>
              </a:rPr>
              <a:t>(5)</a:t>
            </a:r>
            <a:r>
              <a:rPr sz="3200" dirty="0">
                <a:latin typeface="Calibri"/>
                <a:cs typeface="Calibri"/>
              </a:rPr>
              <a:t>	</a:t>
            </a:r>
            <a:r>
              <a:rPr sz="3200" spc="-25" dirty="0">
                <a:latin typeface="Calibri"/>
                <a:cs typeface="Calibri"/>
              </a:rPr>
              <a:t>of</a:t>
            </a:r>
            <a:r>
              <a:rPr sz="3200" dirty="0">
                <a:latin typeface="Calibri"/>
                <a:cs typeface="Calibri"/>
              </a:rPr>
              <a:t>	</a:t>
            </a:r>
            <a:r>
              <a:rPr sz="3200" spc="-10" dirty="0">
                <a:latin typeface="Calibri"/>
                <a:cs typeface="Calibri"/>
              </a:rPr>
              <a:t>Students</a:t>
            </a:r>
            <a:r>
              <a:rPr sz="3200" dirty="0">
                <a:latin typeface="Calibri"/>
                <a:cs typeface="Calibri"/>
              </a:rPr>
              <a:t>	</a:t>
            </a:r>
            <a:r>
              <a:rPr sz="3200" spc="-50" dirty="0">
                <a:latin typeface="Calibri"/>
                <a:cs typeface="Calibri"/>
              </a:rPr>
              <a:t>/</a:t>
            </a:r>
            <a:r>
              <a:rPr sz="3200" dirty="0">
                <a:latin typeface="Calibri"/>
                <a:cs typeface="Calibri"/>
              </a:rPr>
              <a:t>	</a:t>
            </a:r>
            <a:r>
              <a:rPr sz="3200" spc="-10" dirty="0">
                <a:latin typeface="Calibri"/>
                <a:cs typeface="Calibri"/>
              </a:rPr>
              <a:t>group</a:t>
            </a:r>
            <a:r>
              <a:rPr sz="3200" dirty="0">
                <a:latin typeface="Calibri"/>
                <a:cs typeface="Calibri"/>
              </a:rPr>
              <a:t>	</a:t>
            </a:r>
            <a:r>
              <a:rPr sz="3200" spc="-10" dirty="0">
                <a:latin typeface="Calibri"/>
                <a:cs typeface="Calibri"/>
              </a:rPr>
              <a:t>(</a:t>
            </a:r>
            <a:r>
              <a:rPr sz="3200" b="1" u="heavy" spc="-10" dirty="0">
                <a:solidFill>
                  <a:srgbClr val="C00000"/>
                </a:solidFill>
                <a:uFill>
                  <a:solidFill>
                    <a:srgbClr val="C00000"/>
                  </a:solidFill>
                </a:uFill>
                <a:latin typeface="Calibri"/>
                <a:cs typeface="Calibri"/>
              </a:rPr>
              <a:t>Week</a:t>
            </a:r>
            <a:r>
              <a:rPr sz="3200" b="1" u="heavy" dirty="0">
                <a:solidFill>
                  <a:srgbClr val="C00000"/>
                </a:solidFill>
                <a:uFill>
                  <a:solidFill>
                    <a:srgbClr val="C00000"/>
                  </a:solidFill>
                </a:uFill>
                <a:latin typeface="Calibri"/>
                <a:cs typeface="Calibri"/>
              </a:rPr>
              <a:t>	</a:t>
            </a:r>
            <a:r>
              <a:rPr sz="3200" b="1" u="heavy" spc="-25" dirty="0">
                <a:solidFill>
                  <a:srgbClr val="C00000"/>
                </a:solidFill>
                <a:uFill>
                  <a:solidFill>
                    <a:srgbClr val="C00000"/>
                  </a:solidFill>
                </a:uFill>
                <a:latin typeface="Calibri"/>
                <a:cs typeface="Calibri"/>
              </a:rPr>
              <a:t>2:</a:t>
            </a:r>
            <a:r>
              <a:rPr sz="3200" b="1" dirty="0">
                <a:solidFill>
                  <a:srgbClr val="C00000"/>
                </a:solidFill>
                <a:latin typeface="Calibri"/>
                <a:cs typeface="Calibri"/>
              </a:rPr>
              <a:t>	</a:t>
            </a:r>
            <a:r>
              <a:rPr sz="3200" spc="-10" dirty="0">
                <a:latin typeface="Calibri"/>
                <a:cs typeface="Calibri"/>
              </a:rPr>
              <a:t>Submitting </a:t>
            </a:r>
            <a:r>
              <a:rPr sz="3200" dirty="0">
                <a:latin typeface="Calibri"/>
                <a:cs typeface="Calibri"/>
              </a:rPr>
              <a:t>Students</a:t>
            </a:r>
            <a:r>
              <a:rPr sz="3200" spc="-75" dirty="0">
                <a:latin typeface="Calibri"/>
                <a:cs typeface="Calibri"/>
              </a:rPr>
              <a:t> </a:t>
            </a:r>
            <a:r>
              <a:rPr sz="3200" dirty="0">
                <a:latin typeface="Calibri"/>
                <a:cs typeface="Calibri"/>
              </a:rPr>
              <a:t>group</a:t>
            </a:r>
            <a:r>
              <a:rPr sz="3200" spc="-65" dirty="0">
                <a:latin typeface="Calibri"/>
                <a:cs typeface="Calibri"/>
              </a:rPr>
              <a:t> </a:t>
            </a:r>
            <a:r>
              <a:rPr sz="3200" dirty="0">
                <a:latin typeface="Calibri"/>
                <a:cs typeface="Calibri"/>
              </a:rPr>
              <a:t>names</a:t>
            </a:r>
            <a:r>
              <a:rPr sz="3200" spc="-75" dirty="0">
                <a:latin typeface="Calibri"/>
                <a:cs typeface="Calibri"/>
              </a:rPr>
              <a:t> </a:t>
            </a:r>
            <a:r>
              <a:rPr sz="3200" dirty="0">
                <a:latin typeface="Calibri"/>
                <a:cs typeface="Calibri"/>
              </a:rPr>
              <a:t>and</a:t>
            </a:r>
            <a:r>
              <a:rPr sz="3200" spc="-60" dirty="0">
                <a:latin typeface="Calibri"/>
                <a:cs typeface="Calibri"/>
              </a:rPr>
              <a:t> </a:t>
            </a:r>
            <a:r>
              <a:rPr sz="3200" dirty="0">
                <a:latin typeface="Calibri"/>
                <a:cs typeface="Calibri"/>
              </a:rPr>
              <a:t>ID</a:t>
            </a:r>
            <a:r>
              <a:rPr sz="3200" spc="-65" dirty="0">
                <a:latin typeface="Calibri"/>
                <a:cs typeface="Calibri"/>
              </a:rPr>
              <a:t> </a:t>
            </a:r>
            <a:r>
              <a:rPr sz="3200" dirty="0">
                <a:latin typeface="Calibri"/>
                <a:cs typeface="Calibri"/>
              </a:rPr>
              <a:t>by</a:t>
            </a:r>
            <a:r>
              <a:rPr sz="3200" spc="-65" dirty="0">
                <a:latin typeface="Calibri"/>
                <a:cs typeface="Calibri"/>
              </a:rPr>
              <a:t> </a:t>
            </a:r>
            <a:r>
              <a:rPr sz="3200" spc="-10" dirty="0">
                <a:latin typeface="Calibri"/>
                <a:cs typeface="Calibri"/>
              </a:rPr>
              <a:t>mail).</a:t>
            </a:r>
            <a:endParaRPr sz="3200">
              <a:latin typeface="Calibri"/>
              <a:cs typeface="Calibri"/>
            </a:endParaRPr>
          </a:p>
          <a:p>
            <a:pPr marL="527050" marR="7620" indent="-514350">
              <a:lnSpc>
                <a:spcPts val="3500"/>
              </a:lnSpc>
              <a:spcBef>
                <a:spcPts val="894"/>
              </a:spcBef>
              <a:buAutoNum type="arabicPeriod"/>
              <a:tabLst>
                <a:tab pos="527050" algn="l"/>
                <a:tab pos="2395220" algn="l"/>
                <a:tab pos="3548379" algn="l"/>
                <a:tab pos="5290820" algn="l"/>
                <a:tab pos="6085205" algn="l"/>
                <a:tab pos="7085965" algn="l"/>
              </a:tabLst>
            </a:pPr>
            <a:r>
              <a:rPr sz="3200" spc="-10" dirty="0">
                <a:solidFill>
                  <a:srgbClr val="262EA4"/>
                </a:solidFill>
                <a:latin typeface="Calibri"/>
                <a:cs typeface="Calibri"/>
              </a:rPr>
              <a:t>Business</a:t>
            </a:r>
            <a:r>
              <a:rPr sz="3200" dirty="0">
                <a:solidFill>
                  <a:srgbClr val="262EA4"/>
                </a:solidFill>
                <a:latin typeface="Calibri"/>
                <a:cs typeface="Calibri"/>
              </a:rPr>
              <a:t>	</a:t>
            </a:r>
            <a:r>
              <a:rPr sz="3200" spc="-20" dirty="0">
                <a:solidFill>
                  <a:srgbClr val="262EA4"/>
                </a:solidFill>
                <a:latin typeface="Calibri"/>
                <a:cs typeface="Calibri"/>
              </a:rPr>
              <a:t>idea</a:t>
            </a:r>
            <a:r>
              <a:rPr sz="3200" dirty="0">
                <a:solidFill>
                  <a:srgbClr val="262EA4"/>
                </a:solidFill>
                <a:latin typeface="Calibri"/>
                <a:cs typeface="Calibri"/>
              </a:rPr>
              <a:t>	</a:t>
            </a:r>
            <a:r>
              <a:rPr sz="3200" spc="-10" dirty="0">
                <a:solidFill>
                  <a:srgbClr val="262EA4"/>
                </a:solidFill>
                <a:latin typeface="Calibri"/>
                <a:cs typeface="Calibri"/>
              </a:rPr>
              <a:t>(related</a:t>
            </a:r>
            <a:r>
              <a:rPr sz="3200" dirty="0">
                <a:solidFill>
                  <a:srgbClr val="262EA4"/>
                </a:solidFill>
                <a:latin typeface="Calibri"/>
                <a:cs typeface="Calibri"/>
              </a:rPr>
              <a:t>	</a:t>
            </a:r>
            <a:r>
              <a:rPr sz="3200" spc="-25" dirty="0">
                <a:solidFill>
                  <a:srgbClr val="262EA4"/>
                </a:solidFill>
                <a:latin typeface="Calibri"/>
                <a:cs typeface="Calibri"/>
              </a:rPr>
              <a:t>to</a:t>
            </a:r>
            <a:r>
              <a:rPr sz="3200" dirty="0">
                <a:solidFill>
                  <a:srgbClr val="262EA4"/>
                </a:solidFill>
                <a:latin typeface="Calibri"/>
                <a:cs typeface="Calibri"/>
              </a:rPr>
              <a:t>	</a:t>
            </a:r>
            <a:r>
              <a:rPr sz="3200" spc="-25" dirty="0">
                <a:solidFill>
                  <a:srgbClr val="262EA4"/>
                </a:solidFill>
                <a:latin typeface="Calibri"/>
                <a:cs typeface="Calibri"/>
              </a:rPr>
              <a:t>the</a:t>
            </a:r>
            <a:r>
              <a:rPr sz="3200" dirty="0">
                <a:solidFill>
                  <a:srgbClr val="262EA4"/>
                </a:solidFill>
                <a:latin typeface="Calibri"/>
                <a:cs typeface="Calibri"/>
              </a:rPr>
              <a:t>	</a:t>
            </a:r>
            <a:r>
              <a:rPr sz="3200" spc="-10" dirty="0">
                <a:solidFill>
                  <a:srgbClr val="262EA4"/>
                </a:solidFill>
                <a:latin typeface="Calibri"/>
                <a:cs typeface="Calibri"/>
              </a:rPr>
              <a:t>electrical/computer </a:t>
            </a:r>
            <a:r>
              <a:rPr sz="3200" dirty="0">
                <a:solidFill>
                  <a:srgbClr val="262EA4"/>
                </a:solidFill>
                <a:latin typeface="Calibri"/>
                <a:cs typeface="Calibri"/>
              </a:rPr>
              <a:t>engineering)</a:t>
            </a:r>
            <a:r>
              <a:rPr sz="3200" spc="-100" dirty="0">
                <a:solidFill>
                  <a:srgbClr val="262EA4"/>
                </a:solidFill>
                <a:latin typeface="Calibri"/>
                <a:cs typeface="Calibri"/>
              </a:rPr>
              <a:t> </a:t>
            </a:r>
            <a:r>
              <a:rPr sz="3200" dirty="0">
                <a:solidFill>
                  <a:srgbClr val="262EA4"/>
                </a:solidFill>
                <a:latin typeface="Wingdings"/>
                <a:cs typeface="Wingdings"/>
              </a:rPr>
              <a:t></a:t>
            </a:r>
            <a:r>
              <a:rPr sz="3200" spc="-175" dirty="0">
                <a:solidFill>
                  <a:srgbClr val="262EA4"/>
                </a:solidFill>
                <a:latin typeface="Times New Roman"/>
                <a:cs typeface="Times New Roman"/>
              </a:rPr>
              <a:t> </a:t>
            </a:r>
            <a:r>
              <a:rPr sz="3200" b="1" u="heavy" spc="-10" dirty="0">
                <a:solidFill>
                  <a:srgbClr val="C00000"/>
                </a:solidFill>
                <a:uFill>
                  <a:solidFill>
                    <a:srgbClr val="C00000"/>
                  </a:solidFill>
                </a:uFill>
                <a:latin typeface="Calibri"/>
                <a:cs typeface="Calibri"/>
              </a:rPr>
              <a:t>Week</a:t>
            </a:r>
            <a:r>
              <a:rPr sz="3200" b="1" u="heavy" spc="-95" dirty="0">
                <a:solidFill>
                  <a:srgbClr val="C00000"/>
                </a:solidFill>
                <a:uFill>
                  <a:solidFill>
                    <a:srgbClr val="C00000"/>
                  </a:solidFill>
                </a:uFill>
                <a:latin typeface="Calibri"/>
                <a:cs typeface="Calibri"/>
              </a:rPr>
              <a:t> </a:t>
            </a:r>
            <a:r>
              <a:rPr sz="3200" b="1" u="heavy" spc="-50" dirty="0">
                <a:solidFill>
                  <a:srgbClr val="C00000"/>
                </a:solidFill>
                <a:uFill>
                  <a:solidFill>
                    <a:srgbClr val="C00000"/>
                  </a:solidFill>
                </a:uFill>
                <a:latin typeface="Calibri"/>
                <a:cs typeface="Calibri"/>
              </a:rPr>
              <a:t>3</a:t>
            </a:r>
            <a:endParaRPr sz="3200">
              <a:latin typeface="Calibri"/>
              <a:cs typeface="Calibri"/>
            </a:endParaRPr>
          </a:p>
          <a:p>
            <a:pPr marL="526415" indent="-513715">
              <a:lnSpc>
                <a:spcPct val="100000"/>
              </a:lnSpc>
              <a:spcBef>
                <a:spcPts val="495"/>
              </a:spcBef>
              <a:buAutoNum type="arabicPeriod"/>
              <a:tabLst>
                <a:tab pos="526415" algn="l"/>
              </a:tabLst>
            </a:pPr>
            <a:r>
              <a:rPr sz="3200" dirty="0">
                <a:latin typeface="Calibri"/>
                <a:cs typeface="Calibri"/>
              </a:rPr>
              <a:t>Plagiarism</a:t>
            </a:r>
            <a:r>
              <a:rPr sz="3200" spc="-80" dirty="0">
                <a:latin typeface="Calibri"/>
                <a:cs typeface="Calibri"/>
              </a:rPr>
              <a:t> </a:t>
            </a:r>
            <a:r>
              <a:rPr sz="3200" spc="-10" dirty="0">
                <a:latin typeface="Calibri"/>
                <a:cs typeface="Calibri"/>
              </a:rPr>
              <a:t>(turnitin)</a:t>
            </a:r>
            <a:endParaRPr sz="3200">
              <a:latin typeface="Calibri"/>
              <a:cs typeface="Calibri"/>
            </a:endParaRPr>
          </a:p>
          <a:p>
            <a:pPr marL="526415" indent="-513715">
              <a:lnSpc>
                <a:spcPct val="100000"/>
              </a:lnSpc>
              <a:spcBef>
                <a:spcPts val="675"/>
              </a:spcBef>
              <a:buAutoNum type="arabicPeriod"/>
              <a:tabLst>
                <a:tab pos="526415" algn="l"/>
              </a:tabLst>
            </a:pPr>
            <a:r>
              <a:rPr sz="3200" dirty="0">
                <a:solidFill>
                  <a:srgbClr val="262EA4"/>
                </a:solidFill>
                <a:latin typeface="Calibri"/>
                <a:cs typeface="Calibri"/>
              </a:rPr>
              <a:t>Divide</a:t>
            </a:r>
            <a:r>
              <a:rPr sz="3200" spc="-55" dirty="0">
                <a:solidFill>
                  <a:srgbClr val="262EA4"/>
                </a:solidFill>
                <a:latin typeface="Calibri"/>
                <a:cs typeface="Calibri"/>
              </a:rPr>
              <a:t> </a:t>
            </a:r>
            <a:r>
              <a:rPr sz="3200" dirty="0">
                <a:solidFill>
                  <a:srgbClr val="262EA4"/>
                </a:solidFill>
                <a:latin typeface="Calibri"/>
                <a:cs typeface="Calibri"/>
              </a:rPr>
              <a:t>the</a:t>
            </a:r>
            <a:r>
              <a:rPr sz="3200" spc="-55" dirty="0">
                <a:solidFill>
                  <a:srgbClr val="262EA4"/>
                </a:solidFill>
                <a:latin typeface="Calibri"/>
                <a:cs typeface="Calibri"/>
              </a:rPr>
              <a:t> </a:t>
            </a:r>
            <a:r>
              <a:rPr sz="3200" spc="-10" dirty="0">
                <a:solidFill>
                  <a:srgbClr val="262EA4"/>
                </a:solidFill>
                <a:latin typeface="Calibri"/>
                <a:cs typeface="Calibri"/>
              </a:rPr>
              <a:t>tasks/group</a:t>
            </a:r>
            <a:endParaRPr sz="3200">
              <a:latin typeface="Calibri"/>
              <a:cs typeface="Calibri"/>
            </a:endParaRPr>
          </a:p>
          <a:p>
            <a:pPr marL="527050" marR="5080" indent="-514350">
              <a:lnSpc>
                <a:spcPts val="3500"/>
              </a:lnSpc>
              <a:spcBef>
                <a:spcPts val="950"/>
              </a:spcBef>
              <a:buAutoNum type="arabicPeriod"/>
              <a:tabLst>
                <a:tab pos="527050" algn="l"/>
              </a:tabLst>
            </a:pPr>
            <a:r>
              <a:rPr sz="3200" dirty="0">
                <a:solidFill>
                  <a:srgbClr val="262EA4"/>
                </a:solidFill>
                <a:latin typeface="Calibri"/>
                <a:cs typeface="Calibri"/>
              </a:rPr>
              <a:t>Numbers</a:t>
            </a:r>
            <a:r>
              <a:rPr sz="3200" spc="75" dirty="0">
                <a:solidFill>
                  <a:srgbClr val="262EA4"/>
                </a:solidFill>
                <a:latin typeface="Calibri"/>
                <a:cs typeface="Calibri"/>
              </a:rPr>
              <a:t> </a:t>
            </a:r>
            <a:r>
              <a:rPr sz="3200" dirty="0">
                <a:solidFill>
                  <a:srgbClr val="262EA4"/>
                </a:solidFill>
                <a:latin typeface="Calibri"/>
                <a:cs typeface="Calibri"/>
              </a:rPr>
              <a:t>are</a:t>
            </a:r>
            <a:r>
              <a:rPr sz="3200" spc="65" dirty="0">
                <a:solidFill>
                  <a:srgbClr val="262EA4"/>
                </a:solidFill>
                <a:latin typeface="Calibri"/>
                <a:cs typeface="Calibri"/>
              </a:rPr>
              <a:t> </a:t>
            </a:r>
            <a:r>
              <a:rPr sz="3200" dirty="0">
                <a:solidFill>
                  <a:srgbClr val="262EA4"/>
                </a:solidFill>
                <a:latin typeface="Calibri"/>
                <a:cs typeface="Calibri"/>
              </a:rPr>
              <a:t>important</a:t>
            </a:r>
            <a:r>
              <a:rPr sz="3200" spc="80" dirty="0">
                <a:solidFill>
                  <a:srgbClr val="262EA4"/>
                </a:solidFill>
                <a:latin typeface="Calibri"/>
                <a:cs typeface="Calibri"/>
              </a:rPr>
              <a:t> </a:t>
            </a:r>
            <a:r>
              <a:rPr sz="3200" dirty="0">
                <a:solidFill>
                  <a:srgbClr val="262EA4"/>
                </a:solidFill>
                <a:latin typeface="Calibri"/>
                <a:cs typeface="Calibri"/>
              </a:rPr>
              <a:t>and</a:t>
            </a:r>
            <a:r>
              <a:rPr sz="3200" spc="85" dirty="0">
                <a:solidFill>
                  <a:srgbClr val="262EA4"/>
                </a:solidFill>
                <a:latin typeface="Calibri"/>
                <a:cs typeface="Calibri"/>
              </a:rPr>
              <a:t> </a:t>
            </a:r>
            <a:r>
              <a:rPr sz="3200" dirty="0">
                <a:solidFill>
                  <a:srgbClr val="262EA4"/>
                </a:solidFill>
                <a:latin typeface="Calibri"/>
                <a:cs typeface="Calibri"/>
              </a:rPr>
              <a:t>its</a:t>
            </a:r>
            <a:r>
              <a:rPr sz="3200" spc="70" dirty="0">
                <a:solidFill>
                  <a:srgbClr val="262EA4"/>
                </a:solidFill>
                <a:latin typeface="Calibri"/>
                <a:cs typeface="Calibri"/>
              </a:rPr>
              <a:t> </a:t>
            </a:r>
            <a:r>
              <a:rPr sz="3200" dirty="0">
                <a:solidFill>
                  <a:srgbClr val="262EA4"/>
                </a:solidFill>
                <a:latin typeface="Calibri"/>
                <a:cs typeface="Calibri"/>
              </a:rPr>
              <a:t>relation</a:t>
            </a:r>
            <a:r>
              <a:rPr sz="3200" spc="75" dirty="0">
                <a:solidFill>
                  <a:srgbClr val="262EA4"/>
                </a:solidFill>
                <a:latin typeface="Calibri"/>
                <a:cs typeface="Calibri"/>
              </a:rPr>
              <a:t> </a:t>
            </a:r>
            <a:r>
              <a:rPr sz="3200" dirty="0">
                <a:solidFill>
                  <a:srgbClr val="262EA4"/>
                </a:solidFill>
                <a:latin typeface="Calibri"/>
                <a:cs typeface="Calibri"/>
              </a:rPr>
              <a:t>to</a:t>
            </a:r>
            <a:r>
              <a:rPr sz="3200" spc="75" dirty="0">
                <a:solidFill>
                  <a:srgbClr val="262EA4"/>
                </a:solidFill>
                <a:latin typeface="Calibri"/>
                <a:cs typeface="Calibri"/>
              </a:rPr>
              <a:t> </a:t>
            </a:r>
            <a:r>
              <a:rPr sz="3200" dirty="0">
                <a:solidFill>
                  <a:srgbClr val="262EA4"/>
                </a:solidFill>
                <a:latin typeface="Calibri"/>
                <a:cs typeface="Calibri"/>
              </a:rPr>
              <a:t>practical</a:t>
            </a:r>
            <a:r>
              <a:rPr sz="3200" spc="80" dirty="0">
                <a:solidFill>
                  <a:srgbClr val="262EA4"/>
                </a:solidFill>
                <a:latin typeface="Calibri"/>
                <a:cs typeface="Calibri"/>
              </a:rPr>
              <a:t> </a:t>
            </a:r>
            <a:r>
              <a:rPr sz="3200" dirty="0">
                <a:solidFill>
                  <a:srgbClr val="262EA4"/>
                </a:solidFill>
                <a:latin typeface="Calibri"/>
                <a:cs typeface="Calibri"/>
              </a:rPr>
              <a:t>life</a:t>
            </a:r>
            <a:r>
              <a:rPr sz="3200" spc="65" dirty="0">
                <a:solidFill>
                  <a:srgbClr val="262EA4"/>
                </a:solidFill>
                <a:latin typeface="Calibri"/>
                <a:cs typeface="Calibri"/>
              </a:rPr>
              <a:t> </a:t>
            </a:r>
            <a:r>
              <a:rPr sz="3200" spc="-25" dirty="0">
                <a:solidFill>
                  <a:srgbClr val="262EA4"/>
                </a:solidFill>
                <a:latin typeface="Calibri"/>
                <a:cs typeface="Calibri"/>
              </a:rPr>
              <a:t>are </a:t>
            </a:r>
            <a:r>
              <a:rPr sz="3200" dirty="0">
                <a:solidFill>
                  <a:srgbClr val="262EA4"/>
                </a:solidFill>
                <a:latin typeface="Calibri"/>
                <a:cs typeface="Calibri"/>
              </a:rPr>
              <a:t>important</a:t>
            </a:r>
            <a:r>
              <a:rPr sz="3200" spc="-95" dirty="0">
                <a:solidFill>
                  <a:srgbClr val="262EA4"/>
                </a:solidFill>
                <a:latin typeface="Calibri"/>
                <a:cs typeface="Calibri"/>
              </a:rPr>
              <a:t> </a:t>
            </a:r>
            <a:r>
              <a:rPr sz="3200" dirty="0">
                <a:solidFill>
                  <a:srgbClr val="262EA4"/>
                </a:solidFill>
                <a:latin typeface="Calibri"/>
                <a:cs typeface="Calibri"/>
              </a:rPr>
              <a:t>as</a:t>
            </a:r>
            <a:r>
              <a:rPr sz="3200" spc="-100" dirty="0">
                <a:solidFill>
                  <a:srgbClr val="262EA4"/>
                </a:solidFill>
                <a:latin typeface="Calibri"/>
                <a:cs typeface="Calibri"/>
              </a:rPr>
              <a:t> </a:t>
            </a:r>
            <a:r>
              <a:rPr sz="3200" spc="-20" dirty="0">
                <a:solidFill>
                  <a:srgbClr val="262EA4"/>
                </a:solidFill>
                <a:latin typeface="Calibri"/>
                <a:cs typeface="Calibri"/>
              </a:rPr>
              <a:t>well.</a:t>
            </a:r>
            <a:endParaRPr sz="3200">
              <a:latin typeface="Calibri"/>
              <a:cs typeface="Calibri"/>
            </a:endParaRPr>
          </a:p>
          <a:p>
            <a:pPr marL="618490" indent="-605790">
              <a:lnSpc>
                <a:spcPct val="100000"/>
              </a:lnSpc>
              <a:spcBef>
                <a:spcPts val="615"/>
              </a:spcBef>
              <a:buAutoNum type="arabicPeriod"/>
              <a:tabLst>
                <a:tab pos="618490" algn="l"/>
              </a:tabLst>
            </a:pPr>
            <a:r>
              <a:rPr sz="3200" dirty="0">
                <a:latin typeface="Calibri"/>
                <a:cs typeface="Calibri"/>
              </a:rPr>
              <a:t>Search</a:t>
            </a:r>
            <a:r>
              <a:rPr sz="3200" spc="-95" dirty="0">
                <a:latin typeface="Calibri"/>
                <a:cs typeface="Calibri"/>
              </a:rPr>
              <a:t> </a:t>
            </a:r>
            <a:r>
              <a:rPr sz="3200" dirty="0">
                <a:latin typeface="Calibri"/>
                <a:cs typeface="Calibri"/>
              </a:rPr>
              <a:t>the</a:t>
            </a:r>
            <a:r>
              <a:rPr sz="3200" spc="-100" dirty="0">
                <a:latin typeface="Calibri"/>
                <a:cs typeface="Calibri"/>
              </a:rPr>
              <a:t> </a:t>
            </a:r>
            <a:r>
              <a:rPr sz="3200" dirty="0">
                <a:latin typeface="Calibri"/>
                <a:cs typeface="Calibri"/>
              </a:rPr>
              <a:t>internet</a:t>
            </a:r>
            <a:r>
              <a:rPr sz="3200" spc="-95" dirty="0">
                <a:latin typeface="Calibri"/>
                <a:cs typeface="Calibri"/>
              </a:rPr>
              <a:t> </a:t>
            </a:r>
            <a:r>
              <a:rPr sz="3200" spc="-10" dirty="0">
                <a:latin typeface="Calibri"/>
                <a:cs typeface="Calibri"/>
              </a:rPr>
              <a:t>seriously.</a:t>
            </a:r>
            <a:endParaRPr sz="3200">
              <a:latin typeface="Calibri"/>
              <a:cs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4" dirty="0">
                <a:solidFill>
                  <a:srgbClr val="FF0000"/>
                </a:solidFill>
              </a:rPr>
              <a:t>Project (Buisiness Plan) guidelines </a:t>
            </a:r>
            <a:r>
              <a:rPr sz="1950" spc="-10" dirty="0"/>
              <a:t>(2/2)</a:t>
            </a:r>
            <a:endParaRPr sz="195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73</a:t>
            </a:fld>
            <a:endParaRPr spc="-25" dirty="0"/>
          </a:p>
        </p:txBody>
      </p:sp>
      <p:sp>
        <p:nvSpPr>
          <p:cNvPr id="3" name="object 3"/>
          <p:cNvSpPr txBox="1"/>
          <p:nvPr/>
        </p:nvSpPr>
        <p:spPr>
          <a:xfrm>
            <a:off x="916939" y="1842516"/>
            <a:ext cx="10359390" cy="4094479"/>
          </a:xfrm>
          <a:prstGeom prst="rect">
            <a:avLst/>
          </a:prstGeom>
        </p:spPr>
        <p:txBody>
          <a:bodyPr vert="horz" wrap="square" lIns="0" tIns="65405" rIns="0" bIns="0" rtlCol="0">
            <a:spAutoFit/>
          </a:bodyPr>
          <a:lstStyle/>
          <a:p>
            <a:pPr marL="527050" marR="6350" indent="-514350">
              <a:lnSpc>
                <a:spcPts val="3479"/>
              </a:lnSpc>
              <a:spcBef>
                <a:spcPts val="515"/>
              </a:spcBef>
              <a:buAutoNum type="arabicPeriod" startAt="7"/>
              <a:tabLst>
                <a:tab pos="527050" algn="l"/>
                <a:tab pos="1504315" algn="l"/>
                <a:tab pos="3119120" algn="l"/>
                <a:tab pos="3576320" algn="l"/>
                <a:tab pos="5193030" algn="l"/>
                <a:tab pos="5744845" algn="l"/>
                <a:tab pos="6851650" algn="l"/>
                <a:tab pos="7965440" algn="l"/>
                <a:tab pos="9248140" algn="l"/>
                <a:tab pos="9791065" algn="l"/>
              </a:tabLst>
            </a:pPr>
            <a:r>
              <a:rPr sz="3200" spc="-20" dirty="0">
                <a:solidFill>
                  <a:srgbClr val="262EA4"/>
                </a:solidFill>
                <a:latin typeface="Calibri"/>
                <a:cs typeface="Calibri"/>
              </a:rPr>
              <a:t>Each</a:t>
            </a:r>
            <a:r>
              <a:rPr sz="3200" dirty="0">
                <a:solidFill>
                  <a:srgbClr val="262EA4"/>
                </a:solidFill>
                <a:latin typeface="Calibri"/>
                <a:cs typeface="Calibri"/>
              </a:rPr>
              <a:t>	</a:t>
            </a:r>
            <a:r>
              <a:rPr sz="3200" spc="-10" dirty="0">
                <a:solidFill>
                  <a:srgbClr val="262EA4"/>
                </a:solidFill>
                <a:latin typeface="Calibri"/>
                <a:cs typeface="Calibri"/>
              </a:rPr>
              <a:t>member</a:t>
            </a:r>
            <a:r>
              <a:rPr sz="3200" dirty="0">
                <a:solidFill>
                  <a:srgbClr val="262EA4"/>
                </a:solidFill>
                <a:latin typeface="Calibri"/>
                <a:cs typeface="Calibri"/>
              </a:rPr>
              <a:t>	</a:t>
            </a:r>
            <a:r>
              <a:rPr sz="3200" spc="-25" dirty="0">
                <a:solidFill>
                  <a:srgbClr val="262EA4"/>
                </a:solidFill>
                <a:latin typeface="Calibri"/>
                <a:cs typeface="Calibri"/>
              </a:rPr>
              <a:t>is</a:t>
            </a:r>
            <a:r>
              <a:rPr sz="3200" dirty="0">
                <a:solidFill>
                  <a:srgbClr val="262EA4"/>
                </a:solidFill>
                <a:latin typeface="Calibri"/>
                <a:cs typeface="Calibri"/>
              </a:rPr>
              <a:t>	</a:t>
            </a:r>
            <a:r>
              <a:rPr sz="3200" spc="-10" dirty="0">
                <a:solidFill>
                  <a:srgbClr val="262EA4"/>
                </a:solidFill>
                <a:latin typeface="Calibri"/>
                <a:cs typeface="Calibri"/>
              </a:rPr>
              <a:t>required</a:t>
            </a:r>
            <a:r>
              <a:rPr sz="3200" dirty="0">
                <a:solidFill>
                  <a:srgbClr val="262EA4"/>
                </a:solidFill>
                <a:latin typeface="Calibri"/>
                <a:cs typeface="Calibri"/>
              </a:rPr>
              <a:t>	</a:t>
            </a:r>
            <a:r>
              <a:rPr sz="3200" spc="-25" dirty="0">
                <a:solidFill>
                  <a:srgbClr val="262EA4"/>
                </a:solidFill>
                <a:latin typeface="Calibri"/>
                <a:cs typeface="Calibri"/>
              </a:rPr>
              <a:t>to</a:t>
            </a:r>
            <a:r>
              <a:rPr sz="3200" dirty="0">
                <a:solidFill>
                  <a:srgbClr val="262EA4"/>
                </a:solidFill>
                <a:latin typeface="Calibri"/>
                <a:cs typeface="Calibri"/>
              </a:rPr>
              <a:t>	</a:t>
            </a:r>
            <a:r>
              <a:rPr sz="3200" spc="-20" dirty="0">
                <a:solidFill>
                  <a:srgbClr val="262EA4"/>
                </a:solidFill>
                <a:latin typeface="Calibri"/>
                <a:cs typeface="Calibri"/>
              </a:rPr>
              <a:t>know</a:t>
            </a:r>
            <a:r>
              <a:rPr sz="3200" dirty="0">
                <a:solidFill>
                  <a:srgbClr val="262EA4"/>
                </a:solidFill>
                <a:latin typeface="Calibri"/>
                <a:cs typeface="Calibri"/>
              </a:rPr>
              <a:t>	</a:t>
            </a:r>
            <a:r>
              <a:rPr sz="3200" spc="-10" dirty="0">
                <a:solidFill>
                  <a:srgbClr val="262EA4"/>
                </a:solidFill>
                <a:latin typeface="Calibri"/>
                <a:cs typeface="Calibri"/>
              </a:rPr>
              <a:t>every</a:t>
            </a:r>
            <a:r>
              <a:rPr sz="3200" dirty="0">
                <a:solidFill>
                  <a:srgbClr val="262EA4"/>
                </a:solidFill>
                <a:latin typeface="Calibri"/>
                <a:cs typeface="Calibri"/>
              </a:rPr>
              <a:t>	</a:t>
            </a:r>
            <a:r>
              <a:rPr sz="3200" spc="-10" dirty="0">
                <a:solidFill>
                  <a:srgbClr val="262EA4"/>
                </a:solidFill>
                <a:latin typeface="Calibri"/>
                <a:cs typeface="Calibri"/>
              </a:rPr>
              <a:t>aspect</a:t>
            </a:r>
            <a:r>
              <a:rPr sz="3200" dirty="0">
                <a:solidFill>
                  <a:srgbClr val="262EA4"/>
                </a:solidFill>
                <a:latin typeface="Calibri"/>
                <a:cs typeface="Calibri"/>
              </a:rPr>
              <a:t>	</a:t>
            </a:r>
            <a:r>
              <a:rPr sz="3200" spc="-25" dirty="0">
                <a:solidFill>
                  <a:srgbClr val="262EA4"/>
                </a:solidFill>
                <a:latin typeface="Calibri"/>
                <a:cs typeface="Calibri"/>
              </a:rPr>
              <a:t>of</a:t>
            </a:r>
            <a:r>
              <a:rPr sz="3200" dirty="0">
                <a:solidFill>
                  <a:srgbClr val="262EA4"/>
                </a:solidFill>
                <a:latin typeface="Calibri"/>
                <a:cs typeface="Calibri"/>
              </a:rPr>
              <a:t>	</a:t>
            </a:r>
            <a:r>
              <a:rPr sz="3200" spc="-25" dirty="0">
                <a:solidFill>
                  <a:srgbClr val="262EA4"/>
                </a:solidFill>
                <a:latin typeface="Calibri"/>
                <a:cs typeface="Calibri"/>
              </a:rPr>
              <a:t>the </a:t>
            </a:r>
            <a:r>
              <a:rPr sz="3200" spc="-10" dirty="0">
                <a:solidFill>
                  <a:srgbClr val="262EA4"/>
                </a:solidFill>
                <a:latin typeface="Calibri"/>
                <a:cs typeface="Calibri"/>
              </a:rPr>
              <a:t>project</a:t>
            </a:r>
            <a:endParaRPr sz="3200" dirty="0">
              <a:latin typeface="Calibri"/>
              <a:cs typeface="Calibri"/>
            </a:endParaRPr>
          </a:p>
          <a:p>
            <a:pPr marL="526415" indent="-513715">
              <a:lnSpc>
                <a:spcPct val="100000"/>
              </a:lnSpc>
              <a:spcBef>
                <a:spcPts val="520"/>
              </a:spcBef>
              <a:buAutoNum type="arabicPeriod" startAt="7"/>
              <a:tabLst>
                <a:tab pos="526415" algn="l"/>
              </a:tabLst>
            </a:pPr>
            <a:r>
              <a:rPr sz="3200" dirty="0">
                <a:latin typeface="Calibri"/>
                <a:cs typeface="Calibri"/>
              </a:rPr>
              <a:t>Same</a:t>
            </a:r>
            <a:r>
              <a:rPr sz="3200" spc="-70" dirty="0">
                <a:latin typeface="Calibri"/>
                <a:cs typeface="Calibri"/>
              </a:rPr>
              <a:t> </a:t>
            </a:r>
            <a:r>
              <a:rPr sz="3200" dirty="0">
                <a:latin typeface="Calibri"/>
                <a:cs typeface="Calibri"/>
              </a:rPr>
              <a:t>writing</a:t>
            </a:r>
            <a:r>
              <a:rPr sz="3200" spc="-55" dirty="0">
                <a:latin typeface="Calibri"/>
                <a:cs typeface="Calibri"/>
              </a:rPr>
              <a:t> </a:t>
            </a:r>
            <a:r>
              <a:rPr sz="3200" spc="-10" dirty="0">
                <a:latin typeface="Calibri"/>
                <a:cs typeface="Calibri"/>
              </a:rPr>
              <a:t>style.</a:t>
            </a:r>
            <a:endParaRPr sz="3200" dirty="0">
              <a:latin typeface="Calibri"/>
              <a:cs typeface="Calibri"/>
            </a:endParaRPr>
          </a:p>
          <a:p>
            <a:pPr marL="526415" indent="-513715">
              <a:lnSpc>
                <a:spcPct val="100000"/>
              </a:lnSpc>
              <a:spcBef>
                <a:spcPts val="650"/>
              </a:spcBef>
              <a:buAutoNum type="arabicPeriod" startAt="7"/>
              <a:tabLst>
                <a:tab pos="526415" algn="l"/>
              </a:tabLst>
            </a:pPr>
            <a:r>
              <a:rPr sz="3200" dirty="0">
                <a:solidFill>
                  <a:srgbClr val="262EA4"/>
                </a:solidFill>
                <a:latin typeface="Calibri"/>
                <a:cs typeface="Calibri"/>
              </a:rPr>
              <a:t>Follow</a:t>
            </a:r>
            <a:r>
              <a:rPr sz="3200" spc="-80" dirty="0">
                <a:solidFill>
                  <a:srgbClr val="262EA4"/>
                </a:solidFill>
                <a:latin typeface="Calibri"/>
                <a:cs typeface="Calibri"/>
              </a:rPr>
              <a:t> </a:t>
            </a:r>
            <a:r>
              <a:rPr sz="3200" dirty="0">
                <a:solidFill>
                  <a:srgbClr val="262EA4"/>
                </a:solidFill>
                <a:latin typeface="Calibri"/>
                <a:cs typeface="Calibri"/>
              </a:rPr>
              <a:t>the</a:t>
            </a:r>
            <a:r>
              <a:rPr sz="3200" spc="-80" dirty="0">
                <a:solidFill>
                  <a:srgbClr val="262EA4"/>
                </a:solidFill>
                <a:latin typeface="Calibri"/>
                <a:cs typeface="Calibri"/>
              </a:rPr>
              <a:t> </a:t>
            </a:r>
            <a:r>
              <a:rPr sz="3200" spc="-10" dirty="0">
                <a:solidFill>
                  <a:srgbClr val="262EA4"/>
                </a:solidFill>
                <a:latin typeface="Calibri"/>
                <a:cs typeface="Calibri"/>
              </a:rPr>
              <a:t>professional</a:t>
            </a:r>
            <a:r>
              <a:rPr sz="3200" spc="-70" dirty="0">
                <a:solidFill>
                  <a:srgbClr val="262EA4"/>
                </a:solidFill>
                <a:latin typeface="Calibri"/>
                <a:cs typeface="Calibri"/>
              </a:rPr>
              <a:t> </a:t>
            </a:r>
            <a:r>
              <a:rPr sz="3200" dirty="0">
                <a:solidFill>
                  <a:srgbClr val="262EA4"/>
                </a:solidFill>
                <a:latin typeface="Calibri"/>
                <a:cs typeface="Calibri"/>
              </a:rPr>
              <a:t>writing</a:t>
            </a:r>
            <a:r>
              <a:rPr sz="3200" spc="-80" dirty="0">
                <a:solidFill>
                  <a:srgbClr val="262EA4"/>
                </a:solidFill>
                <a:latin typeface="Calibri"/>
                <a:cs typeface="Calibri"/>
              </a:rPr>
              <a:t> </a:t>
            </a:r>
            <a:r>
              <a:rPr sz="3200" spc="-10" dirty="0">
                <a:solidFill>
                  <a:srgbClr val="262EA4"/>
                </a:solidFill>
                <a:latin typeface="Calibri"/>
                <a:cs typeface="Calibri"/>
              </a:rPr>
              <a:t>guidelines.</a:t>
            </a:r>
            <a:endParaRPr sz="3200" dirty="0">
              <a:latin typeface="Calibri"/>
              <a:cs typeface="Calibri"/>
            </a:endParaRPr>
          </a:p>
          <a:p>
            <a:pPr marL="527685" indent="-520700">
              <a:lnSpc>
                <a:spcPct val="100000"/>
              </a:lnSpc>
              <a:spcBef>
                <a:spcPts val="575"/>
              </a:spcBef>
              <a:buSzPct val="95312"/>
              <a:buAutoNum type="arabicPeriod" startAt="7"/>
              <a:tabLst>
                <a:tab pos="527685" algn="l"/>
              </a:tabLst>
            </a:pPr>
            <a:r>
              <a:rPr sz="3200" dirty="0">
                <a:latin typeface="Calibri"/>
                <a:cs typeface="Calibri"/>
              </a:rPr>
              <a:t>A</a:t>
            </a:r>
            <a:r>
              <a:rPr sz="3200" spc="-45" dirty="0">
                <a:latin typeface="Calibri"/>
                <a:cs typeface="Calibri"/>
              </a:rPr>
              <a:t> </a:t>
            </a:r>
            <a:r>
              <a:rPr sz="3200" dirty="0">
                <a:latin typeface="Calibri"/>
                <a:cs typeface="Calibri"/>
              </a:rPr>
              <a:t>report</a:t>
            </a:r>
            <a:r>
              <a:rPr sz="3200" spc="-40" dirty="0">
                <a:latin typeface="Calibri"/>
                <a:cs typeface="Calibri"/>
              </a:rPr>
              <a:t> </a:t>
            </a:r>
            <a:r>
              <a:rPr sz="3200" dirty="0">
                <a:latin typeface="Calibri"/>
                <a:cs typeface="Calibri"/>
              </a:rPr>
              <a:t>(15</a:t>
            </a:r>
            <a:r>
              <a:rPr sz="3200" spc="-40" dirty="0">
                <a:latin typeface="Calibri"/>
                <a:cs typeface="Calibri"/>
              </a:rPr>
              <a:t> </a:t>
            </a:r>
            <a:r>
              <a:rPr sz="3200" dirty="0">
                <a:latin typeface="Calibri"/>
                <a:cs typeface="Calibri"/>
              </a:rPr>
              <a:t>–</a:t>
            </a:r>
            <a:r>
              <a:rPr sz="3200" spc="-40" dirty="0">
                <a:latin typeface="Calibri"/>
                <a:cs typeface="Calibri"/>
              </a:rPr>
              <a:t> </a:t>
            </a:r>
            <a:r>
              <a:rPr sz="3200" dirty="0">
                <a:latin typeface="Calibri"/>
                <a:cs typeface="Calibri"/>
              </a:rPr>
              <a:t>20</a:t>
            </a:r>
            <a:r>
              <a:rPr sz="3200" spc="-40" dirty="0">
                <a:latin typeface="Calibri"/>
                <a:cs typeface="Calibri"/>
              </a:rPr>
              <a:t> </a:t>
            </a:r>
            <a:r>
              <a:rPr sz="3200" dirty="0">
                <a:latin typeface="Calibri"/>
                <a:cs typeface="Calibri"/>
              </a:rPr>
              <a:t>pages)</a:t>
            </a:r>
            <a:r>
              <a:rPr sz="3200" spc="-40" dirty="0">
                <a:latin typeface="Calibri"/>
                <a:cs typeface="Calibri"/>
              </a:rPr>
              <a:t> </a:t>
            </a:r>
            <a:r>
              <a:rPr sz="3200" dirty="0">
                <a:latin typeface="Calibri"/>
                <a:cs typeface="Calibri"/>
              </a:rPr>
              <a:t>will</a:t>
            </a:r>
            <a:r>
              <a:rPr sz="3200" spc="-40" dirty="0">
                <a:latin typeface="Calibri"/>
                <a:cs typeface="Calibri"/>
              </a:rPr>
              <a:t> </a:t>
            </a:r>
            <a:r>
              <a:rPr sz="3200" dirty="0">
                <a:latin typeface="Calibri"/>
                <a:cs typeface="Calibri"/>
              </a:rPr>
              <a:t>be</a:t>
            </a:r>
            <a:r>
              <a:rPr sz="3200" spc="-50" dirty="0">
                <a:latin typeface="Calibri"/>
                <a:cs typeface="Calibri"/>
              </a:rPr>
              <a:t> </a:t>
            </a:r>
            <a:r>
              <a:rPr sz="3200" spc="-10" dirty="0">
                <a:latin typeface="Calibri"/>
                <a:cs typeface="Calibri"/>
              </a:rPr>
              <a:t>required.</a:t>
            </a:r>
            <a:endParaRPr sz="3200" dirty="0">
              <a:latin typeface="Calibri"/>
              <a:cs typeface="Calibri"/>
            </a:endParaRPr>
          </a:p>
          <a:p>
            <a:pPr marL="527050" marR="5080" indent="-520065" algn="just">
              <a:lnSpc>
                <a:spcPct val="90000"/>
              </a:lnSpc>
              <a:spcBef>
                <a:spcPts val="1030"/>
              </a:spcBef>
              <a:buSzPct val="95312"/>
              <a:buAutoNum type="arabicPeriod" startAt="7"/>
              <a:tabLst>
                <a:tab pos="527050" algn="l"/>
              </a:tabLst>
            </a:pPr>
            <a:r>
              <a:rPr sz="3200" dirty="0">
                <a:solidFill>
                  <a:srgbClr val="262EA4"/>
                </a:solidFill>
                <a:latin typeface="Calibri"/>
                <a:cs typeface="Calibri"/>
              </a:rPr>
              <a:t>Using</a:t>
            </a:r>
            <a:r>
              <a:rPr sz="3200" spc="685" dirty="0">
                <a:solidFill>
                  <a:srgbClr val="262EA4"/>
                </a:solidFill>
                <a:latin typeface="Calibri"/>
                <a:cs typeface="Calibri"/>
              </a:rPr>
              <a:t> </a:t>
            </a:r>
            <a:r>
              <a:rPr sz="3200" dirty="0">
                <a:solidFill>
                  <a:srgbClr val="262EA4"/>
                </a:solidFill>
                <a:latin typeface="Calibri"/>
                <a:cs typeface="Calibri"/>
              </a:rPr>
              <a:t>Microsoft</a:t>
            </a:r>
            <a:r>
              <a:rPr sz="3200" spc="685" dirty="0">
                <a:solidFill>
                  <a:srgbClr val="262EA4"/>
                </a:solidFill>
                <a:latin typeface="Calibri"/>
                <a:cs typeface="Calibri"/>
              </a:rPr>
              <a:t> </a:t>
            </a:r>
            <a:r>
              <a:rPr sz="3200" dirty="0">
                <a:solidFill>
                  <a:srgbClr val="262EA4"/>
                </a:solidFill>
                <a:latin typeface="Calibri"/>
                <a:cs typeface="Calibri"/>
              </a:rPr>
              <a:t>Project</a:t>
            </a:r>
            <a:r>
              <a:rPr sz="3200" spc="685" dirty="0">
                <a:solidFill>
                  <a:srgbClr val="262EA4"/>
                </a:solidFill>
                <a:latin typeface="Calibri"/>
                <a:cs typeface="Calibri"/>
              </a:rPr>
              <a:t> </a:t>
            </a:r>
            <a:r>
              <a:rPr sz="3200" dirty="0">
                <a:solidFill>
                  <a:srgbClr val="262EA4"/>
                </a:solidFill>
                <a:latin typeface="Calibri"/>
                <a:cs typeface="Calibri"/>
              </a:rPr>
              <a:t>is</a:t>
            </a:r>
            <a:r>
              <a:rPr sz="3200" spc="680" dirty="0">
                <a:solidFill>
                  <a:srgbClr val="262EA4"/>
                </a:solidFill>
                <a:latin typeface="Calibri"/>
                <a:cs typeface="Calibri"/>
              </a:rPr>
              <a:t> </a:t>
            </a:r>
            <a:r>
              <a:rPr sz="3200" dirty="0">
                <a:solidFill>
                  <a:srgbClr val="262EA4"/>
                </a:solidFill>
                <a:latin typeface="Calibri"/>
                <a:cs typeface="Calibri"/>
              </a:rPr>
              <a:t>a</a:t>
            </a:r>
            <a:r>
              <a:rPr sz="3200" spc="685" dirty="0">
                <a:solidFill>
                  <a:srgbClr val="262EA4"/>
                </a:solidFill>
                <a:latin typeface="Calibri"/>
                <a:cs typeface="Calibri"/>
              </a:rPr>
              <a:t> </a:t>
            </a:r>
            <a:r>
              <a:rPr sz="3200" dirty="0">
                <a:solidFill>
                  <a:srgbClr val="262EA4"/>
                </a:solidFill>
                <a:latin typeface="Calibri"/>
                <a:cs typeface="Calibri"/>
              </a:rPr>
              <a:t>must</a:t>
            </a:r>
            <a:r>
              <a:rPr sz="3200" spc="685" dirty="0">
                <a:solidFill>
                  <a:srgbClr val="262EA4"/>
                </a:solidFill>
                <a:latin typeface="Calibri"/>
                <a:cs typeface="Calibri"/>
              </a:rPr>
              <a:t> </a:t>
            </a:r>
            <a:r>
              <a:rPr sz="3200" dirty="0">
                <a:solidFill>
                  <a:srgbClr val="262EA4"/>
                </a:solidFill>
                <a:latin typeface="Calibri"/>
                <a:cs typeface="Calibri"/>
              </a:rPr>
              <a:t>(or</a:t>
            </a:r>
            <a:r>
              <a:rPr sz="3200" spc="675" dirty="0">
                <a:solidFill>
                  <a:srgbClr val="262EA4"/>
                </a:solidFill>
                <a:latin typeface="Calibri"/>
                <a:cs typeface="Calibri"/>
              </a:rPr>
              <a:t> </a:t>
            </a:r>
            <a:r>
              <a:rPr sz="3200" dirty="0">
                <a:solidFill>
                  <a:srgbClr val="262EA4"/>
                </a:solidFill>
                <a:latin typeface="Calibri"/>
                <a:cs typeface="Calibri"/>
              </a:rPr>
              <a:t>at</a:t>
            </a:r>
            <a:r>
              <a:rPr sz="3200" spc="690" dirty="0">
                <a:solidFill>
                  <a:srgbClr val="262EA4"/>
                </a:solidFill>
                <a:latin typeface="Calibri"/>
                <a:cs typeface="Calibri"/>
              </a:rPr>
              <a:t> </a:t>
            </a:r>
            <a:r>
              <a:rPr sz="3200" dirty="0">
                <a:solidFill>
                  <a:srgbClr val="262EA4"/>
                </a:solidFill>
                <a:latin typeface="Calibri"/>
                <a:cs typeface="Calibri"/>
              </a:rPr>
              <a:t>least</a:t>
            </a:r>
            <a:r>
              <a:rPr sz="3200" spc="680" dirty="0">
                <a:solidFill>
                  <a:srgbClr val="262EA4"/>
                </a:solidFill>
                <a:latin typeface="Calibri"/>
                <a:cs typeface="Calibri"/>
              </a:rPr>
              <a:t> </a:t>
            </a:r>
            <a:r>
              <a:rPr sz="3200" spc="-10" dirty="0">
                <a:solidFill>
                  <a:srgbClr val="262EA4"/>
                </a:solidFill>
                <a:latin typeface="Calibri"/>
                <a:cs typeface="Calibri"/>
              </a:rPr>
              <a:t>Microsoft </a:t>
            </a:r>
            <a:r>
              <a:rPr sz="3200" dirty="0">
                <a:solidFill>
                  <a:srgbClr val="262EA4"/>
                </a:solidFill>
                <a:latin typeface="Calibri"/>
                <a:cs typeface="Calibri"/>
              </a:rPr>
              <a:t>Excel)</a:t>
            </a:r>
            <a:r>
              <a:rPr sz="3200" spc="225" dirty="0">
                <a:solidFill>
                  <a:srgbClr val="262EA4"/>
                </a:solidFill>
                <a:latin typeface="Calibri"/>
                <a:cs typeface="Calibri"/>
              </a:rPr>
              <a:t>  </a:t>
            </a:r>
            <a:r>
              <a:rPr sz="3200" dirty="0">
                <a:solidFill>
                  <a:srgbClr val="262EA4"/>
                </a:solidFill>
                <a:latin typeface="Calibri"/>
                <a:cs typeface="Calibri"/>
              </a:rPr>
              <a:t>during</a:t>
            </a:r>
            <a:r>
              <a:rPr sz="3200" spc="225" dirty="0">
                <a:solidFill>
                  <a:srgbClr val="262EA4"/>
                </a:solidFill>
                <a:latin typeface="Calibri"/>
                <a:cs typeface="Calibri"/>
              </a:rPr>
              <a:t>  </a:t>
            </a:r>
            <a:r>
              <a:rPr sz="3200" dirty="0">
                <a:solidFill>
                  <a:srgbClr val="262EA4"/>
                </a:solidFill>
                <a:latin typeface="Calibri"/>
                <a:cs typeface="Calibri"/>
              </a:rPr>
              <a:t>the</a:t>
            </a:r>
            <a:r>
              <a:rPr sz="3200" spc="220" dirty="0">
                <a:solidFill>
                  <a:srgbClr val="262EA4"/>
                </a:solidFill>
                <a:latin typeface="Calibri"/>
                <a:cs typeface="Calibri"/>
              </a:rPr>
              <a:t>  </a:t>
            </a:r>
            <a:r>
              <a:rPr sz="3200" dirty="0">
                <a:solidFill>
                  <a:srgbClr val="262EA4"/>
                </a:solidFill>
                <a:latin typeface="Calibri"/>
                <a:cs typeface="Calibri"/>
              </a:rPr>
              <a:t>project</a:t>
            </a:r>
            <a:r>
              <a:rPr sz="3200" spc="225" dirty="0">
                <a:solidFill>
                  <a:srgbClr val="262EA4"/>
                </a:solidFill>
                <a:latin typeface="Calibri"/>
                <a:cs typeface="Calibri"/>
              </a:rPr>
              <a:t>  </a:t>
            </a:r>
            <a:r>
              <a:rPr sz="3200" dirty="0">
                <a:solidFill>
                  <a:srgbClr val="262EA4"/>
                </a:solidFill>
                <a:latin typeface="Calibri"/>
                <a:cs typeface="Calibri"/>
              </a:rPr>
              <a:t>preparation</a:t>
            </a:r>
            <a:r>
              <a:rPr sz="3200" spc="225" dirty="0">
                <a:solidFill>
                  <a:srgbClr val="262EA4"/>
                </a:solidFill>
                <a:latin typeface="Calibri"/>
                <a:cs typeface="Calibri"/>
              </a:rPr>
              <a:t>  </a:t>
            </a:r>
            <a:r>
              <a:rPr sz="3200" dirty="0">
                <a:solidFill>
                  <a:srgbClr val="262EA4"/>
                </a:solidFill>
                <a:latin typeface="Calibri"/>
                <a:cs typeface="Calibri"/>
              </a:rPr>
              <a:t>and</a:t>
            </a:r>
            <a:r>
              <a:rPr sz="3200" spc="229" dirty="0">
                <a:solidFill>
                  <a:srgbClr val="262EA4"/>
                </a:solidFill>
                <a:latin typeface="Calibri"/>
                <a:cs typeface="Calibri"/>
              </a:rPr>
              <a:t>  </a:t>
            </a:r>
            <a:r>
              <a:rPr sz="3200" dirty="0">
                <a:solidFill>
                  <a:srgbClr val="262EA4"/>
                </a:solidFill>
                <a:latin typeface="Calibri"/>
                <a:cs typeface="Calibri"/>
              </a:rPr>
              <a:t>it</a:t>
            </a:r>
            <a:r>
              <a:rPr sz="3200" spc="225" dirty="0">
                <a:solidFill>
                  <a:srgbClr val="262EA4"/>
                </a:solidFill>
                <a:latin typeface="Calibri"/>
                <a:cs typeface="Calibri"/>
              </a:rPr>
              <a:t>  </a:t>
            </a:r>
            <a:r>
              <a:rPr sz="3200" dirty="0">
                <a:solidFill>
                  <a:srgbClr val="262EA4"/>
                </a:solidFill>
                <a:latin typeface="Calibri"/>
                <a:cs typeface="Calibri"/>
              </a:rPr>
              <a:t>must</a:t>
            </a:r>
            <a:r>
              <a:rPr sz="3200" spc="225" dirty="0">
                <a:solidFill>
                  <a:srgbClr val="262EA4"/>
                </a:solidFill>
                <a:latin typeface="Calibri"/>
                <a:cs typeface="Calibri"/>
              </a:rPr>
              <a:t>  </a:t>
            </a:r>
            <a:r>
              <a:rPr sz="3200" spc="-25" dirty="0">
                <a:solidFill>
                  <a:srgbClr val="262EA4"/>
                </a:solidFill>
                <a:latin typeface="Calibri"/>
                <a:cs typeface="Calibri"/>
              </a:rPr>
              <a:t>be </a:t>
            </a:r>
            <a:r>
              <a:rPr sz="3200" spc="-10" dirty="0">
                <a:solidFill>
                  <a:srgbClr val="262EA4"/>
                </a:solidFill>
                <a:latin typeface="Calibri"/>
                <a:cs typeface="Calibri"/>
              </a:rPr>
              <a:t>submitted</a:t>
            </a:r>
            <a:r>
              <a:rPr sz="3200" spc="-65" dirty="0">
                <a:solidFill>
                  <a:srgbClr val="262EA4"/>
                </a:solidFill>
                <a:latin typeface="Calibri"/>
                <a:cs typeface="Calibri"/>
              </a:rPr>
              <a:t> </a:t>
            </a:r>
            <a:r>
              <a:rPr sz="3200" dirty="0">
                <a:solidFill>
                  <a:srgbClr val="262EA4"/>
                </a:solidFill>
                <a:latin typeface="Calibri"/>
                <a:cs typeface="Calibri"/>
              </a:rPr>
              <a:t>with</a:t>
            </a:r>
            <a:r>
              <a:rPr sz="3200" spc="-65" dirty="0">
                <a:solidFill>
                  <a:srgbClr val="262EA4"/>
                </a:solidFill>
                <a:latin typeface="Calibri"/>
                <a:cs typeface="Calibri"/>
              </a:rPr>
              <a:t> </a:t>
            </a:r>
            <a:r>
              <a:rPr sz="3200" dirty="0">
                <a:solidFill>
                  <a:srgbClr val="262EA4"/>
                </a:solidFill>
                <a:latin typeface="Calibri"/>
                <a:cs typeface="Calibri"/>
              </a:rPr>
              <a:t>the</a:t>
            </a:r>
            <a:r>
              <a:rPr sz="3200" spc="-70" dirty="0">
                <a:solidFill>
                  <a:srgbClr val="262EA4"/>
                </a:solidFill>
                <a:latin typeface="Calibri"/>
                <a:cs typeface="Calibri"/>
              </a:rPr>
              <a:t> </a:t>
            </a:r>
            <a:r>
              <a:rPr sz="3200" dirty="0">
                <a:solidFill>
                  <a:srgbClr val="262EA4"/>
                </a:solidFill>
                <a:latin typeface="Calibri"/>
                <a:cs typeface="Calibri"/>
              </a:rPr>
              <a:t>report</a:t>
            </a:r>
            <a:r>
              <a:rPr sz="3200" spc="-70" dirty="0">
                <a:solidFill>
                  <a:srgbClr val="262EA4"/>
                </a:solidFill>
                <a:latin typeface="Calibri"/>
                <a:cs typeface="Calibri"/>
              </a:rPr>
              <a:t> </a:t>
            </a:r>
            <a:r>
              <a:rPr sz="3200" spc="-10" dirty="0">
                <a:solidFill>
                  <a:srgbClr val="262EA4"/>
                </a:solidFill>
                <a:latin typeface="Calibri"/>
                <a:cs typeface="Calibri"/>
              </a:rPr>
              <a:t>(</a:t>
            </a:r>
            <a:r>
              <a:rPr sz="3200" u="heavy" spc="-10" dirty="0">
                <a:solidFill>
                  <a:srgbClr val="C00000"/>
                </a:solidFill>
                <a:uFill>
                  <a:solidFill>
                    <a:srgbClr val="C00000"/>
                  </a:solidFill>
                </a:uFill>
                <a:latin typeface="Calibri"/>
                <a:cs typeface="Calibri"/>
              </a:rPr>
              <a:t>pdf</a:t>
            </a:r>
            <a:r>
              <a:rPr sz="3200" spc="-10" dirty="0">
                <a:solidFill>
                  <a:srgbClr val="262EA4"/>
                </a:solidFill>
                <a:latin typeface="Calibri"/>
                <a:cs typeface="Calibri"/>
              </a:rPr>
              <a:t>).</a:t>
            </a:r>
            <a:endParaRPr sz="3200" dirty="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436</TotalTime>
  <Words>11470</Words>
  <Application>Microsoft Office PowerPoint</Application>
  <PresentationFormat>Widescreen</PresentationFormat>
  <Paragraphs>940</Paragraphs>
  <Slides>73</Slides>
  <Notes>28</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73</vt:i4>
      </vt:variant>
    </vt:vector>
  </HeadingPairs>
  <TitlesOfParts>
    <vt:vector size="87" baseType="lpstr">
      <vt:lpstr>Arial</vt:lpstr>
      <vt:lpstr>Arial MT</vt:lpstr>
      <vt:lpstr>Calibri</vt:lpstr>
      <vt:lpstr>Calibri Light</vt:lpstr>
      <vt:lpstr>Consolas</vt:lpstr>
      <vt:lpstr>Georgia</vt:lpstr>
      <vt:lpstr>Inter</vt:lpstr>
      <vt:lpstr>Open Sans</vt:lpstr>
      <vt:lpstr>Poppins</vt:lpstr>
      <vt:lpstr>Roboto</vt:lpstr>
      <vt:lpstr>Tasaorbiterdeck Bold</vt:lpstr>
      <vt:lpstr>Times New Roman</vt:lpstr>
      <vt:lpstr>Wingdings</vt:lpstr>
      <vt:lpstr>Office Theme</vt:lpstr>
      <vt:lpstr>Organization Structure</vt:lpstr>
      <vt:lpstr>Selection Criteria</vt:lpstr>
      <vt:lpstr>Financial Criteria: The Payback Model</vt:lpstr>
      <vt:lpstr>Example 1: Comparing Two Projects Using Payback Method</vt:lpstr>
      <vt:lpstr>Example 2</vt:lpstr>
      <vt:lpstr>Solution</vt:lpstr>
      <vt:lpstr>Solution </vt:lpstr>
      <vt:lpstr>Payload</vt:lpstr>
      <vt:lpstr>Example 1: Payload </vt:lpstr>
      <vt:lpstr>Financial Criteria: Net Present Value (NPV)</vt:lpstr>
      <vt:lpstr>Example 1: Comparing Two Projects Using NPV Method</vt:lpstr>
      <vt:lpstr>Example 2:</vt:lpstr>
      <vt:lpstr>Example 3:</vt:lpstr>
      <vt:lpstr>Calculate NPV </vt:lpstr>
      <vt:lpstr>Solution </vt:lpstr>
      <vt:lpstr>PowerPoint Presentation</vt:lpstr>
      <vt:lpstr>Calculate payload </vt:lpstr>
      <vt:lpstr>Solution </vt:lpstr>
      <vt:lpstr>Nonfinancial Criteria</vt:lpstr>
      <vt:lpstr>Two Multi-Criteria Selection Models</vt:lpstr>
      <vt:lpstr>Checklist Model: Sample Selection Questions used in Practice</vt:lpstr>
      <vt:lpstr>Two Multi-Criteria Selection Models</vt:lpstr>
      <vt:lpstr>PowerPoint Presentation</vt:lpstr>
      <vt:lpstr>Aspects of applying a Selection Model</vt:lpstr>
      <vt:lpstr>Aspects of applying a Selection Model</vt:lpstr>
      <vt:lpstr>Project Management Structures</vt:lpstr>
      <vt:lpstr>Project Management Structures</vt:lpstr>
      <vt:lpstr>Why is it Important? </vt:lpstr>
      <vt:lpstr>Functional Approach — Functional Organization</vt:lpstr>
      <vt:lpstr>Functional Organization example (1/4)</vt:lpstr>
      <vt:lpstr>Functional Organization example (1/4)</vt:lpstr>
      <vt:lpstr>Functional Organization (2/4)</vt:lpstr>
      <vt:lpstr>Functional Organization (3/4)</vt:lpstr>
      <vt:lpstr>Functional Organization (4/4)</vt:lpstr>
      <vt:lpstr>Dedicated Project Teams (1/5)</vt:lpstr>
      <vt:lpstr>Dedicated Project Teams example (2/5)</vt:lpstr>
      <vt:lpstr>Dedicated Project Teams example(2/5)</vt:lpstr>
      <vt:lpstr>Dedicated Project Teams (3/5)</vt:lpstr>
      <vt:lpstr>Dedicated Project Teams (4/5)</vt:lpstr>
      <vt:lpstr>Dedicated Project Teams (5/5)</vt:lpstr>
      <vt:lpstr>Matrix Arrangement (1/5)</vt:lpstr>
      <vt:lpstr>Matrix Arrangement example (2/5)</vt:lpstr>
      <vt:lpstr>Matrix Arrangement example(2/5)</vt:lpstr>
      <vt:lpstr>Matrix Arrangement (3/5)</vt:lpstr>
      <vt:lpstr>Matrix Arrangement (4/5)</vt:lpstr>
      <vt:lpstr>Matrix Arrangement (5/5)</vt:lpstr>
      <vt:lpstr>Different Matrix Forms (1/3)</vt:lpstr>
      <vt:lpstr>Different Matrix Forms (2/3)</vt:lpstr>
      <vt:lpstr>Different Matrix Forms (3/3)</vt:lpstr>
      <vt:lpstr>Comparison </vt:lpstr>
      <vt:lpstr>Composite (Hybrid) Structure </vt:lpstr>
      <vt:lpstr>Comparison </vt:lpstr>
      <vt:lpstr>Features of Project Organization Structure </vt:lpstr>
      <vt:lpstr>How to Make a Project Organizational Chart? ‍ </vt:lpstr>
      <vt:lpstr>Impact of Organizational Structure on Project Management </vt:lpstr>
      <vt:lpstr>What is the Right Project Management Structure? (1/4)</vt:lpstr>
      <vt:lpstr>What is the Right Project Management Structure? (2/4)</vt:lpstr>
      <vt:lpstr>What is the Right Project Management Structure? (3/4)</vt:lpstr>
      <vt:lpstr>What is the Right Project Management Structure? (4/4)</vt:lpstr>
      <vt:lpstr>PowerPoint Presentation</vt:lpstr>
      <vt:lpstr>Defining the Project</vt:lpstr>
      <vt:lpstr>PowerPoint Presentation</vt:lpstr>
      <vt:lpstr>1- Defining the Project Scope (1/2)</vt:lpstr>
      <vt:lpstr>1- Defining the Project Scope (2/2)</vt:lpstr>
      <vt:lpstr>Employing a Project Scope Checklist (1/5)</vt:lpstr>
      <vt:lpstr>Employing a Project Scope Checklist (2/5)</vt:lpstr>
      <vt:lpstr>Employing a Project Scope Checklist (3/5)</vt:lpstr>
      <vt:lpstr>Employing a Project Scope Checklist (4/5)</vt:lpstr>
      <vt:lpstr>Employing a Project Scope Checklist (5/5)</vt:lpstr>
      <vt:lpstr>Assignment 2</vt:lpstr>
      <vt:lpstr>Exercise 2</vt:lpstr>
      <vt:lpstr>Project guidelines (1/2)</vt:lpstr>
      <vt:lpstr>Project (Buisiness Plan) guidelines (2/2)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 Structure</dc:title>
  <dc:creator>BASHA</dc:creator>
  <cp:lastModifiedBy>Zahraa.Ismail</cp:lastModifiedBy>
  <cp:revision>81</cp:revision>
  <dcterms:created xsi:type="dcterms:W3CDTF">2025-07-31T07:39:14Z</dcterms:created>
  <dcterms:modified xsi:type="dcterms:W3CDTF">2025-10-14T07:15:08Z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2024-02-26T00:00:00Z</vt:filetime>
  </property>
  <property fmtid="{D5CDD505-2E9C-101B-9397-08002B2CF9AE}" pid="3" name="LastSaved">
    <vt:filetime>2025-07-31T00:00:00Z</vt:filetime>
  </property>
  <property fmtid="{D5CDD505-2E9C-101B-9397-08002B2CF9AE}" pid="4" name="Producer">
    <vt:lpwstr>macOS Version 12.2.1 (Build 21D62) Quartz PDFContext</vt:lpwstr>
  </property>
</Properties>
</file>