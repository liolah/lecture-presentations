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82" r:id="rId10"/>
    <p:sldId id="264" r:id="rId11"/>
    <p:sldId id="265" r:id="rId12"/>
    <p:sldId id="266" r:id="rId13"/>
    <p:sldId id="284" r:id="rId14"/>
    <p:sldId id="285" r:id="rId15"/>
    <p:sldId id="267" r:id="rId16"/>
    <p:sldId id="287" r:id="rId17"/>
    <p:sldId id="268" r:id="rId18"/>
    <p:sldId id="269" r:id="rId19"/>
    <p:sldId id="270" r:id="rId20"/>
    <p:sldId id="271" r:id="rId21"/>
    <p:sldId id="272" r:id="rId22"/>
    <p:sldId id="273" r:id="rId23"/>
    <p:sldId id="274" r:id="rId24"/>
    <p:sldId id="275"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201" autoAdjust="0"/>
  </p:normalViewPr>
  <p:slideViewPr>
    <p:cSldViewPr>
      <p:cViewPr varScale="1">
        <p:scale>
          <a:sx n="86" d="100"/>
          <a:sy n="86" d="100"/>
        </p:scale>
        <p:origin x="70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B104198-4009-4D84-826E-467FE59FE6DC}" type="datetimeFigureOut">
              <a:rPr lang="en-US" smtClean="0"/>
              <a:t>11/23/2025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8E77139-B5B0-4B4D-984A-9B5ADFF6527D}" type="slidenum">
              <a:rPr lang="en-US" smtClean="0"/>
              <a:t>‹#›</a:t>
            </a:fld>
            <a:endParaRPr lang="en-US"/>
          </a:p>
        </p:txBody>
      </p:sp>
    </p:spTree>
    <p:extLst>
      <p:ext uri="{BB962C8B-B14F-4D97-AF65-F5344CB8AC3E}">
        <p14:creationId xmlns:p14="http://schemas.microsoft.com/office/powerpoint/2010/main" val="2665847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ar-EG" sz="1200" b="0" i="0" kern="1200" dirty="0">
                <a:solidFill>
                  <a:schemeClr val="tx1"/>
                </a:solidFill>
                <a:effectLst/>
                <a:latin typeface="+mn-lt"/>
                <a:ea typeface="+mn-ea"/>
                <a:cs typeface="+mn-cs"/>
              </a:rPr>
              <a:t>لا تُعتبر أوقات شبكة المشروع جدولاً زمنيًا إلا بعد تخصيص الموارد. </a:t>
            </a:r>
            <a:r>
              <a:rPr lang="ar-EG" sz="1200" b="0" i="0" kern="1200">
                <a:solidFill>
                  <a:schemeClr val="tx1"/>
                </a:solidFill>
                <a:effectLst/>
                <a:latin typeface="+mn-lt"/>
                <a:ea typeface="+mn-ea"/>
                <a:cs typeface="+mn-cs"/>
              </a:rPr>
              <a:t>ولا تُعتبر تقديرات التكلفة ميزانية إلا بعد تقسيمها إلى مراحل زمنية.</a:t>
            </a:r>
          </a:p>
          <a:p>
            <a:endParaRPr lang="en-US"/>
          </a:p>
        </p:txBody>
      </p:sp>
      <p:sp>
        <p:nvSpPr>
          <p:cNvPr id="4" name="Slide Number Placeholder 3"/>
          <p:cNvSpPr>
            <a:spLocks noGrp="1"/>
          </p:cNvSpPr>
          <p:nvPr>
            <p:ph type="sldNum" sz="quarter" idx="5"/>
          </p:nvPr>
        </p:nvSpPr>
        <p:spPr/>
        <p:txBody>
          <a:bodyPr/>
          <a:lstStyle/>
          <a:p>
            <a:fld id="{A8E77139-B5B0-4B4D-984A-9B5ADFF6527D}" type="slidenum">
              <a:rPr lang="en-US" smtClean="0"/>
              <a:t>2</a:t>
            </a:fld>
            <a:endParaRPr lang="en-US"/>
          </a:p>
        </p:txBody>
      </p:sp>
    </p:spTree>
    <p:extLst>
      <p:ext uri="{BB962C8B-B14F-4D97-AF65-F5344CB8AC3E}">
        <p14:creationId xmlns:p14="http://schemas.microsoft.com/office/powerpoint/2010/main" val="2991149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تُكمل هذه المحاضرة مهمتي التخطيط النهائيتين (2) اللتين تُشكلان الخطة الرئيسية لجدولة مشروعك (الموارد والتكلفة).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تستخدم هذه العملية جدول الموارد لتحديد التكاليف المرحلية التي تُشكل أساس ميزانية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وبناءً على هذا الأساس المرحلي، يُمكن إجراء مقارنات بين الجدول الزمني والتكاليف الفعلية والمخطط لها.</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تطوير جدول موارد المشروع ← تحديد قيم الميزانية المرحلية لإنشاء أساس ميزانية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أهمية برامج الحاسوب لإدارة المشاريع.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يتم دراسة أساليب جدولة الموارد. وبالتالي، يُمكن للفريق إصدار أحكام واقعية بشأن توافر الموارد ومُدد المشروع.</a:t>
            </a:r>
          </a:p>
          <a:p>
            <a:endParaRPr lang="en-US" dirty="0"/>
          </a:p>
        </p:txBody>
      </p:sp>
      <p:sp>
        <p:nvSpPr>
          <p:cNvPr id="4" name="Slide Number Placeholder 3"/>
          <p:cNvSpPr>
            <a:spLocks noGrp="1"/>
          </p:cNvSpPr>
          <p:nvPr>
            <p:ph type="sldNum" sz="quarter" idx="5"/>
          </p:nvPr>
        </p:nvSpPr>
        <p:spPr/>
        <p:txBody>
          <a:bodyPr/>
          <a:lstStyle/>
          <a:p>
            <a:fld id="{A8E77139-B5B0-4B4D-984A-9B5ADFF6527D}" type="slidenum">
              <a:rPr lang="en-US" smtClean="0"/>
              <a:t>3</a:t>
            </a:fld>
            <a:endParaRPr lang="en-US"/>
          </a:p>
        </p:txBody>
      </p:sp>
    </p:spTree>
    <p:extLst>
      <p:ext uri="{BB962C8B-B14F-4D97-AF65-F5344CB8AC3E}">
        <p14:creationId xmlns:p14="http://schemas.microsoft.com/office/powerpoint/2010/main" val="1477389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527">
              <a:spcBef>
                <a:spcPts val="1402"/>
              </a:spcBef>
              <a:tabLst>
                <a:tab pos="1927234" algn="l"/>
              </a:tabLst>
            </a:pPr>
            <a:r>
              <a:rPr lang="en-US" sz="1400" spc="77" dirty="0" err="1">
                <a:solidFill>
                  <a:srgbClr val="BA000A"/>
                </a:solidFill>
                <a:latin typeface="Arial MT"/>
                <a:cs typeface="Arial MT"/>
              </a:rPr>
              <a:t>Schedulin</a:t>
            </a:r>
            <a:r>
              <a:rPr lang="en-US" sz="1400" dirty="0">
                <a:solidFill>
                  <a:srgbClr val="BA000A"/>
                </a:solidFill>
                <a:latin typeface="Arial MT"/>
                <a:cs typeface="Arial MT"/>
              </a:rPr>
              <a:t>	</a:t>
            </a:r>
            <a:r>
              <a:rPr lang="en-US" sz="1400" spc="54" dirty="0">
                <a:solidFill>
                  <a:srgbClr val="C10001"/>
                </a:solidFill>
                <a:latin typeface="Arial MT"/>
                <a:cs typeface="Arial MT"/>
              </a:rPr>
              <a:t>Resources</a:t>
            </a:r>
            <a:r>
              <a:rPr lang="en-US" sz="1400" spc="322" dirty="0">
                <a:solidFill>
                  <a:srgbClr val="C10001"/>
                </a:solidFill>
                <a:latin typeface="Arial MT"/>
                <a:cs typeface="Arial MT"/>
              </a:rPr>
              <a:t> </a:t>
            </a:r>
            <a:r>
              <a:rPr lang="en-US" sz="1400" spc="68" dirty="0">
                <a:solidFill>
                  <a:srgbClr val="BD0003"/>
                </a:solidFill>
                <a:latin typeface="Arial MT"/>
                <a:cs typeface="Arial MT"/>
              </a:rPr>
              <a:t>and</a:t>
            </a:r>
            <a:r>
              <a:rPr lang="en-US" sz="1400" spc="50" dirty="0">
                <a:solidFill>
                  <a:srgbClr val="BD0003"/>
                </a:solidFill>
                <a:latin typeface="Arial MT"/>
                <a:cs typeface="Arial MT"/>
              </a:rPr>
              <a:t> </a:t>
            </a:r>
            <a:r>
              <a:rPr lang="en-US" sz="1400" spc="86" dirty="0">
                <a:solidFill>
                  <a:srgbClr val="BF0001"/>
                </a:solidFill>
                <a:latin typeface="Arial MT"/>
                <a:cs typeface="Arial MT"/>
              </a:rPr>
              <a:t>Costs:</a:t>
            </a:r>
            <a:endParaRPr lang="en-US" sz="1400" dirty="0">
              <a:latin typeface="Arial MT"/>
              <a:cs typeface="Arial MT"/>
            </a:endParaRPr>
          </a:p>
          <a:p>
            <a:pPr marL="16137" marR="4611" indent="-1153">
              <a:lnSpc>
                <a:spcPct val="101299"/>
              </a:lnSpc>
              <a:spcBef>
                <a:spcPts val="1103"/>
              </a:spcBef>
            </a:pPr>
            <a:r>
              <a:rPr lang="en-US" sz="1200" spc="54" dirty="0">
                <a:solidFill>
                  <a:srgbClr val="FD0100"/>
                </a:solidFill>
                <a:latin typeface="Arial MT"/>
                <a:cs typeface="Arial MT"/>
              </a:rPr>
              <a:t>Cost</a:t>
            </a:r>
            <a:r>
              <a:rPr lang="en-US" sz="1200" spc="64" dirty="0">
                <a:solidFill>
                  <a:srgbClr val="FD0100"/>
                </a:solidFill>
                <a:latin typeface="Arial MT"/>
                <a:cs typeface="Arial MT"/>
              </a:rPr>
              <a:t> </a:t>
            </a:r>
            <a:r>
              <a:rPr lang="en-US" sz="1200" spc="64" dirty="0">
                <a:solidFill>
                  <a:srgbClr val="F60500"/>
                </a:solidFill>
                <a:latin typeface="Arial MT"/>
                <a:cs typeface="Arial MT"/>
              </a:rPr>
              <a:t>estimates</a:t>
            </a:r>
            <a:r>
              <a:rPr lang="en-US" sz="1200" spc="159" dirty="0">
                <a:solidFill>
                  <a:srgbClr val="F60500"/>
                </a:solidFill>
                <a:latin typeface="Arial MT"/>
                <a:cs typeface="Arial MT"/>
              </a:rPr>
              <a:t> </a:t>
            </a:r>
            <a:r>
              <a:rPr lang="en-US" sz="1200" dirty="0">
                <a:latin typeface="Arial MT"/>
                <a:cs typeface="Arial MT"/>
              </a:rPr>
              <a:t>are</a:t>
            </a:r>
            <a:r>
              <a:rPr lang="en-US" sz="1200" spc="45" dirty="0">
                <a:latin typeface="Arial MT"/>
                <a:cs typeface="Arial MT"/>
              </a:rPr>
              <a:t> </a:t>
            </a:r>
            <a:r>
              <a:rPr lang="en-US" sz="1200" u="dbl" spc="91" dirty="0">
                <a:uFill>
                  <a:solidFill>
                    <a:srgbClr val="700303"/>
                  </a:solidFill>
                </a:uFill>
                <a:latin typeface="Arial MT"/>
                <a:cs typeface="Arial MT"/>
              </a:rPr>
              <a:t>not</a:t>
            </a:r>
            <a:r>
              <a:rPr lang="en-US" sz="1200" spc="50" dirty="0">
                <a:latin typeface="Arial MT"/>
                <a:cs typeface="Arial MT"/>
              </a:rPr>
              <a:t> </a:t>
            </a:r>
            <a:r>
              <a:rPr lang="en-US" sz="1200" dirty="0">
                <a:latin typeface="Arial MT"/>
                <a:cs typeface="Arial MT"/>
              </a:rPr>
              <a:t>a</a:t>
            </a:r>
            <a:r>
              <a:rPr lang="en-US" sz="1200" spc="5" dirty="0">
                <a:latin typeface="Arial MT"/>
                <a:cs typeface="Arial MT"/>
              </a:rPr>
              <a:t> </a:t>
            </a:r>
            <a:r>
              <a:rPr lang="en-US" sz="1200" u="heavy" spc="73" dirty="0" err="1">
                <a:solidFill>
                  <a:srgbClr val="F70000"/>
                </a:solidFill>
                <a:uFill>
                  <a:solidFill>
                    <a:srgbClr val="700303"/>
                  </a:solidFill>
                </a:uFill>
                <a:latin typeface="Arial MT"/>
                <a:cs typeface="Arial MT"/>
              </a:rPr>
              <a:t>budqet</a:t>
            </a:r>
            <a:r>
              <a:rPr lang="en-US" sz="1200" spc="77" dirty="0">
                <a:solidFill>
                  <a:srgbClr val="F70000"/>
                </a:solidFill>
                <a:latin typeface="Arial MT"/>
                <a:cs typeface="Arial MT"/>
              </a:rPr>
              <a:t> </a:t>
            </a:r>
            <a:r>
              <a:rPr lang="en-US" sz="1200" u="dbl" spc="118" dirty="0">
                <a:uFill>
                  <a:solidFill>
                    <a:srgbClr val="700303"/>
                  </a:solidFill>
                </a:uFill>
                <a:latin typeface="Arial MT"/>
                <a:cs typeface="Arial MT"/>
              </a:rPr>
              <a:t>until</a:t>
            </a:r>
            <a:r>
              <a:rPr lang="en-US" sz="1200" spc="-23" dirty="0">
                <a:latin typeface="Arial MT"/>
                <a:cs typeface="Arial MT"/>
              </a:rPr>
              <a:t> </a:t>
            </a:r>
            <a:r>
              <a:rPr lang="en-US" sz="1200" dirty="0">
                <a:latin typeface="Arial MT"/>
                <a:cs typeface="Arial MT"/>
              </a:rPr>
              <a:t>they</a:t>
            </a:r>
            <a:r>
              <a:rPr lang="en-US" sz="1200" spc="32" dirty="0">
                <a:latin typeface="Arial MT"/>
                <a:cs typeface="Arial MT"/>
              </a:rPr>
              <a:t> </a:t>
            </a:r>
            <a:r>
              <a:rPr lang="en-US" sz="1200" dirty="0">
                <a:latin typeface="Arial MT"/>
                <a:cs typeface="Arial MT"/>
              </a:rPr>
              <a:t>have</a:t>
            </a:r>
            <a:r>
              <a:rPr lang="en-US" sz="1200" spc="64" dirty="0">
                <a:latin typeface="Arial MT"/>
                <a:cs typeface="Arial MT"/>
              </a:rPr>
              <a:t> </a:t>
            </a:r>
            <a:r>
              <a:rPr lang="en-US" sz="1200" dirty="0">
                <a:latin typeface="Arial MT"/>
                <a:cs typeface="Arial MT"/>
              </a:rPr>
              <a:t>been</a:t>
            </a:r>
            <a:r>
              <a:rPr lang="en-US" sz="1200" spc="77" dirty="0">
                <a:latin typeface="Arial MT"/>
                <a:cs typeface="Arial MT"/>
              </a:rPr>
              <a:t> </a:t>
            </a:r>
            <a:r>
              <a:rPr lang="en-US" sz="1200" spc="59" dirty="0">
                <a:solidFill>
                  <a:srgbClr val="FD0000"/>
                </a:solidFill>
                <a:latin typeface="Arial MT"/>
                <a:cs typeface="Arial MT"/>
              </a:rPr>
              <a:t>time- </a:t>
            </a:r>
            <a:r>
              <a:rPr lang="en-US" sz="1200" spc="41" dirty="0">
                <a:solidFill>
                  <a:srgbClr val="FB0100"/>
                </a:solidFill>
                <a:latin typeface="Arial MT"/>
                <a:cs typeface="Arial MT"/>
              </a:rPr>
              <a:t>phased.</a:t>
            </a:r>
            <a:r>
              <a:rPr lang="en-US" sz="1200" spc="254" dirty="0">
                <a:solidFill>
                  <a:srgbClr val="FB0100"/>
                </a:solidFill>
                <a:latin typeface="Arial MT"/>
                <a:cs typeface="Arial MT"/>
              </a:rPr>
              <a:t> </a:t>
            </a:r>
            <a:r>
              <a:rPr lang="en-US" sz="1200" spc="-41" dirty="0">
                <a:solidFill>
                  <a:srgbClr val="F90300"/>
                </a:solidFill>
                <a:latin typeface="Arial MT"/>
                <a:cs typeface="Arial MT"/>
              </a:rPr>
              <a:t>-</a:t>
            </a:r>
            <a:endParaRPr lang="en-US" sz="1200" dirty="0">
              <a:latin typeface="Arial MT"/>
              <a:cs typeface="Arial MT"/>
            </a:endParaRPr>
          </a:p>
          <a:p>
            <a:pPr marL="15561" marR="155608" indent="-3458">
              <a:lnSpc>
                <a:spcPts val="2714"/>
              </a:lnSpc>
              <a:spcBef>
                <a:spcPts val="1252"/>
              </a:spcBef>
            </a:pPr>
            <a:r>
              <a:rPr lang="en-US" sz="1200" dirty="0">
                <a:solidFill>
                  <a:srgbClr val="FD0100"/>
                </a:solidFill>
                <a:latin typeface="Arial MT"/>
                <a:cs typeface="Arial MT"/>
              </a:rPr>
              <a:t>Project</a:t>
            </a:r>
            <a:r>
              <a:rPr lang="en-US" sz="1200" spc="185" dirty="0">
                <a:solidFill>
                  <a:srgbClr val="FD0100"/>
                </a:solidFill>
                <a:latin typeface="Arial MT"/>
                <a:cs typeface="Arial MT"/>
              </a:rPr>
              <a:t> </a:t>
            </a:r>
            <a:r>
              <a:rPr lang="en-US" sz="1200" dirty="0">
                <a:solidFill>
                  <a:srgbClr val="F60108"/>
                </a:solidFill>
                <a:latin typeface="Arial MT"/>
                <a:cs typeface="Arial MT"/>
              </a:rPr>
              <a:t>network</a:t>
            </a:r>
            <a:r>
              <a:rPr lang="en-US" sz="1200" spc="231" dirty="0">
                <a:solidFill>
                  <a:srgbClr val="F60108"/>
                </a:solidFill>
                <a:latin typeface="Arial MT"/>
                <a:cs typeface="Arial MT"/>
              </a:rPr>
              <a:t> </a:t>
            </a:r>
            <a:r>
              <a:rPr lang="en-US" sz="1200" dirty="0">
                <a:solidFill>
                  <a:srgbClr val="FD030A"/>
                </a:solidFill>
                <a:latin typeface="Arial MT"/>
                <a:cs typeface="Arial MT"/>
              </a:rPr>
              <a:t>times</a:t>
            </a:r>
            <a:r>
              <a:rPr lang="en-US" sz="1200" spc="159" dirty="0">
                <a:solidFill>
                  <a:srgbClr val="FD030A"/>
                </a:solidFill>
                <a:latin typeface="Arial MT"/>
                <a:cs typeface="Arial MT"/>
              </a:rPr>
              <a:t> </a:t>
            </a:r>
            <a:r>
              <a:rPr lang="en-US" sz="1200" dirty="0">
                <a:latin typeface="Arial MT"/>
                <a:cs typeface="Arial MT"/>
              </a:rPr>
              <a:t>are</a:t>
            </a:r>
            <a:r>
              <a:rPr lang="en-US" sz="1200" spc="127" dirty="0">
                <a:latin typeface="Arial MT"/>
                <a:cs typeface="Arial MT"/>
              </a:rPr>
              <a:t> </a:t>
            </a:r>
            <a:r>
              <a:rPr lang="en-US" sz="1200" u="dbl" spc="50" dirty="0">
                <a:uFill>
                  <a:solidFill>
                    <a:srgbClr val="000000"/>
                  </a:solidFill>
                </a:uFill>
                <a:latin typeface="Arial MT"/>
                <a:cs typeface="Arial MT"/>
              </a:rPr>
              <a:t>not</a:t>
            </a:r>
            <a:r>
              <a:rPr lang="en-US" sz="1200" spc="118" dirty="0">
                <a:latin typeface="Arial MT"/>
                <a:cs typeface="Arial MT"/>
              </a:rPr>
              <a:t> </a:t>
            </a:r>
            <a:r>
              <a:rPr lang="en-US" sz="1200" dirty="0">
                <a:latin typeface="Arial MT"/>
                <a:cs typeface="Arial MT"/>
              </a:rPr>
              <a:t>a</a:t>
            </a:r>
            <a:r>
              <a:rPr lang="en-US" sz="1200" spc="54" dirty="0">
                <a:latin typeface="Arial MT"/>
                <a:cs typeface="Arial MT"/>
              </a:rPr>
              <a:t> </a:t>
            </a:r>
            <a:r>
              <a:rPr lang="en-US" sz="1200" u="heavy" dirty="0">
                <a:solidFill>
                  <a:srgbClr val="FB0101"/>
                </a:solidFill>
                <a:uFill>
                  <a:solidFill>
                    <a:srgbClr val="EB0303"/>
                  </a:solidFill>
                </a:uFill>
                <a:latin typeface="Arial MT"/>
                <a:cs typeface="Arial MT"/>
              </a:rPr>
              <a:t>schedule</a:t>
            </a:r>
            <a:r>
              <a:rPr lang="en-US" sz="1200" spc="259" dirty="0">
                <a:solidFill>
                  <a:srgbClr val="FB0101"/>
                </a:solidFill>
                <a:latin typeface="Arial MT"/>
                <a:cs typeface="Arial MT"/>
              </a:rPr>
              <a:t> </a:t>
            </a:r>
            <a:r>
              <a:rPr lang="en-US" sz="1200" u="heavy" spc="82" dirty="0">
                <a:uFill>
                  <a:solidFill>
                    <a:srgbClr val="000000"/>
                  </a:solidFill>
                </a:uFill>
                <a:latin typeface="Arial MT"/>
                <a:cs typeface="Arial MT"/>
              </a:rPr>
              <a:t>until</a:t>
            </a:r>
            <a:r>
              <a:rPr lang="en-US" sz="1200" spc="32" dirty="0">
                <a:latin typeface="Arial MT"/>
                <a:cs typeface="Arial MT"/>
              </a:rPr>
              <a:t> </a:t>
            </a:r>
            <a:r>
              <a:rPr lang="en-US" sz="1200" spc="-9" dirty="0">
                <a:solidFill>
                  <a:srgbClr val="F4010E"/>
                </a:solidFill>
                <a:latin typeface="Arial MT"/>
                <a:cs typeface="Arial MT"/>
              </a:rPr>
              <a:t>resources </a:t>
            </a:r>
            <a:r>
              <a:rPr lang="en-US" sz="1200" spc="-41" dirty="0">
                <a:latin typeface="Arial MT"/>
                <a:cs typeface="Arial MT"/>
              </a:rPr>
              <a:t>have</a:t>
            </a:r>
            <a:r>
              <a:rPr lang="en-US" sz="1200" spc="-64" dirty="0">
                <a:latin typeface="Arial MT"/>
                <a:cs typeface="Arial MT"/>
              </a:rPr>
              <a:t> </a:t>
            </a:r>
            <a:r>
              <a:rPr lang="en-US" sz="1200" spc="-9" dirty="0">
                <a:latin typeface="Arial MT"/>
                <a:cs typeface="Arial MT"/>
              </a:rPr>
              <a:t>been</a:t>
            </a:r>
            <a:r>
              <a:rPr lang="en-US" sz="1200" dirty="0">
                <a:latin typeface="Arial MT"/>
                <a:cs typeface="Arial MT"/>
              </a:rPr>
              <a:t> </a:t>
            </a:r>
            <a:r>
              <a:rPr lang="en-US" sz="1200" u="heavy" dirty="0" err="1">
                <a:uFill>
                  <a:solidFill>
                    <a:srgbClr val="03A84F"/>
                  </a:solidFill>
                </a:uFill>
                <a:latin typeface="Arial MT"/>
                <a:cs typeface="Arial MT"/>
              </a:rPr>
              <a:t>assiqned</a:t>
            </a:r>
            <a:r>
              <a:rPr lang="en-US" sz="1200" dirty="0">
                <a:latin typeface="Arial MT"/>
                <a:cs typeface="Arial MT"/>
              </a:rPr>
              <a:t>.</a:t>
            </a:r>
            <a:r>
              <a:rPr lang="en-US" sz="1200" spc="-168" dirty="0">
                <a:latin typeface="Arial MT"/>
                <a:cs typeface="Arial MT"/>
              </a:rPr>
              <a:t> </a:t>
            </a:r>
            <a:endParaRPr lang="en-US" sz="1200" dirty="0">
              <a:latin typeface="Arial MT"/>
              <a:cs typeface="Arial MT"/>
            </a:endParaRPr>
          </a:p>
          <a:p>
            <a:pPr marL="16137" marR="235140" indent="-4034">
              <a:lnSpc>
                <a:spcPct val="100400"/>
              </a:lnSpc>
              <a:spcBef>
                <a:spcPts val="1071"/>
              </a:spcBef>
            </a:pPr>
            <a:r>
              <a:rPr lang="en-US" sz="1200" u="heavy" dirty="0">
                <a:uFill>
                  <a:solidFill>
                    <a:srgbClr val="03672F"/>
                  </a:solidFill>
                </a:uFill>
                <a:latin typeface="Arial MT"/>
                <a:cs typeface="Arial MT"/>
              </a:rPr>
              <a:t>Once</a:t>
            </a:r>
            <a:r>
              <a:rPr lang="en-US" sz="1200" spc="82" dirty="0">
                <a:latin typeface="Arial MT"/>
                <a:cs typeface="Arial MT"/>
              </a:rPr>
              <a:t> </a:t>
            </a:r>
            <a:r>
              <a:rPr lang="en-US" sz="1200" spc="73" dirty="0">
                <a:solidFill>
                  <a:srgbClr val="FD0100"/>
                </a:solidFill>
                <a:latin typeface="Arial MT"/>
                <a:cs typeface="Arial MT"/>
              </a:rPr>
              <a:t>resource</a:t>
            </a:r>
            <a:r>
              <a:rPr lang="en-US" sz="1200" spc="113" dirty="0">
                <a:solidFill>
                  <a:srgbClr val="FD0100"/>
                </a:solidFill>
                <a:latin typeface="Arial MT"/>
                <a:cs typeface="Arial MT"/>
              </a:rPr>
              <a:t> </a:t>
            </a:r>
            <a:r>
              <a:rPr lang="en-US" sz="1200" spc="77" dirty="0">
                <a:solidFill>
                  <a:srgbClr val="FF0300"/>
                </a:solidFill>
                <a:latin typeface="Arial MT"/>
                <a:cs typeface="Arial MT"/>
              </a:rPr>
              <a:t>assignments</a:t>
            </a:r>
            <a:r>
              <a:rPr lang="en-US" sz="1200" spc="227" dirty="0">
                <a:solidFill>
                  <a:srgbClr val="FF0300"/>
                </a:solidFill>
                <a:latin typeface="Arial MT"/>
                <a:cs typeface="Arial MT"/>
              </a:rPr>
              <a:t> </a:t>
            </a:r>
            <a:r>
              <a:rPr lang="en-US" sz="1200" dirty="0">
                <a:latin typeface="Arial MT"/>
                <a:cs typeface="Arial MT"/>
              </a:rPr>
              <a:t>have</a:t>
            </a:r>
            <a:r>
              <a:rPr lang="en-US" sz="1200" spc="73" dirty="0">
                <a:latin typeface="Arial MT"/>
                <a:cs typeface="Arial MT"/>
              </a:rPr>
              <a:t> </a:t>
            </a:r>
            <a:r>
              <a:rPr lang="en-US" sz="1200" dirty="0">
                <a:latin typeface="Arial MT"/>
                <a:cs typeface="Arial MT"/>
              </a:rPr>
              <a:t>been</a:t>
            </a:r>
            <a:r>
              <a:rPr lang="en-US" sz="1200" spc="95" dirty="0">
                <a:latin typeface="Arial MT"/>
                <a:cs typeface="Arial MT"/>
              </a:rPr>
              <a:t> </a:t>
            </a:r>
            <a:r>
              <a:rPr lang="en-US" sz="1200" u="heavy" spc="54" dirty="0">
                <a:uFill>
                  <a:solidFill>
                    <a:srgbClr val="03672F"/>
                  </a:solidFill>
                </a:uFill>
                <a:latin typeface="Arial MT"/>
                <a:cs typeface="Arial MT"/>
              </a:rPr>
              <a:t>finalized</a:t>
            </a:r>
            <a:r>
              <a:rPr lang="en-US" sz="1200" spc="54" dirty="0">
                <a:latin typeface="Arial MT"/>
                <a:cs typeface="Arial MT"/>
              </a:rPr>
              <a:t>,</a:t>
            </a:r>
            <a:r>
              <a:rPr lang="en-US" sz="1200" spc="113" dirty="0">
                <a:latin typeface="Arial MT"/>
                <a:cs typeface="Arial MT"/>
              </a:rPr>
              <a:t> </a:t>
            </a:r>
            <a:r>
              <a:rPr lang="en-US" sz="1200" dirty="0">
                <a:latin typeface="Arial MT"/>
                <a:cs typeface="Arial MT"/>
              </a:rPr>
              <a:t>you</a:t>
            </a:r>
            <a:r>
              <a:rPr lang="en-US" sz="1200" spc="59" dirty="0">
                <a:latin typeface="Arial MT"/>
                <a:cs typeface="Arial MT"/>
              </a:rPr>
              <a:t> </a:t>
            </a:r>
            <a:r>
              <a:rPr lang="en-US" sz="1200" spc="-23" dirty="0">
                <a:latin typeface="Arial MT"/>
                <a:cs typeface="Arial MT"/>
              </a:rPr>
              <a:t>are </a:t>
            </a:r>
            <a:r>
              <a:rPr lang="en-US" sz="1200" dirty="0">
                <a:latin typeface="Arial MT"/>
                <a:cs typeface="Arial MT"/>
              </a:rPr>
              <a:t>able</a:t>
            </a:r>
            <a:r>
              <a:rPr lang="en-US" sz="1200" spc="41" dirty="0">
                <a:latin typeface="Arial MT"/>
                <a:cs typeface="Arial MT"/>
              </a:rPr>
              <a:t> </a:t>
            </a:r>
            <a:r>
              <a:rPr lang="en-US" sz="1200" dirty="0">
                <a:latin typeface="Arial MT"/>
                <a:cs typeface="Arial MT"/>
              </a:rPr>
              <a:t>to</a:t>
            </a:r>
            <a:r>
              <a:rPr lang="en-US" sz="1200" spc="41" dirty="0">
                <a:latin typeface="Arial MT"/>
                <a:cs typeface="Arial MT"/>
              </a:rPr>
              <a:t> </a:t>
            </a:r>
            <a:r>
              <a:rPr lang="en-US" sz="1200" u="heavy" spc="50" dirty="0">
                <a:solidFill>
                  <a:srgbClr val="00B14D"/>
                </a:solidFill>
                <a:uFill>
                  <a:solidFill>
                    <a:srgbClr val="08A84F"/>
                  </a:solidFill>
                </a:uFill>
                <a:latin typeface="Arial MT"/>
                <a:cs typeface="Arial MT"/>
              </a:rPr>
              <a:t>develop</a:t>
            </a:r>
            <a:r>
              <a:rPr lang="en-US" sz="1200" spc="172" dirty="0">
                <a:solidFill>
                  <a:srgbClr val="00B14D"/>
                </a:solidFill>
                <a:latin typeface="Arial MT"/>
                <a:cs typeface="Arial MT"/>
              </a:rPr>
              <a:t> </a:t>
            </a:r>
            <a:r>
              <a:rPr lang="en-US" sz="1200" dirty="0">
                <a:latin typeface="Arial MT"/>
                <a:cs typeface="Arial MT"/>
              </a:rPr>
              <a:t>a</a:t>
            </a:r>
            <a:r>
              <a:rPr lang="en-US" sz="1200" spc="18" dirty="0">
                <a:latin typeface="Arial MT"/>
                <a:cs typeface="Arial MT"/>
              </a:rPr>
              <a:t> </a:t>
            </a:r>
            <a:r>
              <a:rPr lang="en-US" sz="1200" spc="59" dirty="0">
                <a:solidFill>
                  <a:srgbClr val="FD0100"/>
                </a:solidFill>
                <a:latin typeface="Arial MT"/>
                <a:cs typeface="Arial MT"/>
              </a:rPr>
              <a:t>baseline</a:t>
            </a:r>
            <a:r>
              <a:rPr lang="en-US" sz="1200" spc="109" dirty="0">
                <a:solidFill>
                  <a:srgbClr val="FD0100"/>
                </a:solidFill>
                <a:latin typeface="Arial MT"/>
                <a:cs typeface="Arial MT"/>
              </a:rPr>
              <a:t> </a:t>
            </a:r>
            <a:r>
              <a:rPr lang="en-US" sz="1200" spc="73" dirty="0">
                <a:solidFill>
                  <a:srgbClr val="FD0100"/>
                </a:solidFill>
                <a:latin typeface="Arial MT"/>
                <a:cs typeface="Arial MT"/>
              </a:rPr>
              <a:t>budget</a:t>
            </a:r>
            <a:r>
              <a:rPr lang="en-US" sz="1200" spc="77" dirty="0">
                <a:solidFill>
                  <a:srgbClr val="FD0100"/>
                </a:solidFill>
                <a:latin typeface="Arial MT"/>
                <a:cs typeface="Arial MT"/>
              </a:rPr>
              <a:t> </a:t>
            </a:r>
            <a:r>
              <a:rPr lang="en-US" sz="1200" spc="64" dirty="0">
                <a:solidFill>
                  <a:srgbClr val="FD0103"/>
                </a:solidFill>
                <a:latin typeface="Arial MT"/>
                <a:cs typeface="Arial MT"/>
              </a:rPr>
              <a:t>schedule</a:t>
            </a:r>
            <a:r>
              <a:rPr lang="en-US" sz="1200" spc="145" dirty="0">
                <a:solidFill>
                  <a:srgbClr val="FD0103"/>
                </a:solidFill>
                <a:latin typeface="Arial MT"/>
                <a:cs typeface="Arial MT"/>
              </a:rPr>
              <a:t> </a:t>
            </a:r>
            <a:r>
              <a:rPr lang="en-US" sz="1200" dirty="0">
                <a:latin typeface="Arial MT"/>
                <a:cs typeface="Arial MT"/>
              </a:rPr>
              <a:t>for</a:t>
            </a:r>
            <a:r>
              <a:rPr lang="en-US" sz="1200" spc="45" dirty="0">
                <a:latin typeface="Arial MT"/>
                <a:cs typeface="Arial MT"/>
              </a:rPr>
              <a:t> </a:t>
            </a:r>
            <a:r>
              <a:rPr lang="en-US" sz="1200" spc="59" dirty="0">
                <a:latin typeface="Arial MT"/>
                <a:cs typeface="Arial MT"/>
              </a:rPr>
              <a:t>project.</a:t>
            </a:r>
            <a:endParaRPr lang="en-US" sz="1200" dirty="0">
              <a:latin typeface="Arial MT"/>
              <a:cs typeface="Arial MT"/>
            </a:endParaRPr>
          </a:p>
          <a:p>
            <a:endParaRPr lang="en-US" dirty="0"/>
          </a:p>
          <a:p>
            <a:endParaRPr lang="en-US" dirty="0"/>
          </a:p>
          <a:p>
            <a:pPr marL="11527">
              <a:spcBef>
                <a:spcPts val="1380"/>
              </a:spcBef>
              <a:tabLst>
                <a:tab pos="5605923" algn="l"/>
              </a:tabLst>
            </a:pPr>
            <a:r>
              <a:rPr lang="en-US" sz="1200" dirty="0">
                <a:solidFill>
                  <a:srgbClr val="BA000A"/>
                </a:solidFill>
                <a:latin typeface="Arial MT"/>
                <a:cs typeface="Arial MT"/>
              </a:rPr>
              <a:t>Solutions</a:t>
            </a:r>
            <a:r>
              <a:rPr lang="en-US" sz="1200" spc="159" dirty="0">
                <a:solidFill>
                  <a:srgbClr val="BA000A"/>
                </a:solidFill>
                <a:latin typeface="Arial MT"/>
                <a:cs typeface="Arial MT"/>
              </a:rPr>
              <a:t> </a:t>
            </a:r>
            <a:r>
              <a:rPr lang="en-US" sz="1200" spc="68" dirty="0">
                <a:solidFill>
                  <a:srgbClr val="C10000"/>
                </a:solidFill>
                <a:latin typeface="Arial MT"/>
                <a:cs typeface="Arial MT"/>
              </a:rPr>
              <a:t>to</a:t>
            </a:r>
            <a:r>
              <a:rPr lang="en-US" sz="1200" spc="-54" dirty="0">
                <a:solidFill>
                  <a:srgbClr val="C10000"/>
                </a:solidFill>
                <a:latin typeface="Arial MT"/>
                <a:cs typeface="Arial MT"/>
              </a:rPr>
              <a:t> </a:t>
            </a:r>
            <a:r>
              <a:rPr lang="en-US" sz="1200" dirty="0">
                <a:solidFill>
                  <a:srgbClr val="BA0108"/>
                </a:solidFill>
                <a:latin typeface="Arial MT"/>
                <a:cs typeface="Arial MT"/>
              </a:rPr>
              <a:t>Resource</a:t>
            </a:r>
            <a:r>
              <a:rPr lang="en-US" sz="1200" spc="163" dirty="0">
                <a:solidFill>
                  <a:srgbClr val="BA0108"/>
                </a:solidFill>
                <a:latin typeface="Arial MT"/>
                <a:cs typeface="Arial MT"/>
              </a:rPr>
              <a:t> </a:t>
            </a:r>
            <a:r>
              <a:rPr lang="en-US" sz="1200" spc="-9" dirty="0" err="1">
                <a:solidFill>
                  <a:srgbClr val="C10001"/>
                </a:solidFill>
                <a:latin typeface="Arial MT"/>
                <a:cs typeface="Arial MT"/>
              </a:rPr>
              <a:t>Schedulin</a:t>
            </a:r>
            <a:r>
              <a:rPr lang="en-US" sz="1200" dirty="0">
                <a:solidFill>
                  <a:srgbClr val="C10001"/>
                </a:solidFill>
                <a:latin typeface="Arial MT"/>
                <a:cs typeface="Arial MT"/>
              </a:rPr>
              <a:t>	</a:t>
            </a:r>
            <a:r>
              <a:rPr lang="en-US" sz="1200" spc="-9" dirty="0">
                <a:solidFill>
                  <a:srgbClr val="BD0001"/>
                </a:solidFill>
                <a:latin typeface="Arial MT"/>
                <a:cs typeface="Arial MT"/>
              </a:rPr>
              <a:t>Problem:</a:t>
            </a:r>
            <a:endParaRPr lang="en-US" sz="1200" dirty="0">
              <a:latin typeface="Arial MT"/>
              <a:cs typeface="Arial MT"/>
            </a:endParaRPr>
          </a:p>
          <a:p>
            <a:pPr marL="12679">
              <a:spcBef>
                <a:spcPts val="1089"/>
              </a:spcBef>
            </a:pPr>
            <a:r>
              <a:rPr lang="en-US" sz="1050" dirty="0">
                <a:solidFill>
                  <a:srgbClr val="FD0100"/>
                </a:solidFill>
                <a:latin typeface="Arial MT"/>
                <a:cs typeface="Arial MT"/>
              </a:rPr>
              <a:t>Resource</a:t>
            </a:r>
            <a:r>
              <a:rPr lang="en-US" sz="1050" spc="386" dirty="0">
                <a:solidFill>
                  <a:srgbClr val="FD0100"/>
                </a:solidFill>
                <a:latin typeface="Arial MT"/>
                <a:cs typeface="Arial MT"/>
              </a:rPr>
              <a:t> </a:t>
            </a:r>
            <a:r>
              <a:rPr lang="en-US" sz="1050" spc="59" dirty="0" err="1">
                <a:solidFill>
                  <a:srgbClr val="F90300"/>
                </a:solidFill>
                <a:latin typeface="Arial MT"/>
                <a:cs typeface="Arial MT"/>
              </a:rPr>
              <a:t>Smoothin</a:t>
            </a:r>
            <a:endParaRPr lang="en-US" sz="1050" dirty="0">
              <a:latin typeface="Arial MT"/>
              <a:cs typeface="Arial MT"/>
            </a:endParaRPr>
          </a:p>
          <a:p>
            <a:pPr marL="13832" marR="1157839" indent="2882">
              <a:lnSpc>
                <a:spcPts val="2759"/>
              </a:lnSpc>
              <a:spcBef>
                <a:spcPts val="1180"/>
              </a:spcBef>
            </a:pPr>
            <a:r>
              <a:rPr lang="en-US" sz="1050" u="heavy" dirty="0">
                <a:solidFill>
                  <a:srgbClr val="03AE4F"/>
                </a:solidFill>
                <a:uFill>
                  <a:solidFill>
                    <a:srgbClr val="03677C"/>
                  </a:solidFill>
                </a:uFill>
                <a:latin typeface="Trebuchet MS"/>
                <a:cs typeface="Trebuchet MS"/>
              </a:rPr>
              <a:t>When</a:t>
            </a:r>
            <a:r>
              <a:rPr lang="en-US" sz="1050" spc="-36" dirty="0">
                <a:solidFill>
                  <a:srgbClr val="03AE4F"/>
                </a:solidFill>
                <a:latin typeface="Trebuchet MS"/>
                <a:cs typeface="Trebuchet MS"/>
              </a:rPr>
              <a:t> </a:t>
            </a:r>
            <a:r>
              <a:rPr lang="en-US" sz="1050" spc="-103" dirty="0">
                <a:latin typeface="Trebuchet MS"/>
                <a:cs typeface="Trebuchet MS"/>
              </a:rPr>
              <a:t>there</a:t>
            </a:r>
            <a:r>
              <a:rPr lang="en-US" sz="1050" spc="59" dirty="0">
                <a:latin typeface="Trebuchet MS"/>
                <a:cs typeface="Trebuchet MS"/>
              </a:rPr>
              <a:t> </a:t>
            </a:r>
            <a:r>
              <a:rPr lang="en-US" sz="1050" spc="-36" dirty="0">
                <a:latin typeface="Trebuchet MS"/>
                <a:cs typeface="Trebuchet MS"/>
              </a:rPr>
              <a:t>are</a:t>
            </a:r>
            <a:r>
              <a:rPr lang="en-US" sz="1050" spc="32" dirty="0">
                <a:latin typeface="Trebuchet MS"/>
                <a:cs typeface="Trebuchet MS"/>
              </a:rPr>
              <a:t> </a:t>
            </a:r>
            <a:r>
              <a:rPr lang="en-US" sz="1050" u="heavy" spc="82" dirty="0" err="1">
                <a:solidFill>
                  <a:srgbClr val="0000D1"/>
                </a:solidFill>
                <a:uFill>
                  <a:solidFill>
                    <a:srgbClr val="03677C"/>
                  </a:solidFill>
                </a:uFill>
                <a:latin typeface="Trebuchet MS"/>
                <a:cs typeface="Trebuchet MS"/>
              </a:rPr>
              <a:t>vawinq</a:t>
            </a:r>
            <a:r>
              <a:rPr lang="en-US" sz="1050" spc="41" dirty="0">
                <a:solidFill>
                  <a:srgbClr val="0000D1"/>
                </a:solidFill>
                <a:latin typeface="Trebuchet MS"/>
                <a:cs typeface="Trebuchet MS"/>
              </a:rPr>
              <a:t> </a:t>
            </a:r>
            <a:r>
              <a:rPr lang="en-US" sz="1050" spc="45" dirty="0">
                <a:solidFill>
                  <a:srgbClr val="0000D4"/>
                </a:solidFill>
                <a:latin typeface="Trebuchet MS"/>
                <a:cs typeface="Trebuchet MS"/>
              </a:rPr>
              <a:t>demands</a:t>
            </a:r>
            <a:r>
              <a:rPr lang="en-US" sz="1050" spc="145" dirty="0">
                <a:solidFill>
                  <a:srgbClr val="0000D4"/>
                </a:solidFill>
                <a:latin typeface="Trebuchet MS"/>
                <a:cs typeface="Trebuchet MS"/>
              </a:rPr>
              <a:t> </a:t>
            </a:r>
            <a:r>
              <a:rPr lang="en-US" sz="1050" u="heavy" spc="73" dirty="0">
                <a:solidFill>
                  <a:srgbClr val="03AE4F"/>
                </a:solidFill>
                <a:uFill>
                  <a:solidFill>
                    <a:srgbClr val="03677C"/>
                  </a:solidFill>
                </a:uFill>
                <a:latin typeface="Trebuchet MS"/>
                <a:cs typeface="Trebuchet MS"/>
              </a:rPr>
              <a:t>on</a:t>
            </a:r>
            <a:r>
              <a:rPr lang="en-US" sz="1050" spc="-54" dirty="0">
                <a:solidFill>
                  <a:srgbClr val="03AE4F"/>
                </a:solidFill>
                <a:latin typeface="Trebuchet MS"/>
                <a:cs typeface="Trebuchet MS"/>
              </a:rPr>
              <a:t> </a:t>
            </a:r>
            <a:r>
              <a:rPr lang="en-US" sz="1050" spc="59" dirty="0">
                <a:solidFill>
                  <a:srgbClr val="0000DD"/>
                </a:solidFill>
                <a:latin typeface="Trebuchet MS"/>
                <a:cs typeface="Trebuchet MS"/>
              </a:rPr>
              <a:t>resources</a:t>
            </a:r>
            <a:r>
              <a:rPr lang="en-US" sz="1050" spc="145" dirty="0">
                <a:solidFill>
                  <a:srgbClr val="0000DD"/>
                </a:solidFill>
                <a:latin typeface="Trebuchet MS"/>
                <a:cs typeface="Trebuchet MS"/>
              </a:rPr>
              <a:t> </a:t>
            </a:r>
            <a:r>
              <a:rPr lang="en-US" sz="1050" u="heavy" spc="-23" dirty="0">
                <a:solidFill>
                  <a:srgbClr val="00B34D"/>
                </a:solidFill>
                <a:uFill>
                  <a:solidFill>
                    <a:srgbClr val="03677C"/>
                  </a:solidFill>
                </a:uFill>
                <a:latin typeface="Trebuchet MS"/>
                <a:cs typeface="Trebuchet MS"/>
              </a:rPr>
              <a:t>and</a:t>
            </a:r>
            <a:r>
              <a:rPr lang="en-US" sz="1050" spc="-23" dirty="0">
                <a:solidFill>
                  <a:srgbClr val="00B34D"/>
                </a:solidFill>
                <a:latin typeface="Trebuchet MS"/>
                <a:cs typeface="Trebuchet MS"/>
              </a:rPr>
              <a:t> </a:t>
            </a:r>
            <a:r>
              <a:rPr lang="en-US" sz="1050" spc="59" dirty="0">
                <a:solidFill>
                  <a:srgbClr val="0001C4"/>
                </a:solidFill>
                <a:latin typeface="Trebuchet MS"/>
                <a:cs typeface="Trebuchet MS"/>
              </a:rPr>
              <a:t>resources</a:t>
            </a:r>
            <a:r>
              <a:rPr lang="en-US" sz="1050" spc="77" dirty="0">
                <a:solidFill>
                  <a:srgbClr val="0001C4"/>
                </a:solidFill>
                <a:latin typeface="Trebuchet MS"/>
                <a:cs typeface="Trebuchet MS"/>
              </a:rPr>
              <a:t> </a:t>
            </a:r>
            <a:r>
              <a:rPr lang="en-US" sz="1050" spc="-41" dirty="0">
                <a:latin typeface="Trebuchet MS"/>
                <a:cs typeface="Trebuchet MS"/>
              </a:rPr>
              <a:t>are</a:t>
            </a:r>
            <a:r>
              <a:rPr lang="en-US" sz="1050" spc="-32" dirty="0">
                <a:latin typeface="Trebuchet MS"/>
                <a:cs typeface="Trebuchet MS"/>
              </a:rPr>
              <a:t> </a:t>
            </a:r>
            <a:r>
              <a:rPr lang="en-US" sz="1050" u="heavy" dirty="0" err="1">
                <a:solidFill>
                  <a:srgbClr val="01B14F"/>
                </a:solidFill>
                <a:uFill>
                  <a:solidFill>
                    <a:srgbClr val="08A84F"/>
                  </a:solidFill>
                </a:uFill>
                <a:latin typeface="Trebuchet MS"/>
                <a:cs typeface="Trebuchet MS"/>
              </a:rPr>
              <a:t>adeguate</a:t>
            </a:r>
            <a:r>
              <a:rPr lang="en-US" sz="1050" spc="45" dirty="0">
                <a:solidFill>
                  <a:srgbClr val="01B14F"/>
                </a:solidFill>
                <a:latin typeface="Trebuchet MS"/>
                <a:cs typeface="Trebuchet MS"/>
              </a:rPr>
              <a:t> </a:t>
            </a:r>
            <a:r>
              <a:rPr lang="en-US" sz="1050" spc="-50" dirty="0">
                <a:latin typeface="Trebuchet MS"/>
                <a:cs typeface="Trebuchet MS"/>
              </a:rPr>
              <a:t>over</a:t>
            </a:r>
            <a:r>
              <a:rPr lang="en-US" sz="1050" spc="-77" dirty="0">
                <a:latin typeface="Trebuchet MS"/>
                <a:cs typeface="Trebuchet MS"/>
              </a:rPr>
              <a:t> </a:t>
            </a:r>
            <a:r>
              <a:rPr lang="en-US" sz="1050" spc="-50" dirty="0">
                <a:solidFill>
                  <a:srgbClr val="0000D1"/>
                </a:solidFill>
                <a:latin typeface="Trebuchet MS"/>
                <a:cs typeface="Trebuchet MS"/>
              </a:rPr>
              <a:t>life</a:t>
            </a:r>
            <a:r>
              <a:rPr lang="en-US" sz="1050" spc="-45" dirty="0">
                <a:solidFill>
                  <a:srgbClr val="0000D1"/>
                </a:solidFill>
                <a:latin typeface="Trebuchet MS"/>
                <a:cs typeface="Trebuchet MS"/>
              </a:rPr>
              <a:t> </a:t>
            </a:r>
            <a:r>
              <a:rPr lang="en-US" sz="1050" dirty="0">
                <a:solidFill>
                  <a:srgbClr val="0003C3"/>
                </a:solidFill>
                <a:latin typeface="Trebuchet MS"/>
                <a:cs typeface="Trebuchet MS"/>
              </a:rPr>
              <a:t>of</a:t>
            </a:r>
            <a:r>
              <a:rPr lang="en-US" sz="1050" spc="-141" dirty="0">
                <a:solidFill>
                  <a:srgbClr val="0003C3"/>
                </a:solidFill>
                <a:latin typeface="Trebuchet MS"/>
                <a:cs typeface="Trebuchet MS"/>
              </a:rPr>
              <a:t> </a:t>
            </a:r>
            <a:r>
              <a:rPr lang="en-US" sz="1050" spc="-9" dirty="0">
                <a:latin typeface="Trebuchet MS"/>
                <a:cs typeface="Trebuchet MS"/>
              </a:rPr>
              <a:t>project,</a:t>
            </a:r>
            <a:endParaRPr lang="en-US" sz="1050" dirty="0">
              <a:latin typeface="Trebuchet MS"/>
              <a:cs typeface="Trebuchet MS"/>
            </a:endParaRPr>
          </a:p>
          <a:p>
            <a:pPr marL="292197" marR="4611" indent="-277789">
              <a:lnSpc>
                <a:spcPct val="100400"/>
              </a:lnSpc>
              <a:spcBef>
                <a:spcPts val="1044"/>
              </a:spcBef>
              <a:buChar char="•"/>
              <a:tabLst>
                <a:tab pos="292197" algn="l"/>
                <a:tab pos="295079" algn="l"/>
              </a:tabLst>
            </a:pPr>
            <a:r>
              <a:rPr lang="en-US" sz="1050" dirty="0">
                <a:solidFill>
                  <a:srgbClr val="0000DB"/>
                </a:solidFill>
                <a:latin typeface="Arial MT"/>
                <a:cs typeface="Arial MT"/>
              </a:rPr>
              <a:t>	</a:t>
            </a:r>
            <a:r>
              <a:rPr lang="en-US" sz="1050" u="heavy" spc="86" dirty="0">
                <a:solidFill>
                  <a:srgbClr val="0001CF"/>
                </a:solidFill>
                <a:uFill>
                  <a:solidFill>
                    <a:srgbClr val="036080"/>
                  </a:solidFill>
                </a:uFill>
                <a:latin typeface="Arial MT"/>
                <a:cs typeface="Arial MT"/>
              </a:rPr>
              <a:t>noncritical</a:t>
            </a:r>
            <a:r>
              <a:rPr lang="en-US" sz="1050" spc="191" dirty="0">
                <a:solidFill>
                  <a:srgbClr val="0001CF"/>
                </a:solidFill>
                <a:latin typeface="Arial MT"/>
                <a:cs typeface="Arial MT"/>
              </a:rPr>
              <a:t> </a:t>
            </a:r>
            <a:r>
              <a:rPr lang="en-US" sz="1050" spc="77" dirty="0">
                <a:solidFill>
                  <a:srgbClr val="0100E4"/>
                </a:solidFill>
                <a:latin typeface="Arial MT"/>
                <a:cs typeface="Arial MT"/>
              </a:rPr>
              <a:t>activities</a:t>
            </a:r>
            <a:r>
              <a:rPr lang="en-US" sz="1050" spc="172" dirty="0">
                <a:solidFill>
                  <a:srgbClr val="0100E4"/>
                </a:solidFill>
                <a:latin typeface="Arial MT"/>
                <a:cs typeface="Arial MT"/>
              </a:rPr>
              <a:t> </a:t>
            </a:r>
            <a:r>
              <a:rPr lang="en-US" sz="1050" dirty="0">
                <a:latin typeface="Arial MT"/>
                <a:cs typeface="Arial MT"/>
              </a:rPr>
              <a:t>are</a:t>
            </a:r>
            <a:r>
              <a:rPr lang="en-US" sz="1050" spc="54" dirty="0">
                <a:latin typeface="Arial MT"/>
                <a:cs typeface="Arial MT"/>
              </a:rPr>
              <a:t> </a:t>
            </a:r>
            <a:r>
              <a:rPr lang="en-US" sz="1050" u="heavy" spc="41" dirty="0" err="1">
                <a:solidFill>
                  <a:srgbClr val="05AF4D"/>
                </a:solidFill>
                <a:uFill>
                  <a:solidFill>
                    <a:srgbClr val="036080"/>
                  </a:solidFill>
                </a:uFill>
                <a:latin typeface="Arial MT"/>
                <a:cs typeface="Arial MT"/>
              </a:rPr>
              <a:t>delaved</a:t>
            </a:r>
            <a:r>
              <a:rPr lang="en-US" sz="1050" spc="132" dirty="0">
                <a:solidFill>
                  <a:srgbClr val="05AF4D"/>
                </a:solidFill>
                <a:latin typeface="Arial MT"/>
                <a:cs typeface="Arial MT"/>
              </a:rPr>
              <a:t> </a:t>
            </a:r>
            <a:r>
              <a:rPr lang="en-US" sz="1050" dirty="0">
                <a:latin typeface="Arial MT"/>
                <a:cs typeface="Arial MT"/>
              </a:rPr>
              <a:t>(using</a:t>
            </a:r>
            <a:r>
              <a:rPr lang="en-US" sz="1050" spc="82" dirty="0">
                <a:latin typeface="Arial MT"/>
                <a:cs typeface="Arial MT"/>
              </a:rPr>
              <a:t> </a:t>
            </a:r>
            <a:r>
              <a:rPr lang="en-US" sz="1050" spc="64" dirty="0">
                <a:latin typeface="Arial MT"/>
                <a:cs typeface="Arial MT"/>
              </a:rPr>
              <a:t>slack)</a:t>
            </a:r>
            <a:r>
              <a:rPr lang="en-US" sz="1050" spc="82" dirty="0">
                <a:latin typeface="Arial MT"/>
                <a:cs typeface="Arial MT"/>
              </a:rPr>
              <a:t> </a:t>
            </a:r>
            <a:r>
              <a:rPr lang="en-US" sz="1050" dirty="0">
                <a:latin typeface="Arial MT"/>
                <a:cs typeface="Arial MT"/>
              </a:rPr>
              <a:t>to</a:t>
            </a:r>
            <a:r>
              <a:rPr lang="en-US" sz="1050" spc="14" dirty="0">
                <a:latin typeface="Arial MT"/>
                <a:cs typeface="Arial MT"/>
              </a:rPr>
              <a:t> </a:t>
            </a:r>
            <a:r>
              <a:rPr lang="en-US" sz="1050" u="heavy" spc="41" dirty="0">
                <a:solidFill>
                  <a:srgbClr val="00B54F"/>
                </a:solidFill>
                <a:uFill>
                  <a:solidFill>
                    <a:srgbClr val="036080"/>
                  </a:solidFill>
                </a:uFill>
                <a:latin typeface="Arial MT"/>
                <a:cs typeface="Arial MT"/>
              </a:rPr>
              <a:t>reduce</a:t>
            </a:r>
            <a:r>
              <a:rPr lang="en-US" sz="1050" spc="41" dirty="0">
                <a:solidFill>
                  <a:srgbClr val="00B54F"/>
                </a:solidFill>
                <a:latin typeface="Arial MT"/>
                <a:cs typeface="Arial MT"/>
              </a:rPr>
              <a:t> </a:t>
            </a:r>
            <a:r>
              <a:rPr lang="en-US" sz="1050" u="heavy" dirty="0" err="1">
                <a:solidFill>
                  <a:srgbClr val="0000CC"/>
                </a:solidFill>
                <a:uFill>
                  <a:solidFill>
                    <a:srgbClr val="0000BF"/>
                  </a:solidFill>
                </a:uFill>
                <a:latin typeface="Arial MT"/>
                <a:cs typeface="Arial MT"/>
              </a:rPr>
              <a:t>geak</a:t>
            </a:r>
            <a:r>
              <a:rPr lang="en-US" sz="1050" spc="123" dirty="0">
                <a:solidFill>
                  <a:srgbClr val="0000CC"/>
                </a:solidFill>
                <a:latin typeface="Arial MT"/>
                <a:cs typeface="Arial MT"/>
              </a:rPr>
              <a:t> </a:t>
            </a:r>
            <a:r>
              <a:rPr lang="en-US" sz="1050" spc="73" dirty="0">
                <a:solidFill>
                  <a:srgbClr val="0001C4"/>
                </a:solidFill>
                <a:latin typeface="Arial MT"/>
                <a:cs typeface="Arial MT"/>
              </a:rPr>
              <a:t>resource</a:t>
            </a:r>
            <a:r>
              <a:rPr lang="en-US" sz="1050" spc="172" dirty="0">
                <a:solidFill>
                  <a:srgbClr val="0001C4"/>
                </a:solidFill>
                <a:latin typeface="Arial MT"/>
                <a:cs typeface="Arial MT"/>
              </a:rPr>
              <a:t> </a:t>
            </a:r>
            <a:r>
              <a:rPr lang="en-US" sz="1050" spc="50" dirty="0">
                <a:solidFill>
                  <a:srgbClr val="0301CF"/>
                </a:solidFill>
                <a:latin typeface="Arial MT"/>
                <a:cs typeface="Arial MT"/>
              </a:rPr>
              <a:t>demand</a:t>
            </a:r>
            <a:r>
              <a:rPr lang="en-US" sz="1050" spc="185" dirty="0">
                <a:solidFill>
                  <a:srgbClr val="0301CF"/>
                </a:solidFill>
                <a:latin typeface="Arial MT"/>
                <a:cs typeface="Arial MT"/>
              </a:rPr>
              <a:t> </a:t>
            </a:r>
            <a:r>
              <a:rPr lang="en-US" sz="1050" u="heavy" spc="95" dirty="0">
                <a:solidFill>
                  <a:srgbClr val="00B654"/>
                </a:solidFill>
                <a:uFill>
                  <a:solidFill>
                    <a:srgbClr val="08A84F"/>
                  </a:solidFill>
                </a:uFill>
                <a:latin typeface="Arial MT"/>
                <a:cs typeface="Arial MT"/>
              </a:rPr>
              <a:t>without</a:t>
            </a:r>
            <a:r>
              <a:rPr lang="en-US" sz="1050" spc="154" dirty="0">
                <a:solidFill>
                  <a:srgbClr val="00B654"/>
                </a:solidFill>
                <a:latin typeface="Arial MT"/>
                <a:cs typeface="Arial MT"/>
              </a:rPr>
              <a:t> </a:t>
            </a:r>
            <a:r>
              <a:rPr lang="en-US" sz="1050" spc="68" dirty="0">
                <a:solidFill>
                  <a:srgbClr val="00AF4D"/>
                </a:solidFill>
                <a:latin typeface="Arial MT"/>
                <a:cs typeface="Arial MT"/>
              </a:rPr>
              <a:t>delaying</a:t>
            </a:r>
            <a:r>
              <a:rPr lang="en-US" sz="1050" spc="141" dirty="0">
                <a:solidFill>
                  <a:srgbClr val="00AF4D"/>
                </a:solidFill>
                <a:latin typeface="Arial MT"/>
                <a:cs typeface="Arial MT"/>
              </a:rPr>
              <a:t> </a:t>
            </a:r>
            <a:r>
              <a:rPr lang="en-US" sz="1050" u="heavy" spc="68" dirty="0">
                <a:solidFill>
                  <a:srgbClr val="0100DA"/>
                </a:solidFill>
                <a:uFill>
                  <a:solidFill>
                    <a:srgbClr val="0000BF"/>
                  </a:solidFill>
                </a:uFill>
                <a:latin typeface="Arial MT"/>
                <a:cs typeface="Arial MT"/>
              </a:rPr>
              <a:t>entire</a:t>
            </a:r>
            <a:r>
              <a:rPr lang="en-US" sz="1050" spc="86" dirty="0">
                <a:solidFill>
                  <a:srgbClr val="0100DA"/>
                </a:solidFill>
                <a:latin typeface="Arial MT"/>
                <a:cs typeface="Arial MT"/>
              </a:rPr>
              <a:t> </a:t>
            </a:r>
            <a:r>
              <a:rPr lang="en-US" sz="1050" spc="77" dirty="0">
                <a:latin typeface="Arial MT"/>
                <a:cs typeface="Arial MT"/>
              </a:rPr>
              <a:t>project.</a:t>
            </a:r>
            <a:r>
              <a:rPr lang="en-US" sz="1050" spc="195" dirty="0">
                <a:latin typeface="Arial MT"/>
                <a:cs typeface="Arial MT"/>
              </a:rPr>
              <a:t> </a:t>
            </a:r>
            <a:r>
              <a:rPr lang="en-US" sz="1050" spc="59" dirty="0">
                <a:latin typeface="Arial MT"/>
                <a:cs typeface="Arial MT"/>
              </a:rPr>
              <a:t>0’ </a:t>
            </a:r>
            <a:r>
              <a:rPr lang="en-US" sz="1050" dirty="0">
                <a:latin typeface="Arial MT"/>
                <a:cs typeface="Arial MT"/>
              </a:rPr>
              <a:t>So,</a:t>
            </a:r>
            <a:r>
              <a:rPr lang="en-US" sz="1050" spc="54" dirty="0">
                <a:latin typeface="Arial MT"/>
                <a:cs typeface="Arial MT"/>
              </a:rPr>
              <a:t> </a:t>
            </a:r>
            <a:r>
              <a:rPr lang="en-US" sz="1050" u="heavy" spc="45" dirty="0">
                <a:solidFill>
                  <a:srgbClr val="00B34D"/>
                </a:solidFill>
                <a:uFill>
                  <a:solidFill>
                    <a:srgbClr val="08A84F"/>
                  </a:solidFill>
                </a:uFill>
                <a:latin typeface="Arial MT"/>
                <a:cs typeface="Arial MT"/>
              </a:rPr>
              <a:t>increase</a:t>
            </a:r>
            <a:r>
              <a:rPr lang="en-US" sz="1050" spc="172" dirty="0">
                <a:solidFill>
                  <a:srgbClr val="00B34D"/>
                </a:solidFill>
                <a:latin typeface="Arial MT"/>
                <a:cs typeface="Arial MT"/>
              </a:rPr>
              <a:t> </a:t>
            </a:r>
            <a:r>
              <a:rPr lang="en-US" sz="1050" spc="73" dirty="0">
                <a:solidFill>
                  <a:srgbClr val="0000E4"/>
                </a:solidFill>
                <a:latin typeface="Arial MT"/>
                <a:cs typeface="Arial MT"/>
              </a:rPr>
              <a:t>resource</a:t>
            </a:r>
            <a:r>
              <a:rPr lang="en-US" sz="1050" spc="163" dirty="0">
                <a:solidFill>
                  <a:srgbClr val="0000E4"/>
                </a:solidFill>
                <a:latin typeface="Arial MT"/>
                <a:cs typeface="Arial MT"/>
              </a:rPr>
              <a:t> </a:t>
            </a:r>
            <a:r>
              <a:rPr lang="en-US" sz="1050" spc="68" dirty="0">
                <a:latin typeface="Arial MT"/>
                <a:cs typeface="Arial MT"/>
              </a:rPr>
              <a:t>utilization.</a:t>
            </a:r>
            <a:endParaRPr lang="en-US" sz="1050" dirty="0">
              <a:latin typeface="Arial MT"/>
              <a:cs typeface="Arial MT"/>
            </a:endParaRPr>
          </a:p>
          <a:p>
            <a:pPr marL="13255">
              <a:spcBef>
                <a:spcPts val="1148"/>
              </a:spcBef>
            </a:pPr>
            <a:r>
              <a:rPr lang="en-US" sz="1050" spc="73" dirty="0">
                <a:solidFill>
                  <a:srgbClr val="FB0101"/>
                </a:solidFill>
                <a:latin typeface="Arial MT"/>
                <a:cs typeface="Arial MT"/>
              </a:rPr>
              <a:t>Resource-Constrained</a:t>
            </a:r>
            <a:r>
              <a:rPr lang="en-US" sz="1050" spc="59" dirty="0">
                <a:solidFill>
                  <a:srgbClr val="FB0101"/>
                </a:solidFill>
                <a:latin typeface="Arial MT"/>
                <a:cs typeface="Arial MT"/>
              </a:rPr>
              <a:t> </a:t>
            </a:r>
            <a:r>
              <a:rPr lang="en-US" sz="1050" spc="64" dirty="0" err="1">
                <a:solidFill>
                  <a:srgbClr val="FB0100"/>
                </a:solidFill>
                <a:latin typeface="Arial MT"/>
                <a:cs typeface="Arial MT"/>
              </a:rPr>
              <a:t>Schedulin</a:t>
            </a:r>
            <a:endParaRPr lang="en-US" sz="1050" dirty="0">
              <a:latin typeface="Arial MT"/>
              <a:cs typeface="Arial MT"/>
            </a:endParaRPr>
          </a:p>
          <a:p>
            <a:pPr marL="14984">
              <a:spcBef>
                <a:spcPts val="1153"/>
              </a:spcBef>
              <a:tabLst>
                <a:tab pos="4052148" algn="l"/>
              </a:tabLst>
            </a:pPr>
            <a:r>
              <a:rPr lang="en-US" sz="1050" u="heavy" dirty="0">
                <a:solidFill>
                  <a:srgbClr val="00AF4F"/>
                </a:solidFill>
                <a:uFill>
                  <a:solidFill>
                    <a:srgbClr val="08A84F"/>
                  </a:solidFill>
                </a:uFill>
                <a:latin typeface="Arial MT"/>
                <a:cs typeface="Arial MT"/>
              </a:rPr>
              <a:t>When</a:t>
            </a:r>
            <a:r>
              <a:rPr lang="en-US" sz="1050" spc="100" dirty="0">
                <a:solidFill>
                  <a:srgbClr val="00AF4F"/>
                </a:solidFill>
                <a:latin typeface="Arial MT"/>
                <a:cs typeface="Arial MT"/>
              </a:rPr>
              <a:t> </a:t>
            </a:r>
            <a:r>
              <a:rPr lang="en-US" sz="1050" spc="77" dirty="0">
                <a:solidFill>
                  <a:srgbClr val="0003C4"/>
                </a:solidFill>
                <a:latin typeface="Arial MT"/>
                <a:cs typeface="Arial MT"/>
              </a:rPr>
              <a:t>resources</a:t>
            </a:r>
            <a:r>
              <a:rPr lang="en-US" sz="1050" spc="208" dirty="0">
                <a:solidFill>
                  <a:srgbClr val="0003C4"/>
                </a:solidFill>
                <a:latin typeface="Arial MT"/>
                <a:cs typeface="Arial MT"/>
              </a:rPr>
              <a:t> </a:t>
            </a:r>
            <a:r>
              <a:rPr lang="en-US" sz="1050" dirty="0">
                <a:latin typeface="Arial MT"/>
                <a:cs typeface="Arial MT"/>
              </a:rPr>
              <a:t>are</a:t>
            </a:r>
            <a:r>
              <a:rPr lang="en-US" sz="1050" spc="86" dirty="0">
                <a:latin typeface="Arial MT"/>
                <a:cs typeface="Arial MT"/>
              </a:rPr>
              <a:t> </a:t>
            </a:r>
            <a:r>
              <a:rPr lang="en-US" sz="1050" spc="91" dirty="0">
                <a:solidFill>
                  <a:srgbClr val="00AE4F"/>
                </a:solidFill>
                <a:latin typeface="Arial MT"/>
                <a:cs typeface="Arial MT"/>
              </a:rPr>
              <a:t>not </a:t>
            </a:r>
            <a:r>
              <a:rPr lang="en-US" sz="1050" spc="-23" dirty="0" err="1">
                <a:solidFill>
                  <a:srgbClr val="01AF4F"/>
                </a:solidFill>
                <a:latin typeface="Arial MT"/>
                <a:cs typeface="Arial MT"/>
              </a:rPr>
              <a:t>ade</a:t>
            </a:r>
            <a:r>
              <a:rPr lang="en-US" sz="1050" dirty="0">
                <a:solidFill>
                  <a:srgbClr val="01AF4F"/>
                </a:solidFill>
                <a:latin typeface="Arial MT"/>
                <a:cs typeface="Arial MT"/>
              </a:rPr>
              <a:t>	</a:t>
            </a:r>
            <a:r>
              <a:rPr lang="en-US" sz="1050" dirty="0" err="1">
                <a:solidFill>
                  <a:srgbClr val="00B552"/>
                </a:solidFill>
                <a:latin typeface="Arial MT"/>
                <a:cs typeface="Arial MT"/>
              </a:rPr>
              <a:t>uate</a:t>
            </a:r>
            <a:r>
              <a:rPr lang="en-US" sz="1050" spc="159" dirty="0">
                <a:solidFill>
                  <a:srgbClr val="00B552"/>
                </a:solidFill>
                <a:latin typeface="Arial MT"/>
                <a:cs typeface="Arial MT"/>
              </a:rPr>
              <a:t> </a:t>
            </a:r>
            <a:r>
              <a:rPr lang="en-US" sz="1050" dirty="0">
                <a:latin typeface="Arial MT"/>
                <a:cs typeface="Arial MT"/>
              </a:rPr>
              <a:t>to</a:t>
            </a:r>
            <a:r>
              <a:rPr lang="en-US" sz="1050" spc="68" dirty="0">
                <a:latin typeface="Arial MT"/>
                <a:cs typeface="Arial MT"/>
              </a:rPr>
              <a:t> </a:t>
            </a:r>
            <a:r>
              <a:rPr lang="en-US" sz="1050" u="heavy" dirty="0">
                <a:solidFill>
                  <a:srgbClr val="00B14B"/>
                </a:solidFill>
                <a:uFill>
                  <a:solidFill>
                    <a:srgbClr val="08A84F"/>
                  </a:solidFill>
                </a:uFill>
                <a:latin typeface="Arial MT"/>
                <a:cs typeface="Arial MT"/>
              </a:rPr>
              <a:t>meet</a:t>
            </a:r>
            <a:r>
              <a:rPr lang="en-US" sz="1050" spc="300" dirty="0">
                <a:solidFill>
                  <a:srgbClr val="00B14B"/>
                </a:solidFill>
                <a:latin typeface="Arial MT"/>
                <a:cs typeface="Arial MT"/>
              </a:rPr>
              <a:t> </a:t>
            </a:r>
            <a:r>
              <a:rPr lang="en-US" sz="1050" u="heavy" dirty="0" err="1">
                <a:solidFill>
                  <a:srgbClr val="0003BA"/>
                </a:solidFill>
                <a:uFill>
                  <a:solidFill>
                    <a:srgbClr val="0000BF"/>
                  </a:solidFill>
                </a:uFill>
                <a:latin typeface="Arial MT"/>
                <a:cs typeface="Arial MT"/>
              </a:rPr>
              <a:t>geak</a:t>
            </a:r>
            <a:r>
              <a:rPr lang="en-US" sz="1050" spc="177" dirty="0">
                <a:solidFill>
                  <a:srgbClr val="0003BA"/>
                </a:solidFill>
                <a:latin typeface="Arial MT"/>
                <a:cs typeface="Arial MT"/>
              </a:rPr>
              <a:t> </a:t>
            </a:r>
            <a:r>
              <a:rPr lang="en-US" sz="1050" spc="-9" dirty="0">
                <a:latin typeface="Arial MT"/>
                <a:cs typeface="Arial MT"/>
              </a:rPr>
              <a:t>demands,</a:t>
            </a:r>
            <a:endParaRPr lang="en-US" sz="1050" dirty="0">
              <a:latin typeface="Arial MT"/>
              <a:cs typeface="Arial MT"/>
            </a:endParaRPr>
          </a:p>
          <a:p>
            <a:pPr marL="295079" marR="946904" indent="-281247">
              <a:lnSpc>
                <a:spcPts val="2759"/>
              </a:lnSpc>
              <a:spcBef>
                <a:spcPts val="1193"/>
              </a:spcBef>
              <a:buClr>
                <a:srgbClr val="FD0000"/>
              </a:buClr>
              <a:buChar char="•"/>
              <a:tabLst>
                <a:tab pos="295079" algn="l"/>
                <a:tab pos="6766643" algn="l"/>
              </a:tabLst>
            </a:pPr>
            <a:r>
              <a:rPr lang="en-US" sz="1050" dirty="0">
                <a:solidFill>
                  <a:srgbClr val="F70300"/>
                </a:solidFill>
                <a:latin typeface="Arial MT"/>
                <a:cs typeface="Arial MT"/>
              </a:rPr>
              <a:t>late</a:t>
            </a:r>
            <a:r>
              <a:rPr lang="en-US" sz="1050" spc="54" dirty="0">
                <a:solidFill>
                  <a:srgbClr val="F70300"/>
                </a:solidFill>
                <a:latin typeface="Arial MT"/>
                <a:cs typeface="Arial MT"/>
              </a:rPr>
              <a:t> </a:t>
            </a:r>
            <a:r>
              <a:rPr lang="en-US" sz="1050" dirty="0">
                <a:solidFill>
                  <a:srgbClr val="F70300"/>
                </a:solidFill>
                <a:latin typeface="Arial MT"/>
                <a:cs typeface="Arial MT"/>
              </a:rPr>
              <a:t>start</a:t>
            </a:r>
            <a:r>
              <a:rPr lang="en-US" sz="1050" spc="113" dirty="0">
                <a:solidFill>
                  <a:srgbClr val="F70300"/>
                </a:solidFill>
                <a:latin typeface="Arial MT"/>
                <a:cs typeface="Arial MT"/>
              </a:rPr>
              <a:t> </a:t>
            </a:r>
            <a:r>
              <a:rPr lang="en-US" sz="1050" dirty="0">
                <a:latin typeface="Arial MT"/>
                <a:cs typeface="Arial MT"/>
              </a:rPr>
              <a:t>of</a:t>
            </a:r>
            <a:r>
              <a:rPr lang="en-US" sz="1050" spc="23" dirty="0">
                <a:latin typeface="Arial MT"/>
                <a:cs typeface="Arial MT"/>
              </a:rPr>
              <a:t> </a:t>
            </a:r>
            <a:r>
              <a:rPr lang="en-US" sz="1050" u="heavy" dirty="0">
                <a:solidFill>
                  <a:srgbClr val="0000CA"/>
                </a:solidFill>
                <a:uFill>
                  <a:solidFill>
                    <a:srgbClr val="0000BF"/>
                  </a:solidFill>
                </a:uFill>
                <a:latin typeface="Arial MT"/>
                <a:cs typeface="Arial MT"/>
              </a:rPr>
              <a:t>some</a:t>
            </a:r>
            <a:r>
              <a:rPr lang="en-US" sz="1050" spc="136" dirty="0">
                <a:solidFill>
                  <a:srgbClr val="0000CA"/>
                </a:solidFill>
                <a:latin typeface="Arial MT"/>
                <a:cs typeface="Arial MT"/>
              </a:rPr>
              <a:t> </a:t>
            </a:r>
            <a:r>
              <a:rPr lang="en-US" sz="1050" dirty="0">
                <a:solidFill>
                  <a:srgbClr val="0000D4"/>
                </a:solidFill>
                <a:latin typeface="Arial MT"/>
                <a:cs typeface="Arial MT"/>
              </a:rPr>
              <a:t>activities</a:t>
            </a:r>
            <a:r>
              <a:rPr lang="en-US" sz="1050" spc="200" dirty="0">
                <a:solidFill>
                  <a:srgbClr val="0000D4"/>
                </a:solidFill>
                <a:latin typeface="Arial MT"/>
                <a:cs typeface="Arial MT"/>
              </a:rPr>
              <a:t> </a:t>
            </a:r>
            <a:r>
              <a:rPr lang="en-US" sz="1050" spc="-32" dirty="0">
                <a:latin typeface="Arial MT"/>
                <a:cs typeface="Arial MT"/>
              </a:rPr>
              <a:t>must</a:t>
            </a:r>
            <a:r>
              <a:rPr lang="en-US" sz="1050" spc="109" dirty="0">
                <a:latin typeface="Arial MT"/>
                <a:cs typeface="Arial MT"/>
              </a:rPr>
              <a:t> </a:t>
            </a:r>
            <a:r>
              <a:rPr lang="en-US" sz="1050" dirty="0">
                <a:latin typeface="Arial MT"/>
                <a:cs typeface="Arial MT"/>
              </a:rPr>
              <a:t>be</a:t>
            </a:r>
            <a:r>
              <a:rPr lang="en-US" sz="1050" spc="91" dirty="0">
                <a:latin typeface="Arial MT"/>
                <a:cs typeface="Arial MT"/>
              </a:rPr>
              <a:t> </a:t>
            </a:r>
            <a:r>
              <a:rPr lang="en-US" sz="1050" u="heavy" spc="-9" dirty="0" err="1">
                <a:uFill>
                  <a:solidFill>
                    <a:srgbClr val="03A84F"/>
                  </a:solidFill>
                </a:uFill>
                <a:latin typeface="Arial MT"/>
                <a:cs typeface="Arial MT"/>
              </a:rPr>
              <a:t>delaved</a:t>
            </a:r>
            <a:r>
              <a:rPr lang="en-US" sz="1050" spc="-9" dirty="0">
                <a:latin typeface="Arial MT"/>
                <a:cs typeface="Arial MT"/>
              </a:rPr>
              <a:t>.</a:t>
            </a:r>
            <a:r>
              <a:rPr lang="en-US" sz="1050" spc="-54" dirty="0">
                <a:latin typeface="Arial MT"/>
                <a:cs typeface="Arial MT"/>
              </a:rPr>
              <a:t> </a:t>
            </a:r>
            <a:r>
              <a:rPr lang="en-US" sz="1050" spc="45" dirty="0">
                <a:latin typeface="Arial MT"/>
                <a:cs typeface="Arial MT"/>
              </a:rPr>
              <a:t>4</a:t>
            </a:r>
            <a:r>
              <a:rPr lang="en-US" sz="1050" dirty="0">
                <a:latin typeface="Arial MT"/>
                <a:cs typeface="Arial MT"/>
              </a:rPr>
              <a:t>	</a:t>
            </a:r>
            <a:r>
              <a:rPr lang="en-US" sz="1050" spc="-77" dirty="0">
                <a:latin typeface="Arial MT"/>
                <a:cs typeface="Arial MT"/>
              </a:rPr>
              <a:t>So, </a:t>
            </a:r>
            <a:r>
              <a:rPr lang="en-US" sz="1050" dirty="0">
                <a:solidFill>
                  <a:srgbClr val="0005BC"/>
                </a:solidFill>
                <a:latin typeface="Arial MT"/>
                <a:cs typeface="Arial MT"/>
              </a:rPr>
              <a:t>duration</a:t>
            </a:r>
            <a:r>
              <a:rPr lang="en-US" sz="1050" spc="132" dirty="0">
                <a:solidFill>
                  <a:srgbClr val="0005BC"/>
                </a:solidFill>
                <a:latin typeface="Arial MT"/>
                <a:cs typeface="Arial MT"/>
              </a:rPr>
              <a:t> </a:t>
            </a:r>
            <a:r>
              <a:rPr lang="en-US" sz="1050" dirty="0">
                <a:latin typeface="Arial MT"/>
                <a:cs typeface="Arial MT"/>
              </a:rPr>
              <a:t>of</a:t>
            </a:r>
            <a:r>
              <a:rPr lang="en-US" sz="1050" spc="14" dirty="0">
                <a:latin typeface="Arial MT"/>
                <a:cs typeface="Arial MT"/>
              </a:rPr>
              <a:t> </a:t>
            </a:r>
            <a:r>
              <a:rPr lang="en-US" sz="1050" spc="45" dirty="0">
                <a:solidFill>
                  <a:srgbClr val="0003BF"/>
                </a:solidFill>
                <a:latin typeface="Arial MT"/>
                <a:cs typeface="Arial MT"/>
              </a:rPr>
              <a:t>project</a:t>
            </a:r>
            <a:r>
              <a:rPr lang="en-US" sz="1050" spc="73" dirty="0">
                <a:solidFill>
                  <a:srgbClr val="0003BF"/>
                </a:solidFill>
                <a:latin typeface="Arial MT"/>
                <a:cs typeface="Arial MT"/>
              </a:rPr>
              <a:t> </a:t>
            </a:r>
            <a:r>
              <a:rPr lang="en-US" sz="1050" spc="-27" dirty="0">
                <a:latin typeface="Arial MT"/>
                <a:cs typeface="Arial MT"/>
              </a:rPr>
              <a:t>may</a:t>
            </a:r>
            <a:r>
              <a:rPr lang="en-US" sz="1050" spc="5" dirty="0">
                <a:latin typeface="Arial MT"/>
                <a:cs typeface="Arial MT"/>
              </a:rPr>
              <a:t> </a:t>
            </a:r>
            <a:r>
              <a:rPr lang="en-US" sz="1050" dirty="0">
                <a:latin typeface="Arial MT"/>
                <a:cs typeface="Arial MT"/>
              </a:rPr>
              <a:t>be</a:t>
            </a:r>
            <a:r>
              <a:rPr lang="en-US" sz="1050" spc="14" dirty="0">
                <a:latin typeface="Arial MT"/>
                <a:cs typeface="Arial MT"/>
              </a:rPr>
              <a:t> </a:t>
            </a:r>
            <a:r>
              <a:rPr lang="en-US" sz="1050" u="heavy" spc="-9" dirty="0">
                <a:uFill>
                  <a:solidFill>
                    <a:srgbClr val="08A84F"/>
                  </a:solidFill>
                </a:uFill>
                <a:latin typeface="Arial MT"/>
                <a:cs typeface="Arial MT"/>
              </a:rPr>
              <a:t>increased.</a:t>
            </a:r>
            <a:endParaRPr lang="en-US" sz="1050" dirty="0">
              <a:latin typeface="Arial MT"/>
              <a:cs typeface="Arial MT"/>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ar-EG" sz="1200" b="0" i="0" kern="1200" dirty="0">
                <a:solidFill>
                  <a:schemeClr val="tx1"/>
                </a:solidFill>
                <a:effectLst/>
                <a:latin typeface="+mn-lt"/>
                <a:ea typeface="+mn-ea"/>
                <a:cs typeface="+mn-cs"/>
              </a:rPr>
              <a:t>أُجريت تقديرات زمنية لحزم العمل وأوقات الشبكة بشكل مستقل، مع افتراض ضمني بتوفر الموارد. قد يكون هذا صحيحًا أو خاطئًا. إذا كانت الموارد كافية، لكن الطلب يتفاوت بشكل كبير على مدار عمر المشروع، فقد يكون من المستحسن موازنة الطلب على الموارد بتأخير الأنشطة غير الحرجة (باستخدام فترة الركود) لتقليل الطلب في أوقات الذروة، وبالتالي زيادة استخدام الموارد. تُسمى هذه العملية "تسوية الموارد".</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ar-EG" sz="1200" b="0" i="0" kern="1200" dirty="0">
                <a:solidFill>
                  <a:schemeClr val="tx1"/>
                </a:solidFill>
                <a:effectLst/>
                <a:latin typeface="+mn-lt"/>
                <a:ea typeface="+mn-ea"/>
                <a:cs typeface="+mn-cs"/>
              </a:rPr>
              <a:t>من ناحية أخرى، إذا لم تكن الموارد كافية لتلبية الطلب في أوقات الذروة، فيجب تأجيل البدء المتأخر لبعض الأنشطة، وقد تُزاد مدة المشروع. تُسمى هذه العملية بالجدولة المحدودة الموارد.</a:t>
            </a:r>
          </a:p>
          <a:p>
            <a:pPr marL="0" marR="0" lvl="0" indent="0" algn="l" defTabSz="914400" rtl="0" eaLnBrk="1" fontAlgn="auto" latinLnBrk="0" hangingPunct="1">
              <a:lnSpc>
                <a:spcPct val="100000"/>
              </a:lnSpc>
              <a:spcBef>
                <a:spcPts val="0"/>
              </a:spcBef>
              <a:spcAft>
                <a:spcPts val="0"/>
              </a:spcAft>
              <a:buClrTx/>
              <a:buSzTx/>
              <a:buFontTx/>
              <a:buNone/>
              <a:tabLst/>
              <a:defRPr/>
            </a:pPr>
            <a:endParaRPr lang="ar-EG"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8E77139-B5B0-4B4D-984A-9B5ADFF6527D}" type="slidenum">
              <a:rPr lang="en-US" smtClean="0"/>
              <a:t>4</a:t>
            </a:fld>
            <a:endParaRPr lang="en-US"/>
          </a:p>
        </p:txBody>
      </p:sp>
    </p:spTree>
    <p:extLst>
      <p:ext uri="{BB962C8B-B14F-4D97-AF65-F5344CB8AC3E}">
        <p14:creationId xmlns:p14="http://schemas.microsoft.com/office/powerpoint/2010/main" val="3775580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صنّف المشروع إما مقيدًا بالوقت أو مقيدًا بالموارد (راجع مصفوفة الأولويات). لتحديد ما إذا كان المشروع مقيدًا بالوقت أو الموارد، اسأل: "إذا تأخر المسار الحرج، فهل ستُضاف موارد للعودة إلى الجدول الزمني؟" إذا كانت الإجابة بنعم، فافترض أن المشروع مقيد بالوقت؛ إذا كانت الإجابة لا، فافترض أن المشروع مقيد بالموارد.</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المشروع المقيد بالوقت هو المشروع الذي يجب إكماله بحلول تاريخ محدد. إذا لزم الأمر، يمكن إضافة موارد لضمان إكمال المشروع بحلول تاريخ محدد. هذا يعني أن الوقت (مدة المشروع) ثابت والموارد مرنة.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المشروع المقيد بالموارد هو المشروع الذي يفترض أنه لا يمكن تجاوز مستوى الموارد المتاحة. إذا كانت الموارد غير كافية، فسيكون من المقبول تأخير المشروع. هذا يعني أن الموارد ثابتة والوقت مرن.</a:t>
            </a:r>
          </a:p>
          <a:p>
            <a:endParaRPr lang="en-US" dirty="0"/>
          </a:p>
        </p:txBody>
      </p:sp>
      <p:sp>
        <p:nvSpPr>
          <p:cNvPr id="4" name="Slide Number Placeholder 3"/>
          <p:cNvSpPr>
            <a:spLocks noGrp="1"/>
          </p:cNvSpPr>
          <p:nvPr>
            <p:ph type="sldNum" sz="quarter" idx="5"/>
          </p:nvPr>
        </p:nvSpPr>
        <p:spPr/>
        <p:txBody>
          <a:bodyPr/>
          <a:lstStyle/>
          <a:p>
            <a:fld id="{A8E77139-B5B0-4B4D-984A-9B5ADFF6527D}" type="slidenum">
              <a:rPr lang="en-US" smtClean="0"/>
              <a:t>6</a:t>
            </a:fld>
            <a:endParaRPr lang="en-US"/>
          </a:p>
        </p:txBody>
      </p:sp>
    </p:spTree>
    <p:extLst>
      <p:ext uri="{BB962C8B-B14F-4D97-AF65-F5344CB8AC3E}">
        <p14:creationId xmlns:p14="http://schemas.microsoft.com/office/powerpoint/2010/main" val="3033667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تُركز جدولة المشاريع المُقيدة زمنيًا على استغلال الموارد. ويتم ذلك عن طريق تأجيل الأنشطة غير الحرجة باستخدام فترة سماح إيجابية لتقليل الطلب في أوقات الذروة.</a:t>
            </a:r>
          </a:p>
          <a:p>
            <a:pPr rtl="1"/>
            <a:r>
              <a:rPr lang="ar-EG" sz="1200" b="0" i="0" kern="1200" dirty="0">
                <a:solidFill>
                  <a:schemeClr val="tx1"/>
                </a:solidFill>
                <a:effectLst/>
                <a:latin typeface="+mn-lt"/>
                <a:ea typeface="+mn-ea"/>
                <a:cs typeface="+mn-cs"/>
              </a:rPr>
              <a:t>يوضح مثال الإجراء الأساسي لمشروع مُقيد زمنيًا. ولغرض التوضيح، يستخدم مشروع الحديقة النباتية موردًا واحدًا فقط (الحفارات الخلفية)؛ جميع الحفارات الخلفية قابلة للتبادل.</a:t>
            </a:r>
          </a:p>
          <a:p>
            <a:pPr rtl="1"/>
            <a:r>
              <a:rPr lang="ar-EG" sz="1200" b="0" i="0" kern="1200" dirty="0">
                <a:solidFill>
                  <a:schemeClr val="tx1"/>
                </a:solidFill>
                <a:effectLst/>
                <a:latin typeface="+mn-lt"/>
                <a:ea typeface="+mn-ea"/>
                <a:cs typeface="+mn-cs"/>
              </a:rPr>
              <a:t>الهدف هو تقليل الطلب على المورد في أوقات الذروة، وبالتالي زيادة استخدامه.</a:t>
            </a:r>
          </a:p>
          <a:p>
            <a:pPr rtl="1"/>
            <a:r>
              <a:rPr lang="ar-EG" sz="1200" b="0" i="0" kern="1200" dirty="0">
                <a:solidFill>
                  <a:schemeClr val="tx1"/>
                </a:solidFill>
                <a:effectLst/>
                <a:latin typeface="+mn-lt"/>
                <a:ea typeface="+mn-ea"/>
                <a:cs typeface="+mn-cs"/>
              </a:rPr>
              <a:t>تم تخفيض الموارد اللازمة على مدار عمر المشروع من 4 إلى 3 (25%). بالإضافة إلى ذلك، تم تنعيم الملف، مما يُتوقع أن يُسهّل إدارته.</a:t>
            </a:r>
          </a:p>
          <a:p>
            <a:pPr rtl="1"/>
            <a:r>
              <a:rPr lang="ar-EG" sz="1200" b="0" i="0" kern="1200" dirty="0">
                <a:solidFill>
                  <a:schemeClr val="tx1"/>
                </a:solidFill>
                <a:effectLst/>
                <a:latin typeface="+mn-lt"/>
                <a:ea typeface="+mn-ea"/>
                <a:cs typeface="+mn-cs"/>
              </a:rPr>
              <a:t>حقق جدول مشروع الحديقة النباتية الأهداف الثلاثة التالية:</a:t>
            </a:r>
          </a:p>
          <a:p>
            <a:pPr rtl="1"/>
            <a:r>
              <a:rPr lang="ar-EG" sz="1200" b="0" i="0" kern="1200" dirty="0">
                <a:solidFill>
                  <a:schemeClr val="tx1"/>
                </a:solidFill>
                <a:effectLst/>
                <a:latin typeface="+mn-lt"/>
                <a:ea typeface="+mn-ea"/>
                <a:cs typeface="+mn-cs"/>
              </a:rPr>
              <a:t>تم تقليل الطلب على المورد في أوقات الذروة.</a:t>
            </a:r>
          </a:p>
          <a:p>
            <a:pPr rtl="1"/>
            <a:r>
              <a:rPr lang="ar-EG" sz="1200" b="0" i="0" kern="1200" dirty="0">
                <a:solidFill>
                  <a:schemeClr val="tx1"/>
                </a:solidFill>
                <a:effectLst/>
                <a:latin typeface="+mn-lt"/>
                <a:ea typeface="+mn-ea"/>
                <a:cs typeface="+mn-cs"/>
              </a:rPr>
              <a:t>تم تقليل عدد الموارد على مدار عمر المشروع.</a:t>
            </a:r>
          </a:p>
          <a:p>
            <a:pPr rtl="1"/>
            <a:r>
              <a:rPr lang="ar-EG" sz="1200" b="0" i="0" kern="1200" dirty="0">
                <a:solidFill>
                  <a:schemeClr val="tx1"/>
                </a:solidFill>
                <a:effectLst/>
                <a:latin typeface="+mn-lt"/>
                <a:ea typeface="+mn-ea"/>
                <a:cs typeface="+mn-cs"/>
              </a:rPr>
              <a:t>تم تقليل التقلبات في الطلب على الموارد.</a:t>
            </a:r>
          </a:p>
          <a:p>
            <a:pPr rtl="1"/>
            <a:r>
              <a:rPr lang="ar-EG" sz="1200" b="0" i="0" kern="1200" dirty="0">
                <a:solidFill>
                  <a:schemeClr val="tx1"/>
                </a:solidFill>
                <a:effectLst/>
                <a:latin typeface="+mn-lt"/>
                <a:ea typeface="+mn-ea"/>
                <a:cs typeface="+mn-cs"/>
              </a:rPr>
              <a:t>الجانب السلبي هو فقدان المرونة الناتج عن تقليل فترة السماح. ويزداد أيضًا خطر تأخير الأنشطة للمشروع لأن تقليل التراخي يمكن أن يؤدي إلى إنشاء أنشطة أكثر أهمية و/أو أنشطة قريبة من الأهمية.</a:t>
            </a:r>
          </a:p>
          <a:p>
            <a:endParaRPr lang="en-US" dirty="0"/>
          </a:p>
        </p:txBody>
      </p:sp>
      <p:sp>
        <p:nvSpPr>
          <p:cNvPr id="4" name="Slide Number Placeholder 3"/>
          <p:cNvSpPr>
            <a:spLocks noGrp="1"/>
          </p:cNvSpPr>
          <p:nvPr>
            <p:ph type="sldNum" sz="quarter" idx="5"/>
          </p:nvPr>
        </p:nvSpPr>
        <p:spPr/>
        <p:txBody>
          <a:bodyPr/>
          <a:lstStyle/>
          <a:p>
            <a:fld id="{A8E77139-B5B0-4B4D-984A-9B5ADFF6527D}" type="slidenum">
              <a:rPr lang="en-US" smtClean="0"/>
              <a:t>8</a:t>
            </a:fld>
            <a:endParaRPr lang="en-US"/>
          </a:p>
        </p:txBody>
      </p:sp>
    </p:spTree>
    <p:extLst>
      <p:ext uri="{BB962C8B-B14F-4D97-AF65-F5344CB8AC3E}">
        <p14:creationId xmlns:p14="http://schemas.microsoft.com/office/powerpoint/2010/main" val="3876397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تكمن الحيلة في تحديد أولويات الموارد وتخصيصها لتقليل تأخير المشروع دون تجاوز حد الموارد أو تغيير العلاقات التقنية للشبكة.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تُعدّ مشكلة جدولة الموارد مشكلةً تركيبيةً كبيرة. هذا يعني أنه حتى شبكة مشاريع صغيرة الحجم تحتوي على عدد قليل من أنواع الموارد قد تحتوي على آلاف الحلول الممكنة.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الحلول الرياضية (مثل البرمجة الخطية) غير عملية.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تُسهّل برامج الحاسوب المتاحة اليوم على مدير المشروع إنشاء جدول موارد جيد للمشروع.</a:t>
            </a:r>
          </a:p>
          <a:p>
            <a:endParaRPr lang="en-US" dirty="0"/>
          </a:p>
        </p:txBody>
      </p:sp>
      <p:sp>
        <p:nvSpPr>
          <p:cNvPr id="4" name="Slide Number Placeholder 3"/>
          <p:cNvSpPr>
            <a:spLocks noGrp="1"/>
          </p:cNvSpPr>
          <p:nvPr>
            <p:ph type="sldNum" sz="quarter" idx="5"/>
          </p:nvPr>
        </p:nvSpPr>
        <p:spPr/>
        <p:txBody>
          <a:bodyPr/>
          <a:lstStyle/>
          <a:p>
            <a:fld id="{A8E77139-B5B0-4B4D-984A-9B5ADFF6527D}" type="slidenum">
              <a:rPr lang="en-US" smtClean="0"/>
              <a:t>10</a:t>
            </a:fld>
            <a:endParaRPr lang="en-US"/>
          </a:p>
        </p:txBody>
      </p:sp>
    </p:spTree>
    <p:extLst>
      <p:ext uri="{BB962C8B-B14F-4D97-AF65-F5344CB8AC3E}">
        <p14:creationId xmlns:p14="http://schemas.microsoft.com/office/powerpoint/2010/main" val="2669374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تحديد الأولويات ضروري لتحديد الأنشطة التي تُخصص لها موارد، والأنشطة التي تُؤجل عند عدم كفاية الموارد.</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الطريقة المتوازية هي الأكثر استخدامًا.</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وهي عملية تكرارية تبدأ من بداية وقت المشروع، وعندما تتجاوز الموارد المطلوبة الموارد المتاحة، تُحفظ الأنشطة أولاً وفقًا لقواعد الأولوية التالية: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أدنى فترة سماح.</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أقصر مدة.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أدنى رقم تعريف للنشاط.</a:t>
            </a:r>
          </a:p>
          <a:p>
            <a:endParaRPr lang="en-US" dirty="0"/>
          </a:p>
        </p:txBody>
      </p:sp>
      <p:sp>
        <p:nvSpPr>
          <p:cNvPr id="4" name="Slide Number Placeholder 3"/>
          <p:cNvSpPr>
            <a:spLocks noGrp="1"/>
          </p:cNvSpPr>
          <p:nvPr>
            <p:ph type="sldNum" sz="quarter" idx="5"/>
          </p:nvPr>
        </p:nvSpPr>
        <p:spPr/>
        <p:txBody>
          <a:bodyPr/>
          <a:lstStyle/>
          <a:p>
            <a:fld id="{A8E77139-B5B0-4B4D-984A-9B5ADFF6527D}" type="slidenum">
              <a:rPr lang="en-US" smtClean="0"/>
              <a:t>11</a:t>
            </a:fld>
            <a:endParaRPr lang="en-US"/>
          </a:p>
        </p:txBody>
      </p:sp>
    </p:spTree>
    <p:extLst>
      <p:ext uri="{BB962C8B-B14F-4D97-AF65-F5344CB8AC3E}">
        <p14:creationId xmlns:p14="http://schemas.microsoft.com/office/powerpoint/2010/main" val="1700785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الوقت اللازم لطرح المنتج في السوق. على سبيل المثال، من القواعد العامة لشركات التكنولوجيا المتوسطة إلى المتقدمة أن تأخير طرح منتج في السوق لمدة 6 أشهر قد يؤدي إلى خسارة حصتها السوقية بنسبة 35% تقريبًا (وقطاع الهواتف الذكية مثال جيد على ذلك).</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القدرة على التكيف مع الركود العالمي وأزمات الطاقة.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التأخيرات غير المتوقعة. على سبيل المثال، تُسبب عيوب التصميم وتعطل المعدات تأخيرات كبيرة أثناء المشروع. عادةً ما يتطلب الالتزام بالجدول الزمني ضغط الوقت المُخصص لبعض الأنشطة الحيوية المتبقية. يجب مقارنة التكاليف الإضافية للالتزام بالجدول الزمني بعواقب التأخير. وينطبق هذا بشكل خاص عندما يكون الوقت أولوية قصوى.</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المواعيد النهائية المفروضة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إعادة توزيع المعدات و/أو الموظفين الرئيسيين على مشاريع جديدة.</a:t>
            </a:r>
          </a:p>
          <a:p>
            <a:endParaRPr lang="en-US" dirty="0"/>
          </a:p>
        </p:txBody>
      </p:sp>
      <p:sp>
        <p:nvSpPr>
          <p:cNvPr id="4" name="Slide Number Placeholder 3"/>
          <p:cNvSpPr>
            <a:spLocks noGrp="1"/>
          </p:cNvSpPr>
          <p:nvPr>
            <p:ph type="sldNum" sz="quarter" idx="5"/>
          </p:nvPr>
        </p:nvSpPr>
        <p:spPr/>
        <p:txBody>
          <a:bodyPr/>
          <a:lstStyle/>
          <a:p>
            <a:fld id="{A8E77139-B5B0-4B4D-984A-9B5ADFF6527D}" type="slidenum">
              <a:rPr lang="en-US" smtClean="0"/>
              <a:t>20</a:t>
            </a:fld>
            <a:endParaRPr lang="en-US"/>
          </a:p>
        </p:txBody>
      </p:sp>
    </p:spTree>
    <p:extLst>
      <p:ext uri="{BB962C8B-B14F-4D97-AF65-F5344CB8AC3E}">
        <p14:creationId xmlns:p14="http://schemas.microsoft.com/office/powerpoint/2010/main" val="588371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لدى المديرين عدة طرق فعّالة لتعطيل أنشطة مشاريع محددة عندما لا تكون الموارد محدودة: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زيادة الموارد: إن مضاعفة حجم القوى العاملة لن تُقلل بالضرورة وقت الإنجاز إلى النصف.</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الاستعانة بمصادر خارجية لأعمال المشاريع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جدولة العمل الإضافي: قد لا تُشكّل تكلفة إضافية حقيقية للعمل الإضافي. كما أن عوامل التشتيت أقل عند العمل خارج ساعات العمل الرسمية. ومع ذلك، عادةً ما يتقاضى العاملون بالساعة أجرًا قدره نصف ساعة عن العمل الإضافي، ووقتًا مضاعفًا عن عطلات نهاية الأسبوع والعطلات الرسمية، وقد يُؤدي استمرار العمل الإضافي للموظفين ذوي الرواتب الثابتة إلى تكاليف غير ملموسة مثل الطلاق والإرهاق الوظيفي وتقلبات الأجور. كما أن إنتاجية الموظف خلال الساعة الحادية عشرة من عمله أقل من إنتاجيته خلال الساعة الثالثة.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تشكيل فريق مشروع رئيسي: يُجنّب التكلفة الخفية لتعدد المهام، حيث يُجبر الأفراد على التوفيق بين متطلبات مشاريع متعددة.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افعل ذلك مرتين - بسرعة وبشكل صحيح: في مجال الأعمال، تميل شركات البرمجيات إلى إصدار الإصدار 1.0 من المنتجات غير المكتملة والمُختبرة بالكامل. الإصدارات اللاحقة 1.1. . . </a:t>
            </a:r>
            <a:r>
              <a:rPr lang="en-US" sz="1200" b="0" i="0" kern="1200" dirty="0">
                <a:solidFill>
                  <a:schemeClr val="tx1"/>
                </a:solidFill>
                <a:effectLst/>
                <a:latin typeface="+mn-lt"/>
                <a:ea typeface="+mn-ea"/>
                <a:cs typeface="+mn-cs"/>
              </a:rPr>
              <a:t>x </a:t>
            </a:r>
            <a:r>
              <a:rPr lang="ar-EG" sz="1200" b="0" i="0" kern="1200" dirty="0">
                <a:solidFill>
                  <a:schemeClr val="tx1"/>
                </a:solidFill>
                <a:effectLst/>
                <a:latin typeface="+mn-lt"/>
                <a:ea typeface="+mn-ea"/>
                <a:cs typeface="+mn-cs"/>
              </a:rPr>
              <a:t>تصحح الأخطاء وتضيف الوظائف المقصودة للمنتج.</a:t>
            </a:r>
          </a:p>
          <a:p>
            <a:endParaRPr lang="en-US" dirty="0"/>
          </a:p>
        </p:txBody>
      </p:sp>
      <p:sp>
        <p:nvSpPr>
          <p:cNvPr id="4" name="Slide Number Placeholder 3"/>
          <p:cNvSpPr>
            <a:spLocks noGrp="1"/>
          </p:cNvSpPr>
          <p:nvPr>
            <p:ph type="sldNum" sz="quarter" idx="5"/>
          </p:nvPr>
        </p:nvSpPr>
        <p:spPr/>
        <p:txBody>
          <a:bodyPr/>
          <a:lstStyle/>
          <a:p>
            <a:fld id="{A8E77139-B5B0-4B4D-984A-9B5ADFF6527D}" type="slidenum">
              <a:rPr lang="en-US" smtClean="0"/>
              <a:t>21</a:t>
            </a:fld>
            <a:endParaRPr lang="en-US"/>
          </a:p>
        </p:txBody>
      </p:sp>
    </p:spTree>
    <p:extLst>
      <p:ext uri="{BB962C8B-B14F-4D97-AF65-F5344CB8AC3E}">
        <p14:creationId xmlns:p14="http://schemas.microsoft.com/office/powerpoint/2010/main" val="3468478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الخيارات المتاحة عند محدودية الموارد</a:t>
            </a:r>
          </a:p>
          <a:p>
            <a:pPr rtl="1"/>
            <a:r>
              <a:rPr lang="ar-EG" sz="1200" b="0" i="0" kern="1200" dirty="0">
                <a:solidFill>
                  <a:schemeClr val="tx1"/>
                </a:solidFill>
                <a:effectLst/>
                <a:latin typeface="+mn-lt"/>
                <a:ea typeface="+mn-ea"/>
                <a:cs typeface="+mn-cs"/>
              </a:rPr>
              <a:t>تحسين كفاءة فريق المشروع: على سبيل المثال: إزالة عوائق الإنتاجية، مثل التدخل البيروقراطي المفرط والروتين الإداري.</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التتبع السريع: يُمكن أحيانًا إعادة ترتيب منطق شبكة المشروع بحيث تُنفَّذ الأنشطة المهمة بالتوازي (متزامنة) بدلًا من التتابع. يُشار إلى هذا عادةً بالتتبع السريع، ولكنه يتطلب تنسيقًا وثيقًا بين المسؤولين عن الأنشطة المعنية وثقةً بالعمل المُنجز.</a:t>
            </a:r>
          </a:p>
          <a:p>
            <a:pPr rtl="1"/>
            <a:r>
              <a:rPr lang="ar-EG" sz="1200" b="0" i="0" kern="1200" dirty="0">
                <a:solidFill>
                  <a:schemeClr val="tx1"/>
                </a:solidFill>
                <a:effectLst/>
                <a:latin typeface="+mn-lt"/>
                <a:ea typeface="+mn-ea"/>
                <a:cs typeface="+mn-cs"/>
              </a:rPr>
              <a:t>تقليص نطاق المشروع: قد يُقلل من قيمته.</a:t>
            </a:r>
          </a:p>
          <a:p>
            <a:pPr rtl="1"/>
            <a:r>
              <a:rPr lang="ar-EG" sz="1200" b="0" i="0" kern="1200" dirty="0">
                <a:solidFill>
                  <a:schemeClr val="tx1"/>
                </a:solidFill>
                <a:effectLst/>
                <a:latin typeface="+mn-lt"/>
                <a:ea typeface="+mn-ea"/>
                <a:cs typeface="+mn-cs"/>
              </a:rPr>
              <a:t>التأثير على الجودة: نادرًا ما يكون مقبولًا أو مُستخدَمًا.</a:t>
            </a:r>
          </a:p>
          <a:p>
            <a:endParaRPr lang="en-US" dirty="0"/>
          </a:p>
        </p:txBody>
      </p:sp>
      <p:sp>
        <p:nvSpPr>
          <p:cNvPr id="4" name="Slide Number Placeholder 3"/>
          <p:cNvSpPr>
            <a:spLocks noGrp="1"/>
          </p:cNvSpPr>
          <p:nvPr>
            <p:ph type="sldNum" sz="quarter" idx="5"/>
          </p:nvPr>
        </p:nvSpPr>
        <p:spPr/>
        <p:txBody>
          <a:bodyPr/>
          <a:lstStyle/>
          <a:p>
            <a:fld id="{A8E77139-B5B0-4B4D-984A-9B5ADFF6527D}" type="slidenum">
              <a:rPr lang="en-US" smtClean="0"/>
              <a:t>22</a:t>
            </a:fld>
            <a:endParaRPr lang="en-US"/>
          </a:p>
        </p:txBody>
      </p:sp>
    </p:spTree>
    <p:extLst>
      <p:ext uri="{BB962C8B-B14F-4D97-AF65-F5344CB8AC3E}">
        <p14:creationId xmlns:p14="http://schemas.microsoft.com/office/powerpoint/2010/main" val="374435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u="heavy">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u="heavy">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sp>
        <p:nvSpPr>
          <p:cNvPr id="17" name="bg object 17"/>
          <p:cNvSpPr/>
          <p:nvPr/>
        </p:nvSpPr>
        <p:spPr>
          <a:xfrm>
            <a:off x="0" y="1355271"/>
            <a:ext cx="10091420" cy="392430"/>
          </a:xfrm>
          <a:custGeom>
            <a:avLst/>
            <a:gdLst/>
            <a:ahLst/>
            <a:cxnLst/>
            <a:rect l="l" t="t" r="r" b="b"/>
            <a:pathLst>
              <a:path w="10091420" h="392430">
                <a:moveTo>
                  <a:pt x="10091056" y="0"/>
                </a:moveTo>
                <a:lnTo>
                  <a:pt x="0" y="0"/>
                </a:lnTo>
                <a:lnTo>
                  <a:pt x="0" y="391885"/>
                </a:lnTo>
                <a:lnTo>
                  <a:pt x="10091056" y="391885"/>
                </a:lnTo>
                <a:lnTo>
                  <a:pt x="10091056"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sp>
        <p:nvSpPr>
          <p:cNvPr id="17" name="bg object 17"/>
          <p:cNvSpPr/>
          <p:nvPr/>
        </p:nvSpPr>
        <p:spPr>
          <a:xfrm>
            <a:off x="0" y="1355271"/>
            <a:ext cx="10091420" cy="392430"/>
          </a:xfrm>
          <a:custGeom>
            <a:avLst/>
            <a:gdLst/>
            <a:ahLst/>
            <a:cxnLst/>
            <a:rect l="l" t="t" r="r" b="b"/>
            <a:pathLst>
              <a:path w="10091420" h="392430">
                <a:moveTo>
                  <a:pt x="10091056" y="0"/>
                </a:moveTo>
                <a:lnTo>
                  <a:pt x="0" y="0"/>
                </a:lnTo>
                <a:lnTo>
                  <a:pt x="0" y="391885"/>
                </a:lnTo>
                <a:lnTo>
                  <a:pt x="10091056" y="391885"/>
                </a:lnTo>
                <a:lnTo>
                  <a:pt x="10091056" y="0"/>
                </a:lnTo>
                <a:close/>
              </a:path>
            </a:pathLst>
          </a:custGeom>
          <a:solidFill>
            <a:srgbClr val="FFFFF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916938" y="615856"/>
            <a:ext cx="10966450" cy="686247"/>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570905"/>
            <a:ext cx="10358120" cy="4032250"/>
          </a:xfrm>
          <a:prstGeom prst="rect">
            <a:avLst/>
          </a:prstGeom>
        </p:spPr>
        <p:txBody>
          <a:bodyPr wrap="square" lIns="0" tIns="0" rIns="0" bIns="0">
            <a:spAutoFit/>
          </a:bodyPr>
          <a:lstStyle>
            <a:lvl1pPr>
              <a:defRPr sz="2800" b="0" i="0" u="heavy">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25886" y="2526822"/>
            <a:ext cx="3340735" cy="2084545"/>
          </a:xfrm>
          <a:prstGeom prst="rect">
            <a:avLst/>
          </a:prstGeom>
        </p:spPr>
        <p:txBody>
          <a:bodyPr vert="horz" wrap="square" lIns="0" tIns="167005" rIns="0" bIns="0" rtlCol="0">
            <a:spAutoFit/>
          </a:bodyPr>
          <a:lstStyle/>
          <a:p>
            <a:pPr marL="61594" algn="ctr">
              <a:lnSpc>
                <a:spcPct val="100000"/>
              </a:lnSpc>
              <a:spcBef>
                <a:spcPts val="1315"/>
              </a:spcBef>
            </a:pPr>
            <a:r>
              <a:rPr sz="2350" spc="50" dirty="0">
                <a:latin typeface="Calibri Light"/>
                <a:cs typeface="Calibri Light"/>
              </a:rPr>
              <a:t>(</a:t>
            </a:r>
            <a:r>
              <a:rPr lang="en-US" sz="2400" spc="65" dirty="0">
                <a:latin typeface="Calibri Light"/>
                <a:cs typeface="Calibri Light"/>
              </a:rPr>
              <a:t>25CPE4602</a:t>
            </a:r>
            <a:r>
              <a:rPr sz="2350" spc="50" dirty="0">
                <a:latin typeface="Calibri Light"/>
                <a:cs typeface="Calibri Light"/>
              </a:rPr>
              <a:t>)</a:t>
            </a:r>
            <a:endParaRPr sz="2350" dirty="0">
              <a:latin typeface="Calibri Light"/>
              <a:cs typeface="Calibri Light"/>
            </a:endParaRPr>
          </a:p>
          <a:p>
            <a:pPr marL="67310" algn="ctr">
              <a:lnSpc>
                <a:spcPct val="100000"/>
              </a:lnSpc>
              <a:spcBef>
                <a:spcPts val="2065"/>
              </a:spcBef>
            </a:pPr>
            <a:r>
              <a:rPr sz="4000" b="1" dirty="0">
                <a:solidFill>
                  <a:srgbClr val="2F5597"/>
                </a:solidFill>
                <a:latin typeface="Calibri"/>
                <a:cs typeface="Calibri"/>
              </a:rPr>
              <a:t>Lecture</a:t>
            </a:r>
            <a:r>
              <a:rPr sz="4000" b="1" spc="-135" dirty="0">
                <a:solidFill>
                  <a:srgbClr val="2F5597"/>
                </a:solidFill>
                <a:latin typeface="Calibri"/>
                <a:cs typeface="Calibri"/>
              </a:rPr>
              <a:t> </a:t>
            </a:r>
            <a:r>
              <a:rPr sz="4000" b="1" spc="-50" dirty="0">
                <a:solidFill>
                  <a:srgbClr val="2F5597"/>
                </a:solidFill>
                <a:latin typeface="Calibri"/>
                <a:cs typeface="Calibri"/>
              </a:rPr>
              <a:t>8</a:t>
            </a:r>
            <a:endParaRPr sz="4000" dirty="0">
              <a:latin typeface="Calibri"/>
              <a:cs typeface="Calibri"/>
            </a:endParaRPr>
          </a:p>
          <a:p>
            <a:pPr algn="ctr">
              <a:lnSpc>
                <a:spcPct val="100000"/>
              </a:lnSpc>
              <a:spcBef>
                <a:spcPts val="1485"/>
              </a:spcBef>
            </a:pPr>
            <a:r>
              <a:rPr sz="2800" spc="150" dirty="0">
                <a:latin typeface="Georgia"/>
                <a:cs typeface="Georgia"/>
              </a:rPr>
              <a:t>Dr.</a:t>
            </a:r>
            <a:r>
              <a:rPr sz="2800" spc="254" dirty="0">
                <a:latin typeface="Georgia"/>
                <a:cs typeface="Georgia"/>
              </a:rPr>
              <a:t> </a:t>
            </a:r>
            <a:r>
              <a:rPr lang="en-US" sz="2800" spc="210" dirty="0">
                <a:latin typeface="Georgia"/>
                <a:cs typeface="Georgia"/>
              </a:rPr>
              <a:t>Zahraa Ismail</a:t>
            </a:r>
            <a:endParaRPr sz="2800" dirty="0">
              <a:latin typeface="Georgia"/>
              <a:cs typeface="Georgia"/>
            </a:endParaRPr>
          </a:p>
        </p:txBody>
      </p:sp>
      <p:sp>
        <p:nvSpPr>
          <p:cNvPr id="3" name="object 3"/>
          <p:cNvSpPr txBox="1">
            <a:spLocks noGrp="1"/>
          </p:cNvSpPr>
          <p:nvPr>
            <p:ph type="title"/>
          </p:nvPr>
        </p:nvSpPr>
        <p:spPr>
          <a:xfrm>
            <a:off x="1553075" y="1489844"/>
            <a:ext cx="9139555" cy="832485"/>
          </a:xfrm>
          <a:prstGeom prst="rect">
            <a:avLst/>
          </a:prstGeom>
        </p:spPr>
        <p:txBody>
          <a:bodyPr vert="horz" wrap="square" lIns="0" tIns="12065" rIns="0" bIns="0" rtlCol="0">
            <a:spAutoFit/>
          </a:bodyPr>
          <a:lstStyle/>
          <a:p>
            <a:pPr marL="12700">
              <a:lnSpc>
                <a:spcPct val="100000"/>
              </a:lnSpc>
              <a:spcBef>
                <a:spcPts val="95"/>
              </a:spcBef>
            </a:pPr>
            <a:r>
              <a:rPr sz="5300" spc="114" dirty="0">
                <a:solidFill>
                  <a:srgbClr val="C00000"/>
                </a:solidFill>
              </a:rPr>
              <a:t>Scheduling</a:t>
            </a:r>
            <a:r>
              <a:rPr sz="5300" spc="150" dirty="0">
                <a:solidFill>
                  <a:srgbClr val="C00000"/>
                </a:solidFill>
              </a:rPr>
              <a:t> </a:t>
            </a:r>
            <a:r>
              <a:rPr sz="5300" spc="100" dirty="0">
                <a:solidFill>
                  <a:srgbClr val="C00000"/>
                </a:solidFill>
              </a:rPr>
              <a:t>Resources</a:t>
            </a:r>
            <a:r>
              <a:rPr sz="5300" spc="155" dirty="0">
                <a:solidFill>
                  <a:srgbClr val="C00000"/>
                </a:solidFill>
              </a:rPr>
              <a:t> </a:t>
            </a:r>
            <a:r>
              <a:rPr sz="5300" spc="114" dirty="0">
                <a:solidFill>
                  <a:srgbClr val="C00000"/>
                </a:solidFill>
              </a:rPr>
              <a:t>and</a:t>
            </a:r>
            <a:r>
              <a:rPr sz="5300" spc="150" dirty="0">
                <a:solidFill>
                  <a:srgbClr val="C00000"/>
                </a:solidFill>
              </a:rPr>
              <a:t> </a:t>
            </a:r>
            <a:r>
              <a:rPr sz="5300" spc="90" dirty="0">
                <a:solidFill>
                  <a:srgbClr val="C00000"/>
                </a:solidFill>
              </a:rPr>
              <a:t>Costs</a:t>
            </a:r>
            <a:endParaRPr sz="5300"/>
          </a:p>
        </p:txBody>
      </p:sp>
      <p:pic>
        <p:nvPicPr>
          <p:cNvPr id="4" name="object 4"/>
          <p:cNvPicPr/>
          <p:nvPr/>
        </p:nvPicPr>
        <p:blipFill>
          <a:blip r:embed="rId2" cstate="print"/>
          <a:stretch>
            <a:fillRect/>
          </a:stretch>
        </p:blipFill>
        <p:spPr>
          <a:xfrm>
            <a:off x="3708164" y="4723403"/>
            <a:ext cx="4545091" cy="2134595"/>
          </a:xfrm>
          <a:prstGeom prst="rect">
            <a:avLst/>
          </a:prstGeom>
        </p:spPr>
      </p:pic>
      <p:pic>
        <p:nvPicPr>
          <p:cNvPr id="6" name="Picture 5">
            <a:extLst>
              <a:ext uri="{FF2B5EF4-FFF2-40B4-BE49-F238E27FC236}">
                <a16:creationId xmlns:a16="http://schemas.microsoft.com/office/drawing/2014/main" id="{ACF2412B-A6F4-F5D5-292F-43EB3411B7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61062" y="81301"/>
            <a:ext cx="2639293" cy="15809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586" y="1870096"/>
            <a:ext cx="10351770" cy="3385820"/>
          </a:xfrm>
          <a:prstGeom prst="rect">
            <a:avLst/>
          </a:prstGeom>
        </p:spPr>
        <p:txBody>
          <a:bodyPr vert="horz" wrap="square" lIns="0" tIns="80645" rIns="0" bIns="0" rtlCol="0">
            <a:spAutoFit/>
          </a:bodyPr>
          <a:lstStyle/>
          <a:p>
            <a:pPr marL="12700" marR="5080" algn="ctr">
              <a:lnSpc>
                <a:spcPts val="5210"/>
              </a:lnSpc>
              <a:spcBef>
                <a:spcPts val="635"/>
              </a:spcBef>
            </a:pPr>
            <a:r>
              <a:rPr sz="4700" i="1" spc="105" dirty="0">
                <a:solidFill>
                  <a:srgbClr val="C00000"/>
                </a:solidFill>
                <a:latin typeface="Calibri Light"/>
                <a:cs typeface="Calibri Light"/>
              </a:rPr>
              <a:t>Project</a:t>
            </a:r>
            <a:r>
              <a:rPr sz="4700" i="1" spc="130" dirty="0">
                <a:solidFill>
                  <a:srgbClr val="C00000"/>
                </a:solidFill>
                <a:latin typeface="Calibri Light"/>
                <a:cs typeface="Calibri Light"/>
              </a:rPr>
              <a:t> </a:t>
            </a:r>
            <a:r>
              <a:rPr sz="4700" i="1" spc="105" dirty="0">
                <a:solidFill>
                  <a:srgbClr val="C00000"/>
                </a:solidFill>
                <a:latin typeface="Calibri Light"/>
                <a:cs typeface="Calibri Light"/>
              </a:rPr>
              <a:t>network</a:t>
            </a:r>
            <a:r>
              <a:rPr sz="4700" i="1" spc="135" dirty="0">
                <a:solidFill>
                  <a:srgbClr val="C00000"/>
                </a:solidFill>
                <a:latin typeface="Calibri Light"/>
                <a:cs typeface="Calibri Light"/>
              </a:rPr>
              <a:t> </a:t>
            </a:r>
            <a:r>
              <a:rPr sz="4700" i="1" spc="105" dirty="0">
                <a:solidFill>
                  <a:srgbClr val="C00000"/>
                </a:solidFill>
                <a:latin typeface="Calibri Light"/>
                <a:cs typeface="Calibri Light"/>
              </a:rPr>
              <a:t>times</a:t>
            </a:r>
            <a:r>
              <a:rPr sz="4700" i="1" spc="130" dirty="0">
                <a:solidFill>
                  <a:srgbClr val="C00000"/>
                </a:solidFill>
                <a:latin typeface="Calibri Light"/>
                <a:cs typeface="Calibri Light"/>
              </a:rPr>
              <a:t> </a:t>
            </a:r>
            <a:r>
              <a:rPr sz="4700" i="1" spc="85" dirty="0">
                <a:solidFill>
                  <a:srgbClr val="C00000"/>
                </a:solidFill>
                <a:latin typeface="Calibri Light"/>
                <a:cs typeface="Calibri Light"/>
              </a:rPr>
              <a:t>are</a:t>
            </a:r>
            <a:r>
              <a:rPr sz="4700" i="1" spc="125" dirty="0">
                <a:solidFill>
                  <a:srgbClr val="C00000"/>
                </a:solidFill>
                <a:latin typeface="Calibri Light"/>
                <a:cs typeface="Calibri Light"/>
              </a:rPr>
              <a:t> </a:t>
            </a:r>
            <a:r>
              <a:rPr sz="4700" i="1" u="heavy" spc="95" dirty="0">
                <a:solidFill>
                  <a:srgbClr val="C00000"/>
                </a:solidFill>
                <a:uFill>
                  <a:solidFill>
                    <a:srgbClr val="C00000"/>
                  </a:solidFill>
                </a:uFill>
                <a:latin typeface="Calibri Light"/>
                <a:cs typeface="Calibri Light"/>
              </a:rPr>
              <a:t>not</a:t>
            </a:r>
            <a:r>
              <a:rPr sz="4700" i="1" u="heavy" spc="135" dirty="0">
                <a:solidFill>
                  <a:srgbClr val="C00000"/>
                </a:solidFill>
                <a:uFill>
                  <a:solidFill>
                    <a:srgbClr val="C00000"/>
                  </a:solidFill>
                </a:uFill>
                <a:latin typeface="Calibri Light"/>
                <a:cs typeface="Calibri Light"/>
              </a:rPr>
              <a:t> </a:t>
            </a:r>
            <a:r>
              <a:rPr sz="4700" i="1" u="heavy" dirty="0">
                <a:solidFill>
                  <a:srgbClr val="C00000"/>
                </a:solidFill>
                <a:uFill>
                  <a:solidFill>
                    <a:srgbClr val="C00000"/>
                  </a:solidFill>
                </a:uFill>
                <a:latin typeface="Calibri Light"/>
                <a:cs typeface="Calibri Light"/>
              </a:rPr>
              <a:t>a</a:t>
            </a:r>
            <a:r>
              <a:rPr sz="4700" i="1" u="heavy" spc="130" dirty="0">
                <a:solidFill>
                  <a:srgbClr val="C00000"/>
                </a:solidFill>
                <a:uFill>
                  <a:solidFill>
                    <a:srgbClr val="C00000"/>
                  </a:solidFill>
                </a:uFill>
                <a:latin typeface="Calibri Light"/>
                <a:cs typeface="Calibri Light"/>
              </a:rPr>
              <a:t> </a:t>
            </a:r>
            <a:r>
              <a:rPr sz="4700" i="1" u="heavy" spc="105" dirty="0">
                <a:solidFill>
                  <a:srgbClr val="C00000"/>
                </a:solidFill>
                <a:uFill>
                  <a:solidFill>
                    <a:srgbClr val="C00000"/>
                  </a:solidFill>
                </a:uFill>
                <a:latin typeface="Calibri Light"/>
                <a:cs typeface="Calibri Light"/>
              </a:rPr>
              <a:t>schedule</a:t>
            </a:r>
            <a:r>
              <a:rPr sz="4700" i="1" spc="105" dirty="0">
                <a:solidFill>
                  <a:srgbClr val="C00000"/>
                </a:solidFill>
                <a:latin typeface="Calibri Light"/>
                <a:cs typeface="Calibri Light"/>
              </a:rPr>
              <a:t> </a:t>
            </a:r>
            <a:r>
              <a:rPr sz="4700" i="1" spc="80" dirty="0">
                <a:solidFill>
                  <a:srgbClr val="C00000"/>
                </a:solidFill>
                <a:latin typeface="Calibri Light"/>
                <a:cs typeface="Calibri Light"/>
              </a:rPr>
              <a:t>until</a:t>
            </a:r>
            <a:r>
              <a:rPr sz="4700" i="1" spc="120" dirty="0">
                <a:solidFill>
                  <a:srgbClr val="C00000"/>
                </a:solidFill>
                <a:latin typeface="Calibri Light"/>
                <a:cs typeface="Calibri Light"/>
              </a:rPr>
              <a:t> </a:t>
            </a:r>
            <a:r>
              <a:rPr sz="4700" i="1" u="heavy" spc="114" dirty="0">
                <a:solidFill>
                  <a:srgbClr val="C00000"/>
                </a:solidFill>
                <a:uFill>
                  <a:solidFill>
                    <a:srgbClr val="C00000"/>
                  </a:solidFill>
                </a:uFill>
                <a:latin typeface="Calibri Light"/>
                <a:cs typeface="Calibri Light"/>
              </a:rPr>
              <a:t>resources</a:t>
            </a:r>
            <a:r>
              <a:rPr sz="4700" i="1" spc="130" dirty="0">
                <a:solidFill>
                  <a:srgbClr val="C00000"/>
                </a:solidFill>
                <a:latin typeface="Calibri Light"/>
                <a:cs typeface="Calibri Light"/>
              </a:rPr>
              <a:t> </a:t>
            </a:r>
            <a:r>
              <a:rPr sz="4700" i="1" spc="90" dirty="0">
                <a:solidFill>
                  <a:srgbClr val="C00000"/>
                </a:solidFill>
                <a:latin typeface="Calibri Light"/>
                <a:cs typeface="Calibri Light"/>
              </a:rPr>
              <a:t>have</a:t>
            </a:r>
            <a:r>
              <a:rPr sz="4700" i="1" spc="130" dirty="0">
                <a:solidFill>
                  <a:srgbClr val="C00000"/>
                </a:solidFill>
                <a:latin typeface="Calibri Light"/>
                <a:cs typeface="Calibri Light"/>
              </a:rPr>
              <a:t> </a:t>
            </a:r>
            <a:r>
              <a:rPr sz="4700" i="1" spc="90" dirty="0">
                <a:solidFill>
                  <a:srgbClr val="C00000"/>
                </a:solidFill>
                <a:latin typeface="Calibri Light"/>
                <a:cs typeface="Calibri Light"/>
              </a:rPr>
              <a:t>been</a:t>
            </a:r>
            <a:r>
              <a:rPr sz="4700" i="1" spc="125" dirty="0">
                <a:solidFill>
                  <a:srgbClr val="C00000"/>
                </a:solidFill>
                <a:latin typeface="Calibri Light"/>
                <a:cs typeface="Calibri Light"/>
              </a:rPr>
              <a:t> </a:t>
            </a:r>
            <a:r>
              <a:rPr sz="4700" i="1" spc="105" dirty="0">
                <a:solidFill>
                  <a:srgbClr val="C00000"/>
                </a:solidFill>
                <a:latin typeface="Calibri Light"/>
                <a:cs typeface="Calibri Light"/>
              </a:rPr>
              <a:t>assigned</a:t>
            </a:r>
            <a:endParaRPr sz="4700" dirty="0">
              <a:latin typeface="Calibri Light"/>
              <a:cs typeface="Calibri Light"/>
            </a:endParaRPr>
          </a:p>
          <a:p>
            <a:pPr marL="506730" marR="499109" algn="ctr">
              <a:lnSpc>
                <a:spcPts val="5210"/>
              </a:lnSpc>
              <a:spcBef>
                <a:spcPts val="5180"/>
              </a:spcBef>
            </a:pPr>
            <a:r>
              <a:rPr sz="4700" i="1" spc="90" dirty="0">
                <a:solidFill>
                  <a:srgbClr val="C00000"/>
                </a:solidFill>
                <a:latin typeface="Calibri Light"/>
                <a:cs typeface="Calibri Light"/>
              </a:rPr>
              <a:t>Cost</a:t>
            </a:r>
            <a:r>
              <a:rPr sz="4700" i="1" spc="135" dirty="0">
                <a:solidFill>
                  <a:srgbClr val="C00000"/>
                </a:solidFill>
                <a:latin typeface="Calibri Light"/>
                <a:cs typeface="Calibri Light"/>
              </a:rPr>
              <a:t> </a:t>
            </a:r>
            <a:r>
              <a:rPr sz="4700" i="1" spc="100" dirty="0">
                <a:solidFill>
                  <a:srgbClr val="C00000"/>
                </a:solidFill>
                <a:latin typeface="Calibri Light"/>
                <a:cs typeface="Calibri Light"/>
              </a:rPr>
              <a:t>estimates</a:t>
            </a:r>
            <a:r>
              <a:rPr sz="4700" i="1" spc="130" dirty="0">
                <a:solidFill>
                  <a:srgbClr val="C00000"/>
                </a:solidFill>
                <a:latin typeface="Calibri Light"/>
                <a:cs typeface="Calibri Light"/>
              </a:rPr>
              <a:t> </a:t>
            </a:r>
            <a:r>
              <a:rPr sz="4700" i="1" spc="90" dirty="0">
                <a:solidFill>
                  <a:srgbClr val="C00000"/>
                </a:solidFill>
                <a:latin typeface="Calibri Light"/>
                <a:cs typeface="Calibri Light"/>
              </a:rPr>
              <a:t>are</a:t>
            </a:r>
            <a:r>
              <a:rPr sz="4700" i="1" spc="135" dirty="0">
                <a:solidFill>
                  <a:srgbClr val="C00000"/>
                </a:solidFill>
                <a:latin typeface="Calibri Light"/>
                <a:cs typeface="Calibri Light"/>
              </a:rPr>
              <a:t> </a:t>
            </a:r>
            <a:r>
              <a:rPr sz="4700" i="1" u="heavy" spc="95" dirty="0">
                <a:solidFill>
                  <a:srgbClr val="C00000"/>
                </a:solidFill>
                <a:uFill>
                  <a:solidFill>
                    <a:srgbClr val="C00000"/>
                  </a:solidFill>
                </a:uFill>
                <a:latin typeface="Calibri Light"/>
                <a:cs typeface="Calibri Light"/>
              </a:rPr>
              <a:t>not</a:t>
            </a:r>
            <a:r>
              <a:rPr sz="4700" i="1" u="heavy" spc="140" dirty="0">
                <a:solidFill>
                  <a:srgbClr val="C00000"/>
                </a:solidFill>
                <a:uFill>
                  <a:solidFill>
                    <a:srgbClr val="C00000"/>
                  </a:solidFill>
                </a:uFill>
                <a:latin typeface="Calibri Light"/>
                <a:cs typeface="Calibri Light"/>
              </a:rPr>
              <a:t> </a:t>
            </a:r>
            <a:r>
              <a:rPr sz="4700" i="1" u="heavy" dirty="0">
                <a:solidFill>
                  <a:srgbClr val="C00000"/>
                </a:solidFill>
                <a:uFill>
                  <a:solidFill>
                    <a:srgbClr val="C00000"/>
                  </a:solidFill>
                </a:uFill>
                <a:latin typeface="Calibri Light"/>
                <a:cs typeface="Calibri Light"/>
              </a:rPr>
              <a:t>a</a:t>
            </a:r>
            <a:r>
              <a:rPr sz="4700" i="1" u="heavy" spc="130" dirty="0">
                <a:solidFill>
                  <a:srgbClr val="C00000"/>
                </a:solidFill>
                <a:uFill>
                  <a:solidFill>
                    <a:srgbClr val="C00000"/>
                  </a:solidFill>
                </a:uFill>
                <a:latin typeface="Calibri Light"/>
                <a:cs typeface="Calibri Light"/>
              </a:rPr>
              <a:t> </a:t>
            </a:r>
            <a:r>
              <a:rPr sz="4700" i="1" u="heavy" spc="90" dirty="0">
                <a:solidFill>
                  <a:srgbClr val="C00000"/>
                </a:solidFill>
                <a:uFill>
                  <a:solidFill>
                    <a:srgbClr val="C00000"/>
                  </a:solidFill>
                </a:uFill>
                <a:latin typeface="Calibri Light"/>
                <a:cs typeface="Calibri Light"/>
              </a:rPr>
              <a:t>budget</a:t>
            </a:r>
            <a:r>
              <a:rPr sz="4700" i="1" u="heavy" spc="130" dirty="0">
                <a:solidFill>
                  <a:srgbClr val="C00000"/>
                </a:solidFill>
                <a:uFill>
                  <a:solidFill>
                    <a:srgbClr val="C00000"/>
                  </a:solidFill>
                </a:uFill>
                <a:latin typeface="Calibri Light"/>
                <a:cs typeface="Calibri Light"/>
              </a:rPr>
              <a:t> </a:t>
            </a:r>
            <a:r>
              <a:rPr sz="4700" i="1" spc="90" dirty="0">
                <a:solidFill>
                  <a:srgbClr val="C00000"/>
                </a:solidFill>
                <a:latin typeface="Calibri Light"/>
                <a:cs typeface="Calibri Light"/>
              </a:rPr>
              <a:t>until </a:t>
            </a:r>
            <a:r>
              <a:rPr sz="4700" i="1" spc="85" dirty="0">
                <a:solidFill>
                  <a:srgbClr val="C00000"/>
                </a:solidFill>
                <a:latin typeface="Calibri Light"/>
                <a:cs typeface="Calibri Light"/>
              </a:rPr>
              <a:t>they</a:t>
            </a:r>
            <a:r>
              <a:rPr sz="4700" i="1" spc="140" dirty="0">
                <a:solidFill>
                  <a:srgbClr val="C00000"/>
                </a:solidFill>
                <a:latin typeface="Calibri Light"/>
                <a:cs typeface="Calibri Light"/>
              </a:rPr>
              <a:t> </a:t>
            </a:r>
            <a:r>
              <a:rPr sz="4700" i="1" spc="90" dirty="0">
                <a:solidFill>
                  <a:srgbClr val="C00000"/>
                </a:solidFill>
                <a:latin typeface="Calibri Light"/>
                <a:cs typeface="Calibri Light"/>
              </a:rPr>
              <a:t>have</a:t>
            </a:r>
            <a:r>
              <a:rPr sz="4700" i="1" spc="135" dirty="0">
                <a:solidFill>
                  <a:srgbClr val="C00000"/>
                </a:solidFill>
                <a:latin typeface="Calibri Light"/>
                <a:cs typeface="Calibri Light"/>
              </a:rPr>
              <a:t> </a:t>
            </a:r>
            <a:r>
              <a:rPr sz="4700" i="1" spc="90" dirty="0">
                <a:solidFill>
                  <a:srgbClr val="C00000"/>
                </a:solidFill>
                <a:latin typeface="Calibri Light"/>
                <a:cs typeface="Calibri Light"/>
              </a:rPr>
              <a:t>been</a:t>
            </a:r>
            <a:r>
              <a:rPr sz="4700" i="1" spc="120" dirty="0">
                <a:solidFill>
                  <a:srgbClr val="C00000"/>
                </a:solidFill>
                <a:latin typeface="Calibri Light"/>
                <a:cs typeface="Calibri Light"/>
              </a:rPr>
              <a:t> </a:t>
            </a:r>
            <a:r>
              <a:rPr sz="4700" i="1" u="heavy" spc="120" dirty="0">
                <a:solidFill>
                  <a:srgbClr val="C00000"/>
                </a:solidFill>
                <a:uFill>
                  <a:solidFill>
                    <a:srgbClr val="C00000"/>
                  </a:solidFill>
                </a:uFill>
                <a:latin typeface="Calibri Light"/>
                <a:cs typeface="Calibri Light"/>
              </a:rPr>
              <a:t>time-</a:t>
            </a:r>
            <a:r>
              <a:rPr sz="4700" i="1" u="heavy" spc="85" dirty="0">
                <a:solidFill>
                  <a:srgbClr val="C00000"/>
                </a:solidFill>
                <a:uFill>
                  <a:solidFill>
                    <a:srgbClr val="C00000"/>
                  </a:solidFill>
                </a:uFill>
                <a:latin typeface="Calibri Light"/>
                <a:cs typeface="Calibri Light"/>
              </a:rPr>
              <a:t>phased</a:t>
            </a:r>
            <a:endParaRPr sz="4700" dirty="0">
              <a:latin typeface="Calibri Light"/>
              <a:cs typeface="Calibri Light"/>
            </a:endParaRPr>
          </a:p>
        </p:txBody>
      </p:sp>
      <p:pic>
        <p:nvPicPr>
          <p:cNvPr id="3" name="object 3"/>
          <p:cNvPicPr/>
          <p:nvPr/>
        </p:nvPicPr>
        <p:blipFill>
          <a:blip r:embed="rId3" cstate="print"/>
          <a:stretch>
            <a:fillRect/>
          </a:stretch>
        </p:blipFill>
        <p:spPr>
          <a:xfrm>
            <a:off x="10771438" y="46636"/>
            <a:ext cx="1412881" cy="506708"/>
          </a:xfrm>
          <a:prstGeom prst="rect">
            <a:avLst/>
          </a:prstGeom>
        </p:spPr>
      </p:pic>
      <p:pic>
        <p:nvPicPr>
          <p:cNvPr id="4" name="Picture 3">
            <a:extLst>
              <a:ext uri="{FF2B5EF4-FFF2-40B4-BE49-F238E27FC236}">
                <a16:creationId xmlns:a16="http://schemas.microsoft.com/office/drawing/2014/main" id="{19BBD90A-5327-EEC2-0936-5E5EE00B888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5" dirty="0"/>
              <a:t>Introduction</a:t>
            </a:r>
          </a:p>
        </p:txBody>
      </p:sp>
      <p:pic>
        <p:nvPicPr>
          <p:cNvPr id="3" name="object 3"/>
          <p:cNvPicPr/>
          <p:nvPr/>
        </p:nvPicPr>
        <p:blipFill>
          <a:blip r:embed="rId3" cstate="print"/>
          <a:stretch>
            <a:fillRect/>
          </a:stretch>
        </p:blipFill>
        <p:spPr>
          <a:xfrm>
            <a:off x="2574484" y="5096952"/>
            <a:ext cx="6181690" cy="1740389"/>
          </a:xfrm>
          <a:prstGeom prst="rect">
            <a:avLst/>
          </a:prstGeom>
        </p:spPr>
      </p:pic>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3</a:t>
            </a:r>
            <a:endParaRPr sz="1200">
              <a:latin typeface="Calibri"/>
              <a:cs typeface="Calibri"/>
            </a:endParaRPr>
          </a:p>
        </p:txBody>
      </p:sp>
      <p:sp>
        <p:nvSpPr>
          <p:cNvPr id="5" name="object 5"/>
          <p:cNvSpPr txBox="1"/>
          <p:nvPr/>
        </p:nvSpPr>
        <p:spPr>
          <a:xfrm>
            <a:off x="771681" y="1711452"/>
            <a:ext cx="10807700" cy="3378200"/>
          </a:xfrm>
          <a:prstGeom prst="rect">
            <a:avLst/>
          </a:prstGeom>
        </p:spPr>
        <p:txBody>
          <a:bodyPr vert="horz" wrap="square" lIns="0" tIns="12700" rIns="0" bIns="0" rtlCol="0">
            <a:spAutoFit/>
          </a:bodyPr>
          <a:lstStyle/>
          <a:p>
            <a:pPr marL="298450" marR="5080" indent="-285750">
              <a:lnSpc>
                <a:spcPct val="100000"/>
              </a:lnSpc>
              <a:spcBef>
                <a:spcPts val="100"/>
              </a:spcBef>
              <a:buFont typeface="Arial MT"/>
              <a:buChar char="•"/>
              <a:tabLst>
                <a:tab pos="298450" algn="l"/>
              </a:tabLst>
            </a:pPr>
            <a:r>
              <a:rPr sz="2000" dirty="0">
                <a:latin typeface="Calibri"/>
                <a:cs typeface="Calibri"/>
              </a:rPr>
              <a:t>This</a:t>
            </a:r>
            <a:r>
              <a:rPr sz="2000" spc="290" dirty="0">
                <a:latin typeface="Calibri"/>
                <a:cs typeface="Calibri"/>
              </a:rPr>
              <a:t> </a:t>
            </a:r>
            <a:r>
              <a:rPr sz="2000" dirty="0">
                <a:latin typeface="Calibri"/>
                <a:cs typeface="Calibri"/>
              </a:rPr>
              <a:t>lecture</a:t>
            </a:r>
            <a:r>
              <a:rPr sz="2000" spc="295" dirty="0">
                <a:latin typeface="Calibri"/>
                <a:cs typeface="Calibri"/>
              </a:rPr>
              <a:t> </a:t>
            </a:r>
            <a:r>
              <a:rPr sz="2000" dirty="0">
                <a:latin typeface="Calibri"/>
                <a:cs typeface="Calibri"/>
              </a:rPr>
              <a:t>completes</a:t>
            </a:r>
            <a:r>
              <a:rPr sz="2000" spc="295" dirty="0">
                <a:latin typeface="Calibri"/>
                <a:cs typeface="Calibri"/>
              </a:rPr>
              <a:t> </a:t>
            </a:r>
            <a:r>
              <a:rPr sz="2000" dirty="0">
                <a:latin typeface="Calibri"/>
                <a:cs typeface="Calibri"/>
              </a:rPr>
              <a:t>the</a:t>
            </a:r>
            <a:r>
              <a:rPr sz="2000" spc="295" dirty="0">
                <a:latin typeface="Calibri"/>
                <a:cs typeface="Calibri"/>
              </a:rPr>
              <a:t> </a:t>
            </a:r>
            <a:r>
              <a:rPr sz="2000" dirty="0">
                <a:latin typeface="Calibri"/>
                <a:cs typeface="Calibri"/>
              </a:rPr>
              <a:t>final</a:t>
            </a:r>
            <a:r>
              <a:rPr sz="2000" spc="295" dirty="0">
                <a:latin typeface="Calibri"/>
                <a:cs typeface="Calibri"/>
              </a:rPr>
              <a:t> </a:t>
            </a:r>
            <a:r>
              <a:rPr sz="2000" dirty="0">
                <a:latin typeface="Calibri"/>
                <a:cs typeface="Calibri"/>
              </a:rPr>
              <a:t>(2)</a:t>
            </a:r>
            <a:r>
              <a:rPr sz="2000" spc="295" dirty="0">
                <a:latin typeface="Calibri"/>
                <a:cs typeface="Calibri"/>
              </a:rPr>
              <a:t> </a:t>
            </a:r>
            <a:r>
              <a:rPr sz="2000" dirty="0">
                <a:latin typeface="Calibri"/>
                <a:cs typeface="Calibri"/>
              </a:rPr>
              <a:t>planning</a:t>
            </a:r>
            <a:r>
              <a:rPr sz="2000" spc="285" dirty="0">
                <a:latin typeface="Calibri"/>
                <a:cs typeface="Calibri"/>
              </a:rPr>
              <a:t> </a:t>
            </a:r>
            <a:r>
              <a:rPr sz="2000" dirty="0">
                <a:latin typeface="Calibri"/>
                <a:cs typeface="Calibri"/>
              </a:rPr>
              <a:t>tasks</a:t>
            </a:r>
            <a:r>
              <a:rPr sz="2000" spc="295" dirty="0">
                <a:latin typeface="Calibri"/>
                <a:cs typeface="Calibri"/>
              </a:rPr>
              <a:t> </a:t>
            </a:r>
            <a:r>
              <a:rPr sz="2000" dirty="0">
                <a:latin typeface="Calibri"/>
                <a:cs typeface="Calibri"/>
              </a:rPr>
              <a:t>that</a:t>
            </a:r>
            <a:r>
              <a:rPr sz="2000" spc="295" dirty="0">
                <a:latin typeface="Calibri"/>
                <a:cs typeface="Calibri"/>
              </a:rPr>
              <a:t> </a:t>
            </a:r>
            <a:r>
              <a:rPr sz="2000" dirty="0">
                <a:latin typeface="Calibri"/>
                <a:cs typeface="Calibri"/>
              </a:rPr>
              <a:t>become</a:t>
            </a:r>
            <a:r>
              <a:rPr sz="2000" spc="295" dirty="0">
                <a:latin typeface="Calibri"/>
                <a:cs typeface="Calibri"/>
              </a:rPr>
              <a:t> </a:t>
            </a:r>
            <a:r>
              <a:rPr sz="2000" dirty="0">
                <a:latin typeface="Calibri"/>
                <a:cs typeface="Calibri"/>
              </a:rPr>
              <a:t>the</a:t>
            </a:r>
            <a:r>
              <a:rPr sz="2000" spc="295" dirty="0">
                <a:latin typeface="Calibri"/>
                <a:cs typeface="Calibri"/>
              </a:rPr>
              <a:t> </a:t>
            </a:r>
            <a:r>
              <a:rPr sz="2000" dirty="0">
                <a:latin typeface="Calibri"/>
                <a:cs typeface="Calibri"/>
              </a:rPr>
              <a:t>master</a:t>
            </a:r>
            <a:r>
              <a:rPr sz="2000" spc="295" dirty="0">
                <a:latin typeface="Calibri"/>
                <a:cs typeface="Calibri"/>
              </a:rPr>
              <a:t> </a:t>
            </a:r>
            <a:r>
              <a:rPr sz="2000" dirty="0">
                <a:latin typeface="Calibri"/>
                <a:cs typeface="Calibri"/>
              </a:rPr>
              <a:t>plan</a:t>
            </a:r>
            <a:r>
              <a:rPr sz="2000" spc="290" dirty="0">
                <a:latin typeface="Calibri"/>
                <a:cs typeface="Calibri"/>
              </a:rPr>
              <a:t> </a:t>
            </a:r>
            <a:r>
              <a:rPr sz="2000" dirty="0">
                <a:latin typeface="Calibri"/>
                <a:cs typeface="Calibri"/>
              </a:rPr>
              <a:t>for</a:t>
            </a:r>
            <a:r>
              <a:rPr sz="2000" spc="295" dirty="0">
                <a:latin typeface="Calibri"/>
                <a:cs typeface="Calibri"/>
              </a:rPr>
              <a:t> </a:t>
            </a:r>
            <a:r>
              <a:rPr sz="2000" dirty="0">
                <a:latin typeface="Calibri"/>
                <a:cs typeface="Calibri"/>
              </a:rPr>
              <a:t>your</a:t>
            </a:r>
            <a:r>
              <a:rPr sz="2000" spc="295" dirty="0">
                <a:latin typeface="Calibri"/>
                <a:cs typeface="Calibri"/>
              </a:rPr>
              <a:t> </a:t>
            </a:r>
            <a:r>
              <a:rPr sz="2000" spc="-10" dirty="0">
                <a:latin typeface="Calibri"/>
                <a:cs typeface="Calibri"/>
              </a:rPr>
              <a:t>project (resource</a:t>
            </a:r>
            <a:r>
              <a:rPr sz="2000" spc="-35" dirty="0">
                <a:latin typeface="Calibri"/>
                <a:cs typeface="Calibri"/>
              </a:rPr>
              <a:t> </a:t>
            </a:r>
            <a:r>
              <a:rPr sz="2000" dirty="0">
                <a:latin typeface="Calibri"/>
                <a:cs typeface="Calibri"/>
              </a:rPr>
              <a:t>and</a:t>
            </a:r>
            <a:r>
              <a:rPr sz="2000" spc="-40" dirty="0">
                <a:latin typeface="Calibri"/>
                <a:cs typeface="Calibri"/>
              </a:rPr>
              <a:t> </a:t>
            </a:r>
            <a:r>
              <a:rPr sz="2000" dirty="0">
                <a:latin typeface="Calibri"/>
                <a:cs typeface="Calibri"/>
              </a:rPr>
              <a:t>cost)</a:t>
            </a:r>
            <a:r>
              <a:rPr sz="2000" spc="-35" dirty="0">
                <a:latin typeface="Calibri"/>
                <a:cs typeface="Calibri"/>
              </a:rPr>
              <a:t> </a:t>
            </a:r>
            <a:r>
              <a:rPr sz="2000" spc="-10" dirty="0">
                <a:latin typeface="Calibri"/>
                <a:cs typeface="Calibri"/>
              </a:rPr>
              <a:t>scheduling.</a:t>
            </a:r>
            <a:endParaRPr sz="2000" dirty="0">
              <a:latin typeface="Calibri"/>
              <a:cs typeface="Calibri"/>
            </a:endParaRPr>
          </a:p>
          <a:p>
            <a:pPr marL="297815" indent="-285115">
              <a:lnSpc>
                <a:spcPct val="100000"/>
              </a:lnSpc>
              <a:buFont typeface="Arial MT"/>
              <a:buChar char="•"/>
              <a:tabLst>
                <a:tab pos="297815" algn="l"/>
              </a:tabLst>
            </a:pPr>
            <a:r>
              <a:rPr sz="2000" dirty="0">
                <a:latin typeface="Calibri"/>
                <a:cs typeface="Calibri"/>
              </a:rPr>
              <a:t>This</a:t>
            </a:r>
            <a:r>
              <a:rPr sz="2000" spc="55" dirty="0">
                <a:latin typeface="Calibri"/>
                <a:cs typeface="Calibri"/>
              </a:rPr>
              <a:t> </a:t>
            </a:r>
            <a:r>
              <a:rPr sz="2000" dirty="0">
                <a:latin typeface="Calibri"/>
                <a:cs typeface="Calibri"/>
              </a:rPr>
              <a:t>process</a:t>
            </a:r>
            <a:r>
              <a:rPr sz="2000" spc="55" dirty="0">
                <a:latin typeface="Calibri"/>
                <a:cs typeface="Calibri"/>
              </a:rPr>
              <a:t> </a:t>
            </a:r>
            <a:r>
              <a:rPr sz="2000" dirty="0">
                <a:latin typeface="Calibri"/>
                <a:cs typeface="Calibri"/>
              </a:rPr>
              <a:t>uses</a:t>
            </a:r>
            <a:r>
              <a:rPr sz="2000" spc="55"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resource</a:t>
            </a:r>
            <a:r>
              <a:rPr sz="2000" spc="55" dirty="0">
                <a:latin typeface="Calibri"/>
                <a:cs typeface="Calibri"/>
              </a:rPr>
              <a:t> </a:t>
            </a:r>
            <a:r>
              <a:rPr sz="2000" dirty="0">
                <a:latin typeface="Calibri"/>
                <a:cs typeface="Calibri"/>
              </a:rPr>
              <a:t>schedule</a:t>
            </a:r>
            <a:r>
              <a:rPr sz="2000" spc="55"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assign</a:t>
            </a:r>
            <a:r>
              <a:rPr sz="2000" spc="45" dirty="0">
                <a:latin typeface="Calibri"/>
                <a:cs typeface="Calibri"/>
              </a:rPr>
              <a:t> </a:t>
            </a:r>
            <a:r>
              <a:rPr sz="2000" i="1" spc="-10" dirty="0">
                <a:latin typeface="Calibri"/>
                <a:cs typeface="Calibri"/>
              </a:rPr>
              <a:t>time-</a:t>
            </a:r>
            <a:r>
              <a:rPr sz="2000" i="1" dirty="0">
                <a:latin typeface="Calibri"/>
                <a:cs typeface="Calibri"/>
              </a:rPr>
              <a:t>phased</a:t>
            </a:r>
            <a:r>
              <a:rPr sz="2000" i="1" spc="50" dirty="0">
                <a:latin typeface="Calibri"/>
                <a:cs typeface="Calibri"/>
              </a:rPr>
              <a:t> </a:t>
            </a:r>
            <a:r>
              <a:rPr sz="2000" dirty="0">
                <a:latin typeface="Calibri"/>
                <a:cs typeface="Calibri"/>
              </a:rPr>
              <a:t>costs</a:t>
            </a:r>
            <a:r>
              <a:rPr sz="2000" spc="55" dirty="0">
                <a:latin typeface="Calibri"/>
                <a:cs typeface="Calibri"/>
              </a:rPr>
              <a:t> </a:t>
            </a:r>
            <a:r>
              <a:rPr sz="2000" dirty="0">
                <a:latin typeface="Calibri"/>
                <a:cs typeface="Calibri"/>
              </a:rPr>
              <a:t>that</a:t>
            </a:r>
            <a:r>
              <a:rPr sz="2000" spc="55" dirty="0">
                <a:latin typeface="Calibri"/>
                <a:cs typeface="Calibri"/>
              </a:rPr>
              <a:t> </a:t>
            </a:r>
            <a:r>
              <a:rPr sz="2000" dirty="0">
                <a:latin typeface="Calibri"/>
                <a:cs typeface="Calibri"/>
              </a:rPr>
              <a:t>provide</a:t>
            </a:r>
            <a:r>
              <a:rPr sz="2000" spc="55" dirty="0">
                <a:latin typeface="Calibri"/>
                <a:cs typeface="Calibri"/>
              </a:rPr>
              <a:t> </a:t>
            </a:r>
            <a:r>
              <a:rPr sz="2000" dirty="0">
                <a:latin typeface="Calibri"/>
                <a:cs typeface="Calibri"/>
              </a:rPr>
              <a:t>the</a:t>
            </a:r>
            <a:r>
              <a:rPr sz="2000" spc="55" dirty="0">
                <a:latin typeface="Calibri"/>
                <a:cs typeface="Calibri"/>
              </a:rPr>
              <a:t> </a:t>
            </a:r>
            <a:r>
              <a:rPr sz="2000" dirty="0">
                <a:latin typeface="Calibri"/>
                <a:cs typeface="Calibri"/>
              </a:rPr>
              <a:t>project</a:t>
            </a:r>
            <a:r>
              <a:rPr sz="2000" spc="55" dirty="0">
                <a:latin typeface="Calibri"/>
                <a:cs typeface="Calibri"/>
              </a:rPr>
              <a:t> </a:t>
            </a:r>
            <a:r>
              <a:rPr sz="2000" spc="-10" dirty="0">
                <a:latin typeface="Calibri"/>
                <a:cs typeface="Calibri"/>
              </a:rPr>
              <a:t>budget</a:t>
            </a:r>
            <a:endParaRPr sz="2000" dirty="0">
              <a:latin typeface="Calibri"/>
              <a:cs typeface="Calibri"/>
            </a:endParaRPr>
          </a:p>
          <a:p>
            <a:pPr marL="298450">
              <a:lnSpc>
                <a:spcPct val="100000"/>
              </a:lnSpc>
            </a:pPr>
            <a:r>
              <a:rPr sz="2000" b="1" i="1" spc="-10" dirty="0">
                <a:solidFill>
                  <a:srgbClr val="C00000"/>
                </a:solidFill>
                <a:latin typeface="Calibri"/>
                <a:cs typeface="Calibri"/>
              </a:rPr>
              <a:t>baseline</a:t>
            </a:r>
            <a:r>
              <a:rPr sz="2000" spc="-10" dirty="0">
                <a:latin typeface="Calibri"/>
                <a:cs typeface="Calibri"/>
              </a:rPr>
              <a:t>.</a:t>
            </a:r>
            <a:endParaRPr sz="2000" dirty="0">
              <a:latin typeface="Calibri"/>
              <a:cs typeface="Calibri"/>
            </a:endParaRPr>
          </a:p>
          <a:p>
            <a:pPr marL="298450" marR="5080" indent="-285750">
              <a:lnSpc>
                <a:spcPct val="100000"/>
              </a:lnSpc>
              <a:buFont typeface="Arial MT"/>
              <a:buChar char="•"/>
              <a:tabLst>
                <a:tab pos="298450" algn="l"/>
              </a:tabLst>
            </a:pPr>
            <a:r>
              <a:rPr sz="2000" dirty="0">
                <a:latin typeface="Calibri"/>
                <a:cs typeface="Calibri"/>
              </a:rPr>
              <a:t>Given</a:t>
            </a:r>
            <a:r>
              <a:rPr sz="2000" spc="210" dirty="0">
                <a:latin typeface="Calibri"/>
                <a:cs typeface="Calibri"/>
              </a:rPr>
              <a:t> </a:t>
            </a:r>
            <a:r>
              <a:rPr sz="2000" dirty="0">
                <a:latin typeface="Calibri"/>
                <a:cs typeface="Calibri"/>
              </a:rPr>
              <a:t>this</a:t>
            </a:r>
            <a:r>
              <a:rPr sz="2000" spc="215" dirty="0">
                <a:latin typeface="Calibri"/>
                <a:cs typeface="Calibri"/>
              </a:rPr>
              <a:t> </a:t>
            </a:r>
            <a:r>
              <a:rPr sz="2000" spc="-10" dirty="0">
                <a:latin typeface="Calibri"/>
                <a:cs typeface="Calibri"/>
              </a:rPr>
              <a:t>time-</a:t>
            </a:r>
            <a:r>
              <a:rPr sz="2000" dirty="0">
                <a:latin typeface="Calibri"/>
                <a:cs typeface="Calibri"/>
              </a:rPr>
              <a:t>phased</a:t>
            </a:r>
            <a:r>
              <a:rPr sz="2000" spc="210" dirty="0">
                <a:latin typeface="Calibri"/>
                <a:cs typeface="Calibri"/>
              </a:rPr>
              <a:t> </a:t>
            </a:r>
            <a:r>
              <a:rPr sz="2000" dirty="0">
                <a:latin typeface="Calibri"/>
                <a:cs typeface="Calibri"/>
              </a:rPr>
              <a:t>baseline,</a:t>
            </a:r>
            <a:r>
              <a:rPr sz="2000" spc="204" dirty="0">
                <a:latin typeface="Calibri"/>
                <a:cs typeface="Calibri"/>
              </a:rPr>
              <a:t> </a:t>
            </a:r>
            <a:r>
              <a:rPr sz="2000" dirty="0">
                <a:latin typeface="Calibri"/>
                <a:cs typeface="Calibri"/>
              </a:rPr>
              <a:t>comparisons</a:t>
            </a:r>
            <a:r>
              <a:rPr sz="2000" spc="210" dirty="0">
                <a:latin typeface="Calibri"/>
                <a:cs typeface="Calibri"/>
              </a:rPr>
              <a:t> </a:t>
            </a:r>
            <a:r>
              <a:rPr sz="2000" dirty="0">
                <a:latin typeface="Calibri"/>
                <a:cs typeface="Calibri"/>
              </a:rPr>
              <a:t>can</a:t>
            </a:r>
            <a:r>
              <a:rPr sz="2000" spc="210" dirty="0">
                <a:latin typeface="Calibri"/>
                <a:cs typeface="Calibri"/>
              </a:rPr>
              <a:t> </a:t>
            </a:r>
            <a:r>
              <a:rPr sz="2000" dirty="0">
                <a:latin typeface="Calibri"/>
                <a:cs typeface="Calibri"/>
              </a:rPr>
              <a:t>be</a:t>
            </a:r>
            <a:r>
              <a:rPr sz="2000" spc="210" dirty="0">
                <a:latin typeface="Calibri"/>
                <a:cs typeface="Calibri"/>
              </a:rPr>
              <a:t> </a:t>
            </a:r>
            <a:r>
              <a:rPr sz="2000" dirty="0">
                <a:latin typeface="Calibri"/>
                <a:cs typeface="Calibri"/>
              </a:rPr>
              <a:t>made</a:t>
            </a:r>
            <a:r>
              <a:rPr sz="2000" spc="215" dirty="0">
                <a:latin typeface="Calibri"/>
                <a:cs typeface="Calibri"/>
              </a:rPr>
              <a:t> </a:t>
            </a:r>
            <a:r>
              <a:rPr sz="2000" dirty="0">
                <a:latin typeface="Calibri"/>
                <a:cs typeface="Calibri"/>
              </a:rPr>
              <a:t>between</a:t>
            </a:r>
            <a:r>
              <a:rPr sz="2000" spc="204" dirty="0">
                <a:latin typeface="Calibri"/>
                <a:cs typeface="Calibri"/>
              </a:rPr>
              <a:t> </a:t>
            </a:r>
            <a:r>
              <a:rPr sz="2000" dirty="0">
                <a:latin typeface="Calibri"/>
                <a:cs typeface="Calibri"/>
              </a:rPr>
              <a:t>actual</a:t>
            </a:r>
            <a:r>
              <a:rPr sz="2000" spc="210" dirty="0">
                <a:latin typeface="Calibri"/>
                <a:cs typeface="Calibri"/>
              </a:rPr>
              <a:t> </a:t>
            </a:r>
            <a:r>
              <a:rPr sz="2000" dirty="0">
                <a:latin typeface="Calibri"/>
                <a:cs typeface="Calibri"/>
              </a:rPr>
              <a:t>and</a:t>
            </a:r>
            <a:r>
              <a:rPr sz="2000" spc="215" dirty="0">
                <a:latin typeface="Calibri"/>
                <a:cs typeface="Calibri"/>
              </a:rPr>
              <a:t> </a:t>
            </a:r>
            <a:r>
              <a:rPr sz="2000" dirty="0">
                <a:latin typeface="Calibri"/>
                <a:cs typeface="Calibri"/>
              </a:rPr>
              <a:t>planned</a:t>
            </a:r>
            <a:r>
              <a:rPr sz="2000" spc="204" dirty="0">
                <a:latin typeface="Calibri"/>
                <a:cs typeface="Calibri"/>
              </a:rPr>
              <a:t> </a:t>
            </a:r>
            <a:r>
              <a:rPr sz="2000" spc="-10" dirty="0">
                <a:latin typeface="Calibri"/>
                <a:cs typeface="Calibri"/>
              </a:rPr>
              <a:t>schedule </a:t>
            </a:r>
            <a:r>
              <a:rPr sz="2000" dirty="0">
                <a:latin typeface="Calibri"/>
                <a:cs typeface="Calibri"/>
              </a:rPr>
              <a:t>and</a:t>
            </a:r>
            <a:r>
              <a:rPr sz="2000" spc="-20" dirty="0">
                <a:latin typeface="Calibri"/>
                <a:cs typeface="Calibri"/>
              </a:rPr>
              <a:t> </a:t>
            </a:r>
            <a:r>
              <a:rPr sz="2000" spc="-10" dirty="0">
                <a:latin typeface="Calibri"/>
                <a:cs typeface="Calibri"/>
              </a:rPr>
              <a:t>costs.</a:t>
            </a:r>
            <a:endParaRPr sz="2000" dirty="0">
              <a:latin typeface="Calibri"/>
              <a:cs typeface="Calibri"/>
            </a:endParaRPr>
          </a:p>
          <a:p>
            <a:pPr marL="298450" marR="5080" indent="-285750">
              <a:lnSpc>
                <a:spcPct val="100000"/>
              </a:lnSpc>
              <a:buFont typeface="Arial MT"/>
              <a:buChar char="•"/>
              <a:tabLst>
                <a:tab pos="298450" algn="l"/>
              </a:tabLst>
            </a:pPr>
            <a:r>
              <a:rPr sz="2000" dirty="0">
                <a:latin typeface="Calibri"/>
                <a:cs typeface="Calibri"/>
              </a:rPr>
              <a:t>Developing</a:t>
            </a:r>
            <a:r>
              <a:rPr sz="2000" spc="254" dirty="0">
                <a:latin typeface="Calibri"/>
                <a:cs typeface="Calibri"/>
              </a:rPr>
              <a:t> </a:t>
            </a:r>
            <a:r>
              <a:rPr sz="2000" dirty="0">
                <a:latin typeface="Calibri"/>
                <a:cs typeface="Calibri"/>
              </a:rPr>
              <a:t>the</a:t>
            </a:r>
            <a:r>
              <a:rPr sz="2000" spc="260" dirty="0">
                <a:latin typeface="Calibri"/>
                <a:cs typeface="Calibri"/>
              </a:rPr>
              <a:t> </a:t>
            </a:r>
            <a:r>
              <a:rPr sz="2000" dirty="0">
                <a:latin typeface="Calibri"/>
                <a:cs typeface="Calibri"/>
              </a:rPr>
              <a:t>project</a:t>
            </a:r>
            <a:r>
              <a:rPr sz="2000" spc="265" dirty="0">
                <a:latin typeface="Calibri"/>
                <a:cs typeface="Calibri"/>
              </a:rPr>
              <a:t> </a:t>
            </a:r>
            <a:r>
              <a:rPr sz="2000" dirty="0">
                <a:latin typeface="Calibri"/>
                <a:cs typeface="Calibri"/>
              </a:rPr>
              <a:t>resource</a:t>
            </a:r>
            <a:r>
              <a:rPr sz="2000" spc="265" dirty="0">
                <a:latin typeface="Calibri"/>
                <a:cs typeface="Calibri"/>
              </a:rPr>
              <a:t> </a:t>
            </a:r>
            <a:r>
              <a:rPr sz="2000" dirty="0">
                <a:latin typeface="Calibri"/>
                <a:cs typeface="Calibri"/>
              </a:rPr>
              <a:t>schedule</a:t>
            </a:r>
            <a:r>
              <a:rPr sz="2000" spc="265" dirty="0">
                <a:latin typeface="Calibri"/>
                <a:cs typeface="Calibri"/>
              </a:rPr>
              <a:t> </a:t>
            </a:r>
            <a:r>
              <a:rPr sz="2000" dirty="0">
                <a:latin typeface="Wingdings"/>
                <a:cs typeface="Wingdings"/>
              </a:rPr>
              <a:t></a:t>
            </a:r>
            <a:r>
              <a:rPr sz="2000" spc="220" dirty="0">
                <a:latin typeface="Times New Roman"/>
                <a:cs typeface="Times New Roman"/>
              </a:rPr>
              <a:t> </a:t>
            </a:r>
            <a:r>
              <a:rPr sz="2000" dirty="0">
                <a:latin typeface="Calibri"/>
                <a:cs typeface="Calibri"/>
              </a:rPr>
              <a:t>assign</a:t>
            </a:r>
            <a:r>
              <a:rPr sz="2000" spc="254" dirty="0">
                <a:latin typeface="Calibri"/>
                <a:cs typeface="Calibri"/>
              </a:rPr>
              <a:t> </a:t>
            </a:r>
            <a:r>
              <a:rPr sz="2000" dirty="0">
                <a:latin typeface="Calibri"/>
                <a:cs typeface="Calibri"/>
              </a:rPr>
              <a:t>the</a:t>
            </a:r>
            <a:r>
              <a:rPr sz="2000" spc="265" dirty="0">
                <a:latin typeface="Calibri"/>
                <a:cs typeface="Calibri"/>
              </a:rPr>
              <a:t> </a:t>
            </a:r>
            <a:r>
              <a:rPr sz="2000" spc="-10" dirty="0">
                <a:latin typeface="Calibri"/>
                <a:cs typeface="Calibri"/>
              </a:rPr>
              <a:t>time-</a:t>
            </a:r>
            <a:r>
              <a:rPr sz="2000" dirty="0">
                <a:latin typeface="Calibri"/>
                <a:cs typeface="Calibri"/>
              </a:rPr>
              <a:t>phased</a:t>
            </a:r>
            <a:r>
              <a:rPr sz="2000" spc="260" dirty="0">
                <a:latin typeface="Calibri"/>
                <a:cs typeface="Calibri"/>
              </a:rPr>
              <a:t> </a:t>
            </a:r>
            <a:r>
              <a:rPr sz="2000" dirty="0">
                <a:latin typeface="Calibri"/>
                <a:cs typeface="Calibri"/>
              </a:rPr>
              <a:t>budgeted</a:t>
            </a:r>
            <a:r>
              <a:rPr sz="2000" spc="254" dirty="0">
                <a:latin typeface="Calibri"/>
                <a:cs typeface="Calibri"/>
              </a:rPr>
              <a:t> </a:t>
            </a:r>
            <a:r>
              <a:rPr sz="2000" dirty="0">
                <a:latin typeface="Calibri"/>
                <a:cs typeface="Calibri"/>
              </a:rPr>
              <a:t>values</a:t>
            </a:r>
            <a:r>
              <a:rPr sz="2000" spc="260" dirty="0">
                <a:latin typeface="Calibri"/>
                <a:cs typeface="Calibri"/>
              </a:rPr>
              <a:t> </a:t>
            </a:r>
            <a:r>
              <a:rPr sz="2000" dirty="0">
                <a:latin typeface="Calibri"/>
                <a:cs typeface="Calibri"/>
              </a:rPr>
              <a:t>to</a:t>
            </a:r>
            <a:r>
              <a:rPr sz="2000" spc="254" dirty="0">
                <a:latin typeface="Calibri"/>
                <a:cs typeface="Calibri"/>
              </a:rPr>
              <a:t> </a:t>
            </a:r>
            <a:r>
              <a:rPr sz="2000" dirty="0">
                <a:latin typeface="Calibri"/>
                <a:cs typeface="Calibri"/>
              </a:rPr>
              <a:t>create</a:t>
            </a:r>
            <a:r>
              <a:rPr sz="2000" spc="265" dirty="0">
                <a:latin typeface="Calibri"/>
                <a:cs typeface="Calibri"/>
              </a:rPr>
              <a:t> </a:t>
            </a:r>
            <a:r>
              <a:rPr sz="2000" spc="-50" dirty="0">
                <a:latin typeface="Calibri"/>
                <a:cs typeface="Calibri"/>
              </a:rPr>
              <a:t>a </a:t>
            </a:r>
            <a:r>
              <a:rPr sz="2000" dirty="0">
                <a:latin typeface="Calibri"/>
                <a:cs typeface="Calibri"/>
              </a:rPr>
              <a:t>project</a:t>
            </a:r>
            <a:r>
              <a:rPr sz="2000" spc="-70" dirty="0">
                <a:latin typeface="Calibri"/>
                <a:cs typeface="Calibri"/>
              </a:rPr>
              <a:t> </a:t>
            </a:r>
            <a:r>
              <a:rPr sz="2000" dirty="0">
                <a:latin typeface="Calibri"/>
                <a:cs typeface="Calibri"/>
              </a:rPr>
              <a:t>budget</a:t>
            </a:r>
            <a:r>
              <a:rPr sz="2000" spc="-70" dirty="0">
                <a:latin typeface="Calibri"/>
                <a:cs typeface="Calibri"/>
              </a:rPr>
              <a:t> </a:t>
            </a:r>
            <a:r>
              <a:rPr sz="2000" spc="-10" dirty="0">
                <a:latin typeface="Calibri"/>
                <a:cs typeface="Calibri"/>
              </a:rPr>
              <a:t>baseline.</a:t>
            </a:r>
            <a:endParaRPr sz="2000" dirty="0">
              <a:latin typeface="Calibri"/>
              <a:cs typeface="Calibri"/>
            </a:endParaRPr>
          </a:p>
          <a:p>
            <a:pPr marL="297815" indent="-285115">
              <a:lnSpc>
                <a:spcPct val="100000"/>
              </a:lnSpc>
              <a:buFont typeface="Arial MT"/>
              <a:buChar char="•"/>
              <a:tabLst>
                <a:tab pos="297815" algn="l"/>
              </a:tabLst>
            </a:pPr>
            <a:r>
              <a:rPr sz="2000" dirty="0">
                <a:latin typeface="Calibri"/>
                <a:cs typeface="Calibri"/>
              </a:rPr>
              <a:t>Importance</a:t>
            </a:r>
            <a:r>
              <a:rPr sz="2000" spc="-60" dirty="0">
                <a:latin typeface="Calibri"/>
                <a:cs typeface="Calibri"/>
              </a:rPr>
              <a:t> </a:t>
            </a:r>
            <a:r>
              <a:rPr sz="2000" dirty="0">
                <a:latin typeface="Calibri"/>
                <a:cs typeface="Calibri"/>
              </a:rPr>
              <a:t>of</a:t>
            </a:r>
            <a:r>
              <a:rPr sz="2000" spc="-60" dirty="0">
                <a:latin typeface="Calibri"/>
                <a:cs typeface="Calibri"/>
              </a:rPr>
              <a:t> </a:t>
            </a:r>
            <a:r>
              <a:rPr sz="2000" spc="-10" dirty="0">
                <a:latin typeface="Calibri"/>
                <a:cs typeface="Calibri"/>
              </a:rPr>
              <a:t>computer</a:t>
            </a:r>
            <a:r>
              <a:rPr sz="2000" spc="-60" dirty="0">
                <a:latin typeface="Calibri"/>
                <a:cs typeface="Calibri"/>
              </a:rPr>
              <a:t> </a:t>
            </a:r>
            <a:r>
              <a:rPr sz="2000" spc="-10" dirty="0">
                <a:latin typeface="Calibri"/>
                <a:cs typeface="Calibri"/>
              </a:rPr>
              <a:t>software</a:t>
            </a:r>
            <a:r>
              <a:rPr sz="2000" spc="-50" dirty="0">
                <a:latin typeface="Calibri"/>
                <a:cs typeface="Calibri"/>
              </a:rPr>
              <a:t> </a:t>
            </a:r>
            <a:r>
              <a:rPr sz="2000" spc="-10" dirty="0">
                <a:latin typeface="Calibri"/>
                <a:cs typeface="Calibri"/>
              </a:rPr>
              <a:t>programs</a:t>
            </a:r>
            <a:r>
              <a:rPr sz="2000" spc="-55" dirty="0">
                <a:latin typeface="Calibri"/>
                <a:cs typeface="Calibri"/>
              </a:rPr>
              <a:t> </a:t>
            </a:r>
            <a:r>
              <a:rPr sz="2000" dirty="0">
                <a:latin typeface="Calibri"/>
                <a:cs typeface="Calibri"/>
              </a:rPr>
              <a:t>for</a:t>
            </a:r>
            <a:r>
              <a:rPr sz="2000" spc="-55" dirty="0">
                <a:latin typeface="Calibri"/>
                <a:cs typeface="Calibri"/>
              </a:rPr>
              <a:t> </a:t>
            </a:r>
            <a:r>
              <a:rPr sz="2000" dirty="0">
                <a:latin typeface="Calibri"/>
                <a:cs typeface="Calibri"/>
              </a:rPr>
              <a:t>project</a:t>
            </a:r>
            <a:r>
              <a:rPr sz="2000" spc="-55" dirty="0">
                <a:latin typeface="Calibri"/>
                <a:cs typeface="Calibri"/>
              </a:rPr>
              <a:t> </a:t>
            </a:r>
            <a:r>
              <a:rPr sz="2000" spc="-10" dirty="0">
                <a:latin typeface="Calibri"/>
                <a:cs typeface="Calibri"/>
              </a:rPr>
              <a:t>management.</a:t>
            </a:r>
            <a:endParaRPr sz="2000" dirty="0">
              <a:latin typeface="Calibri"/>
              <a:cs typeface="Calibri"/>
            </a:endParaRPr>
          </a:p>
          <a:p>
            <a:pPr marL="298450" marR="5715" indent="-285750">
              <a:lnSpc>
                <a:spcPct val="100000"/>
              </a:lnSpc>
              <a:buFont typeface="Arial MT"/>
              <a:buChar char="•"/>
              <a:tabLst>
                <a:tab pos="298450" algn="l"/>
              </a:tabLst>
            </a:pPr>
            <a:r>
              <a:rPr sz="2000" dirty="0">
                <a:latin typeface="Calibri"/>
                <a:cs typeface="Calibri"/>
              </a:rPr>
              <a:t>Methods</a:t>
            </a:r>
            <a:r>
              <a:rPr sz="2000" spc="465" dirty="0">
                <a:latin typeface="Calibri"/>
                <a:cs typeface="Calibri"/>
              </a:rPr>
              <a:t> </a:t>
            </a:r>
            <a:r>
              <a:rPr sz="2000" dirty="0">
                <a:latin typeface="Calibri"/>
                <a:cs typeface="Calibri"/>
              </a:rPr>
              <a:t>of</a:t>
            </a:r>
            <a:r>
              <a:rPr sz="2000" spc="459" dirty="0">
                <a:latin typeface="Calibri"/>
                <a:cs typeface="Calibri"/>
              </a:rPr>
              <a:t> </a:t>
            </a:r>
            <a:r>
              <a:rPr sz="2000" dirty="0">
                <a:latin typeface="Calibri"/>
                <a:cs typeface="Calibri"/>
              </a:rPr>
              <a:t>scheduling</a:t>
            </a:r>
            <a:r>
              <a:rPr sz="2000" spc="455" dirty="0">
                <a:latin typeface="Calibri"/>
                <a:cs typeface="Calibri"/>
              </a:rPr>
              <a:t> </a:t>
            </a:r>
            <a:r>
              <a:rPr sz="2000" dirty="0">
                <a:latin typeface="Calibri"/>
                <a:cs typeface="Calibri"/>
              </a:rPr>
              <a:t>resources</a:t>
            </a:r>
            <a:r>
              <a:rPr sz="2000" spc="465" dirty="0">
                <a:latin typeface="Calibri"/>
                <a:cs typeface="Calibri"/>
              </a:rPr>
              <a:t> </a:t>
            </a:r>
            <a:r>
              <a:rPr sz="2000" dirty="0">
                <a:latin typeface="Calibri"/>
                <a:cs typeface="Calibri"/>
              </a:rPr>
              <a:t>are</a:t>
            </a:r>
            <a:r>
              <a:rPr sz="2000" spc="465" dirty="0">
                <a:latin typeface="Calibri"/>
                <a:cs typeface="Calibri"/>
              </a:rPr>
              <a:t> </a:t>
            </a:r>
            <a:r>
              <a:rPr sz="2000" dirty="0">
                <a:latin typeface="Calibri"/>
                <a:cs typeface="Calibri"/>
              </a:rPr>
              <a:t>examined.</a:t>
            </a:r>
            <a:r>
              <a:rPr sz="2000" spc="455" dirty="0">
                <a:latin typeface="Calibri"/>
                <a:cs typeface="Calibri"/>
              </a:rPr>
              <a:t> </a:t>
            </a:r>
            <a:r>
              <a:rPr sz="2000" dirty="0">
                <a:latin typeface="Calibri"/>
                <a:cs typeface="Calibri"/>
              </a:rPr>
              <a:t>So,</a:t>
            </a:r>
            <a:r>
              <a:rPr sz="2000" spc="459" dirty="0">
                <a:latin typeface="Calibri"/>
                <a:cs typeface="Calibri"/>
              </a:rPr>
              <a:t> </a:t>
            </a:r>
            <a:r>
              <a:rPr sz="2000" dirty="0">
                <a:latin typeface="Calibri"/>
                <a:cs typeface="Calibri"/>
              </a:rPr>
              <a:t>the</a:t>
            </a:r>
            <a:r>
              <a:rPr sz="2000" spc="470" dirty="0">
                <a:latin typeface="Calibri"/>
                <a:cs typeface="Calibri"/>
              </a:rPr>
              <a:t> </a:t>
            </a:r>
            <a:r>
              <a:rPr sz="2000" dirty="0">
                <a:latin typeface="Calibri"/>
                <a:cs typeface="Calibri"/>
              </a:rPr>
              <a:t>team</a:t>
            </a:r>
            <a:r>
              <a:rPr sz="2000" spc="459" dirty="0">
                <a:latin typeface="Calibri"/>
                <a:cs typeface="Calibri"/>
              </a:rPr>
              <a:t> </a:t>
            </a:r>
            <a:r>
              <a:rPr sz="2000" dirty="0">
                <a:latin typeface="Calibri"/>
                <a:cs typeface="Calibri"/>
              </a:rPr>
              <a:t>can</a:t>
            </a:r>
            <a:r>
              <a:rPr sz="2000" spc="459" dirty="0">
                <a:latin typeface="Calibri"/>
                <a:cs typeface="Calibri"/>
              </a:rPr>
              <a:t> </a:t>
            </a:r>
            <a:r>
              <a:rPr sz="2000" dirty="0">
                <a:latin typeface="Calibri"/>
                <a:cs typeface="Calibri"/>
              </a:rPr>
              <a:t>make</a:t>
            </a:r>
            <a:r>
              <a:rPr sz="2000" spc="465" dirty="0">
                <a:latin typeface="Calibri"/>
                <a:cs typeface="Calibri"/>
              </a:rPr>
              <a:t> </a:t>
            </a:r>
            <a:r>
              <a:rPr sz="2000" dirty="0">
                <a:latin typeface="Calibri"/>
                <a:cs typeface="Calibri"/>
              </a:rPr>
              <a:t>realistic</a:t>
            </a:r>
            <a:r>
              <a:rPr sz="2000" spc="459" dirty="0">
                <a:latin typeface="Calibri"/>
                <a:cs typeface="Calibri"/>
              </a:rPr>
              <a:t> </a:t>
            </a:r>
            <a:r>
              <a:rPr sz="2000" dirty="0">
                <a:latin typeface="Calibri"/>
                <a:cs typeface="Calibri"/>
              </a:rPr>
              <a:t>judgments</a:t>
            </a:r>
            <a:r>
              <a:rPr sz="2000" spc="465" dirty="0">
                <a:latin typeface="Calibri"/>
                <a:cs typeface="Calibri"/>
              </a:rPr>
              <a:t> </a:t>
            </a:r>
            <a:r>
              <a:rPr sz="2000" spc="-25" dirty="0">
                <a:latin typeface="Calibri"/>
                <a:cs typeface="Calibri"/>
              </a:rPr>
              <a:t>of </a:t>
            </a:r>
            <a:r>
              <a:rPr sz="2000" spc="-10" dirty="0">
                <a:latin typeface="Calibri"/>
                <a:cs typeface="Calibri"/>
              </a:rPr>
              <a:t>resource</a:t>
            </a:r>
            <a:r>
              <a:rPr sz="2000" spc="-40" dirty="0">
                <a:latin typeface="Calibri"/>
                <a:cs typeface="Calibri"/>
              </a:rPr>
              <a:t> </a:t>
            </a:r>
            <a:r>
              <a:rPr sz="2000" spc="-10" dirty="0">
                <a:latin typeface="Calibri"/>
                <a:cs typeface="Calibri"/>
              </a:rPr>
              <a:t>availability</a:t>
            </a:r>
            <a:r>
              <a:rPr sz="2000" spc="-45" dirty="0">
                <a:latin typeface="Calibri"/>
                <a:cs typeface="Calibri"/>
              </a:rPr>
              <a:t> </a:t>
            </a:r>
            <a:r>
              <a:rPr sz="2000" dirty="0">
                <a:latin typeface="Calibri"/>
                <a:cs typeface="Calibri"/>
              </a:rPr>
              <a:t>and</a:t>
            </a:r>
            <a:r>
              <a:rPr sz="2000" spc="-45" dirty="0">
                <a:latin typeface="Calibri"/>
                <a:cs typeface="Calibri"/>
              </a:rPr>
              <a:t> </a:t>
            </a:r>
            <a:r>
              <a:rPr sz="2000" dirty="0">
                <a:latin typeface="Calibri"/>
                <a:cs typeface="Calibri"/>
              </a:rPr>
              <a:t>project</a:t>
            </a:r>
            <a:r>
              <a:rPr sz="2000" spc="-35" dirty="0">
                <a:latin typeface="Calibri"/>
                <a:cs typeface="Calibri"/>
              </a:rPr>
              <a:t> </a:t>
            </a:r>
            <a:r>
              <a:rPr sz="2000" spc="-10" dirty="0">
                <a:latin typeface="Calibri"/>
                <a:cs typeface="Calibri"/>
              </a:rPr>
              <a:t>durations.</a:t>
            </a:r>
            <a:endParaRPr sz="2000" dirty="0">
              <a:latin typeface="Calibri"/>
              <a:cs typeface="Calibri"/>
            </a:endParaRPr>
          </a:p>
        </p:txBody>
      </p:sp>
      <p:pic>
        <p:nvPicPr>
          <p:cNvPr id="6" name="Picture 5">
            <a:extLst>
              <a:ext uri="{FF2B5EF4-FFF2-40B4-BE49-F238E27FC236}">
                <a16:creationId xmlns:a16="http://schemas.microsoft.com/office/drawing/2014/main" id="{3F4D7F99-ED3E-96ED-FB8C-FC2D0A30152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867" y="778977"/>
            <a:ext cx="10966450" cy="686247"/>
          </a:xfrm>
          <a:prstGeom prst="rect">
            <a:avLst/>
          </a:prstGeom>
        </p:spPr>
        <p:txBody>
          <a:bodyPr vert="horz" wrap="square" lIns="0" tIns="13970" rIns="0" bIns="0" rtlCol="0">
            <a:spAutoFit/>
          </a:bodyPr>
          <a:lstStyle/>
          <a:p>
            <a:pPr marL="12700">
              <a:lnSpc>
                <a:spcPct val="100000"/>
              </a:lnSpc>
              <a:spcBef>
                <a:spcPts val="110"/>
              </a:spcBef>
            </a:pPr>
            <a:r>
              <a:rPr spc="110" dirty="0"/>
              <a:t>Overview</a:t>
            </a:r>
            <a:r>
              <a:rPr spc="125" dirty="0"/>
              <a:t> </a:t>
            </a:r>
            <a:r>
              <a:rPr spc="80" dirty="0"/>
              <a:t>of</a:t>
            </a:r>
            <a:r>
              <a:rPr spc="125" dirty="0"/>
              <a:t> </a:t>
            </a:r>
            <a:r>
              <a:rPr spc="95" dirty="0"/>
              <a:t>the</a:t>
            </a:r>
            <a:r>
              <a:rPr spc="130" dirty="0"/>
              <a:t> </a:t>
            </a:r>
            <a:r>
              <a:rPr spc="90" dirty="0"/>
              <a:t>Resource</a:t>
            </a:r>
            <a:r>
              <a:rPr spc="130" dirty="0"/>
              <a:t> </a:t>
            </a:r>
            <a:r>
              <a:rPr spc="114" dirty="0"/>
              <a:t>Scheduling</a:t>
            </a:r>
            <a:r>
              <a:rPr spc="125" dirty="0"/>
              <a:t> </a:t>
            </a:r>
            <a:r>
              <a:rPr spc="85" dirty="0"/>
              <a:t>Problem</a:t>
            </a:r>
          </a:p>
        </p:txBody>
      </p:sp>
      <p:sp>
        <p:nvSpPr>
          <p:cNvPr id="3" name="object 3"/>
          <p:cNvSpPr txBox="1"/>
          <p:nvPr/>
        </p:nvSpPr>
        <p:spPr>
          <a:xfrm>
            <a:off x="916939" y="1581403"/>
            <a:ext cx="10358120" cy="2488565"/>
          </a:xfrm>
          <a:prstGeom prst="rect">
            <a:avLst/>
          </a:prstGeom>
        </p:spPr>
        <p:txBody>
          <a:bodyPr vert="horz" wrap="square" lIns="0" tIns="53340" rIns="0" bIns="0" rtlCol="0">
            <a:spAutoFit/>
          </a:bodyPr>
          <a:lstStyle/>
          <a:p>
            <a:pPr marL="240029" marR="5080" indent="-227329" algn="just">
              <a:lnSpc>
                <a:spcPct val="88800"/>
              </a:lnSpc>
              <a:spcBef>
                <a:spcPts val="420"/>
              </a:spcBef>
              <a:buFont typeface="Arial MT"/>
              <a:buChar char="•"/>
              <a:tabLst>
                <a:tab pos="241300" algn="l"/>
              </a:tabLst>
            </a:pPr>
            <a:r>
              <a:rPr sz="2400" dirty="0">
                <a:latin typeface="Calibri"/>
                <a:cs typeface="Calibri"/>
              </a:rPr>
              <a:t>The</a:t>
            </a:r>
            <a:r>
              <a:rPr sz="2400" spc="85" dirty="0">
                <a:latin typeface="Calibri"/>
                <a:cs typeface="Calibri"/>
              </a:rPr>
              <a:t>  </a:t>
            </a:r>
            <a:r>
              <a:rPr sz="2400" dirty="0">
                <a:latin typeface="Calibri"/>
                <a:cs typeface="Calibri"/>
              </a:rPr>
              <a:t>time</a:t>
            </a:r>
            <a:r>
              <a:rPr sz="2400" spc="90" dirty="0">
                <a:latin typeface="Calibri"/>
                <a:cs typeface="Calibri"/>
              </a:rPr>
              <a:t>  </a:t>
            </a:r>
            <a:r>
              <a:rPr sz="2400" dirty="0">
                <a:latin typeface="Calibri"/>
                <a:cs typeface="Calibri"/>
              </a:rPr>
              <a:t>estimates</a:t>
            </a:r>
            <a:r>
              <a:rPr sz="2400" spc="85" dirty="0">
                <a:latin typeface="Calibri"/>
                <a:cs typeface="Calibri"/>
              </a:rPr>
              <a:t>  </a:t>
            </a:r>
            <a:r>
              <a:rPr sz="2400" dirty="0">
                <a:latin typeface="Calibri"/>
                <a:cs typeface="Calibri"/>
              </a:rPr>
              <a:t>for</a:t>
            </a:r>
            <a:r>
              <a:rPr sz="2400" spc="85" dirty="0">
                <a:latin typeface="Calibri"/>
                <a:cs typeface="Calibri"/>
              </a:rPr>
              <a:t>  </a:t>
            </a:r>
            <a:r>
              <a:rPr sz="2400" dirty="0">
                <a:latin typeface="Calibri"/>
                <a:cs typeface="Calibri"/>
              </a:rPr>
              <a:t>the</a:t>
            </a:r>
            <a:r>
              <a:rPr sz="2400" spc="90" dirty="0">
                <a:latin typeface="Calibri"/>
                <a:cs typeface="Calibri"/>
              </a:rPr>
              <a:t>  </a:t>
            </a:r>
            <a:r>
              <a:rPr sz="2400" dirty="0">
                <a:latin typeface="Calibri"/>
                <a:cs typeface="Calibri"/>
              </a:rPr>
              <a:t>work</a:t>
            </a:r>
            <a:r>
              <a:rPr sz="2400" spc="85" dirty="0">
                <a:latin typeface="Calibri"/>
                <a:cs typeface="Calibri"/>
              </a:rPr>
              <a:t>  </a:t>
            </a:r>
            <a:r>
              <a:rPr sz="2400" dirty="0">
                <a:latin typeface="Calibri"/>
                <a:cs typeface="Calibri"/>
              </a:rPr>
              <a:t>packages</a:t>
            </a:r>
            <a:r>
              <a:rPr sz="2400" spc="80" dirty="0">
                <a:latin typeface="Calibri"/>
                <a:cs typeface="Calibri"/>
              </a:rPr>
              <a:t>  </a:t>
            </a:r>
            <a:r>
              <a:rPr sz="2400" dirty="0">
                <a:latin typeface="Calibri"/>
                <a:cs typeface="Calibri"/>
              </a:rPr>
              <a:t>and</a:t>
            </a:r>
            <a:r>
              <a:rPr sz="2400" spc="90" dirty="0">
                <a:latin typeface="Calibri"/>
                <a:cs typeface="Calibri"/>
              </a:rPr>
              <a:t>  </a:t>
            </a:r>
            <a:r>
              <a:rPr sz="2400" dirty="0">
                <a:latin typeface="Calibri"/>
                <a:cs typeface="Calibri"/>
              </a:rPr>
              <a:t>network</a:t>
            </a:r>
            <a:r>
              <a:rPr sz="2400" spc="85" dirty="0">
                <a:latin typeface="Calibri"/>
                <a:cs typeface="Calibri"/>
              </a:rPr>
              <a:t>  </a:t>
            </a:r>
            <a:r>
              <a:rPr sz="2400" dirty="0">
                <a:latin typeface="Calibri"/>
                <a:cs typeface="Calibri"/>
              </a:rPr>
              <a:t>times</a:t>
            </a:r>
            <a:r>
              <a:rPr sz="2400" spc="80" dirty="0">
                <a:latin typeface="Calibri"/>
                <a:cs typeface="Calibri"/>
              </a:rPr>
              <a:t>  </a:t>
            </a:r>
            <a:r>
              <a:rPr sz="2400" dirty="0">
                <a:latin typeface="Calibri"/>
                <a:cs typeface="Calibri"/>
              </a:rPr>
              <a:t>were</a:t>
            </a:r>
            <a:r>
              <a:rPr sz="2400" spc="90" dirty="0">
                <a:latin typeface="Calibri"/>
                <a:cs typeface="Calibri"/>
              </a:rPr>
              <a:t>  </a:t>
            </a:r>
            <a:r>
              <a:rPr sz="2400" spc="-20" dirty="0">
                <a:latin typeface="Calibri"/>
                <a:cs typeface="Calibri"/>
              </a:rPr>
              <a:t>made 	</a:t>
            </a:r>
            <a:r>
              <a:rPr sz="2400" dirty="0">
                <a:latin typeface="Calibri"/>
                <a:cs typeface="Calibri"/>
              </a:rPr>
              <a:t>independently</a:t>
            </a:r>
            <a:r>
              <a:rPr sz="2400" spc="295" dirty="0">
                <a:latin typeface="Calibri"/>
                <a:cs typeface="Calibri"/>
              </a:rPr>
              <a:t> </a:t>
            </a:r>
            <a:r>
              <a:rPr sz="2400" dirty="0">
                <a:latin typeface="Calibri"/>
                <a:cs typeface="Calibri"/>
              </a:rPr>
              <a:t>with</a:t>
            </a:r>
            <a:r>
              <a:rPr sz="2400" spc="305" dirty="0">
                <a:latin typeface="Calibri"/>
                <a:cs typeface="Calibri"/>
              </a:rPr>
              <a:t> </a:t>
            </a:r>
            <a:r>
              <a:rPr sz="2400" dirty="0">
                <a:latin typeface="Calibri"/>
                <a:cs typeface="Calibri"/>
              </a:rPr>
              <a:t>the</a:t>
            </a:r>
            <a:r>
              <a:rPr sz="2400" spc="310" dirty="0">
                <a:latin typeface="Calibri"/>
                <a:cs typeface="Calibri"/>
              </a:rPr>
              <a:t> </a:t>
            </a:r>
            <a:r>
              <a:rPr sz="2400" dirty="0">
                <a:latin typeface="Calibri"/>
                <a:cs typeface="Calibri"/>
              </a:rPr>
              <a:t>implicit</a:t>
            </a:r>
            <a:r>
              <a:rPr sz="2400" spc="290" dirty="0">
                <a:latin typeface="Calibri"/>
                <a:cs typeface="Calibri"/>
              </a:rPr>
              <a:t> </a:t>
            </a:r>
            <a:r>
              <a:rPr sz="2400" dirty="0">
                <a:latin typeface="Calibri"/>
                <a:cs typeface="Calibri"/>
              </a:rPr>
              <a:t>assumption</a:t>
            </a:r>
            <a:r>
              <a:rPr sz="2400" spc="305" dirty="0">
                <a:latin typeface="Calibri"/>
                <a:cs typeface="Calibri"/>
              </a:rPr>
              <a:t> </a:t>
            </a:r>
            <a:r>
              <a:rPr sz="2400" dirty="0">
                <a:latin typeface="Calibri"/>
                <a:cs typeface="Calibri"/>
              </a:rPr>
              <a:t>that</a:t>
            </a:r>
            <a:r>
              <a:rPr sz="2400" spc="295" dirty="0">
                <a:latin typeface="Calibri"/>
                <a:cs typeface="Calibri"/>
              </a:rPr>
              <a:t> </a:t>
            </a:r>
            <a:r>
              <a:rPr sz="2400" dirty="0">
                <a:latin typeface="Calibri"/>
                <a:cs typeface="Calibri"/>
              </a:rPr>
              <a:t>resources</a:t>
            </a:r>
            <a:r>
              <a:rPr sz="2400" spc="300" dirty="0">
                <a:latin typeface="Calibri"/>
                <a:cs typeface="Calibri"/>
              </a:rPr>
              <a:t> </a:t>
            </a:r>
            <a:r>
              <a:rPr sz="2400" dirty="0">
                <a:latin typeface="Calibri"/>
                <a:cs typeface="Calibri"/>
              </a:rPr>
              <a:t>would</a:t>
            </a:r>
            <a:r>
              <a:rPr sz="2400" spc="305" dirty="0">
                <a:latin typeface="Calibri"/>
                <a:cs typeface="Calibri"/>
              </a:rPr>
              <a:t> </a:t>
            </a:r>
            <a:r>
              <a:rPr sz="2400" dirty="0">
                <a:latin typeface="Calibri"/>
                <a:cs typeface="Calibri"/>
              </a:rPr>
              <a:t>be</a:t>
            </a:r>
            <a:r>
              <a:rPr sz="2400" spc="300" dirty="0">
                <a:latin typeface="Calibri"/>
                <a:cs typeface="Calibri"/>
              </a:rPr>
              <a:t> </a:t>
            </a:r>
            <a:r>
              <a:rPr sz="2400" spc="-10" dirty="0">
                <a:latin typeface="Calibri"/>
                <a:cs typeface="Calibri"/>
              </a:rPr>
              <a:t>available. 	</a:t>
            </a:r>
            <a:r>
              <a:rPr sz="2400" dirty="0">
                <a:latin typeface="Calibri"/>
                <a:cs typeface="Calibri"/>
              </a:rPr>
              <a:t>This</a:t>
            </a:r>
            <a:r>
              <a:rPr sz="2400" spc="-40" dirty="0">
                <a:latin typeface="Calibri"/>
                <a:cs typeface="Calibri"/>
              </a:rPr>
              <a:t> </a:t>
            </a:r>
            <a:r>
              <a:rPr sz="2400" dirty="0">
                <a:latin typeface="Calibri"/>
                <a:cs typeface="Calibri"/>
              </a:rPr>
              <a:t>may</a:t>
            </a:r>
            <a:r>
              <a:rPr sz="2400" spc="-30" dirty="0">
                <a:latin typeface="Calibri"/>
                <a:cs typeface="Calibri"/>
              </a:rPr>
              <a:t> </a:t>
            </a:r>
            <a:r>
              <a:rPr sz="2400" dirty="0">
                <a:latin typeface="Calibri"/>
                <a:cs typeface="Calibri"/>
              </a:rPr>
              <a:t>or</a:t>
            </a:r>
            <a:r>
              <a:rPr sz="2400" spc="-40" dirty="0">
                <a:latin typeface="Calibri"/>
                <a:cs typeface="Calibri"/>
              </a:rPr>
              <a:t> </a:t>
            </a:r>
            <a:r>
              <a:rPr sz="2400" dirty="0">
                <a:latin typeface="Calibri"/>
                <a:cs typeface="Calibri"/>
              </a:rPr>
              <a:t>may</a:t>
            </a:r>
            <a:r>
              <a:rPr sz="2400" spc="-30" dirty="0">
                <a:latin typeface="Calibri"/>
                <a:cs typeface="Calibri"/>
              </a:rPr>
              <a:t> </a:t>
            </a:r>
            <a:r>
              <a:rPr sz="2400" dirty="0">
                <a:latin typeface="Calibri"/>
                <a:cs typeface="Calibri"/>
              </a:rPr>
              <a:t>not</a:t>
            </a:r>
            <a:r>
              <a:rPr sz="2400" spc="-40" dirty="0">
                <a:latin typeface="Calibri"/>
                <a:cs typeface="Calibri"/>
              </a:rPr>
              <a:t> </a:t>
            </a:r>
            <a:r>
              <a:rPr sz="2400" dirty="0">
                <a:latin typeface="Calibri"/>
                <a:cs typeface="Calibri"/>
              </a:rPr>
              <a:t>be</a:t>
            </a:r>
            <a:r>
              <a:rPr sz="2400" spc="-30" dirty="0">
                <a:latin typeface="Calibri"/>
                <a:cs typeface="Calibri"/>
              </a:rPr>
              <a:t> </a:t>
            </a:r>
            <a:r>
              <a:rPr sz="2400" dirty="0">
                <a:latin typeface="Calibri"/>
                <a:cs typeface="Calibri"/>
              </a:rPr>
              <a:t>the</a:t>
            </a:r>
            <a:r>
              <a:rPr sz="2400" spc="-30" dirty="0">
                <a:latin typeface="Calibri"/>
                <a:cs typeface="Calibri"/>
              </a:rPr>
              <a:t> </a:t>
            </a:r>
            <a:r>
              <a:rPr sz="2400" spc="-10" dirty="0">
                <a:latin typeface="Calibri"/>
                <a:cs typeface="Calibri"/>
              </a:rPr>
              <a:t>case.</a:t>
            </a:r>
            <a:endParaRPr sz="2400" dirty="0">
              <a:latin typeface="Calibri"/>
              <a:cs typeface="Calibri"/>
            </a:endParaRPr>
          </a:p>
          <a:p>
            <a:pPr marL="241300" marR="5715" indent="-228600" algn="just">
              <a:lnSpc>
                <a:spcPct val="90300"/>
              </a:lnSpc>
              <a:spcBef>
                <a:spcPts val="1000"/>
              </a:spcBef>
              <a:buFont typeface="Arial MT"/>
              <a:buChar char="•"/>
              <a:tabLst>
                <a:tab pos="241300" algn="l"/>
                <a:tab pos="307975" algn="l"/>
              </a:tabLst>
            </a:pPr>
            <a:r>
              <a:rPr sz="2400" dirty="0">
                <a:latin typeface="Calibri"/>
                <a:cs typeface="Calibri"/>
              </a:rPr>
              <a:t>	If</a:t>
            </a:r>
            <a:r>
              <a:rPr sz="2400" spc="415" dirty="0">
                <a:latin typeface="Calibri"/>
                <a:cs typeface="Calibri"/>
              </a:rPr>
              <a:t> </a:t>
            </a:r>
            <a:r>
              <a:rPr sz="2400" dirty="0">
                <a:latin typeface="Calibri"/>
                <a:cs typeface="Calibri"/>
              </a:rPr>
              <a:t>resources</a:t>
            </a:r>
            <a:r>
              <a:rPr sz="2400" spc="409" dirty="0">
                <a:latin typeface="Calibri"/>
                <a:cs typeface="Calibri"/>
              </a:rPr>
              <a:t> </a:t>
            </a:r>
            <a:r>
              <a:rPr sz="2400" dirty="0">
                <a:latin typeface="Calibri"/>
                <a:cs typeface="Calibri"/>
              </a:rPr>
              <a:t>are</a:t>
            </a:r>
            <a:r>
              <a:rPr sz="2400" spc="415" dirty="0">
                <a:latin typeface="Calibri"/>
                <a:cs typeface="Calibri"/>
              </a:rPr>
              <a:t> </a:t>
            </a:r>
            <a:r>
              <a:rPr sz="2400" dirty="0">
                <a:latin typeface="Calibri"/>
                <a:cs typeface="Calibri"/>
              </a:rPr>
              <a:t>adequate</a:t>
            </a:r>
            <a:r>
              <a:rPr sz="2400" spc="415" dirty="0">
                <a:latin typeface="Calibri"/>
                <a:cs typeface="Calibri"/>
              </a:rPr>
              <a:t> </a:t>
            </a:r>
            <a:r>
              <a:rPr sz="2400" dirty="0">
                <a:latin typeface="Calibri"/>
                <a:cs typeface="Calibri"/>
              </a:rPr>
              <a:t>but</a:t>
            </a:r>
            <a:r>
              <a:rPr sz="2400" spc="409" dirty="0">
                <a:latin typeface="Calibri"/>
                <a:cs typeface="Calibri"/>
              </a:rPr>
              <a:t> </a:t>
            </a:r>
            <a:r>
              <a:rPr sz="2400" dirty="0">
                <a:latin typeface="Calibri"/>
                <a:cs typeface="Calibri"/>
              </a:rPr>
              <a:t>the</a:t>
            </a:r>
            <a:r>
              <a:rPr sz="2400" spc="415" dirty="0">
                <a:latin typeface="Calibri"/>
                <a:cs typeface="Calibri"/>
              </a:rPr>
              <a:t> </a:t>
            </a:r>
            <a:r>
              <a:rPr sz="2400" dirty="0">
                <a:latin typeface="Calibri"/>
                <a:cs typeface="Calibri"/>
              </a:rPr>
              <a:t>demand</a:t>
            </a:r>
            <a:r>
              <a:rPr sz="2400" spc="409" dirty="0">
                <a:latin typeface="Calibri"/>
                <a:cs typeface="Calibri"/>
              </a:rPr>
              <a:t> </a:t>
            </a:r>
            <a:r>
              <a:rPr sz="2400" dirty="0">
                <a:latin typeface="Calibri"/>
                <a:cs typeface="Calibri"/>
              </a:rPr>
              <a:t>varies</a:t>
            </a:r>
            <a:r>
              <a:rPr sz="2400" spc="415" dirty="0">
                <a:latin typeface="Calibri"/>
                <a:cs typeface="Calibri"/>
              </a:rPr>
              <a:t> </a:t>
            </a:r>
            <a:r>
              <a:rPr sz="2400" dirty="0">
                <a:latin typeface="Calibri"/>
                <a:cs typeface="Calibri"/>
              </a:rPr>
              <a:t>widely</a:t>
            </a:r>
            <a:r>
              <a:rPr sz="2400" spc="409" dirty="0">
                <a:latin typeface="Calibri"/>
                <a:cs typeface="Calibri"/>
              </a:rPr>
              <a:t> </a:t>
            </a:r>
            <a:r>
              <a:rPr sz="2400" dirty="0">
                <a:latin typeface="Calibri"/>
                <a:cs typeface="Calibri"/>
              </a:rPr>
              <a:t>over</a:t>
            </a:r>
            <a:r>
              <a:rPr sz="2400" spc="415" dirty="0">
                <a:latin typeface="Calibri"/>
                <a:cs typeface="Calibri"/>
              </a:rPr>
              <a:t> </a:t>
            </a:r>
            <a:r>
              <a:rPr sz="2400" dirty="0">
                <a:latin typeface="Calibri"/>
                <a:cs typeface="Calibri"/>
              </a:rPr>
              <a:t>the</a:t>
            </a:r>
            <a:r>
              <a:rPr sz="2400" spc="415" dirty="0">
                <a:latin typeface="Calibri"/>
                <a:cs typeface="Calibri"/>
              </a:rPr>
              <a:t> </a:t>
            </a:r>
            <a:r>
              <a:rPr sz="2400" dirty="0">
                <a:latin typeface="Calibri"/>
                <a:cs typeface="Calibri"/>
              </a:rPr>
              <a:t>life</a:t>
            </a:r>
            <a:r>
              <a:rPr sz="2400" spc="420" dirty="0">
                <a:latin typeface="Calibri"/>
                <a:cs typeface="Calibri"/>
              </a:rPr>
              <a:t> </a:t>
            </a:r>
            <a:r>
              <a:rPr sz="2400" dirty="0">
                <a:latin typeface="Calibri"/>
                <a:cs typeface="Calibri"/>
              </a:rPr>
              <a:t>of</a:t>
            </a:r>
            <a:r>
              <a:rPr sz="2400" spc="415" dirty="0">
                <a:latin typeface="Calibri"/>
                <a:cs typeface="Calibri"/>
              </a:rPr>
              <a:t> </a:t>
            </a:r>
            <a:r>
              <a:rPr sz="2400" spc="-25" dirty="0">
                <a:latin typeface="Calibri"/>
                <a:cs typeface="Calibri"/>
              </a:rPr>
              <a:t>the </a:t>
            </a:r>
            <a:r>
              <a:rPr sz="2400" dirty="0">
                <a:latin typeface="Calibri"/>
                <a:cs typeface="Calibri"/>
              </a:rPr>
              <a:t>project,</a:t>
            </a:r>
            <a:r>
              <a:rPr sz="2400" spc="45" dirty="0">
                <a:latin typeface="Calibri"/>
                <a:cs typeface="Calibri"/>
              </a:rPr>
              <a:t> </a:t>
            </a:r>
            <a:r>
              <a:rPr sz="2400" dirty="0">
                <a:latin typeface="Calibri"/>
                <a:cs typeface="Calibri"/>
              </a:rPr>
              <a:t>it</a:t>
            </a:r>
            <a:r>
              <a:rPr sz="2400" spc="50" dirty="0">
                <a:latin typeface="Calibri"/>
                <a:cs typeface="Calibri"/>
              </a:rPr>
              <a:t> </a:t>
            </a:r>
            <a:r>
              <a:rPr sz="2400" dirty="0">
                <a:latin typeface="Calibri"/>
                <a:cs typeface="Calibri"/>
              </a:rPr>
              <a:t>may</a:t>
            </a:r>
            <a:r>
              <a:rPr sz="2400" spc="50" dirty="0">
                <a:latin typeface="Calibri"/>
                <a:cs typeface="Calibri"/>
              </a:rPr>
              <a:t> </a:t>
            </a:r>
            <a:r>
              <a:rPr sz="2400" dirty="0">
                <a:latin typeface="Calibri"/>
                <a:cs typeface="Calibri"/>
              </a:rPr>
              <a:t>be</a:t>
            </a:r>
            <a:r>
              <a:rPr sz="2400" spc="50" dirty="0">
                <a:latin typeface="Calibri"/>
                <a:cs typeface="Calibri"/>
              </a:rPr>
              <a:t> </a:t>
            </a:r>
            <a:r>
              <a:rPr sz="2400" dirty="0">
                <a:latin typeface="Calibri"/>
                <a:cs typeface="Calibri"/>
              </a:rPr>
              <a:t>desirable</a:t>
            </a:r>
            <a:r>
              <a:rPr sz="2400" spc="60" dirty="0">
                <a:latin typeface="Calibri"/>
                <a:cs typeface="Calibri"/>
              </a:rPr>
              <a:t> </a:t>
            </a:r>
            <a:r>
              <a:rPr sz="2400" dirty="0">
                <a:latin typeface="Calibri"/>
                <a:cs typeface="Calibri"/>
              </a:rPr>
              <a:t>to</a:t>
            </a:r>
            <a:r>
              <a:rPr sz="2400" spc="45" dirty="0">
                <a:latin typeface="Calibri"/>
                <a:cs typeface="Calibri"/>
              </a:rPr>
              <a:t> </a:t>
            </a:r>
            <a:r>
              <a:rPr sz="2400" dirty="0">
                <a:latin typeface="Calibri"/>
                <a:cs typeface="Calibri"/>
              </a:rPr>
              <a:t>even</a:t>
            </a:r>
            <a:r>
              <a:rPr sz="2400" spc="55" dirty="0">
                <a:latin typeface="Calibri"/>
                <a:cs typeface="Calibri"/>
              </a:rPr>
              <a:t> </a:t>
            </a:r>
            <a:r>
              <a:rPr sz="2400" dirty="0">
                <a:latin typeface="Calibri"/>
                <a:cs typeface="Calibri"/>
              </a:rPr>
              <a:t>out</a:t>
            </a:r>
            <a:r>
              <a:rPr sz="2400" spc="45" dirty="0">
                <a:latin typeface="Calibri"/>
                <a:cs typeface="Calibri"/>
              </a:rPr>
              <a:t> </a:t>
            </a:r>
            <a:r>
              <a:rPr sz="2400" dirty="0">
                <a:latin typeface="Calibri"/>
                <a:cs typeface="Calibri"/>
              </a:rPr>
              <a:t>resource</a:t>
            </a:r>
            <a:r>
              <a:rPr sz="2400" spc="55" dirty="0">
                <a:latin typeface="Calibri"/>
                <a:cs typeface="Calibri"/>
              </a:rPr>
              <a:t> </a:t>
            </a:r>
            <a:r>
              <a:rPr sz="2400" dirty="0">
                <a:latin typeface="Calibri"/>
                <a:cs typeface="Calibri"/>
              </a:rPr>
              <a:t>demand</a:t>
            </a:r>
            <a:r>
              <a:rPr sz="2400" spc="55" dirty="0">
                <a:latin typeface="Calibri"/>
                <a:cs typeface="Calibri"/>
              </a:rPr>
              <a:t> </a:t>
            </a:r>
            <a:r>
              <a:rPr sz="2400" dirty="0">
                <a:latin typeface="Calibri"/>
                <a:cs typeface="Calibri"/>
              </a:rPr>
              <a:t>by</a:t>
            </a:r>
            <a:r>
              <a:rPr sz="2400" spc="45" dirty="0">
                <a:latin typeface="Calibri"/>
                <a:cs typeface="Calibri"/>
              </a:rPr>
              <a:t> </a:t>
            </a:r>
            <a:r>
              <a:rPr sz="2400" dirty="0">
                <a:latin typeface="Calibri"/>
                <a:cs typeface="Calibri"/>
              </a:rPr>
              <a:t>delaying</a:t>
            </a:r>
            <a:r>
              <a:rPr sz="2400" spc="45" dirty="0">
                <a:latin typeface="Calibri"/>
                <a:cs typeface="Calibri"/>
              </a:rPr>
              <a:t> </a:t>
            </a:r>
            <a:r>
              <a:rPr sz="2400" spc="-10" dirty="0">
                <a:latin typeface="Calibri"/>
                <a:cs typeface="Calibri"/>
              </a:rPr>
              <a:t>noncritical </a:t>
            </a:r>
            <a:r>
              <a:rPr sz="2400" dirty="0">
                <a:latin typeface="Calibri"/>
                <a:cs typeface="Calibri"/>
              </a:rPr>
              <a:t>activities</a:t>
            </a:r>
            <a:r>
              <a:rPr sz="2400" spc="100" dirty="0">
                <a:latin typeface="Calibri"/>
                <a:cs typeface="Calibri"/>
              </a:rPr>
              <a:t>  </a:t>
            </a:r>
            <a:r>
              <a:rPr sz="2400" dirty="0">
                <a:latin typeface="Calibri"/>
                <a:cs typeface="Calibri"/>
              </a:rPr>
              <a:t>(using</a:t>
            </a:r>
            <a:r>
              <a:rPr sz="2400" spc="110" dirty="0">
                <a:latin typeface="Calibri"/>
                <a:cs typeface="Calibri"/>
              </a:rPr>
              <a:t>  </a:t>
            </a:r>
            <a:r>
              <a:rPr sz="2400" dirty="0">
                <a:latin typeface="Calibri"/>
                <a:cs typeface="Calibri"/>
              </a:rPr>
              <a:t>slack)</a:t>
            </a:r>
            <a:r>
              <a:rPr sz="2400" spc="110" dirty="0">
                <a:latin typeface="Calibri"/>
                <a:cs typeface="Calibri"/>
              </a:rPr>
              <a:t>  </a:t>
            </a:r>
            <a:r>
              <a:rPr sz="2400" dirty="0">
                <a:latin typeface="Calibri"/>
                <a:cs typeface="Calibri"/>
              </a:rPr>
              <a:t>to</a:t>
            </a:r>
            <a:r>
              <a:rPr sz="2400" spc="105" dirty="0">
                <a:latin typeface="Calibri"/>
                <a:cs typeface="Calibri"/>
              </a:rPr>
              <a:t>  </a:t>
            </a:r>
            <a:r>
              <a:rPr sz="2400" dirty="0">
                <a:latin typeface="Calibri"/>
                <a:cs typeface="Calibri"/>
              </a:rPr>
              <a:t>lower</a:t>
            </a:r>
            <a:r>
              <a:rPr sz="2400" spc="110" dirty="0">
                <a:latin typeface="Calibri"/>
                <a:cs typeface="Calibri"/>
              </a:rPr>
              <a:t>  </a:t>
            </a:r>
            <a:r>
              <a:rPr sz="2400" dirty="0">
                <a:latin typeface="Calibri"/>
                <a:cs typeface="Calibri"/>
              </a:rPr>
              <a:t>peak</a:t>
            </a:r>
            <a:r>
              <a:rPr sz="2400" spc="105" dirty="0">
                <a:latin typeface="Calibri"/>
                <a:cs typeface="Calibri"/>
              </a:rPr>
              <a:t>  </a:t>
            </a:r>
            <a:r>
              <a:rPr sz="2400" dirty="0">
                <a:latin typeface="Calibri"/>
                <a:cs typeface="Calibri"/>
              </a:rPr>
              <a:t>demand</a:t>
            </a:r>
            <a:r>
              <a:rPr sz="2400" spc="110" dirty="0">
                <a:latin typeface="Calibri"/>
                <a:cs typeface="Calibri"/>
              </a:rPr>
              <a:t>  </a:t>
            </a:r>
            <a:r>
              <a:rPr sz="2400" dirty="0">
                <a:latin typeface="Calibri"/>
                <a:cs typeface="Calibri"/>
              </a:rPr>
              <a:t>and,</a:t>
            </a:r>
            <a:r>
              <a:rPr sz="2400" spc="110" dirty="0">
                <a:latin typeface="Calibri"/>
                <a:cs typeface="Calibri"/>
              </a:rPr>
              <a:t>  </a:t>
            </a:r>
            <a:r>
              <a:rPr sz="2400" dirty="0">
                <a:latin typeface="Calibri"/>
                <a:cs typeface="Calibri"/>
              </a:rPr>
              <a:t>thus,</a:t>
            </a:r>
            <a:r>
              <a:rPr sz="2400" spc="110" dirty="0">
                <a:latin typeface="Calibri"/>
                <a:cs typeface="Calibri"/>
              </a:rPr>
              <a:t>  </a:t>
            </a:r>
            <a:r>
              <a:rPr sz="2400" dirty="0">
                <a:latin typeface="Calibri"/>
                <a:cs typeface="Calibri"/>
              </a:rPr>
              <a:t>increase</a:t>
            </a:r>
            <a:r>
              <a:rPr sz="2400" spc="110" dirty="0">
                <a:latin typeface="Calibri"/>
                <a:cs typeface="Calibri"/>
              </a:rPr>
              <a:t>  </a:t>
            </a:r>
            <a:r>
              <a:rPr sz="2400" spc="-10" dirty="0">
                <a:latin typeface="Calibri"/>
                <a:cs typeface="Calibri"/>
              </a:rPr>
              <a:t>resource utilization.</a:t>
            </a:r>
            <a:r>
              <a:rPr sz="2400" spc="-65" dirty="0">
                <a:latin typeface="Calibri"/>
                <a:cs typeface="Calibri"/>
              </a:rPr>
              <a:t> </a:t>
            </a:r>
            <a:r>
              <a:rPr sz="2400" dirty="0">
                <a:latin typeface="Calibri"/>
                <a:cs typeface="Calibri"/>
              </a:rPr>
              <a:t>This</a:t>
            </a:r>
            <a:r>
              <a:rPr sz="2400" spc="-55" dirty="0">
                <a:latin typeface="Calibri"/>
                <a:cs typeface="Calibri"/>
              </a:rPr>
              <a:t> </a:t>
            </a:r>
            <a:r>
              <a:rPr sz="2400" dirty="0">
                <a:latin typeface="Calibri"/>
                <a:cs typeface="Calibri"/>
              </a:rPr>
              <a:t>process</a:t>
            </a:r>
            <a:r>
              <a:rPr sz="2400" spc="-60" dirty="0">
                <a:latin typeface="Calibri"/>
                <a:cs typeface="Calibri"/>
              </a:rPr>
              <a:t> </a:t>
            </a:r>
            <a:r>
              <a:rPr sz="2400" dirty="0">
                <a:latin typeface="Calibri"/>
                <a:cs typeface="Calibri"/>
              </a:rPr>
              <a:t>is</a:t>
            </a:r>
            <a:r>
              <a:rPr sz="2400" spc="-55" dirty="0">
                <a:latin typeface="Calibri"/>
                <a:cs typeface="Calibri"/>
              </a:rPr>
              <a:t> </a:t>
            </a:r>
            <a:r>
              <a:rPr sz="2400" dirty="0">
                <a:latin typeface="Calibri"/>
                <a:cs typeface="Calibri"/>
              </a:rPr>
              <a:t>called</a:t>
            </a:r>
            <a:r>
              <a:rPr sz="2400" spc="-60" dirty="0">
                <a:latin typeface="Calibri"/>
                <a:cs typeface="Calibri"/>
              </a:rPr>
              <a:t> </a:t>
            </a:r>
            <a:r>
              <a:rPr sz="2400" b="1" dirty="0">
                <a:solidFill>
                  <a:srgbClr val="C00000"/>
                </a:solidFill>
                <a:latin typeface="Calibri"/>
                <a:cs typeface="Calibri"/>
              </a:rPr>
              <a:t>resource</a:t>
            </a:r>
            <a:r>
              <a:rPr sz="2400" b="1" spc="-50" dirty="0">
                <a:solidFill>
                  <a:srgbClr val="C00000"/>
                </a:solidFill>
                <a:latin typeface="Calibri"/>
                <a:cs typeface="Calibri"/>
              </a:rPr>
              <a:t> </a:t>
            </a:r>
            <a:r>
              <a:rPr sz="2400" b="1" spc="-10" dirty="0">
                <a:solidFill>
                  <a:srgbClr val="C00000"/>
                </a:solidFill>
                <a:latin typeface="Calibri"/>
                <a:cs typeface="Calibri"/>
              </a:rPr>
              <a:t>smoothing</a:t>
            </a:r>
            <a:r>
              <a:rPr sz="2400" b="1" spc="-10" dirty="0">
                <a:latin typeface="Calibri"/>
                <a:cs typeface="Calibri"/>
              </a:rPr>
              <a:t>.</a:t>
            </a:r>
            <a:endParaRPr sz="2400" dirty="0">
              <a:latin typeface="Calibri"/>
              <a:cs typeface="Calibri"/>
            </a:endParaRPr>
          </a:p>
        </p:txBody>
      </p:sp>
      <p:sp>
        <p:nvSpPr>
          <p:cNvPr id="4" name="object 4"/>
          <p:cNvSpPr txBox="1"/>
          <p:nvPr/>
        </p:nvSpPr>
        <p:spPr>
          <a:xfrm>
            <a:off x="11829693" y="6441620"/>
            <a:ext cx="77470" cy="186055"/>
          </a:xfrm>
          <a:prstGeom prst="rect">
            <a:avLst/>
          </a:prstGeom>
        </p:spPr>
        <p:txBody>
          <a:bodyPr vert="horz" wrap="square" lIns="0" tIns="0" rIns="0" bIns="0" rtlCol="0">
            <a:spAutoFit/>
          </a:bodyPr>
          <a:lstStyle/>
          <a:p>
            <a:pPr>
              <a:lnSpc>
                <a:spcPts val="1385"/>
              </a:lnSpc>
            </a:pPr>
            <a:r>
              <a:rPr sz="1200" b="1" spc="-60" dirty="0">
                <a:solidFill>
                  <a:srgbClr val="898989"/>
                </a:solidFill>
                <a:latin typeface="Calibri"/>
                <a:cs typeface="Calibri"/>
              </a:rPr>
              <a:t>4</a:t>
            </a:r>
            <a:endParaRPr sz="1200">
              <a:latin typeface="Calibri"/>
              <a:cs typeface="Calibri"/>
            </a:endParaRPr>
          </a:p>
        </p:txBody>
      </p:sp>
      <p:pic>
        <p:nvPicPr>
          <p:cNvPr id="5" name="object 5"/>
          <p:cNvPicPr/>
          <p:nvPr/>
        </p:nvPicPr>
        <p:blipFill>
          <a:blip r:embed="rId3" cstate="print"/>
          <a:stretch>
            <a:fillRect/>
          </a:stretch>
        </p:blipFill>
        <p:spPr>
          <a:xfrm>
            <a:off x="6600821" y="4097778"/>
            <a:ext cx="5381191" cy="2603053"/>
          </a:xfrm>
          <a:prstGeom prst="rect">
            <a:avLst/>
          </a:prstGeom>
        </p:spPr>
      </p:pic>
      <p:sp>
        <p:nvSpPr>
          <p:cNvPr id="6" name="object 6"/>
          <p:cNvSpPr txBox="1"/>
          <p:nvPr/>
        </p:nvSpPr>
        <p:spPr>
          <a:xfrm>
            <a:off x="6596060" y="4093015"/>
            <a:ext cx="5391150" cy="2613025"/>
          </a:xfrm>
          <a:prstGeom prst="rect">
            <a:avLst/>
          </a:prstGeom>
          <a:ln w="9525">
            <a:solidFill>
              <a:srgbClr val="000000"/>
            </a:solidFill>
          </a:ln>
        </p:spPr>
        <p:txBody>
          <a:bodyPr vert="horz" wrap="square" lIns="0" tIns="0" rIns="0" bIns="0" rtlCol="0">
            <a:spAutoFit/>
          </a:bodyPr>
          <a:lstStyle/>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spcBef>
                <a:spcPts val="85"/>
              </a:spcBef>
            </a:pPr>
            <a:endParaRPr sz="1100">
              <a:latin typeface="Times New Roman"/>
              <a:cs typeface="Times New Roman"/>
            </a:endParaRPr>
          </a:p>
          <a:p>
            <a:pPr marL="154305" algn="ctr">
              <a:lnSpc>
                <a:spcPct val="100000"/>
              </a:lnSpc>
            </a:pPr>
            <a:r>
              <a:rPr sz="1100" dirty="0">
                <a:latin typeface="Calibri"/>
                <a:cs typeface="Calibri"/>
              </a:rPr>
              <a:t>Resource</a:t>
            </a:r>
            <a:r>
              <a:rPr sz="1100" spc="-55" dirty="0">
                <a:latin typeface="Calibri"/>
                <a:cs typeface="Calibri"/>
              </a:rPr>
              <a:t> </a:t>
            </a:r>
            <a:r>
              <a:rPr sz="1100" spc="-10" dirty="0">
                <a:latin typeface="Calibri"/>
                <a:cs typeface="Calibri"/>
              </a:rPr>
              <a:t>constraints</a:t>
            </a:r>
            <a:endParaRPr sz="1100">
              <a:latin typeface="Calibri"/>
              <a:cs typeface="Calibri"/>
            </a:endParaRPr>
          </a:p>
        </p:txBody>
      </p:sp>
      <p:grpSp>
        <p:nvGrpSpPr>
          <p:cNvPr id="7" name="object 7"/>
          <p:cNvGrpSpPr/>
          <p:nvPr/>
        </p:nvGrpSpPr>
        <p:grpSpPr>
          <a:xfrm>
            <a:off x="8494710" y="5865810"/>
            <a:ext cx="298450" cy="327025"/>
            <a:chOff x="8494710" y="5865810"/>
            <a:chExt cx="298450" cy="327025"/>
          </a:xfrm>
        </p:grpSpPr>
        <p:sp>
          <p:nvSpPr>
            <p:cNvPr id="8" name="object 8"/>
            <p:cNvSpPr/>
            <p:nvPr/>
          </p:nvSpPr>
          <p:spPr>
            <a:xfrm>
              <a:off x="8501060" y="5872160"/>
              <a:ext cx="285750" cy="314325"/>
            </a:xfrm>
            <a:custGeom>
              <a:avLst/>
              <a:gdLst/>
              <a:ahLst/>
              <a:cxnLst/>
              <a:rect l="l" t="t" r="r" b="b"/>
              <a:pathLst>
                <a:path w="285750" h="314325">
                  <a:moveTo>
                    <a:pt x="214312" y="0"/>
                  </a:moveTo>
                  <a:lnTo>
                    <a:pt x="71437" y="0"/>
                  </a:lnTo>
                  <a:lnTo>
                    <a:pt x="71437" y="171450"/>
                  </a:lnTo>
                  <a:lnTo>
                    <a:pt x="0" y="171450"/>
                  </a:lnTo>
                  <a:lnTo>
                    <a:pt x="142875" y="314325"/>
                  </a:lnTo>
                  <a:lnTo>
                    <a:pt x="285750" y="171450"/>
                  </a:lnTo>
                  <a:lnTo>
                    <a:pt x="214312" y="171450"/>
                  </a:lnTo>
                  <a:lnTo>
                    <a:pt x="214312" y="0"/>
                  </a:lnTo>
                  <a:close/>
                </a:path>
              </a:pathLst>
            </a:custGeom>
            <a:solidFill>
              <a:srgbClr val="4472C4"/>
            </a:solidFill>
          </p:spPr>
          <p:txBody>
            <a:bodyPr wrap="square" lIns="0" tIns="0" rIns="0" bIns="0" rtlCol="0"/>
            <a:lstStyle/>
            <a:p>
              <a:endParaRPr/>
            </a:p>
          </p:txBody>
        </p:sp>
        <p:sp>
          <p:nvSpPr>
            <p:cNvPr id="9" name="object 9"/>
            <p:cNvSpPr/>
            <p:nvPr/>
          </p:nvSpPr>
          <p:spPr>
            <a:xfrm>
              <a:off x="8501060" y="5872160"/>
              <a:ext cx="285750" cy="314325"/>
            </a:xfrm>
            <a:custGeom>
              <a:avLst/>
              <a:gdLst/>
              <a:ahLst/>
              <a:cxnLst/>
              <a:rect l="l" t="t" r="r" b="b"/>
              <a:pathLst>
                <a:path w="285750" h="314325">
                  <a:moveTo>
                    <a:pt x="0" y="171450"/>
                  </a:moveTo>
                  <a:lnTo>
                    <a:pt x="71437" y="171450"/>
                  </a:lnTo>
                  <a:lnTo>
                    <a:pt x="71437" y="0"/>
                  </a:lnTo>
                  <a:lnTo>
                    <a:pt x="214312" y="0"/>
                  </a:lnTo>
                  <a:lnTo>
                    <a:pt x="214312" y="171450"/>
                  </a:lnTo>
                  <a:lnTo>
                    <a:pt x="285750" y="171450"/>
                  </a:lnTo>
                  <a:lnTo>
                    <a:pt x="142875" y="314325"/>
                  </a:lnTo>
                  <a:lnTo>
                    <a:pt x="0" y="171450"/>
                  </a:lnTo>
                  <a:close/>
                </a:path>
              </a:pathLst>
            </a:custGeom>
            <a:ln w="12700">
              <a:solidFill>
                <a:srgbClr val="2F528F"/>
              </a:solidFill>
            </a:ln>
          </p:spPr>
          <p:txBody>
            <a:bodyPr wrap="square" lIns="0" tIns="0" rIns="0" bIns="0" rtlCol="0"/>
            <a:lstStyle/>
            <a:p>
              <a:endParaRPr/>
            </a:p>
          </p:txBody>
        </p:sp>
      </p:grpSp>
      <p:sp>
        <p:nvSpPr>
          <p:cNvPr id="10" name="object 10"/>
          <p:cNvSpPr txBox="1"/>
          <p:nvPr/>
        </p:nvSpPr>
        <p:spPr>
          <a:xfrm>
            <a:off x="887497" y="4138676"/>
            <a:ext cx="5606415" cy="1851660"/>
          </a:xfrm>
          <a:prstGeom prst="rect">
            <a:avLst/>
          </a:prstGeom>
        </p:spPr>
        <p:txBody>
          <a:bodyPr vert="horz" wrap="square" lIns="0" tIns="86360" rIns="0" bIns="0" rtlCol="0">
            <a:spAutoFit/>
          </a:bodyPr>
          <a:lstStyle/>
          <a:p>
            <a:pPr marL="240029" marR="5080" indent="-227329" algn="just">
              <a:lnSpc>
                <a:spcPct val="79800"/>
              </a:lnSpc>
              <a:spcBef>
                <a:spcPts val="680"/>
              </a:spcBef>
              <a:buFont typeface="Arial MT"/>
              <a:buChar char="•"/>
              <a:tabLst>
                <a:tab pos="241300" algn="l"/>
              </a:tabLst>
            </a:pPr>
            <a:r>
              <a:rPr sz="2400" dirty="0">
                <a:latin typeface="Calibri"/>
                <a:cs typeface="Calibri"/>
              </a:rPr>
              <a:t>On</a:t>
            </a:r>
            <a:r>
              <a:rPr sz="2400" spc="535" dirty="0">
                <a:latin typeface="Calibri"/>
                <a:cs typeface="Calibri"/>
              </a:rPr>
              <a:t> </a:t>
            </a:r>
            <a:r>
              <a:rPr sz="2400" dirty="0">
                <a:latin typeface="Calibri"/>
                <a:cs typeface="Calibri"/>
              </a:rPr>
              <a:t>the</a:t>
            </a:r>
            <a:r>
              <a:rPr sz="2400" spc="540" dirty="0">
                <a:latin typeface="Calibri"/>
                <a:cs typeface="Calibri"/>
              </a:rPr>
              <a:t> </a:t>
            </a:r>
            <a:r>
              <a:rPr sz="2400" dirty="0">
                <a:latin typeface="Calibri"/>
                <a:cs typeface="Calibri"/>
              </a:rPr>
              <a:t>other</a:t>
            </a:r>
            <a:r>
              <a:rPr sz="2400" spc="535" dirty="0">
                <a:latin typeface="Calibri"/>
                <a:cs typeface="Calibri"/>
              </a:rPr>
              <a:t> </a:t>
            </a:r>
            <a:r>
              <a:rPr sz="2400" dirty="0">
                <a:latin typeface="Calibri"/>
                <a:cs typeface="Calibri"/>
              </a:rPr>
              <a:t>hand,</a:t>
            </a:r>
            <a:r>
              <a:rPr sz="2400" spc="535" dirty="0">
                <a:latin typeface="Calibri"/>
                <a:cs typeface="Calibri"/>
              </a:rPr>
              <a:t> </a:t>
            </a:r>
            <a:r>
              <a:rPr sz="2400" dirty="0">
                <a:latin typeface="Calibri"/>
                <a:cs typeface="Calibri"/>
              </a:rPr>
              <a:t>if</a:t>
            </a:r>
            <a:r>
              <a:rPr sz="2400" spc="540" dirty="0">
                <a:latin typeface="Calibri"/>
                <a:cs typeface="Calibri"/>
              </a:rPr>
              <a:t> </a:t>
            </a:r>
            <a:r>
              <a:rPr sz="2400" dirty="0">
                <a:latin typeface="Calibri"/>
                <a:cs typeface="Calibri"/>
              </a:rPr>
              <a:t>resources</a:t>
            </a:r>
            <a:r>
              <a:rPr sz="2400" spc="535" dirty="0">
                <a:latin typeface="Calibri"/>
                <a:cs typeface="Calibri"/>
              </a:rPr>
              <a:t> </a:t>
            </a:r>
            <a:r>
              <a:rPr sz="2400" dirty="0">
                <a:latin typeface="Calibri"/>
                <a:cs typeface="Calibri"/>
              </a:rPr>
              <a:t>are</a:t>
            </a:r>
            <a:r>
              <a:rPr sz="2400" spc="540" dirty="0">
                <a:latin typeface="Calibri"/>
                <a:cs typeface="Calibri"/>
              </a:rPr>
              <a:t> </a:t>
            </a:r>
            <a:r>
              <a:rPr sz="2400" spc="-25" dirty="0">
                <a:latin typeface="Calibri"/>
                <a:cs typeface="Calibri"/>
              </a:rPr>
              <a:t>not 	</a:t>
            </a:r>
            <a:r>
              <a:rPr sz="2400" dirty="0">
                <a:latin typeface="Calibri"/>
                <a:cs typeface="Calibri"/>
              </a:rPr>
              <a:t>adequate</a:t>
            </a:r>
            <a:r>
              <a:rPr sz="2400" spc="155" dirty="0">
                <a:latin typeface="Calibri"/>
                <a:cs typeface="Calibri"/>
              </a:rPr>
              <a:t> </a:t>
            </a:r>
            <a:r>
              <a:rPr sz="2400" dirty="0">
                <a:latin typeface="Calibri"/>
                <a:cs typeface="Calibri"/>
              </a:rPr>
              <a:t>to</a:t>
            </a:r>
            <a:r>
              <a:rPr sz="2400" spc="155" dirty="0">
                <a:latin typeface="Calibri"/>
                <a:cs typeface="Calibri"/>
              </a:rPr>
              <a:t> </a:t>
            </a:r>
            <a:r>
              <a:rPr sz="2400" dirty="0">
                <a:latin typeface="Calibri"/>
                <a:cs typeface="Calibri"/>
              </a:rPr>
              <a:t>meet</a:t>
            </a:r>
            <a:r>
              <a:rPr sz="2400" spc="150" dirty="0">
                <a:latin typeface="Calibri"/>
                <a:cs typeface="Calibri"/>
              </a:rPr>
              <a:t> </a:t>
            </a:r>
            <a:r>
              <a:rPr sz="2400" dirty="0">
                <a:latin typeface="Calibri"/>
                <a:cs typeface="Calibri"/>
              </a:rPr>
              <a:t>peak</a:t>
            </a:r>
            <a:r>
              <a:rPr sz="2400" spc="150" dirty="0">
                <a:latin typeface="Calibri"/>
                <a:cs typeface="Calibri"/>
              </a:rPr>
              <a:t> </a:t>
            </a:r>
            <a:r>
              <a:rPr sz="2400" dirty="0">
                <a:latin typeface="Calibri"/>
                <a:cs typeface="Calibri"/>
              </a:rPr>
              <a:t>demands,</a:t>
            </a:r>
            <a:r>
              <a:rPr sz="2400" spc="150" dirty="0">
                <a:latin typeface="Calibri"/>
                <a:cs typeface="Calibri"/>
              </a:rPr>
              <a:t> </a:t>
            </a:r>
            <a:r>
              <a:rPr sz="2400" dirty="0">
                <a:latin typeface="Calibri"/>
                <a:cs typeface="Calibri"/>
              </a:rPr>
              <a:t>the</a:t>
            </a:r>
            <a:r>
              <a:rPr sz="2400" spc="160" dirty="0">
                <a:latin typeface="Calibri"/>
                <a:cs typeface="Calibri"/>
              </a:rPr>
              <a:t> </a:t>
            </a:r>
            <a:r>
              <a:rPr sz="2400" spc="-20" dirty="0">
                <a:latin typeface="Calibri"/>
                <a:cs typeface="Calibri"/>
              </a:rPr>
              <a:t>late 	</a:t>
            </a:r>
            <a:r>
              <a:rPr sz="2400" dirty="0">
                <a:latin typeface="Calibri"/>
                <a:cs typeface="Calibri"/>
              </a:rPr>
              <a:t>start</a:t>
            </a:r>
            <a:r>
              <a:rPr sz="2400" spc="420" dirty="0">
                <a:latin typeface="Calibri"/>
                <a:cs typeface="Calibri"/>
              </a:rPr>
              <a:t> </a:t>
            </a:r>
            <a:r>
              <a:rPr sz="2400" dirty="0">
                <a:latin typeface="Calibri"/>
                <a:cs typeface="Calibri"/>
              </a:rPr>
              <a:t>of</a:t>
            </a:r>
            <a:r>
              <a:rPr sz="2400" spc="434" dirty="0">
                <a:latin typeface="Calibri"/>
                <a:cs typeface="Calibri"/>
              </a:rPr>
              <a:t> </a:t>
            </a:r>
            <a:r>
              <a:rPr sz="2400" dirty="0">
                <a:latin typeface="Calibri"/>
                <a:cs typeface="Calibri"/>
              </a:rPr>
              <a:t>some</a:t>
            </a:r>
            <a:r>
              <a:rPr sz="2400" spc="440" dirty="0">
                <a:latin typeface="Calibri"/>
                <a:cs typeface="Calibri"/>
              </a:rPr>
              <a:t> </a:t>
            </a:r>
            <a:r>
              <a:rPr sz="2400" dirty="0">
                <a:latin typeface="Calibri"/>
                <a:cs typeface="Calibri"/>
              </a:rPr>
              <a:t>activities</a:t>
            </a:r>
            <a:r>
              <a:rPr sz="2400" spc="420" dirty="0">
                <a:latin typeface="Calibri"/>
                <a:cs typeface="Calibri"/>
              </a:rPr>
              <a:t> </a:t>
            </a:r>
            <a:r>
              <a:rPr sz="2400" dirty="0">
                <a:latin typeface="Calibri"/>
                <a:cs typeface="Calibri"/>
              </a:rPr>
              <a:t>must</a:t>
            </a:r>
            <a:r>
              <a:rPr sz="2400" spc="430" dirty="0">
                <a:latin typeface="Calibri"/>
                <a:cs typeface="Calibri"/>
              </a:rPr>
              <a:t> </a:t>
            </a:r>
            <a:r>
              <a:rPr sz="2400" dirty="0">
                <a:latin typeface="Calibri"/>
                <a:cs typeface="Calibri"/>
              </a:rPr>
              <a:t>be</a:t>
            </a:r>
            <a:r>
              <a:rPr sz="2400" spc="434" dirty="0">
                <a:latin typeface="Calibri"/>
                <a:cs typeface="Calibri"/>
              </a:rPr>
              <a:t> </a:t>
            </a:r>
            <a:r>
              <a:rPr sz="2400" spc="-10" dirty="0">
                <a:latin typeface="Calibri"/>
                <a:cs typeface="Calibri"/>
              </a:rPr>
              <a:t>delayed, 	</a:t>
            </a:r>
            <a:r>
              <a:rPr sz="2400" dirty="0">
                <a:latin typeface="Calibri"/>
                <a:cs typeface="Calibri"/>
              </a:rPr>
              <a:t>and</a:t>
            </a:r>
            <a:r>
              <a:rPr sz="2400" spc="550" dirty="0">
                <a:latin typeface="Calibri"/>
                <a:cs typeface="Calibri"/>
              </a:rPr>
              <a:t> </a:t>
            </a:r>
            <a:r>
              <a:rPr sz="2400" dirty="0">
                <a:latin typeface="Calibri"/>
                <a:cs typeface="Calibri"/>
              </a:rPr>
              <a:t>the</a:t>
            </a:r>
            <a:r>
              <a:rPr sz="2400" spc="560" dirty="0">
                <a:latin typeface="Calibri"/>
                <a:cs typeface="Calibri"/>
              </a:rPr>
              <a:t> </a:t>
            </a:r>
            <a:r>
              <a:rPr sz="2400" dirty="0">
                <a:latin typeface="Calibri"/>
                <a:cs typeface="Calibri"/>
              </a:rPr>
              <a:t>duration</a:t>
            </a:r>
            <a:r>
              <a:rPr sz="2400" spc="555" dirty="0">
                <a:latin typeface="Calibri"/>
                <a:cs typeface="Calibri"/>
              </a:rPr>
              <a:t> </a:t>
            </a:r>
            <a:r>
              <a:rPr sz="2400" dirty="0">
                <a:latin typeface="Calibri"/>
                <a:cs typeface="Calibri"/>
              </a:rPr>
              <a:t>of</a:t>
            </a:r>
            <a:r>
              <a:rPr sz="2400" spc="560" dirty="0">
                <a:latin typeface="Calibri"/>
                <a:cs typeface="Calibri"/>
              </a:rPr>
              <a:t> </a:t>
            </a:r>
            <a:r>
              <a:rPr sz="2400" dirty="0">
                <a:latin typeface="Calibri"/>
                <a:cs typeface="Calibri"/>
              </a:rPr>
              <a:t>the</a:t>
            </a:r>
            <a:r>
              <a:rPr sz="2400" spc="555" dirty="0">
                <a:latin typeface="Calibri"/>
                <a:cs typeface="Calibri"/>
              </a:rPr>
              <a:t> </a:t>
            </a:r>
            <a:r>
              <a:rPr sz="2400" dirty="0">
                <a:latin typeface="Calibri"/>
                <a:cs typeface="Calibri"/>
              </a:rPr>
              <a:t>project</a:t>
            </a:r>
            <a:r>
              <a:rPr sz="2400" spc="545" dirty="0">
                <a:latin typeface="Calibri"/>
                <a:cs typeface="Calibri"/>
              </a:rPr>
              <a:t> </a:t>
            </a:r>
            <a:r>
              <a:rPr sz="2400" dirty="0">
                <a:latin typeface="Calibri"/>
                <a:cs typeface="Calibri"/>
              </a:rPr>
              <a:t>may</a:t>
            </a:r>
            <a:r>
              <a:rPr sz="2400" spc="555" dirty="0">
                <a:latin typeface="Calibri"/>
                <a:cs typeface="Calibri"/>
              </a:rPr>
              <a:t> </a:t>
            </a:r>
            <a:r>
              <a:rPr sz="2400" spc="-25" dirty="0">
                <a:latin typeface="Calibri"/>
                <a:cs typeface="Calibri"/>
              </a:rPr>
              <a:t>be 	</a:t>
            </a:r>
            <a:r>
              <a:rPr sz="2400" dirty="0">
                <a:latin typeface="Calibri"/>
                <a:cs typeface="Calibri"/>
              </a:rPr>
              <a:t>increased.</a:t>
            </a:r>
            <a:r>
              <a:rPr sz="2400" spc="270" dirty="0">
                <a:latin typeface="Calibri"/>
                <a:cs typeface="Calibri"/>
              </a:rPr>
              <a:t> </a:t>
            </a:r>
            <a:r>
              <a:rPr sz="2400" dirty="0">
                <a:latin typeface="Calibri"/>
                <a:cs typeface="Calibri"/>
              </a:rPr>
              <a:t>This</a:t>
            </a:r>
            <a:r>
              <a:rPr sz="2400" spc="275" dirty="0">
                <a:latin typeface="Calibri"/>
                <a:cs typeface="Calibri"/>
              </a:rPr>
              <a:t> </a:t>
            </a:r>
            <a:r>
              <a:rPr sz="2400" dirty="0">
                <a:latin typeface="Calibri"/>
                <a:cs typeface="Calibri"/>
              </a:rPr>
              <a:t>process</a:t>
            </a:r>
            <a:r>
              <a:rPr sz="2400" spc="270" dirty="0">
                <a:latin typeface="Calibri"/>
                <a:cs typeface="Calibri"/>
              </a:rPr>
              <a:t> </a:t>
            </a:r>
            <a:r>
              <a:rPr sz="2400" dirty="0">
                <a:latin typeface="Calibri"/>
                <a:cs typeface="Calibri"/>
              </a:rPr>
              <a:t>is</a:t>
            </a:r>
            <a:r>
              <a:rPr sz="2400" spc="275" dirty="0">
                <a:latin typeface="Calibri"/>
                <a:cs typeface="Calibri"/>
              </a:rPr>
              <a:t> </a:t>
            </a:r>
            <a:r>
              <a:rPr sz="2400" dirty="0">
                <a:latin typeface="Calibri"/>
                <a:cs typeface="Calibri"/>
              </a:rPr>
              <a:t>called</a:t>
            </a:r>
            <a:r>
              <a:rPr sz="2400" spc="270" dirty="0">
                <a:latin typeface="Calibri"/>
                <a:cs typeface="Calibri"/>
              </a:rPr>
              <a:t> </a:t>
            </a:r>
            <a:r>
              <a:rPr sz="2400" b="1" i="1" spc="-10" dirty="0">
                <a:solidFill>
                  <a:srgbClr val="C00000"/>
                </a:solidFill>
                <a:latin typeface="Calibri"/>
                <a:cs typeface="Calibri"/>
              </a:rPr>
              <a:t>resource- 	</a:t>
            </a:r>
            <a:r>
              <a:rPr sz="2400" b="1" i="1" dirty="0">
                <a:solidFill>
                  <a:srgbClr val="C00000"/>
                </a:solidFill>
                <a:latin typeface="Calibri"/>
                <a:cs typeface="Calibri"/>
              </a:rPr>
              <a:t>constrained</a:t>
            </a:r>
            <a:r>
              <a:rPr sz="2400" b="1" i="1" spc="-120" dirty="0">
                <a:solidFill>
                  <a:srgbClr val="C00000"/>
                </a:solidFill>
                <a:latin typeface="Calibri"/>
                <a:cs typeface="Calibri"/>
              </a:rPr>
              <a:t> </a:t>
            </a:r>
            <a:r>
              <a:rPr sz="2400" b="1" i="1" spc="-10" dirty="0">
                <a:solidFill>
                  <a:srgbClr val="C00000"/>
                </a:solidFill>
                <a:latin typeface="Calibri"/>
                <a:cs typeface="Calibri"/>
              </a:rPr>
              <a:t>scheduling</a:t>
            </a:r>
            <a:r>
              <a:rPr sz="2400" i="1" spc="-10" dirty="0">
                <a:latin typeface="Calibri"/>
                <a:cs typeface="Calibri"/>
              </a:rPr>
              <a:t>.</a:t>
            </a:r>
            <a:endParaRPr sz="2400" dirty="0">
              <a:latin typeface="Calibri"/>
              <a:cs typeface="Calibri"/>
            </a:endParaRPr>
          </a:p>
        </p:txBody>
      </p:sp>
      <p:pic>
        <p:nvPicPr>
          <p:cNvPr id="11" name="Picture 10">
            <a:extLst>
              <a:ext uri="{FF2B5EF4-FFF2-40B4-BE49-F238E27FC236}">
                <a16:creationId xmlns:a16="http://schemas.microsoft.com/office/drawing/2014/main" id="{C0920F45-1202-E4F2-E61A-65EF529BED5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39400" y="0"/>
            <a:ext cx="1752600" cy="973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60" dirty="0"/>
              <a:t>Types</a:t>
            </a:r>
            <a:r>
              <a:rPr spc="110" dirty="0"/>
              <a:t> </a:t>
            </a:r>
            <a:r>
              <a:rPr spc="80" dirty="0"/>
              <a:t>of</a:t>
            </a:r>
            <a:r>
              <a:rPr spc="114" dirty="0"/>
              <a:t> </a:t>
            </a:r>
            <a:r>
              <a:rPr spc="95" dirty="0"/>
              <a:t>Resource</a:t>
            </a:r>
            <a:r>
              <a:rPr spc="114" dirty="0"/>
              <a:t> </a:t>
            </a:r>
            <a:r>
              <a:rPr spc="85" dirty="0"/>
              <a:t>Constraints</a:t>
            </a:r>
          </a:p>
        </p:txBody>
      </p:sp>
      <p:sp>
        <p:nvSpPr>
          <p:cNvPr id="3" name="object 3"/>
          <p:cNvSpPr txBox="1"/>
          <p:nvPr/>
        </p:nvSpPr>
        <p:spPr>
          <a:xfrm>
            <a:off x="916938" y="1646427"/>
            <a:ext cx="10748645" cy="4667885"/>
          </a:xfrm>
          <a:prstGeom prst="rect">
            <a:avLst/>
          </a:prstGeom>
        </p:spPr>
        <p:txBody>
          <a:bodyPr vert="horz" wrap="square" lIns="0" tIns="12700" rIns="0" bIns="0" rtlCol="0">
            <a:spAutoFit/>
          </a:bodyPr>
          <a:lstStyle/>
          <a:p>
            <a:pPr marL="354965" indent="-342265">
              <a:lnSpc>
                <a:spcPct val="100000"/>
              </a:lnSpc>
              <a:spcBef>
                <a:spcPts val="100"/>
              </a:spcBef>
              <a:buAutoNum type="arabicPeriod"/>
              <a:tabLst>
                <a:tab pos="354965" algn="l"/>
              </a:tabLst>
            </a:pPr>
            <a:r>
              <a:rPr sz="2800" b="1" spc="-10" dirty="0">
                <a:solidFill>
                  <a:srgbClr val="C00000"/>
                </a:solidFill>
                <a:latin typeface="Calibri"/>
                <a:cs typeface="Calibri"/>
              </a:rPr>
              <a:t>People</a:t>
            </a:r>
            <a:endParaRPr sz="2800">
              <a:latin typeface="Calibri"/>
              <a:cs typeface="Calibri"/>
            </a:endParaRPr>
          </a:p>
          <a:p>
            <a:pPr>
              <a:lnSpc>
                <a:spcPct val="100000"/>
              </a:lnSpc>
              <a:spcBef>
                <a:spcPts val="1210"/>
              </a:spcBef>
              <a:buClr>
                <a:srgbClr val="C00000"/>
              </a:buClr>
              <a:buFont typeface="Calibri"/>
              <a:buAutoNum type="arabicPeriod"/>
            </a:pPr>
            <a:endParaRPr sz="2800">
              <a:latin typeface="Calibri"/>
              <a:cs typeface="Calibri"/>
            </a:endParaRPr>
          </a:p>
          <a:p>
            <a:pPr marL="354965" indent="-342265">
              <a:lnSpc>
                <a:spcPct val="100000"/>
              </a:lnSpc>
              <a:spcBef>
                <a:spcPts val="5"/>
              </a:spcBef>
              <a:buAutoNum type="arabicPeriod"/>
              <a:tabLst>
                <a:tab pos="354965" algn="l"/>
              </a:tabLst>
            </a:pPr>
            <a:r>
              <a:rPr sz="2800" b="1" spc="-10" dirty="0">
                <a:solidFill>
                  <a:srgbClr val="C00000"/>
                </a:solidFill>
                <a:latin typeface="Calibri"/>
                <a:cs typeface="Calibri"/>
              </a:rPr>
              <a:t>Materials</a:t>
            </a:r>
            <a:endParaRPr sz="2800">
              <a:latin typeface="Calibri"/>
              <a:cs typeface="Calibri"/>
            </a:endParaRPr>
          </a:p>
          <a:p>
            <a:pPr>
              <a:lnSpc>
                <a:spcPct val="100000"/>
              </a:lnSpc>
              <a:spcBef>
                <a:spcPts val="1330"/>
              </a:spcBef>
              <a:buClr>
                <a:srgbClr val="C00000"/>
              </a:buClr>
              <a:buFont typeface="Calibri"/>
              <a:buAutoNum type="arabicPeriod"/>
            </a:pPr>
            <a:endParaRPr sz="2800">
              <a:latin typeface="Calibri"/>
              <a:cs typeface="Calibri"/>
            </a:endParaRPr>
          </a:p>
          <a:p>
            <a:pPr marL="354965" indent="-342265">
              <a:lnSpc>
                <a:spcPct val="100000"/>
              </a:lnSpc>
              <a:buAutoNum type="arabicPeriod"/>
              <a:tabLst>
                <a:tab pos="354965" algn="l"/>
              </a:tabLst>
            </a:pPr>
            <a:r>
              <a:rPr sz="2800" b="1" spc="-10" dirty="0">
                <a:solidFill>
                  <a:srgbClr val="C00000"/>
                </a:solidFill>
                <a:latin typeface="Calibri"/>
                <a:cs typeface="Calibri"/>
              </a:rPr>
              <a:t>Equipment</a:t>
            </a:r>
            <a:endParaRPr sz="2800">
              <a:latin typeface="Calibri"/>
              <a:cs typeface="Calibri"/>
            </a:endParaRPr>
          </a:p>
          <a:p>
            <a:pPr>
              <a:lnSpc>
                <a:spcPct val="100000"/>
              </a:lnSpc>
              <a:spcBef>
                <a:spcPts val="1545"/>
              </a:spcBef>
            </a:pPr>
            <a:endParaRPr sz="2800">
              <a:latin typeface="Calibri"/>
              <a:cs typeface="Calibri"/>
            </a:endParaRPr>
          </a:p>
          <a:p>
            <a:pPr marL="12700" marR="5080" algn="just">
              <a:lnSpc>
                <a:spcPct val="90200"/>
              </a:lnSpc>
            </a:pPr>
            <a:r>
              <a:rPr sz="2800" dirty="0">
                <a:latin typeface="Calibri"/>
                <a:cs typeface="Calibri"/>
              </a:rPr>
              <a:t>In</a:t>
            </a:r>
            <a:r>
              <a:rPr sz="2800" spc="275" dirty="0">
                <a:latin typeface="Calibri"/>
                <a:cs typeface="Calibri"/>
              </a:rPr>
              <a:t> </a:t>
            </a:r>
            <a:r>
              <a:rPr sz="2800" spc="-20" dirty="0">
                <a:latin typeface="Calibri"/>
                <a:cs typeface="Calibri"/>
              </a:rPr>
              <a:t>multi-</a:t>
            </a:r>
            <a:r>
              <a:rPr sz="2800" dirty="0">
                <a:latin typeface="Calibri"/>
                <a:cs typeface="Calibri"/>
              </a:rPr>
              <a:t>project</a:t>
            </a:r>
            <a:r>
              <a:rPr sz="2800" spc="270" dirty="0">
                <a:latin typeface="Calibri"/>
                <a:cs typeface="Calibri"/>
              </a:rPr>
              <a:t> </a:t>
            </a:r>
            <a:r>
              <a:rPr sz="2800" dirty="0">
                <a:latin typeface="Calibri"/>
                <a:cs typeface="Calibri"/>
              </a:rPr>
              <a:t>environments</a:t>
            </a:r>
            <a:r>
              <a:rPr sz="2800" spc="280" dirty="0">
                <a:latin typeface="Calibri"/>
                <a:cs typeface="Calibri"/>
              </a:rPr>
              <a:t> </a:t>
            </a:r>
            <a:r>
              <a:rPr sz="2800" dirty="0">
                <a:latin typeface="Calibri"/>
                <a:cs typeface="Calibri"/>
              </a:rPr>
              <a:t>it</a:t>
            </a:r>
            <a:r>
              <a:rPr sz="2800" spc="270" dirty="0">
                <a:latin typeface="Calibri"/>
                <a:cs typeface="Calibri"/>
              </a:rPr>
              <a:t> </a:t>
            </a:r>
            <a:r>
              <a:rPr sz="2800" dirty="0">
                <a:latin typeface="Calibri"/>
                <a:cs typeface="Calibri"/>
              </a:rPr>
              <a:t>is</a:t>
            </a:r>
            <a:r>
              <a:rPr sz="2800" spc="280" dirty="0">
                <a:latin typeface="Calibri"/>
                <a:cs typeface="Calibri"/>
              </a:rPr>
              <a:t> </a:t>
            </a:r>
            <a:r>
              <a:rPr sz="2800" dirty="0">
                <a:latin typeface="Calibri"/>
                <a:cs typeface="Calibri"/>
              </a:rPr>
              <a:t>wise</a:t>
            </a:r>
            <a:r>
              <a:rPr sz="2800" spc="265" dirty="0">
                <a:latin typeface="Calibri"/>
                <a:cs typeface="Calibri"/>
              </a:rPr>
              <a:t> </a:t>
            </a:r>
            <a:r>
              <a:rPr sz="2800" dirty="0">
                <a:latin typeface="Calibri"/>
                <a:cs typeface="Calibri"/>
              </a:rPr>
              <a:t>to</a:t>
            </a:r>
            <a:r>
              <a:rPr sz="2800" spc="270" dirty="0">
                <a:latin typeface="Calibri"/>
                <a:cs typeface="Calibri"/>
              </a:rPr>
              <a:t> </a:t>
            </a:r>
            <a:r>
              <a:rPr sz="2800" dirty="0">
                <a:latin typeface="Calibri"/>
                <a:cs typeface="Calibri"/>
              </a:rPr>
              <a:t>use</a:t>
            </a:r>
            <a:r>
              <a:rPr sz="2800" spc="265" dirty="0">
                <a:latin typeface="Calibri"/>
                <a:cs typeface="Calibri"/>
              </a:rPr>
              <a:t> </a:t>
            </a:r>
            <a:r>
              <a:rPr sz="2800" dirty="0">
                <a:latin typeface="Calibri"/>
                <a:cs typeface="Calibri"/>
              </a:rPr>
              <a:t>a</a:t>
            </a:r>
            <a:r>
              <a:rPr sz="2800" spc="265" dirty="0">
                <a:latin typeface="Calibri"/>
                <a:cs typeface="Calibri"/>
              </a:rPr>
              <a:t> </a:t>
            </a:r>
            <a:r>
              <a:rPr sz="2800" dirty="0">
                <a:latin typeface="Calibri"/>
                <a:cs typeface="Calibri"/>
              </a:rPr>
              <a:t>common</a:t>
            </a:r>
            <a:r>
              <a:rPr sz="2800" spc="275" dirty="0">
                <a:latin typeface="Calibri"/>
                <a:cs typeface="Calibri"/>
              </a:rPr>
              <a:t> </a:t>
            </a:r>
            <a:r>
              <a:rPr sz="2800" dirty="0">
                <a:latin typeface="Calibri"/>
                <a:cs typeface="Calibri"/>
              </a:rPr>
              <a:t>resource</a:t>
            </a:r>
            <a:r>
              <a:rPr sz="2800" spc="265" dirty="0">
                <a:latin typeface="Calibri"/>
                <a:cs typeface="Calibri"/>
              </a:rPr>
              <a:t> </a:t>
            </a:r>
            <a:r>
              <a:rPr sz="2800" spc="-20" dirty="0">
                <a:latin typeface="Calibri"/>
                <a:cs typeface="Calibri"/>
              </a:rPr>
              <a:t>pool </a:t>
            </a:r>
            <a:r>
              <a:rPr sz="2800" dirty="0">
                <a:latin typeface="Calibri"/>
                <a:cs typeface="Calibri"/>
              </a:rPr>
              <a:t>for</a:t>
            </a:r>
            <a:r>
              <a:rPr sz="2800" spc="-50" dirty="0">
                <a:latin typeface="Calibri"/>
                <a:cs typeface="Calibri"/>
              </a:rPr>
              <a:t> </a:t>
            </a:r>
            <a:r>
              <a:rPr sz="2800" dirty="0">
                <a:latin typeface="Calibri"/>
                <a:cs typeface="Calibri"/>
              </a:rPr>
              <a:t>all</a:t>
            </a:r>
            <a:r>
              <a:rPr sz="2800" spc="-45" dirty="0">
                <a:latin typeface="Calibri"/>
                <a:cs typeface="Calibri"/>
              </a:rPr>
              <a:t> </a:t>
            </a:r>
            <a:r>
              <a:rPr sz="2800" dirty="0">
                <a:latin typeface="Calibri"/>
                <a:cs typeface="Calibri"/>
              </a:rPr>
              <a:t>projects.</a:t>
            </a:r>
            <a:r>
              <a:rPr sz="2800" spc="-45" dirty="0">
                <a:latin typeface="Calibri"/>
                <a:cs typeface="Calibri"/>
              </a:rPr>
              <a:t> </a:t>
            </a:r>
            <a:r>
              <a:rPr sz="2800" dirty="0">
                <a:latin typeface="Calibri"/>
                <a:cs typeface="Calibri"/>
              </a:rPr>
              <a:t>This</a:t>
            </a:r>
            <a:r>
              <a:rPr sz="2800" spc="-40" dirty="0">
                <a:latin typeface="Calibri"/>
                <a:cs typeface="Calibri"/>
              </a:rPr>
              <a:t> </a:t>
            </a:r>
            <a:r>
              <a:rPr sz="2800" dirty="0">
                <a:latin typeface="Calibri"/>
                <a:cs typeface="Calibri"/>
              </a:rPr>
              <a:t>approach</a:t>
            </a:r>
            <a:r>
              <a:rPr sz="2800" spc="-40" dirty="0">
                <a:latin typeface="Calibri"/>
                <a:cs typeface="Calibri"/>
              </a:rPr>
              <a:t> </a:t>
            </a:r>
            <a:r>
              <a:rPr sz="2800" dirty="0">
                <a:latin typeface="Calibri"/>
                <a:cs typeface="Calibri"/>
              </a:rPr>
              <a:t>forces</a:t>
            </a:r>
            <a:r>
              <a:rPr sz="2800" spc="-40" dirty="0">
                <a:latin typeface="Calibri"/>
                <a:cs typeface="Calibri"/>
              </a:rPr>
              <a:t> </a:t>
            </a:r>
            <a:r>
              <a:rPr sz="2800" dirty="0">
                <a:latin typeface="Calibri"/>
                <a:cs typeface="Calibri"/>
              </a:rPr>
              <a:t>a</a:t>
            </a:r>
            <a:r>
              <a:rPr sz="2800" spc="-50" dirty="0">
                <a:latin typeface="Calibri"/>
                <a:cs typeface="Calibri"/>
              </a:rPr>
              <a:t> </a:t>
            </a:r>
            <a:r>
              <a:rPr sz="2800" dirty="0">
                <a:latin typeface="Calibri"/>
                <a:cs typeface="Calibri"/>
              </a:rPr>
              <a:t>check</a:t>
            </a:r>
            <a:r>
              <a:rPr sz="2800" spc="-45" dirty="0">
                <a:latin typeface="Calibri"/>
                <a:cs typeface="Calibri"/>
              </a:rPr>
              <a:t> </a:t>
            </a:r>
            <a:r>
              <a:rPr sz="2800" dirty="0">
                <a:latin typeface="Calibri"/>
                <a:cs typeface="Calibri"/>
              </a:rPr>
              <a:t>of</a:t>
            </a:r>
            <a:r>
              <a:rPr sz="2800" spc="-50" dirty="0">
                <a:latin typeface="Calibri"/>
                <a:cs typeface="Calibri"/>
              </a:rPr>
              <a:t> </a:t>
            </a:r>
            <a:r>
              <a:rPr sz="2800" dirty="0">
                <a:latin typeface="Calibri"/>
                <a:cs typeface="Calibri"/>
              </a:rPr>
              <a:t>resource</a:t>
            </a:r>
            <a:r>
              <a:rPr sz="2800" spc="-55" dirty="0">
                <a:latin typeface="Calibri"/>
                <a:cs typeface="Calibri"/>
              </a:rPr>
              <a:t> </a:t>
            </a:r>
            <a:r>
              <a:rPr sz="2800" dirty="0">
                <a:latin typeface="Calibri"/>
                <a:cs typeface="Calibri"/>
              </a:rPr>
              <a:t>availability</a:t>
            </a:r>
            <a:r>
              <a:rPr sz="2800" spc="-55" dirty="0">
                <a:latin typeface="Calibri"/>
                <a:cs typeface="Calibri"/>
              </a:rPr>
              <a:t> </a:t>
            </a:r>
            <a:r>
              <a:rPr sz="2800" spc="-10" dirty="0">
                <a:latin typeface="Calibri"/>
                <a:cs typeface="Calibri"/>
              </a:rPr>
              <a:t>across </a:t>
            </a:r>
            <a:r>
              <a:rPr sz="2800" dirty="0">
                <a:latin typeface="Calibri"/>
                <a:cs typeface="Calibri"/>
              </a:rPr>
              <a:t>all</a:t>
            </a:r>
            <a:r>
              <a:rPr sz="2800" spc="215" dirty="0">
                <a:latin typeface="Calibri"/>
                <a:cs typeface="Calibri"/>
              </a:rPr>
              <a:t> </a:t>
            </a:r>
            <a:r>
              <a:rPr sz="2800" dirty="0">
                <a:latin typeface="Calibri"/>
                <a:cs typeface="Calibri"/>
              </a:rPr>
              <a:t>projects</a:t>
            </a:r>
            <a:r>
              <a:rPr sz="2800" spc="225" dirty="0">
                <a:latin typeface="Calibri"/>
                <a:cs typeface="Calibri"/>
              </a:rPr>
              <a:t> </a:t>
            </a:r>
            <a:r>
              <a:rPr sz="2800" dirty="0">
                <a:latin typeface="Calibri"/>
                <a:cs typeface="Calibri"/>
              </a:rPr>
              <a:t>and</a:t>
            </a:r>
            <a:r>
              <a:rPr sz="2800" spc="229" dirty="0">
                <a:latin typeface="Calibri"/>
                <a:cs typeface="Calibri"/>
              </a:rPr>
              <a:t> </a:t>
            </a:r>
            <a:r>
              <a:rPr sz="2800" dirty="0">
                <a:latin typeface="Calibri"/>
                <a:cs typeface="Calibri"/>
              </a:rPr>
              <a:t>reserves</a:t>
            </a:r>
            <a:r>
              <a:rPr sz="2800" spc="220" dirty="0">
                <a:latin typeface="Calibri"/>
                <a:cs typeface="Calibri"/>
              </a:rPr>
              <a:t> </a:t>
            </a:r>
            <a:r>
              <a:rPr sz="2800" dirty="0">
                <a:latin typeface="Calibri"/>
                <a:cs typeface="Calibri"/>
              </a:rPr>
              <a:t>the</a:t>
            </a:r>
            <a:r>
              <a:rPr sz="2800" spc="220" dirty="0">
                <a:latin typeface="Calibri"/>
                <a:cs typeface="Calibri"/>
              </a:rPr>
              <a:t> </a:t>
            </a:r>
            <a:r>
              <a:rPr sz="2800" dirty="0">
                <a:latin typeface="Calibri"/>
                <a:cs typeface="Calibri"/>
              </a:rPr>
              <a:t>equipment</a:t>
            </a:r>
            <a:r>
              <a:rPr sz="2800" spc="229" dirty="0">
                <a:latin typeface="Calibri"/>
                <a:cs typeface="Calibri"/>
              </a:rPr>
              <a:t> </a:t>
            </a:r>
            <a:r>
              <a:rPr sz="2800" dirty="0">
                <a:latin typeface="Calibri"/>
                <a:cs typeface="Calibri"/>
              </a:rPr>
              <a:t>for</a:t>
            </a:r>
            <a:r>
              <a:rPr sz="2800" spc="225" dirty="0">
                <a:latin typeface="Calibri"/>
                <a:cs typeface="Calibri"/>
              </a:rPr>
              <a:t> </a:t>
            </a:r>
            <a:r>
              <a:rPr sz="2800" dirty="0">
                <a:latin typeface="Calibri"/>
                <a:cs typeface="Calibri"/>
              </a:rPr>
              <a:t>specific</a:t>
            </a:r>
            <a:r>
              <a:rPr sz="2800" spc="220" dirty="0">
                <a:latin typeface="Calibri"/>
                <a:cs typeface="Calibri"/>
              </a:rPr>
              <a:t> </a:t>
            </a:r>
            <a:r>
              <a:rPr sz="2800" dirty="0">
                <a:latin typeface="Calibri"/>
                <a:cs typeface="Calibri"/>
              </a:rPr>
              <a:t>project</a:t>
            </a:r>
            <a:r>
              <a:rPr sz="2800" spc="220" dirty="0">
                <a:latin typeface="Calibri"/>
                <a:cs typeface="Calibri"/>
              </a:rPr>
              <a:t> </a:t>
            </a:r>
            <a:r>
              <a:rPr sz="2800" dirty="0">
                <a:latin typeface="Calibri"/>
                <a:cs typeface="Calibri"/>
              </a:rPr>
              <a:t>needs</a:t>
            </a:r>
            <a:r>
              <a:rPr sz="2800" spc="225" dirty="0">
                <a:latin typeface="Calibri"/>
                <a:cs typeface="Calibri"/>
              </a:rPr>
              <a:t> </a:t>
            </a:r>
            <a:r>
              <a:rPr sz="2800" dirty="0">
                <a:latin typeface="Calibri"/>
                <a:cs typeface="Calibri"/>
              </a:rPr>
              <a:t>in</a:t>
            </a:r>
            <a:r>
              <a:rPr sz="2800" spc="220" dirty="0">
                <a:latin typeface="Calibri"/>
                <a:cs typeface="Calibri"/>
              </a:rPr>
              <a:t> </a:t>
            </a:r>
            <a:r>
              <a:rPr sz="2800" spc="-25" dirty="0">
                <a:latin typeface="Calibri"/>
                <a:cs typeface="Calibri"/>
              </a:rPr>
              <a:t>the </a:t>
            </a:r>
            <a:r>
              <a:rPr sz="2800" spc="-10" dirty="0">
                <a:latin typeface="Calibri"/>
                <a:cs typeface="Calibri"/>
              </a:rPr>
              <a:t>future.</a:t>
            </a:r>
            <a:endParaRPr sz="280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5</a:t>
            </a:r>
            <a:endParaRPr sz="1200">
              <a:latin typeface="Calibri"/>
              <a:cs typeface="Calibri"/>
            </a:endParaRPr>
          </a:p>
        </p:txBody>
      </p:sp>
      <p:pic>
        <p:nvPicPr>
          <p:cNvPr id="5" name="Picture 4">
            <a:extLst>
              <a:ext uri="{FF2B5EF4-FFF2-40B4-BE49-F238E27FC236}">
                <a16:creationId xmlns:a16="http://schemas.microsoft.com/office/drawing/2014/main" id="{8F95F94F-CC16-7F8E-90D5-8AE70E04EA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Classification</a:t>
            </a:r>
            <a:r>
              <a:rPr spc="130" dirty="0"/>
              <a:t> </a:t>
            </a:r>
            <a:r>
              <a:rPr spc="80" dirty="0"/>
              <a:t>of</a:t>
            </a:r>
            <a:r>
              <a:rPr spc="130" dirty="0"/>
              <a:t> </a:t>
            </a:r>
            <a:r>
              <a:rPr dirty="0"/>
              <a:t>a</a:t>
            </a:r>
            <a:r>
              <a:rPr spc="140" dirty="0"/>
              <a:t> </a:t>
            </a:r>
            <a:r>
              <a:rPr spc="114" dirty="0"/>
              <a:t>Scheduling</a:t>
            </a:r>
            <a:r>
              <a:rPr spc="135" dirty="0"/>
              <a:t> </a:t>
            </a:r>
            <a:r>
              <a:rPr spc="85" dirty="0"/>
              <a:t>Problem</a:t>
            </a:r>
          </a:p>
        </p:txBody>
      </p:sp>
      <p:sp>
        <p:nvSpPr>
          <p:cNvPr id="3" name="object 3"/>
          <p:cNvSpPr txBox="1"/>
          <p:nvPr/>
        </p:nvSpPr>
        <p:spPr>
          <a:xfrm>
            <a:off x="916938" y="1585467"/>
            <a:ext cx="10462895" cy="5152390"/>
          </a:xfrm>
          <a:prstGeom prst="rect">
            <a:avLst/>
          </a:prstGeom>
        </p:spPr>
        <p:txBody>
          <a:bodyPr vert="horz" wrap="square" lIns="0" tIns="95885" rIns="0" bIns="0" rtlCol="0">
            <a:spAutoFit/>
          </a:bodyPr>
          <a:lstStyle/>
          <a:p>
            <a:pPr marL="241300" marR="5080" indent="-228600" algn="just">
              <a:lnSpc>
                <a:spcPct val="80400"/>
              </a:lnSpc>
              <a:spcBef>
                <a:spcPts val="755"/>
              </a:spcBef>
              <a:buFont typeface="Arial MT"/>
              <a:buChar char="•"/>
              <a:tabLst>
                <a:tab pos="241300" algn="l"/>
              </a:tabLst>
            </a:pPr>
            <a:r>
              <a:rPr sz="2800" dirty="0">
                <a:latin typeface="Calibri"/>
                <a:cs typeface="Calibri"/>
              </a:rPr>
              <a:t>Classify</a:t>
            </a:r>
            <a:r>
              <a:rPr sz="2800" spc="80" dirty="0">
                <a:latin typeface="Calibri"/>
                <a:cs typeface="Calibri"/>
              </a:rPr>
              <a:t> </a:t>
            </a:r>
            <a:r>
              <a:rPr sz="2800" dirty="0">
                <a:latin typeface="Calibri"/>
                <a:cs typeface="Calibri"/>
              </a:rPr>
              <a:t>the</a:t>
            </a:r>
            <a:r>
              <a:rPr sz="2800" spc="95" dirty="0">
                <a:latin typeface="Calibri"/>
                <a:cs typeface="Calibri"/>
              </a:rPr>
              <a:t> </a:t>
            </a:r>
            <a:r>
              <a:rPr sz="2800" dirty="0">
                <a:latin typeface="Calibri"/>
                <a:cs typeface="Calibri"/>
              </a:rPr>
              <a:t>project</a:t>
            </a:r>
            <a:r>
              <a:rPr sz="2800" spc="95" dirty="0">
                <a:latin typeface="Calibri"/>
                <a:cs typeface="Calibri"/>
              </a:rPr>
              <a:t> </a:t>
            </a:r>
            <a:r>
              <a:rPr sz="2800" dirty="0">
                <a:latin typeface="Calibri"/>
                <a:cs typeface="Calibri"/>
              </a:rPr>
              <a:t>as</a:t>
            </a:r>
            <a:r>
              <a:rPr sz="2800" spc="105" dirty="0">
                <a:latin typeface="Calibri"/>
                <a:cs typeface="Calibri"/>
              </a:rPr>
              <a:t> </a:t>
            </a:r>
            <a:r>
              <a:rPr sz="2800" dirty="0">
                <a:latin typeface="Calibri"/>
                <a:cs typeface="Calibri"/>
              </a:rPr>
              <a:t>either</a:t>
            </a:r>
            <a:r>
              <a:rPr sz="2800" spc="95" dirty="0">
                <a:latin typeface="Calibri"/>
                <a:cs typeface="Calibri"/>
              </a:rPr>
              <a:t> </a:t>
            </a:r>
            <a:r>
              <a:rPr sz="2800" i="1" u="heavy" dirty="0">
                <a:uFill>
                  <a:solidFill>
                    <a:srgbClr val="000000"/>
                  </a:solidFill>
                </a:uFill>
                <a:latin typeface="Calibri"/>
                <a:cs typeface="Calibri"/>
              </a:rPr>
              <a:t>time</a:t>
            </a:r>
            <a:r>
              <a:rPr sz="2800" i="1" u="heavy" spc="100" dirty="0">
                <a:uFill>
                  <a:solidFill>
                    <a:srgbClr val="000000"/>
                  </a:solidFill>
                </a:uFill>
                <a:latin typeface="Calibri"/>
                <a:cs typeface="Calibri"/>
              </a:rPr>
              <a:t> </a:t>
            </a:r>
            <a:r>
              <a:rPr sz="2800" i="1" u="heavy" dirty="0">
                <a:uFill>
                  <a:solidFill>
                    <a:srgbClr val="000000"/>
                  </a:solidFill>
                </a:uFill>
                <a:latin typeface="Calibri"/>
                <a:cs typeface="Calibri"/>
              </a:rPr>
              <a:t>constrained</a:t>
            </a:r>
            <a:r>
              <a:rPr sz="2800" i="1" u="heavy" spc="105" dirty="0">
                <a:uFill>
                  <a:solidFill>
                    <a:srgbClr val="000000"/>
                  </a:solidFill>
                </a:uFill>
                <a:latin typeface="Calibri"/>
                <a:cs typeface="Calibri"/>
              </a:rPr>
              <a:t> </a:t>
            </a:r>
            <a:r>
              <a:rPr sz="2800" dirty="0">
                <a:latin typeface="Calibri"/>
                <a:cs typeface="Calibri"/>
              </a:rPr>
              <a:t>or</a:t>
            </a:r>
            <a:r>
              <a:rPr sz="2800" spc="95" dirty="0">
                <a:latin typeface="Calibri"/>
                <a:cs typeface="Calibri"/>
              </a:rPr>
              <a:t> </a:t>
            </a:r>
            <a:r>
              <a:rPr sz="2800" i="1" u="heavy" dirty="0">
                <a:uFill>
                  <a:solidFill>
                    <a:srgbClr val="000000"/>
                  </a:solidFill>
                </a:uFill>
                <a:latin typeface="Calibri"/>
                <a:cs typeface="Calibri"/>
              </a:rPr>
              <a:t>resource</a:t>
            </a:r>
            <a:r>
              <a:rPr sz="2800" i="1" u="heavy" spc="90" dirty="0">
                <a:uFill>
                  <a:solidFill>
                    <a:srgbClr val="000000"/>
                  </a:solidFill>
                </a:uFill>
                <a:latin typeface="Calibri"/>
                <a:cs typeface="Calibri"/>
              </a:rPr>
              <a:t> </a:t>
            </a:r>
            <a:r>
              <a:rPr sz="2800" i="1" u="heavy" spc="-10" dirty="0">
                <a:uFill>
                  <a:solidFill>
                    <a:srgbClr val="000000"/>
                  </a:solidFill>
                </a:uFill>
                <a:latin typeface="Calibri"/>
                <a:cs typeface="Calibri"/>
              </a:rPr>
              <a:t>constrained</a:t>
            </a:r>
            <a:r>
              <a:rPr sz="2800" i="1" spc="-10" dirty="0">
                <a:latin typeface="Calibri"/>
                <a:cs typeface="Calibri"/>
              </a:rPr>
              <a:t> </a:t>
            </a:r>
            <a:r>
              <a:rPr sz="2800" dirty="0">
                <a:latin typeface="Calibri"/>
                <a:cs typeface="Calibri"/>
              </a:rPr>
              <a:t>(consult</a:t>
            </a:r>
            <a:r>
              <a:rPr sz="2800" spc="355" dirty="0">
                <a:latin typeface="Calibri"/>
                <a:cs typeface="Calibri"/>
              </a:rPr>
              <a:t> </a:t>
            </a:r>
            <a:r>
              <a:rPr sz="2800" dirty="0">
                <a:latin typeface="Calibri"/>
                <a:cs typeface="Calibri"/>
              </a:rPr>
              <a:t>your</a:t>
            </a:r>
            <a:r>
              <a:rPr sz="2800" spc="355" dirty="0">
                <a:latin typeface="Calibri"/>
                <a:cs typeface="Calibri"/>
              </a:rPr>
              <a:t> </a:t>
            </a:r>
            <a:r>
              <a:rPr sz="2800" dirty="0">
                <a:latin typeface="Calibri"/>
                <a:cs typeface="Calibri"/>
              </a:rPr>
              <a:t>priority</a:t>
            </a:r>
            <a:r>
              <a:rPr sz="2800" spc="345" dirty="0">
                <a:latin typeface="Calibri"/>
                <a:cs typeface="Calibri"/>
              </a:rPr>
              <a:t> </a:t>
            </a:r>
            <a:r>
              <a:rPr sz="2800" dirty="0">
                <a:latin typeface="Calibri"/>
                <a:cs typeface="Calibri"/>
              </a:rPr>
              <a:t>matrix)</a:t>
            </a:r>
            <a:r>
              <a:rPr sz="2800" i="1" dirty="0">
                <a:latin typeface="Calibri"/>
                <a:cs typeface="Calibri"/>
              </a:rPr>
              <a:t>.</a:t>
            </a:r>
            <a:r>
              <a:rPr sz="2800" i="1" spc="365" dirty="0">
                <a:latin typeface="Calibri"/>
                <a:cs typeface="Calibri"/>
              </a:rPr>
              <a:t> </a:t>
            </a:r>
            <a:r>
              <a:rPr sz="2800" dirty="0">
                <a:latin typeface="Calibri"/>
                <a:cs typeface="Calibri"/>
              </a:rPr>
              <a:t>To</a:t>
            </a:r>
            <a:r>
              <a:rPr sz="2800" spc="350" dirty="0">
                <a:latin typeface="Calibri"/>
                <a:cs typeface="Calibri"/>
              </a:rPr>
              <a:t> </a:t>
            </a:r>
            <a:r>
              <a:rPr sz="2800" dirty="0">
                <a:latin typeface="Calibri"/>
                <a:cs typeface="Calibri"/>
              </a:rPr>
              <a:t>determine</a:t>
            </a:r>
            <a:r>
              <a:rPr sz="2800" spc="350" dirty="0">
                <a:latin typeface="Calibri"/>
                <a:cs typeface="Calibri"/>
              </a:rPr>
              <a:t> </a:t>
            </a:r>
            <a:r>
              <a:rPr sz="2800" dirty="0">
                <a:latin typeface="Calibri"/>
                <a:cs typeface="Calibri"/>
              </a:rPr>
              <a:t>if</a:t>
            </a:r>
            <a:r>
              <a:rPr sz="2800" spc="350" dirty="0">
                <a:latin typeface="Calibri"/>
                <a:cs typeface="Calibri"/>
              </a:rPr>
              <a:t> </a:t>
            </a:r>
            <a:r>
              <a:rPr sz="2800" dirty="0">
                <a:latin typeface="Calibri"/>
                <a:cs typeface="Calibri"/>
              </a:rPr>
              <a:t>the</a:t>
            </a:r>
            <a:r>
              <a:rPr sz="2800" spc="350" dirty="0">
                <a:latin typeface="Calibri"/>
                <a:cs typeface="Calibri"/>
              </a:rPr>
              <a:t> </a:t>
            </a:r>
            <a:r>
              <a:rPr sz="2800" dirty="0">
                <a:latin typeface="Calibri"/>
                <a:cs typeface="Calibri"/>
              </a:rPr>
              <a:t>project</a:t>
            </a:r>
            <a:r>
              <a:rPr sz="2800" spc="355" dirty="0">
                <a:latin typeface="Calibri"/>
                <a:cs typeface="Calibri"/>
              </a:rPr>
              <a:t> </a:t>
            </a:r>
            <a:r>
              <a:rPr sz="2800" dirty="0">
                <a:latin typeface="Calibri"/>
                <a:cs typeface="Calibri"/>
              </a:rPr>
              <a:t>is</a:t>
            </a:r>
            <a:r>
              <a:rPr sz="2800" spc="355" dirty="0">
                <a:latin typeface="Calibri"/>
                <a:cs typeface="Calibri"/>
              </a:rPr>
              <a:t> </a:t>
            </a:r>
            <a:r>
              <a:rPr sz="2800" dirty="0">
                <a:latin typeface="Calibri"/>
                <a:cs typeface="Calibri"/>
              </a:rPr>
              <a:t>time</a:t>
            </a:r>
            <a:r>
              <a:rPr sz="2800" spc="355" dirty="0">
                <a:latin typeface="Calibri"/>
                <a:cs typeface="Calibri"/>
              </a:rPr>
              <a:t> </a:t>
            </a:r>
            <a:r>
              <a:rPr sz="2800" spc="-25" dirty="0">
                <a:latin typeface="Calibri"/>
                <a:cs typeface="Calibri"/>
              </a:rPr>
              <a:t>or </a:t>
            </a:r>
            <a:r>
              <a:rPr sz="2800" dirty="0">
                <a:latin typeface="Calibri"/>
                <a:cs typeface="Calibri"/>
              </a:rPr>
              <a:t>resource</a:t>
            </a:r>
            <a:r>
              <a:rPr sz="2800" spc="570" dirty="0">
                <a:latin typeface="Calibri"/>
                <a:cs typeface="Calibri"/>
              </a:rPr>
              <a:t> </a:t>
            </a:r>
            <a:r>
              <a:rPr sz="2800" dirty="0">
                <a:latin typeface="Calibri"/>
                <a:cs typeface="Calibri"/>
              </a:rPr>
              <a:t>constrained</a:t>
            </a:r>
            <a:r>
              <a:rPr sz="2800" spc="585" dirty="0">
                <a:latin typeface="Calibri"/>
                <a:cs typeface="Calibri"/>
              </a:rPr>
              <a:t> </a:t>
            </a:r>
            <a:r>
              <a:rPr sz="2800" dirty="0">
                <a:latin typeface="Calibri"/>
                <a:cs typeface="Calibri"/>
              </a:rPr>
              <a:t>is</a:t>
            </a:r>
            <a:r>
              <a:rPr sz="2800" spc="590" dirty="0">
                <a:latin typeface="Calibri"/>
                <a:cs typeface="Calibri"/>
              </a:rPr>
              <a:t> </a:t>
            </a:r>
            <a:r>
              <a:rPr sz="2800" dirty="0">
                <a:latin typeface="Calibri"/>
                <a:cs typeface="Calibri"/>
              </a:rPr>
              <a:t>to</a:t>
            </a:r>
            <a:r>
              <a:rPr sz="2800" spc="585" dirty="0">
                <a:latin typeface="Calibri"/>
                <a:cs typeface="Calibri"/>
              </a:rPr>
              <a:t> </a:t>
            </a:r>
            <a:r>
              <a:rPr sz="2800" dirty="0">
                <a:latin typeface="Calibri"/>
                <a:cs typeface="Calibri"/>
              </a:rPr>
              <a:t>ask,</a:t>
            </a:r>
            <a:r>
              <a:rPr sz="2800" spc="590" dirty="0">
                <a:latin typeface="Calibri"/>
                <a:cs typeface="Calibri"/>
              </a:rPr>
              <a:t> </a:t>
            </a:r>
            <a:r>
              <a:rPr sz="2800" dirty="0">
                <a:latin typeface="Calibri"/>
                <a:cs typeface="Calibri"/>
              </a:rPr>
              <a:t>“If</a:t>
            </a:r>
            <a:r>
              <a:rPr sz="2800" spc="580" dirty="0">
                <a:latin typeface="Calibri"/>
                <a:cs typeface="Calibri"/>
              </a:rPr>
              <a:t> </a:t>
            </a:r>
            <a:r>
              <a:rPr sz="2800" dirty="0">
                <a:latin typeface="Calibri"/>
                <a:cs typeface="Calibri"/>
              </a:rPr>
              <a:t>the</a:t>
            </a:r>
            <a:r>
              <a:rPr sz="2800" spc="585" dirty="0">
                <a:latin typeface="Calibri"/>
                <a:cs typeface="Calibri"/>
              </a:rPr>
              <a:t> </a:t>
            </a:r>
            <a:r>
              <a:rPr sz="2800" dirty="0">
                <a:latin typeface="Calibri"/>
                <a:cs typeface="Calibri"/>
              </a:rPr>
              <a:t>critical</a:t>
            </a:r>
            <a:r>
              <a:rPr sz="2800" spc="570" dirty="0">
                <a:latin typeface="Calibri"/>
                <a:cs typeface="Calibri"/>
              </a:rPr>
              <a:t> </a:t>
            </a:r>
            <a:r>
              <a:rPr sz="2800" dirty="0">
                <a:latin typeface="Calibri"/>
                <a:cs typeface="Calibri"/>
              </a:rPr>
              <a:t>path</a:t>
            </a:r>
            <a:r>
              <a:rPr sz="2800" spc="590" dirty="0">
                <a:latin typeface="Calibri"/>
                <a:cs typeface="Calibri"/>
              </a:rPr>
              <a:t> </a:t>
            </a:r>
            <a:r>
              <a:rPr sz="2800" dirty="0">
                <a:latin typeface="Calibri"/>
                <a:cs typeface="Calibri"/>
              </a:rPr>
              <a:t>is</a:t>
            </a:r>
            <a:r>
              <a:rPr sz="2800" spc="590" dirty="0">
                <a:latin typeface="Calibri"/>
                <a:cs typeface="Calibri"/>
              </a:rPr>
              <a:t> </a:t>
            </a:r>
            <a:r>
              <a:rPr sz="2800" dirty="0">
                <a:latin typeface="Calibri"/>
                <a:cs typeface="Calibri"/>
              </a:rPr>
              <a:t>delayed,</a:t>
            </a:r>
            <a:r>
              <a:rPr sz="2800" spc="580" dirty="0">
                <a:latin typeface="Calibri"/>
                <a:cs typeface="Calibri"/>
              </a:rPr>
              <a:t> </a:t>
            </a:r>
            <a:r>
              <a:rPr sz="2800" spc="-20" dirty="0">
                <a:latin typeface="Calibri"/>
                <a:cs typeface="Calibri"/>
              </a:rPr>
              <a:t>will </a:t>
            </a:r>
            <a:r>
              <a:rPr sz="2800" dirty="0">
                <a:latin typeface="Calibri"/>
                <a:cs typeface="Calibri"/>
              </a:rPr>
              <a:t>resources</a:t>
            </a:r>
            <a:r>
              <a:rPr sz="2800" spc="390" dirty="0">
                <a:latin typeface="Calibri"/>
                <a:cs typeface="Calibri"/>
              </a:rPr>
              <a:t> </a:t>
            </a:r>
            <a:r>
              <a:rPr sz="2800" dirty="0">
                <a:latin typeface="Calibri"/>
                <a:cs typeface="Calibri"/>
              </a:rPr>
              <a:t>be</a:t>
            </a:r>
            <a:r>
              <a:rPr sz="2800" spc="385" dirty="0">
                <a:latin typeface="Calibri"/>
                <a:cs typeface="Calibri"/>
              </a:rPr>
              <a:t> </a:t>
            </a:r>
            <a:r>
              <a:rPr sz="2800" dirty="0">
                <a:latin typeface="Calibri"/>
                <a:cs typeface="Calibri"/>
              </a:rPr>
              <a:t>added</a:t>
            </a:r>
            <a:r>
              <a:rPr sz="2800" spc="395" dirty="0">
                <a:latin typeface="Calibri"/>
                <a:cs typeface="Calibri"/>
              </a:rPr>
              <a:t> </a:t>
            </a:r>
            <a:r>
              <a:rPr sz="2800" dirty="0">
                <a:latin typeface="Calibri"/>
                <a:cs typeface="Calibri"/>
              </a:rPr>
              <a:t>to</a:t>
            </a:r>
            <a:r>
              <a:rPr sz="2800" spc="390" dirty="0">
                <a:latin typeface="Calibri"/>
                <a:cs typeface="Calibri"/>
              </a:rPr>
              <a:t> </a:t>
            </a:r>
            <a:r>
              <a:rPr sz="2800" dirty="0">
                <a:latin typeface="Calibri"/>
                <a:cs typeface="Calibri"/>
              </a:rPr>
              <a:t>get</a:t>
            </a:r>
            <a:r>
              <a:rPr sz="2800" spc="390" dirty="0">
                <a:latin typeface="Calibri"/>
                <a:cs typeface="Calibri"/>
              </a:rPr>
              <a:t> </a:t>
            </a:r>
            <a:r>
              <a:rPr sz="2800" dirty="0">
                <a:latin typeface="Calibri"/>
                <a:cs typeface="Calibri"/>
              </a:rPr>
              <a:t>back</a:t>
            </a:r>
            <a:r>
              <a:rPr sz="2800" spc="395" dirty="0">
                <a:latin typeface="Calibri"/>
                <a:cs typeface="Calibri"/>
              </a:rPr>
              <a:t> </a:t>
            </a:r>
            <a:r>
              <a:rPr sz="2800" dirty="0">
                <a:latin typeface="Calibri"/>
                <a:cs typeface="Calibri"/>
              </a:rPr>
              <a:t>on</a:t>
            </a:r>
            <a:r>
              <a:rPr sz="2800" spc="400" dirty="0">
                <a:latin typeface="Calibri"/>
                <a:cs typeface="Calibri"/>
              </a:rPr>
              <a:t> </a:t>
            </a:r>
            <a:r>
              <a:rPr sz="2800" dirty="0">
                <a:latin typeface="Calibri"/>
                <a:cs typeface="Calibri"/>
              </a:rPr>
              <a:t>schedule?”</a:t>
            </a:r>
            <a:r>
              <a:rPr sz="2800" spc="390" dirty="0">
                <a:latin typeface="Calibri"/>
                <a:cs typeface="Calibri"/>
              </a:rPr>
              <a:t> </a:t>
            </a:r>
            <a:r>
              <a:rPr sz="2800" dirty="0">
                <a:latin typeface="Calibri"/>
                <a:cs typeface="Calibri"/>
              </a:rPr>
              <a:t>If</a:t>
            </a:r>
            <a:r>
              <a:rPr sz="2800" spc="390" dirty="0">
                <a:latin typeface="Calibri"/>
                <a:cs typeface="Calibri"/>
              </a:rPr>
              <a:t> </a:t>
            </a:r>
            <a:r>
              <a:rPr sz="2800" dirty="0">
                <a:latin typeface="Calibri"/>
                <a:cs typeface="Calibri"/>
              </a:rPr>
              <a:t>the</a:t>
            </a:r>
            <a:r>
              <a:rPr sz="2800" spc="385" dirty="0">
                <a:latin typeface="Calibri"/>
                <a:cs typeface="Calibri"/>
              </a:rPr>
              <a:t> </a:t>
            </a:r>
            <a:r>
              <a:rPr sz="2800" dirty="0">
                <a:latin typeface="Calibri"/>
                <a:cs typeface="Calibri"/>
              </a:rPr>
              <a:t>answer</a:t>
            </a:r>
            <a:r>
              <a:rPr sz="2800" spc="390" dirty="0">
                <a:latin typeface="Calibri"/>
                <a:cs typeface="Calibri"/>
              </a:rPr>
              <a:t> </a:t>
            </a:r>
            <a:r>
              <a:rPr sz="2800" dirty="0">
                <a:latin typeface="Calibri"/>
                <a:cs typeface="Calibri"/>
              </a:rPr>
              <a:t>is</a:t>
            </a:r>
            <a:r>
              <a:rPr sz="2800" spc="395" dirty="0">
                <a:latin typeface="Calibri"/>
                <a:cs typeface="Calibri"/>
              </a:rPr>
              <a:t> </a:t>
            </a:r>
            <a:r>
              <a:rPr sz="2800" spc="-20" dirty="0">
                <a:latin typeface="Calibri"/>
                <a:cs typeface="Calibri"/>
              </a:rPr>
              <a:t>yes, </a:t>
            </a:r>
            <a:r>
              <a:rPr sz="2800" dirty="0">
                <a:latin typeface="Calibri"/>
                <a:cs typeface="Calibri"/>
              </a:rPr>
              <a:t>assume</a:t>
            </a:r>
            <a:r>
              <a:rPr sz="2800" spc="340" dirty="0">
                <a:latin typeface="Calibri"/>
                <a:cs typeface="Calibri"/>
              </a:rPr>
              <a:t> </a:t>
            </a:r>
            <a:r>
              <a:rPr sz="2800" dirty="0">
                <a:latin typeface="Calibri"/>
                <a:cs typeface="Calibri"/>
              </a:rPr>
              <a:t>the</a:t>
            </a:r>
            <a:r>
              <a:rPr sz="2800" spc="345" dirty="0">
                <a:latin typeface="Calibri"/>
                <a:cs typeface="Calibri"/>
              </a:rPr>
              <a:t> </a:t>
            </a:r>
            <a:r>
              <a:rPr sz="2800" dirty="0">
                <a:latin typeface="Calibri"/>
                <a:cs typeface="Calibri"/>
              </a:rPr>
              <a:t>project</a:t>
            </a:r>
            <a:r>
              <a:rPr sz="2800" spc="340" dirty="0">
                <a:latin typeface="Calibri"/>
                <a:cs typeface="Calibri"/>
              </a:rPr>
              <a:t> </a:t>
            </a:r>
            <a:r>
              <a:rPr sz="2800" dirty="0">
                <a:latin typeface="Calibri"/>
                <a:cs typeface="Calibri"/>
              </a:rPr>
              <a:t>is</a:t>
            </a:r>
            <a:r>
              <a:rPr sz="2800" spc="350" dirty="0">
                <a:latin typeface="Calibri"/>
                <a:cs typeface="Calibri"/>
              </a:rPr>
              <a:t> </a:t>
            </a:r>
            <a:r>
              <a:rPr sz="2800" dirty="0">
                <a:latin typeface="Calibri"/>
                <a:cs typeface="Calibri"/>
              </a:rPr>
              <a:t>time</a:t>
            </a:r>
            <a:r>
              <a:rPr sz="2800" spc="345" dirty="0">
                <a:latin typeface="Calibri"/>
                <a:cs typeface="Calibri"/>
              </a:rPr>
              <a:t> </a:t>
            </a:r>
            <a:r>
              <a:rPr sz="2800" dirty="0">
                <a:latin typeface="Calibri"/>
                <a:cs typeface="Calibri"/>
              </a:rPr>
              <a:t>constrained;</a:t>
            </a:r>
            <a:r>
              <a:rPr sz="2800" spc="345" dirty="0">
                <a:latin typeface="Calibri"/>
                <a:cs typeface="Calibri"/>
              </a:rPr>
              <a:t> </a:t>
            </a:r>
            <a:r>
              <a:rPr sz="2800" dirty="0">
                <a:latin typeface="Calibri"/>
                <a:cs typeface="Calibri"/>
              </a:rPr>
              <a:t>if</a:t>
            </a:r>
            <a:r>
              <a:rPr sz="2800" spc="340" dirty="0">
                <a:latin typeface="Calibri"/>
                <a:cs typeface="Calibri"/>
              </a:rPr>
              <a:t> </a:t>
            </a:r>
            <a:r>
              <a:rPr sz="2800" dirty="0">
                <a:latin typeface="Calibri"/>
                <a:cs typeface="Calibri"/>
              </a:rPr>
              <a:t>no,</a:t>
            </a:r>
            <a:r>
              <a:rPr sz="2800" spc="345" dirty="0">
                <a:latin typeface="Calibri"/>
                <a:cs typeface="Calibri"/>
              </a:rPr>
              <a:t> </a:t>
            </a:r>
            <a:r>
              <a:rPr sz="2800" dirty="0">
                <a:latin typeface="Calibri"/>
                <a:cs typeface="Calibri"/>
              </a:rPr>
              <a:t>assume</a:t>
            </a:r>
            <a:r>
              <a:rPr sz="2800" spc="345" dirty="0">
                <a:latin typeface="Calibri"/>
                <a:cs typeface="Calibri"/>
              </a:rPr>
              <a:t> </a:t>
            </a:r>
            <a:r>
              <a:rPr sz="2800" dirty="0">
                <a:latin typeface="Calibri"/>
                <a:cs typeface="Calibri"/>
              </a:rPr>
              <a:t>the</a:t>
            </a:r>
            <a:r>
              <a:rPr sz="2800" spc="345" dirty="0">
                <a:latin typeface="Calibri"/>
                <a:cs typeface="Calibri"/>
              </a:rPr>
              <a:t> </a:t>
            </a:r>
            <a:r>
              <a:rPr sz="2800" dirty="0">
                <a:latin typeface="Calibri"/>
                <a:cs typeface="Calibri"/>
              </a:rPr>
              <a:t>project</a:t>
            </a:r>
            <a:r>
              <a:rPr sz="2800" spc="340" dirty="0">
                <a:latin typeface="Calibri"/>
                <a:cs typeface="Calibri"/>
              </a:rPr>
              <a:t> </a:t>
            </a:r>
            <a:r>
              <a:rPr sz="2800" spc="-25" dirty="0">
                <a:latin typeface="Calibri"/>
                <a:cs typeface="Calibri"/>
              </a:rPr>
              <a:t>is </a:t>
            </a:r>
            <a:r>
              <a:rPr sz="2800" dirty="0">
                <a:latin typeface="Calibri"/>
                <a:cs typeface="Calibri"/>
              </a:rPr>
              <a:t>resource</a:t>
            </a:r>
            <a:r>
              <a:rPr sz="2800" spc="-140" dirty="0">
                <a:latin typeface="Calibri"/>
                <a:cs typeface="Calibri"/>
              </a:rPr>
              <a:t> </a:t>
            </a:r>
            <a:r>
              <a:rPr sz="2800" spc="-10" dirty="0">
                <a:latin typeface="Calibri"/>
                <a:cs typeface="Calibri"/>
              </a:rPr>
              <a:t>constrained.</a:t>
            </a:r>
            <a:endParaRPr sz="2800" dirty="0">
              <a:latin typeface="Calibri"/>
              <a:cs typeface="Calibri"/>
            </a:endParaRPr>
          </a:p>
          <a:p>
            <a:pPr marL="241300" marR="5080" indent="-228600" algn="just">
              <a:lnSpc>
                <a:spcPct val="80200"/>
              </a:lnSpc>
              <a:spcBef>
                <a:spcPts val="905"/>
              </a:spcBef>
              <a:buFont typeface="Arial MT"/>
              <a:buChar char="•"/>
              <a:tabLst>
                <a:tab pos="241300" algn="l"/>
              </a:tabLst>
            </a:pPr>
            <a:r>
              <a:rPr sz="2800" dirty="0">
                <a:latin typeface="Calibri"/>
                <a:cs typeface="Calibri"/>
              </a:rPr>
              <a:t>A</a:t>
            </a:r>
            <a:r>
              <a:rPr sz="2800" spc="670" dirty="0">
                <a:latin typeface="Calibri"/>
                <a:cs typeface="Calibri"/>
              </a:rPr>
              <a:t> </a:t>
            </a:r>
            <a:r>
              <a:rPr sz="2800" b="1" spc="-10" dirty="0">
                <a:solidFill>
                  <a:srgbClr val="C00000"/>
                </a:solidFill>
                <a:latin typeface="Calibri"/>
                <a:cs typeface="Calibri"/>
              </a:rPr>
              <a:t>time-</a:t>
            </a:r>
            <a:r>
              <a:rPr sz="2800" b="1" dirty="0">
                <a:solidFill>
                  <a:srgbClr val="C00000"/>
                </a:solidFill>
                <a:latin typeface="Calibri"/>
                <a:cs typeface="Calibri"/>
              </a:rPr>
              <a:t>constrained</a:t>
            </a:r>
            <a:r>
              <a:rPr sz="2800" b="1" spc="665" dirty="0">
                <a:solidFill>
                  <a:srgbClr val="C00000"/>
                </a:solidFill>
                <a:latin typeface="Calibri"/>
                <a:cs typeface="Calibri"/>
              </a:rPr>
              <a:t> </a:t>
            </a:r>
            <a:r>
              <a:rPr sz="2800" b="1" dirty="0">
                <a:solidFill>
                  <a:srgbClr val="C00000"/>
                </a:solidFill>
                <a:latin typeface="Calibri"/>
                <a:cs typeface="Calibri"/>
              </a:rPr>
              <a:t>project</a:t>
            </a:r>
            <a:r>
              <a:rPr sz="2800" b="1" spc="675" dirty="0">
                <a:solidFill>
                  <a:srgbClr val="C00000"/>
                </a:solidFill>
                <a:latin typeface="Calibri"/>
                <a:cs typeface="Calibri"/>
              </a:rPr>
              <a:t> </a:t>
            </a:r>
            <a:r>
              <a:rPr sz="2800" dirty="0">
                <a:latin typeface="Calibri"/>
                <a:cs typeface="Calibri"/>
              </a:rPr>
              <a:t>is</a:t>
            </a:r>
            <a:r>
              <a:rPr sz="2800" spc="670" dirty="0">
                <a:latin typeface="Calibri"/>
                <a:cs typeface="Calibri"/>
              </a:rPr>
              <a:t> </a:t>
            </a:r>
            <a:r>
              <a:rPr sz="2800" dirty="0">
                <a:latin typeface="Calibri"/>
                <a:cs typeface="Calibri"/>
              </a:rPr>
              <a:t>one</a:t>
            </a:r>
            <a:r>
              <a:rPr sz="2800" spc="660" dirty="0">
                <a:latin typeface="Calibri"/>
                <a:cs typeface="Calibri"/>
              </a:rPr>
              <a:t> </a:t>
            </a:r>
            <a:r>
              <a:rPr sz="2800" dirty="0">
                <a:latin typeface="Calibri"/>
                <a:cs typeface="Calibri"/>
              </a:rPr>
              <a:t>that</a:t>
            </a:r>
            <a:r>
              <a:rPr sz="2800" spc="665" dirty="0">
                <a:latin typeface="Calibri"/>
                <a:cs typeface="Calibri"/>
              </a:rPr>
              <a:t> </a:t>
            </a:r>
            <a:r>
              <a:rPr sz="2800" dirty="0">
                <a:latin typeface="Calibri"/>
                <a:cs typeface="Calibri"/>
              </a:rPr>
              <a:t>must</a:t>
            </a:r>
            <a:r>
              <a:rPr sz="2800" spc="670" dirty="0">
                <a:latin typeface="Calibri"/>
                <a:cs typeface="Calibri"/>
              </a:rPr>
              <a:t> </a:t>
            </a:r>
            <a:r>
              <a:rPr sz="2800" dirty="0">
                <a:latin typeface="Calibri"/>
                <a:cs typeface="Calibri"/>
              </a:rPr>
              <a:t>be</a:t>
            </a:r>
            <a:r>
              <a:rPr sz="2800" spc="660" dirty="0">
                <a:latin typeface="Calibri"/>
                <a:cs typeface="Calibri"/>
              </a:rPr>
              <a:t> </a:t>
            </a:r>
            <a:r>
              <a:rPr sz="2800" dirty="0">
                <a:latin typeface="Calibri"/>
                <a:cs typeface="Calibri"/>
              </a:rPr>
              <a:t>completed</a:t>
            </a:r>
            <a:r>
              <a:rPr sz="2800" spc="675" dirty="0">
                <a:latin typeface="Calibri"/>
                <a:cs typeface="Calibri"/>
              </a:rPr>
              <a:t> </a:t>
            </a:r>
            <a:r>
              <a:rPr sz="2800" dirty="0">
                <a:latin typeface="Calibri"/>
                <a:cs typeface="Calibri"/>
              </a:rPr>
              <a:t>by</a:t>
            </a:r>
            <a:r>
              <a:rPr sz="2800" spc="660" dirty="0">
                <a:latin typeface="Calibri"/>
                <a:cs typeface="Calibri"/>
              </a:rPr>
              <a:t> </a:t>
            </a:r>
            <a:r>
              <a:rPr sz="2800" spc="-25" dirty="0">
                <a:latin typeface="Calibri"/>
                <a:cs typeface="Calibri"/>
              </a:rPr>
              <a:t>an </a:t>
            </a:r>
            <a:r>
              <a:rPr sz="2800" dirty="0">
                <a:latin typeface="Calibri"/>
                <a:cs typeface="Calibri"/>
              </a:rPr>
              <a:t>imposed</a:t>
            </a:r>
            <a:r>
              <a:rPr sz="2800" spc="695" dirty="0">
                <a:latin typeface="Calibri"/>
                <a:cs typeface="Calibri"/>
              </a:rPr>
              <a:t> </a:t>
            </a:r>
            <a:r>
              <a:rPr sz="2800" dirty="0">
                <a:latin typeface="Calibri"/>
                <a:cs typeface="Calibri"/>
              </a:rPr>
              <a:t>date.</a:t>
            </a:r>
            <a:r>
              <a:rPr sz="2800" spc="30" dirty="0">
                <a:latin typeface="Calibri"/>
                <a:cs typeface="Calibri"/>
              </a:rPr>
              <a:t>  </a:t>
            </a:r>
            <a:r>
              <a:rPr sz="2800" dirty="0">
                <a:latin typeface="Calibri"/>
                <a:cs typeface="Calibri"/>
              </a:rPr>
              <a:t>If</a:t>
            </a:r>
            <a:r>
              <a:rPr sz="2800" spc="695" dirty="0">
                <a:latin typeface="Calibri"/>
                <a:cs typeface="Calibri"/>
              </a:rPr>
              <a:t> </a:t>
            </a:r>
            <a:r>
              <a:rPr sz="2800" dirty="0">
                <a:latin typeface="Calibri"/>
                <a:cs typeface="Calibri"/>
              </a:rPr>
              <a:t>required,</a:t>
            </a:r>
            <a:r>
              <a:rPr sz="2800" spc="695" dirty="0">
                <a:latin typeface="Calibri"/>
                <a:cs typeface="Calibri"/>
              </a:rPr>
              <a:t> </a:t>
            </a:r>
            <a:r>
              <a:rPr sz="2800" dirty="0">
                <a:latin typeface="Calibri"/>
                <a:cs typeface="Calibri"/>
              </a:rPr>
              <a:t>resources</a:t>
            </a:r>
            <a:r>
              <a:rPr sz="2800" spc="690" dirty="0">
                <a:latin typeface="Calibri"/>
                <a:cs typeface="Calibri"/>
              </a:rPr>
              <a:t> </a:t>
            </a:r>
            <a:r>
              <a:rPr sz="2800" dirty="0">
                <a:latin typeface="Calibri"/>
                <a:cs typeface="Calibri"/>
              </a:rPr>
              <a:t>can</a:t>
            </a:r>
            <a:r>
              <a:rPr sz="2800" spc="30" dirty="0">
                <a:latin typeface="Calibri"/>
                <a:cs typeface="Calibri"/>
              </a:rPr>
              <a:t>  </a:t>
            </a:r>
            <a:r>
              <a:rPr sz="2800" dirty="0">
                <a:latin typeface="Calibri"/>
                <a:cs typeface="Calibri"/>
              </a:rPr>
              <a:t>be</a:t>
            </a:r>
            <a:r>
              <a:rPr sz="2800" spc="690" dirty="0">
                <a:latin typeface="Calibri"/>
                <a:cs typeface="Calibri"/>
              </a:rPr>
              <a:t> </a:t>
            </a:r>
            <a:r>
              <a:rPr sz="2800" dirty="0">
                <a:latin typeface="Calibri"/>
                <a:cs typeface="Calibri"/>
              </a:rPr>
              <a:t>added</a:t>
            </a:r>
            <a:r>
              <a:rPr sz="2800" spc="695" dirty="0">
                <a:latin typeface="Calibri"/>
                <a:cs typeface="Calibri"/>
              </a:rPr>
              <a:t> </a:t>
            </a:r>
            <a:r>
              <a:rPr sz="2800" dirty="0">
                <a:latin typeface="Calibri"/>
                <a:cs typeface="Calibri"/>
              </a:rPr>
              <a:t>to</a:t>
            </a:r>
            <a:r>
              <a:rPr sz="2800" spc="695" dirty="0">
                <a:latin typeface="Calibri"/>
                <a:cs typeface="Calibri"/>
              </a:rPr>
              <a:t> </a:t>
            </a:r>
            <a:r>
              <a:rPr sz="2800" dirty="0">
                <a:latin typeface="Calibri"/>
                <a:cs typeface="Calibri"/>
              </a:rPr>
              <a:t>ensure</a:t>
            </a:r>
            <a:r>
              <a:rPr sz="2800" spc="695" dirty="0">
                <a:latin typeface="Calibri"/>
                <a:cs typeface="Calibri"/>
              </a:rPr>
              <a:t> </a:t>
            </a:r>
            <a:r>
              <a:rPr sz="2800" spc="-25" dirty="0">
                <a:latin typeface="Calibri"/>
                <a:cs typeface="Calibri"/>
              </a:rPr>
              <a:t>the </a:t>
            </a:r>
            <a:r>
              <a:rPr sz="2800" dirty="0">
                <a:latin typeface="Calibri"/>
                <a:cs typeface="Calibri"/>
              </a:rPr>
              <a:t>project</a:t>
            </a:r>
            <a:r>
              <a:rPr sz="2800" spc="30" dirty="0">
                <a:latin typeface="Calibri"/>
                <a:cs typeface="Calibri"/>
              </a:rPr>
              <a:t>  </a:t>
            </a:r>
            <a:r>
              <a:rPr sz="2800" dirty="0">
                <a:latin typeface="Calibri"/>
                <a:cs typeface="Calibri"/>
              </a:rPr>
              <a:t>is</a:t>
            </a:r>
            <a:r>
              <a:rPr sz="2800" spc="35" dirty="0">
                <a:latin typeface="Calibri"/>
                <a:cs typeface="Calibri"/>
              </a:rPr>
              <a:t>  </a:t>
            </a:r>
            <a:r>
              <a:rPr sz="2800" dirty="0">
                <a:latin typeface="Calibri"/>
                <a:cs typeface="Calibri"/>
              </a:rPr>
              <a:t>completed</a:t>
            </a:r>
            <a:r>
              <a:rPr sz="2800" spc="35" dirty="0">
                <a:latin typeface="Calibri"/>
                <a:cs typeface="Calibri"/>
              </a:rPr>
              <a:t>  </a:t>
            </a:r>
            <a:r>
              <a:rPr sz="2800" dirty="0">
                <a:latin typeface="Calibri"/>
                <a:cs typeface="Calibri"/>
              </a:rPr>
              <a:t>by</a:t>
            </a:r>
            <a:r>
              <a:rPr sz="2800" spc="695" dirty="0">
                <a:latin typeface="Calibri"/>
                <a:cs typeface="Calibri"/>
              </a:rPr>
              <a:t> </a:t>
            </a:r>
            <a:r>
              <a:rPr sz="2800" dirty="0">
                <a:latin typeface="Calibri"/>
                <a:cs typeface="Calibri"/>
              </a:rPr>
              <a:t>a</a:t>
            </a:r>
            <a:r>
              <a:rPr sz="2800" spc="695" dirty="0">
                <a:latin typeface="Calibri"/>
                <a:cs typeface="Calibri"/>
              </a:rPr>
              <a:t> </a:t>
            </a:r>
            <a:r>
              <a:rPr sz="2800" dirty="0">
                <a:latin typeface="Calibri"/>
                <a:cs typeface="Calibri"/>
              </a:rPr>
              <a:t>specific</a:t>
            </a:r>
            <a:r>
              <a:rPr sz="2800" spc="30" dirty="0">
                <a:latin typeface="Calibri"/>
                <a:cs typeface="Calibri"/>
              </a:rPr>
              <a:t>  </a:t>
            </a:r>
            <a:r>
              <a:rPr sz="2800" dirty="0">
                <a:latin typeface="Calibri"/>
                <a:cs typeface="Calibri"/>
              </a:rPr>
              <a:t>date.</a:t>
            </a:r>
            <a:r>
              <a:rPr sz="2800" spc="35" dirty="0">
                <a:latin typeface="Calibri"/>
                <a:cs typeface="Calibri"/>
              </a:rPr>
              <a:t>  </a:t>
            </a:r>
            <a:r>
              <a:rPr sz="2800" dirty="0">
                <a:latin typeface="Calibri"/>
                <a:cs typeface="Calibri"/>
              </a:rPr>
              <a:t>This</a:t>
            </a:r>
            <a:r>
              <a:rPr sz="2800" spc="35" dirty="0">
                <a:latin typeface="Calibri"/>
                <a:cs typeface="Calibri"/>
              </a:rPr>
              <a:t>  </a:t>
            </a:r>
            <a:r>
              <a:rPr sz="2800" dirty="0">
                <a:latin typeface="Calibri"/>
                <a:cs typeface="Calibri"/>
              </a:rPr>
              <a:t>means</a:t>
            </a:r>
            <a:r>
              <a:rPr sz="2800" spc="35" dirty="0">
                <a:latin typeface="Calibri"/>
                <a:cs typeface="Calibri"/>
              </a:rPr>
              <a:t>  </a:t>
            </a:r>
            <a:r>
              <a:rPr sz="2800" dirty="0">
                <a:latin typeface="Calibri"/>
                <a:cs typeface="Calibri"/>
              </a:rPr>
              <a:t>time</a:t>
            </a:r>
            <a:r>
              <a:rPr sz="2800" spc="695" dirty="0">
                <a:latin typeface="Calibri"/>
                <a:cs typeface="Calibri"/>
              </a:rPr>
              <a:t> </a:t>
            </a:r>
            <a:r>
              <a:rPr sz="2800" spc="-10" dirty="0">
                <a:latin typeface="Calibri"/>
                <a:cs typeface="Calibri"/>
              </a:rPr>
              <a:t>(project duration)</a:t>
            </a:r>
            <a:r>
              <a:rPr sz="2800" spc="-70" dirty="0">
                <a:latin typeface="Calibri"/>
                <a:cs typeface="Calibri"/>
              </a:rPr>
              <a:t> </a:t>
            </a:r>
            <a:r>
              <a:rPr sz="2800" dirty="0">
                <a:latin typeface="Calibri"/>
                <a:cs typeface="Calibri"/>
              </a:rPr>
              <a:t>is</a:t>
            </a:r>
            <a:r>
              <a:rPr sz="2800" spc="-60" dirty="0">
                <a:latin typeface="Calibri"/>
                <a:cs typeface="Calibri"/>
              </a:rPr>
              <a:t> </a:t>
            </a:r>
            <a:r>
              <a:rPr sz="2800" dirty="0">
                <a:latin typeface="Calibri"/>
                <a:cs typeface="Calibri"/>
              </a:rPr>
              <a:t>fixed</a:t>
            </a:r>
            <a:r>
              <a:rPr sz="2800" spc="-65" dirty="0">
                <a:latin typeface="Calibri"/>
                <a:cs typeface="Calibri"/>
              </a:rPr>
              <a:t> </a:t>
            </a:r>
            <a:r>
              <a:rPr sz="2800" dirty="0">
                <a:latin typeface="Calibri"/>
                <a:cs typeface="Calibri"/>
              </a:rPr>
              <a:t>and</a:t>
            </a:r>
            <a:r>
              <a:rPr sz="2800" spc="-60" dirty="0">
                <a:latin typeface="Calibri"/>
                <a:cs typeface="Calibri"/>
              </a:rPr>
              <a:t> </a:t>
            </a:r>
            <a:r>
              <a:rPr sz="2800" dirty="0">
                <a:latin typeface="Calibri"/>
                <a:cs typeface="Calibri"/>
              </a:rPr>
              <a:t>resources</a:t>
            </a:r>
            <a:r>
              <a:rPr sz="2800" spc="-65" dirty="0">
                <a:latin typeface="Calibri"/>
                <a:cs typeface="Calibri"/>
              </a:rPr>
              <a:t> </a:t>
            </a:r>
            <a:r>
              <a:rPr sz="2800" dirty="0">
                <a:latin typeface="Calibri"/>
                <a:cs typeface="Calibri"/>
              </a:rPr>
              <a:t>are</a:t>
            </a:r>
            <a:r>
              <a:rPr sz="2800" spc="-70" dirty="0">
                <a:latin typeface="Calibri"/>
                <a:cs typeface="Calibri"/>
              </a:rPr>
              <a:t> </a:t>
            </a:r>
            <a:r>
              <a:rPr sz="2800" spc="-10" dirty="0">
                <a:latin typeface="Calibri"/>
                <a:cs typeface="Calibri"/>
              </a:rPr>
              <a:t>flexible.</a:t>
            </a:r>
            <a:endParaRPr sz="2800" dirty="0">
              <a:latin typeface="Calibri"/>
              <a:cs typeface="Calibri"/>
            </a:endParaRPr>
          </a:p>
          <a:p>
            <a:pPr marL="241300" marR="5080" indent="-228600" algn="just">
              <a:lnSpc>
                <a:spcPct val="80500"/>
              </a:lnSpc>
              <a:spcBef>
                <a:spcPts val="994"/>
              </a:spcBef>
              <a:buFont typeface="Arial MT"/>
              <a:buChar char="•"/>
              <a:tabLst>
                <a:tab pos="241300" algn="l"/>
              </a:tabLst>
            </a:pPr>
            <a:r>
              <a:rPr sz="2800" dirty="0">
                <a:latin typeface="Calibri"/>
                <a:cs typeface="Calibri"/>
              </a:rPr>
              <a:t>A</a:t>
            </a:r>
            <a:r>
              <a:rPr sz="2800" spc="114" dirty="0">
                <a:latin typeface="Calibri"/>
                <a:cs typeface="Calibri"/>
              </a:rPr>
              <a:t>  </a:t>
            </a:r>
            <a:r>
              <a:rPr sz="2800" b="1" spc="-25" dirty="0">
                <a:solidFill>
                  <a:srgbClr val="C00000"/>
                </a:solidFill>
                <a:latin typeface="Calibri"/>
                <a:cs typeface="Calibri"/>
              </a:rPr>
              <a:t>resource-</a:t>
            </a:r>
            <a:r>
              <a:rPr sz="2800" b="1" dirty="0">
                <a:solidFill>
                  <a:srgbClr val="C00000"/>
                </a:solidFill>
                <a:latin typeface="Calibri"/>
                <a:cs typeface="Calibri"/>
              </a:rPr>
              <a:t>constrained</a:t>
            </a:r>
            <a:r>
              <a:rPr sz="2800" b="1" spc="114" dirty="0">
                <a:solidFill>
                  <a:srgbClr val="C00000"/>
                </a:solidFill>
                <a:latin typeface="Calibri"/>
                <a:cs typeface="Calibri"/>
              </a:rPr>
              <a:t>  </a:t>
            </a:r>
            <a:r>
              <a:rPr sz="2800" b="1" dirty="0">
                <a:solidFill>
                  <a:srgbClr val="C00000"/>
                </a:solidFill>
                <a:latin typeface="Calibri"/>
                <a:cs typeface="Calibri"/>
              </a:rPr>
              <a:t>project</a:t>
            </a:r>
            <a:r>
              <a:rPr sz="2800" b="1" spc="125" dirty="0">
                <a:solidFill>
                  <a:srgbClr val="C00000"/>
                </a:solidFill>
                <a:latin typeface="Calibri"/>
                <a:cs typeface="Calibri"/>
              </a:rPr>
              <a:t>  </a:t>
            </a:r>
            <a:r>
              <a:rPr sz="2800" dirty="0">
                <a:latin typeface="Calibri"/>
                <a:cs typeface="Calibri"/>
              </a:rPr>
              <a:t>is</a:t>
            </a:r>
            <a:r>
              <a:rPr sz="2800" spc="114" dirty="0">
                <a:latin typeface="Calibri"/>
                <a:cs typeface="Calibri"/>
              </a:rPr>
              <a:t>  </a:t>
            </a:r>
            <a:r>
              <a:rPr sz="2800" dirty="0">
                <a:latin typeface="Calibri"/>
                <a:cs typeface="Calibri"/>
              </a:rPr>
              <a:t>one</a:t>
            </a:r>
            <a:r>
              <a:rPr sz="2800" spc="114" dirty="0">
                <a:latin typeface="Calibri"/>
                <a:cs typeface="Calibri"/>
              </a:rPr>
              <a:t>  </a:t>
            </a:r>
            <a:r>
              <a:rPr sz="2800" dirty="0">
                <a:latin typeface="Calibri"/>
                <a:cs typeface="Calibri"/>
              </a:rPr>
              <a:t>that</a:t>
            </a:r>
            <a:r>
              <a:rPr sz="2800" spc="120" dirty="0">
                <a:latin typeface="Calibri"/>
                <a:cs typeface="Calibri"/>
              </a:rPr>
              <a:t>  </a:t>
            </a:r>
            <a:r>
              <a:rPr sz="2800" dirty="0">
                <a:latin typeface="Calibri"/>
                <a:cs typeface="Calibri"/>
              </a:rPr>
              <a:t>assumes</a:t>
            </a:r>
            <a:r>
              <a:rPr sz="2800" spc="120" dirty="0">
                <a:latin typeface="Calibri"/>
                <a:cs typeface="Calibri"/>
              </a:rPr>
              <a:t>  </a:t>
            </a:r>
            <a:r>
              <a:rPr sz="2800" dirty="0">
                <a:latin typeface="Calibri"/>
                <a:cs typeface="Calibri"/>
              </a:rPr>
              <a:t>the</a:t>
            </a:r>
            <a:r>
              <a:rPr sz="2800" spc="114" dirty="0">
                <a:latin typeface="Calibri"/>
                <a:cs typeface="Calibri"/>
              </a:rPr>
              <a:t>  </a:t>
            </a:r>
            <a:r>
              <a:rPr sz="2800" dirty="0">
                <a:latin typeface="Calibri"/>
                <a:cs typeface="Calibri"/>
              </a:rPr>
              <a:t>level</a:t>
            </a:r>
            <a:r>
              <a:rPr sz="2800" spc="114" dirty="0">
                <a:latin typeface="Calibri"/>
                <a:cs typeface="Calibri"/>
              </a:rPr>
              <a:t>  </a:t>
            </a:r>
            <a:r>
              <a:rPr sz="2800" spc="-25" dirty="0">
                <a:latin typeface="Calibri"/>
                <a:cs typeface="Calibri"/>
              </a:rPr>
              <a:t>of </a:t>
            </a:r>
            <a:r>
              <a:rPr sz="2800" dirty="0">
                <a:latin typeface="Calibri"/>
                <a:cs typeface="Calibri"/>
              </a:rPr>
              <a:t>resources</a:t>
            </a:r>
            <a:r>
              <a:rPr sz="2800" spc="395" dirty="0">
                <a:latin typeface="Calibri"/>
                <a:cs typeface="Calibri"/>
              </a:rPr>
              <a:t>  </a:t>
            </a:r>
            <a:r>
              <a:rPr sz="2800" dirty="0">
                <a:latin typeface="Calibri"/>
                <a:cs typeface="Calibri"/>
              </a:rPr>
              <a:t>available</a:t>
            </a:r>
            <a:r>
              <a:rPr sz="2800" spc="395" dirty="0">
                <a:latin typeface="Calibri"/>
                <a:cs typeface="Calibri"/>
              </a:rPr>
              <a:t>  </a:t>
            </a:r>
            <a:r>
              <a:rPr sz="2800" dirty="0">
                <a:latin typeface="Calibri"/>
                <a:cs typeface="Calibri"/>
              </a:rPr>
              <a:t>cannot</a:t>
            </a:r>
            <a:r>
              <a:rPr sz="2800" spc="395" dirty="0">
                <a:latin typeface="Calibri"/>
                <a:cs typeface="Calibri"/>
              </a:rPr>
              <a:t>  </a:t>
            </a:r>
            <a:r>
              <a:rPr sz="2800" dirty="0">
                <a:latin typeface="Calibri"/>
                <a:cs typeface="Calibri"/>
              </a:rPr>
              <a:t>be</a:t>
            </a:r>
            <a:r>
              <a:rPr sz="2800" spc="395" dirty="0">
                <a:latin typeface="Calibri"/>
                <a:cs typeface="Calibri"/>
              </a:rPr>
              <a:t>  </a:t>
            </a:r>
            <a:r>
              <a:rPr sz="2800" dirty="0">
                <a:latin typeface="Calibri"/>
                <a:cs typeface="Calibri"/>
              </a:rPr>
              <a:t>exceeded.</a:t>
            </a:r>
            <a:r>
              <a:rPr sz="2800" spc="405" dirty="0">
                <a:latin typeface="Calibri"/>
                <a:cs typeface="Calibri"/>
              </a:rPr>
              <a:t>  </a:t>
            </a:r>
            <a:r>
              <a:rPr sz="2800" dirty="0">
                <a:latin typeface="Calibri"/>
                <a:cs typeface="Calibri"/>
              </a:rPr>
              <a:t>If</a:t>
            </a:r>
            <a:r>
              <a:rPr sz="2800" spc="395" dirty="0">
                <a:latin typeface="Calibri"/>
                <a:cs typeface="Calibri"/>
              </a:rPr>
              <a:t>  </a:t>
            </a:r>
            <a:r>
              <a:rPr sz="2800" dirty="0">
                <a:latin typeface="Calibri"/>
                <a:cs typeface="Calibri"/>
              </a:rPr>
              <a:t>the</a:t>
            </a:r>
            <a:r>
              <a:rPr sz="2800" spc="400" dirty="0">
                <a:latin typeface="Calibri"/>
                <a:cs typeface="Calibri"/>
              </a:rPr>
              <a:t>  </a:t>
            </a:r>
            <a:r>
              <a:rPr sz="2800" dirty="0">
                <a:latin typeface="Calibri"/>
                <a:cs typeface="Calibri"/>
              </a:rPr>
              <a:t>resources</a:t>
            </a:r>
            <a:r>
              <a:rPr sz="2800" spc="400" dirty="0">
                <a:latin typeface="Calibri"/>
                <a:cs typeface="Calibri"/>
              </a:rPr>
              <a:t>  </a:t>
            </a:r>
            <a:r>
              <a:rPr sz="2800" spc="-25" dirty="0">
                <a:latin typeface="Calibri"/>
                <a:cs typeface="Calibri"/>
              </a:rPr>
              <a:t>are </a:t>
            </a:r>
            <a:r>
              <a:rPr sz="2800" dirty="0">
                <a:latin typeface="Calibri"/>
                <a:cs typeface="Calibri"/>
              </a:rPr>
              <a:t>inadequate,</a:t>
            </a:r>
            <a:r>
              <a:rPr sz="2800" spc="610" dirty="0">
                <a:latin typeface="Calibri"/>
                <a:cs typeface="Calibri"/>
              </a:rPr>
              <a:t> </a:t>
            </a:r>
            <a:r>
              <a:rPr sz="2800" dirty="0">
                <a:latin typeface="Calibri"/>
                <a:cs typeface="Calibri"/>
              </a:rPr>
              <a:t>it</a:t>
            </a:r>
            <a:r>
              <a:rPr sz="2800" spc="605" dirty="0">
                <a:latin typeface="Calibri"/>
                <a:cs typeface="Calibri"/>
              </a:rPr>
              <a:t> </a:t>
            </a:r>
            <a:r>
              <a:rPr sz="2800" dirty="0">
                <a:latin typeface="Calibri"/>
                <a:cs typeface="Calibri"/>
              </a:rPr>
              <a:t>will</a:t>
            </a:r>
            <a:r>
              <a:rPr sz="2800" spc="610" dirty="0">
                <a:latin typeface="Calibri"/>
                <a:cs typeface="Calibri"/>
              </a:rPr>
              <a:t> </a:t>
            </a:r>
            <a:r>
              <a:rPr sz="2800" dirty="0">
                <a:latin typeface="Calibri"/>
                <a:cs typeface="Calibri"/>
              </a:rPr>
              <a:t>be</a:t>
            </a:r>
            <a:r>
              <a:rPr sz="2800" spc="605" dirty="0">
                <a:latin typeface="Calibri"/>
                <a:cs typeface="Calibri"/>
              </a:rPr>
              <a:t> </a:t>
            </a:r>
            <a:r>
              <a:rPr sz="2800" dirty="0">
                <a:latin typeface="Calibri"/>
                <a:cs typeface="Calibri"/>
              </a:rPr>
              <a:t>acceptable</a:t>
            </a:r>
            <a:r>
              <a:rPr sz="2800" spc="600" dirty="0">
                <a:latin typeface="Calibri"/>
                <a:cs typeface="Calibri"/>
              </a:rPr>
              <a:t> </a:t>
            </a:r>
            <a:r>
              <a:rPr sz="2800" dirty="0">
                <a:latin typeface="Calibri"/>
                <a:cs typeface="Calibri"/>
              </a:rPr>
              <a:t>to</a:t>
            </a:r>
            <a:r>
              <a:rPr sz="2800" spc="610" dirty="0">
                <a:latin typeface="Calibri"/>
                <a:cs typeface="Calibri"/>
              </a:rPr>
              <a:t> </a:t>
            </a:r>
            <a:r>
              <a:rPr sz="2800" dirty="0">
                <a:latin typeface="Calibri"/>
                <a:cs typeface="Calibri"/>
              </a:rPr>
              <a:t>delay</a:t>
            </a:r>
            <a:r>
              <a:rPr sz="2800" spc="605" dirty="0">
                <a:latin typeface="Calibri"/>
                <a:cs typeface="Calibri"/>
              </a:rPr>
              <a:t> </a:t>
            </a:r>
            <a:r>
              <a:rPr sz="2800" dirty="0">
                <a:latin typeface="Calibri"/>
                <a:cs typeface="Calibri"/>
              </a:rPr>
              <a:t>the</a:t>
            </a:r>
            <a:r>
              <a:rPr sz="2800" spc="605" dirty="0">
                <a:latin typeface="Calibri"/>
                <a:cs typeface="Calibri"/>
              </a:rPr>
              <a:t> </a:t>
            </a:r>
            <a:r>
              <a:rPr sz="2800" dirty="0">
                <a:latin typeface="Calibri"/>
                <a:cs typeface="Calibri"/>
              </a:rPr>
              <a:t>project.</a:t>
            </a:r>
            <a:r>
              <a:rPr sz="2800" spc="615" dirty="0">
                <a:latin typeface="Calibri"/>
                <a:cs typeface="Calibri"/>
              </a:rPr>
              <a:t> </a:t>
            </a:r>
            <a:r>
              <a:rPr sz="2800" dirty="0">
                <a:latin typeface="Calibri"/>
                <a:cs typeface="Calibri"/>
              </a:rPr>
              <a:t>This</a:t>
            </a:r>
            <a:r>
              <a:rPr sz="2800" spc="615" dirty="0">
                <a:latin typeface="Calibri"/>
                <a:cs typeface="Calibri"/>
              </a:rPr>
              <a:t> </a:t>
            </a:r>
            <a:r>
              <a:rPr sz="2800" spc="-10" dirty="0">
                <a:latin typeface="Calibri"/>
                <a:cs typeface="Calibri"/>
              </a:rPr>
              <a:t>means </a:t>
            </a:r>
            <a:r>
              <a:rPr sz="2800" dirty="0">
                <a:latin typeface="Calibri"/>
                <a:cs typeface="Calibri"/>
              </a:rPr>
              <a:t>resources</a:t>
            </a:r>
            <a:r>
              <a:rPr sz="2800" spc="-75" dirty="0">
                <a:latin typeface="Calibri"/>
                <a:cs typeface="Calibri"/>
              </a:rPr>
              <a:t> </a:t>
            </a:r>
            <a:r>
              <a:rPr sz="2800" dirty="0">
                <a:latin typeface="Calibri"/>
                <a:cs typeface="Calibri"/>
              </a:rPr>
              <a:t>are</a:t>
            </a:r>
            <a:r>
              <a:rPr sz="2800" spc="-65" dirty="0">
                <a:latin typeface="Calibri"/>
                <a:cs typeface="Calibri"/>
              </a:rPr>
              <a:t> </a:t>
            </a:r>
            <a:r>
              <a:rPr sz="2800" dirty="0">
                <a:latin typeface="Calibri"/>
                <a:cs typeface="Calibri"/>
              </a:rPr>
              <a:t>fixed</a:t>
            </a:r>
            <a:r>
              <a:rPr sz="2800" spc="-60" dirty="0">
                <a:latin typeface="Calibri"/>
                <a:cs typeface="Calibri"/>
              </a:rPr>
              <a:t> </a:t>
            </a:r>
            <a:r>
              <a:rPr sz="2800" dirty="0">
                <a:latin typeface="Calibri"/>
                <a:cs typeface="Calibri"/>
              </a:rPr>
              <a:t>and</a:t>
            </a:r>
            <a:r>
              <a:rPr sz="2800" spc="-55" dirty="0">
                <a:latin typeface="Calibri"/>
                <a:cs typeface="Calibri"/>
              </a:rPr>
              <a:t> </a:t>
            </a:r>
            <a:r>
              <a:rPr sz="2800" dirty="0">
                <a:latin typeface="Calibri"/>
                <a:cs typeface="Calibri"/>
              </a:rPr>
              <a:t>time</a:t>
            </a:r>
            <a:r>
              <a:rPr sz="2800" spc="-60" dirty="0">
                <a:latin typeface="Calibri"/>
                <a:cs typeface="Calibri"/>
              </a:rPr>
              <a:t> </a:t>
            </a:r>
            <a:r>
              <a:rPr sz="2800" dirty="0">
                <a:latin typeface="Calibri"/>
                <a:cs typeface="Calibri"/>
              </a:rPr>
              <a:t>is</a:t>
            </a:r>
            <a:r>
              <a:rPr sz="2800" spc="-60" dirty="0">
                <a:latin typeface="Calibri"/>
                <a:cs typeface="Calibri"/>
              </a:rPr>
              <a:t> </a:t>
            </a:r>
            <a:r>
              <a:rPr sz="2800" dirty="0">
                <a:latin typeface="Calibri"/>
                <a:cs typeface="Calibri"/>
              </a:rPr>
              <a:t>flexible.</a:t>
            </a:r>
            <a:r>
              <a:rPr sz="2800" spc="-50" dirty="0">
                <a:latin typeface="Calibri"/>
                <a:cs typeface="Calibri"/>
              </a:rPr>
              <a:t> .</a:t>
            </a:r>
            <a:endParaRPr sz="2800" dirty="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6</a:t>
            </a:r>
            <a:endParaRPr sz="1200">
              <a:latin typeface="Calibri"/>
              <a:cs typeface="Calibri"/>
            </a:endParaRPr>
          </a:p>
        </p:txBody>
      </p:sp>
      <p:pic>
        <p:nvPicPr>
          <p:cNvPr id="5" name="Picture 4">
            <a:extLst>
              <a:ext uri="{FF2B5EF4-FFF2-40B4-BE49-F238E27FC236}">
                <a16:creationId xmlns:a16="http://schemas.microsoft.com/office/drawing/2014/main" id="{F9635E6C-43C0-EA65-5A03-A0658F54E0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0" dirty="0"/>
              <a:t>Resource</a:t>
            </a:r>
            <a:r>
              <a:rPr spc="130" dirty="0"/>
              <a:t> </a:t>
            </a:r>
            <a:r>
              <a:rPr spc="105" dirty="0"/>
              <a:t>Allocation</a:t>
            </a:r>
            <a:r>
              <a:rPr spc="130" dirty="0"/>
              <a:t> </a:t>
            </a:r>
            <a:r>
              <a:rPr spc="105" dirty="0"/>
              <a:t>Methods</a:t>
            </a:r>
          </a:p>
        </p:txBody>
      </p:sp>
      <p:sp>
        <p:nvSpPr>
          <p:cNvPr id="3" name="object 3"/>
          <p:cNvSpPr txBox="1"/>
          <p:nvPr/>
        </p:nvSpPr>
        <p:spPr>
          <a:xfrm>
            <a:off x="916938" y="1697227"/>
            <a:ext cx="10820400" cy="4124960"/>
          </a:xfrm>
          <a:prstGeom prst="rect">
            <a:avLst/>
          </a:prstGeom>
        </p:spPr>
        <p:txBody>
          <a:bodyPr vert="horz" wrap="square" lIns="0" tIns="85725" rIns="0" bIns="0" rtlCol="0">
            <a:spAutoFit/>
          </a:bodyPr>
          <a:lstStyle/>
          <a:p>
            <a:pPr marL="240665" indent="-227965">
              <a:lnSpc>
                <a:spcPct val="100000"/>
              </a:lnSpc>
              <a:spcBef>
                <a:spcPts val="675"/>
              </a:spcBef>
              <a:buFont typeface="Arial MT"/>
              <a:buChar char="•"/>
              <a:tabLst>
                <a:tab pos="240665" algn="l"/>
              </a:tabLst>
            </a:pPr>
            <a:r>
              <a:rPr sz="3600" b="1" spc="-10" dirty="0">
                <a:latin typeface="Calibri"/>
                <a:cs typeface="Calibri"/>
              </a:rPr>
              <a:t>Assumptions:</a:t>
            </a:r>
            <a:endParaRPr sz="3600" dirty="0">
              <a:latin typeface="Calibri"/>
              <a:cs typeface="Calibri"/>
            </a:endParaRPr>
          </a:p>
          <a:p>
            <a:pPr marL="1400175" lvl="1" indent="-473709">
              <a:lnSpc>
                <a:spcPct val="100000"/>
              </a:lnSpc>
              <a:spcBef>
                <a:spcPts val="575"/>
              </a:spcBef>
              <a:buAutoNum type="arabicPlain"/>
              <a:tabLst>
                <a:tab pos="1400175" algn="l"/>
              </a:tabLst>
            </a:pPr>
            <a:r>
              <a:rPr sz="3600" dirty="0">
                <a:latin typeface="Calibri"/>
                <a:cs typeface="Calibri"/>
              </a:rPr>
              <a:t>Splitting</a:t>
            </a:r>
            <a:r>
              <a:rPr sz="3600" spc="-55" dirty="0">
                <a:latin typeface="Calibri"/>
                <a:cs typeface="Calibri"/>
              </a:rPr>
              <a:t> </a:t>
            </a:r>
            <a:r>
              <a:rPr sz="3600" dirty="0">
                <a:latin typeface="Calibri"/>
                <a:cs typeface="Calibri"/>
              </a:rPr>
              <a:t>activities</a:t>
            </a:r>
            <a:r>
              <a:rPr sz="3600" spc="-55" dirty="0">
                <a:latin typeface="Calibri"/>
                <a:cs typeface="Calibri"/>
              </a:rPr>
              <a:t> </a:t>
            </a:r>
            <a:r>
              <a:rPr sz="3600" dirty="0">
                <a:latin typeface="Calibri"/>
                <a:cs typeface="Calibri"/>
              </a:rPr>
              <a:t>will</a:t>
            </a:r>
            <a:r>
              <a:rPr sz="3600" spc="-60" dirty="0">
                <a:latin typeface="Calibri"/>
                <a:cs typeface="Calibri"/>
              </a:rPr>
              <a:t> </a:t>
            </a:r>
            <a:r>
              <a:rPr sz="3600" dirty="0">
                <a:latin typeface="Calibri"/>
                <a:cs typeface="Calibri"/>
              </a:rPr>
              <a:t>not</a:t>
            </a:r>
            <a:r>
              <a:rPr sz="3600" spc="-65" dirty="0">
                <a:latin typeface="Calibri"/>
                <a:cs typeface="Calibri"/>
              </a:rPr>
              <a:t> </a:t>
            </a:r>
            <a:r>
              <a:rPr sz="3600" dirty="0">
                <a:latin typeface="Calibri"/>
                <a:cs typeface="Calibri"/>
              </a:rPr>
              <a:t>be</a:t>
            </a:r>
            <a:r>
              <a:rPr sz="3600" spc="-65" dirty="0">
                <a:latin typeface="Calibri"/>
                <a:cs typeface="Calibri"/>
              </a:rPr>
              <a:t> </a:t>
            </a:r>
            <a:r>
              <a:rPr sz="3600" spc="-10" dirty="0">
                <a:latin typeface="Calibri"/>
                <a:cs typeface="Calibri"/>
              </a:rPr>
              <a:t>allowed.</a:t>
            </a:r>
            <a:endParaRPr sz="3600" dirty="0">
              <a:latin typeface="Calibri"/>
              <a:cs typeface="Calibri"/>
            </a:endParaRPr>
          </a:p>
          <a:p>
            <a:pPr marL="1439545" marR="5080" lvl="1" indent="-513080">
              <a:lnSpc>
                <a:spcPts val="3910"/>
              </a:lnSpc>
              <a:spcBef>
                <a:spcPts val="1050"/>
              </a:spcBef>
              <a:buAutoNum type="arabicPlain"/>
              <a:tabLst>
                <a:tab pos="1545590" algn="l"/>
              </a:tabLst>
            </a:pPr>
            <a:r>
              <a:rPr sz="3600" dirty="0">
                <a:latin typeface="Calibri"/>
                <a:cs typeface="Calibri"/>
              </a:rPr>
              <a:t>The</a:t>
            </a:r>
            <a:r>
              <a:rPr sz="3600" spc="240" dirty="0">
                <a:latin typeface="Calibri"/>
                <a:cs typeface="Calibri"/>
              </a:rPr>
              <a:t> </a:t>
            </a:r>
            <a:r>
              <a:rPr sz="3600" dirty="0">
                <a:latin typeface="Calibri"/>
                <a:cs typeface="Calibri"/>
              </a:rPr>
              <a:t>level</a:t>
            </a:r>
            <a:r>
              <a:rPr sz="3600" spc="245" dirty="0">
                <a:latin typeface="Calibri"/>
                <a:cs typeface="Calibri"/>
              </a:rPr>
              <a:t> </a:t>
            </a:r>
            <a:r>
              <a:rPr sz="3600" dirty="0">
                <a:latin typeface="Calibri"/>
                <a:cs typeface="Calibri"/>
              </a:rPr>
              <a:t>of</a:t>
            </a:r>
            <a:r>
              <a:rPr sz="3600" spc="250" dirty="0">
                <a:latin typeface="Calibri"/>
                <a:cs typeface="Calibri"/>
              </a:rPr>
              <a:t> </a:t>
            </a:r>
            <a:r>
              <a:rPr sz="3600" dirty="0">
                <a:latin typeface="Calibri"/>
                <a:cs typeface="Calibri"/>
              </a:rPr>
              <a:t>resources</a:t>
            </a:r>
            <a:r>
              <a:rPr sz="3600" spc="250" dirty="0">
                <a:latin typeface="Calibri"/>
                <a:cs typeface="Calibri"/>
              </a:rPr>
              <a:t> </a:t>
            </a:r>
            <a:r>
              <a:rPr sz="3600" dirty="0">
                <a:latin typeface="Calibri"/>
                <a:cs typeface="Calibri"/>
              </a:rPr>
              <a:t>used</a:t>
            </a:r>
            <a:r>
              <a:rPr sz="3600" spc="245" dirty="0">
                <a:latin typeface="Calibri"/>
                <a:cs typeface="Calibri"/>
              </a:rPr>
              <a:t> </a:t>
            </a:r>
            <a:r>
              <a:rPr sz="3600" dirty="0">
                <a:latin typeface="Calibri"/>
                <a:cs typeface="Calibri"/>
              </a:rPr>
              <a:t>for</a:t>
            </a:r>
            <a:r>
              <a:rPr sz="3600" spc="245" dirty="0">
                <a:latin typeface="Calibri"/>
                <a:cs typeface="Calibri"/>
              </a:rPr>
              <a:t> </a:t>
            </a:r>
            <a:r>
              <a:rPr sz="3600" dirty="0">
                <a:latin typeface="Calibri"/>
                <a:cs typeface="Calibri"/>
              </a:rPr>
              <a:t>an</a:t>
            </a:r>
            <a:r>
              <a:rPr sz="3600" spc="245" dirty="0">
                <a:latin typeface="Calibri"/>
                <a:cs typeface="Calibri"/>
              </a:rPr>
              <a:t> </a:t>
            </a:r>
            <a:r>
              <a:rPr sz="3600" dirty="0">
                <a:latin typeface="Calibri"/>
                <a:cs typeface="Calibri"/>
              </a:rPr>
              <a:t>activity</a:t>
            </a:r>
            <a:r>
              <a:rPr sz="3600" spc="240" dirty="0">
                <a:latin typeface="Calibri"/>
                <a:cs typeface="Calibri"/>
              </a:rPr>
              <a:t> </a:t>
            </a:r>
            <a:r>
              <a:rPr sz="3600" spc="-10" dirty="0">
                <a:latin typeface="Calibri"/>
                <a:cs typeface="Calibri"/>
              </a:rPr>
              <a:t>cannot 	</a:t>
            </a:r>
            <a:r>
              <a:rPr sz="3600" dirty="0">
                <a:latin typeface="Calibri"/>
                <a:cs typeface="Calibri"/>
              </a:rPr>
              <a:t>be</a:t>
            </a:r>
            <a:r>
              <a:rPr sz="3600" spc="-15" dirty="0">
                <a:latin typeface="Calibri"/>
                <a:cs typeface="Calibri"/>
              </a:rPr>
              <a:t> </a:t>
            </a:r>
            <a:r>
              <a:rPr sz="3600" spc="-10" dirty="0">
                <a:latin typeface="Calibri"/>
                <a:cs typeface="Calibri"/>
              </a:rPr>
              <a:t>changed.</a:t>
            </a:r>
            <a:endParaRPr sz="3600" dirty="0">
              <a:latin typeface="Calibri"/>
              <a:cs typeface="Calibri"/>
            </a:endParaRPr>
          </a:p>
          <a:p>
            <a:pPr>
              <a:lnSpc>
                <a:spcPct val="100000"/>
              </a:lnSpc>
              <a:spcBef>
                <a:spcPts val="1505"/>
              </a:spcBef>
            </a:pPr>
            <a:endParaRPr sz="3600" dirty="0">
              <a:latin typeface="Calibri"/>
              <a:cs typeface="Calibri"/>
            </a:endParaRPr>
          </a:p>
          <a:p>
            <a:pPr marL="12700" marR="11430">
              <a:lnSpc>
                <a:spcPts val="3890"/>
              </a:lnSpc>
            </a:pPr>
            <a:r>
              <a:rPr sz="3600" dirty="0">
                <a:latin typeface="Calibri"/>
                <a:cs typeface="Calibri"/>
              </a:rPr>
              <a:t>These</a:t>
            </a:r>
            <a:r>
              <a:rPr sz="3600" spc="130" dirty="0">
                <a:latin typeface="Calibri"/>
                <a:cs typeface="Calibri"/>
              </a:rPr>
              <a:t> </a:t>
            </a:r>
            <a:r>
              <a:rPr sz="3600" dirty="0">
                <a:latin typeface="Calibri"/>
                <a:cs typeface="Calibri"/>
              </a:rPr>
              <a:t>limiting</a:t>
            </a:r>
            <a:r>
              <a:rPr sz="3600" spc="140" dirty="0">
                <a:latin typeface="Calibri"/>
                <a:cs typeface="Calibri"/>
              </a:rPr>
              <a:t> </a:t>
            </a:r>
            <a:r>
              <a:rPr sz="3600" dirty="0">
                <a:latin typeface="Calibri"/>
                <a:cs typeface="Calibri"/>
              </a:rPr>
              <a:t>assumptions</a:t>
            </a:r>
            <a:r>
              <a:rPr sz="3600" spc="140" dirty="0">
                <a:latin typeface="Calibri"/>
                <a:cs typeface="Calibri"/>
              </a:rPr>
              <a:t> </a:t>
            </a:r>
            <a:r>
              <a:rPr sz="3600" dirty="0">
                <a:latin typeface="Calibri"/>
                <a:cs typeface="Calibri"/>
              </a:rPr>
              <a:t>do</a:t>
            </a:r>
            <a:r>
              <a:rPr sz="3600" spc="145" dirty="0">
                <a:latin typeface="Calibri"/>
                <a:cs typeface="Calibri"/>
              </a:rPr>
              <a:t> </a:t>
            </a:r>
            <a:r>
              <a:rPr sz="3600" dirty="0">
                <a:latin typeface="Calibri"/>
                <a:cs typeface="Calibri"/>
              </a:rPr>
              <a:t>not</a:t>
            </a:r>
            <a:r>
              <a:rPr sz="3600" spc="135" dirty="0">
                <a:latin typeface="Calibri"/>
                <a:cs typeface="Calibri"/>
              </a:rPr>
              <a:t> </a:t>
            </a:r>
            <a:r>
              <a:rPr sz="3600" dirty="0">
                <a:latin typeface="Calibri"/>
                <a:cs typeface="Calibri"/>
              </a:rPr>
              <a:t>exist</a:t>
            </a:r>
            <a:r>
              <a:rPr sz="3600" spc="135" dirty="0">
                <a:latin typeface="Calibri"/>
                <a:cs typeface="Calibri"/>
              </a:rPr>
              <a:t> </a:t>
            </a:r>
            <a:r>
              <a:rPr sz="3600" dirty="0">
                <a:latin typeface="Calibri"/>
                <a:cs typeface="Calibri"/>
              </a:rPr>
              <a:t>in</a:t>
            </a:r>
            <a:r>
              <a:rPr sz="3600" spc="135" dirty="0">
                <a:latin typeface="Calibri"/>
                <a:cs typeface="Calibri"/>
              </a:rPr>
              <a:t> </a:t>
            </a:r>
            <a:r>
              <a:rPr sz="3600" dirty="0">
                <a:latin typeface="Calibri"/>
                <a:cs typeface="Calibri"/>
              </a:rPr>
              <a:t>practice</a:t>
            </a:r>
            <a:r>
              <a:rPr sz="3600" spc="140" dirty="0">
                <a:latin typeface="Calibri"/>
                <a:cs typeface="Calibri"/>
              </a:rPr>
              <a:t> </a:t>
            </a:r>
            <a:r>
              <a:rPr sz="3600" dirty="0">
                <a:latin typeface="Calibri"/>
                <a:cs typeface="Calibri"/>
              </a:rPr>
              <a:t>but</a:t>
            </a:r>
            <a:r>
              <a:rPr sz="3600" spc="135" dirty="0">
                <a:latin typeface="Calibri"/>
                <a:cs typeface="Calibri"/>
              </a:rPr>
              <a:t> </a:t>
            </a:r>
            <a:r>
              <a:rPr sz="3600" spc="-25" dirty="0">
                <a:latin typeface="Calibri"/>
                <a:cs typeface="Calibri"/>
              </a:rPr>
              <a:t>to </a:t>
            </a:r>
            <a:r>
              <a:rPr sz="3600" dirty="0">
                <a:latin typeface="Calibri"/>
                <a:cs typeface="Calibri"/>
              </a:rPr>
              <a:t>simplify</a:t>
            </a:r>
            <a:r>
              <a:rPr sz="3600" spc="-55" dirty="0">
                <a:latin typeface="Calibri"/>
                <a:cs typeface="Calibri"/>
              </a:rPr>
              <a:t> </a:t>
            </a:r>
            <a:r>
              <a:rPr sz="3600" spc="-10" dirty="0">
                <a:latin typeface="Calibri"/>
                <a:cs typeface="Calibri"/>
              </a:rPr>
              <a:t>learning.</a:t>
            </a:r>
            <a:endParaRPr sz="3600" dirty="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7</a:t>
            </a:r>
            <a:endParaRPr sz="1200">
              <a:latin typeface="Calibri"/>
              <a:cs typeface="Calibri"/>
            </a:endParaRPr>
          </a:p>
        </p:txBody>
      </p:sp>
      <p:pic>
        <p:nvPicPr>
          <p:cNvPr id="5" name="Picture 4">
            <a:extLst>
              <a:ext uri="{FF2B5EF4-FFF2-40B4-BE49-F238E27FC236}">
                <a16:creationId xmlns:a16="http://schemas.microsoft.com/office/drawing/2014/main" id="{91191115-23E9-F24B-BF23-818EE22D9B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583" rIns="0" bIns="0" rtlCol="0">
            <a:spAutoFit/>
          </a:bodyPr>
          <a:lstStyle/>
          <a:p>
            <a:pPr marL="12700">
              <a:lnSpc>
                <a:spcPct val="100000"/>
              </a:lnSpc>
              <a:spcBef>
                <a:spcPts val="130"/>
              </a:spcBef>
            </a:pPr>
            <a:r>
              <a:rPr sz="3500" spc="110" dirty="0"/>
              <a:t>Time-</a:t>
            </a:r>
            <a:r>
              <a:rPr sz="3500" spc="85" dirty="0"/>
              <a:t>Constrained</a:t>
            </a:r>
            <a:r>
              <a:rPr sz="3500" spc="105" dirty="0"/>
              <a:t> </a:t>
            </a:r>
            <a:r>
              <a:rPr sz="3500" spc="80" dirty="0"/>
              <a:t>Projects:</a:t>
            </a:r>
            <a:r>
              <a:rPr sz="3500" spc="105" dirty="0"/>
              <a:t> </a:t>
            </a:r>
            <a:r>
              <a:rPr sz="3500" spc="100" dirty="0"/>
              <a:t>Smoothing</a:t>
            </a:r>
            <a:r>
              <a:rPr sz="3500" spc="114" dirty="0"/>
              <a:t> </a:t>
            </a:r>
            <a:r>
              <a:rPr sz="3500" spc="85" dirty="0"/>
              <a:t>Resource</a:t>
            </a:r>
            <a:r>
              <a:rPr sz="3500" spc="110" dirty="0"/>
              <a:t> </a:t>
            </a:r>
            <a:r>
              <a:rPr sz="3500" spc="100" dirty="0"/>
              <a:t>Demand</a:t>
            </a:r>
            <a:endParaRPr sz="3500" dirty="0"/>
          </a:p>
        </p:txBody>
      </p:sp>
      <p:pic>
        <p:nvPicPr>
          <p:cNvPr id="3" name="object 3"/>
          <p:cNvPicPr/>
          <p:nvPr/>
        </p:nvPicPr>
        <p:blipFill>
          <a:blip r:embed="rId3" cstate="print"/>
          <a:stretch>
            <a:fillRect/>
          </a:stretch>
        </p:blipFill>
        <p:spPr>
          <a:xfrm>
            <a:off x="7358465" y="1671091"/>
            <a:ext cx="4761644" cy="4879515"/>
          </a:xfrm>
          <a:prstGeom prst="rect">
            <a:avLst/>
          </a:prstGeom>
        </p:spPr>
      </p:pic>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8</a:t>
            </a:r>
            <a:endParaRPr sz="1200">
              <a:latin typeface="Calibri"/>
              <a:cs typeface="Calibri"/>
            </a:endParaRPr>
          </a:p>
        </p:txBody>
      </p:sp>
      <p:sp>
        <p:nvSpPr>
          <p:cNvPr id="5" name="object 5"/>
          <p:cNvSpPr txBox="1"/>
          <p:nvPr/>
        </p:nvSpPr>
        <p:spPr>
          <a:xfrm>
            <a:off x="78739" y="1575308"/>
            <a:ext cx="7244080" cy="4960620"/>
          </a:xfrm>
          <a:prstGeom prst="rect">
            <a:avLst/>
          </a:prstGeom>
        </p:spPr>
        <p:txBody>
          <a:bodyPr vert="horz" wrap="square" lIns="0" tIns="12700" rIns="0" bIns="0" rtlCol="0">
            <a:spAutoFit/>
          </a:bodyPr>
          <a:lstStyle/>
          <a:p>
            <a:pPr marL="297815" indent="-145415" algn="just">
              <a:lnSpc>
                <a:spcPts val="2125"/>
              </a:lnSpc>
              <a:spcBef>
                <a:spcPts val="100"/>
              </a:spcBef>
              <a:buFont typeface="Arial MT"/>
              <a:buChar char="•"/>
              <a:tabLst>
                <a:tab pos="297815" algn="l"/>
              </a:tabLst>
            </a:pPr>
            <a:r>
              <a:rPr sz="1800" dirty="0">
                <a:latin typeface="Calibri"/>
                <a:cs typeface="Calibri"/>
              </a:rPr>
              <a:t>Scheduling</a:t>
            </a:r>
            <a:r>
              <a:rPr sz="1800" spc="-50" dirty="0">
                <a:latin typeface="Calibri"/>
                <a:cs typeface="Calibri"/>
              </a:rPr>
              <a:t> </a:t>
            </a:r>
            <a:r>
              <a:rPr sz="1800" spc="-10" dirty="0">
                <a:latin typeface="Calibri"/>
                <a:cs typeface="Calibri"/>
              </a:rPr>
              <a:t>time-constrained</a:t>
            </a:r>
            <a:r>
              <a:rPr sz="1800" spc="-40" dirty="0">
                <a:latin typeface="Calibri"/>
                <a:cs typeface="Calibri"/>
              </a:rPr>
              <a:t> </a:t>
            </a:r>
            <a:r>
              <a:rPr sz="1800" dirty="0">
                <a:latin typeface="Calibri"/>
                <a:cs typeface="Calibri"/>
              </a:rPr>
              <a:t>projects</a:t>
            </a:r>
            <a:r>
              <a:rPr sz="1800" spc="-45" dirty="0">
                <a:latin typeface="Calibri"/>
                <a:cs typeface="Calibri"/>
              </a:rPr>
              <a:t> </a:t>
            </a:r>
            <a:r>
              <a:rPr sz="1800" dirty="0">
                <a:latin typeface="Calibri"/>
                <a:cs typeface="Calibri"/>
              </a:rPr>
              <a:t>focuses</a:t>
            </a:r>
            <a:r>
              <a:rPr sz="1800" spc="-45" dirty="0">
                <a:latin typeface="Calibri"/>
                <a:cs typeface="Calibri"/>
              </a:rPr>
              <a:t> </a:t>
            </a:r>
            <a:r>
              <a:rPr sz="1800" dirty="0">
                <a:latin typeface="Calibri"/>
                <a:cs typeface="Calibri"/>
              </a:rPr>
              <a:t>on</a:t>
            </a:r>
            <a:r>
              <a:rPr sz="1800" spc="-40" dirty="0">
                <a:latin typeface="Calibri"/>
                <a:cs typeface="Calibri"/>
              </a:rPr>
              <a:t> </a:t>
            </a:r>
            <a:r>
              <a:rPr sz="1800" spc="-10" dirty="0">
                <a:latin typeface="Calibri"/>
                <a:cs typeface="Calibri"/>
              </a:rPr>
              <a:t>resource</a:t>
            </a:r>
            <a:r>
              <a:rPr sz="1800" spc="-45" dirty="0">
                <a:latin typeface="Calibri"/>
                <a:cs typeface="Calibri"/>
              </a:rPr>
              <a:t> </a:t>
            </a:r>
            <a:r>
              <a:rPr sz="1800" i="1" spc="-10" dirty="0">
                <a:latin typeface="Calibri"/>
                <a:cs typeface="Calibri"/>
              </a:rPr>
              <a:t>utilization.</a:t>
            </a:r>
            <a:endParaRPr sz="1800" dirty="0">
              <a:latin typeface="Calibri"/>
              <a:cs typeface="Calibri"/>
            </a:endParaRPr>
          </a:p>
          <a:p>
            <a:pPr marL="297815" indent="-145415" algn="just">
              <a:lnSpc>
                <a:spcPts val="2125"/>
              </a:lnSpc>
              <a:buFont typeface="Arial MT"/>
              <a:buChar char="•"/>
              <a:tabLst>
                <a:tab pos="297815" algn="l"/>
              </a:tabLst>
            </a:pPr>
            <a:r>
              <a:rPr sz="1800" dirty="0">
                <a:latin typeface="Calibri"/>
                <a:cs typeface="Calibri"/>
              </a:rPr>
              <a:t>It</a:t>
            </a:r>
            <a:r>
              <a:rPr sz="1800" spc="-25" dirty="0">
                <a:latin typeface="Calibri"/>
                <a:cs typeface="Calibri"/>
              </a:rPr>
              <a:t> </a:t>
            </a:r>
            <a:r>
              <a:rPr sz="1800" dirty="0">
                <a:latin typeface="Calibri"/>
                <a:cs typeface="Calibri"/>
              </a:rPr>
              <a:t>is</a:t>
            </a:r>
            <a:r>
              <a:rPr sz="1800" spc="-20" dirty="0">
                <a:latin typeface="Calibri"/>
                <a:cs typeface="Calibri"/>
              </a:rPr>
              <a:t> </a:t>
            </a:r>
            <a:r>
              <a:rPr sz="1800" dirty="0">
                <a:latin typeface="Calibri"/>
                <a:cs typeface="Calibri"/>
              </a:rPr>
              <a:t>done</a:t>
            </a:r>
            <a:r>
              <a:rPr sz="1800" spc="-20" dirty="0">
                <a:latin typeface="Calibri"/>
                <a:cs typeface="Calibri"/>
              </a:rPr>
              <a:t> </a:t>
            </a:r>
            <a:r>
              <a:rPr sz="1800" dirty="0">
                <a:latin typeface="Calibri"/>
                <a:cs typeface="Calibri"/>
              </a:rPr>
              <a:t>by</a:t>
            </a:r>
            <a:r>
              <a:rPr sz="1800" spc="-20" dirty="0">
                <a:latin typeface="Calibri"/>
                <a:cs typeface="Calibri"/>
              </a:rPr>
              <a:t> </a:t>
            </a:r>
            <a:r>
              <a:rPr sz="1800" dirty="0">
                <a:latin typeface="Calibri"/>
                <a:cs typeface="Calibri"/>
              </a:rPr>
              <a:t>delaying</a:t>
            </a:r>
            <a:r>
              <a:rPr sz="1800" spc="-20" dirty="0">
                <a:latin typeface="Calibri"/>
                <a:cs typeface="Calibri"/>
              </a:rPr>
              <a:t> </a:t>
            </a:r>
            <a:r>
              <a:rPr sz="1800" dirty="0">
                <a:latin typeface="Calibri"/>
                <a:cs typeface="Calibri"/>
              </a:rPr>
              <a:t>noncritical</a:t>
            </a:r>
            <a:r>
              <a:rPr sz="1800" spc="-15" dirty="0">
                <a:latin typeface="Calibri"/>
                <a:cs typeface="Calibri"/>
              </a:rPr>
              <a:t> </a:t>
            </a:r>
            <a:r>
              <a:rPr sz="1800" dirty="0">
                <a:latin typeface="Calibri"/>
                <a:cs typeface="Calibri"/>
              </a:rPr>
              <a:t>activities</a:t>
            </a:r>
            <a:r>
              <a:rPr sz="1800" spc="-25" dirty="0">
                <a:latin typeface="Calibri"/>
                <a:cs typeface="Calibri"/>
              </a:rPr>
              <a:t> </a:t>
            </a:r>
            <a:r>
              <a:rPr sz="1800" dirty="0">
                <a:latin typeface="Calibri"/>
                <a:cs typeface="Calibri"/>
              </a:rPr>
              <a:t>by</a:t>
            </a:r>
            <a:r>
              <a:rPr sz="1800" spc="-20" dirty="0">
                <a:latin typeface="Calibri"/>
                <a:cs typeface="Calibri"/>
              </a:rPr>
              <a:t> </a:t>
            </a:r>
            <a:r>
              <a:rPr sz="1800" dirty="0">
                <a:latin typeface="Calibri"/>
                <a:cs typeface="Calibri"/>
              </a:rPr>
              <a:t>using</a:t>
            </a:r>
            <a:r>
              <a:rPr sz="1800" spc="-15" dirty="0">
                <a:latin typeface="Calibri"/>
                <a:cs typeface="Calibri"/>
              </a:rPr>
              <a:t> </a:t>
            </a:r>
            <a:r>
              <a:rPr sz="1800" dirty="0">
                <a:latin typeface="Calibri"/>
                <a:cs typeface="Calibri"/>
              </a:rPr>
              <a:t>positive</a:t>
            </a:r>
            <a:r>
              <a:rPr sz="1800" spc="-15" dirty="0">
                <a:latin typeface="Calibri"/>
                <a:cs typeface="Calibri"/>
              </a:rPr>
              <a:t> </a:t>
            </a:r>
            <a:r>
              <a:rPr sz="1800" dirty="0">
                <a:latin typeface="Calibri"/>
                <a:cs typeface="Calibri"/>
              </a:rPr>
              <a:t>slack</a:t>
            </a:r>
            <a:r>
              <a:rPr sz="1800" spc="-20" dirty="0">
                <a:latin typeface="Calibri"/>
                <a:cs typeface="Calibri"/>
              </a:rPr>
              <a:t> </a:t>
            </a:r>
            <a:r>
              <a:rPr sz="1800" dirty="0">
                <a:latin typeface="Calibri"/>
                <a:cs typeface="Calibri"/>
              </a:rPr>
              <a:t>to</a:t>
            </a:r>
            <a:r>
              <a:rPr sz="1800" spc="-20" dirty="0">
                <a:latin typeface="Calibri"/>
                <a:cs typeface="Calibri"/>
              </a:rPr>
              <a:t> </a:t>
            </a:r>
            <a:r>
              <a:rPr sz="1800" spc="-10" dirty="0">
                <a:latin typeface="Calibri"/>
                <a:cs typeface="Calibri"/>
              </a:rPr>
              <a:t>reduce</a:t>
            </a:r>
            <a:endParaRPr sz="1800" dirty="0">
              <a:latin typeface="Calibri"/>
              <a:cs typeface="Calibri"/>
            </a:endParaRPr>
          </a:p>
          <a:p>
            <a:pPr marL="298450" algn="just">
              <a:lnSpc>
                <a:spcPct val="100000"/>
              </a:lnSpc>
              <a:spcBef>
                <a:spcPts val="45"/>
              </a:spcBef>
            </a:pPr>
            <a:r>
              <a:rPr sz="1800" dirty="0">
                <a:latin typeface="Calibri"/>
                <a:cs typeface="Calibri"/>
              </a:rPr>
              <a:t>peak</a:t>
            </a:r>
            <a:r>
              <a:rPr sz="1800" spc="-35" dirty="0">
                <a:latin typeface="Calibri"/>
                <a:cs typeface="Calibri"/>
              </a:rPr>
              <a:t> </a:t>
            </a:r>
            <a:r>
              <a:rPr sz="1800" spc="-10" dirty="0">
                <a:latin typeface="Calibri"/>
                <a:cs typeface="Calibri"/>
              </a:rPr>
              <a:t>demand.</a:t>
            </a:r>
            <a:endParaRPr sz="1800" dirty="0">
              <a:latin typeface="Calibri"/>
              <a:cs typeface="Calibri"/>
            </a:endParaRPr>
          </a:p>
          <a:p>
            <a:pPr marL="298450" marR="5715" indent="-146050" algn="just">
              <a:lnSpc>
                <a:spcPct val="99400"/>
              </a:lnSpc>
              <a:spcBef>
                <a:spcPts val="60"/>
              </a:spcBef>
              <a:buFont typeface="Arial MT"/>
              <a:buChar char="•"/>
              <a:tabLst>
                <a:tab pos="298450" algn="l"/>
              </a:tabLst>
            </a:pPr>
            <a:r>
              <a:rPr sz="1800" dirty="0">
                <a:solidFill>
                  <a:srgbClr val="262EA4"/>
                </a:solidFill>
                <a:latin typeface="Calibri"/>
                <a:cs typeface="Calibri"/>
              </a:rPr>
              <a:t>An</a:t>
            </a:r>
            <a:r>
              <a:rPr sz="1800" spc="75" dirty="0">
                <a:solidFill>
                  <a:srgbClr val="262EA4"/>
                </a:solidFill>
                <a:latin typeface="Calibri"/>
                <a:cs typeface="Calibri"/>
              </a:rPr>
              <a:t> </a:t>
            </a:r>
            <a:r>
              <a:rPr sz="1800" dirty="0">
                <a:solidFill>
                  <a:srgbClr val="262EA4"/>
                </a:solidFill>
                <a:latin typeface="Calibri"/>
                <a:cs typeface="Calibri"/>
              </a:rPr>
              <a:t>example</a:t>
            </a:r>
            <a:r>
              <a:rPr sz="1800" spc="75" dirty="0">
                <a:solidFill>
                  <a:srgbClr val="262EA4"/>
                </a:solidFill>
                <a:latin typeface="Calibri"/>
                <a:cs typeface="Calibri"/>
              </a:rPr>
              <a:t> </a:t>
            </a:r>
            <a:r>
              <a:rPr sz="1800" dirty="0">
                <a:solidFill>
                  <a:srgbClr val="262EA4"/>
                </a:solidFill>
                <a:latin typeface="Calibri"/>
                <a:cs typeface="Calibri"/>
              </a:rPr>
              <a:t>will</a:t>
            </a:r>
            <a:r>
              <a:rPr sz="1800" spc="65" dirty="0">
                <a:solidFill>
                  <a:srgbClr val="262EA4"/>
                </a:solidFill>
                <a:latin typeface="Calibri"/>
                <a:cs typeface="Calibri"/>
              </a:rPr>
              <a:t> </a:t>
            </a:r>
            <a:r>
              <a:rPr sz="1800" dirty="0">
                <a:solidFill>
                  <a:srgbClr val="262EA4"/>
                </a:solidFill>
                <a:latin typeface="Calibri"/>
                <a:cs typeface="Calibri"/>
              </a:rPr>
              <a:t>demonstrate</a:t>
            </a:r>
            <a:r>
              <a:rPr sz="1800" spc="70" dirty="0">
                <a:solidFill>
                  <a:srgbClr val="262EA4"/>
                </a:solidFill>
                <a:latin typeface="Calibri"/>
                <a:cs typeface="Calibri"/>
              </a:rPr>
              <a:t> </a:t>
            </a:r>
            <a:r>
              <a:rPr sz="1800" dirty="0">
                <a:solidFill>
                  <a:srgbClr val="262EA4"/>
                </a:solidFill>
                <a:latin typeface="Calibri"/>
                <a:cs typeface="Calibri"/>
              </a:rPr>
              <a:t>the</a:t>
            </a:r>
            <a:r>
              <a:rPr sz="1800" spc="70" dirty="0">
                <a:solidFill>
                  <a:srgbClr val="262EA4"/>
                </a:solidFill>
                <a:latin typeface="Calibri"/>
                <a:cs typeface="Calibri"/>
              </a:rPr>
              <a:t> </a:t>
            </a:r>
            <a:r>
              <a:rPr sz="1800" dirty="0">
                <a:solidFill>
                  <a:srgbClr val="262EA4"/>
                </a:solidFill>
                <a:latin typeface="Calibri"/>
                <a:cs typeface="Calibri"/>
              </a:rPr>
              <a:t>basic</a:t>
            </a:r>
            <a:r>
              <a:rPr sz="1800" spc="75" dirty="0">
                <a:solidFill>
                  <a:srgbClr val="262EA4"/>
                </a:solidFill>
                <a:latin typeface="Calibri"/>
                <a:cs typeface="Calibri"/>
              </a:rPr>
              <a:t> </a:t>
            </a:r>
            <a:r>
              <a:rPr sz="1800" dirty="0">
                <a:solidFill>
                  <a:srgbClr val="262EA4"/>
                </a:solidFill>
                <a:latin typeface="Calibri"/>
                <a:cs typeface="Calibri"/>
              </a:rPr>
              <a:t>procedure</a:t>
            </a:r>
            <a:r>
              <a:rPr sz="1800" spc="70" dirty="0">
                <a:solidFill>
                  <a:srgbClr val="262EA4"/>
                </a:solidFill>
                <a:latin typeface="Calibri"/>
                <a:cs typeface="Calibri"/>
              </a:rPr>
              <a:t> </a:t>
            </a:r>
            <a:r>
              <a:rPr sz="1800" dirty="0">
                <a:solidFill>
                  <a:srgbClr val="262EA4"/>
                </a:solidFill>
                <a:latin typeface="Calibri"/>
                <a:cs typeface="Calibri"/>
              </a:rPr>
              <a:t>for</a:t>
            </a:r>
            <a:r>
              <a:rPr sz="1800" spc="65" dirty="0">
                <a:solidFill>
                  <a:srgbClr val="262EA4"/>
                </a:solidFill>
                <a:latin typeface="Calibri"/>
                <a:cs typeface="Calibri"/>
              </a:rPr>
              <a:t> </a:t>
            </a:r>
            <a:r>
              <a:rPr sz="1800" dirty="0">
                <a:solidFill>
                  <a:srgbClr val="262EA4"/>
                </a:solidFill>
                <a:latin typeface="Calibri"/>
                <a:cs typeface="Calibri"/>
              </a:rPr>
              <a:t>a</a:t>
            </a:r>
            <a:r>
              <a:rPr sz="1800" spc="70" dirty="0">
                <a:solidFill>
                  <a:srgbClr val="262EA4"/>
                </a:solidFill>
                <a:latin typeface="Calibri"/>
                <a:cs typeface="Calibri"/>
              </a:rPr>
              <a:t> </a:t>
            </a:r>
            <a:r>
              <a:rPr sz="1800" dirty="0">
                <a:solidFill>
                  <a:srgbClr val="262EA4"/>
                </a:solidFill>
                <a:latin typeface="Calibri"/>
                <a:cs typeface="Calibri"/>
              </a:rPr>
              <a:t>time-</a:t>
            </a:r>
            <a:r>
              <a:rPr sz="1800" spc="65" dirty="0">
                <a:solidFill>
                  <a:srgbClr val="262EA4"/>
                </a:solidFill>
                <a:latin typeface="Calibri"/>
                <a:cs typeface="Calibri"/>
              </a:rPr>
              <a:t> </a:t>
            </a:r>
            <a:r>
              <a:rPr sz="1800" spc="-10" dirty="0">
                <a:solidFill>
                  <a:srgbClr val="262EA4"/>
                </a:solidFill>
                <a:latin typeface="Calibri"/>
                <a:cs typeface="Calibri"/>
              </a:rPr>
              <a:t>constrained </a:t>
            </a:r>
            <a:r>
              <a:rPr sz="1800" dirty="0">
                <a:solidFill>
                  <a:srgbClr val="262EA4"/>
                </a:solidFill>
                <a:latin typeface="Calibri"/>
                <a:cs typeface="Calibri"/>
              </a:rPr>
              <a:t>project.</a:t>
            </a:r>
            <a:r>
              <a:rPr sz="1800" spc="140" dirty="0">
                <a:solidFill>
                  <a:srgbClr val="262EA4"/>
                </a:solidFill>
                <a:latin typeface="Calibri"/>
                <a:cs typeface="Calibri"/>
              </a:rPr>
              <a:t> </a:t>
            </a:r>
            <a:r>
              <a:rPr sz="1800" dirty="0">
                <a:solidFill>
                  <a:srgbClr val="262EA4"/>
                </a:solidFill>
                <a:latin typeface="Calibri"/>
                <a:cs typeface="Calibri"/>
              </a:rPr>
              <a:t>For</a:t>
            </a:r>
            <a:r>
              <a:rPr sz="1800" spc="140" dirty="0">
                <a:solidFill>
                  <a:srgbClr val="262EA4"/>
                </a:solidFill>
                <a:latin typeface="Calibri"/>
                <a:cs typeface="Calibri"/>
              </a:rPr>
              <a:t> </a:t>
            </a:r>
            <a:r>
              <a:rPr sz="1800" dirty="0">
                <a:solidFill>
                  <a:srgbClr val="262EA4"/>
                </a:solidFill>
                <a:latin typeface="Calibri"/>
                <a:cs typeface="Calibri"/>
              </a:rPr>
              <a:t>the</a:t>
            </a:r>
            <a:r>
              <a:rPr sz="1800" spc="155" dirty="0">
                <a:solidFill>
                  <a:srgbClr val="262EA4"/>
                </a:solidFill>
                <a:latin typeface="Calibri"/>
                <a:cs typeface="Calibri"/>
              </a:rPr>
              <a:t> </a:t>
            </a:r>
            <a:r>
              <a:rPr sz="1800" dirty="0">
                <a:solidFill>
                  <a:srgbClr val="262EA4"/>
                </a:solidFill>
                <a:latin typeface="Calibri"/>
                <a:cs typeface="Calibri"/>
              </a:rPr>
              <a:t>purpose</a:t>
            </a:r>
            <a:r>
              <a:rPr sz="1800" spc="145" dirty="0">
                <a:solidFill>
                  <a:srgbClr val="262EA4"/>
                </a:solidFill>
                <a:latin typeface="Calibri"/>
                <a:cs typeface="Calibri"/>
              </a:rPr>
              <a:t> </a:t>
            </a:r>
            <a:r>
              <a:rPr sz="1800" dirty="0">
                <a:solidFill>
                  <a:srgbClr val="262EA4"/>
                </a:solidFill>
                <a:latin typeface="Calibri"/>
                <a:cs typeface="Calibri"/>
              </a:rPr>
              <a:t>of</a:t>
            </a:r>
            <a:r>
              <a:rPr sz="1800" spc="145" dirty="0">
                <a:solidFill>
                  <a:srgbClr val="262EA4"/>
                </a:solidFill>
                <a:latin typeface="Calibri"/>
                <a:cs typeface="Calibri"/>
              </a:rPr>
              <a:t> </a:t>
            </a:r>
            <a:r>
              <a:rPr sz="1800" dirty="0">
                <a:solidFill>
                  <a:srgbClr val="262EA4"/>
                </a:solidFill>
                <a:latin typeface="Calibri"/>
                <a:cs typeface="Calibri"/>
              </a:rPr>
              <a:t>demonstration,</a:t>
            </a:r>
            <a:r>
              <a:rPr sz="1800" spc="150" dirty="0">
                <a:solidFill>
                  <a:srgbClr val="262EA4"/>
                </a:solidFill>
                <a:latin typeface="Calibri"/>
                <a:cs typeface="Calibri"/>
              </a:rPr>
              <a:t> </a:t>
            </a:r>
            <a:r>
              <a:rPr sz="1800" dirty="0">
                <a:solidFill>
                  <a:srgbClr val="262EA4"/>
                </a:solidFill>
                <a:latin typeface="Calibri"/>
                <a:cs typeface="Calibri"/>
              </a:rPr>
              <a:t>the</a:t>
            </a:r>
            <a:r>
              <a:rPr sz="1800" spc="150" dirty="0">
                <a:solidFill>
                  <a:srgbClr val="262EA4"/>
                </a:solidFill>
                <a:latin typeface="Calibri"/>
                <a:cs typeface="Calibri"/>
              </a:rPr>
              <a:t> </a:t>
            </a:r>
            <a:r>
              <a:rPr sz="1800" dirty="0">
                <a:solidFill>
                  <a:srgbClr val="262EA4"/>
                </a:solidFill>
                <a:latin typeface="Calibri"/>
                <a:cs typeface="Calibri"/>
              </a:rPr>
              <a:t>Botanical</a:t>
            </a:r>
            <a:r>
              <a:rPr sz="1800" spc="140" dirty="0">
                <a:solidFill>
                  <a:srgbClr val="262EA4"/>
                </a:solidFill>
                <a:latin typeface="Calibri"/>
                <a:cs typeface="Calibri"/>
              </a:rPr>
              <a:t> </a:t>
            </a:r>
            <a:r>
              <a:rPr sz="1800" dirty="0">
                <a:solidFill>
                  <a:srgbClr val="262EA4"/>
                </a:solidFill>
                <a:latin typeface="Calibri"/>
                <a:cs typeface="Calibri"/>
              </a:rPr>
              <a:t>Garden</a:t>
            </a:r>
            <a:r>
              <a:rPr sz="1800" spc="155" dirty="0">
                <a:solidFill>
                  <a:srgbClr val="262EA4"/>
                </a:solidFill>
                <a:latin typeface="Calibri"/>
                <a:cs typeface="Calibri"/>
              </a:rPr>
              <a:t> </a:t>
            </a:r>
            <a:r>
              <a:rPr sz="1800" spc="-10" dirty="0">
                <a:solidFill>
                  <a:srgbClr val="262EA4"/>
                </a:solidFill>
                <a:latin typeface="Calibri"/>
                <a:cs typeface="Calibri"/>
              </a:rPr>
              <a:t>project </a:t>
            </a:r>
            <a:r>
              <a:rPr sz="1800" dirty="0">
                <a:solidFill>
                  <a:srgbClr val="262EA4"/>
                </a:solidFill>
                <a:latin typeface="Calibri"/>
                <a:cs typeface="Calibri"/>
              </a:rPr>
              <a:t>uses</a:t>
            </a:r>
            <a:r>
              <a:rPr sz="1800" spc="-40" dirty="0">
                <a:solidFill>
                  <a:srgbClr val="262EA4"/>
                </a:solidFill>
                <a:latin typeface="Calibri"/>
                <a:cs typeface="Calibri"/>
              </a:rPr>
              <a:t> </a:t>
            </a:r>
            <a:r>
              <a:rPr sz="1800" dirty="0">
                <a:solidFill>
                  <a:srgbClr val="262EA4"/>
                </a:solidFill>
                <a:latin typeface="Calibri"/>
                <a:cs typeface="Calibri"/>
              </a:rPr>
              <a:t>only</a:t>
            </a:r>
            <a:r>
              <a:rPr sz="1800" spc="-35" dirty="0">
                <a:solidFill>
                  <a:srgbClr val="262EA4"/>
                </a:solidFill>
                <a:latin typeface="Calibri"/>
                <a:cs typeface="Calibri"/>
              </a:rPr>
              <a:t> </a:t>
            </a:r>
            <a:r>
              <a:rPr sz="1800" dirty="0">
                <a:solidFill>
                  <a:srgbClr val="262EA4"/>
                </a:solidFill>
                <a:latin typeface="Calibri"/>
                <a:cs typeface="Calibri"/>
              </a:rPr>
              <a:t>(1)</a:t>
            </a:r>
            <a:r>
              <a:rPr sz="1800" spc="-35" dirty="0">
                <a:solidFill>
                  <a:srgbClr val="262EA4"/>
                </a:solidFill>
                <a:latin typeface="Calibri"/>
                <a:cs typeface="Calibri"/>
              </a:rPr>
              <a:t> </a:t>
            </a:r>
            <a:r>
              <a:rPr sz="1800" spc="-10" dirty="0">
                <a:solidFill>
                  <a:srgbClr val="262EA4"/>
                </a:solidFill>
                <a:latin typeface="Calibri"/>
                <a:cs typeface="Calibri"/>
              </a:rPr>
              <a:t>resource</a:t>
            </a:r>
            <a:r>
              <a:rPr sz="1800" spc="-35" dirty="0">
                <a:solidFill>
                  <a:srgbClr val="262EA4"/>
                </a:solidFill>
                <a:latin typeface="Calibri"/>
                <a:cs typeface="Calibri"/>
              </a:rPr>
              <a:t> </a:t>
            </a:r>
            <a:r>
              <a:rPr sz="1800" dirty="0">
                <a:solidFill>
                  <a:srgbClr val="262EA4"/>
                </a:solidFill>
                <a:latin typeface="Calibri"/>
                <a:cs typeface="Calibri"/>
              </a:rPr>
              <a:t>(backhoes);</a:t>
            </a:r>
            <a:r>
              <a:rPr sz="1800" spc="-25" dirty="0">
                <a:solidFill>
                  <a:srgbClr val="262EA4"/>
                </a:solidFill>
                <a:latin typeface="Calibri"/>
                <a:cs typeface="Calibri"/>
              </a:rPr>
              <a:t> </a:t>
            </a:r>
            <a:r>
              <a:rPr sz="1800" dirty="0">
                <a:solidFill>
                  <a:srgbClr val="262EA4"/>
                </a:solidFill>
                <a:latin typeface="Calibri"/>
                <a:cs typeface="Calibri"/>
              </a:rPr>
              <a:t>all</a:t>
            </a:r>
            <a:r>
              <a:rPr sz="1800" spc="-35" dirty="0">
                <a:solidFill>
                  <a:srgbClr val="262EA4"/>
                </a:solidFill>
                <a:latin typeface="Calibri"/>
                <a:cs typeface="Calibri"/>
              </a:rPr>
              <a:t> </a:t>
            </a:r>
            <a:r>
              <a:rPr sz="1800" dirty="0">
                <a:solidFill>
                  <a:srgbClr val="262EA4"/>
                </a:solidFill>
                <a:latin typeface="Calibri"/>
                <a:cs typeface="Calibri"/>
              </a:rPr>
              <a:t>backhoes</a:t>
            </a:r>
            <a:r>
              <a:rPr sz="1800" spc="-35" dirty="0">
                <a:solidFill>
                  <a:srgbClr val="262EA4"/>
                </a:solidFill>
                <a:latin typeface="Calibri"/>
                <a:cs typeface="Calibri"/>
              </a:rPr>
              <a:t> </a:t>
            </a:r>
            <a:r>
              <a:rPr sz="1800" dirty="0">
                <a:solidFill>
                  <a:srgbClr val="262EA4"/>
                </a:solidFill>
                <a:latin typeface="Calibri"/>
                <a:cs typeface="Calibri"/>
              </a:rPr>
              <a:t>are</a:t>
            </a:r>
            <a:r>
              <a:rPr sz="1800" spc="-35" dirty="0">
                <a:solidFill>
                  <a:srgbClr val="262EA4"/>
                </a:solidFill>
                <a:latin typeface="Calibri"/>
                <a:cs typeface="Calibri"/>
              </a:rPr>
              <a:t> </a:t>
            </a:r>
            <a:r>
              <a:rPr sz="1800" spc="-10" dirty="0">
                <a:solidFill>
                  <a:srgbClr val="262EA4"/>
                </a:solidFill>
                <a:latin typeface="Calibri"/>
                <a:cs typeface="Calibri"/>
              </a:rPr>
              <a:t>interchangeable.</a:t>
            </a:r>
            <a:endParaRPr sz="1800" dirty="0">
              <a:latin typeface="Calibri"/>
              <a:cs typeface="Calibri"/>
            </a:endParaRPr>
          </a:p>
          <a:p>
            <a:pPr marL="297815" indent="-145415" algn="just">
              <a:lnSpc>
                <a:spcPts val="2090"/>
              </a:lnSpc>
              <a:buFont typeface="Arial MT"/>
              <a:buChar char="•"/>
              <a:tabLst>
                <a:tab pos="297815" algn="l"/>
              </a:tabLst>
            </a:pPr>
            <a:r>
              <a:rPr sz="1800" dirty="0">
                <a:latin typeface="Calibri"/>
                <a:cs typeface="Calibri"/>
              </a:rPr>
              <a:t>The</a:t>
            </a:r>
            <a:r>
              <a:rPr sz="1800" spc="295" dirty="0">
                <a:latin typeface="Calibri"/>
                <a:cs typeface="Calibri"/>
              </a:rPr>
              <a:t> </a:t>
            </a:r>
            <a:r>
              <a:rPr sz="1800" dirty="0">
                <a:latin typeface="Calibri"/>
                <a:cs typeface="Calibri"/>
              </a:rPr>
              <a:t>goal</a:t>
            </a:r>
            <a:r>
              <a:rPr sz="1800" spc="290" dirty="0">
                <a:latin typeface="Calibri"/>
                <a:cs typeface="Calibri"/>
              </a:rPr>
              <a:t> </a:t>
            </a:r>
            <a:r>
              <a:rPr sz="1800" dirty="0">
                <a:latin typeface="Calibri"/>
                <a:cs typeface="Calibri"/>
              </a:rPr>
              <a:t>will</a:t>
            </a:r>
            <a:r>
              <a:rPr sz="1800" spc="295" dirty="0">
                <a:latin typeface="Calibri"/>
                <a:cs typeface="Calibri"/>
              </a:rPr>
              <a:t> </a:t>
            </a:r>
            <a:r>
              <a:rPr sz="1800" dirty="0">
                <a:latin typeface="Calibri"/>
                <a:cs typeface="Calibri"/>
              </a:rPr>
              <a:t>be</a:t>
            </a:r>
            <a:r>
              <a:rPr sz="1800" spc="300" dirty="0">
                <a:latin typeface="Calibri"/>
                <a:cs typeface="Calibri"/>
              </a:rPr>
              <a:t> </a:t>
            </a:r>
            <a:r>
              <a:rPr sz="1800" dirty="0">
                <a:latin typeface="Calibri"/>
                <a:cs typeface="Calibri"/>
              </a:rPr>
              <a:t>to</a:t>
            </a:r>
            <a:r>
              <a:rPr sz="1800" spc="295" dirty="0">
                <a:latin typeface="Calibri"/>
                <a:cs typeface="Calibri"/>
              </a:rPr>
              <a:t> </a:t>
            </a:r>
            <a:r>
              <a:rPr sz="1800" dirty="0">
                <a:latin typeface="Calibri"/>
                <a:cs typeface="Calibri"/>
              </a:rPr>
              <a:t>reduce</a:t>
            </a:r>
            <a:r>
              <a:rPr sz="1800" spc="295" dirty="0">
                <a:latin typeface="Calibri"/>
                <a:cs typeface="Calibri"/>
              </a:rPr>
              <a:t> </a:t>
            </a:r>
            <a:r>
              <a:rPr sz="1800" dirty="0">
                <a:latin typeface="Calibri"/>
                <a:cs typeface="Calibri"/>
              </a:rPr>
              <a:t>the</a:t>
            </a:r>
            <a:r>
              <a:rPr sz="1800" spc="295" dirty="0">
                <a:latin typeface="Calibri"/>
                <a:cs typeface="Calibri"/>
              </a:rPr>
              <a:t> </a:t>
            </a:r>
            <a:r>
              <a:rPr sz="1800" dirty="0">
                <a:latin typeface="Calibri"/>
                <a:cs typeface="Calibri"/>
              </a:rPr>
              <a:t>peak</a:t>
            </a:r>
            <a:r>
              <a:rPr sz="1800" spc="290" dirty="0">
                <a:latin typeface="Calibri"/>
                <a:cs typeface="Calibri"/>
              </a:rPr>
              <a:t> </a:t>
            </a:r>
            <a:r>
              <a:rPr sz="1800" dirty="0">
                <a:latin typeface="Calibri"/>
                <a:cs typeface="Calibri"/>
              </a:rPr>
              <a:t>requirement</a:t>
            </a:r>
            <a:r>
              <a:rPr sz="1800" spc="290" dirty="0">
                <a:latin typeface="Calibri"/>
                <a:cs typeface="Calibri"/>
              </a:rPr>
              <a:t> </a:t>
            </a:r>
            <a:r>
              <a:rPr sz="1800" dirty="0">
                <a:latin typeface="Calibri"/>
                <a:cs typeface="Calibri"/>
              </a:rPr>
              <a:t>for</a:t>
            </a:r>
            <a:r>
              <a:rPr sz="1800" spc="290" dirty="0">
                <a:latin typeface="Calibri"/>
                <a:cs typeface="Calibri"/>
              </a:rPr>
              <a:t> </a:t>
            </a:r>
            <a:r>
              <a:rPr sz="1800" dirty="0">
                <a:latin typeface="Calibri"/>
                <a:cs typeface="Calibri"/>
              </a:rPr>
              <a:t>the</a:t>
            </a:r>
            <a:r>
              <a:rPr sz="1800" spc="300" dirty="0">
                <a:latin typeface="Calibri"/>
                <a:cs typeface="Calibri"/>
              </a:rPr>
              <a:t> </a:t>
            </a:r>
            <a:r>
              <a:rPr sz="1800" dirty="0">
                <a:latin typeface="Calibri"/>
                <a:cs typeface="Calibri"/>
              </a:rPr>
              <a:t>resource</a:t>
            </a:r>
            <a:r>
              <a:rPr sz="1800" spc="295" dirty="0">
                <a:latin typeface="Calibri"/>
                <a:cs typeface="Calibri"/>
              </a:rPr>
              <a:t> </a:t>
            </a:r>
            <a:r>
              <a:rPr sz="1800" spc="-25" dirty="0">
                <a:latin typeface="Calibri"/>
                <a:cs typeface="Calibri"/>
              </a:rPr>
              <a:t>and</a:t>
            </a:r>
            <a:endParaRPr sz="1800" dirty="0">
              <a:latin typeface="Calibri"/>
              <a:cs typeface="Calibri"/>
            </a:endParaRPr>
          </a:p>
          <a:p>
            <a:pPr marL="298450" algn="just">
              <a:lnSpc>
                <a:spcPct val="100000"/>
              </a:lnSpc>
              <a:spcBef>
                <a:spcPts val="50"/>
              </a:spcBef>
            </a:pPr>
            <a:r>
              <a:rPr sz="1800" dirty="0">
                <a:latin typeface="Calibri"/>
                <a:cs typeface="Calibri"/>
              </a:rPr>
              <a:t>thereby</a:t>
            </a:r>
            <a:r>
              <a:rPr sz="1800" spc="-40" dirty="0">
                <a:latin typeface="Calibri"/>
                <a:cs typeface="Calibri"/>
              </a:rPr>
              <a:t> </a:t>
            </a:r>
            <a:r>
              <a:rPr sz="1800" dirty="0">
                <a:latin typeface="Calibri"/>
                <a:cs typeface="Calibri"/>
              </a:rPr>
              <a:t>increase</a:t>
            </a:r>
            <a:r>
              <a:rPr sz="1800" spc="-35" dirty="0">
                <a:latin typeface="Calibri"/>
                <a:cs typeface="Calibri"/>
              </a:rPr>
              <a:t> </a:t>
            </a:r>
            <a:r>
              <a:rPr sz="1800" dirty="0">
                <a:latin typeface="Calibri"/>
                <a:cs typeface="Calibri"/>
              </a:rPr>
              <a:t>the</a:t>
            </a:r>
            <a:r>
              <a:rPr sz="1800" spc="-30" dirty="0">
                <a:latin typeface="Calibri"/>
                <a:cs typeface="Calibri"/>
              </a:rPr>
              <a:t> </a:t>
            </a:r>
            <a:r>
              <a:rPr sz="1800" spc="-10" dirty="0">
                <a:latin typeface="Calibri"/>
                <a:cs typeface="Calibri"/>
              </a:rPr>
              <a:t>utilization</a:t>
            </a:r>
            <a:r>
              <a:rPr sz="1800" spc="-30"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the</a:t>
            </a:r>
            <a:r>
              <a:rPr sz="1800" spc="-30" dirty="0">
                <a:latin typeface="Calibri"/>
                <a:cs typeface="Calibri"/>
              </a:rPr>
              <a:t> </a:t>
            </a:r>
            <a:r>
              <a:rPr sz="1800" spc="-10" dirty="0">
                <a:latin typeface="Calibri"/>
                <a:cs typeface="Calibri"/>
              </a:rPr>
              <a:t>resource.</a:t>
            </a:r>
            <a:endParaRPr sz="1800" dirty="0">
              <a:latin typeface="Calibri"/>
              <a:cs typeface="Calibri"/>
            </a:endParaRPr>
          </a:p>
          <a:p>
            <a:pPr marL="298450" marR="5715" indent="-146050" algn="just">
              <a:lnSpc>
                <a:spcPct val="99400"/>
              </a:lnSpc>
              <a:spcBef>
                <a:spcPts val="60"/>
              </a:spcBef>
              <a:buFont typeface="Arial MT"/>
              <a:buChar char="•"/>
              <a:tabLst>
                <a:tab pos="298450" algn="l"/>
              </a:tabLst>
            </a:pPr>
            <a:r>
              <a:rPr sz="1800" u="sng" dirty="0">
                <a:solidFill>
                  <a:srgbClr val="262EA4"/>
                </a:solidFill>
                <a:uFill>
                  <a:solidFill>
                    <a:srgbClr val="262EA4"/>
                  </a:solidFill>
                </a:uFill>
                <a:latin typeface="Calibri"/>
                <a:cs typeface="Calibri"/>
              </a:rPr>
              <a:t>The</a:t>
            </a:r>
            <a:r>
              <a:rPr sz="1800" u="sng" spc="-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resources</a:t>
            </a:r>
            <a:r>
              <a:rPr sz="1800" u="sng" spc="-1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needed</a:t>
            </a:r>
            <a:r>
              <a:rPr sz="1800" u="sng" spc="-1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over</a:t>
            </a:r>
            <a:r>
              <a:rPr sz="1800" u="sng" spc="-1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the</a:t>
            </a:r>
            <a:r>
              <a:rPr sz="1800" u="sng" spc="-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life</a:t>
            </a:r>
            <a:r>
              <a:rPr sz="1800" u="sng" spc="-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of</a:t>
            </a:r>
            <a:r>
              <a:rPr sz="1800" u="sng" spc="-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the</a:t>
            </a:r>
            <a:r>
              <a:rPr sz="1800" u="sng" spc="-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project</a:t>
            </a:r>
            <a:r>
              <a:rPr sz="1800" u="sng" spc="-1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have</a:t>
            </a:r>
            <a:r>
              <a:rPr sz="1800" u="sng" spc="-1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been reduced</a:t>
            </a:r>
            <a:r>
              <a:rPr sz="1800" u="sng" spc="-10" dirty="0">
                <a:solidFill>
                  <a:srgbClr val="262EA4"/>
                </a:solidFill>
                <a:uFill>
                  <a:solidFill>
                    <a:srgbClr val="262EA4"/>
                  </a:solidFill>
                </a:uFill>
                <a:latin typeface="Calibri"/>
                <a:cs typeface="Calibri"/>
              </a:rPr>
              <a:t> </a:t>
            </a:r>
            <a:r>
              <a:rPr sz="1800" u="sng" spc="-20" dirty="0">
                <a:solidFill>
                  <a:srgbClr val="262EA4"/>
                </a:solidFill>
                <a:uFill>
                  <a:solidFill>
                    <a:srgbClr val="262EA4"/>
                  </a:solidFill>
                </a:uFill>
                <a:latin typeface="Calibri"/>
                <a:cs typeface="Calibri"/>
              </a:rPr>
              <a:t>from</a:t>
            </a:r>
            <a:r>
              <a:rPr sz="1800" spc="-20" dirty="0">
                <a:solidFill>
                  <a:srgbClr val="262EA4"/>
                </a:solidFill>
                <a:latin typeface="Calibri"/>
                <a:cs typeface="Calibri"/>
              </a:rPr>
              <a:t> </a:t>
            </a:r>
            <a:r>
              <a:rPr sz="1800" u="sng" dirty="0">
                <a:solidFill>
                  <a:srgbClr val="262EA4"/>
                </a:solidFill>
                <a:uFill>
                  <a:solidFill>
                    <a:srgbClr val="262EA4"/>
                  </a:solidFill>
                </a:uFill>
                <a:latin typeface="Calibri"/>
                <a:cs typeface="Calibri"/>
              </a:rPr>
              <a:t>4</a:t>
            </a:r>
            <a:r>
              <a:rPr sz="1800" u="sng" spc="27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to</a:t>
            </a:r>
            <a:r>
              <a:rPr sz="1800" u="sng" spc="27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3</a:t>
            </a:r>
            <a:r>
              <a:rPr sz="1800" u="sng" spc="27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(25</a:t>
            </a:r>
            <a:r>
              <a:rPr sz="1800" u="sng" spc="27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percent).</a:t>
            </a:r>
            <a:r>
              <a:rPr sz="1800" u="sng" spc="26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In</a:t>
            </a:r>
            <a:r>
              <a:rPr sz="1800" u="sng" spc="27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addition,</a:t>
            </a:r>
            <a:r>
              <a:rPr sz="1800" u="sng" spc="27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the</a:t>
            </a:r>
            <a:r>
              <a:rPr sz="1800" u="sng" spc="27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profile</a:t>
            </a:r>
            <a:r>
              <a:rPr sz="1800" u="sng" spc="27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has</a:t>
            </a:r>
            <a:r>
              <a:rPr sz="1800" u="sng" spc="26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been</a:t>
            </a:r>
            <a:r>
              <a:rPr sz="1800" u="sng" spc="275"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smoothed,</a:t>
            </a:r>
            <a:r>
              <a:rPr sz="1800" u="sng" spc="270" dirty="0">
                <a:solidFill>
                  <a:srgbClr val="262EA4"/>
                </a:solidFill>
                <a:uFill>
                  <a:solidFill>
                    <a:srgbClr val="262EA4"/>
                  </a:solidFill>
                </a:uFill>
                <a:latin typeface="Calibri"/>
                <a:cs typeface="Calibri"/>
              </a:rPr>
              <a:t> </a:t>
            </a:r>
            <a:r>
              <a:rPr sz="1800" u="sng" spc="-10" dirty="0">
                <a:solidFill>
                  <a:srgbClr val="262EA4"/>
                </a:solidFill>
                <a:uFill>
                  <a:solidFill>
                    <a:srgbClr val="262EA4"/>
                  </a:solidFill>
                </a:uFill>
                <a:latin typeface="Calibri"/>
                <a:cs typeface="Calibri"/>
              </a:rPr>
              <a:t>which</a:t>
            </a:r>
            <a:r>
              <a:rPr sz="1800" spc="-10" dirty="0">
                <a:solidFill>
                  <a:srgbClr val="262EA4"/>
                </a:solidFill>
                <a:latin typeface="Calibri"/>
                <a:cs typeface="Calibri"/>
              </a:rPr>
              <a:t> </a:t>
            </a:r>
            <a:r>
              <a:rPr sz="1800" u="sng" dirty="0">
                <a:solidFill>
                  <a:srgbClr val="262EA4"/>
                </a:solidFill>
                <a:uFill>
                  <a:solidFill>
                    <a:srgbClr val="262EA4"/>
                  </a:solidFill>
                </a:uFill>
                <a:latin typeface="Calibri"/>
                <a:cs typeface="Calibri"/>
              </a:rPr>
              <a:t>should</a:t>
            </a:r>
            <a:r>
              <a:rPr sz="1800" u="sng" spc="-3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be</a:t>
            </a:r>
            <a:r>
              <a:rPr sz="1800" u="sng" spc="-3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easier</a:t>
            </a:r>
            <a:r>
              <a:rPr sz="1800" u="sng" spc="-30" dirty="0">
                <a:solidFill>
                  <a:srgbClr val="262EA4"/>
                </a:solidFill>
                <a:uFill>
                  <a:solidFill>
                    <a:srgbClr val="262EA4"/>
                  </a:solidFill>
                </a:uFill>
                <a:latin typeface="Calibri"/>
                <a:cs typeface="Calibri"/>
              </a:rPr>
              <a:t> </a:t>
            </a:r>
            <a:r>
              <a:rPr sz="1800" u="sng" dirty="0">
                <a:solidFill>
                  <a:srgbClr val="262EA4"/>
                </a:solidFill>
                <a:uFill>
                  <a:solidFill>
                    <a:srgbClr val="262EA4"/>
                  </a:solidFill>
                </a:uFill>
                <a:latin typeface="Calibri"/>
                <a:cs typeface="Calibri"/>
              </a:rPr>
              <a:t>to</a:t>
            </a:r>
            <a:r>
              <a:rPr sz="1800" u="sng" spc="-30" dirty="0">
                <a:solidFill>
                  <a:srgbClr val="262EA4"/>
                </a:solidFill>
                <a:uFill>
                  <a:solidFill>
                    <a:srgbClr val="262EA4"/>
                  </a:solidFill>
                </a:uFill>
                <a:latin typeface="Calibri"/>
                <a:cs typeface="Calibri"/>
              </a:rPr>
              <a:t> </a:t>
            </a:r>
            <a:r>
              <a:rPr sz="1800" u="sng" spc="-10" dirty="0">
                <a:solidFill>
                  <a:srgbClr val="262EA4"/>
                </a:solidFill>
                <a:uFill>
                  <a:solidFill>
                    <a:srgbClr val="262EA4"/>
                  </a:solidFill>
                </a:uFill>
                <a:latin typeface="Calibri"/>
                <a:cs typeface="Calibri"/>
              </a:rPr>
              <a:t>manage.</a:t>
            </a:r>
            <a:endParaRPr sz="1800" dirty="0">
              <a:latin typeface="Calibri"/>
              <a:cs typeface="Calibri"/>
            </a:endParaRPr>
          </a:p>
          <a:p>
            <a:pPr marL="297815" indent="-145415" algn="just">
              <a:lnSpc>
                <a:spcPts val="2090"/>
              </a:lnSpc>
              <a:buFont typeface="Arial MT"/>
              <a:buChar char="•"/>
              <a:tabLst>
                <a:tab pos="297815" algn="l"/>
              </a:tabLst>
            </a:pPr>
            <a:r>
              <a:rPr sz="1800" dirty="0">
                <a:latin typeface="Calibri"/>
                <a:cs typeface="Calibri"/>
              </a:rPr>
              <a:t>The</a:t>
            </a:r>
            <a:r>
              <a:rPr sz="1800" spc="-55" dirty="0">
                <a:latin typeface="Calibri"/>
                <a:cs typeface="Calibri"/>
              </a:rPr>
              <a:t> </a:t>
            </a:r>
            <a:r>
              <a:rPr sz="1800" dirty="0">
                <a:latin typeface="Calibri"/>
                <a:cs typeface="Calibri"/>
              </a:rPr>
              <a:t>Botanical</a:t>
            </a:r>
            <a:r>
              <a:rPr sz="1800" spc="-55" dirty="0">
                <a:latin typeface="Calibri"/>
                <a:cs typeface="Calibri"/>
              </a:rPr>
              <a:t> </a:t>
            </a:r>
            <a:r>
              <a:rPr sz="1800" dirty="0">
                <a:latin typeface="Calibri"/>
                <a:cs typeface="Calibri"/>
              </a:rPr>
              <a:t>Garden</a:t>
            </a:r>
            <a:r>
              <a:rPr sz="1800" spc="-50" dirty="0">
                <a:latin typeface="Calibri"/>
                <a:cs typeface="Calibri"/>
              </a:rPr>
              <a:t> </a:t>
            </a:r>
            <a:r>
              <a:rPr sz="1800" dirty="0">
                <a:latin typeface="Calibri"/>
                <a:cs typeface="Calibri"/>
              </a:rPr>
              <a:t>project</a:t>
            </a:r>
            <a:r>
              <a:rPr sz="1800" spc="-55" dirty="0">
                <a:latin typeface="Calibri"/>
                <a:cs typeface="Calibri"/>
              </a:rPr>
              <a:t> </a:t>
            </a:r>
            <a:r>
              <a:rPr sz="1800" dirty="0">
                <a:latin typeface="Calibri"/>
                <a:cs typeface="Calibri"/>
              </a:rPr>
              <a:t>schedule</a:t>
            </a:r>
            <a:r>
              <a:rPr sz="1800" spc="-50" dirty="0">
                <a:latin typeface="Calibri"/>
                <a:cs typeface="Calibri"/>
              </a:rPr>
              <a:t> </a:t>
            </a:r>
            <a:r>
              <a:rPr sz="1800" dirty="0">
                <a:latin typeface="Calibri"/>
                <a:cs typeface="Calibri"/>
              </a:rPr>
              <a:t>reached</a:t>
            </a:r>
            <a:r>
              <a:rPr sz="1800" spc="-50" dirty="0">
                <a:latin typeface="Calibri"/>
                <a:cs typeface="Calibri"/>
              </a:rPr>
              <a:t> </a:t>
            </a:r>
            <a:r>
              <a:rPr sz="1800" dirty="0">
                <a:latin typeface="Calibri"/>
                <a:cs typeface="Calibri"/>
              </a:rPr>
              <a:t>the</a:t>
            </a:r>
            <a:r>
              <a:rPr sz="1800" spc="-55" dirty="0">
                <a:latin typeface="Calibri"/>
                <a:cs typeface="Calibri"/>
              </a:rPr>
              <a:t> </a:t>
            </a:r>
            <a:r>
              <a:rPr sz="1800" dirty="0">
                <a:latin typeface="Calibri"/>
                <a:cs typeface="Calibri"/>
              </a:rPr>
              <a:t>(3)</a:t>
            </a:r>
            <a:r>
              <a:rPr sz="1800" spc="-50" dirty="0">
                <a:latin typeface="Calibri"/>
                <a:cs typeface="Calibri"/>
              </a:rPr>
              <a:t> </a:t>
            </a:r>
            <a:r>
              <a:rPr sz="1800" dirty="0">
                <a:latin typeface="Calibri"/>
                <a:cs typeface="Calibri"/>
              </a:rPr>
              <a:t>goals</a:t>
            </a:r>
            <a:r>
              <a:rPr sz="1800" spc="-55" dirty="0">
                <a:latin typeface="Calibri"/>
                <a:cs typeface="Calibri"/>
              </a:rPr>
              <a:t> </a:t>
            </a:r>
            <a:r>
              <a:rPr sz="1800" spc="-10" dirty="0">
                <a:latin typeface="Calibri"/>
                <a:cs typeface="Calibri"/>
              </a:rPr>
              <a:t>smoothing:</a:t>
            </a:r>
            <a:endParaRPr sz="1800" dirty="0">
              <a:latin typeface="Calibri"/>
              <a:cs typeface="Calibri"/>
            </a:endParaRPr>
          </a:p>
          <a:p>
            <a:pPr marL="527685" lvl="1" indent="-162560">
              <a:lnSpc>
                <a:spcPct val="100000"/>
              </a:lnSpc>
              <a:spcBef>
                <a:spcPts val="50"/>
              </a:spcBef>
              <a:buChar char="·"/>
              <a:tabLst>
                <a:tab pos="527685" algn="l"/>
              </a:tabLst>
            </a:pPr>
            <a:r>
              <a:rPr sz="1800" dirty="0">
                <a:latin typeface="Calibri"/>
                <a:cs typeface="Calibri"/>
              </a:rPr>
              <a:t>The</a:t>
            </a:r>
            <a:r>
              <a:rPr sz="1800" spc="-35" dirty="0">
                <a:latin typeface="Calibri"/>
                <a:cs typeface="Calibri"/>
              </a:rPr>
              <a:t> </a:t>
            </a:r>
            <a:r>
              <a:rPr sz="1800" dirty="0">
                <a:latin typeface="Calibri"/>
                <a:cs typeface="Calibri"/>
              </a:rPr>
              <a:t>peak</a:t>
            </a:r>
            <a:r>
              <a:rPr sz="1800" spc="-50"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demand</a:t>
            </a:r>
            <a:r>
              <a:rPr sz="1800" spc="-35" dirty="0">
                <a:latin typeface="Calibri"/>
                <a:cs typeface="Calibri"/>
              </a:rPr>
              <a:t> </a:t>
            </a:r>
            <a:r>
              <a:rPr sz="1800" dirty="0">
                <a:latin typeface="Calibri"/>
                <a:cs typeface="Calibri"/>
              </a:rPr>
              <a:t>for</a:t>
            </a:r>
            <a:r>
              <a:rPr sz="1800" spc="-40" dirty="0">
                <a:latin typeface="Calibri"/>
                <a:cs typeface="Calibri"/>
              </a:rPr>
              <a:t> </a:t>
            </a:r>
            <a:r>
              <a:rPr sz="1800" dirty="0">
                <a:latin typeface="Calibri"/>
                <a:cs typeface="Calibri"/>
              </a:rPr>
              <a:t>the</a:t>
            </a:r>
            <a:r>
              <a:rPr sz="1800" spc="-35" dirty="0">
                <a:latin typeface="Calibri"/>
                <a:cs typeface="Calibri"/>
              </a:rPr>
              <a:t> </a:t>
            </a:r>
            <a:r>
              <a:rPr sz="1800" dirty="0">
                <a:latin typeface="Calibri"/>
                <a:cs typeface="Calibri"/>
              </a:rPr>
              <a:t>resource</a:t>
            </a:r>
            <a:r>
              <a:rPr sz="1800" spc="-35" dirty="0">
                <a:latin typeface="Calibri"/>
                <a:cs typeface="Calibri"/>
              </a:rPr>
              <a:t> </a:t>
            </a:r>
            <a:r>
              <a:rPr sz="1800" dirty="0">
                <a:latin typeface="Calibri"/>
                <a:cs typeface="Calibri"/>
              </a:rPr>
              <a:t>was</a:t>
            </a:r>
            <a:r>
              <a:rPr sz="1800" spc="-45" dirty="0">
                <a:latin typeface="Calibri"/>
                <a:cs typeface="Calibri"/>
              </a:rPr>
              <a:t> </a:t>
            </a:r>
            <a:r>
              <a:rPr sz="1800" spc="-10" dirty="0">
                <a:latin typeface="Calibri"/>
                <a:cs typeface="Calibri"/>
              </a:rPr>
              <a:t>reduced.</a:t>
            </a:r>
            <a:endParaRPr sz="1800" dirty="0">
              <a:latin typeface="Calibri"/>
              <a:cs typeface="Calibri"/>
            </a:endParaRPr>
          </a:p>
          <a:p>
            <a:pPr marL="527685" lvl="1" indent="-162560">
              <a:lnSpc>
                <a:spcPts val="2125"/>
              </a:lnSpc>
              <a:spcBef>
                <a:spcPts val="45"/>
              </a:spcBef>
              <a:buChar char="·"/>
              <a:tabLst>
                <a:tab pos="527685" algn="l"/>
              </a:tabLst>
            </a:pPr>
            <a:r>
              <a:rPr sz="1800" dirty="0">
                <a:latin typeface="Calibri"/>
                <a:cs typeface="Calibri"/>
              </a:rPr>
              <a:t>The</a:t>
            </a:r>
            <a:r>
              <a:rPr sz="1800" spc="-35" dirty="0">
                <a:latin typeface="Calibri"/>
                <a:cs typeface="Calibri"/>
              </a:rPr>
              <a:t> </a:t>
            </a:r>
            <a:r>
              <a:rPr sz="1800" dirty="0">
                <a:latin typeface="Calibri"/>
                <a:cs typeface="Calibri"/>
              </a:rPr>
              <a:t>number</a:t>
            </a:r>
            <a:r>
              <a:rPr sz="1800" spc="-40" dirty="0">
                <a:latin typeface="Calibri"/>
                <a:cs typeface="Calibri"/>
              </a:rPr>
              <a:t> </a:t>
            </a:r>
            <a:r>
              <a:rPr sz="1800" dirty="0">
                <a:latin typeface="Calibri"/>
                <a:cs typeface="Calibri"/>
              </a:rPr>
              <a:t>of</a:t>
            </a:r>
            <a:r>
              <a:rPr sz="1800" spc="-35" dirty="0">
                <a:latin typeface="Calibri"/>
                <a:cs typeface="Calibri"/>
              </a:rPr>
              <a:t> </a:t>
            </a:r>
            <a:r>
              <a:rPr sz="1800" spc="-10" dirty="0">
                <a:latin typeface="Calibri"/>
                <a:cs typeface="Calibri"/>
              </a:rPr>
              <a:t>resources</a:t>
            </a:r>
            <a:r>
              <a:rPr sz="1800" spc="-40" dirty="0">
                <a:latin typeface="Calibri"/>
                <a:cs typeface="Calibri"/>
              </a:rPr>
              <a:t> </a:t>
            </a:r>
            <a:r>
              <a:rPr sz="1800" dirty="0">
                <a:latin typeface="Calibri"/>
                <a:cs typeface="Calibri"/>
              </a:rPr>
              <a:t>over</a:t>
            </a:r>
            <a:r>
              <a:rPr sz="1800" spc="-40"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life</a:t>
            </a:r>
            <a:r>
              <a:rPr sz="1800" spc="-30"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project</a:t>
            </a:r>
            <a:r>
              <a:rPr sz="1800" spc="-40" dirty="0">
                <a:latin typeface="Calibri"/>
                <a:cs typeface="Calibri"/>
              </a:rPr>
              <a:t> </a:t>
            </a:r>
            <a:r>
              <a:rPr sz="1800" dirty="0">
                <a:latin typeface="Calibri"/>
                <a:cs typeface="Calibri"/>
              </a:rPr>
              <a:t>have</a:t>
            </a:r>
            <a:r>
              <a:rPr sz="1800" spc="-30" dirty="0">
                <a:latin typeface="Calibri"/>
                <a:cs typeface="Calibri"/>
              </a:rPr>
              <a:t> </a:t>
            </a:r>
            <a:r>
              <a:rPr sz="1800" dirty="0">
                <a:latin typeface="Calibri"/>
                <a:cs typeface="Calibri"/>
              </a:rPr>
              <a:t>been</a:t>
            </a:r>
            <a:r>
              <a:rPr sz="1800" spc="-30" dirty="0">
                <a:latin typeface="Calibri"/>
                <a:cs typeface="Calibri"/>
              </a:rPr>
              <a:t> </a:t>
            </a:r>
            <a:r>
              <a:rPr sz="1800" spc="-10" dirty="0">
                <a:latin typeface="Calibri"/>
                <a:cs typeface="Calibri"/>
              </a:rPr>
              <a:t>reduced.</a:t>
            </a:r>
            <a:endParaRPr sz="1800" dirty="0">
              <a:latin typeface="Calibri"/>
              <a:cs typeface="Calibri"/>
            </a:endParaRPr>
          </a:p>
          <a:p>
            <a:pPr marL="527685" lvl="1" indent="-162560">
              <a:lnSpc>
                <a:spcPts val="2125"/>
              </a:lnSpc>
              <a:buChar char="·"/>
              <a:tabLst>
                <a:tab pos="527685" algn="l"/>
              </a:tabLst>
            </a:pPr>
            <a:r>
              <a:rPr sz="1800" dirty="0">
                <a:latin typeface="Calibri"/>
                <a:cs typeface="Calibri"/>
              </a:rPr>
              <a:t>The</a:t>
            </a:r>
            <a:r>
              <a:rPr sz="1800" spc="-55" dirty="0">
                <a:latin typeface="Calibri"/>
                <a:cs typeface="Calibri"/>
              </a:rPr>
              <a:t> </a:t>
            </a:r>
            <a:r>
              <a:rPr sz="1800" dirty="0">
                <a:latin typeface="Calibri"/>
                <a:cs typeface="Calibri"/>
              </a:rPr>
              <a:t>fluctuations</a:t>
            </a:r>
            <a:r>
              <a:rPr sz="1800" spc="-65" dirty="0">
                <a:latin typeface="Calibri"/>
                <a:cs typeface="Calibri"/>
              </a:rPr>
              <a:t> </a:t>
            </a:r>
            <a:r>
              <a:rPr sz="1800" dirty="0">
                <a:latin typeface="Calibri"/>
                <a:cs typeface="Calibri"/>
              </a:rPr>
              <a:t>in</a:t>
            </a:r>
            <a:r>
              <a:rPr sz="1800" spc="-55" dirty="0">
                <a:latin typeface="Calibri"/>
                <a:cs typeface="Calibri"/>
              </a:rPr>
              <a:t> </a:t>
            </a:r>
            <a:r>
              <a:rPr sz="1800" dirty="0">
                <a:latin typeface="Calibri"/>
                <a:cs typeface="Calibri"/>
              </a:rPr>
              <a:t>resource</a:t>
            </a:r>
            <a:r>
              <a:rPr sz="1800" spc="-50" dirty="0">
                <a:latin typeface="Calibri"/>
                <a:cs typeface="Calibri"/>
              </a:rPr>
              <a:t> </a:t>
            </a:r>
            <a:r>
              <a:rPr sz="1800" dirty="0">
                <a:latin typeface="Calibri"/>
                <a:cs typeface="Calibri"/>
              </a:rPr>
              <a:t>demand</a:t>
            </a:r>
            <a:r>
              <a:rPr sz="1800" spc="-55" dirty="0">
                <a:latin typeface="Calibri"/>
                <a:cs typeface="Calibri"/>
              </a:rPr>
              <a:t> </a:t>
            </a:r>
            <a:r>
              <a:rPr sz="1800" dirty="0">
                <a:latin typeface="Calibri"/>
                <a:cs typeface="Calibri"/>
              </a:rPr>
              <a:t>were</a:t>
            </a:r>
            <a:r>
              <a:rPr sz="1800" spc="-55" dirty="0">
                <a:latin typeface="Calibri"/>
                <a:cs typeface="Calibri"/>
              </a:rPr>
              <a:t> </a:t>
            </a:r>
            <a:r>
              <a:rPr sz="1800" spc="-10" dirty="0">
                <a:latin typeface="Calibri"/>
                <a:cs typeface="Calibri"/>
              </a:rPr>
              <a:t>minimized.</a:t>
            </a:r>
            <a:endParaRPr sz="1800" dirty="0">
              <a:latin typeface="Calibri"/>
              <a:cs typeface="Calibri"/>
            </a:endParaRPr>
          </a:p>
          <a:p>
            <a:pPr marL="298450" marR="5715" indent="-285750" algn="just">
              <a:lnSpc>
                <a:spcPct val="99400"/>
              </a:lnSpc>
              <a:spcBef>
                <a:spcPts val="65"/>
              </a:spcBef>
              <a:buFont typeface="Arial MT"/>
              <a:buChar char="•"/>
              <a:tabLst>
                <a:tab pos="298450" algn="l"/>
              </a:tabLst>
            </a:pPr>
            <a:r>
              <a:rPr sz="1800" dirty="0">
                <a:solidFill>
                  <a:srgbClr val="262EA4"/>
                </a:solidFill>
                <a:latin typeface="Calibri"/>
                <a:cs typeface="Calibri"/>
              </a:rPr>
              <a:t>The</a:t>
            </a:r>
            <a:r>
              <a:rPr sz="1800" spc="180" dirty="0">
                <a:solidFill>
                  <a:srgbClr val="262EA4"/>
                </a:solidFill>
                <a:latin typeface="Calibri"/>
                <a:cs typeface="Calibri"/>
              </a:rPr>
              <a:t> </a:t>
            </a:r>
            <a:r>
              <a:rPr sz="1800" dirty="0">
                <a:solidFill>
                  <a:srgbClr val="262EA4"/>
                </a:solidFill>
                <a:latin typeface="Calibri"/>
                <a:cs typeface="Calibri"/>
              </a:rPr>
              <a:t>downside</a:t>
            </a:r>
            <a:r>
              <a:rPr sz="1800" spc="180" dirty="0">
                <a:solidFill>
                  <a:srgbClr val="262EA4"/>
                </a:solidFill>
                <a:latin typeface="Calibri"/>
                <a:cs typeface="Calibri"/>
              </a:rPr>
              <a:t> </a:t>
            </a:r>
            <a:r>
              <a:rPr sz="1800" dirty="0">
                <a:solidFill>
                  <a:srgbClr val="262EA4"/>
                </a:solidFill>
                <a:latin typeface="Calibri"/>
                <a:cs typeface="Calibri"/>
              </a:rPr>
              <a:t>is</a:t>
            </a:r>
            <a:r>
              <a:rPr sz="1800" spc="170" dirty="0">
                <a:solidFill>
                  <a:srgbClr val="262EA4"/>
                </a:solidFill>
                <a:latin typeface="Calibri"/>
                <a:cs typeface="Calibri"/>
              </a:rPr>
              <a:t> </a:t>
            </a:r>
            <a:r>
              <a:rPr sz="1800" dirty="0">
                <a:solidFill>
                  <a:srgbClr val="262EA4"/>
                </a:solidFill>
                <a:latin typeface="Calibri"/>
                <a:cs typeface="Calibri"/>
              </a:rPr>
              <a:t>a</a:t>
            </a:r>
            <a:r>
              <a:rPr sz="1800" spc="185" dirty="0">
                <a:solidFill>
                  <a:srgbClr val="262EA4"/>
                </a:solidFill>
                <a:latin typeface="Calibri"/>
                <a:cs typeface="Calibri"/>
              </a:rPr>
              <a:t> </a:t>
            </a:r>
            <a:r>
              <a:rPr sz="1800" dirty="0">
                <a:solidFill>
                  <a:srgbClr val="262EA4"/>
                </a:solidFill>
                <a:latin typeface="Calibri"/>
                <a:cs typeface="Calibri"/>
              </a:rPr>
              <a:t>loss</a:t>
            </a:r>
            <a:r>
              <a:rPr sz="1800" spc="170" dirty="0">
                <a:solidFill>
                  <a:srgbClr val="262EA4"/>
                </a:solidFill>
                <a:latin typeface="Calibri"/>
                <a:cs typeface="Calibri"/>
              </a:rPr>
              <a:t> </a:t>
            </a:r>
            <a:r>
              <a:rPr sz="1800" dirty="0">
                <a:solidFill>
                  <a:srgbClr val="262EA4"/>
                </a:solidFill>
                <a:latin typeface="Calibri"/>
                <a:cs typeface="Calibri"/>
              </a:rPr>
              <a:t>of</a:t>
            </a:r>
            <a:r>
              <a:rPr sz="1800" spc="180" dirty="0">
                <a:solidFill>
                  <a:srgbClr val="262EA4"/>
                </a:solidFill>
                <a:latin typeface="Calibri"/>
                <a:cs typeface="Calibri"/>
              </a:rPr>
              <a:t> </a:t>
            </a:r>
            <a:r>
              <a:rPr sz="1800" dirty="0">
                <a:solidFill>
                  <a:srgbClr val="262EA4"/>
                </a:solidFill>
                <a:latin typeface="Calibri"/>
                <a:cs typeface="Calibri"/>
              </a:rPr>
              <a:t>flexibility</a:t>
            </a:r>
            <a:r>
              <a:rPr sz="1800" spc="170" dirty="0">
                <a:solidFill>
                  <a:srgbClr val="262EA4"/>
                </a:solidFill>
                <a:latin typeface="Calibri"/>
                <a:cs typeface="Calibri"/>
              </a:rPr>
              <a:t> </a:t>
            </a:r>
            <a:r>
              <a:rPr sz="1800" dirty="0">
                <a:solidFill>
                  <a:srgbClr val="262EA4"/>
                </a:solidFill>
                <a:latin typeface="Calibri"/>
                <a:cs typeface="Calibri"/>
              </a:rPr>
              <a:t>that</a:t>
            </a:r>
            <a:r>
              <a:rPr sz="1800" spc="175" dirty="0">
                <a:solidFill>
                  <a:srgbClr val="262EA4"/>
                </a:solidFill>
                <a:latin typeface="Calibri"/>
                <a:cs typeface="Calibri"/>
              </a:rPr>
              <a:t> </a:t>
            </a:r>
            <a:r>
              <a:rPr sz="1800" dirty="0">
                <a:solidFill>
                  <a:srgbClr val="262EA4"/>
                </a:solidFill>
                <a:latin typeface="Calibri"/>
                <a:cs typeface="Calibri"/>
              </a:rPr>
              <a:t>occurs</a:t>
            </a:r>
            <a:r>
              <a:rPr sz="1800" spc="175" dirty="0">
                <a:solidFill>
                  <a:srgbClr val="262EA4"/>
                </a:solidFill>
                <a:latin typeface="Calibri"/>
                <a:cs typeface="Calibri"/>
              </a:rPr>
              <a:t> </a:t>
            </a:r>
            <a:r>
              <a:rPr sz="1800" dirty="0">
                <a:solidFill>
                  <a:srgbClr val="262EA4"/>
                </a:solidFill>
                <a:latin typeface="Calibri"/>
                <a:cs typeface="Calibri"/>
              </a:rPr>
              <a:t>from</a:t>
            </a:r>
            <a:r>
              <a:rPr sz="1800" spc="180" dirty="0">
                <a:solidFill>
                  <a:srgbClr val="262EA4"/>
                </a:solidFill>
                <a:latin typeface="Calibri"/>
                <a:cs typeface="Calibri"/>
              </a:rPr>
              <a:t> </a:t>
            </a:r>
            <a:r>
              <a:rPr sz="1800" dirty="0">
                <a:solidFill>
                  <a:srgbClr val="262EA4"/>
                </a:solidFill>
                <a:latin typeface="Calibri"/>
                <a:cs typeface="Calibri"/>
              </a:rPr>
              <a:t>reducing</a:t>
            </a:r>
            <a:r>
              <a:rPr sz="1800" spc="180" dirty="0">
                <a:solidFill>
                  <a:srgbClr val="262EA4"/>
                </a:solidFill>
                <a:latin typeface="Calibri"/>
                <a:cs typeface="Calibri"/>
              </a:rPr>
              <a:t> </a:t>
            </a:r>
            <a:r>
              <a:rPr sz="1800" dirty="0">
                <a:solidFill>
                  <a:srgbClr val="262EA4"/>
                </a:solidFill>
                <a:latin typeface="Calibri"/>
                <a:cs typeface="Calibri"/>
              </a:rPr>
              <a:t>slack.</a:t>
            </a:r>
            <a:r>
              <a:rPr sz="1800" spc="175" dirty="0">
                <a:solidFill>
                  <a:srgbClr val="262EA4"/>
                </a:solidFill>
                <a:latin typeface="Calibri"/>
                <a:cs typeface="Calibri"/>
              </a:rPr>
              <a:t> </a:t>
            </a:r>
            <a:r>
              <a:rPr sz="1800" spc="-25" dirty="0">
                <a:solidFill>
                  <a:srgbClr val="262EA4"/>
                </a:solidFill>
                <a:latin typeface="Calibri"/>
                <a:cs typeface="Calibri"/>
              </a:rPr>
              <a:t>The </a:t>
            </a:r>
            <a:r>
              <a:rPr sz="1800" dirty="0">
                <a:solidFill>
                  <a:srgbClr val="262EA4"/>
                </a:solidFill>
                <a:latin typeface="Calibri"/>
                <a:cs typeface="Calibri"/>
              </a:rPr>
              <a:t>risk</a:t>
            </a:r>
            <a:r>
              <a:rPr sz="1800" spc="180" dirty="0">
                <a:solidFill>
                  <a:srgbClr val="262EA4"/>
                </a:solidFill>
                <a:latin typeface="Calibri"/>
                <a:cs typeface="Calibri"/>
              </a:rPr>
              <a:t>  </a:t>
            </a:r>
            <a:r>
              <a:rPr sz="1800" dirty="0">
                <a:solidFill>
                  <a:srgbClr val="262EA4"/>
                </a:solidFill>
                <a:latin typeface="Calibri"/>
                <a:cs typeface="Calibri"/>
              </a:rPr>
              <a:t>of</a:t>
            </a:r>
            <a:r>
              <a:rPr sz="1800" spc="185" dirty="0">
                <a:solidFill>
                  <a:srgbClr val="262EA4"/>
                </a:solidFill>
                <a:latin typeface="Calibri"/>
                <a:cs typeface="Calibri"/>
              </a:rPr>
              <a:t>  </a:t>
            </a:r>
            <a:r>
              <a:rPr sz="1800" dirty="0">
                <a:solidFill>
                  <a:srgbClr val="262EA4"/>
                </a:solidFill>
                <a:latin typeface="Calibri"/>
                <a:cs typeface="Calibri"/>
              </a:rPr>
              <a:t>activities</a:t>
            </a:r>
            <a:r>
              <a:rPr sz="1800" spc="180" dirty="0">
                <a:solidFill>
                  <a:srgbClr val="262EA4"/>
                </a:solidFill>
                <a:latin typeface="Calibri"/>
                <a:cs typeface="Calibri"/>
              </a:rPr>
              <a:t>  </a:t>
            </a:r>
            <a:r>
              <a:rPr sz="1800" dirty="0">
                <a:solidFill>
                  <a:srgbClr val="262EA4"/>
                </a:solidFill>
                <a:latin typeface="Calibri"/>
                <a:cs typeface="Calibri"/>
              </a:rPr>
              <a:t>delaying</a:t>
            </a:r>
            <a:r>
              <a:rPr sz="1800" spc="185" dirty="0">
                <a:solidFill>
                  <a:srgbClr val="262EA4"/>
                </a:solidFill>
                <a:latin typeface="Calibri"/>
                <a:cs typeface="Calibri"/>
              </a:rPr>
              <a:t>  </a:t>
            </a:r>
            <a:r>
              <a:rPr sz="1800" dirty="0">
                <a:solidFill>
                  <a:srgbClr val="262EA4"/>
                </a:solidFill>
                <a:latin typeface="Calibri"/>
                <a:cs typeface="Calibri"/>
              </a:rPr>
              <a:t>the</a:t>
            </a:r>
            <a:r>
              <a:rPr sz="1800" spc="185" dirty="0">
                <a:solidFill>
                  <a:srgbClr val="262EA4"/>
                </a:solidFill>
                <a:latin typeface="Calibri"/>
                <a:cs typeface="Calibri"/>
              </a:rPr>
              <a:t>  </a:t>
            </a:r>
            <a:r>
              <a:rPr sz="1800" dirty="0">
                <a:solidFill>
                  <a:srgbClr val="262EA4"/>
                </a:solidFill>
                <a:latin typeface="Calibri"/>
                <a:cs typeface="Calibri"/>
              </a:rPr>
              <a:t>project</a:t>
            </a:r>
            <a:r>
              <a:rPr sz="1800" spc="185" dirty="0">
                <a:solidFill>
                  <a:srgbClr val="262EA4"/>
                </a:solidFill>
                <a:latin typeface="Calibri"/>
                <a:cs typeface="Calibri"/>
              </a:rPr>
              <a:t>  </a:t>
            </a:r>
            <a:r>
              <a:rPr sz="1800" dirty="0">
                <a:solidFill>
                  <a:srgbClr val="262EA4"/>
                </a:solidFill>
                <a:latin typeface="Calibri"/>
                <a:cs typeface="Calibri"/>
              </a:rPr>
              <a:t>also</a:t>
            </a:r>
            <a:r>
              <a:rPr sz="1800" spc="185" dirty="0">
                <a:solidFill>
                  <a:srgbClr val="262EA4"/>
                </a:solidFill>
                <a:latin typeface="Calibri"/>
                <a:cs typeface="Calibri"/>
              </a:rPr>
              <a:t>  </a:t>
            </a:r>
            <a:r>
              <a:rPr sz="1800" dirty="0">
                <a:solidFill>
                  <a:srgbClr val="262EA4"/>
                </a:solidFill>
                <a:latin typeface="Calibri"/>
                <a:cs typeface="Calibri"/>
              </a:rPr>
              <a:t>increases</a:t>
            </a:r>
            <a:r>
              <a:rPr sz="1800" spc="180" dirty="0">
                <a:solidFill>
                  <a:srgbClr val="262EA4"/>
                </a:solidFill>
                <a:latin typeface="Calibri"/>
                <a:cs typeface="Calibri"/>
              </a:rPr>
              <a:t>  </a:t>
            </a:r>
            <a:r>
              <a:rPr sz="1800" dirty="0">
                <a:solidFill>
                  <a:srgbClr val="262EA4"/>
                </a:solidFill>
                <a:latin typeface="Calibri"/>
                <a:cs typeface="Calibri"/>
              </a:rPr>
              <a:t>because</a:t>
            </a:r>
            <a:r>
              <a:rPr sz="1800" spc="185" dirty="0">
                <a:solidFill>
                  <a:srgbClr val="262EA4"/>
                </a:solidFill>
                <a:latin typeface="Calibri"/>
                <a:cs typeface="Calibri"/>
              </a:rPr>
              <a:t>  </a:t>
            </a:r>
            <a:r>
              <a:rPr sz="1800" spc="-10" dirty="0">
                <a:solidFill>
                  <a:srgbClr val="262EA4"/>
                </a:solidFill>
                <a:latin typeface="Calibri"/>
                <a:cs typeface="Calibri"/>
              </a:rPr>
              <a:t>slack </a:t>
            </a:r>
            <a:r>
              <a:rPr sz="1800" dirty="0">
                <a:solidFill>
                  <a:srgbClr val="262EA4"/>
                </a:solidFill>
                <a:latin typeface="Calibri"/>
                <a:cs typeface="Calibri"/>
              </a:rPr>
              <a:t>reduction</a:t>
            </a:r>
            <a:r>
              <a:rPr sz="1800" spc="-55" dirty="0">
                <a:solidFill>
                  <a:srgbClr val="262EA4"/>
                </a:solidFill>
                <a:latin typeface="Calibri"/>
                <a:cs typeface="Calibri"/>
              </a:rPr>
              <a:t> </a:t>
            </a:r>
            <a:r>
              <a:rPr sz="1800" dirty="0">
                <a:solidFill>
                  <a:srgbClr val="262EA4"/>
                </a:solidFill>
                <a:latin typeface="Calibri"/>
                <a:cs typeface="Calibri"/>
              </a:rPr>
              <a:t>can</a:t>
            </a:r>
            <a:r>
              <a:rPr sz="1800" spc="-50" dirty="0">
                <a:solidFill>
                  <a:srgbClr val="262EA4"/>
                </a:solidFill>
                <a:latin typeface="Calibri"/>
                <a:cs typeface="Calibri"/>
              </a:rPr>
              <a:t> </a:t>
            </a:r>
            <a:r>
              <a:rPr sz="1800" dirty="0">
                <a:solidFill>
                  <a:srgbClr val="262EA4"/>
                </a:solidFill>
                <a:latin typeface="Calibri"/>
                <a:cs typeface="Calibri"/>
              </a:rPr>
              <a:t>create</a:t>
            </a:r>
            <a:r>
              <a:rPr sz="1800" spc="-45" dirty="0">
                <a:solidFill>
                  <a:srgbClr val="262EA4"/>
                </a:solidFill>
                <a:latin typeface="Calibri"/>
                <a:cs typeface="Calibri"/>
              </a:rPr>
              <a:t> </a:t>
            </a:r>
            <a:r>
              <a:rPr sz="1800" dirty="0">
                <a:solidFill>
                  <a:srgbClr val="262EA4"/>
                </a:solidFill>
                <a:latin typeface="Calibri"/>
                <a:cs typeface="Calibri"/>
              </a:rPr>
              <a:t>more</a:t>
            </a:r>
            <a:r>
              <a:rPr sz="1800" spc="-45" dirty="0">
                <a:solidFill>
                  <a:srgbClr val="262EA4"/>
                </a:solidFill>
                <a:latin typeface="Calibri"/>
                <a:cs typeface="Calibri"/>
              </a:rPr>
              <a:t> </a:t>
            </a:r>
            <a:r>
              <a:rPr sz="1800" dirty="0">
                <a:solidFill>
                  <a:srgbClr val="262EA4"/>
                </a:solidFill>
                <a:latin typeface="Calibri"/>
                <a:cs typeface="Calibri"/>
              </a:rPr>
              <a:t>critical</a:t>
            </a:r>
            <a:r>
              <a:rPr sz="1800" spc="-60" dirty="0">
                <a:solidFill>
                  <a:srgbClr val="262EA4"/>
                </a:solidFill>
                <a:latin typeface="Calibri"/>
                <a:cs typeface="Calibri"/>
              </a:rPr>
              <a:t> </a:t>
            </a:r>
            <a:r>
              <a:rPr sz="1800" dirty="0">
                <a:solidFill>
                  <a:srgbClr val="262EA4"/>
                </a:solidFill>
                <a:latin typeface="Calibri"/>
                <a:cs typeface="Calibri"/>
              </a:rPr>
              <a:t>activities</a:t>
            </a:r>
            <a:r>
              <a:rPr sz="1800" spc="-60" dirty="0">
                <a:solidFill>
                  <a:srgbClr val="262EA4"/>
                </a:solidFill>
                <a:latin typeface="Calibri"/>
                <a:cs typeface="Calibri"/>
              </a:rPr>
              <a:t> </a:t>
            </a:r>
            <a:r>
              <a:rPr sz="1800" dirty="0">
                <a:solidFill>
                  <a:srgbClr val="262EA4"/>
                </a:solidFill>
                <a:latin typeface="Calibri"/>
                <a:cs typeface="Calibri"/>
              </a:rPr>
              <a:t>and/or</a:t>
            </a:r>
            <a:r>
              <a:rPr sz="1800" spc="-50" dirty="0">
                <a:solidFill>
                  <a:srgbClr val="262EA4"/>
                </a:solidFill>
                <a:latin typeface="Calibri"/>
                <a:cs typeface="Calibri"/>
              </a:rPr>
              <a:t> </a:t>
            </a:r>
            <a:r>
              <a:rPr sz="1800" spc="-25" dirty="0">
                <a:solidFill>
                  <a:srgbClr val="262EA4"/>
                </a:solidFill>
                <a:latin typeface="Calibri"/>
                <a:cs typeface="Calibri"/>
              </a:rPr>
              <a:t>near-</a:t>
            </a:r>
            <a:r>
              <a:rPr sz="1800" dirty="0">
                <a:solidFill>
                  <a:srgbClr val="262EA4"/>
                </a:solidFill>
                <a:latin typeface="Calibri"/>
                <a:cs typeface="Calibri"/>
              </a:rPr>
              <a:t>critical</a:t>
            </a:r>
            <a:r>
              <a:rPr sz="1800" spc="-60" dirty="0">
                <a:solidFill>
                  <a:srgbClr val="262EA4"/>
                </a:solidFill>
                <a:latin typeface="Calibri"/>
                <a:cs typeface="Calibri"/>
              </a:rPr>
              <a:t> </a:t>
            </a:r>
            <a:r>
              <a:rPr sz="1800" spc="-10" dirty="0">
                <a:solidFill>
                  <a:srgbClr val="262EA4"/>
                </a:solidFill>
                <a:latin typeface="Calibri"/>
                <a:cs typeface="Calibri"/>
              </a:rPr>
              <a:t>activities.</a:t>
            </a:r>
            <a:endParaRPr sz="1800" dirty="0">
              <a:latin typeface="Calibri"/>
              <a:cs typeface="Calibri"/>
            </a:endParaRPr>
          </a:p>
        </p:txBody>
      </p:sp>
      <p:pic>
        <p:nvPicPr>
          <p:cNvPr id="6" name="Picture 5">
            <a:extLst>
              <a:ext uri="{FF2B5EF4-FFF2-40B4-BE49-F238E27FC236}">
                <a16:creationId xmlns:a16="http://schemas.microsoft.com/office/drawing/2014/main" id="{D8538010-44A2-AFF3-7B3A-7BB6B0FD534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92D30-1F5B-1A3F-AD62-78FBB7C4D0B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5E0876C-8469-C94F-8BD2-EA464A48B283}"/>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70D4ACB1-ECA0-365A-85B1-E02A9F09083E}"/>
              </a:ext>
            </a:extLst>
          </p:cNvPr>
          <p:cNvPicPr>
            <a:picLocks noChangeAspect="1"/>
          </p:cNvPicPr>
          <p:nvPr/>
        </p:nvPicPr>
        <p:blipFill>
          <a:blip r:embed="rId2"/>
          <a:stretch>
            <a:fillRect/>
          </a:stretch>
        </p:blipFill>
        <p:spPr>
          <a:xfrm>
            <a:off x="1268311" y="167357"/>
            <a:ext cx="9655377" cy="6523285"/>
          </a:xfrm>
          <a:prstGeom prst="rect">
            <a:avLst/>
          </a:prstGeom>
        </p:spPr>
      </p:pic>
      <p:pic>
        <p:nvPicPr>
          <p:cNvPr id="4" name="Picture 3">
            <a:extLst>
              <a:ext uri="{FF2B5EF4-FFF2-40B4-BE49-F238E27FC236}">
                <a16:creationId xmlns:a16="http://schemas.microsoft.com/office/drawing/2014/main" id="{313C2543-E2EA-28B6-204D-2F57581216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372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Resource-</a:t>
            </a:r>
            <a:r>
              <a:rPr spc="100" dirty="0"/>
              <a:t>Constrained</a:t>
            </a:r>
            <a:r>
              <a:rPr spc="140" dirty="0"/>
              <a:t> </a:t>
            </a:r>
            <a:r>
              <a:rPr spc="90" dirty="0"/>
              <a:t>Projects</a:t>
            </a:r>
            <a:r>
              <a:rPr spc="135" dirty="0"/>
              <a:t> </a:t>
            </a:r>
            <a:r>
              <a:rPr sz="1950" spc="-10" dirty="0"/>
              <a:t>(1/4)</a:t>
            </a:r>
            <a:endParaRPr sz="1950"/>
          </a:p>
        </p:txBody>
      </p:sp>
      <p:sp>
        <p:nvSpPr>
          <p:cNvPr id="3" name="object 3"/>
          <p:cNvSpPr txBox="1"/>
          <p:nvPr/>
        </p:nvSpPr>
        <p:spPr>
          <a:xfrm>
            <a:off x="870639" y="1558035"/>
            <a:ext cx="10358120" cy="4835525"/>
          </a:xfrm>
          <a:prstGeom prst="rect">
            <a:avLst/>
          </a:prstGeom>
        </p:spPr>
        <p:txBody>
          <a:bodyPr vert="horz" wrap="square" lIns="0" tIns="63500" rIns="0" bIns="0" rtlCol="0">
            <a:spAutoFit/>
          </a:bodyPr>
          <a:lstStyle/>
          <a:p>
            <a:pPr marL="241300" marR="5080" indent="-228600" algn="just">
              <a:lnSpc>
                <a:spcPts val="3000"/>
              </a:lnSpc>
              <a:spcBef>
                <a:spcPts val="500"/>
              </a:spcBef>
              <a:buFont typeface="Arial MT"/>
              <a:buChar char="•"/>
              <a:tabLst>
                <a:tab pos="241300" algn="l"/>
              </a:tabLst>
            </a:pPr>
            <a:r>
              <a:rPr sz="2800" dirty="0">
                <a:latin typeface="Calibri"/>
                <a:cs typeface="Calibri"/>
              </a:rPr>
              <a:t>The</a:t>
            </a:r>
            <a:r>
              <a:rPr sz="2800" spc="409" dirty="0">
                <a:latin typeface="Calibri"/>
                <a:cs typeface="Calibri"/>
              </a:rPr>
              <a:t> </a:t>
            </a:r>
            <a:r>
              <a:rPr sz="2800" dirty="0">
                <a:latin typeface="Calibri"/>
                <a:cs typeface="Calibri"/>
              </a:rPr>
              <a:t>trick</a:t>
            </a:r>
            <a:r>
              <a:rPr sz="2800" spc="420" dirty="0">
                <a:latin typeface="Calibri"/>
                <a:cs typeface="Calibri"/>
              </a:rPr>
              <a:t> </a:t>
            </a:r>
            <a:r>
              <a:rPr sz="2800" dirty="0">
                <a:latin typeface="Calibri"/>
                <a:cs typeface="Calibri"/>
              </a:rPr>
              <a:t>is</a:t>
            </a:r>
            <a:r>
              <a:rPr sz="2800" spc="420" dirty="0">
                <a:latin typeface="Calibri"/>
                <a:cs typeface="Calibri"/>
              </a:rPr>
              <a:t> </a:t>
            </a:r>
            <a:r>
              <a:rPr sz="2800" dirty="0">
                <a:latin typeface="Calibri"/>
                <a:cs typeface="Calibri"/>
              </a:rPr>
              <a:t>to</a:t>
            </a:r>
            <a:r>
              <a:rPr sz="2800" spc="415" dirty="0">
                <a:latin typeface="Calibri"/>
                <a:cs typeface="Calibri"/>
              </a:rPr>
              <a:t> </a:t>
            </a:r>
            <a:r>
              <a:rPr sz="2800" dirty="0">
                <a:latin typeface="Calibri"/>
                <a:cs typeface="Calibri"/>
              </a:rPr>
              <a:t>prioritize</a:t>
            </a:r>
            <a:r>
              <a:rPr sz="2800" spc="409" dirty="0">
                <a:latin typeface="Calibri"/>
                <a:cs typeface="Calibri"/>
              </a:rPr>
              <a:t> </a:t>
            </a:r>
            <a:r>
              <a:rPr sz="2800" dirty="0">
                <a:latin typeface="Calibri"/>
                <a:cs typeface="Calibri"/>
              </a:rPr>
              <a:t>and</a:t>
            </a:r>
            <a:r>
              <a:rPr sz="2800" spc="420" dirty="0">
                <a:latin typeface="Calibri"/>
                <a:cs typeface="Calibri"/>
              </a:rPr>
              <a:t> </a:t>
            </a:r>
            <a:r>
              <a:rPr sz="2800" dirty="0">
                <a:latin typeface="Calibri"/>
                <a:cs typeface="Calibri"/>
              </a:rPr>
              <a:t>allocate</a:t>
            </a:r>
            <a:r>
              <a:rPr sz="2800" spc="409" dirty="0">
                <a:latin typeface="Calibri"/>
                <a:cs typeface="Calibri"/>
              </a:rPr>
              <a:t> </a:t>
            </a:r>
            <a:r>
              <a:rPr sz="2800" dirty="0">
                <a:latin typeface="Calibri"/>
                <a:cs typeface="Calibri"/>
              </a:rPr>
              <a:t>resources</a:t>
            </a:r>
            <a:r>
              <a:rPr sz="2800" spc="415" dirty="0">
                <a:latin typeface="Calibri"/>
                <a:cs typeface="Calibri"/>
              </a:rPr>
              <a:t> </a:t>
            </a:r>
            <a:r>
              <a:rPr sz="2800" dirty="0">
                <a:latin typeface="Calibri"/>
                <a:cs typeface="Calibri"/>
              </a:rPr>
              <a:t>to</a:t>
            </a:r>
            <a:r>
              <a:rPr sz="2800" spc="415" dirty="0">
                <a:latin typeface="Calibri"/>
                <a:cs typeface="Calibri"/>
              </a:rPr>
              <a:t> </a:t>
            </a:r>
            <a:r>
              <a:rPr sz="2800" dirty="0">
                <a:latin typeface="Calibri"/>
                <a:cs typeface="Calibri"/>
              </a:rPr>
              <a:t>minimize</a:t>
            </a:r>
            <a:r>
              <a:rPr sz="2800" spc="409" dirty="0">
                <a:latin typeface="Calibri"/>
                <a:cs typeface="Calibri"/>
              </a:rPr>
              <a:t> </a:t>
            </a:r>
            <a:r>
              <a:rPr sz="2800" spc="-10" dirty="0">
                <a:latin typeface="Calibri"/>
                <a:cs typeface="Calibri"/>
              </a:rPr>
              <a:t>project </a:t>
            </a:r>
            <a:r>
              <a:rPr sz="2800" dirty="0">
                <a:latin typeface="Calibri"/>
                <a:cs typeface="Calibri"/>
              </a:rPr>
              <a:t>delay</a:t>
            </a:r>
            <a:r>
              <a:rPr sz="2800" spc="330" dirty="0">
                <a:latin typeface="Calibri"/>
                <a:cs typeface="Calibri"/>
              </a:rPr>
              <a:t> </a:t>
            </a:r>
            <a:r>
              <a:rPr sz="2800" dirty="0">
                <a:latin typeface="Calibri"/>
                <a:cs typeface="Calibri"/>
              </a:rPr>
              <a:t>without</a:t>
            </a:r>
            <a:r>
              <a:rPr sz="2800" spc="335" dirty="0">
                <a:latin typeface="Calibri"/>
                <a:cs typeface="Calibri"/>
              </a:rPr>
              <a:t> </a:t>
            </a:r>
            <a:r>
              <a:rPr sz="2800" dirty="0">
                <a:latin typeface="Calibri"/>
                <a:cs typeface="Calibri"/>
              </a:rPr>
              <a:t>exceeding</a:t>
            </a:r>
            <a:r>
              <a:rPr sz="2800" spc="335" dirty="0">
                <a:latin typeface="Calibri"/>
                <a:cs typeface="Calibri"/>
              </a:rPr>
              <a:t> </a:t>
            </a:r>
            <a:r>
              <a:rPr sz="2800" dirty="0">
                <a:latin typeface="Calibri"/>
                <a:cs typeface="Calibri"/>
              </a:rPr>
              <a:t>the</a:t>
            </a:r>
            <a:r>
              <a:rPr sz="2800" spc="330" dirty="0">
                <a:latin typeface="Calibri"/>
                <a:cs typeface="Calibri"/>
              </a:rPr>
              <a:t> </a:t>
            </a:r>
            <a:r>
              <a:rPr sz="2800" dirty="0">
                <a:latin typeface="Calibri"/>
                <a:cs typeface="Calibri"/>
              </a:rPr>
              <a:t>resource</a:t>
            </a:r>
            <a:r>
              <a:rPr sz="2800" spc="325" dirty="0">
                <a:latin typeface="Calibri"/>
                <a:cs typeface="Calibri"/>
              </a:rPr>
              <a:t> </a:t>
            </a:r>
            <a:r>
              <a:rPr sz="2800" dirty="0">
                <a:latin typeface="Calibri"/>
                <a:cs typeface="Calibri"/>
              </a:rPr>
              <a:t>limit</a:t>
            </a:r>
            <a:r>
              <a:rPr sz="2800" spc="330" dirty="0">
                <a:latin typeface="Calibri"/>
                <a:cs typeface="Calibri"/>
              </a:rPr>
              <a:t> </a:t>
            </a:r>
            <a:r>
              <a:rPr sz="2800" dirty="0">
                <a:latin typeface="Calibri"/>
                <a:cs typeface="Calibri"/>
              </a:rPr>
              <a:t>or</a:t>
            </a:r>
            <a:r>
              <a:rPr sz="2800" spc="330" dirty="0">
                <a:latin typeface="Calibri"/>
                <a:cs typeface="Calibri"/>
              </a:rPr>
              <a:t> </a:t>
            </a:r>
            <a:r>
              <a:rPr sz="2800" dirty="0">
                <a:latin typeface="Calibri"/>
                <a:cs typeface="Calibri"/>
              </a:rPr>
              <a:t>altering</a:t>
            </a:r>
            <a:r>
              <a:rPr sz="2800" spc="330" dirty="0">
                <a:latin typeface="Calibri"/>
                <a:cs typeface="Calibri"/>
              </a:rPr>
              <a:t> </a:t>
            </a:r>
            <a:r>
              <a:rPr sz="2800" dirty="0">
                <a:latin typeface="Calibri"/>
                <a:cs typeface="Calibri"/>
              </a:rPr>
              <a:t>the</a:t>
            </a:r>
            <a:r>
              <a:rPr sz="2800" spc="330" dirty="0">
                <a:latin typeface="Calibri"/>
                <a:cs typeface="Calibri"/>
              </a:rPr>
              <a:t> </a:t>
            </a:r>
            <a:r>
              <a:rPr sz="2800" spc="-10" dirty="0">
                <a:latin typeface="Calibri"/>
                <a:cs typeface="Calibri"/>
              </a:rPr>
              <a:t>technical </a:t>
            </a:r>
            <a:r>
              <a:rPr sz="2800" dirty="0">
                <a:latin typeface="Calibri"/>
                <a:cs typeface="Calibri"/>
              </a:rPr>
              <a:t>network</a:t>
            </a:r>
            <a:r>
              <a:rPr sz="2800" spc="-75" dirty="0">
                <a:latin typeface="Calibri"/>
                <a:cs typeface="Calibri"/>
              </a:rPr>
              <a:t> </a:t>
            </a:r>
            <a:r>
              <a:rPr sz="2800" spc="-10" dirty="0">
                <a:latin typeface="Calibri"/>
                <a:cs typeface="Calibri"/>
              </a:rPr>
              <a:t>relationships.</a:t>
            </a:r>
            <a:endParaRPr sz="2800" dirty="0">
              <a:latin typeface="Calibri"/>
              <a:cs typeface="Calibri"/>
            </a:endParaRPr>
          </a:p>
          <a:p>
            <a:pPr>
              <a:lnSpc>
                <a:spcPct val="100000"/>
              </a:lnSpc>
              <a:spcBef>
                <a:spcPts val="590"/>
              </a:spcBef>
              <a:buFont typeface="Arial MT"/>
              <a:buChar char="•"/>
            </a:pPr>
            <a:endParaRPr sz="2800" dirty="0">
              <a:latin typeface="Calibri"/>
              <a:cs typeface="Calibri"/>
            </a:endParaRPr>
          </a:p>
          <a:p>
            <a:pPr marL="241300" marR="5080" indent="-228600" algn="just">
              <a:lnSpc>
                <a:spcPts val="3000"/>
              </a:lnSpc>
              <a:buFont typeface="Arial MT"/>
              <a:buChar char="•"/>
              <a:tabLst>
                <a:tab pos="241300" algn="l"/>
              </a:tabLst>
            </a:pPr>
            <a:r>
              <a:rPr sz="2800" dirty="0">
                <a:solidFill>
                  <a:srgbClr val="262EA4"/>
                </a:solidFill>
                <a:latin typeface="Calibri"/>
                <a:cs typeface="Calibri"/>
              </a:rPr>
              <a:t>The</a:t>
            </a:r>
            <a:r>
              <a:rPr sz="2800" spc="355" dirty="0">
                <a:solidFill>
                  <a:srgbClr val="262EA4"/>
                </a:solidFill>
                <a:latin typeface="Calibri"/>
                <a:cs typeface="Calibri"/>
              </a:rPr>
              <a:t> </a:t>
            </a:r>
            <a:r>
              <a:rPr sz="2800" dirty="0">
                <a:solidFill>
                  <a:srgbClr val="262EA4"/>
                </a:solidFill>
                <a:latin typeface="Calibri"/>
                <a:cs typeface="Calibri"/>
              </a:rPr>
              <a:t>resource</a:t>
            </a:r>
            <a:r>
              <a:rPr sz="2800" spc="350" dirty="0">
                <a:solidFill>
                  <a:srgbClr val="262EA4"/>
                </a:solidFill>
                <a:latin typeface="Calibri"/>
                <a:cs typeface="Calibri"/>
              </a:rPr>
              <a:t> </a:t>
            </a:r>
            <a:r>
              <a:rPr sz="2800" dirty="0">
                <a:solidFill>
                  <a:srgbClr val="262EA4"/>
                </a:solidFill>
                <a:latin typeface="Calibri"/>
                <a:cs typeface="Calibri"/>
              </a:rPr>
              <a:t>scheduling</a:t>
            </a:r>
            <a:r>
              <a:rPr sz="2800" spc="355" dirty="0">
                <a:solidFill>
                  <a:srgbClr val="262EA4"/>
                </a:solidFill>
                <a:latin typeface="Calibri"/>
                <a:cs typeface="Calibri"/>
              </a:rPr>
              <a:t> </a:t>
            </a:r>
            <a:r>
              <a:rPr sz="2800" dirty="0">
                <a:solidFill>
                  <a:srgbClr val="262EA4"/>
                </a:solidFill>
                <a:latin typeface="Calibri"/>
                <a:cs typeface="Calibri"/>
              </a:rPr>
              <a:t>problem</a:t>
            </a:r>
            <a:r>
              <a:rPr sz="2800" spc="360" dirty="0">
                <a:solidFill>
                  <a:srgbClr val="262EA4"/>
                </a:solidFill>
                <a:latin typeface="Calibri"/>
                <a:cs typeface="Calibri"/>
              </a:rPr>
              <a:t> </a:t>
            </a:r>
            <a:r>
              <a:rPr sz="2800" dirty="0">
                <a:solidFill>
                  <a:srgbClr val="262EA4"/>
                </a:solidFill>
                <a:latin typeface="Calibri"/>
                <a:cs typeface="Calibri"/>
              </a:rPr>
              <a:t>is</a:t>
            </a:r>
            <a:r>
              <a:rPr sz="2800" spc="365" dirty="0">
                <a:solidFill>
                  <a:srgbClr val="262EA4"/>
                </a:solidFill>
                <a:latin typeface="Calibri"/>
                <a:cs typeface="Calibri"/>
              </a:rPr>
              <a:t> </a:t>
            </a:r>
            <a:r>
              <a:rPr sz="2800" dirty="0">
                <a:solidFill>
                  <a:srgbClr val="262EA4"/>
                </a:solidFill>
                <a:latin typeface="Calibri"/>
                <a:cs typeface="Calibri"/>
              </a:rPr>
              <a:t>a</a:t>
            </a:r>
            <a:r>
              <a:rPr sz="2800" spc="355" dirty="0">
                <a:solidFill>
                  <a:srgbClr val="262EA4"/>
                </a:solidFill>
                <a:latin typeface="Calibri"/>
                <a:cs typeface="Calibri"/>
              </a:rPr>
              <a:t> </a:t>
            </a:r>
            <a:r>
              <a:rPr sz="2800" dirty="0">
                <a:solidFill>
                  <a:srgbClr val="262EA4"/>
                </a:solidFill>
                <a:latin typeface="Calibri"/>
                <a:cs typeface="Calibri"/>
              </a:rPr>
              <a:t>large</a:t>
            </a:r>
            <a:r>
              <a:rPr sz="2800" spc="355" dirty="0">
                <a:solidFill>
                  <a:srgbClr val="262EA4"/>
                </a:solidFill>
                <a:latin typeface="Calibri"/>
                <a:cs typeface="Calibri"/>
              </a:rPr>
              <a:t> </a:t>
            </a:r>
            <a:r>
              <a:rPr sz="2800" dirty="0">
                <a:solidFill>
                  <a:srgbClr val="262EA4"/>
                </a:solidFill>
                <a:latin typeface="Calibri"/>
                <a:cs typeface="Calibri"/>
              </a:rPr>
              <a:t>combinatorial</a:t>
            </a:r>
            <a:r>
              <a:rPr sz="2800" spc="355" dirty="0">
                <a:solidFill>
                  <a:srgbClr val="262EA4"/>
                </a:solidFill>
                <a:latin typeface="Calibri"/>
                <a:cs typeface="Calibri"/>
              </a:rPr>
              <a:t> </a:t>
            </a:r>
            <a:r>
              <a:rPr sz="2800" dirty="0">
                <a:solidFill>
                  <a:srgbClr val="262EA4"/>
                </a:solidFill>
                <a:latin typeface="Calibri"/>
                <a:cs typeface="Calibri"/>
              </a:rPr>
              <a:t>one.</a:t>
            </a:r>
            <a:r>
              <a:rPr sz="2800" spc="365" dirty="0">
                <a:solidFill>
                  <a:srgbClr val="262EA4"/>
                </a:solidFill>
                <a:latin typeface="Calibri"/>
                <a:cs typeface="Calibri"/>
              </a:rPr>
              <a:t> </a:t>
            </a:r>
            <a:r>
              <a:rPr sz="2800" spc="-20" dirty="0">
                <a:solidFill>
                  <a:srgbClr val="262EA4"/>
                </a:solidFill>
                <a:latin typeface="Calibri"/>
                <a:cs typeface="Calibri"/>
              </a:rPr>
              <a:t>This </a:t>
            </a:r>
            <a:r>
              <a:rPr sz="2800" dirty="0">
                <a:solidFill>
                  <a:srgbClr val="262EA4"/>
                </a:solidFill>
                <a:latin typeface="Calibri"/>
                <a:cs typeface="Calibri"/>
              </a:rPr>
              <a:t>means</a:t>
            </a:r>
            <a:r>
              <a:rPr sz="2800" spc="200" dirty="0">
                <a:solidFill>
                  <a:srgbClr val="262EA4"/>
                </a:solidFill>
                <a:latin typeface="Calibri"/>
                <a:cs typeface="Calibri"/>
              </a:rPr>
              <a:t> </a:t>
            </a:r>
            <a:r>
              <a:rPr sz="2800" dirty="0">
                <a:solidFill>
                  <a:srgbClr val="262EA4"/>
                </a:solidFill>
                <a:latin typeface="Calibri"/>
                <a:cs typeface="Calibri"/>
              </a:rPr>
              <a:t>even</a:t>
            </a:r>
            <a:r>
              <a:rPr sz="2800" spc="204" dirty="0">
                <a:solidFill>
                  <a:srgbClr val="262EA4"/>
                </a:solidFill>
                <a:latin typeface="Calibri"/>
                <a:cs typeface="Calibri"/>
              </a:rPr>
              <a:t> </a:t>
            </a:r>
            <a:r>
              <a:rPr sz="2800" dirty="0">
                <a:solidFill>
                  <a:srgbClr val="262EA4"/>
                </a:solidFill>
                <a:latin typeface="Calibri"/>
                <a:cs typeface="Calibri"/>
              </a:rPr>
              <a:t>a</a:t>
            </a:r>
            <a:r>
              <a:rPr sz="2800" spc="195" dirty="0">
                <a:solidFill>
                  <a:srgbClr val="262EA4"/>
                </a:solidFill>
                <a:latin typeface="Calibri"/>
                <a:cs typeface="Calibri"/>
              </a:rPr>
              <a:t> </a:t>
            </a:r>
            <a:r>
              <a:rPr sz="2800" spc="-35" dirty="0">
                <a:solidFill>
                  <a:srgbClr val="262EA4"/>
                </a:solidFill>
                <a:latin typeface="Calibri"/>
                <a:cs typeface="Calibri"/>
              </a:rPr>
              <a:t>modest-</a:t>
            </a:r>
            <a:r>
              <a:rPr sz="2800" dirty="0">
                <a:solidFill>
                  <a:srgbClr val="262EA4"/>
                </a:solidFill>
                <a:latin typeface="Calibri"/>
                <a:cs typeface="Calibri"/>
              </a:rPr>
              <a:t>size</a:t>
            </a:r>
            <a:r>
              <a:rPr sz="2800" spc="200" dirty="0">
                <a:solidFill>
                  <a:srgbClr val="262EA4"/>
                </a:solidFill>
                <a:latin typeface="Calibri"/>
                <a:cs typeface="Calibri"/>
              </a:rPr>
              <a:t> </a:t>
            </a:r>
            <a:r>
              <a:rPr sz="2800" dirty="0">
                <a:solidFill>
                  <a:srgbClr val="262EA4"/>
                </a:solidFill>
                <a:latin typeface="Calibri"/>
                <a:cs typeface="Calibri"/>
              </a:rPr>
              <a:t>project</a:t>
            </a:r>
            <a:r>
              <a:rPr sz="2800" spc="195" dirty="0">
                <a:solidFill>
                  <a:srgbClr val="262EA4"/>
                </a:solidFill>
                <a:latin typeface="Calibri"/>
                <a:cs typeface="Calibri"/>
              </a:rPr>
              <a:t> </a:t>
            </a:r>
            <a:r>
              <a:rPr sz="2800" dirty="0">
                <a:solidFill>
                  <a:srgbClr val="262EA4"/>
                </a:solidFill>
                <a:latin typeface="Calibri"/>
                <a:cs typeface="Calibri"/>
              </a:rPr>
              <a:t>network</a:t>
            </a:r>
            <a:r>
              <a:rPr sz="2800" spc="204" dirty="0">
                <a:solidFill>
                  <a:srgbClr val="262EA4"/>
                </a:solidFill>
                <a:latin typeface="Calibri"/>
                <a:cs typeface="Calibri"/>
              </a:rPr>
              <a:t> </a:t>
            </a:r>
            <a:r>
              <a:rPr sz="2800" dirty="0">
                <a:solidFill>
                  <a:srgbClr val="262EA4"/>
                </a:solidFill>
                <a:latin typeface="Calibri"/>
                <a:cs typeface="Calibri"/>
              </a:rPr>
              <a:t>with</a:t>
            </a:r>
            <a:r>
              <a:rPr sz="2800" spc="204" dirty="0">
                <a:solidFill>
                  <a:srgbClr val="262EA4"/>
                </a:solidFill>
                <a:latin typeface="Calibri"/>
                <a:cs typeface="Calibri"/>
              </a:rPr>
              <a:t> </a:t>
            </a:r>
            <a:r>
              <a:rPr sz="2800" dirty="0">
                <a:solidFill>
                  <a:srgbClr val="262EA4"/>
                </a:solidFill>
                <a:latin typeface="Calibri"/>
                <a:cs typeface="Calibri"/>
              </a:rPr>
              <a:t>only</a:t>
            </a:r>
            <a:r>
              <a:rPr sz="2800" spc="195" dirty="0">
                <a:solidFill>
                  <a:srgbClr val="262EA4"/>
                </a:solidFill>
                <a:latin typeface="Calibri"/>
                <a:cs typeface="Calibri"/>
              </a:rPr>
              <a:t> </a:t>
            </a:r>
            <a:r>
              <a:rPr sz="2800" dirty="0">
                <a:solidFill>
                  <a:srgbClr val="262EA4"/>
                </a:solidFill>
                <a:latin typeface="Calibri"/>
                <a:cs typeface="Calibri"/>
              </a:rPr>
              <a:t>a</a:t>
            </a:r>
            <a:r>
              <a:rPr sz="2800" spc="200" dirty="0">
                <a:solidFill>
                  <a:srgbClr val="262EA4"/>
                </a:solidFill>
                <a:latin typeface="Calibri"/>
                <a:cs typeface="Calibri"/>
              </a:rPr>
              <a:t> </a:t>
            </a:r>
            <a:r>
              <a:rPr sz="2800" dirty="0">
                <a:solidFill>
                  <a:srgbClr val="262EA4"/>
                </a:solidFill>
                <a:latin typeface="Calibri"/>
                <a:cs typeface="Calibri"/>
              </a:rPr>
              <a:t>few</a:t>
            </a:r>
            <a:r>
              <a:rPr sz="2800" spc="195" dirty="0">
                <a:solidFill>
                  <a:srgbClr val="262EA4"/>
                </a:solidFill>
                <a:latin typeface="Calibri"/>
                <a:cs typeface="Calibri"/>
              </a:rPr>
              <a:t> </a:t>
            </a:r>
            <a:r>
              <a:rPr sz="2800" spc="-10" dirty="0">
                <a:solidFill>
                  <a:srgbClr val="262EA4"/>
                </a:solidFill>
                <a:latin typeface="Calibri"/>
                <a:cs typeface="Calibri"/>
              </a:rPr>
              <a:t>resource </a:t>
            </a:r>
            <a:r>
              <a:rPr sz="2800" dirty="0">
                <a:solidFill>
                  <a:srgbClr val="262EA4"/>
                </a:solidFill>
                <a:latin typeface="Calibri"/>
                <a:cs typeface="Calibri"/>
              </a:rPr>
              <a:t>types</a:t>
            </a:r>
            <a:r>
              <a:rPr sz="2800" spc="-85" dirty="0">
                <a:solidFill>
                  <a:srgbClr val="262EA4"/>
                </a:solidFill>
                <a:latin typeface="Calibri"/>
                <a:cs typeface="Calibri"/>
              </a:rPr>
              <a:t> </a:t>
            </a:r>
            <a:r>
              <a:rPr sz="2800" dirty="0">
                <a:solidFill>
                  <a:srgbClr val="262EA4"/>
                </a:solidFill>
                <a:latin typeface="Calibri"/>
                <a:cs typeface="Calibri"/>
              </a:rPr>
              <a:t>might</a:t>
            </a:r>
            <a:r>
              <a:rPr sz="2800" spc="-90" dirty="0">
                <a:solidFill>
                  <a:srgbClr val="262EA4"/>
                </a:solidFill>
                <a:latin typeface="Calibri"/>
                <a:cs typeface="Calibri"/>
              </a:rPr>
              <a:t> </a:t>
            </a:r>
            <a:r>
              <a:rPr sz="2800" dirty="0">
                <a:solidFill>
                  <a:srgbClr val="262EA4"/>
                </a:solidFill>
                <a:latin typeface="Calibri"/>
                <a:cs typeface="Calibri"/>
              </a:rPr>
              <a:t>have</a:t>
            </a:r>
            <a:r>
              <a:rPr sz="2800" spc="-95" dirty="0">
                <a:solidFill>
                  <a:srgbClr val="262EA4"/>
                </a:solidFill>
                <a:latin typeface="Calibri"/>
                <a:cs typeface="Calibri"/>
              </a:rPr>
              <a:t> </a:t>
            </a:r>
            <a:r>
              <a:rPr sz="2800" dirty="0">
                <a:solidFill>
                  <a:srgbClr val="262EA4"/>
                </a:solidFill>
                <a:latin typeface="Calibri"/>
                <a:cs typeface="Calibri"/>
              </a:rPr>
              <a:t>several</a:t>
            </a:r>
            <a:r>
              <a:rPr sz="2800" spc="-95" dirty="0">
                <a:solidFill>
                  <a:srgbClr val="262EA4"/>
                </a:solidFill>
                <a:latin typeface="Calibri"/>
                <a:cs typeface="Calibri"/>
              </a:rPr>
              <a:t> </a:t>
            </a:r>
            <a:r>
              <a:rPr sz="2800" dirty="0">
                <a:solidFill>
                  <a:srgbClr val="262EA4"/>
                </a:solidFill>
                <a:latin typeface="Calibri"/>
                <a:cs typeface="Calibri"/>
              </a:rPr>
              <a:t>thousand</a:t>
            </a:r>
            <a:r>
              <a:rPr sz="2800" spc="-85" dirty="0">
                <a:solidFill>
                  <a:srgbClr val="262EA4"/>
                </a:solidFill>
                <a:latin typeface="Calibri"/>
                <a:cs typeface="Calibri"/>
              </a:rPr>
              <a:t> </a:t>
            </a:r>
            <a:r>
              <a:rPr sz="2800" dirty="0">
                <a:solidFill>
                  <a:srgbClr val="262EA4"/>
                </a:solidFill>
                <a:latin typeface="Calibri"/>
                <a:cs typeface="Calibri"/>
              </a:rPr>
              <a:t>feasible</a:t>
            </a:r>
            <a:r>
              <a:rPr sz="2800" spc="-95" dirty="0">
                <a:solidFill>
                  <a:srgbClr val="262EA4"/>
                </a:solidFill>
                <a:latin typeface="Calibri"/>
                <a:cs typeface="Calibri"/>
              </a:rPr>
              <a:t> </a:t>
            </a:r>
            <a:r>
              <a:rPr sz="2800" spc="-10" dirty="0">
                <a:solidFill>
                  <a:srgbClr val="262EA4"/>
                </a:solidFill>
                <a:latin typeface="Calibri"/>
                <a:cs typeface="Calibri"/>
              </a:rPr>
              <a:t>solutions.</a:t>
            </a:r>
            <a:endParaRPr sz="2800" dirty="0">
              <a:latin typeface="Calibri"/>
              <a:cs typeface="Calibri"/>
            </a:endParaRPr>
          </a:p>
          <a:p>
            <a:pPr marL="240665" indent="-227965">
              <a:lnSpc>
                <a:spcPct val="100000"/>
              </a:lnSpc>
              <a:spcBef>
                <a:spcPts val="2985"/>
              </a:spcBef>
              <a:buFont typeface="Arial MT"/>
              <a:buChar char="•"/>
              <a:tabLst>
                <a:tab pos="240665" algn="l"/>
              </a:tabLst>
            </a:pPr>
            <a:r>
              <a:rPr sz="2800" spc="-10" dirty="0">
                <a:latin typeface="Calibri"/>
                <a:cs typeface="Calibri"/>
              </a:rPr>
              <a:t>Mathematical</a:t>
            </a:r>
            <a:r>
              <a:rPr sz="2800" spc="-65" dirty="0">
                <a:latin typeface="Calibri"/>
                <a:cs typeface="Calibri"/>
              </a:rPr>
              <a:t> </a:t>
            </a:r>
            <a:r>
              <a:rPr sz="2800" dirty="0">
                <a:latin typeface="Calibri"/>
                <a:cs typeface="Calibri"/>
              </a:rPr>
              <a:t>solutions</a:t>
            </a:r>
            <a:r>
              <a:rPr sz="2800" spc="-50" dirty="0">
                <a:latin typeface="Calibri"/>
                <a:cs typeface="Calibri"/>
              </a:rPr>
              <a:t> </a:t>
            </a:r>
            <a:r>
              <a:rPr sz="2800" dirty="0">
                <a:latin typeface="Calibri"/>
                <a:cs typeface="Calibri"/>
              </a:rPr>
              <a:t>(e.g.,</a:t>
            </a:r>
            <a:r>
              <a:rPr sz="2800" spc="-45" dirty="0">
                <a:latin typeface="Calibri"/>
                <a:cs typeface="Calibri"/>
              </a:rPr>
              <a:t> </a:t>
            </a:r>
            <a:r>
              <a:rPr sz="2800" dirty="0">
                <a:latin typeface="Calibri"/>
                <a:cs typeface="Calibri"/>
              </a:rPr>
              <a:t>linear</a:t>
            </a:r>
            <a:r>
              <a:rPr sz="2800" spc="-55" dirty="0">
                <a:latin typeface="Calibri"/>
                <a:cs typeface="Calibri"/>
              </a:rPr>
              <a:t> </a:t>
            </a:r>
            <a:r>
              <a:rPr sz="2800" spc="-10" dirty="0">
                <a:latin typeface="Calibri"/>
                <a:cs typeface="Calibri"/>
              </a:rPr>
              <a:t>programming)</a:t>
            </a:r>
            <a:r>
              <a:rPr sz="2800" spc="-50" dirty="0">
                <a:latin typeface="Calibri"/>
                <a:cs typeface="Calibri"/>
              </a:rPr>
              <a:t> </a:t>
            </a:r>
            <a:r>
              <a:rPr sz="2800" dirty="0">
                <a:latin typeface="Calibri"/>
                <a:cs typeface="Calibri"/>
              </a:rPr>
              <a:t>are</a:t>
            </a:r>
            <a:r>
              <a:rPr sz="2800" spc="-60" dirty="0">
                <a:latin typeface="Calibri"/>
                <a:cs typeface="Calibri"/>
              </a:rPr>
              <a:t> </a:t>
            </a:r>
            <a:r>
              <a:rPr sz="2800" spc="-10" dirty="0">
                <a:latin typeface="Calibri"/>
                <a:cs typeface="Calibri"/>
              </a:rPr>
              <a:t>impractical.</a:t>
            </a:r>
            <a:endParaRPr sz="2800" dirty="0">
              <a:latin typeface="Calibri"/>
              <a:cs typeface="Calibri"/>
            </a:endParaRPr>
          </a:p>
          <a:p>
            <a:pPr marL="241300" marR="5715" indent="-228600" algn="just">
              <a:lnSpc>
                <a:spcPts val="3000"/>
              </a:lnSpc>
              <a:spcBef>
                <a:spcPts val="3160"/>
              </a:spcBef>
              <a:buFont typeface="Arial MT"/>
              <a:buChar char="•"/>
              <a:tabLst>
                <a:tab pos="241300" algn="l"/>
              </a:tabLst>
            </a:pPr>
            <a:r>
              <a:rPr sz="2800" dirty="0">
                <a:solidFill>
                  <a:srgbClr val="262EA4"/>
                </a:solidFill>
                <a:latin typeface="Calibri"/>
                <a:cs typeface="Calibri"/>
              </a:rPr>
              <a:t>The</a:t>
            </a:r>
            <a:r>
              <a:rPr sz="2800" spc="480" dirty="0">
                <a:solidFill>
                  <a:srgbClr val="262EA4"/>
                </a:solidFill>
                <a:latin typeface="Calibri"/>
                <a:cs typeface="Calibri"/>
              </a:rPr>
              <a:t> </a:t>
            </a:r>
            <a:r>
              <a:rPr sz="2800" dirty="0">
                <a:solidFill>
                  <a:srgbClr val="262EA4"/>
                </a:solidFill>
                <a:latin typeface="Calibri"/>
                <a:cs typeface="Calibri"/>
              </a:rPr>
              <a:t>computer</a:t>
            </a:r>
            <a:r>
              <a:rPr sz="2800" spc="490" dirty="0">
                <a:solidFill>
                  <a:srgbClr val="262EA4"/>
                </a:solidFill>
                <a:latin typeface="Calibri"/>
                <a:cs typeface="Calibri"/>
              </a:rPr>
              <a:t> </a:t>
            </a:r>
            <a:r>
              <a:rPr sz="2800" dirty="0">
                <a:solidFill>
                  <a:srgbClr val="262EA4"/>
                </a:solidFill>
                <a:latin typeface="Calibri"/>
                <a:cs typeface="Calibri"/>
              </a:rPr>
              <a:t>software</a:t>
            </a:r>
            <a:r>
              <a:rPr sz="2800" spc="484" dirty="0">
                <a:solidFill>
                  <a:srgbClr val="262EA4"/>
                </a:solidFill>
                <a:latin typeface="Calibri"/>
                <a:cs typeface="Calibri"/>
              </a:rPr>
              <a:t> </a:t>
            </a:r>
            <a:r>
              <a:rPr sz="2800" dirty="0">
                <a:solidFill>
                  <a:srgbClr val="262EA4"/>
                </a:solidFill>
                <a:latin typeface="Calibri"/>
                <a:cs typeface="Calibri"/>
              </a:rPr>
              <a:t>available</a:t>
            </a:r>
            <a:r>
              <a:rPr sz="2800" spc="475" dirty="0">
                <a:solidFill>
                  <a:srgbClr val="262EA4"/>
                </a:solidFill>
                <a:latin typeface="Calibri"/>
                <a:cs typeface="Calibri"/>
              </a:rPr>
              <a:t> </a:t>
            </a:r>
            <a:r>
              <a:rPr sz="2800" dirty="0">
                <a:solidFill>
                  <a:srgbClr val="262EA4"/>
                </a:solidFill>
                <a:latin typeface="Calibri"/>
                <a:cs typeface="Calibri"/>
              </a:rPr>
              <a:t>today</a:t>
            </a:r>
            <a:r>
              <a:rPr sz="2800" spc="484" dirty="0">
                <a:solidFill>
                  <a:srgbClr val="262EA4"/>
                </a:solidFill>
                <a:latin typeface="Calibri"/>
                <a:cs typeface="Calibri"/>
              </a:rPr>
              <a:t> </a:t>
            </a:r>
            <a:r>
              <a:rPr sz="2800" dirty="0">
                <a:solidFill>
                  <a:srgbClr val="262EA4"/>
                </a:solidFill>
                <a:latin typeface="Calibri"/>
                <a:cs typeface="Calibri"/>
              </a:rPr>
              <a:t>makes</a:t>
            </a:r>
            <a:r>
              <a:rPr sz="2800" spc="495" dirty="0">
                <a:solidFill>
                  <a:srgbClr val="262EA4"/>
                </a:solidFill>
                <a:latin typeface="Calibri"/>
                <a:cs typeface="Calibri"/>
              </a:rPr>
              <a:t> </a:t>
            </a:r>
            <a:r>
              <a:rPr sz="2800" dirty="0">
                <a:solidFill>
                  <a:srgbClr val="262EA4"/>
                </a:solidFill>
                <a:latin typeface="Calibri"/>
                <a:cs typeface="Calibri"/>
              </a:rPr>
              <a:t>it</a:t>
            </a:r>
            <a:r>
              <a:rPr sz="2800" spc="490" dirty="0">
                <a:solidFill>
                  <a:srgbClr val="262EA4"/>
                </a:solidFill>
                <a:latin typeface="Calibri"/>
                <a:cs typeface="Calibri"/>
              </a:rPr>
              <a:t> </a:t>
            </a:r>
            <a:r>
              <a:rPr sz="2800" dirty="0">
                <a:solidFill>
                  <a:srgbClr val="262EA4"/>
                </a:solidFill>
                <a:latin typeface="Calibri"/>
                <a:cs typeface="Calibri"/>
              </a:rPr>
              <a:t>very</a:t>
            </a:r>
            <a:r>
              <a:rPr sz="2800" spc="480" dirty="0">
                <a:solidFill>
                  <a:srgbClr val="262EA4"/>
                </a:solidFill>
                <a:latin typeface="Calibri"/>
                <a:cs typeface="Calibri"/>
              </a:rPr>
              <a:t> </a:t>
            </a:r>
            <a:r>
              <a:rPr sz="2800" dirty="0">
                <a:solidFill>
                  <a:srgbClr val="262EA4"/>
                </a:solidFill>
                <a:latin typeface="Calibri"/>
                <a:cs typeface="Calibri"/>
              </a:rPr>
              <a:t>easy</a:t>
            </a:r>
            <a:r>
              <a:rPr sz="2800" spc="490" dirty="0">
                <a:solidFill>
                  <a:srgbClr val="262EA4"/>
                </a:solidFill>
                <a:latin typeface="Calibri"/>
                <a:cs typeface="Calibri"/>
              </a:rPr>
              <a:t> </a:t>
            </a:r>
            <a:r>
              <a:rPr sz="2800" dirty="0">
                <a:solidFill>
                  <a:srgbClr val="262EA4"/>
                </a:solidFill>
                <a:latin typeface="Calibri"/>
                <a:cs typeface="Calibri"/>
              </a:rPr>
              <a:t>for</a:t>
            </a:r>
            <a:r>
              <a:rPr sz="2800" spc="490" dirty="0">
                <a:solidFill>
                  <a:srgbClr val="262EA4"/>
                </a:solidFill>
                <a:latin typeface="Calibri"/>
                <a:cs typeface="Calibri"/>
              </a:rPr>
              <a:t> </a:t>
            </a:r>
            <a:r>
              <a:rPr sz="2800" spc="-25" dirty="0">
                <a:solidFill>
                  <a:srgbClr val="262EA4"/>
                </a:solidFill>
                <a:latin typeface="Calibri"/>
                <a:cs typeface="Calibri"/>
              </a:rPr>
              <a:t>the </a:t>
            </a:r>
            <a:r>
              <a:rPr sz="2800" dirty="0">
                <a:solidFill>
                  <a:srgbClr val="262EA4"/>
                </a:solidFill>
                <a:latin typeface="Calibri"/>
                <a:cs typeface="Calibri"/>
              </a:rPr>
              <a:t>project</a:t>
            </a:r>
            <a:r>
              <a:rPr sz="2800" spc="-70" dirty="0">
                <a:solidFill>
                  <a:srgbClr val="262EA4"/>
                </a:solidFill>
                <a:latin typeface="Calibri"/>
                <a:cs typeface="Calibri"/>
              </a:rPr>
              <a:t> </a:t>
            </a:r>
            <a:r>
              <a:rPr sz="2800" dirty="0">
                <a:solidFill>
                  <a:srgbClr val="262EA4"/>
                </a:solidFill>
                <a:latin typeface="Calibri"/>
                <a:cs typeface="Calibri"/>
              </a:rPr>
              <a:t>manager</a:t>
            </a:r>
            <a:r>
              <a:rPr sz="2800" spc="-65" dirty="0">
                <a:solidFill>
                  <a:srgbClr val="262EA4"/>
                </a:solidFill>
                <a:latin typeface="Calibri"/>
                <a:cs typeface="Calibri"/>
              </a:rPr>
              <a:t> </a:t>
            </a:r>
            <a:r>
              <a:rPr sz="2800" dirty="0">
                <a:solidFill>
                  <a:srgbClr val="262EA4"/>
                </a:solidFill>
                <a:latin typeface="Calibri"/>
                <a:cs typeface="Calibri"/>
              </a:rPr>
              <a:t>to</a:t>
            </a:r>
            <a:r>
              <a:rPr sz="2800" spc="-65" dirty="0">
                <a:solidFill>
                  <a:srgbClr val="262EA4"/>
                </a:solidFill>
                <a:latin typeface="Calibri"/>
                <a:cs typeface="Calibri"/>
              </a:rPr>
              <a:t> </a:t>
            </a:r>
            <a:r>
              <a:rPr sz="2800" dirty="0">
                <a:solidFill>
                  <a:srgbClr val="262EA4"/>
                </a:solidFill>
                <a:latin typeface="Calibri"/>
                <a:cs typeface="Calibri"/>
              </a:rPr>
              <a:t>create</a:t>
            </a:r>
            <a:r>
              <a:rPr sz="2800" spc="-70" dirty="0">
                <a:solidFill>
                  <a:srgbClr val="262EA4"/>
                </a:solidFill>
                <a:latin typeface="Calibri"/>
                <a:cs typeface="Calibri"/>
              </a:rPr>
              <a:t> </a:t>
            </a:r>
            <a:r>
              <a:rPr sz="2800" dirty="0">
                <a:solidFill>
                  <a:srgbClr val="262EA4"/>
                </a:solidFill>
                <a:latin typeface="Calibri"/>
                <a:cs typeface="Calibri"/>
              </a:rPr>
              <a:t>a</a:t>
            </a:r>
            <a:r>
              <a:rPr sz="2800" spc="-65" dirty="0">
                <a:solidFill>
                  <a:srgbClr val="262EA4"/>
                </a:solidFill>
                <a:latin typeface="Calibri"/>
                <a:cs typeface="Calibri"/>
              </a:rPr>
              <a:t> </a:t>
            </a:r>
            <a:r>
              <a:rPr sz="2800" dirty="0">
                <a:solidFill>
                  <a:srgbClr val="262EA4"/>
                </a:solidFill>
                <a:latin typeface="Calibri"/>
                <a:cs typeface="Calibri"/>
              </a:rPr>
              <a:t>good</a:t>
            </a:r>
            <a:r>
              <a:rPr sz="2800" spc="-60" dirty="0">
                <a:solidFill>
                  <a:srgbClr val="262EA4"/>
                </a:solidFill>
                <a:latin typeface="Calibri"/>
                <a:cs typeface="Calibri"/>
              </a:rPr>
              <a:t> </a:t>
            </a:r>
            <a:r>
              <a:rPr sz="2800" dirty="0">
                <a:solidFill>
                  <a:srgbClr val="262EA4"/>
                </a:solidFill>
                <a:latin typeface="Calibri"/>
                <a:cs typeface="Calibri"/>
              </a:rPr>
              <a:t>resource</a:t>
            </a:r>
            <a:r>
              <a:rPr sz="2800" spc="-75" dirty="0">
                <a:solidFill>
                  <a:srgbClr val="262EA4"/>
                </a:solidFill>
                <a:latin typeface="Calibri"/>
                <a:cs typeface="Calibri"/>
              </a:rPr>
              <a:t> </a:t>
            </a:r>
            <a:r>
              <a:rPr sz="2800" dirty="0">
                <a:solidFill>
                  <a:srgbClr val="262EA4"/>
                </a:solidFill>
                <a:latin typeface="Calibri"/>
                <a:cs typeface="Calibri"/>
              </a:rPr>
              <a:t>schedule</a:t>
            </a:r>
            <a:r>
              <a:rPr sz="2800" spc="-80" dirty="0">
                <a:solidFill>
                  <a:srgbClr val="262EA4"/>
                </a:solidFill>
                <a:latin typeface="Calibri"/>
                <a:cs typeface="Calibri"/>
              </a:rPr>
              <a:t> </a:t>
            </a:r>
            <a:r>
              <a:rPr sz="2800" dirty="0">
                <a:solidFill>
                  <a:srgbClr val="262EA4"/>
                </a:solidFill>
                <a:latin typeface="Calibri"/>
                <a:cs typeface="Calibri"/>
              </a:rPr>
              <a:t>for</a:t>
            </a:r>
            <a:r>
              <a:rPr sz="2800" spc="-65" dirty="0">
                <a:solidFill>
                  <a:srgbClr val="262EA4"/>
                </a:solidFill>
                <a:latin typeface="Calibri"/>
                <a:cs typeface="Calibri"/>
              </a:rPr>
              <a:t> </a:t>
            </a:r>
            <a:r>
              <a:rPr sz="2800" dirty="0">
                <a:solidFill>
                  <a:srgbClr val="262EA4"/>
                </a:solidFill>
                <a:latin typeface="Calibri"/>
                <a:cs typeface="Calibri"/>
              </a:rPr>
              <a:t>the</a:t>
            </a:r>
            <a:r>
              <a:rPr sz="2800" spc="-65" dirty="0">
                <a:solidFill>
                  <a:srgbClr val="262EA4"/>
                </a:solidFill>
                <a:latin typeface="Calibri"/>
                <a:cs typeface="Calibri"/>
              </a:rPr>
              <a:t> </a:t>
            </a:r>
            <a:r>
              <a:rPr sz="2800" spc="-10" dirty="0">
                <a:solidFill>
                  <a:srgbClr val="262EA4"/>
                </a:solidFill>
                <a:latin typeface="Calibri"/>
                <a:cs typeface="Calibri"/>
              </a:rPr>
              <a:t>project.</a:t>
            </a:r>
            <a:endParaRPr sz="2800" dirty="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9</a:t>
            </a:r>
            <a:endParaRPr sz="1200">
              <a:latin typeface="Calibri"/>
              <a:cs typeface="Calibri"/>
            </a:endParaRPr>
          </a:p>
        </p:txBody>
      </p:sp>
      <p:pic>
        <p:nvPicPr>
          <p:cNvPr id="5" name="Picture 4">
            <a:extLst>
              <a:ext uri="{FF2B5EF4-FFF2-40B4-BE49-F238E27FC236}">
                <a16:creationId xmlns:a16="http://schemas.microsoft.com/office/drawing/2014/main" id="{FE95A5D8-B4AC-E080-CFA7-98C86E8CE97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609852"/>
            <a:ext cx="10357485" cy="4188460"/>
          </a:xfrm>
          <a:prstGeom prst="rect">
            <a:avLst/>
          </a:prstGeom>
        </p:spPr>
        <p:txBody>
          <a:bodyPr vert="horz" wrap="square" lIns="0" tIns="63500" rIns="0" bIns="0" rtlCol="0">
            <a:spAutoFit/>
          </a:bodyPr>
          <a:lstStyle/>
          <a:p>
            <a:pPr marL="241300" marR="5080" indent="-228600" algn="just">
              <a:lnSpc>
                <a:spcPts val="3000"/>
              </a:lnSpc>
              <a:spcBef>
                <a:spcPts val="500"/>
              </a:spcBef>
              <a:buFont typeface="Arial MT"/>
              <a:buChar char="•"/>
              <a:tabLst>
                <a:tab pos="241300" algn="l"/>
              </a:tabLst>
            </a:pPr>
            <a:r>
              <a:rPr sz="2800" dirty="0">
                <a:latin typeface="Calibri"/>
                <a:cs typeface="Calibri"/>
              </a:rPr>
              <a:t>Prioritize</a:t>
            </a:r>
            <a:r>
              <a:rPr sz="2800" spc="215" dirty="0">
                <a:latin typeface="Calibri"/>
                <a:cs typeface="Calibri"/>
              </a:rPr>
              <a:t>  </a:t>
            </a:r>
            <a:r>
              <a:rPr sz="2800" dirty="0">
                <a:latin typeface="Calibri"/>
                <a:cs typeface="Calibri"/>
              </a:rPr>
              <a:t>are</a:t>
            </a:r>
            <a:r>
              <a:rPr sz="2800" spc="210" dirty="0">
                <a:latin typeface="Calibri"/>
                <a:cs typeface="Calibri"/>
              </a:rPr>
              <a:t>  </a:t>
            </a:r>
            <a:r>
              <a:rPr sz="2800" dirty="0">
                <a:latin typeface="Calibri"/>
                <a:cs typeface="Calibri"/>
              </a:rPr>
              <a:t>required</a:t>
            </a:r>
            <a:r>
              <a:rPr sz="2800" spc="215" dirty="0">
                <a:latin typeface="Calibri"/>
                <a:cs typeface="Calibri"/>
              </a:rPr>
              <a:t>  </a:t>
            </a:r>
            <a:r>
              <a:rPr sz="2800" dirty="0">
                <a:latin typeface="Calibri"/>
                <a:cs typeface="Calibri"/>
              </a:rPr>
              <a:t>to</a:t>
            </a:r>
            <a:r>
              <a:rPr sz="2800" spc="215" dirty="0">
                <a:latin typeface="Calibri"/>
                <a:cs typeface="Calibri"/>
              </a:rPr>
              <a:t>  </a:t>
            </a:r>
            <a:r>
              <a:rPr sz="2800" dirty="0">
                <a:latin typeface="Calibri"/>
                <a:cs typeface="Calibri"/>
              </a:rPr>
              <a:t>identify</a:t>
            </a:r>
            <a:r>
              <a:rPr sz="2800" spc="215" dirty="0">
                <a:latin typeface="Calibri"/>
                <a:cs typeface="Calibri"/>
              </a:rPr>
              <a:t>  </a:t>
            </a:r>
            <a:r>
              <a:rPr sz="2800" dirty="0">
                <a:latin typeface="Calibri"/>
                <a:cs typeface="Calibri"/>
              </a:rPr>
              <a:t>which</a:t>
            </a:r>
            <a:r>
              <a:rPr sz="2800" spc="220" dirty="0">
                <a:latin typeface="Calibri"/>
                <a:cs typeface="Calibri"/>
              </a:rPr>
              <a:t>  </a:t>
            </a:r>
            <a:r>
              <a:rPr sz="2800" dirty="0">
                <a:latin typeface="Calibri"/>
                <a:cs typeface="Calibri"/>
              </a:rPr>
              <a:t>activities</a:t>
            </a:r>
            <a:r>
              <a:rPr sz="2800" spc="215" dirty="0">
                <a:latin typeface="Calibri"/>
                <a:cs typeface="Calibri"/>
              </a:rPr>
              <a:t>  </a:t>
            </a:r>
            <a:r>
              <a:rPr sz="2800" dirty="0">
                <a:latin typeface="Calibri"/>
                <a:cs typeface="Calibri"/>
              </a:rPr>
              <a:t>are</a:t>
            </a:r>
            <a:r>
              <a:rPr sz="2800" spc="215" dirty="0">
                <a:latin typeface="Calibri"/>
                <a:cs typeface="Calibri"/>
              </a:rPr>
              <a:t>  </a:t>
            </a:r>
            <a:r>
              <a:rPr sz="2800" spc="-10" dirty="0">
                <a:latin typeface="Calibri"/>
                <a:cs typeface="Calibri"/>
              </a:rPr>
              <a:t>allocated </a:t>
            </a:r>
            <a:r>
              <a:rPr sz="2800" dirty="0">
                <a:latin typeface="Calibri"/>
                <a:cs typeface="Calibri"/>
              </a:rPr>
              <a:t>resources</a:t>
            </a:r>
            <a:r>
              <a:rPr sz="2800" spc="400" dirty="0">
                <a:latin typeface="Calibri"/>
                <a:cs typeface="Calibri"/>
              </a:rPr>
              <a:t> </a:t>
            </a:r>
            <a:r>
              <a:rPr sz="2800" dirty="0">
                <a:latin typeface="Calibri"/>
                <a:cs typeface="Calibri"/>
              </a:rPr>
              <a:t>and</a:t>
            </a:r>
            <a:r>
              <a:rPr sz="2800" spc="405" dirty="0">
                <a:latin typeface="Calibri"/>
                <a:cs typeface="Calibri"/>
              </a:rPr>
              <a:t> </a:t>
            </a:r>
            <a:r>
              <a:rPr sz="2800" dirty="0">
                <a:latin typeface="Calibri"/>
                <a:cs typeface="Calibri"/>
              </a:rPr>
              <a:t>which</a:t>
            </a:r>
            <a:r>
              <a:rPr sz="2800" spc="405" dirty="0">
                <a:latin typeface="Calibri"/>
                <a:cs typeface="Calibri"/>
              </a:rPr>
              <a:t> </a:t>
            </a:r>
            <a:r>
              <a:rPr sz="2800" dirty="0">
                <a:latin typeface="Calibri"/>
                <a:cs typeface="Calibri"/>
              </a:rPr>
              <a:t>activities</a:t>
            </a:r>
            <a:r>
              <a:rPr sz="2800" spc="400" dirty="0">
                <a:latin typeface="Calibri"/>
                <a:cs typeface="Calibri"/>
              </a:rPr>
              <a:t> </a:t>
            </a:r>
            <a:r>
              <a:rPr sz="2800" dirty="0">
                <a:latin typeface="Calibri"/>
                <a:cs typeface="Calibri"/>
              </a:rPr>
              <a:t>are</a:t>
            </a:r>
            <a:r>
              <a:rPr sz="2800" spc="400" dirty="0">
                <a:latin typeface="Calibri"/>
                <a:cs typeface="Calibri"/>
              </a:rPr>
              <a:t> </a:t>
            </a:r>
            <a:r>
              <a:rPr sz="2800" dirty="0">
                <a:latin typeface="Calibri"/>
                <a:cs typeface="Calibri"/>
              </a:rPr>
              <a:t>delayed</a:t>
            </a:r>
            <a:r>
              <a:rPr sz="2800" spc="400" dirty="0">
                <a:latin typeface="Calibri"/>
                <a:cs typeface="Calibri"/>
              </a:rPr>
              <a:t> </a:t>
            </a:r>
            <a:r>
              <a:rPr sz="2800" dirty="0">
                <a:latin typeface="Calibri"/>
                <a:cs typeface="Calibri"/>
              </a:rPr>
              <a:t>when</a:t>
            </a:r>
            <a:r>
              <a:rPr sz="2800" spc="405" dirty="0">
                <a:latin typeface="Calibri"/>
                <a:cs typeface="Calibri"/>
              </a:rPr>
              <a:t> </a:t>
            </a:r>
            <a:r>
              <a:rPr sz="2800" dirty="0">
                <a:latin typeface="Calibri"/>
                <a:cs typeface="Calibri"/>
              </a:rPr>
              <a:t>resources</a:t>
            </a:r>
            <a:r>
              <a:rPr sz="2800" spc="400" dirty="0">
                <a:latin typeface="Calibri"/>
                <a:cs typeface="Calibri"/>
              </a:rPr>
              <a:t> </a:t>
            </a:r>
            <a:r>
              <a:rPr sz="2800" dirty="0">
                <a:latin typeface="Calibri"/>
                <a:cs typeface="Calibri"/>
              </a:rPr>
              <a:t>are</a:t>
            </a:r>
            <a:r>
              <a:rPr sz="2800" spc="400" dirty="0">
                <a:latin typeface="Calibri"/>
                <a:cs typeface="Calibri"/>
              </a:rPr>
              <a:t> </a:t>
            </a:r>
            <a:r>
              <a:rPr sz="2800" spc="-25" dirty="0">
                <a:latin typeface="Calibri"/>
                <a:cs typeface="Calibri"/>
              </a:rPr>
              <a:t>not </a:t>
            </a:r>
            <a:r>
              <a:rPr sz="2800" spc="-10" dirty="0">
                <a:latin typeface="Calibri"/>
                <a:cs typeface="Calibri"/>
              </a:rPr>
              <a:t>adequate.</a:t>
            </a:r>
            <a:endParaRPr sz="2800" dirty="0">
              <a:latin typeface="Calibri"/>
              <a:cs typeface="Calibri"/>
            </a:endParaRPr>
          </a:p>
          <a:p>
            <a:pPr marL="240665" indent="-227965" algn="just">
              <a:lnSpc>
                <a:spcPct val="100000"/>
              </a:lnSpc>
              <a:spcBef>
                <a:spcPts val="700"/>
              </a:spcBef>
              <a:buFont typeface="Arial MT"/>
              <a:buChar char="•"/>
              <a:tabLst>
                <a:tab pos="240665" algn="l"/>
              </a:tabLst>
            </a:pPr>
            <a:r>
              <a:rPr sz="2800" dirty="0">
                <a:solidFill>
                  <a:srgbClr val="C00000"/>
                </a:solidFill>
                <a:latin typeface="Calibri"/>
                <a:cs typeface="Calibri"/>
              </a:rPr>
              <a:t>The</a:t>
            </a:r>
            <a:r>
              <a:rPr sz="2800" spc="-60" dirty="0">
                <a:solidFill>
                  <a:srgbClr val="C00000"/>
                </a:solidFill>
                <a:latin typeface="Calibri"/>
                <a:cs typeface="Calibri"/>
              </a:rPr>
              <a:t> </a:t>
            </a:r>
            <a:r>
              <a:rPr sz="2800" dirty="0">
                <a:solidFill>
                  <a:srgbClr val="C00000"/>
                </a:solidFill>
                <a:latin typeface="Calibri"/>
                <a:cs typeface="Calibri"/>
              </a:rPr>
              <a:t>parallel</a:t>
            </a:r>
            <a:r>
              <a:rPr sz="2800" spc="-55" dirty="0">
                <a:solidFill>
                  <a:srgbClr val="C00000"/>
                </a:solidFill>
                <a:latin typeface="Calibri"/>
                <a:cs typeface="Calibri"/>
              </a:rPr>
              <a:t> </a:t>
            </a:r>
            <a:r>
              <a:rPr sz="2800" dirty="0">
                <a:solidFill>
                  <a:srgbClr val="C00000"/>
                </a:solidFill>
                <a:latin typeface="Calibri"/>
                <a:cs typeface="Calibri"/>
              </a:rPr>
              <a:t>method</a:t>
            </a:r>
            <a:r>
              <a:rPr sz="2800" spc="-45" dirty="0">
                <a:solidFill>
                  <a:srgbClr val="C00000"/>
                </a:solidFill>
                <a:latin typeface="Calibri"/>
                <a:cs typeface="Calibri"/>
              </a:rPr>
              <a:t> </a:t>
            </a:r>
            <a:r>
              <a:rPr sz="2800" dirty="0">
                <a:solidFill>
                  <a:srgbClr val="C00000"/>
                </a:solidFill>
                <a:latin typeface="Calibri"/>
                <a:cs typeface="Calibri"/>
              </a:rPr>
              <a:t>is</a:t>
            </a:r>
            <a:r>
              <a:rPr sz="2800" spc="-45" dirty="0">
                <a:solidFill>
                  <a:srgbClr val="C00000"/>
                </a:solidFill>
                <a:latin typeface="Calibri"/>
                <a:cs typeface="Calibri"/>
              </a:rPr>
              <a:t> </a:t>
            </a:r>
            <a:r>
              <a:rPr sz="2800" dirty="0">
                <a:solidFill>
                  <a:srgbClr val="C00000"/>
                </a:solidFill>
                <a:latin typeface="Calibri"/>
                <a:cs typeface="Calibri"/>
              </a:rPr>
              <a:t>the</a:t>
            </a:r>
            <a:r>
              <a:rPr sz="2800" spc="-55" dirty="0">
                <a:solidFill>
                  <a:srgbClr val="C00000"/>
                </a:solidFill>
                <a:latin typeface="Calibri"/>
                <a:cs typeface="Calibri"/>
              </a:rPr>
              <a:t> </a:t>
            </a:r>
            <a:r>
              <a:rPr sz="2800" dirty="0">
                <a:solidFill>
                  <a:srgbClr val="C00000"/>
                </a:solidFill>
                <a:latin typeface="Calibri"/>
                <a:cs typeface="Calibri"/>
              </a:rPr>
              <a:t>most</a:t>
            </a:r>
            <a:r>
              <a:rPr sz="2800" spc="-50" dirty="0">
                <a:solidFill>
                  <a:srgbClr val="C00000"/>
                </a:solidFill>
                <a:latin typeface="Calibri"/>
                <a:cs typeface="Calibri"/>
              </a:rPr>
              <a:t> </a:t>
            </a:r>
            <a:r>
              <a:rPr sz="2800" dirty="0">
                <a:solidFill>
                  <a:srgbClr val="C00000"/>
                </a:solidFill>
                <a:latin typeface="Calibri"/>
                <a:cs typeface="Calibri"/>
              </a:rPr>
              <a:t>widely</a:t>
            </a:r>
            <a:r>
              <a:rPr sz="2800" spc="-50" dirty="0">
                <a:solidFill>
                  <a:srgbClr val="C00000"/>
                </a:solidFill>
                <a:latin typeface="Calibri"/>
                <a:cs typeface="Calibri"/>
              </a:rPr>
              <a:t> </a:t>
            </a:r>
            <a:r>
              <a:rPr sz="2800" dirty="0">
                <a:solidFill>
                  <a:srgbClr val="C00000"/>
                </a:solidFill>
                <a:latin typeface="Calibri"/>
                <a:cs typeface="Calibri"/>
              </a:rPr>
              <a:t>used</a:t>
            </a:r>
            <a:r>
              <a:rPr sz="2800" spc="-50" dirty="0">
                <a:solidFill>
                  <a:srgbClr val="C00000"/>
                </a:solidFill>
                <a:latin typeface="Calibri"/>
                <a:cs typeface="Calibri"/>
              </a:rPr>
              <a:t> </a:t>
            </a:r>
            <a:r>
              <a:rPr sz="2800" spc="-10" dirty="0">
                <a:solidFill>
                  <a:srgbClr val="C00000"/>
                </a:solidFill>
                <a:latin typeface="Calibri"/>
                <a:cs typeface="Calibri"/>
              </a:rPr>
              <a:t>approach</a:t>
            </a:r>
            <a:endParaRPr sz="2800" dirty="0">
              <a:latin typeface="Calibri"/>
              <a:cs typeface="Calibri"/>
            </a:endParaRPr>
          </a:p>
          <a:p>
            <a:pPr marL="241300" marR="5080" indent="-228600" algn="just">
              <a:lnSpc>
                <a:spcPts val="3000"/>
              </a:lnSpc>
              <a:spcBef>
                <a:spcPts val="1025"/>
              </a:spcBef>
              <a:buFont typeface="Arial MT"/>
              <a:buChar char="•"/>
              <a:tabLst>
                <a:tab pos="241300" algn="l"/>
              </a:tabLst>
            </a:pPr>
            <a:r>
              <a:rPr sz="2800" dirty="0">
                <a:latin typeface="Calibri"/>
                <a:cs typeface="Calibri"/>
              </a:rPr>
              <a:t>It</a:t>
            </a:r>
            <a:r>
              <a:rPr sz="2800" spc="-10" dirty="0">
                <a:latin typeface="Calibri"/>
                <a:cs typeface="Calibri"/>
              </a:rPr>
              <a:t> </a:t>
            </a:r>
            <a:r>
              <a:rPr sz="2800" dirty="0">
                <a:latin typeface="Calibri"/>
                <a:cs typeface="Calibri"/>
              </a:rPr>
              <a:t>is an</a:t>
            </a:r>
            <a:r>
              <a:rPr sz="2800" spc="-5" dirty="0">
                <a:latin typeface="Calibri"/>
                <a:cs typeface="Calibri"/>
              </a:rPr>
              <a:t> </a:t>
            </a:r>
            <a:r>
              <a:rPr sz="2800" dirty="0">
                <a:latin typeface="Calibri"/>
                <a:cs typeface="Calibri"/>
              </a:rPr>
              <a:t>iterative</a:t>
            </a:r>
            <a:r>
              <a:rPr sz="2800" spc="-15" dirty="0">
                <a:latin typeface="Calibri"/>
                <a:cs typeface="Calibri"/>
              </a:rPr>
              <a:t> </a:t>
            </a:r>
            <a:r>
              <a:rPr sz="2800" dirty="0">
                <a:latin typeface="Calibri"/>
                <a:cs typeface="Calibri"/>
              </a:rPr>
              <a:t>process that</a:t>
            </a:r>
            <a:r>
              <a:rPr sz="2800" spc="-5" dirty="0">
                <a:latin typeface="Calibri"/>
                <a:cs typeface="Calibri"/>
              </a:rPr>
              <a:t> </a:t>
            </a:r>
            <a:r>
              <a:rPr sz="2800" dirty="0">
                <a:latin typeface="Calibri"/>
                <a:cs typeface="Calibri"/>
              </a:rPr>
              <a:t>starts</a:t>
            </a:r>
            <a:r>
              <a:rPr sz="2800" spc="-5" dirty="0">
                <a:latin typeface="Calibri"/>
                <a:cs typeface="Calibri"/>
              </a:rPr>
              <a:t> </a:t>
            </a:r>
            <a:r>
              <a:rPr sz="2800" dirty="0">
                <a:latin typeface="Calibri"/>
                <a:cs typeface="Calibri"/>
              </a:rPr>
              <a:t>from</a:t>
            </a:r>
            <a:r>
              <a:rPr sz="2800" spc="-5" dirty="0">
                <a:latin typeface="Calibri"/>
                <a:cs typeface="Calibri"/>
              </a:rPr>
              <a:t> </a:t>
            </a:r>
            <a:r>
              <a:rPr sz="2800" dirty="0">
                <a:latin typeface="Calibri"/>
                <a:cs typeface="Calibri"/>
              </a:rPr>
              <a:t>the</a:t>
            </a:r>
            <a:r>
              <a:rPr sz="2800" spc="-10" dirty="0">
                <a:latin typeface="Calibri"/>
                <a:cs typeface="Calibri"/>
              </a:rPr>
              <a:t> </a:t>
            </a:r>
            <a:r>
              <a:rPr sz="2800" dirty="0">
                <a:latin typeface="Calibri"/>
                <a:cs typeface="Calibri"/>
              </a:rPr>
              <a:t>beginning</a:t>
            </a:r>
            <a:r>
              <a:rPr sz="2800" spc="-15" dirty="0">
                <a:latin typeface="Calibri"/>
                <a:cs typeface="Calibri"/>
              </a:rPr>
              <a:t> </a:t>
            </a:r>
            <a:r>
              <a:rPr sz="2800" dirty="0">
                <a:latin typeface="Calibri"/>
                <a:cs typeface="Calibri"/>
              </a:rPr>
              <a:t>of</a:t>
            </a:r>
            <a:r>
              <a:rPr sz="2800" spc="-15" dirty="0">
                <a:latin typeface="Calibri"/>
                <a:cs typeface="Calibri"/>
              </a:rPr>
              <a:t> </a:t>
            </a:r>
            <a:r>
              <a:rPr sz="2800" dirty="0">
                <a:latin typeface="Calibri"/>
                <a:cs typeface="Calibri"/>
              </a:rPr>
              <a:t>project</a:t>
            </a:r>
            <a:r>
              <a:rPr sz="2800" spc="-5" dirty="0">
                <a:latin typeface="Calibri"/>
                <a:cs typeface="Calibri"/>
              </a:rPr>
              <a:t> </a:t>
            </a:r>
            <a:r>
              <a:rPr sz="2800" spc="-20" dirty="0">
                <a:latin typeface="Calibri"/>
                <a:cs typeface="Calibri"/>
              </a:rPr>
              <a:t>time </a:t>
            </a:r>
            <a:r>
              <a:rPr sz="2800" dirty="0">
                <a:latin typeface="Calibri"/>
                <a:cs typeface="Calibri"/>
              </a:rPr>
              <a:t>and,</a:t>
            </a:r>
            <a:r>
              <a:rPr sz="2800" spc="204" dirty="0">
                <a:latin typeface="Calibri"/>
                <a:cs typeface="Calibri"/>
              </a:rPr>
              <a:t> </a:t>
            </a:r>
            <a:r>
              <a:rPr sz="2800" dirty="0">
                <a:latin typeface="Calibri"/>
                <a:cs typeface="Calibri"/>
              </a:rPr>
              <a:t>when</a:t>
            </a:r>
            <a:r>
              <a:rPr sz="2800" spc="215" dirty="0">
                <a:latin typeface="Calibri"/>
                <a:cs typeface="Calibri"/>
              </a:rPr>
              <a:t> </a:t>
            </a:r>
            <a:r>
              <a:rPr sz="2800" dirty="0">
                <a:latin typeface="Calibri"/>
                <a:cs typeface="Calibri"/>
              </a:rPr>
              <a:t>resources</a:t>
            </a:r>
            <a:r>
              <a:rPr sz="2800" spc="210" dirty="0">
                <a:latin typeface="Calibri"/>
                <a:cs typeface="Calibri"/>
              </a:rPr>
              <a:t> </a:t>
            </a:r>
            <a:r>
              <a:rPr sz="2800" dirty="0">
                <a:latin typeface="Calibri"/>
                <a:cs typeface="Calibri"/>
              </a:rPr>
              <a:t>needed</a:t>
            </a:r>
            <a:r>
              <a:rPr sz="2800" spc="204" dirty="0">
                <a:latin typeface="Calibri"/>
                <a:cs typeface="Calibri"/>
              </a:rPr>
              <a:t> </a:t>
            </a:r>
            <a:r>
              <a:rPr sz="2800" dirty="0">
                <a:latin typeface="Calibri"/>
                <a:cs typeface="Calibri"/>
              </a:rPr>
              <a:t>exceed</a:t>
            </a:r>
            <a:r>
              <a:rPr sz="2800" spc="215" dirty="0">
                <a:latin typeface="Calibri"/>
                <a:cs typeface="Calibri"/>
              </a:rPr>
              <a:t> </a:t>
            </a:r>
            <a:r>
              <a:rPr sz="2800" dirty="0">
                <a:latin typeface="Calibri"/>
                <a:cs typeface="Calibri"/>
              </a:rPr>
              <a:t>the</a:t>
            </a:r>
            <a:r>
              <a:rPr sz="2800" spc="204" dirty="0">
                <a:latin typeface="Calibri"/>
                <a:cs typeface="Calibri"/>
              </a:rPr>
              <a:t> </a:t>
            </a:r>
            <a:r>
              <a:rPr sz="2800" dirty="0">
                <a:latin typeface="Calibri"/>
                <a:cs typeface="Calibri"/>
              </a:rPr>
              <a:t>resources</a:t>
            </a:r>
            <a:r>
              <a:rPr sz="2800" spc="210" dirty="0">
                <a:latin typeface="Calibri"/>
                <a:cs typeface="Calibri"/>
              </a:rPr>
              <a:t> </a:t>
            </a:r>
            <a:r>
              <a:rPr sz="2800" dirty="0">
                <a:latin typeface="Calibri"/>
                <a:cs typeface="Calibri"/>
              </a:rPr>
              <a:t>available,</a:t>
            </a:r>
            <a:r>
              <a:rPr sz="2800" spc="204" dirty="0">
                <a:latin typeface="Calibri"/>
                <a:cs typeface="Calibri"/>
              </a:rPr>
              <a:t> </a:t>
            </a:r>
            <a:r>
              <a:rPr sz="2800" spc="-10" dirty="0">
                <a:latin typeface="Calibri"/>
                <a:cs typeface="Calibri"/>
              </a:rPr>
              <a:t>retains </a:t>
            </a:r>
            <a:r>
              <a:rPr sz="2800" dirty="0">
                <a:latin typeface="Calibri"/>
                <a:cs typeface="Calibri"/>
              </a:rPr>
              <a:t>activities</a:t>
            </a:r>
            <a:r>
              <a:rPr sz="2800" spc="-50" dirty="0">
                <a:latin typeface="Calibri"/>
                <a:cs typeface="Calibri"/>
              </a:rPr>
              <a:t> </a:t>
            </a:r>
            <a:r>
              <a:rPr sz="2800" dirty="0">
                <a:latin typeface="Calibri"/>
                <a:cs typeface="Calibri"/>
              </a:rPr>
              <a:t>first</a:t>
            </a:r>
            <a:r>
              <a:rPr sz="2800" spc="-50" dirty="0">
                <a:latin typeface="Calibri"/>
                <a:cs typeface="Calibri"/>
              </a:rPr>
              <a:t> </a:t>
            </a:r>
            <a:r>
              <a:rPr sz="2800" dirty="0">
                <a:latin typeface="Calibri"/>
                <a:cs typeface="Calibri"/>
              </a:rPr>
              <a:t>by</a:t>
            </a:r>
            <a:r>
              <a:rPr sz="2800" spc="-55" dirty="0">
                <a:latin typeface="Calibri"/>
                <a:cs typeface="Calibri"/>
              </a:rPr>
              <a:t> </a:t>
            </a:r>
            <a:r>
              <a:rPr sz="2800" dirty="0">
                <a:latin typeface="Calibri"/>
                <a:cs typeface="Calibri"/>
              </a:rPr>
              <a:t>the</a:t>
            </a:r>
            <a:r>
              <a:rPr sz="2800" spc="-50" dirty="0">
                <a:latin typeface="Calibri"/>
                <a:cs typeface="Calibri"/>
              </a:rPr>
              <a:t> </a:t>
            </a:r>
            <a:r>
              <a:rPr sz="2800" dirty="0">
                <a:latin typeface="Calibri"/>
                <a:cs typeface="Calibri"/>
              </a:rPr>
              <a:t>priority</a:t>
            </a:r>
            <a:r>
              <a:rPr sz="2800" spc="-55" dirty="0">
                <a:latin typeface="Calibri"/>
                <a:cs typeface="Calibri"/>
              </a:rPr>
              <a:t> </a:t>
            </a:r>
            <a:r>
              <a:rPr sz="2800" spc="-10" dirty="0">
                <a:latin typeface="Calibri"/>
                <a:cs typeface="Calibri"/>
              </a:rPr>
              <a:t>rules:</a:t>
            </a:r>
            <a:endParaRPr sz="2800" dirty="0">
              <a:latin typeface="Calibri"/>
              <a:cs typeface="Calibri"/>
            </a:endParaRPr>
          </a:p>
          <a:p>
            <a:pPr marL="731520" lvl="1" indent="-381000">
              <a:lnSpc>
                <a:spcPct val="100000"/>
              </a:lnSpc>
              <a:spcBef>
                <a:spcPts val="219"/>
              </a:spcBef>
              <a:buAutoNum type="arabicPeriod"/>
              <a:tabLst>
                <a:tab pos="731520" algn="l"/>
              </a:tabLst>
            </a:pPr>
            <a:r>
              <a:rPr sz="2400" dirty="0">
                <a:solidFill>
                  <a:srgbClr val="262EA4"/>
                </a:solidFill>
                <a:latin typeface="Calibri"/>
                <a:cs typeface="Calibri"/>
              </a:rPr>
              <a:t>Minimum</a:t>
            </a:r>
            <a:r>
              <a:rPr sz="2400" spc="-65" dirty="0">
                <a:solidFill>
                  <a:srgbClr val="262EA4"/>
                </a:solidFill>
                <a:latin typeface="Calibri"/>
                <a:cs typeface="Calibri"/>
              </a:rPr>
              <a:t> </a:t>
            </a:r>
            <a:r>
              <a:rPr sz="2400" spc="-10" dirty="0">
                <a:solidFill>
                  <a:srgbClr val="262EA4"/>
                </a:solidFill>
                <a:latin typeface="Calibri"/>
                <a:cs typeface="Calibri"/>
              </a:rPr>
              <a:t>slack.</a:t>
            </a:r>
            <a:endParaRPr sz="2400" dirty="0">
              <a:latin typeface="Calibri"/>
              <a:cs typeface="Calibri"/>
            </a:endParaRPr>
          </a:p>
          <a:p>
            <a:pPr marL="731520" lvl="1" indent="-381000">
              <a:lnSpc>
                <a:spcPct val="100000"/>
              </a:lnSpc>
              <a:spcBef>
                <a:spcPts val="215"/>
              </a:spcBef>
              <a:buAutoNum type="arabicPeriod"/>
              <a:tabLst>
                <a:tab pos="731520" algn="l"/>
              </a:tabLst>
            </a:pPr>
            <a:r>
              <a:rPr sz="2400" dirty="0">
                <a:solidFill>
                  <a:srgbClr val="262EA4"/>
                </a:solidFill>
                <a:latin typeface="Calibri"/>
                <a:cs typeface="Calibri"/>
              </a:rPr>
              <a:t>Smallest</a:t>
            </a:r>
            <a:r>
              <a:rPr sz="2400" spc="-85" dirty="0">
                <a:solidFill>
                  <a:srgbClr val="262EA4"/>
                </a:solidFill>
                <a:latin typeface="Calibri"/>
                <a:cs typeface="Calibri"/>
              </a:rPr>
              <a:t> </a:t>
            </a:r>
            <a:r>
              <a:rPr sz="2400" spc="-10" dirty="0">
                <a:solidFill>
                  <a:srgbClr val="262EA4"/>
                </a:solidFill>
                <a:latin typeface="Calibri"/>
                <a:cs typeface="Calibri"/>
              </a:rPr>
              <a:t>duration.</a:t>
            </a:r>
            <a:endParaRPr sz="2400" dirty="0">
              <a:latin typeface="Calibri"/>
              <a:cs typeface="Calibri"/>
            </a:endParaRPr>
          </a:p>
          <a:p>
            <a:pPr marL="731520" lvl="1" indent="-381000">
              <a:lnSpc>
                <a:spcPct val="100000"/>
              </a:lnSpc>
              <a:spcBef>
                <a:spcPts val="215"/>
              </a:spcBef>
              <a:buAutoNum type="arabicPeriod"/>
              <a:tabLst>
                <a:tab pos="731520" algn="l"/>
              </a:tabLst>
            </a:pPr>
            <a:r>
              <a:rPr sz="2400" dirty="0">
                <a:solidFill>
                  <a:srgbClr val="262EA4"/>
                </a:solidFill>
                <a:latin typeface="Calibri"/>
                <a:cs typeface="Calibri"/>
              </a:rPr>
              <a:t>Lowest</a:t>
            </a:r>
            <a:r>
              <a:rPr sz="2400" spc="-75" dirty="0">
                <a:solidFill>
                  <a:srgbClr val="262EA4"/>
                </a:solidFill>
                <a:latin typeface="Calibri"/>
                <a:cs typeface="Calibri"/>
              </a:rPr>
              <a:t> </a:t>
            </a:r>
            <a:r>
              <a:rPr sz="2400" dirty="0">
                <a:solidFill>
                  <a:srgbClr val="262EA4"/>
                </a:solidFill>
                <a:latin typeface="Calibri"/>
                <a:cs typeface="Calibri"/>
              </a:rPr>
              <a:t>activity</a:t>
            </a:r>
            <a:r>
              <a:rPr sz="2400" spc="-75" dirty="0">
                <a:solidFill>
                  <a:srgbClr val="262EA4"/>
                </a:solidFill>
                <a:latin typeface="Calibri"/>
                <a:cs typeface="Calibri"/>
              </a:rPr>
              <a:t> </a:t>
            </a:r>
            <a:r>
              <a:rPr sz="2400" spc="-10" dirty="0">
                <a:solidFill>
                  <a:srgbClr val="262EA4"/>
                </a:solidFill>
                <a:latin typeface="Calibri"/>
                <a:cs typeface="Calibri"/>
              </a:rPr>
              <a:t>identification</a:t>
            </a:r>
            <a:r>
              <a:rPr sz="2400" spc="-75" dirty="0">
                <a:solidFill>
                  <a:srgbClr val="262EA4"/>
                </a:solidFill>
                <a:latin typeface="Calibri"/>
                <a:cs typeface="Calibri"/>
              </a:rPr>
              <a:t> </a:t>
            </a:r>
            <a:r>
              <a:rPr sz="2400" spc="-10" dirty="0">
                <a:solidFill>
                  <a:srgbClr val="262EA4"/>
                </a:solidFill>
                <a:latin typeface="Calibri"/>
                <a:cs typeface="Calibri"/>
              </a:rPr>
              <a:t>number.</a:t>
            </a:r>
            <a:endParaRPr sz="2400" dirty="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10</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Resource-</a:t>
            </a:r>
            <a:r>
              <a:rPr spc="100" dirty="0"/>
              <a:t>Constrained</a:t>
            </a:r>
            <a:r>
              <a:rPr spc="140" dirty="0"/>
              <a:t> </a:t>
            </a:r>
            <a:r>
              <a:rPr spc="90" dirty="0"/>
              <a:t>Projects</a:t>
            </a:r>
            <a:r>
              <a:rPr spc="135" dirty="0"/>
              <a:t> </a:t>
            </a:r>
            <a:r>
              <a:rPr sz="1950" spc="-10" dirty="0"/>
              <a:t>(2/4)</a:t>
            </a:r>
            <a:endParaRPr sz="1950" dirty="0"/>
          </a:p>
        </p:txBody>
      </p:sp>
      <p:pic>
        <p:nvPicPr>
          <p:cNvPr id="5" name="Picture 4">
            <a:extLst>
              <a:ext uri="{FF2B5EF4-FFF2-40B4-BE49-F238E27FC236}">
                <a16:creationId xmlns:a16="http://schemas.microsoft.com/office/drawing/2014/main" id="{E3E9B50C-A97A-8D9E-BB3C-6B8CFA5F71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7480" y="1595715"/>
            <a:ext cx="5265621" cy="4921480"/>
          </a:xfrm>
          <a:prstGeom prst="rect">
            <a:avLst/>
          </a:prstGeom>
        </p:spPr>
      </p:pic>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11</a:t>
            </a:r>
            <a:endParaRPr sz="1200">
              <a:latin typeface="Calibri"/>
              <a:cs typeface="Calibri"/>
            </a:endParaRPr>
          </a:p>
        </p:txBody>
      </p:sp>
      <p:sp>
        <p:nvSpPr>
          <p:cNvPr id="4" name="object 4"/>
          <p:cNvSpPr txBox="1"/>
          <p:nvPr/>
        </p:nvSpPr>
        <p:spPr>
          <a:xfrm>
            <a:off x="1249418" y="6510019"/>
            <a:ext cx="328485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00000"/>
                </a:solidFill>
                <a:latin typeface="Calibri"/>
                <a:cs typeface="Calibri"/>
              </a:rPr>
              <a:t>The</a:t>
            </a:r>
            <a:r>
              <a:rPr sz="1800" spc="-35" dirty="0">
                <a:solidFill>
                  <a:srgbClr val="C00000"/>
                </a:solidFill>
                <a:latin typeface="Calibri"/>
                <a:cs typeface="Calibri"/>
              </a:rPr>
              <a:t> </a:t>
            </a:r>
            <a:r>
              <a:rPr sz="1800" spc="-10" dirty="0">
                <a:solidFill>
                  <a:srgbClr val="C00000"/>
                </a:solidFill>
                <a:latin typeface="Calibri"/>
                <a:cs typeface="Calibri"/>
              </a:rPr>
              <a:t>programmers</a:t>
            </a:r>
            <a:r>
              <a:rPr sz="1800" spc="-45" dirty="0">
                <a:solidFill>
                  <a:srgbClr val="C00000"/>
                </a:solidFill>
                <a:latin typeface="Calibri"/>
                <a:cs typeface="Calibri"/>
              </a:rPr>
              <a:t> </a:t>
            </a:r>
            <a:r>
              <a:rPr sz="1800" dirty="0">
                <a:solidFill>
                  <a:srgbClr val="C00000"/>
                </a:solidFill>
                <a:latin typeface="Calibri"/>
                <a:cs typeface="Calibri"/>
              </a:rPr>
              <a:t>are</a:t>
            </a:r>
            <a:r>
              <a:rPr sz="1800" spc="-35" dirty="0">
                <a:solidFill>
                  <a:srgbClr val="C00000"/>
                </a:solidFill>
                <a:latin typeface="Calibri"/>
                <a:cs typeface="Calibri"/>
              </a:rPr>
              <a:t> </a:t>
            </a:r>
            <a:r>
              <a:rPr sz="1800" dirty="0">
                <a:solidFill>
                  <a:srgbClr val="C00000"/>
                </a:solidFill>
                <a:latin typeface="Calibri"/>
                <a:cs typeface="Calibri"/>
              </a:rPr>
              <a:t>limited</a:t>
            </a:r>
            <a:r>
              <a:rPr sz="1800" spc="-30" dirty="0">
                <a:solidFill>
                  <a:srgbClr val="C00000"/>
                </a:solidFill>
                <a:latin typeface="Calibri"/>
                <a:cs typeface="Calibri"/>
              </a:rPr>
              <a:t> </a:t>
            </a:r>
            <a:r>
              <a:rPr sz="1800" dirty="0">
                <a:solidFill>
                  <a:srgbClr val="C00000"/>
                </a:solidFill>
                <a:latin typeface="Calibri"/>
                <a:cs typeface="Calibri"/>
              </a:rPr>
              <a:t>to</a:t>
            </a:r>
            <a:r>
              <a:rPr sz="1800" spc="-40" dirty="0">
                <a:solidFill>
                  <a:srgbClr val="C00000"/>
                </a:solidFill>
                <a:latin typeface="Calibri"/>
                <a:cs typeface="Calibri"/>
              </a:rPr>
              <a:t> </a:t>
            </a:r>
            <a:r>
              <a:rPr sz="1800" spc="-25" dirty="0">
                <a:solidFill>
                  <a:srgbClr val="C00000"/>
                </a:solidFill>
                <a:latin typeface="Calibri"/>
                <a:cs typeface="Calibri"/>
              </a:rPr>
              <a:t>(</a:t>
            </a:r>
            <a:r>
              <a:rPr sz="1800" b="1" u="sng" spc="-25" dirty="0">
                <a:solidFill>
                  <a:srgbClr val="C00000"/>
                </a:solidFill>
                <a:uFill>
                  <a:solidFill>
                    <a:srgbClr val="C00000"/>
                  </a:solidFill>
                </a:uFill>
                <a:latin typeface="Calibri"/>
                <a:cs typeface="Calibri"/>
              </a:rPr>
              <a:t>3</a:t>
            </a:r>
            <a:r>
              <a:rPr sz="1800" spc="-25" dirty="0">
                <a:solidFill>
                  <a:srgbClr val="C00000"/>
                </a:solidFill>
                <a:latin typeface="Calibri"/>
                <a:cs typeface="Calibri"/>
              </a:rPr>
              <a:t>)</a:t>
            </a:r>
            <a:endParaRPr sz="1800">
              <a:latin typeface="Calibri"/>
              <a:cs typeface="Calibri"/>
            </a:endParaRPr>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Resource-</a:t>
            </a:r>
            <a:r>
              <a:rPr spc="100" dirty="0"/>
              <a:t>Constrained</a:t>
            </a:r>
            <a:r>
              <a:rPr spc="140" dirty="0"/>
              <a:t> </a:t>
            </a:r>
            <a:r>
              <a:rPr spc="90" dirty="0"/>
              <a:t>Projects</a:t>
            </a:r>
            <a:r>
              <a:rPr spc="135" dirty="0"/>
              <a:t> </a:t>
            </a:r>
            <a:r>
              <a:rPr sz="1950" spc="-10" dirty="0"/>
              <a:t>(3/4)</a:t>
            </a:r>
            <a:endParaRPr sz="1950" dirty="0"/>
          </a:p>
        </p:txBody>
      </p:sp>
      <p:pic>
        <p:nvPicPr>
          <p:cNvPr id="6" name="object 6"/>
          <p:cNvPicPr/>
          <p:nvPr/>
        </p:nvPicPr>
        <p:blipFill>
          <a:blip r:embed="rId3" cstate="print"/>
          <a:stretch>
            <a:fillRect/>
          </a:stretch>
        </p:blipFill>
        <p:spPr>
          <a:xfrm>
            <a:off x="6623516" y="1740039"/>
            <a:ext cx="4987805" cy="4831226"/>
          </a:xfrm>
          <a:prstGeom prst="rect">
            <a:avLst/>
          </a:prstGeom>
        </p:spPr>
      </p:pic>
      <p:pic>
        <p:nvPicPr>
          <p:cNvPr id="7" name="Picture 6">
            <a:extLst>
              <a:ext uri="{FF2B5EF4-FFF2-40B4-BE49-F238E27FC236}">
                <a16:creationId xmlns:a16="http://schemas.microsoft.com/office/drawing/2014/main" id="{5EB97CB0-0868-CD96-A6E1-3D1CFB675F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9210339" y="5788383"/>
            <a:ext cx="2544952" cy="117517"/>
          </a:xfrm>
          <a:prstGeom prst="rect">
            <a:avLst/>
          </a:prstGeom>
        </p:spPr>
        <p:txBody>
          <a:bodyPr vert="horz" wrap="square" lIns="0" tIns="5763" rIns="0" bIns="0" rtlCol="0">
            <a:spAutoFit/>
          </a:bodyPr>
          <a:lstStyle/>
          <a:p>
            <a:pPr marL="11527">
              <a:spcBef>
                <a:spcPts val="45"/>
              </a:spcBef>
            </a:pPr>
            <a:fld id="{81D60167-4931-47E6-BA6A-407CBD079E47}" type="slidenum">
              <a:rPr sz="726" spc="-23" dirty="0"/>
              <a:pPr marL="11527">
                <a:spcBef>
                  <a:spcPts val="45"/>
                </a:spcBef>
              </a:pPr>
              <a:t>13</a:t>
            </a:fld>
            <a:endParaRPr sz="726"/>
          </a:p>
        </p:txBody>
      </p:sp>
      <p:sp>
        <p:nvSpPr>
          <p:cNvPr id="2" name="object 2"/>
          <p:cNvSpPr txBox="1">
            <a:spLocks noGrp="1"/>
          </p:cNvSpPr>
          <p:nvPr>
            <p:ph type="title"/>
          </p:nvPr>
        </p:nvSpPr>
        <p:spPr>
          <a:xfrm>
            <a:off x="76200" y="520329"/>
            <a:ext cx="10966450" cy="863542"/>
          </a:xfrm>
          <a:prstGeom prst="rect">
            <a:avLst/>
          </a:prstGeom>
        </p:spPr>
        <p:txBody>
          <a:bodyPr vert="horz" wrap="square" lIns="0" tIns="199871" rIns="0" bIns="0" rtlCol="0">
            <a:spAutoFit/>
          </a:bodyPr>
          <a:lstStyle/>
          <a:p>
            <a:pPr marL="4034">
              <a:spcBef>
                <a:spcPts val="109"/>
              </a:spcBef>
            </a:pPr>
            <a:r>
              <a:rPr spc="100" dirty="0"/>
              <a:t>Impact of Resource-Constrained Scheduling</a:t>
            </a:r>
          </a:p>
        </p:txBody>
      </p:sp>
      <p:sp>
        <p:nvSpPr>
          <p:cNvPr id="3" name="object 3"/>
          <p:cNvSpPr txBox="1"/>
          <p:nvPr/>
        </p:nvSpPr>
        <p:spPr>
          <a:xfrm>
            <a:off x="1143000" y="2061323"/>
            <a:ext cx="9548605" cy="2735353"/>
          </a:xfrm>
          <a:prstGeom prst="rect">
            <a:avLst/>
          </a:prstGeom>
        </p:spPr>
        <p:txBody>
          <a:bodyPr vert="horz" wrap="square" lIns="0" tIns="143499" rIns="0" bIns="0" rtlCol="0">
            <a:spAutoFit/>
          </a:bodyPr>
          <a:lstStyle/>
          <a:p>
            <a:pPr marL="287010" indent="-273179">
              <a:spcBef>
                <a:spcPts val="1130"/>
              </a:spcBef>
              <a:buClr>
                <a:srgbClr val="00B852"/>
              </a:buClr>
              <a:buChar char="•"/>
              <a:tabLst>
                <a:tab pos="287010" algn="l"/>
              </a:tabLst>
            </a:pPr>
            <a:r>
              <a:rPr sz="2800" u="heavy" dirty="0">
                <a:solidFill>
                  <a:srgbClr val="01AF4F"/>
                </a:solidFill>
                <a:uFill>
                  <a:solidFill>
                    <a:srgbClr val="03A84F"/>
                  </a:solidFill>
                </a:uFill>
                <a:latin typeface="Arial MT"/>
                <a:cs typeface="Arial MT"/>
              </a:rPr>
              <a:t>Reduces</a:t>
            </a:r>
            <a:r>
              <a:rPr sz="2800" spc="281" dirty="0">
                <a:solidFill>
                  <a:srgbClr val="01AF4F"/>
                </a:solidFill>
                <a:latin typeface="Arial MT"/>
                <a:cs typeface="Arial MT"/>
              </a:rPr>
              <a:t> </a:t>
            </a:r>
            <a:r>
              <a:rPr sz="2800" spc="64" dirty="0">
                <a:latin typeface="Arial MT"/>
                <a:cs typeface="Arial MT"/>
              </a:rPr>
              <a:t>slack,</a:t>
            </a:r>
            <a:r>
              <a:rPr sz="2800" spc="159" dirty="0">
                <a:latin typeface="Arial MT"/>
                <a:cs typeface="Arial MT"/>
              </a:rPr>
              <a:t> </a:t>
            </a:r>
            <a:r>
              <a:rPr sz="2800" dirty="0">
                <a:latin typeface="Arial MT"/>
                <a:cs typeface="Arial MT"/>
              </a:rPr>
              <a:t>so</a:t>
            </a:r>
            <a:r>
              <a:rPr sz="2800" spc="95" dirty="0">
                <a:latin typeface="Arial MT"/>
                <a:cs typeface="Arial MT"/>
              </a:rPr>
              <a:t> </a:t>
            </a:r>
            <a:r>
              <a:rPr sz="2800" u="heavy" spc="54" dirty="0">
                <a:solidFill>
                  <a:srgbClr val="00B149"/>
                </a:solidFill>
                <a:uFill>
                  <a:solidFill>
                    <a:srgbClr val="08A84F"/>
                  </a:solidFill>
                </a:uFill>
                <a:latin typeface="Arial MT"/>
                <a:cs typeface="Arial MT"/>
              </a:rPr>
              <a:t>reduces</a:t>
            </a:r>
            <a:r>
              <a:rPr sz="2800" spc="277" dirty="0">
                <a:solidFill>
                  <a:srgbClr val="00B149"/>
                </a:solidFill>
                <a:latin typeface="Arial MT"/>
                <a:cs typeface="Arial MT"/>
              </a:rPr>
              <a:t> </a:t>
            </a:r>
            <a:r>
              <a:rPr sz="2800" spc="86" dirty="0">
                <a:latin typeface="Arial MT"/>
                <a:cs typeface="Arial MT"/>
              </a:rPr>
              <a:t>flexibility.</a:t>
            </a:r>
            <a:r>
              <a:rPr sz="2800" spc="281" dirty="0">
                <a:latin typeface="Arial MT"/>
                <a:cs typeface="Arial MT"/>
              </a:rPr>
              <a:t> </a:t>
            </a:r>
            <a:endParaRPr sz="2800" dirty="0">
              <a:latin typeface="Arial MT"/>
              <a:cs typeface="Arial MT"/>
            </a:endParaRPr>
          </a:p>
          <a:p>
            <a:pPr marL="278942" indent="-265686">
              <a:spcBef>
                <a:spcPts val="1085"/>
              </a:spcBef>
              <a:buClr>
                <a:srgbClr val="00B14B"/>
              </a:buClr>
              <a:buChar char="•"/>
              <a:tabLst>
                <a:tab pos="278942" algn="l"/>
              </a:tabLst>
            </a:pPr>
            <a:r>
              <a:rPr sz="2800" u="heavy" dirty="0">
                <a:solidFill>
                  <a:srgbClr val="08AA4F"/>
                </a:solidFill>
                <a:uFill>
                  <a:solidFill>
                    <a:srgbClr val="08A84F"/>
                  </a:solidFill>
                </a:uFill>
                <a:latin typeface="Arial MT"/>
                <a:cs typeface="Arial MT"/>
              </a:rPr>
              <a:t>Increases</a:t>
            </a:r>
            <a:r>
              <a:rPr sz="2800" spc="236" dirty="0">
                <a:solidFill>
                  <a:srgbClr val="08AA4F"/>
                </a:solidFill>
                <a:latin typeface="Arial MT"/>
                <a:cs typeface="Arial MT"/>
              </a:rPr>
              <a:t> </a:t>
            </a:r>
            <a:r>
              <a:rPr sz="2800" dirty="0">
                <a:latin typeface="Arial MT"/>
                <a:cs typeface="Arial MT"/>
              </a:rPr>
              <a:t>no.</a:t>
            </a:r>
            <a:r>
              <a:rPr sz="2800" spc="100" dirty="0">
                <a:latin typeface="Arial MT"/>
                <a:cs typeface="Arial MT"/>
              </a:rPr>
              <a:t> </a:t>
            </a:r>
            <a:r>
              <a:rPr sz="2800" dirty="0">
                <a:latin typeface="Arial MT"/>
                <a:cs typeface="Arial MT"/>
              </a:rPr>
              <a:t>of</a:t>
            </a:r>
            <a:r>
              <a:rPr sz="2800" spc="54" dirty="0">
                <a:latin typeface="Arial MT"/>
                <a:cs typeface="Arial MT"/>
              </a:rPr>
              <a:t> </a:t>
            </a:r>
            <a:r>
              <a:rPr sz="2800" spc="59" dirty="0">
                <a:solidFill>
                  <a:srgbClr val="0000CF"/>
                </a:solidFill>
                <a:latin typeface="Arial MT"/>
                <a:cs typeface="Arial MT"/>
              </a:rPr>
              <a:t>critical</a:t>
            </a:r>
            <a:r>
              <a:rPr sz="2800" spc="123" dirty="0">
                <a:solidFill>
                  <a:srgbClr val="0000CF"/>
                </a:solidFill>
                <a:latin typeface="Arial MT"/>
                <a:cs typeface="Arial MT"/>
              </a:rPr>
              <a:t> </a:t>
            </a:r>
            <a:r>
              <a:rPr sz="2800" u="heavy" dirty="0">
                <a:uFill>
                  <a:solidFill>
                    <a:srgbClr val="000000"/>
                  </a:solidFill>
                </a:uFill>
                <a:latin typeface="Arial MT"/>
                <a:cs typeface="Arial MT"/>
              </a:rPr>
              <a:t>and</a:t>
            </a:r>
            <a:r>
              <a:rPr sz="2800" spc="54" dirty="0">
                <a:latin typeface="Arial MT"/>
                <a:cs typeface="Arial MT"/>
              </a:rPr>
              <a:t> </a:t>
            </a:r>
            <a:r>
              <a:rPr sz="2800" dirty="0">
                <a:solidFill>
                  <a:srgbClr val="0000C6"/>
                </a:solidFill>
                <a:latin typeface="Arial MT"/>
                <a:cs typeface="Arial MT"/>
              </a:rPr>
              <a:t>near-critical</a:t>
            </a:r>
            <a:r>
              <a:rPr sz="2800" spc="213" dirty="0">
                <a:solidFill>
                  <a:srgbClr val="0000C6"/>
                </a:solidFill>
                <a:latin typeface="Arial MT"/>
                <a:cs typeface="Arial MT"/>
              </a:rPr>
              <a:t> </a:t>
            </a:r>
            <a:r>
              <a:rPr sz="2800" spc="-9" dirty="0">
                <a:latin typeface="Arial MT"/>
                <a:cs typeface="Arial MT"/>
              </a:rPr>
              <a:t>activities.</a:t>
            </a:r>
            <a:endParaRPr sz="2800" dirty="0">
              <a:latin typeface="Arial MT"/>
              <a:cs typeface="Arial MT"/>
            </a:endParaRPr>
          </a:p>
          <a:p>
            <a:pPr marL="280671" marR="183848" indent="-266839">
              <a:lnSpc>
                <a:spcPct val="100400"/>
              </a:lnSpc>
              <a:spcBef>
                <a:spcPts val="1121"/>
              </a:spcBef>
              <a:buClr>
                <a:srgbClr val="00B354"/>
              </a:buClr>
              <a:buChar char="•"/>
              <a:tabLst>
                <a:tab pos="287587" algn="l"/>
                <a:tab pos="2020023" algn="l"/>
              </a:tabLst>
            </a:pPr>
            <a:r>
              <a:rPr sz="2800" u="heavy" spc="54" dirty="0">
                <a:solidFill>
                  <a:srgbClr val="00AF4D"/>
                </a:solidFill>
                <a:uFill>
                  <a:solidFill>
                    <a:srgbClr val="08A84F"/>
                  </a:solidFill>
                </a:uFill>
                <a:latin typeface="Arial MT"/>
                <a:cs typeface="Arial MT"/>
              </a:rPr>
              <a:t>Increases</a:t>
            </a:r>
            <a:r>
              <a:rPr sz="2800" spc="222" dirty="0">
                <a:solidFill>
                  <a:srgbClr val="00AF4D"/>
                </a:solidFill>
                <a:latin typeface="Arial MT"/>
                <a:cs typeface="Arial MT"/>
              </a:rPr>
              <a:t> </a:t>
            </a:r>
            <a:r>
              <a:rPr sz="2800" spc="91" dirty="0">
                <a:solidFill>
                  <a:srgbClr val="0000D3"/>
                </a:solidFill>
                <a:latin typeface="Arial MT"/>
                <a:cs typeface="Arial MT"/>
              </a:rPr>
              <a:t>scheduling</a:t>
            </a:r>
            <a:r>
              <a:rPr sz="2800" spc="159" dirty="0">
                <a:solidFill>
                  <a:srgbClr val="0000D3"/>
                </a:solidFill>
                <a:latin typeface="Arial MT"/>
                <a:cs typeface="Arial MT"/>
              </a:rPr>
              <a:t> </a:t>
            </a:r>
            <a:r>
              <a:rPr sz="2800" spc="95" dirty="0">
                <a:solidFill>
                  <a:srgbClr val="0000CC"/>
                </a:solidFill>
                <a:latin typeface="Arial MT"/>
                <a:cs typeface="Arial MT"/>
              </a:rPr>
              <a:t>complexity</a:t>
            </a:r>
            <a:r>
              <a:rPr sz="2800" spc="191" dirty="0">
                <a:solidFill>
                  <a:srgbClr val="0000CC"/>
                </a:solidFill>
                <a:latin typeface="Arial MT"/>
                <a:cs typeface="Arial MT"/>
              </a:rPr>
              <a:t> </a:t>
            </a:r>
            <a:r>
              <a:rPr sz="2800" u="heavy" spc="45" dirty="0">
                <a:solidFill>
                  <a:srgbClr val="03A84B"/>
                </a:solidFill>
                <a:uFill>
                  <a:solidFill>
                    <a:srgbClr val="08A84F"/>
                  </a:solidFill>
                </a:uFill>
                <a:latin typeface="Arial MT"/>
                <a:cs typeface="Arial MT"/>
              </a:rPr>
              <a:t>due</a:t>
            </a:r>
            <a:r>
              <a:rPr sz="2800" u="heavy" spc="95" dirty="0">
                <a:solidFill>
                  <a:srgbClr val="03A84B"/>
                </a:solidFill>
                <a:uFill>
                  <a:solidFill>
                    <a:srgbClr val="08A84F"/>
                  </a:solidFill>
                </a:uFill>
                <a:latin typeface="Arial MT"/>
                <a:cs typeface="Arial MT"/>
              </a:rPr>
              <a:t> </a:t>
            </a:r>
            <a:r>
              <a:rPr sz="2800" u="heavy" dirty="0">
                <a:solidFill>
                  <a:srgbClr val="00B34D"/>
                </a:solidFill>
                <a:uFill>
                  <a:solidFill>
                    <a:srgbClr val="08A84F"/>
                  </a:solidFill>
                </a:uFill>
                <a:latin typeface="Arial MT"/>
                <a:cs typeface="Arial MT"/>
              </a:rPr>
              <a:t>to</a:t>
            </a:r>
            <a:r>
              <a:rPr sz="2800" spc="200" dirty="0">
                <a:solidFill>
                  <a:srgbClr val="00B34D"/>
                </a:solidFill>
                <a:latin typeface="Arial MT"/>
                <a:cs typeface="Arial MT"/>
              </a:rPr>
              <a:t> </a:t>
            </a:r>
            <a:r>
              <a:rPr sz="2800" spc="64" dirty="0">
                <a:solidFill>
                  <a:srgbClr val="0100CF"/>
                </a:solidFill>
                <a:latin typeface="Arial MT"/>
                <a:cs typeface="Arial MT"/>
              </a:rPr>
              <a:t>resource 	</a:t>
            </a:r>
            <a:r>
              <a:rPr sz="2800" spc="73" dirty="0">
                <a:latin typeface="Arial MT"/>
                <a:cs typeface="Arial MT"/>
              </a:rPr>
              <a:t>constraints.</a:t>
            </a:r>
            <a:r>
              <a:rPr sz="2800" dirty="0">
                <a:latin typeface="Arial MT"/>
                <a:cs typeface="Arial MT"/>
              </a:rPr>
              <a:t>	</a:t>
            </a:r>
          </a:p>
          <a:p>
            <a:pPr marL="285858" indent="-274331">
              <a:spcBef>
                <a:spcPts val="1175"/>
              </a:spcBef>
              <a:buChar char="•"/>
              <a:tabLst>
                <a:tab pos="285858" algn="l"/>
              </a:tabLst>
            </a:pPr>
            <a:r>
              <a:rPr sz="2800" dirty="0">
                <a:latin typeface="Arial MT"/>
                <a:cs typeface="Arial MT"/>
              </a:rPr>
              <a:t>May</a:t>
            </a:r>
            <a:r>
              <a:rPr sz="2800" spc="118" dirty="0">
                <a:latin typeface="Arial MT"/>
                <a:cs typeface="Arial MT"/>
              </a:rPr>
              <a:t> </a:t>
            </a:r>
            <a:r>
              <a:rPr sz="2800" u="heavy" dirty="0">
                <a:solidFill>
                  <a:srgbClr val="0AA852"/>
                </a:solidFill>
                <a:uFill>
                  <a:solidFill>
                    <a:srgbClr val="08A84F"/>
                  </a:solidFill>
                </a:uFill>
                <a:latin typeface="Arial MT"/>
                <a:cs typeface="Arial MT"/>
              </a:rPr>
              <a:t>cause</a:t>
            </a:r>
            <a:r>
              <a:rPr sz="2800" spc="159" dirty="0">
                <a:solidFill>
                  <a:srgbClr val="0AA852"/>
                </a:solidFill>
                <a:latin typeface="Arial MT"/>
                <a:cs typeface="Arial MT"/>
              </a:rPr>
              <a:t> </a:t>
            </a:r>
            <a:r>
              <a:rPr sz="2800" spc="59" dirty="0">
                <a:solidFill>
                  <a:srgbClr val="0001C6"/>
                </a:solidFill>
                <a:latin typeface="Arial MT"/>
                <a:cs typeface="Arial MT"/>
              </a:rPr>
              <a:t>parallel</a:t>
            </a:r>
            <a:r>
              <a:rPr sz="2800" spc="113" dirty="0">
                <a:solidFill>
                  <a:srgbClr val="0001C6"/>
                </a:solidFill>
                <a:latin typeface="Arial MT"/>
                <a:cs typeface="Arial MT"/>
              </a:rPr>
              <a:t> </a:t>
            </a:r>
            <a:r>
              <a:rPr sz="2800" spc="86" dirty="0">
                <a:solidFill>
                  <a:srgbClr val="0000CA"/>
                </a:solidFill>
                <a:latin typeface="Arial MT"/>
                <a:cs typeface="Arial MT"/>
              </a:rPr>
              <a:t>activities</a:t>
            </a:r>
            <a:r>
              <a:rPr sz="2800" spc="191" dirty="0">
                <a:solidFill>
                  <a:srgbClr val="0000CA"/>
                </a:solidFill>
                <a:latin typeface="Arial MT"/>
                <a:cs typeface="Arial MT"/>
              </a:rPr>
              <a:t> </a:t>
            </a:r>
            <a:r>
              <a:rPr sz="2800" u="heavy" spc="91" dirty="0">
                <a:solidFill>
                  <a:srgbClr val="03AC52"/>
                </a:solidFill>
                <a:uFill>
                  <a:solidFill>
                    <a:srgbClr val="08A84F"/>
                  </a:solidFill>
                </a:uFill>
                <a:latin typeface="Arial MT"/>
                <a:cs typeface="Arial MT"/>
              </a:rPr>
              <a:t>to</a:t>
            </a:r>
            <a:r>
              <a:rPr sz="2800" spc="86" dirty="0">
                <a:solidFill>
                  <a:srgbClr val="03AC52"/>
                </a:solidFill>
                <a:latin typeface="Arial MT"/>
                <a:cs typeface="Arial MT"/>
              </a:rPr>
              <a:t> </a:t>
            </a:r>
            <a:r>
              <a:rPr sz="2800" spc="50" dirty="0">
                <a:solidFill>
                  <a:srgbClr val="00B14F"/>
                </a:solidFill>
                <a:latin typeface="Arial MT"/>
                <a:cs typeface="Arial MT"/>
              </a:rPr>
              <a:t>become</a:t>
            </a:r>
            <a:r>
              <a:rPr sz="2800" spc="172" dirty="0">
                <a:solidFill>
                  <a:srgbClr val="00B14F"/>
                </a:solidFill>
                <a:latin typeface="Arial MT"/>
                <a:cs typeface="Arial MT"/>
              </a:rPr>
              <a:t> </a:t>
            </a:r>
            <a:r>
              <a:rPr sz="2800" spc="45" dirty="0">
                <a:latin typeface="Arial MT"/>
                <a:cs typeface="Arial MT"/>
              </a:rPr>
              <a:t>sequential.</a:t>
            </a:r>
            <a:endParaRPr sz="2800" dirty="0">
              <a:latin typeface="Arial MT"/>
              <a:cs typeface="Arial MT"/>
            </a:endParaRPr>
          </a:p>
        </p:txBody>
      </p:sp>
      <p:pic>
        <p:nvPicPr>
          <p:cNvPr id="4" name="Picture 3">
            <a:extLst>
              <a:ext uri="{FF2B5EF4-FFF2-40B4-BE49-F238E27FC236}">
                <a16:creationId xmlns:a16="http://schemas.microsoft.com/office/drawing/2014/main" id="{D28462B2-1E78-9CFD-EBF2-4EA4E5DBC3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26718" y="3061421"/>
            <a:ext cx="949336" cy="34732"/>
          </a:xfrm>
          <a:prstGeom prst="rect">
            <a:avLst/>
          </a:prstGeom>
        </p:spPr>
      </p:pic>
      <p:pic>
        <p:nvPicPr>
          <p:cNvPr id="3" name="object 3"/>
          <p:cNvPicPr/>
          <p:nvPr/>
        </p:nvPicPr>
        <p:blipFill>
          <a:blip r:embed="rId3" cstate="print"/>
          <a:stretch>
            <a:fillRect/>
          </a:stretch>
        </p:blipFill>
        <p:spPr>
          <a:xfrm>
            <a:off x="8425924" y="3061421"/>
            <a:ext cx="674376" cy="34732"/>
          </a:xfrm>
          <a:prstGeom prst="rect">
            <a:avLst/>
          </a:prstGeom>
        </p:spPr>
      </p:pic>
      <p:sp>
        <p:nvSpPr>
          <p:cNvPr id="4" name="object 4"/>
          <p:cNvSpPr txBox="1">
            <a:spLocks noGrp="1"/>
          </p:cNvSpPr>
          <p:nvPr>
            <p:ph type="title"/>
          </p:nvPr>
        </p:nvSpPr>
        <p:spPr>
          <a:xfrm>
            <a:off x="914400" y="564268"/>
            <a:ext cx="8664248" cy="673940"/>
          </a:xfrm>
          <a:prstGeom prst="rect">
            <a:avLst/>
          </a:prstGeom>
        </p:spPr>
        <p:txBody>
          <a:bodyPr vert="horz" wrap="square" lIns="0" tIns="12102" rIns="0" bIns="0" rtlCol="0">
            <a:spAutoFit/>
          </a:bodyPr>
          <a:lstStyle/>
          <a:p>
            <a:pPr marL="11527">
              <a:spcBef>
                <a:spcPts val="95"/>
              </a:spcBef>
            </a:pPr>
            <a:r>
              <a:rPr spc="105" dirty="0"/>
              <a:t>Benefits of Scheduling Resources</a:t>
            </a:r>
          </a:p>
        </p:txBody>
      </p:sp>
      <p:sp>
        <p:nvSpPr>
          <p:cNvPr id="8" name="object 8"/>
          <p:cNvSpPr txBox="1">
            <a:spLocks noGrp="1"/>
          </p:cNvSpPr>
          <p:nvPr>
            <p:ph type="sldNum" sz="quarter" idx="7"/>
          </p:nvPr>
        </p:nvSpPr>
        <p:spPr>
          <a:xfrm>
            <a:off x="9210339" y="5788383"/>
            <a:ext cx="2544952" cy="117517"/>
          </a:xfrm>
          <a:prstGeom prst="rect">
            <a:avLst/>
          </a:prstGeom>
        </p:spPr>
        <p:txBody>
          <a:bodyPr vert="horz" wrap="square" lIns="0" tIns="5763" rIns="0" bIns="0" rtlCol="0">
            <a:spAutoFit/>
          </a:bodyPr>
          <a:lstStyle/>
          <a:p>
            <a:pPr marL="11527">
              <a:spcBef>
                <a:spcPts val="45"/>
              </a:spcBef>
            </a:pPr>
            <a:fld id="{81D60167-4931-47E6-BA6A-407CBD079E47}" type="slidenum">
              <a:rPr sz="726" spc="-23" dirty="0"/>
              <a:pPr marL="11527">
                <a:spcBef>
                  <a:spcPts val="45"/>
                </a:spcBef>
              </a:pPr>
              <a:t>14</a:t>
            </a:fld>
            <a:endParaRPr sz="726"/>
          </a:p>
        </p:txBody>
      </p:sp>
      <p:sp>
        <p:nvSpPr>
          <p:cNvPr id="5" name="object 5"/>
          <p:cNvSpPr txBox="1"/>
          <p:nvPr/>
        </p:nvSpPr>
        <p:spPr>
          <a:xfrm>
            <a:off x="1752600" y="1578244"/>
            <a:ext cx="8022131" cy="5213271"/>
          </a:xfrm>
          <a:prstGeom prst="rect">
            <a:avLst/>
          </a:prstGeom>
        </p:spPr>
        <p:txBody>
          <a:bodyPr vert="horz" wrap="square" lIns="0" tIns="135431" rIns="0" bIns="0" rtlCol="0">
            <a:spAutoFit/>
          </a:bodyPr>
          <a:lstStyle/>
          <a:p>
            <a:pPr marL="11527">
              <a:spcBef>
                <a:spcPts val="1066"/>
              </a:spcBef>
            </a:pPr>
            <a:r>
              <a:rPr sz="2314" dirty="0">
                <a:solidFill>
                  <a:srgbClr val="BD0003"/>
                </a:solidFill>
                <a:latin typeface="Arial MT"/>
                <a:cs typeface="Arial MT"/>
              </a:rPr>
              <a:t>\•</a:t>
            </a:r>
            <a:r>
              <a:rPr sz="2314" spc="363" dirty="0">
                <a:solidFill>
                  <a:srgbClr val="BD0003"/>
                </a:solidFill>
                <a:latin typeface="Arial MT"/>
                <a:cs typeface="Arial MT"/>
              </a:rPr>
              <a:t> </a:t>
            </a:r>
            <a:r>
              <a:rPr sz="2314" u="heavy" spc="54" dirty="0">
                <a:solidFill>
                  <a:srgbClr val="BF0000"/>
                </a:solidFill>
                <a:uFill>
                  <a:solidFill>
                    <a:srgbClr val="B8080C"/>
                  </a:solidFill>
                </a:uFill>
                <a:latin typeface="Arial MT"/>
                <a:cs typeface="Arial MT"/>
              </a:rPr>
              <a:t>With</a:t>
            </a:r>
            <a:r>
              <a:rPr sz="2314" u="heavy" spc="127" dirty="0">
                <a:solidFill>
                  <a:srgbClr val="BF0000"/>
                </a:solidFill>
                <a:uFill>
                  <a:solidFill>
                    <a:srgbClr val="B8080C"/>
                  </a:solidFill>
                </a:uFill>
                <a:latin typeface="Arial MT"/>
                <a:cs typeface="Arial MT"/>
              </a:rPr>
              <a:t> </a:t>
            </a:r>
            <a:r>
              <a:rPr sz="2314" u="heavy" dirty="0">
                <a:solidFill>
                  <a:srgbClr val="BC0005"/>
                </a:solidFill>
                <a:uFill>
                  <a:solidFill>
                    <a:srgbClr val="B8080C"/>
                  </a:solidFill>
                </a:uFill>
                <a:latin typeface="Arial MT"/>
                <a:cs typeface="Arial MT"/>
              </a:rPr>
              <a:t>respect</a:t>
            </a:r>
            <a:r>
              <a:rPr sz="2314" u="heavy" spc="290" dirty="0">
                <a:solidFill>
                  <a:srgbClr val="BC0005"/>
                </a:solidFill>
                <a:uFill>
                  <a:solidFill>
                    <a:srgbClr val="B8080C"/>
                  </a:solidFill>
                </a:uFill>
                <a:latin typeface="Arial MT"/>
                <a:cs typeface="Arial MT"/>
              </a:rPr>
              <a:t> </a:t>
            </a:r>
            <a:r>
              <a:rPr sz="2314" u="heavy" spc="109" dirty="0">
                <a:solidFill>
                  <a:srgbClr val="BA0300"/>
                </a:solidFill>
                <a:uFill>
                  <a:solidFill>
                    <a:srgbClr val="B8080C"/>
                  </a:solidFill>
                </a:uFill>
                <a:latin typeface="Arial MT"/>
                <a:cs typeface="Arial MT"/>
              </a:rPr>
              <a:t>to</a:t>
            </a:r>
            <a:r>
              <a:rPr sz="2314" u="heavy" spc="68" dirty="0">
                <a:solidFill>
                  <a:srgbClr val="BA0300"/>
                </a:solidFill>
                <a:uFill>
                  <a:solidFill>
                    <a:srgbClr val="B8080C"/>
                  </a:solidFill>
                </a:uFill>
                <a:latin typeface="Arial MT"/>
                <a:cs typeface="Arial MT"/>
              </a:rPr>
              <a:t> </a:t>
            </a:r>
            <a:r>
              <a:rPr sz="2314" u="heavy" dirty="0">
                <a:solidFill>
                  <a:srgbClr val="BA0103"/>
                </a:solidFill>
                <a:uFill>
                  <a:solidFill>
                    <a:srgbClr val="B8080C"/>
                  </a:solidFill>
                </a:uFill>
                <a:latin typeface="Arial MT"/>
                <a:cs typeface="Arial MT"/>
              </a:rPr>
              <a:t>Resources</a:t>
            </a:r>
            <a:r>
              <a:rPr sz="2314" u="heavy" spc="359" dirty="0">
                <a:solidFill>
                  <a:srgbClr val="BA0103"/>
                </a:solidFill>
                <a:uFill>
                  <a:solidFill>
                    <a:srgbClr val="B8080C"/>
                  </a:solidFill>
                </a:uFill>
                <a:latin typeface="Arial MT"/>
                <a:cs typeface="Arial MT"/>
              </a:rPr>
              <a:t> </a:t>
            </a:r>
            <a:r>
              <a:rPr sz="2314" u="heavy" spc="-9" dirty="0">
                <a:solidFill>
                  <a:srgbClr val="C80003"/>
                </a:solidFill>
                <a:uFill>
                  <a:solidFill>
                    <a:srgbClr val="B8080C"/>
                  </a:solidFill>
                </a:uFill>
                <a:latin typeface="Arial MT"/>
                <a:cs typeface="Arial MT"/>
              </a:rPr>
              <a:t>needed:</a:t>
            </a:r>
            <a:endParaRPr sz="2314" dirty="0">
              <a:latin typeface="Arial MT"/>
              <a:cs typeface="Arial MT"/>
            </a:endParaRPr>
          </a:p>
          <a:p>
            <a:pPr marL="743461" indent="-215546">
              <a:spcBef>
                <a:spcPts val="985"/>
              </a:spcBef>
              <a:buClr>
                <a:srgbClr val="03AE52"/>
              </a:buClr>
              <a:buChar char="•"/>
              <a:tabLst>
                <a:tab pos="743461" algn="l"/>
              </a:tabLst>
            </a:pPr>
            <a:r>
              <a:rPr sz="2314" u="heavy" dirty="0">
                <a:solidFill>
                  <a:srgbClr val="00B14D"/>
                </a:solidFill>
                <a:uFill>
                  <a:solidFill>
                    <a:srgbClr val="035B83"/>
                  </a:solidFill>
                </a:uFill>
                <a:latin typeface="Arial MT"/>
                <a:cs typeface="Arial MT"/>
              </a:rPr>
              <a:t>Check</a:t>
            </a:r>
            <a:r>
              <a:rPr sz="2314" spc="245" dirty="0">
                <a:solidFill>
                  <a:srgbClr val="00B14D"/>
                </a:solidFill>
                <a:latin typeface="Arial MT"/>
                <a:cs typeface="Arial MT"/>
              </a:rPr>
              <a:t> </a:t>
            </a:r>
            <a:r>
              <a:rPr sz="2314" dirty="0">
                <a:solidFill>
                  <a:srgbClr val="00AF54"/>
                </a:solidFill>
                <a:latin typeface="Arial MT"/>
                <a:cs typeface="Arial MT"/>
              </a:rPr>
              <a:t>if</a:t>
            </a:r>
            <a:r>
              <a:rPr sz="2314" spc="263" dirty="0">
                <a:solidFill>
                  <a:srgbClr val="00AF54"/>
                </a:solidFill>
                <a:latin typeface="Arial MT"/>
                <a:cs typeface="Arial MT"/>
              </a:rPr>
              <a:t> </a:t>
            </a:r>
            <a:r>
              <a:rPr sz="2314" u="heavy" spc="73" dirty="0">
                <a:solidFill>
                  <a:srgbClr val="0001D3"/>
                </a:solidFill>
                <a:uFill>
                  <a:solidFill>
                    <a:srgbClr val="035B83"/>
                  </a:solidFill>
                </a:uFill>
                <a:latin typeface="Arial MT"/>
                <a:cs typeface="Arial MT"/>
              </a:rPr>
              <a:t>existinq</a:t>
            </a:r>
            <a:r>
              <a:rPr sz="2314" spc="159" dirty="0">
                <a:solidFill>
                  <a:srgbClr val="0001D3"/>
                </a:solidFill>
                <a:latin typeface="Arial MT"/>
                <a:cs typeface="Arial MT"/>
              </a:rPr>
              <a:t> </a:t>
            </a:r>
            <a:r>
              <a:rPr sz="2314" dirty="0">
                <a:solidFill>
                  <a:srgbClr val="0003C4"/>
                </a:solidFill>
                <a:latin typeface="Arial MT"/>
                <a:cs typeface="Arial MT"/>
              </a:rPr>
              <a:t>resources</a:t>
            </a:r>
            <a:r>
              <a:rPr sz="2314" spc="340" dirty="0">
                <a:solidFill>
                  <a:srgbClr val="0003C4"/>
                </a:solidFill>
                <a:latin typeface="Arial MT"/>
                <a:cs typeface="Arial MT"/>
              </a:rPr>
              <a:t> </a:t>
            </a:r>
            <a:r>
              <a:rPr sz="2314" u="heavy" dirty="0">
                <a:solidFill>
                  <a:srgbClr val="03AC4D"/>
                </a:solidFill>
                <a:uFill>
                  <a:solidFill>
                    <a:srgbClr val="035B83"/>
                  </a:solidFill>
                </a:uFill>
                <a:latin typeface="Arial MT"/>
                <a:cs typeface="Arial MT"/>
              </a:rPr>
              <a:t>are</a:t>
            </a:r>
            <a:r>
              <a:rPr sz="2314" spc="136" dirty="0">
                <a:solidFill>
                  <a:srgbClr val="03AC4D"/>
                </a:solidFill>
                <a:latin typeface="Arial MT"/>
                <a:cs typeface="Arial MT"/>
              </a:rPr>
              <a:t> </a:t>
            </a:r>
            <a:r>
              <a:rPr sz="2314" dirty="0">
                <a:solidFill>
                  <a:srgbClr val="0100D4"/>
                </a:solidFill>
                <a:latin typeface="Arial MT"/>
                <a:cs typeface="Arial MT"/>
              </a:rPr>
              <a:t>adequate</a:t>
            </a:r>
            <a:r>
              <a:rPr sz="2314" spc="236" dirty="0">
                <a:solidFill>
                  <a:srgbClr val="0100D4"/>
                </a:solidFill>
                <a:latin typeface="Arial MT"/>
                <a:cs typeface="Arial MT"/>
              </a:rPr>
              <a:t> </a:t>
            </a:r>
            <a:r>
              <a:rPr sz="2314" dirty="0">
                <a:latin typeface="Arial MT"/>
                <a:cs typeface="Arial MT"/>
              </a:rPr>
              <a:t>&amp;</a:t>
            </a:r>
            <a:r>
              <a:rPr sz="2314" spc="82" dirty="0">
                <a:latin typeface="Arial MT"/>
                <a:cs typeface="Arial MT"/>
              </a:rPr>
              <a:t> </a:t>
            </a:r>
            <a:r>
              <a:rPr sz="2314" spc="-9" dirty="0">
                <a:latin typeface="Arial MT"/>
                <a:cs typeface="Arial MT"/>
              </a:rPr>
              <a:t>available.</a:t>
            </a:r>
            <a:endParaRPr sz="2314" dirty="0">
              <a:latin typeface="Arial MT"/>
              <a:cs typeface="Arial MT"/>
            </a:endParaRPr>
          </a:p>
          <a:p>
            <a:pPr marL="740579" indent="-212664">
              <a:spcBef>
                <a:spcPts val="980"/>
              </a:spcBef>
              <a:buClr>
                <a:srgbClr val="05AC52"/>
              </a:buClr>
              <a:buChar char="•"/>
              <a:tabLst>
                <a:tab pos="740579" algn="l"/>
              </a:tabLst>
            </a:pPr>
            <a:r>
              <a:rPr sz="2314" u="heavy" dirty="0">
                <a:solidFill>
                  <a:srgbClr val="05AC4F"/>
                </a:solidFill>
                <a:uFill>
                  <a:solidFill>
                    <a:srgbClr val="03AC4F"/>
                  </a:solidFill>
                </a:uFill>
                <a:latin typeface="Arial MT"/>
                <a:cs typeface="Arial MT"/>
              </a:rPr>
              <a:t>Decide</a:t>
            </a:r>
            <a:r>
              <a:rPr sz="2314" spc="300" dirty="0">
                <a:solidFill>
                  <a:srgbClr val="05AC4F"/>
                </a:solidFill>
                <a:latin typeface="Arial MT"/>
                <a:cs typeface="Arial MT"/>
              </a:rPr>
              <a:t> </a:t>
            </a:r>
            <a:r>
              <a:rPr sz="2314" u="heavy" spc="77" dirty="0">
                <a:solidFill>
                  <a:srgbClr val="00B14D"/>
                </a:solidFill>
                <a:uFill>
                  <a:solidFill>
                    <a:srgbClr val="03AC4F"/>
                  </a:solidFill>
                </a:uFill>
                <a:latin typeface="Arial MT"/>
                <a:cs typeface="Arial MT"/>
              </a:rPr>
              <a:t>which</a:t>
            </a:r>
            <a:r>
              <a:rPr sz="2314" spc="141" dirty="0">
                <a:solidFill>
                  <a:srgbClr val="00B14D"/>
                </a:solidFill>
                <a:latin typeface="Arial MT"/>
                <a:cs typeface="Arial MT"/>
              </a:rPr>
              <a:t> </a:t>
            </a:r>
            <a:r>
              <a:rPr sz="2314" dirty="0">
                <a:solidFill>
                  <a:srgbClr val="0001C4"/>
                </a:solidFill>
                <a:latin typeface="Arial MT"/>
                <a:cs typeface="Arial MT"/>
              </a:rPr>
              <a:t>resources</a:t>
            </a:r>
            <a:r>
              <a:rPr sz="2314" spc="408" dirty="0">
                <a:solidFill>
                  <a:srgbClr val="0001C4"/>
                </a:solidFill>
                <a:latin typeface="Arial MT"/>
                <a:cs typeface="Arial MT"/>
              </a:rPr>
              <a:t> </a:t>
            </a:r>
            <a:r>
              <a:rPr sz="2314" u="heavy" dirty="0">
                <a:solidFill>
                  <a:srgbClr val="00B34D"/>
                </a:solidFill>
                <a:uFill>
                  <a:solidFill>
                    <a:srgbClr val="03AC4F"/>
                  </a:solidFill>
                </a:uFill>
                <a:latin typeface="Arial MT"/>
                <a:cs typeface="Arial MT"/>
              </a:rPr>
              <a:t>have</a:t>
            </a:r>
            <a:r>
              <a:rPr sz="2314" spc="168" dirty="0">
                <a:solidFill>
                  <a:srgbClr val="00B34D"/>
                </a:solidFill>
                <a:latin typeface="Arial MT"/>
                <a:cs typeface="Arial MT"/>
              </a:rPr>
              <a:t> </a:t>
            </a:r>
            <a:r>
              <a:rPr sz="2314" spc="77" dirty="0">
                <a:latin typeface="Arial MT"/>
                <a:cs typeface="Arial MT"/>
              </a:rPr>
              <a:t>priority.</a:t>
            </a:r>
            <a:r>
              <a:rPr sz="2314" spc="313" dirty="0">
                <a:latin typeface="Arial MT"/>
                <a:cs typeface="Arial MT"/>
              </a:rPr>
              <a:t> </a:t>
            </a:r>
            <a:endParaRPr sz="2314" dirty="0">
              <a:latin typeface="Arial MT"/>
              <a:cs typeface="Arial MT"/>
            </a:endParaRPr>
          </a:p>
          <a:p>
            <a:pPr marL="740579" indent="-212664">
              <a:spcBef>
                <a:spcPts val="1030"/>
              </a:spcBef>
              <a:buClr>
                <a:srgbClr val="00AF54"/>
              </a:buClr>
              <a:buChar char="•"/>
              <a:tabLst>
                <a:tab pos="740579" algn="l"/>
              </a:tabLst>
            </a:pPr>
            <a:r>
              <a:rPr sz="2314" dirty="0">
                <a:solidFill>
                  <a:srgbClr val="03AE52"/>
                </a:solidFill>
                <a:latin typeface="Arial MT"/>
                <a:cs typeface="Arial MT"/>
              </a:rPr>
              <a:t>Decide</a:t>
            </a:r>
            <a:r>
              <a:rPr sz="2314" spc="136" dirty="0">
                <a:solidFill>
                  <a:srgbClr val="03AE52"/>
                </a:solidFill>
                <a:latin typeface="Arial MT"/>
                <a:cs typeface="Arial MT"/>
              </a:rPr>
              <a:t> </a:t>
            </a:r>
            <a:r>
              <a:rPr sz="2314" dirty="0">
                <a:solidFill>
                  <a:srgbClr val="00B14F"/>
                </a:solidFill>
                <a:latin typeface="Arial MT"/>
                <a:cs typeface="Arial MT"/>
              </a:rPr>
              <a:t>if</a:t>
            </a:r>
            <a:r>
              <a:rPr sz="2314" spc="172" dirty="0">
                <a:solidFill>
                  <a:srgbClr val="00B14F"/>
                </a:solidFill>
                <a:latin typeface="Arial MT"/>
                <a:cs typeface="Arial MT"/>
              </a:rPr>
              <a:t> </a:t>
            </a:r>
            <a:r>
              <a:rPr sz="2314" spc="59" dirty="0">
                <a:solidFill>
                  <a:srgbClr val="0000CD"/>
                </a:solidFill>
                <a:latin typeface="Arial MT"/>
                <a:cs typeface="Arial MT"/>
              </a:rPr>
              <a:t>outside</a:t>
            </a:r>
            <a:r>
              <a:rPr sz="2314" spc="50" dirty="0">
                <a:solidFill>
                  <a:srgbClr val="0000CD"/>
                </a:solidFill>
                <a:latin typeface="Arial MT"/>
                <a:cs typeface="Arial MT"/>
              </a:rPr>
              <a:t> </a:t>
            </a:r>
            <a:r>
              <a:rPr sz="2314" spc="73" dirty="0">
                <a:solidFill>
                  <a:srgbClr val="0001CF"/>
                </a:solidFill>
                <a:latin typeface="Arial MT"/>
                <a:cs typeface="Arial MT"/>
              </a:rPr>
              <a:t>contractors</a:t>
            </a:r>
            <a:r>
              <a:rPr sz="2314" spc="150" dirty="0">
                <a:solidFill>
                  <a:srgbClr val="0001CF"/>
                </a:solidFill>
                <a:latin typeface="Arial MT"/>
                <a:cs typeface="Arial MT"/>
              </a:rPr>
              <a:t> </a:t>
            </a:r>
            <a:r>
              <a:rPr sz="2314" dirty="0">
                <a:latin typeface="Arial MT"/>
                <a:cs typeface="Arial MT"/>
              </a:rPr>
              <a:t>have</a:t>
            </a:r>
            <a:r>
              <a:rPr sz="2314" spc="77" dirty="0">
                <a:latin typeface="Arial MT"/>
                <a:cs typeface="Arial MT"/>
              </a:rPr>
              <a:t> </a:t>
            </a:r>
            <a:r>
              <a:rPr sz="2314" dirty="0">
                <a:latin typeface="Arial MT"/>
                <a:cs typeface="Arial MT"/>
              </a:rPr>
              <a:t>to</a:t>
            </a:r>
            <a:r>
              <a:rPr sz="2314" spc="-36" dirty="0">
                <a:latin typeface="Arial MT"/>
                <a:cs typeface="Arial MT"/>
              </a:rPr>
              <a:t> </a:t>
            </a:r>
            <a:r>
              <a:rPr sz="2314" dirty="0">
                <a:latin typeface="Arial MT"/>
                <a:cs typeface="Arial MT"/>
              </a:rPr>
              <a:t>be</a:t>
            </a:r>
            <a:r>
              <a:rPr sz="2314" spc="5" dirty="0">
                <a:latin typeface="Arial MT"/>
                <a:cs typeface="Arial MT"/>
              </a:rPr>
              <a:t> </a:t>
            </a:r>
            <a:r>
              <a:rPr sz="2314" spc="-9" dirty="0">
                <a:latin typeface="Arial MT"/>
                <a:cs typeface="Arial MT"/>
              </a:rPr>
              <a:t>used.</a:t>
            </a:r>
            <a:endParaRPr sz="2314" dirty="0">
              <a:latin typeface="Arial MT"/>
              <a:cs typeface="Arial MT"/>
            </a:endParaRPr>
          </a:p>
          <a:p>
            <a:pPr marL="740579" indent="-212664">
              <a:spcBef>
                <a:spcPts val="962"/>
              </a:spcBef>
              <a:buClr>
                <a:srgbClr val="00AF54"/>
              </a:buClr>
              <a:buChar char="•"/>
              <a:tabLst>
                <a:tab pos="740579" algn="l"/>
              </a:tabLst>
            </a:pPr>
            <a:r>
              <a:rPr sz="2360" u="heavy" dirty="0">
                <a:solidFill>
                  <a:srgbClr val="00B14F"/>
                </a:solidFill>
                <a:uFill>
                  <a:solidFill>
                    <a:srgbClr val="034F8C"/>
                  </a:solidFill>
                </a:uFill>
                <a:latin typeface="Arial MT"/>
                <a:cs typeface="Arial MT"/>
              </a:rPr>
              <a:t>Determine</a:t>
            </a:r>
            <a:r>
              <a:rPr sz="2360" spc="313" dirty="0">
                <a:solidFill>
                  <a:srgbClr val="00B14F"/>
                </a:solidFill>
                <a:latin typeface="Arial MT"/>
                <a:cs typeface="Arial MT"/>
              </a:rPr>
              <a:t> </a:t>
            </a:r>
            <a:r>
              <a:rPr sz="2360" u="heavy" dirty="0">
                <a:solidFill>
                  <a:srgbClr val="0001C6"/>
                </a:solidFill>
                <a:uFill>
                  <a:solidFill>
                    <a:srgbClr val="034F8C"/>
                  </a:solidFill>
                </a:uFill>
                <a:latin typeface="Arial MT"/>
                <a:cs typeface="Arial MT"/>
              </a:rPr>
              <a:t>unforeseen</a:t>
            </a:r>
            <a:r>
              <a:rPr sz="2360" spc="254" dirty="0">
                <a:solidFill>
                  <a:srgbClr val="0001C6"/>
                </a:solidFill>
                <a:latin typeface="Arial MT"/>
                <a:cs typeface="Arial MT"/>
              </a:rPr>
              <a:t> </a:t>
            </a:r>
            <a:r>
              <a:rPr sz="2360" spc="-9" dirty="0">
                <a:latin typeface="Arial MT"/>
                <a:cs typeface="Arial MT"/>
              </a:rPr>
              <a:t>dependencies.</a:t>
            </a:r>
            <a:endParaRPr sz="2360" dirty="0">
              <a:latin typeface="Arial MT"/>
              <a:cs typeface="Arial MT"/>
            </a:endParaRPr>
          </a:p>
          <a:p>
            <a:pPr marL="11527">
              <a:spcBef>
                <a:spcPts val="994"/>
              </a:spcBef>
            </a:pPr>
            <a:r>
              <a:rPr sz="2314" dirty="0">
                <a:solidFill>
                  <a:srgbClr val="C10001"/>
                </a:solidFill>
                <a:latin typeface="Arial MT"/>
                <a:cs typeface="Arial MT"/>
              </a:rPr>
              <a:t>\•</a:t>
            </a:r>
            <a:r>
              <a:rPr sz="2314" spc="290" dirty="0">
                <a:solidFill>
                  <a:srgbClr val="C10001"/>
                </a:solidFill>
                <a:latin typeface="Arial MT"/>
                <a:cs typeface="Arial MT"/>
              </a:rPr>
              <a:t> </a:t>
            </a:r>
            <a:r>
              <a:rPr sz="2314" u="heavy" spc="54" dirty="0">
                <a:solidFill>
                  <a:srgbClr val="BF0000"/>
                </a:solidFill>
                <a:uFill>
                  <a:solidFill>
                    <a:srgbClr val="B3080C"/>
                  </a:solidFill>
                </a:uFill>
                <a:latin typeface="Arial MT"/>
                <a:cs typeface="Arial MT"/>
              </a:rPr>
              <a:t>With</a:t>
            </a:r>
            <a:r>
              <a:rPr sz="2314" u="heavy" spc="82" dirty="0">
                <a:solidFill>
                  <a:srgbClr val="BF0000"/>
                </a:solidFill>
                <a:uFill>
                  <a:solidFill>
                    <a:srgbClr val="B3080C"/>
                  </a:solidFill>
                </a:uFill>
                <a:latin typeface="Arial MT"/>
                <a:cs typeface="Arial MT"/>
              </a:rPr>
              <a:t> </a:t>
            </a:r>
            <a:r>
              <a:rPr sz="2314" u="heavy" dirty="0">
                <a:solidFill>
                  <a:srgbClr val="B50000"/>
                </a:solidFill>
                <a:uFill>
                  <a:solidFill>
                    <a:srgbClr val="B3080C"/>
                  </a:solidFill>
                </a:uFill>
                <a:latin typeface="Arial MT"/>
                <a:cs typeface="Arial MT"/>
              </a:rPr>
              <a:t>respect</a:t>
            </a:r>
            <a:r>
              <a:rPr sz="2314" u="heavy" spc="227" dirty="0">
                <a:solidFill>
                  <a:srgbClr val="B50000"/>
                </a:solidFill>
                <a:uFill>
                  <a:solidFill>
                    <a:srgbClr val="B3080C"/>
                  </a:solidFill>
                </a:uFill>
                <a:latin typeface="Arial MT"/>
                <a:cs typeface="Arial MT"/>
              </a:rPr>
              <a:t> </a:t>
            </a:r>
            <a:r>
              <a:rPr sz="2314" u="heavy" spc="109" dirty="0">
                <a:solidFill>
                  <a:srgbClr val="BC0001"/>
                </a:solidFill>
                <a:uFill>
                  <a:solidFill>
                    <a:srgbClr val="B3080C"/>
                  </a:solidFill>
                </a:uFill>
                <a:latin typeface="Arial MT"/>
                <a:cs typeface="Arial MT"/>
              </a:rPr>
              <a:t>to</a:t>
            </a:r>
            <a:r>
              <a:rPr sz="2314" u="heavy" spc="45" dirty="0">
                <a:solidFill>
                  <a:srgbClr val="BC0001"/>
                </a:solidFill>
                <a:uFill>
                  <a:solidFill>
                    <a:srgbClr val="B3080C"/>
                  </a:solidFill>
                </a:uFill>
                <a:latin typeface="Arial MT"/>
                <a:cs typeface="Arial MT"/>
              </a:rPr>
              <a:t> </a:t>
            </a:r>
            <a:r>
              <a:rPr sz="2314" u="heavy" dirty="0">
                <a:solidFill>
                  <a:srgbClr val="BF0000"/>
                </a:solidFill>
                <a:uFill>
                  <a:solidFill>
                    <a:srgbClr val="B3080C"/>
                  </a:solidFill>
                </a:uFill>
                <a:latin typeface="Arial MT"/>
                <a:cs typeface="Arial MT"/>
              </a:rPr>
              <a:t>Time</a:t>
            </a:r>
            <a:r>
              <a:rPr sz="2314" u="heavy" spc="95" dirty="0">
                <a:solidFill>
                  <a:srgbClr val="BF0000"/>
                </a:solidFill>
                <a:uFill>
                  <a:solidFill>
                    <a:srgbClr val="B3080C"/>
                  </a:solidFill>
                </a:uFill>
                <a:latin typeface="Arial MT"/>
                <a:cs typeface="Arial MT"/>
              </a:rPr>
              <a:t> </a:t>
            </a:r>
            <a:r>
              <a:rPr sz="2314" u="heavy" spc="-9" dirty="0">
                <a:solidFill>
                  <a:srgbClr val="BD0100"/>
                </a:solidFill>
                <a:uFill>
                  <a:solidFill>
                    <a:srgbClr val="B3080C"/>
                  </a:solidFill>
                </a:uFill>
                <a:latin typeface="Arial MT"/>
                <a:cs typeface="Arial MT"/>
              </a:rPr>
              <a:t>needed:</a:t>
            </a:r>
            <a:endParaRPr sz="2314" dirty="0">
              <a:latin typeface="Arial MT"/>
              <a:cs typeface="Arial MT"/>
            </a:endParaRPr>
          </a:p>
          <a:p>
            <a:pPr marL="743461" indent="-215546">
              <a:spcBef>
                <a:spcPts val="985"/>
              </a:spcBef>
              <a:buChar char="•"/>
              <a:tabLst>
                <a:tab pos="743461" algn="l"/>
              </a:tabLst>
            </a:pPr>
            <a:r>
              <a:rPr sz="2314" u="heavy" dirty="0">
                <a:solidFill>
                  <a:srgbClr val="00AF4F"/>
                </a:solidFill>
                <a:uFill>
                  <a:solidFill>
                    <a:srgbClr val="035487"/>
                  </a:solidFill>
                </a:uFill>
                <a:latin typeface="Arial MT"/>
                <a:cs typeface="Arial MT"/>
              </a:rPr>
              <a:t>Decide</a:t>
            </a:r>
            <a:r>
              <a:rPr sz="2314" spc="172" dirty="0">
                <a:solidFill>
                  <a:srgbClr val="00AF4F"/>
                </a:solidFill>
                <a:latin typeface="Arial MT"/>
                <a:cs typeface="Arial MT"/>
              </a:rPr>
              <a:t> </a:t>
            </a:r>
            <a:r>
              <a:rPr sz="2314" dirty="0">
                <a:solidFill>
                  <a:srgbClr val="00B84F"/>
                </a:solidFill>
                <a:latin typeface="Arial MT"/>
                <a:cs typeface="Arial MT"/>
              </a:rPr>
              <a:t>if</a:t>
            </a:r>
            <a:r>
              <a:rPr sz="2314" spc="231" dirty="0">
                <a:solidFill>
                  <a:srgbClr val="00B84F"/>
                </a:solidFill>
                <a:latin typeface="Arial MT"/>
                <a:cs typeface="Arial MT"/>
              </a:rPr>
              <a:t> </a:t>
            </a:r>
            <a:r>
              <a:rPr sz="2314" u="heavy" spc="54" dirty="0">
                <a:solidFill>
                  <a:srgbClr val="0000DA"/>
                </a:solidFill>
                <a:uFill>
                  <a:solidFill>
                    <a:srgbClr val="035487"/>
                  </a:solidFill>
                </a:uFill>
                <a:latin typeface="Arial MT"/>
                <a:cs typeface="Arial MT"/>
              </a:rPr>
              <a:t>im</a:t>
            </a:r>
            <a:r>
              <a:rPr lang="en-US" sz="2314" u="heavy" spc="54" dirty="0">
                <a:solidFill>
                  <a:srgbClr val="0000DA"/>
                </a:solidFill>
                <a:uFill>
                  <a:solidFill>
                    <a:srgbClr val="035487"/>
                  </a:solidFill>
                </a:uFill>
                <a:latin typeface="Arial MT"/>
                <a:cs typeface="Arial MT"/>
              </a:rPr>
              <a:t>p</a:t>
            </a:r>
            <a:r>
              <a:rPr sz="2314" u="heavy" spc="54" dirty="0">
                <a:solidFill>
                  <a:srgbClr val="0000DA"/>
                </a:solidFill>
                <a:uFill>
                  <a:solidFill>
                    <a:srgbClr val="035487"/>
                  </a:solidFill>
                </a:uFill>
                <a:latin typeface="Arial MT"/>
                <a:cs typeface="Arial MT"/>
              </a:rPr>
              <a:t>osed</a:t>
            </a:r>
            <a:r>
              <a:rPr sz="2314" spc="127" dirty="0">
                <a:solidFill>
                  <a:srgbClr val="0000DA"/>
                </a:solidFill>
                <a:latin typeface="Arial MT"/>
                <a:cs typeface="Arial MT"/>
              </a:rPr>
              <a:t> </a:t>
            </a:r>
            <a:r>
              <a:rPr sz="2314" spc="64" dirty="0">
                <a:solidFill>
                  <a:srgbClr val="0100D4"/>
                </a:solidFill>
                <a:latin typeface="Arial MT"/>
                <a:cs typeface="Arial MT"/>
              </a:rPr>
              <a:t>project</a:t>
            </a:r>
            <a:r>
              <a:rPr sz="2314" spc="145" dirty="0">
                <a:solidFill>
                  <a:srgbClr val="0100D4"/>
                </a:solidFill>
                <a:latin typeface="Arial MT"/>
                <a:cs typeface="Arial MT"/>
              </a:rPr>
              <a:t> </a:t>
            </a:r>
            <a:r>
              <a:rPr sz="2314" spc="68" dirty="0">
                <a:solidFill>
                  <a:srgbClr val="0000D6"/>
                </a:solidFill>
                <a:latin typeface="Arial MT"/>
                <a:cs typeface="Arial MT"/>
              </a:rPr>
              <a:t>duration</a:t>
            </a:r>
            <a:r>
              <a:rPr sz="2314" spc="103" dirty="0">
                <a:solidFill>
                  <a:srgbClr val="0000D6"/>
                </a:solidFill>
                <a:latin typeface="Arial MT"/>
                <a:cs typeface="Arial MT"/>
              </a:rPr>
              <a:t> </a:t>
            </a:r>
            <a:r>
              <a:rPr sz="2314" u="heavy" spc="54" dirty="0">
                <a:solidFill>
                  <a:srgbClr val="00AF54"/>
                </a:solidFill>
                <a:uFill>
                  <a:solidFill>
                    <a:srgbClr val="035487"/>
                  </a:solidFill>
                </a:uFill>
                <a:latin typeface="Arial MT"/>
                <a:cs typeface="Arial MT"/>
              </a:rPr>
              <a:t>is</a:t>
            </a:r>
            <a:r>
              <a:rPr sz="2314" spc="109" dirty="0">
                <a:solidFill>
                  <a:srgbClr val="00AF54"/>
                </a:solidFill>
                <a:latin typeface="Arial MT"/>
                <a:cs typeface="Arial MT"/>
              </a:rPr>
              <a:t> </a:t>
            </a:r>
            <a:r>
              <a:rPr sz="2314" spc="45" dirty="0">
                <a:latin typeface="Arial MT"/>
                <a:cs typeface="Arial MT"/>
              </a:rPr>
              <a:t>realistic.</a:t>
            </a:r>
            <a:endParaRPr sz="2314" dirty="0">
              <a:latin typeface="Arial MT"/>
              <a:cs typeface="Arial MT"/>
            </a:endParaRPr>
          </a:p>
          <a:p>
            <a:pPr marL="746918" indent="-218428">
              <a:spcBef>
                <a:spcPts val="1053"/>
              </a:spcBef>
              <a:buClr>
                <a:srgbClr val="00B154"/>
              </a:buClr>
              <a:buChar char="•"/>
              <a:tabLst>
                <a:tab pos="746918" algn="l"/>
              </a:tabLst>
            </a:pPr>
            <a:r>
              <a:rPr sz="2269" u="heavy" spc="73" dirty="0">
                <a:solidFill>
                  <a:srgbClr val="03AE4F"/>
                </a:solidFill>
                <a:uFill>
                  <a:solidFill>
                    <a:srgbClr val="08A84F"/>
                  </a:solidFill>
                </a:uFill>
                <a:latin typeface="Arial MT"/>
                <a:cs typeface="Arial MT"/>
              </a:rPr>
              <a:t>Assess</a:t>
            </a:r>
            <a:r>
              <a:rPr sz="2269" spc="195" dirty="0">
                <a:solidFill>
                  <a:srgbClr val="03AE4F"/>
                </a:solidFill>
                <a:latin typeface="Arial MT"/>
                <a:cs typeface="Arial MT"/>
              </a:rPr>
              <a:t> </a:t>
            </a:r>
            <a:r>
              <a:rPr sz="2269" spc="95" dirty="0">
                <a:solidFill>
                  <a:srgbClr val="0100CF"/>
                </a:solidFill>
                <a:latin typeface="Arial MT"/>
                <a:cs typeface="Arial MT"/>
              </a:rPr>
              <a:t>risk</a:t>
            </a:r>
            <a:r>
              <a:rPr sz="2269" spc="27" dirty="0">
                <a:solidFill>
                  <a:srgbClr val="0100CF"/>
                </a:solidFill>
                <a:latin typeface="Arial MT"/>
                <a:cs typeface="Arial MT"/>
              </a:rPr>
              <a:t> </a:t>
            </a:r>
            <a:r>
              <a:rPr sz="2269" spc="68" dirty="0">
                <a:solidFill>
                  <a:srgbClr val="0005C1"/>
                </a:solidFill>
                <a:latin typeface="Arial MT"/>
                <a:cs typeface="Arial MT"/>
              </a:rPr>
              <a:t>slack</a:t>
            </a:r>
            <a:r>
              <a:rPr sz="2269" spc="150" dirty="0">
                <a:solidFill>
                  <a:srgbClr val="0005C1"/>
                </a:solidFill>
                <a:latin typeface="Arial MT"/>
                <a:cs typeface="Arial MT"/>
              </a:rPr>
              <a:t> </a:t>
            </a:r>
            <a:r>
              <a:rPr sz="2269" dirty="0">
                <a:latin typeface="Arial MT"/>
                <a:cs typeface="Arial MT"/>
              </a:rPr>
              <a:t>is</a:t>
            </a:r>
            <a:r>
              <a:rPr sz="2269" spc="59" dirty="0">
                <a:latin typeface="Arial MT"/>
                <a:cs typeface="Arial MT"/>
              </a:rPr>
              <a:t> </a:t>
            </a:r>
            <a:r>
              <a:rPr sz="2269" u="heavy" spc="68" dirty="0">
                <a:solidFill>
                  <a:srgbClr val="00AF4B"/>
                </a:solidFill>
                <a:uFill>
                  <a:solidFill>
                    <a:srgbClr val="08A84F"/>
                  </a:solidFill>
                </a:uFill>
                <a:latin typeface="Arial MT"/>
                <a:cs typeface="Arial MT"/>
              </a:rPr>
              <a:t>use</a:t>
            </a:r>
            <a:r>
              <a:rPr lang="en-US" sz="2269" u="heavy" spc="68" dirty="0">
                <a:solidFill>
                  <a:srgbClr val="00AF4B"/>
                </a:solidFill>
                <a:uFill>
                  <a:solidFill>
                    <a:srgbClr val="08A84F"/>
                  </a:solidFill>
                </a:uFill>
                <a:latin typeface="Arial MT"/>
                <a:cs typeface="Arial MT"/>
              </a:rPr>
              <a:t>d.</a:t>
            </a:r>
            <a:endParaRPr sz="2269" dirty="0">
              <a:latin typeface="Arial MT"/>
              <a:cs typeface="Arial MT"/>
            </a:endParaRPr>
          </a:p>
          <a:p>
            <a:pPr marL="744612" marR="114113" indent="-216122">
              <a:lnSpc>
                <a:spcPct val="100400"/>
              </a:lnSpc>
              <a:spcBef>
                <a:spcPts val="1048"/>
              </a:spcBef>
              <a:buClr>
                <a:srgbClr val="07AC4F"/>
              </a:buClr>
              <a:buChar char="•"/>
              <a:tabLst>
                <a:tab pos="745766" algn="l"/>
              </a:tabLst>
            </a:pPr>
            <a:r>
              <a:rPr sz="2269" u="heavy" spc="77" dirty="0">
                <a:solidFill>
                  <a:srgbClr val="0EA84F"/>
                </a:solidFill>
                <a:uFill>
                  <a:solidFill>
                    <a:srgbClr val="08A84F"/>
                  </a:solidFill>
                </a:uFill>
                <a:latin typeface="Arial MT"/>
                <a:cs typeface="Arial MT"/>
              </a:rPr>
              <a:t>Provides</a:t>
            </a:r>
            <a:r>
              <a:rPr sz="2269" spc="127" dirty="0">
                <a:solidFill>
                  <a:srgbClr val="0EA84F"/>
                </a:solidFill>
                <a:latin typeface="Arial MT"/>
                <a:cs typeface="Arial MT"/>
              </a:rPr>
              <a:t> </a:t>
            </a:r>
            <a:r>
              <a:rPr sz="2269" spc="86" dirty="0">
                <a:solidFill>
                  <a:srgbClr val="0000DB"/>
                </a:solidFill>
                <a:latin typeface="Arial MT"/>
                <a:cs typeface="Arial MT"/>
              </a:rPr>
              <a:t>information</a:t>
            </a:r>
            <a:r>
              <a:rPr sz="2269" spc="200" dirty="0">
                <a:solidFill>
                  <a:srgbClr val="0000DB"/>
                </a:solidFill>
                <a:latin typeface="Arial MT"/>
                <a:cs typeface="Arial MT"/>
              </a:rPr>
              <a:t> </a:t>
            </a:r>
            <a:r>
              <a:rPr sz="2269" dirty="0">
                <a:latin typeface="Arial MT"/>
                <a:cs typeface="Arial MT"/>
              </a:rPr>
              <a:t>needed</a:t>
            </a:r>
            <a:r>
              <a:rPr sz="2269" spc="177" dirty="0">
                <a:latin typeface="Arial MT"/>
                <a:cs typeface="Arial MT"/>
              </a:rPr>
              <a:t> </a:t>
            </a:r>
            <a:r>
              <a:rPr sz="2269" dirty="0">
                <a:latin typeface="Arial MT"/>
                <a:cs typeface="Arial MT"/>
              </a:rPr>
              <a:t>to</a:t>
            </a:r>
            <a:r>
              <a:rPr sz="2269" spc="113" dirty="0">
                <a:latin typeface="Arial MT"/>
                <a:cs typeface="Arial MT"/>
              </a:rPr>
              <a:t> </a:t>
            </a:r>
            <a:r>
              <a:rPr lang="en-US" sz="2269" u="heavy" spc="113" dirty="0">
                <a:solidFill>
                  <a:srgbClr val="00AF52"/>
                </a:solidFill>
                <a:uFill>
                  <a:solidFill>
                    <a:srgbClr val="033F93"/>
                  </a:solidFill>
                </a:uFill>
                <a:latin typeface="Arial MT"/>
                <a:cs typeface="Arial MT"/>
              </a:rPr>
              <a:t>p</a:t>
            </a:r>
            <a:r>
              <a:rPr sz="2269" u="heavy" dirty="0">
                <a:solidFill>
                  <a:srgbClr val="00AF52"/>
                </a:solidFill>
                <a:uFill>
                  <a:solidFill>
                    <a:srgbClr val="033F93"/>
                  </a:solidFill>
                </a:uFill>
                <a:latin typeface="Arial MT"/>
                <a:cs typeface="Arial MT"/>
              </a:rPr>
              <a:t>re</a:t>
            </a:r>
            <a:r>
              <a:rPr lang="en-US" sz="2269" u="heavy" dirty="0">
                <a:solidFill>
                  <a:srgbClr val="00AF52"/>
                </a:solidFill>
                <a:uFill>
                  <a:solidFill>
                    <a:srgbClr val="033F93"/>
                  </a:solidFill>
                </a:uFill>
                <a:latin typeface="Arial MT"/>
                <a:cs typeface="Arial MT"/>
              </a:rPr>
              <a:t>p</a:t>
            </a:r>
            <a:r>
              <a:rPr sz="2269" u="heavy" dirty="0">
                <a:solidFill>
                  <a:srgbClr val="00AF52"/>
                </a:solidFill>
                <a:uFill>
                  <a:solidFill>
                    <a:srgbClr val="033F93"/>
                  </a:solidFill>
                </a:uFill>
                <a:latin typeface="Arial MT"/>
                <a:cs typeface="Arial MT"/>
              </a:rPr>
              <a:t>are</a:t>
            </a:r>
            <a:r>
              <a:rPr sz="2269" spc="172" dirty="0">
                <a:solidFill>
                  <a:srgbClr val="00AF52"/>
                </a:solidFill>
                <a:latin typeface="Arial MT"/>
                <a:cs typeface="Arial MT"/>
              </a:rPr>
              <a:t> </a:t>
            </a:r>
            <a:r>
              <a:rPr sz="2269" u="heavy" spc="45" dirty="0">
                <a:solidFill>
                  <a:srgbClr val="0100CC"/>
                </a:solidFill>
                <a:uFill>
                  <a:solidFill>
                    <a:srgbClr val="033F93"/>
                  </a:solidFill>
                </a:uFill>
                <a:latin typeface="Arial MT"/>
                <a:cs typeface="Arial MT"/>
              </a:rPr>
              <a:t>time-ghased</a:t>
            </a:r>
            <a:r>
              <a:rPr sz="2269" spc="45" dirty="0">
                <a:solidFill>
                  <a:srgbClr val="0100CC"/>
                </a:solidFill>
                <a:latin typeface="Arial MT"/>
                <a:cs typeface="Arial MT"/>
              </a:rPr>
              <a:t> 	</a:t>
            </a:r>
            <a:r>
              <a:rPr sz="2269" spc="95" dirty="0">
                <a:solidFill>
                  <a:srgbClr val="0000DF"/>
                </a:solidFill>
                <a:latin typeface="Arial MT"/>
                <a:cs typeface="Arial MT"/>
              </a:rPr>
              <a:t>work</a:t>
            </a:r>
            <a:r>
              <a:rPr sz="2269" spc="123" dirty="0">
                <a:solidFill>
                  <a:srgbClr val="0000DF"/>
                </a:solidFill>
                <a:latin typeface="Arial MT"/>
                <a:cs typeface="Arial MT"/>
              </a:rPr>
              <a:t> </a:t>
            </a:r>
            <a:r>
              <a:rPr sz="2269" spc="41" dirty="0">
                <a:solidFill>
                  <a:srgbClr val="0001CF"/>
                </a:solidFill>
                <a:latin typeface="Arial MT"/>
                <a:cs typeface="Arial MT"/>
              </a:rPr>
              <a:t>package</a:t>
            </a:r>
            <a:r>
              <a:rPr sz="2269" spc="177" dirty="0">
                <a:solidFill>
                  <a:srgbClr val="0001CF"/>
                </a:solidFill>
                <a:latin typeface="Arial MT"/>
                <a:cs typeface="Arial MT"/>
              </a:rPr>
              <a:t> </a:t>
            </a:r>
            <a:r>
              <a:rPr sz="2269" u="heavy" spc="77" dirty="0">
                <a:solidFill>
                  <a:srgbClr val="0003C3"/>
                </a:solidFill>
                <a:uFill>
                  <a:solidFill>
                    <a:srgbClr val="033897"/>
                  </a:solidFill>
                </a:uFill>
                <a:latin typeface="Arial MT"/>
                <a:cs typeface="Arial MT"/>
              </a:rPr>
              <a:t>budqets</a:t>
            </a:r>
            <a:r>
              <a:rPr sz="2269" spc="185" dirty="0">
                <a:solidFill>
                  <a:srgbClr val="0003C3"/>
                </a:solidFill>
                <a:latin typeface="Arial MT"/>
                <a:cs typeface="Arial MT"/>
              </a:rPr>
              <a:t> </a:t>
            </a:r>
            <a:r>
              <a:rPr sz="2269" u="heavy" spc="113" dirty="0">
                <a:solidFill>
                  <a:srgbClr val="01AF4F"/>
                </a:solidFill>
                <a:uFill>
                  <a:solidFill>
                    <a:srgbClr val="033897"/>
                  </a:solidFill>
                </a:uFill>
                <a:latin typeface="Arial MT"/>
                <a:cs typeface="Arial MT"/>
              </a:rPr>
              <a:t>with</a:t>
            </a:r>
            <a:r>
              <a:rPr sz="2269" spc="36" dirty="0">
                <a:solidFill>
                  <a:srgbClr val="01AF4F"/>
                </a:solidFill>
                <a:latin typeface="Arial MT"/>
                <a:cs typeface="Arial MT"/>
              </a:rPr>
              <a:t> </a:t>
            </a:r>
            <a:r>
              <a:rPr sz="2269" spc="-9" dirty="0">
                <a:latin typeface="Arial MT"/>
                <a:cs typeface="Arial MT"/>
              </a:rPr>
              <a:t>dates.</a:t>
            </a:r>
            <a:endParaRPr sz="2269" dirty="0">
              <a:latin typeface="Arial MT"/>
              <a:cs typeface="Arial MT"/>
            </a:endParaRPr>
          </a:p>
          <a:p>
            <a:pPr marL="14408">
              <a:spcBef>
                <a:spcPts val="1062"/>
              </a:spcBef>
            </a:pPr>
            <a:r>
              <a:rPr sz="2269" dirty="0">
                <a:solidFill>
                  <a:srgbClr val="07AA54"/>
                </a:solidFill>
                <a:latin typeface="Arial MT"/>
                <a:cs typeface="Arial MT"/>
              </a:rPr>
              <a:t>\•</a:t>
            </a:r>
            <a:r>
              <a:rPr sz="2269" spc="277" dirty="0">
                <a:solidFill>
                  <a:srgbClr val="07AA54"/>
                </a:solidFill>
                <a:latin typeface="Arial MT"/>
                <a:cs typeface="Arial MT"/>
              </a:rPr>
              <a:t> </a:t>
            </a:r>
            <a:r>
              <a:rPr sz="2269" u="heavy" spc="73" dirty="0">
                <a:solidFill>
                  <a:srgbClr val="00AF4F"/>
                </a:solidFill>
                <a:uFill>
                  <a:solidFill>
                    <a:srgbClr val="086B77"/>
                  </a:solidFill>
                </a:uFill>
                <a:latin typeface="Arial MT"/>
                <a:cs typeface="Arial MT"/>
              </a:rPr>
              <a:t>Assess</a:t>
            </a:r>
            <a:r>
              <a:rPr sz="2269" spc="218" dirty="0">
                <a:solidFill>
                  <a:srgbClr val="00AF4F"/>
                </a:solidFill>
                <a:latin typeface="Arial MT"/>
                <a:cs typeface="Arial MT"/>
              </a:rPr>
              <a:t> </a:t>
            </a:r>
            <a:r>
              <a:rPr sz="2269" spc="73" dirty="0">
                <a:solidFill>
                  <a:srgbClr val="0001CD"/>
                </a:solidFill>
                <a:latin typeface="Arial MT"/>
                <a:cs typeface="Arial MT"/>
              </a:rPr>
              <a:t>impact</a:t>
            </a:r>
            <a:r>
              <a:rPr sz="2269" spc="86" dirty="0">
                <a:solidFill>
                  <a:srgbClr val="0001CD"/>
                </a:solidFill>
                <a:latin typeface="Arial MT"/>
                <a:cs typeface="Arial MT"/>
              </a:rPr>
              <a:t> </a:t>
            </a:r>
            <a:r>
              <a:rPr sz="2269" u="heavy" spc="64" dirty="0">
                <a:solidFill>
                  <a:srgbClr val="0300C1"/>
                </a:solidFill>
                <a:uFill>
                  <a:solidFill>
                    <a:srgbClr val="086B77"/>
                  </a:solidFill>
                </a:uFill>
                <a:latin typeface="Arial MT"/>
                <a:cs typeface="Arial MT"/>
              </a:rPr>
              <a:t>another</a:t>
            </a:r>
            <a:r>
              <a:rPr sz="2269" spc="185" dirty="0">
                <a:solidFill>
                  <a:srgbClr val="0300C1"/>
                </a:solidFill>
                <a:latin typeface="Arial MT"/>
                <a:cs typeface="Arial MT"/>
              </a:rPr>
              <a:t> </a:t>
            </a:r>
            <a:r>
              <a:rPr sz="2269" spc="82" dirty="0">
                <a:solidFill>
                  <a:srgbClr val="0001D1"/>
                </a:solidFill>
                <a:latin typeface="Arial MT"/>
                <a:cs typeface="Arial MT"/>
              </a:rPr>
              <a:t>project</a:t>
            </a:r>
            <a:r>
              <a:rPr sz="2269" spc="168" dirty="0">
                <a:solidFill>
                  <a:srgbClr val="0001D1"/>
                </a:solidFill>
                <a:latin typeface="Arial MT"/>
                <a:cs typeface="Arial MT"/>
              </a:rPr>
              <a:t> </a:t>
            </a:r>
            <a:r>
              <a:rPr sz="2269" dirty="0">
                <a:latin typeface="Arial MT"/>
                <a:cs typeface="Arial MT"/>
              </a:rPr>
              <a:t>is</a:t>
            </a:r>
            <a:r>
              <a:rPr sz="2269" spc="59" dirty="0">
                <a:latin typeface="Arial MT"/>
                <a:cs typeface="Arial MT"/>
              </a:rPr>
              <a:t> </a:t>
            </a:r>
            <a:r>
              <a:rPr sz="2269" u="heavy" spc="45" dirty="0">
                <a:solidFill>
                  <a:srgbClr val="00B34D"/>
                </a:solidFill>
                <a:uFill>
                  <a:solidFill>
                    <a:srgbClr val="086B77"/>
                  </a:solidFill>
                </a:uFill>
                <a:latin typeface="Arial MT"/>
                <a:cs typeface="Arial MT"/>
              </a:rPr>
              <a:t>added</a:t>
            </a:r>
            <a:r>
              <a:rPr sz="2269" spc="123" dirty="0">
                <a:solidFill>
                  <a:srgbClr val="00B34D"/>
                </a:solidFill>
                <a:latin typeface="Arial MT"/>
                <a:cs typeface="Arial MT"/>
              </a:rPr>
              <a:t> </a:t>
            </a:r>
            <a:r>
              <a:rPr sz="2269" dirty="0">
                <a:solidFill>
                  <a:srgbClr val="01AE52"/>
                </a:solidFill>
                <a:latin typeface="Arial MT"/>
                <a:cs typeface="Arial MT"/>
              </a:rPr>
              <a:t>to</a:t>
            </a:r>
            <a:r>
              <a:rPr sz="2269" spc="172" dirty="0">
                <a:solidFill>
                  <a:srgbClr val="01AE52"/>
                </a:solidFill>
                <a:latin typeface="Arial MT"/>
                <a:cs typeface="Arial MT"/>
              </a:rPr>
              <a:t> </a:t>
            </a:r>
            <a:r>
              <a:rPr sz="2269" spc="82" dirty="0">
                <a:solidFill>
                  <a:srgbClr val="0000D4"/>
                </a:solidFill>
                <a:latin typeface="Arial MT"/>
                <a:cs typeface="Arial MT"/>
              </a:rPr>
              <a:t>pool.</a:t>
            </a:r>
            <a:endParaRPr sz="2269" dirty="0">
              <a:latin typeface="Arial MT"/>
              <a:cs typeface="Arial MT"/>
            </a:endParaRPr>
          </a:p>
        </p:txBody>
      </p:sp>
      <p:pic>
        <p:nvPicPr>
          <p:cNvPr id="6" name="Picture 5">
            <a:extLst>
              <a:ext uri="{FF2B5EF4-FFF2-40B4-BE49-F238E27FC236}">
                <a16:creationId xmlns:a16="http://schemas.microsoft.com/office/drawing/2014/main" id="{B5017267-D96B-8048-3955-CFEFAD41A58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583" rIns="0" bIns="0" rtlCol="0">
            <a:spAutoFit/>
          </a:bodyPr>
          <a:lstStyle/>
          <a:p>
            <a:pPr marL="12700">
              <a:lnSpc>
                <a:spcPct val="100000"/>
              </a:lnSpc>
              <a:spcBef>
                <a:spcPts val="130"/>
              </a:spcBef>
            </a:pPr>
            <a:r>
              <a:rPr sz="3500" spc="65" dirty="0"/>
              <a:t>Why</a:t>
            </a:r>
            <a:r>
              <a:rPr sz="3500" spc="114" dirty="0"/>
              <a:t> </a:t>
            </a:r>
            <a:r>
              <a:rPr sz="3500" dirty="0"/>
              <a:t>a</a:t>
            </a:r>
            <a:r>
              <a:rPr sz="3500" spc="110" dirty="0"/>
              <a:t> </a:t>
            </a:r>
            <a:r>
              <a:rPr sz="3500" spc="105" dirty="0"/>
              <a:t>Time-</a:t>
            </a:r>
            <a:r>
              <a:rPr sz="3500" spc="100" dirty="0"/>
              <a:t>Phased</a:t>
            </a:r>
            <a:r>
              <a:rPr sz="3500" spc="110" dirty="0"/>
              <a:t> </a:t>
            </a:r>
            <a:r>
              <a:rPr sz="3500" spc="90" dirty="0"/>
              <a:t>Budget</a:t>
            </a:r>
            <a:r>
              <a:rPr sz="3500" spc="110" dirty="0"/>
              <a:t> </a:t>
            </a:r>
            <a:r>
              <a:rPr sz="3500" spc="90" dirty="0"/>
              <a:t>Baseline</a:t>
            </a:r>
            <a:r>
              <a:rPr sz="3500" spc="114" dirty="0"/>
              <a:t> </a:t>
            </a:r>
            <a:r>
              <a:rPr sz="3500" spc="65" dirty="0"/>
              <a:t>Is</a:t>
            </a:r>
            <a:r>
              <a:rPr sz="3500" spc="114" dirty="0"/>
              <a:t> </a:t>
            </a:r>
            <a:r>
              <a:rPr sz="3500" spc="95" dirty="0"/>
              <a:t>Needed:</a:t>
            </a:r>
            <a:endParaRPr sz="3500" dirty="0"/>
          </a:p>
        </p:txBody>
      </p:sp>
      <p:sp>
        <p:nvSpPr>
          <p:cNvPr id="3" name="object 3"/>
          <p:cNvSpPr txBox="1"/>
          <p:nvPr/>
        </p:nvSpPr>
        <p:spPr>
          <a:xfrm>
            <a:off x="893870" y="1611884"/>
            <a:ext cx="10161270" cy="5101205"/>
          </a:xfrm>
          <a:prstGeom prst="rect">
            <a:avLst/>
          </a:prstGeom>
        </p:spPr>
        <p:txBody>
          <a:bodyPr vert="horz" wrap="square" lIns="0" tIns="86995" rIns="0" bIns="0" rtlCol="0">
            <a:spAutoFit/>
          </a:bodyPr>
          <a:lstStyle/>
          <a:p>
            <a:pPr marL="354965" marR="5080" indent="-342900" algn="just">
              <a:lnSpc>
                <a:spcPct val="79700"/>
              </a:lnSpc>
              <a:spcBef>
                <a:spcPts val="685"/>
              </a:spcBef>
              <a:buFont typeface="Arial" panose="020B0604020202020204" pitchFamily="34" charset="0"/>
              <a:buChar char="•"/>
              <a:tabLst>
                <a:tab pos="469265" algn="l"/>
              </a:tabLst>
            </a:pPr>
            <a:r>
              <a:rPr sz="2400" dirty="0">
                <a:latin typeface="Calibri"/>
                <a:cs typeface="Calibri"/>
              </a:rPr>
              <a:t>Assuming</a:t>
            </a:r>
            <a:r>
              <a:rPr sz="2400" spc="80" dirty="0">
                <a:latin typeface="Calibri"/>
                <a:cs typeface="Calibri"/>
              </a:rPr>
              <a:t> </a:t>
            </a:r>
            <a:r>
              <a:rPr sz="2400" dirty="0">
                <a:latin typeface="Calibri"/>
                <a:cs typeface="Calibri"/>
              </a:rPr>
              <a:t>the</a:t>
            </a:r>
            <a:r>
              <a:rPr sz="2400" spc="100" dirty="0">
                <a:latin typeface="Calibri"/>
                <a:cs typeface="Calibri"/>
              </a:rPr>
              <a:t> </a:t>
            </a:r>
            <a:r>
              <a:rPr sz="2400" dirty="0">
                <a:latin typeface="Calibri"/>
                <a:cs typeface="Calibri"/>
              </a:rPr>
              <a:t>following</a:t>
            </a:r>
            <a:r>
              <a:rPr sz="2400" spc="90" dirty="0">
                <a:latin typeface="Calibri"/>
                <a:cs typeface="Calibri"/>
              </a:rPr>
              <a:t> </a:t>
            </a:r>
            <a:r>
              <a:rPr sz="2400" dirty="0">
                <a:latin typeface="Calibri"/>
                <a:cs typeface="Calibri"/>
              </a:rPr>
              <a:t>scenario.</a:t>
            </a:r>
            <a:r>
              <a:rPr sz="2400" spc="85" dirty="0">
                <a:latin typeface="Calibri"/>
                <a:cs typeface="Calibri"/>
              </a:rPr>
              <a:t> </a:t>
            </a:r>
            <a:r>
              <a:rPr sz="2400" dirty="0">
                <a:latin typeface="Calibri"/>
                <a:cs typeface="Calibri"/>
              </a:rPr>
              <a:t>The</a:t>
            </a:r>
            <a:r>
              <a:rPr sz="2400" spc="95" dirty="0">
                <a:latin typeface="Calibri"/>
                <a:cs typeface="Calibri"/>
              </a:rPr>
              <a:t> </a:t>
            </a:r>
            <a:r>
              <a:rPr sz="2400" dirty="0">
                <a:latin typeface="Calibri"/>
                <a:cs typeface="Calibri"/>
              </a:rPr>
              <a:t>development</a:t>
            </a:r>
            <a:r>
              <a:rPr sz="2400" spc="85" dirty="0">
                <a:latin typeface="Calibri"/>
                <a:cs typeface="Calibri"/>
              </a:rPr>
              <a:t> </a:t>
            </a:r>
            <a:r>
              <a:rPr sz="2400" dirty="0">
                <a:latin typeface="Calibri"/>
                <a:cs typeface="Calibri"/>
              </a:rPr>
              <a:t>of</a:t>
            </a:r>
            <a:r>
              <a:rPr sz="2400" spc="100" dirty="0">
                <a:latin typeface="Calibri"/>
                <a:cs typeface="Calibri"/>
              </a:rPr>
              <a:t> </a:t>
            </a:r>
            <a:r>
              <a:rPr sz="2400" dirty="0">
                <a:latin typeface="Calibri"/>
                <a:cs typeface="Calibri"/>
              </a:rPr>
              <a:t>a</a:t>
            </a:r>
            <a:r>
              <a:rPr sz="2400" spc="95" dirty="0">
                <a:latin typeface="Calibri"/>
                <a:cs typeface="Calibri"/>
              </a:rPr>
              <a:t> </a:t>
            </a:r>
            <a:r>
              <a:rPr sz="2400" dirty="0">
                <a:latin typeface="Calibri"/>
                <a:cs typeface="Calibri"/>
              </a:rPr>
              <a:t>new</a:t>
            </a:r>
            <a:r>
              <a:rPr sz="2400" spc="90" dirty="0">
                <a:latin typeface="Calibri"/>
                <a:cs typeface="Calibri"/>
              </a:rPr>
              <a:t> </a:t>
            </a:r>
            <a:r>
              <a:rPr sz="2400" dirty="0">
                <a:latin typeface="Calibri"/>
                <a:cs typeface="Calibri"/>
              </a:rPr>
              <a:t>product</a:t>
            </a:r>
            <a:r>
              <a:rPr sz="2400" spc="80" dirty="0">
                <a:latin typeface="Calibri"/>
                <a:cs typeface="Calibri"/>
              </a:rPr>
              <a:t> </a:t>
            </a:r>
            <a:r>
              <a:rPr sz="2400" dirty="0">
                <a:latin typeface="Calibri"/>
                <a:cs typeface="Calibri"/>
              </a:rPr>
              <a:t>is</a:t>
            </a:r>
            <a:r>
              <a:rPr sz="2400" spc="90" dirty="0">
                <a:latin typeface="Calibri"/>
                <a:cs typeface="Calibri"/>
              </a:rPr>
              <a:t> </a:t>
            </a:r>
            <a:r>
              <a:rPr sz="2400" dirty="0">
                <a:latin typeface="Calibri"/>
                <a:cs typeface="Calibri"/>
              </a:rPr>
              <a:t>to</a:t>
            </a:r>
            <a:r>
              <a:rPr sz="2400" spc="90" dirty="0">
                <a:latin typeface="Calibri"/>
                <a:cs typeface="Calibri"/>
              </a:rPr>
              <a:t> </a:t>
            </a:r>
            <a:r>
              <a:rPr sz="2400" spc="-25" dirty="0">
                <a:latin typeface="Calibri"/>
                <a:cs typeface="Calibri"/>
              </a:rPr>
              <a:t>be </a:t>
            </a:r>
            <a:r>
              <a:rPr sz="2400" dirty="0">
                <a:latin typeface="Calibri"/>
                <a:cs typeface="Calibri"/>
              </a:rPr>
              <a:t>completed</a:t>
            </a:r>
            <a:r>
              <a:rPr sz="2400" spc="-30" dirty="0">
                <a:latin typeface="Calibri"/>
                <a:cs typeface="Calibri"/>
              </a:rPr>
              <a:t> </a:t>
            </a:r>
            <a:r>
              <a:rPr sz="2400" dirty="0">
                <a:latin typeface="Calibri"/>
                <a:cs typeface="Calibri"/>
              </a:rPr>
              <a:t>in</a:t>
            </a:r>
            <a:r>
              <a:rPr sz="2400" spc="-30" dirty="0">
                <a:latin typeface="Calibri"/>
                <a:cs typeface="Calibri"/>
              </a:rPr>
              <a:t> </a:t>
            </a:r>
            <a:r>
              <a:rPr sz="2400" b="1" dirty="0">
                <a:solidFill>
                  <a:srgbClr val="FF0000"/>
                </a:solidFill>
                <a:latin typeface="Calibri"/>
                <a:cs typeface="Calibri"/>
              </a:rPr>
              <a:t>(10)</a:t>
            </a:r>
            <a:r>
              <a:rPr sz="2400" b="1" spc="-35" dirty="0">
                <a:solidFill>
                  <a:srgbClr val="FF0000"/>
                </a:solidFill>
                <a:latin typeface="Calibri"/>
                <a:cs typeface="Calibri"/>
              </a:rPr>
              <a:t> </a:t>
            </a:r>
            <a:r>
              <a:rPr sz="2400" dirty="0">
                <a:latin typeface="Calibri"/>
                <a:cs typeface="Calibri"/>
              </a:rPr>
              <a:t>weeks</a:t>
            </a:r>
            <a:r>
              <a:rPr sz="2400" spc="-35" dirty="0">
                <a:latin typeface="Calibri"/>
                <a:cs typeface="Calibri"/>
              </a:rPr>
              <a:t> </a:t>
            </a:r>
            <a:r>
              <a:rPr sz="2400" dirty="0">
                <a:latin typeface="Calibri"/>
                <a:cs typeface="Calibri"/>
              </a:rPr>
              <a:t>at</a:t>
            </a:r>
            <a:r>
              <a:rPr sz="2400" spc="-35" dirty="0">
                <a:latin typeface="Calibri"/>
                <a:cs typeface="Calibri"/>
              </a:rPr>
              <a:t> </a:t>
            </a:r>
            <a:r>
              <a:rPr sz="2400" dirty="0">
                <a:latin typeface="Calibri"/>
                <a:cs typeface="Calibri"/>
              </a:rPr>
              <a:t>an</a:t>
            </a:r>
            <a:r>
              <a:rPr sz="2400" spc="-30" dirty="0">
                <a:latin typeface="Calibri"/>
                <a:cs typeface="Calibri"/>
              </a:rPr>
              <a:t> </a:t>
            </a:r>
            <a:r>
              <a:rPr sz="2400" dirty="0">
                <a:latin typeface="Calibri"/>
                <a:cs typeface="Calibri"/>
              </a:rPr>
              <a:t>estimated</a:t>
            </a:r>
            <a:r>
              <a:rPr sz="2400" spc="-25" dirty="0">
                <a:latin typeface="Calibri"/>
                <a:cs typeface="Calibri"/>
              </a:rPr>
              <a:t> </a:t>
            </a:r>
            <a:r>
              <a:rPr sz="2400" dirty="0">
                <a:latin typeface="Calibri"/>
                <a:cs typeface="Calibri"/>
              </a:rPr>
              <a:t>cost</a:t>
            </a:r>
            <a:r>
              <a:rPr sz="2400" spc="-35" dirty="0">
                <a:latin typeface="Calibri"/>
                <a:cs typeface="Calibri"/>
              </a:rPr>
              <a:t> </a:t>
            </a:r>
            <a:r>
              <a:rPr sz="2400" dirty="0">
                <a:latin typeface="Calibri"/>
                <a:cs typeface="Calibri"/>
              </a:rPr>
              <a:t>of</a:t>
            </a:r>
            <a:r>
              <a:rPr sz="2400" spc="-25" dirty="0">
                <a:latin typeface="Calibri"/>
                <a:cs typeface="Calibri"/>
              </a:rPr>
              <a:t> </a:t>
            </a:r>
            <a:r>
              <a:rPr sz="2400" b="1" dirty="0">
                <a:solidFill>
                  <a:srgbClr val="FF0000"/>
                </a:solidFill>
                <a:latin typeface="Calibri"/>
                <a:cs typeface="Calibri"/>
              </a:rPr>
              <a:t>$400,000</a:t>
            </a:r>
            <a:r>
              <a:rPr sz="2400" b="1" spc="-35" dirty="0">
                <a:solidFill>
                  <a:srgbClr val="FF0000"/>
                </a:solidFill>
                <a:latin typeface="Calibri"/>
                <a:cs typeface="Calibri"/>
              </a:rPr>
              <a:t> </a:t>
            </a:r>
            <a:r>
              <a:rPr sz="2400" dirty="0">
                <a:latin typeface="Calibri"/>
                <a:cs typeface="Calibri"/>
              </a:rPr>
              <a:t>per</a:t>
            </a:r>
            <a:r>
              <a:rPr sz="2400" spc="-35" dirty="0">
                <a:latin typeface="Calibri"/>
                <a:cs typeface="Calibri"/>
              </a:rPr>
              <a:t> </a:t>
            </a:r>
            <a:r>
              <a:rPr sz="2400" dirty="0">
                <a:latin typeface="Calibri"/>
                <a:cs typeface="Calibri"/>
              </a:rPr>
              <a:t>week</a:t>
            </a:r>
            <a:r>
              <a:rPr sz="2400" spc="-35" dirty="0">
                <a:latin typeface="Calibri"/>
                <a:cs typeface="Calibri"/>
              </a:rPr>
              <a:t> </a:t>
            </a:r>
            <a:r>
              <a:rPr sz="2400" dirty="0">
                <a:latin typeface="Calibri"/>
                <a:cs typeface="Calibri"/>
              </a:rPr>
              <a:t>for</a:t>
            </a:r>
            <a:r>
              <a:rPr sz="2400" spc="-30" dirty="0">
                <a:latin typeface="Calibri"/>
                <a:cs typeface="Calibri"/>
              </a:rPr>
              <a:t> </a:t>
            </a:r>
            <a:r>
              <a:rPr sz="2400" dirty="0">
                <a:latin typeface="Calibri"/>
                <a:cs typeface="Calibri"/>
              </a:rPr>
              <a:t>a</a:t>
            </a:r>
            <a:r>
              <a:rPr sz="2400" spc="-30" dirty="0">
                <a:latin typeface="Calibri"/>
                <a:cs typeface="Calibri"/>
              </a:rPr>
              <a:t> </a:t>
            </a:r>
            <a:r>
              <a:rPr sz="2400" spc="-10" dirty="0">
                <a:latin typeface="Calibri"/>
                <a:cs typeface="Calibri"/>
              </a:rPr>
              <a:t>total </a:t>
            </a:r>
            <a:r>
              <a:rPr sz="2400" dirty="0">
                <a:latin typeface="Calibri"/>
                <a:cs typeface="Calibri"/>
              </a:rPr>
              <a:t>cost</a:t>
            </a:r>
            <a:r>
              <a:rPr sz="2400" spc="-5" dirty="0">
                <a:latin typeface="Calibri"/>
                <a:cs typeface="Calibri"/>
              </a:rPr>
              <a:t> </a:t>
            </a:r>
            <a:r>
              <a:rPr sz="2400" dirty="0">
                <a:latin typeface="Calibri"/>
                <a:cs typeface="Calibri"/>
              </a:rPr>
              <a:t>of</a:t>
            </a:r>
            <a:r>
              <a:rPr sz="2400" spc="5" dirty="0">
                <a:latin typeface="Calibri"/>
                <a:cs typeface="Calibri"/>
              </a:rPr>
              <a:t> </a:t>
            </a:r>
            <a:r>
              <a:rPr sz="2400" b="1" dirty="0">
                <a:solidFill>
                  <a:srgbClr val="FF0000"/>
                </a:solidFill>
                <a:latin typeface="Calibri"/>
                <a:cs typeface="Calibri"/>
              </a:rPr>
              <a:t>$4 million</a:t>
            </a:r>
            <a:r>
              <a:rPr sz="2400" dirty="0">
                <a:latin typeface="Calibri"/>
                <a:cs typeface="Calibri"/>
              </a:rPr>
              <a:t>.</a:t>
            </a:r>
            <a:r>
              <a:rPr sz="2400" spc="-5" dirty="0">
                <a:latin typeface="Calibri"/>
                <a:cs typeface="Calibri"/>
              </a:rPr>
              <a:t> </a:t>
            </a:r>
            <a:r>
              <a:rPr sz="2400" dirty="0">
                <a:latin typeface="Calibri"/>
                <a:cs typeface="Calibri"/>
              </a:rPr>
              <a:t>Management</a:t>
            </a:r>
            <a:r>
              <a:rPr sz="2400" spc="-5" dirty="0">
                <a:latin typeface="Calibri"/>
                <a:cs typeface="Calibri"/>
              </a:rPr>
              <a:t> </a:t>
            </a:r>
            <a:r>
              <a:rPr sz="2400" dirty="0">
                <a:latin typeface="Calibri"/>
                <a:cs typeface="Calibri"/>
              </a:rPr>
              <a:t>wants a status report at</a:t>
            </a:r>
            <a:r>
              <a:rPr sz="2400" spc="-5" dirty="0">
                <a:latin typeface="Calibri"/>
                <a:cs typeface="Calibri"/>
              </a:rPr>
              <a:t> </a:t>
            </a:r>
            <a:r>
              <a:rPr sz="2400" dirty="0">
                <a:latin typeface="Calibri"/>
                <a:cs typeface="Calibri"/>
              </a:rPr>
              <a:t>the</a:t>
            </a:r>
            <a:r>
              <a:rPr sz="2400" spc="10" dirty="0">
                <a:latin typeface="Calibri"/>
                <a:cs typeface="Calibri"/>
              </a:rPr>
              <a:t> </a:t>
            </a:r>
            <a:r>
              <a:rPr sz="2400" dirty="0">
                <a:latin typeface="Calibri"/>
                <a:cs typeface="Calibri"/>
              </a:rPr>
              <a:t>end</a:t>
            </a:r>
            <a:r>
              <a:rPr sz="2400" spc="5" dirty="0">
                <a:latin typeface="Calibri"/>
                <a:cs typeface="Calibri"/>
              </a:rPr>
              <a:t> </a:t>
            </a:r>
            <a:r>
              <a:rPr sz="2400" dirty="0">
                <a:latin typeface="Calibri"/>
                <a:cs typeface="Calibri"/>
              </a:rPr>
              <a:t>of</a:t>
            </a:r>
            <a:r>
              <a:rPr sz="2400" spc="5" dirty="0">
                <a:latin typeface="Calibri"/>
                <a:cs typeface="Calibri"/>
              </a:rPr>
              <a:t> </a:t>
            </a:r>
            <a:r>
              <a:rPr sz="2400" dirty="0">
                <a:latin typeface="Calibri"/>
                <a:cs typeface="Calibri"/>
              </a:rPr>
              <a:t>(5) </a:t>
            </a:r>
            <a:r>
              <a:rPr sz="2400" spc="-10" dirty="0">
                <a:latin typeface="Calibri"/>
                <a:cs typeface="Calibri"/>
              </a:rPr>
              <a:t>weeks. </a:t>
            </a:r>
            <a:r>
              <a:rPr sz="2400" dirty="0">
                <a:latin typeface="Calibri"/>
                <a:cs typeface="Calibri"/>
              </a:rPr>
              <a:t>The</a:t>
            </a:r>
            <a:r>
              <a:rPr sz="2400" spc="-55" dirty="0">
                <a:latin typeface="Calibri"/>
                <a:cs typeface="Calibri"/>
              </a:rPr>
              <a:t> </a:t>
            </a:r>
            <a:r>
              <a:rPr sz="2400" dirty="0">
                <a:latin typeface="Calibri"/>
                <a:cs typeface="Calibri"/>
              </a:rPr>
              <a:t>following</a:t>
            </a:r>
            <a:r>
              <a:rPr sz="2400" spc="-65" dirty="0">
                <a:latin typeface="Calibri"/>
                <a:cs typeface="Calibri"/>
              </a:rPr>
              <a:t> </a:t>
            </a:r>
            <a:r>
              <a:rPr sz="2400" spc="-10" dirty="0">
                <a:latin typeface="Calibri"/>
                <a:cs typeface="Calibri"/>
              </a:rPr>
              <a:t>information</a:t>
            </a:r>
            <a:r>
              <a:rPr sz="2400" spc="-60" dirty="0">
                <a:latin typeface="Calibri"/>
                <a:cs typeface="Calibri"/>
              </a:rPr>
              <a:t> </a:t>
            </a:r>
            <a:r>
              <a:rPr sz="2400" dirty="0">
                <a:latin typeface="Calibri"/>
                <a:cs typeface="Calibri"/>
              </a:rPr>
              <a:t>has</a:t>
            </a:r>
            <a:r>
              <a:rPr sz="2400" spc="-65" dirty="0">
                <a:latin typeface="Calibri"/>
                <a:cs typeface="Calibri"/>
              </a:rPr>
              <a:t> </a:t>
            </a:r>
            <a:r>
              <a:rPr sz="2400" dirty="0">
                <a:latin typeface="Calibri"/>
                <a:cs typeface="Calibri"/>
              </a:rPr>
              <a:t>been</a:t>
            </a:r>
            <a:r>
              <a:rPr sz="2400" spc="-65" dirty="0">
                <a:latin typeface="Calibri"/>
                <a:cs typeface="Calibri"/>
              </a:rPr>
              <a:t> </a:t>
            </a:r>
            <a:r>
              <a:rPr sz="2400" spc="-10" dirty="0">
                <a:latin typeface="Calibri"/>
                <a:cs typeface="Calibri"/>
              </a:rPr>
              <a:t>collected:</a:t>
            </a:r>
            <a:endParaRPr sz="2400" dirty="0">
              <a:latin typeface="Calibri"/>
              <a:cs typeface="Calibri"/>
            </a:endParaRPr>
          </a:p>
          <a:p>
            <a:pPr marL="802005" lvl="1" indent="-253365">
              <a:lnSpc>
                <a:spcPct val="100000"/>
              </a:lnSpc>
              <a:spcBef>
                <a:spcPts val="135"/>
              </a:spcBef>
              <a:buFont typeface="Courier New"/>
              <a:buChar char="o"/>
              <a:tabLst>
                <a:tab pos="802005" algn="l"/>
              </a:tabLst>
            </a:pPr>
            <a:r>
              <a:rPr sz="2000" dirty="0">
                <a:latin typeface="Calibri"/>
                <a:cs typeface="Calibri"/>
              </a:rPr>
              <a:t>Planned</a:t>
            </a:r>
            <a:r>
              <a:rPr sz="2000" spc="-65" dirty="0">
                <a:latin typeface="Calibri"/>
                <a:cs typeface="Calibri"/>
              </a:rPr>
              <a:t> </a:t>
            </a:r>
            <a:r>
              <a:rPr sz="2000" dirty="0">
                <a:latin typeface="Calibri"/>
                <a:cs typeface="Calibri"/>
              </a:rPr>
              <a:t>costs</a:t>
            </a:r>
            <a:r>
              <a:rPr sz="2000" spc="-50" dirty="0">
                <a:latin typeface="Calibri"/>
                <a:cs typeface="Calibri"/>
              </a:rPr>
              <a:t> </a:t>
            </a:r>
            <a:r>
              <a:rPr sz="2000" dirty="0">
                <a:latin typeface="Calibri"/>
                <a:cs typeface="Calibri"/>
              </a:rPr>
              <a:t>for</a:t>
            </a:r>
            <a:r>
              <a:rPr sz="2000" spc="-55"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first</a:t>
            </a:r>
            <a:r>
              <a:rPr sz="2000" spc="-50" dirty="0">
                <a:latin typeface="Calibri"/>
                <a:cs typeface="Calibri"/>
              </a:rPr>
              <a:t> </a:t>
            </a:r>
            <a:r>
              <a:rPr sz="2000" dirty="0">
                <a:solidFill>
                  <a:srgbClr val="FF0000"/>
                </a:solidFill>
                <a:latin typeface="Calibri"/>
                <a:cs typeface="Calibri"/>
              </a:rPr>
              <a:t>(5)</a:t>
            </a:r>
            <a:r>
              <a:rPr sz="2000" spc="-55" dirty="0">
                <a:latin typeface="Calibri"/>
                <a:cs typeface="Calibri"/>
              </a:rPr>
              <a:t> </a:t>
            </a:r>
            <a:r>
              <a:rPr sz="2000" dirty="0">
                <a:latin typeface="Calibri"/>
                <a:cs typeface="Calibri"/>
              </a:rPr>
              <a:t>weeks</a:t>
            </a:r>
            <a:r>
              <a:rPr sz="2000" spc="-50" dirty="0">
                <a:latin typeface="Calibri"/>
                <a:cs typeface="Calibri"/>
              </a:rPr>
              <a:t> </a:t>
            </a:r>
            <a:r>
              <a:rPr sz="2000" dirty="0">
                <a:latin typeface="Calibri"/>
                <a:cs typeface="Calibri"/>
              </a:rPr>
              <a:t>are</a:t>
            </a:r>
            <a:r>
              <a:rPr sz="2000" spc="-55" dirty="0">
                <a:latin typeface="Calibri"/>
                <a:cs typeface="Calibri"/>
              </a:rPr>
              <a:t> </a:t>
            </a:r>
            <a:r>
              <a:rPr sz="2000" spc="-10" dirty="0">
                <a:solidFill>
                  <a:srgbClr val="FF0000"/>
                </a:solidFill>
                <a:latin typeface="Calibri"/>
                <a:cs typeface="Calibri"/>
              </a:rPr>
              <a:t>$2,000,000</a:t>
            </a:r>
            <a:r>
              <a:rPr sz="2000" spc="-10" dirty="0">
                <a:latin typeface="Calibri"/>
                <a:cs typeface="Calibri"/>
              </a:rPr>
              <a:t>.</a:t>
            </a:r>
            <a:endParaRPr sz="2000" dirty="0">
              <a:latin typeface="Calibri"/>
              <a:cs typeface="Calibri"/>
            </a:endParaRPr>
          </a:p>
          <a:p>
            <a:pPr marL="802005" lvl="1" indent="-253365">
              <a:lnSpc>
                <a:spcPct val="100000"/>
              </a:lnSpc>
              <a:buFont typeface="Courier New"/>
              <a:buChar char="o"/>
              <a:tabLst>
                <a:tab pos="802005" algn="l"/>
              </a:tabLst>
            </a:pPr>
            <a:r>
              <a:rPr sz="2000" dirty="0">
                <a:latin typeface="Calibri"/>
                <a:cs typeface="Calibri"/>
              </a:rPr>
              <a:t>Actual</a:t>
            </a:r>
            <a:r>
              <a:rPr sz="2000" spc="-55" dirty="0">
                <a:latin typeface="Calibri"/>
                <a:cs typeface="Calibri"/>
              </a:rPr>
              <a:t> </a:t>
            </a:r>
            <a:r>
              <a:rPr sz="2000" dirty="0">
                <a:latin typeface="Calibri"/>
                <a:cs typeface="Calibri"/>
              </a:rPr>
              <a:t>costs</a:t>
            </a:r>
            <a:r>
              <a:rPr sz="2000" spc="-50" dirty="0">
                <a:latin typeface="Calibri"/>
                <a:cs typeface="Calibri"/>
              </a:rPr>
              <a:t> </a:t>
            </a:r>
            <a:r>
              <a:rPr sz="2000" dirty="0">
                <a:latin typeface="Calibri"/>
                <a:cs typeface="Calibri"/>
              </a:rPr>
              <a:t>for</a:t>
            </a:r>
            <a:r>
              <a:rPr sz="2000" spc="-50"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first</a:t>
            </a:r>
            <a:r>
              <a:rPr sz="2000" spc="-50" dirty="0">
                <a:latin typeface="Calibri"/>
                <a:cs typeface="Calibri"/>
              </a:rPr>
              <a:t> </a:t>
            </a:r>
            <a:r>
              <a:rPr sz="2000" dirty="0">
                <a:solidFill>
                  <a:srgbClr val="FF0000"/>
                </a:solidFill>
                <a:latin typeface="Calibri"/>
                <a:cs typeface="Calibri"/>
              </a:rPr>
              <a:t>(5)</a:t>
            </a:r>
            <a:r>
              <a:rPr sz="2000" spc="-50" dirty="0">
                <a:latin typeface="Calibri"/>
                <a:cs typeface="Calibri"/>
              </a:rPr>
              <a:t> </a:t>
            </a:r>
            <a:r>
              <a:rPr sz="2000" dirty="0">
                <a:latin typeface="Calibri"/>
                <a:cs typeface="Calibri"/>
              </a:rPr>
              <a:t>weeks</a:t>
            </a:r>
            <a:r>
              <a:rPr sz="2000" spc="-50" dirty="0">
                <a:latin typeface="Calibri"/>
                <a:cs typeface="Calibri"/>
              </a:rPr>
              <a:t> </a:t>
            </a:r>
            <a:r>
              <a:rPr sz="2000" dirty="0">
                <a:latin typeface="Calibri"/>
                <a:cs typeface="Calibri"/>
              </a:rPr>
              <a:t>are</a:t>
            </a:r>
            <a:r>
              <a:rPr sz="2000" spc="-50" dirty="0">
                <a:latin typeface="Calibri"/>
                <a:cs typeface="Calibri"/>
              </a:rPr>
              <a:t> </a:t>
            </a:r>
            <a:r>
              <a:rPr sz="2000" spc="-10" dirty="0">
                <a:solidFill>
                  <a:srgbClr val="FF0000"/>
                </a:solidFill>
                <a:latin typeface="Calibri"/>
                <a:cs typeface="Calibri"/>
              </a:rPr>
              <a:t>$2,400,000</a:t>
            </a:r>
            <a:r>
              <a:rPr sz="2000" spc="-10" dirty="0">
                <a:latin typeface="Calibri"/>
                <a:cs typeface="Calibri"/>
              </a:rPr>
              <a:t>.</a:t>
            </a:r>
            <a:endParaRPr sz="2000" dirty="0">
              <a:latin typeface="Calibri"/>
              <a:cs typeface="Calibri"/>
            </a:endParaRPr>
          </a:p>
          <a:p>
            <a:pPr marL="450215" marR="6350">
              <a:lnSpc>
                <a:spcPct val="80000"/>
              </a:lnSpc>
              <a:spcBef>
                <a:spcPts val="965"/>
              </a:spcBef>
              <a:tabLst>
                <a:tab pos="1054100" algn="l"/>
                <a:tab pos="2349500" algn="l"/>
                <a:tab pos="3012440" algn="l"/>
                <a:tab pos="4354195" algn="l"/>
                <a:tab pos="5347335" algn="l"/>
                <a:tab pos="6179820" algn="l"/>
                <a:tab pos="6580505" algn="l"/>
                <a:tab pos="7411084" algn="l"/>
                <a:tab pos="7967345" algn="l"/>
                <a:tab pos="8986520" algn="l"/>
                <a:tab pos="9892665" algn="l"/>
              </a:tabLst>
            </a:pPr>
            <a:r>
              <a:rPr sz="2400" spc="-25" dirty="0">
                <a:latin typeface="Calibri"/>
                <a:cs typeface="Calibri"/>
              </a:rPr>
              <a:t>The</a:t>
            </a:r>
            <a:r>
              <a:rPr sz="2400" dirty="0">
                <a:latin typeface="Calibri"/>
                <a:cs typeface="Calibri"/>
              </a:rPr>
              <a:t>	</a:t>
            </a:r>
            <a:r>
              <a:rPr sz="2400" b="1" spc="-10" dirty="0">
                <a:solidFill>
                  <a:srgbClr val="FF0000"/>
                </a:solidFill>
                <a:latin typeface="Calibri"/>
                <a:cs typeface="Calibri"/>
              </a:rPr>
              <a:t>$400,000</a:t>
            </a:r>
            <a:r>
              <a:rPr sz="2400" dirty="0">
                <a:latin typeface="Calibri"/>
                <a:cs typeface="Calibri"/>
              </a:rPr>
              <a:t>	</a:t>
            </a:r>
            <a:r>
              <a:rPr sz="2400" spc="-25" dirty="0">
                <a:latin typeface="Calibri"/>
                <a:cs typeface="Calibri"/>
              </a:rPr>
              <a:t>may</a:t>
            </a:r>
            <a:r>
              <a:rPr sz="2400" dirty="0">
                <a:latin typeface="Calibri"/>
                <a:cs typeface="Calibri"/>
              </a:rPr>
              <a:t>	</a:t>
            </a:r>
            <a:r>
              <a:rPr sz="2400" spc="-10" dirty="0">
                <a:latin typeface="Calibri"/>
                <a:cs typeface="Calibri"/>
              </a:rPr>
              <a:t>represent</a:t>
            </a:r>
            <a:r>
              <a:rPr sz="2400" dirty="0">
                <a:latin typeface="Calibri"/>
                <a:cs typeface="Calibri"/>
              </a:rPr>
              <a:t>	</a:t>
            </a:r>
            <a:r>
              <a:rPr sz="2400" spc="-10" dirty="0">
                <a:latin typeface="Calibri"/>
                <a:cs typeface="Calibri"/>
              </a:rPr>
              <a:t>money</a:t>
            </a:r>
            <a:r>
              <a:rPr sz="2400" dirty="0">
                <a:latin typeface="Calibri"/>
                <a:cs typeface="Calibri"/>
              </a:rPr>
              <a:t>	</a:t>
            </a:r>
            <a:r>
              <a:rPr sz="2400" spc="-10" dirty="0">
                <a:latin typeface="Calibri"/>
                <a:cs typeface="Calibri"/>
              </a:rPr>
              <a:t>spent</a:t>
            </a:r>
            <a:r>
              <a:rPr sz="2400" dirty="0">
                <a:latin typeface="Calibri"/>
                <a:cs typeface="Calibri"/>
              </a:rPr>
              <a:t>	</a:t>
            </a:r>
            <a:r>
              <a:rPr sz="2400" spc="-25" dirty="0">
                <a:latin typeface="Calibri"/>
                <a:cs typeface="Calibri"/>
              </a:rPr>
              <a:t>to</a:t>
            </a:r>
            <a:r>
              <a:rPr sz="2400" dirty="0">
                <a:latin typeface="Calibri"/>
                <a:cs typeface="Calibri"/>
              </a:rPr>
              <a:t>	</a:t>
            </a:r>
            <a:r>
              <a:rPr sz="2400" spc="-20" dirty="0">
                <a:latin typeface="Calibri"/>
                <a:cs typeface="Calibri"/>
              </a:rPr>
              <a:t>move</a:t>
            </a:r>
            <a:r>
              <a:rPr sz="2400" dirty="0">
                <a:latin typeface="Calibri"/>
                <a:cs typeface="Calibri"/>
              </a:rPr>
              <a:t>	</a:t>
            </a:r>
            <a:r>
              <a:rPr sz="2400" spc="-25" dirty="0">
                <a:latin typeface="Calibri"/>
                <a:cs typeface="Calibri"/>
              </a:rPr>
              <a:t>the</a:t>
            </a:r>
            <a:r>
              <a:rPr sz="2400" dirty="0">
                <a:latin typeface="Calibri"/>
                <a:cs typeface="Calibri"/>
              </a:rPr>
              <a:t>	</a:t>
            </a:r>
            <a:r>
              <a:rPr sz="2400" spc="-10" dirty="0">
                <a:latin typeface="Calibri"/>
                <a:cs typeface="Calibri"/>
              </a:rPr>
              <a:t>project</a:t>
            </a:r>
            <a:r>
              <a:rPr sz="2400" dirty="0">
                <a:latin typeface="Calibri"/>
                <a:cs typeface="Calibri"/>
              </a:rPr>
              <a:t>	</a:t>
            </a:r>
            <a:r>
              <a:rPr sz="2400" spc="-10" dirty="0">
                <a:latin typeface="Calibri"/>
                <a:cs typeface="Calibri"/>
              </a:rPr>
              <a:t>ahead</a:t>
            </a:r>
            <a:r>
              <a:rPr sz="2400" dirty="0">
                <a:latin typeface="Calibri"/>
                <a:cs typeface="Calibri"/>
              </a:rPr>
              <a:t>	</a:t>
            </a:r>
            <a:r>
              <a:rPr sz="2400" spc="-25" dirty="0">
                <a:latin typeface="Calibri"/>
                <a:cs typeface="Calibri"/>
              </a:rPr>
              <a:t>of </a:t>
            </a:r>
            <a:r>
              <a:rPr sz="2400" spc="-10" dirty="0">
                <a:latin typeface="Calibri"/>
                <a:cs typeface="Calibri"/>
              </a:rPr>
              <a:t>schedule.</a:t>
            </a:r>
            <a:endParaRPr lang="en-US" sz="2400" spc="-10" dirty="0">
              <a:latin typeface="Calibri"/>
              <a:cs typeface="Calibri"/>
            </a:endParaRPr>
          </a:p>
          <a:p>
            <a:pPr marL="793115" marR="6350" indent="-342900">
              <a:lnSpc>
                <a:spcPct val="80000"/>
              </a:lnSpc>
              <a:spcBef>
                <a:spcPts val="965"/>
              </a:spcBef>
              <a:buFont typeface="Arial" panose="020B0604020202020204" pitchFamily="34" charset="0"/>
              <a:buChar char="•"/>
              <a:tabLst>
                <a:tab pos="1054100" algn="l"/>
                <a:tab pos="2349500" algn="l"/>
                <a:tab pos="3012440" algn="l"/>
                <a:tab pos="4354195" algn="l"/>
                <a:tab pos="5347335" algn="l"/>
                <a:tab pos="6179820" algn="l"/>
                <a:tab pos="6580505" algn="l"/>
                <a:tab pos="7411084" algn="l"/>
                <a:tab pos="7967345" algn="l"/>
                <a:tab pos="8986520" algn="l"/>
                <a:tab pos="9892665" algn="l"/>
              </a:tabLst>
            </a:pPr>
            <a:r>
              <a:rPr sz="2400" dirty="0">
                <a:latin typeface="Calibri"/>
                <a:cs typeface="Calibri"/>
              </a:rPr>
              <a:t>Assume</a:t>
            </a:r>
            <a:r>
              <a:rPr sz="2400" spc="-45" dirty="0">
                <a:latin typeface="Calibri"/>
                <a:cs typeface="Calibri"/>
              </a:rPr>
              <a:t> </a:t>
            </a:r>
            <a:r>
              <a:rPr sz="2400" dirty="0">
                <a:latin typeface="Calibri"/>
                <a:cs typeface="Calibri"/>
              </a:rPr>
              <a:t>another</a:t>
            </a:r>
            <a:r>
              <a:rPr sz="2400" spc="-40" dirty="0">
                <a:latin typeface="Calibri"/>
                <a:cs typeface="Calibri"/>
              </a:rPr>
              <a:t> </a:t>
            </a:r>
            <a:r>
              <a:rPr sz="2400" dirty="0">
                <a:latin typeface="Calibri"/>
                <a:cs typeface="Calibri"/>
              </a:rPr>
              <a:t>set</a:t>
            </a:r>
            <a:r>
              <a:rPr sz="2400" spc="-55"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data</a:t>
            </a:r>
            <a:r>
              <a:rPr sz="2400" spc="-45" dirty="0">
                <a:latin typeface="Calibri"/>
                <a:cs typeface="Calibri"/>
              </a:rPr>
              <a:t> </a:t>
            </a:r>
            <a:r>
              <a:rPr sz="2400" dirty="0">
                <a:latin typeface="Calibri"/>
                <a:cs typeface="Calibri"/>
              </a:rPr>
              <a:t>at</a:t>
            </a:r>
            <a:r>
              <a:rPr sz="2400" spc="-50" dirty="0">
                <a:latin typeface="Calibri"/>
                <a:cs typeface="Calibri"/>
              </a:rPr>
              <a:t> </a:t>
            </a:r>
            <a:r>
              <a:rPr sz="2400" dirty="0">
                <a:latin typeface="Calibri"/>
                <a:cs typeface="Calibri"/>
              </a:rPr>
              <a:t>the</a:t>
            </a:r>
            <a:r>
              <a:rPr sz="2400" spc="-35" dirty="0">
                <a:latin typeface="Calibri"/>
                <a:cs typeface="Calibri"/>
              </a:rPr>
              <a:t> </a:t>
            </a:r>
            <a:r>
              <a:rPr sz="2400" dirty="0">
                <a:latin typeface="Calibri"/>
                <a:cs typeface="Calibri"/>
              </a:rPr>
              <a:t>end</a:t>
            </a:r>
            <a:r>
              <a:rPr sz="2400" spc="-40" dirty="0">
                <a:latin typeface="Calibri"/>
                <a:cs typeface="Calibri"/>
              </a:rPr>
              <a:t> </a:t>
            </a:r>
            <a:r>
              <a:rPr sz="2400" dirty="0">
                <a:latin typeface="Calibri"/>
                <a:cs typeface="Calibri"/>
              </a:rPr>
              <a:t>of</a:t>
            </a:r>
            <a:r>
              <a:rPr sz="2400" spc="-45" dirty="0">
                <a:latin typeface="Calibri"/>
                <a:cs typeface="Calibri"/>
              </a:rPr>
              <a:t> </a:t>
            </a:r>
            <a:r>
              <a:rPr sz="2400" dirty="0">
                <a:latin typeface="Calibri"/>
                <a:cs typeface="Calibri"/>
              </a:rPr>
              <a:t>(5)</a:t>
            </a:r>
            <a:r>
              <a:rPr sz="2400" spc="-45" dirty="0">
                <a:latin typeface="Calibri"/>
                <a:cs typeface="Calibri"/>
              </a:rPr>
              <a:t> </a:t>
            </a:r>
            <a:r>
              <a:rPr sz="2400" spc="-10" dirty="0">
                <a:latin typeface="Calibri"/>
                <a:cs typeface="Calibri"/>
              </a:rPr>
              <a:t>weeks:</a:t>
            </a:r>
            <a:endParaRPr sz="2400" dirty="0">
              <a:latin typeface="Calibri"/>
              <a:cs typeface="Calibri"/>
            </a:endParaRPr>
          </a:p>
          <a:p>
            <a:pPr marL="802005" lvl="1" indent="-253365">
              <a:lnSpc>
                <a:spcPct val="100000"/>
              </a:lnSpc>
              <a:spcBef>
                <a:spcPts val="40"/>
              </a:spcBef>
              <a:buFont typeface="Courier New"/>
              <a:buChar char="o"/>
              <a:tabLst>
                <a:tab pos="802005" algn="l"/>
              </a:tabLst>
            </a:pPr>
            <a:r>
              <a:rPr sz="2000" dirty="0">
                <a:latin typeface="Calibri"/>
                <a:cs typeface="Calibri"/>
              </a:rPr>
              <a:t>Planned</a:t>
            </a:r>
            <a:r>
              <a:rPr sz="2000" spc="-65" dirty="0">
                <a:latin typeface="Calibri"/>
                <a:cs typeface="Calibri"/>
              </a:rPr>
              <a:t> </a:t>
            </a:r>
            <a:r>
              <a:rPr sz="2000" dirty="0">
                <a:latin typeface="Calibri"/>
                <a:cs typeface="Calibri"/>
              </a:rPr>
              <a:t>costs</a:t>
            </a:r>
            <a:r>
              <a:rPr sz="2000" spc="-60" dirty="0">
                <a:latin typeface="Calibri"/>
                <a:cs typeface="Calibri"/>
              </a:rPr>
              <a:t> </a:t>
            </a:r>
            <a:r>
              <a:rPr sz="2000" dirty="0">
                <a:latin typeface="Calibri"/>
                <a:cs typeface="Calibri"/>
              </a:rPr>
              <a:t>for</a:t>
            </a:r>
            <a:r>
              <a:rPr sz="2000" spc="-55" dirty="0">
                <a:latin typeface="Calibri"/>
                <a:cs typeface="Calibri"/>
              </a:rPr>
              <a:t> </a:t>
            </a:r>
            <a:r>
              <a:rPr sz="2000" dirty="0">
                <a:latin typeface="Calibri"/>
                <a:cs typeface="Calibri"/>
              </a:rPr>
              <a:t>the</a:t>
            </a:r>
            <a:r>
              <a:rPr sz="2000" spc="-55" dirty="0">
                <a:latin typeface="Calibri"/>
                <a:cs typeface="Calibri"/>
              </a:rPr>
              <a:t> </a:t>
            </a:r>
            <a:r>
              <a:rPr sz="2000" dirty="0">
                <a:latin typeface="Calibri"/>
                <a:cs typeface="Calibri"/>
              </a:rPr>
              <a:t>first</a:t>
            </a:r>
            <a:r>
              <a:rPr sz="2000" spc="-60" dirty="0">
                <a:latin typeface="Calibri"/>
                <a:cs typeface="Calibri"/>
              </a:rPr>
              <a:t> </a:t>
            </a:r>
            <a:r>
              <a:rPr sz="2000" dirty="0">
                <a:solidFill>
                  <a:srgbClr val="FF0000"/>
                </a:solidFill>
                <a:latin typeface="Calibri"/>
                <a:cs typeface="Calibri"/>
              </a:rPr>
              <a:t>five</a:t>
            </a:r>
            <a:r>
              <a:rPr sz="2000" spc="-55" dirty="0">
                <a:latin typeface="Calibri"/>
                <a:cs typeface="Calibri"/>
              </a:rPr>
              <a:t> </a:t>
            </a:r>
            <a:r>
              <a:rPr sz="2000" dirty="0">
                <a:latin typeface="Calibri"/>
                <a:cs typeface="Calibri"/>
              </a:rPr>
              <a:t>weeks</a:t>
            </a:r>
            <a:r>
              <a:rPr sz="2000" spc="-55" dirty="0">
                <a:latin typeface="Calibri"/>
                <a:cs typeface="Calibri"/>
              </a:rPr>
              <a:t> </a:t>
            </a:r>
            <a:r>
              <a:rPr sz="2000" dirty="0">
                <a:latin typeface="Calibri"/>
                <a:cs typeface="Calibri"/>
              </a:rPr>
              <a:t>are</a:t>
            </a:r>
            <a:r>
              <a:rPr sz="2000" spc="-55" dirty="0">
                <a:latin typeface="Calibri"/>
                <a:cs typeface="Calibri"/>
              </a:rPr>
              <a:t> </a:t>
            </a:r>
            <a:r>
              <a:rPr sz="2000" spc="-10" dirty="0">
                <a:solidFill>
                  <a:srgbClr val="FF0000"/>
                </a:solidFill>
                <a:latin typeface="Calibri"/>
                <a:cs typeface="Calibri"/>
              </a:rPr>
              <a:t>$2,000,000</a:t>
            </a:r>
            <a:r>
              <a:rPr sz="2000" spc="-10" dirty="0">
                <a:latin typeface="Calibri"/>
                <a:cs typeface="Calibri"/>
              </a:rPr>
              <a:t>.</a:t>
            </a:r>
            <a:endParaRPr sz="2000" dirty="0">
              <a:latin typeface="Calibri"/>
              <a:cs typeface="Calibri"/>
            </a:endParaRPr>
          </a:p>
          <a:p>
            <a:pPr marL="802005" lvl="1" indent="-253365">
              <a:lnSpc>
                <a:spcPct val="100000"/>
              </a:lnSpc>
              <a:buFont typeface="Courier New"/>
              <a:buChar char="o"/>
              <a:tabLst>
                <a:tab pos="802005" algn="l"/>
              </a:tabLst>
            </a:pPr>
            <a:r>
              <a:rPr sz="2000" dirty="0">
                <a:latin typeface="Calibri"/>
                <a:cs typeface="Calibri"/>
              </a:rPr>
              <a:t>Actual</a:t>
            </a:r>
            <a:r>
              <a:rPr sz="2000" spc="-55" dirty="0">
                <a:latin typeface="Calibri"/>
                <a:cs typeface="Calibri"/>
              </a:rPr>
              <a:t> </a:t>
            </a:r>
            <a:r>
              <a:rPr sz="2000" dirty="0">
                <a:latin typeface="Calibri"/>
                <a:cs typeface="Calibri"/>
              </a:rPr>
              <a:t>costs</a:t>
            </a:r>
            <a:r>
              <a:rPr sz="2000" spc="-55" dirty="0">
                <a:latin typeface="Calibri"/>
                <a:cs typeface="Calibri"/>
              </a:rPr>
              <a:t> </a:t>
            </a:r>
            <a:r>
              <a:rPr sz="2000" dirty="0">
                <a:latin typeface="Calibri"/>
                <a:cs typeface="Calibri"/>
              </a:rPr>
              <a:t>for</a:t>
            </a:r>
            <a:r>
              <a:rPr sz="2000" spc="-55" dirty="0">
                <a:latin typeface="Calibri"/>
                <a:cs typeface="Calibri"/>
              </a:rPr>
              <a:t> </a:t>
            </a:r>
            <a:r>
              <a:rPr sz="2000" dirty="0">
                <a:latin typeface="Calibri"/>
                <a:cs typeface="Calibri"/>
              </a:rPr>
              <a:t>the</a:t>
            </a:r>
            <a:r>
              <a:rPr sz="2000" spc="-55" dirty="0">
                <a:latin typeface="Calibri"/>
                <a:cs typeface="Calibri"/>
              </a:rPr>
              <a:t> </a:t>
            </a:r>
            <a:r>
              <a:rPr sz="2000" dirty="0">
                <a:latin typeface="Calibri"/>
                <a:cs typeface="Calibri"/>
              </a:rPr>
              <a:t>first</a:t>
            </a:r>
            <a:r>
              <a:rPr sz="2000" spc="-55" dirty="0">
                <a:latin typeface="Calibri"/>
                <a:cs typeface="Calibri"/>
              </a:rPr>
              <a:t> </a:t>
            </a:r>
            <a:r>
              <a:rPr sz="2000" dirty="0">
                <a:solidFill>
                  <a:srgbClr val="FF0000"/>
                </a:solidFill>
                <a:latin typeface="Calibri"/>
                <a:cs typeface="Calibri"/>
              </a:rPr>
              <a:t>five</a:t>
            </a:r>
            <a:r>
              <a:rPr sz="2000" spc="-55" dirty="0">
                <a:solidFill>
                  <a:srgbClr val="FF0000"/>
                </a:solidFill>
                <a:latin typeface="Calibri"/>
                <a:cs typeface="Calibri"/>
              </a:rPr>
              <a:t> </a:t>
            </a:r>
            <a:r>
              <a:rPr sz="2000" dirty="0">
                <a:latin typeface="Calibri"/>
                <a:cs typeface="Calibri"/>
              </a:rPr>
              <a:t>weeks</a:t>
            </a:r>
            <a:r>
              <a:rPr sz="2000" spc="-55" dirty="0">
                <a:latin typeface="Calibri"/>
                <a:cs typeface="Calibri"/>
              </a:rPr>
              <a:t> </a:t>
            </a:r>
            <a:r>
              <a:rPr sz="2000" dirty="0">
                <a:latin typeface="Calibri"/>
                <a:cs typeface="Calibri"/>
              </a:rPr>
              <a:t>are</a:t>
            </a:r>
            <a:r>
              <a:rPr sz="2000" spc="-55" dirty="0">
                <a:latin typeface="Calibri"/>
                <a:cs typeface="Calibri"/>
              </a:rPr>
              <a:t> </a:t>
            </a:r>
            <a:r>
              <a:rPr sz="2000" spc="-10" dirty="0">
                <a:solidFill>
                  <a:srgbClr val="FF0000"/>
                </a:solidFill>
                <a:latin typeface="Calibri"/>
                <a:cs typeface="Calibri"/>
              </a:rPr>
              <a:t>$1,700,000</a:t>
            </a:r>
            <a:r>
              <a:rPr sz="2000" spc="-10" dirty="0">
                <a:latin typeface="Calibri"/>
                <a:cs typeface="Calibri"/>
              </a:rPr>
              <a:t>.</a:t>
            </a:r>
            <a:endParaRPr sz="2000" dirty="0">
              <a:latin typeface="Calibri"/>
              <a:cs typeface="Calibri"/>
            </a:endParaRPr>
          </a:p>
          <a:p>
            <a:pPr marL="450215" marR="5715">
              <a:lnSpc>
                <a:spcPts val="2300"/>
              </a:lnSpc>
              <a:spcBef>
                <a:spcPts val="950"/>
              </a:spcBef>
            </a:pPr>
            <a:r>
              <a:rPr sz="2400" dirty="0">
                <a:latin typeface="Calibri"/>
                <a:cs typeface="Calibri"/>
              </a:rPr>
              <a:t>The</a:t>
            </a:r>
            <a:r>
              <a:rPr sz="2400" spc="95" dirty="0">
                <a:latin typeface="Calibri"/>
                <a:cs typeface="Calibri"/>
              </a:rPr>
              <a:t> </a:t>
            </a:r>
            <a:r>
              <a:rPr sz="2400" b="1" dirty="0">
                <a:solidFill>
                  <a:srgbClr val="FF0000"/>
                </a:solidFill>
                <a:latin typeface="Calibri"/>
                <a:cs typeface="Calibri"/>
              </a:rPr>
              <a:t>$300,000</a:t>
            </a:r>
            <a:r>
              <a:rPr sz="2400" b="1" spc="95" dirty="0">
                <a:solidFill>
                  <a:srgbClr val="FF0000"/>
                </a:solidFill>
                <a:latin typeface="Calibri"/>
                <a:cs typeface="Calibri"/>
              </a:rPr>
              <a:t> </a:t>
            </a:r>
            <a:r>
              <a:rPr sz="2400" dirty="0">
                <a:latin typeface="Calibri"/>
                <a:cs typeface="Calibri"/>
              </a:rPr>
              <a:t>may</a:t>
            </a:r>
            <a:r>
              <a:rPr sz="2400" spc="95" dirty="0">
                <a:latin typeface="Calibri"/>
                <a:cs typeface="Calibri"/>
              </a:rPr>
              <a:t> </a:t>
            </a:r>
            <a:r>
              <a:rPr sz="2400" dirty="0">
                <a:latin typeface="Calibri"/>
                <a:cs typeface="Calibri"/>
              </a:rPr>
              <a:t>represent</a:t>
            </a:r>
            <a:r>
              <a:rPr sz="2400" spc="90" dirty="0">
                <a:latin typeface="Calibri"/>
                <a:cs typeface="Calibri"/>
              </a:rPr>
              <a:t> </a:t>
            </a:r>
            <a:r>
              <a:rPr sz="2400" dirty="0">
                <a:latin typeface="Calibri"/>
                <a:cs typeface="Calibri"/>
              </a:rPr>
              <a:t>the</a:t>
            </a:r>
            <a:r>
              <a:rPr sz="2400" spc="100" dirty="0">
                <a:latin typeface="Calibri"/>
                <a:cs typeface="Calibri"/>
              </a:rPr>
              <a:t> </a:t>
            </a:r>
            <a:r>
              <a:rPr sz="2400" dirty="0">
                <a:latin typeface="Calibri"/>
                <a:cs typeface="Calibri"/>
              </a:rPr>
              <a:t>fact</a:t>
            </a:r>
            <a:r>
              <a:rPr sz="2400" spc="90" dirty="0">
                <a:latin typeface="Calibri"/>
                <a:cs typeface="Calibri"/>
              </a:rPr>
              <a:t> </a:t>
            </a:r>
            <a:r>
              <a:rPr sz="2400" dirty="0">
                <a:latin typeface="Calibri"/>
                <a:cs typeface="Calibri"/>
              </a:rPr>
              <a:t>that</a:t>
            </a:r>
            <a:r>
              <a:rPr sz="2400" spc="90" dirty="0">
                <a:latin typeface="Calibri"/>
                <a:cs typeface="Calibri"/>
              </a:rPr>
              <a:t> </a:t>
            </a:r>
            <a:r>
              <a:rPr sz="2400" dirty="0">
                <a:latin typeface="Calibri"/>
                <a:cs typeface="Calibri"/>
              </a:rPr>
              <a:t>the</a:t>
            </a:r>
            <a:r>
              <a:rPr sz="2400" spc="100" dirty="0">
                <a:latin typeface="Calibri"/>
                <a:cs typeface="Calibri"/>
              </a:rPr>
              <a:t> </a:t>
            </a:r>
            <a:r>
              <a:rPr sz="2400" dirty="0">
                <a:latin typeface="Calibri"/>
                <a:cs typeface="Calibri"/>
              </a:rPr>
              <a:t>project</a:t>
            </a:r>
            <a:r>
              <a:rPr sz="2400" spc="85" dirty="0">
                <a:latin typeface="Calibri"/>
                <a:cs typeface="Calibri"/>
              </a:rPr>
              <a:t> </a:t>
            </a:r>
            <a:r>
              <a:rPr sz="2400" dirty="0">
                <a:latin typeface="Calibri"/>
                <a:cs typeface="Calibri"/>
              </a:rPr>
              <a:t>is</a:t>
            </a:r>
            <a:r>
              <a:rPr sz="2400" spc="95" dirty="0">
                <a:latin typeface="Calibri"/>
                <a:cs typeface="Calibri"/>
              </a:rPr>
              <a:t> </a:t>
            </a:r>
            <a:r>
              <a:rPr sz="2400" dirty="0">
                <a:latin typeface="Calibri"/>
                <a:cs typeface="Calibri"/>
              </a:rPr>
              <a:t>behind</a:t>
            </a:r>
            <a:r>
              <a:rPr sz="2400" spc="95" dirty="0">
                <a:latin typeface="Calibri"/>
                <a:cs typeface="Calibri"/>
              </a:rPr>
              <a:t> </a:t>
            </a:r>
            <a:r>
              <a:rPr sz="2400" dirty="0">
                <a:latin typeface="Calibri"/>
                <a:cs typeface="Calibri"/>
              </a:rPr>
              <a:t>schedule</a:t>
            </a:r>
            <a:r>
              <a:rPr sz="2400" spc="105" dirty="0">
                <a:latin typeface="Calibri"/>
                <a:cs typeface="Calibri"/>
              </a:rPr>
              <a:t> </a:t>
            </a:r>
            <a:r>
              <a:rPr sz="2400" spc="-25" dirty="0">
                <a:latin typeface="Calibri"/>
                <a:cs typeface="Calibri"/>
              </a:rPr>
              <a:t>and </a:t>
            </a:r>
            <a:r>
              <a:rPr sz="2400" dirty="0">
                <a:latin typeface="Calibri"/>
                <a:cs typeface="Calibri"/>
              </a:rPr>
              <a:t>work</a:t>
            </a:r>
            <a:r>
              <a:rPr sz="2400" spc="-55" dirty="0">
                <a:latin typeface="Calibri"/>
                <a:cs typeface="Calibri"/>
              </a:rPr>
              <a:t> </a:t>
            </a:r>
            <a:r>
              <a:rPr sz="2400" dirty="0">
                <a:latin typeface="Calibri"/>
                <a:cs typeface="Calibri"/>
              </a:rPr>
              <a:t>has</a:t>
            </a:r>
            <a:r>
              <a:rPr sz="2400" spc="-50" dirty="0">
                <a:latin typeface="Calibri"/>
                <a:cs typeface="Calibri"/>
              </a:rPr>
              <a:t> </a:t>
            </a:r>
            <a:r>
              <a:rPr sz="2400" dirty="0">
                <a:latin typeface="Calibri"/>
                <a:cs typeface="Calibri"/>
              </a:rPr>
              <a:t>not</a:t>
            </a:r>
            <a:r>
              <a:rPr sz="2400" spc="-50" dirty="0">
                <a:latin typeface="Calibri"/>
                <a:cs typeface="Calibri"/>
              </a:rPr>
              <a:t> </a:t>
            </a:r>
            <a:r>
              <a:rPr sz="2400" spc="-10" dirty="0">
                <a:latin typeface="Calibri"/>
                <a:cs typeface="Calibri"/>
              </a:rPr>
              <a:t>started.</a:t>
            </a:r>
            <a:r>
              <a:rPr sz="2400" spc="-55" dirty="0">
                <a:latin typeface="Calibri"/>
                <a:cs typeface="Calibri"/>
              </a:rPr>
              <a:t> </a:t>
            </a:r>
            <a:r>
              <a:rPr sz="2400" dirty="0">
                <a:latin typeface="Calibri"/>
                <a:cs typeface="Calibri"/>
              </a:rPr>
              <a:t>It</a:t>
            </a:r>
            <a:r>
              <a:rPr sz="2400" spc="-50" dirty="0">
                <a:latin typeface="Calibri"/>
                <a:cs typeface="Calibri"/>
              </a:rPr>
              <a:t> </a:t>
            </a:r>
            <a:r>
              <a:rPr sz="2400" dirty="0">
                <a:latin typeface="Calibri"/>
                <a:cs typeface="Calibri"/>
              </a:rPr>
              <a:t>could</a:t>
            </a:r>
            <a:r>
              <a:rPr sz="2400" spc="-50" dirty="0">
                <a:latin typeface="Calibri"/>
                <a:cs typeface="Calibri"/>
              </a:rPr>
              <a:t> </a:t>
            </a:r>
            <a:r>
              <a:rPr sz="2400" dirty="0">
                <a:latin typeface="Calibri"/>
                <a:cs typeface="Calibri"/>
              </a:rPr>
              <a:t>be</a:t>
            </a:r>
            <a:r>
              <a:rPr sz="2400" spc="-50" dirty="0">
                <a:latin typeface="Calibri"/>
                <a:cs typeface="Calibri"/>
              </a:rPr>
              <a:t> </a:t>
            </a:r>
            <a:r>
              <a:rPr sz="2400" dirty="0">
                <a:latin typeface="Calibri"/>
                <a:cs typeface="Calibri"/>
              </a:rPr>
              <a:t>behind</a:t>
            </a:r>
            <a:r>
              <a:rPr sz="2400" spc="-45" dirty="0">
                <a:latin typeface="Calibri"/>
                <a:cs typeface="Calibri"/>
              </a:rPr>
              <a:t> </a:t>
            </a:r>
            <a:r>
              <a:rPr sz="2400" dirty="0">
                <a:latin typeface="Calibri"/>
                <a:cs typeface="Calibri"/>
              </a:rPr>
              <a:t>schedule</a:t>
            </a:r>
            <a:r>
              <a:rPr sz="2400" spc="-40"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over</a:t>
            </a:r>
            <a:r>
              <a:rPr sz="2400" spc="-55" dirty="0">
                <a:latin typeface="Calibri"/>
                <a:cs typeface="Calibri"/>
              </a:rPr>
              <a:t> </a:t>
            </a:r>
            <a:r>
              <a:rPr sz="2400" spc="-10" dirty="0">
                <a:latin typeface="Calibri"/>
                <a:cs typeface="Calibri"/>
              </a:rPr>
              <a:t>cost.</a:t>
            </a:r>
            <a:endParaRPr sz="2400" dirty="0">
              <a:latin typeface="Calibri"/>
              <a:cs typeface="Calibri"/>
            </a:endParaRPr>
          </a:p>
          <a:p>
            <a:pPr marL="450215" marR="5715" indent="-409575">
              <a:lnSpc>
                <a:spcPct val="80000"/>
              </a:lnSpc>
              <a:spcBef>
                <a:spcPts val="1010"/>
              </a:spcBef>
              <a:buFont typeface="Wingdings"/>
              <a:buChar char=""/>
              <a:tabLst>
                <a:tab pos="450215" algn="l"/>
                <a:tab pos="1470660" algn="l"/>
                <a:tab pos="2612390" algn="l"/>
                <a:tab pos="4418965" algn="l"/>
                <a:tab pos="5097145" algn="l"/>
                <a:tab pos="5531485" algn="l"/>
                <a:tab pos="6491605" algn="l"/>
                <a:tab pos="7226300" algn="l"/>
                <a:tab pos="8272145" algn="l"/>
                <a:tab pos="9607550" algn="l"/>
                <a:tab pos="9958070" algn="l"/>
              </a:tabLst>
            </a:pPr>
            <a:r>
              <a:rPr sz="2400" i="1" spc="-10" dirty="0">
                <a:latin typeface="Calibri"/>
                <a:cs typeface="Calibri"/>
              </a:rPr>
              <a:t>Hence,</a:t>
            </a:r>
            <a:r>
              <a:rPr sz="2400" i="1" dirty="0">
                <a:latin typeface="Calibri"/>
                <a:cs typeface="Calibri"/>
              </a:rPr>
              <a:t>	</a:t>
            </a:r>
            <a:r>
              <a:rPr sz="2400" i="1" spc="-10" dirty="0">
                <a:latin typeface="Calibri"/>
                <a:cs typeface="Calibri"/>
              </a:rPr>
              <a:t>without</a:t>
            </a:r>
            <a:r>
              <a:rPr sz="2400" i="1" dirty="0">
                <a:latin typeface="Calibri"/>
                <a:cs typeface="Calibri"/>
              </a:rPr>
              <a:t>	</a:t>
            </a:r>
            <a:r>
              <a:rPr sz="2400" i="1" spc="-10" dirty="0">
                <a:latin typeface="Calibri"/>
                <a:cs typeface="Calibri"/>
              </a:rPr>
              <a:t>time-phasing</a:t>
            </a:r>
            <a:r>
              <a:rPr sz="2400" i="1" dirty="0">
                <a:latin typeface="Calibri"/>
                <a:cs typeface="Calibri"/>
              </a:rPr>
              <a:t>	</a:t>
            </a:r>
            <a:r>
              <a:rPr sz="2400" i="1" spc="-20" dirty="0">
                <a:latin typeface="Calibri"/>
                <a:cs typeface="Calibri"/>
              </a:rPr>
              <a:t>cost</a:t>
            </a:r>
            <a:r>
              <a:rPr sz="2400" i="1" dirty="0">
                <a:latin typeface="Calibri"/>
                <a:cs typeface="Calibri"/>
              </a:rPr>
              <a:t>	</a:t>
            </a:r>
            <a:r>
              <a:rPr sz="2400" i="1" spc="-25" dirty="0">
                <a:latin typeface="Calibri"/>
                <a:cs typeface="Calibri"/>
              </a:rPr>
              <a:t>to</a:t>
            </a:r>
            <a:r>
              <a:rPr sz="2400" i="1" dirty="0">
                <a:latin typeface="Calibri"/>
                <a:cs typeface="Calibri"/>
              </a:rPr>
              <a:t>	</a:t>
            </a:r>
            <a:r>
              <a:rPr sz="2400" i="1" spc="-10" dirty="0">
                <a:latin typeface="Calibri"/>
                <a:cs typeface="Calibri"/>
              </a:rPr>
              <a:t>match</a:t>
            </a:r>
            <a:r>
              <a:rPr sz="2400" i="1" dirty="0">
                <a:latin typeface="Calibri"/>
                <a:cs typeface="Calibri"/>
              </a:rPr>
              <a:t>	</a:t>
            </a:r>
            <a:r>
              <a:rPr sz="2400" i="1" spc="-20" dirty="0">
                <a:latin typeface="Calibri"/>
                <a:cs typeface="Calibri"/>
              </a:rPr>
              <a:t>your</a:t>
            </a:r>
            <a:r>
              <a:rPr sz="2400" i="1" dirty="0">
                <a:latin typeface="Calibri"/>
                <a:cs typeface="Calibri"/>
              </a:rPr>
              <a:t>	</a:t>
            </a:r>
            <a:r>
              <a:rPr sz="2400" i="1" spc="-10" dirty="0">
                <a:latin typeface="Calibri"/>
                <a:cs typeface="Calibri"/>
              </a:rPr>
              <a:t>project</a:t>
            </a:r>
            <a:r>
              <a:rPr sz="2400" i="1" dirty="0">
                <a:latin typeface="Calibri"/>
                <a:cs typeface="Calibri"/>
              </a:rPr>
              <a:t>	</a:t>
            </a:r>
            <a:r>
              <a:rPr sz="2400" i="1" spc="-10" dirty="0">
                <a:latin typeface="Calibri"/>
                <a:cs typeface="Calibri"/>
              </a:rPr>
              <a:t>schedule,</a:t>
            </a:r>
            <a:r>
              <a:rPr sz="2400" i="1" dirty="0">
                <a:latin typeface="Calibri"/>
                <a:cs typeface="Calibri"/>
              </a:rPr>
              <a:t>	</a:t>
            </a:r>
            <a:r>
              <a:rPr sz="2400" i="1" spc="-25" dirty="0">
                <a:latin typeface="Calibri"/>
                <a:cs typeface="Calibri"/>
              </a:rPr>
              <a:t>it</a:t>
            </a:r>
            <a:r>
              <a:rPr sz="2400" i="1" dirty="0">
                <a:latin typeface="Calibri"/>
                <a:cs typeface="Calibri"/>
              </a:rPr>
              <a:t>	</a:t>
            </a:r>
            <a:r>
              <a:rPr sz="2400" i="1" spc="-25" dirty="0">
                <a:latin typeface="Calibri"/>
                <a:cs typeface="Calibri"/>
              </a:rPr>
              <a:t>is </a:t>
            </a:r>
            <a:r>
              <a:rPr sz="2400" i="1" dirty="0">
                <a:latin typeface="Calibri"/>
                <a:cs typeface="Calibri"/>
              </a:rPr>
              <a:t>impossible</a:t>
            </a:r>
            <a:r>
              <a:rPr sz="2400" i="1" spc="-65" dirty="0">
                <a:latin typeface="Calibri"/>
                <a:cs typeface="Calibri"/>
              </a:rPr>
              <a:t> </a:t>
            </a:r>
            <a:r>
              <a:rPr sz="2400" i="1" dirty="0">
                <a:latin typeface="Calibri"/>
                <a:cs typeface="Calibri"/>
              </a:rPr>
              <a:t>to</a:t>
            </a:r>
            <a:r>
              <a:rPr sz="2400" i="1" spc="-60" dirty="0">
                <a:latin typeface="Calibri"/>
                <a:cs typeface="Calibri"/>
              </a:rPr>
              <a:t> </a:t>
            </a:r>
            <a:r>
              <a:rPr sz="2400" i="1" dirty="0">
                <a:latin typeface="Calibri"/>
                <a:cs typeface="Calibri"/>
              </a:rPr>
              <a:t>have</a:t>
            </a:r>
            <a:r>
              <a:rPr sz="2400" i="1" spc="-70" dirty="0">
                <a:latin typeface="Calibri"/>
                <a:cs typeface="Calibri"/>
              </a:rPr>
              <a:t> </a:t>
            </a:r>
            <a:r>
              <a:rPr sz="2400" i="1" dirty="0">
                <a:latin typeface="Calibri"/>
                <a:cs typeface="Calibri"/>
              </a:rPr>
              <a:t>reliable</a:t>
            </a:r>
            <a:r>
              <a:rPr sz="2400" i="1" spc="-55" dirty="0">
                <a:latin typeface="Calibri"/>
                <a:cs typeface="Calibri"/>
              </a:rPr>
              <a:t> </a:t>
            </a:r>
            <a:r>
              <a:rPr sz="2400" i="1" spc="-10" dirty="0">
                <a:latin typeface="Calibri"/>
                <a:cs typeface="Calibri"/>
              </a:rPr>
              <a:t>information</a:t>
            </a:r>
            <a:r>
              <a:rPr sz="2400" i="1" spc="-65" dirty="0">
                <a:latin typeface="Calibri"/>
                <a:cs typeface="Calibri"/>
              </a:rPr>
              <a:t> </a:t>
            </a:r>
            <a:r>
              <a:rPr sz="2400" i="1" dirty="0">
                <a:latin typeface="Calibri"/>
                <a:cs typeface="Calibri"/>
              </a:rPr>
              <a:t>for</a:t>
            </a:r>
            <a:r>
              <a:rPr sz="2400" i="1" spc="-65" dirty="0">
                <a:latin typeface="Calibri"/>
                <a:cs typeface="Calibri"/>
              </a:rPr>
              <a:t> </a:t>
            </a:r>
            <a:r>
              <a:rPr sz="2400" i="1" dirty="0">
                <a:latin typeface="Calibri"/>
                <a:cs typeface="Calibri"/>
              </a:rPr>
              <a:t>control</a:t>
            </a:r>
            <a:r>
              <a:rPr sz="2400" i="1" spc="-75" dirty="0">
                <a:latin typeface="Calibri"/>
                <a:cs typeface="Calibri"/>
              </a:rPr>
              <a:t> </a:t>
            </a:r>
            <a:r>
              <a:rPr sz="2400" i="1" spc="-10" dirty="0">
                <a:latin typeface="Calibri"/>
                <a:cs typeface="Calibri"/>
              </a:rPr>
              <a:t>purposes.</a:t>
            </a:r>
            <a:endParaRPr sz="24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12</a:t>
            </a:r>
            <a:endParaRPr sz="1200">
              <a:latin typeface="Calibri"/>
              <a:cs typeface="Calibri"/>
            </a:endParaRPr>
          </a:p>
        </p:txBody>
      </p:sp>
      <p:pic>
        <p:nvPicPr>
          <p:cNvPr id="5" name="Picture 4">
            <a:extLst>
              <a:ext uri="{FF2B5EF4-FFF2-40B4-BE49-F238E27FC236}">
                <a16:creationId xmlns:a16="http://schemas.microsoft.com/office/drawing/2014/main" id="{D464EB49-8375-E38D-47B9-80717D844DD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2075712" y="558928"/>
            <a:ext cx="9952745" cy="848110"/>
          </a:xfrm>
          <a:prstGeom prst="rect">
            <a:avLst/>
          </a:prstGeom>
        </p:spPr>
        <p:txBody>
          <a:bodyPr vert="horz" wrap="square" lIns="0" tIns="14408" rIns="0" bIns="0" rtlCol="0">
            <a:spAutoFit/>
          </a:bodyPr>
          <a:lstStyle/>
          <a:p>
            <a:pPr marL="13832">
              <a:lnSpc>
                <a:spcPts val="3236"/>
              </a:lnSpc>
              <a:spcBef>
                <a:spcPts val="113"/>
              </a:spcBef>
            </a:pPr>
            <a:r>
              <a:rPr sz="2768" spc="-41" dirty="0">
                <a:solidFill>
                  <a:srgbClr val="002160"/>
                </a:solidFill>
              </a:rPr>
              <a:t>Time-</a:t>
            </a:r>
            <a:r>
              <a:rPr sz="2768" dirty="0">
                <a:solidFill>
                  <a:srgbClr val="002160"/>
                </a:solidFill>
              </a:rPr>
              <a:t>Phased</a:t>
            </a:r>
            <a:r>
              <a:rPr sz="2768" spc="185" dirty="0">
                <a:solidFill>
                  <a:srgbClr val="002160"/>
                </a:solidFill>
              </a:rPr>
              <a:t> </a:t>
            </a:r>
            <a:r>
              <a:rPr sz="2768" dirty="0">
                <a:solidFill>
                  <a:srgbClr val="011F60"/>
                </a:solidFill>
              </a:rPr>
              <a:t>Work</a:t>
            </a:r>
            <a:r>
              <a:rPr sz="2768" spc="68" dirty="0">
                <a:solidFill>
                  <a:srgbClr val="011F60"/>
                </a:solidFill>
              </a:rPr>
              <a:t> </a:t>
            </a:r>
            <a:r>
              <a:rPr sz="2768" dirty="0">
                <a:solidFill>
                  <a:srgbClr val="011F60"/>
                </a:solidFill>
              </a:rPr>
              <a:t>Packages</a:t>
            </a:r>
            <a:r>
              <a:rPr sz="2768" spc="191" dirty="0">
                <a:solidFill>
                  <a:srgbClr val="011F60"/>
                </a:solidFill>
              </a:rPr>
              <a:t> </a:t>
            </a:r>
            <a:r>
              <a:rPr sz="2768" dirty="0">
                <a:solidFill>
                  <a:srgbClr val="032162"/>
                </a:solidFill>
              </a:rPr>
              <a:t>(labor</a:t>
            </a:r>
            <a:r>
              <a:rPr sz="2768" spc="91" dirty="0">
                <a:solidFill>
                  <a:srgbClr val="032162"/>
                </a:solidFill>
              </a:rPr>
              <a:t> </a:t>
            </a:r>
            <a:r>
              <a:rPr sz="2768" spc="59" dirty="0"/>
              <a:t>cost</a:t>
            </a:r>
            <a:r>
              <a:rPr sz="2768" spc="45" dirty="0"/>
              <a:t> </a:t>
            </a:r>
            <a:r>
              <a:rPr sz="2768" dirty="0">
                <a:solidFill>
                  <a:srgbClr val="00215B"/>
                </a:solidFill>
              </a:rPr>
              <a:t>only)</a:t>
            </a:r>
            <a:r>
              <a:rPr sz="2768" spc="136" dirty="0">
                <a:solidFill>
                  <a:srgbClr val="00215B"/>
                </a:solidFill>
              </a:rPr>
              <a:t> </a:t>
            </a:r>
            <a:r>
              <a:rPr sz="2768" spc="-1402" dirty="0">
                <a:solidFill>
                  <a:srgbClr val="001F64"/>
                </a:solidFill>
              </a:rPr>
              <a:t>—</a:t>
            </a:r>
            <a:endParaRPr sz="2768"/>
          </a:p>
          <a:p>
            <a:pPr marL="11527">
              <a:lnSpc>
                <a:spcPts val="3290"/>
              </a:lnSpc>
            </a:pPr>
            <a:r>
              <a:rPr sz="2814" spc="-9" dirty="0">
                <a:solidFill>
                  <a:srgbClr val="012159"/>
                </a:solidFill>
              </a:rPr>
              <a:t>Example</a:t>
            </a:r>
            <a:r>
              <a:rPr sz="2814" spc="-172" dirty="0">
                <a:solidFill>
                  <a:srgbClr val="012159"/>
                </a:solidFill>
              </a:rPr>
              <a:t> </a:t>
            </a:r>
            <a:r>
              <a:rPr sz="2814" spc="-45" dirty="0">
                <a:solidFill>
                  <a:srgbClr val="002160"/>
                </a:solidFill>
              </a:rPr>
              <a:t>1</a:t>
            </a:r>
            <a:endParaRPr sz="2814"/>
          </a:p>
        </p:txBody>
      </p:sp>
      <p:pic>
        <p:nvPicPr>
          <p:cNvPr id="17" name="Picture 16">
            <a:extLst>
              <a:ext uri="{FF2B5EF4-FFF2-40B4-BE49-F238E27FC236}">
                <a16:creationId xmlns:a16="http://schemas.microsoft.com/office/drawing/2014/main" id="{A27D0C31-3906-7C62-B31E-634586427BC2}"/>
              </a:ext>
            </a:extLst>
          </p:cNvPr>
          <p:cNvPicPr>
            <a:picLocks noChangeAspect="1"/>
          </p:cNvPicPr>
          <p:nvPr/>
        </p:nvPicPr>
        <p:blipFill>
          <a:blip r:embed="rId2"/>
          <a:stretch>
            <a:fillRect/>
          </a:stretch>
        </p:blipFill>
        <p:spPr>
          <a:xfrm>
            <a:off x="1382621" y="540769"/>
            <a:ext cx="9426757" cy="5776461"/>
          </a:xfrm>
          <a:prstGeom prst="rect">
            <a:avLst/>
          </a:prstGeom>
        </p:spPr>
      </p:pic>
      <p:pic>
        <p:nvPicPr>
          <p:cNvPr id="2" name="Picture 1">
            <a:extLst>
              <a:ext uri="{FF2B5EF4-FFF2-40B4-BE49-F238E27FC236}">
                <a16:creationId xmlns:a16="http://schemas.microsoft.com/office/drawing/2014/main" id="{E56C3AC2-0953-D8A4-6533-FB82C403C0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5" dirty="0"/>
              <a:t>Creating</a:t>
            </a:r>
            <a:r>
              <a:rPr spc="145" dirty="0"/>
              <a:t> </a:t>
            </a:r>
            <a:r>
              <a:rPr dirty="0"/>
              <a:t>a</a:t>
            </a:r>
            <a:r>
              <a:rPr spc="150" dirty="0"/>
              <a:t> </a:t>
            </a:r>
            <a:r>
              <a:rPr spc="120" dirty="0"/>
              <a:t>Time-</a:t>
            </a:r>
            <a:r>
              <a:rPr spc="110" dirty="0"/>
              <a:t>Phased</a:t>
            </a:r>
            <a:r>
              <a:rPr spc="145" dirty="0"/>
              <a:t> </a:t>
            </a:r>
            <a:r>
              <a:rPr spc="100" dirty="0"/>
              <a:t>Budget</a:t>
            </a:r>
            <a:r>
              <a:rPr spc="145" dirty="0"/>
              <a:t> </a:t>
            </a:r>
            <a:r>
              <a:rPr sz="1950" spc="-10" dirty="0"/>
              <a:t>(1/2)</a:t>
            </a:r>
            <a:endParaRPr sz="1950"/>
          </a:p>
        </p:txBody>
      </p:sp>
      <p:sp>
        <p:nvSpPr>
          <p:cNvPr id="3" name="object 3"/>
          <p:cNvSpPr txBox="1"/>
          <p:nvPr/>
        </p:nvSpPr>
        <p:spPr>
          <a:xfrm>
            <a:off x="916939" y="1695195"/>
            <a:ext cx="10353675" cy="833119"/>
          </a:xfrm>
          <a:prstGeom prst="rect">
            <a:avLst/>
          </a:prstGeom>
        </p:spPr>
        <p:txBody>
          <a:bodyPr vert="horz" wrap="square" lIns="0" tIns="63500" rIns="0" bIns="0" rtlCol="0">
            <a:spAutoFit/>
          </a:bodyPr>
          <a:lstStyle/>
          <a:p>
            <a:pPr marL="241300" marR="5080" indent="-228600">
              <a:lnSpc>
                <a:spcPts val="3000"/>
              </a:lnSpc>
              <a:spcBef>
                <a:spcPts val="500"/>
              </a:spcBef>
              <a:buFont typeface="Arial MT"/>
              <a:buChar char="•"/>
              <a:tabLst>
                <a:tab pos="241300" algn="l"/>
                <a:tab pos="815340" algn="l"/>
                <a:tab pos="1657985" algn="l"/>
                <a:tab pos="3054985" algn="l"/>
                <a:tab pos="4983480" algn="l"/>
                <a:tab pos="5808980" algn="l"/>
                <a:tab pos="6677025" algn="l"/>
                <a:tab pos="8110855" algn="l"/>
                <a:tab pos="8679180" algn="l"/>
                <a:tab pos="9285605" algn="l"/>
                <a:tab pos="10040620" algn="l"/>
              </a:tabLst>
            </a:pPr>
            <a:r>
              <a:rPr sz="2800" spc="-25" dirty="0">
                <a:latin typeface="Calibri"/>
                <a:cs typeface="Calibri"/>
              </a:rPr>
              <a:t>So,</a:t>
            </a:r>
            <a:r>
              <a:rPr sz="2800" dirty="0">
                <a:latin typeface="Calibri"/>
                <a:cs typeface="Calibri"/>
              </a:rPr>
              <a:t>	</a:t>
            </a:r>
            <a:r>
              <a:rPr sz="2800" spc="-20" dirty="0">
                <a:latin typeface="Calibri"/>
                <a:cs typeface="Calibri"/>
              </a:rPr>
              <a:t>once</a:t>
            </a:r>
            <a:r>
              <a:rPr sz="2800" dirty="0">
                <a:latin typeface="Calibri"/>
                <a:cs typeface="Calibri"/>
              </a:rPr>
              <a:t>	</a:t>
            </a:r>
            <a:r>
              <a:rPr sz="2800" spc="-10" dirty="0">
                <a:latin typeface="Calibri"/>
                <a:cs typeface="Calibri"/>
              </a:rPr>
              <a:t>resource</a:t>
            </a:r>
            <a:r>
              <a:rPr sz="2800" dirty="0">
                <a:latin typeface="Calibri"/>
                <a:cs typeface="Calibri"/>
              </a:rPr>
              <a:t>	</a:t>
            </a:r>
            <a:r>
              <a:rPr sz="2800" spc="-10" dirty="0">
                <a:latin typeface="Calibri"/>
                <a:cs typeface="Calibri"/>
              </a:rPr>
              <a:t>assignments</a:t>
            </a:r>
            <a:r>
              <a:rPr sz="2800" dirty="0">
                <a:latin typeface="Calibri"/>
                <a:cs typeface="Calibri"/>
              </a:rPr>
              <a:t>	</a:t>
            </a:r>
            <a:r>
              <a:rPr sz="2800" spc="-20" dirty="0">
                <a:latin typeface="Calibri"/>
                <a:cs typeface="Calibri"/>
              </a:rPr>
              <a:t>have</a:t>
            </a:r>
            <a:r>
              <a:rPr sz="2800" dirty="0">
                <a:latin typeface="Calibri"/>
                <a:cs typeface="Calibri"/>
              </a:rPr>
              <a:t>	</a:t>
            </a:r>
            <a:r>
              <a:rPr sz="2800" spc="-20" dirty="0">
                <a:latin typeface="Calibri"/>
                <a:cs typeface="Calibri"/>
              </a:rPr>
              <a:t>been</a:t>
            </a:r>
            <a:r>
              <a:rPr sz="2800" dirty="0">
                <a:latin typeface="Calibri"/>
                <a:cs typeface="Calibri"/>
              </a:rPr>
              <a:t>	</a:t>
            </a:r>
            <a:r>
              <a:rPr sz="2800" spc="-10" dirty="0">
                <a:latin typeface="Calibri"/>
                <a:cs typeface="Calibri"/>
              </a:rPr>
              <a:t>finalized,</a:t>
            </a:r>
            <a:r>
              <a:rPr sz="2800" dirty="0">
                <a:latin typeface="Calibri"/>
                <a:cs typeface="Calibri"/>
              </a:rPr>
              <a:t>	</a:t>
            </a:r>
            <a:r>
              <a:rPr sz="2800" spc="-25" dirty="0">
                <a:latin typeface="Calibri"/>
                <a:cs typeface="Calibri"/>
              </a:rPr>
              <a:t>we</a:t>
            </a:r>
            <a:r>
              <a:rPr sz="2800" dirty="0">
                <a:latin typeface="Calibri"/>
                <a:cs typeface="Calibri"/>
              </a:rPr>
              <a:t>	</a:t>
            </a:r>
            <a:r>
              <a:rPr sz="2800" spc="-25" dirty="0">
                <a:latin typeface="Calibri"/>
                <a:cs typeface="Calibri"/>
              </a:rPr>
              <a:t>are</a:t>
            </a:r>
            <a:r>
              <a:rPr sz="2800" dirty="0">
                <a:latin typeface="Calibri"/>
                <a:cs typeface="Calibri"/>
              </a:rPr>
              <a:t>	</a:t>
            </a:r>
            <a:r>
              <a:rPr sz="2800" spc="-20" dirty="0">
                <a:latin typeface="Calibri"/>
                <a:cs typeface="Calibri"/>
              </a:rPr>
              <a:t>able</a:t>
            </a:r>
            <a:r>
              <a:rPr sz="2800" dirty="0">
                <a:latin typeface="Calibri"/>
                <a:cs typeface="Calibri"/>
              </a:rPr>
              <a:t>	</a:t>
            </a:r>
            <a:r>
              <a:rPr sz="2800" spc="-50" dirty="0">
                <a:latin typeface="Calibri"/>
                <a:cs typeface="Calibri"/>
              </a:rPr>
              <a:t>to </a:t>
            </a:r>
            <a:r>
              <a:rPr sz="2800" dirty="0">
                <a:latin typeface="Calibri"/>
                <a:cs typeface="Calibri"/>
              </a:rPr>
              <a:t>develop</a:t>
            </a:r>
            <a:r>
              <a:rPr sz="2800" spc="-55" dirty="0">
                <a:latin typeface="Calibri"/>
                <a:cs typeface="Calibri"/>
              </a:rPr>
              <a:t> </a:t>
            </a:r>
            <a:r>
              <a:rPr sz="2800" dirty="0">
                <a:latin typeface="Calibri"/>
                <a:cs typeface="Calibri"/>
              </a:rPr>
              <a:t>a</a:t>
            </a:r>
            <a:r>
              <a:rPr sz="2800" spc="-50" dirty="0">
                <a:latin typeface="Calibri"/>
                <a:cs typeface="Calibri"/>
              </a:rPr>
              <a:t> </a:t>
            </a:r>
            <a:r>
              <a:rPr sz="2800" dirty="0">
                <a:latin typeface="Calibri"/>
                <a:cs typeface="Calibri"/>
              </a:rPr>
              <a:t>baseline</a:t>
            </a:r>
            <a:r>
              <a:rPr sz="2800" spc="-60" dirty="0">
                <a:latin typeface="Calibri"/>
                <a:cs typeface="Calibri"/>
              </a:rPr>
              <a:t> </a:t>
            </a:r>
            <a:r>
              <a:rPr sz="2800" dirty="0">
                <a:latin typeface="Calibri"/>
                <a:cs typeface="Calibri"/>
              </a:rPr>
              <a:t>budget</a:t>
            </a:r>
            <a:r>
              <a:rPr sz="2800" spc="-50" dirty="0">
                <a:latin typeface="Calibri"/>
                <a:cs typeface="Calibri"/>
              </a:rPr>
              <a:t> </a:t>
            </a:r>
            <a:r>
              <a:rPr sz="2800" dirty="0">
                <a:latin typeface="Calibri"/>
                <a:cs typeface="Calibri"/>
              </a:rPr>
              <a:t>schedule</a:t>
            </a:r>
            <a:r>
              <a:rPr sz="2800" spc="-60" dirty="0">
                <a:latin typeface="Calibri"/>
                <a:cs typeface="Calibri"/>
              </a:rPr>
              <a:t> </a:t>
            </a:r>
            <a:r>
              <a:rPr sz="2800" dirty="0">
                <a:latin typeface="Calibri"/>
                <a:cs typeface="Calibri"/>
              </a:rPr>
              <a:t>for</a:t>
            </a:r>
            <a:r>
              <a:rPr sz="2800" spc="-50" dirty="0">
                <a:latin typeface="Calibri"/>
                <a:cs typeface="Calibri"/>
              </a:rPr>
              <a:t> </a:t>
            </a:r>
            <a:r>
              <a:rPr sz="2800" dirty="0">
                <a:latin typeface="Calibri"/>
                <a:cs typeface="Calibri"/>
              </a:rPr>
              <a:t>the</a:t>
            </a:r>
            <a:r>
              <a:rPr sz="2800" spc="-45" dirty="0">
                <a:latin typeface="Calibri"/>
                <a:cs typeface="Calibri"/>
              </a:rPr>
              <a:t> </a:t>
            </a:r>
            <a:r>
              <a:rPr sz="2800" spc="-10" dirty="0">
                <a:latin typeface="Calibri"/>
                <a:cs typeface="Calibri"/>
              </a:rPr>
              <a:t>project.</a:t>
            </a:r>
            <a:endParaRPr sz="28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13</a:t>
            </a:r>
            <a:endParaRPr sz="1200">
              <a:latin typeface="Calibri"/>
              <a:cs typeface="Calibri"/>
            </a:endParaRPr>
          </a:p>
        </p:txBody>
      </p:sp>
      <p:pic>
        <p:nvPicPr>
          <p:cNvPr id="5" name="object 5"/>
          <p:cNvPicPr/>
          <p:nvPr/>
        </p:nvPicPr>
        <p:blipFill>
          <a:blip r:embed="rId2" cstate="print"/>
          <a:stretch>
            <a:fillRect/>
          </a:stretch>
        </p:blipFill>
        <p:spPr>
          <a:xfrm>
            <a:off x="3375445" y="2500627"/>
            <a:ext cx="5664930" cy="4355374"/>
          </a:xfrm>
          <a:prstGeom prst="rect">
            <a:avLst/>
          </a:prstGeom>
        </p:spPr>
      </p:pic>
      <p:pic>
        <p:nvPicPr>
          <p:cNvPr id="6" name="Picture 5">
            <a:extLst>
              <a:ext uri="{FF2B5EF4-FFF2-40B4-BE49-F238E27FC236}">
                <a16:creationId xmlns:a16="http://schemas.microsoft.com/office/drawing/2014/main" id="{27F14485-74E1-4FFC-2B61-2643529275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51904" y="6441620"/>
            <a:ext cx="155575" cy="186055"/>
          </a:xfrm>
          <a:prstGeom prst="rect">
            <a:avLst/>
          </a:prstGeom>
        </p:spPr>
        <p:txBody>
          <a:bodyPr vert="horz" wrap="square" lIns="0" tIns="0" rIns="0" bIns="0" rtlCol="0">
            <a:spAutoFit/>
          </a:bodyPr>
          <a:lstStyle/>
          <a:p>
            <a:pPr>
              <a:lnSpc>
                <a:spcPts val="1385"/>
              </a:lnSpc>
            </a:pPr>
            <a:r>
              <a:rPr sz="1200" b="1" spc="-25" dirty="0">
                <a:solidFill>
                  <a:srgbClr val="898989"/>
                </a:solidFill>
                <a:latin typeface="Calibri"/>
                <a:cs typeface="Calibri"/>
              </a:rPr>
              <a:t>14</a:t>
            </a:r>
            <a:endParaRPr sz="1200">
              <a:latin typeface="Calibri"/>
              <a:cs typeface="Calibri"/>
            </a:endParaRPr>
          </a:p>
        </p:txBody>
      </p:sp>
      <p:pic>
        <p:nvPicPr>
          <p:cNvPr id="3" name="object 3"/>
          <p:cNvPicPr/>
          <p:nvPr/>
        </p:nvPicPr>
        <p:blipFill>
          <a:blip r:embed="rId2" cstate="print"/>
          <a:stretch>
            <a:fillRect/>
          </a:stretch>
        </p:blipFill>
        <p:spPr>
          <a:xfrm>
            <a:off x="391543" y="2203287"/>
            <a:ext cx="5149216" cy="3168260"/>
          </a:xfrm>
          <a:prstGeom prst="rect">
            <a:avLst/>
          </a:prstGeom>
        </p:spPr>
      </p:pic>
      <p:pic>
        <p:nvPicPr>
          <p:cNvPr id="4" name="object 4"/>
          <p:cNvPicPr/>
          <p:nvPr/>
        </p:nvPicPr>
        <p:blipFill>
          <a:blip r:embed="rId3" cstate="print"/>
          <a:stretch>
            <a:fillRect/>
          </a:stretch>
        </p:blipFill>
        <p:spPr>
          <a:xfrm>
            <a:off x="5946787" y="1802614"/>
            <a:ext cx="5960129" cy="4934130"/>
          </a:xfrm>
          <a:prstGeom prst="rect">
            <a:avLst/>
          </a:prstGeom>
        </p:spPr>
      </p:pic>
      <p:sp>
        <p:nvSpPr>
          <p:cNvPr id="5" name="object 5"/>
          <p:cNvSpPr txBox="1"/>
          <p:nvPr/>
        </p:nvSpPr>
        <p:spPr>
          <a:xfrm>
            <a:off x="547515" y="5467603"/>
            <a:ext cx="494855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Patient</a:t>
            </a:r>
            <a:r>
              <a:rPr sz="1800" b="1" spc="-45" dirty="0">
                <a:latin typeface="Calibri"/>
                <a:cs typeface="Calibri"/>
              </a:rPr>
              <a:t> </a:t>
            </a:r>
            <a:r>
              <a:rPr sz="1800" b="1" dirty="0">
                <a:latin typeface="Calibri"/>
                <a:cs typeface="Calibri"/>
              </a:rPr>
              <a:t>Entry</a:t>
            </a:r>
            <a:r>
              <a:rPr sz="1800" b="1" spc="-45" dirty="0">
                <a:latin typeface="Calibri"/>
                <a:cs typeface="Calibri"/>
              </a:rPr>
              <a:t> </a:t>
            </a:r>
            <a:r>
              <a:rPr sz="1800" b="1" dirty="0">
                <a:latin typeface="Calibri"/>
                <a:cs typeface="Calibri"/>
              </a:rPr>
              <a:t>Time-</a:t>
            </a:r>
            <a:r>
              <a:rPr sz="1800" b="1" spc="-45" dirty="0">
                <a:latin typeface="Calibri"/>
                <a:cs typeface="Calibri"/>
              </a:rPr>
              <a:t> </a:t>
            </a:r>
            <a:r>
              <a:rPr sz="1800" b="1" dirty="0">
                <a:latin typeface="Calibri"/>
                <a:cs typeface="Calibri"/>
              </a:rPr>
              <a:t>Phased</a:t>
            </a:r>
            <a:r>
              <a:rPr sz="1800" b="1" spc="-45" dirty="0">
                <a:latin typeface="Calibri"/>
                <a:cs typeface="Calibri"/>
              </a:rPr>
              <a:t> </a:t>
            </a:r>
            <a:r>
              <a:rPr sz="1800" b="1" dirty="0">
                <a:latin typeface="Calibri"/>
                <a:cs typeface="Calibri"/>
              </a:rPr>
              <a:t>Work</a:t>
            </a:r>
            <a:r>
              <a:rPr sz="1800" b="1" spc="-45" dirty="0">
                <a:latin typeface="Calibri"/>
                <a:cs typeface="Calibri"/>
              </a:rPr>
              <a:t> </a:t>
            </a:r>
            <a:r>
              <a:rPr sz="1800" b="1" spc="-10" dirty="0">
                <a:latin typeface="Calibri"/>
                <a:cs typeface="Calibri"/>
              </a:rPr>
              <a:t>Packages</a:t>
            </a:r>
            <a:r>
              <a:rPr sz="1800" b="1" spc="-45" dirty="0">
                <a:latin typeface="Calibri"/>
                <a:cs typeface="Calibri"/>
              </a:rPr>
              <a:t> </a:t>
            </a:r>
            <a:r>
              <a:rPr sz="1800" b="1" spc="-10" dirty="0">
                <a:latin typeface="Calibri"/>
                <a:cs typeface="Calibri"/>
              </a:rPr>
              <a:t>Assigned</a:t>
            </a:r>
            <a:endParaRPr sz="1800">
              <a:latin typeface="Calibri"/>
              <a:cs typeface="Calibri"/>
            </a:endParaRPr>
          </a:p>
        </p:txBody>
      </p:sp>
      <p:sp>
        <p:nvSpPr>
          <p:cNvPr id="6" name="object 6"/>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5" dirty="0"/>
              <a:t>Creating</a:t>
            </a:r>
            <a:r>
              <a:rPr spc="145" dirty="0"/>
              <a:t> </a:t>
            </a:r>
            <a:r>
              <a:rPr dirty="0"/>
              <a:t>a</a:t>
            </a:r>
            <a:r>
              <a:rPr spc="150" dirty="0"/>
              <a:t> </a:t>
            </a:r>
            <a:r>
              <a:rPr spc="120" dirty="0"/>
              <a:t>Time-</a:t>
            </a:r>
            <a:r>
              <a:rPr spc="110" dirty="0"/>
              <a:t>Phased</a:t>
            </a:r>
            <a:r>
              <a:rPr spc="145" dirty="0"/>
              <a:t> </a:t>
            </a:r>
            <a:r>
              <a:rPr spc="100" dirty="0"/>
              <a:t>Budget</a:t>
            </a:r>
            <a:r>
              <a:rPr spc="145" dirty="0"/>
              <a:t> </a:t>
            </a:r>
            <a:r>
              <a:rPr sz="1950" spc="-10" dirty="0"/>
              <a:t>(2/2)</a:t>
            </a:r>
            <a:endParaRPr sz="1950"/>
          </a:p>
        </p:txBody>
      </p:sp>
      <p:pic>
        <p:nvPicPr>
          <p:cNvPr id="7" name="Picture 6">
            <a:extLst>
              <a:ext uri="{FF2B5EF4-FFF2-40B4-BE49-F238E27FC236}">
                <a16:creationId xmlns:a16="http://schemas.microsoft.com/office/drawing/2014/main" id="{15E45AC7-EC7D-0F4E-DB8D-BAB5C8205B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5030" y="2746368"/>
            <a:ext cx="8333740" cy="922019"/>
          </a:xfrm>
          <a:prstGeom prst="rect">
            <a:avLst/>
          </a:prstGeom>
        </p:spPr>
        <p:txBody>
          <a:bodyPr vert="horz" wrap="square" lIns="0" tIns="16510" rIns="0" bIns="0" rtlCol="0">
            <a:spAutoFit/>
          </a:bodyPr>
          <a:lstStyle/>
          <a:p>
            <a:pPr marL="12700">
              <a:lnSpc>
                <a:spcPct val="100000"/>
              </a:lnSpc>
              <a:spcBef>
                <a:spcPts val="130"/>
              </a:spcBef>
            </a:pPr>
            <a:r>
              <a:rPr sz="5850" spc="140" dirty="0">
                <a:solidFill>
                  <a:srgbClr val="C00000"/>
                </a:solidFill>
              </a:rPr>
              <a:t>Reducing</a:t>
            </a:r>
            <a:r>
              <a:rPr sz="5850" spc="195" dirty="0">
                <a:solidFill>
                  <a:srgbClr val="C00000"/>
                </a:solidFill>
              </a:rPr>
              <a:t> </a:t>
            </a:r>
            <a:r>
              <a:rPr sz="5850" spc="120" dirty="0">
                <a:solidFill>
                  <a:srgbClr val="C00000"/>
                </a:solidFill>
              </a:rPr>
              <a:t>Project</a:t>
            </a:r>
            <a:r>
              <a:rPr sz="5850" spc="180" dirty="0">
                <a:solidFill>
                  <a:srgbClr val="C00000"/>
                </a:solidFill>
              </a:rPr>
              <a:t> </a:t>
            </a:r>
            <a:r>
              <a:rPr sz="5850" spc="120" dirty="0">
                <a:solidFill>
                  <a:srgbClr val="C00000"/>
                </a:solidFill>
              </a:rPr>
              <a:t>Duration</a:t>
            </a:r>
            <a:endParaRPr sz="58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7327" y="1779523"/>
            <a:ext cx="10673715" cy="4185920"/>
          </a:xfrm>
          <a:prstGeom prst="rect">
            <a:avLst/>
          </a:prstGeom>
        </p:spPr>
        <p:txBody>
          <a:bodyPr vert="horz" wrap="square" lIns="0" tIns="55244" rIns="0" bIns="0" rtlCol="0">
            <a:spAutoFit/>
          </a:bodyPr>
          <a:lstStyle/>
          <a:p>
            <a:pPr marL="334645" marR="5080" indent="-321945" algn="just">
              <a:lnSpc>
                <a:spcPct val="88300"/>
              </a:lnSpc>
              <a:spcBef>
                <a:spcPts val="434"/>
              </a:spcBef>
              <a:buAutoNum type="arabicPeriod"/>
              <a:tabLst>
                <a:tab pos="336550" algn="l"/>
              </a:tabLst>
            </a:pPr>
            <a:r>
              <a:rPr sz="2400" dirty="0">
                <a:latin typeface="Calibri"/>
                <a:cs typeface="Calibri"/>
              </a:rPr>
              <a:t>Time</a:t>
            </a:r>
            <a:r>
              <a:rPr sz="2400" spc="315" dirty="0">
                <a:latin typeface="Calibri"/>
                <a:cs typeface="Calibri"/>
              </a:rPr>
              <a:t> </a:t>
            </a:r>
            <a:r>
              <a:rPr sz="2400" dirty="0">
                <a:latin typeface="Calibri"/>
                <a:cs typeface="Calibri"/>
              </a:rPr>
              <a:t>to</a:t>
            </a:r>
            <a:r>
              <a:rPr sz="2400" spc="310" dirty="0">
                <a:latin typeface="Calibri"/>
                <a:cs typeface="Calibri"/>
              </a:rPr>
              <a:t> </a:t>
            </a:r>
            <a:r>
              <a:rPr sz="2400" dirty="0">
                <a:latin typeface="Calibri"/>
                <a:cs typeface="Calibri"/>
              </a:rPr>
              <a:t>market.</a:t>
            </a:r>
            <a:r>
              <a:rPr sz="2400" spc="305" dirty="0">
                <a:latin typeface="Calibri"/>
                <a:cs typeface="Calibri"/>
              </a:rPr>
              <a:t> </a:t>
            </a:r>
            <a:r>
              <a:rPr sz="2400" dirty="0">
                <a:latin typeface="Calibri"/>
                <a:cs typeface="Calibri"/>
              </a:rPr>
              <a:t>For</a:t>
            </a:r>
            <a:r>
              <a:rPr sz="2400" spc="310" dirty="0">
                <a:latin typeface="Calibri"/>
                <a:cs typeface="Calibri"/>
              </a:rPr>
              <a:t> </a:t>
            </a:r>
            <a:r>
              <a:rPr sz="2400" dirty="0">
                <a:latin typeface="Calibri"/>
                <a:cs typeface="Calibri"/>
              </a:rPr>
              <a:t>example,</a:t>
            </a:r>
            <a:r>
              <a:rPr sz="2400" spc="315" dirty="0">
                <a:latin typeface="Calibri"/>
                <a:cs typeface="Calibri"/>
              </a:rPr>
              <a:t> </a:t>
            </a:r>
            <a:r>
              <a:rPr sz="2400" dirty="0">
                <a:latin typeface="Calibri"/>
                <a:cs typeface="Calibri"/>
              </a:rPr>
              <a:t>a</a:t>
            </a:r>
            <a:r>
              <a:rPr sz="2400" spc="315" dirty="0">
                <a:latin typeface="Calibri"/>
                <a:cs typeface="Calibri"/>
              </a:rPr>
              <a:t> </a:t>
            </a:r>
            <a:r>
              <a:rPr sz="2400" dirty="0">
                <a:latin typeface="Calibri"/>
                <a:cs typeface="Calibri"/>
              </a:rPr>
              <a:t>rule</a:t>
            </a:r>
            <a:r>
              <a:rPr sz="2400" spc="320" dirty="0">
                <a:latin typeface="Calibri"/>
                <a:cs typeface="Calibri"/>
              </a:rPr>
              <a:t> </a:t>
            </a:r>
            <a:r>
              <a:rPr sz="2400" dirty="0">
                <a:latin typeface="Calibri"/>
                <a:cs typeface="Calibri"/>
              </a:rPr>
              <a:t>of</a:t>
            </a:r>
            <a:r>
              <a:rPr sz="2400" spc="315" dirty="0">
                <a:latin typeface="Calibri"/>
                <a:cs typeface="Calibri"/>
              </a:rPr>
              <a:t> </a:t>
            </a:r>
            <a:r>
              <a:rPr sz="2400" dirty="0">
                <a:latin typeface="Calibri"/>
                <a:cs typeface="Calibri"/>
              </a:rPr>
              <a:t>thumb</a:t>
            </a:r>
            <a:r>
              <a:rPr sz="2400" spc="310" dirty="0">
                <a:latin typeface="Calibri"/>
                <a:cs typeface="Calibri"/>
              </a:rPr>
              <a:t> </a:t>
            </a:r>
            <a:r>
              <a:rPr sz="2400" dirty="0">
                <a:latin typeface="Calibri"/>
                <a:cs typeface="Calibri"/>
              </a:rPr>
              <a:t>for</a:t>
            </a:r>
            <a:r>
              <a:rPr sz="2400" spc="310" dirty="0">
                <a:latin typeface="Calibri"/>
                <a:cs typeface="Calibri"/>
              </a:rPr>
              <a:t> </a:t>
            </a:r>
            <a:r>
              <a:rPr sz="2400" dirty="0">
                <a:latin typeface="Calibri"/>
                <a:cs typeface="Calibri"/>
              </a:rPr>
              <a:t>moderate</a:t>
            </a:r>
            <a:r>
              <a:rPr sz="2400" spc="315" dirty="0">
                <a:latin typeface="Calibri"/>
                <a:cs typeface="Calibri"/>
              </a:rPr>
              <a:t> </a:t>
            </a:r>
            <a:r>
              <a:rPr sz="2400" dirty="0">
                <a:latin typeface="Calibri"/>
                <a:cs typeface="Calibri"/>
              </a:rPr>
              <a:t>to</a:t>
            </a:r>
            <a:r>
              <a:rPr sz="2400" spc="315" dirty="0">
                <a:latin typeface="Calibri"/>
                <a:cs typeface="Calibri"/>
              </a:rPr>
              <a:t> </a:t>
            </a:r>
            <a:r>
              <a:rPr sz="2400" dirty="0">
                <a:latin typeface="Calibri"/>
                <a:cs typeface="Calibri"/>
              </a:rPr>
              <a:t>high</a:t>
            </a:r>
            <a:r>
              <a:rPr sz="2400" spc="310" dirty="0">
                <a:latin typeface="Calibri"/>
                <a:cs typeface="Calibri"/>
              </a:rPr>
              <a:t> </a:t>
            </a:r>
            <a:r>
              <a:rPr sz="2400" spc="-10" dirty="0">
                <a:latin typeface="Calibri"/>
                <a:cs typeface="Calibri"/>
              </a:rPr>
              <a:t>technology 	</a:t>
            </a:r>
            <a:r>
              <a:rPr sz="2400" dirty="0">
                <a:latin typeface="Calibri"/>
                <a:cs typeface="Calibri"/>
              </a:rPr>
              <a:t>firms</a:t>
            </a:r>
            <a:r>
              <a:rPr sz="2400" spc="5" dirty="0">
                <a:latin typeface="Calibri"/>
                <a:cs typeface="Calibri"/>
              </a:rPr>
              <a:t> </a:t>
            </a:r>
            <a:r>
              <a:rPr sz="2400" dirty="0">
                <a:latin typeface="Calibri"/>
                <a:cs typeface="Calibri"/>
              </a:rPr>
              <a:t>is</a:t>
            </a:r>
            <a:r>
              <a:rPr sz="2400" spc="5" dirty="0">
                <a:latin typeface="Calibri"/>
                <a:cs typeface="Calibri"/>
              </a:rPr>
              <a:t> </a:t>
            </a:r>
            <a:r>
              <a:rPr sz="2400" dirty="0">
                <a:latin typeface="Calibri"/>
                <a:cs typeface="Calibri"/>
              </a:rPr>
              <a:t>that</a:t>
            </a:r>
            <a:r>
              <a:rPr sz="2400" spc="5" dirty="0">
                <a:latin typeface="Calibri"/>
                <a:cs typeface="Calibri"/>
              </a:rPr>
              <a:t> </a:t>
            </a:r>
            <a:r>
              <a:rPr sz="2400" dirty="0">
                <a:latin typeface="Calibri"/>
                <a:cs typeface="Calibri"/>
              </a:rPr>
              <a:t>a</a:t>
            </a:r>
            <a:r>
              <a:rPr sz="2400" spc="10" dirty="0">
                <a:latin typeface="Calibri"/>
                <a:cs typeface="Calibri"/>
              </a:rPr>
              <a:t> </a:t>
            </a:r>
            <a:r>
              <a:rPr sz="2400" dirty="0">
                <a:latin typeface="Calibri"/>
                <a:cs typeface="Calibri"/>
              </a:rPr>
              <a:t>6</a:t>
            </a:r>
            <a:r>
              <a:rPr sz="2400" spc="5" dirty="0">
                <a:latin typeface="Calibri"/>
                <a:cs typeface="Calibri"/>
              </a:rPr>
              <a:t> </a:t>
            </a:r>
            <a:r>
              <a:rPr sz="2400" dirty="0">
                <a:latin typeface="Calibri"/>
                <a:cs typeface="Calibri"/>
              </a:rPr>
              <a:t>months</a:t>
            </a:r>
            <a:r>
              <a:rPr sz="2400" spc="10" dirty="0">
                <a:latin typeface="Calibri"/>
                <a:cs typeface="Calibri"/>
              </a:rPr>
              <a:t> </a:t>
            </a:r>
            <a:r>
              <a:rPr sz="2400" dirty="0">
                <a:latin typeface="Calibri"/>
                <a:cs typeface="Calibri"/>
              </a:rPr>
              <a:t>delay</a:t>
            </a:r>
            <a:r>
              <a:rPr sz="2400" spc="10" dirty="0">
                <a:latin typeface="Calibri"/>
                <a:cs typeface="Calibri"/>
              </a:rPr>
              <a:t> </a:t>
            </a:r>
            <a:r>
              <a:rPr sz="2400" dirty="0">
                <a:latin typeface="Calibri"/>
                <a:cs typeface="Calibri"/>
              </a:rPr>
              <a:t>in</a:t>
            </a:r>
            <a:r>
              <a:rPr sz="2400" spc="5" dirty="0">
                <a:latin typeface="Calibri"/>
                <a:cs typeface="Calibri"/>
              </a:rPr>
              <a:t> </a:t>
            </a:r>
            <a:r>
              <a:rPr sz="2400" dirty="0">
                <a:latin typeface="Calibri"/>
                <a:cs typeface="Calibri"/>
              </a:rPr>
              <a:t>bringing</a:t>
            </a:r>
            <a:r>
              <a:rPr sz="2400" spc="10" dirty="0">
                <a:latin typeface="Calibri"/>
                <a:cs typeface="Calibri"/>
              </a:rPr>
              <a:t> </a:t>
            </a:r>
            <a:r>
              <a:rPr sz="2400" dirty="0">
                <a:latin typeface="Calibri"/>
                <a:cs typeface="Calibri"/>
              </a:rPr>
              <a:t>a</a:t>
            </a:r>
            <a:r>
              <a:rPr sz="2400" spc="10" dirty="0">
                <a:latin typeface="Calibri"/>
                <a:cs typeface="Calibri"/>
              </a:rPr>
              <a:t> </a:t>
            </a:r>
            <a:r>
              <a:rPr sz="2400" dirty="0">
                <a:latin typeface="Calibri"/>
                <a:cs typeface="Calibri"/>
              </a:rPr>
              <a:t>product to</a:t>
            </a:r>
            <a:r>
              <a:rPr sz="2400" spc="10" dirty="0">
                <a:latin typeface="Calibri"/>
                <a:cs typeface="Calibri"/>
              </a:rPr>
              <a:t> </a:t>
            </a:r>
            <a:r>
              <a:rPr sz="2400" dirty="0">
                <a:latin typeface="Calibri"/>
                <a:cs typeface="Calibri"/>
              </a:rPr>
              <a:t>market</a:t>
            </a:r>
            <a:r>
              <a:rPr sz="2400" spc="5" dirty="0">
                <a:latin typeface="Calibri"/>
                <a:cs typeface="Calibri"/>
              </a:rPr>
              <a:t> </a:t>
            </a:r>
            <a:r>
              <a:rPr sz="2400" dirty="0">
                <a:latin typeface="Calibri"/>
                <a:cs typeface="Calibri"/>
              </a:rPr>
              <a:t>can</a:t>
            </a:r>
            <a:r>
              <a:rPr sz="2400" spc="10" dirty="0">
                <a:latin typeface="Calibri"/>
                <a:cs typeface="Calibri"/>
              </a:rPr>
              <a:t> </a:t>
            </a:r>
            <a:r>
              <a:rPr sz="2400" dirty="0">
                <a:latin typeface="Calibri"/>
                <a:cs typeface="Calibri"/>
              </a:rPr>
              <a:t>result in</a:t>
            </a:r>
            <a:r>
              <a:rPr sz="2400" spc="10" dirty="0">
                <a:latin typeface="Calibri"/>
                <a:cs typeface="Calibri"/>
              </a:rPr>
              <a:t> </a:t>
            </a:r>
            <a:r>
              <a:rPr sz="2400" dirty="0">
                <a:latin typeface="Calibri"/>
                <a:cs typeface="Calibri"/>
              </a:rPr>
              <a:t>a</a:t>
            </a:r>
            <a:r>
              <a:rPr sz="2400" spc="10" dirty="0">
                <a:latin typeface="Calibri"/>
                <a:cs typeface="Calibri"/>
              </a:rPr>
              <a:t> </a:t>
            </a:r>
            <a:r>
              <a:rPr sz="2400" dirty="0">
                <a:latin typeface="Calibri"/>
                <a:cs typeface="Calibri"/>
              </a:rPr>
              <a:t>loss</a:t>
            </a:r>
            <a:r>
              <a:rPr sz="2400" spc="10" dirty="0">
                <a:latin typeface="Calibri"/>
                <a:cs typeface="Calibri"/>
              </a:rPr>
              <a:t> </a:t>
            </a:r>
            <a:r>
              <a:rPr sz="2400" spc="-25" dirty="0">
                <a:latin typeface="Calibri"/>
                <a:cs typeface="Calibri"/>
              </a:rPr>
              <a:t>of 	</a:t>
            </a:r>
            <a:r>
              <a:rPr sz="2400" dirty="0">
                <a:latin typeface="Calibri"/>
                <a:cs typeface="Calibri"/>
              </a:rPr>
              <a:t>market</a:t>
            </a:r>
            <a:r>
              <a:rPr sz="2400" spc="-65" dirty="0">
                <a:latin typeface="Calibri"/>
                <a:cs typeface="Calibri"/>
              </a:rPr>
              <a:t> </a:t>
            </a:r>
            <a:r>
              <a:rPr sz="2400" dirty="0">
                <a:latin typeface="Calibri"/>
                <a:cs typeface="Calibri"/>
              </a:rPr>
              <a:t>share</a:t>
            </a:r>
            <a:r>
              <a:rPr sz="2400" spc="-50" dirty="0">
                <a:latin typeface="Calibri"/>
                <a:cs typeface="Calibri"/>
              </a:rPr>
              <a:t> </a:t>
            </a:r>
            <a:r>
              <a:rPr sz="2400" dirty="0">
                <a:latin typeface="Calibri"/>
                <a:cs typeface="Calibri"/>
              </a:rPr>
              <a:t>of</a:t>
            </a:r>
            <a:r>
              <a:rPr sz="2400" spc="-55" dirty="0">
                <a:latin typeface="Calibri"/>
                <a:cs typeface="Calibri"/>
              </a:rPr>
              <a:t> </a:t>
            </a:r>
            <a:r>
              <a:rPr sz="2400" dirty="0">
                <a:latin typeface="Calibri"/>
                <a:cs typeface="Calibri"/>
              </a:rPr>
              <a:t>about</a:t>
            </a:r>
            <a:r>
              <a:rPr sz="2400" spc="-65" dirty="0">
                <a:latin typeface="Calibri"/>
                <a:cs typeface="Calibri"/>
              </a:rPr>
              <a:t> </a:t>
            </a:r>
            <a:r>
              <a:rPr sz="2400" dirty="0">
                <a:latin typeface="Calibri"/>
                <a:cs typeface="Calibri"/>
              </a:rPr>
              <a:t>35%</a:t>
            </a:r>
            <a:r>
              <a:rPr sz="2400" spc="-60" dirty="0">
                <a:latin typeface="Calibri"/>
                <a:cs typeface="Calibri"/>
              </a:rPr>
              <a:t> </a:t>
            </a:r>
            <a:r>
              <a:rPr sz="2400" dirty="0">
                <a:latin typeface="Calibri"/>
                <a:cs typeface="Calibri"/>
              </a:rPr>
              <a:t>(smartphone</a:t>
            </a:r>
            <a:r>
              <a:rPr sz="2400" spc="-50" dirty="0">
                <a:latin typeface="Calibri"/>
                <a:cs typeface="Calibri"/>
              </a:rPr>
              <a:t> </a:t>
            </a:r>
            <a:r>
              <a:rPr sz="2400" dirty="0">
                <a:latin typeface="Calibri"/>
                <a:cs typeface="Calibri"/>
              </a:rPr>
              <a:t>business</a:t>
            </a:r>
            <a:r>
              <a:rPr sz="2400" spc="-65" dirty="0">
                <a:latin typeface="Calibri"/>
                <a:cs typeface="Calibri"/>
              </a:rPr>
              <a:t> </a:t>
            </a:r>
            <a:r>
              <a:rPr sz="2400" dirty="0">
                <a:latin typeface="Calibri"/>
                <a:cs typeface="Calibri"/>
              </a:rPr>
              <a:t>is</a:t>
            </a:r>
            <a:r>
              <a:rPr sz="2400" spc="-65"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good</a:t>
            </a:r>
            <a:r>
              <a:rPr sz="2400" spc="-55" dirty="0">
                <a:latin typeface="Calibri"/>
                <a:cs typeface="Calibri"/>
              </a:rPr>
              <a:t> </a:t>
            </a:r>
            <a:r>
              <a:rPr sz="2400" spc="-10" dirty="0">
                <a:latin typeface="Calibri"/>
                <a:cs typeface="Calibri"/>
              </a:rPr>
              <a:t>example).</a:t>
            </a:r>
            <a:endParaRPr sz="2400" dirty="0">
              <a:latin typeface="Calibri"/>
              <a:cs typeface="Calibri"/>
            </a:endParaRPr>
          </a:p>
          <a:p>
            <a:pPr marL="334645" indent="-321945" algn="just">
              <a:lnSpc>
                <a:spcPct val="100000"/>
              </a:lnSpc>
              <a:spcBef>
                <a:spcPts val="720"/>
              </a:spcBef>
              <a:buAutoNum type="arabicPeriod"/>
              <a:tabLst>
                <a:tab pos="334645" algn="l"/>
              </a:tabLst>
            </a:pPr>
            <a:r>
              <a:rPr sz="2400" spc="-10" dirty="0">
                <a:latin typeface="Calibri"/>
                <a:cs typeface="Calibri"/>
              </a:rPr>
              <a:t>Adaptability</a:t>
            </a:r>
            <a:r>
              <a:rPr sz="2400" spc="-65" dirty="0">
                <a:latin typeface="Calibri"/>
                <a:cs typeface="Calibri"/>
              </a:rPr>
              <a:t> </a:t>
            </a:r>
            <a:r>
              <a:rPr sz="2400" dirty="0">
                <a:latin typeface="Calibri"/>
                <a:cs typeface="Calibri"/>
              </a:rPr>
              <a:t>to</a:t>
            </a:r>
            <a:r>
              <a:rPr sz="2400" spc="-65" dirty="0">
                <a:latin typeface="Calibri"/>
                <a:cs typeface="Calibri"/>
              </a:rPr>
              <a:t> </a:t>
            </a:r>
            <a:r>
              <a:rPr sz="2400" dirty="0">
                <a:latin typeface="Calibri"/>
                <a:cs typeface="Calibri"/>
              </a:rPr>
              <a:t>global</a:t>
            </a:r>
            <a:r>
              <a:rPr sz="2400" spc="-60" dirty="0">
                <a:latin typeface="Calibri"/>
                <a:cs typeface="Calibri"/>
              </a:rPr>
              <a:t> </a:t>
            </a:r>
            <a:r>
              <a:rPr sz="2400" dirty="0">
                <a:latin typeface="Calibri"/>
                <a:cs typeface="Calibri"/>
              </a:rPr>
              <a:t>recession</a:t>
            </a:r>
            <a:r>
              <a:rPr sz="2400" spc="-60" dirty="0">
                <a:latin typeface="Calibri"/>
                <a:cs typeface="Calibri"/>
              </a:rPr>
              <a:t> </a:t>
            </a:r>
            <a:r>
              <a:rPr sz="2400" dirty="0">
                <a:latin typeface="Calibri"/>
                <a:cs typeface="Calibri"/>
              </a:rPr>
              <a:t>and</a:t>
            </a:r>
            <a:r>
              <a:rPr sz="2400" spc="-60" dirty="0">
                <a:latin typeface="Calibri"/>
                <a:cs typeface="Calibri"/>
              </a:rPr>
              <a:t> </a:t>
            </a:r>
            <a:r>
              <a:rPr sz="2400" dirty="0">
                <a:latin typeface="Calibri"/>
                <a:cs typeface="Calibri"/>
              </a:rPr>
              <a:t>energy</a:t>
            </a:r>
            <a:r>
              <a:rPr sz="2400" spc="-60" dirty="0">
                <a:latin typeface="Calibri"/>
                <a:cs typeface="Calibri"/>
              </a:rPr>
              <a:t> </a:t>
            </a:r>
            <a:r>
              <a:rPr sz="2400" spc="-10" dirty="0">
                <a:latin typeface="Calibri"/>
                <a:cs typeface="Calibri"/>
              </a:rPr>
              <a:t>crises.</a:t>
            </a:r>
            <a:endParaRPr sz="2400" dirty="0">
              <a:latin typeface="Calibri"/>
              <a:cs typeface="Calibri"/>
            </a:endParaRPr>
          </a:p>
          <a:p>
            <a:pPr marL="336550" marR="5080" indent="-323850" algn="just">
              <a:lnSpc>
                <a:spcPct val="90200"/>
              </a:lnSpc>
              <a:spcBef>
                <a:spcPts val="1005"/>
              </a:spcBef>
              <a:buAutoNum type="arabicPeriod"/>
              <a:tabLst>
                <a:tab pos="336550" algn="l"/>
                <a:tab pos="402590" algn="l"/>
              </a:tabLst>
            </a:pPr>
            <a:r>
              <a:rPr sz="2400" dirty="0">
                <a:latin typeface="Calibri"/>
                <a:cs typeface="Calibri"/>
              </a:rPr>
              <a:t>	Unforeseen</a:t>
            </a:r>
            <a:r>
              <a:rPr sz="2400" spc="280" dirty="0">
                <a:latin typeface="Calibri"/>
                <a:cs typeface="Calibri"/>
              </a:rPr>
              <a:t> </a:t>
            </a:r>
            <a:r>
              <a:rPr sz="2400" dirty="0">
                <a:latin typeface="Calibri"/>
                <a:cs typeface="Calibri"/>
              </a:rPr>
              <a:t>delays.</a:t>
            </a:r>
            <a:r>
              <a:rPr sz="2400" spc="275" dirty="0">
                <a:latin typeface="Calibri"/>
                <a:cs typeface="Calibri"/>
              </a:rPr>
              <a:t> </a:t>
            </a:r>
            <a:r>
              <a:rPr sz="2400" dirty="0">
                <a:latin typeface="Calibri"/>
                <a:cs typeface="Calibri"/>
              </a:rPr>
              <a:t>For</a:t>
            </a:r>
            <a:r>
              <a:rPr sz="2400" spc="285" dirty="0">
                <a:latin typeface="Calibri"/>
                <a:cs typeface="Calibri"/>
              </a:rPr>
              <a:t> </a:t>
            </a:r>
            <a:r>
              <a:rPr sz="2400" dirty="0">
                <a:latin typeface="Calibri"/>
                <a:cs typeface="Calibri"/>
              </a:rPr>
              <a:t>example,</a:t>
            </a:r>
            <a:r>
              <a:rPr sz="2400" spc="290" dirty="0">
                <a:latin typeface="Calibri"/>
                <a:cs typeface="Calibri"/>
              </a:rPr>
              <a:t> </a:t>
            </a:r>
            <a:r>
              <a:rPr sz="2400" dirty="0">
                <a:latin typeface="Calibri"/>
                <a:cs typeface="Calibri"/>
              </a:rPr>
              <a:t>design</a:t>
            </a:r>
            <a:r>
              <a:rPr sz="2400" spc="275" dirty="0">
                <a:latin typeface="Calibri"/>
                <a:cs typeface="Calibri"/>
              </a:rPr>
              <a:t> </a:t>
            </a:r>
            <a:r>
              <a:rPr sz="2400" dirty="0">
                <a:latin typeface="Calibri"/>
                <a:cs typeface="Calibri"/>
              </a:rPr>
              <a:t>flaws</a:t>
            </a:r>
            <a:r>
              <a:rPr sz="2400" spc="285" dirty="0">
                <a:latin typeface="Calibri"/>
                <a:cs typeface="Calibri"/>
              </a:rPr>
              <a:t> </a:t>
            </a:r>
            <a:r>
              <a:rPr sz="2400" dirty="0">
                <a:latin typeface="Calibri"/>
                <a:cs typeface="Calibri"/>
              </a:rPr>
              <a:t>and</a:t>
            </a:r>
            <a:r>
              <a:rPr sz="2400" spc="285" dirty="0">
                <a:latin typeface="Calibri"/>
                <a:cs typeface="Calibri"/>
              </a:rPr>
              <a:t> </a:t>
            </a:r>
            <a:r>
              <a:rPr sz="2400" dirty="0">
                <a:latin typeface="Calibri"/>
                <a:cs typeface="Calibri"/>
              </a:rPr>
              <a:t>equipment</a:t>
            </a:r>
            <a:r>
              <a:rPr sz="2400" spc="285" dirty="0">
                <a:latin typeface="Calibri"/>
                <a:cs typeface="Calibri"/>
              </a:rPr>
              <a:t> </a:t>
            </a:r>
            <a:r>
              <a:rPr sz="2400" dirty="0">
                <a:latin typeface="Calibri"/>
                <a:cs typeface="Calibri"/>
              </a:rPr>
              <a:t>breakdown</a:t>
            </a:r>
            <a:r>
              <a:rPr sz="2400" spc="280" dirty="0">
                <a:latin typeface="Calibri"/>
                <a:cs typeface="Calibri"/>
              </a:rPr>
              <a:t> </a:t>
            </a:r>
            <a:r>
              <a:rPr sz="2400" spc="-10" dirty="0">
                <a:latin typeface="Calibri"/>
                <a:cs typeface="Calibri"/>
              </a:rPr>
              <a:t>cause </a:t>
            </a:r>
            <a:r>
              <a:rPr sz="2400" dirty="0">
                <a:latin typeface="Calibri"/>
                <a:cs typeface="Calibri"/>
              </a:rPr>
              <a:t>substantial</a:t>
            </a:r>
            <a:r>
              <a:rPr sz="2400" spc="345" dirty="0">
                <a:latin typeface="Calibri"/>
                <a:cs typeface="Calibri"/>
              </a:rPr>
              <a:t> </a:t>
            </a:r>
            <a:r>
              <a:rPr sz="2400" dirty="0">
                <a:latin typeface="Calibri"/>
                <a:cs typeface="Calibri"/>
              </a:rPr>
              <a:t>delays</a:t>
            </a:r>
            <a:r>
              <a:rPr sz="2400" spc="345" dirty="0">
                <a:latin typeface="Calibri"/>
                <a:cs typeface="Calibri"/>
              </a:rPr>
              <a:t> </a:t>
            </a:r>
            <a:r>
              <a:rPr sz="2400" dirty="0">
                <a:latin typeface="Calibri"/>
                <a:cs typeface="Calibri"/>
              </a:rPr>
              <a:t>during</a:t>
            </a:r>
            <a:r>
              <a:rPr sz="2400" spc="345" dirty="0">
                <a:latin typeface="Calibri"/>
                <a:cs typeface="Calibri"/>
              </a:rPr>
              <a:t> </a:t>
            </a:r>
            <a:r>
              <a:rPr sz="2400" dirty="0">
                <a:latin typeface="Calibri"/>
                <a:cs typeface="Calibri"/>
              </a:rPr>
              <a:t>the</a:t>
            </a:r>
            <a:r>
              <a:rPr sz="2400" spc="355" dirty="0">
                <a:latin typeface="Calibri"/>
                <a:cs typeface="Calibri"/>
              </a:rPr>
              <a:t> </a:t>
            </a:r>
            <a:r>
              <a:rPr sz="2400" dirty="0">
                <a:latin typeface="Calibri"/>
                <a:cs typeface="Calibri"/>
              </a:rPr>
              <a:t>project.</a:t>
            </a:r>
            <a:r>
              <a:rPr sz="2400" spc="350" dirty="0">
                <a:latin typeface="Calibri"/>
                <a:cs typeface="Calibri"/>
              </a:rPr>
              <a:t> </a:t>
            </a:r>
            <a:r>
              <a:rPr sz="2400" dirty="0">
                <a:latin typeface="Calibri"/>
                <a:cs typeface="Calibri"/>
              </a:rPr>
              <a:t>Getting</a:t>
            </a:r>
            <a:r>
              <a:rPr sz="2400" spc="345" dirty="0">
                <a:latin typeface="Calibri"/>
                <a:cs typeface="Calibri"/>
              </a:rPr>
              <a:t> </a:t>
            </a:r>
            <a:r>
              <a:rPr sz="2400" dirty="0">
                <a:latin typeface="Calibri"/>
                <a:cs typeface="Calibri"/>
              </a:rPr>
              <a:t>back</a:t>
            </a:r>
            <a:r>
              <a:rPr sz="2400" spc="345" dirty="0">
                <a:latin typeface="Calibri"/>
                <a:cs typeface="Calibri"/>
              </a:rPr>
              <a:t> </a:t>
            </a:r>
            <a:r>
              <a:rPr sz="2400" dirty="0">
                <a:latin typeface="Calibri"/>
                <a:cs typeface="Calibri"/>
              </a:rPr>
              <a:t>on</a:t>
            </a:r>
            <a:r>
              <a:rPr sz="2400" spc="355" dirty="0">
                <a:latin typeface="Calibri"/>
                <a:cs typeface="Calibri"/>
              </a:rPr>
              <a:t> </a:t>
            </a:r>
            <a:r>
              <a:rPr sz="2400" dirty="0">
                <a:latin typeface="Calibri"/>
                <a:cs typeface="Calibri"/>
              </a:rPr>
              <a:t>schedule</a:t>
            </a:r>
            <a:r>
              <a:rPr sz="2400" spc="360" dirty="0">
                <a:latin typeface="Calibri"/>
                <a:cs typeface="Calibri"/>
              </a:rPr>
              <a:t> </a:t>
            </a:r>
            <a:r>
              <a:rPr sz="2400" dirty="0">
                <a:latin typeface="Calibri"/>
                <a:cs typeface="Calibri"/>
              </a:rPr>
              <a:t>usually</a:t>
            </a:r>
            <a:r>
              <a:rPr sz="2400" spc="350" dirty="0">
                <a:latin typeface="Calibri"/>
                <a:cs typeface="Calibri"/>
              </a:rPr>
              <a:t> </a:t>
            </a:r>
            <a:r>
              <a:rPr sz="2400" spc="-10" dirty="0">
                <a:latin typeface="Calibri"/>
                <a:cs typeface="Calibri"/>
              </a:rPr>
              <a:t>requires </a:t>
            </a:r>
            <a:r>
              <a:rPr sz="2400" dirty="0">
                <a:latin typeface="Calibri"/>
                <a:cs typeface="Calibri"/>
              </a:rPr>
              <a:t>compressing</a:t>
            </a:r>
            <a:r>
              <a:rPr sz="2400" spc="235" dirty="0">
                <a:latin typeface="Calibri"/>
                <a:cs typeface="Calibri"/>
              </a:rPr>
              <a:t> </a:t>
            </a:r>
            <a:r>
              <a:rPr sz="2400" dirty="0">
                <a:latin typeface="Calibri"/>
                <a:cs typeface="Calibri"/>
              </a:rPr>
              <a:t>the</a:t>
            </a:r>
            <a:r>
              <a:rPr sz="2400" spc="245" dirty="0">
                <a:latin typeface="Calibri"/>
                <a:cs typeface="Calibri"/>
              </a:rPr>
              <a:t> </a:t>
            </a:r>
            <a:r>
              <a:rPr sz="2400" dirty="0">
                <a:latin typeface="Calibri"/>
                <a:cs typeface="Calibri"/>
              </a:rPr>
              <a:t>time</a:t>
            </a:r>
            <a:r>
              <a:rPr sz="2400" spc="250" dirty="0">
                <a:latin typeface="Calibri"/>
                <a:cs typeface="Calibri"/>
              </a:rPr>
              <a:t> </a:t>
            </a:r>
            <a:r>
              <a:rPr sz="2400" dirty="0">
                <a:latin typeface="Calibri"/>
                <a:cs typeface="Calibri"/>
              </a:rPr>
              <a:t>on</a:t>
            </a:r>
            <a:r>
              <a:rPr sz="2400" spc="245" dirty="0">
                <a:latin typeface="Calibri"/>
                <a:cs typeface="Calibri"/>
              </a:rPr>
              <a:t> </a:t>
            </a:r>
            <a:r>
              <a:rPr sz="2400" dirty="0">
                <a:latin typeface="Calibri"/>
                <a:cs typeface="Calibri"/>
              </a:rPr>
              <a:t>some</a:t>
            </a:r>
            <a:r>
              <a:rPr sz="2400" spc="254" dirty="0">
                <a:latin typeface="Calibri"/>
                <a:cs typeface="Calibri"/>
              </a:rPr>
              <a:t> </a:t>
            </a:r>
            <a:r>
              <a:rPr sz="2400" dirty="0">
                <a:latin typeface="Calibri"/>
                <a:cs typeface="Calibri"/>
              </a:rPr>
              <a:t>of</a:t>
            </a:r>
            <a:r>
              <a:rPr sz="2400" spc="245" dirty="0">
                <a:latin typeface="Calibri"/>
                <a:cs typeface="Calibri"/>
              </a:rPr>
              <a:t> </a:t>
            </a:r>
            <a:r>
              <a:rPr sz="2400" dirty="0">
                <a:latin typeface="Calibri"/>
                <a:cs typeface="Calibri"/>
              </a:rPr>
              <a:t>the</a:t>
            </a:r>
            <a:r>
              <a:rPr sz="2400" spc="245" dirty="0">
                <a:latin typeface="Calibri"/>
                <a:cs typeface="Calibri"/>
              </a:rPr>
              <a:t> </a:t>
            </a:r>
            <a:r>
              <a:rPr sz="2400" dirty="0">
                <a:latin typeface="Calibri"/>
                <a:cs typeface="Calibri"/>
              </a:rPr>
              <a:t>remaining</a:t>
            </a:r>
            <a:r>
              <a:rPr sz="2400" spc="245" dirty="0">
                <a:latin typeface="Calibri"/>
                <a:cs typeface="Calibri"/>
              </a:rPr>
              <a:t> </a:t>
            </a:r>
            <a:r>
              <a:rPr sz="2400" dirty="0">
                <a:latin typeface="Calibri"/>
                <a:cs typeface="Calibri"/>
              </a:rPr>
              <a:t>critical</a:t>
            </a:r>
            <a:r>
              <a:rPr sz="2400" spc="240" dirty="0">
                <a:latin typeface="Calibri"/>
                <a:cs typeface="Calibri"/>
              </a:rPr>
              <a:t> </a:t>
            </a:r>
            <a:r>
              <a:rPr sz="2400" dirty="0">
                <a:latin typeface="Calibri"/>
                <a:cs typeface="Calibri"/>
              </a:rPr>
              <a:t>activities.</a:t>
            </a:r>
            <a:r>
              <a:rPr sz="2400" spc="240" dirty="0">
                <a:latin typeface="Calibri"/>
                <a:cs typeface="Calibri"/>
              </a:rPr>
              <a:t> </a:t>
            </a:r>
            <a:r>
              <a:rPr sz="2400" dirty="0">
                <a:latin typeface="Calibri"/>
                <a:cs typeface="Calibri"/>
              </a:rPr>
              <a:t>The</a:t>
            </a:r>
            <a:r>
              <a:rPr sz="2400" spc="250" dirty="0">
                <a:latin typeface="Calibri"/>
                <a:cs typeface="Calibri"/>
              </a:rPr>
              <a:t> </a:t>
            </a:r>
            <a:r>
              <a:rPr sz="2400" spc="-10" dirty="0">
                <a:latin typeface="Calibri"/>
                <a:cs typeface="Calibri"/>
              </a:rPr>
              <a:t>additional </a:t>
            </a:r>
            <a:r>
              <a:rPr sz="2400" dirty="0">
                <a:latin typeface="Calibri"/>
                <a:cs typeface="Calibri"/>
              </a:rPr>
              <a:t>costs</a:t>
            </a:r>
            <a:r>
              <a:rPr sz="2400" spc="105" dirty="0">
                <a:latin typeface="Calibri"/>
                <a:cs typeface="Calibri"/>
              </a:rPr>
              <a:t> </a:t>
            </a:r>
            <a:r>
              <a:rPr sz="2400" dirty="0">
                <a:latin typeface="Calibri"/>
                <a:cs typeface="Calibri"/>
              </a:rPr>
              <a:t>of</a:t>
            </a:r>
            <a:r>
              <a:rPr sz="2400" spc="120" dirty="0">
                <a:latin typeface="Calibri"/>
                <a:cs typeface="Calibri"/>
              </a:rPr>
              <a:t> </a:t>
            </a:r>
            <a:r>
              <a:rPr sz="2400" dirty="0">
                <a:latin typeface="Calibri"/>
                <a:cs typeface="Calibri"/>
              </a:rPr>
              <a:t>getting</a:t>
            </a:r>
            <a:r>
              <a:rPr sz="2400" spc="100" dirty="0">
                <a:latin typeface="Calibri"/>
                <a:cs typeface="Calibri"/>
              </a:rPr>
              <a:t> </a:t>
            </a:r>
            <a:r>
              <a:rPr sz="2400" dirty="0">
                <a:latin typeface="Calibri"/>
                <a:cs typeface="Calibri"/>
              </a:rPr>
              <a:t>back</a:t>
            </a:r>
            <a:r>
              <a:rPr sz="2400" spc="110" dirty="0">
                <a:latin typeface="Calibri"/>
                <a:cs typeface="Calibri"/>
              </a:rPr>
              <a:t> </a:t>
            </a:r>
            <a:r>
              <a:rPr sz="2400" dirty="0">
                <a:latin typeface="Calibri"/>
                <a:cs typeface="Calibri"/>
              </a:rPr>
              <a:t>on</a:t>
            </a:r>
            <a:r>
              <a:rPr sz="2400" spc="114" dirty="0">
                <a:latin typeface="Calibri"/>
                <a:cs typeface="Calibri"/>
              </a:rPr>
              <a:t> </a:t>
            </a:r>
            <a:r>
              <a:rPr sz="2400" dirty="0">
                <a:latin typeface="Calibri"/>
                <a:cs typeface="Calibri"/>
              </a:rPr>
              <a:t>schedule</a:t>
            </a:r>
            <a:r>
              <a:rPr sz="2400" spc="120" dirty="0">
                <a:latin typeface="Calibri"/>
                <a:cs typeface="Calibri"/>
              </a:rPr>
              <a:t> </a:t>
            </a:r>
            <a:r>
              <a:rPr sz="2400" dirty="0">
                <a:latin typeface="Calibri"/>
                <a:cs typeface="Calibri"/>
              </a:rPr>
              <a:t>need</a:t>
            </a:r>
            <a:r>
              <a:rPr sz="2400" spc="114" dirty="0">
                <a:latin typeface="Calibri"/>
                <a:cs typeface="Calibri"/>
              </a:rPr>
              <a:t> </a:t>
            </a:r>
            <a:r>
              <a:rPr sz="2400" dirty="0">
                <a:latin typeface="Calibri"/>
                <a:cs typeface="Calibri"/>
              </a:rPr>
              <a:t>to</a:t>
            </a:r>
            <a:r>
              <a:rPr sz="2400" spc="105" dirty="0">
                <a:latin typeface="Calibri"/>
                <a:cs typeface="Calibri"/>
              </a:rPr>
              <a:t> </a:t>
            </a:r>
            <a:r>
              <a:rPr sz="2400" dirty="0">
                <a:latin typeface="Calibri"/>
                <a:cs typeface="Calibri"/>
              </a:rPr>
              <a:t>be</a:t>
            </a:r>
            <a:r>
              <a:rPr sz="2400" spc="114" dirty="0">
                <a:latin typeface="Calibri"/>
                <a:cs typeface="Calibri"/>
              </a:rPr>
              <a:t> </a:t>
            </a:r>
            <a:r>
              <a:rPr sz="2400" dirty="0">
                <a:latin typeface="Calibri"/>
                <a:cs typeface="Calibri"/>
              </a:rPr>
              <a:t>compared</a:t>
            </a:r>
            <a:r>
              <a:rPr sz="2400" spc="110" dirty="0">
                <a:latin typeface="Calibri"/>
                <a:cs typeface="Calibri"/>
              </a:rPr>
              <a:t> </a:t>
            </a:r>
            <a:r>
              <a:rPr sz="2400" dirty="0">
                <a:latin typeface="Calibri"/>
                <a:cs typeface="Calibri"/>
              </a:rPr>
              <a:t>with</a:t>
            </a:r>
            <a:r>
              <a:rPr sz="2400" spc="114" dirty="0">
                <a:latin typeface="Calibri"/>
                <a:cs typeface="Calibri"/>
              </a:rPr>
              <a:t> </a:t>
            </a:r>
            <a:r>
              <a:rPr sz="2400" dirty="0">
                <a:latin typeface="Calibri"/>
                <a:cs typeface="Calibri"/>
              </a:rPr>
              <a:t>the</a:t>
            </a:r>
            <a:r>
              <a:rPr sz="2400" spc="120" dirty="0">
                <a:latin typeface="Calibri"/>
                <a:cs typeface="Calibri"/>
              </a:rPr>
              <a:t> </a:t>
            </a:r>
            <a:r>
              <a:rPr sz="2400" dirty="0">
                <a:latin typeface="Calibri"/>
                <a:cs typeface="Calibri"/>
              </a:rPr>
              <a:t>consequences</a:t>
            </a:r>
            <a:r>
              <a:rPr sz="2400" spc="100" dirty="0">
                <a:latin typeface="Calibri"/>
                <a:cs typeface="Calibri"/>
              </a:rPr>
              <a:t> </a:t>
            </a:r>
            <a:r>
              <a:rPr sz="2400" spc="-25" dirty="0">
                <a:latin typeface="Calibri"/>
                <a:cs typeface="Calibri"/>
              </a:rPr>
              <a:t>of </a:t>
            </a:r>
            <a:r>
              <a:rPr sz="2400" dirty="0">
                <a:latin typeface="Calibri"/>
                <a:cs typeface="Calibri"/>
              </a:rPr>
              <a:t>being</a:t>
            </a:r>
            <a:r>
              <a:rPr sz="2400" spc="-55" dirty="0">
                <a:latin typeface="Calibri"/>
                <a:cs typeface="Calibri"/>
              </a:rPr>
              <a:t> </a:t>
            </a:r>
            <a:r>
              <a:rPr sz="2400" dirty="0">
                <a:latin typeface="Calibri"/>
                <a:cs typeface="Calibri"/>
              </a:rPr>
              <a:t>late.</a:t>
            </a:r>
            <a:r>
              <a:rPr sz="2400" spc="-50" dirty="0">
                <a:latin typeface="Calibri"/>
                <a:cs typeface="Calibri"/>
              </a:rPr>
              <a:t> </a:t>
            </a:r>
            <a:r>
              <a:rPr sz="2400" dirty="0">
                <a:latin typeface="Calibri"/>
                <a:cs typeface="Calibri"/>
              </a:rPr>
              <a:t>This</a:t>
            </a:r>
            <a:r>
              <a:rPr sz="2400" spc="-45" dirty="0">
                <a:latin typeface="Calibri"/>
                <a:cs typeface="Calibri"/>
              </a:rPr>
              <a:t> </a:t>
            </a:r>
            <a:r>
              <a:rPr sz="2400" dirty="0">
                <a:latin typeface="Calibri"/>
                <a:cs typeface="Calibri"/>
              </a:rPr>
              <a:t>is</a:t>
            </a:r>
            <a:r>
              <a:rPr sz="2400" spc="-45" dirty="0">
                <a:latin typeface="Calibri"/>
                <a:cs typeface="Calibri"/>
              </a:rPr>
              <a:t> </a:t>
            </a:r>
            <a:r>
              <a:rPr sz="2400" dirty="0">
                <a:latin typeface="Calibri"/>
                <a:cs typeface="Calibri"/>
              </a:rPr>
              <a:t>especially</a:t>
            </a:r>
            <a:r>
              <a:rPr sz="2400" spc="-40" dirty="0">
                <a:latin typeface="Calibri"/>
                <a:cs typeface="Calibri"/>
              </a:rPr>
              <a:t> </a:t>
            </a:r>
            <a:r>
              <a:rPr sz="2400" dirty="0">
                <a:latin typeface="Calibri"/>
                <a:cs typeface="Calibri"/>
              </a:rPr>
              <a:t>true</a:t>
            </a:r>
            <a:r>
              <a:rPr sz="2400" spc="-35" dirty="0">
                <a:latin typeface="Calibri"/>
                <a:cs typeface="Calibri"/>
              </a:rPr>
              <a:t> </a:t>
            </a:r>
            <a:r>
              <a:rPr sz="2400" dirty="0">
                <a:latin typeface="Calibri"/>
                <a:cs typeface="Calibri"/>
              </a:rPr>
              <a:t>when</a:t>
            </a:r>
            <a:r>
              <a:rPr sz="2400" spc="-40" dirty="0">
                <a:latin typeface="Calibri"/>
                <a:cs typeface="Calibri"/>
              </a:rPr>
              <a:t> </a:t>
            </a:r>
            <a:r>
              <a:rPr sz="2400" dirty="0">
                <a:latin typeface="Calibri"/>
                <a:cs typeface="Calibri"/>
              </a:rPr>
              <a:t>time</a:t>
            </a:r>
            <a:r>
              <a:rPr sz="2400" spc="-40" dirty="0">
                <a:latin typeface="Calibri"/>
                <a:cs typeface="Calibri"/>
              </a:rPr>
              <a:t> </a:t>
            </a:r>
            <a:r>
              <a:rPr sz="2400" dirty="0">
                <a:latin typeface="Calibri"/>
                <a:cs typeface="Calibri"/>
              </a:rPr>
              <a:t>is</a:t>
            </a:r>
            <a:r>
              <a:rPr sz="2400" spc="-45" dirty="0">
                <a:latin typeface="Calibri"/>
                <a:cs typeface="Calibri"/>
              </a:rPr>
              <a:t> </a:t>
            </a:r>
            <a:r>
              <a:rPr sz="2400" dirty="0">
                <a:latin typeface="Calibri"/>
                <a:cs typeface="Calibri"/>
              </a:rPr>
              <a:t>a</a:t>
            </a:r>
            <a:r>
              <a:rPr sz="2400" spc="-40" dirty="0">
                <a:latin typeface="Calibri"/>
                <a:cs typeface="Calibri"/>
              </a:rPr>
              <a:t> </a:t>
            </a:r>
            <a:r>
              <a:rPr sz="2400" dirty="0">
                <a:latin typeface="Calibri"/>
                <a:cs typeface="Calibri"/>
              </a:rPr>
              <a:t>top</a:t>
            </a:r>
            <a:r>
              <a:rPr sz="2400" spc="-40" dirty="0">
                <a:latin typeface="Calibri"/>
                <a:cs typeface="Calibri"/>
              </a:rPr>
              <a:t> </a:t>
            </a:r>
            <a:r>
              <a:rPr sz="2400" spc="-10" dirty="0">
                <a:latin typeface="Calibri"/>
                <a:cs typeface="Calibri"/>
              </a:rPr>
              <a:t>priority.</a:t>
            </a:r>
            <a:endParaRPr sz="2400" dirty="0">
              <a:latin typeface="Calibri"/>
              <a:cs typeface="Calibri"/>
            </a:endParaRPr>
          </a:p>
          <a:p>
            <a:pPr marL="402590" indent="-389890" algn="just">
              <a:lnSpc>
                <a:spcPct val="100000"/>
              </a:lnSpc>
              <a:spcBef>
                <a:spcPts val="720"/>
              </a:spcBef>
              <a:buAutoNum type="arabicPeriod"/>
              <a:tabLst>
                <a:tab pos="402590" algn="l"/>
              </a:tabLst>
            </a:pPr>
            <a:r>
              <a:rPr sz="2400" dirty="0">
                <a:latin typeface="Calibri"/>
                <a:cs typeface="Calibri"/>
              </a:rPr>
              <a:t>Imposed</a:t>
            </a:r>
            <a:r>
              <a:rPr sz="2400" spc="-55" dirty="0">
                <a:latin typeface="Calibri"/>
                <a:cs typeface="Calibri"/>
              </a:rPr>
              <a:t> </a:t>
            </a:r>
            <a:r>
              <a:rPr sz="2400" spc="-10" dirty="0">
                <a:latin typeface="Calibri"/>
                <a:cs typeface="Calibri"/>
              </a:rPr>
              <a:t>deadlines</a:t>
            </a:r>
            <a:endParaRPr sz="2400" dirty="0">
              <a:latin typeface="Calibri"/>
              <a:cs typeface="Calibri"/>
            </a:endParaRPr>
          </a:p>
          <a:p>
            <a:pPr marL="334645" indent="-321945" algn="just">
              <a:lnSpc>
                <a:spcPct val="100000"/>
              </a:lnSpc>
              <a:spcBef>
                <a:spcPts val="720"/>
              </a:spcBef>
              <a:buAutoNum type="arabicPeriod"/>
              <a:tabLst>
                <a:tab pos="334645" algn="l"/>
              </a:tabLst>
            </a:pPr>
            <a:r>
              <a:rPr sz="2400" dirty="0">
                <a:latin typeface="Calibri"/>
                <a:cs typeface="Calibri"/>
              </a:rPr>
              <a:t>Reassign</a:t>
            </a:r>
            <a:r>
              <a:rPr sz="2400" spc="-90" dirty="0">
                <a:latin typeface="Calibri"/>
                <a:cs typeface="Calibri"/>
              </a:rPr>
              <a:t> </a:t>
            </a:r>
            <a:r>
              <a:rPr sz="2400" dirty="0">
                <a:latin typeface="Calibri"/>
                <a:cs typeface="Calibri"/>
              </a:rPr>
              <a:t>key</a:t>
            </a:r>
            <a:r>
              <a:rPr sz="2400" spc="-85" dirty="0">
                <a:latin typeface="Calibri"/>
                <a:cs typeface="Calibri"/>
              </a:rPr>
              <a:t> </a:t>
            </a:r>
            <a:r>
              <a:rPr sz="2400" dirty="0">
                <a:latin typeface="Calibri"/>
                <a:cs typeface="Calibri"/>
              </a:rPr>
              <a:t>equipment</a:t>
            </a:r>
            <a:r>
              <a:rPr sz="2400" spc="-95" dirty="0">
                <a:latin typeface="Calibri"/>
                <a:cs typeface="Calibri"/>
              </a:rPr>
              <a:t> </a:t>
            </a:r>
            <a:r>
              <a:rPr sz="2400" dirty="0">
                <a:latin typeface="Calibri"/>
                <a:cs typeface="Calibri"/>
              </a:rPr>
              <a:t>and/or</a:t>
            </a:r>
            <a:r>
              <a:rPr sz="2400" spc="-85" dirty="0">
                <a:latin typeface="Calibri"/>
                <a:cs typeface="Calibri"/>
              </a:rPr>
              <a:t> </a:t>
            </a:r>
            <a:r>
              <a:rPr sz="2400" dirty="0">
                <a:latin typeface="Calibri"/>
                <a:cs typeface="Calibri"/>
              </a:rPr>
              <a:t>people</a:t>
            </a:r>
            <a:r>
              <a:rPr sz="2400" spc="-85" dirty="0">
                <a:latin typeface="Calibri"/>
                <a:cs typeface="Calibri"/>
              </a:rPr>
              <a:t> </a:t>
            </a:r>
            <a:r>
              <a:rPr sz="2400" dirty="0">
                <a:latin typeface="Calibri"/>
                <a:cs typeface="Calibri"/>
              </a:rPr>
              <a:t>to</a:t>
            </a:r>
            <a:r>
              <a:rPr sz="2400" spc="-95" dirty="0">
                <a:latin typeface="Calibri"/>
                <a:cs typeface="Calibri"/>
              </a:rPr>
              <a:t> </a:t>
            </a:r>
            <a:r>
              <a:rPr sz="2400" dirty="0">
                <a:latin typeface="Calibri"/>
                <a:cs typeface="Calibri"/>
              </a:rPr>
              <a:t>new</a:t>
            </a:r>
            <a:r>
              <a:rPr sz="2400" spc="-90" dirty="0">
                <a:latin typeface="Calibri"/>
                <a:cs typeface="Calibri"/>
              </a:rPr>
              <a:t> </a:t>
            </a:r>
            <a:r>
              <a:rPr sz="2400" spc="-10" dirty="0">
                <a:latin typeface="Calibri"/>
                <a:cs typeface="Calibri"/>
              </a:rPr>
              <a:t>projects.</a:t>
            </a:r>
            <a:endParaRPr sz="2400" dirty="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16</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Rationale</a:t>
            </a:r>
            <a:r>
              <a:rPr spc="114" dirty="0"/>
              <a:t> </a:t>
            </a:r>
            <a:r>
              <a:rPr spc="50" dirty="0"/>
              <a:t>for</a:t>
            </a:r>
            <a:r>
              <a:rPr spc="114" dirty="0"/>
              <a:t> </a:t>
            </a:r>
            <a:r>
              <a:rPr spc="105" dirty="0"/>
              <a:t>Reducing</a:t>
            </a:r>
            <a:r>
              <a:rPr spc="125" dirty="0"/>
              <a:t> </a:t>
            </a:r>
            <a:r>
              <a:rPr spc="85" dirty="0"/>
              <a:t>Project</a:t>
            </a:r>
            <a:r>
              <a:rPr spc="125" dirty="0"/>
              <a:t> </a:t>
            </a:r>
            <a:r>
              <a:rPr spc="85" dirty="0"/>
              <a:t>Duration</a:t>
            </a:r>
          </a:p>
        </p:txBody>
      </p:sp>
      <p:pic>
        <p:nvPicPr>
          <p:cNvPr id="5" name="Picture 4">
            <a:extLst>
              <a:ext uri="{FF2B5EF4-FFF2-40B4-BE49-F238E27FC236}">
                <a16:creationId xmlns:a16="http://schemas.microsoft.com/office/drawing/2014/main" id="{44876E2F-5BC5-DFD1-FDD3-532E3CCFC1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Options</a:t>
            </a:r>
            <a:r>
              <a:rPr spc="125" dirty="0"/>
              <a:t> </a:t>
            </a:r>
            <a:r>
              <a:rPr spc="50" dirty="0"/>
              <a:t>for</a:t>
            </a:r>
            <a:r>
              <a:rPr spc="125" dirty="0"/>
              <a:t> </a:t>
            </a:r>
            <a:r>
              <a:rPr spc="100" dirty="0"/>
              <a:t>Accelerating</a:t>
            </a:r>
            <a:r>
              <a:rPr spc="130" dirty="0"/>
              <a:t> </a:t>
            </a:r>
            <a:r>
              <a:rPr spc="85" dirty="0"/>
              <a:t>Project</a:t>
            </a:r>
            <a:r>
              <a:rPr spc="135" dirty="0"/>
              <a:t> </a:t>
            </a:r>
            <a:r>
              <a:rPr spc="114" dirty="0"/>
              <a:t>Completion</a:t>
            </a:r>
            <a:r>
              <a:rPr spc="135" dirty="0"/>
              <a:t> </a:t>
            </a:r>
            <a:r>
              <a:rPr sz="1950" spc="-10" dirty="0"/>
              <a:t>(1/2)</a:t>
            </a:r>
            <a:endParaRPr sz="1950"/>
          </a:p>
        </p:txBody>
      </p:sp>
      <p:sp>
        <p:nvSpPr>
          <p:cNvPr id="3" name="object 3"/>
          <p:cNvSpPr txBox="1"/>
          <p:nvPr/>
        </p:nvSpPr>
        <p:spPr>
          <a:xfrm>
            <a:off x="891539" y="1599691"/>
            <a:ext cx="10408920" cy="5194300"/>
          </a:xfrm>
          <a:prstGeom prst="rect">
            <a:avLst/>
          </a:prstGeom>
        </p:spPr>
        <p:txBody>
          <a:bodyPr vert="horz" wrap="square" lIns="0" tIns="53975" rIns="0" bIns="0" rtlCol="0">
            <a:spAutoFit/>
          </a:bodyPr>
          <a:lstStyle/>
          <a:p>
            <a:pPr marL="265430" marR="30480" indent="-227329" algn="just">
              <a:lnSpc>
                <a:spcPts val="2590"/>
              </a:lnSpc>
              <a:spcBef>
                <a:spcPts val="425"/>
              </a:spcBef>
              <a:buFont typeface="Arial MT"/>
              <a:buChar char="•"/>
              <a:tabLst>
                <a:tab pos="266700" algn="l"/>
              </a:tabLst>
            </a:pPr>
            <a:r>
              <a:rPr sz="2400" dirty="0">
                <a:latin typeface="Calibri"/>
                <a:cs typeface="Calibri"/>
              </a:rPr>
              <a:t>Managers</a:t>
            </a:r>
            <a:r>
              <a:rPr sz="2400" spc="160" dirty="0">
                <a:latin typeface="Calibri"/>
                <a:cs typeface="Calibri"/>
              </a:rPr>
              <a:t> </a:t>
            </a:r>
            <a:r>
              <a:rPr sz="2400" dirty="0">
                <a:latin typeface="Calibri"/>
                <a:cs typeface="Calibri"/>
              </a:rPr>
              <a:t>have</a:t>
            </a:r>
            <a:r>
              <a:rPr sz="2400" spc="170" dirty="0">
                <a:latin typeface="Calibri"/>
                <a:cs typeface="Calibri"/>
              </a:rPr>
              <a:t> </a:t>
            </a:r>
            <a:r>
              <a:rPr sz="2400" dirty="0">
                <a:latin typeface="Calibri"/>
                <a:cs typeface="Calibri"/>
              </a:rPr>
              <a:t>several</a:t>
            </a:r>
            <a:r>
              <a:rPr sz="2400" spc="165" dirty="0">
                <a:latin typeface="Calibri"/>
                <a:cs typeface="Calibri"/>
              </a:rPr>
              <a:t> </a:t>
            </a:r>
            <a:r>
              <a:rPr sz="2400" dirty="0">
                <a:latin typeface="Calibri"/>
                <a:cs typeface="Calibri"/>
              </a:rPr>
              <a:t>effective</a:t>
            </a:r>
            <a:r>
              <a:rPr sz="2400" spc="170" dirty="0">
                <a:latin typeface="Calibri"/>
                <a:cs typeface="Calibri"/>
              </a:rPr>
              <a:t> </a:t>
            </a:r>
            <a:r>
              <a:rPr sz="2400" dirty="0">
                <a:latin typeface="Calibri"/>
                <a:cs typeface="Calibri"/>
              </a:rPr>
              <a:t>methods</a:t>
            </a:r>
            <a:r>
              <a:rPr sz="2400" spc="165" dirty="0">
                <a:latin typeface="Calibri"/>
                <a:cs typeface="Calibri"/>
              </a:rPr>
              <a:t> </a:t>
            </a:r>
            <a:r>
              <a:rPr sz="2400" dirty="0">
                <a:latin typeface="Calibri"/>
                <a:cs typeface="Calibri"/>
              </a:rPr>
              <a:t>for</a:t>
            </a:r>
            <a:r>
              <a:rPr sz="2400" spc="160" dirty="0">
                <a:latin typeface="Calibri"/>
                <a:cs typeface="Calibri"/>
              </a:rPr>
              <a:t> </a:t>
            </a:r>
            <a:r>
              <a:rPr sz="2400" b="1" i="1" u="heavy" dirty="0">
                <a:solidFill>
                  <a:srgbClr val="262EA4"/>
                </a:solidFill>
                <a:uFill>
                  <a:solidFill>
                    <a:srgbClr val="262EA4"/>
                  </a:solidFill>
                </a:uFill>
                <a:latin typeface="Calibri"/>
                <a:cs typeface="Calibri"/>
              </a:rPr>
              <a:t>crashing</a:t>
            </a:r>
            <a:r>
              <a:rPr sz="2400" b="1" i="1" spc="165" dirty="0">
                <a:solidFill>
                  <a:srgbClr val="262EA4"/>
                </a:solidFill>
                <a:latin typeface="Calibri"/>
                <a:cs typeface="Calibri"/>
              </a:rPr>
              <a:t> </a:t>
            </a:r>
            <a:r>
              <a:rPr sz="2400" dirty="0">
                <a:latin typeface="Calibri"/>
                <a:cs typeface="Calibri"/>
              </a:rPr>
              <a:t>specific</a:t>
            </a:r>
            <a:r>
              <a:rPr sz="2400" spc="170" dirty="0">
                <a:latin typeface="Calibri"/>
                <a:cs typeface="Calibri"/>
              </a:rPr>
              <a:t> </a:t>
            </a:r>
            <a:r>
              <a:rPr sz="2400" dirty="0">
                <a:latin typeface="Calibri"/>
                <a:cs typeface="Calibri"/>
              </a:rPr>
              <a:t>project</a:t>
            </a:r>
            <a:r>
              <a:rPr sz="2400" spc="160" dirty="0">
                <a:latin typeface="Calibri"/>
                <a:cs typeface="Calibri"/>
              </a:rPr>
              <a:t> </a:t>
            </a:r>
            <a:r>
              <a:rPr sz="2400" spc="-10" dirty="0">
                <a:latin typeface="Calibri"/>
                <a:cs typeface="Calibri"/>
              </a:rPr>
              <a:t>activities 	</a:t>
            </a:r>
            <a:r>
              <a:rPr sz="2400" u="heavy" dirty="0">
                <a:uFill>
                  <a:solidFill>
                    <a:srgbClr val="000000"/>
                  </a:solidFill>
                </a:uFill>
                <a:latin typeface="Calibri"/>
                <a:cs typeface="Calibri"/>
              </a:rPr>
              <a:t>when</a:t>
            </a:r>
            <a:r>
              <a:rPr sz="2400" u="heavy" spc="-40" dirty="0">
                <a:uFill>
                  <a:solidFill>
                    <a:srgbClr val="000000"/>
                  </a:solidFill>
                </a:uFill>
                <a:latin typeface="Calibri"/>
                <a:cs typeface="Calibri"/>
              </a:rPr>
              <a:t> </a:t>
            </a:r>
            <a:r>
              <a:rPr sz="2400" u="heavy" spc="-10" dirty="0">
                <a:uFill>
                  <a:solidFill>
                    <a:srgbClr val="000000"/>
                  </a:solidFill>
                </a:uFill>
                <a:latin typeface="Calibri"/>
                <a:cs typeface="Calibri"/>
              </a:rPr>
              <a:t>resources</a:t>
            </a:r>
            <a:r>
              <a:rPr sz="2400" u="heavy" spc="-40" dirty="0">
                <a:uFill>
                  <a:solidFill>
                    <a:srgbClr val="000000"/>
                  </a:solidFill>
                </a:uFill>
                <a:latin typeface="Calibri"/>
                <a:cs typeface="Calibri"/>
              </a:rPr>
              <a:t> </a:t>
            </a:r>
            <a:r>
              <a:rPr sz="2400" u="heavy" dirty="0">
                <a:uFill>
                  <a:solidFill>
                    <a:srgbClr val="000000"/>
                  </a:solidFill>
                </a:uFill>
                <a:latin typeface="Calibri"/>
                <a:cs typeface="Calibri"/>
              </a:rPr>
              <a:t>are</a:t>
            </a:r>
            <a:r>
              <a:rPr sz="2400" u="heavy" spc="-40" dirty="0">
                <a:uFill>
                  <a:solidFill>
                    <a:srgbClr val="000000"/>
                  </a:solidFill>
                </a:uFill>
                <a:latin typeface="Calibri"/>
                <a:cs typeface="Calibri"/>
              </a:rPr>
              <a:t> </a:t>
            </a:r>
            <a:r>
              <a:rPr sz="2400" u="heavy" dirty="0">
                <a:uFill>
                  <a:solidFill>
                    <a:srgbClr val="000000"/>
                  </a:solidFill>
                </a:uFill>
                <a:latin typeface="Calibri"/>
                <a:cs typeface="Calibri"/>
              </a:rPr>
              <a:t>not</a:t>
            </a:r>
            <a:r>
              <a:rPr sz="2400" u="heavy" spc="-40" dirty="0">
                <a:uFill>
                  <a:solidFill>
                    <a:srgbClr val="000000"/>
                  </a:solidFill>
                </a:uFill>
                <a:latin typeface="Calibri"/>
                <a:cs typeface="Calibri"/>
              </a:rPr>
              <a:t> </a:t>
            </a:r>
            <a:r>
              <a:rPr sz="2400" u="heavy" spc="-10" dirty="0">
                <a:uFill>
                  <a:solidFill>
                    <a:srgbClr val="000000"/>
                  </a:solidFill>
                </a:uFill>
                <a:latin typeface="Calibri"/>
                <a:cs typeface="Calibri"/>
              </a:rPr>
              <a:t>constrained:</a:t>
            </a:r>
            <a:endParaRPr sz="2400" dirty="0">
              <a:latin typeface="Calibri"/>
              <a:cs typeface="Calibri"/>
            </a:endParaRPr>
          </a:p>
          <a:p>
            <a:pPr marL="551180" marR="31115" lvl="1" indent="-240029" algn="just">
              <a:lnSpc>
                <a:spcPts val="2180"/>
              </a:lnSpc>
              <a:spcBef>
                <a:spcPts val="960"/>
              </a:spcBef>
              <a:buAutoNum type="arabicPeriod"/>
              <a:tabLst>
                <a:tab pos="552450" algn="l"/>
              </a:tabLst>
            </a:pPr>
            <a:r>
              <a:rPr sz="2000" b="1" i="1" dirty="0">
                <a:solidFill>
                  <a:srgbClr val="C00000"/>
                </a:solidFill>
                <a:latin typeface="Calibri"/>
                <a:cs typeface="Calibri"/>
              </a:rPr>
              <a:t>Adding</a:t>
            </a:r>
            <a:r>
              <a:rPr sz="2000" b="1" i="1" spc="114" dirty="0">
                <a:solidFill>
                  <a:srgbClr val="C00000"/>
                </a:solidFill>
                <a:latin typeface="Calibri"/>
                <a:cs typeface="Calibri"/>
              </a:rPr>
              <a:t> </a:t>
            </a:r>
            <a:r>
              <a:rPr sz="2000" b="1" i="1" dirty="0">
                <a:solidFill>
                  <a:srgbClr val="C00000"/>
                </a:solidFill>
                <a:latin typeface="Calibri"/>
                <a:cs typeface="Calibri"/>
              </a:rPr>
              <a:t>Resources</a:t>
            </a:r>
            <a:r>
              <a:rPr sz="2000" b="1" i="1" dirty="0">
                <a:latin typeface="Calibri"/>
                <a:cs typeface="Calibri"/>
              </a:rPr>
              <a:t>:</a:t>
            </a:r>
            <a:r>
              <a:rPr sz="2000" b="1" i="1" spc="120" dirty="0">
                <a:latin typeface="Calibri"/>
                <a:cs typeface="Calibri"/>
              </a:rPr>
              <a:t> </a:t>
            </a:r>
            <a:r>
              <a:rPr sz="2000" dirty="0">
                <a:latin typeface="Calibri"/>
                <a:cs typeface="Calibri"/>
              </a:rPr>
              <a:t>Doubling</a:t>
            </a:r>
            <a:r>
              <a:rPr sz="2000" spc="120" dirty="0">
                <a:latin typeface="Calibri"/>
                <a:cs typeface="Calibri"/>
              </a:rPr>
              <a:t> </a:t>
            </a:r>
            <a:r>
              <a:rPr sz="2000" dirty="0">
                <a:latin typeface="Calibri"/>
                <a:cs typeface="Calibri"/>
              </a:rPr>
              <a:t>the</a:t>
            </a:r>
            <a:r>
              <a:rPr sz="2000" spc="125" dirty="0">
                <a:latin typeface="Calibri"/>
                <a:cs typeface="Calibri"/>
              </a:rPr>
              <a:t> </a:t>
            </a:r>
            <a:r>
              <a:rPr sz="2000" dirty="0">
                <a:latin typeface="Calibri"/>
                <a:cs typeface="Calibri"/>
              </a:rPr>
              <a:t>size</a:t>
            </a:r>
            <a:r>
              <a:rPr sz="2000" spc="130" dirty="0">
                <a:latin typeface="Calibri"/>
                <a:cs typeface="Calibri"/>
              </a:rPr>
              <a:t> </a:t>
            </a:r>
            <a:r>
              <a:rPr sz="2000" dirty="0">
                <a:latin typeface="Calibri"/>
                <a:cs typeface="Calibri"/>
              </a:rPr>
              <a:t>of</a:t>
            </a:r>
            <a:r>
              <a:rPr sz="2000" spc="125" dirty="0">
                <a:latin typeface="Calibri"/>
                <a:cs typeface="Calibri"/>
              </a:rPr>
              <a:t> </a:t>
            </a:r>
            <a:r>
              <a:rPr sz="2000" dirty="0">
                <a:latin typeface="Calibri"/>
                <a:cs typeface="Calibri"/>
              </a:rPr>
              <a:t>the</a:t>
            </a:r>
            <a:r>
              <a:rPr sz="2000" spc="125" dirty="0">
                <a:latin typeface="Calibri"/>
                <a:cs typeface="Calibri"/>
              </a:rPr>
              <a:t> </a:t>
            </a:r>
            <a:r>
              <a:rPr sz="2000" dirty="0">
                <a:latin typeface="Calibri"/>
                <a:cs typeface="Calibri"/>
              </a:rPr>
              <a:t>workforce</a:t>
            </a:r>
            <a:r>
              <a:rPr sz="2000" spc="125" dirty="0">
                <a:latin typeface="Calibri"/>
                <a:cs typeface="Calibri"/>
              </a:rPr>
              <a:t> </a:t>
            </a:r>
            <a:r>
              <a:rPr sz="2000" dirty="0">
                <a:latin typeface="Calibri"/>
                <a:cs typeface="Calibri"/>
              </a:rPr>
              <a:t>will</a:t>
            </a:r>
            <a:r>
              <a:rPr sz="2000" spc="125" dirty="0">
                <a:latin typeface="Calibri"/>
                <a:cs typeface="Calibri"/>
              </a:rPr>
              <a:t> </a:t>
            </a:r>
            <a:r>
              <a:rPr sz="2000" dirty="0">
                <a:latin typeface="Calibri"/>
                <a:cs typeface="Calibri"/>
              </a:rPr>
              <a:t>not</a:t>
            </a:r>
            <a:r>
              <a:rPr sz="2000" spc="130" dirty="0">
                <a:latin typeface="Calibri"/>
                <a:cs typeface="Calibri"/>
              </a:rPr>
              <a:t> </a:t>
            </a:r>
            <a:r>
              <a:rPr sz="2000" dirty="0">
                <a:latin typeface="Calibri"/>
                <a:cs typeface="Calibri"/>
              </a:rPr>
              <a:t>necessarily</a:t>
            </a:r>
            <a:r>
              <a:rPr sz="2000" spc="114" dirty="0">
                <a:latin typeface="Calibri"/>
                <a:cs typeface="Calibri"/>
              </a:rPr>
              <a:t> </a:t>
            </a:r>
            <a:r>
              <a:rPr sz="2000" dirty="0">
                <a:latin typeface="Calibri"/>
                <a:cs typeface="Calibri"/>
              </a:rPr>
              <a:t>reduce</a:t>
            </a:r>
            <a:r>
              <a:rPr sz="2000" spc="125" dirty="0">
                <a:latin typeface="Calibri"/>
                <a:cs typeface="Calibri"/>
              </a:rPr>
              <a:t> </a:t>
            </a:r>
            <a:r>
              <a:rPr sz="2000" spc="-10" dirty="0">
                <a:latin typeface="Calibri"/>
                <a:cs typeface="Calibri"/>
              </a:rPr>
              <a:t>completion 	</a:t>
            </a:r>
            <a:r>
              <a:rPr sz="2000" dirty="0">
                <a:latin typeface="Calibri"/>
                <a:cs typeface="Calibri"/>
              </a:rPr>
              <a:t>time</a:t>
            </a:r>
            <a:r>
              <a:rPr sz="2000" spc="-20" dirty="0">
                <a:latin typeface="Calibri"/>
                <a:cs typeface="Calibri"/>
              </a:rPr>
              <a:t> </a:t>
            </a:r>
            <a:r>
              <a:rPr sz="2000" dirty="0">
                <a:latin typeface="Calibri"/>
                <a:cs typeface="Calibri"/>
              </a:rPr>
              <a:t>by</a:t>
            </a:r>
            <a:r>
              <a:rPr sz="2000" spc="-30" dirty="0">
                <a:latin typeface="Calibri"/>
                <a:cs typeface="Calibri"/>
              </a:rPr>
              <a:t> </a:t>
            </a:r>
            <a:r>
              <a:rPr sz="2000" spc="-20" dirty="0">
                <a:latin typeface="Calibri"/>
                <a:cs typeface="Calibri"/>
              </a:rPr>
              <a:t>half.</a:t>
            </a:r>
            <a:endParaRPr sz="2000" dirty="0">
              <a:latin typeface="Calibri"/>
              <a:cs typeface="Calibri"/>
            </a:endParaRPr>
          </a:p>
          <a:p>
            <a:pPr marL="607695" lvl="1" indent="-296545" algn="just">
              <a:lnSpc>
                <a:spcPct val="100000"/>
              </a:lnSpc>
              <a:spcBef>
                <a:spcPts val="685"/>
              </a:spcBef>
              <a:buClr>
                <a:srgbClr val="000000"/>
              </a:buClr>
              <a:buAutoNum type="arabicPeriod"/>
              <a:tabLst>
                <a:tab pos="607695" algn="l"/>
              </a:tabLst>
            </a:pPr>
            <a:r>
              <a:rPr sz="2000" b="1" i="1" dirty="0">
                <a:solidFill>
                  <a:srgbClr val="C00000"/>
                </a:solidFill>
                <a:latin typeface="Calibri"/>
                <a:cs typeface="Calibri"/>
              </a:rPr>
              <a:t>Outsourcing</a:t>
            </a:r>
            <a:r>
              <a:rPr sz="2000" b="1" i="1" spc="-65" dirty="0">
                <a:solidFill>
                  <a:srgbClr val="C00000"/>
                </a:solidFill>
                <a:latin typeface="Calibri"/>
                <a:cs typeface="Calibri"/>
              </a:rPr>
              <a:t> </a:t>
            </a:r>
            <a:r>
              <a:rPr sz="2000" b="1" i="1" dirty="0">
                <a:solidFill>
                  <a:srgbClr val="C00000"/>
                </a:solidFill>
                <a:latin typeface="Calibri"/>
                <a:cs typeface="Calibri"/>
              </a:rPr>
              <a:t>Project</a:t>
            </a:r>
            <a:r>
              <a:rPr sz="2000" b="1" i="1" spc="-60" dirty="0">
                <a:solidFill>
                  <a:srgbClr val="C00000"/>
                </a:solidFill>
                <a:latin typeface="Calibri"/>
                <a:cs typeface="Calibri"/>
              </a:rPr>
              <a:t> </a:t>
            </a:r>
            <a:r>
              <a:rPr sz="2000" b="1" i="1" spc="-20" dirty="0">
                <a:solidFill>
                  <a:srgbClr val="C00000"/>
                </a:solidFill>
                <a:latin typeface="Calibri"/>
                <a:cs typeface="Calibri"/>
              </a:rPr>
              <a:t>Work</a:t>
            </a:r>
            <a:endParaRPr sz="2000" dirty="0">
              <a:latin typeface="Calibri"/>
              <a:cs typeface="Calibri"/>
            </a:endParaRPr>
          </a:p>
          <a:p>
            <a:pPr marL="551180" marR="30480" lvl="1" indent="-240029" algn="just">
              <a:lnSpc>
                <a:spcPct val="90000"/>
              </a:lnSpc>
              <a:spcBef>
                <a:spcPts val="1035"/>
              </a:spcBef>
              <a:buAutoNum type="arabicPeriod"/>
              <a:tabLst>
                <a:tab pos="552450" algn="l"/>
              </a:tabLst>
            </a:pPr>
            <a:r>
              <a:rPr sz="2000" b="1" i="1" dirty="0">
                <a:solidFill>
                  <a:srgbClr val="C00000"/>
                </a:solidFill>
                <a:latin typeface="Calibri"/>
                <a:cs typeface="Calibri"/>
              </a:rPr>
              <a:t>Scheduling</a:t>
            </a:r>
            <a:r>
              <a:rPr sz="2000" b="1" i="1" spc="105" dirty="0">
                <a:solidFill>
                  <a:srgbClr val="C00000"/>
                </a:solidFill>
                <a:latin typeface="Calibri"/>
                <a:cs typeface="Calibri"/>
              </a:rPr>
              <a:t>  </a:t>
            </a:r>
            <a:r>
              <a:rPr sz="2000" b="1" i="1" dirty="0">
                <a:solidFill>
                  <a:srgbClr val="C00000"/>
                </a:solidFill>
                <a:latin typeface="Calibri"/>
                <a:cs typeface="Calibri"/>
              </a:rPr>
              <a:t>Overtime</a:t>
            </a:r>
            <a:r>
              <a:rPr sz="2000" b="1" i="1" dirty="0">
                <a:latin typeface="Calibri"/>
                <a:cs typeface="Calibri"/>
              </a:rPr>
              <a:t>:</a:t>
            </a:r>
            <a:r>
              <a:rPr sz="2000" b="1" i="1" spc="110" dirty="0">
                <a:latin typeface="Calibri"/>
                <a:cs typeface="Calibri"/>
              </a:rPr>
              <a:t>  </a:t>
            </a:r>
            <a:r>
              <a:rPr sz="2000" dirty="0">
                <a:latin typeface="Calibri"/>
                <a:cs typeface="Calibri"/>
              </a:rPr>
              <a:t>May</a:t>
            </a:r>
            <a:r>
              <a:rPr sz="2000" spc="114" dirty="0">
                <a:latin typeface="Calibri"/>
                <a:cs typeface="Calibri"/>
              </a:rPr>
              <a:t>  </a:t>
            </a:r>
            <a:r>
              <a:rPr sz="2000" dirty="0">
                <a:latin typeface="Calibri"/>
                <a:cs typeface="Calibri"/>
              </a:rPr>
              <a:t>be</a:t>
            </a:r>
            <a:r>
              <a:rPr sz="2000" spc="110" dirty="0">
                <a:latin typeface="Calibri"/>
                <a:cs typeface="Calibri"/>
              </a:rPr>
              <a:t>  </a:t>
            </a:r>
            <a:r>
              <a:rPr sz="2000" dirty="0">
                <a:latin typeface="Calibri"/>
                <a:cs typeface="Calibri"/>
              </a:rPr>
              <a:t>no</a:t>
            </a:r>
            <a:r>
              <a:rPr sz="2000" spc="110" dirty="0">
                <a:latin typeface="Calibri"/>
                <a:cs typeface="Calibri"/>
              </a:rPr>
              <a:t>  </a:t>
            </a:r>
            <a:r>
              <a:rPr sz="2000" dirty="0">
                <a:latin typeface="Calibri"/>
                <a:cs typeface="Calibri"/>
              </a:rPr>
              <a:t>real</a:t>
            </a:r>
            <a:r>
              <a:rPr sz="2000" spc="114" dirty="0">
                <a:latin typeface="Calibri"/>
                <a:cs typeface="Calibri"/>
              </a:rPr>
              <a:t>  </a:t>
            </a:r>
            <a:r>
              <a:rPr sz="2000" dirty="0">
                <a:latin typeface="Calibri"/>
                <a:cs typeface="Calibri"/>
              </a:rPr>
              <a:t>additional</a:t>
            </a:r>
            <a:r>
              <a:rPr sz="2000" spc="110" dirty="0">
                <a:latin typeface="Calibri"/>
                <a:cs typeface="Calibri"/>
              </a:rPr>
              <a:t>  </a:t>
            </a:r>
            <a:r>
              <a:rPr sz="2000" dirty="0">
                <a:latin typeface="Calibri"/>
                <a:cs typeface="Calibri"/>
              </a:rPr>
              <a:t>cost</a:t>
            </a:r>
            <a:r>
              <a:rPr sz="2000" spc="114" dirty="0">
                <a:latin typeface="Calibri"/>
                <a:cs typeface="Calibri"/>
              </a:rPr>
              <a:t>  </a:t>
            </a:r>
            <a:r>
              <a:rPr sz="2000" dirty="0">
                <a:latin typeface="Calibri"/>
                <a:cs typeface="Calibri"/>
              </a:rPr>
              <a:t>for</a:t>
            </a:r>
            <a:r>
              <a:rPr sz="2000" spc="114" dirty="0">
                <a:latin typeface="Calibri"/>
                <a:cs typeface="Calibri"/>
              </a:rPr>
              <a:t>  </a:t>
            </a:r>
            <a:r>
              <a:rPr sz="2000" dirty="0">
                <a:latin typeface="Calibri"/>
                <a:cs typeface="Calibri"/>
              </a:rPr>
              <a:t>the</a:t>
            </a:r>
            <a:r>
              <a:rPr sz="2000" spc="114" dirty="0">
                <a:latin typeface="Calibri"/>
                <a:cs typeface="Calibri"/>
              </a:rPr>
              <a:t>  </a:t>
            </a:r>
            <a:r>
              <a:rPr sz="2000" dirty="0">
                <a:latin typeface="Calibri"/>
                <a:cs typeface="Calibri"/>
              </a:rPr>
              <a:t>extra</a:t>
            </a:r>
            <a:r>
              <a:rPr sz="2000" spc="110" dirty="0">
                <a:latin typeface="Calibri"/>
                <a:cs typeface="Calibri"/>
              </a:rPr>
              <a:t>  </a:t>
            </a:r>
            <a:r>
              <a:rPr sz="2000" dirty="0">
                <a:latin typeface="Calibri"/>
                <a:cs typeface="Calibri"/>
              </a:rPr>
              <a:t>work.</a:t>
            </a:r>
            <a:r>
              <a:rPr sz="2000" spc="110" dirty="0">
                <a:latin typeface="Calibri"/>
                <a:cs typeface="Calibri"/>
              </a:rPr>
              <a:t>  </a:t>
            </a:r>
            <a:r>
              <a:rPr sz="2000" dirty="0">
                <a:latin typeface="Calibri"/>
                <a:cs typeface="Calibri"/>
              </a:rPr>
              <a:t>Also,</a:t>
            </a:r>
            <a:r>
              <a:rPr sz="2000" spc="110" dirty="0">
                <a:latin typeface="Calibri"/>
                <a:cs typeface="Calibri"/>
              </a:rPr>
              <a:t>  </a:t>
            </a:r>
            <a:r>
              <a:rPr sz="2000" spc="-10" dirty="0">
                <a:latin typeface="Calibri"/>
                <a:cs typeface="Calibri"/>
              </a:rPr>
              <a:t>fewer 	</a:t>
            </a:r>
            <a:r>
              <a:rPr sz="2000" dirty="0">
                <a:latin typeface="Calibri"/>
                <a:cs typeface="Calibri"/>
              </a:rPr>
              <a:t>distractions</a:t>
            </a:r>
            <a:r>
              <a:rPr sz="2000" spc="190" dirty="0">
                <a:latin typeface="Calibri"/>
                <a:cs typeface="Calibri"/>
              </a:rPr>
              <a:t> </a:t>
            </a:r>
            <a:r>
              <a:rPr sz="2000" dirty="0">
                <a:latin typeface="Calibri"/>
                <a:cs typeface="Calibri"/>
              </a:rPr>
              <a:t>when</a:t>
            </a:r>
            <a:r>
              <a:rPr sz="2000" spc="180" dirty="0">
                <a:latin typeface="Calibri"/>
                <a:cs typeface="Calibri"/>
              </a:rPr>
              <a:t> </a:t>
            </a:r>
            <a:r>
              <a:rPr sz="2000" dirty="0">
                <a:latin typeface="Calibri"/>
                <a:cs typeface="Calibri"/>
              </a:rPr>
              <a:t>people</a:t>
            </a:r>
            <a:r>
              <a:rPr sz="2000" spc="190" dirty="0">
                <a:latin typeface="Calibri"/>
                <a:cs typeface="Calibri"/>
              </a:rPr>
              <a:t> </a:t>
            </a:r>
            <a:r>
              <a:rPr sz="2000" dirty="0">
                <a:latin typeface="Calibri"/>
                <a:cs typeface="Calibri"/>
              </a:rPr>
              <a:t>work</a:t>
            </a:r>
            <a:r>
              <a:rPr sz="2000" spc="185" dirty="0">
                <a:latin typeface="Calibri"/>
                <a:cs typeface="Calibri"/>
              </a:rPr>
              <a:t> </a:t>
            </a:r>
            <a:r>
              <a:rPr sz="2000" dirty="0">
                <a:latin typeface="Calibri"/>
                <a:cs typeface="Calibri"/>
              </a:rPr>
              <a:t>outside</a:t>
            </a:r>
            <a:r>
              <a:rPr sz="2000" spc="190" dirty="0">
                <a:latin typeface="Calibri"/>
                <a:cs typeface="Calibri"/>
              </a:rPr>
              <a:t> </a:t>
            </a:r>
            <a:r>
              <a:rPr sz="2000" dirty="0">
                <a:latin typeface="Calibri"/>
                <a:cs typeface="Calibri"/>
              </a:rPr>
              <a:t>normal</a:t>
            </a:r>
            <a:r>
              <a:rPr sz="2000" spc="185" dirty="0">
                <a:latin typeface="Calibri"/>
                <a:cs typeface="Calibri"/>
              </a:rPr>
              <a:t> </a:t>
            </a:r>
            <a:r>
              <a:rPr sz="2000" dirty="0">
                <a:latin typeface="Calibri"/>
                <a:cs typeface="Calibri"/>
              </a:rPr>
              <a:t>hours.</a:t>
            </a:r>
            <a:r>
              <a:rPr sz="2000" spc="185" dirty="0">
                <a:latin typeface="Calibri"/>
                <a:cs typeface="Calibri"/>
              </a:rPr>
              <a:t> </a:t>
            </a:r>
            <a:r>
              <a:rPr sz="2000" dirty="0">
                <a:latin typeface="Calibri"/>
                <a:cs typeface="Calibri"/>
              </a:rPr>
              <a:t>However,</a:t>
            </a:r>
            <a:r>
              <a:rPr sz="2000" spc="190" dirty="0">
                <a:latin typeface="Calibri"/>
                <a:cs typeface="Calibri"/>
              </a:rPr>
              <a:t> </a:t>
            </a:r>
            <a:r>
              <a:rPr sz="2000" dirty="0">
                <a:latin typeface="Calibri"/>
                <a:cs typeface="Calibri"/>
              </a:rPr>
              <a:t>hourly</a:t>
            </a:r>
            <a:r>
              <a:rPr sz="2000" spc="175" dirty="0">
                <a:latin typeface="Calibri"/>
                <a:cs typeface="Calibri"/>
              </a:rPr>
              <a:t> </a:t>
            </a:r>
            <a:r>
              <a:rPr sz="2000" dirty="0">
                <a:latin typeface="Calibri"/>
                <a:cs typeface="Calibri"/>
              </a:rPr>
              <a:t>workers</a:t>
            </a:r>
            <a:r>
              <a:rPr sz="2000" spc="190" dirty="0">
                <a:latin typeface="Calibri"/>
                <a:cs typeface="Calibri"/>
              </a:rPr>
              <a:t> </a:t>
            </a:r>
            <a:r>
              <a:rPr sz="2000" dirty="0">
                <a:latin typeface="Calibri"/>
                <a:cs typeface="Calibri"/>
              </a:rPr>
              <a:t>are</a:t>
            </a:r>
            <a:r>
              <a:rPr sz="2000" spc="185" dirty="0">
                <a:latin typeface="Calibri"/>
                <a:cs typeface="Calibri"/>
              </a:rPr>
              <a:t> </a:t>
            </a:r>
            <a:r>
              <a:rPr sz="2000" spc="-10" dirty="0">
                <a:latin typeface="Calibri"/>
                <a:cs typeface="Calibri"/>
              </a:rPr>
              <a:t>typically 	</a:t>
            </a:r>
            <a:r>
              <a:rPr sz="2000" dirty="0">
                <a:latin typeface="Calibri"/>
                <a:cs typeface="Calibri"/>
              </a:rPr>
              <a:t>paid</a:t>
            </a:r>
            <a:r>
              <a:rPr sz="2000" spc="114" dirty="0">
                <a:latin typeface="Calibri"/>
                <a:cs typeface="Calibri"/>
              </a:rPr>
              <a:t> </a:t>
            </a:r>
            <a:r>
              <a:rPr sz="2000" dirty="0">
                <a:latin typeface="Calibri"/>
                <a:cs typeface="Calibri"/>
              </a:rPr>
              <a:t>time</a:t>
            </a:r>
            <a:r>
              <a:rPr sz="2000" spc="125" dirty="0">
                <a:latin typeface="Calibri"/>
                <a:cs typeface="Calibri"/>
              </a:rPr>
              <a:t> </a:t>
            </a:r>
            <a:r>
              <a:rPr sz="2000" dirty="0">
                <a:latin typeface="Calibri"/>
                <a:cs typeface="Calibri"/>
              </a:rPr>
              <a:t>and</a:t>
            </a:r>
            <a:r>
              <a:rPr sz="2000" spc="120" dirty="0">
                <a:latin typeface="Calibri"/>
                <a:cs typeface="Calibri"/>
              </a:rPr>
              <a:t> </a:t>
            </a:r>
            <a:r>
              <a:rPr sz="2000" dirty="0">
                <a:latin typeface="Calibri"/>
                <a:cs typeface="Calibri"/>
              </a:rPr>
              <a:t>a</a:t>
            </a:r>
            <a:r>
              <a:rPr sz="2000" spc="130" dirty="0">
                <a:latin typeface="Calibri"/>
                <a:cs typeface="Calibri"/>
              </a:rPr>
              <a:t> </a:t>
            </a:r>
            <a:r>
              <a:rPr sz="2000" dirty="0">
                <a:latin typeface="Calibri"/>
                <a:cs typeface="Calibri"/>
              </a:rPr>
              <a:t>half</a:t>
            </a:r>
            <a:r>
              <a:rPr sz="2000" spc="120" dirty="0">
                <a:latin typeface="Calibri"/>
                <a:cs typeface="Calibri"/>
              </a:rPr>
              <a:t> </a:t>
            </a:r>
            <a:r>
              <a:rPr sz="2000" dirty="0">
                <a:latin typeface="Calibri"/>
                <a:cs typeface="Calibri"/>
              </a:rPr>
              <a:t>for</a:t>
            </a:r>
            <a:r>
              <a:rPr sz="2000" spc="125" dirty="0">
                <a:latin typeface="Calibri"/>
                <a:cs typeface="Calibri"/>
              </a:rPr>
              <a:t> </a:t>
            </a:r>
            <a:r>
              <a:rPr sz="2000" dirty="0">
                <a:latin typeface="Calibri"/>
                <a:cs typeface="Calibri"/>
              </a:rPr>
              <a:t>overtime</a:t>
            </a:r>
            <a:r>
              <a:rPr sz="2000" spc="125" dirty="0">
                <a:latin typeface="Calibri"/>
                <a:cs typeface="Calibri"/>
              </a:rPr>
              <a:t> </a:t>
            </a:r>
            <a:r>
              <a:rPr sz="2000" dirty="0">
                <a:latin typeface="Calibri"/>
                <a:cs typeface="Calibri"/>
              </a:rPr>
              <a:t>and</a:t>
            </a:r>
            <a:r>
              <a:rPr sz="2000" spc="120" dirty="0">
                <a:latin typeface="Calibri"/>
                <a:cs typeface="Calibri"/>
              </a:rPr>
              <a:t> </a:t>
            </a:r>
            <a:r>
              <a:rPr sz="2000" dirty="0">
                <a:latin typeface="Calibri"/>
                <a:cs typeface="Calibri"/>
              </a:rPr>
              <a:t>double</a:t>
            </a:r>
            <a:r>
              <a:rPr sz="2000" spc="130" dirty="0">
                <a:latin typeface="Calibri"/>
                <a:cs typeface="Calibri"/>
              </a:rPr>
              <a:t> </a:t>
            </a:r>
            <a:r>
              <a:rPr sz="2000" dirty="0">
                <a:latin typeface="Calibri"/>
                <a:cs typeface="Calibri"/>
              </a:rPr>
              <a:t>time</a:t>
            </a:r>
            <a:r>
              <a:rPr sz="2000" spc="120" dirty="0">
                <a:latin typeface="Calibri"/>
                <a:cs typeface="Calibri"/>
              </a:rPr>
              <a:t> </a:t>
            </a:r>
            <a:r>
              <a:rPr sz="2000" dirty="0">
                <a:latin typeface="Calibri"/>
                <a:cs typeface="Calibri"/>
              </a:rPr>
              <a:t>for</a:t>
            </a:r>
            <a:r>
              <a:rPr sz="2000" spc="125" dirty="0">
                <a:latin typeface="Calibri"/>
                <a:cs typeface="Calibri"/>
              </a:rPr>
              <a:t> </a:t>
            </a:r>
            <a:r>
              <a:rPr sz="2000" dirty="0">
                <a:latin typeface="Calibri"/>
                <a:cs typeface="Calibri"/>
              </a:rPr>
              <a:t>weekends</a:t>
            </a:r>
            <a:r>
              <a:rPr sz="2000" spc="125" dirty="0">
                <a:latin typeface="Calibri"/>
                <a:cs typeface="Calibri"/>
              </a:rPr>
              <a:t> </a:t>
            </a:r>
            <a:r>
              <a:rPr sz="2000" dirty="0">
                <a:latin typeface="Calibri"/>
                <a:cs typeface="Calibri"/>
              </a:rPr>
              <a:t>and</a:t>
            </a:r>
            <a:r>
              <a:rPr sz="2000" spc="125" dirty="0">
                <a:latin typeface="Calibri"/>
                <a:cs typeface="Calibri"/>
              </a:rPr>
              <a:t> </a:t>
            </a:r>
            <a:r>
              <a:rPr sz="2000" dirty="0">
                <a:latin typeface="Calibri"/>
                <a:cs typeface="Calibri"/>
              </a:rPr>
              <a:t>holidays</a:t>
            </a:r>
            <a:r>
              <a:rPr sz="2000" spc="125" dirty="0">
                <a:latin typeface="Calibri"/>
                <a:cs typeface="Calibri"/>
              </a:rPr>
              <a:t> </a:t>
            </a:r>
            <a:r>
              <a:rPr sz="2000" dirty="0">
                <a:latin typeface="Calibri"/>
                <a:cs typeface="Calibri"/>
              </a:rPr>
              <a:t>and</a:t>
            </a:r>
            <a:r>
              <a:rPr sz="2000" spc="125" dirty="0">
                <a:latin typeface="Calibri"/>
                <a:cs typeface="Calibri"/>
              </a:rPr>
              <a:t> </a:t>
            </a:r>
            <a:r>
              <a:rPr sz="2000" spc="-10" dirty="0">
                <a:latin typeface="Calibri"/>
                <a:cs typeface="Calibri"/>
              </a:rPr>
              <a:t>sustaining 	</a:t>
            </a:r>
            <a:r>
              <a:rPr sz="2000" dirty="0">
                <a:latin typeface="Calibri"/>
                <a:cs typeface="Calibri"/>
              </a:rPr>
              <a:t>overtime</a:t>
            </a:r>
            <a:r>
              <a:rPr sz="2000" spc="10" dirty="0">
                <a:latin typeface="Calibri"/>
                <a:cs typeface="Calibri"/>
              </a:rPr>
              <a:t> </a:t>
            </a:r>
            <a:r>
              <a:rPr sz="2000" dirty="0">
                <a:latin typeface="Calibri"/>
                <a:cs typeface="Calibri"/>
              </a:rPr>
              <a:t>work</a:t>
            </a:r>
            <a:r>
              <a:rPr sz="2000" spc="15" dirty="0">
                <a:latin typeface="Calibri"/>
                <a:cs typeface="Calibri"/>
              </a:rPr>
              <a:t> </a:t>
            </a:r>
            <a:r>
              <a:rPr sz="2000" dirty="0">
                <a:latin typeface="Calibri"/>
                <a:cs typeface="Calibri"/>
              </a:rPr>
              <a:t>by</a:t>
            </a:r>
            <a:r>
              <a:rPr sz="2000" spc="10" dirty="0">
                <a:latin typeface="Calibri"/>
                <a:cs typeface="Calibri"/>
              </a:rPr>
              <a:t> </a:t>
            </a:r>
            <a:r>
              <a:rPr sz="2000" dirty="0">
                <a:latin typeface="Calibri"/>
                <a:cs typeface="Calibri"/>
              </a:rPr>
              <a:t>salaried</a:t>
            </a:r>
            <a:r>
              <a:rPr sz="2000" spc="15" dirty="0">
                <a:latin typeface="Calibri"/>
                <a:cs typeface="Calibri"/>
              </a:rPr>
              <a:t> </a:t>
            </a:r>
            <a:r>
              <a:rPr sz="2000" dirty="0">
                <a:latin typeface="Calibri"/>
                <a:cs typeface="Calibri"/>
              </a:rPr>
              <a:t>employees</a:t>
            </a:r>
            <a:r>
              <a:rPr sz="2000" spc="15" dirty="0">
                <a:latin typeface="Calibri"/>
                <a:cs typeface="Calibri"/>
              </a:rPr>
              <a:t> </a:t>
            </a:r>
            <a:r>
              <a:rPr sz="2000" dirty="0">
                <a:latin typeface="Calibri"/>
                <a:cs typeface="Calibri"/>
              </a:rPr>
              <a:t>may</a:t>
            </a:r>
            <a:r>
              <a:rPr sz="2000" spc="10" dirty="0">
                <a:latin typeface="Calibri"/>
                <a:cs typeface="Calibri"/>
              </a:rPr>
              <a:t> </a:t>
            </a:r>
            <a:r>
              <a:rPr sz="2000" dirty="0">
                <a:latin typeface="Calibri"/>
                <a:cs typeface="Calibri"/>
              </a:rPr>
              <a:t>incur</a:t>
            </a:r>
            <a:r>
              <a:rPr sz="2000" spc="15" dirty="0">
                <a:latin typeface="Calibri"/>
                <a:cs typeface="Calibri"/>
              </a:rPr>
              <a:t> </a:t>
            </a:r>
            <a:r>
              <a:rPr sz="2000" dirty="0">
                <a:latin typeface="Calibri"/>
                <a:cs typeface="Calibri"/>
              </a:rPr>
              <a:t>intangible</a:t>
            </a:r>
            <a:r>
              <a:rPr sz="2000" spc="20" dirty="0">
                <a:latin typeface="Calibri"/>
                <a:cs typeface="Calibri"/>
              </a:rPr>
              <a:t> </a:t>
            </a:r>
            <a:r>
              <a:rPr sz="2000" dirty="0">
                <a:latin typeface="Calibri"/>
                <a:cs typeface="Calibri"/>
              </a:rPr>
              <a:t>costs</a:t>
            </a:r>
            <a:r>
              <a:rPr sz="2000" spc="20" dirty="0">
                <a:latin typeface="Calibri"/>
                <a:cs typeface="Calibri"/>
              </a:rPr>
              <a:t> </a:t>
            </a:r>
            <a:r>
              <a:rPr sz="2000" dirty="0">
                <a:latin typeface="Calibri"/>
                <a:cs typeface="Calibri"/>
              </a:rPr>
              <a:t>such</a:t>
            </a:r>
            <a:r>
              <a:rPr sz="2000" spc="10" dirty="0">
                <a:latin typeface="Calibri"/>
                <a:cs typeface="Calibri"/>
              </a:rPr>
              <a:t> </a:t>
            </a:r>
            <a:r>
              <a:rPr sz="2000" dirty="0">
                <a:latin typeface="Calibri"/>
                <a:cs typeface="Calibri"/>
              </a:rPr>
              <a:t>as</a:t>
            </a:r>
            <a:r>
              <a:rPr sz="2000" spc="20" dirty="0">
                <a:latin typeface="Calibri"/>
                <a:cs typeface="Calibri"/>
              </a:rPr>
              <a:t> </a:t>
            </a:r>
            <a:r>
              <a:rPr sz="2000" dirty="0">
                <a:latin typeface="Calibri"/>
                <a:cs typeface="Calibri"/>
              </a:rPr>
              <a:t>divorce,</a:t>
            </a:r>
            <a:r>
              <a:rPr sz="2000" spc="15" dirty="0">
                <a:latin typeface="Calibri"/>
                <a:cs typeface="Calibri"/>
              </a:rPr>
              <a:t> </a:t>
            </a:r>
            <a:r>
              <a:rPr sz="2000" dirty="0">
                <a:latin typeface="Calibri"/>
                <a:cs typeface="Calibri"/>
              </a:rPr>
              <a:t>burnout,</a:t>
            </a:r>
            <a:r>
              <a:rPr sz="2000" spc="10" dirty="0">
                <a:latin typeface="Calibri"/>
                <a:cs typeface="Calibri"/>
              </a:rPr>
              <a:t> </a:t>
            </a:r>
            <a:r>
              <a:rPr sz="2000" spc="-25" dirty="0">
                <a:latin typeface="Calibri"/>
                <a:cs typeface="Calibri"/>
              </a:rPr>
              <a:t>and 	turnover.</a:t>
            </a:r>
            <a:r>
              <a:rPr sz="2000" spc="-35" dirty="0">
                <a:latin typeface="Calibri"/>
                <a:cs typeface="Calibri"/>
              </a:rPr>
              <a:t> </a:t>
            </a:r>
            <a:r>
              <a:rPr sz="2000" dirty="0">
                <a:latin typeface="Calibri"/>
                <a:cs typeface="Calibri"/>
              </a:rPr>
              <a:t>Also,</a:t>
            </a:r>
            <a:r>
              <a:rPr sz="2000" spc="-30" dirty="0">
                <a:latin typeface="Calibri"/>
                <a:cs typeface="Calibri"/>
              </a:rPr>
              <a:t> </a:t>
            </a:r>
            <a:r>
              <a:rPr sz="2000" dirty="0">
                <a:latin typeface="Calibri"/>
                <a:cs typeface="Calibri"/>
              </a:rPr>
              <a:t>a</a:t>
            </a:r>
            <a:r>
              <a:rPr sz="2000" spc="-20" dirty="0">
                <a:latin typeface="Calibri"/>
                <a:cs typeface="Calibri"/>
              </a:rPr>
              <a:t> </a:t>
            </a:r>
            <a:r>
              <a:rPr sz="2000" dirty="0">
                <a:latin typeface="Calibri"/>
                <a:cs typeface="Calibri"/>
              </a:rPr>
              <a:t>person</a:t>
            </a:r>
            <a:r>
              <a:rPr sz="2000" spc="-35" dirty="0">
                <a:latin typeface="Calibri"/>
                <a:cs typeface="Calibri"/>
              </a:rPr>
              <a:t> </a:t>
            </a:r>
            <a:r>
              <a:rPr sz="2000" dirty="0">
                <a:latin typeface="Calibri"/>
                <a:cs typeface="Calibri"/>
              </a:rPr>
              <a:t>is</a:t>
            </a:r>
            <a:r>
              <a:rPr sz="2000" spc="-20" dirty="0">
                <a:latin typeface="Calibri"/>
                <a:cs typeface="Calibri"/>
              </a:rPr>
              <a:t> </a:t>
            </a:r>
            <a:r>
              <a:rPr sz="2000" dirty="0">
                <a:latin typeface="Calibri"/>
                <a:cs typeface="Calibri"/>
              </a:rPr>
              <a:t>not</a:t>
            </a:r>
            <a:r>
              <a:rPr sz="2000" spc="-25" dirty="0">
                <a:latin typeface="Calibri"/>
                <a:cs typeface="Calibri"/>
              </a:rPr>
              <a:t> </a:t>
            </a:r>
            <a:r>
              <a:rPr sz="2000" dirty="0">
                <a:latin typeface="Calibri"/>
                <a:cs typeface="Calibri"/>
              </a:rPr>
              <a:t>as</a:t>
            </a:r>
            <a:r>
              <a:rPr sz="2000" spc="-25" dirty="0">
                <a:latin typeface="Calibri"/>
                <a:cs typeface="Calibri"/>
              </a:rPr>
              <a:t> </a:t>
            </a:r>
            <a:r>
              <a:rPr sz="2000" spc="-10" dirty="0">
                <a:latin typeface="Calibri"/>
                <a:cs typeface="Calibri"/>
              </a:rPr>
              <a:t>productive</a:t>
            </a:r>
            <a:r>
              <a:rPr sz="2000" spc="-25" dirty="0">
                <a:latin typeface="Calibri"/>
                <a:cs typeface="Calibri"/>
              </a:rPr>
              <a:t> </a:t>
            </a:r>
            <a:r>
              <a:rPr sz="2000" dirty="0">
                <a:latin typeface="Calibri"/>
                <a:cs typeface="Calibri"/>
              </a:rPr>
              <a:t>during</a:t>
            </a:r>
            <a:r>
              <a:rPr sz="2000" spc="-40" dirty="0">
                <a:latin typeface="Calibri"/>
                <a:cs typeface="Calibri"/>
              </a:rPr>
              <a:t> </a:t>
            </a:r>
            <a:r>
              <a:rPr sz="2000" dirty="0">
                <a:latin typeface="Calibri"/>
                <a:cs typeface="Calibri"/>
              </a:rPr>
              <a:t>his</a:t>
            </a:r>
            <a:r>
              <a:rPr sz="2000" spc="-25" dirty="0">
                <a:latin typeface="Calibri"/>
                <a:cs typeface="Calibri"/>
              </a:rPr>
              <a:t> </a:t>
            </a:r>
            <a:r>
              <a:rPr sz="2000" dirty="0">
                <a:latin typeface="Calibri"/>
                <a:cs typeface="Calibri"/>
              </a:rPr>
              <a:t>or</a:t>
            </a:r>
            <a:r>
              <a:rPr sz="2000" spc="-25" dirty="0">
                <a:latin typeface="Calibri"/>
                <a:cs typeface="Calibri"/>
              </a:rPr>
              <a:t> </a:t>
            </a:r>
            <a:r>
              <a:rPr sz="2000" dirty="0">
                <a:latin typeface="Calibri"/>
                <a:cs typeface="Calibri"/>
              </a:rPr>
              <a:t>her</a:t>
            </a:r>
            <a:r>
              <a:rPr sz="2000" spc="-30" dirty="0">
                <a:latin typeface="Calibri"/>
                <a:cs typeface="Calibri"/>
              </a:rPr>
              <a:t> </a:t>
            </a:r>
            <a:r>
              <a:rPr sz="2000" dirty="0">
                <a:latin typeface="Calibri"/>
                <a:cs typeface="Calibri"/>
              </a:rPr>
              <a:t>11</a:t>
            </a:r>
            <a:r>
              <a:rPr sz="1950" baseline="25641" dirty="0">
                <a:latin typeface="Calibri"/>
                <a:cs typeface="Calibri"/>
              </a:rPr>
              <a:t>th</a:t>
            </a:r>
            <a:r>
              <a:rPr sz="1950" spc="209" baseline="25641" dirty="0">
                <a:latin typeface="Calibri"/>
                <a:cs typeface="Calibri"/>
              </a:rPr>
              <a:t>  </a:t>
            </a:r>
            <a:r>
              <a:rPr sz="2000" dirty="0">
                <a:latin typeface="Calibri"/>
                <a:cs typeface="Calibri"/>
              </a:rPr>
              <a:t>hour</a:t>
            </a:r>
            <a:r>
              <a:rPr sz="2000" spc="-25" dirty="0">
                <a:latin typeface="Calibri"/>
                <a:cs typeface="Calibri"/>
              </a:rPr>
              <a:t> </a:t>
            </a:r>
            <a:r>
              <a:rPr sz="2000" dirty="0">
                <a:latin typeface="Calibri"/>
                <a:cs typeface="Calibri"/>
              </a:rPr>
              <a:t>at</a:t>
            </a:r>
            <a:r>
              <a:rPr sz="2000" spc="-25" dirty="0">
                <a:latin typeface="Calibri"/>
                <a:cs typeface="Calibri"/>
              </a:rPr>
              <a:t> </a:t>
            </a:r>
            <a:r>
              <a:rPr sz="2000" dirty="0">
                <a:latin typeface="Calibri"/>
                <a:cs typeface="Calibri"/>
              </a:rPr>
              <a:t>work</a:t>
            </a:r>
            <a:r>
              <a:rPr sz="2000" spc="-20" dirty="0">
                <a:latin typeface="Calibri"/>
                <a:cs typeface="Calibri"/>
              </a:rPr>
              <a:t> </a:t>
            </a:r>
            <a:r>
              <a:rPr sz="2000" dirty="0">
                <a:latin typeface="Calibri"/>
                <a:cs typeface="Calibri"/>
              </a:rPr>
              <a:t>as</a:t>
            </a:r>
            <a:r>
              <a:rPr sz="2000" spc="-25" dirty="0">
                <a:latin typeface="Calibri"/>
                <a:cs typeface="Calibri"/>
              </a:rPr>
              <a:t> </a:t>
            </a:r>
            <a:r>
              <a:rPr sz="2000" dirty="0">
                <a:latin typeface="Calibri"/>
                <a:cs typeface="Calibri"/>
              </a:rPr>
              <a:t>during</a:t>
            </a:r>
            <a:r>
              <a:rPr sz="2000" spc="-35" dirty="0">
                <a:latin typeface="Calibri"/>
                <a:cs typeface="Calibri"/>
              </a:rPr>
              <a:t> </a:t>
            </a:r>
            <a:r>
              <a:rPr sz="2000" dirty="0">
                <a:latin typeface="Calibri"/>
                <a:cs typeface="Calibri"/>
              </a:rPr>
              <a:t>his</a:t>
            </a:r>
            <a:r>
              <a:rPr sz="2000" spc="-25" dirty="0">
                <a:latin typeface="Calibri"/>
                <a:cs typeface="Calibri"/>
              </a:rPr>
              <a:t> or 	</a:t>
            </a:r>
            <a:r>
              <a:rPr sz="2000" dirty="0">
                <a:latin typeface="Calibri"/>
                <a:cs typeface="Calibri"/>
              </a:rPr>
              <a:t>her</a:t>
            </a:r>
            <a:r>
              <a:rPr sz="2000" spc="-30" dirty="0">
                <a:latin typeface="Calibri"/>
                <a:cs typeface="Calibri"/>
              </a:rPr>
              <a:t> </a:t>
            </a:r>
            <a:r>
              <a:rPr sz="2000" dirty="0">
                <a:latin typeface="Calibri"/>
                <a:cs typeface="Calibri"/>
              </a:rPr>
              <a:t>3</a:t>
            </a:r>
            <a:r>
              <a:rPr sz="1950" baseline="25641" dirty="0">
                <a:latin typeface="Calibri"/>
                <a:cs typeface="Calibri"/>
              </a:rPr>
              <a:t>rd</a:t>
            </a:r>
            <a:r>
              <a:rPr sz="1950" spc="240" baseline="25641" dirty="0">
                <a:latin typeface="Calibri"/>
                <a:cs typeface="Calibri"/>
              </a:rPr>
              <a:t> </a:t>
            </a:r>
            <a:r>
              <a:rPr sz="2000" dirty="0">
                <a:latin typeface="Calibri"/>
                <a:cs typeface="Calibri"/>
              </a:rPr>
              <a:t>hour</a:t>
            </a:r>
            <a:r>
              <a:rPr sz="2000" spc="-30" dirty="0">
                <a:latin typeface="Calibri"/>
                <a:cs typeface="Calibri"/>
              </a:rPr>
              <a:t> </a:t>
            </a:r>
            <a:r>
              <a:rPr sz="2000" dirty="0">
                <a:latin typeface="Calibri"/>
                <a:cs typeface="Calibri"/>
              </a:rPr>
              <a:t>of</a:t>
            </a:r>
            <a:r>
              <a:rPr sz="2000" spc="-25" dirty="0">
                <a:latin typeface="Calibri"/>
                <a:cs typeface="Calibri"/>
              </a:rPr>
              <a:t> </a:t>
            </a:r>
            <a:r>
              <a:rPr sz="2000" spc="-10" dirty="0">
                <a:latin typeface="Calibri"/>
                <a:cs typeface="Calibri"/>
              </a:rPr>
              <a:t>work.</a:t>
            </a:r>
            <a:endParaRPr sz="2000" dirty="0">
              <a:latin typeface="Calibri"/>
              <a:cs typeface="Calibri"/>
            </a:endParaRPr>
          </a:p>
          <a:p>
            <a:pPr marL="551180" marR="31750" lvl="1" indent="-240029">
              <a:lnSpc>
                <a:spcPts val="2110"/>
              </a:lnSpc>
              <a:spcBef>
                <a:spcPts val="1100"/>
              </a:spcBef>
              <a:buAutoNum type="arabicPeriod"/>
              <a:tabLst>
                <a:tab pos="552450" algn="l"/>
              </a:tabLst>
            </a:pPr>
            <a:r>
              <a:rPr sz="2000" b="1" i="1" dirty="0">
                <a:solidFill>
                  <a:srgbClr val="C00000"/>
                </a:solidFill>
                <a:latin typeface="Calibri"/>
                <a:cs typeface="Calibri"/>
              </a:rPr>
              <a:t>Establish</a:t>
            </a:r>
            <a:r>
              <a:rPr sz="2000" b="1" i="1" spc="280" dirty="0">
                <a:solidFill>
                  <a:srgbClr val="C00000"/>
                </a:solidFill>
                <a:latin typeface="Calibri"/>
                <a:cs typeface="Calibri"/>
              </a:rPr>
              <a:t> </a:t>
            </a:r>
            <a:r>
              <a:rPr sz="2000" b="1" i="1" dirty="0">
                <a:solidFill>
                  <a:srgbClr val="C00000"/>
                </a:solidFill>
                <a:latin typeface="Calibri"/>
                <a:cs typeface="Calibri"/>
              </a:rPr>
              <a:t>a</a:t>
            </a:r>
            <a:r>
              <a:rPr sz="2000" b="1" i="1" spc="280" dirty="0">
                <a:solidFill>
                  <a:srgbClr val="C00000"/>
                </a:solidFill>
                <a:latin typeface="Calibri"/>
                <a:cs typeface="Calibri"/>
              </a:rPr>
              <a:t> </a:t>
            </a:r>
            <a:r>
              <a:rPr sz="2000" b="1" i="1" dirty="0">
                <a:solidFill>
                  <a:srgbClr val="C00000"/>
                </a:solidFill>
                <a:latin typeface="Calibri"/>
                <a:cs typeface="Calibri"/>
              </a:rPr>
              <a:t>Core</a:t>
            </a:r>
            <a:r>
              <a:rPr sz="2000" b="1" i="1" spc="285" dirty="0">
                <a:solidFill>
                  <a:srgbClr val="C00000"/>
                </a:solidFill>
                <a:latin typeface="Calibri"/>
                <a:cs typeface="Calibri"/>
              </a:rPr>
              <a:t> </a:t>
            </a:r>
            <a:r>
              <a:rPr sz="2000" b="1" i="1" dirty="0">
                <a:solidFill>
                  <a:srgbClr val="C00000"/>
                </a:solidFill>
                <a:latin typeface="Calibri"/>
                <a:cs typeface="Calibri"/>
              </a:rPr>
              <a:t>Project</a:t>
            </a:r>
            <a:r>
              <a:rPr sz="2000" b="1" i="1" spc="280" dirty="0">
                <a:solidFill>
                  <a:srgbClr val="C00000"/>
                </a:solidFill>
                <a:latin typeface="Calibri"/>
                <a:cs typeface="Calibri"/>
              </a:rPr>
              <a:t> </a:t>
            </a:r>
            <a:r>
              <a:rPr sz="2000" b="1" i="1" dirty="0">
                <a:solidFill>
                  <a:srgbClr val="C00000"/>
                </a:solidFill>
                <a:latin typeface="Calibri"/>
                <a:cs typeface="Calibri"/>
              </a:rPr>
              <a:t>Team</a:t>
            </a:r>
            <a:r>
              <a:rPr sz="2000" b="1" i="1" dirty="0">
                <a:latin typeface="Calibri"/>
                <a:cs typeface="Calibri"/>
              </a:rPr>
              <a:t>:</a:t>
            </a:r>
            <a:r>
              <a:rPr sz="2000" b="1" i="1" spc="280" dirty="0">
                <a:latin typeface="Calibri"/>
                <a:cs typeface="Calibri"/>
              </a:rPr>
              <a:t> </a:t>
            </a:r>
            <a:r>
              <a:rPr sz="2000" dirty="0">
                <a:latin typeface="Calibri"/>
                <a:cs typeface="Calibri"/>
              </a:rPr>
              <a:t>avoids</a:t>
            </a:r>
            <a:r>
              <a:rPr sz="2000" spc="290" dirty="0">
                <a:latin typeface="Calibri"/>
                <a:cs typeface="Calibri"/>
              </a:rPr>
              <a:t> </a:t>
            </a:r>
            <a:r>
              <a:rPr sz="2000" dirty="0">
                <a:latin typeface="Calibri"/>
                <a:cs typeface="Calibri"/>
              </a:rPr>
              <a:t>the</a:t>
            </a:r>
            <a:r>
              <a:rPr sz="2000" spc="285" dirty="0">
                <a:latin typeface="Calibri"/>
                <a:cs typeface="Calibri"/>
              </a:rPr>
              <a:t> </a:t>
            </a:r>
            <a:r>
              <a:rPr sz="2000" dirty="0">
                <a:latin typeface="Calibri"/>
                <a:cs typeface="Calibri"/>
              </a:rPr>
              <a:t>hidden</a:t>
            </a:r>
            <a:r>
              <a:rPr sz="2000" spc="280" dirty="0">
                <a:latin typeface="Calibri"/>
                <a:cs typeface="Calibri"/>
              </a:rPr>
              <a:t> </a:t>
            </a:r>
            <a:r>
              <a:rPr sz="2000" dirty="0">
                <a:latin typeface="Calibri"/>
                <a:cs typeface="Calibri"/>
              </a:rPr>
              <a:t>cost</a:t>
            </a:r>
            <a:r>
              <a:rPr sz="2000" spc="285" dirty="0">
                <a:latin typeface="Calibri"/>
                <a:cs typeface="Calibri"/>
              </a:rPr>
              <a:t> </a:t>
            </a:r>
            <a:r>
              <a:rPr sz="2000" dirty="0">
                <a:latin typeface="Calibri"/>
                <a:cs typeface="Calibri"/>
              </a:rPr>
              <a:t>of</a:t>
            </a:r>
            <a:r>
              <a:rPr sz="2000" spc="285" dirty="0">
                <a:latin typeface="Calibri"/>
                <a:cs typeface="Calibri"/>
              </a:rPr>
              <a:t> </a:t>
            </a:r>
            <a:r>
              <a:rPr sz="2000" dirty="0">
                <a:latin typeface="Calibri"/>
                <a:cs typeface="Calibri"/>
              </a:rPr>
              <a:t>multitasking</a:t>
            </a:r>
            <a:r>
              <a:rPr sz="2000" spc="275" dirty="0">
                <a:latin typeface="Calibri"/>
                <a:cs typeface="Calibri"/>
              </a:rPr>
              <a:t> </a:t>
            </a:r>
            <a:r>
              <a:rPr sz="2000" dirty="0">
                <a:latin typeface="Calibri"/>
                <a:cs typeface="Calibri"/>
              </a:rPr>
              <a:t>in</a:t>
            </a:r>
            <a:r>
              <a:rPr sz="2000" spc="285" dirty="0">
                <a:latin typeface="Calibri"/>
                <a:cs typeface="Calibri"/>
              </a:rPr>
              <a:t> </a:t>
            </a:r>
            <a:r>
              <a:rPr sz="2000" dirty="0">
                <a:latin typeface="Calibri"/>
                <a:cs typeface="Calibri"/>
              </a:rPr>
              <a:t>which</a:t>
            </a:r>
            <a:r>
              <a:rPr sz="2000" spc="280" dirty="0">
                <a:latin typeface="Calibri"/>
                <a:cs typeface="Calibri"/>
              </a:rPr>
              <a:t> </a:t>
            </a:r>
            <a:r>
              <a:rPr sz="2000" dirty="0">
                <a:latin typeface="Calibri"/>
                <a:cs typeface="Calibri"/>
              </a:rPr>
              <a:t>people</a:t>
            </a:r>
            <a:r>
              <a:rPr sz="2000" spc="290" dirty="0">
                <a:latin typeface="Calibri"/>
                <a:cs typeface="Calibri"/>
              </a:rPr>
              <a:t> </a:t>
            </a:r>
            <a:r>
              <a:rPr sz="2000" spc="-25" dirty="0">
                <a:latin typeface="Calibri"/>
                <a:cs typeface="Calibri"/>
              </a:rPr>
              <a:t>are 	</a:t>
            </a:r>
            <a:r>
              <a:rPr sz="2000" dirty="0">
                <a:latin typeface="Calibri"/>
                <a:cs typeface="Calibri"/>
              </a:rPr>
              <a:t>forced</a:t>
            </a:r>
            <a:r>
              <a:rPr sz="2000" spc="-55" dirty="0">
                <a:latin typeface="Calibri"/>
                <a:cs typeface="Calibri"/>
              </a:rPr>
              <a:t> </a:t>
            </a:r>
            <a:r>
              <a:rPr sz="2000" dirty="0">
                <a:latin typeface="Calibri"/>
                <a:cs typeface="Calibri"/>
              </a:rPr>
              <a:t>to</a:t>
            </a:r>
            <a:r>
              <a:rPr sz="2000" spc="-60" dirty="0">
                <a:latin typeface="Calibri"/>
                <a:cs typeface="Calibri"/>
              </a:rPr>
              <a:t> </a:t>
            </a:r>
            <a:r>
              <a:rPr sz="2000" dirty="0">
                <a:latin typeface="Calibri"/>
                <a:cs typeface="Calibri"/>
              </a:rPr>
              <a:t>juggle</a:t>
            </a:r>
            <a:r>
              <a:rPr sz="2000" spc="-45"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demands</a:t>
            </a:r>
            <a:r>
              <a:rPr sz="2000" spc="-50" dirty="0">
                <a:latin typeface="Calibri"/>
                <a:cs typeface="Calibri"/>
              </a:rPr>
              <a:t> </a:t>
            </a:r>
            <a:r>
              <a:rPr sz="2000" dirty="0">
                <a:latin typeface="Calibri"/>
                <a:cs typeface="Calibri"/>
              </a:rPr>
              <a:t>of</a:t>
            </a:r>
            <a:r>
              <a:rPr sz="2000" spc="-50" dirty="0">
                <a:latin typeface="Calibri"/>
                <a:cs typeface="Calibri"/>
              </a:rPr>
              <a:t> </a:t>
            </a:r>
            <a:r>
              <a:rPr sz="2000" dirty="0">
                <a:latin typeface="Calibri"/>
                <a:cs typeface="Calibri"/>
              </a:rPr>
              <a:t>multiple</a:t>
            </a:r>
            <a:r>
              <a:rPr sz="2000" spc="-50" dirty="0">
                <a:latin typeface="Calibri"/>
                <a:cs typeface="Calibri"/>
              </a:rPr>
              <a:t> </a:t>
            </a:r>
            <a:r>
              <a:rPr sz="2000" spc="-10" dirty="0">
                <a:latin typeface="Calibri"/>
                <a:cs typeface="Calibri"/>
              </a:rPr>
              <a:t>projects.</a:t>
            </a:r>
            <a:endParaRPr sz="2000" dirty="0">
              <a:latin typeface="Calibri"/>
              <a:cs typeface="Calibri"/>
            </a:endParaRPr>
          </a:p>
          <a:p>
            <a:pPr marL="607695" lvl="1" indent="-296545">
              <a:lnSpc>
                <a:spcPts val="2255"/>
              </a:lnSpc>
              <a:spcBef>
                <a:spcPts val="775"/>
              </a:spcBef>
              <a:buClr>
                <a:srgbClr val="000000"/>
              </a:buClr>
              <a:buAutoNum type="arabicPeriod"/>
              <a:tabLst>
                <a:tab pos="607695" algn="l"/>
              </a:tabLst>
            </a:pPr>
            <a:r>
              <a:rPr sz="2000" b="1" i="1" dirty="0">
                <a:solidFill>
                  <a:srgbClr val="C00000"/>
                </a:solidFill>
                <a:latin typeface="Calibri"/>
                <a:cs typeface="Calibri"/>
              </a:rPr>
              <a:t>Do</a:t>
            </a:r>
            <a:r>
              <a:rPr sz="2000" b="1" i="1" spc="50" dirty="0">
                <a:solidFill>
                  <a:srgbClr val="C00000"/>
                </a:solidFill>
                <a:latin typeface="Calibri"/>
                <a:cs typeface="Calibri"/>
              </a:rPr>
              <a:t> </a:t>
            </a:r>
            <a:r>
              <a:rPr sz="2000" b="1" i="1" dirty="0">
                <a:solidFill>
                  <a:srgbClr val="C00000"/>
                </a:solidFill>
                <a:latin typeface="Calibri"/>
                <a:cs typeface="Calibri"/>
              </a:rPr>
              <a:t>It</a:t>
            </a:r>
            <a:r>
              <a:rPr sz="2000" b="1" i="1" spc="50" dirty="0">
                <a:solidFill>
                  <a:srgbClr val="C00000"/>
                </a:solidFill>
                <a:latin typeface="Calibri"/>
                <a:cs typeface="Calibri"/>
              </a:rPr>
              <a:t> </a:t>
            </a:r>
            <a:r>
              <a:rPr sz="2000" b="1" i="1" spc="-25" dirty="0">
                <a:solidFill>
                  <a:srgbClr val="C00000"/>
                </a:solidFill>
                <a:latin typeface="Calibri"/>
                <a:cs typeface="Calibri"/>
              </a:rPr>
              <a:t>Twice—</a:t>
            </a:r>
            <a:r>
              <a:rPr sz="2000" b="1" i="1" dirty="0">
                <a:solidFill>
                  <a:srgbClr val="C00000"/>
                </a:solidFill>
                <a:latin typeface="Calibri"/>
                <a:cs typeface="Calibri"/>
              </a:rPr>
              <a:t>Fast</a:t>
            </a:r>
            <a:r>
              <a:rPr sz="2000" b="1" i="1" spc="50" dirty="0">
                <a:solidFill>
                  <a:srgbClr val="C00000"/>
                </a:solidFill>
                <a:latin typeface="Calibri"/>
                <a:cs typeface="Calibri"/>
              </a:rPr>
              <a:t> </a:t>
            </a:r>
            <a:r>
              <a:rPr sz="2000" b="1" i="1" dirty="0">
                <a:solidFill>
                  <a:srgbClr val="C00000"/>
                </a:solidFill>
                <a:latin typeface="Calibri"/>
                <a:cs typeface="Calibri"/>
              </a:rPr>
              <a:t>and</a:t>
            </a:r>
            <a:r>
              <a:rPr sz="2000" b="1" i="1" spc="55" dirty="0">
                <a:solidFill>
                  <a:srgbClr val="C00000"/>
                </a:solidFill>
                <a:latin typeface="Calibri"/>
                <a:cs typeface="Calibri"/>
              </a:rPr>
              <a:t> </a:t>
            </a:r>
            <a:r>
              <a:rPr sz="2000" b="1" i="1" dirty="0">
                <a:solidFill>
                  <a:srgbClr val="C00000"/>
                </a:solidFill>
                <a:latin typeface="Calibri"/>
                <a:cs typeface="Calibri"/>
              </a:rPr>
              <a:t>Correctly</a:t>
            </a:r>
            <a:r>
              <a:rPr sz="2000" b="1" i="1" dirty="0">
                <a:latin typeface="Calibri"/>
                <a:cs typeface="Calibri"/>
              </a:rPr>
              <a:t>:</a:t>
            </a:r>
            <a:r>
              <a:rPr sz="2000" b="1" i="1" spc="55" dirty="0">
                <a:latin typeface="Calibri"/>
                <a:cs typeface="Calibri"/>
              </a:rPr>
              <a:t> </a:t>
            </a:r>
            <a:r>
              <a:rPr sz="2000" dirty="0">
                <a:latin typeface="Calibri"/>
                <a:cs typeface="Calibri"/>
              </a:rPr>
              <a:t>In</a:t>
            </a:r>
            <a:r>
              <a:rPr sz="2000" spc="60" dirty="0">
                <a:latin typeface="Calibri"/>
                <a:cs typeface="Calibri"/>
              </a:rPr>
              <a:t> </a:t>
            </a:r>
            <a:r>
              <a:rPr sz="2000" dirty="0">
                <a:latin typeface="Calibri"/>
                <a:cs typeface="Calibri"/>
              </a:rPr>
              <a:t>business,</a:t>
            </a:r>
            <a:r>
              <a:rPr sz="2000" spc="50" dirty="0">
                <a:latin typeface="Calibri"/>
                <a:cs typeface="Calibri"/>
              </a:rPr>
              <a:t> </a:t>
            </a:r>
            <a:r>
              <a:rPr sz="2000" dirty="0">
                <a:latin typeface="Calibri"/>
                <a:cs typeface="Calibri"/>
              </a:rPr>
              <a:t>software</a:t>
            </a:r>
            <a:r>
              <a:rPr sz="2000" spc="65" dirty="0">
                <a:latin typeface="Calibri"/>
                <a:cs typeface="Calibri"/>
              </a:rPr>
              <a:t> </a:t>
            </a:r>
            <a:r>
              <a:rPr sz="2000" dirty="0">
                <a:latin typeface="Calibri"/>
                <a:cs typeface="Calibri"/>
              </a:rPr>
              <a:t>companies</a:t>
            </a:r>
            <a:r>
              <a:rPr sz="2000" spc="65" dirty="0">
                <a:latin typeface="Calibri"/>
                <a:cs typeface="Calibri"/>
              </a:rPr>
              <a:t> </a:t>
            </a:r>
            <a:r>
              <a:rPr sz="2000" dirty="0">
                <a:latin typeface="Calibri"/>
                <a:cs typeface="Calibri"/>
              </a:rPr>
              <a:t>are</a:t>
            </a:r>
            <a:r>
              <a:rPr sz="2000" spc="55" dirty="0">
                <a:latin typeface="Calibri"/>
                <a:cs typeface="Calibri"/>
              </a:rPr>
              <a:t> </a:t>
            </a:r>
            <a:r>
              <a:rPr sz="2000" dirty="0">
                <a:latin typeface="Calibri"/>
                <a:cs typeface="Calibri"/>
              </a:rPr>
              <a:t>prone</a:t>
            </a:r>
            <a:r>
              <a:rPr sz="2000" spc="60" dirty="0">
                <a:latin typeface="Calibri"/>
                <a:cs typeface="Calibri"/>
              </a:rPr>
              <a:t> </a:t>
            </a:r>
            <a:r>
              <a:rPr sz="2000" dirty="0">
                <a:latin typeface="Calibri"/>
                <a:cs typeface="Calibri"/>
              </a:rPr>
              <a:t>for</a:t>
            </a:r>
            <a:r>
              <a:rPr sz="2000" spc="60" dirty="0">
                <a:latin typeface="Calibri"/>
                <a:cs typeface="Calibri"/>
              </a:rPr>
              <a:t> </a:t>
            </a:r>
            <a:r>
              <a:rPr sz="2000" dirty="0">
                <a:latin typeface="Calibri"/>
                <a:cs typeface="Calibri"/>
              </a:rPr>
              <a:t>releasing</a:t>
            </a:r>
            <a:r>
              <a:rPr sz="2000" spc="55" dirty="0">
                <a:latin typeface="Calibri"/>
                <a:cs typeface="Calibri"/>
              </a:rPr>
              <a:t> </a:t>
            </a:r>
            <a:r>
              <a:rPr sz="2000" spc="-20" dirty="0">
                <a:latin typeface="Calibri"/>
                <a:cs typeface="Calibri"/>
              </a:rPr>
              <a:t>ver.</a:t>
            </a:r>
            <a:endParaRPr sz="2000" dirty="0">
              <a:latin typeface="Calibri"/>
              <a:cs typeface="Calibri"/>
            </a:endParaRPr>
          </a:p>
          <a:p>
            <a:pPr marL="552450" marR="30480">
              <a:lnSpc>
                <a:spcPts val="2180"/>
              </a:lnSpc>
              <a:spcBef>
                <a:spcPts val="110"/>
              </a:spcBef>
            </a:pPr>
            <a:r>
              <a:rPr sz="2000" dirty="0">
                <a:latin typeface="Calibri"/>
                <a:cs typeface="Calibri"/>
              </a:rPr>
              <a:t>1.0</a:t>
            </a:r>
            <a:r>
              <a:rPr sz="2000" spc="229" dirty="0">
                <a:latin typeface="Calibri"/>
                <a:cs typeface="Calibri"/>
              </a:rPr>
              <a:t> </a:t>
            </a:r>
            <a:r>
              <a:rPr sz="2000" dirty="0">
                <a:latin typeface="Calibri"/>
                <a:cs typeface="Calibri"/>
              </a:rPr>
              <a:t>of</a:t>
            </a:r>
            <a:r>
              <a:rPr sz="2000" spc="240" dirty="0">
                <a:latin typeface="Calibri"/>
                <a:cs typeface="Calibri"/>
              </a:rPr>
              <a:t> </a:t>
            </a:r>
            <a:r>
              <a:rPr sz="2000" dirty="0">
                <a:latin typeface="Calibri"/>
                <a:cs typeface="Calibri"/>
              </a:rPr>
              <a:t>products</a:t>
            </a:r>
            <a:r>
              <a:rPr sz="2000" spc="240" dirty="0">
                <a:latin typeface="Calibri"/>
                <a:cs typeface="Calibri"/>
              </a:rPr>
              <a:t> </a:t>
            </a:r>
            <a:r>
              <a:rPr sz="2000" dirty="0">
                <a:latin typeface="Calibri"/>
                <a:cs typeface="Calibri"/>
              </a:rPr>
              <a:t>that</a:t>
            </a:r>
            <a:r>
              <a:rPr sz="2000" spc="240" dirty="0">
                <a:latin typeface="Calibri"/>
                <a:cs typeface="Calibri"/>
              </a:rPr>
              <a:t> </a:t>
            </a:r>
            <a:r>
              <a:rPr sz="2000" dirty="0">
                <a:latin typeface="Calibri"/>
                <a:cs typeface="Calibri"/>
              </a:rPr>
              <a:t>are</a:t>
            </a:r>
            <a:r>
              <a:rPr sz="2000" spc="240" dirty="0">
                <a:latin typeface="Calibri"/>
                <a:cs typeface="Calibri"/>
              </a:rPr>
              <a:t> </a:t>
            </a:r>
            <a:r>
              <a:rPr sz="2000" dirty="0">
                <a:latin typeface="Calibri"/>
                <a:cs typeface="Calibri"/>
              </a:rPr>
              <a:t>not</a:t>
            </a:r>
            <a:r>
              <a:rPr sz="2000" spc="240" dirty="0">
                <a:latin typeface="Calibri"/>
                <a:cs typeface="Calibri"/>
              </a:rPr>
              <a:t> </a:t>
            </a:r>
            <a:r>
              <a:rPr sz="2000" dirty="0">
                <a:latin typeface="Calibri"/>
                <a:cs typeface="Calibri"/>
              </a:rPr>
              <a:t>completely</a:t>
            </a:r>
            <a:r>
              <a:rPr sz="2000" spc="235" dirty="0">
                <a:latin typeface="Calibri"/>
                <a:cs typeface="Calibri"/>
              </a:rPr>
              <a:t> </a:t>
            </a:r>
            <a:r>
              <a:rPr sz="2000" dirty="0">
                <a:latin typeface="Calibri"/>
                <a:cs typeface="Calibri"/>
              </a:rPr>
              <a:t>finished</a:t>
            </a:r>
            <a:r>
              <a:rPr sz="2000" spc="235" dirty="0">
                <a:latin typeface="Calibri"/>
                <a:cs typeface="Calibri"/>
              </a:rPr>
              <a:t> </a:t>
            </a:r>
            <a:r>
              <a:rPr sz="2000" dirty="0">
                <a:latin typeface="Calibri"/>
                <a:cs typeface="Calibri"/>
              </a:rPr>
              <a:t>and</a:t>
            </a:r>
            <a:r>
              <a:rPr sz="2000" spc="235" dirty="0">
                <a:latin typeface="Calibri"/>
                <a:cs typeface="Calibri"/>
              </a:rPr>
              <a:t> </a:t>
            </a:r>
            <a:r>
              <a:rPr sz="2000" dirty="0">
                <a:latin typeface="Calibri"/>
                <a:cs typeface="Calibri"/>
              </a:rPr>
              <a:t>tested.</a:t>
            </a:r>
            <a:r>
              <a:rPr sz="2000" spc="235" dirty="0">
                <a:latin typeface="Calibri"/>
                <a:cs typeface="Calibri"/>
              </a:rPr>
              <a:t> </a:t>
            </a:r>
            <a:r>
              <a:rPr sz="2000" dirty="0">
                <a:latin typeface="Calibri"/>
                <a:cs typeface="Calibri"/>
              </a:rPr>
              <a:t>Subsequent</a:t>
            </a:r>
            <a:r>
              <a:rPr sz="2000" spc="240" dirty="0">
                <a:latin typeface="Calibri"/>
                <a:cs typeface="Calibri"/>
              </a:rPr>
              <a:t> </a:t>
            </a:r>
            <a:r>
              <a:rPr sz="2000" dirty="0">
                <a:latin typeface="Calibri"/>
                <a:cs typeface="Calibri"/>
              </a:rPr>
              <a:t>versions</a:t>
            </a:r>
            <a:r>
              <a:rPr sz="2000" spc="240" dirty="0">
                <a:latin typeface="Calibri"/>
                <a:cs typeface="Calibri"/>
              </a:rPr>
              <a:t> </a:t>
            </a:r>
            <a:r>
              <a:rPr sz="2000" dirty="0">
                <a:latin typeface="Calibri"/>
                <a:cs typeface="Calibri"/>
              </a:rPr>
              <a:t>1.1</a:t>
            </a:r>
            <a:r>
              <a:rPr sz="2000" spc="235" dirty="0">
                <a:latin typeface="Calibri"/>
                <a:cs typeface="Calibri"/>
              </a:rPr>
              <a:t> </a:t>
            </a:r>
            <a:r>
              <a:rPr sz="2000" dirty="0">
                <a:latin typeface="Calibri"/>
                <a:cs typeface="Calibri"/>
              </a:rPr>
              <a:t>.</a:t>
            </a:r>
            <a:r>
              <a:rPr sz="2000" spc="235" dirty="0">
                <a:latin typeface="Calibri"/>
                <a:cs typeface="Calibri"/>
              </a:rPr>
              <a:t> </a:t>
            </a:r>
            <a:r>
              <a:rPr sz="2000" dirty="0">
                <a:latin typeface="Calibri"/>
                <a:cs typeface="Calibri"/>
              </a:rPr>
              <a:t>.</a:t>
            </a:r>
            <a:r>
              <a:rPr sz="2000" spc="235" dirty="0">
                <a:latin typeface="Calibri"/>
                <a:cs typeface="Calibri"/>
              </a:rPr>
              <a:t> </a:t>
            </a:r>
            <a:r>
              <a:rPr sz="2000" dirty="0">
                <a:latin typeface="Calibri"/>
                <a:cs typeface="Calibri"/>
              </a:rPr>
              <a:t>.</a:t>
            </a:r>
            <a:r>
              <a:rPr sz="2000" spc="235" dirty="0">
                <a:latin typeface="Calibri"/>
                <a:cs typeface="Calibri"/>
              </a:rPr>
              <a:t> </a:t>
            </a:r>
            <a:r>
              <a:rPr sz="2000" spc="-50" dirty="0">
                <a:latin typeface="Calibri"/>
                <a:cs typeface="Calibri"/>
              </a:rPr>
              <a:t>x </a:t>
            </a:r>
            <a:r>
              <a:rPr sz="2000" dirty="0">
                <a:latin typeface="Calibri"/>
                <a:cs typeface="Calibri"/>
              </a:rPr>
              <a:t>correct</a:t>
            </a:r>
            <a:r>
              <a:rPr sz="2000" spc="-45" dirty="0">
                <a:latin typeface="Calibri"/>
                <a:cs typeface="Calibri"/>
              </a:rPr>
              <a:t> </a:t>
            </a:r>
            <a:r>
              <a:rPr sz="2000" dirty="0">
                <a:latin typeface="Calibri"/>
                <a:cs typeface="Calibri"/>
              </a:rPr>
              <a:t>bugs</a:t>
            </a:r>
            <a:r>
              <a:rPr sz="2000" spc="-45" dirty="0">
                <a:latin typeface="Calibri"/>
                <a:cs typeface="Calibri"/>
              </a:rPr>
              <a:t> </a:t>
            </a:r>
            <a:r>
              <a:rPr sz="2000" dirty="0">
                <a:latin typeface="Calibri"/>
                <a:cs typeface="Calibri"/>
              </a:rPr>
              <a:t>and</a:t>
            </a:r>
            <a:r>
              <a:rPr sz="2000" spc="-50" dirty="0">
                <a:latin typeface="Calibri"/>
                <a:cs typeface="Calibri"/>
              </a:rPr>
              <a:t> </a:t>
            </a:r>
            <a:r>
              <a:rPr sz="2000" dirty="0">
                <a:latin typeface="Calibri"/>
                <a:cs typeface="Calibri"/>
              </a:rPr>
              <a:t>add</a:t>
            </a:r>
            <a:r>
              <a:rPr sz="2000" spc="-50" dirty="0">
                <a:latin typeface="Calibri"/>
                <a:cs typeface="Calibri"/>
              </a:rPr>
              <a:t> </a:t>
            </a:r>
            <a:r>
              <a:rPr sz="2000" dirty="0">
                <a:latin typeface="Calibri"/>
                <a:cs typeface="Calibri"/>
              </a:rPr>
              <a:t>intended</a:t>
            </a:r>
            <a:r>
              <a:rPr sz="2000" spc="-55" dirty="0">
                <a:latin typeface="Calibri"/>
                <a:cs typeface="Calibri"/>
              </a:rPr>
              <a:t> </a:t>
            </a:r>
            <a:r>
              <a:rPr sz="2000" dirty="0">
                <a:latin typeface="Calibri"/>
                <a:cs typeface="Calibri"/>
              </a:rPr>
              <a:t>functionality</a:t>
            </a:r>
            <a:r>
              <a:rPr sz="2000" spc="-60" dirty="0">
                <a:latin typeface="Calibri"/>
                <a:cs typeface="Calibri"/>
              </a:rPr>
              <a:t> </a:t>
            </a:r>
            <a:r>
              <a:rPr sz="2000" dirty="0">
                <a:latin typeface="Calibri"/>
                <a:cs typeface="Calibri"/>
              </a:rPr>
              <a:t>to</a:t>
            </a:r>
            <a:r>
              <a:rPr sz="2000" spc="-55" dirty="0">
                <a:latin typeface="Calibri"/>
                <a:cs typeface="Calibri"/>
              </a:rPr>
              <a:t> </a:t>
            </a:r>
            <a:r>
              <a:rPr sz="2000" dirty="0">
                <a:latin typeface="Calibri"/>
                <a:cs typeface="Calibri"/>
              </a:rPr>
              <a:t>the</a:t>
            </a:r>
            <a:r>
              <a:rPr sz="2000" spc="-45" dirty="0">
                <a:latin typeface="Calibri"/>
                <a:cs typeface="Calibri"/>
              </a:rPr>
              <a:t> </a:t>
            </a:r>
            <a:r>
              <a:rPr sz="2000" spc="-10" dirty="0">
                <a:latin typeface="Calibri"/>
                <a:cs typeface="Calibri"/>
              </a:rPr>
              <a:t>product.</a:t>
            </a:r>
            <a:endParaRPr sz="20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17</a:t>
            </a:r>
            <a:endParaRPr sz="1200">
              <a:latin typeface="Calibri"/>
              <a:cs typeface="Calibri"/>
            </a:endParaRPr>
          </a:p>
        </p:txBody>
      </p:sp>
      <p:pic>
        <p:nvPicPr>
          <p:cNvPr id="5" name="Picture 4">
            <a:extLst>
              <a:ext uri="{FF2B5EF4-FFF2-40B4-BE49-F238E27FC236}">
                <a16:creationId xmlns:a16="http://schemas.microsoft.com/office/drawing/2014/main" id="{CC44E113-FFB1-1778-43A4-82BA9A760F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21285" rIns="0" bIns="0" rtlCol="0">
            <a:spAutoFit/>
          </a:bodyPr>
          <a:lstStyle/>
          <a:p>
            <a:pPr marL="240665" indent="-227965" algn="just">
              <a:lnSpc>
                <a:spcPct val="100000"/>
              </a:lnSpc>
              <a:spcBef>
                <a:spcPts val="955"/>
              </a:spcBef>
              <a:buFont typeface="Arial MT"/>
              <a:buChar char="•"/>
              <a:tabLst>
                <a:tab pos="240665" algn="l"/>
              </a:tabLst>
            </a:pPr>
            <a:r>
              <a:rPr u="none" dirty="0"/>
              <a:t>Options</a:t>
            </a:r>
            <a:r>
              <a:rPr u="none" spc="-80" dirty="0"/>
              <a:t> </a:t>
            </a:r>
            <a:r>
              <a:rPr dirty="0"/>
              <a:t>when</a:t>
            </a:r>
            <a:r>
              <a:rPr spc="-75" dirty="0"/>
              <a:t> </a:t>
            </a:r>
            <a:r>
              <a:rPr dirty="0"/>
              <a:t>resources</a:t>
            </a:r>
            <a:r>
              <a:rPr spc="-75" dirty="0"/>
              <a:t> </a:t>
            </a:r>
            <a:r>
              <a:rPr dirty="0"/>
              <a:t>are</a:t>
            </a:r>
            <a:r>
              <a:rPr spc="-85" dirty="0"/>
              <a:t> </a:t>
            </a:r>
            <a:r>
              <a:rPr spc="-10" dirty="0"/>
              <a:t>constrained</a:t>
            </a:r>
          </a:p>
          <a:p>
            <a:pPr marL="527050" marR="9525" lvl="1" indent="-248285" algn="just">
              <a:lnSpc>
                <a:spcPts val="2590"/>
              </a:lnSpc>
              <a:spcBef>
                <a:spcPts val="1065"/>
              </a:spcBef>
              <a:buSzPct val="95833"/>
              <a:buAutoNum type="arabicPeriod"/>
              <a:tabLst>
                <a:tab pos="527050" algn="l"/>
              </a:tabLst>
            </a:pPr>
            <a:r>
              <a:rPr sz="2400" b="1" i="1" dirty="0">
                <a:solidFill>
                  <a:srgbClr val="C00000"/>
                </a:solidFill>
                <a:latin typeface="Calibri"/>
                <a:cs typeface="Calibri"/>
              </a:rPr>
              <a:t>Improve</a:t>
            </a:r>
            <a:r>
              <a:rPr sz="2400" b="1" i="1" spc="370" dirty="0">
                <a:solidFill>
                  <a:srgbClr val="C00000"/>
                </a:solidFill>
                <a:latin typeface="Calibri"/>
                <a:cs typeface="Calibri"/>
              </a:rPr>
              <a:t> </a:t>
            </a:r>
            <a:r>
              <a:rPr sz="2400" b="1" i="1" dirty="0">
                <a:solidFill>
                  <a:srgbClr val="C00000"/>
                </a:solidFill>
                <a:latin typeface="Calibri"/>
                <a:cs typeface="Calibri"/>
              </a:rPr>
              <a:t>the</a:t>
            </a:r>
            <a:r>
              <a:rPr sz="2400" b="1" i="1" spc="370" dirty="0">
                <a:solidFill>
                  <a:srgbClr val="C00000"/>
                </a:solidFill>
                <a:latin typeface="Calibri"/>
                <a:cs typeface="Calibri"/>
              </a:rPr>
              <a:t> </a:t>
            </a:r>
            <a:r>
              <a:rPr sz="2400" b="1" i="1" dirty="0">
                <a:solidFill>
                  <a:srgbClr val="C00000"/>
                </a:solidFill>
                <a:latin typeface="Calibri"/>
                <a:cs typeface="Calibri"/>
              </a:rPr>
              <a:t>Efficiency</a:t>
            </a:r>
            <a:r>
              <a:rPr sz="2400" b="1" i="1" spc="370" dirty="0">
                <a:solidFill>
                  <a:srgbClr val="C00000"/>
                </a:solidFill>
                <a:latin typeface="Calibri"/>
                <a:cs typeface="Calibri"/>
              </a:rPr>
              <a:t> </a:t>
            </a:r>
            <a:r>
              <a:rPr sz="2400" b="1" i="1" dirty="0">
                <a:solidFill>
                  <a:srgbClr val="C00000"/>
                </a:solidFill>
                <a:latin typeface="Calibri"/>
                <a:cs typeface="Calibri"/>
              </a:rPr>
              <a:t>of</a:t>
            </a:r>
            <a:r>
              <a:rPr sz="2400" b="1" i="1" spc="380" dirty="0">
                <a:solidFill>
                  <a:srgbClr val="C00000"/>
                </a:solidFill>
                <a:latin typeface="Calibri"/>
                <a:cs typeface="Calibri"/>
              </a:rPr>
              <a:t> </a:t>
            </a:r>
            <a:r>
              <a:rPr sz="2400" b="1" i="1" dirty="0">
                <a:solidFill>
                  <a:srgbClr val="C00000"/>
                </a:solidFill>
                <a:latin typeface="Calibri"/>
                <a:cs typeface="Calibri"/>
              </a:rPr>
              <a:t>the</a:t>
            </a:r>
            <a:r>
              <a:rPr sz="2400" b="1" i="1" spc="370" dirty="0">
                <a:solidFill>
                  <a:srgbClr val="C00000"/>
                </a:solidFill>
                <a:latin typeface="Calibri"/>
                <a:cs typeface="Calibri"/>
              </a:rPr>
              <a:t> </a:t>
            </a:r>
            <a:r>
              <a:rPr sz="2400" b="1" i="1" dirty="0">
                <a:solidFill>
                  <a:srgbClr val="C00000"/>
                </a:solidFill>
                <a:latin typeface="Calibri"/>
                <a:cs typeface="Calibri"/>
              </a:rPr>
              <a:t>Project</a:t>
            </a:r>
            <a:r>
              <a:rPr sz="2400" b="1" i="1" spc="375" dirty="0">
                <a:solidFill>
                  <a:srgbClr val="C00000"/>
                </a:solidFill>
                <a:latin typeface="Calibri"/>
                <a:cs typeface="Calibri"/>
              </a:rPr>
              <a:t> </a:t>
            </a:r>
            <a:r>
              <a:rPr sz="2400" b="1" i="1" dirty="0">
                <a:solidFill>
                  <a:srgbClr val="C00000"/>
                </a:solidFill>
                <a:latin typeface="Calibri"/>
                <a:cs typeface="Calibri"/>
              </a:rPr>
              <a:t>Team</a:t>
            </a:r>
            <a:r>
              <a:rPr sz="2400" b="1" i="1" dirty="0">
                <a:latin typeface="Calibri"/>
                <a:cs typeface="Calibri"/>
              </a:rPr>
              <a:t>:</a:t>
            </a:r>
            <a:r>
              <a:rPr sz="2400" b="1" i="1" spc="370" dirty="0">
                <a:latin typeface="Calibri"/>
                <a:cs typeface="Calibri"/>
              </a:rPr>
              <a:t> </a:t>
            </a:r>
            <a:r>
              <a:rPr sz="2400" dirty="0">
                <a:latin typeface="Calibri"/>
                <a:cs typeface="Calibri"/>
              </a:rPr>
              <a:t>For</a:t>
            </a:r>
            <a:r>
              <a:rPr sz="2400" spc="375" dirty="0">
                <a:latin typeface="Calibri"/>
                <a:cs typeface="Calibri"/>
              </a:rPr>
              <a:t> </a:t>
            </a:r>
            <a:r>
              <a:rPr sz="2400" dirty="0">
                <a:latin typeface="Calibri"/>
                <a:cs typeface="Calibri"/>
              </a:rPr>
              <a:t>ex.:</a:t>
            </a:r>
            <a:r>
              <a:rPr sz="2400" spc="365" dirty="0">
                <a:latin typeface="Calibri"/>
                <a:cs typeface="Calibri"/>
              </a:rPr>
              <a:t> </a:t>
            </a:r>
            <a:r>
              <a:rPr sz="2400" dirty="0">
                <a:latin typeface="Calibri"/>
                <a:cs typeface="Calibri"/>
              </a:rPr>
              <a:t>eliminating</a:t>
            </a:r>
            <a:r>
              <a:rPr sz="2400" spc="370" dirty="0">
                <a:latin typeface="Calibri"/>
                <a:cs typeface="Calibri"/>
              </a:rPr>
              <a:t> </a:t>
            </a:r>
            <a:r>
              <a:rPr sz="2400" dirty="0">
                <a:latin typeface="Calibri"/>
                <a:cs typeface="Calibri"/>
              </a:rPr>
              <a:t>barriers</a:t>
            </a:r>
            <a:r>
              <a:rPr sz="2400" spc="375" dirty="0">
                <a:latin typeface="Calibri"/>
                <a:cs typeface="Calibri"/>
              </a:rPr>
              <a:t> </a:t>
            </a:r>
            <a:r>
              <a:rPr sz="2400" spc="-25" dirty="0">
                <a:latin typeface="Calibri"/>
                <a:cs typeface="Calibri"/>
              </a:rPr>
              <a:t>to </a:t>
            </a:r>
            <a:r>
              <a:rPr sz="2400" spc="-10" dirty="0">
                <a:latin typeface="Calibri"/>
                <a:cs typeface="Calibri"/>
              </a:rPr>
              <a:t>productivity</a:t>
            </a:r>
            <a:r>
              <a:rPr sz="2400" spc="-65" dirty="0">
                <a:latin typeface="Calibri"/>
                <a:cs typeface="Calibri"/>
              </a:rPr>
              <a:t> </a:t>
            </a:r>
            <a:r>
              <a:rPr sz="2400" dirty="0">
                <a:latin typeface="Calibri"/>
                <a:cs typeface="Calibri"/>
              </a:rPr>
              <a:t>such</a:t>
            </a:r>
            <a:r>
              <a:rPr sz="2400" spc="-65" dirty="0">
                <a:latin typeface="Calibri"/>
                <a:cs typeface="Calibri"/>
              </a:rPr>
              <a:t> </a:t>
            </a:r>
            <a:r>
              <a:rPr sz="2400" dirty="0">
                <a:latin typeface="Calibri"/>
                <a:cs typeface="Calibri"/>
              </a:rPr>
              <a:t>as</a:t>
            </a:r>
            <a:r>
              <a:rPr sz="2400" spc="-70" dirty="0">
                <a:latin typeface="Calibri"/>
                <a:cs typeface="Calibri"/>
              </a:rPr>
              <a:t> </a:t>
            </a:r>
            <a:r>
              <a:rPr sz="2400" spc="-10" dirty="0">
                <a:latin typeface="Calibri"/>
                <a:cs typeface="Calibri"/>
              </a:rPr>
              <a:t>excessive</a:t>
            </a:r>
            <a:r>
              <a:rPr sz="2400" spc="-65" dirty="0">
                <a:latin typeface="Calibri"/>
                <a:cs typeface="Calibri"/>
              </a:rPr>
              <a:t> </a:t>
            </a:r>
            <a:r>
              <a:rPr sz="2400" spc="-10" dirty="0">
                <a:latin typeface="Calibri"/>
                <a:cs typeface="Calibri"/>
              </a:rPr>
              <a:t>bureaucratic</a:t>
            </a:r>
            <a:r>
              <a:rPr sz="2400" spc="-70" dirty="0">
                <a:latin typeface="Calibri"/>
                <a:cs typeface="Calibri"/>
              </a:rPr>
              <a:t> </a:t>
            </a:r>
            <a:r>
              <a:rPr sz="2400" spc="-10" dirty="0">
                <a:latin typeface="Calibri"/>
                <a:cs typeface="Calibri"/>
              </a:rPr>
              <a:t>interference</a:t>
            </a:r>
            <a:r>
              <a:rPr sz="2400" spc="-60" dirty="0">
                <a:latin typeface="Calibri"/>
                <a:cs typeface="Calibri"/>
              </a:rPr>
              <a:t> </a:t>
            </a:r>
            <a:r>
              <a:rPr sz="2400" dirty="0">
                <a:latin typeface="Calibri"/>
                <a:cs typeface="Calibri"/>
              </a:rPr>
              <a:t>and</a:t>
            </a:r>
            <a:r>
              <a:rPr sz="2400" spc="-65" dirty="0">
                <a:latin typeface="Calibri"/>
                <a:cs typeface="Calibri"/>
              </a:rPr>
              <a:t> </a:t>
            </a:r>
            <a:r>
              <a:rPr sz="2400" dirty="0">
                <a:latin typeface="Calibri"/>
                <a:cs typeface="Calibri"/>
              </a:rPr>
              <a:t>red</a:t>
            </a:r>
            <a:r>
              <a:rPr sz="2400" spc="-65" dirty="0">
                <a:latin typeface="Calibri"/>
                <a:cs typeface="Calibri"/>
              </a:rPr>
              <a:t> </a:t>
            </a:r>
            <a:r>
              <a:rPr sz="2400" spc="-10" dirty="0">
                <a:latin typeface="Calibri"/>
                <a:cs typeface="Calibri"/>
              </a:rPr>
              <a:t>tape.</a:t>
            </a:r>
            <a:endParaRPr sz="2400" dirty="0">
              <a:latin typeface="Calibri"/>
              <a:cs typeface="Calibri"/>
            </a:endParaRPr>
          </a:p>
          <a:p>
            <a:pPr marL="527050" marR="5080" lvl="1" indent="-241300" algn="just">
              <a:lnSpc>
                <a:spcPct val="89600"/>
              </a:lnSpc>
              <a:spcBef>
                <a:spcPts val="985"/>
              </a:spcBef>
              <a:buAutoNum type="arabicPeriod"/>
              <a:tabLst>
                <a:tab pos="527050" algn="l"/>
                <a:tab pos="593725" algn="l"/>
              </a:tabLst>
            </a:pPr>
            <a:r>
              <a:rPr sz="2400" b="1" i="1" dirty="0">
                <a:latin typeface="Calibri"/>
                <a:cs typeface="Calibri"/>
              </a:rPr>
              <a:t>	</a:t>
            </a:r>
            <a:r>
              <a:rPr sz="2400" b="1" i="1" spc="-35" dirty="0">
                <a:solidFill>
                  <a:srgbClr val="C00000"/>
                </a:solidFill>
                <a:latin typeface="Calibri"/>
                <a:cs typeface="Calibri"/>
              </a:rPr>
              <a:t>Fast-</a:t>
            </a:r>
            <a:r>
              <a:rPr sz="2400" b="1" i="1" dirty="0">
                <a:solidFill>
                  <a:srgbClr val="C00000"/>
                </a:solidFill>
                <a:latin typeface="Calibri"/>
                <a:cs typeface="Calibri"/>
              </a:rPr>
              <a:t>Tracking</a:t>
            </a:r>
            <a:r>
              <a:rPr sz="2400" b="1" i="1" dirty="0">
                <a:latin typeface="Calibri"/>
                <a:cs typeface="Calibri"/>
              </a:rPr>
              <a:t>:</a:t>
            </a:r>
            <a:r>
              <a:rPr sz="2400" b="1" i="1" spc="280" dirty="0">
                <a:latin typeface="Calibri"/>
                <a:cs typeface="Calibri"/>
              </a:rPr>
              <a:t> </a:t>
            </a:r>
            <a:r>
              <a:rPr sz="2400" dirty="0">
                <a:latin typeface="Calibri"/>
                <a:cs typeface="Calibri"/>
              </a:rPr>
              <a:t>Sometimes</a:t>
            </a:r>
            <a:r>
              <a:rPr sz="2400" spc="280" dirty="0">
                <a:latin typeface="Calibri"/>
                <a:cs typeface="Calibri"/>
              </a:rPr>
              <a:t> </a:t>
            </a:r>
            <a:r>
              <a:rPr sz="2400" dirty="0">
                <a:latin typeface="Calibri"/>
                <a:cs typeface="Calibri"/>
              </a:rPr>
              <a:t>it</a:t>
            </a:r>
            <a:r>
              <a:rPr sz="2400" spc="275" dirty="0">
                <a:latin typeface="Calibri"/>
                <a:cs typeface="Calibri"/>
              </a:rPr>
              <a:t> </a:t>
            </a:r>
            <a:r>
              <a:rPr sz="2400" dirty="0">
                <a:latin typeface="Calibri"/>
                <a:cs typeface="Calibri"/>
              </a:rPr>
              <a:t>is</a:t>
            </a:r>
            <a:r>
              <a:rPr sz="2400" spc="285" dirty="0">
                <a:latin typeface="Calibri"/>
                <a:cs typeface="Calibri"/>
              </a:rPr>
              <a:t> </a:t>
            </a:r>
            <a:r>
              <a:rPr sz="2400" dirty="0">
                <a:latin typeface="Calibri"/>
                <a:cs typeface="Calibri"/>
              </a:rPr>
              <a:t>possible</a:t>
            </a:r>
            <a:r>
              <a:rPr sz="2400" spc="285" dirty="0">
                <a:latin typeface="Calibri"/>
                <a:cs typeface="Calibri"/>
              </a:rPr>
              <a:t> </a:t>
            </a:r>
            <a:r>
              <a:rPr sz="2400" dirty="0">
                <a:latin typeface="Calibri"/>
                <a:cs typeface="Calibri"/>
              </a:rPr>
              <a:t>to</a:t>
            </a:r>
            <a:r>
              <a:rPr sz="2400" spc="280" dirty="0">
                <a:latin typeface="Calibri"/>
                <a:cs typeface="Calibri"/>
              </a:rPr>
              <a:t> </a:t>
            </a:r>
            <a:r>
              <a:rPr sz="2400" dirty="0">
                <a:latin typeface="Calibri"/>
                <a:cs typeface="Calibri"/>
              </a:rPr>
              <a:t>rearrange</a:t>
            </a:r>
            <a:r>
              <a:rPr sz="2400" spc="290" dirty="0">
                <a:latin typeface="Calibri"/>
                <a:cs typeface="Calibri"/>
              </a:rPr>
              <a:t> </a:t>
            </a:r>
            <a:r>
              <a:rPr sz="2400" dirty="0">
                <a:latin typeface="Calibri"/>
                <a:cs typeface="Calibri"/>
              </a:rPr>
              <a:t>the</a:t>
            </a:r>
            <a:r>
              <a:rPr sz="2400" spc="290" dirty="0">
                <a:latin typeface="Calibri"/>
                <a:cs typeface="Calibri"/>
              </a:rPr>
              <a:t> </a:t>
            </a:r>
            <a:r>
              <a:rPr sz="2400" dirty="0">
                <a:latin typeface="Calibri"/>
                <a:cs typeface="Calibri"/>
              </a:rPr>
              <a:t>logic</a:t>
            </a:r>
            <a:r>
              <a:rPr sz="2400" spc="285" dirty="0">
                <a:latin typeface="Calibri"/>
                <a:cs typeface="Calibri"/>
              </a:rPr>
              <a:t> </a:t>
            </a:r>
            <a:r>
              <a:rPr sz="2400" dirty="0">
                <a:latin typeface="Calibri"/>
                <a:cs typeface="Calibri"/>
              </a:rPr>
              <a:t>of</a:t>
            </a:r>
            <a:r>
              <a:rPr sz="2400" spc="285" dirty="0">
                <a:latin typeface="Calibri"/>
                <a:cs typeface="Calibri"/>
              </a:rPr>
              <a:t> </a:t>
            </a:r>
            <a:r>
              <a:rPr sz="2400" dirty="0">
                <a:latin typeface="Calibri"/>
                <a:cs typeface="Calibri"/>
              </a:rPr>
              <a:t>the</a:t>
            </a:r>
            <a:r>
              <a:rPr sz="2400" spc="290" dirty="0">
                <a:latin typeface="Calibri"/>
                <a:cs typeface="Calibri"/>
              </a:rPr>
              <a:t> </a:t>
            </a:r>
            <a:r>
              <a:rPr sz="2400" spc="-10" dirty="0">
                <a:latin typeface="Calibri"/>
                <a:cs typeface="Calibri"/>
              </a:rPr>
              <a:t>project </a:t>
            </a:r>
            <a:r>
              <a:rPr sz="2400" dirty="0">
                <a:latin typeface="Calibri"/>
                <a:cs typeface="Calibri"/>
              </a:rPr>
              <a:t>network</a:t>
            </a:r>
            <a:r>
              <a:rPr sz="2400" spc="-20" dirty="0">
                <a:latin typeface="Calibri"/>
                <a:cs typeface="Calibri"/>
              </a:rPr>
              <a:t> </a:t>
            </a:r>
            <a:r>
              <a:rPr sz="2400" dirty="0">
                <a:latin typeface="Calibri"/>
                <a:cs typeface="Calibri"/>
              </a:rPr>
              <a:t>so</a:t>
            </a:r>
            <a:r>
              <a:rPr sz="2400" spc="-15" dirty="0">
                <a:latin typeface="Calibri"/>
                <a:cs typeface="Calibri"/>
              </a:rPr>
              <a:t> </a:t>
            </a:r>
            <a:r>
              <a:rPr sz="2400" dirty="0">
                <a:latin typeface="Calibri"/>
                <a:cs typeface="Calibri"/>
              </a:rPr>
              <a:t>that</a:t>
            </a:r>
            <a:r>
              <a:rPr sz="2400" spc="-15" dirty="0">
                <a:latin typeface="Calibri"/>
                <a:cs typeface="Calibri"/>
              </a:rPr>
              <a:t> </a:t>
            </a:r>
            <a:r>
              <a:rPr sz="2400" dirty="0">
                <a:latin typeface="Calibri"/>
                <a:cs typeface="Calibri"/>
              </a:rPr>
              <a:t>critical</a:t>
            </a:r>
            <a:r>
              <a:rPr sz="2400" spc="-15" dirty="0">
                <a:latin typeface="Calibri"/>
                <a:cs typeface="Calibri"/>
              </a:rPr>
              <a:t> </a:t>
            </a:r>
            <a:r>
              <a:rPr sz="2400" dirty="0">
                <a:latin typeface="Calibri"/>
                <a:cs typeface="Calibri"/>
              </a:rPr>
              <a:t>activities</a:t>
            </a:r>
            <a:r>
              <a:rPr sz="2400" spc="-20" dirty="0">
                <a:latin typeface="Calibri"/>
                <a:cs typeface="Calibri"/>
              </a:rPr>
              <a:t> </a:t>
            </a:r>
            <a:r>
              <a:rPr sz="2400" dirty="0">
                <a:latin typeface="Calibri"/>
                <a:cs typeface="Calibri"/>
              </a:rPr>
              <a:t>are</a:t>
            </a:r>
            <a:r>
              <a:rPr sz="2400" spc="-5" dirty="0">
                <a:latin typeface="Calibri"/>
                <a:cs typeface="Calibri"/>
              </a:rPr>
              <a:t> </a:t>
            </a:r>
            <a:r>
              <a:rPr sz="2400" dirty="0">
                <a:latin typeface="Calibri"/>
                <a:cs typeface="Calibri"/>
              </a:rPr>
              <a:t>done</a:t>
            </a:r>
            <a:r>
              <a:rPr sz="2400" spc="-10" dirty="0">
                <a:latin typeface="Calibri"/>
                <a:cs typeface="Calibri"/>
              </a:rPr>
              <a:t> </a:t>
            </a:r>
            <a:r>
              <a:rPr sz="2400" dirty="0">
                <a:latin typeface="Calibri"/>
                <a:cs typeface="Calibri"/>
              </a:rPr>
              <a:t>in</a:t>
            </a:r>
            <a:r>
              <a:rPr sz="2400" spc="-10" dirty="0">
                <a:latin typeface="Calibri"/>
                <a:cs typeface="Calibri"/>
              </a:rPr>
              <a:t> </a:t>
            </a:r>
            <a:r>
              <a:rPr sz="2400" dirty="0">
                <a:latin typeface="Calibri"/>
                <a:cs typeface="Calibri"/>
              </a:rPr>
              <a:t>parallel</a:t>
            </a:r>
            <a:r>
              <a:rPr sz="2400" spc="-10" dirty="0">
                <a:latin typeface="Calibri"/>
                <a:cs typeface="Calibri"/>
              </a:rPr>
              <a:t> (concurrently)</a:t>
            </a:r>
            <a:r>
              <a:rPr sz="2400" spc="-15" dirty="0">
                <a:latin typeface="Calibri"/>
                <a:cs typeface="Calibri"/>
              </a:rPr>
              <a:t> </a:t>
            </a:r>
            <a:r>
              <a:rPr sz="2400" dirty="0">
                <a:latin typeface="Calibri"/>
                <a:cs typeface="Calibri"/>
              </a:rPr>
              <a:t>rather</a:t>
            </a:r>
            <a:r>
              <a:rPr sz="2400" spc="-10" dirty="0">
                <a:latin typeface="Calibri"/>
                <a:cs typeface="Calibri"/>
              </a:rPr>
              <a:t> </a:t>
            </a:r>
            <a:r>
              <a:rPr sz="2400" spc="-20" dirty="0">
                <a:latin typeface="Calibri"/>
                <a:cs typeface="Calibri"/>
              </a:rPr>
              <a:t>than </a:t>
            </a:r>
            <a:r>
              <a:rPr sz="2400" spc="-10" dirty="0">
                <a:latin typeface="Calibri"/>
                <a:cs typeface="Calibri"/>
              </a:rPr>
              <a:t>sequentially.</a:t>
            </a:r>
            <a:r>
              <a:rPr sz="2400" spc="45" dirty="0">
                <a:latin typeface="Calibri"/>
                <a:cs typeface="Calibri"/>
              </a:rPr>
              <a:t> </a:t>
            </a:r>
            <a:r>
              <a:rPr sz="2400" dirty="0">
                <a:latin typeface="Calibri"/>
                <a:cs typeface="Calibri"/>
              </a:rPr>
              <a:t>This</a:t>
            </a:r>
            <a:r>
              <a:rPr sz="2400" spc="50" dirty="0">
                <a:latin typeface="Calibri"/>
                <a:cs typeface="Calibri"/>
              </a:rPr>
              <a:t> </a:t>
            </a:r>
            <a:r>
              <a:rPr sz="2400" dirty="0">
                <a:latin typeface="Calibri"/>
                <a:cs typeface="Calibri"/>
              </a:rPr>
              <a:t>is</a:t>
            </a:r>
            <a:r>
              <a:rPr sz="2400" spc="50" dirty="0">
                <a:latin typeface="Calibri"/>
                <a:cs typeface="Calibri"/>
              </a:rPr>
              <a:t> </a:t>
            </a:r>
            <a:r>
              <a:rPr sz="2400" dirty="0">
                <a:latin typeface="Calibri"/>
                <a:cs typeface="Calibri"/>
              </a:rPr>
              <a:t>commonly</a:t>
            </a:r>
            <a:r>
              <a:rPr sz="2400" spc="50" dirty="0">
                <a:latin typeface="Calibri"/>
                <a:cs typeface="Calibri"/>
              </a:rPr>
              <a:t> </a:t>
            </a:r>
            <a:r>
              <a:rPr sz="2400" dirty="0">
                <a:latin typeface="Calibri"/>
                <a:cs typeface="Calibri"/>
              </a:rPr>
              <a:t>referred</a:t>
            </a:r>
            <a:r>
              <a:rPr sz="2400" spc="50"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as</a:t>
            </a:r>
            <a:r>
              <a:rPr sz="2400" spc="50" dirty="0">
                <a:latin typeface="Calibri"/>
                <a:cs typeface="Calibri"/>
              </a:rPr>
              <a:t> </a:t>
            </a:r>
            <a:r>
              <a:rPr sz="2400" b="1" dirty="0">
                <a:latin typeface="Calibri"/>
                <a:cs typeface="Calibri"/>
              </a:rPr>
              <a:t>fast</a:t>
            </a:r>
            <a:r>
              <a:rPr sz="2400" b="1" spc="55" dirty="0">
                <a:latin typeface="Calibri"/>
                <a:cs typeface="Calibri"/>
              </a:rPr>
              <a:t> </a:t>
            </a:r>
            <a:r>
              <a:rPr sz="2400" b="1" dirty="0">
                <a:latin typeface="Calibri"/>
                <a:cs typeface="Calibri"/>
              </a:rPr>
              <a:t>tracking</a:t>
            </a:r>
            <a:r>
              <a:rPr sz="2400" b="1" spc="50" dirty="0">
                <a:latin typeface="Calibri"/>
                <a:cs typeface="Calibri"/>
              </a:rPr>
              <a:t> </a:t>
            </a:r>
            <a:r>
              <a:rPr sz="2400" dirty="0">
                <a:latin typeface="Calibri"/>
                <a:cs typeface="Calibri"/>
              </a:rPr>
              <a:t>but</a:t>
            </a:r>
            <a:r>
              <a:rPr sz="2400" spc="45" dirty="0">
                <a:latin typeface="Calibri"/>
                <a:cs typeface="Calibri"/>
              </a:rPr>
              <a:t> </a:t>
            </a:r>
            <a:r>
              <a:rPr sz="2400" dirty="0">
                <a:latin typeface="Calibri"/>
                <a:cs typeface="Calibri"/>
              </a:rPr>
              <a:t>it</a:t>
            </a:r>
            <a:r>
              <a:rPr sz="2400" spc="50" dirty="0">
                <a:latin typeface="Calibri"/>
                <a:cs typeface="Calibri"/>
              </a:rPr>
              <a:t> </a:t>
            </a:r>
            <a:r>
              <a:rPr sz="2400" dirty="0">
                <a:latin typeface="Calibri"/>
                <a:cs typeface="Calibri"/>
              </a:rPr>
              <a:t>requires</a:t>
            </a:r>
            <a:r>
              <a:rPr sz="2400" spc="55" dirty="0">
                <a:latin typeface="Calibri"/>
                <a:cs typeface="Calibri"/>
              </a:rPr>
              <a:t> </a:t>
            </a:r>
            <a:r>
              <a:rPr sz="2400" spc="-10" dirty="0">
                <a:latin typeface="Calibri"/>
                <a:cs typeface="Calibri"/>
              </a:rPr>
              <a:t>close </a:t>
            </a:r>
            <a:r>
              <a:rPr sz="2400" dirty="0">
                <a:latin typeface="Calibri"/>
                <a:cs typeface="Calibri"/>
              </a:rPr>
              <a:t>coordination</a:t>
            </a:r>
            <a:r>
              <a:rPr sz="2400" spc="355" dirty="0">
                <a:latin typeface="Calibri"/>
                <a:cs typeface="Calibri"/>
              </a:rPr>
              <a:t>  </a:t>
            </a:r>
            <a:r>
              <a:rPr sz="2400" dirty="0">
                <a:latin typeface="Calibri"/>
                <a:cs typeface="Calibri"/>
              </a:rPr>
              <a:t>among</a:t>
            </a:r>
            <a:r>
              <a:rPr sz="2400" spc="360" dirty="0">
                <a:latin typeface="Calibri"/>
                <a:cs typeface="Calibri"/>
              </a:rPr>
              <a:t>  </a:t>
            </a:r>
            <a:r>
              <a:rPr sz="2400" dirty="0">
                <a:latin typeface="Calibri"/>
                <a:cs typeface="Calibri"/>
              </a:rPr>
              <a:t>those</a:t>
            </a:r>
            <a:r>
              <a:rPr sz="2400" spc="360" dirty="0">
                <a:latin typeface="Calibri"/>
                <a:cs typeface="Calibri"/>
              </a:rPr>
              <a:t>  </a:t>
            </a:r>
            <a:r>
              <a:rPr sz="2400" dirty="0">
                <a:latin typeface="Calibri"/>
                <a:cs typeface="Calibri"/>
              </a:rPr>
              <a:t>responsible</a:t>
            </a:r>
            <a:r>
              <a:rPr sz="2400" spc="360" dirty="0">
                <a:latin typeface="Calibri"/>
                <a:cs typeface="Calibri"/>
              </a:rPr>
              <a:t>  </a:t>
            </a:r>
            <a:r>
              <a:rPr sz="2400" dirty="0">
                <a:latin typeface="Calibri"/>
                <a:cs typeface="Calibri"/>
              </a:rPr>
              <a:t>for</a:t>
            </a:r>
            <a:r>
              <a:rPr sz="2400" spc="360" dirty="0">
                <a:latin typeface="Calibri"/>
                <a:cs typeface="Calibri"/>
              </a:rPr>
              <a:t>  </a:t>
            </a:r>
            <a:r>
              <a:rPr sz="2400" dirty="0">
                <a:latin typeface="Calibri"/>
                <a:cs typeface="Calibri"/>
              </a:rPr>
              <a:t>the</a:t>
            </a:r>
            <a:r>
              <a:rPr sz="2400" spc="360" dirty="0">
                <a:latin typeface="Calibri"/>
                <a:cs typeface="Calibri"/>
              </a:rPr>
              <a:t>  </a:t>
            </a:r>
            <a:r>
              <a:rPr sz="2400" dirty="0">
                <a:latin typeface="Calibri"/>
                <a:cs typeface="Calibri"/>
              </a:rPr>
              <a:t>activities</a:t>
            </a:r>
            <a:r>
              <a:rPr sz="2400" spc="355" dirty="0">
                <a:latin typeface="Calibri"/>
                <a:cs typeface="Calibri"/>
              </a:rPr>
              <a:t>  </a:t>
            </a:r>
            <a:r>
              <a:rPr sz="2400" dirty="0">
                <a:latin typeface="Calibri"/>
                <a:cs typeface="Calibri"/>
              </a:rPr>
              <a:t>affected</a:t>
            </a:r>
            <a:r>
              <a:rPr sz="2400" spc="360" dirty="0">
                <a:latin typeface="Calibri"/>
                <a:cs typeface="Calibri"/>
              </a:rPr>
              <a:t>  </a:t>
            </a:r>
            <a:r>
              <a:rPr sz="2400" spc="-25" dirty="0">
                <a:latin typeface="Calibri"/>
                <a:cs typeface="Calibri"/>
              </a:rPr>
              <a:t>and </a:t>
            </a:r>
            <a:r>
              <a:rPr sz="2400" dirty="0">
                <a:latin typeface="Calibri"/>
                <a:cs typeface="Calibri"/>
              </a:rPr>
              <a:t>confidence</a:t>
            </a:r>
            <a:r>
              <a:rPr sz="2400" spc="-50" dirty="0">
                <a:latin typeface="Calibri"/>
                <a:cs typeface="Calibri"/>
              </a:rPr>
              <a:t> </a:t>
            </a:r>
            <a:r>
              <a:rPr sz="2400" dirty="0">
                <a:latin typeface="Calibri"/>
                <a:cs typeface="Calibri"/>
              </a:rPr>
              <a:t>in</a:t>
            </a:r>
            <a:r>
              <a:rPr sz="2400" spc="-4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work</a:t>
            </a:r>
            <a:r>
              <a:rPr sz="2400" spc="-55" dirty="0">
                <a:latin typeface="Calibri"/>
                <a:cs typeface="Calibri"/>
              </a:rPr>
              <a:t> </a:t>
            </a:r>
            <a:r>
              <a:rPr sz="2400" dirty="0">
                <a:latin typeface="Calibri"/>
                <a:cs typeface="Calibri"/>
              </a:rPr>
              <a:t>that</a:t>
            </a:r>
            <a:r>
              <a:rPr sz="2400" spc="-50" dirty="0">
                <a:latin typeface="Calibri"/>
                <a:cs typeface="Calibri"/>
              </a:rPr>
              <a:t> </a:t>
            </a:r>
            <a:r>
              <a:rPr sz="2400" dirty="0">
                <a:latin typeface="Calibri"/>
                <a:cs typeface="Calibri"/>
              </a:rPr>
              <a:t>has</a:t>
            </a:r>
            <a:r>
              <a:rPr sz="2400" spc="-50" dirty="0">
                <a:latin typeface="Calibri"/>
                <a:cs typeface="Calibri"/>
              </a:rPr>
              <a:t> </a:t>
            </a:r>
            <a:r>
              <a:rPr sz="2400" dirty="0">
                <a:latin typeface="Calibri"/>
                <a:cs typeface="Calibri"/>
              </a:rPr>
              <a:t>been</a:t>
            </a:r>
            <a:r>
              <a:rPr sz="2400" spc="-50" dirty="0">
                <a:latin typeface="Calibri"/>
                <a:cs typeface="Calibri"/>
              </a:rPr>
              <a:t> </a:t>
            </a:r>
            <a:r>
              <a:rPr sz="2400" spc="-10" dirty="0">
                <a:latin typeface="Calibri"/>
                <a:cs typeface="Calibri"/>
              </a:rPr>
              <a:t>completed</a:t>
            </a:r>
            <a:endParaRPr sz="2400" dirty="0">
              <a:latin typeface="Calibri"/>
              <a:cs typeface="Calibri"/>
            </a:endParaRPr>
          </a:p>
          <a:p>
            <a:pPr marL="526415" lvl="1" indent="-247650" algn="just">
              <a:lnSpc>
                <a:spcPct val="100000"/>
              </a:lnSpc>
              <a:spcBef>
                <a:spcPts val="720"/>
              </a:spcBef>
              <a:buSzPct val="95833"/>
              <a:buAutoNum type="arabicPeriod"/>
              <a:tabLst>
                <a:tab pos="526415" algn="l"/>
              </a:tabLst>
            </a:pPr>
            <a:r>
              <a:rPr sz="2400" b="1" i="1" dirty="0">
                <a:solidFill>
                  <a:srgbClr val="C00000"/>
                </a:solidFill>
                <a:latin typeface="Calibri"/>
                <a:cs typeface="Calibri"/>
              </a:rPr>
              <a:t>Reducing</a:t>
            </a:r>
            <a:r>
              <a:rPr sz="2400" b="1" i="1" spc="-70" dirty="0">
                <a:solidFill>
                  <a:srgbClr val="C00000"/>
                </a:solidFill>
                <a:latin typeface="Calibri"/>
                <a:cs typeface="Calibri"/>
              </a:rPr>
              <a:t> </a:t>
            </a:r>
            <a:r>
              <a:rPr sz="2400" b="1" i="1" dirty="0">
                <a:solidFill>
                  <a:srgbClr val="C00000"/>
                </a:solidFill>
                <a:latin typeface="Calibri"/>
                <a:cs typeface="Calibri"/>
              </a:rPr>
              <a:t>Project</a:t>
            </a:r>
            <a:r>
              <a:rPr sz="2400" b="1" i="1" spc="-45" dirty="0">
                <a:solidFill>
                  <a:srgbClr val="C00000"/>
                </a:solidFill>
                <a:latin typeface="Calibri"/>
                <a:cs typeface="Calibri"/>
              </a:rPr>
              <a:t> </a:t>
            </a:r>
            <a:r>
              <a:rPr sz="2400" b="1" i="1" dirty="0">
                <a:solidFill>
                  <a:srgbClr val="C00000"/>
                </a:solidFill>
                <a:latin typeface="Calibri"/>
                <a:cs typeface="Calibri"/>
              </a:rPr>
              <a:t>Scope</a:t>
            </a:r>
            <a:r>
              <a:rPr sz="2400" b="1" i="1" dirty="0">
                <a:latin typeface="Calibri"/>
                <a:cs typeface="Calibri"/>
              </a:rPr>
              <a:t>:</a:t>
            </a:r>
            <a:r>
              <a:rPr sz="2400" b="1" i="1" spc="430" dirty="0">
                <a:latin typeface="Calibri"/>
                <a:cs typeface="Calibri"/>
              </a:rPr>
              <a:t> </a:t>
            </a:r>
            <a:r>
              <a:rPr sz="2400" dirty="0">
                <a:latin typeface="Calibri"/>
                <a:cs typeface="Calibri"/>
              </a:rPr>
              <a:t>Could</a:t>
            </a:r>
            <a:r>
              <a:rPr sz="2400" spc="-50" dirty="0">
                <a:latin typeface="Calibri"/>
                <a:cs typeface="Calibri"/>
              </a:rPr>
              <a:t> </a:t>
            </a:r>
            <a:r>
              <a:rPr sz="2400" dirty="0">
                <a:latin typeface="Calibri"/>
                <a:cs typeface="Calibri"/>
              </a:rPr>
              <a:t>reduce</a:t>
            </a:r>
            <a:r>
              <a:rPr sz="2400" spc="-4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value</a:t>
            </a:r>
            <a:r>
              <a:rPr sz="2400" spc="-50"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the</a:t>
            </a:r>
            <a:r>
              <a:rPr sz="2400" spc="-45" dirty="0">
                <a:latin typeface="Calibri"/>
                <a:cs typeface="Calibri"/>
              </a:rPr>
              <a:t> </a:t>
            </a:r>
            <a:r>
              <a:rPr sz="2400" spc="-10" dirty="0">
                <a:latin typeface="Calibri"/>
                <a:cs typeface="Calibri"/>
              </a:rPr>
              <a:t>project</a:t>
            </a:r>
            <a:endParaRPr sz="2400" dirty="0">
              <a:latin typeface="Calibri"/>
              <a:cs typeface="Calibri"/>
            </a:endParaRPr>
          </a:p>
          <a:p>
            <a:pPr marL="526415" lvl="1" indent="-247650" algn="just">
              <a:lnSpc>
                <a:spcPct val="100000"/>
              </a:lnSpc>
              <a:spcBef>
                <a:spcPts val="720"/>
              </a:spcBef>
              <a:buSzPct val="95833"/>
              <a:buAutoNum type="arabicPeriod"/>
              <a:tabLst>
                <a:tab pos="526415" algn="l"/>
              </a:tabLst>
            </a:pPr>
            <a:r>
              <a:rPr sz="2400" b="1" i="1" dirty="0">
                <a:solidFill>
                  <a:srgbClr val="C00000"/>
                </a:solidFill>
                <a:latin typeface="Calibri"/>
                <a:cs typeface="Calibri"/>
              </a:rPr>
              <a:t>Compromise</a:t>
            </a:r>
            <a:r>
              <a:rPr sz="2400" b="1" i="1" spc="-60" dirty="0">
                <a:solidFill>
                  <a:srgbClr val="C00000"/>
                </a:solidFill>
                <a:latin typeface="Calibri"/>
                <a:cs typeface="Calibri"/>
              </a:rPr>
              <a:t> </a:t>
            </a:r>
            <a:r>
              <a:rPr sz="2400" b="1" i="1" dirty="0">
                <a:solidFill>
                  <a:srgbClr val="C00000"/>
                </a:solidFill>
                <a:latin typeface="Calibri"/>
                <a:cs typeface="Calibri"/>
              </a:rPr>
              <a:t>Quality</a:t>
            </a:r>
            <a:r>
              <a:rPr sz="2400" b="1" i="1" dirty="0">
                <a:latin typeface="Calibri"/>
                <a:cs typeface="Calibri"/>
              </a:rPr>
              <a:t>:</a:t>
            </a:r>
            <a:r>
              <a:rPr sz="2400" b="1" i="1" spc="-55" dirty="0">
                <a:latin typeface="Calibri"/>
                <a:cs typeface="Calibri"/>
              </a:rPr>
              <a:t> </a:t>
            </a:r>
            <a:r>
              <a:rPr sz="2400" dirty="0">
                <a:latin typeface="Calibri"/>
                <a:cs typeface="Calibri"/>
              </a:rPr>
              <a:t>It</a:t>
            </a:r>
            <a:r>
              <a:rPr sz="2400" spc="-60" dirty="0">
                <a:latin typeface="Calibri"/>
                <a:cs typeface="Calibri"/>
              </a:rPr>
              <a:t> </a:t>
            </a:r>
            <a:r>
              <a:rPr sz="2400" dirty="0">
                <a:latin typeface="Calibri"/>
                <a:cs typeface="Calibri"/>
              </a:rPr>
              <a:t>is</a:t>
            </a:r>
            <a:r>
              <a:rPr sz="2400" spc="-55" dirty="0">
                <a:latin typeface="Calibri"/>
                <a:cs typeface="Calibri"/>
              </a:rPr>
              <a:t> </a:t>
            </a:r>
            <a:r>
              <a:rPr sz="2400" spc="-10" dirty="0">
                <a:latin typeface="Calibri"/>
                <a:cs typeface="Calibri"/>
              </a:rPr>
              <a:t>rarely</a:t>
            </a:r>
            <a:r>
              <a:rPr sz="2400" spc="-55" dirty="0">
                <a:latin typeface="Calibri"/>
                <a:cs typeface="Calibri"/>
              </a:rPr>
              <a:t> </a:t>
            </a:r>
            <a:r>
              <a:rPr sz="2400" dirty="0">
                <a:latin typeface="Calibri"/>
                <a:cs typeface="Calibri"/>
              </a:rPr>
              <a:t>acceptable</a:t>
            </a:r>
            <a:r>
              <a:rPr sz="2400" spc="-60" dirty="0">
                <a:latin typeface="Calibri"/>
                <a:cs typeface="Calibri"/>
              </a:rPr>
              <a:t> </a:t>
            </a:r>
            <a:r>
              <a:rPr sz="2400" dirty="0">
                <a:latin typeface="Calibri"/>
                <a:cs typeface="Calibri"/>
              </a:rPr>
              <a:t>or</a:t>
            </a:r>
            <a:r>
              <a:rPr sz="2400" spc="-55" dirty="0">
                <a:latin typeface="Calibri"/>
                <a:cs typeface="Calibri"/>
              </a:rPr>
              <a:t> </a:t>
            </a:r>
            <a:r>
              <a:rPr sz="2400" spc="-20" dirty="0">
                <a:latin typeface="Calibri"/>
                <a:cs typeface="Calibri"/>
              </a:rPr>
              <a:t>used</a:t>
            </a:r>
            <a:endParaRPr sz="2400" dirty="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18</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Options</a:t>
            </a:r>
            <a:r>
              <a:rPr spc="125" dirty="0"/>
              <a:t> </a:t>
            </a:r>
            <a:r>
              <a:rPr spc="50" dirty="0"/>
              <a:t>for</a:t>
            </a:r>
            <a:r>
              <a:rPr spc="125" dirty="0"/>
              <a:t> </a:t>
            </a:r>
            <a:r>
              <a:rPr spc="100" dirty="0"/>
              <a:t>Accelerating</a:t>
            </a:r>
            <a:r>
              <a:rPr spc="130" dirty="0"/>
              <a:t> </a:t>
            </a:r>
            <a:r>
              <a:rPr spc="85" dirty="0"/>
              <a:t>Project</a:t>
            </a:r>
            <a:r>
              <a:rPr spc="135" dirty="0"/>
              <a:t> </a:t>
            </a:r>
            <a:r>
              <a:rPr spc="114" dirty="0"/>
              <a:t>Completion</a:t>
            </a:r>
            <a:r>
              <a:rPr spc="135" dirty="0"/>
              <a:t> </a:t>
            </a:r>
            <a:r>
              <a:rPr sz="1950" spc="-10" dirty="0"/>
              <a:t>(2/2)</a:t>
            </a:r>
            <a:endParaRPr sz="1950"/>
          </a:p>
        </p:txBody>
      </p:sp>
      <p:pic>
        <p:nvPicPr>
          <p:cNvPr id="5" name="Picture 4">
            <a:extLst>
              <a:ext uri="{FF2B5EF4-FFF2-40B4-BE49-F238E27FC236}">
                <a16:creationId xmlns:a16="http://schemas.microsoft.com/office/drawing/2014/main" id="{AC8EE02D-018D-5305-DF07-065A3D056A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Assignement</a:t>
            </a:r>
            <a:r>
              <a:rPr spc="150" dirty="0"/>
              <a:t> </a:t>
            </a:r>
            <a:r>
              <a:rPr spc="-50" dirty="0"/>
              <a:t>6</a:t>
            </a:r>
          </a:p>
        </p:txBody>
      </p:sp>
      <p:sp>
        <p:nvSpPr>
          <p:cNvPr id="3" name="object 3"/>
          <p:cNvSpPr txBox="1"/>
          <p:nvPr/>
        </p:nvSpPr>
        <p:spPr>
          <a:xfrm>
            <a:off x="927735" y="1781556"/>
            <a:ext cx="10346055" cy="4212590"/>
          </a:xfrm>
          <a:prstGeom prst="rect">
            <a:avLst/>
          </a:prstGeom>
        </p:spPr>
        <p:txBody>
          <a:bodyPr vert="horz" wrap="square" lIns="0" tIns="63500" rIns="0" bIns="0" rtlCol="0">
            <a:spAutoFit/>
          </a:bodyPr>
          <a:lstStyle/>
          <a:p>
            <a:pPr marL="405130" marR="5080" indent="-392430">
              <a:lnSpc>
                <a:spcPts val="3500"/>
              </a:lnSpc>
              <a:spcBef>
                <a:spcPts val="500"/>
              </a:spcBef>
              <a:buAutoNum type="arabicPeriod"/>
              <a:tabLst>
                <a:tab pos="405130" algn="l"/>
                <a:tab pos="1534160" algn="l"/>
                <a:tab pos="2695575" algn="l"/>
                <a:tab pos="4501515" algn="l"/>
                <a:tab pos="6642100" algn="l"/>
                <a:tab pos="8154034" algn="l"/>
                <a:tab pos="10024745" algn="l"/>
              </a:tabLst>
            </a:pPr>
            <a:r>
              <a:rPr sz="3200" spc="-25" dirty="0">
                <a:latin typeface="Calibri"/>
                <a:cs typeface="Calibri"/>
              </a:rPr>
              <a:t>How</a:t>
            </a:r>
            <a:r>
              <a:rPr sz="3200" dirty="0">
                <a:latin typeface="Calibri"/>
                <a:cs typeface="Calibri"/>
              </a:rPr>
              <a:t>	</a:t>
            </a:r>
            <a:r>
              <a:rPr sz="3200" spc="-20" dirty="0">
                <a:latin typeface="Calibri"/>
                <a:cs typeface="Calibri"/>
              </a:rPr>
              <a:t>does</a:t>
            </a:r>
            <a:r>
              <a:rPr sz="3200" dirty="0">
                <a:latin typeface="Calibri"/>
                <a:cs typeface="Calibri"/>
              </a:rPr>
              <a:t>	</a:t>
            </a:r>
            <a:r>
              <a:rPr sz="3200" spc="-10" dirty="0">
                <a:latin typeface="Calibri"/>
                <a:cs typeface="Calibri"/>
              </a:rPr>
              <a:t>resource</a:t>
            </a:r>
            <a:r>
              <a:rPr sz="3200" dirty="0">
                <a:latin typeface="Calibri"/>
                <a:cs typeface="Calibri"/>
              </a:rPr>
              <a:t>	</a:t>
            </a:r>
            <a:r>
              <a:rPr sz="3200" spc="-10" dirty="0">
                <a:latin typeface="Calibri"/>
                <a:cs typeface="Calibri"/>
              </a:rPr>
              <a:t>scheduling</a:t>
            </a:r>
            <a:r>
              <a:rPr sz="3200" dirty="0">
                <a:latin typeface="Calibri"/>
                <a:cs typeface="Calibri"/>
              </a:rPr>
              <a:t>	</a:t>
            </a:r>
            <a:r>
              <a:rPr sz="3200" spc="-10" dirty="0">
                <a:latin typeface="Calibri"/>
                <a:cs typeface="Calibri"/>
              </a:rPr>
              <a:t>reduce</a:t>
            </a:r>
            <a:r>
              <a:rPr sz="3200" dirty="0">
                <a:latin typeface="Calibri"/>
                <a:cs typeface="Calibri"/>
              </a:rPr>
              <a:t>	</a:t>
            </a:r>
            <a:r>
              <a:rPr sz="3200" spc="-10" dirty="0">
                <a:latin typeface="Calibri"/>
                <a:cs typeface="Calibri"/>
              </a:rPr>
              <a:t>flexibility</a:t>
            </a:r>
            <a:r>
              <a:rPr sz="3200" dirty="0">
                <a:latin typeface="Calibri"/>
                <a:cs typeface="Calibri"/>
              </a:rPr>
              <a:t>	</a:t>
            </a:r>
            <a:r>
              <a:rPr sz="3200" spc="-25" dirty="0">
                <a:latin typeface="Calibri"/>
                <a:cs typeface="Calibri"/>
              </a:rPr>
              <a:t>in </a:t>
            </a:r>
            <a:r>
              <a:rPr sz="3200" dirty="0">
                <a:latin typeface="Calibri"/>
                <a:cs typeface="Calibri"/>
              </a:rPr>
              <a:t>managing</a:t>
            </a:r>
            <a:r>
              <a:rPr sz="3200" spc="-100" dirty="0">
                <a:latin typeface="Calibri"/>
                <a:cs typeface="Calibri"/>
              </a:rPr>
              <a:t> </a:t>
            </a:r>
            <a:r>
              <a:rPr sz="3200" spc="-10" dirty="0">
                <a:latin typeface="Calibri"/>
                <a:cs typeface="Calibri"/>
              </a:rPr>
              <a:t>projects?</a:t>
            </a:r>
            <a:endParaRPr sz="3200">
              <a:latin typeface="Calibri"/>
              <a:cs typeface="Calibri"/>
            </a:endParaRPr>
          </a:p>
          <a:p>
            <a:pPr marL="404495" indent="-391795">
              <a:lnSpc>
                <a:spcPct val="100000"/>
              </a:lnSpc>
              <a:spcBef>
                <a:spcPts val="495"/>
              </a:spcBef>
              <a:buAutoNum type="arabicPeriod"/>
              <a:tabLst>
                <a:tab pos="404495" algn="l"/>
              </a:tabLst>
            </a:pPr>
            <a:r>
              <a:rPr sz="3200" dirty="0">
                <a:latin typeface="Calibri"/>
                <a:cs typeface="Calibri"/>
              </a:rPr>
              <a:t>Why</a:t>
            </a:r>
            <a:r>
              <a:rPr sz="3200" spc="-60" dirty="0">
                <a:latin typeface="Calibri"/>
                <a:cs typeface="Calibri"/>
              </a:rPr>
              <a:t> </a:t>
            </a:r>
            <a:r>
              <a:rPr sz="3200" dirty="0">
                <a:latin typeface="Calibri"/>
                <a:cs typeface="Calibri"/>
              </a:rPr>
              <a:t>is</a:t>
            </a:r>
            <a:r>
              <a:rPr sz="3200" spc="-70" dirty="0">
                <a:latin typeface="Calibri"/>
                <a:cs typeface="Calibri"/>
              </a:rPr>
              <a:t> </a:t>
            </a:r>
            <a:r>
              <a:rPr sz="3200" dirty="0">
                <a:latin typeface="Calibri"/>
                <a:cs typeface="Calibri"/>
              </a:rPr>
              <a:t>it</a:t>
            </a:r>
            <a:r>
              <a:rPr sz="3200" spc="-60" dirty="0">
                <a:latin typeface="Calibri"/>
                <a:cs typeface="Calibri"/>
              </a:rPr>
              <a:t> </a:t>
            </a:r>
            <a:r>
              <a:rPr sz="3200" dirty="0">
                <a:latin typeface="Calibri"/>
                <a:cs typeface="Calibri"/>
              </a:rPr>
              <a:t>critical</a:t>
            </a:r>
            <a:r>
              <a:rPr sz="3200" spc="-65" dirty="0">
                <a:latin typeface="Calibri"/>
                <a:cs typeface="Calibri"/>
              </a:rPr>
              <a:t> </a:t>
            </a:r>
            <a:r>
              <a:rPr sz="3200" dirty="0">
                <a:latin typeface="Calibri"/>
                <a:cs typeface="Calibri"/>
              </a:rPr>
              <a:t>to</a:t>
            </a:r>
            <a:r>
              <a:rPr sz="3200" spc="-60" dirty="0">
                <a:latin typeface="Calibri"/>
                <a:cs typeface="Calibri"/>
              </a:rPr>
              <a:t> </a:t>
            </a:r>
            <a:r>
              <a:rPr sz="3200" dirty="0">
                <a:latin typeface="Calibri"/>
                <a:cs typeface="Calibri"/>
              </a:rPr>
              <a:t>develop</a:t>
            </a:r>
            <a:r>
              <a:rPr sz="3200" spc="-60" dirty="0">
                <a:latin typeface="Calibri"/>
                <a:cs typeface="Calibri"/>
              </a:rPr>
              <a:t> </a:t>
            </a:r>
            <a:r>
              <a:rPr sz="3200" dirty="0">
                <a:latin typeface="Calibri"/>
                <a:cs typeface="Calibri"/>
              </a:rPr>
              <a:t>a</a:t>
            </a:r>
            <a:r>
              <a:rPr sz="3200" spc="-55" dirty="0">
                <a:latin typeface="Calibri"/>
                <a:cs typeface="Calibri"/>
              </a:rPr>
              <a:t> </a:t>
            </a:r>
            <a:r>
              <a:rPr sz="3200" spc="-10" dirty="0">
                <a:latin typeface="Calibri"/>
                <a:cs typeface="Calibri"/>
              </a:rPr>
              <a:t>time-</a:t>
            </a:r>
            <a:r>
              <a:rPr sz="3200" dirty="0">
                <a:latin typeface="Calibri"/>
                <a:cs typeface="Calibri"/>
              </a:rPr>
              <a:t>phased</a:t>
            </a:r>
            <a:r>
              <a:rPr sz="3200" spc="-60" dirty="0">
                <a:latin typeface="Calibri"/>
                <a:cs typeface="Calibri"/>
              </a:rPr>
              <a:t> </a:t>
            </a:r>
            <a:r>
              <a:rPr sz="3200" spc="-10" dirty="0">
                <a:latin typeface="Calibri"/>
                <a:cs typeface="Calibri"/>
              </a:rPr>
              <a:t>baseline?</a:t>
            </a:r>
            <a:endParaRPr sz="3200">
              <a:latin typeface="Calibri"/>
              <a:cs typeface="Calibri"/>
            </a:endParaRPr>
          </a:p>
          <a:p>
            <a:pPr marL="405130" indent="-392430">
              <a:lnSpc>
                <a:spcPct val="100000"/>
              </a:lnSpc>
              <a:spcBef>
                <a:spcPts val="760"/>
              </a:spcBef>
              <a:buAutoNum type="arabicPeriod"/>
              <a:tabLst>
                <a:tab pos="405130" algn="l"/>
              </a:tabLst>
            </a:pPr>
            <a:r>
              <a:rPr sz="2800" dirty="0">
                <a:latin typeface="Calibri"/>
                <a:cs typeface="Calibri"/>
              </a:rPr>
              <a:t>What</a:t>
            </a:r>
            <a:r>
              <a:rPr sz="2800" spc="-60" dirty="0">
                <a:latin typeface="Calibri"/>
                <a:cs typeface="Calibri"/>
              </a:rPr>
              <a:t> </a:t>
            </a:r>
            <a:r>
              <a:rPr sz="2800" dirty="0">
                <a:latin typeface="Calibri"/>
                <a:cs typeface="Calibri"/>
              </a:rPr>
              <a:t>are</a:t>
            </a:r>
            <a:r>
              <a:rPr sz="2800" spc="-70" dirty="0">
                <a:latin typeface="Calibri"/>
                <a:cs typeface="Calibri"/>
              </a:rPr>
              <a:t> </a:t>
            </a:r>
            <a:r>
              <a:rPr sz="2800" dirty="0">
                <a:latin typeface="Calibri"/>
                <a:cs typeface="Calibri"/>
              </a:rPr>
              <a:t>(5)</a:t>
            </a:r>
            <a:r>
              <a:rPr sz="2800" spc="-60" dirty="0">
                <a:latin typeface="Calibri"/>
                <a:cs typeface="Calibri"/>
              </a:rPr>
              <a:t> </a:t>
            </a:r>
            <a:r>
              <a:rPr sz="2800" dirty="0">
                <a:latin typeface="Calibri"/>
                <a:cs typeface="Calibri"/>
              </a:rPr>
              <a:t>common</a:t>
            </a:r>
            <a:r>
              <a:rPr sz="2800" spc="-55" dirty="0">
                <a:latin typeface="Calibri"/>
                <a:cs typeface="Calibri"/>
              </a:rPr>
              <a:t> </a:t>
            </a:r>
            <a:r>
              <a:rPr sz="2800" dirty="0">
                <a:latin typeface="Calibri"/>
                <a:cs typeface="Calibri"/>
              </a:rPr>
              <a:t>reasons</a:t>
            </a:r>
            <a:r>
              <a:rPr sz="2800" spc="-60" dirty="0">
                <a:latin typeface="Calibri"/>
                <a:cs typeface="Calibri"/>
              </a:rPr>
              <a:t> </a:t>
            </a:r>
            <a:r>
              <a:rPr sz="2800" dirty="0">
                <a:latin typeface="Calibri"/>
                <a:cs typeface="Calibri"/>
              </a:rPr>
              <a:t>for</a:t>
            </a:r>
            <a:r>
              <a:rPr sz="2800" spc="-65" dirty="0">
                <a:latin typeface="Calibri"/>
                <a:cs typeface="Calibri"/>
              </a:rPr>
              <a:t> </a:t>
            </a:r>
            <a:r>
              <a:rPr sz="2800" dirty="0">
                <a:latin typeface="Calibri"/>
                <a:cs typeface="Calibri"/>
              </a:rPr>
              <a:t>crashing</a:t>
            </a:r>
            <a:r>
              <a:rPr sz="2800" spc="-75" dirty="0">
                <a:latin typeface="Calibri"/>
                <a:cs typeface="Calibri"/>
              </a:rPr>
              <a:t> </a:t>
            </a:r>
            <a:r>
              <a:rPr sz="2800" dirty="0">
                <a:latin typeface="Calibri"/>
                <a:cs typeface="Calibri"/>
              </a:rPr>
              <a:t>a</a:t>
            </a:r>
            <a:r>
              <a:rPr sz="2800" spc="-65" dirty="0">
                <a:latin typeface="Calibri"/>
                <a:cs typeface="Calibri"/>
              </a:rPr>
              <a:t> </a:t>
            </a:r>
            <a:r>
              <a:rPr sz="2800" spc="-10" dirty="0">
                <a:latin typeface="Calibri"/>
                <a:cs typeface="Calibri"/>
              </a:rPr>
              <a:t>project?</a:t>
            </a:r>
            <a:endParaRPr sz="2800">
              <a:latin typeface="Calibri"/>
              <a:cs typeface="Calibri"/>
            </a:endParaRPr>
          </a:p>
          <a:p>
            <a:pPr marL="405130" marR="5080" indent="-392430" algn="just">
              <a:lnSpc>
                <a:spcPts val="3000"/>
              </a:lnSpc>
              <a:spcBef>
                <a:spcPts val="1050"/>
              </a:spcBef>
              <a:buAutoNum type="arabicPeriod"/>
              <a:tabLst>
                <a:tab pos="405130" algn="l"/>
              </a:tabLst>
            </a:pPr>
            <a:r>
              <a:rPr sz="2800" dirty="0">
                <a:latin typeface="Calibri"/>
                <a:cs typeface="Calibri"/>
              </a:rPr>
              <a:t>Why</a:t>
            </a:r>
            <a:r>
              <a:rPr sz="2800" spc="520" dirty="0">
                <a:latin typeface="Calibri"/>
                <a:cs typeface="Calibri"/>
              </a:rPr>
              <a:t> </a:t>
            </a:r>
            <a:r>
              <a:rPr sz="2800" dirty="0">
                <a:latin typeface="Calibri"/>
                <a:cs typeface="Calibri"/>
              </a:rPr>
              <a:t>is</a:t>
            </a:r>
            <a:r>
              <a:rPr sz="2800" spc="530" dirty="0">
                <a:latin typeface="Calibri"/>
                <a:cs typeface="Calibri"/>
              </a:rPr>
              <a:t> </a:t>
            </a:r>
            <a:r>
              <a:rPr sz="2800" dirty="0">
                <a:latin typeface="Calibri"/>
                <a:cs typeface="Calibri"/>
              </a:rPr>
              <a:t>scheduling</a:t>
            </a:r>
            <a:r>
              <a:rPr sz="2800" spc="515" dirty="0">
                <a:latin typeface="Calibri"/>
                <a:cs typeface="Calibri"/>
              </a:rPr>
              <a:t> </a:t>
            </a:r>
            <a:r>
              <a:rPr sz="2800" dirty="0">
                <a:latin typeface="Calibri"/>
                <a:cs typeface="Calibri"/>
              </a:rPr>
              <a:t>overtime</a:t>
            </a:r>
            <a:r>
              <a:rPr sz="2800" spc="520" dirty="0">
                <a:latin typeface="Calibri"/>
                <a:cs typeface="Calibri"/>
              </a:rPr>
              <a:t> </a:t>
            </a:r>
            <a:r>
              <a:rPr sz="2800" dirty="0">
                <a:latin typeface="Calibri"/>
                <a:cs typeface="Calibri"/>
              </a:rPr>
              <a:t>a</a:t>
            </a:r>
            <a:r>
              <a:rPr sz="2800" spc="520" dirty="0">
                <a:latin typeface="Calibri"/>
                <a:cs typeface="Calibri"/>
              </a:rPr>
              <a:t> </a:t>
            </a:r>
            <a:r>
              <a:rPr sz="2800" dirty="0">
                <a:latin typeface="Calibri"/>
                <a:cs typeface="Calibri"/>
              </a:rPr>
              <a:t>popular</a:t>
            </a:r>
            <a:r>
              <a:rPr sz="2800" spc="525" dirty="0">
                <a:latin typeface="Calibri"/>
                <a:cs typeface="Calibri"/>
              </a:rPr>
              <a:t> </a:t>
            </a:r>
            <a:r>
              <a:rPr sz="2800" dirty="0">
                <a:latin typeface="Calibri"/>
                <a:cs typeface="Calibri"/>
              </a:rPr>
              <a:t>choice</a:t>
            </a:r>
            <a:r>
              <a:rPr sz="2800" spc="520" dirty="0">
                <a:latin typeface="Calibri"/>
                <a:cs typeface="Calibri"/>
              </a:rPr>
              <a:t> </a:t>
            </a:r>
            <a:r>
              <a:rPr sz="2800" dirty="0">
                <a:latin typeface="Calibri"/>
                <a:cs typeface="Calibri"/>
              </a:rPr>
              <a:t>for</a:t>
            </a:r>
            <a:r>
              <a:rPr sz="2800" spc="530" dirty="0">
                <a:latin typeface="Calibri"/>
                <a:cs typeface="Calibri"/>
              </a:rPr>
              <a:t> </a:t>
            </a:r>
            <a:r>
              <a:rPr sz="2800" dirty="0">
                <a:latin typeface="Calibri"/>
                <a:cs typeface="Calibri"/>
              </a:rPr>
              <a:t>getting</a:t>
            </a:r>
            <a:r>
              <a:rPr sz="2800" spc="520" dirty="0">
                <a:latin typeface="Calibri"/>
                <a:cs typeface="Calibri"/>
              </a:rPr>
              <a:t> </a:t>
            </a:r>
            <a:r>
              <a:rPr sz="2800" spc="-10" dirty="0">
                <a:latin typeface="Calibri"/>
                <a:cs typeface="Calibri"/>
              </a:rPr>
              <a:t>projects </a:t>
            </a:r>
            <a:r>
              <a:rPr sz="2800" dirty="0">
                <a:latin typeface="Calibri"/>
                <a:cs typeface="Calibri"/>
              </a:rPr>
              <a:t>back</a:t>
            </a:r>
            <a:r>
              <a:rPr sz="2800" spc="305" dirty="0">
                <a:latin typeface="Calibri"/>
                <a:cs typeface="Calibri"/>
              </a:rPr>
              <a:t> </a:t>
            </a:r>
            <a:r>
              <a:rPr sz="2800" dirty="0">
                <a:latin typeface="Calibri"/>
                <a:cs typeface="Calibri"/>
              </a:rPr>
              <a:t>on</a:t>
            </a:r>
            <a:r>
              <a:rPr sz="2800" spc="305" dirty="0">
                <a:latin typeface="Calibri"/>
                <a:cs typeface="Calibri"/>
              </a:rPr>
              <a:t> </a:t>
            </a:r>
            <a:r>
              <a:rPr sz="2800" dirty="0">
                <a:latin typeface="Calibri"/>
                <a:cs typeface="Calibri"/>
              </a:rPr>
              <a:t>schedule?</a:t>
            </a:r>
            <a:r>
              <a:rPr sz="2800" spc="305" dirty="0">
                <a:latin typeface="Calibri"/>
                <a:cs typeface="Calibri"/>
              </a:rPr>
              <a:t> </a:t>
            </a:r>
            <a:r>
              <a:rPr sz="2800" dirty="0">
                <a:latin typeface="Calibri"/>
                <a:cs typeface="Calibri"/>
              </a:rPr>
              <a:t>What</a:t>
            </a:r>
            <a:r>
              <a:rPr sz="2800" spc="305" dirty="0">
                <a:latin typeface="Calibri"/>
                <a:cs typeface="Calibri"/>
              </a:rPr>
              <a:t> </a:t>
            </a:r>
            <a:r>
              <a:rPr sz="2800" dirty="0">
                <a:latin typeface="Calibri"/>
                <a:cs typeface="Calibri"/>
              </a:rPr>
              <a:t>are</a:t>
            </a:r>
            <a:r>
              <a:rPr sz="2800" spc="300" dirty="0">
                <a:latin typeface="Calibri"/>
                <a:cs typeface="Calibri"/>
              </a:rPr>
              <a:t> </a:t>
            </a:r>
            <a:r>
              <a:rPr sz="2800" dirty="0">
                <a:latin typeface="Calibri"/>
                <a:cs typeface="Calibri"/>
              </a:rPr>
              <a:t>the</a:t>
            </a:r>
            <a:r>
              <a:rPr sz="2800" spc="295" dirty="0">
                <a:latin typeface="Calibri"/>
                <a:cs typeface="Calibri"/>
              </a:rPr>
              <a:t> </a:t>
            </a:r>
            <a:r>
              <a:rPr sz="2800" dirty="0">
                <a:latin typeface="Calibri"/>
                <a:cs typeface="Calibri"/>
              </a:rPr>
              <a:t>potential</a:t>
            </a:r>
            <a:r>
              <a:rPr sz="2800" spc="300" dirty="0">
                <a:latin typeface="Calibri"/>
                <a:cs typeface="Calibri"/>
              </a:rPr>
              <a:t> </a:t>
            </a:r>
            <a:r>
              <a:rPr sz="2800" dirty="0">
                <a:latin typeface="Calibri"/>
                <a:cs typeface="Calibri"/>
              </a:rPr>
              <a:t>problems</a:t>
            </a:r>
            <a:r>
              <a:rPr sz="2800" spc="305" dirty="0">
                <a:latin typeface="Calibri"/>
                <a:cs typeface="Calibri"/>
              </a:rPr>
              <a:t> </a:t>
            </a:r>
            <a:r>
              <a:rPr sz="2800" dirty="0">
                <a:latin typeface="Calibri"/>
                <a:cs typeface="Calibri"/>
              </a:rPr>
              <a:t>for</a:t>
            </a:r>
            <a:r>
              <a:rPr sz="2800" spc="305" dirty="0">
                <a:latin typeface="Calibri"/>
                <a:cs typeface="Calibri"/>
              </a:rPr>
              <a:t> </a:t>
            </a:r>
            <a:r>
              <a:rPr sz="2800" dirty="0">
                <a:latin typeface="Calibri"/>
                <a:cs typeface="Calibri"/>
              </a:rPr>
              <a:t>relying</a:t>
            </a:r>
            <a:r>
              <a:rPr sz="2800" spc="295" dirty="0">
                <a:latin typeface="Calibri"/>
                <a:cs typeface="Calibri"/>
              </a:rPr>
              <a:t> </a:t>
            </a:r>
            <a:r>
              <a:rPr sz="2800" spc="-25" dirty="0">
                <a:latin typeface="Calibri"/>
                <a:cs typeface="Calibri"/>
              </a:rPr>
              <a:t>on </a:t>
            </a:r>
            <a:r>
              <a:rPr sz="2800" dirty="0">
                <a:latin typeface="Calibri"/>
                <a:cs typeface="Calibri"/>
              </a:rPr>
              <a:t>this</a:t>
            </a:r>
            <a:r>
              <a:rPr sz="2800" spc="-40" dirty="0">
                <a:latin typeface="Calibri"/>
                <a:cs typeface="Calibri"/>
              </a:rPr>
              <a:t> </a:t>
            </a:r>
            <a:r>
              <a:rPr sz="2800" spc="-10" dirty="0">
                <a:latin typeface="Calibri"/>
                <a:cs typeface="Calibri"/>
              </a:rPr>
              <a:t>option?</a:t>
            </a:r>
            <a:endParaRPr sz="2800">
              <a:latin typeface="Calibri"/>
              <a:cs typeface="Calibri"/>
            </a:endParaRPr>
          </a:p>
          <a:p>
            <a:pPr marL="405130" marR="5080" indent="-392430" algn="just">
              <a:lnSpc>
                <a:spcPts val="3100"/>
              </a:lnSpc>
              <a:spcBef>
                <a:spcPts val="925"/>
              </a:spcBef>
              <a:buAutoNum type="arabicPeriod"/>
              <a:tabLst>
                <a:tab pos="405130" algn="l"/>
              </a:tabLst>
            </a:pPr>
            <a:r>
              <a:rPr sz="2800" dirty="0">
                <a:latin typeface="Calibri"/>
                <a:cs typeface="Calibri"/>
              </a:rPr>
              <a:t>Reducing</a:t>
            </a:r>
            <a:r>
              <a:rPr sz="2800" spc="120" dirty="0">
                <a:latin typeface="Calibri"/>
                <a:cs typeface="Calibri"/>
              </a:rPr>
              <a:t>  </a:t>
            </a:r>
            <a:r>
              <a:rPr sz="2800" dirty="0">
                <a:latin typeface="Calibri"/>
                <a:cs typeface="Calibri"/>
              </a:rPr>
              <a:t>the</a:t>
            </a:r>
            <a:r>
              <a:rPr sz="2800" spc="125" dirty="0">
                <a:latin typeface="Calibri"/>
                <a:cs typeface="Calibri"/>
              </a:rPr>
              <a:t>  </a:t>
            </a:r>
            <a:r>
              <a:rPr sz="2800" dirty="0">
                <a:latin typeface="Calibri"/>
                <a:cs typeface="Calibri"/>
              </a:rPr>
              <a:t>project</a:t>
            </a:r>
            <a:r>
              <a:rPr sz="2800" spc="125" dirty="0">
                <a:latin typeface="Calibri"/>
                <a:cs typeface="Calibri"/>
              </a:rPr>
              <a:t>  </a:t>
            </a:r>
            <a:r>
              <a:rPr sz="2800" dirty="0">
                <a:latin typeface="Calibri"/>
                <a:cs typeface="Calibri"/>
              </a:rPr>
              <a:t>duration</a:t>
            </a:r>
            <a:r>
              <a:rPr sz="2800" spc="130" dirty="0">
                <a:latin typeface="Calibri"/>
                <a:cs typeface="Calibri"/>
              </a:rPr>
              <a:t>  </a:t>
            </a:r>
            <a:r>
              <a:rPr sz="2800" dirty="0">
                <a:latin typeface="Calibri"/>
                <a:cs typeface="Calibri"/>
              </a:rPr>
              <a:t>increases</a:t>
            </a:r>
            <a:r>
              <a:rPr sz="2800" spc="130" dirty="0">
                <a:latin typeface="Calibri"/>
                <a:cs typeface="Calibri"/>
              </a:rPr>
              <a:t>  </a:t>
            </a:r>
            <a:r>
              <a:rPr sz="2800" dirty="0">
                <a:latin typeface="Calibri"/>
                <a:cs typeface="Calibri"/>
              </a:rPr>
              <a:t>the</a:t>
            </a:r>
            <a:r>
              <a:rPr sz="2800" spc="125" dirty="0">
                <a:latin typeface="Calibri"/>
                <a:cs typeface="Calibri"/>
              </a:rPr>
              <a:t>  </a:t>
            </a:r>
            <a:r>
              <a:rPr sz="2800" dirty="0">
                <a:latin typeface="Calibri"/>
                <a:cs typeface="Calibri"/>
              </a:rPr>
              <a:t>risk</a:t>
            </a:r>
            <a:r>
              <a:rPr sz="2800" spc="135" dirty="0">
                <a:latin typeface="Calibri"/>
                <a:cs typeface="Calibri"/>
              </a:rPr>
              <a:t>  </a:t>
            </a:r>
            <a:r>
              <a:rPr sz="2800" dirty="0">
                <a:latin typeface="Calibri"/>
                <a:cs typeface="Calibri"/>
              </a:rPr>
              <a:t>of</a:t>
            </a:r>
            <a:r>
              <a:rPr sz="2800" spc="120" dirty="0">
                <a:latin typeface="Calibri"/>
                <a:cs typeface="Calibri"/>
              </a:rPr>
              <a:t>  </a:t>
            </a:r>
            <a:r>
              <a:rPr sz="2800" dirty="0">
                <a:latin typeface="Calibri"/>
                <a:cs typeface="Calibri"/>
              </a:rPr>
              <a:t>being</a:t>
            </a:r>
            <a:r>
              <a:rPr sz="2800" spc="120" dirty="0">
                <a:latin typeface="Calibri"/>
                <a:cs typeface="Calibri"/>
              </a:rPr>
              <a:t>  </a:t>
            </a:r>
            <a:r>
              <a:rPr sz="2800" spc="-10" dirty="0">
                <a:latin typeface="Calibri"/>
                <a:cs typeface="Calibri"/>
              </a:rPr>
              <a:t>late. Explain.</a:t>
            </a:r>
            <a:endParaRPr sz="28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19</a:t>
            </a:r>
            <a:endParaRPr sz="1200">
              <a:latin typeface="Calibri"/>
              <a:cs typeface="Calibri"/>
            </a:endParaRPr>
          </a:p>
        </p:txBody>
      </p:sp>
      <p:pic>
        <p:nvPicPr>
          <p:cNvPr id="5" name="Picture 4">
            <a:extLst>
              <a:ext uri="{FF2B5EF4-FFF2-40B4-BE49-F238E27FC236}">
                <a16:creationId xmlns:a16="http://schemas.microsoft.com/office/drawing/2014/main" id="{238013F5-28B4-185A-A1DF-27F552681B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80" dirty="0"/>
              <a:t>Exercise</a:t>
            </a:r>
            <a:r>
              <a:rPr spc="150" dirty="0"/>
              <a:t> </a:t>
            </a:r>
            <a:r>
              <a:rPr spc="-50" dirty="0"/>
              <a:t>5</a:t>
            </a:r>
          </a:p>
        </p:txBody>
      </p:sp>
      <p:sp>
        <p:nvSpPr>
          <p:cNvPr id="3" name="object 3"/>
          <p:cNvSpPr txBox="1"/>
          <p:nvPr/>
        </p:nvSpPr>
        <p:spPr>
          <a:xfrm>
            <a:off x="916939" y="1672844"/>
            <a:ext cx="10090150" cy="3463925"/>
          </a:xfrm>
          <a:prstGeom prst="rect">
            <a:avLst/>
          </a:prstGeom>
        </p:spPr>
        <p:txBody>
          <a:bodyPr vert="horz" wrap="square" lIns="0" tIns="53975" rIns="0" bIns="0" rtlCol="0">
            <a:spAutoFit/>
          </a:bodyPr>
          <a:lstStyle/>
          <a:p>
            <a:pPr marL="12700" marR="5080">
              <a:lnSpc>
                <a:spcPts val="2590"/>
              </a:lnSpc>
              <a:spcBef>
                <a:spcPts val="425"/>
              </a:spcBef>
            </a:pPr>
            <a:r>
              <a:rPr sz="2400" dirty="0">
                <a:latin typeface="Calibri"/>
                <a:cs typeface="Calibri"/>
              </a:rPr>
              <a:t>The</a:t>
            </a:r>
            <a:r>
              <a:rPr sz="2400" spc="220" dirty="0">
                <a:latin typeface="Calibri"/>
                <a:cs typeface="Calibri"/>
              </a:rPr>
              <a:t> </a:t>
            </a:r>
            <a:r>
              <a:rPr sz="2400" dirty="0">
                <a:latin typeface="Calibri"/>
                <a:cs typeface="Calibri"/>
              </a:rPr>
              <a:t>Manchester</a:t>
            </a:r>
            <a:r>
              <a:rPr sz="2400" spc="220" dirty="0">
                <a:latin typeface="Calibri"/>
                <a:cs typeface="Calibri"/>
              </a:rPr>
              <a:t> </a:t>
            </a:r>
            <a:r>
              <a:rPr sz="2400" dirty="0">
                <a:latin typeface="Calibri"/>
                <a:cs typeface="Calibri"/>
              </a:rPr>
              <a:t>United</a:t>
            </a:r>
            <a:r>
              <a:rPr sz="2400" spc="225" dirty="0">
                <a:latin typeface="Calibri"/>
                <a:cs typeface="Calibri"/>
              </a:rPr>
              <a:t> </a:t>
            </a:r>
            <a:r>
              <a:rPr sz="2400" dirty="0">
                <a:latin typeface="Calibri"/>
                <a:cs typeface="Calibri"/>
              </a:rPr>
              <a:t>Soccer</a:t>
            </a:r>
            <a:r>
              <a:rPr sz="2400" spc="220" dirty="0">
                <a:latin typeface="Calibri"/>
                <a:cs typeface="Calibri"/>
              </a:rPr>
              <a:t> </a:t>
            </a:r>
            <a:r>
              <a:rPr sz="2400" dirty="0">
                <a:latin typeface="Calibri"/>
                <a:cs typeface="Calibri"/>
              </a:rPr>
              <a:t>is</a:t>
            </a:r>
            <a:r>
              <a:rPr sz="2400" spc="215" dirty="0">
                <a:latin typeface="Calibri"/>
                <a:cs typeface="Calibri"/>
              </a:rPr>
              <a:t> </a:t>
            </a:r>
            <a:r>
              <a:rPr sz="2400" dirty="0">
                <a:latin typeface="Calibri"/>
                <a:cs typeface="Calibri"/>
              </a:rPr>
              <a:t>holding</a:t>
            </a:r>
            <a:r>
              <a:rPr sz="2400" spc="215" dirty="0">
                <a:latin typeface="Calibri"/>
                <a:cs typeface="Calibri"/>
              </a:rPr>
              <a:t> </a:t>
            </a:r>
            <a:r>
              <a:rPr sz="2400" dirty="0">
                <a:latin typeface="Calibri"/>
                <a:cs typeface="Calibri"/>
              </a:rPr>
              <a:t>a</a:t>
            </a:r>
            <a:r>
              <a:rPr sz="2400" spc="220" dirty="0">
                <a:latin typeface="Calibri"/>
                <a:cs typeface="Calibri"/>
              </a:rPr>
              <a:t> </a:t>
            </a:r>
            <a:r>
              <a:rPr sz="2400" dirty="0">
                <a:latin typeface="Calibri"/>
                <a:cs typeface="Calibri"/>
              </a:rPr>
              <a:t>tournament</a:t>
            </a:r>
            <a:r>
              <a:rPr sz="2400" spc="215" dirty="0">
                <a:latin typeface="Calibri"/>
                <a:cs typeface="Calibri"/>
              </a:rPr>
              <a:t> </a:t>
            </a:r>
            <a:r>
              <a:rPr sz="2400" dirty="0">
                <a:latin typeface="Calibri"/>
                <a:cs typeface="Calibri"/>
              </a:rPr>
              <a:t>and</a:t>
            </a:r>
            <a:r>
              <a:rPr sz="2400" spc="220" dirty="0">
                <a:latin typeface="Calibri"/>
                <a:cs typeface="Calibri"/>
              </a:rPr>
              <a:t> </a:t>
            </a:r>
            <a:r>
              <a:rPr sz="2400" dirty="0">
                <a:latin typeface="Calibri"/>
                <a:cs typeface="Calibri"/>
              </a:rPr>
              <a:t>their</a:t>
            </a:r>
            <a:r>
              <a:rPr sz="2400" spc="220" dirty="0">
                <a:latin typeface="Calibri"/>
                <a:cs typeface="Calibri"/>
              </a:rPr>
              <a:t> </a:t>
            </a:r>
            <a:r>
              <a:rPr sz="2400" dirty="0">
                <a:latin typeface="Calibri"/>
                <a:cs typeface="Calibri"/>
              </a:rPr>
              <a:t>project</a:t>
            </a:r>
            <a:r>
              <a:rPr sz="2400" spc="220" dirty="0">
                <a:latin typeface="Calibri"/>
                <a:cs typeface="Calibri"/>
              </a:rPr>
              <a:t> </a:t>
            </a:r>
            <a:r>
              <a:rPr sz="2400" spc="-20" dirty="0">
                <a:latin typeface="Calibri"/>
                <a:cs typeface="Calibri"/>
              </a:rPr>
              <a:t>team </a:t>
            </a:r>
            <a:r>
              <a:rPr sz="2400" dirty="0">
                <a:latin typeface="Calibri"/>
                <a:cs typeface="Calibri"/>
              </a:rPr>
              <a:t>has</a:t>
            </a:r>
            <a:r>
              <a:rPr sz="2400" spc="-70" dirty="0">
                <a:latin typeface="Calibri"/>
                <a:cs typeface="Calibri"/>
              </a:rPr>
              <a:t> </a:t>
            </a:r>
            <a:r>
              <a:rPr sz="2400" dirty="0">
                <a:latin typeface="Calibri"/>
                <a:cs typeface="Calibri"/>
              </a:rPr>
              <a:t>identified</a:t>
            </a:r>
            <a:r>
              <a:rPr sz="2400" spc="-70" dirty="0">
                <a:latin typeface="Calibri"/>
                <a:cs typeface="Calibri"/>
              </a:rPr>
              <a:t> </a:t>
            </a:r>
            <a:r>
              <a:rPr sz="2400" dirty="0">
                <a:latin typeface="Calibri"/>
                <a:cs typeface="Calibri"/>
              </a:rPr>
              <a:t>the</a:t>
            </a:r>
            <a:r>
              <a:rPr sz="2400" spc="-65" dirty="0">
                <a:latin typeface="Calibri"/>
                <a:cs typeface="Calibri"/>
              </a:rPr>
              <a:t> </a:t>
            </a:r>
            <a:r>
              <a:rPr sz="2400" dirty="0">
                <a:latin typeface="Calibri"/>
                <a:cs typeface="Calibri"/>
              </a:rPr>
              <a:t>following</a:t>
            </a:r>
            <a:r>
              <a:rPr sz="2400" spc="-70" dirty="0">
                <a:latin typeface="Calibri"/>
                <a:cs typeface="Calibri"/>
              </a:rPr>
              <a:t> </a:t>
            </a:r>
            <a:r>
              <a:rPr sz="2400" dirty="0">
                <a:latin typeface="Calibri"/>
                <a:cs typeface="Calibri"/>
              </a:rPr>
              <a:t>potential</a:t>
            </a:r>
            <a:r>
              <a:rPr sz="2400" spc="-65" dirty="0">
                <a:latin typeface="Calibri"/>
                <a:cs typeface="Calibri"/>
              </a:rPr>
              <a:t> </a:t>
            </a:r>
            <a:r>
              <a:rPr sz="2400" dirty="0">
                <a:latin typeface="Calibri"/>
                <a:cs typeface="Calibri"/>
              </a:rPr>
              <a:t>risks</a:t>
            </a:r>
            <a:r>
              <a:rPr sz="2400" spc="-65" dirty="0">
                <a:latin typeface="Calibri"/>
                <a:cs typeface="Calibri"/>
              </a:rPr>
              <a:t> </a:t>
            </a:r>
            <a:r>
              <a:rPr sz="2400" dirty="0">
                <a:latin typeface="Calibri"/>
                <a:cs typeface="Calibri"/>
              </a:rPr>
              <a:t>to</a:t>
            </a:r>
            <a:r>
              <a:rPr sz="2400" spc="-70" dirty="0">
                <a:latin typeface="Calibri"/>
                <a:cs typeface="Calibri"/>
              </a:rPr>
              <a:t> </a:t>
            </a:r>
            <a:r>
              <a:rPr sz="2400" dirty="0">
                <a:latin typeface="Calibri"/>
                <a:cs typeface="Calibri"/>
              </a:rPr>
              <a:t>their</a:t>
            </a:r>
            <a:r>
              <a:rPr sz="2400" spc="-65" dirty="0">
                <a:latin typeface="Calibri"/>
                <a:cs typeface="Calibri"/>
              </a:rPr>
              <a:t> </a:t>
            </a:r>
            <a:r>
              <a:rPr sz="2400" spc="-10" dirty="0">
                <a:latin typeface="Calibri"/>
                <a:cs typeface="Calibri"/>
              </a:rPr>
              <a:t>project:</a:t>
            </a:r>
            <a:endParaRPr sz="2400">
              <a:latin typeface="Calibri"/>
              <a:cs typeface="Calibri"/>
            </a:endParaRPr>
          </a:p>
          <a:p>
            <a:pPr marL="589280" indent="-252729">
              <a:lnSpc>
                <a:spcPct val="100000"/>
              </a:lnSpc>
              <a:spcBef>
                <a:spcPts val="200"/>
              </a:spcBef>
              <a:buAutoNum type="alphaLcPeriod"/>
              <a:tabLst>
                <a:tab pos="589280" algn="l"/>
              </a:tabLst>
            </a:pPr>
            <a:r>
              <a:rPr sz="2000" spc="-20" dirty="0">
                <a:latin typeface="Calibri"/>
                <a:cs typeface="Calibri"/>
              </a:rPr>
              <a:t>Referees</a:t>
            </a:r>
            <a:r>
              <a:rPr sz="2000" spc="-45" dirty="0">
                <a:latin typeface="Calibri"/>
                <a:cs typeface="Calibri"/>
              </a:rPr>
              <a:t> </a:t>
            </a:r>
            <a:r>
              <a:rPr sz="2000" dirty="0">
                <a:latin typeface="Calibri"/>
                <a:cs typeface="Calibri"/>
              </a:rPr>
              <a:t>failing</a:t>
            </a:r>
            <a:r>
              <a:rPr sz="2000" spc="-50"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show</a:t>
            </a:r>
            <a:r>
              <a:rPr sz="2000" spc="-55" dirty="0">
                <a:latin typeface="Calibri"/>
                <a:cs typeface="Calibri"/>
              </a:rPr>
              <a:t> </a:t>
            </a:r>
            <a:r>
              <a:rPr sz="2000" dirty="0">
                <a:latin typeface="Calibri"/>
                <a:cs typeface="Calibri"/>
              </a:rPr>
              <a:t>up</a:t>
            </a:r>
            <a:r>
              <a:rPr sz="2000" spc="-45" dirty="0">
                <a:latin typeface="Calibri"/>
                <a:cs typeface="Calibri"/>
              </a:rPr>
              <a:t> </a:t>
            </a:r>
            <a:r>
              <a:rPr sz="2000" dirty="0">
                <a:latin typeface="Calibri"/>
                <a:cs typeface="Calibri"/>
              </a:rPr>
              <a:t>at</a:t>
            </a:r>
            <a:r>
              <a:rPr sz="2000" spc="-45" dirty="0">
                <a:latin typeface="Calibri"/>
                <a:cs typeface="Calibri"/>
              </a:rPr>
              <a:t> </a:t>
            </a:r>
            <a:r>
              <a:rPr sz="2000" dirty="0">
                <a:latin typeface="Calibri"/>
                <a:cs typeface="Calibri"/>
              </a:rPr>
              <a:t>designated</a:t>
            </a:r>
            <a:r>
              <a:rPr sz="2000" spc="-45" dirty="0">
                <a:latin typeface="Calibri"/>
                <a:cs typeface="Calibri"/>
              </a:rPr>
              <a:t> </a:t>
            </a:r>
            <a:r>
              <a:rPr sz="2000" spc="-10" dirty="0">
                <a:latin typeface="Calibri"/>
                <a:cs typeface="Calibri"/>
              </a:rPr>
              <a:t>games.</a:t>
            </a:r>
            <a:endParaRPr sz="2000">
              <a:latin typeface="Calibri"/>
              <a:cs typeface="Calibri"/>
            </a:endParaRPr>
          </a:p>
          <a:p>
            <a:pPr marL="589280" indent="-252729">
              <a:lnSpc>
                <a:spcPct val="100000"/>
              </a:lnSpc>
              <a:spcBef>
                <a:spcPts val="285"/>
              </a:spcBef>
              <a:buAutoNum type="alphaLcPeriod"/>
              <a:tabLst>
                <a:tab pos="589280" algn="l"/>
              </a:tabLst>
            </a:pPr>
            <a:r>
              <a:rPr sz="2000" dirty="0">
                <a:latin typeface="Calibri"/>
                <a:cs typeface="Calibri"/>
              </a:rPr>
              <a:t>Fighting</a:t>
            </a:r>
            <a:r>
              <a:rPr sz="2000" spc="-70" dirty="0">
                <a:latin typeface="Calibri"/>
                <a:cs typeface="Calibri"/>
              </a:rPr>
              <a:t> </a:t>
            </a:r>
            <a:r>
              <a:rPr sz="2000" dirty="0">
                <a:latin typeface="Calibri"/>
                <a:cs typeface="Calibri"/>
              </a:rPr>
              <a:t>between</a:t>
            </a:r>
            <a:r>
              <a:rPr sz="2000" spc="-65" dirty="0">
                <a:latin typeface="Calibri"/>
                <a:cs typeface="Calibri"/>
              </a:rPr>
              <a:t> </a:t>
            </a:r>
            <a:r>
              <a:rPr sz="2000" spc="-10" dirty="0">
                <a:latin typeface="Calibri"/>
                <a:cs typeface="Calibri"/>
              </a:rPr>
              <a:t>teams.</a:t>
            </a:r>
            <a:endParaRPr sz="2000">
              <a:latin typeface="Calibri"/>
              <a:cs typeface="Calibri"/>
            </a:endParaRPr>
          </a:p>
          <a:p>
            <a:pPr marL="589280" indent="-252729">
              <a:lnSpc>
                <a:spcPct val="100000"/>
              </a:lnSpc>
              <a:spcBef>
                <a:spcPts val="215"/>
              </a:spcBef>
              <a:buAutoNum type="alphaLcPeriod"/>
              <a:tabLst>
                <a:tab pos="589280" algn="l"/>
              </a:tabLst>
            </a:pPr>
            <a:r>
              <a:rPr sz="2000" dirty="0">
                <a:latin typeface="Calibri"/>
                <a:cs typeface="Calibri"/>
              </a:rPr>
              <a:t>Abusive</a:t>
            </a:r>
            <a:r>
              <a:rPr sz="2000" spc="-50" dirty="0">
                <a:latin typeface="Calibri"/>
                <a:cs typeface="Calibri"/>
              </a:rPr>
              <a:t> </a:t>
            </a:r>
            <a:r>
              <a:rPr sz="2000" dirty="0">
                <a:latin typeface="Calibri"/>
                <a:cs typeface="Calibri"/>
              </a:rPr>
              <a:t>behavior</a:t>
            </a:r>
            <a:r>
              <a:rPr sz="2000" spc="-50" dirty="0">
                <a:latin typeface="Calibri"/>
                <a:cs typeface="Calibri"/>
              </a:rPr>
              <a:t> </a:t>
            </a:r>
            <a:r>
              <a:rPr sz="2000" dirty="0">
                <a:latin typeface="Calibri"/>
                <a:cs typeface="Calibri"/>
              </a:rPr>
              <a:t>along</a:t>
            </a:r>
            <a:r>
              <a:rPr sz="2000" spc="-60"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sidelines</a:t>
            </a:r>
            <a:r>
              <a:rPr sz="2000" spc="-50" dirty="0">
                <a:latin typeface="Calibri"/>
                <a:cs typeface="Calibri"/>
              </a:rPr>
              <a:t> </a:t>
            </a:r>
            <a:r>
              <a:rPr sz="2000" dirty="0">
                <a:latin typeface="Calibri"/>
                <a:cs typeface="Calibri"/>
              </a:rPr>
              <a:t>by</a:t>
            </a:r>
            <a:r>
              <a:rPr sz="2000" spc="-55" dirty="0">
                <a:latin typeface="Calibri"/>
                <a:cs typeface="Calibri"/>
              </a:rPr>
              <a:t> </a:t>
            </a:r>
            <a:r>
              <a:rPr sz="2000" spc="-10" dirty="0">
                <a:latin typeface="Calibri"/>
                <a:cs typeface="Calibri"/>
              </a:rPr>
              <a:t>parents.</a:t>
            </a:r>
            <a:endParaRPr sz="2000">
              <a:latin typeface="Calibri"/>
              <a:cs typeface="Calibri"/>
            </a:endParaRPr>
          </a:p>
          <a:p>
            <a:pPr marL="589280" indent="-252729">
              <a:lnSpc>
                <a:spcPct val="100000"/>
              </a:lnSpc>
              <a:spcBef>
                <a:spcPts val="290"/>
              </a:spcBef>
              <a:buAutoNum type="alphaLcPeriod"/>
              <a:tabLst>
                <a:tab pos="589280" algn="l"/>
              </a:tabLst>
            </a:pPr>
            <a:r>
              <a:rPr sz="2000" spc="-10" dirty="0">
                <a:latin typeface="Calibri"/>
                <a:cs typeface="Calibri"/>
              </a:rPr>
              <a:t>Inadequate</a:t>
            </a:r>
            <a:r>
              <a:rPr sz="2000" spc="-30" dirty="0">
                <a:latin typeface="Calibri"/>
                <a:cs typeface="Calibri"/>
              </a:rPr>
              <a:t> </a:t>
            </a:r>
            <a:r>
              <a:rPr sz="2000" spc="-10" dirty="0">
                <a:latin typeface="Calibri"/>
                <a:cs typeface="Calibri"/>
              </a:rPr>
              <a:t>parking.</a:t>
            </a:r>
            <a:endParaRPr sz="2000">
              <a:latin typeface="Calibri"/>
              <a:cs typeface="Calibri"/>
            </a:endParaRPr>
          </a:p>
          <a:p>
            <a:pPr marL="589280" indent="-252729">
              <a:lnSpc>
                <a:spcPct val="100000"/>
              </a:lnSpc>
              <a:spcBef>
                <a:spcPts val="310"/>
              </a:spcBef>
              <a:buAutoNum type="alphaLcPeriod"/>
              <a:tabLst>
                <a:tab pos="589280" algn="l"/>
              </a:tabLst>
            </a:pPr>
            <a:r>
              <a:rPr sz="2000" dirty="0">
                <a:latin typeface="Calibri"/>
                <a:cs typeface="Calibri"/>
              </a:rPr>
              <a:t>Not</a:t>
            </a:r>
            <a:r>
              <a:rPr sz="2000" spc="-45" dirty="0">
                <a:latin typeface="Calibri"/>
                <a:cs typeface="Calibri"/>
              </a:rPr>
              <a:t> </a:t>
            </a:r>
            <a:r>
              <a:rPr sz="2000" dirty="0">
                <a:latin typeface="Calibri"/>
                <a:cs typeface="Calibri"/>
              </a:rPr>
              <a:t>enough</a:t>
            </a:r>
            <a:r>
              <a:rPr sz="2000" spc="-45" dirty="0">
                <a:latin typeface="Calibri"/>
                <a:cs typeface="Calibri"/>
              </a:rPr>
              <a:t> </a:t>
            </a:r>
            <a:r>
              <a:rPr sz="2000" dirty="0">
                <a:latin typeface="Calibri"/>
                <a:cs typeface="Calibri"/>
              </a:rPr>
              <a:t>teams</a:t>
            </a:r>
            <a:r>
              <a:rPr sz="2000" spc="-40" dirty="0">
                <a:latin typeface="Calibri"/>
                <a:cs typeface="Calibri"/>
              </a:rPr>
              <a:t> </a:t>
            </a:r>
            <a:r>
              <a:rPr sz="2000" dirty="0">
                <a:latin typeface="Calibri"/>
                <a:cs typeface="Calibri"/>
              </a:rPr>
              <a:t>sign</a:t>
            </a:r>
            <a:r>
              <a:rPr sz="2000" spc="-45" dirty="0">
                <a:latin typeface="Calibri"/>
                <a:cs typeface="Calibri"/>
              </a:rPr>
              <a:t> </a:t>
            </a:r>
            <a:r>
              <a:rPr sz="2000" dirty="0">
                <a:latin typeface="Calibri"/>
                <a:cs typeface="Calibri"/>
              </a:rPr>
              <a:t>up</a:t>
            </a:r>
            <a:r>
              <a:rPr sz="2000" spc="-45" dirty="0">
                <a:latin typeface="Calibri"/>
                <a:cs typeface="Calibri"/>
              </a:rPr>
              <a:t> </a:t>
            </a:r>
            <a:r>
              <a:rPr sz="2000" dirty="0">
                <a:latin typeface="Calibri"/>
                <a:cs typeface="Calibri"/>
              </a:rPr>
              <a:t>for</a:t>
            </a:r>
            <a:r>
              <a:rPr sz="2000" spc="-40" dirty="0">
                <a:latin typeface="Calibri"/>
                <a:cs typeface="Calibri"/>
              </a:rPr>
              <a:t> </a:t>
            </a:r>
            <a:r>
              <a:rPr sz="2000" spc="-10" dirty="0">
                <a:latin typeface="Calibri"/>
                <a:cs typeface="Calibri"/>
              </a:rPr>
              <a:t>different</a:t>
            </a:r>
            <a:r>
              <a:rPr sz="2000" spc="-40" dirty="0">
                <a:latin typeface="Calibri"/>
                <a:cs typeface="Calibri"/>
              </a:rPr>
              <a:t> </a:t>
            </a:r>
            <a:r>
              <a:rPr sz="2000" dirty="0">
                <a:latin typeface="Calibri"/>
                <a:cs typeface="Calibri"/>
              </a:rPr>
              <a:t>age</a:t>
            </a:r>
            <a:r>
              <a:rPr sz="2000" spc="-40" dirty="0">
                <a:latin typeface="Calibri"/>
                <a:cs typeface="Calibri"/>
              </a:rPr>
              <a:t> </a:t>
            </a:r>
            <a:r>
              <a:rPr sz="2000" spc="-10" dirty="0">
                <a:latin typeface="Calibri"/>
                <a:cs typeface="Calibri"/>
              </a:rPr>
              <a:t>brackets.</a:t>
            </a:r>
            <a:endParaRPr sz="2000">
              <a:latin typeface="Calibri"/>
              <a:cs typeface="Calibri"/>
            </a:endParaRPr>
          </a:p>
          <a:p>
            <a:pPr marL="589280" indent="-252729">
              <a:lnSpc>
                <a:spcPct val="100000"/>
              </a:lnSpc>
              <a:spcBef>
                <a:spcPts val="195"/>
              </a:spcBef>
              <a:buAutoNum type="alphaLcPeriod"/>
              <a:tabLst>
                <a:tab pos="589280" algn="l"/>
              </a:tabLst>
            </a:pPr>
            <a:r>
              <a:rPr sz="2000" dirty="0">
                <a:latin typeface="Calibri"/>
                <a:cs typeface="Calibri"/>
              </a:rPr>
              <a:t>Serious</a:t>
            </a:r>
            <a:r>
              <a:rPr sz="2000" spc="-55" dirty="0">
                <a:latin typeface="Calibri"/>
                <a:cs typeface="Calibri"/>
              </a:rPr>
              <a:t> </a:t>
            </a:r>
            <a:r>
              <a:rPr sz="2000" spc="-10" dirty="0">
                <a:latin typeface="Calibri"/>
                <a:cs typeface="Calibri"/>
              </a:rPr>
              <a:t>injury.</a:t>
            </a:r>
            <a:endParaRPr sz="2000">
              <a:latin typeface="Calibri"/>
              <a:cs typeface="Calibri"/>
            </a:endParaRPr>
          </a:p>
          <a:p>
            <a:pPr marL="336550" marR="739140">
              <a:lnSpc>
                <a:spcPts val="2590"/>
              </a:lnSpc>
              <a:spcBef>
                <a:spcPts val="525"/>
              </a:spcBef>
            </a:pPr>
            <a:r>
              <a:rPr sz="2400" dirty="0">
                <a:latin typeface="Calibri"/>
                <a:cs typeface="Calibri"/>
              </a:rPr>
              <a:t>How</a:t>
            </a:r>
            <a:r>
              <a:rPr sz="2400" spc="-65" dirty="0">
                <a:latin typeface="Calibri"/>
                <a:cs typeface="Calibri"/>
              </a:rPr>
              <a:t> </a:t>
            </a:r>
            <a:r>
              <a:rPr sz="2400" dirty="0">
                <a:latin typeface="Calibri"/>
                <a:cs typeface="Calibri"/>
              </a:rPr>
              <a:t>would</a:t>
            </a:r>
            <a:r>
              <a:rPr sz="2400" spc="-60" dirty="0">
                <a:latin typeface="Calibri"/>
                <a:cs typeface="Calibri"/>
              </a:rPr>
              <a:t> </a:t>
            </a:r>
            <a:r>
              <a:rPr sz="2400" dirty="0">
                <a:latin typeface="Calibri"/>
                <a:cs typeface="Calibri"/>
              </a:rPr>
              <a:t>you</a:t>
            </a:r>
            <a:r>
              <a:rPr sz="2400" spc="-60" dirty="0">
                <a:latin typeface="Calibri"/>
                <a:cs typeface="Calibri"/>
              </a:rPr>
              <a:t> </a:t>
            </a:r>
            <a:r>
              <a:rPr sz="2400" dirty="0">
                <a:latin typeface="Calibri"/>
                <a:cs typeface="Calibri"/>
              </a:rPr>
              <a:t>recommend</a:t>
            </a:r>
            <a:r>
              <a:rPr sz="2400" spc="-60" dirty="0">
                <a:latin typeface="Calibri"/>
                <a:cs typeface="Calibri"/>
              </a:rPr>
              <a:t> </a:t>
            </a:r>
            <a:r>
              <a:rPr sz="2400" dirty="0">
                <a:latin typeface="Calibri"/>
                <a:cs typeface="Calibri"/>
              </a:rPr>
              <a:t>that</a:t>
            </a:r>
            <a:r>
              <a:rPr sz="2400" spc="-65" dirty="0">
                <a:latin typeface="Calibri"/>
                <a:cs typeface="Calibri"/>
              </a:rPr>
              <a:t> </a:t>
            </a:r>
            <a:r>
              <a:rPr sz="2400" dirty="0">
                <a:latin typeface="Calibri"/>
                <a:cs typeface="Calibri"/>
              </a:rPr>
              <a:t>they</a:t>
            </a:r>
            <a:r>
              <a:rPr sz="2400" spc="-60" dirty="0">
                <a:latin typeface="Calibri"/>
                <a:cs typeface="Calibri"/>
              </a:rPr>
              <a:t> </a:t>
            </a:r>
            <a:r>
              <a:rPr sz="2400" dirty="0">
                <a:latin typeface="Calibri"/>
                <a:cs typeface="Calibri"/>
              </a:rPr>
              <a:t>respond</a:t>
            </a:r>
            <a:r>
              <a:rPr sz="2400" spc="-60" dirty="0">
                <a:latin typeface="Calibri"/>
                <a:cs typeface="Calibri"/>
              </a:rPr>
              <a:t> </a:t>
            </a:r>
            <a:r>
              <a:rPr sz="2400" dirty="0">
                <a:latin typeface="Calibri"/>
                <a:cs typeface="Calibri"/>
              </a:rPr>
              <a:t>(i.e.,</a:t>
            </a:r>
            <a:r>
              <a:rPr sz="2400" spc="-60" dirty="0">
                <a:latin typeface="Calibri"/>
                <a:cs typeface="Calibri"/>
              </a:rPr>
              <a:t> </a:t>
            </a:r>
            <a:r>
              <a:rPr sz="2400" dirty="0">
                <a:latin typeface="Calibri"/>
                <a:cs typeface="Calibri"/>
              </a:rPr>
              <a:t>avoid,</a:t>
            </a:r>
            <a:r>
              <a:rPr sz="2400" spc="-55" dirty="0">
                <a:latin typeface="Calibri"/>
                <a:cs typeface="Calibri"/>
              </a:rPr>
              <a:t> </a:t>
            </a:r>
            <a:r>
              <a:rPr sz="2400" dirty="0">
                <a:latin typeface="Calibri"/>
                <a:cs typeface="Calibri"/>
              </a:rPr>
              <a:t>accept,</a:t>
            </a:r>
            <a:r>
              <a:rPr sz="2400" spc="-60" dirty="0">
                <a:latin typeface="Calibri"/>
                <a:cs typeface="Calibri"/>
              </a:rPr>
              <a:t> </a:t>
            </a:r>
            <a:r>
              <a:rPr sz="2400" dirty="0">
                <a:latin typeface="Calibri"/>
                <a:cs typeface="Calibri"/>
              </a:rPr>
              <a:t>.</a:t>
            </a:r>
            <a:r>
              <a:rPr sz="2400" spc="-70" dirty="0">
                <a:latin typeface="Calibri"/>
                <a:cs typeface="Calibri"/>
              </a:rPr>
              <a:t> </a:t>
            </a:r>
            <a:r>
              <a:rPr sz="2400" dirty="0">
                <a:latin typeface="Calibri"/>
                <a:cs typeface="Calibri"/>
              </a:rPr>
              <a:t>.</a:t>
            </a:r>
            <a:r>
              <a:rPr sz="2400" spc="-70" dirty="0">
                <a:latin typeface="Calibri"/>
                <a:cs typeface="Calibri"/>
              </a:rPr>
              <a:t> </a:t>
            </a:r>
            <a:r>
              <a:rPr sz="2400" dirty="0">
                <a:latin typeface="Calibri"/>
                <a:cs typeface="Calibri"/>
              </a:rPr>
              <a:t>.)</a:t>
            </a:r>
            <a:r>
              <a:rPr sz="2400" spc="-65" dirty="0">
                <a:latin typeface="Calibri"/>
                <a:cs typeface="Calibri"/>
              </a:rPr>
              <a:t> </a:t>
            </a:r>
            <a:r>
              <a:rPr sz="2400" spc="-25" dirty="0">
                <a:latin typeface="Calibri"/>
                <a:cs typeface="Calibri"/>
              </a:rPr>
              <a:t>to </a:t>
            </a:r>
            <a:r>
              <a:rPr sz="2400" dirty="0">
                <a:latin typeface="Calibri"/>
                <a:cs typeface="Calibri"/>
              </a:rPr>
              <a:t>these</a:t>
            </a:r>
            <a:r>
              <a:rPr sz="2400" spc="-45" dirty="0">
                <a:latin typeface="Calibri"/>
                <a:cs typeface="Calibri"/>
              </a:rPr>
              <a:t> </a:t>
            </a:r>
            <a:r>
              <a:rPr sz="2400" dirty="0">
                <a:latin typeface="Calibri"/>
                <a:cs typeface="Calibri"/>
              </a:rPr>
              <a:t>risks</a:t>
            </a:r>
            <a:r>
              <a:rPr sz="2400" spc="-50" dirty="0">
                <a:latin typeface="Calibri"/>
                <a:cs typeface="Calibri"/>
              </a:rPr>
              <a:t> </a:t>
            </a:r>
            <a:r>
              <a:rPr sz="2400" dirty="0">
                <a:latin typeface="Calibri"/>
                <a:cs typeface="Calibri"/>
              </a:rPr>
              <a:t>and</a:t>
            </a:r>
            <a:r>
              <a:rPr sz="2400" spc="-45" dirty="0">
                <a:latin typeface="Calibri"/>
                <a:cs typeface="Calibri"/>
              </a:rPr>
              <a:t> </a:t>
            </a:r>
            <a:r>
              <a:rPr sz="2400" spc="-20" dirty="0">
                <a:latin typeface="Calibri"/>
                <a:cs typeface="Calibri"/>
              </a:rPr>
              <a:t>why?</a:t>
            </a:r>
            <a:endParaRPr sz="24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20</a:t>
            </a:r>
            <a:endParaRPr sz="1200">
              <a:latin typeface="Calibri"/>
              <a:cs typeface="Calibri"/>
            </a:endParaRPr>
          </a:p>
        </p:txBody>
      </p:sp>
      <p:pic>
        <p:nvPicPr>
          <p:cNvPr id="5" name="Picture 4">
            <a:extLst>
              <a:ext uri="{FF2B5EF4-FFF2-40B4-BE49-F238E27FC236}">
                <a16:creationId xmlns:a16="http://schemas.microsoft.com/office/drawing/2014/main" id="{6B184C0F-4C04-D1CA-CAF7-17ACC5806F2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1311</TotalTime>
  <Words>3192</Words>
  <Application>Microsoft Office PowerPoint</Application>
  <PresentationFormat>Widescreen</PresentationFormat>
  <Paragraphs>260</Paragraphs>
  <Slides>24</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Aptos</vt:lpstr>
      <vt:lpstr>Arial</vt:lpstr>
      <vt:lpstr>Arial MT</vt:lpstr>
      <vt:lpstr>Calibri</vt:lpstr>
      <vt:lpstr>Calibri Light</vt:lpstr>
      <vt:lpstr>Courier New</vt:lpstr>
      <vt:lpstr>Georgia</vt:lpstr>
      <vt:lpstr>Times New Roman</vt:lpstr>
      <vt:lpstr>Trebuchet MS</vt:lpstr>
      <vt:lpstr>Wingdings</vt:lpstr>
      <vt:lpstr>Office Theme</vt:lpstr>
      <vt:lpstr>Scheduling Resources and Costs</vt:lpstr>
      <vt:lpstr>PowerPoint Presentation</vt:lpstr>
      <vt:lpstr>Introduction</vt:lpstr>
      <vt:lpstr>Overview of the Resource Scheduling Problem</vt:lpstr>
      <vt:lpstr>Types of Resource Constraints</vt:lpstr>
      <vt:lpstr>Classification of a Scheduling Problem</vt:lpstr>
      <vt:lpstr>Resource Allocation Methods</vt:lpstr>
      <vt:lpstr>Time-Constrained Projects: Smoothing Resource Demand</vt:lpstr>
      <vt:lpstr>PowerPoint Presentation</vt:lpstr>
      <vt:lpstr>Resource-Constrained Projects (1/4)</vt:lpstr>
      <vt:lpstr>Resource-Constrained Projects (2/4)</vt:lpstr>
      <vt:lpstr>Resource-Constrained Projects (3/4)</vt:lpstr>
      <vt:lpstr>Impact of Resource-Constrained Scheduling</vt:lpstr>
      <vt:lpstr>Benefits of Scheduling Resources</vt:lpstr>
      <vt:lpstr>Why a Time-Phased Budget Baseline Is Needed:</vt:lpstr>
      <vt:lpstr>Time-Phased Work Packages (labor cost only) — Example 1</vt:lpstr>
      <vt:lpstr>Creating a Time-Phased Budget (1/2)</vt:lpstr>
      <vt:lpstr>Creating a Time-Phased Budget (2/2)</vt:lpstr>
      <vt:lpstr>Reducing Project Duration</vt:lpstr>
      <vt:lpstr>Rationale for Reducing Project Duration</vt:lpstr>
      <vt:lpstr>Options for Accelerating Project Completion (1/2)</vt:lpstr>
      <vt:lpstr>Options for Accelerating Project Completion (2/2)</vt:lpstr>
      <vt:lpstr>Assignement 6</vt:lpstr>
      <vt:lpstr>Exercise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Zahraa.Ismail</cp:lastModifiedBy>
  <cp:revision>29</cp:revision>
  <dcterms:created xsi:type="dcterms:W3CDTF">2025-07-31T08:02:00Z</dcterms:created>
  <dcterms:modified xsi:type="dcterms:W3CDTF">2025-11-24T10:02:13Z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2024-04-14T00:00:00Z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