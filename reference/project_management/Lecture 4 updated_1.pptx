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84" r:id="rId3"/>
    <p:sldId id="290" r:id="rId4"/>
    <p:sldId id="292" r:id="rId5"/>
    <p:sldId id="296" r:id="rId6"/>
    <p:sldId id="297" r:id="rId7"/>
    <p:sldId id="298" r:id="rId8"/>
    <p:sldId id="299" r:id="rId9"/>
    <p:sldId id="300" r:id="rId10"/>
    <p:sldId id="295" r:id="rId11"/>
    <p:sldId id="257" r:id="rId12"/>
    <p:sldId id="288" r:id="rId13"/>
    <p:sldId id="285" r:id="rId14"/>
    <p:sldId id="291" r:id="rId15"/>
    <p:sldId id="258" r:id="rId16"/>
    <p:sldId id="259" r:id="rId17"/>
    <p:sldId id="260" r:id="rId18"/>
    <p:sldId id="261" r:id="rId19"/>
    <p:sldId id="262" r:id="rId20"/>
    <p:sldId id="263" r:id="rId21"/>
    <p:sldId id="264" r:id="rId22"/>
    <p:sldId id="265" r:id="rId23"/>
    <p:sldId id="301" r:id="rId24"/>
    <p:sldId id="303" r:id="rId25"/>
    <p:sldId id="308" r:id="rId26"/>
    <p:sldId id="305" r:id="rId27"/>
    <p:sldId id="306" r:id="rId28"/>
    <p:sldId id="307" r:id="rId29"/>
    <p:sldId id="304" r:id="rId30"/>
    <p:sldId id="302"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706" autoAdjust="0"/>
  </p:normalViewPr>
  <p:slideViewPr>
    <p:cSldViewPr>
      <p:cViewPr varScale="1">
        <p:scale>
          <a:sx n="49" d="100"/>
          <a:sy n="49" d="100"/>
        </p:scale>
        <p:origin x="72"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F5B2A76-5472-454C-81ED-62ADBFB19522}" type="datetimeFigureOut">
              <a:rPr lang="en-US" smtClean="0"/>
              <a:t>10/19/2025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89D154-643E-4D8F-B1E8-060767CCBC6B}" type="slidenum">
              <a:rPr lang="en-US" smtClean="0"/>
              <a:t>‹#›</a:t>
            </a:fld>
            <a:endParaRPr lang="en-US"/>
          </a:p>
        </p:txBody>
      </p:sp>
    </p:spTree>
    <p:extLst>
      <p:ext uri="{BB962C8B-B14F-4D97-AF65-F5344CB8AC3E}">
        <p14:creationId xmlns:p14="http://schemas.microsoft.com/office/powerpoint/2010/main" val="1400918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usiness.adobe.com/blog/how-to/project-pla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usiness.adobe.com/blog/basics/scope-creep"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www.6sigma.us/glossary_term/quality-assurance-or-qa/" TargetMode="External"/><Relationship Id="rId3" Type="http://schemas.openxmlformats.org/officeDocument/2006/relationships/hyperlink" Target="https://www.6sigma.us/six-sigma-green-belt.php" TargetMode="External"/><Relationship Id="rId7" Type="http://schemas.openxmlformats.org/officeDocument/2006/relationships/hyperlink" Target="https://www.6sigma.us/six-sigma-in-focus/contingency-planning/"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ishn.com/articles/114116-best-practices-for-proactive-risk-identification-and-mitigation" TargetMode="External"/><Relationship Id="rId5" Type="http://schemas.openxmlformats.org/officeDocument/2006/relationships/hyperlink" Target="https://www.6sigma.us/project-management/project-deliverables/" TargetMode="External"/><Relationship Id="rId10" Type="http://schemas.openxmlformats.org/officeDocument/2006/relationships/hyperlink" Target="https://www.6sigma.us/project-management/six-sigma-project-charter/" TargetMode="External"/><Relationship Id="rId4" Type="http://schemas.openxmlformats.org/officeDocument/2006/relationships/hyperlink" Target="https://www.6sigma.us/project-management/project-scope-statement/" TargetMode="External"/><Relationship Id="rId9" Type="http://schemas.openxmlformats.org/officeDocument/2006/relationships/hyperlink" Target="https://www.6sigma.us/training-classes/six-sigma/"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6sigma.us/project-management/six-sigma-project-charter/"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C2C2C"/>
                </a:solidFill>
                <a:effectLst/>
                <a:latin typeface="Adobe Clean"/>
              </a:rPr>
              <a:t>The project scope statement is a detailed outline that includes a timeline, budget, assigned tasks, project stakeholders, and workflow strategies.</a:t>
            </a:r>
          </a:p>
          <a:p>
            <a:pPr algn="l"/>
            <a:r>
              <a:rPr lang="en-US" b="0" i="0" dirty="0">
                <a:solidFill>
                  <a:srgbClr val="2C2C2C"/>
                </a:solidFill>
                <a:effectLst/>
                <a:latin typeface="Adobe Clean"/>
              </a:rPr>
              <a:t>With a well-defined </a:t>
            </a:r>
            <a:r>
              <a:rPr lang="en-US" b="0" i="0" u="sng" dirty="0">
                <a:solidFill>
                  <a:srgbClr val="274DEA"/>
                </a:solidFill>
                <a:effectLst/>
                <a:latin typeface="Adobe Clean"/>
                <a:hlinkClick r:id="rId3"/>
              </a:rPr>
              <a:t>project plan</a:t>
            </a:r>
            <a:r>
              <a:rPr lang="en-US" b="0" i="0" dirty="0">
                <a:solidFill>
                  <a:srgbClr val="2C2C2C"/>
                </a:solidFill>
                <a:effectLst/>
                <a:latin typeface="Adobe Clean"/>
              </a:rPr>
              <a:t> and project scope statement, project managers can easily oversee each step in the project’s delivery. The scope statement keeps contributors on task, within budget, and on track to meet deadlines.</a:t>
            </a:r>
          </a:p>
          <a:p>
            <a:pPr algn="l"/>
            <a:r>
              <a:rPr lang="en-US" b="0" i="0" dirty="0">
                <a:solidFill>
                  <a:srgbClr val="2C2C2C"/>
                </a:solidFill>
                <a:effectLst/>
                <a:latin typeface="Adobe Clean"/>
              </a:rPr>
              <a:t>Team leaders should also map out a procedure for project changes within the scope statement. If a change is needed, stakeholders should inform the team and follow the guidance in the project scope statement to ensure a minimal impact.</a:t>
            </a:r>
          </a:p>
          <a:p>
            <a:endParaRPr lang="en-US" dirty="0"/>
          </a:p>
          <a:p>
            <a:endParaRPr lang="en-US" dirty="0"/>
          </a:p>
          <a:p>
            <a:endParaRPr lang="en-US" dirty="0"/>
          </a:p>
          <a:p>
            <a:endParaRPr lang="en-US" dirty="0"/>
          </a:p>
          <a:p>
            <a:r>
              <a:rPr lang="en-US" b="1" dirty="0"/>
              <a:t>Problem Scope Statement</a:t>
            </a:r>
          </a:p>
          <a:p>
            <a:r>
              <a:rPr lang="en-US" b="1" dirty="0"/>
              <a:t>Project Title:</a:t>
            </a:r>
            <a:r>
              <a:rPr lang="en-US" dirty="0"/>
              <a:t> Improving Customer Satisfaction in Online Retail</a:t>
            </a:r>
          </a:p>
          <a:p>
            <a:r>
              <a:rPr lang="en-US" b="1" dirty="0"/>
              <a:t>Background</a:t>
            </a:r>
          </a:p>
          <a:p>
            <a:r>
              <a:rPr lang="en-US" dirty="0"/>
              <a:t>Customer satisfaction is critical to the success of our online retail business. Recent surveys indicate a decline in customer satisfaction over the past six months, primarily related to product delivery times and customer service responsiveness.</a:t>
            </a:r>
          </a:p>
          <a:p>
            <a:r>
              <a:rPr lang="en-US" b="1" dirty="0"/>
              <a:t>Problem Statement</a:t>
            </a:r>
          </a:p>
          <a:p>
            <a:r>
              <a:rPr lang="en-US" dirty="0"/>
              <a:t>Customers have reported dissatisfaction due to prolonged delivery times (average of 7 days) and inadequate responses from customer service (average response time of 48 hours). This issue has led to a 15% decrease in repeat purchases.</a:t>
            </a:r>
          </a:p>
          <a:p>
            <a:r>
              <a:rPr lang="en-US" b="1" dirty="0"/>
              <a:t>Objectives</a:t>
            </a:r>
          </a:p>
          <a:p>
            <a:r>
              <a:rPr lang="en-US" dirty="0"/>
              <a:t>Analyze current logistics and customer service processes.</a:t>
            </a:r>
          </a:p>
          <a:p>
            <a:r>
              <a:rPr lang="en-US" dirty="0"/>
              <a:t>Identify key bottlenecks contributing to delivery delays.</a:t>
            </a:r>
          </a:p>
          <a:p>
            <a:r>
              <a:rPr lang="en-US" dirty="0"/>
              <a:t>Develop strategies to enhance customer service response times.</a:t>
            </a:r>
          </a:p>
          <a:p>
            <a:r>
              <a:rPr lang="en-US" b="1" dirty="0"/>
              <a:t>Scope</a:t>
            </a:r>
          </a:p>
          <a:p>
            <a:r>
              <a:rPr lang="en-US" b="1" dirty="0"/>
              <a:t>In-Scope:</a:t>
            </a:r>
            <a:endParaRPr lang="en-US" dirty="0"/>
          </a:p>
          <a:p>
            <a:r>
              <a:rPr lang="en-US" dirty="0"/>
              <a:t>Review of current logistics providers and delivery methods.</a:t>
            </a:r>
          </a:p>
          <a:p>
            <a:r>
              <a:rPr lang="en-US" dirty="0"/>
              <a:t>Assessment of customer service protocols and staffing.</a:t>
            </a:r>
          </a:p>
          <a:p>
            <a:r>
              <a:rPr lang="en-US" dirty="0"/>
              <a:t>Implementation of new tracking systems for delivery.</a:t>
            </a:r>
          </a:p>
          <a:p>
            <a:r>
              <a:rPr lang="en-US" b="1" dirty="0"/>
              <a:t>Out-of-Scope:</a:t>
            </a:r>
            <a:endParaRPr lang="en-US" dirty="0"/>
          </a:p>
          <a:p>
            <a:r>
              <a:rPr lang="en-US" dirty="0"/>
              <a:t>Changes to product offerings or pricing.</a:t>
            </a:r>
          </a:p>
          <a:p>
            <a:r>
              <a:rPr lang="en-US" dirty="0"/>
              <a:t>Marketing strategies unrelated to customer service improvements.</a:t>
            </a:r>
          </a:p>
          <a:p>
            <a:r>
              <a:rPr lang="en-US" b="1" dirty="0"/>
              <a:t>Deliverables</a:t>
            </a:r>
          </a:p>
          <a:p>
            <a:r>
              <a:rPr lang="en-US" dirty="0"/>
              <a:t>A report detailing findings from the analysis.</a:t>
            </a:r>
          </a:p>
          <a:p>
            <a:r>
              <a:rPr lang="en-US" dirty="0"/>
              <a:t>Recommendations for logistics improvements.</a:t>
            </a:r>
          </a:p>
          <a:p>
            <a:r>
              <a:rPr lang="en-US" dirty="0"/>
              <a:t>A plan for enhancing customer service training.</a:t>
            </a:r>
          </a:p>
          <a:p>
            <a:r>
              <a:rPr lang="en-US" b="1" dirty="0"/>
              <a:t>Timeline</a:t>
            </a:r>
          </a:p>
          <a:p>
            <a:r>
              <a:rPr lang="en-US" dirty="0"/>
              <a:t>The project will be initiated on [Start Date] and is expected to be completed by [End Date], with regular updates provided to stakeholders.</a:t>
            </a:r>
          </a:p>
          <a:p>
            <a:r>
              <a:rPr lang="en-US" b="1" dirty="0"/>
              <a:t>Stakeholders</a:t>
            </a:r>
          </a:p>
          <a:p>
            <a:r>
              <a:rPr lang="en-US" dirty="0"/>
              <a:t>Project Manager</a:t>
            </a:r>
          </a:p>
          <a:p>
            <a:r>
              <a:rPr lang="en-US" dirty="0"/>
              <a:t>Logistics Team</a:t>
            </a:r>
          </a:p>
          <a:p>
            <a:r>
              <a:rPr lang="en-US" dirty="0"/>
              <a:t>Customer Service Team</a:t>
            </a:r>
          </a:p>
          <a:p>
            <a:r>
              <a:rPr lang="en-US" dirty="0"/>
              <a:t>Marketing Department</a:t>
            </a:r>
          </a:p>
          <a:p>
            <a:br>
              <a:rPr lang="en-US" dirty="0"/>
            </a:br>
            <a:endParaRPr lang="en-US" dirty="0"/>
          </a:p>
          <a:p>
            <a:r>
              <a:rPr lang="en-US" dirty="0"/>
              <a:t>This example highlights the problem, objectives, scope, and deliverables clearly, providing a structured approach to addressing the issue at hand.</a:t>
            </a:r>
          </a:p>
          <a:p>
            <a:endParaRPr lang="en-US" dirty="0"/>
          </a:p>
          <a:p>
            <a:endParaRPr lang="en-US" dirty="0"/>
          </a:p>
          <a:p>
            <a:endParaRPr lang="en-US" dirty="0"/>
          </a:p>
          <a:p>
            <a:endParaRPr lang="en-US" dirty="0"/>
          </a:p>
          <a:p>
            <a:endParaRPr lang="en-US" dirty="0"/>
          </a:p>
          <a:p>
            <a:r>
              <a:rPr lang="en-US" b="1" dirty="0"/>
              <a:t>Problem Scope Statement</a:t>
            </a:r>
          </a:p>
          <a:p>
            <a:r>
              <a:rPr lang="en-US" b="1" dirty="0"/>
              <a:t>Project Title:</a:t>
            </a:r>
            <a:r>
              <a:rPr lang="en-US" dirty="0"/>
              <a:t> Enhancing Network Security for Company Infrastructure</a:t>
            </a:r>
          </a:p>
          <a:p>
            <a:r>
              <a:rPr lang="en-US" b="1" dirty="0"/>
              <a:t>Background</a:t>
            </a:r>
          </a:p>
          <a:p>
            <a:r>
              <a:rPr lang="en-US" dirty="0"/>
              <a:t>With the increase in cyber threats, our company’s network security has become a pressing concern. Recent assessments have revealed vulnerabilities in our existing firewall and intrusion detection systems, potentially exposing sensitive data to unauthorized access.</a:t>
            </a:r>
          </a:p>
          <a:p>
            <a:r>
              <a:rPr lang="en-US" b="1" dirty="0"/>
              <a:t>Problem Statement</a:t>
            </a:r>
          </a:p>
          <a:p>
            <a:r>
              <a:rPr lang="en-US" dirty="0"/>
              <a:t>The current network security infrastructure is inadequate to defend against advanced persistent threats (APTs) and has resulted in multiple security incidents over the past year. These vulnerabilities could lead to data breaches, resulting in financial loss and reputational damage.</a:t>
            </a:r>
          </a:p>
          <a:p>
            <a:r>
              <a:rPr lang="en-US" b="1" dirty="0"/>
              <a:t>Objectives</a:t>
            </a:r>
          </a:p>
          <a:p>
            <a:r>
              <a:rPr lang="en-US" dirty="0"/>
              <a:t>Conduct a comprehensive security audit of the existing network infrastructure.</a:t>
            </a:r>
          </a:p>
          <a:p>
            <a:r>
              <a:rPr lang="en-US" dirty="0"/>
              <a:t>Identify vulnerabilities and gaps in the current firewall and intrusion detection systems.</a:t>
            </a:r>
          </a:p>
          <a:p>
            <a:r>
              <a:rPr lang="en-US" dirty="0"/>
              <a:t>Propose and implement enhanced security measures to protect sensitive data.</a:t>
            </a:r>
          </a:p>
          <a:p>
            <a:r>
              <a:rPr lang="en-US" b="1" dirty="0"/>
              <a:t>Scope</a:t>
            </a:r>
          </a:p>
          <a:p>
            <a:r>
              <a:rPr lang="en-US" b="1" dirty="0"/>
              <a:t>In-Scope:</a:t>
            </a:r>
            <a:endParaRPr lang="en-US" dirty="0"/>
          </a:p>
          <a:p>
            <a:r>
              <a:rPr lang="en-US" dirty="0"/>
              <a:t>Assessment of existing firewall configurations and rules.</a:t>
            </a:r>
          </a:p>
          <a:p>
            <a:r>
              <a:rPr lang="en-US" dirty="0"/>
              <a:t>Evaluation of intrusion detection and prevention systems.</a:t>
            </a:r>
          </a:p>
          <a:p>
            <a:r>
              <a:rPr lang="en-US" dirty="0"/>
              <a:t>Implementation of upgraded security protocols and tools.</a:t>
            </a:r>
          </a:p>
          <a:p>
            <a:r>
              <a:rPr lang="en-US" b="1" dirty="0"/>
              <a:t>Out-of-Scope:</a:t>
            </a:r>
            <a:endParaRPr lang="en-US" dirty="0"/>
          </a:p>
          <a:p>
            <a:r>
              <a:rPr lang="en-US" dirty="0"/>
              <a:t>Changes to non-network related systems (e.g., application software).</a:t>
            </a:r>
          </a:p>
          <a:p>
            <a:r>
              <a:rPr lang="en-US" dirty="0"/>
              <a:t>Employee training programs not directly related to security measures.</a:t>
            </a:r>
          </a:p>
          <a:p>
            <a:r>
              <a:rPr lang="en-US" b="1" dirty="0"/>
              <a:t>Deliverables</a:t>
            </a:r>
          </a:p>
          <a:p>
            <a:r>
              <a:rPr lang="en-US" dirty="0"/>
              <a:t>A detailed report of the security audit findings.</a:t>
            </a:r>
          </a:p>
          <a:p>
            <a:r>
              <a:rPr lang="en-US" dirty="0"/>
              <a:t>A list of identified vulnerabilities and recommended solutions.</a:t>
            </a:r>
          </a:p>
          <a:p>
            <a:r>
              <a:rPr lang="en-US" dirty="0"/>
              <a:t>An implementation plan for enhanced security measures, including timelines.</a:t>
            </a:r>
          </a:p>
          <a:p>
            <a:r>
              <a:rPr lang="en-US" b="1" dirty="0"/>
              <a:t>Timeline</a:t>
            </a:r>
          </a:p>
          <a:p>
            <a:r>
              <a:rPr lang="en-US" dirty="0"/>
              <a:t>The project is scheduled to commence on [Start Date] and will conclude by [End Date], with bi-weekly progress updates provided to the IT department and stakeholders.</a:t>
            </a:r>
          </a:p>
          <a:p>
            <a:r>
              <a:rPr lang="en-US" b="1" dirty="0"/>
              <a:t>Stakeholders</a:t>
            </a:r>
          </a:p>
          <a:p>
            <a:r>
              <a:rPr lang="en-US" dirty="0"/>
              <a:t>IT Security Team</a:t>
            </a:r>
          </a:p>
          <a:p>
            <a:r>
              <a:rPr lang="en-US" dirty="0"/>
              <a:t>Network Engineering Team</a:t>
            </a:r>
          </a:p>
          <a:p>
            <a:r>
              <a:rPr lang="en-US" dirty="0"/>
              <a:t>Compliance Officer</a:t>
            </a:r>
          </a:p>
          <a:p>
            <a:r>
              <a:rPr lang="en-US" dirty="0"/>
              <a:t>Upper Management</a:t>
            </a:r>
          </a:p>
          <a:p>
            <a:br>
              <a:rPr lang="en-US" dirty="0"/>
            </a:br>
            <a:endParaRPr lang="en-US" dirty="0"/>
          </a:p>
          <a:p>
            <a:r>
              <a:rPr lang="en-US" dirty="0"/>
              <a:t>This example clearly defines the problem related to network security, the objectives to be achieved, and the scope of the project, ensuring all stakeholders are aligned on the project goals.</a:t>
            </a:r>
          </a:p>
          <a:p>
            <a:endParaRPr lang="en-US" dirty="0"/>
          </a:p>
          <a:p>
            <a:endParaRPr lang="en-US" dirty="0"/>
          </a:p>
          <a:p>
            <a:endParaRPr lang="en-US" dirty="0"/>
          </a:p>
          <a:p>
            <a:r>
              <a:rPr lang="en-US" b="1" dirty="0"/>
              <a:t>Problem Scope Statement</a:t>
            </a:r>
          </a:p>
          <a:p>
            <a:r>
              <a:rPr lang="en-US" b="1" dirty="0"/>
              <a:t>Project Title:</a:t>
            </a:r>
            <a:r>
              <a:rPr lang="en-US" dirty="0"/>
              <a:t> Optimizing Database Performance for E-Commerce Platform</a:t>
            </a:r>
          </a:p>
          <a:p>
            <a:r>
              <a:rPr lang="en-US" b="1" dirty="0"/>
              <a:t>Background</a:t>
            </a:r>
          </a:p>
          <a:p>
            <a:r>
              <a:rPr lang="en-US" dirty="0"/>
              <a:t>Our e-commerce platform has experienced slower database response times, particularly during peak shopping periods. This has led to increased page load times and a decline in user satisfaction, ultimately affecting sales.</a:t>
            </a:r>
          </a:p>
          <a:p>
            <a:r>
              <a:rPr lang="en-US" b="1" dirty="0"/>
              <a:t>Problem Statement</a:t>
            </a:r>
          </a:p>
          <a:p>
            <a:r>
              <a:rPr lang="en-US" dirty="0"/>
              <a:t>The current database performance is inadequate, with average query response times exceeding 2 seconds during high traffic. This inefficiency has resulted in a 20% increase in cart abandonment rates over the last quarter.</a:t>
            </a:r>
          </a:p>
          <a:p>
            <a:r>
              <a:rPr lang="en-US" b="1" dirty="0"/>
              <a:t>Objectives</a:t>
            </a:r>
          </a:p>
          <a:p>
            <a:r>
              <a:rPr lang="en-US" dirty="0"/>
              <a:t>Analyze the current database architecture and query performance.</a:t>
            </a:r>
          </a:p>
          <a:p>
            <a:r>
              <a:rPr lang="en-US" dirty="0"/>
              <a:t>Identify inefficiencies in database indexing and query optimization.</a:t>
            </a:r>
          </a:p>
          <a:p>
            <a:r>
              <a:rPr lang="en-US" dirty="0"/>
              <a:t>Implement changes to improve overall database response times.</a:t>
            </a:r>
          </a:p>
          <a:p>
            <a:r>
              <a:rPr lang="en-US" b="1" dirty="0"/>
              <a:t>Scope</a:t>
            </a:r>
          </a:p>
          <a:p>
            <a:r>
              <a:rPr lang="en-US" b="1" dirty="0"/>
              <a:t>In-Scope:</a:t>
            </a:r>
            <a:endParaRPr lang="en-US" dirty="0"/>
          </a:p>
          <a:p>
            <a:r>
              <a:rPr lang="en-US" dirty="0"/>
              <a:t>Review of existing database schema and indexing strategies.</a:t>
            </a:r>
          </a:p>
          <a:p>
            <a:r>
              <a:rPr lang="en-US" dirty="0"/>
              <a:t>Assessment of query performance and execution plans.</a:t>
            </a:r>
          </a:p>
          <a:p>
            <a:r>
              <a:rPr lang="en-US" dirty="0"/>
              <a:t>Implementation of optimizations and performance tuning.</a:t>
            </a:r>
          </a:p>
          <a:p>
            <a:r>
              <a:rPr lang="en-US" b="1" dirty="0"/>
              <a:t>Out-of-Scope:</a:t>
            </a:r>
            <a:endParaRPr lang="en-US" dirty="0"/>
          </a:p>
          <a:p>
            <a:r>
              <a:rPr lang="en-US" dirty="0"/>
              <a:t>Changes to the application layer or user interface.</a:t>
            </a:r>
          </a:p>
          <a:p>
            <a:r>
              <a:rPr lang="en-US" dirty="0"/>
              <a:t>Migration to a different database management system (DBMS).</a:t>
            </a:r>
          </a:p>
          <a:p>
            <a:r>
              <a:rPr lang="en-US" b="1" dirty="0"/>
              <a:t>Deliverables</a:t>
            </a:r>
          </a:p>
          <a:p>
            <a:r>
              <a:rPr lang="en-US" dirty="0"/>
              <a:t>A comprehensive report detailing performance analysis and identified issues.</a:t>
            </a:r>
          </a:p>
          <a:p>
            <a:r>
              <a:rPr lang="en-US" dirty="0"/>
              <a:t>Recommendations for database optimization, including indexing strategies.</a:t>
            </a:r>
          </a:p>
          <a:p>
            <a:r>
              <a:rPr lang="en-US" dirty="0"/>
              <a:t>A timeline and plan for implementing performance improvements.</a:t>
            </a:r>
          </a:p>
          <a:p>
            <a:r>
              <a:rPr lang="en-US" b="1" dirty="0"/>
              <a:t>Timeline</a:t>
            </a:r>
          </a:p>
          <a:p>
            <a:r>
              <a:rPr lang="en-US" dirty="0"/>
              <a:t>The project is expected to start on [Start Date] and be completed by [End Date], with weekly updates provided to the development team and project stakeholders.</a:t>
            </a:r>
          </a:p>
          <a:p>
            <a:r>
              <a:rPr lang="en-US" b="1" dirty="0"/>
              <a:t>Stakeholders</a:t>
            </a:r>
          </a:p>
          <a:p>
            <a:r>
              <a:rPr lang="en-US" dirty="0"/>
              <a:t>Database Administrators</a:t>
            </a:r>
          </a:p>
          <a:p>
            <a:r>
              <a:rPr lang="en-US" dirty="0"/>
              <a:t>Software Development Team</a:t>
            </a:r>
          </a:p>
          <a:p>
            <a:r>
              <a:rPr lang="en-US" dirty="0"/>
              <a:t>Product Management</a:t>
            </a:r>
          </a:p>
          <a:p>
            <a:r>
              <a:rPr lang="en-US" dirty="0"/>
              <a:t>Customer Support Team</a:t>
            </a:r>
          </a:p>
          <a:p>
            <a:br>
              <a:rPr lang="en-US" dirty="0"/>
            </a:br>
            <a:endParaRPr lang="en-US" dirty="0"/>
          </a:p>
          <a:p>
            <a:r>
              <a:rPr lang="en-US"/>
              <a:t>This example outlines the problem of database performance in an e-commerce context, clearly defining the objectives, scope, and expected deliverables to align all involved parties.</a:t>
            </a: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3</a:t>
            </a:fld>
            <a:endParaRPr lang="en-US"/>
          </a:p>
        </p:txBody>
      </p:sp>
    </p:spTree>
    <p:extLst>
      <p:ext uri="{BB962C8B-B14F-4D97-AF65-F5344CB8AC3E}">
        <p14:creationId xmlns:p14="http://schemas.microsoft.com/office/powerpoint/2010/main" val="1215682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C2C2C"/>
                </a:solidFill>
                <a:effectLst/>
                <a:latin typeface="Adobe Clean"/>
              </a:rPr>
              <a:t>Defining and documenting project scope is crucial for keeping contributors aligned. It outlines significant limitations and constraints that may derail timelines, budgets, and deliverables. Defining these parameters of a project helps alleviate unforeseen issues.</a:t>
            </a:r>
          </a:p>
          <a:p>
            <a:pPr algn="l"/>
            <a:r>
              <a:rPr lang="en-US" b="0" i="0" dirty="0">
                <a:solidFill>
                  <a:srgbClr val="2C2C2C"/>
                </a:solidFill>
                <a:effectLst/>
                <a:latin typeface="Adobe Clean"/>
              </a:rPr>
              <a:t>Determining which results to measure when defining project scope, like costs or conversion rate, is essential. Then, discuss the team’s vision and allow project managers (PMs) to create compromise by diagnosing areas of concern or disagreement. This helps you understand the project's goals and how each team can contribute.</a:t>
            </a:r>
          </a:p>
          <a:p>
            <a:pPr algn="l"/>
            <a:r>
              <a:rPr lang="en-US" b="0" i="0" dirty="0">
                <a:solidFill>
                  <a:srgbClr val="2C2C2C"/>
                </a:solidFill>
                <a:effectLst/>
                <a:latin typeface="Adobe Clean"/>
              </a:rPr>
              <a:t>A clear project scope:</a:t>
            </a:r>
          </a:p>
          <a:p>
            <a:pPr algn="l">
              <a:buFont typeface="Arial" panose="020B0604020202020204" pitchFamily="34" charset="0"/>
              <a:buChar char="•"/>
            </a:pPr>
            <a:r>
              <a:rPr lang="en-US" b="1" i="0" dirty="0">
                <a:solidFill>
                  <a:srgbClr val="2C2C2C"/>
                </a:solidFill>
                <a:effectLst/>
                <a:latin typeface="Adobe Clean"/>
              </a:rPr>
              <a:t>Provides a roadmap.</a:t>
            </a:r>
            <a:r>
              <a:rPr lang="en-US" b="0" i="0" dirty="0">
                <a:solidFill>
                  <a:srgbClr val="2C2C2C"/>
                </a:solidFill>
                <a:effectLst/>
                <a:latin typeface="Adobe Clean"/>
              </a:rPr>
              <a:t> Any team member can refer to the project scope at any point during the project for alignment and a clear view of project goals.</a:t>
            </a:r>
          </a:p>
          <a:p>
            <a:pPr algn="l">
              <a:buFont typeface="Arial" panose="020B0604020202020204" pitchFamily="34" charset="0"/>
              <a:buChar char="•"/>
            </a:pPr>
            <a:r>
              <a:rPr lang="en-US" b="1" i="0" dirty="0">
                <a:solidFill>
                  <a:srgbClr val="2C2C2C"/>
                </a:solidFill>
                <a:effectLst/>
                <a:latin typeface="Adobe Clean"/>
              </a:rPr>
              <a:t>Manages stakeholder expectations.</a:t>
            </a:r>
            <a:r>
              <a:rPr lang="en-US" b="0" i="0" dirty="0">
                <a:solidFill>
                  <a:srgbClr val="2C2C2C"/>
                </a:solidFill>
                <a:effectLst/>
                <a:latin typeface="Adobe Clean"/>
              </a:rPr>
              <a:t> Stakeholders may have different priorities for the project. The project scope sets the parameters, ensuring everyone knows the specific intentions and goals.</a:t>
            </a:r>
          </a:p>
          <a:p>
            <a:pPr algn="l">
              <a:buFont typeface="Arial" panose="020B0604020202020204" pitchFamily="34" charset="0"/>
              <a:buChar char="•"/>
            </a:pPr>
            <a:r>
              <a:rPr lang="en-US" b="1" i="0" dirty="0">
                <a:solidFill>
                  <a:srgbClr val="2C2C2C"/>
                </a:solidFill>
                <a:effectLst/>
                <a:latin typeface="Adobe Clean"/>
              </a:rPr>
              <a:t>Makes budgeting and scheduling easier.</a:t>
            </a:r>
            <a:r>
              <a:rPr lang="en-US" b="0" i="0" dirty="0">
                <a:solidFill>
                  <a:srgbClr val="2C2C2C"/>
                </a:solidFill>
                <a:effectLst/>
                <a:latin typeface="Adobe Clean"/>
              </a:rPr>
              <a:t> Defining deadlines and constraints in the project scope before beginning helps you plan resources.</a:t>
            </a:r>
          </a:p>
          <a:p>
            <a:pPr algn="l">
              <a:buFont typeface="Arial" panose="020B0604020202020204" pitchFamily="34" charset="0"/>
              <a:buChar char="•"/>
            </a:pPr>
            <a:r>
              <a:rPr lang="en-US" b="1" i="0" u="sng" dirty="0">
                <a:solidFill>
                  <a:srgbClr val="274DEA"/>
                </a:solidFill>
                <a:effectLst/>
                <a:latin typeface="Adobe Clean"/>
                <a:hlinkClick r:id="rId3"/>
              </a:rPr>
              <a:t>Prevents scope creep</a:t>
            </a:r>
            <a:r>
              <a:rPr lang="en-US" b="1" i="0" dirty="0">
                <a:solidFill>
                  <a:srgbClr val="2C2C2C"/>
                </a:solidFill>
                <a:effectLst/>
                <a:latin typeface="Adobe Clean"/>
              </a:rPr>
              <a:t>.</a:t>
            </a:r>
            <a:r>
              <a:rPr lang="en-US" b="0" i="0" dirty="0">
                <a:solidFill>
                  <a:srgbClr val="2C2C2C"/>
                </a:solidFill>
                <a:effectLst/>
                <a:latin typeface="Adobe Clean"/>
              </a:rPr>
              <a:t> Setting the boundaries of your project in the project scope helps alleviate issues that may shift the focus of your project away from the plan.</a:t>
            </a: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4</a:t>
            </a:fld>
            <a:endParaRPr lang="en-US"/>
          </a:p>
        </p:txBody>
      </p:sp>
    </p:spTree>
    <p:extLst>
      <p:ext uri="{BB962C8B-B14F-4D97-AF65-F5344CB8AC3E}">
        <p14:creationId xmlns:p14="http://schemas.microsoft.com/office/powerpoint/2010/main" val="2881553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C2C2C"/>
                </a:solidFill>
                <a:effectLst/>
                <a:latin typeface="Adobe Clean"/>
              </a:rPr>
              <a:t>Project scope outline.</a:t>
            </a:r>
          </a:p>
          <a:p>
            <a:pPr algn="l"/>
            <a:r>
              <a:rPr lang="en-US" b="0" i="0" dirty="0">
                <a:solidFill>
                  <a:srgbClr val="2C2C2C"/>
                </a:solidFill>
                <a:effectLst/>
                <a:latin typeface="Adobe Clean"/>
              </a:rPr>
              <a:t>Every project scope statement should follow a consistent outline. Below is a basic outline and an example of what each section might look like.</a:t>
            </a:r>
          </a:p>
          <a:p>
            <a:pPr algn="l"/>
            <a:r>
              <a:rPr lang="en-US" b="1" i="0" dirty="0">
                <a:solidFill>
                  <a:srgbClr val="2C2C2C"/>
                </a:solidFill>
                <a:effectLst/>
                <a:latin typeface="Adobe Clean"/>
              </a:rPr>
              <a:t>Introduction.</a:t>
            </a:r>
          </a:p>
          <a:p>
            <a:pPr algn="l"/>
            <a:r>
              <a:rPr lang="en-US" b="0" i="0" dirty="0">
                <a:solidFill>
                  <a:srgbClr val="2C2C2C"/>
                </a:solidFill>
                <a:effectLst/>
                <a:latin typeface="Adobe Clean"/>
              </a:rPr>
              <a:t>The introduction should define the purpose, goal, and stakeholders and give a high-level overview of the project’s scope. An introductory statement might start with, “This marketing project is being undertaken to create an article to post on the blog to create brand awareness.”</a:t>
            </a:r>
          </a:p>
          <a:p>
            <a:pPr algn="l"/>
            <a:r>
              <a:rPr lang="en-US" b="1" i="0" dirty="0">
                <a:solidFill>
                  <a:srgbClr val="2C2C2C"/>
                </a:solidFill>
                <a:effectLst/>
                <a:latin typeface="Adobe Clean"/>
              </a:rPr>
              <a:t>Project scope requirements and goals.</a:t>
            </a:r>
          </a:p>
          <a:p>
            <a:pPr algn="l"/>
            <a:r>
              <a:rPr lang="en-US" b="0" i="0" dirty="0">
                <a:solidFill>
                  <a:srgbClr val="2C2C2C"/>
                </a:solidFill>
                <a:effectLst/>
                <a:latin typeface="Adobe Clean"/>
              </a:rPr>
              <a:t>The </a:t>
            </a:r>
            <a:r>
              <a:rPr lang="en-US" b="0" i="1" dirty="0">
                <a:solidFill>
                  <a:srgbClr val="2C2C2C"/>
                </a:solidFill>
                <a:effectLst/>
                <a:latin typeface="Adobe Clean"/>
              </a:rPr>
              <a:t>project scope</a:t>
            </a:r>
            <a:r>
              <a:rPr lang="en-US" b="0" i="0" dirty="0">
                <a:solidFill>
                  <a:srgbClr val="2C2C2C"/>
                </a:solidFill>
                <a:effectLst/>
                <a:latin typeface="Adobe Clean"/>
              </a:rPr>
              <a:t> is the main piece of the project scope statement. It should define specific requirements like budget, timeline, or contributing teams. You can also offer a vision of the deliverables.</a:t>
            </a:r>
          </a:p>
          <a:p>
            <a:pPr algn="l"/>
            <a:r>
              <a:rPr lang="en-US" b="0" i="0" dirty="0">
                <a:solidFill>
                  <a:srgbClr val="2C2C2C"/>
                </a:solidFill>
                <a:effectLst/>
                <a:latin typeface="Adobe Clean"/>
              </a:rPr>
              <a:t>Include a statement like, “This project will include research, content strategy, content creation, and content publication on the company blog. It will also include sharing the article on social media. The marketing team will conduct all activities.”</a:t>
            </a:r>
          </a:p>
          <a:p>
            <a:pPr algn="l"/>
            <a:r>
              <a:rPr lang="en-US" b="1" i="0" dirty="0">
                <a:solidFill>
                  <a:srgbClr val="2C2C2C"/>
                </a:solidFill>
                <a:effectLst/>
                <a:latin typeface="Adobe Clean"/>
              </a:rPr>
              <a:t>Deliverables.</a:t>
            </a:r>
          </a:p>
          <a:p>
            <a:pPr algn="l"/>
            <a:r>
              <a:rPr lang="en-US" b="0" i="0" dirty="0">
                <a:solidFill>
                  <a:srgbClr val="2C2C2C"/>
                </a:solidFill>
                <a:effectLst/>
                <a:latin typeface="Adobe Clean"/>
              </a:rPr>
              <a:t>Define the item that needs to be completed, who it’s going to, and any deadlines. It is crucial to create parameters around deliverables so that the expected result is straightforward and doesn’t lead to churn. For example, a short write-up could say, “Project deliverables include one researched, written article of up to 1,000 words to be delivered by email.”</a:t>
            </a:r>
          </a:p>
          <a:p>
            <a:pPr algn="l"/>
            <a:r>
              <a:rPr lang="en-US" b="1" i="0" dirty="0">
                <a:solidFill>
                  <a:srgbClr val="2C2C2C"/>
                </a:solidFill>
                <a:effectLst/>
                <a:latin typeface="Adobe Clean"/>
              </a:rPr>
              <a:t>Project acceptance criteria.</a:t>
            </a:r>
          </a:p>
          <a:p>
            <a:pPr algn="l"/>
            <a:r>
              <a:rPr lang="en-US" b="0" i="0" dirty="0">
                <a:solidFill>
                  <a:srgbClr val="2C2C2C"/>
                </a:solidFill>
                <a:effectLst/>
                <a:latin typeface="Adobe Clean"/>
              </a:rPr>
              <a:t>Use acceptance criteria to set target thresholds for your project requirements. Be sure to state who will be responsible for the final analysis and how the metrics will be measured. In the project outline, you might begin with something like, “The company will review and approve the final article before publishing.”</a:t>
            </a:r>
          </a:p>
          <a:p>
            <a:pPr algn="l"/>
            <a:r>
              <a:rPr lang="en-US" b="1" i="0" dirty="0">
                <a:solidFill>
                  <a:srgbClr val="2C2C2C"/>
                </a:solidFill>
                <a:effectLst/>
                <a:latin typeface="Adobe Clean"/>
              </a:rPr>
              <a:t>Exclusions.</a:t>
            </a:r>
          </a:p>
          <a:p>
            <a:pPr algn="l"/>
            <a:r>
              <a:rPr lang="en-US" b="0" i="0" dirty="0">
                <a:solidFill>
                  <a:srgbClr val="2C2C2C"/>
                </a:solidFill>
                <a:effectLst/>
                <a:latin typeface="Adobe Clean"/>
              </a:rPr>
              <a:t>List the components that will </a:t>
            </a:r>
            <a:r>
              <a:rPr lang="en-US" b="0" i="1" dirty="0">
                <a:solidFill>
                  <a:srgbClr val="2C2C2C"/>
                </a:solidFill>
                <a:effectLst/>
                <a:latin typeface="Adobe Clean"/>
              </a:rPr>
              <a:t>not</a:t>
            </a:r>
            <a:r>
              <a:rPr lang="en-US" b="0" i="0" dirty="0">
                <a:solidFill>
                  <a:srgbClr val="2C2C2C"/>
                </a:solidFill>
                <a:effectLst/>
                <a:latin typeface="Adobe Clean"/>
              </a:rPr>
              <a:t> be a part of the project. It is essential to get alignment from team members and leaders to clarify expectations. Identify these in writing before beginning the work. For example, your statement might include, “This project will not include payment to external vendors for research or outsourced services.”</a:t>
            </a:r>
          </a:p>
          <a:p>
            <a:pPr algn="l"/>
            <a:r>
              <a:rPr lang="en-US" b="1" i="0" dirty="0">
                <a:solidFill>
                  <a:srgbClr val="2C2C2C"/>
                </a:solidFill>
                <a:effectLst/>
                <a:latin typeface="Adobe Clean"/>
              </a:rPr>
              <a:t>Constraints.</a:t>
            </a:r>
          </a:p>
          <a:p>
            <a:pPr algn="l"/>
            <a:r>
              <a:rPr lang="en-US" b="0" i="0" dirty="0">
                <a:solidFill>
                  <a:srgbClr val="2C2C2C"/>
                </a:solidFill>
                <a:effectLst/>
                <a:latin typeface="Adobe Clean"/>
              </a:rPr>
              <a:t>Document project constraints like budget limits or timeframes. To clearly state the potential sources of scope creep, your statement could say, “Constraints may include communication delays, changes in scope, or technical difficulties. The budget for this project is $21,000, and it must be completed by the end of Q3.”</a:t>
            </a:r>
          </a:p>
          <a:p>
            <a:pPr algn="l"/>
            <a:r>
              <a:rPr lang="en-US" b="1" i="0" dirty="0">
                <a:solidFill>
                  <a:srgbClr val="2C2C2C"/>
                </a:solidFill>
                <a:effectLst/>
                <a:latin typeface="Adobe Clean"/>
              </a:rPr>
              <a:t>Change control process.</a:t>
            </a:r>
          </a:p>
          <a:p>
            <a:pPr algn="l"/>
            <a:r>
              <a:rPr lang="en-US" b="0" i="0" dirty="0">
                <a:solidFill>
                  <a:srgbClr val="2C2C2C"/>
                </a:solidFill>
                <a:effectLst/>
                <a:latin typeface="Adobe Clean"/>
              </a:rPr>
              <a:t>Clearly define the steps required to alter the project scope and who should be involved in any changes. The change control process in your project scope statement may read, “Any modifications to the project should be submitted to the project manager, who will assess the request and approve or deny it. Necessary stakeholders should also be included in the initial request.”</a:t>
            </a: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10</a:t>
            </a:fld>
            <a:endParaRPr lang="en-US"/>
          </a:p>
        </p:txBody>
      </p:sp>
    </p:spTree>
    <p:extLst>
      <p:ext uri="{BB962C8B-B14F-4D97-AF65-F5344CB8AC3E}">
        <p14:creationId xmlns:p14="http://schemas.microsoft.com/office/powerpoint/2010/main" val="2934687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latinLnBrk="0"/>
            <a:r>
              <a:rPr lang="en-US" b="0" i="0" dirty="0">
                <a:solidFill>
                  <a:srgbClr val="191A19"/>
                </a:solidFill>
                <a:effectLst/>
                <a:latin typeface="Roboto" panose="02000000000000000000" pitchFamily="2" charset="0"/>
              </a:rPr>
              <a:t>While the specific elements of a project charter may vary based on the </a:t>
            </a:r>
            <a:r>
              <a:rPr lang="en-US" b="0" i="0" u="sng" dirty="0">
                <a:solidFill>
                  <a:srgbClr val="0B588F"/>
                </a:solidFill>
                <a:effectLst/>
                <a:latin typeface="Roboto" panose="02000000000000000000" pitchFamily="2" charset="0"/>
                <a:hlinkClick r:id="rId3"/>
              </a:rPr>
              <a:t>project methodology and organizational standards</a:t>
            </a:r>
            <a:r>
              <a:rPr lang="en-US" b="0" i="0" dirty="0">
                <a:solidFill>
                  <a:srgbClr val="191A19"/>
                </a:solidFill>
                <a:effectLst/>
                <a:latin typeface="Roboto" panose="02000000000000000000" pitchFamily="2" charset="0"/>
              </a:rPr>
              <a:t>, most project charters typically include the following key components:</a:t>
            </a:r>
          </a:p>
          <a:p>
            <a:pPr algn="l"/>
            <a:r>
              <a:rPr lang="en-US" b="1" i="0" dirty="0">
                <a:solidFill>
                  <a:srgbClr val="0B588F"/>
                </a:solidFill>
                <a:effectLst/>
                <a:latin typeface="Raleway" pitchFamily="2" charset="0"/>
              </a:rPr>
              <a:t>Project Objectives and Benefits</a:t>
            </a:r>
          </a:p>
          <a:p>
            <a:pPr algn="l" latinLnBrk="0"/>
            <a:r>
              <a:rPr lang="en-US" b="0" i="0" dirty="0">
                <a:solidFill>
                  <a:srgbClr val="191A19"/>
                </a:solidFill>
                <a:effectLst/>
                <a:latin typeface="Roboto" panose="02000000000000000000" pitchFamily="2" charset="0"/>
              </a:rPr>
              <a:t>This section outlines the overarching goals and desired outcomes of the project. It should clearly articulate the purpose, expected benefits, and how success will be measured (project success criteria). Well-defined objectives provide a shared understanding of what the project aims to accomplish.</a:t>
            </a:r>
          </a:p>
          <a:p>
            <a:pPr algn="l"/>
            <a:r>
              <a:rPr lang="en-US" b="1" i="0" dirty="0">
                <a:solidFill>
                  <a:srgbClr val="0B588F"/>
                </a:solidFill>
                <a:effectLst/>
                <a:latin typeface="Raleway" pitchFamily="2" charset="0"/>
              </a:rPr>
              <a:t>Project Scope, one of the Elements of a Project Charter</a:t>
            </a:r>
          </a:p>
          <a:p>
            <a:pPr algn="l" latinLnBrk="0"/>
            <a:r>
              <a:rPr lang="en-US" b="0" i="0" dirty="0">
                <a:solidFill>
                  <a:srgbClr val="191A19"/>
                </a:solidFill>
                <a:effectLst/>
                <a:latin typeface="Roboto" panose="02000000000000000000" pitchFamily="2" charset="0"/>
              </a:rPr>
              <a:t>The </a:t>
            </a:r>
            <a:r>
              <a:rPr lang="en-US" b="0" i="0" u="sng" dirty="0">
                <a:solidFill>
                  <a:srgbClr val="0B588F"/>
                </a:solidFill>
                <a:effectLst/>
                <a:latin typeface="Roboto" panose="02000000000000000000" pitchFamily="2" charset="0"/>
                <a:hlinkClick r:id="rId4"/>
              </a:rPr>
              <a:t>scope statement</a:t>
            </a:r>
            <a:r>
              <a:rPr lang="en-US" b="0" i="0" dirty="0">
                <a:solidFill>
                  <a:srgbClr val="191A19"/>
                </a:solidFill>
                <a:effectLst/>
                <a:latin typeface="Roboto" panose="02000000000000000000" pitchFamily="2" charset="0"/>
              </a:rPr>
              <a:t> delineates the boundaries of the project, specifying what will be included (</a:t>
            </a:r>
            <a:r>
              <a:rPr lang="en-US" b="0" i="0" u="sng" dirty="0">
                <a:solidFill>
                  <a:srgbClr val="0B588F"/>
                </a:solidFill>
                <a:effectLst/>
                <a:latin typeface="Roboto" panose="02000000000000000000" pitchFamily="2" charset="0"/>
                <a:hlinkClick r:id="rId5"/>
              </a:rPr>
              <a:t>deliverables</a:t>
            </a:r>
            <a:r>
              <a:rPr lang="en-US" b="0" i="0" dirty="0">
                <a:solidFill>
                  <a:srgbClr val="191A19"/>
                </a:solidFill>
                <a:effectLst/>
                <a:latin typeface="Roboto" panose="02000000000000000000" pitchFamily="2" charset="0"/>
              </a:rPr>
              <a:t>) and what falls outside the scope (constraints). It helps manage expectations and prevents scope creep, which can derail projects. The scope should align with the stated objectives.</a:t>
            </a:r>
          </a:p>
          <a:p>
            <a:pPr algn="l"/>
            <a:r>
              <a:rPr lang="en-US" b="1" i="0" dirty="0">
                <a:solidFill>
                  <a:srgbClr val="0B588F"/>
                </a:solidFill>
                <a:effectLst/>
                <a:latin typeface="Raleway" pitchFamily="2" charset="0"/>
              </a:rPr>
              <a:t>Project Milestones and Timeline </a:t>
            </a:r>
          </a:p>
          <a:p>
            <a:pPr algn="l" latinLnBrk="0"/>
            <a:r>
              <a:rPr lang="en-US" b="0" i="0" dirty="0">
                <a:solidFill>
                  <a:srgbClr val="191A19"/>
                </a:solidFill>
                <a:effectLst/>
                <a:latin typeface="Roboto" panose="02000000000000000000" pitchFamily="2" charset="0"/>
              </a:rPr>
              <a:t>This section outlines the major milestones, deadlines, and a high-level project schedule. It sets expectations for when key deliverables will be completed and provides a roadmap for tracking progress.</a:t>
            </a:r>
          </a:p>
          <a:p>
            <a:pPr algn="l"/>
            <a:r>
              <a:rPr lang="en-US" b="1" i="0" dirty="0">
                <a:solidFill>
                  <a:srgbClr val="0B588F"/>
                </a:solidFill>
                <a:effectLst/>
                <a:latin typeface="Raleway" pitchFamily="2" charset="0"/>
              </a:rPr>
              <a:t>Project Stakeholders</a:t>
            </a:r>
          </a:p>
          <a:p>
            <a:pPr algn="l" latinLnBrk="0"/>
            <a:r>
              <a:rPr lang="en-US" b="0" i="0" dirty="0">
                <a:solidFill>
                  <a:srgbClr val="191A19"/>
                </a:solidFill>
                <a:effectLst/>
                <a:latin typeface="Roboto" panose="02000000000000000000" pitchFamily="2" charset="0"/>
              </a:rPr>
              <a:t>Identifying and defining the roles of key stakeholders, including the project sponsor, project manager, core team members, and other impacted parties, is crucial. This section clarifies responsibilities and establishes lines of communication and decision-making authority.</a:t>
            </a:r>
          </a:p>
          <a:p>
            <a:pPr algn="l"/>
            <a:r>
              <a:rPr lang="en-US" b="1" i="0" dirty="0">
                <a:solidFill>
                  <a:srgbClr val="0B588F"/>
                </a:solidFill>
                <a:effectLst/>
                <a:latin typeface="Raleway" pitchFamily="2" charset="0"/>
              </a:rPr>
              <a:t>Project Assumptions and Risks as one of the Elements of a Project Charter</a:t>
            </a:r>
          </a:p>
          <a:p>
            <a:pPr algn="l" latinLnBrk="0"/>
            <a:r>
              <a:rPr lang="en-US" b="0" i="0" dirty="0">
                <a:solidFill>
                  <a:srgbClr val="191A19"/>
                </a:solidFill>
                <a:effectLst/>
                <a:latin typeface="Roboto" panose="02000000000000000000" pitchFamily="2" charset="0"/>
              </a:rPr>
              <a:t>All projects involve assumptions (e.g., resource availability, technology requirements) and potential risks that could impact success. Documenting these upfront allows for </a:t>
            </a:r>
            <a:r>
              <a:rPr lang="en-US" b="0" i="0" u="sng" dirty="0">
                <a:solidFill>
                  <a:srgbClr val="0B588F"/>
                </a:solidFill>
                <a:effectLst/>
                <a:latin typeface="Roboto" panose="02000000000000000000" pitchFamily="2" charset="0"/>
                <a:hlinkClick r:id="rId6"/>
              </a:rPr>
              <a:t>proactive risk management</a:t>
            </a:r>
            <a:r>
              <a:rPr lang="en-US" b="0" i="0" dirty="0">
                <a:solidFill>
                  <a:srgbClr val="191A19"/>
                </a:solidFill>
                <a:effectLst/>
                <a:latin typeface="Roboto" panose="02000000000000000000" pitchFamily="2" charset="0"/>
              </a:rPr>
              <a:t> and </a:t>
            </a:r>
            <a:r>
              <a:rPr lang="en-US" b="0" i="0" u="sng" dirty="0">
                <a:solidFill>
                  <a:srgbClr val="0B588F"/>
                </a:solidFill>
                <a:effectLst/>
                <a:latin typeface="Roboto" panose="02000000000000000000" pitchFamily="2" charset="0"/>
                <a:hlinkClick r:id="rId7"/>
              </a:rPr>
              <a:t>contingency planning</a:t>
            </a:r>
            <a:r>
              <a:rPr lang="en-US" b="0" i="0" dirty="0">
                <a:solidFill>
                  <a:srgbClr val="191A19"/>
                </a:solidFill>
                <a:effectLst/>
                <a:latin typeface="Roboto" panose="02000000000000000000" pitchFamily="2" charset="0"/>
              </a:rPr>
              <a:t>.</a:t>
            </a:r>
          </a:p>
          <a:p>
            <a:pPr algn="l"/>
            <a:r>
              <a:rPr lang="en-US" b="1" i="0" dirty="0">
                <a:solidFill>
                  <a:srgbClr val="0B588F"/>
                </a:solidFill>
                <a:effectLst/>
                <a:latin typeface="Raleway" pitchFamily="2" charset="0"/>
              </a:rPr>
              <a:t>Project Budget and Resources</a:t>
            </a:r>
          </a:p>
          <a:p>
            <a:pPr algn="l" latinLnBrk="0"/>
            <a:r>
              <a:rPr lang="en-US" b="0" i="0" dirty="0">
                <a:solidFill>
                  <a:srgbClr val="191A19"/>
                </a:solidFill>
                <a:effectLst/>
                <a:latin typeface="Roboto" panose="02000000000000000000" pitchFamily="2" charset="0"/>
              </a:rPr>
              <a:t>This section outlines the estimated budget, including costs for personnel, materials, equipment, and other expenses. It also specifies the required human resources, subject matter experts, and any special skills or training needed.</a:t>
            </a:r>
          </a:p>
          <a:p>
            <a:pPr algn="l"/>
            <a:r>
              <a:rPr lang="en-US" b="1" i="0" dirty="0">
                <a:solidFill>
                  <a:srgbClr val="0B588F"/>
                </a:solidFill>
                <a:effectLst/>
                <a:latin typeface="Raleway" pitchFamily="2" charset="0"/>
              </a:rPr>
              <a:t>Project Governance, one of the Elements of a Project Charter</a:t>
            </a:r>
          </a:p>
          <a:p>
            <a:pPr algn="l" latinLnBrk="0"/>
            <a:r>
              <a:rPr lang="en-US" b="0" i="0" dirty="0">
                <a:solidFill>
                  <a:srgbClr val="191A19"/>
                </a:solidFill>
                <a:effectLst/>
                <a:latin typeface="Roboto" panose="02000000000000000000" pitchFamily="2" charset="0"/>
              </a:rPr>
              <a:t>The governance model defines the project’s decision-making hierarchy, escalation paths, change control processes, and </a:t>
            </a:r>
            <a:r>
              <a:rPr lang="en-US" b="0" i="0" u="sng" dirty="0">
                <a:solidFill>
                  <a:srgbClr val="0B588F"/>
                </a:solidFill>
                <a:effectLst/>
                <a:latin typeface="Roboto" panose="02000000000000000000" pitchFamily="2" charset="0"/>
                <a:hlinkClick r:id="rId8"/>
              </a:rPr>
              <a:t>quality assurance measures</a:t>
            </a:r>
            <a:r>
              <a:rPr lang="en-US" b="0" i="0" dirty="0">
                <a:solidFill>
                  <a:srgbClr val="191A19"/>
                </a:solidFill>
                <a:effectLst/>
                <a:latin typeface="Roboto" panose="02000000000000000000" pitchFamily="2" charset="0"/>
              </a:rPr>
              <a:t>.</a:t>
            </a:r>
          </a:p>
          <a:p>
            <a:pPr algn="l" latinLnBrk="0"/>
            <a:r>
              <a:rPr lang="en-US" b="0" i="0" dirty="0">
                <a:solidFill>
                  <a:srgbClr val="191A19"/>
                </a:solidFill>
                <a:effectLst/>
                <a:latin typeface="Roboto" panose="02000000000000000000" pitchFamily="2" charset="0"/>
              </a:rPr>
              <a:t>Those with </a:t>
            </a:r>
            <a:r>
              <a:rPr lang="en-US" b="0" i="0" u="sng" dirty="0">
                <a:solidFill>
                  <a:srgbClr val="0B588F"/>
                </a:solidFill>
                <a:effectLst/>
                <a:latin typeface="Roboto" panose="02000000000000000000" pitchFamily="2" charset="0"/>
                <a:hlinkClick r:id="rId9"/>
              </a:rPr>
              <a:t>Six Sigma certification</a:t>
            </a:r>
            <a:r>
              <a:rPr lang="en-US" b="0" i="0" dirty="0">
                <a:solidFill>
                  <a:srgbClr val="191A19"/>
                </a:solidFill>
                <a:effectLst/>
                <a:latin typeface="Roboto" panose="02000000000000000000" pitchFamily="2" charset="0"/>
              </a:rPr>
              <a:t> will recognize the governance model’s alignment with DMAIC (Define, Measure, Analyze, Improve, Control) principles, ensuring rigorous quality control.</a:t>
            </a:r>
          </a:p>
          <a:p>
            <a:pPr algn="l" latinLnBrk="0"/>
            <a:r>
              <a:rPr lang="en-US" b="1" i="0" dirty="0">
                <a:solidFill>
                  <a:srgbClr val="191A19"/>
                </a:solidFill>
                <a:effectLst/>
                <a:latin typeface="Raleway" pitchFamily="2" charset="0"/>
              </a:rPr>
              <a:t>Creating a Project Charter</a:t>
            </a:r>
          </a:p>
          <a:p>
            <a:pPr algn="l" latinLnBrk="0"/>
            <a:r>
              <a:rPr lang="en-US" b="0" i="0" dirty="0">
                <a:solidFill>
                  <a:srgbClr val="191A19"/>
                </a:solidFill>
                <a:effectLst/>
                <a:latin typeface="Roboto" panose="02000000000000000000" pitchFamily="2" charset="0"/>
              </a:rPr>
              <a:t>Creating a comprehensive </a:t>
            </a:r>
            <a:r>
              <a:rPr lang="en-US" b="0" i="0" u="sng" dirty="0">
                <a:solidFill>
                  <a:srgbClr val="0B588F"/>
                </a:solidFill>
                <a:effectLst/>
                <a:latin typeface="Roboto" panose="02000000000000000000" pitchFamily="2" charset="0"/>
                <a:hlinkClick r:id="rId10"/>
              </a:rPr>
              <a:t>project charter</a:t>
            </a:r>
            <a:r>
              <a:rPr lang="en-US" b="0" i="0" dirty="0">
                <a:solidFill>
                  <a:srgbClr val="191A19"/>
                </a:solidFill>
                <a:effectLst/>
                <a:latin typeface="Roboto" panose="02000000000000000000" pitchFamily="2" charset="0"/>
              </a:rPr>
              <a:t> is crucial for the success of any project. It serves as a formal document that establishes a partnership between the project team and key stakeholders. Here are the typical steps involved in creating an effective project charter:</a:t>
            </a:r>
          </a:p>
          <a:p>
            <a:pPr algn="l"/>
            <a:r>
              <a:rPr lang="en-US" b="1" i="0" dirty="0">
                <a:solidFill>
                  <a:srgbClr val="0B588F"/>
                </a:solidFill>
                <a:effectLst/>
                <a:latin typeface="Raleway" pitchFamily="2" charset="0"/>
              </a:rPr>
              <a:t>Define Project Purpose and </a:t>
            </a:r>
            <a:r>
              <a:rPr lang="en-US" b="1" i="0" dirty="0" err="1">
                <a:solidFill>
                  <a:srgbClr val="0B588F"/>
                </a:solidFill>
                <a:effectLst/>
                <a:latin typeface="Raleway" pitchFamily="2" charset="0"/>
              </a:rPr>
              <a:t>Justificatio</a:t>
            </a:r>
            <a:endParaRPr lang="en-US" b="1" i="0" dirty="0">
              <a:solidFill>
                <a:srgbClr val="0B588F"/>
              </a:solidFill>
              <a:effectLst/>
              <a:latin typeface="Raleway" pitchFamily="2" charset="0"/>
            </a:endParaRP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11</a:t>
            </a:fld>
            <a:endParaRPr lang="en-US"/>
          </a:p>
        </p:txBody>
      </p:sp>
    </p:spTree>
    <p:extLst>
      <p:ext uri="{BB962C8B-B14F-4D97-AF65-F5344CB8AC3E}">
        <p14:creationId xmlns:p14="http://schemas.microsoft.com/office/powerpoint/2010/main" val="175942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latinLnBrk="0"/>
            <a:r>
              <a:rPr lang="en-US" b="0" i="0" dirty="0">
                <a:solidFill>
                  <a:srgbClr val="191A19"/>
                </a:solidFill>
                <a:effectLst/>
                <a:latin typeface="Roboto" panose="02000000000000000000" pitchFamily="2" charset="0"/>
              </a:rPr>
              <a:t>Creating a comprehensive </a:t>
            </a:r>
            <a:r>
              <a:rPr lang="en-US" b="0" i="0" u="sng" dirty="0">
                <a:solidFill>
                  <a:srgbClr val="0B588F"/>
                </a:solidFill>
                <a:effectLst/>
                <a:latin typeface="Roboto" panose="02000000000000000000" pitchFamily="2" charset="0"/>
                <a:hlinkClick r:id="rId3"/>
              </a:rPr>
              <a:t>project charter</a:t>
            </a:r>
            <a:r>
              <a:rPr lang="en-US" b="0" i="0" dirty="0">
                <a:solidFill>
                  <a:srgbClr val="191A19"/>
                </a:solidFill>
                <a:effectLst/>
                <a:latin typeface="Roboto" panose="02000000000000000000" pitchFamily="2" charset="0"/>
              </a:rPr>
              <a:t> is crucial for the success of any project. It serves as a formal document that establishes a partnership between the project team and key stakeholders. Here are the typical steps involved in creating an effective project charter:</a:t>
            </a:r>
          </a:p>
          <a:p>
            <a:pPr algn="l"/>
            <a:r>
              <a:rPr lang="en-US" b="1" i="0" dirty="0">
                <a:solidFill>
                  <a:srgbClr val="0B588F"/>
                </a:solidFill>
                <a:effectLst/>
                <a:latin typeface="Raleway" pitchFamily="2" charset="0"/>
              </a:rPr>
              <a:t>Define Project Purpose and Justification</a:t>
            </a:r>
          </a:p>
          <a:p>
            <a:pPr algn="l" latinLnBrk="0"/>
            <a:r>
              <a:rPr lang="en-US" b="0" i="0" dirty="0">
                <a:solidFill>
                  <a:srgbClr val="191A19"/>
                </a:solidFill>
                <a:effectLst/>
                <a:latin typeface="Roboto" panose="02000000000000000000" pitchFamily="2" charset="0"/>
              </a:rPr>
              <a:t>The first step is to clearly articulate the purpose and justification for initiating the project. This includes describing the business needs, problems or opportunities addressed, expected benefits, and strategic alignment with organizational goals.</a:t>
            </a:r>
          </a:p>
          <a:p>
            <a:pPr algn="l"/>
            <a:r>
              <a:rPr lang="en-US" b="1" i="0" dirty="0">
                <a:solidFill>
                  <a:srgbClr val="0B588F"/>
                </a:solidFill>
                <a:effectLst/>
                <a:latin typeface="Raleway" pitchFamily="2" charset="0"/>
              </a:rPr>
              <a:t>Establish Project Scope</a:t>
            </a:r>
          </a:p>
          <a:p>
            <a:pPr algn="l" latinLnBrk="0"/>
            <a:r>
              <a:rPr lang="en-US" b="0" i="0" dirty="0">
                <a:solidFill>
                  <a:srgbClr val="191A19"/>
                </a:solidFill>
                <a:effectLst/>
                <a:latin typeface="Roboto" panose="02000000000000000000" pitchFamily="2" charset="0"/>
              </a:rPr>
              <a:t>Outline the major deliverables, requirements, constraints, and boundaries of the project. The scope statement defines what is included and excluded from the project to manage expectations and prevent scope creep.</a:t>
            </a:r>
          </a:p>
          <a:p>
            <a:pPr algn="l"/>
            <a:r>
              <a:rPr lang="en-US" b="1" i="0" dirty="0">
                <a:solidFill>
                  <a:srgbClr val="0B588F"/>
                </a:solidFill>
                <a:effectLst/>
                <a:latin typeface="Raleway" pitchFamily="2" charset="0"/>
              </a:rPr>
              <a:t>Identify Key Stakeholders, one of the Elements of a Project Charter Creation</a:t>
            </a:r>
          </a:p>
          <a:p>
            <a:pPr algn="l" latinLnBrk="0"/>
            <a:r>
              <a:rPr lang="en-US" b="0" i="0" dirty="0">
                <a:solidFill>
                  <a:srgbClr val="191A19"/>
                </a:solidFill>
                <a:effectLst/>
                <a:latin typeface="Roboto" panose="02000000000000000000" pitchFamily="2" charset="0"/>
              </a:rPr>
              <a:t>Determine all the people or groups that have an interest in or will be impacted by the project. This includes the project sponsor, customers, subject matter experts, and any others who need to be consulted or informed.</a:t>
            </a:r>
          </a:p>
          <a:p>
            <a:pPr algn="l"/>
            <a:r>
              <a:rPr lang="en-US" b="1" i="0" dirty="0">
                <a:solidFill>
                  <a:srgbClr val="0B588F"/>
                </a:solidFill>
                <a:effectLst/>
                <a:latin typeface="Raleway" pitchFamily="2" charset="0"/>
              </a:rPr>
              <a:t>Define Roles and Responsibilities</a:t>
            </a:r>
          </a:p>
          <a:p>
            <a:pPr algn="l" latinLnBrk="0"/>
            <a:r>
              <a:rPr lang="en-US" b="0" i="0" dirty="0">
                <a:solidFill>
                  <a:srgbClr val="191A19"/>
                </a:solidFill>
                <a:effectLst/>
                <a:latin typeface="Roboto" panose="02000000000000000000" pitchFamily="2" charset="0"/>
              </a:rPr>
              <a:t>Clearly assign roles such as project manager, team members, advisors, decision-makers, etc., and delineate their respective responsibilities. This ensures accountability and avoids confusion later.</a:t>
            </a:r>
          </a:p>
          <a:p>
            <a:pPr algn="l"/>
            <a:r>
              <a:rPr lang="en-US" b="1" i="0" dirty="0">
                <a:solidFill>
                  <a:srgbClr val="0B588F"/>
                </a:solidFill>
                <a:effectLst/>
                <a:latin typeface="Raleway" pitchFamily="2" charset="0"/>
              </a:rPr>
              <a:t>Estimate Time-frame and Budget</a:t>
            </a:r>
          </a:p>
          <a:p>
            <a:pPr algn="l" latinLnBrk="0"/>
            <a:r>
              <a:rPr lang="en-US" b="0" i="0" dirty="0">
                <a:solidFill>
                  <a:srgbClr val="191A19"/>
                </a:solidFill>
                <a:effectLst/>
                <a:latin typeface="Roboto" panose="02000000000000000000" pitchFamily="2" charset="0"/>
              </a:rPr>
              <a:t>Provide a realistic timeline with major milestones and deadlines based on the project scope. Also, estimate the total budget required including costs for labor, materials, equipment, etc.</a:t>
            </a:r>
          </a:p>
          <a:p>
            <a:pPr algn="l"/>
            <a:r>
              <a:rPr lang="en-US" b="1" i="0" dirty="0">
                <a:solidFill>
                  <a:srgbClr val="0B588F"/>
                </a:solidFill>
                <a:effectLst/>
                <a:latin typeface="Raleway" pitchFamily="2" charset="0"/>
              </a:rPr>
              <a:t>Analyze Risks and Assumptions, one of the Elements of a Project Charter</a:t>
            </a:r>
          </a:p>
          <a:p>
            <a:pPr algn="l" latinLnBrk="0"/>
            <a:r>
              <a:rPr lang="en-US" b="0" i="0" dirty="0">
                <a:solidFill>
                  <a:srgbClr val="191A19"/>
                </a:solidFill>
                <a:effectLst/>
                <a:latin typeface="Roboto" panose="02000000000000000000" pitchFamily="2" charset="0"/>
              </a:rPr>
              <a:t>Identify potential risks that could impact the project along with mitigation strategies. Document any assumptions being made about resources, environment, constraints, etc.</a:t>
            </a:r>
          </a:p>
          <a:p>
            <a:pPr algn="l"/>
            <a:r>
              <a:rPr lang="en-US" b="1" i="0" dirty="0">
                <a:solidFill>
                  <a:srgbClr val="0B588F"/>
                </a:solidFill>
                <a:effectLst/>
                <a:latin typeface="Raleway" pitchFamily="2" charset="0"/>
              </a:rPr>
              <a:t>Obtain Approvals</a:t>
            </a:r>
          </a:p>
          <a:p>
            <a:pPr algn="l" latinLnBrk="0"/>
            <a:r>
              <a:rPr lang="en-US" b="0" i="0" dirty="0">
                <a:solidFill>
                  <a:srgbClr val="191A19"/>
                </a:solidFill>
                <a:effectLst/>
                <a:latin typeface="Roboto" panose="02000000000000000000" pitchFamily="2" charset="0"/>
              </a:rPr>
              <a:t>Once drafted, the project charter needs formal approval and sign-off from the project sponsor, key stakeholders, and governance bodies. Their commitment is critical for successful execution.</a:t>
            </a:r>
          </a:p>
          <a:p>
            <a:endParaRPr lang="en-US" dirty="0"/>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12</a:t>
            </a:fld>
            <a:endParaRPr lang="en-US"/>
          </a:p>
        </p:txBody>
      </p:sp>
    </p:spTree>
    <p:extLst>
      <p:ext uri="{BB962C8B-B14F-4D97-AF65-F5344CB8AC3E}">
        <p14:creationId xmlns:p14="http://schemas.microsoft.com/office/powerpoint/2010/main" val="1684174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Components of WBS</a:t>
            </a:r>
          </a:p>
          <a:p>
            <a:r>
              <a:rPr lang="en-US" b="1" dirty="0"/>
              <a:t>Levels of Breakdown</a:t>
            </a:r>
            <a:r>
              <a:rPr lang="en-US" dirty="0"/>
              <a:t>:</a:t>
            </a:r>
          </a:p>
          <a:p>
            <a:pPr lvl="1"/>
            <a:r>
              <a:rPr lang="en-US" b="1" dirty="0"/>
              <a:t>Level 1</a:t>
            </a:r>
            <a:r>
              <a:rPr lang="en-US" dirty="0"/>
              <a:t>: Project Title (e.g., "Annual Conference")</a:t>
            </a:r>
          </a:p>
          <a:p>
            <a:pPr lvl="1"/>
            <a:r>
              <a:rPr lang="en-US" b="1" dirty="0"/>
              <a:t>Level 2</a:t>
            </a:r>
            <a:r>
              <a:rPr lang="en-US" dirty="0"/>
              <a:t>: Major Deliverables (e.g., "Venue Selection", "Agenda Development", etc.)</a:t>
            </a:r>
          </a:p>
          <a:p>
            <a:pPr lvl="1"/>
            <a:r>
              <a:rPr lang="en-US" b="1" dirty="0"/>
              <a:t>Level 3</a:t>
            </a:r>
            <a:r>
              <a:rPr lang="en-US" dirty="0"/>
              <a:t>: Sub-deliverables or Tasks (e.g., "Research Venues", "Identify Speakers", etc.)</a:t>
            </a:r>
          </a:p>
          <a:p>
            <a:pPr lvl="1"/>
            <a:r>
              <a:rPr lang="en-US" b="1" dirty="0"/>
              <a:t>Level 4</a:t>
            </a:r>
            <a:r>
              <a:rPr lang="en-US" dirty="0"/>
              <a:t>: Work Packages (e.g., "Contact Venue A" or "Create Speaker Checklist")</a:t>
            </a:r>
          </a:p>
          <a:p>
            <a:r>
              <a:rPr lang="en-US" b="1" dirty="0"/>
              <a:t>Work Packages</a:t>
            </a:r>
            <a:r>
              <a:rPr lang="en-US" dirty="0"/>
              <a:t>:</a:t>
            </a:r>
          </a:p>
          <a:p>
            <a:pPr lvl="1"/>
            <a:r>
              <a:rPr lang="en-US" dirty="0"/>
              <a:t>The lowest level of the WBS where tasks are defined in detail. Work packages are the activities that can be assigned to team members.</a:t>
            </a:r>
          </a:p>
          <a:p>
            <a:r>
              <a:rPr lang="en-US" b="1" dirty="0"/>
              <a:t>Milestones</a:t>
            </a:r>
            <a:r>
              <a:rPr lang="en-US" dirty="0"/>
              <a:t>:</a:t>
            </a:r>
          </a:p>
          <a:p>
            <a:pPr lvl="1"/>
            <a:r>
              <a:rPr lang="en-US" dirty="0"/>
              <a:t>Key points in the project timeline that indicate significant progress (e.g., completion of venue selection).</a:t>
            </a:r>
          </a:p>
          <a:p>
            <a:r>
              <a:rPr lang="en-US" b="1" dirty="0"/>
              <a:t>Importance of WBS</a:t>
            </a:r>
          </a:p>
          <a:p>
            <a:r>
              <a:rPr lang="en-US" b="1" dirty="0"/>
              <a:t>Scope Definition</a:t>
            </a:r>
            <a:r>
              <a:rPr lang="en-US" dirty="0"/>
              <a:t>:</a:t>
            </a:r>
          </a:p>
          <a:p>
            <a:pPr lvl="1"/>
            <a:r>
              <a:rPr lang="en-US" dirty="0"/>
              <a:t>Clearly delineates project scope and objectives, reducing the risk of scope creep.</a:t>
            </a:r>
          </a:p>
          <a:p>
            <a:r>
              <a:rPr lang="en-US" b="1" dirty="0"/>
              <a:t>Resource Allocation</a:t>
            </a:r>
            <a:r>
              <a:rPr lang="en-US" dirty="0"/>
              <a:t>:</a:t>
            </a:r>
          </a:p>
          <a:p>
            <a:pPr lvl="1"/>
            <a:r>
              <a:rPr lang="en-US" dirty="0"/>
              <a:t>Helps identify required resources (human, financial, etc.) for each task, facilitating better budgeting and scheduling.</a:t>
            </a:r>
          </a:p>
          <a:p>
            <a:r>
              <a:rPr lang="en-US" b="1" dirty="0"/>
              <a:t>Task Management</a:t>
            </a:r>
            <a:r>
              <a:rPr lang="en-US" dirty="0"/>
              <a:t>:</a:t>
            </a:r>
          </a:p>
          <a:p>
            <a:pPr lvl="1"/>
            <a:r>
              <a:rPr lang="en-US" dirty="0"/>
              <a:t>Breaks complex projects into manageable tasks, making it easier to assign responsibilities and track progress.</a:t>
            </a:r>
          </a:p>
          <a:p>
            <a:r>
              <a:rPr lang="en-US" b="1" dirty="0"/>
              <a:t>Risk Management</a:t>
            </a:r>
            <a:r>
              <a:rPr lang="en-US" dirty="0"/>
              <a:t>:</a:t>
            </a:r>
          </a:p>
          <a:p>
            <a:pPr lvl="1"/>
            <a:r>
              <a:rPr lang="en-US" dirty="0"/>
              <a:t>Identifies potential risks associated with each task, enabling proactive risk management strategies.</a:t>
            </a:r>
          </a:p>
          <a:p>
            <a:r>
              <a:rPr lang="en-US" b="1" dirty="0"/>
              <a:t>Improved Communication</a:t>
            </a:r>
            <a:r>
              <a:rPr lang="en-US" dirty="0"/>
              <a:t>:</a:t>
            </a:r>
          </a:p>
          <a:p>
            <a:pPr lvl="1"/>
            <a:r>
              <a:rPr lang="en-US" dirty="0"/>
              <a:t>Provides a visual representation of the project, making it easier to communicate with stakeholders.</a:t>
            </a:r>
          </a:p>
          <a:p>
            <a:r>
              <a:rPr lang="en-US" b="1" dirty="0"/>
              <a:t>Best Practices for Creating a WBS</a:t>
            </a:r>
          </a:p>
          <a:p>
            <a:r>
              <a:rPr lang="en-US" b="1" dirty="0"/>
              <a:t>Involve the Team</a:t>
            </a:r>
            <a:r>
              <a:rPr lang="en-US" dirty="0"/>
              <a:t>:</a:t>
            </a:r>
          </a:p>
          <a:p>
            <a:pPr lvl="1"/>
            <a:r>
              <a:rPr lang="en-US" dirty="0"/>
              <a:t>Engage team members in the WBS creation process to ensure all perspectives are considered.</a:t>
            </a:r>
          </a:p>
          <a:p>
            <a:r>
              <a:rPr lang="en-US" b="1" dirty="0"/>
              <a:t>Use Clear and Consistent Naming</a:t>
            </a:r>
            <a:r>
              <a:rPr lang="en-US" dirty="0"/>
              <a:t>:</a:t>
            </a:r>
          </a:p>
          <a:p>
            <a:pPr lvl="1"/>
            <a:r>
              <a:rPr lang="en-US" dirty="0"/>
              <a:t>Ensure that task names are descriptive and consistent throughout the WBS.</a:t>
            </a:r>
          </a:p>
          <a:p>
            <a:r>
              <a:rPr lang="en-US" b="1" dirty="0"/>
              <a:t>Follow the 100% Rule</a:t>
            </a:r>
            <a:r>
              <a:rPr lang="en-US" dirty="0"/>
              <a:t>:</a:t>
            </a:r>
          </a:p>
          <a:p>
            <a:pPr lvl="1"/>
            <a:r>
              <a:rPr lang="en-US" dirty="0"/>
              <a:t>Ensure that the WBS captures 100% of the project deliverables, including project management tasks.</a:t>
            </a:r>
          </a:p>
          <a:p>
            <a:r>
              <a:rPr lang="en-US" b="1" dirty="0"/>
              <a:t>Keep It Simple</a:t>
            </a:r>
            <a:r>
              <a:rPr lang="en-US" dirty="0"/>
              <a:t>:</a:t>
            </a:r>
          </a:p>
          <a:p>
            <a:pPr lvl="1"/>
            <a:r>
              <a:rPr lang="en-US" dirty="0"/>
              <a:t>Avoid overly complex structures; aim for clarity and simplicity.</a:t>
            </a:r>
          </a:p>
          <a:p>
            <a:r>
              <a:rPr lang="en-US" b="1" dirty="0"/>
              <a:t>Review and Revise</a:t>
            </a:r>
            <a:r>
              <a:rPr lang="en-US" dirty="0"/>
              <a:t>:</a:t>
            </a:r>
          </a:p>
          <a:p>
            <a:pPr lvl="1"/>
            <a:r>
              <a:rPr lang="en-US" dirty="0"/>
              <a:t>Regularly review the WBS as the project evolves and make necessary adjustments.</a:t>
            </a:r>
          </a:p>
          <a:p>
            <a:r>
              <a:rPr lang="en-US" b="1" dirty="0"/>
              <a:t>Example of WBS in Detail</a:t>
            </a:r>
          </a:p>
          <a:p>
            <a:r>
              <a:rPr lang="en-US" dirty="0"/>
              <a:t>Let’s expand the previous conference planning example into a more detailed WBS:</a:t>
            </a:r>
          </a:p>
          <a:p>
            <a:r>
              <a:rPr lang="en-US" b="1" dirty="0"/>
              <a:t>Annual Conference Planning</a:t>
            </a:r>
            <a:r>
              <a:rPr lang="en-US" dirty="0"/>
              <a:t> </a:t>
            </a:r>
          </a:p>
          <a:p>
            <a:pPr lvl="1"/>
            <a:r>
              <a:rPr lang="en-US" b="1" dirty="0"/>
              <a:t>1.1 Venue Selection</a:t>
            </a:r>
            <a:r>
              <a:rPr lang="en-US" dirty="0"/>
              <a:t> </a:t>
            </a:r>
          </a:p>
          <a:p>
            <a:pPr lvl="2"/>
            <a:r>
              <a:rPr lang="en-US" b="1" dirty="0"/>
              <a:t>1.1.1 Research Venues</a:t>
            </a:r>
            <a:r>
              <a:rPr lang="en-US" dirty="0"/>
              <a:t> </a:t>
            </a:r>
          </a:p>
          <a:p>
            <a:pPr lvl="3"/>
            <a:r>
              <a:rPr lang="en-US" dirty="0"/>
              <a:t>1.1.1.1 Identify Potential Venues</a:t>
            </a:r>
          </a:p>
          <a:p>
            <a:pPr lvl="3"/>
            <a:r>
              <a:rPr lang="en-US" dirty="0"/>
              <a:t>1.1.1.2 Gather Venue Specifications (capacity, amenities)</a:t>
            </a:r>
          </a:p>
          <a:p>
            <a:pPr lvl="2"/>
            <a:r>
              <a:rPr lang="en-US" b="1" dirty="0"/>
              <a:t>1.1.2 Site Visits</a:t>
            </a:r>
            <a:r>
              <a:rPr lang="en-US" dirty="0"/>
              <a:t> </a:t>
            </a:r>
          </a:p>
          <a:p>
            <a:pPr lvl="3"/>
            <a:r>
              <a:rPr lang="en-US" dirty="0"/>
              <a:t>1.1.2.1 Schedule Visits</a:t>
            </a:r>
          </a:p>
          <a:p>
            <a:pPr lvl="3"/>
            <a:r>
              <a:rPr lang="en-US" dirty="0"/>
              <a:t>1.1.2.2 Evaluate Venues (notes, photos)</a:t>
            </a:r>
          </a:p>
          <a:p>
            <a:pPr lvl="2"/>
            <a:r>
              <a:rPr lang="en-US" b="1" dirty="0"/>
              <a:t>1.1.3 Contract Negotiation</a:t>
            </a:r>
            <a:r>
              <a:rPr lang="en-US" dirty="0"/>
              <a:t> </a:t>
            </a:r>
          </a:p>
          <a:p>
            <a:pPr lvl="3"/>
            <a:r>
              <a:rPr lang="en-US" dirty="0"/>
              <a:t>1.1.3.1 Draft Contract Terms</a:t>
            </a:r>
          </a:p>
          <a:p>
            <a:pPr lvl="3"/>
            <a:r>
              <a:rPr lang="en-US" dirty="0"/>
              <a:t>1.1.3.2 Finalize Agreement</a:t>
            </a:r>
          </a:p>
          <a:p>
            <a:pPr lvl="1"/>
            <a:r>
              <a:rPr lang="en-US" b="1" dirty="0"/>
              <a:t>1.2 Agenda Development</a:t>
            </a:r>
            <a:r>
              <a:rPr lang="en-US" dirty="0"/>
              <a:t> </a:t>
            </a:r>
          </a:p>
          <a:p>
            <a:pPr lvl="2"/>
            <a:r>
              <a:rPr lang="en-US" b="1" dirty="0"/>
              <a:t>1.2.1 Identify Speakers</a:t>
            </a:r>
            <a:r>
              <a:rPr lang="en-US" dirty="0"/>
              <a:t> </a:t>
            </a:r>
          </a:p>
          <a:p>
            <a:pPr lvl="3"/>
            <a:r>
              <a:rPr lang="en-US" dirty="0"/>
              <a:t>1.2.1.1 Create Speaker Criteria</a:t>
            </a:r>
          </a:p>
          <a:p>
            <a:pPr lvl="3"/>
            <a:r>
              <a:rPr lang="en-US" dirty="0"/>
              <a:t>1.2.1.2 Send Invitations</a:t>
            </a:r>
          </a:p>
          <a:p>
            <a:pPr lvl="2"/>
            <a:r>
              <a:rPr lang="en-US" b="1" dirty="0"/>
              <a:t>1.2.2 Schedule Sessions</a:t>
            </a:r>
            <a:r>
              <a:rPr lang="en-US" dirty="0"/>
              <a:t> </a:t>
            </a:r>
          </a:p>
          <a:p>
            <a:pPr lvl="3"/>
            <a:r>
              <a:rPr lang="en-US" dirty="0"/>
              <a:t>1.2.2.1 Create Draft Schedule</a:t>
            </a:r>
          </a:p>
          <a:p>
            <a:pPr lvl="3"/>
            <a:r>
              <a:rPr lang="en-US" dirty="0"/>
              <a:t>1.2.2.2 Confirm Session Times</a:t>
            </a:r>
          </a:p>
          <a:p>
            <a:pPr lvl="2"/>
            <a:r>
              <a:rPr lang="en-US" b="1" dirty="0"/>
              <a:t>1.2.3 Prepare Materials</a:t>
            </a:r>
            <a:r>
              <a:rPr lang="en-US" dirty="0"/>
              <a:t> </a:t>
            </a:r>
          </a:p>
          <a:p>
            <a:pPr lvl="3"/>
            <a:r>
              <a:rPr lang="en-US" dirty="0"/>
              <a:t>1.2.3.1 Create Presentation Templates</a:t>
            </a:r>
          </a:p>
          <a:p>
            <a:pPr lvl="3"/>
            <a:r>
              <a:rPr lang="en-US" dirty="0"/>
              <a:t>1.2.3.2 Print Handouts</a:t>
            </a:r>
          </a:p>
          <a:p>
            <a:pPr lvl="1"/>
            <a:r>
              <a:rPr lang="en-US" b="1" dirty="0"/>
              <a:t>1.3 Marketing and Promotion</a:t>
            </a:r>
            <a:r>
              <a:rPr lang="en-US" dirty="0"/>
              <a:t> </a:t>
            </a:r>
          </a:p>
          <a:p>
            <a:pPr lvl="2"/>
            <a:r>
              <a:rPr lang="en-US" b="1" dirty="0"/>
              <a:t>1.3.1 Design Promotional Materials</a:t>
            </a:r>
            <a:r>
              <a:rPr lang="en-US" dirty="0"/>
              <a:t> </a:t>
            </a:r>
          </a:p>
          <a:p>
            <a:pPr lvl="3"/>
            <a:r>
              <a:rPr lang="en-US" dirty="0"/>
              <a:t>1.3.1.1 Develop Brochure</a:t>
            </a:r>
          </a:p>
          <a:p>
            <a:pPr lvl="3"/>
            <a:r>
              <a:rPr lang="en-US" dirty="0"/>
              <a:t>1.3.1.2 Create Social Media Graphics</a:t>
            </a:r>
          </a:p>
          <a:p>
            <a:pPr lvl="2"/>
            <a:r>
              <a:rPr lang="en-US" b="1" dirty="0"/>
              <a:t>1.3.2 Social Media Campaign</a:t>
            </a:r>
            <a:r>
              <a:rPr lang="en-US" dirty="0"/>
              <a:t> </a:t>
            </a:r>
          </a:p>
          <a:p>
            <a:pPr lvl="3"/>
            <a:r>
              <a:rPr lang="en-US" dirty="0"/>
              <a:t>1.3.2.1 Develop Campaign Plan</a:t>
            </a:r>
          </a:p>
          <a:p>
            <a:pPr lvl="3"/>
            <a:r>
              <a:rPr lang="en-US" dirty="0"/>
              <a:t>1.3.2.2 Schedule Posts</a:t>
            </a:r>
          </a:p>
          <a:p>
            <a:pPr lvl="2"/>
            <a:r>
              <a:rPr lang="en-US" b="1" dirty="0"/>
              <a:t>1.3.3 Email Invitations</a:t>
            </a:r>
            <a:r>
              <a:rPr lang="en-US" dirty="0"/>
              <a:t> </a:t>
            </a:r>
          </a:p>
          <a:p>
            <a:pPr lvl="3"/>
            <a:r>
              <a:rPr lang="en-US" dirty="0"/>
              <a:t>1.3.3.1 Design Email Template</a:t>
            </a:r>
          </a:p>
          <a:p>
            <a:pPr lvl="3"/>
            <a:r>
              <a:rPr lang="en-US" dirty="0"/>
              <a:t>1.3.3.2 Compile Email List</a:t>
            </a:r>
          </a:p>
          <a:p>
            <a:pPr lvl="1"/>
            <a:r>
              <a:rPr lang="en-US" b="1" dirty="0"/>
              <a:t>1.4 Registration Management</a:t>
            </a:r>
            <a:r>
              <a:rPr lang="en-US" dirty="0"/>
              <a:t> </a:t>
            </a:r>
          </a:p>
          <a:p>
            <a:pPr lvl="2"/>
            <a:r>
              <a:rPr lang="en-US" b="1" dirty="0"/>
              <a:t>1.4.1 Setup Online Registration</a:t>
            </a:r>
            <a:r>
              <a:rPr lang="en-US" dirty="0"/>
              <a:t> </a:t>
            </a:r>
          </a:p>
          <a:p>
            <a:pPr lvl="3"/>
            <a:r>
              <a:rPr lang="en-US" dirty="0"/>
              <a:t>1.4.1.1 Choose Registration Software</a:t>
            </a:r>
          </a:p>
          <a:p>
            <a:pPr lvl="3"/>
            <a:r>
              <a:rPr lang="en-US" dirty="0"/>
              <a:t>1.4.1.2 Create Registration Form</a:t>
            </a:r>
          </a:p>
          <a:p>
            <a:pPr lvl="2"/>
            <a:r>
              <a:rPr lang="en-US" b="1" dirty="0"/>
              <a:t>1.4.2 Monitor Registrations</a:t>
            </a:r>
            <a:r>
              <a:rPr lang="en-US" dirty="0"/>
              <a:t> </a:t>
            </a:r>
          </a:p>
          <a:p>
            <a:pPr lvl="3"/>
            <a:r>
              <a:rPr lang="en-US" dirty="0"/>
              <a:t>1.4.2.1 Track Registrant Data</a:t>
            </a:r>
          </a:p>
          <a:p>
            <a:pPr lvl="3"/>
            <a:r>
              <a:rPr lang="en-US" dirty="0"/>
              <a:t>1.4.2.2 Follow Up with Registrants</a:t>
            </a:r>
          </a:p>
          <a:p>
            <a:pPr lvl="2"/>
            <a:r>
              <a:rPr lang="en-US" b="1" dirty="0"/>
              <a:t>1.4.3 Prepare Registration Packs</a:t>
            </a:r>
            <a:r>
              <a:rPr lang="en-US" dirty="0"/>
              <a:t> </a:t>
            </a:r>
          </a:p>
          <a:p>
            <a:pPr lvl="3"/>
            <a:r>
              <a:rPr lang="en-US" dirty="0"/>
              <a:t>1.4.3.1 Compile Materials</a:t>
            </a:r>
          </a:p>
          <a:p>
            <a:pPr lvl="3"/>
            <a:r>
              <a:rPr lang="en-US" dirty="0"/>
              <a:t>1.4.3.2 Organize Distribution</a:t>
            </a:r>
          </a:p>
          <a:p>
            <a:r>
              <a:rPr lang="en-US" b="1" dirty="0"/>
              <a:t>Conclusion</a:t>
            </a:r>
          </a:p>
          <a:p>
            <a:r>
              <a:rPr lang="en-US" dirty="0"/>
              <a:t>A well-structured WBS is critical for successful project management. It enhances understanding, planning, and communication within the project team and with stakeholders, thereby increasing the likelihood of project success. By following best practices and involving the entire team, you can create an effective WBS that serves as a roadmap for your project.</a:t>
            </a: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20</a:t>
            </a:fld>
            <a:endParaRPr lang="en-US"/>
          </a:p>
        </p:txBody>
      </p:sp>
    </p:spTree>
    <p:extLst>
      <p:ext uri="{BB962C8B-B14F-4D97-AF65-F5344CB8AC3E}">
        <p14:creationId xmlns:p14="http://schemas.microsoft.com/office/powerpoint/2010/main" val="1817251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23</a:t>
            </a:fld>
            <a:endParaRPr lang="en-US"/>
          </a:p>
        </p:txBody>
      </p:sp>
    </p:spTree>
    <p:extLst>
      <p:ext uri="{BB962C8B-B14F-4D97-AF65-F5344CB8AC3E}">
        <p14:creationId xmlns:p14="http://schemas.microsoft.com/office/powerpoint/2010/main" val="2378247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Benefits of Each Level</a:t>
            </a:r>
          </a:p>
          <a:p>
            <a:r>
              <a:rPr lang="en-US" b="1" dirty="0"/>
              <a:t>Level 1 (Project Title)</a:t>
            </a:r>
            <a:r>
              <a:rPr lang="en-US" dirty="0"/>
              <a:t>:</a:t>
            </a:r>
          </a:p>
          <a:p>
            <a:pPr lvl="1"/>
            <a:r>
              <a:rPr lang="en-US" dirty="0"/>
              <a:t>Provides a clear focus for the entire project.</a:t>
            </a:r>
          </a:p>
          <a:p>
            <a:r>
              <a:rPr lang="en-US" b="1" dirty="0"/>
              <a:t>Level 2 (Major Deliverables)</a:t>
            </a:r>
            <a:r>
              <a:rPr lang="en-US" dirty="0"/>
              <a:t>:</a:t>
            </a:r>
          </a:p>
          <a:p>
            <a:pPr lvl="1"/>
            <a:r>
              <a:rPr lang="en-US" dirty="0"/>
              <a:t>Helps in understanding the key components that need to be delivered for project success.</a:t>
            </a:r>
          </a:p>
          <a:p>
            <a:r>
              <a:rPr lang="en-US" b="1" dirty="0"/>
              <a:t>Level 3 (Sub-deliverables)</a:t>
            </a:r>
            <a:r>
              <a:rPr lang="en-US" dirty="0"/>
              <a:t>:</a:t>
            </a:r>
          </a:p>
          <a:p>
            <a:pPr lvl="1"/>
            <a:r>
              <a:rPr lang="en-US" dirty="0"/>
              <a:t>Allows for better planning and management of tasks by breaking down larger objectives into smaller actions.</a:t>
            </a:r>
          </a:p>
          <a:p>
            <a:r>
              <a:rPr lang="en-US" b="1" dirty="0"/>
              <a:t>Level 4 (Work Packages)</a:t>
            </a:r>
            <a:r>
              <a:rPr lang="en-US" dirty="0"/>
              <a:t>:</a:t>
            </a:r>
          </a:p>
          <a:p>
            <a:pPr lvl="1"/>
            <a:r>
              <a:rPr lang="en-US" dirty="0"/>
              <a:t>Facilitates detailed resource allocation and task assignment, ensuring accountability and clarity in responsibilities.</a:t>
            </a:r>
          </a:p>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25</a:t>
            </a:fld>
            <a:endParaRPr lang="en-US"/>
          </a:p>
        </p:txBody>
      </p:sp>
    </p:spTree>
    <p:extLst>
      <p:ext uri="{BB962C8B-B14F-4D97-AF65-F5344CB8AC3E}">
        <p14:creationId xmlns:p14="http://schemas.microsoft.com/office/powerpoint/2010/main" val="3046388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26</a:t>
            </a:fld>
            <a:endParaRPr lang="en-US"/>
          </a:p>
        </p:txBody>
      </p:sp>
    </p:spTree>
    <p:extLst>
      <p:ext uri="{BB962C8B-B14F-4D97-AF65-F5344CB8AC3E}">
        <p14:creationId xmlns:p14="http://schemas.microsoft.com/office/powerpoint/2010/main" val="425472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29</a:t>
            </a:fld>
            <a:endParaRPr lang="en-US"/>
          </a:p>
        </p:txBody>
      </p:sp>
    </p:spTree>
    <p:extLst>
      <p:ext uri="{BB962C8B-B14F-4D97-AF65-F5344CB8AC3E}">
        <p14:creationId xmlns:p14="http://schemas.microsoft.com/office/powerpoint/2010/main" val="2239610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30</a:t>
            </a:fld>
            <a:endParaRPr lang="en-US"/>
          </a:p>
        </p:txBody>
      </p:sp>
    </p:spTree>
    <p:extLst>
      <p:ext uri="{BB962C8B-B14F-4D97-AF65-F5344CB8AC3E}">
        <p14:creationId xmlns:p14="http://schemas.microsoft.com/office/powerpoint/2010/main" val="3030067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9D154-643E-4D8F-B1E8-060767CCBC6B}" type="slidenum">
              <a:rPr lang="en-US" smtClean="0"/>
              <a:t>32</a:t>
            </a:fld>
            <a:endParaRPr lang="en-US"/>
          </a:p>
        </p:txBody>
      </p:sp>
    </p:spTree>
    <p:extLst>
      <p:ext uri="{BB962C8B-B14F-4D97-AF65-F5344CB8AC3E}">
        <p14:creationId xmlns:p14="http://schemas.microsoft.com/office/powerpoint/2010/main" val="2573532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762558" y="618843"/>
            <a:ext cx="11407775"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643379"/>
            <a:ext cx="10357485" cy="479552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business.adobe.com/blog/basics/scope-cree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5845" y="1642991"/>
            <a:ext cx="6353810" cy="922019"/>
          </a:xfrm>
          <a:prstGeom prst="rect">
            <a:avLst/>
          </a:prstGeom>
        </p:spPr>
        <p:txBody>
          <a:bodyPr vert="horz" wrap="square" lIns="0" tIns="16510" rIns="0" bIns="0" rtlCol="0">
            <a:spAutoFit/>
          </a:bodyPr>
          <a:lstStyle/>
          <a:p>
            <a:pPr marL="12700">
              <a:lnSpc>
                <a:spcPct val="100000"/>
              </a:lnSpc>
              <a:spcBef>
                <a:spcPts val="130"/>
              </a:spcBef>
            </a:pPr>
            <a:r>
              <a:rPr sz="5850" spc="145" dirty="0">
                <a:solidFill>
                  <a:srgbClr val="C00000"/>
                </a:solidFill>
              </a:rPr>
              <a:t>Defining</a:t>
            </a:r>
            <a:r>
              <a:rPr sz="5850" spc="165" dirty="0">
                <a:solidFill>
                  <a:srgbClr val="C00000"/>
                </a:solidFill>
              </a:rPr>
              <a:t> </a:t>
            </a:r>
            <a:r>
              <a:rPr sz="5850" spc="125" dirty="0">
                <a:solidFill>
                  <a:srgbClr val="C00000"/>
                </a:solidFill>
              </a:rPr>
              <a:t>the</a:t>
            </a:r>
            <a:r>
              <a:rPr sz="5850" spc="180" dirty="0">
                <a:solidFill>
                  <a:srgbClr val="C00000"/>
                </a:solidFill>
              </a:rPr>
              <a:t> </a:t>
            </a:r>
            <a:r>
              <a:rPr sz="5850" spc="110" dirty="0">
                <a:solidFill>
                  <a:srgbClr val="C00000"/>
                </a:solidFill>
              </a:rPr>
              <a:t>Project</a:t>
            </a:r>
            <a:endParaRPr sz="5850"/>
          </a:p>
        </p:txBody>
      </p:sp>
      <p:sp>
        <p:nvSpPr>
          <p:cNvPr id="3" name="object 3"/>
          <p:cNvSpPr txBox="1"/>
          <p:nvPr/>
        </p:nvSpPr>
        <p:spPr>
          <a:xfrm>
            <a:off x="5032648" y="2366661"/>
            <a:ext cx="2152650" cy="1531188"/>
          </a:xfrm>
          <a:prstGeom prst="rect">
            <a:avLst/>
          </a:prstGeom>
        </p:spPr>
        <p:txBody>
          <a:bodyPr vert="horz" wrap="square" lIns="0" tIns="187960" rIns="0" bIns="0" rtlCol="0">
            <a:spAutoFit/>
          </a:bodyPr>
          <a:lstStyle/>
          <a:p>
            <a:pPr marL="19685" algn="ctr">
              <a:lnSpc>
                <a:spcPct val="100000"/>
              </a:lnSpc>
              <a:spcBef>
                <a:spcPts val="1315"/>
              </a:spcBef>
            </a:pPr>
            <a:r>
              <a:rPr lang="en-US" sz="2400" spc="50" dirty="0">
                <a:latin typeface="Calibri Light"/>
                <a:cs typeface="Calibri Light"/>
              </a:rPr>
              <a:t>(25CPE4602)</a:t>
            </a:r>
            <a:endParaRPr lang="en-US" sz="2400" dirty="0">
              <a:latin typeface="Calibri Light"/>
              <a:cs typeface="Calibri Light"/>
            </a:endParaRPr>
          </a:p>
          <a:p>
            <a:pPr marL="12700">
              <a:lnSpc>
                <a:spcPct val="100000"/>
              </a:lnSpc>
              <a:spcBef>
                <a:spcPts val="2305"/>
              </a:spcBef>
            </a:pPr>
            <a:r>
              <a:rPr sz="4400" b="1" dirty="0">
                <a:solidFill>
                  <a:srgbClr val="2F5597"/>
                </a:solidFill>
                <a:latin typeface="Calibri"/>
                <a:cs typeface="Calibri"/>
              </a:rPr>
              <a:t>Lecture</a:t>
            </a:r>
            <a:r>
              <a:rPr sz="4400" b="1" spc="-80" dirty="0">
                <a:solidFill>
                  <a:srgbClr val="2F5597"/>
                </a:solidFill>
                <a:latin typeface="Calibri"/>
                <a:cs typeface="Calibri"/>
              </a:rPr>
              <a:t> </a:t>
            </a:r>
            <a:r>
              <a:rPr sz="4400" b="1" spc="-50" dirty="0">
                <a:solidFill>
                  <a:srgbClr val="2F5597"/>
                </a:solidFill>
                <a:latin typeface="Calibri"/>
                <a:cs typeface="Calibri"/>
              </a:rPr>
              <a:t>4</a:t>
            </a:r>
            <a:endParaRPr sz="4400" dirty="0">
              <a:latin typeface="Calibri"/>
              <a:cs typeface="Calibri"/>
            </a:endParaRPr>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522F64AB-BE9D-26BE-C0AA-464129C20E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5026" y="312021"/>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D042-DFC6-4A55-83CC-637C45F9338C}"/>
              </a:ext>
            </a:extLst>
          </p:cNvPr>
          <p:cNvSpPr>
            <a:spLocks noGrp="1"/>
          </p:cNvSpPr>
          <p:nvPr>
            <p:ph type="title"/>
          </p:nvPr>
        </p:nvSpPr>
        <p:spPr>
          <a:xfrm>
            <a:off x="391793" y="760805"/>
            <a:ext cx="11407775" cy="553998"/>
          </a:xfrm>
        </p:spPr>
        <p:txBody>
          <a:bodyPr/>
          <a:lstStyle/>
          <a:p>
            <a:r>
              <a:rPr lang="en-US" sz="3600" dirty="0"/>
              <a:t>Five general steps for collecting project information </a:t>
            </a:r>
          </a:p>
        </p:txBody>
      </p:sp>
      <p:sp>
        <p:nvSpPr>
          <p:cNvPr id="3" name="Text Placeholder 2">
            <a:extLst>
              <a:ext uri="{FF2B5EF4-FFF2-40B4-BE49-F238E27FC236}">
                <a16:creationId xmlns:a16="http://schemas.microsoft.com/office/drawing/2014/main" id="{B2976EDA-3044-4771-9DCA-EDDA9EB0124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E2A4D08-39BC-4B3C-BD65-A15100A58969}"/>
              </a:ext>
            </a:extLst>
          </p:cNvPr>
          <p:cNvPicPr>
            <a:picLocks noChangeAspect="1"/>
          </p:cNvPicPr>
          <p:nvPr/>
        </p:nvPicPr>
        <p:blipFill>
          <a:blip r:embed="rId2"/>
          <a:srcRect t="28105"/>
          <a:stretch>
            <a:fillRect/>
          </a:stretch>
        </p:blipFill>
        <p:spPr>
          <a:xfrm>
            <a:off x="916939" y="2065520"/>
            <a:ext cx="10860838" cy="3581400"/>
          </a:xfrm>
          <a:prstGeom prst="rect">
            <a:avLst/>
          </a:prstGeom>
        </p:spPr>
      </p:pic>
      <p:pic>
        <p:nvPicPr>
          <p:cNvPr id="4" name="Picture 3">
            <a:extLst>
              <a:ext uri="{FF2B5EF4-FFF2-40B4-BE49-F238E27FC236}">
                <a16:creationId xmlns:a16="http://schemas.microsoft.com/office/drawing/2014/main" id="{AF3B82FF-5703-8F52-0D5B-72EB460880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76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FE4C9-6A8A-4F7C-B3E0-80694FE75544}"/>
              </a:ext>
            </a:extLst>
          </p:cNvPr>
          <p:cNvSpPr>
            <a:spLocks noGrp="1"/>
          </p:cNvSpPr>
          <p:nvPr>
            <p:ph type="title"/>
          </p:nvPr>
        </p:nvSpPr>
        <p:spPr/>
        <p:txBody>
          <a:bodyPr/>
          <a:lstStyle/>
          <a:p>
            <a:r>
              <a:rPr lang="en-US" b="1" u="sng" spc="95" dirty="0">
                <a:solidFill>
                  <a:srgbClr val="FF0000"/>
                </a:solidFill>
              </a:rPr>
              <a:t>Step 1: Defining project scope</a:t>
            </a:r>
            <a:endParaRPr lang="en-US" dirty="0"/>
          </a:p>
        </p:txBody>
      </p:sp>
      <p:sp>
        <p:nvSpPr>
          <p:cNvPr id="3" name="Text Placeholder 2">
            <a:extLst>
              <a:ext uri="{FF2B5EF4-FFF2-40B4-BE49-F238E27FC236}">
                <a16:creationId xmlns:a16="http://schemas.microsoft.com/office/drawing/2014/main" id="{97160644-199A-4CF3-92DA-1561EF6A655B}"/>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E66F070-C1A2-4057-9A96-724B6F2BABF4}"/>
              </a:ext>
            </a:extLst>
          </p:cNvPr>
          <p:cNvPicPr>
            <a:picLocks noChangeAspect="1"/>
          </p:cNvPicPr>
          <p:nvPr/>
        </p:nvPicPr>
        <p:blipFill>
          <a:blip r:embed="rId3"/>
          <a:stretch>
            <a:fillRect/>
          </a:stretch>
        </p:blipFill>
        <p:spPr>
          <a:xfrm>
            <a:off x="1752600" y="1872617"/>
            <a:ext cx="7925329" cy="4366540"/>
          </a:xfrm>
          <a:prstGeom prst="rect">
            <a:avLst/>
          </a:prstGeom>
        </p:spPr>
      </p:pic>
      <p:pic>
        <p:nvPicPr>
          <p:cNvPr id="4" name="Picture 3">
            <a:extLst>
              <a:ext uri="{FF2B5EF4-FFF2-40B4-BE49-F238E27FC236}">
                <a16:creationId xmlns:a16="http://schemas.microsoft.com/office/drawing/2014/main" id="{37EA982A-CF74-4FE6-AB83-B7BC08DC4F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892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535C-EFB5-4D2E-AE56-7B32A6DACC3F}"/>
              </a:ext>
            </a:extLst>
          </p:cNvPr>
          <p:cNvSpPr>
            <a:spLocks noGrp="1"/>
          </p:cNvSpPr>
          <p:nvPr>
            <p:ph type="title"/>
          </p:nvPr>
        </p:nvSpPr>
        <p:spPr>
          <a:xfrm>
            <a:off x="727389" y="147899"/>
            <a:ext cx="10666884" cy="1480720"/>
          </a:xfrm>
        </p:spPr>
        <p:txBody>
          <a:bodyPr/>
          <a:lstStyle/>
          <a:p>
            <a:r>
              <a:rPr lang="en-US" b="1" u="sng" spc="95" dirty="0">
                <a:solidFill>
                  <a:srgbClr val="FF0000"/>
                </a:solidFill>
              </a:rPr>
              <a:t>Why is defining project scope important in project management?</a:t>
            </a:r>
            <a:br>
              <a:rPr lang="en-US" b="1" i="0" dirty="0">
                <a:solidFill>
                  <a:srgbClr val="2C2C2C"/>
                </a:solidFill>
                <a:effectLst/>
                <a:latin typeface="Adobe Clean"/>
              </a:rPr>
            </a:br>
            <a:endParaRPr lang="en-US" dirty="0"/>
          </a:p>
        </p:txBody>
      </p:sp>
      <p:sp>
        <p:nvSpPr>
          <p:cNvPr id="3" name="Text Placeholder 2">
            <a:extLst>
              <a:ext uri="{FF2B5EF4-FFF2-40B4-BE49-F238E27FC236}">
                <a16:creationId xmlns:a16="http://schemas.microsoft.com/office/drawing/2014/main" id="{1E737575-36E0-4BAC-A5F8-BAF847669DFC}"/>
              </a:ext>
            </a:extLst>
          </p:cNvPr>
          <p:cNvSpPr>
            <a:spLocks noGrp="1"/>
          </p:cNvSpPr>
          <p:nvPr>
            <p:ph type="body" idx="1"/>
          </p:nvPr>
        </p:nvSpPr>
        <p:spPr>
          <a:xfrm>
            <a:off x="569440" y="1766429"/>
            <a:ext cx="11581842" cy="6032421"/>
          </a:xfrm>
        </p:spPr>
        <p:txBody>
          <a:bodyPr/>
          <a:lstStyle/>
          <a:p>
            <a:pPr algn="l"/>
            <a:r>
              <a:rPr lang="en-US" dirty="0">
                <a:solidFill>
                  <a:srgbClr val="2C2C2C"/>
                </a:solidFill>
                <a:latin typeface="Adobe Clean"/>
              </a:rPr>
              <a:t>A clear project scope:</a:t>
            </a:r>
          </a:p>
          <a:p>
            <a:pPr algn="l">
              <a:buFont typeface="Arial" panose="020B0604020202020204" pitchFamily="34" charset="0"/>
              <a:buChar char="•"/>
            </a:pPr>
            <a:r>
              <a:rPr lang="en-US" b="1" dirty="0">
                <a:solidFill>
                  <a:srgbClr val="2C2C2C"/>
                </a:solidFill>
                <a:latin typeface="Adobe Clean"/>
              </a:rPr>
              <a:t>Provides a roadmap.</a:t>
            </a:r>
            <a:r>
              <a:rPr lang="en-US" dirty="0">
                <a:solidFill>
                  <a:srgbClr val="2C2C2C"/>
                </a:solidFill>
                <a:latin typeface="Adobe Clean"/>
              </a:rPr>
              <a:t> Any team member can refer to the project scope at any point during the project for alignment and a clear view of project goals.</a:t>
            </a:r>
          </a:p>
          <a:p>
            <a:pPr algn="l">
              <a:buFont typeface="Arial" panose="020B0604020202020204" pitchFamily="34" charset="0"/>
              <a:buChar char="•"/>
            </a:pPr>
            <a:r>
              <a:rPr lang="en-US" b="1" dirty="0">
                <a:solidFill>
                  <a:srgbClr val="2C2C2C"/>
                </a:solidFill>
                <a:latin typeface="Adobe Clean"/>
              </a:rPr>
              <a:t>Manages stakeholder expectations.</a:t>
            </a:r>
            <a:r>
              <a:rPr lang="en-US" dirty="0">
                <a:solidFill>
                  <a:srgbClr val="2C2C2C"/>
                </a:solidFill>
                <a:latin typeface="Adobe Clean"/>
              </a:rPr>
              <a:t> Stakeholders may have different priorities for the project. The project scope sets the parameters, ensuring everyone knows the specific intentions and goals.</a:t>
            </a:r>
          </a:p>
          <a:p>
            <a:pPr algn="l">
              <a:buFont typeface="Arial" panose="020B0604020202020204" pitchFamily="34" charset="0"/>
              <a:buChar char="•"/>
            </a:pPr>
            <a:r>
              <a:rPr lang="en-US" b="1" dirty="0">
                <a:solidFill>
                  <a:srgbClr val="2C2C2C"/>
                </a:solidFill>
                <a:latin typeface="Adobe Clean"/>
              </a:rPr>
              <a:t>Makes budgeting and scheduling easier.</a:t>
            </a:r>
            <a:r>
              <a:rPr lang="en-US" dirty="0">
                <a:solidFill>
                  <a:srgbClr val="2C2C2C"/>
                </a:solidFill>
                <a:latin typeface="Adobe Clean"/>
              </a:rPr>
              <a:t> Defining deadlines and constraints in the project scope before beginning helps you plan resources.</a:t>
            </a:r>
          </a:p>
          <a:p>
            <a:pPr algn="l">
              <a:buFont typeface="Arial" panose="020B0604020202020204" pitchFamily="34" charset="0"/>
              <a:buChar char="•"/>
            </a:pPr>
            <a:r>
              <a:rPr lang="en-US" b="1" u="sng" dirty="0">
                <a:solidFill>
                  <a:srgbClr val="274DEA"/>
                </a:solidFill>
                <a:latin typeface="Adobe Clean"/>
                <a:hlinkClick r:id="rId3"/>
              </a:rPr>
              <a:t>Prevents scope creep</a:t>
            </a:r>
            <a:r>
              <a:rPr lang="en-US" b="1" dirty="0">
                <a:solidFill>
                  <a:srgbClr val="2C2C2C"/>
                </a:solidFill>
                <a:latin typeface="Adobe Clean"/>
              </a:rPr>
              <a:t>.</a:t>
            </a:r>
            <a:r>
              <a:rPr lang="en-US" dirty="0">
                <a:solidFill>
                  <a:srgbClr val="2C2C2C"/>
                </a:solidFill>
                <a:latin typeface="Adobe Clean"/>
              </a:rPr>
              <a:t> Setting the boundaries of your project in the project scope helps alleviate issues that may shift the focus of your project away from the plan.</a:t>
            </a:r>
          </a:p>
          <a:p>
            <a:endParaRPr lang="en-US" dirty="0"/>
          </a:p>
        </p:txBody>
      </p:sp>
      <p:pic>
        <p:nvPicPr>
          <p:cNvPr id="4" name="Picture 3">
            <a:extLst>
              <a:ext uri="{FF2B5EF4-FFF2-40B4-BE49-F238E27FC236}">
                <a16:creationId xmlns:a16="http://schemas.microsoft.com/office/drawing/2014/main" id="{0BDD02A6-C85F-A2C7-15FB-36E1B5E111E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701" y="29139"/>
            <a:ext cx="1730631" cy="96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042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0E45D-1205-41FD-A1EF-27089BAF357B}"/>
              </a:ext>
            </a:extLst>
          </p:cNvPr>
          <p:cNvSpPr>
            <a:spLocks noGrp="1"/>
          </p:cNvSpPr>
          <p:nvPr>
            <p:ph type="title"/>
          </p:nvPr>
        </p:nvSpPr>
        <p:spPr>
          <a:xfrm>
            <a:off x="762558" y="618843"/>
            <a:ext cx="11407775" cy="1985159"/>
          </a:xfrm>
        </p:spPr>
        <p:txBody>
          <a:bodyPr/>
          <a:lstStyle/>
          <a:p>
            <a:r>
              <a:rPr lang="en-US" b="1" u="sng" spc="95" dirty="0">
                <a:solidFill>
                  <a:srgbClr val="FF0000"/>
                </a:solidFill>
              </a:rPr>
              <a:t>How to define project scope step-by-step?</a:t>
            </a:r>
            <a:br>
              <a:rPr lang="en-US" b="1" u="sng" spc="95" dirty="0">
                <a:solidFill>
                  <a:srgbClr val="FF0000"/>
                </a:solidFill>
              </a:rPr>
            </a:br>
            <a:br>
              <a:rPr lang="en-US" dirty="0">
                <a:solidFill>
                  <a:srgbClr val="2C2C2C"/>
                </a:solidFill>
                <a:latin typeface="Adobe Clean"/>
              </a:rPr>
            </a:br>
            <a:endParaRPr lang="en-US" dirty="0"/>
          </a:p>
        </p:txBody>
      </p:sp>
      <p:sp>
        <p:nvSpPr>
          <p:cNvPr id="3" name="Text Placeholder 2">
            <a:extLst>
              <a:ext uri="{FF2B5EF4-FFF2-40B4-BE49-F238E27FC236}">
                <a16:creationId xmlns:a16="http://schemas.microsoft.com/office/drawing/2014/main" id="{4137BC30-9F55-466F-8C86-E6128005A62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C76480A-12A5-4CC6-B6DE-A8C45AC0B5DC}"/>
              </a:ext>
            </a:extLst>
          </p:cNvPr>
          <p:cNvPicPr>
            <a:picLocks noChangeAspect="1"/>
          </p:cNvPicPr>
          <p:nvPr/>
        </p:nvPicPr>
        <p:blipFill>
          <a:blip r:embed="rId2"/>
          <a:stretch>
            <a:fillRect/>
          </a:stretch>
        </p:blipFill>
        <p:spPr>
          <a:xfrm>
            <a:off x="916939" y="1643379"/>
            <a:ext cx="9047115" cy="5072063"/>
          </a:xfrm>
          <a:prstGeom prst="rect">
            <a:avLst/>
          </a:prstGeom>
        </p:spPr>
      </p:pic>
      <p:pic>
        <p:nvPicPr>
          <p:cNvPr id="4" name="Picture 3">
            <a:extLst>
              <a:ext uri="{FF2B5EF4-FFF2-40B4-BE49-F238E27FC236}">
                <a16:creationId xmlns:a16="http://schemas.microsoft.com/office/drawing/2014/main" id="{D9DF8E96-AEE5-5D9A-77B9-4F54C2AA95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20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E266B-BECA-4249-BCAF-C7BE7416E0CC}"/>
              </a:ext>
            </a:extLst>
          </p:cNvPr>
          <p:cNvSpPr>
            <a:spLocks noGrp="1"/>
          </p:cNvSpPr>
          <p:nvPr>
            <p:ph type="title"/>
          </p:nvPr>
        </p:nvSpPr>
        <p:spPr/>
        <p:txBody>
          <a:bodyPr/>
          <a:lstStyle/>
          <a:p>
            <a:r>
              <a:rPr lang="en-US" dirty="0"/>
              <a:t>Scope statement – example </a:t>
            </a:r>
          </a:p>
        </p:txBody>
      </p:sp>
      <p:sp>
        <p:nvSpPr>
          <p:cNvPr id="3" name="Text Placeholder 2">
            <a:extLst>
              <a:ext uri="{FF2B5EF4-FFF2-40B4-BE49-F238E27FC236}">
                <a16:creationId xmlns:a16="http://schemas.microsoft.com/office/drawing/2014/main" id="{CDF3B2BD-9D80-4953-BD45-724F6064EC0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4C1CC69-E745-45A4-9A41-1580986E58E9}"/>
              </a:ext>
            </a:extLst>
          </p:cNvPr>
          <p:cNvPicPr>
            <a:picLocks noChangeAspect="1"/>
          </p:cNvPicPr>
          <p:nvPr/>
        </p:nvPicPr>
        <p:blipFill>
          <a:blip r:embed="rId2"/>
          <a:stretch>
            <a:fillRect/>
          </a:stretch>
        </p:blipFill>
        <p:spPr>
          <a:xfrm>
            <a:off x="1470120" y="1545981"/>
            <a:ext cx="9251121" cy="5247712"/>
          </a:xfrm>
          <a:prstGeom prst="rect">
            <a:avLst/>
          </a:prstGeom>
        </p:spPr>
      </p:pic>
      <p:pic>
        <p:nvPicPr>
          <p:cNvPr id="4" name="Picture 3">
            <a:extLst>
              <a:ext uri="{FF2B5EF4-FFF2-40B4-BE49-F238E27FC236}">
                <a16:creationId xmlns:a16="http://schemas.microsoft.com/office/drawing/2014/main" id="{923E329B-DEEB-A6ED-81C6-6354CE7B57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27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6E31-BBFB-4132-B4AF-83D5BAF433C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3FF0D89-A8B6-4814-A2FE-145ADABF2DC7}"/>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D909D2F-E135-42D3-8D65-681452FE2A50}"/>
              </a:ext>
            </a:extLst>
          </p:cNvPr>
          <p:cNvPicPr>
            <a:picLocks noChangeAspect="1"/>
          </p:cNvPicPr>
          <p:nvPr/>
        </p:nvPicPr>
        <p:blipFill>
          <a:blip r:embed="rId2"/>
          <a:stretch>
            <a:fillRect/>
          </a:stretch>
        </p:blipFill>
        <p:spPr>
          <a:xfrm>
            <a:off x="2057400" y="1717431"/>
            <a:ext cx="7640428" cy="5027575"/>
          </a:xfrm>
          <a:prstGeom prst="rect">
            <a:avLst/>
          </a:prstGeom>
        </p:spPr>
      </p:pic>
      <p:pic>
        <p:nvPicPr>
          <p:cNvPr id="4" name="Picture 3">
            <a:extLst>
              <a:ext uri="{FF2B5EF4-FFF2-40B4-BE49-F238E27FC236}">
                <a16:creationId xmlns:a16="http://schemas.microsoft.com/office/drawing/2014/main" id="{1657C515-3337-2C45-18B7-FF33ADDAC6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68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3363-0822-429F-B874-9D58D8EEAED8}"/>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EFE388C7-16B0-4866-85CA-4F9BAC3602C6}"/>
              </a:ext>
            </a:extLst>
          </p:cNvPr>
          <p:cNvPicPr>
            <a:picLocks noChangeAspect="1"/>
          </p:cNvPicPr>
          <p:nvPr/>
        </p:nvPicPr>
        <p:blipFill>
          <a:blip r:embed="rId2"/>
          <a:stretch>
            <a:fillRect/>
          </a:stretch>
        </p:blipFill>
        <p:spPr>
          <a:xfrm>
            <a:off x="1981200" y="1643379"/>
            <a:ext cx="8414872" cy="5056359"/>
          </a:xfrm>
          <a:prstGeom prst="rect">
            <a:avLst/>
          </a:prstGeom>
        </p:spPr>
      </p:pic>
      <p:pic>
        <p:nvPicPr>
          <p:cNvPr id="4" name="Picture 3">
            <a:extLst>
              <a:ext uri="{FF2B5EF4-FFF2-40B4-BE49-F238E27FC236}">
                <a16:creationId xmlns:a16="http://schemas.microsoft.com/office/drawing/2014/main" id="{CF4A06FE-8E0A-AA97-EE88-3C59424ED4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985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556C-1E69-49E5-8725-252D0F75746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0C9CFC5-37BC-456A-AB9C-6A5A863206D3}"/>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D2495FE-12DA-414C-A648-99109CF4912B}"/>
              </a:ext>
            </a:extLst>
          </p:cNvPr>
          <p:cNvPicPr>
            <a:picLocks noChangeAspect="1"/>
          </p:cNvPicPr>
          <p:nvPr/>
        </p:nvPicPr>
        <p:blipFill>
          <a:blip r:embed="rId2"/>
          <a:stretch>
            <a:fillRect/>
          </a:stretch>
        </p:blipFill>
        <p:spPr>
          <a:xfrm>
            <a:off x="1752600" y="1823266"/>
            <a:ext cx="8902987" cy="5005596"/>
          </a:xfrm>
          <a:prstGeom prst="rect">
            <a:avLst/>
          </a:prstGeom>
        </p:spPr>
      </p:pic>
      <p:pic>
        <p:nvPicPr>
          <p:cNvPr id="4" name="Picture 3">
            <a:extLst>
              <a:ext uri="{FF2B5EF4-FFF2-40B4-BE49-F238E27FC236}">
                <a16:creationId xmlns:a16="http://schemas.microsoft.com/office/drawing/2014/main" id="{10D94783-4109-BF14-6AF8-59CA24C117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2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436E4-6DCC-485A-AF63-F98520BF8E51}"/>
              </a:ext>
            </a:extLst>
          </p:cNvPr>
          <p:cNvSpPr>
            <a:spLocks noGrp="1"/>
          </p:cNvSpPr>
          <p:nvPr>
            <p:ph type="title"/>
          </p:nvPr>
        </p:nvSpPr>
        <p:spPr>
          <a:xfrm>
            <a:off x="762558" y="618843"/>
            <a:ext cx="11407775" cy="1323439"/>
          </a:xfrm>
        </p:spPr>
        <p:txBody>
          <a:bodyPr/>
          <a:lstStyle/>
          <a:p>
            <a:r>
              <a:rPr lang="en-US" b="1" u="sng" spc="95" dirty="0">
                <a:solidFill>
                  <a:srgbClr val="FF0000"/>
                </a:solidFill>
              </a:rPr>
              <a:t>More Project scope examples</a:t>
            </a:r>
            <a:br>
              <a:rPr lang="en-US" b="1" i="0" dirty="0">
                <a:solidFill>
                  <a:srgbClr val="2C2C2C"/>
                </a:solidFill>
                <a:effectLst/>
                <a:latin typeface="Adobe Clean"/>
              </a:rPr>
            </a:br>
            <a:endParaRPr lang="en-US" dirty="0"/>
          </a:p>
        </p:txBody>
      </p:sp>
      <p:sp>
        <p:nvSpPr>
          <p:cNvPr id="3" name="Text Placeholder 2">
            <a:extLst>
              <a:ext uri="{FF2B5EF4-FFF2-40B4-BE49-F238E27FC236}">
                <a16:creationId xmlns:a16="http://schemas.microsoft.com/office/drawing/2014/main" id="{D8666640-6F45-4604-80B4-6B2BFD1583C6}"/>
              </a:ext>
            </a:extLst>
          </p:cNvPr>
          <p:cNvSpPr>
            <a:spLocks noGrp="1"/>
          </p:cNvSpPr>
          <p:nvPr>
            <p:ph type="body" idx="1"/>
          </p:nvPr>
        </p:nvSpPr>
        <p:spPr>
          <a:xfrm>
            <a:off x="304800" y="1600200"/>
            <a:ext cx="12039600" cy="5601533"/>
          </a:xfrm>
        </p:spPr>
        <p:txBody>
          <a:bodyPr/>
          <a:lstStyle/>
          <a:p>
            <a:pPr algn="l"/>
            <a:r>
              <a:rPr lang="en-US" sz="2000" dirty="0">
                <a:solidFill>
                  <a:srgbClr val="2C2C2C"/>
                </a:solidFill>
                <a:latin typeface="Adobe Clean"/>
              </a:rPr>
              <a:t>Here are a few examples of how project scope can be defined for different types of projects:</a:t>
            </a:r>
          </a:p>
          <a:p>
            <a:pPr algn="l"/>
            <a:r>
              <a:rPr lang="en-US" sz="1800" b="1" dirty="0">
                <a:solidFill>
                  <a:srgbClr val="FF0000"/>
                </a:solidFill>
                <a:latin typeface="Adobe Clean"/>
              </a:rPr>
              <a:t>Website development project.</a:t>
            </a:r>
          </a:p>
          <a:p>
            <a:pPr algn="l">
              <a:buFont typeface="Arial" panose="020B0604020202020204" pitchFamily="34" charset="0"/>
              <a:buChar char="•"/>
            </a:pPr>
            <a:r>
              <a:rPr lang="en-US" sz="1800" dirty="0">
                <a:solidFill>
                  <a:srgbClr val="2C2C2C"/>
                </a:solidFill>
                <a:latin typeface="Adobe Clean"/>
              </a:rPr>
              <a:t>Objectives: Increase website traffic by 20%, improve user engagement by 15%, and generate 10% more leads.</a:t>
            </a:r>
          </a:p>
          <a:p>
            <a:pPr algn="l">
              <a:buFont typeface="Arial" panose="020B0604020202020204" pitchFamily="34" charset="0"/>
              <a:buChar char="•"/>
            </a:pPr>
            <a:r>
              <a:rPr lang="en-US" sz="1800" dirty="0">
                <a:solidFill>
                  <a:srgbClr val="2C2C2C"/>
                </a:solidFill>
                <a:latin typeface="Adobe Clean"/>
              </a:rPr>
              <a:t>Deliverables: Redesigned website with improved user interface, new content, and enhanced functionality.</a:t>
            </a:r>
          </a:p>
          <a:p>
            <a:pPr algn="l">
              <a:buFont typeface="Arial" panose="020B0604020202020204" pitchFamily="34" charset="0"/>
              <a:buChar char="•"/>
            </a:pPr>
            <a:r>
              <a:rPr lang="en-US" sz="1800" dirty="0">
                <a:solidFill>
                  <a:srgbClr val="2C2C2C"/>
                </a:solidFill>
                <a:latin typeface="Adobe Clean"/>
              </a:rPr>
              <a:t>Exclusions: Mobile app development and social media marketing campaign.</a:t>
            </a:r>
          </a:p>
          <a:p>
            <a:pPr algn="l">
              <a:buFont typeface="Arial" panose="020B0604020202020204" pitchFamily="34" charset="0"/>
              <a:buChar char="•"/>
            </a:pPr>
            <a:r>
              <a:rPr lang="en-US" sz="1800" dirty="0">
                <a:solidFill>
                  <a:srgbClr val="2C2C2C"/>
                </a:solidFill>
                <a:latin typeface="Adobe Clean"/>
              </a:rPr>
              <a:t>Constraints: Budget of $50,000, a timeline of 3 months.</a:t>
            </a:r>
          </a:p>
          <a:p>
            <a:pPr algn="l"/>
            <a:endParaRPr lang="en-US" sz="1800" dirty="0">
              <a:solidFill>
                <a:srgbClr val="2C2C2C"/>
              </a:solidFill>
              <a:latin typeface="Adobe Clean"/>
            </a:endParaRPr>
          </a:p>
          <a:p>
            <a:pPr algn="l"/>
            <a:r>
              <a:rPr lang="en-US" sz="1800" b="1" dirty="0">
                <a:solidFill>
                  <a:srgbClr val="FF0000"/>
                </a:solidFill>
                <a:latin typeface="Adobe Clean"/>
              </a:rPr>
              <a:t>Product launch.</a:t>
            </a:r>
          </a:p>
          <a:p>
            <a:pPr algn="l">
              <a:buFont typeface="Arial" panose="020B0604020202020204" pitchFamily="34" charset="0"/>
              <a:buChar char="•"/>
            </a:pPr>
            <a:r>
              <a:rPr lang="en-US" sz="1800" dirty="0">
                <a:solidFill>
                  <a:srgbClr val="2C2C2C"/>
                </a:solidFill>
                <a:latin typeface="Adobe Clean"/>
              </a:rPr>
              <a:t>Objectives: Successfully launch a new product to market, achieve a 5% market share within the first year, and generate $1 million in revenue.</a:t>
            </a:r>
          </a:p>
          <a:p>
            <a:pPr algn="l">
              <a:buFont typeface="Arial" panose="020B0604020202020204" pitchFamily="34" charset="0"/>
              <a:buChar char="•"/>
            </a:pPr>
            <a:r>
              <a:rPr lang="en-US" sz="1800" dirty="0">
                <a:solidFill>
                  <a:srgbClr val="2C2C2C"/>
                </a:solidFill>
                <a:latin typeface="Adobe Clean"/>
              </a:rPr>
              <a:t>Deliverables: Product development, marketing campaign, sales training, and launch event.</a:t>
            </a:r>
          </a:p>
          <a:p>
            <a:pPr algn="l">
              <a:buFont typeface="Arial" panose="020B0604020202020204" pitchFamily="34" charset="0"/>
              <a:buChar char="•"/>
            </a:pPr>
            <a:r>
              <a:rPr lang="en-US" sz="1800" dirty="0">
                <a:solidFill>
                  <a:srgbClr val="2C2C2C"/>
                </a:solidFill>
                <a:latin typeface="Adobe Clean"/>
              </a:rPr>
              <a:t>Exclusions: Post-launch customer support and product enhancements.</a:t>
            </a:r>
          </a:p>
          <a:p>
            <a:pPr algn="l">
              <a:buFont typeface="Arial" panose="020B0604020202020204" pitchFamily="34" charset="0"/>
              <a:buChar char="•"/>
            </a:pPr>
            <a:r>
              <a:rPr lang="en-US" sz="1800" dirty="0">
                <a:solidFill>
                  <a:srgbClr val="2C2C2C"/>
                </a:solidFill>
                <a:latin typeface="Adobe Clean"/>
              </a:rPr>
              <a:t>Constraints: Timeline of 6 months, budget of $250,000.</a:t>
            </a:r>
          </a:p>
          <a:p>
            <a:pPr algn="l"/>
            <a:endParaRPr lang="en-US" sz="1800" dirty="0">
              <a:solidFill>
                <a:srgbClr val="2C2C2C"/>
              </a:solidFill>
              <a:latin typeface="Adobe Clean"/>
            </a:endParaRPr>
          </a:p>
          <a:p>
            <a:pPr algn="l"/>
            <a:r>
              <a:rPr lang="en-US" sz="1800" b="1" dirty="0">
                <a:solidFill>
                  <a:srgbClr val="FF0000"/>
                </a:solidFill>
                <a:latin typeface="Adobe Clean"/>
              </a:rPr>
              <a:t>Internal process improvement project.</a:t>
            </a:r>
          </a:p>
          <a:p>
            <a:pPr algn="l">
              <a:buFont typeface="Arial" panose="020B0604020202020204" pitchFamily="34" charset="0"/>
              <a:buChar char="•"/>
            </a:pPr>
            <a:r>
              <a:rPr lang="en-US" sz="1800" dirty="0">
                <a:solidFill>
                  <a:srgbClr val="2C2C2C"/>
                </a:solidFill>
                <a:latin typeface="Adobe Clean"/>
              </a:rPr>
              <a:t>Objectives: Streamline a specific internal process, reduce processing time by 10%, and improve efficiency by 15%.</a:t>
            </a:r>
          </a:p>
          <a:p>
            <a:pPr algn="l">
              <a:buFont typeface="Arial" panose="020B0604020202020204" pitchFamily="34" charset="0"/>
              <a:buChar char="•"/>
            </a:pPr>
            <a:r>
              <a:rPr lang="en-US" sz="1800" dirty="0">
                <a:solidFill>
                  <a:srgbClr val="2C2C2C"/>
                </a:solidFill>
                <a:latin typeface="Adobe Clean"/>
              </a:rPr>
              <a:t>Deliverables: Process mapping, gap analysis, recommendations for improvement, and implementation plan.</a:t>
            </a:r>
          </a:p>
          <a:p>
            <a:pPr algn="l">
              <a:buFont typeface="Arial" panose="020B0604020202020204" pitchFamily="34" charset="0"/>
              <a:buChar char="•"/>
            </a:pPr>
            <a:r>
              <a:rPr lang="en-US" sz="1800" dirty="0">
                <a:solidFill>
                  <a:srgbClr val="2C2C2C"/>
                </a:solidFill>
                <a:latin typeface="Adobe Clean"/>
              </a:rPr>
              <a:t>Exclusions: Technology upgrades, employee training.</a:t>
            </a:r>
          </a:p>
          <a:p>
            <a:pPr algn="l">
              <a:buFont typeface="Arial" panose="020B0604020202020204" pitchFamily="34" charset="0"/>
              <a:buChar char="•"/>
            </a:pPr>
            <a:r>
              <a:rPr lang="en-US" sz="1800" b="1" i="0" dirty="0">
                <a:solidFill>
                  <a:srgbClr val="2C2C2C"/>
                </a:solidFill>
                <a:effectLst/>
                <a:latin typeface="Adobe Clean"/>
              </a:rPr>
              <a:t>Constraints:</a:t>
            </a:r>
            <a:r>
              <a:rPr lang="en-US" sz="1800" b="0" i="0" dirty="0">
                <a:solidFill>
                  <a:srgbClr val="2C2C2C"/>
                </a:solidFill>
                <a:effectLst/>
                <a:latin typeface="Adobe Clean"/>
              </a:rPr>
              <a:t> Timeline of 2 months, budget of $10,000.</a:t>
            </a:r>
          </a:p>
          <a:p>
            <a:endParaRPr lang="en-US" sz="2000" dirty="0"/>
          </a:p>
        </p:txBody>
      </p:sp>
      <p:pic>
        <p:nvPicPr>
          <p:cNvPr id="4" name="Picture 3">
            <a:extLst>
              <a:ext uri="{FF2B5EF4-FFF2-40B4-BE49-F238E27FC236}">
                <a16:creationId xmlns:a16="http://schemas.microsoft.com/office/drawing/2014/main" id="{3803707B-635B-AAFF-90A5-800943E1CA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8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558" y="618843"/>
            <a:ext cx="11407775" cy="1352934"/>
          </a:xfrm>
          <a:prstGeom prst="rect">
            <a:avLst/>
          </a:prstGeom>
        </p:spPr>
        <p:txBody>
          <a:bodyPr vert="horz" wrap="square" lIns="0" tIns="13970" rIns="0" bIns="0" rtlCol="0">
            <a:spAutoFit/>
          </a:bodyPr>
          <a:lstStyle/>
          <a:p>
            <a:pPr marL="167005">
              <a:spcBef>
                <a:spcPts val="110"/>
              </a:spcBef>
            </a:pPr>
            <a:r>
              <a:rPr lang="en-US" sz="4400" b="1" u="sng" dirty="0">
                <a:solidFill>
                  <a:srgbClr val="FF0000"/>
                </a:solidFill>
                <a:uFill>
                  <a:solidFill>
                    <a:srgbClr val="000000"/>
                  </a:solidFill>
                </a:uFill>
                <a:latin typeface="Calibri"/>
                <a:cs typeface="Calibri"/>
              </a:rPr>
              <a:t>Project</a:t>
            </a:r>
            <a:r>
              <a:rPr lang="en-US" sz="4400" b="1" u="sng" spc="100" dirty="0">
                <a:solidFill>
                  <a:srgbClr val="FF0000"/>
                </a:solidFill>
                <a:uFill>
                  <a:solidFill>
                    <a:srgbClr val="000000"/>
                  </a:solidFill>
                </a:uFill>
                <a:latin typeface="Calibri"/>
                <a:cs typeface="Calibri"/>
              </a:rPr>
              <a:t> </a:t>
            </a:r>
            <a:r>
              <a:rPr lang="en-US" sz="4400" b="1" u="sng" dirty="0">
                <a:solidFill>
                  <a:srgbClr val="FF0000"/>
                </a:solidFill>
                <a:uFill>
                  <a:solidFill>
                    <a:srgbClr val="000000"/>
                  </a:solidFill>
                </a:uFill>
                <a:latin typeface="Calibri"/>
                <a:cs typeface="Calibri"/>
              </a:rPr>
              <a:t>charter</a:t>
            </a:r>
            <a:br>
              <a:rPr lang="en-US" sz="4400" b="1" u="sng" dirty="0">
                <a:uFill>
                  <a:solidFill>
                    <a:srgbClr val="000000"/>
                  </a:solidFill>
                </a:uFill>
                <a:latin typeface="Calibri"/>
                <a:cs typeface="Calibri"/>
              </a:rPr>
            </a:br>
            <a:endParaRPr b="1" u="sng" spc="95" dirty="0">
              <a:solidFill>
                <a:srgbClr val="FF0000"/>
              </a:solidFill>
            </a:endParaRPr>
          </a:p>
        </p:txBody>
      </p:sp>
      <p:sp>
        <p:nvSpPr>
          <p:cNvPr id="3" name="object 3"/>
          <p:cNvSpPr txBox="1"/>
          <p:nvPr/>
        </p:nvSpPr>
        <p:spPr>
          <a:xfrm>
            <a:off x="519887" y="1676400"/>
            <a:ext cx="11152225" cy="2341667"/>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000" dirty="0">
                <a:latin typeface="Calibri"/>
                <a:cs typeface="Calibri"/>
              </a:rPr>
              <a:t>Some</a:t>
            </a:r>
            <a:r>
              <a:rPr sz="2000" spc="-55" dirty="0">
                <a:latin typeface="Calibri"/>
                <a:cs typeface="Calibri"/>
              </a:rPr>
              <a:t> </a:t>
            </a:r>
            <a:r>
              <a:rPr sz="2000" dirty="0">
                <a:latin typeface="Calibri"/>
                <a:cs typeface="Calibri"/>
              </a:rPr>
              <a:t>companies</a:t>
            </a:r>
            <a:r>
              <a:rPr sz="2000" spc="-55" dirty="0">
                <a:latin typeface="Calibri"/>
                <a:cs typeface="Calibri"/>
              </a:rPr>
              <a:t> </a:t>
            </a:r>
            <a:r>
              <a:rPr sz="2000" spc="-10" dirty="0">
                <a:latin typeface="Calibri"/>
                <a:cs typeface="Calibri"/>
              </a:rPr>
              <a:t>refer</a:t>
            </a:r>
            <a:r>
              <a:rPr sz="2000" spc="-60"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scope</a:t>
            </a:r>
            <a:r>
              <a:rPr sz="2000" spc="-55" dirty="0">
                <a:latin typeface="Calibri"/>
                <a:cs typeface="Calibri"/>
              </a:rPr>
              <a:t> </a:t>
            </a:r>
            <a:r>
              <a:rPr sz="2000" spc="-10" dirty="0">
                <a:latin typeface="Calibri"/>
                <a:cs typeface="Calibri"/>
              </a:rPr>
              <a:t>statements</a:t>
            </a:r>
            <a:r>
              <a:rPr sz="2000" spc="-60" dirty="0">
                <a:latin typeface="Calibri"/>
                <a:cs typeface="Calibri"/>
              </a:rPr>
              <a:t> </a:t>
            </a:r>
            <a:r>
              <a:rPr sz="2000" dirty="0">
                <a:latin typeface="Calibri"/>
                <a:cs typeface="Calibri"/>
              </a:rPr>
              <a:t>as</a:t>
            </a:r>
            <a:r>
              <a:rPr sz="2000" spc="-50" dirty="0">
                <a:latin typeface="Calibri"/>
                <a:cs typeface="Calibri"/>
              </a:rPr>
              <a:t> </a:t>
            </a:r>
            <a:r>
              <a:rPr sz="2000" spc="-10" dirty="0">
                <a:latin typeface="Calibri"/>
                <a:cs typeface="Calibri"/>
              </a:rPr>
              <a:t>“</a:t>
            </a:r>
            <a:r>
              <a:rPr sz="2000" b="1" u="sng" spc="-10" dirty="0">
                <a:solidFill>
                  <a:srgbClr val="FF0000"/>
                </a:solidFill>
                <a:uFill>
                  <a:solidFill>
                    <a:srgbClr val="000000"/>
                  </a:solidFill>
                </a:uFill>
                <a:latin typeface="Calibri"/>
                <a:cs typeface="Calibri"/>
              </a:rPr>
              <a:t>statements</a:t>
            </a:r>
            <a:r>
              <a:rPr sz="2000" b="1" u="sng" spc="-60" dirty="0">
                <a:solidFill>
                  <a:srgbClr val="FF0000"/>
                </a:solidFill>
                <a:uFill>
                  <a:solidFill>
                    <a:srgbClr val="000000"/>
                  </a:solidFill>
                </a:uFill>
                <a:latin typeface="Calibri"/>
                <a:cs typeface="Calibri"/>
              </a:rPr>
              <a:t> </a:t>
            </a:r>
            <a:r>
              <a:rPr sz="2000" b="1" u="sng" dirty="0">
                <a:solidFill>
                  <a:srgbClr val="FF0000"/>
                </a:solidFill>
                <a:uFill>
                  <a:solidFill>
                    <a:srgbClr val="000000"/>
                  </a:solidFill>
                </a:uFill>
                <a:latin typeface="Calibri"/>
                <a:cs typeface="Calibri"/>
              </a:rPr>
              <a:t>of</a:t>
            </a:r>
            <a:r>
              <a:rPr sz="2000" b="1" u="sng" spc="-55" dirty="0">
                <a:solidFill>
                  <a:srgbClr val="FF0000"/>
                </a:solidFill>
                <a:uFill>
                  <a:solidFill>
                    <a:srgbClr val="000000"/>
                  </a:solidFill>
                </a:uFill>
                <a:latin typeface="Calibri"/>
                <a:cs typeface="Calibri"/>
              </a:rPr>
              <a:t> </a:t>
            </a:r>
            <a:r>
              <a:rPr sz="2000" b="1" u="sng" dirty="0">
                <a:solidFill>
                  <a:srgbClr val="FF0000"/>
                </a:solidFill>
                <a:uFill>
                  <a:solidFill>
                    <a:srgbClr val="000000"/>
                  </a:solidFill>
                </a:uFill>
                <a:latin typeface="Calibri"/>
                <a:cs typeface="Calibri"/>
              </a:rPr>
              <a:t>work</a:t>
            </a:r>
            <a:r>
              <a:rPr sz="2000" dirty="0">
                <a:latin typeface="Calibri"/>
                <a:cs typeface="Calibri"/>
              </a:rPr>
              <a:t>”</a:t>
            </a:r>
            <a:r>
              <a:rPr sz="2000" spc="-60" dirty="0">
                <a:latin typeface="Calibri"/>
                <a:cs typeface="Calibri"/>
              </a:rPr>
              <a:t> </a:t>
            </a:r>
            <a:r>
              <a:rPr sz="2000" spc="-10" dirty="0">
                <a:latin typeface="Calibri"/>
                <a:cs typeface="Calibri"/>
              </a:rPr>
              <a:t>(</a:t>
            </a:r>
            <a:r>
              <a:rPr sz="2000" b="1" i="1" u="sng" spc="-10" dirty="0">
                <a:solidFill>
                  <a:srgbClr val="00B050"/>
                </a:solidFill>
                <a:uFill>
                  <a:solidFill>
                    <a:srgbClr val="000000"/>
                  </a:solidFill>
                </a:uFill>
                <a:latin typeface="Calibri"/>
                <a:cs typeface="Calibri"/>
              </a:rPr>
              <a:t>SOW</a:t>
            </a:r>
            <a:r>
              <a:rPr sz="2000" spc="-10" dirty="0">
                <a:latin typeface="Calibri"/>
                <a:cs typeface="Calibri"/>
              </a:rPr>
              <a:t>).</a:t>
            </a:r>
            <a:endParaRPr sz="2000" dirty="0">
              <a:latin typeface="Calibri"/>
              <a:cs typeface="Calibri"/>
            </a:endParaRPr>
          </a:p>
          <a:p>
            <a:pPr marL="12700" marR="5080" algn="just">
              <a:lnSpc>
                <a:spcPct val="89500"/>
              </a:lnSpc>
              <a:tabLst>
                <a:tab pos="241300" algn="l"/>
              </a:tabLst>
            </a:pPr>
            <a:r>
              <a:rPr sz="2000" dirty="0">
                <a:latin typeface="Calibri"/>
                <a:cs typeface="Calibri"/>
              </a:rPr>
              <a:t>A</a:t>
            </a:r>
            <a:r>
              <a:rPr sz="2000" spc="110" dirty="0">
                <a:latin typeface="Calibri"/>
                <a:cs typeface="Calibri"/>
              </a:rPr>
              <a:t> </a:t>
            </a:r>
            <a:r>
              <a:rPr sz="2000" b="1" u="sng" dirty="0">
                <a:solidFill>
                  <a:srgbClr val="FF0000"/>
                </a:solidFill>
                <a:uFill>
                  <a:solidFill>
                    <a:srgbClr val="000000"/>
                  </a:solidFill>
                </a:uFill>
                <a:latin typeface="Calibri"/>
                <a:cs typeface="Calibri"/>
              </a:rPr>
              <a:t>project</a:t>
            </a:r>
            <a:r>
              <a:rPr sz="2000" b="1" u="sng" spc="100" dirty="0">
                <a:solidFill>
                  <a:srgbClr val="FF0000"/>
                </a:solidFill>
                <a:uFill>
                  <a:solidFill>
                    <a:srgbClr val="000000"/>
                  </a:solidFill>
                </a:uFill>
                <a:latin typeface="Calibri"/>
                <a:cs typeface="Calibri"/>
              </a:rPr>
              <a:t> </a:t>
            </a:r>
            <a:r>
              <a:rPr sz="2000" b="1" u="sng" dirty="0">
                <a:solidFill>
                  <a:srgbClr val="FF0000"/>
                </a:solidFill>
                <a:uFill>
                  <a:solidFill>
                    <a:srgbClr val="000000"/>
                  </a:solidFill>
                </a:uFill>
                <a:latin typeface="Calibri"/>
                <a:cs typeface="Calibri"/>
              </a:rPr>
              <a:t>charter</a:t>
            </a:r>
            <a:r>
              <a:rPr lang="en-US" sz="2000" b="1" u="sng" dirty="0">
                <a:uFill>
                  <a:solidFill>
                    <a:srgbClr val="000000"/>
                  </a:solidFill>
                </a:uFill>
                <a:latin typeface="Calibri"/>
                <a:cs typeface="Calibri"/>
              </a:rPr>
              <a:t>:</a:t>
            </a:r>
          </a:p>
          <a:p>
            <a:pPr marL="355600" marR="5080" indent="-342900" algn="just">
              <a:lnSpc>
                <a:spcPct val="89500"/>
              </a:lnSpc>
              <a:buFont typeface="Arial" panose="020B0604020202020204" pitchFamily="34" charset="0"/>
              <a:buChar char="•"/>
              <a:tabLst>
                <a:tab pos="241300" algn="l"/>
              </a:tabLst>
            </a:pPr>
            <a:r>
              <a:rPr sz="2000" b="1" spc="105" dirty="0">
                <a:latin typeface="Calibri"/>
                <a:cs typeface="Calibri"/>
              </a:rPr>
              <a:t> </a:t>
            </a:r>
            <a:r>
              <a:rPr lang="en-US" sz="2000" b="1" spc="105" dirty="0">
                <a:latin typeface="Calibri"/>
                <a:cs typeface="Calibri"/>
              </a:rPr>
              <a:t>R</a:t>
            </a:r>
            <a:r>
              <a:rPr sz="2000" dirty="0">
                <a:latin typeface="Calibri"/>
                <a:cs typeface="Calibri"/>
              </a:rPr>
              <a:t>efers</a:t>
            </a:r>
            <a:r>
              <a:rPr sz="2000" spc="110" dirty="0">
                <a:latin typeface="Calibri"/>
                <a:cs typeface="Calibri"/>
              </a:rPr>
              <a:t> </a:t>
            </a:r>
            <a:r>
              <a:rPr sz="2000" dirty="0">
                <a:latin typeface="Calibri"/>
                <a:cs typeface="Calibri"/>
              </a:rPr>
              <a:t>to</a:t>
            </a:r>
            <a:r>
              <a:rPr sz="2000" spc="100" dirty="0">
                <a:latin typeface="Calibri"/>
                <a:cs typeface="Calibri"/>
              </a:rPr>
              <a:t> </a:t>
            </a:r>
            <a:r>
              <a:rPr sz="2000" dirty="0">
                <a:latin typeface="Calibri"/>
                <a:cs typeface="Calibri"/>
              </a:rPr>
              <a:t>a</a:t>
            </a:r>
            <a:r>
              <a:rPr sz="2000" spc="114" dirty="0">
                <a:latin typeface="Calibri"/>
                <a:cs typeface="Calibri"/>
              </a:rPr>
              <a:t> </a:t>
            </a:r>
            <a:r>
              <a:rPr sz="2000" b="1" dirty="0">
                <a:solidFill>
                  <a:srgbClr val="00B050"/>
                </a:solidFill>
                <a:latin typeface="Calibri"/>
                <a:cs typeface="Calibri"/>
              </a:rPr>
              <a:t>document</a:t>
            </a:r>
            <a:r>
              <a:rPr sz="2000" spc="110" dirty="0">
                <a:latin typeface="Calibri"/>
                <a:cs typeface="Calibri"/>
              </a:rPr>
              <a:t> </a:t>
            </a:r>
            <a:r>
              <a:rPr sz="2000" dirty="0">
                <a:latin typeface="Calibri"/>
                <a:cs typeface="Calibri"/>
              </a:rPr>
              <a:t>that</a:t>
            </a:r>
            <a:r>
              <a:rPr sz="2000" spc="110" dirty="0">
                <a:latin typeface="Calibri"/>
                <a:cs typeface="Calibri"/>
              </a:rPr>
              <a:t> </a:t>
            </a:r>
            <a:r>
              <a:rPr sz="2000" dirty="0">
                <a:latin typeface="Calibri"/>
                <a:cs typeface="Calibri"/>
              </a:rPr>
              <a:t>authorizes</a:t>
            </a:r>
            <a:r>
              <a:rPr sz="2000" spc="114" dirty="0">
                <a:latin typeface="Calibri"/>
                <a:cs typeface="Calibri"/>
              </a:rPr>
              <a:t> </a:t>
            </a:r>
            <a:r>
              <a:rPr sz="2000" dirty="0">
                <a:latin typeface="Calibri"/>
                <a:cs typeface="Calibri"/>
              </a:rPr>
              <a:t>the</a:t>
            </a:r>
            <a:r>
              <a:rPr sz="2000" spc="110" dirty="0">
                <a:latin typeface="Calibri"/>
                <a:cs typeface="Calibri"/>
              </a:rPr>
              <a:t> </a:t>
            </a:r>
            <a:r>
              <a:rPr sz="2000" dirty="0">
                <a:latin typeface="Calibri"/>
                <a:cs typeface="Calibri"/>
              </a:rPr>
              <a:t>project</a:t>
            </a:r>
            <a:r>
              <a:rPr sz="2000" spc="110" dirty="0">
                <a:latin typeface="Calibri"/>
                <a:cs typeface="Calibri"/>
              </a:rPr>
              <a:t> </a:t>
            </a:r>
            <a:r>
              <a:rPr sz="2000" dirty="0">
                <a:latin typeface="Calibri"/>
                <a:cs typeface="Calibri"/>
              </a:rPr>
              <a:t>manager</a:t>
            </a:r>
            <a:r>
              <a:rPr sz="2000" spc="110" dirty="0">
                <a:latin typeface="Calibri"/>
                <a:cs typeface="Calibri"/>
              </a:rPr>
              <a:t> </a:t>
            </a:r>
            <a:r>
              <a:rPr sz="2000" dirty="0">
                <a:latin typeface="Calibri"/>
                <a:cs typeface="Calibri"/>
              </a:rPr>
              <a:t>to</a:t>
            </a:r>
            <a:r>
              <a:rPr sz="2000" spc="110" dirty="0">
                <a:latin typeface="Calibri"/>
                <a:cs typeface="Calibri"/>
              </a:rPr>
              <a:t> </a:t>
            </a:r>
            <a:r>
              <a:rPr sz="2000" dirty="0">
                <a:latin typeface="Calibri"/>
                <a:cs typeface="Calibri"/>
              </a:rPr>
              <a:t>initiate</a:t>
            </a:r>
            <a:r>
              <a:rPr sz="2000" spc="110" dirty="0">
                <a:latin typeface="Calibri"/>
                <a:cs typeface="Calibri"/>
              </a:rPr>
              <a:t> </a:t>
            </a:r>
            <a:r>
              <a:rPr sz="2000" dirty="0">
                <a:latin typeface="Calibri"/>
                <a:cs typeface="Calibri"/>
              </a:rPr>
              <a:t>and</a:t>
            </a:r>
            <a:r>
              <a:rPr sz="2000" spc="105" dirty="0">
                <a:latin typeface="Calibri"/>
                <a:cs typeface="Calibri"/>
              </a:rPr>
              <a:t> </a:t>
            </a:r>
            <a:r>
              <a:rPr sz="2000" spc="-20" dirty="0">
                <a:latin typeface="Calibri"/>
                <a:cs typeface="Calibri"/>
              </a:rPr>
              <a:t>lead </a:t>
            </a:r>
            <a:r>
              <a:rPr sz="2000" dirty="0">
                <a:latin typeface="Calibri"/>
                <a:cs typeface="Calibri"/>
              </a:rPr>
              <a:t>the</a:t>
            </a:r>
            <a:r>
              <a:rPr sz="2000" spc="195" dirty="0">
                <a:latin typeface="Calibri"/>
                <a:cs typeface="Calibri"/>
              </a:rPr>
              <a:t> </a:t>
            </a:r>
            <a:r>
              <a:rPr sz="2000" dirty="0">
                <a:latin typeface="Calibri"/>
                <a:cs typeface="Calibri"/>
              </a:rPr>
              <a:t>project.</a:t>
            </a:r>
            <a:r>
              <a:rPr sz="2000" spc="200" dirty="0">
                <a:latin typeface="Calibri"/>
                <a:cs typeface="Calibri"/>
              </a:rPr>
              <a:t> </a:t>
            </a:r>
            <a:endParaRPr lang="en-US" sz="2000" spc="200" dirty="0">
              <a:latin typeface="Calibri"/>
              <a:cs typeface="Calibri"/>
            </a:endParaRPr>
          </a:p>
          <a:p>
            <a:pPr marL="355600" marR="5080" indent="-342900" algn="just">
              <a:lnSpc>
                <a:spcPct val="89500"/>
              </a:lnSpc>
              <a:buFont typeface="Arial" panose="020B0604020202020204" pitchFamily="34" charset="0"/>
              <a:buChar char="•"/>
              <a:tabLst>
                <a:tab pos="241300" algn="l"/>
              </a:tabLst>
            </a:pPr>
            <a:r>
              <a:rPr sz="2000" dirty="0">
                <a:latin typeface="Calibri"/>
                <a:cs typeface="Calibri"/>
              </a:rPr>
              <a:t>This</a:t>
            </a:r>
            <a:r>
              <a:rPr sz="2000" spc="210" dirty="0">
                <a:latin typeface="Calibri"/>
                <a:cs typeface="Calibri"/>
              </a:rPr>
              <a:t> </a:t>
            </a:r>
            <a:r>
              <a:rPr sz="2000" dirty="0">
                <a:latin typeface="Calibri"/>
                <a:cs typeface="Calibri"/>
              </a:rPr>
              <a:t>document</a:t>
            </a:r>
            <a:r>
              <a:rPr sz="2000" spc="210" dirty="0">
                <a:latin typeface="Calibri"/>
                <a:cs typeface="Calibri"/>
              </a:rPr>
              <a:t> </a:t>
            </a:r>
            <a:r>
              <a:rPr sz="2000" dirty="0">
                <a:latin typeface="Calibri"/>
                <a:cs typeface="Calibri"/>
              </a:rPr>
              <a:t>is</a:t>
            </a:r>
            <a:r>
              <a:rPr sz="2000" spc="204" dirty="0">
                <a:latin typeface="Calibri"/>
                <a:cs typeface="Calibri"/>
              </a:rPr>
              <a:t> </a:t>
            </a:r>
            <a:r>
              <a:rPr sz="2000" dirty="0">
                <a:latin typeface="Calibri"/>
                <a:cs typeface="Calibri"/>
              </a:rPr>
              <a:t>issued</a:t>
            </a:r>
            <a:r>
              <a:rPr sz="2000" spc="204" dirty="0">
                <a:latin typeface="Calibri"/>
                <a:cs typeface="Calibri"/>
              </a:rPr>
              <a:t> </a:t>
            </a:r>
            <a:r>
              <a:rPr sz="2000" dirty="0">
                <a:latin typeface="Calibri"/>
                <a:cs typeface="Calibri"/>
              </a:rPr>
              <a:t>by</a:t>
            </a:r>
            <a:r>
              <a:rPr sz="2000" spc="195" dirty="0">
                <a:latin typeface="Calibri"/>
                <a:cs typeface="Calibri"/>
              </a:rPr>
              <a:t> </a:t>
            </a:r>
            <a:r>
              <a:rPr sz="2000" b="1" dirty="0">
                <a:solidFill>
                  <a:srgbClr val="00B050"/>
                </a:solidFill>
                <a:latin typeface="Calibri"/>
                <a:cs typeface="Calibri"/>
              </a:rPr>
              <a:t>upper</a:t>
            </a:r>
            <a:r>
              <a:rPr sz="2000" b="1" spc="204" dirty="0">
                <a:solidFill>
                  <a:srgbClr val="00B050"/>
                </a:solidFill>
                <a:latin typeface="Calibri"/>
                <a:cs typeface="Calibri"/>
              </a:rPr>
              <a:t> </a:t>
            </a:r>
            <a:r>
              <a:rPr sz="2000" b="1" dirty="0">
                <a:solidFill>
                  <a:srgbClr val="00B050"/>
                </a:solidFill>
                <a:latin typeface="Calibri"/>
                <a:cs typeface="Calibri"/>
              </a:rPr>
              <a:t>management</a:t>
            </a:r>
            <a:r>
              <a:rPr sz="2000" b="1" spc="204" dirty="0">
                <a:solidFill>
                  <a:srgbClr val="00B050"/>
                </a:solidFill>
                <a:latin typeface="Calibri"/>
                <a:cs typeface="Calibri"/>
              </a:rPr>
              <a:t> </a:t>
            </a:r>
            <a:r>
              <a:rPr sz="2000" dirty="0">
                <a:latin typeface="Calibri"/>
                <a:cs typeface="Calibri"/>
              </a:rPr>
              <a:t>and</a:t>
            </a:r>
            <a:r>
              <a:rPr sz="2000" spc="204" dirty="0">
                <a:latin typeface="Calibri"/>
                <a:cs typeface="Calibri"/>
              </a:rPr>
              <a:t> </a:t>
            </a:r>
            <a:r>
              <a:rPr sz="2000" dirty="0">
                <a:latin typeface="Calibri"/>
                <a:cs typeface="Calibri"/>
              </a:rPr>
              <a:t>provides</a:t>
            </a:r>
            <a:r>
              <a:rPr sz="2000" spc="210" dirty="0">
                <a:latin typeface="Calibri"/>
                <a:cs typeface="Calibri"/>
              </a:rPr>
              <a:t> </a:t>
            </a:r>
            <a:r>
              <a:rPr sz="2000" dirty="0">
                <a:latin typeface="Calibri"/>
                <a:cs typeface="Calibri"/>
              </a:rPr>
              <a:t>the</a:t>
            </a:r>
            <a:r>
              <a:rPr sz="2000" spc="204" dirty="0">
                <a:latin typeface="Calibri"/>
                <a:cs typeface="Calibri"/>
              </a:rPr>
              <a:t> </a:t>
            </a:r>
            <a:r>
              <a:rPr sz="2000" dirty="0">
                <a:latin typeface="Calibri"/>
                <a:cs typeface="Calibri"/>
              </a:rPr>
              <a:t>project</a:t>
            </a:r>
            <a:r>
              <a:rPr sz="2000" spc="210" dirty="0">
                <a:latin typeface="Calibri"/>
                <a:cs typeface="Calibri"/>
              </a:rPr>
              <a:t> </a:t>
            </a:r>
            <a:r>
              <a:rPr sz="2000" spc="-10" dirty="0">
                <a:latin typeface="Calibri"/>
                <a:cs typeface="Calibri"/>
              </a:rPr>
              <a:t>manager </a:t>
            </a:r>
            <a:r>
              <a:rPr sz="2000" dirty="0">
                <a:latin typeface="Calibri"/>
                <a:cs typeface="Calibri"/>
              </a:rPr>
              <a:t>with written </a:t>
            </a:r>
            <a:r>
              <a:rPr sz="2000" b="1" dirty="0">
                <a:solidFill>
                  <a:srgbClr val="00B050"/>
                </a:solidFill>
                <a:latin typeface="Calibri"/>
                <a:cs typeface="Calibri"/>
              </a:rPr>
              <a:t>authority</a:t>
            </a:r>
            <a:r>
              <a:rPr sz="2000" dirty="0">
                <a:latin typeface="Calibri"/>
                <a:cs typeface="Calibri"/>
              </a:rPr>
              <a:t> to</a:t>
            </a:r>
            <a:r>
              <a:rPr sz="2000" spc="-5" dirty="0">
                <a:latin typeface="Calibri"/>
                <a:cs typeface="Calibri"/>
              </a:rPr>
              <a:t> </a:t>
            </a:r>
            <a:r>
              <a:rPr sz="2000" dirty="0">
                <a:latin typeface="Calibri"/>
                <a:cs typeface="Calibri"/>
              </a:rPr>
              <a:t>use</a:t>
            </a:r>
            <a:r>
              <a:rPr sz="2000" spc="10" dirty="0">
                <a:latin typeface="Calibri"/>
                <a:cs typeface="Calibri"/>
              </a:rPr>
              <a:t> </a:t>
            </a:r>
            <a:r>
              <a:rPr sz="2000" b="1" spc="-10" dirty="0">
                <a:solidFill>
                  <a:srgbClr val="00B050"/>
                </a:solidFill>
                <a:latin typeface="Calibri"/>
                <a:cs typeface="Calibri"/>
              </a:rPr>
              <a:t>organizational</a:t>
            </a:r>
            <a:r>
              <a:rPr sz="2000" b="1" spc="5" dirty="0">
                <a:solidFill>
                  <a:srgbClr val="00B050"/>
                </a:solidFill>
                <a:latin typeface="Calibri"/>
                <a:cs typeface="Calibri"/>
              </a:rPr>
              <a:t> </a:t>
            </a:r>
            <a:r>
              <a:rPr sz="2000" b="1" dirty="0">
                <a:solidFill>
                  <a:srgbClr val="00B050"/>
                </a:solidFill>
                <a:latin typeface="Calibri"/>
                <a:cs typeface="Calibri"/>
              </a:rPr>
              <a:t>resources</a:t>
            </a:r>
            <a:r>
              <a:rPr sz="2000" b="1" spc="10" dirty="0">
                <a:solidFill>
                  <a:srgbClr val="00B050"/>
                </a:solidFill>
                <a:latin typeface="Calibri"/>
                <a:cs typeface="Calibri"/>
              </a:rPr>
              <a:t> </a:t>
            </a:r>
            <a:r>
              <a:rPr sz="2000" dirty="0">
                <a:latin typeface="Calibri"/>
                <a:cs typeface="Calibri"/>
              </a:rPr>
              <a:t>for project</a:t>
            </a:r>
            <a:r>
              <a:rPr sz="2000" spc="10" dirty="0">
                <a:latin typeface="Calibri"/>
                <a:cs typeface="Calibri"/>
              </a:rPr>
              <a:t> </a:t>
            </a:r>
            <a:r>
              <a:rPr sz="2000" dirty="0">
                <a:latin typeface="Calibri"/>
                <a:cs typeface="Calibri"/>
              </a:rPr>
              <a:t>activities.</a:t>
            </a:r>
            <a:endParaRPr lang="en-US" sz="2000" dirty="0">
              <a:latin typeface="Calibri"/>
              <a:cs typeface="Calibri"/>
            </a:endParaRPr>
          </a:p>
          <a:p>
            <a:pPr marL="355600" marR="5080" indent="-342900" algn="just">
              <a:lnSpc>
                <a:spcPct val="89500"/>
              </a:lnSpc>
              <a:buFont typeface="Arial" panose="020B0604020202020204" pitchFamily="34" charset="0"/>
              <a:buChar char="•"/>
              <a:tabLst>
                <a:tab pos="241300" algn="l"/>
              </a:tabLst>
            </a:pPr>
            <a:r>
              <a:rPr sz="2000" spc="-5" dirty="0">
                <a:latin typeface="Calibri"/>
                <a:cs typeface="Calibri"/>
              </a:rPr>
              <a:t> </a:t>
            </a:r>
            <a:r>
              <a:rPr sz="2000" dirty="0">
                <a:latin typeface="Calibri"/>
                <a:cs typeface="Calibri"/>
              </a:rPr>
              <a:t>Often</a:t>
            </a:r>
            <a:r>
              <a:rPr sz="2000" spc="5" dirty="0">
                <a:latin typeface="Calibri"/>
                <a:cs typeface="Calibri"/>
              </a:rPr>
              <a:t> </a:t>
            </a:r>
            <a:r>
              <a:rPr sz="2000" dirty="0">
                <a:latin typeface="Calibri"/>
                <a:cs typeface="Calibri"/>
              </a:rPr>
              <a:t>the</a:t>
            </a:r>
            <a:r>
              <a:rPr sz="2000" spc="10" dirty="0">
                <a:latin typeface="Calibri"/>
                <a:cs typeface="Calibri"/>
              </a:rPr>
              <a:t> </a:t>
            </a:r>
            <a:r>
              <a:rPr sz="2000" dirty="0">
                <a:latin typeface="Calibri"/>
                <a:cs typeface="Calibri"/>
              </a:rPr>
              <a:t>charter </a:t>
            </a:r>
            <a:r>
              <a:rPr sz="2000" spc="-20" dirty="0">
                <a:latin typeface="Calibri"/>
                <a:cs typeface="Calibri"/>
              </a:rPr>
              <a:t>will 	</a:t>
            </a:r>
            <a:r>
              <a:rPr sz="2000" dirty="0">
                <a:latin typeface="Calibri"/>
                <a:cs typeface="Calibri"/>
              </a:rPr>
              <a:t>include</a:t>
            </a:r>
            <a:r>
              <a:rPr sz="2000" spc="300" dirty="0">
                <a:latin typeface="Calibri"/>
                <a:cs typeface="Calibri"/>
              </a:rPr>
              <a:t> </a:t>
            </a:r>
            <a:r>
              <a:rPr sz="2000" dirty="0">
                <a:latin typeface="Calibri"/>
                <a:cs typeface="Calibri"/>
              </a:rPr>
              <a:t>a</a:t>
            </a:r>
            <a:r>
              <a:rPr sz="2000" spc="300" dirty="0">
                <a:latin typeface="Calibri"/>
                <a:cs typeface="Calibri"/>
              </a:rPr>
              <a:t> </a:t>
            </a:r>
            <a:r>
              <a:rPr sz="2000" b="1" dirty="0">
                <a:solidFill>
                  <a:srgbClr val="00B050"/>
                </a:solidFill>
                <a:latin typeface="Calibri"/>
                <a:cs typeface="Calibri"/>
              </a:rPr>
              <a:t>brief</a:t>
            </a:r>
            <a:r>
              <a:rPr sz="2000" b="1" spc="300" dirty="0">
                <a:solidFill>
                  <a:srgbClr val="00B050"/>
                </a:solidFill>
                <a:latin typeface="Calibri"/>
                <a:cs typeface="Calibri"/>
              </a:rPr>
              <a:t> </a:t>
            </a:r>
            <a:r>
              <a:rPr sz="2000" b="1" dirty="0">
                <a:solidFill>
                  <a:srgbClr val="00B050"/>
                </a:solidFill>
                <a:latin typeface="Calibri"/>
                <a:cs typeface="Calibri"/>
              </a:rPr>
              <a:t>scope</a:t>
            </a:r>
            <a:r>
              <a:rPr sz="2000" b="1" spc="300" dirty="0">
                <a:solidFill>
                  <a:srgbClr val="00B050"/>
                </a:solidFill>
                <a:latin typeface="Calibri"/>
                <a:cs typeface="Calibri"/>
              </a:rPr>
              <a:t> </a:t>
            </a:r>
            <a:r>
              <a:rPr sz="2000" b="1" dirty="0">
                <a:solidFill>
                  <a:srgbClr val="00B050"/>
                </a:solidFill>
                <a:latin typeface="Calibri"/>
                <a:cs typeface="Calibri"/>
              </a:rPr>
              <a:t>description</a:t>
            </a:r>
            <a:r>
              <a:rPr sz="2000" b="1" spc="295" dirty="0">
                <a:solidFill>
                  <a:srgbClr val="00B050"/>
                </a:solidFill>
                <a:latin typeface="Calibri"/>
                <a:cs typeface="Calibri"/>
              </a:rPr>
              <a:t> </a:t>
            </a:r>
            <a:r>
              <a:rPr sz="2000" dirty="0">
                <a:latin typeface="Calibri"/>
                <a:cs typeface="Calibri"/>
              </a:rPr>
              <a:t>as</a:t>
            </a:r>
            <a:r>
              <a:rPr sz="2000" spc="305" dirty="0">
                <a:latin typeface="Calibri"/>
                <a:cs typeface="Calibri"/>
              </a:rPr>
              <a:t> </a:t>
            </a:r>
            <a:r>
              <a:rPr sz="2000" dirty="0">
                <a:latin typeface="Calibri"/>
                <a:cs typeface="Calibri"/>
              </a:rPr>
              <a:t>well</a:t>
            </a:r>
            <a:r>
              <a:rPr sz="2000" spc="300" dirty="0">
                <a:latin typeface="Calibri"/>
                <a:cs typeface="Calibri"/>
              </a:rPr>
              <a:t> </a:t>
            </a:r>
            <a:r>
              <a:rPr sz="2000" dirty="0">
                <a:latin typeface="Calibri"/>
                <a:cs typeface="Calibri"/>
              </a:rPr>
              <a:t>as</a:t>
            </a:r>
            <a:r>
              <a:rPr sz="2000" spc="305" dirty="0">
                <a:latin typeface="Calibri"/>
                <a:cs typeface="Calibri"/>
              </a:rPr>
              <a:t> </a:t>
            </a:r>
            <a:r>
              <a:rPr sz="2000" dirty="0">
                <a:latin typeface="Calibri"/>
                <a:cs typeface="Calibri"/>
              </a:rPr>
              <a:t>such</a:t>
            </a:r>
            <a:r>
              <a:rPr sz="2000" spc="295" dirty="0">
                <a:latin typeface="Calibri"/>
                <a:cs typeface="Calibri"/>
              </a:rPr>
              <a:t> </a:t>
            </a:r>
            <a:r>
              <a:rPr sz="2000" dirty="0">
                <a:latin typeface="Calibri"/>
                <a:cs typeface="Calibri"/>
              </a:rPr>
              <a:t>items</a:t>
            </a:r>
            <a:r>
              <a:rPr sz="2000" spc="305" dirty="0">
                <a:latin typeface="Calibri"/>
                <a:cs typeface="Calibri"/>
              </a:rPr>
              <a:t> </a:t>
            </a:r>
            <a:r>
              <a:rPr sz="2000" dirty="0">
                <a:latin typeface="Calibri"/>
                <a:cs typeface="Calibri"/>
              </a:rPr>
              <a:t>as</a:t>
            </a:r>
            <a:r>
              <a:rPr sz="2000" spc="305" dirty="0">
                <a:latin typeface="Calibri"/>
                <a:cs typeface="Calibri"/>
              </a:rPr>
              <a:t> </a:t>
            </a:r>
            <a:r>
              <a:rPr sz="2000" b="1" dirty="0">
                <a:solidFill>
                  <a:srgbClr val="00B050"/>
                </a:solidFill>
                <a:latin typeface="Calibri"/>
                <a:cs typeface="Calibri"/>
              </a:rPr>
              <a:t>risk</a:t>
            </a:r>
            <a:r>
              <a:rPr sz="2000" b="1" spc="305" dirty="0">
                <a:solidFill>
                  <a:srgbClr val="00B050"/>
                </a:solidFill>
                <a:latin typeface="Calibri"/>
                <a:cs typeface="Calibri"/>
              </a:rPr>
              <a:t> </a:t>
            </a:r>
            <a:r>
              <a:rPr sz="2000" b="1" dirty="0">
                <a:solidFill>
                  <a:srgbClr val="00B050"/>
                </a:solidFill>
                <a:latin typeface="Calibri"/>
                <a:cs typeface="Calibri"/>
              </a:rPr>
              <a:t>limits,</a:t>
            </a:r>
            <a:r>
              <a:rPr sz="2000" b="1" spc="295" dirty="0">
                <a:solidFill>
                  <a:srgbClr val="00B050"/>
                </a:solidFill>
                <a:latin typeface="Calibri"/>
                <a:cs typeface="Calibri"/>
              </a:rPr>
              <a:t> </a:t>
            </a:r>
            <a:r>
              <a:rPr sz="2000" b="1" dirty="0">
                <a:solidFill>
                  <a:srgbClr val="00B050"/>
                </a:solidFill>
                <a:latin typeface="Calibri"/>
                <a:cs typeface="Calibri"/>
              </a:rPr>
              <a:t>business</a:t>
            </a:r>
            <a:r>
              <a:rPr sz="2000" b="1" spc="300" dirty="0">
                <a:solidFill>
                  <a:srgbClr val="00B050"/>
                </a:solidFill>
                <a:latin typeface="Calibri"/>
                <a:cs typeface="Calibri"/>
              </a:rPr>
              <a:t> </a:t>
            </a:r>
            <a:r>
              <a:rPr sz="2000" b="1" dirty="0">
                <a:solidFill>
                  <a:srgbClr val="00B050"/>
                </a:solidFill>
                <a:latin typeface="Calibri"/>
                <a:cs typeface="Calibri"/>
              </a:rPr>
              <a:t>case,</a:t>
            </a:r>
            <a:r>
              <a:rPr sz="2000" b="1" spc="300" dirty="0">
                <a:solidFill>
                  <a:srgbClr val="00B050"/>
                </a:solidFill>
                <a:latin typeface="Calibri"/>
                <a:cs typeface="Calibri"/>
              </a:rPr>
              <a:t> </a:t>
            </a:r>
            <a:r>
              <a:rPr sz="2000" b="1" spc="-10" dirty="0">
                <a:solidFill>
                  <a:srgbClr val="00B050"/>
                </a:solidFill>
                <a:latin typeface="Calibri"/>
                <a:cs typeface="Calibri"/>
              </a:rPr>
              <a:t>spending </a:t>
            </a:r>
            <a:r>
              <a:rPr lang="en-US" sz="2000" b="1" spc="-10" dirty="0">
                <a:solidFill>
                  <a:srgbClr val="00B050"/>
                </a:solidFill>
                <a:latin typeface="Calibri"/>
                <a:cs typeface="Calibri"/>
              </a:rPr>
              <a:t> </a:t>
            </a:r>
            <a:r>
              <a:rPr sz="2000" b="1" dirty="0">
                <a:solidFill>
                  <a:srgbClr val="00B050"/>
                </a:solidFill>
                <a:latin typeface="Calibri"/>
                <a:cs typeface="Calibri"/>
              </a:rPr>
              <a:t>limits,</a:t>
            </a:r>
            <a:r>
              <a:rPr sz="2000" b="1" spc="-55" dirty="0">
                <a:solidFill>
                  <a:srgbClr val="00B050"/>
                </a:solidFill>
                <a:latin typeface="Calibri"/>
                <a:cs typeface="Calibri"/>
              </a:rPr>
              <a:t> </a:t>
            </a:r>
            <a:r>
              <a:rPr sz="2000" b="1" dirty="0">
                <a:solidFill>
                  <a:srgbClr val="00B050"/>
                </a:solidFill>
                <a:latin typeface="Calibri"/>
                <a:cs typeface="Calibri"/>
              </a:rPr>
              <a:t>and</a:t>
            </a:r>
            <a:r>
              <a:rPr sz="2000" b="1" spc="-50" dirty="0">
                <a:solidFill>
                  <a:srgbClr val="00B050"/>
                </a:solidFill>
                <a:latin typeface="Calibri"/>
                <a:cs typeface="Calibri"/>
              </a:rPr>
              <a:t> </a:t>
            </a:r>
            <a:r>
              <a:rPr sz="2000" b="1" dirty="0">
                <a:solidFill>
                  <a:srgbClr val="00B050"/>
                </a:solidFill>
                <a:latin typeface="Calibri"/>
                <a:cs typeface="Calibri"/>
              </a:rPr>
              <a:t>even</a:t>
            </a:r>
            <a:r>
              <a:rPr sz="2000" b="1" spc="-50" dirty="0">
                <a:solidFill>
                  <a:srgbClr val="00B050"/>
                </a:solidFill>
                <a:latin typeface="Calibri"/>
                <a:cs typeface="Calibri"/>
              </a:rPr>
              <a:t> </a:t>
            </a:r>
            <a:r>
              <a:rPr sz="2000" b="1" dirty="0">
                <a:solidFill>
                  <a:srgbClr val="00B050"/>
                </a:solidFill>
                <a:latin typeface="Calibri"/>
                <a:cs typeface="Calibri"/>
              </a:rPr>
              <a:t>team</a:t>
            </a:r>
            <a:r>
              <a:rPr sz="2000" b="1" spc="-50" dirty="0">
                <a:solidFill>
                  <a:srgbClr val="00B050"/>
                </a:solidFill>
                <a:latin typeface="Calibri"/>
                <a:cs typeface="Calibri"/>
              </a:rPr>
              <a:t> </a:t>
            </a:r>
            <a:r>
              <a:rPr sz="2000" b="1" spc="-10" dirty="0">
                <a:solidFill>
                  <a:srgbClr val="00B050"/>
                </a:solidFill>
                <a:latin typeface="Calibri"/>
                <a:cs typeface="Calibri"/>
              </a:rPr>
              <a:t>composition.</a:t>
            </a:r>
            <a:endParaRPr sz="2000" b="1" dirty="0">
              <a:solidFill>
                <a:srgbClr val="00B050"/>
              </a:solidFill>
              <a:latin typeface="Calibri"/>
              <a:cs typeface="Calibri"/>
            </a:endParaRPr>
          </a:p>
          <a:p>
            <a:pPr>
              <a:lnSpc>
                <a:spcPct val="100000"/>
              </a:lnSpc>
              <a:spcBef>
                <a:spcPts val="415"/>
              </a:spcBef>
              <a:buFont typeface="Arial MT"/>
              <a:buChar char="•"/>
            </a:pPr>
            <a:endParaRPr sz="2000" dirty="0">
              <a:latin typeface="Calibri"/>
              <a:cs typeface="Calibri"/>
            </a:endParaRPr>
          </a:p>
        </p:txBody>
      </p:sp>
      <p:sp>
        <p:nvSpPr>
          <p:cNvPr id="5" name="object 5"/>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2</a:t>
            </a:r>
            <a:endParaRPr sz="1200">
              <a:latin typeface="Calibri"/>
              <a:cs typeface="Calibri"/>
            </a:endParaRPr>
          </a:p>
        </p:txBody>
      </p:sp>
      <p:pic>
        <p:nvPicPr>
          <p:cNvPr id="4" name="Picture 3">
            <a:extLst>
              <a:ext uri="{FF2B5EF4-FFF2-40B4-BE49-F238E27FC236}">
                <a16:creationId xmlns:a16="http://schemas.microsoft.com/office/drawing/2014/main" id="{9F02AA94-E214-757E-DB09-0DED7D3892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9C39C56-2AC8-46F9-958A-39A0E2EA33A4}"/>
              </a:ext>
            </a:extLst>
          </p:cNvPr>
          <p:cNvPicPr>
            <a:picLocks noChangeAspect="1"/>
          </p:cNvPicPr>
          <p:nvPr/>
        </p:nvPicPr>
        <p:blipFill>
          <a:blip r:embed="rId4"/>
          <a:stretch>
            <a:fillRect/>
          </a:stretch>
        </p:blipFill>
        <p:spPr>
          <a:xfrm>
            <a:off x="7405498" y="3597540"/>
            <a:ext cx="4290060" cy="3168120"/>
          </a:xfrm>
          <a:prstGeom prst="rect">
            <a:avLst/>
          </a:prstGeom>
        </p:spPr>
      </p:pic>
    </p:spTree>
    <p:extLst>
      <p:ext uri="{BB962C8B-B14F-4D97-AF65-F5344CB8AC3E}">
        <p14:creationId xmlns:p14="http://schemas.microsoft.com/office/powerpoint/2010/main" val="3786244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B7B7-8429-4D91-AEBA-50EAE01DDCF8}"/>
              </a:ext>
            </a:extLst>
          </p:cNvPr>
          <p:cNvSpPr>
            <a:spLocks noGrp="1"/>
          </p:cNvSpPr>
          <p:nvPr>
            <p:ph type="title"/>
          </p:nvPr>
        </p:nvSpPr>
        <p:spPr>
          <a:xfrm>
            <a:off x="762558" y="618843"/>
            <a:ext cx="11407775" cy="1323439"/>
          </a:xfrm>
        </p:spPr>
        <p:txBody>
          <a:bodyPr/>
          <a:lstStyle/>
          <a:p>
            <a:r>
              <a:rPr lang="en-US" b="1" u="sng" spc="95" dirty="0">
                <a:solidFill>
                  <a:srgbClr val="FF0000"/>
                </a:solidFill>
              </a:rPr>
              <a:t>Creating a Project Charter</a:t>
            </a:r>
            <a:br>
              <a:rPr lang="en-US" b="1" i="0" dirty="0">
                <a:solidFill>
                  <a:srgbClr val="191A19"/>
                </a:solidFill>
                <a:effectLst/>
                <a:latin typeface="Raleway" pitchFamily="2" charset="0"/>
              </a:rPr>
            </a:br>
            <a:endParaRPr lang="en-US" dirty="0"/>
          </a:p>
        </p:txBody>
      </p:sp>
      <p:sp>
        <p:nvSpPr>
          <p:cNvPr id="3" name="Text Placeholder 2">
            <a:extLst>
              <a:ext uri="{FF2B5EF4-FFF2-40B4-BE49-F238E27FC236}">
                <a16:creationId xmlns:a16="http://schemas.microsoft.com/office/drawing/2014/main" id="{E38D44B1-49FF-4F0A-B7A5-D87F83F393EF}"/>
              </a:ext>
            </a:extLst>
          </p:cNvPr>
          <p:cNvSpPr>
            <a:spLocks noGrp="1"/>
          </p:cNvSpPr>
          <p:nvPr>
            <p:ph type="body" idx="1"/>
          </p:nvPr>
        </p:nvSpPr>
        <p:spPr>
          <a:xfrm>
            <a:off x="206889" y="1600200"/>
            <a:ext cx="11778221" cy="5539978"/>
          </a:xfrm>
        </p:spPr>
        <p:txBody>
          <a:bodyPr/>
          <a:lstStyle/>
          <a:p>
            <a:pPr algn="l" latinLnBrk="0"/>
            <a:r>
              <a:rPr lang="en-US" sz="1800" b="0" i="0" dirty="0">
                <a:solidFill>
                  <a:srgbClr val="191A19"/>
                </a:solidFill>
                <a:effectLst/>
                <a:latin typeface="Roboto" panose="02000000000000000000" pitchFamily="2" charset="0"/>
              </a:rPr>
              <a:t>Here are the typical steps involved in creating an effective project charter:</a:t>
            </a:r>
          </a:p>
          <a:p>
            <a:pPr algn="l"/>
            <a:r>
              <a:rPr lang="en-US" sz="1800" b="1" i="0" dirty="0">
                <a:solidFill>
                  <a:srgbClr val="FF0000"/>
                </a:solidFill>
                <a:effectLst/>
                <a:latin typeface="Raleway" pitchFamily="2" charset="0"/>
              </a:rPr>
              <a:t>1. Define Project Purpose and Justification</a:t>
            </a:r>
          </a:p>
          <a:p>
            <a:pPr algn="l" latinLnBrk="0"/>
            <a:r>
              <a:rPr lang="en-US" sz="1800" b="0" i="0" dirty="0">
                <a:solidFill>
                  <a:srgbClr val="191A19"/>
                </a:solidFill>
                <a:effectLst/>
                <a:latin typeface="Roboto" panose="02000000000000000000" pitchFamily="2" charset="0"/>
              </a:rPr>
              <a:t>The first step is to clearly articulate the purpose and justification for initiating the project. </a:t>
            </a:r>
          </a:p>
          <a:p>
            <a:pPr algn="l" latinLnBrk="0"/>
            <a:r>
              <a:rPr lang="en-US" sz="1800" b="1" i="0" dirty="0">
                <a:solidFill>
                  <a:srgbClr val="FF0000"/>
                </a:solidFill>
                <a:effectLst/>
                <a:latin typeface="Raleway" pitchFamily="2" charset="0"/>
              </a:rPr>
              <a:t>2. Establish Project Scope</a:t>
            </a:r>
          </a:p>
          <a:p>
            <a:pPr algn="l" latinLnBrk="0"/>
            <a:r>
              <a:rPr lang="en-US" sz="1800" b="0" i="0" dirty="0">
                <a:solidFill>
                  <a:srgbClr val="191A19"/>
                </a:solidFill>
                <a:effectLst/>
                <a:latin typeface="Roboto" panose="02000000000000000000" pitchFamily="2" charset="0"/>
              </a:rPr>
              <a:t>Outline the major deliverables, requirements, constraints, and boundaries of the project. </a:t>
            </a:r>
          </a:p>
          <a:p>
            <a:pPr algn="l" latinLnBrk="0"/>
            <a:r>
              <a:rPr lang="en-US" sz="1800" b="1" i="0" dirty="0">
                <a:solidFill>
                  <a:srgbClr val="FF0000"/>
                </a:solidFill>
                <a:effectLst/>
                <a:latin typeface="Raleway" pitchFamily="2" charset="0"/>
              </a:rPr>
              <a:t>3. Identify Key Stakeholders, one of the Elements of a Project Charter Creation</a:t>
            </a:r>
          </a:p>
          <a:p>
            <a:pPr algn="l" latinLnBrk="0"/>
            <a:r>
              <a:rPr lang="en-US" sz="1800" b="0" i="0" dirty="0">
                <a:solidFill>
                  <a:srgbClr val="191A19"/>
                </a:solidFill>
                <a:effectLst/>
                <a:latin typeface="Roboto" panose="02000000000000000000" pitchFamily="2" charset="0"/>
              </a:rPr>
              <a:t>Determine all the people or groups that have an interest in or will be impacted by the project</a:t>
            </a:r>
          </a:p>
          <a:p>
            <a:pPr algn="l" latinLnBrk="0"/>
            <a:r>
              <a:rPr lang="en-US" sz="1800" b="1" i="0" dirty="0">
                <a:solidFill>
                  <a:srgbClr val="FF0000"/>
                </a:solidFill>
                <a:effectLst/>
                <a:latin typeface="Raleway" pitchFamily="2" charset="0"/>
              </a:rPr>
              <a:t>4. Define Roles and Responsibilities</a:t>
            </a:r>
          </a:p>
          <a:p>
            <a:pPr algn="l" latinLnBrk="0"/>
            <a:r>
              <a:rPr lang="en-US" sz="1800" b="0" i="0" dirty="0">
                <a:solidFill>
                  <a:srgbClr val="191A19"/>
                </a:solidFill>
                <a:effectLst/>
                <a:latin typeface="Roboto" panose="02000000000000000000" pitchFamily="2" charset="0"/>
              </a:rPr>
              <a:t>Clearly assign roles such as project manager, team members, advisors, decision-makers, etc., and delineate their respective responsibilities. This ensures accountability and avoids confusion later.</a:t>
            </a:r>
          </a:p>
          <a:p>
            <a:pPr algn="l"/>
            <a:r>
              <a:rPr lang="en-US" sz="1800" b="1" i="0" dirty="0">
                <a:solidFill>
                  <a:srgbClr val="FF0000"/>
                </a:solidFill>
                <a:effectLst/>
                <a:latin typeface="Raleway" pitchFamily="2" charset="0"/>
              </a:rPr>
              <a:t>5. Estimate Time-frame and Budget</a:t>
            </a:r>
          </a:p>
          <a:p>
            <a:pPr algn="l" latinLnBrk="0"/>
            <a:r>
              <a:rPr lang="en-US" sz="1800" b="0" i="0" dirty="0">
                <a:solidFill>
                  <a:srgbClr val="191A19"/>
                </a:solidFill>
                <a:effectLst/>
                <a:latin typeface="Roboto" panose="02000000000000000000" pitchFamily="2" charset="0"/>
              </a:rPr>
              <a:t>Provide a realistic timeline with major milestones and deadlines based on the project scope. Also, estimate the total budget required including costs for labor, materials, equipment, etc.</a:t>
            </a:r>
          </a:p>
          <a:p>
            <a:pPr algn="l"/>
            <a:r>
              <a:rPr lang="en-US" sz="1800" b="1" i="0" dirty="0">
                <a:solidFill>
                  <a:srgbClr val="FF0000"/>
                </a:solidFill>
                <a:effectLst/>
                <a:latin typeface="Raleway" pitchFamily="2" charset="0"/>
              </a:rPr>
              <a:t>6. Analyze Risks and Assumptions, one of the Elements of a Project Charter</a:t>
            </a:r>
          </a:p>
          <a:p>
            <a:pPr algn="l" latinLnBrk="0"/>
            <a:r>
              <a:rPr lang="en-US" sz="1800" b="0" i="0" dirty="0">
                <a:solidFill>
                  <a:srgbClr val="191A19"/>
                </a:solidFill>
                <a:effectLst/>
                <a:latin typeface="Roboto" panose="02000000000000000000" pitchFamily="2" charset="0"/>
              </a:rPr>
              <a:t>Identify potential risks that could impact the project along with mitigation strategies. Document any assumptions being made about resources, environment, constraints, etc.</a:t>
            </a:r>
          </a:p>
          <a:p>
            <a:pPr algn="l"/>
            <a:r>
              <a:rPr lang="en-US" sz="1800" b="1" i="0" dirty="0">
                <a:solidFill>
                  <a:srgbClr val="FF0000"/>
                </a:solidFill>
                <a:effectLst/>
                <a:latin typeface="Raleway" pitchFamily="2" charset="0"/>
              </a:rPr>
              <a:t>7. Obtain Approvals</a:t>
            </a:r>
          </a:p>
          <a:p>
            <a:pPr algn="l" latinLnBrk="0"/>
            <a:r>
              <a:rPr lang="en-US" sz="1800" b="0" i="0" dirty="0">
                <a:solidFill>
                  <a:srgbClr val="191A19"/>
                </a:solidFill>
                <a:effectLst/>
                <a:latin typeface="Roboto" panose="02000000000000000000" pitchFamily="2" charset="0"/>
              </a:rPr>
              <a:t>Once drafted, the project charter needs formal approval and sign-off from the project sponsor, key stakeholders, and governance bodies. Their commitment is critical for successful execution.</a:t>
            </a:r>
          </a:p>
          <a:p>
            <a:endParaRPr lang="en-US" sz="1800" dirty="0"/>
          </a:p>
        </p:txBody>
      </p:sp>
      <p:pic>
        <p:nvPicPr>
          <p:cNvPr id="4" name="Picture 3">
            <a:extLst>
              <a:ext uri="{FF2B5EF4-FFF2-40B4-BE49-F238E27FC236}">
                <a16:creationId xmlns:a16="http://schemas.microsoft.com/office/drawing/2014/main" id="{447E4D5A-1910-D577-AA82-AAB1B94012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258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E660-957C-4D11-989A-27D73C5270C4}"/>
              </a:ext>
            </a:extLst>
          </p:cNvPr>
          <p:cNvSpPr>
            <a:spLocks noGrp="1"/>
          </p:cNvSpPr>
          <p:nvPr>
            <p:ph type="title"/>
          </p:nvPr>
        </p:nvSpPr>
        <p:spPr>
          <a:xfrm>
            <a:off x="762558" y="618843"/>
            <a:ext cx="11407775" cy="1338828"/>
          </a:xfrm>
        </p:spPr>
        <p:txBody>
          <a:bodyPr/>
          <a:lstStyle/>
          <a:p>
            <a:r>
              <a:rPr lang="en-US" sz="4400" b="1" u="sng" dirty="0">
                <a:solidFill>
                  <a:srgbClr val="FF0000"/>
                </a:solidFill>
                <a:uFill>
                  <a:solidFill>
                    <a:srgbClr val="000000"/>
                  </a:solidFill>
                </a:uFill>
                <a:latin typeface="Calibri"/>
                <a:cs typeface="Calibri"/>
              </a:rPr>
              <a:t>Scope</a:t>
            </a:r>
            <a:r>
              <a:rPr lang="en-US" sz="4400" b="1" u="sng" spc="335" dirty="0">
                <a:solidFill>
                  <a:srgbClr val="FF0000"/>
                </a:solidFill>
                <a:uFill>
                  <a:solidFill>
                    <a:srgbClr val="000000"/>
                  </a:solidFill>
                </a:uFill>
                <a:latin typeface="Calibri"/>
                <a:cs typeface="Calibri"/>
              </a:rPr>
              <a:t> </a:t>
            </a:r>
            <a:r>
              <a:rPr lang="en-US" sz="4400" b="1" u="sng" dirty="0">
                <a:solidFill>
                  <a:srgbClr val="FF0000"/>
                </a:solidFill>
                <a:uFill>
                  <a:solidFill>
                    <a:srgbClr val="000000"/>
                  </a:solidFill>
                </a:uFill>
                <a:latin typeface="Calibri"/>
                <a:cs typeface="Calibri"/>
              </a:rPr>
              <a:t>creep</a:t>
            </a:r>
            <a:r>
              <a:rPr lang="en-US" sz="4400" b="1" spc="330" dirty="0">
                <a:solidFill>
                  <a:srgbClr val="FF0000"/>
                </a:solidFill>
                <a:latin typeface="Calibri"/>
                <a:cs typeface="Calibri"/>
              </a:rPr>
              <a:t> </a:t>
            </a:r>
            <a:br>
              <a:rPr lang="en-US" sz="4400" b="1" spc="330" dirty="0">
                <a:solidFill>
                  <a:srgbClr val="FF0000"/>
                </a:solidFill>
                <a:latin typeface="Calibri"/>
                <a:cs typeface="Calibri"/>
              </a:rPr>
            </a:br>
            <a:endParaRPr lang="en-US" dirty="0"/>
          </a:p>
        </p:txBody>
      </p:sp>
      <p:sp>
        <p:nvSpPr>
          <p:cNvPr id="3" name="Text Placeholder 2">
            <a:extLst>
              <a:ext uri="{FF2B5EF4-FFF2-40B4-BE49-F238E27FC236}">
                <a16:creationId xmlns:a16="http://schemas.microsoft.com/office/drawing/2014/main" id="{97AAC469-D238-4E51-952D-3DDBF066DC71}"/>
              </a:ext>
            </a:extLst>
          </p:cNvPr>
          <p:cNvSpPr>
            <a:spLocks noGrp="1"/>
          </p:cNvSpPr>
          <p:nvPr>
            <p:ph type="body" idx="1"/>
          </p:nvPr>
        </p:nvSpPr>
        <p:spPr>
          <a:xfrm>
            <a:off x="469303" y="1747380"/>
            <a:ext cx="11253394" cy="4978799"/>
          </a:xfrm>
        </p:spPr>
        <p:txBody>
          <a:bodyPr/>
          <a:lstStyle/>
          <a:p>
            <a:pPr marL="239395" marR="5080" indent="-226695" algn="just">
              <a:lnSpc>
                <a:spcPct val="90000"/>
              </a:lnSpc>
              <a:buFont typeface="Arial MT"/>
              <a:buChar char="•"/>
              <a:tabLst>
                <a:tab pos="241300" algn="l"/>
              </a:tabLst>
            </a:pPr>
            <a:r>
              <a:rPr lang="en-US" sz="2800" b="1" u="sng" dirty="0">
                <a:solidFill>
                  <a:srgbClr val="FF0000"/>
                </a:solidFill>
                <a:uFill>
                  <a:solidFill>
                    <a:srgbClr val="000000"/>
                  </a:solidFill>
                </a:uFill>
                <a:latin typeface="Calibri"/>
                <a:cs typeface="Calibri"/>
              </a:rPr>
              <a:t>Scope</a:t>
            </a:r>
            <a:r>
              <a:rPr lang="en-US" sz="2800" b="1" u="sng" spc="335" dirty="0">
                <a:solidFill>
                  <a:srgbClr val="FF0000"/>
                </a:solidFill>
                <a:uFill>
                  <a:solidFill>
                    <a:srgbClr val="000000"/>
                  </a:solidFill>
                </a:uFill>
                <a:latin typeface="Calibri"/>
                <a:cs typeface="Calibri"/>
              </a:rPr>
              <a:t> </a:t>
            </a:r>
            <a:r>
              <a:rPr lang="en-US" sz="2800" b="1" u="sng" dirty="0">
                <a:solidFill>
                  <a:srgbClr val="FF0000"/>
                </a:solidFill>
                <a:uFill>
                  <a:solidFill>
                    <a:srgbClr val="000000"/>
                  </a:solidFill>
                </a:uFill>
                <a:latin typeface="Calibri"/>
                <a:cs typeface="Calibri"/>
              </a:rPr>
              <a:t>creep</a:t>
            </a:r>
            <a:r>
              <a:rPr lang="en-US" sz="2800" b="1" spc="330" dirty="0">
                <a:solidFill>
                  <a:srgbClr val="FF0000"/>
                </a:solidFill>
                <a:latin typeface="Calibri"/>
                <a:cs typeface="Calibri"/>
              </a:rPr>
              <a:t> </a:t>
            </a:r>
          </a:p>
          <a:p>
            <a:pPr marL="239395" marR="5080" indent="-226695" algn="just">
              <a:lnSpc>
                <a:spcPct val="90000"/>
              </a:lnSpc>
              <a:buFont typeface="Arial MT"/>
              <a:buChar char="•"/>
              <a:tabLst>
                <a:tab pos="241300" algn="l"/>
              </a:tabLst>
            </a:pPr>
            <a:r>
              <a:rPr lang="en-US" sz="2800" dirty="0">
                <a:latin typeface="Calibri"/>
                <a:cs typeface="Calibri"/>
              </a:rPr>
              <a:t>is</a:t>
            </a:r>
            <a:r>
              <a:rPr lang="en-US" sz="2800" spc="330" dirty="0">
                <a:latin typeface="Calibri"/>
                <a:cs typeface="Calibri"/>
              </a:rPr>
              <a:t> </a:t>
            </a:r>
            <a:r>
              <a:rPr lang="en-US" sz="2800" dirty="0">
                <a:latin typeface="Calibri"/>
                <a:cs typeface="Calibri"/>
              </a:rPr>
              <a:t>the</a:t>
            </a:r>
            <a:r>
              <a:rPr lang="en-US" sz="2800" spc="330" dirty="0">
                <a:latin typeface="Calibri"/>
                <a:cs typeface="Calibri"/>
              </a:rPr>
              <a:t> </a:t>
            </a:r>
            <a:r>
              <a:rPr lang="en-US" sz="2800" dirty="0">
                <a:latin typeface="Calibri"/>
                <a:cs typeface="Calibri"/>
              </a:rPr>
              <a:t>tendency</a:t>
            </a:r>
            <a:r>
              <a:rPr lang="en-US" sz="2800" spc="320" dirty="0">
                <a:latin typeface="Calibri"/>
                <a:cs typeface="Calibri"/>
              </a:rPr>
              <a:t> </a:t>
            </a:r>
            <a:r>
              <a:rPr lang="en-US" sz="2800" dirty="0">
                <a:latin typeface="Calibri"/>
                <a:cs typeface="Calibri"/>
              </a:rPr>
              <a:t>for</a:t>
            </a:r>
            <a:r>
              <a:rPr lang="en-US" sz="2800" spc="325" dirty="0">
                <a:latin typeface="Calibri"/>
                <a:cs typeface="Calibri"/>
              </a:rPr>
              <a:t> </a:t>
            </a:r>
            <a:r>
              <a:rPr lang="en-US" sz="2800" dirty="0">
                <a:latin typeface="Calibri"/>
                <a:cs typeface="Calibri"/>
              </a:rPr>
              <a:t>the</a:t>
            </a:r>
            <a:r>
              <a:rPr lang="en-US" sz="2800" spc="330" dirty="0">
                <a:latin typeface="Calibri"/>
                <a:cs typeface="Calibri"/>
              </a:rPr>
              <a:t> </a:t>
            </a:r>
            <a:r>
              <a:rPr lang="en-US" sz="2800" dirty="0">
                <a:latin typeface="Calibri"/>
                <a:cs typeface="Calibri"/>
              </a:rPr>
              <a:t>project</a:t>
            </a:r>
            <a:r>
              <a:rPr lang="en-US" sz="2800" spc="330" dirty="0">
                <a:latin typeface="Calibri"/>
                <a:cs typeface="Calibri"/>
              </a:rPr>
              <a:t> </a:t>
            </a:r>
            <a:r>
              <a:rPr lang="en-US" sz="2800" dirty="0">
                <a:latin typeface="Calibri"/>
                <a:cs typeface="Calibri"/>
              </a:rPr>
              <a:t>scope</a:t>
            </a:r>
            <a:r>
              <a:rPr lang="en-US" sz="2800" spc="325" dirty="0">
                <a:latin typeface="Calibri"/>
                <a:cs typeface="Calibri"/>
              </a:rPr>
              <a:t> </a:t>
            </a:r>
            <a:r>
              <a:rPr lang="en-US" sz="2800" dirty="0">
                <a:latin typeface="Calibri"/>
                <a:cs typeface="Calibri"/>
              </a:rPr>
              <a:t>to</a:t>
            </a:r>
            <a:r>
              <a:rPr lang="en-US" sz="2800" spc="325" dirty="0">
                <a:latin typeface="Calibri"/>
                <a:cs typeface="Calibri"/>
              </a:rPr>
              <a:t> </a:t>
            </a:r>
            <a:r>
              <a:rPr lang="en-US" sz="2800" dirty="0">
                <a:latin typeface="Calibri"/>
                <a:cs typeface="Calibri"/>
              </a:rPr>
              <a:t>expand</a:t>
            </a:r>
            <a:r>
              <a:rPr lang="en-US" sz="2800" spc="325" dirty="0">
                <a:latin typeface="Calibri"/>
                <a:cs typeface="Calibri"/>
              </a:rPr>
              <a:t> </a:t>
            </a:r>
            <a:r>
              <a:rPr lang="en-US" sz="2800" dirty="0">
                <a:latin typeface="Calibri"/>
                <a:cs typeface="Calibri"/>
              </a:rPr>
              <a:t>over</a:t>
            </a:r>
            <a:r>
              <a:rPr lang="en-US" sz="2800" spc="325" dirty="0">
                <a:latin typeface="Calibri"/>
                <a:cs typeface="Calibri"/>
              </a:rPr>
              <a:t> </a:t>
            </a:r>
            <a:r>
              <a:rPr lang="en-US" sz="2800" dirty="0">
                <a:latin typeface="Calibri"/>
                <a:cs typeface="Calibri"/>
              </a:rPr>
              <a:t>time;</a:t>
            </a:r>
          </a:p>
          <a:p>
            <a:pPr marL="239395" marR="5080" indent="-226695" algn="just">
              <a:lnSpc>
                <a:spcPct val="90000"/>
              </a:lnSpc>
              <a:buFont typeface="Arial MT"/>
              <a:buChar char="•"/>
              <a:tabLst>
                <a:tab pos="241300" algn="l"/>
              </a:tabLst>
            </a:pPr>
            <a:r>
              <a:rPr lang="en-US" sz="2800" spc="330" dirty="0">
                <a:latin typeface="Calibri"/>
                <a:cs typeface="Calibri"/>
              </a:rPr>
              <a:t> </a:t>
            </a:r>
            <a:r>
              <a:rPr lang="en-US" sz="2800" dirty="0">
                <a:latin typeface="Calibri"/>
                <a:cs typeface="Calibri"/>
              </a:rPr>
              <a:t>usually</a:t>
            </a:r>
            <a:r>
              <a:rPr lang="en-US" sz="2800" spc="320" dirty="0">
                <a:latin typeface="Calibri"/>
                <a:cs typeface="Calibri"/>
              </a:rPr>
              <a:t> </a:t>
            </a:r>
            <a:r>
              <a:rPr lang="en-US" sz="2800" dirty="0">
                <a:latin typeface="Calibri"/>
                <a:cs typeface="Calibri"/>
              </a:rPr>
              <a:t>by</a:t>
            </a:r>
            <a:r>
              <a:rPr lang="en-US" sz="2800" spc="315" dirty="0">
                <a:latin typeface="Calibri"/>
                <a:cs typeface="Calibri"/>
              </a:rPr>
              <a:t> </a:t>
            </a:r>
            <a:r>
              <a:rPr lang="en-US" sz="2800" spc="-10" dirty="0">
                <a:latin typeface="Calibri"/>
                <a:cs typeface="Calibri"/>
              </a:rPr>
              <a:t>changing 	</a:t>
            </a:r>
            <a:r>
              <a:rPr lang="en-US" sz="2800" dirty="0">
                <a:latin typeface="Calibri"/>
                <a:cs typeface="Calibri"/>
              </a:rPr>
              <a:t>requirements,</a:t>
            </a:r>
            <a:r>
              <a:rPr lang="en-US" sz="2800" spc="5" dirty="0">
                <a:latin typeface="Calibri"/>
                <a:cs typeface="Calibri"/>
              </a:rPr>
              <a:t> </a:t>
            </a:r>
            <a:r>
              <a:rPr lang="en-US" sz="2800" dirty="0">
                <a:latin typeface="Calibri"/>
                <a:cs typeface="Calibri"/>
              </a:rPr>
              <a:t>specifications,</a:t>
            </a:r>
            <a:r>
              <a:rPr lang="en-US" sz="2800" spc="5" dirty="0">
                <a:latin typeface="Calibri"/>
                <a:cs typeface="Calibri"/>
              </a:rPr>
              <a:t> </a:t>
            </a:r>
            <a:r>
              <a:rPr lang="en-US" sz="2800" dirty="0">
                <a:latin typeface="Calibri"/>
                <a:cs typeface="Calibri"/>
              </a:rPr>
              <a:t>and</a:t>
            </a:r>
            <a:r>
              <a:rPr lang="en-US" sz="2800" spc="10" dirty="0">
                <a:latin typeface="Calibri"/>
                <a:cs typeface="Calibri"/>
              </a:rPr>
              <a:t> </a:t>
            </a:r>
            <a:r>
              <a:rPr lang="en-US" sz="2800" dirty="0">
                <a:latin typeface="Calibri"/>
                <a:cs typeface="Calibri"/>
              </a:rPr>
              <a:t>priorities.</a:t>
            </a:r>
            <a:endParaRPr lang="en-US" spc="5" dirty="0"/>
          </a:p>
          <a:p>
            <a:pPr marL="239395" marR="5080" indent="-226695" algn="just">
              <a:lnSpc>
                <a:spcPct val="90000"/>
              </a:lnSpc>
              <a:buFont typeface="Arial MT"/>
              <a:buChar char="•"/>
              <a:tabLst>
                <a:tab pos="241300" algn="l"/>
              </a:tabLst>
            </a:pPr>
            <a:r>
              <a:rPr lang="en-US" sz="2800" dirty="0">
                <a:latin typeface="Calibri"/>
                <a:cs typeface="Calibri"/>
              </a:rPr>
              <a:t>Scope</a:t>
            </a:r>
            <a:r>
              <a:rPr lang="en-US" sz="2800" spc="5" dirty="0">
                <a:latin typeface="Calibri"/>
                <a:cs typeface="Calibri"/>
              </a:rPr>
              <a:t> </a:t>
            </a:r>
            <a:r>
              <a:rPr lang="en-US" sz="2800" dirty="0">
                <a:latin typeface="Calibri"/>
                <a:cs typeface="Calibri"/>
              </a:rPr>
              <a:t>creep</a:t>
            </a:r>
            <a:r>
              <a:rPr lang="en-US" sz="2800" spc="10" dirty="0">
                <a:latin typeface="Calibri"/>
                <a:cs typeface="Calibri"/>
              </a:rPr>
              <a:t> </a:t>
            </a:r>
            <a:r>
              <a:rPr lang="en-US" sz="2800" dirty="0">
                <a:latin typeface="Calibri"/>
                <a:cs typeface="Calibri"/>
              </a:rPr>
              <a:t>can</a:t>
            </a:r>
            <a:r>
              <a:rPr lang="en-US" sz="2800" spc="5" dirty="0">
                <a:latin typeface="Calibri"/>
                <a:cs typeface="Calibri"/>
              </a:rPr>
              <a:t> </a:t>
            </a:r>
            <a:r>
              <a:rPr lang="en-US" sz="2800" dirty="0">
                <a:latin typeface="Calibri"/>
                <a:cs typeface="Calibri"/>
              </a:rPr>
              <a:t>be</a:t>
            </a:r>
            <a:r>
              <a:rPr lang="en-US" sz="2800" spc="10" dirty="0">
                <a:latin typeface="Calibri"/>
                <a:cs typeface="Calibri"/>
              </a:rPr>
              <a:t> </a:t>
            </a:r>
            <a:r>
              <a:rPr lang="en-US" sz="2800" dirty="0">
                <a:latin typeface="Calibri"/>
                <a:cs typeface="Calibri"/>
              </a:rPr>
              <a:t>reduced</a:t>
            </a:r>
            <a:r>
              <a:rPr lang="en-US" sz="2800" spc="5" dirty="0">
                <a:latin typeface="Calibri"/>
                <a:cs typeface="Calibri"/>
              </a:rPr>
              <a:t> </a:t>
            </a:r>
            <a:r>
              <a:rPr lang="en-US" sz="2800" dirty="0">
                <a:latin typeface="Calibri"/>
                <a:cs typeface="Calibri"/>
              </a:rPr>
              <a:t>by carefully writing</a:t>
            </a:r>
            <a:r>
              <a:rPr lang="en-US" sz="2800" spc="5" dirty="0">
                <a:latin typeface="Calibri"/>
                <a:cs typeface="Calibri"/>
              </a:rPr>
              <a:t> </a:t>
            </a:r>
            <a:r>
              <a:rPr lang="en-US" sz="2800" spc="-20" dirty="0">
                <a:latin typeface="Calibri"/>
                <a:cs typeface="Calibri"/>
              </a:rPr>
              <a:t>your 	</a:t>
            </a:r>
            <a:r>
              <a:rPr lang="en-US" sz="2800" dirty="0">
                <a:latin typeface="Calibri"/>
                <a:cs typeface="Calibri"/>
              </a:rPr>
              <a:t>scope</a:t>
            </a:r>
            <a:r>
              <a:rPr lang="en-US" sz="2800" spc="265" dirty="0">
                <a:latin typeface="Calibri"/>
                <a:cs typeface="Calibri"/>
              </a:rPr>
              <a:t> </a:t>
            </a:r>
            <a:r>
              <a:rPr lang="en-US" sz="2800" dirty="0">
                <a:latin typeface="Calibri"/>
                <a:cs typeface="Calibri"/>
              </a:rPr>
              <a:t>statement.</a:t>
            </a:r>
            <a:r>
              <a:rPr lang="en-US" sz="2800" spc="254" dirty="0">
                <a:latin typeface="Calibri"/>
                <a:cs typeface="Calibri"/>
              </a:rPr>
              <a:t> </a:t>
            </a:r>
          </a:p>
          <a:p>
            <a:pPr marL="239395" marR="5080" indent="-226695" algn="just">
              <a:lnSpc>
                <a:spcPct val="90000"/>
              </a:lnSpc>
              <a:buFont typeface="Arial MT"/>
              <a:buChar char="•"/>
              <a:tabLst>
                <a:tab pos="241300" algn="l"/>
              </a:tabLst>
            </a:pPr>
            <a:r>
              <a:rPr lang="en-US" sz="2800" dirty="0">
                <a:latin typeface="Calibri"/>
                <a:cs typeface="Calibri"/>
              </a:rPr>
              <a:t>A</a:t>
            </a:r>
            <a:r>
              <a:rPr lang="en-US" sz="2800" spc="275" dirty="0">
                <a:latin typeface="Calibri"/>
                <a:cs typeface="Calibri"/>
              </a:rPr>
              <a:t> </a:t>
            </a:r>
            <a:r>
              <a:rPr lang="en-US" sz="2800" dirty="0">
                <a:latin typeface="Calibri"/>
                <a:cs typeface="Calibri"/>
              </a:rPr>
              <a:t>scope</a:t>
            </a:r>
            <a:r>
              <a:rPr lang="en-US" sz="2800" spc="265" dirty="0">
                <a:latin typeface="Calibri"/>
                <a:cs typeface="Calibri"/>
              </a:rPr>
              <a:t> </a:t>
            </a:r>
            <a:r>
              <a:rPr lang="en-US" sz="2800" dirty="0">
                <a:latin typeface="Calibri"/>
                <a:cs typeface="Calibri"/>
              </a:rPr>
              <a:t>statement</a:t>
            </a:r>
            <a:r>
              <a:rPr lang="en-US" sz="2800" spc="265" dirty="0">
                <a:latin typeface="Calibri"/>
                <a:cs typeface="Calibri"/>
              </a:rPr>
              <a:t> </a:t>
            </a:r>
            <a:r>
              <a:rPr lang="en-US" sz="2800" dirty="0">
                <a:latin typeface="Calibri"/>
                <a:cs typeface="Calibri"/>
              </a:rPr>
              <a:t>that</a:t>
            </a:r>
            <a:r>
              <a:rPr lang="en-US" sz="2800" spc="270" dirty="0">
                <a:latin typeface="Calibri"/>
                <a:cs typeface="Calibri"/>
              </a:rPr>
              <a:t> </a:t>
            </a:r>
            <a:r>
              <a:rPr lang="en-US" sz="2800" dirty="0">
                <a:latin typeface="Calibri"/>
                <a:cs typeface="Calibri"/>
              </a:rPr>
              <a:t>is</a:t>
            </a:r>
            <a:r>
              <a:rPr lang="en-US" sz="2800" spc="265" dirty="0">
                <a:latin typeface="Calibri"/>
                <a:cs typeface="Calibri"/>
              </a:rPr>
              <a:t> </a:t>
            </a:r>
            <a:r>
              <a:rPr lang="en-US" sz="2800" dirty="0">
                <a:latin typeface="Calibri"/>
                <a:cs typeface="Calibri"/>
              </a:rPr>
              <a:t>too</a:t>
            </a:r>
            <a:r>
              <a:rPr lang="en-US" sz="2800" spc="260" dirty="0">
                <a:latin typeface="Calibri"/>
                <a:cs typeface="Calibri"/>
              </a:rPr>
              <a:t> </a:t>
            </a:r>
            <a:r>
              <a:rPr lang="en-US" sz="2800" dirty="0">
                <a:latin typeface="Calibri"/>
                <a:cs typeface="Calibri"/>
              </a:rPr>
              <a:t>broad</a:t>
            </a:r>
            <a:r>
              <a:rPr lang="en-US" sz="2800" spc="265" dirty="0">
                <a:latin typeface="Calibri"/>
                <a:cs typeface="Calibri"/>
              </a:rPr>
              <a:t> </a:t>
            </a:r>
            <a:r>
              <a:rPr lang="en-US" sz="2800" dirty="0">
                <a:latin typeface="Calibri"/>
                <a:cs typeface="Calibri"/>
              </a:rPr>
              <a:t>is</a:t>
            </a:r>
            <a:r>
              <a:rPr lang="en-US" sz="2800" spc="265" dirty="0">
                <a:latin typeface="Calibri"/>
                <a:cs typeface="Calibri"/>
              </a:rPr>
              <a:t> </a:t>
            </a:r>
            <a:r>
              <a:rPr lang="en-US" sz="2800" dirty="0">
                <a:latin typeface="Calibri"/>
                <a:cs typeface="Calibri"/>
              </a:rPr>
              <a:t>an</a:t>
            </a:r>
            <a:r>
              <a:rPr lang="en-US" sz="2800" spc="265" dirty="0">
                <a:latin typeface="Calibri"/>
                <a:cs typeface="Calibri"/>
              </a:rPr>
              <a:t> </a:t>
            </a:r>
            <a:r>
              <a:rPr lang="en-US" sz="2800" dirty="0">
                <a:latin typeface="Calibri"/>
                <a:cs typeface="Calibri"/>
              </a:rPr>
              <a:t>invitation</a:t>
            </a:r>
            <a:r>
              <a:rPr lang="en-US" sz="2800" spc="265" dirty="0">
                <a:latin typeface="Calibri"/>
                <a:cs typeface="Calibri"/>
              </a:rPr>
              <a:t> </a:t>
            </a:r>
            <a:r>
              <a:rPr lang="en-US" sz="2800" dirty="0">
                <a:latin typeface="Calibri"/>
                <a:cs typeface="Calibri"/>
              </a:rPr>
              <a:t>for</a:t>
            </a:r>
            <a:r>
              <a:rPr lang="en-US" sz="2800" spc="265" dirty="0">
                <a:latin typeface="Calibri"/>
                <a:cs typeface="Calibri"/>
              </a:rPr>
              <a:t> </a:t>
            </a:r>
            <a:r>
              <a:rPr lang="en-US" sz="2800" dirty="0">
                <a:latin typeface="Calibri"/>
                <a:cs typeface="Calibri"/>
              </a:rPr>
              <a:t>scope</a:t>
            </a:r>
            <a:r>
              <a:rPr lang="en-US" sz="2800" spc="265" dirty="0">
                <a:latin typeface="Calibri"/>
                <a:cs typeface="Calibri"/>
              </a:rPr>
              <a:t> </a:t>
            </a:r>
            <a:r>
              <a:rPr lang="en-US" sz="2800" dirty="0">
                <a:latin typeface="Calibri"/>
                <a:cs typeface="Calibri"/>
              </a:rPr>
              <a:t>creep.</a:t>
            </a:r>
            <a:r>
              <a:rPr lang="en-US" sz="2800" spc="265" dirty="0">
                <a:latin typeface="Calibri"/>
                <a:cs typeface="Calibri"/>
              </a:rPr>
              <a:t> </a:t>
            </a:r>
          </a:p>
          <a:p>
            <a:pPr marL="239395" marR="5080" indent="-226695" algn="just">
              <a:lnSpc>
                <a:spcPct val="90000"/>
              </a:lnSpc>
              <a:buFont typeface="Arial MT"/>
              <a:buChar char="•"/>
              <a:tabLst>
                <a:tab pos="241300" algn="l"/>
              </a:tabLst>
            </a:pPr>
            <a:r>
              <a:rPr lang="en-US" sz="2800" spc="-10" dirty="0">
                <a:latin typeface="Calibri"/>
                <a:cs typeface="Calibri"/>
              </a:rPr>
              <a:t>Scope </a:t>
            </a:r>
            <a:r>
              <a:rPr lang="en-US" sz="2800" dirty="0">
                <a:latin typeface="Calibri"/>
                <a:cs typeface="Calibri"/>
              </a:rPr>
              <a:t>creep</a:t>
            </a:r>
            <a:r>
              <a:rPr lang="en-US" sz="2800" spc="-50" dirty="0">
                <a:latin typeface="Calibri"/>
                <a:cs typeface="Calibri"/>
              </a:rPr>
              <a:t> </a:t>
            </a:r>
            <a:r>
              <a:rPr lang="en-US" sz="2800" dirty="0">
                <a:latin typeface="Calibri"/>
                <a:cs typeface="Calibri"/>
              </a:rPr>
              <a:t>can</a:t>
            </a:r>
            <a:r>
              <a:rPr lang="en-US" sz="2800" spc="-45" dirty="0">
                <a:latin typeface="Calibri"/>
                <a:cs typeface="Calibri"/>
              </a:rPr>
              <a:t> </a:t>
            </a:r>
            <a:r>
              <a:rPr lang="en-US" sz="2800" dirty="0">
                <a:latin typeface="Calibri"/>
                <a:cs typeface="Calibri"/>
              </a:rPr>
              <a:t>have</a:t>
            </a:r>
            <a:r>
              <a:rPr lang="en-US" sz="2800" spc="-40" dirty="0">
                <a:latin typeface="Calibri"/>
                <a:cs typeface="Calibri"/>
              </a:rPr>
              <a:t> </a:t>
            </a:r>
            <a:r>
              <a:rPr lang="en-US" sz="2800" dirty="0">
                <a:latin typeface="Calibri"/>
                <a:cs typeface="Calibri"/>
              </a:rPr>
              <a:t>a</a:t>
            </a:r>
            <a:r>
              <a:rPr lang="en-US" sz="2800" spc="-40" dirty="0">
                <a:latin typeface="Calibri"/>
                <a:cs typeface="Calibri"/>
              </a:rPr>
              <a:t> </a:t>
            </a:r>
            <a:r>
              <a:rPr lang="en-US" sz="2800" dirty="0">
                <a:latin typeface="Calibri"/>
                <a:cs typeface="Calibri"/>
              </a:rPr>
              <a:t>positive</a:t>
            </a:r>
            <a:r>
              <a:rPr lang="en-US" sz="2800" spc="-40" dirty="0">
                <a:latin typeface="Calibri"/>
                <a:cs typeface="Calibri"/>
              </a:rPr>
              <a:t> </a:t>
            </a:r>
            <a:r>
              <a:rPr lang="en-US" sz="2800" dirty="0">
                <a:latin typeface="Calibri"/>
                <a:cs typeface="Calibri"/>
              </a:rPr>
              <a:t>or</a:t>
            </a:r>
            <a:r>
              <a:rPr lang="en-US" sz="2800" spc="-45" dirty="0">
                <a:latin typeface="Calibri"/>
                <a:cs typeface="Calibri"/>
              </a:rPr>
              <a:t> </a:t>
            </a:r>
            <a:r>
              <a:rPr lang="en-US" sz="2800" spc="-10" dirty="0">
                <a:latin typeface="Calibri"/>
                <a:cs typeface="Calibri"/>
              </a:rPr>
              <a:t>negative</a:t>
            </a:r>
            <a:r>
              <a:rPr lang="en-US" sz="2800" spc="-40" dirty="0">
                <a:latin typeface="Calibri"/>
                <a:cs typeface="Calibri"/>
              </a:rPr>
              <a:t> </a:t>
            </a:r>
            <a:r>
              <a:rPr lang="en-US" sz="2800" spc="-10" dirty="0">
                <a:latin typeface="Calibri"/>
                <a:cs typeface="Calibri"/>
              </a:rPr>
              <a:t>effect</a:t>
            </a:r>
            <a:r>
              <a:rPr lang="en-US" sz="2800" spc="-40" dirty="0">
                <a:latin typeface="Calibri"/>
                <a:cs typeface="Calibri"/>
              </a:rPr>
              <a:t> </a:t>
            </a:r>
            <a:r>
              <a:rPr lang="en-US" sz="2800" dirty="0">
                <a:latin typeface="Calibri"/>
                <a:cs typeface="Calibri"/>
              </a:rPr>
              <a:t>on</a:t>
            </a:r>
            <a:r>
              <a:rPr lang="en-US" sz="2800" spc="-45" dirty="0">
                <a:latin typeface="Calibri"/>
                <a:cs typeface="Calibri"/>
              </a:rPr>
              <a:t> </a:t>
            </a:r>
            <a:r>
              <a:rPr lang="en-US" sz="2800" dirty="0">
                <a:latin typeface="Calibri"/>
                <a:cs typeface="Calibri"/>
              </a:rPr>
              <a:t>the</a:t>
            </a:r>
            <a:r>
              <a:rPr lang="en-US" sz="2800" spc="-40" dirty="0">
                <a:latin typeface="Calibri"/>
                <a:cs typeface="Calibri"/>
              </a:rPr>
              <a:t> </a:t>
            </a:r>
            <a:r>
              <a:rPr lang="en-US" sz="2800" spc="-10" dirty="0">
                <a:latin typeface="Calibri"/>
                <a:cs typeface="Calibri"/>
              </a:rPr>
              <a:t>project.</a:t>
            </a:r>
            <a:endParaRPr lang="en-US" sz="2800" dirty="0">
              <a:latin typeface="Calibri"/>
              <a:cs typeface="Calibri"/>
            </a:endParaRPr>
          </a:p>
          <a:p>
            <a:pPr marL="239395" marR="5715" indent="-226695" algn="just">
              <a:lnSpc>
                <a:spcPct val="89500"/>
              </a:lnSpc>
              <a:spcBef>
                <a:spcPts val="1070"/>
              </a:spcBef>
              <a:buFont typeface="Arial MT"/>
              <a:buChar char="•"/>
              <a:tabLst>
                <a:tab pos="241300" algn="l"/>
              </a:tabLst>
            </a:pPr>
            <a:r>
              <a:rPr lang="en-US" sz="2800" dirty="0">
                <a:latin typeface="Calibri"/>
                <a:cs typeface="Calibri"/>
              </a:rPr>
              <a:t>If</a:t>
            </a:r>
            <a:r>
              <a:rPr lang="en-US" sz="2800" spc="15" dirty="0">
                <a:latin typeface="Calibri"/>
                <a:cs typeface="Calibri"/>
              </a:rPr>
              <a:t> </a:t>
            </a:r>
            <a:r>
              <a:rPr lang="en-US" sz="2800" dirty="0">
                <a:latin typeface="Calibri"/>
                <a:cs typeface="Calibri"/>
              </a:rPr>
              <a:t>the</a:t>
            </a:r>
            <a:r>
              <a:rPr lang="en-US" sz="2800" spc="25" dirty="0">
                <a:latin typeface="Calibri"/>
                <a:cs typeface="Calibri"/>
              </a:rPr>
              <a:t> </a:t>
            </a:r>
            <a:r>
              <a:rPr lang="en-US" sz="2800" dirty="0">
                <a:latin typeface="Calibri"/>
                <a:cs typeface="Calibri"/>
              </a:rPr>
              <a:t>project</a:t>
            </a:r>
            <a:r>
              <a:rPr lang="en-US" sz="2800" spc="25" dirty="0">
                <a:latin typeface="Calibri"/>
                <a:cs typeface="Calibri"/>
              </a:rPr>
              <a:t> </a:t>
            </a:r>
            <a:r>
              <a:rPr lang="en-US" sz="2800" dirty="0">
                <a:latin typeface="Calibri"/>
                <a:cs typeface="Calibri"/>
              </a:rPr>
              <a:t>scope</a:t>
            </a:r>
            <a:r>
              <a:rPr lang="en-US" sz="2800" spc="25" dirty="0">
                <a:latin typeface="Calibri"/>
                <a:cs typeface="Calibri"/>
              </a:rPr>
              <a:t> </a:t>
            </a:r>
            <a:r>
              <a:rPr lang="en-US" sz="2800" dirty="0">
                <a:latin typeface="Calibri"/>
                <a:cs typeface="Calibri"/>
              </a:rPr>
              <a:t>needs</a:t>
            </a:r>
            <a:r>
              <a:rPr lang="en-US" sz="2800" spc="25" dirty="0">
                <a:latin typeface="Calibri"/>
                <a:cs typeface="Calibri"/>
              </a:rPr>
              <a:t> </a:t>
            </a:r>
            <a:r>
              <a:rPr lang="en-US" sz="2800" dirty="0">
                <a:latin typeface="Calibri"/>
                <a:cs typeface="Calibri"/>
              </a:rPr>
              <a:t>to</a:t>
            </a:r>
            <a:r>
              <a:rPr lang="en-US" sz="2800" spc="15" dirty="0">
                <a:latin typeface="Calibri"/>
                <a:cs typeface="Calibri"/>
              </a:rPr>
              <a:t> </a:t>
            </a:r>
            <a:r>
              <a:rPr lang="en-US" sz="2800" dirty="0">
                <a:latin typeface="Calibri"/>
                <a:cs typeface="Calibri"/>
              </a:rPr>
              <a:t>change,</a:t>
            </a:r>
            <a:r>
              <a:rPr lang="en-US" sz="2800" spc="20" dirty="0">
                <a:latin typeface="Calibri"/>
                <a:cs typeface="Calibri"/>
              </a:rPr>
              <a:t> </a:t>
            </a:r>
            <a:r>
              <a:rPr lang="en-US" sz="2800" dirty="0">
                <a:latin typeface="Calibri"/>
                <a:cs typeface="Calibri"/>
              </a:rPr>
              <a:t>it</a:t>
            </a:r>
            <a:r>
              <a:rPr lang="en-US" sz="2800" spc="25" dirty="0">
                <a:latin typeface="Calibri"/>
                <a:cs typeface="Calibri"/>
              </a:rPr>
              <a:t> </a:t>
            </a:r>
            <a:r>
              <a:rPr lang="en-US" sz="2800" dirty="0">
                <a:latin typeface="Calibri"/>
                <a:cs typeface="Calibri"/>
              </a:rPr>
              <a:t>is</a:t>
            </a:r>
            <a:r>
              <a:rPr lang="en-US" sz="2800" spc="25" dirty="0">
                <a:latin typeface="Calibri"/>
                <a:cs typeface="Calibri"/>
              </a:rPr>
              <a:t> </a:t>
            </a:r>
            <a:r>
              <a:rPr lang="en-US" sz="2800" dirty="0">
                <a:latin typeface="Calibri"/>
                <a:cs typeface="Calibri"/>
              </a:rPr>
              <a:t>critical</a:t>
            </a:r>
            <a:r>
              <a:rPr lang="en-US" sz="2800" spc="20" dirty="0">
                <a:latin typeface="Calibri"/>
                <a:cs typeface="Calibri"/>
              </a:rPr>
              <a:t> </a:t>
            </a:r>
            <a:r>
              <a:rPr lang="en-US" sz="2800" dirty="0">
                <a:latin typeface="Calibri"/>
                <a:cs typeface="Calibri"/>
              </a:rPr>
              <a:t>to</a:t>
            </a:r>
            <a:r>
              <a:rPr lang="en-US" sz="2800" spc="15" dirty="0">
                <a:latin typeface="Calibri"/>
                <a:cs typeface="Calibri"/>
              </a:rPr>
              <a:t> </a:t>
            </a:r>
            <a:r>
              <a:rPr lang="en-US" sz="2800" dirty="0">
                <a:latin typeface="Calibri"/>
                <a:cs typeface="Calibri"/>
              </a:rPr>
              <a:t>have</a:t>
            </a:r>
            <a:r>
              <a:rPr lang="en-US" sz="2800" spc="20" dirty="0">
                <a:latin typeface="Calibri"/>
                <a:cs typeface="Calibri"/>
              </a:rPr>
              <a:t> </a:t>
            </a:r>
            <a:r>
              <a:rPr lang="en-US" sz="2800" dirty="0">
                <a:latin typeface="Calibri"/>
                <a:cs typeface="Calibri"/>
              </a:rPr>
              <a:t>a</a:t>
            </a:r>
            <a:r>
              <a:rPr lang="en-US" sz="2800" spc="25" dirty="0">
                <a:latin typeface="Calibri"/>
                <a:cs typeface="Calibri"/>
              </a:rPr>
              <a:t> </a:t>
            </a:r>
            <a:r>
              <a:rPr lang="en-US" sz="2800" dirty="0">
                <a:latin typeface="Calibri"/>
                <a:cs typeface="Calibri"/>
              </a:rPr>
              <a:t>sound</a:t>
            </a:r>
            <a:r>
              <a:rPr lang="en-US" sz="2800" spc="20" dirty="0">
                <a:latin typeface="Calibri"/>
                <a:cs typeface="Calibri"/>
              </a:rPr>
              <a:t> </a:t>
            </a:r>
            <a:r>
              <a:rPr lang="en-US" sz="2800" dirty="0">
                <a:latin typeface="Calibri"/>
                <a:cs typeface="Calibri"/>
              </a:rPr>
              <a:t>change</a:t>
            </a:r>
            <a:r>
              <a:rPr lang="en-US" sz="2800" spc="25" dirty="0">
                <a:latin typeface="Calibri"/>
                <a:cs typeface="Calibri"/>
              </a:rPr>
              <a:t> </a:t>
            </a:r>
            <a:r>
              <a:rPr lang="en-US" sz="2800" dirty="0">
                <a:latin typeface="Calibri"/>
                <a:cs typeface="Calibri"/>
              </a:rPr>
              <a:t>control</a:t>
            </a:r>
            <a:r>
              <a:rPr lang="en-US" sz="2800" spc="25" dirty="0">
                <a:latin typeface="Calibri"/>
                <a:cs typeface="Calibri"/>
              </a:rPr>
              <a:t> </a:t>
            </a:r>
            <a:r>
              <a:rPr lang="en-US" sz="2800" dirty="0">
                <a:latin typeface="Calibri"/>
                <a:cs typeface="Calibri"/>
              </a:rPr>
              <a:t>process</a:t>
            </a:r>
            <a:r>
              <a:rPr lang="en-US" sz="2800" spc="25" dirty="0">
                <a:latin typeface="Calibri"/>
                <a:cs typeface="Calibri"/>
              </a:rPr>
              <a:t> </a:t>
            </a:r>
            <a:r>
              <a:rPr lang="en-US" sz="2800" dirty="0">
                <a:latin typeface="Calibri"/>
                <a:cs typeface="Calibri"/>
              </a:rPr>
              <a:t>in</a:t>
            </a:r>
            <a:r>
              <a:rPr lang="en-US" sz="2800" spc="20" dirty="0">
                <a:latin typeface="Calibri"/>
                <a:cs typeface="Calibri"/>
              </a:rPr>
              <a:t> </a:t>
            </a:r>
            <a:r>
              <a:rPr lang="en-US" sz="2800" spc="-10" dirty="0">
                <a:latin typeface="Calibri"/>
                <a:cs typeface="Calibri"/>
              </a:rPr>
              <a:t>place </a:t>
            </a:r>
            <a:r>
              <a:rPr lang="en-US" sz="2800" dirty="0">
                <a:latin typeface="Calibri"/>
                <a:cs typeface="Calibri"/>
              </a:rPr>
              <a:t>that</a:t>
            </a:r>
            <a:r>
              <a:rPr lang="en-US" sz="2800" spc="245" dirty="0">
                <a:latin typeface="Calibri"/>
                <a:cs typeface="Calibri"/>
              </a:rPr>
              <a:t> </a:t>
            </a:r>
            <a:r>
              <a:rPr lang="en-US" sz="2800" dirty="0">
                <a:latin typeface="Calibri"/>
                <a:cs typeface="Calibri"/>
              </a:rPr>
              <a:t>records</a:t>
            </a:r>
            <a:r>
              <a:rPr lang="en-US" sz="2800" spc="245" dirty="0">
                <a:latin typeface="Calibri"/>
                <a:cs typeface="Calibri"/>
              </a:rPr>
              <a:t> </a:t>
            </a:r>
            <a:r>
              <a:rPr lang="en-US" sz="2800" dirty="0">
                <a:latin typeface="Calibri"/>
                <a:cs typeface="Calibri"/>
              </a:rPr>
              <a:t>the</a:t>
            </a:r>
            <a:r>
              <a:rPr lang="en-US" sz="2800" spc="250" dirty="0">
                <a:latin typeface="Calibri"/>
                <a:cs typeface="Calibri"/>
              </a:rPr>
              <a:t> </a:t>
            </a:r>
            <a:r>
              <a:rPr lang="en-US" sz="2800" dirty="0">
                <a:latin typeface="Calibri"/>
                <a:cs typeface="Calibri"/>
              </a:rPr>
              <a:t>change</a:t>
            </a:r>
            <a:r>
              <a:rPr lang="en-US" sz="2800" spc="245" dirty="0">
                <a:latin typeface="Calibri"/>
                <a:cs typeface="Calibri"/>
              </a:rPr>
              <a:t> </a:t>
            </a:r>
            <a:r>
              <a:rPr lang="en-US" sz="2800" dirty="0">
                <a:latin typeface="Calibri"/>
                <a:cs typeface="Calibri"/>
              </a:rPr>
              <a:t>and</a:t>
            </a:r>
            <a:r>
              <a:rPr lang="en-US" sz="2800" spc="240" dirty="0">
                <a:latin typeface="Calibri"/>
                <a:cs typeface="Calibri"/>
              </a:rPr>
              <a:t> </a:t>
            </a:r>
            <a:r>
              <a:rPr lang="en-US" sz="2800" dirty="0">
                <a:latin typeface="Calibri"/>
                <a:cs typeface="Calibri"/>
              </a:rPr>
              <a:t>keeps</a:t>
            </a:r>
            <a:r>
              <a:rPr lang="en-US" sz="2800" spc="250" dirty="0">
                <a:latin typeface="Calibri"/>
                <a:cs typeface="Calibri"/>
              </a:rPr>
              <a:t> </a:t>
            </a:r>
            <a:r>
              <a:rPr lang="en-US" sz="2800" dirty="0">
                <a:latin typeface="Calibri"/>
                <a:cs typeface="Calibri"/>
              </a:rPr>
              <a:t>a</a:t>
            </a:r>
            <a:r>
              <a:rPr lang="en-US" sz="2800" spc="245" dirty="0">
                <a:latin typeface="Calibri"/>
                <a:cs typeface="Calibri"/>
              </a:rPr>
              <a:t> </a:t>
            </a:r>
            <a:r>
              <a:rPr lang="en-US" sz="2800" dirty="0">
                <a:latin typeface="Calibri"/>
                <a:cs typeface="Calibri"/>
              </a:rPr>
              <a:t>log</a:t>
            </a:r>
            <a:r>
              <a:rPr lang="en-US" sz="2800" spc="240" dirty="0">
                <a:latin typeface="Calibri"/>
                <a:cs typeface="Calibri"/>
              </a:rPr>
              <a:t> </a:t>
            </a:r>
            <a:r>
              <a:rPr lang="en-US" sz="2800" dirty="0">
                <a:latin typeface="Calibri"/>
                <a:cs typeface="Calibri"/>
              </a:rPr>
              <a:t>of</a:t>
            </a:r>
            <a:r>
              <a:rPr lang="en-US" sz="2800" spc="245" dirty="0">
                <a:latin typeface="Calibri"/>
                <a:cs typeface="Calibri"/>
              </a:rPr>
              <a:t> </a:t>
            </a:r>
            <a:r>
              <a:rPr lang="en-US" sz="2800" dirty="0">
                <a:latin typeface="Calibri"/>
                <a:cs typeface="Calibri"/>
              </a:rPr>
              <a:t>all</a:t>
            </a:r>
            <a:r>
              <a:rPr lang="en-US" sz="2800" spc="245" dirty="0">
                <a:latin typeface="Calibri"/>
                <a:cs typeface="Calibri"/>
              </a:rPr>
              <a:t> </a:t>
            </a:r>
            <a:r>
              <a:rPr lang="en-US" sz="2800" dirty="0">
                <a:latin typeface="Calibri"/>
                <a:cs typeface="Calibri"/>
              </a:rPr>
              <a:t>project</a:t>
            </a:r>
            <a:r>
              <a:rPr lang="en-US" sz="2800" spc="245" dirty="0">
                <a:latin typeface="Calibri"/>
                <a:cs typeface="Calibri"/>
              </a:rPr>
              <a:t> </a:t>
            </a:r>
            <a:r>
              <a:rPr lang="en-US" sz="2800" dirty="0">
                <a:latin typeface="Calibri"/>
                <a:cs typeface="Calibri"/>
              </a:rPr>
              <a:t>changes.</a:t>
            </a:r>
            <a:r>
              <a:rPr lang="en-US" sz="2800" spc="240" dirty="0">
                <a:latin typeface="Calibri"/>
                <a:cs typeface="Calibri"/>
              </a:rPr>
              <a:t> </a:t>
            </a:r>
          </a:p>
          <a:p>
            <a:pPr marL="239395" marR="5715" indent="-226695" algn="just">
              <a:lnSpc>
                <a:spcPct val="89500"/>
              </a:lnSpc>
              <a:spcBef>
                <a:spcPts val="1070"/>
              </a:spcBef>
              <a:buFont typeface="Arial MT"/>
              <a:buChar char="•"/>
              <a:tabLst>
                <a:tab pos="241300" algn="l"/>
              </a:tabLst>
            </a:pPr>
            <a:r>
              <a:rPr lang="en-US" sz="2800" dirty="0">
                <a:latin typeface="Calibri"/>
                <a:cs typeface="Calibri"/>
              </a:rPr>
              <a:t>The</a:t>
            </a:r>
            <a:r>
              <a:rPr lang="en-US" sz="2800" spc="245" dirty="0">
                <a:latin typeface="Calibri"/>
                <a:cs typeface="Calibri"/>
              </a:rPr>
              <a:t> </a:t>
            </a:r>
            <a:r>
              <a:rPr lang="en-US" sz="2800" dirty="0">
                <a:latin typeface="Calibri"/>
                <a:cs typeface="Calibri"/>
              </a:rPr>
              <a:t>log</a:t>
            </a:r>
            <a:r>
              <a:rPr lang="en-US" sz="2800" spc="240" dirty="0">
                <a:latin typeface="Calibri"/>
                <a:cs typeface="Calibri"/>
              </a:rPr>
              <a:t> </a:t>
            </a:r>
            <a:r>
              <a:rPr lang="en-US" sz="2800" dirty="0">
                <a:latin typeface="Calibri"/>
                <a:cs typeface="Calibri"/>
              </a:rPr>
              <a:t>identifies</a:t>
            </a:r>
            <a:r>
              <a:rPr lang="en-US" sz="2800" spc="245" dirty="0">
                <a:latin typeface="Calibri"/>
                <a:cs typeface="Calibri"/>
              </a:rPr>
              <a:t> </a:t>
            </a:r>
            <a:r>
              <a:rPr lang="en-US" sz="2800" dirty="0">
                <a:latin typeface="Calibri"/>
                <a:cs typeface="Calibri"/>
              </a:rPr>
              <a:t>the</a:t>
            </a:r>
            <a:r>
              <a:rPr lang="en-US" sz="2800" spc="245" dirty="0">
                <a:latin typeface="Calibri"/>
                <a:cs typeface="Calibri"/>
              </a:rPr>
              <a:t> </a:t>
            </a:r>
            <a:r>
              <a:rPr lang="en-US" sz="2800" spc="-10" dirty="0">
                <a:latin typeface="Calibri"/>
                <a:cs typeface="Calibri"/>
              </a:rPr>
              <a:t>change, </a:t>
            </a:r>
            <a:r>
              <a:rPr lang="en-US" sz="2800" dirty="0">
                <a:latin typeface="Calibri"/>
                <a:cs typeface="Calibri"/>
              </a:rPr>
              <a:t>impact,</a:t>
            </a:r>
            <a:r>
              <a:rPr lang="en-US" sz="2800" spc="-55" dirty="0">
                <a:latin typeface="Calibri"/>
                <a:cs typeface="Calibri"/>
              </a:rPr>
              <a:t> </a:t>
            </a:r>
            <a:r>
              <a:rPr lang="en-US" sz="2800" dirty="0">
                <a:latin typeface="Calibri"/>
                <a:cs typeface="Calibri"/>
              </a:rPr>
              <a:t>and</a:t>
            </a:r>
            <a:r>
              <a:rPr lang="en-US" sz="2800" spc="-50" dirty="0">
                <a:latin typeface="Calibri"/>
                <a:cs typeface="Calibri"/>
              </a:rPr>
              <a:t> </a:t>
            </a:r>
            <a:r>
              <a:rPr lang="en-US" sz="2800" dirty="0">
                <a:latin typeface="Calibri"/>
                <a:cs typeface="Calibri"/>
              </a:rPr>
              <a:t>those</a:t>
            </a:r>
            <a:r>
              <a:rPr lang="en-US" sz="2800" spc="-50" dirty="0">
                <a:latin typeface="Calibri"/>
                <a:cs typeface="Calibri"/>
              </a:rPr>
              <a:t> </a:t>
            </a:r>
            <a:r>
              <a:rPr lang="en-US" sz="2800" dirty="0">
                <a:latin typeface="Calibri"/>
                <a:cs typeface="Calibri"/>
              </a:rPr>
              <a:t>responsible</a:t>
            </a:r>
            <a:r>
              <a:rPr lang="en-US" sz="2800" spc="-50" dirty="0">
                <a:latin typeface="Calibri"/>
                <a:cs typeface="Calibri"/>
              </a:rPr>
              <a:t> </a:t>
            </a:r>
            <a:r>
              <a:rPr lang="en-US" sz="2800" dirty="0">
                <a:latin typeface="Calibri"/>
                <a:cs typeface="Calibri"/>
              </a:rPr>
              <a:t>for</a:t>
            </a:r>
            <a:r>
              <a:rPr lang="en-US" sz="2800" spc="-45" dirty="0">
                <a:latin typeface="Calibri"/>
                <a:cs typeface="Calibri"/>
              </a:rPr>
              <a:t> </a:t>
            </a:r>
            <a:r>
              <a:rPr lang="en-US" sz="2800" dirty="0">
                <a:latin typeface="Calibri"/>
                <a:cs typeface="Calibri"/>
              </a:rPr>
              <a:t>accepting</a:t>
            </a:r>
            <a:r>
              <a:rPr lang="en-US" sz="2800" spc="-60" dirty="0">
                <a:latin typeface="Calibri"/>
                <a:cs typeface="Calibri"/>
              </a:rPr>
              <a:t> </a:t>
            </a:r>
            <a:r>
              <a:rPr lang="en-US" sz="2800" dirty="0">
                <a:latin typeface="Calibri"/>
                <a:cs typeface="Calibri"/>
              </a:rPr>
              <a:t>or</a:t>
            </a:r>
            <a:r>
              <a:rPr lang="en-US" sz="2800" spc="-50" dirty="0">
                <a:latin typeface="Calibri"/>
                <a:cs typeface="Calibri"/>
              </a:rPr>
              <a:t> </a:t>
            </a:r>
            <a:r>
              <a:rPr lang="en-US" sz="2800" dirty="0">
                <a:latin typeface="Calibri"/>
                <a:cs typeface="Calibri"/>
              </a:rPr>
              <a:t>rejecting</a:t>
            </a:r>
            <a:r>
              <a:rPr lang="en-US" sz="2800" spc="-55" dirty="0">
                <a:latin typeface="Calibri"/>
                <a:cs typeface="Calibri"/>
              </a:rPr>
              <a:t> </a:t>
            </a:r>
            <a:r>
              <a:rPr lang="en-US" sz="2800" dirty="0">
                <a:latin typeface="Calibri"/>
                <a:cs typeface="Calibri"/>
              </a:rPr>
              <a:t>a</a:t>
            </a:r>
            <a:r>
              <a:rPr lang="en-US" sz="2800" spc="-50" dirty="0">
                <a:latin typeface="Calibri"/>
                <a:cs typeface="Calibri"/>
              </a:rPr>
              <a:t> </a:t>
            </a:r>
            <a:r>
              <a:rPr lang="en-US" sz="2800" dirty="0">
                <a:latin typeface="Calibri"/>
                <a:cs typeface="Calibri"/>
              </a:rPr>
              <a:t>proposed</a:t>
            </a:r>
            <a:r>
              <a:rPr lang="en-US" sz="2800" spc="-55" dirty="0">
                <a:latin typeface="Calibri"/>
                <a:cs typeface="Calibri"/>
              </a:rPr>
              <a:t> </a:t>
            </a:r>
            <a:r>
              <a:rPr lang="en-US" sz="2800" spc="-10" dirty="0">
                <a:latin typeface="Calibri"/>
                <a:cs typeface="Calibri"/>
              </a:rPr>
              <a:t>change.</a:t>
            </a:r>
            <a:endParaRPr lang="en-US" sz="2800" dirty="0">
              <a:latin typeface="Calibri"/>
              <a:cs typeface="Calibri"/>
            </a:endParaRPr>
          </a:p>
          <a:p>
            <a:endParaRPr lang="en-US" dirty="0"/>
          </a:p>
        </p:txBody>
      </p:sp>
      <p:pic>
        <p:nvPicPr>
          <p:cNvPr id="4" name="Picture 3">
            <a:extLst>
              <a:ext uri="{FF2B5EF4-FFF2-40B4-BE49-F238E27FC236}">
                <a16:creationId xmlns:a16="http://schemas.microsoft.com/office/drawing/2014/main" id="{DE01254B-70B0-AAA8-90B2-10C432613E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453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96BD-0328-4D03-8A73-0DCDD482B054}"/>
              </a:ext>
            </a:extLst>
          </p:cNvPr>
          <p:cNvSpPr>
            <a:spLocks noGrp="1"/>
          </p:cNvSpPr>
          <p:nvPr>
            <p:ph type="title"/>
          </p:nvPr>
        </p:nvSpPr>
        <p:spPr/>
        <p:txBody>
          <a:bodyPr/>
          <a:lstStyle/>
          <a:p>
            <a:r>
              <a:rPr lang="en-US" dirty="0"/>
              <a:t>Six of most causes of scope creep:</a:t>
            </a:r>
          </a:p>
        </p:txBody>
      </p:sp>
      <p:sp>
        <p:nvSpPr>
          <p:cNvPr id="3" name="Text Placeholder 2">
            <a:extLst>
              <a:ext uri="{FF2B5EF4-FFF2-40B4-BE49-F238E27FC236}">
                <a16:creationId xmlns:a16="http://schemas.microsoft.com/office/drawing/2014/main" id="{4DD04D18-8D7F-4F5C-9F5A-B71726C4B58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79D5A16-8FFE-488F-A209-ABB10A73A1F7}"/>
              </a:ext>
            </a:extLst>
          </p:cNvPr>
          <p:cNvPicPr>
            <a:picLocks noChangeAspect="1"/>
          </p:cNvPicPr>
          <p:nvPr/>
        </p:nvPicPr>
        <p:blipFill>
          <a:blip r:embed="rId2"/>
          <a:stretch>
            <a:fillRect/>
          </a:stretch>
        </p:blipFill>
        <p:spPr>
          <a:xfrm>
            <a:off x="797727" y="1747380"/>
            <a:ext cx="10149741" cy="4795520"/>
          </a:xfrm>
          <a:prstGeom prst="rect">
            <a:avLst/>
          </a:prstGeom>
        </p:spPr>
      </p:pic>
      <p:pic>
        <p:nvPicPr>
          <p:cNvPr id="4" name="Picture 3">
            <a:extLst>
              <a:ext uri="{FF2B5EF4-FFF2-40B4-BE49-F238E27FC236}">
                <a16:creationId xmlns:a16="http://schemas.microsoft.com/office/drawing/2014/main" id="{0D4D7F59-C106-E06B-4B7B-AF3703D43D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836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2- Establishing Project Priorities</a:t>
            </a:r>
          </a:p>
        </p:txBody>
      </p:sp>
      <p:pic>
        <p:nvPicPr>
          <p:cNvPr id="3" name="object 3"/>
          <p:cNvPicPr/>
          <p:nvPr/>
        </p:nvPicPr>
        <p:blipFill>
          <a:blip r:embed="rId2" cstate="print"/>
          <a:stretch>
            <a:fillRect/>
          </a:stretch>
        </p:blipFill>
        <p:spPr>
          <a:xfrm>
            <a:off x="8255000" y="2415381"/>
            <a:ext cx="3708400" cy="2552700"/>
          </a:xfrm>
          <a:prstGeom prst="rect">
            <a:avLst/>
          </a:prstGeom>
        </p:spPr>
      </p:pic>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3</a:t>
            </a:r>
            <a:endParaRPr sz="1200">
              <a:latin typeface="Calibri"/>
              <a:cs typeface="Calibri"/>
            </a:endParaRPr>
          </a:p>
        </p:txBody>
      </p:sp>
      <p:sp>
        <p:nvSpPr>
          <p:cNvPr id="5" name="object 5"/>
          <p:cNvSpPr txBox="1"/>
          <p:nvPr/>
        </p:nvSpPr>
        <p:spPr>
          <a:xfrm>
            <a:off x="628806" y="1605788"/>
            <a:ext cx="7508875" cy="4417695"/>
          </a:xfrm>
          <a:prstGeom prst="rect">
            <a:avLst/>
          </a:prstGeom>
        </p:spPr>
        <p:txBody>
          <a:bodyPr vert="horz" wrap="square" lIns="0" tIns="10160" rIns="0" bIns="0" rtlCol="0">
            <a:spAutoFit/>
          </a:bodyPr>
          <a:lstStyle/>
          <a:p>
            <a:pPr marL="297180" marR="5715" indent="-284480" algn="just">
              <a:lnSpc>
                <a:spcPct val="100600"/>
              </a:lnSpc>
              <a:spcBef>
                <a:spcPts val="80"/>
              </a:spcBef>
              <a:buFont typeface="Arial MT"/>
              <a:buChar char="•"/>
              <a:tabLst>
                <a:tab pos="298450" algn="l"/>
              </a:tabLst>
            </a:pPr>
            <a:r>
              <a:rPr sz="2400" dirty="0">
                <a:latin typeface="Calibri"/>
                <a:cs typeface="Calibri"/>
              </a:rPr>
              <a:t>The</a:t>
            </a:r>
            <a:r>
              <a:rPr sz="2400" spc="590" dirty="0">
                <a:latin typeface="Calibri"/>
                <a:cs typeface="Calibri"/>
              </a:rPr>
              <a:t> </a:t>
            </a:r>
            <a:r>
              <a:rPr sz="2400" dirty="0">
                <a:latin typeface="Calibri"/>
                <a:cs typeface="Calibri"/>
              </a:rPr>
              <a:t>quality</a:t>
            </a:r>
            <a:r>
              <a:rPr sz="2400" spc="590" dirty="0">
                <a:latin typeface="Calibri"/>
                <a:cs typeface="Calibri"/>
              </a:rPr>
              <a:t> </a:t>
            </a:r>
            <a:r>
              <a:rPr sz="2400" dirty="0">
                <a:latin typeface="Calibri"/>
                <a:cs typeface="Calibri"/>
              </a:rPr>
              <a:t>and</a:t>
            </a:r>
            <a:r>
              <a:rPr sz="2400" spc="590" dirty="0">
                <a:latin typeface="Calibri"/>
                <a:cs typeface="Calibri"/>
              </a:rPr>
              <a:t> </a:t>
            </a:r>
            <a:r>
              <a:rPr sz="2400" dirty="0">
                <a:latin typeface="Calibri"/>
                <a:cs typeface="Calibri"/>
              </a:rPr>
              <a:t>the</a:t>
            </a:r>
            <a:r>
              <a:rPr sz="2400" spc="595" dirty="0">
                <a:latin typeface="Calibri"/>
                <a:cs typeface="Calibri"/>
              </a:rPr>
              <a:t> </a:t>
            </a:r>
            <a:r>
              <a:rPr sz="2400" dirty="0">
                <a:latin typeface="Calibri"/>
                <a:cs typeface="Calibri"/>
              </a:rPr>
              <a:t>ultimate</a:t>
            </a:r>
            <a:r>
              <a:rPr sz="2400" spc="595" dirty="0">
                <a:latin typeface="Calibri"/>
                <a:cs typeface="Calibri"/>
              </a:rPr>
              <a:t> </a:t>
            </a:r>
            <a:r>
              <a:rPr sz="2400" dirty="0">
                <a:latin typeface="Calibri"/>
                <a:cs typeface="Calibri"/>
              </a:rPr>
              <a:t>success</a:t>
            </a:r>
            <a:r>
              <a:rPr sz="2400" spc="595" dirty="0">
                <a:latin typeface="Calibri"/>
                <a:cs typeface="Calibri"/>
              </a:rPr>
              <a:t> </a:t>
            </a:r>
            <a:r>
              <a:rPr sz="2400" dirty="0">
                <a:latin typeface="Calibri"/>
                <a:cs typeface="Calibri"/>
              </a:rPr>
              <a:t>of</a:t>
            </a:r>
            <a:r>
              <a:rPr sz="2400" spc="595" dirty="0">
                <a:latin typeface="Calibri"/>
                <a:cs typeface="Calibri"/>
              </a:rPr>
              <a:t> </a:t>
            </a:r>
            <a:r>
              <a:rPr sz="2400" dirty="0">
                <a:latin typeface="Calibri"/>
                <a:cs typeface="Calibri"/>
              </a:rPr>
              <a:t>a</a:t>
            </a:r>
            <a:r>
              <a:rPr sz="2400" spc="585" dirty="0">
                <a:latin typeface="Calibri"/>
                <a:cs typeface="Calibri"/>
              </a:rPr>
              <a:t> </a:t>
            </a:r>
            <a:r>
              <a:rPr sz="2400" dirty="0">
                <a:latin typeface="Calibri"/>
                <a:cs typeface="Calibri"/>
              </a:rPr>
              <a:t>project</a:t>
            </a:r>
            <a:r>
              <a:rPr sz="2400" spc="580" dirty="0">
                <a:latin typeface="Calibri"/>
                <a:cs typeface="Calibri"/>
              </a:rPr>
              <a:t> </a:t>
            </a:r>
            <a:r>
              <a:rPr sz="2400" spc="-25" dirty="0">
                <a:latin typeface="Calibri"/>
                <a:cs typeface="Calibri"/>
              </a:rPr>
              <a:t>are 	</a:t>
            </a:r>
            <a:r>
              <a:rPr sz="2400" dirty="0">
                <a:latin typeface="Calibri"/>
                <a:cs typeface="Calibri"/>
              </a:rPr>
              <a:t>traditionally</a:t>
            </a:r>
            <a:r>
              <a:rPr sz="2400" spc="450" dirty="0">
                <a:latin typeface="Calibri"/>
                <a:cs typeface="Calibri"/>
              </a:rPr>
              <a:t> </a:t>
            </a:r>
            <a:r>
              <a:rPr sz="2400" dirty="0">
                <a:latin typeface="Calibri"/>
                <a:cs typeface="Calibri"/>
              </a:rPr>
              <a:t>defined</a:t>
            </a:r>
            <a:r>
              <a:rPr sz="2400" spc="455" dirty="0">
                <a:latin typeface="Calibri"/>
                <a:cs typeface="Calibri"/>
              </a:rPr>
              <a:t> </a:t>
            </a:r>
            <a:r>
              <a:rPr sz="2400" dirty="0">
                <a:latin typeface="Calibri"/>
                <a:cs typeface="Calibri"/>
              </a:rPr>
              <a:t>as</a:t>
            </a:r>
            <a:r>
              <a:rPr sz="2400" spc="455" dirty="0">
                <a:latin typeface="Calibri"/>
                <a:cs typeface="Calibri"/>
              </a:rPr>
              <a:t> </a:t>
            </a:r>
            <a:r>
              <a:rPr sz="2400" dirty="0">
                <a:latin typeface="Calibri"/>
                <a:cs typeface="Calibri"/>
              </a:rPr>
              <a:t>meeting</a:t>
            </a:r>
            <a:r>
              <a:rPr sz="2400" spc="455" dirty="0">
                <a:latin typeface="Calibri"/>
                <a:cs typeface="Calibri"/>
              </a:rPr>
              <a:t> </a:t>
            </a:r>
            <a:r>
              <a:rPr sz="2400" dirty="0">
                <a:latin typeface="Calibri"/>
                <a:cs typeface="Calibri"/>
              </a:rPr>
              <a:t>and/</a:t>
            </a:r>
            <a:r>
              <a:rPr sz="2400" spc="455" dirty="0">
                <a:latin typeface="Calibri"/>
                <a:cs typeface="Calibri"/>
              </a:rPr>
              <a:t> </a:t>
            </a:r>
            <a:r>
              <a:rPr sz="2400" dirty="0">
                <a:latin typeface="Calibri"/>
                <a:cs typeface="Calibri"/>
              </a:rPr>
              <a:t>or</a:t>
            </a:r>
            <a:r>
              <a:rPr sz="2400" spc="450" dirty="0">
                <a:latin typeface="Calibri"/>
                <a:cs typeface="Calibri"/>
              </a:rPr>
              <a:t> </a:t>
            </a:r>
            <a:r>
              <a:rPr sz="2400" dirty="0">
                <a:latin typeface="Calibri"/>
                <a:cs typeface="Calibri"/>
              </a:rPr>
              <a:t>exceeding</a:t>
            </a:r>
            <a:r>
              <a:rPr sz="2400" spc="465" dirty="0">
                <a:latin typeface="Calibri"/>
                <a:cs typeface="Calibri"/>
              </a:rPr>
              <a:t> </a:t>
            </a:r>
            <a:r>
              <a:rPr sz="2400" spc="-25" dirty="0">
                <a:latin typeface="Calibri"/>
                <a:cs typeface="Calibri"/>
              </a:rPr>
              <a:t>the 	</a:t>
            </a:r>
            <a:r>
              <a:rPr sz="2400" dirty="0">
                <a:latin typeface="Calibri"/>
                <a:cs typeface="Calibri"/>
              </a:rPr>
              <a:t>expectations</a:t>
            </a:r>
            <a:r>
              <a:rPr sz="2400" spc="114" dirty="0">
                <a:latin typeface="Calibri"/>
                <a:cs typeface="Calibri"/>
              </a:rPr>
              <a:t> </a:t>
            </a:r>
            <a:r>
              <a:rPr sz="2400" dirty="0">
                <a:latin typeface="Calibri"/>
                <a:cs typeface="Calibri"/>
              </a:rPr>
              <a:t>of</a:t>
            </a:r>
            <a:r>
              <a:rPr sz="2400" spc="114" dirty="0">
                <a:latin typeface="Calibri"/>
                <a:cs typeface="Calibri"/>
              </a:rPr>
              <a:t> </a:t>
            </a:r>
            <a:r>
              <a:rPr sz="2400" dirty="0">
                <a:latin typeface="Calibri"/>
                <a:cs typeface="Calibri"/>
              </a:rPr>
              <a:t>the</a:t>
            </a:r>
            <a:r>
              <a:rPr sz="2400" spc="120" dirty="0">
                <a:latin typeface="Calibri"/>
                <a:cs typeface="Calibri"/>
              </a:rPr>
              <a:t> </a:t>
            </a:r>
            <a:r>
              <a:rPr sz="2400" dirty="0">
                <a:latin typeface="Calibri"/>
                <a:cs typeface="Calibri"/>
              </a:rPr>
              <a:t>customer</a:t>
            </a:r>
            <a:r>
              <a:rPr sz="2400" spc="114" dirty="0">
                <a:latin typeface="Calibri"/>
                <a:cs typeface="Calibri"/>
              </a:rPr>
              <a:t> </a:t>
            </a:r>
            <a:r>
              <a:rPr sz="2400" dirty="0">
                <a:latin typeface="Calibri"/>
                <a:cs typeface="Calibri"/>
              </a:rPr>
              <a:t>and/or</a:t>
            </a:r>
            <a:r>
              <a:rPr sz="2400" spc="120" dirty="0">
                <a:latin typeface="Calibri"/>
                <a:cs typeface="Calibri"/>
              </a:rPr>
              <a:t> </a:t>
            </a:r>
            <a:r>
              <a:rPr sz="2400" dirty="0">
                <a:latin typeface="Calibri"/>
                <a:cs typeface="Calibri"/>
              </a:rPr>
              <a:t>upper</a:t>
            </a:r>
            <a:r>
              <a:rPr sz="2400" spc="110" dirty="0">
                <a:latin typeface="Calibri"/>
                <a:cs typeface="Calibri"/>
              </a:rPr>
              <a:t> </a:t>
            </a:r>
            <a:r>
              <a:rPr sz="2400" spc="-10" dirty="0">
                <a:latin typeface="Calibri"/>
                <a:cs typeface="Calibri"/>
              </a:rPr>
              <a:t>management 	</a:t>
            </a:r>
            <a:r>
              <a:rPr sz="2400" dirty="0">
                <a:latin typeface="Calibri"/>
                <a:cs typeface="Calibri"/>
              </a:rPr>
              <a:t>in</a:t>
            </a:r>
            <a:r>
              <a:rPr sz="2400" spc="525" dirty="0">
                <a:latin typeface="Calibri"/>
                <a:cs typeface="Calibri"/>
              </a:rPr>
              <a:t>  </a:t>
            </a:r>
            <a:r>
              <a:rPr sz="2400" dirty="0">
                <a:latin typeface="Calibri"/>
                <a:cs typeface="Calibri"/>
              </a:rPr>
              <a:t>terms</a:t>
            </a:r>
            <a:r>
              <a:rPr sz="2400" spc="525" dirty="0">
                <a:latin typeface="Calibri"/>
                <a:cs typeface="Calibri"/>
              </a:rPr>
              <a:t>  </a:t>
            </a:r>
            <a:r>
              <a:rPr sz="2400" dirty="0">
                <a:latin typeface="Calibri"/>
                <a:cs typeface="Calibri"/>
              </a:rPr>
              <a:t>of</a:t>
            </a:r>
            <a:r>
              <a:rPr sz="2400" spc="530" dirty="0">
                <a:latin typeface="Calibri"/>
                <a:cs typeface="Calibri"/>
              </a:rPr>
              <a:t>  </a:t>
            </a:r>
            <a:r>
              <a:rPr sz="2400" dirty="0">
                <a:latin typeface="Calibri"/>
                <a:cs typeface="Calibri"/>
              </a:rPr>
              <a:t>cost</a:t>
            </a:r>
            <a:r>
              <a:rPr sz="2400" spc="520" dirty="0">
                <a:latin typeface="Calibri"/>
                <a:cs typeface="Calibri"/>
              </a:rPr>
              <a:t>  </a:t>
            </a:r>
            <a:r>
              <a:rPr sz="2400" dirty="0">
                <a:latin typeface="Calibri"/>
                <a:cs typeface="Calibri"/>
              </a:rPr>
              <a:t>(budget),</a:t>
            </a:r>
            <a:r>
              <a:rPr sz="2400" spc="530" dirty="0">
                <a:latin typeface="Calibri"/>
                <a:cs typeface="Calibri"/>
              </a:rPr>
              <a:t>  </a:t>
            </a:r>
            <a:r>
              <a:rPr sz="2400" dirty="0">
                <a:latin typeface="Calibri"/>
                <a:cs typeface="Calibri"/>
              </a:rPr>
              <a:t>time</a:t>
            </a:r>
            <a:r>
              <a:rPr sz="2400" spc="525" dirty="0">
                <a:latin typeface="Calibri"/>
                <a:cs typeface="Calibri"/>
              </a:rPr>
              <a:t>  </a:t>
            </a:r>
            <a:r>
              <a:rPr sz="2400" dirty="0">
                <a:latin typeface="Calibri"/>
                <a:cs typeface="Calibri"/>
              </a:rPr>
              <a:t>(schedule),</a:t>
            </a:r>
            <a:r>
              <a:rPr sz="2400" spc="525" dirty="0">
                <a:latin typeface="Calibri"/>
                <a:cs typeface="Calibri"/>
              </a:rPr>
              <a:t>  </a:t>
            </a:r>
            <a:r>
              <a:rPr sz="2400" spc="-25" dirty="0">
                <a:latin typeface="Calibri"/>
                <a:cs typeface="Calibri"/>
              </a:rPr>
              <a:t>and 	</a:t>
            </a:r>
            <a:r>
              <a:rPr sz="2400" spc="-10" dirty="0">
                <a:latin typeface="Calibri"/>
                <a:cs typeface="Calibri"/>
              </a:rPr>
              <a:t>performance</a:t>
            </a:r>
            <a:r>
              <a:rPr sz="2400" spc="-30" dirty="0">
                <a:latin typeface="Calibri"/>
                <a:cs typeface="Calibri"/>
              </a:rPr>
              <a:t> </a:t>
            </a:r>
            <a:r>
              <a:rPr sz="2400" dirty="0">
                <a:latin typeface="Calibri"/>
                <a:cs typeface="Calibri"/>
              </a:rPr>
              <a:t>(scope)</a:t>
            </a:r>
            <a:r>
              <a:rPr sz="2400" spc="-4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project.</a:t>
            </a:r>
            <a:endParaRPr sz="2400">
              <a:latin typeface="Calibri"/>
              <a:cs typeface="Calibri"/>
            </a:endParaRPr>
          </a:p>
          <a:p>
            <a:pPr marL="297180" marR="5080" indent="-284480" algn="just">
              <a:lnSpc>
                <a:spcPct val="100000"/>
              </a:lnSpc>
              <a:spcBef>
                <a:spcPts val="2835"/>
              </a:spcBef>
              <a:buFont typeface="Arial MT"/>
              <a:buChar char="•"/>
              <a:tabLst>
                <a:tab pos="298450" algn="l"/>
              </a:tabLst>
            </a:pPr>
            <a:r>
              <a:rPr sz="2400" dirty="0">
                <a:latin typeface="Calibri"/>
                <a:cs typeface="Calibri"/>
              </a:rPr>
              <a:t>One</a:t>
            </a:r>
            <a:r>
              <a:rPr sz="2400" spc="110" dirty="0">
                <a:latin typeface="Calibri"/>
                <a:cs typeface="Calibri"/>
              </a:rPr>
              <a:t>  </a:t>
            </a:r>
            <a:r>
              <a:rPr sz="2400" dirty="0">
                <a:latin typeface="Calibri"/>
                <a:cs typeface="Calibri"/>
              </a:rPr>
              <a:t>of</a:t>
            </a:r>
            <a:r>
              <a:rPr sz="2400" spc="114" dirty="0">
                <a:latin typeface="Calibri"/>
                <a:cs typeface="Calibri"/>
              </a:rPr>
              <a:t>  </a:t>
            </a:r>
            <a:r>
              <a:rPr sz="2400" dirty="0">
                <a:latin typeface="Calibri"/>
                <a:cs typeface="Calibri"/>
              </a:rPr>
              <a:t>the</a:t>
            </a:r>
            <a:r>
              <a:rPr sz="2400" spc="114" dirty="0">
                <a:latin typeface="Calibri"/>
                <a:cs typeface="Calibri"/>
              </a:rPr>
              <a:t>  </a:t>
            </a:r>
            <a:r>
              <a:rPr sz="2400" dirty="0">
                <a:latin typeface="Calibri"/>
                <a:cs typeface="Calibri"/>
              </a:rPr>
              <a:t>primary</a:t>
            </a:r>
            <a:r>
              <a:rPr sz="2400" spc="110" dirty="0">
                <a:latin typeface="Calibri"/>
                <a:cs typeface="Calibri"/>
              </a:rPr>
              <a:t>  </a:t>
            </a:r>
            <a:r>
              <a:rPr sz="2400" dirty="0">
                <a:latin typeface="Calibri"/>
                <a:cs typeface="Calibri"/>
              </a:rPr>
              <a:t>jobs</a:t>
            </a:r>
            <a:r>
              <a:rPr sz="2400" spc="114" dirty="0">
                <a:latin typeface="Calibri"/>
                <a:cs typeface="Calibri"/>
              </a:rPr>
              <a:t>  </a:t>
            </a:r>
            <a:r>
              <a:rPr sz="2400" dirty="0">
                <a:latin typeface="Calibri"/>
                <a:cs typeface="Calibri"/>
              </a:rPr>
              <a:t>of</a:t>
            </a:r>
            <a:r>
              <a:rPr sz="2400" spc="114" dirty="0">
                <a:latin typeface="Calibri"/>
                <a:cs typeface="Calibri"/>
              </a:rPr>
              <a:t>  </a:t>
            </a:r>
            <a:r>
              <a:rPr sz="2400" dirty="0">
                <a:latin typeface="Calibri"/>
                <a:cs typeface="Calibri"/>
              </a:rPr>
              <a:t>a</a:t>
            </a:r>
            <a:r>
              <a:rPr sz="2400" spc="110" dirty="0">
                <a:latin typeface="Calibri"/>
                <a:cs typeface="Calibri"/>
              </a:rPr>
              <a:t>  </a:t>
            </a:r>
            <a:r>
              <a:rPr sz="2400" dirty="0">
                <a:latin typeface="Calibri"/>
                <a:cs typeface="Calibri"/>
              </a:rPr>
              <a:t>project</a:t>
            </a:r>
            <a:r>
              <a:rPr sz="2400" spc="105" dirty="0">
                <a:latin typeface="Calibri"/>
                <a:cs typeface="Calibri"/>
              </a:rPr>
              <a:t>  </a:t>
            </a:r>
            <a:r>
              <a:rPr sz="2400" dirty="0">
                <a:latin typeface="Calibri"/>
                <a:cs typeface="Calibri"/>
              </a:rPr>
              <a:t>manager</a:t>
            </a:r>
            <a:r>
              <a:rPr sz="2400" spc="114" dirty="0">
                <a:latin typeface="Calibri"/>
                <a:cs typeface="Calibri"/>
              </a:rPr>
              <a:t>  </a:t>
            </a:r>
            <a:r>
              <a:rPr sz="2400" dirty="0">
                <a:latin typeface="Calibri"/>
                <a:cs typeface="Calibri"/>
              </a:rPr>
              <a:t>is</a:t>
            </a:r>
            <a:r>
              <a:rPr sz="2400" spc="110" dirty="0">
                <a:latin typeface="Calibri"/>
                <a:cs typeface="Calibri"/>
              </a:rPr>
              <a:t>  </a:t>
            </a:r>
            <a:r>
              <a:rPr sz="2400" spc="-25" dirty="0">
                <a:latin typeface="Calibri"/>
                <a:cs typeface="Calibri"/>
              </a:rPr>
              <a:t>to 	</a:t>
            </a:r>
            <a:r>
              <a:rPr sz="2400" dirty="0">
                <a:latin typeface="Calibri"/>
                <a:cs typeface="Calibri"/>
              </a:rPr>
              <a:t>manage</a:t>
            </a:r>
            <a:r>
              <a:rPr sz="2400" spc="330" dirty="0">
                <a:latin typeface="Calibri"/>
                <a:cs typeface="Calibri"/>
              </a:rPr>
              <a:t>   </a:t>
            </a:r>
            <a:r>
              <a:rPr sz="2400" dirty="0">
                <a:latin typeface="Calibri"/>
                <a:cs typeface="Calibri"/>
              </a:rPr>
              <a:t>the</a:t>
            </a:r>
            <a:r>
              <a:rPr sz="2400" spc="330" dirty="0">
                <a:latin typeface="Calibri"/>
                <a:cs typeface="Calibri"/>
              </a:rPr>
              <a:t>   </a:t>
            </a:r>
            <a:r>
              <a:rPr sz="2400" spc="-25" dirty="0">
                <a:latin typeface="Calibri"/>
                <a:cs typeface="Calibri"/>
              </a:rPr>
              <a:t>trade-</a:t>
            </a:r>
            <a:r>
              <a:rPr sz="2400" dirty="0">
                <a:latin typeface="Calibri"/>
                <a:cs typeface="Calibri"/>
              </a:rPr>
              <a:t>offs</a:t>
            </a:r>
            <a:r>
              <a:rPr sz="2400" spc="330" dirty="0">
                <a:latin typeface="Calibri"/>
                <a:cs typeface="Calibri"/>
              </a:rPr>
              <a:t>   </a:t>
            </a:r>
            <a:r>
              <a:rPr sz="2400" dirty="0">
                <a:latin typeface="Calibri"/>
                <a:cs typeface="Calibri"/>
              </a:rPr>
              <a:t>among</a:t>
            </a:r>
            <a:r>
              <a:rPr sz="2400" spc="330" dirty="0">
                <a:latin typeface="Calibri"/>
                <a:cs typeface="Calibri"/>
              </a:rPr>
              <a:t>   </a:t>
            </a:r>
            <a:r>
              <a:rPr sz="2400" dirty="0">
                <a:latin typeface="Calibri"/>
                <a:cs typeface="Calibri"/>
              </a:rPr>
              <a:t>time,</a:t>
            </a:r>
            <a:r>
              <a:rPr sz="2400" spc="330" dirty="0">
                <a:latin typeface="Calibri"/>
                <a:cs typeface="Calibri"/>
              </a:rPr>
              <a:t>   </a:t>
            </a:r>
            <a:r>
              <a:rPr sz="2400" dirty="0">
                <a:latin typeface="Calibri"/>
                <a:cs typeface="Calibri"/>
              </a:rPr>
              <a:t>cost,</a:t>
            </a:r>
            <a:r>
              <a:rPr sz="2400" spc="330" dirty="0">
                <a:latin typeface="Calibri"/>
                <a:cs typeface="Calibri"/>
              </a:rPr>
              <a:t>   </a:t>
            </a:r>
            <a:r>
              <a:rPr sz="2400" spc="-25" dirty="0">
                <a:latin typeface="Calibri"/>
                <a:cs typeface="Calibri"/>
              </a:rPr>
              <a:t>and 	</a:t>
            </a:r>
            <a:r>
              <a:rPr sz="2400" dirty="0">
                <a:latin typeface="Calibri"/>
                <a:cs typeface="Calibri"/>
              </a:rPr>
              <a:t>performance.</a:t>
            </a:r>
            <a:r>
              <a:rPr sz="2400" spc="-40" dirty="0">
                <a:latin typeface="Calibri"/>
                <a:cs typeface="Calibri"/>
              </a:rPr>
              <a:t> </a:t>
            </a:r>
            <a:r>
              <a:rPr sz="2400" spc="-60" dirty="0">
                <a:latin typeface="Calibri"/>
                <a:cs typeface="Calibri"/>
              </a:rPr>
              <a:t>To</a:t>
            </a:r>
            <a:r>
              <a:rPr sz="2400" spc="-35" dirty="0">
                <a:latin typeface="Calibri"/>
                <a:cs typeface="Calibri"/>
              </a:rPr>
              <a:t> </a:t>
            </a:r>
            <a:r>
              <a:rPr sz="2400" dirty="0">
                <a:latin typeface="Calibri"/>
                <a:cs typeface="Calibri"/>
              </a:rPr>
              <a:t>do</a:t>
            </a:r>
            <a:r>
              <a:rPr sz="2400" spc="-35" dirty="0">
                <a:latin typeface="Calibri"/>
                <a:cs typeface="Calibri"/>
              </a:rPr>
              <a:t> </a:t>
            </a:r>
            <a:r>
              <a:rPr sz="2400" dirty="0">
                <a:latin typeface="Calibri"/>
                <a:cs typeface="Calibri"/>
              </a:rPr>
              <a:t>so,</a:t>
            </a:r>
            <a:r>
              <a:rPr sz="2400" spc="-30" dirty="0">
                <a:latin typeface="Calibri"/>
                <a:cs typeface="Calibri"/>
              </a:rPr>
              <a:t> </a:t>
            </a:r>
            <a:r>
              <a:rPr sz="2400" dirty="0">
                <a:latin typeface="Calibri"/>
                <a:cs typeface="Calibri"/>
              </a:rPr>
              <a:t>project</a:t>
            </a:r>
            <a:r>
              <a:rPr sz="2400" spc="-40" dirty="0">
                <a:latin typeface="Calibri"/>
                <a:cs typeface="Calibri"/>
              </a:rPr>
              <a:t> </a:t>
            </a:r>
            <a:r>
              <a:rPr sz="2400" dirty="0">
                <a:latin typeface="Calibri"/>
                <a:cs typeface="Calibri"/>
              </a:rPr>
              <a:t>managers</a:t>
            </a:r>
            <a:r>
              <a:rPr sz="2400" spc="-30" dirty="0">
                <a:latin typeface="Calibri"/>
                <a:cs typeface="Calibri"/>
              </a:rPr>
              <a:t> </a:t>
            </a:r>
            <a:r>
              <a:rPr sz="2400" dirty="0">
                <a:latin typeface="Calibri"/>
                <a:cs typeface="Calibri"/>
              </a:rPr>
              <a:t>must</a:t>
            </a:r>
            <a:r>
              <a:rPr sz="2400" spc="-30" dirty="0">
                <a:latin typeface="Calibri"/>
                <a:cs typeface="Calibri"/>
              </a:rPr>
              <a:t> </a:t>
            </a:r>
            <a:r>
              <a:rPr sz="2400" dirty="0">
                <a:latin typeface="Calibri"/>
                <a:cs typeface="Calibri"/>
              </a:rPr>
              <a:t>define</a:t>
            </a:r>
            <a:r>
              <a:rPr sz="2400" spc="-30" dirty="0">
                <a:latin typeface="Calibri"/>
                <a:cs typeface="Calibri"/>
              </a:rPr>
              <a:t> </a:t>
            </a:r>
            <a:r>
              <a:rPr sz="2400" spc="-25" dirty="0">
                <a:latin typeface="Calibri"/>
                <a:cs typeface="Calibri"/>
              </a:rPr>
              <a:t>and 	</a:t>
            </a:r>
            <a:r>
              <a:rPr sz="2400" dirty="0">
                <a:latin typeface="Calibri"/>
                <a:cs typeface="Calibri"/>
              </a:rPr>
              <a:t>understand</a:t>
            </a:r>
            <a:r>
              <a:rPr sz="2400" spc="580" dirty="0">
                <a:latin typeface="Calibri"/>
                <a:cs typeface="Calibri"/>
              </a:rPr>
              <a:t> </a:t>
            </a:r>
            <a:r>
              <a:rPr sz="2400" dirty="0">
                <a:latin typeface="Calibri"/>
                <a:cs typeface="Calibri"/>
              </a:rPr>
              <a:t>the</a:t>
            </a:r>
            <a:r>
              <a:rPr sz="2400" spc="590" dirty="0">
                <a:latin typeface="Calibri"/>
                <a:cs typeface="Calibri"/>
              </a:rPr>
              <a:t> </a:t>
            </a:r>
            <a:r>
              <a:rPr sz="2400" dirty="0">
                <a:latin typeface="Calibri"/>
                <a:cs typeface="Calibri"/>
              </a:rPr>
              <a:t>nature</a:t>
            </a:r>
            <a:r>
              <a:rPr sz="2400" spc="590" dirty="0">
                <a:latin typeface="Calibri"/>
                <a:cs typeface="Calibri"/>
              </a:rPr>
              <a:t> </a:t>
            </a:r>
            <a:r>
              <a:rPr sz="2400" dirty="0">
                <a:latin typeface="Calibri"/>
                <a:cs typeface="Calibri"/>
              </a:rPr>
              <a:t>of</a:t>
            </a:r>
            <a:r>
              <a:rPr sz="2400" spc="590" dirty="0">
                <a:latin typeface="Calibri"/>
                <a:cs typeface="Calibri"/>
              </a:rPr>
              <a:t> </a:t>
            </a:r>
            <a:r>
              <a:rPr sz="2400" dirty="0">
                <a:latin typeface="Calibri"/>
                <a:cs typeface="Calibri"/>
              </a:rPr>
              <a:t>the</a:t>
            </a:r>
            <a:r>
              <a:rPr sz="2400" spc="590" dirty="0">
                <a:latin typeface="Calibri"/>
                <a:cs typeface="Calibri"/>
              </a:rPr>
              <a:t> </a:t>
            </a:r>
            <a:r>
              <a:rPr sz="2400" dirty="0">
                <a:latin typeface="Calibri"/>
                <a:cs typeface="Calibri"/>
              </a:rPr>
              <a:t>priorities</a:t>
            </a:r>
            <a:r>
              <a:rPr sz="2400" spc="595" dirty="0">
                <a:latin typeface="Calibri"/>
                <a:cs typeface="Calibri"/>
              </a:rPr>
              <a:t> </a:t>
            </a:r>
            <a:r>
              <a:rPr sz="2400" dirty="0">
                <a:latin typeface="Calibri"/>
                <a:cs typeface="Calibri"/>
              </a:rPr>
              <a:t>of</a:t>
            </a:r>
            <a:r>
              <a:rPr sz="2400" spc="590" dirty="0">
                <a:latin typeface="Calibri"/>
                <a:cs typeface="Calibri"/>
              </a:rPr>
              <a:t> </a:t>
            </a:r>
            <a:r>
              <a:rPr sz="2400" dirty="0">
                <a:latin typeface="Calibri"/>
                <a:cs typeface="Calibri"/>
              </a:rPr>
              <a:t>the</a:t>
            </a:r>
            <a:r>
              <a:rPr sz="2400" spc="590" dirty="0">
                <a:latin typeface="Calibri"/>
                <a:cs typeface="Calibri"/>
              </a:rPr>
              <a:t> </a:t>
            </a:r>
            <a:r>
              <a:rPr sz="2400" spc="-10" dirty="0">
                <a:latin typeface="Calibri"/>
                <a:cs typeface="Calibri"/>
              </a:rPr>
              <a:t>project 	</a:t>
            </a:r>
            <a:r>
              <a:rPr sz="2400" dirty="0">
                <a:latin typeface="Calibri"/>
                <a:cs typeface="Calibri"/>
              </a:rPr>
              <a:t>through</a:t>
            </a:r>
            <a:r>
              <a:rPr sz="2400" spc="484" dirty="0">
                <a:latin typeface="Calibri"/>
                <a:cs typeface="Calibri"/>
              </a:rPr>
              <a:t> </a:t>
            </a:r>
            <a:r>
              <a:rPr sz="2400" dirty="0">
                <a:latin typeface="Calibri"/>
                <a:cs typeface="Calibri"/>
              </a:rPr>
              <a:t>a</a:t>
            </a:r>
            <a:r>
              <a:rPr sz="2400" spc="484" dirty="0">
                <a:latin typeface="Calibri"/>
                <a:cs typeface="Calibri"/>
              </a:rPr>
              <a:t> </a:t>
            </a:r>
            <a:r>
              <a:rPr sz="2400" dirty="0">
                <a:latin typeface="Calibri"/>
                <a:cs typeface="Calibri"/>
              </a:rPr>
              <a:t>candid</a:t>
            </a:r>
            <a:r>
              <a:rPr sz="2400" spc="484" dirty="0">
                <a:latin typeface="Calibri"/>
                <a:cs typeface="Calibri"/>
              </a:rPr>
              <a:t> </a:t>
            </a:r>
            <a:r>
              <a:rPr sz="2400" dirty="0">
                <a:latin typeface="Calibri"/>
                <a:cs typeface="Calibri"/>
              </a:rPr>
              <a:t>discussion</a:t>
            </a:r>
            <a:r>
              <a:rPr sz="2400" spc="484" dirty="0">
                <a:latin typeface="Calibri"/>
                <a:cs typeface="Calibri"/>
              </a:rPr>
              <a:t> </a:t>
            </a:r>
            <a:r>
              <a:rPr sz="2400" dirty="0">
                <a:latin typeface="Calibri"/>
                <a:cs typeface="Calibri"/>
              </a:rPr>
              <a:t>with</a:t>
            </a:r>
            <a:r>
              <a:rPr sz="2400" spc="484" dirty="0">
                <a:latin typeface="Calibri"/>
                <a:cs typeface="Calibri"/>
              </a:rPr>
              <a:t> </a:t>
            </a:r>
            <a:r>
              <a:rPr sz="2400" dirty="0">
                <a:latin typeface="Calibri"/>
                <a:cs typeface="Calibri"/>
              </a:rPr>
              <a:t>the</a:t>
            </a:r>
            <a:r>
              <a:rPr sz="2400" spc="484" dirty="0">
                <a:latin typeface="Calibri"/>
                <a:cs typeface="Calibri"/>
              </a:rPr>
              <a:t> </a:t>
            </a:r>
            <a:r>
              <a:rPr sz="2400" dirty="0">
                <a:latin typeface="Calibri"/>
                <a:cs typeface="Calibri"/>
              </a:rPr>
              <a:t>project</a:t>
            </a:r>
            <a:r>
              <a:rPr sz="2400" spc="475" dirty="0">
                <a:latin typeface="Calibri"/>
                <a:cs typeface="Calibri"/>
              </a:rPr>
              <a:t> </a:t>
            </a:r>
            <a:r>
              <a:rPr sz="2400" spc="-10" dirty="0">
                <a:latin typeface="Calibri"/>
                <a:cs typeface="Calibri"/>
              </a:rPr>
              <a:t>customer 	</a:t>
            </a:r>
            <a:r>
              <a:rPr sz="2400" dirty="0">
                <a:latin typeface="Calibri"/>
                <a:cs typeface="Calibri"/>
              </a:rPr>
              <a:t>and</a:t>
            </a:r>
            <a:r>
              <a:rPr sz="2400" spc="-55" dirty="0">
                <a:latin typeface="Calibri"/>
                <a:cs typeface="Calibri"/>
              </a:rPr>
              <a:t> </a:t>
            </a:r>
            <a:r>
              <a:rPr sz="2400" dirty="0">
                <a:latin typeface="Calibri"/>
                <a:cs typeface="Calibri"/>
              </a:rPr>
              <a:t>upper</a:t>
            </a:r>
            <a:r>
              <a:rPr sz="2400" spc="-55" dirty="0">
                <a:latin typeface="Calibri"/>
                <a:cs typeface="Calibri"/>
              </a:rPr>
              <a:t> </a:t>
            </a:r>
            <a:r>
              <a:rPr sz="2400" spc="-10" dirty="0">
                <a:latin typeface="Calibri"/>
                <a:cs typeface="Calibri"/>
              </a:rPr>
              <a:t>management.</a:t>
            </a:r>
            <a:endParaRPr sz="2400">
              <a:latin typeface="Calibri"/>
              <a:cs typeface="Calibri"/>
            </a:endParaRPr>
          </a:p>
        </p:txBody>
      </p:sp>
      <p:pic>
        <p:nvPicPr>
          <p:cNvPr id="6" name="Picture 5">
            <a:extLst>
              <a:ext uri="{FF2B5EF4-FFF2-40B4-BE49-F238E27FC236}">
                <a16:creationId xmlns:a16="http://schemas.microsoft.com/office/drawing/2014/main" id="{A876053E-6CD2-0A81-7B1E-82F03C98E5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Priority matrix </a:t>
            </a:r>
            <a:r>
              <a:rPr sz="1950" spc="-10" dirty="0"/>
              <a:t>(1/3)</a:t>
            </a:r>
            <a:endParaRPr sz="1950" dirty="0"/>
          </a:p>
        </p:txBody>
      </p:sp>
      <p:sp>
        <p:nvSpPr>
          <p:cNvPr id="3" name="object 3"/>
          <p:cNvSpPr txBox="1"/>
          <p:nvPr/>
        </p:nvSpPr>
        <p:spPr>
          <a:xfrm>
            <a:off x="916939" y="1752091"/>
            <a:ext cx="10357485" cy="3475990"/>
          </a:xfrm>
          <a:prstGeom prst="rect">
            <a:avLst/>
          </a:prstGeom>
        </p:spPr>
        <p:txBody>
          <a:bodyPr vert="horz" wrap="square" lIns="0" tIns="53975" rIns="0" bIns="0" rtlCol="0">
            <a:spAutoFit/>
          </a:bodyPr>
          <a:lstStyle/>
          <a:p>
            <a:pPr marL="240029" marR="5715" indent="-227329" algn="just">
              <a:lnSpc>
                <a:spcPts val="2590"/>
              </a:lnSpc>
              <a:spcBef>
                <a:spcPts val="425"/>
              </a:spcBef>
              <a:buFont typeface="Arial MT"/>
              <a:buChar char="•"/>
              <a:tabLst>
                <a:tab pos="241300" algn="l"/>
              </a:tabLst>
            </a:pPr>
            <a:r>
              <a:rPr sz="2400" dirty="0">
                <a:latin typeface="Calibri"/>
                <a:cs typeface="Calibri"/>
              </a:rPr>
              <a:t>A</a:t>
            </a:r>
            <a:r>
              <a:rPr sz="2400" spc="520" dirty="0">
                <a:latin typeface="Calibri"/>
                <a:cs typeface="Calibri"/>
              </a:rPr>
              <a:t> </a:t>
            </a:r>
            <a:r>
              <a:rPr sz="2400" dirty="0">
                <a:latin typeface="Calibri"/>
                <a:cs typeface="Calibri"/>
              </a:rPr>
              <a:t>technique</a:t>
            </a:r>
            <a:r>
              <a:rPr sz="2400" spc="525" dirty="0">
                <a:latin typeface="Calibri"/>
                <a:cs typeface="Calibri"/>
              </a:rPr>
              <a:t> </a:t>
            </a:r>
            <a:r>
              <a:rPr sz="2400" dirty="0">
                <a:latin typeface="Calibri"/>
                <a:cs typeface="Calibri"/>
              </a:rPr>
              <a:t>for</a:t>
            </a:r>
            <a:r>
              <a:rPr sz="2400" spc="520" dirty="0">
                <a:latin typeface="Calibri"/>
                <a:cs typeface="Calibri"/>
              </a:rPr>
              <a:t> </a:t>
            </a:r>
            <a:r>
              <a:rPr sz="2400" dirty="0">
                <a:latin typeface="Calibri"/>
                <a:cs typeface="Calibri"/>
              </a:rPr>
              <a:t>the</a:t>
            </a:r>
            <a:r>
              <a:rPr sz="2400" spc="530" dirty="0">
                <a:latin typeface="Calibri"/>
                <a:cs typeface="Calibri"/>
              </a:rPr>
              <a:t> </a:t>
            </a:r>
            <a:r>
              <a:rPr sz="2400" dirty="0">
                <a:latin typeface="Calibri"/>
                <a:cs typeface="Calibri"/>
              </a:rPr>
              <a:t>project</a:t>
            </a:r>
            <a:r>
              <a:rPr sz="2400" spc="509" dirty="0">
                <a:latin typeface="Calibri"/>
                <a:cs typeface="Calibri"/>
              </a:rPr>
              <a:t> </a:t>
            </a:r>
            <a:r>
              <a:rPr sz="2400" dirty="0">
                <a:latin typeface="Calibri"/>
                <a:cs typeface="Calibri"/>
              </a:rPr>
              <a:t>to</a:t>
            </a:r>
            <a:r>
              <a:rPr sz="2400" spc="525" dirty="0">
                <a:latin typeface="Calibri"/>
                <a:cs typeface="Calibri"/>
              </a:rPr>
              <a:t> </a:t>
            </a:r>
            <a:r>
              <a:rPr sz="2400" dirty="0">
                <a:latin typeface="Calibri"/>
                <a:cs typeface="Calibri"/>
              </a:rPr>
              <a:t>identify</a:t>
            </a:r>
            <a:r>
              <a:rPr sz="2400" spc="525" dirty="0">
                <a:latin typeface="Calibri"/>
                <a:cs typeface="Calibri"/>
              </a:rPr>
              <a:t> </a:t>
            </a:r>
            <a:r>
              <a:rPr sz="2400" dirty="0">
                <a:latin typeface="Calibri"/>
                <a:cs typeface="Calibri"/>
              </a:rPr>
              <a:t>which</a:t>
            </a:r>
            <a:r>
              <a:rPr sz="2400" spc="525" dirty="0">
                <a:latin typeface="Calibri"/>
                <a:cs typeface="Calibri"/>
              </a:rPr>
              <a:t> </a:t>
            </a:r>
            <a:r>
              <a:rPr sz="2400" dirty="0">
                <a:latin typeface="Calibri"/>
                <a:cs typeface="Calibri"/>
              </a:rPr>
              <a:t>criterion</a:t>
            </a:r>
            <a:r>
              <a:rPr sz="2400" spc="530" dirty="0">
                <a:latin typeface="Calibri"/>
                <a:cs typeface="Calibri"/>
              </a:rPr>
              <a:t> </a:t>
            </a:r>
            <a:r>
              <a:rPr sz="2400" dirty="0">
                <a:latin typeface="Calibri"/>
                <a:cs typeface="Calibri"/>
              </a:rPr>
              <a:t>is</a:t>
            </a:r>
            <a:r>
              <a:rPr sz="2400" spc="520" dirty="0">
                <a:latin typeface="Calibri"/>
                <a:cs typeface="Calibri"/>
              </a:rPr>
              <a:t> </a:t>
            </a:r>
            <a:r>
              <a:rPr sz="2400" dirty="0">
                <a:latin typeface="Calibri"/>
                <a:cs typeface="Calibri"/>
              </a:rPr>
              <a:t>constrained,</a:t>
            </a:r>
            <a:r>
              <a:rPr sz="2400" spc="520" dirty="0">
                <a:latin typeface="Calibri"/>
                <a:cs typeface="Calibri"/>
              </a:rPr>
              <a:t> </a:t>
            </a:r>
            <a:r>
              <a:rPr sz="2400" spc="-10" dirty="0">
                <a:latin typeface="Calibri"/>
                <a:cs typeface="Calibri"/>
              </a:rPr>
              <a:t>which 	</a:t>
            </a:r>
            <a:r>
              <a:rPr sz="2400" dirty="0">
                <a:latin typeface="Calibri"/>
                <a:cs typeface="Calibri"/>
              </a:rPr>
              <a:t>should</a:t>
            </a:r>
            <a:r>
              <a:rPr sz="2400" spc="-50" dirty="0">
                <a:latin typeface="Calibri"/>
                <a:cs typeface="Calibri"/>
              </a:rPr>
              <a:t> </a:t>
            </a:r>
            <a:r>
              <a:rPr sz="2400" dirty="0">
                <a:latin typeface="Calibri"/>
                <a:cs typeface="Calibri"/>
              </a:rPr>
              <a:t>be</a:t>
            </a:r>
            <a:r>
              <a:rPr sz="2400" spc="-45" dirty="0">
                <a:latin typeface="Calibri"/>
                <a:cs typeface="Calibri"/>
              </a:rPr>
              <a:t> </a:t>
            </a:r>
            <a:r>
              <a:rPr sz="2400" dirty="0">
                <a:latin typeface="Calibri"/>
                <a:cs typeface="Calibri"/>
              </a:rPr>
              <a:t>enhanced,</a:t>
            </a:r>
            <a:r>
              <a:rPr sz="2400" spc="-45"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which</a:t>
            </a:r>
            <a:r>
              <a:rPr sz="2400" spc="-45" dirty="0">
                <a:latin typeface="Calibri"/>
                <a:cs typeface="Calibri"/>
              </a:rPr>
              <a:t> </a:t>
            </a:r>
            <a:r>
              <a:rPr sz="2400" dirty="0">
                <a:latin typeface="Calibri"/>
                <a:cs typeface="Calibri"/>
              </a:rPr>
              <a:t>can</a:t>
            </a:r>
            <a:r>
              <a:rPr sz="2400" spc="-50" dirty="0">
                <a:latin typeface="Calibri"/>
                <a:cs typeface="Calibri"/>
              </a:rPr>
              <a:t> </a:t>
            </a:r>
            <a:r>
              <a:rPr sz="2400" dirty="0">
                <a:latin typeface="Calibri"/>
                <a:cs typeface="Calibri"/>
              </a:rPr>
              <a:t>be</a:t>
            </a:r>
            <a:r>
              <a:rPr sz="2400" spc="-45" dirty="0">
                <a:latin typeface="Calibri"/>
                <a:cs typeface="Calibri"/>
              </a:rPr>
              <a:t> </a:t>
            </a:r>
            <a:r>
              <a:rPr sz="2400" spc="-10" dirty="0">
                <a:latin typeface="Calibri"/>
                <a:cs typeface="Calibri"/>
              </a:rPr>
              <a:t>accepted.</a:t>
            </a:r>
            <a:endParaRPr sz="2400">
              <a:latin typeface="Calibri"/>
              <a:cs typeface="Calibri"/>
            </a:endParaRPr>
          </a:p>
          <a:p>
            <a:pPr>
              <a:lnSpc>
                <a:spcPct val="100000"/>
              </a:lnSpc>
              <a:spcBef>
                <a:spcPts val="50"/>
              </a:spcBef>
              <a:buFont typeface="Arial MT"/>
              <a:buChar char="•"/>
            </a:pPr>
            <a:endParaRPr sz="2400">
              <a:latin typeface="Calibri"/>
              <a:cs typeface="Calibri"/>
            </a:endParaRPr>
          </a:p>
          <a:p>
            <a:pPr marL="240029" marR="5080" indent="-227329" algn="just">
              <a:lnSpc>
                <a:spcPts val="2620"/>
              </a:lnSpc>
              <a:buFont typeface="Arial MT"/>
              <a:buChar char="•"/>
              <a:tabLst>
                <a:tab pos="241300" algn="l"/>
              </a:tabLst>
            </a:pPr>
            <a:r>
              <a:rPr sz="2400" b="1" dirty="0">
                <a:solidFill>
                  <a:srgbClr val="C00000"/>
                </a:solidFill>
                <a:latin typeface="Calibri"/>
                <a:cs typeface="Calibri"/>
              </a:rPr>
              <a:t>Constrain:</a:t>
            </a:r>
            <a:r>
              <a:rPr sz="2400" b="1" spc="-20" dirty="0">
                <a:solidFill>
                  <a:srgbClr val="C00000"/>
                </a:solidFill>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original</a:t>
            </a:r>
            <a:r>
              <a:rPr sz="2400" spc="-15" dirty="0">
                <a:latin typeface="Calibri"/>
                <a:cs typeface="Calibri"/>
              </a:rPr>
              <a:t> </a:t>
            </a:r>
            <a:r>
              <a:rPr sz="2400" dirty="0">
                <a:latin typeface="Calibri"/>
                <a:cs typeface="Calibri"/>
              </a:rPr>
              <a:t>parameter</a:t>
            </a:r>
            <a:r>
              <a:rPr sz="2400" spc="-15"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fixed.</a:t>
            </a:r>
            <a:r>
              <a:rPr sz="2400" spc="-20" dirty="0">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project</a:t>
            </a:r>
            <a:r>
              <a:rPr sz="2400" spc="-25" dirty="0">
                <a:latin typeface="Calibri"/>
                <a:cs typeface="Calibri"/>
              </a:rPr>
              <a:t> </a:t>
            </a:r>
            <a:r>
              <a:rPr sz="2400" dirty="0">
                <a:latin typeface="Calibri"/>
                <a:cs typeface="Calibri"/>
              </a:rPr>
              <a:t>must</a:t>
            </a:r>
            <a:r>
              <a:rPr sz="2400" spc="-20" dirty="0">
                <a:latin typeface="Calibri"/>
                <a:cs typeface="Calibri"/>
              </a:rPr>
              <a:t> </a:t>
            </a:r>
            <a:r>
              <a:rPr sz="2400" dirty="0">
                <a:latin typeface="Calibri"/>
                <a:cs typeface="Calibri"/>
              </a:rPr>
              <a:t>meet</a:t>
            </a:r>
            <a:r>
              <a:rPr sz="2400" spc="-25" dirty="0">
                <a:latin typeface="Calibri"/>
                <a:cs typeface="Calibri"/>
              </a:rPr>
              <a:t> </a:t>
            </a:r>
            <a:r>
              <a:rPr sz="2400" dirty="0">
                <a:latin typeface="Calibri"/>
                <a:cs typeface="Calibri"/>
              </a:rPr>
              <a:t>the</a:t>
            </a:r>
            <a:r>
              <a:rPr sz="2400" spc="-10" dirty="0">
                <a:latin typeface="Calibri"/>
                <a:cs typeface="Calibri"/>
              </a:rPr>
              <a:t> completion 	</a:t>
            </a:r>
            <a:r>
              <a:rPr sz="2400" dirty="0">
                <a:latin typeface="Calibri"/>
                <a:cs typeface="Calibri"/>
              </a:rPr>
              <a:t>date,</a:t>
            </a:r>
            <a:r>
              <a:rPr sz="2400" spc="-50" dirty="0">
                <a:latin typeface="Calibri"/>
                <a:cs typeface="Calibri"/>
              </a:rPr>
              <a:t> </a:t>
            </a:r>
            <a:r>
              <a:rPr sz="2400" spc="-10" dirty="0">
                <a:latin typeface="Calibri"/>
                <a:cs typeface="Calibri"/>
              </a:rPr>
              <a:t>specifications</a:t>
            </a:r>
            <a:r>
              <a:rPr sz="2400" spc="-45"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scope</a:t>
            </a:r>
            <a:r>
              <a:rPr sz="2400" spc="-45"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project,</a:t>
            </a:r>
            <a:r>
              <a:rPr sz="2400" spc="-50" dirty="0">
                <a:latin typeface="Calibri"/>
                <a:cs typeface="Calibri"/>
              </a:rPr>
              <a:t> </a:t>
            </a:r>
            <a:r>
              <a:rPr sz="2400" dirty="0">
                <a:latin typeface="Calibri"/>
                <a:cs typeface="Calibri"/>
              </a:rPr>
              <a:t>or</a:t>
            </a:r>
            <a:r>
              <a:rPr sz="2400" spc="-55" dirty="0">
                <a:latin typeface="Calibri"/>
                <a:cs typeface="Calibri"/>
              </a:rPr>
              <a:t> </a:t>
            </a:r>
            <a:r>
              <a:rPr sz="2400" spc="-10" dirty="0">
                <a:latin typeface="Calibri"/>
                <a:cs typeface="Calibri"/>
              </a:rPr>
              <a:t>budget.</a:t>
            </a:r>
            <a:endParaRPr sz="2400">
              <a:latin typeface="Calibri"/>
              <a:cs typeface="Calibri"/>
            </a:endParaRPr>
          </a:p>
          <a:p>
            <a:pPr>
              <a:lnSpc>
                <a:spcPct val="100000"/>
              </a:lnSpc>
              <a:spcBef>
                <a:spcPts val="110"/>
              </a:spcBef>
              <a:buFont typeface="Arial MT"/>
              <a:buChar char="•"/>
            </a:pPr>
            <a:endParaRPr sz="2400">
              <a:latin typeface="Calibri"/>
              <a:cs typeface="Calibri"/>
            </a:endParaRPr>
          </a:p>
          <a:p>
            <a:pPr marL="240029" marR="5715" indent="-227329" algn="just">
              <a:lnSpc>
                <a:spcPct val="90300"/>
              </a:lnSpc>
              <a:buFont typeface="Arial MT"/>
              <a:buChar char="•"/>
              <a:tabLst>
                <a:tab pos="241300" algn="l"/>
              </a:tabLst>
            </a:pPr>
            <a:r>
              <a:rPr sz="2400" b="1" dirty="0">
                <a:solidFill>
                  <a:srgbClr val="C00000"/>
                </a:solidFill>
                <a:latin typeface="Calibri"/>
                <a:cs typeface="Calibri"/>
              </a:rPr>
              <a:t>Enhance:</a:t>
            </a:r>
            <a:r>
              <a:rPr sz="2400" b="1" spc="20" dirty="0">
                <a:solidFill>
                  <a:srgbClr val="C00000"/>
                </a:solidFill>
                <a:latin typeface="Calibri"/>
                <a:cs typeface="Calibri"/>
              </a:rPr>
              <a:t> </a:t>
            </a:r>
            <a:r>
              <a:rPr sz="2400" dirty="0">
                <a:latin typeface="Calibri"/>
                <a:cs typeface="Calibri"/>
              </a:rPr>
              <a:t>Given</a:t>
            </a:r>
            <a:r>
              <a:rPr sz="2400" spc="20"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scope</a:t>
            </a:r>
            <a:r>
              <a:rPr sz="2400" spc="25" dirty="0">
                <a:latin typeface="Calibri"/>
                <a:cs typeface="Calibri"/>
              </a:rPr>
              <a:t> </a:t>
            </a:r>
            <a:r>
              <a:rPr sz="2400" dirty="0">
                <a:latin typeface="Calibri"/>
                <a:cs typeface="Calibri"/>
              </a:rPr>
              <a:t>of</a:t>
            </a:r>
            <a:r>
              <a:rPr sz="2400" spc="25"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project,</a:t>
            </a:r>
            <a:r>
              <a:rPr sz="2400" spc="15" dirty="0">
                <a:latin typeface="Calibri"/>
                <a:cs typeface="Calibri"/>
              </a:rPr>
              <a:t> </a:t>
            </a:r>
            <a:r>
              <a:rPr sz="2400" dirty="0">
                <a:latin typeface="Calibri"/>
                <a:cs typeface="Calibri"/>
              </a:rPr>
              <a:t>which</a:t>
            </a:r>
            <a:r>
              <a:rPr sz="2400" spc="20" dirty="0">
                <a:latin typeface="Calibri"/>
                <a:cs typeface="Calibri"/>
              </a:rPr>
              <a:t> </a:t>
            </a:r>
            <a:r>
              <a:rPr sz="2400" dirty="0">
                <a:latin typeface="Calibri"/>
                <a:cs typeface="Calibri"/>
              </a:rPr>
              <a:t>criterion</a:t>
            </a:r>
            <a:r>
              <a:rPr sz="2400" spc="25" dirty="0">
                <a:latin typeface="Calibri"/>
                <a:cs typeface="Calibri"/>
              </a:rPr>
              <a:t> </a:t>
            </a:r>
            <a:r>
              <a:rPr sz="2400" dirty="0">
                <a:latin typeface="Calibri"/>
                <a:cs typeface="Calibri"/>
              </a:rPr>
              <a:t>should</a:t>
            </a:r>
            <a:r>
              <a:rPr sz="2400" spc="25" dirty="0">
                <a:latin typeface="Calibri"/>
                <a:cs typeface="Calibri"/>
              </a:rPr>
              <a:t> </a:t>
            </a:r>
            <a:r>
              <a:rPr sz="2400" dirty="0">
                <a:latin typeface="Calibri"/>
                <a:cs typeface="Calibri"/>
              </a:rPr>
              <a:t>be</a:t>
            </a:r>
            <a:r>
              <a:rPr sz="2400" spc="20" dirty="0">
                <a:latin typeface="Calibri"/>
                <a:cs typeface="Calibri"/>
              </a:rPr>
              <a:t> </a:t>
            </a:r>
            <a:r>
              <a:rPr sz="2400" dirty="0">
                <a:latin typeface="Calibri"/>
                <a:cs typeface="Calibri"/>
              </a:rPr>
              <a:t>optimized?</a:t>
            </a:r>
            <a:r>
              <a:rPr sz="2400" spc="20" dirty="0">
                <a:latin typeface="Calibri"/>
                <a:cs typeface="Calibri"/>
              </a:rPr>
              <a:t> </a:t>
            </a:r>
            <a:r>
              <a:rPr sz="2400" spc="-25" dirty="0">
                <a:latin typeface="Calibri"/>
                <a:cs typeface="Calibri"/>
              </a:rPr>
              <a:t>In 	</a:t>
            </a:r>
            <a:r>
              <a:rPr sz="2400" dirty="0">
                <a:latin typeface="Calibri"/>
                <a:cs typeface="Calibri"/>
              </a:rPr>
              <a:t>the</a:t>
            </a:r>
            <a:r>
              <a:rPr sz="2400" spc="-40" dirty="0">
                <a:latin typeface="Calibri"/>
                <a:cs typeface="Calibri"/>
              </a:rPr>
              <a:t> </a:t>
            </a:r>
            <a:r>
              <a:rPr sz="2400" dirty="0">
                <a:latin typeface="Calibri"/>
                <a:cs typeface="Calibri"/>
              </a:rPr>
              <a:t>case</a:t>
            </a:r>
            <a:r>
              <a:rPr sz="2400" spc="-40"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time</a:t>
            </a:r>
            <a:r>
              <a:rPr sz="2400" spc="-4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cost,</a:t>
            </a:r>
            <a:r>
              <a:rPr sz="2400" spc="-40" dirty="0">
                <a:latin typeface="Calibri"/>
                <a:cs typeface="Calibri"/>
              </a:rPr>
              <a:t> </a:t>
            </a:r>
            <a:r>
              <a:rPr sz="2400" dirty="0">
                <a:latin typeface="Calibri"/>
                <a:cs typeface="Calibri"/>
              </a:rPr>
              <a:t>this</a:t>
            </a:r>
            <a:r>
              <a:rPr sz="2400" spc="-45" dirty="0">
                <a:latin typeface="Calibri"/>
                <a:cs typeface="Calibri"/>
              </a:rPr>
              <a:t> </a:t>
            </a:r>
            <a:r>
              <a:rPr sz="2400" dirty="0">
                <a:latin typeface="Calibri"/>
                <a:cs typeface="Calibri"/>
              </a:rPr>
              <a:t>usually</a:t>
            </a:r>
            <a:r>
              <a:rPr sz="2400" spc="-50" dirty="0">
                <a:latin typeface="Calibri"/>
                <a:cs typeface="Calibri"/>
              </a:rPr>
              <a:t> </a:t>
            </a:r>
            <a:r>
              <a:rPr sz="2400" dirty="0">
                <a:latin typeface="Calibri"/>
                <a:cs typeface="Calibri"/>
              </a:rPr>
              <a:t>means</a:t>
            </a:r>
            <a:r>
              <a:rPr sz="2400" spc="-45" dirty="0">
                <a:latin typeface="Calibri"/>
                <a:cs typeface="Calibri"/>
              </a:rPr>
              <a:t> </a:t>
            </a:r>
            <a:r>
              <a:rPr sz="2400" dirty="0">
                <a:latin typeface="Calibri"/>
                <a:cs typeface="Calibri"/>
              </a:rPr>
              <a:t>taking</a:t>
            </a:r>
            <a:r>
              <a:rPr sz="2400" spc="-45" dirty="0">
                <a:latin typeface="Calibri"/>
                <a:cs typeface="Calibri"/>
              </a:rPr>
              <a:t> </a:t>
            </a:r>
            <a:r>
              <a:rPr sz="2400" spc="-10" dirty="0">
                <a:latin typeface="Calibri"/>
                <a:cs typeface="Calibri"/>
              </a:rPr>
              <a:t>advantage</a:t>
            </a:r>
            <a:r>
              <a:rPr sz="2400" spc="-40"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opportunities</a:t>
            </a:r>
            <a:r>
              <a:rPr sz="2400" spc="-45" dirty="0">
                <a:latin typeface="Calibri"/>
                <a:cs typeface="Calibri"/>
              </a:rPr>
              <a:t> </a:t>
            </a:r>
            <a:r>
              <a:rPr sz="2400" spc="-25" dirty="0">
                <a:latin typeface="Calibri"/>
                <a:cs typeface="Calibri"/>
              </a:rPr>
              <a:t>to 	</a:t>
            </a:r>
            <a:r>
              <a:rPr sz="2400" dirty="0">
                <a:latin typeface="Calibri"/>
                <a:cs typeface="Calibri"/>
              </a:rPr>
              <a:t>either</a:t>
            </a:r>
            <a:r>
              <a:rPr sz="2400" spc="215" dirty="0">
                <a:latin typeface="Calibri"/>
                <a:cs typeface="Calibri"/>
              </a:rPr>
              <a:t>  </a:t>
            </a:r>
            <a:r>
              <a:rPr sz="2400" dirty="0">
                <a:latin typeface="Calibri"/>
                <a:cs typeface="Calibri"/>
              </a:rPr>
              <a:t>reduce</a:t>
            </a:r>
            <a:r>
              <a:rPr sz="2400" spc="220" dirty="0">
                <a:latin typeface="Calibri"/>
                <a:cs typeface="Calibri"/>
              </a:rPr>
              <a:t>  </a:t>
            </a:r>
            <a:r>
              <a:rPr sz="2400" dirty="0">
                <a:latin typeface="Calibri"/>
                <a:cs typeface="Calibri"/>
              </a:rPr>
              <a:t>costs</a:t>
            </a:r>
            <a:r>
              <a:rPr sz="2400" spc="215" dirty="0">
                <a:latin typeface="Calibri"/>
                <a:cs typeface="Calibri"/>
              </a:rPr>
              <a:t>  </a:t>
            </a:r>
            <a:r>
              <a:rPr sz="2400" dirty="0">
                <a:latin typeface="Calibri"/>
                <a:cs typeface="Calibri"/>
              </a:rPr>
              <a:t>or</a:t>
            </a:r>
            <a:r>
              <a:rPr sz="2400" spc="215" dirty="0">
                <a:latin typeface="Calibri"/>
                <a:cs typeface="Calibri"/>
              </a:rPr>
              <a:t>  </a:t>
            </a:r>
            <a:r>
              <a:rPr sz="2400" dirty="0">
                <a:latin typeface="Calibri"/>
                <a:cs typeface="Calibri"/>
              </a:rPr>
              <a:t>shorten</a:t>
            </a:r>
            <a:r>
              <a:rPr sz="2400" spc="220" dirty="0">
                <a:latin typeface="Calibri"/>
                <a:cs typeface="Calibri"/>
              </a:rPr>
              <a:t>  </a:t>
            </a:r>
            <a:r>
              <a:rPr sz="2400" dirty="0">
                <a:latin typeface="Calibri"/>
                <a:cs typeface="Calibri"/>
              </a:rPr>
              <a:t>the</a:t>
            </a:r>
            <a:r>
              <a:rPr sz="2400" spc="215" dirty="0">
                <a:latin typeface="Calibri"/>
                <a:cs typeface="Calibri"/>
              </a:rPr>
              <a:t>  </a:t>
            </a:r>
            <a:r>
              <a:rPr sz="2400" dirty="0">
                <a:latin typeface="Calibri"/>
                <a:cs typeface="Calibri"/>
              </a:rPr>
              <a:t>schedule.</a:t>
            </a:r>
            <a:r>
              <a:rPr sz="2400" spc="215" dirty="0">
                <a:latin typeface="Calibri"/>
                <a:cs typeface="Calibri"/>
              </a:rPr>
              <a:t>  </a:t>
            </a:r>
            <a:r>
              <a:rPr sz="2400" dirty="0">
                <a:latin typeface="Calibri"/>
                <a:cs typeface="Calibri"/>
              </a:rPr>
              <a:t>Conversely,</a:t>
            </a:r>
            <a:r>
              <a:rPr sz="2400" spc="220" dirty="0">
                <a:latin typeface="Calibri"/>
                <a:cs typeface="Calibri"/>
              </a:rPr>
              <a:t>  </a:t>
            </a:r>
            <a:r>
              <a:rPr sz="2400" dirty="0">
                <a:latin typeface="Calibri"/>
                <a:cs typeface="Calibri"/>
              </a:rPr>
              <a:t>with</a:t>
            </a:r>
            <a:r>
              <a:rPr sz="2400" spc="215" dirty="0">
                <a:latin typeface="Calibri"/>
                <a:cs typeface="Calibri"/>
              </a:rPr>
              <a:t>  </a:t>
            </a:r>
            <a:r>
              <a:rPr sz="2400" dirty="0">
                <a:latin typeface="Calibri"/>
                <a:cs typeface="Calibri"/>
              </a:rPr>
              <a:t>regard</a:t>
            </a:r>
            <a:r>
              <a:rPr sz="2400" spc="220" dirty="0">
                <a:latin typeface="Calibri"/>
                <a:cs typeface="Calibri"/>
              </a:rPr>
              <a:t>  </a:t>
            </a:r>
            <a:r>
              <a:rPr sz="2400" spc="-25" dirty="0">
                <a:latin typeface="Calibri"/>
                <a:cs typeface="Calibri"/>
              </a:rPr>
              <a:t>to 	</a:t>
            </a:r>
            <a:r>
              <a:rPr sz="2400" spc="-10" dirty="0">
                <a:latin typeface="Calibri"/>
                <a:cs typeface="Calibri"/>
              </a:rPr>
              <a:t>performance,</a:t>
            </a:r>
            <a:r>
              <a:rPr sz="2400" spc="-60" dirty="0">
                <a:latin typeface="Calibri"/>
                <a:cs typeface="Calibri"/>
              </a:rPr>
              <a:t> </a:t>
            </a:r>
            <a:r>
              <a:rPr sz="2400" dirty="0">
                <a:latin typeface="Calibri"/>
                <a:cs typeface="Calibri"/>
              </a:rPr>
              <a:t>enhancing</a:t>
            </a:r>
            <a:r>
              <a:rPr sz="2400" spc="-60" dirty="0">
                <a:latin typeface="Calibri"/>
                <a:cs typeface="Calibri"/>
              </a:rPr>
              <a:t> </a:t>
            </a:r>
            <a:r>
              <a:rPr sz="2400" dirty="0">
                <a:latin typeface="Calibri"/>
                <a:cs typeface="Calibri"/>
              </a:rPr>
              <a:t>means</a:t>
            </a:r>
            <a:r>
              <a:rPr sz="2400" spc="-60" dirty="0">
                <a:latin typeface="Calibri"/>
                <a:cs typeface="Calibri"/>
              </a:rPr>
              <a:t> </a:t>
            </a:r>
            <a:r>
              <a:rPr sz="2400" dirty="0">
                <a:latin typeface="Calibri"/>
                <a:cs typeface="Calibri"/>
              </a:rPr>
              <a:t>adding</a:t>
            </a:r>
            <a:r>
              <a:rPr sz="2400" spc="-70" dirty="0">
                <a:latin typeface="Calibri"/>
                <a:cs typeface="Calibri"/>
              </a:rPr>
              <a:t> </a:t>
            </a:r>
            <a:r>
              <a:rPr sz="2400" dirty="0">
                <a:latin typeface="Calibri"/>
                <a:cs typeface="Calibri"/>
              </a:rPr>
              <a:t>value</a:t>
            </a:r>
            <a:r>
              <a:rPr sz="2400" spc="-5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project.</a:t>
            </a:r>
            <a:endParaRPr sz="2400">
              <a:latin typeface="Calibri"/>
              <a:cs typeface="Calibri"/>
            </a:endParaRPr>
          </a:p>
        </p:txBody>
      </p:sp>
      <p:sp>
        <p:nvSpPr>
          <p:cNvPr id="4" name="object 4"/>
          <p:cNvSpPr txBox="1"/>
          <p:nvPr/>
        </p:nvSpPr>
        <p:spPr>
          <a:xfrm>
            <a:off x="916939" y="5546852"/>
            <a:ext cx="10356850" cy="1052830"/>
          </a:xfrm>
          <a:prstGeom prst="rect">
            <a:avLst/>
          </a:prstGeom>
        </p:spPr>
        <p:txBody>
          <a:bodyPr vert="horz" wrap="square" lIns="0" tIns="47625" rIns="0" bIns="0" rtlCol="0">
            <a:spAutoFit/>
          </a:bodyPr>
          <a:lstStyle/>
          <a:p>
            <a:pPr marL="240029" marR="5080" indent="-227329" algn="just">
              <a:lnSpc>
                <a:spcPct val="90400"/>
              </a:lnSpc>
              <a:spcBef>
                <a:spcPts val="375"/>
              </a:spcBef>
              <a:buFont typeface="Arial MT"/>
              <a:buChar char="•"/>
              <a:tabLst>
                <a:tab pos="241300" algn="l"/>
              </a:tabLst>
            </a:pPr>
            <a:r>
              <a:rPr sz="2400" b="1" dirty="0">
                <a:solidFill>
                  <a:srgbClr val="C00000"/>
                </a:solidFill>
                <a:latin typeface="Calibri"/>
                <a:cs typeface="Calibri"/>
              </a:rPr>
              <a:t>Accept:</a:t>
            </a:r>
            <a:r>
              <a:rPr sz="2400" b="1" spc="235" dirty="0">
                <a:solidFill>
                  <a:srgbClr val="C00000"/>
                </a:solidFill>
                <a:latin typeface="Calibri"/>
                <a:cs typeface="Calibri"/>
              </a:rPr>
              <a:t> </a:t>
            </a:r>
            <a:r>
              <a:rPr sz="2400" dirty="0">
                <a:latin typeface="Calibri"/>
                <a:cs typeface="Calibri"/>
              </a:rPr>
              <a:t>For</a:t>
            </a:r>
            <a:r>
              <a:rPr sz="2400" spc="240" dirty="0">
                <a:latin typeface="Calibri"/>
                <a:cs typeface="Calibri"/>
              </a:rPr>
              <a:t> </a:t>
            </a:r>
            <a:r>
              <a:rPr sz="2400" dirty="0">
                <a:latin typeface="Calibri"/>
                <a:cs typeface="Calibri"/>
              </a:rPr>
              <a:t>which</a:t>
            </a:r>
            <a:r>
              <a:rPr sz="2400" spc="245" dirty="0">
                <a:latin typeface="Calibri"/>
                <a:cs typeface="Calibri"/>
              </a:rPr>
              <a:t> </a:t>
            </a:r>
            <a:r>
              <a:rPr sz="2400" dirty="0">
                <a:latin typeface="Calibri"/>
                <a:cs typeface="Calibri"/>
              </a:rPr>
              <a:t>criterion</a:t>
            </a:r>
            <a:r>
              <a:rPr sz="2400" spc="240" dirty="0">
                <a:latin typeface="Calibri"/>
                <a:cs typeface="Calibri"/>
              </a:rPr>
              <a:t> </a:t>
            </a:r>
            <a:r>
              <a:rPr sz="2400" dirty="0">
                <a:latin typeface="Calibri"/>
                <a:cs typeface="Calibri"/>
              </a:rPr>
              <a:t>is</a:t>
            </a:r>
            <a:r>
              <a:rPr sz="2400" spc="240" dirty="0">
                <a:latin typeface="Calibri"/>
                <a:cs typeface="Calibri"/>
              </a:rPr>
              <a:t> </a:t>
            </a:r>
            <a:r>
              <a:rPr sz="2400" dirty="0">
                <a:latin typeface="Calibri"/>
                <a:cs typeface="Calibri"/>
              </a:rPr>
              <a:t>it</a:t>
            </a:r>
            <a:r>
              <a:rPr sz="2400" spc="235" dirty="0">
                <a:latin typeface="Calibri"/>
                <a:cs typeface="Calibri"/>
              </a:rPr>
              <a:t> </a:t>
            </a:r>
            <a:r>
              <a:rPr sz="2400" dirty="0">
                <a:latin typeface="Calibri"/>
                <a:cs typeface="Calibri"/>
              </a:rPr>
              <a:t>tolerable</a:t>
            </a:r>
            <a:r>
              <a:rPr sz="2400" spc="240" dirty="0">
                <a:latin typeface="Calibri"/>
                <a:cs typeface="Calibri"/>
              </a:rPr>
              <a:t> </a:t>
            </a:r>
            <a:r>
              <a:rPr sz="2400" dirty="0">
                <a:latin typeface="Calibri"/>
                <a:cs typeface="Calibri"/>
              </a:rPr>
              <a:t>not</a:t>
            </a:r>
            <a:r>
              <a:rPr sz="2400" spc="229" dirty="0">
                <a:latin typeface="Calibri"/>
                <a:cs typeface="Calibri"/>
              </a:rPr>
              <a:t> </a:t>
            </a:r>
            <a:r>
              <a:rPr sz="2400" dirty="0">
                <a:latin typeface="Calibri"/>
                <a:cs typeface="Calibri"/>
              </a:rPr>
              <a:t>to</a:t>
            </a:r>
            <a:r>
              <a:rPr sz="2400" spc="240" dirty="0">
                <a:latin typeface="Calibri"/>
                <a:cs typeface="Calibri"/>
              </a:rPr>
              <a:t> </a:t>
            </a:r>
            <a:r>
              <a:rPr sz="2400" dirty="0">
                <a:latin typeface="Calibri"/>
                <a:cs typeface="Calibri"/>
              </a:rPr>
              <a:t>meet</a:t>
            </a:r>
            <a:r>
              <a:rPr sz="2400" spc="235" dirty="0">
                <a:latin typeface="Calibri"/>
                <a:cs typeface="Calibri"/>
              </a:rPr>
              <a:t> </a:t>
            </a:r>
            <a:r>
              <a:rPr sz="2400" dirty="0">
                <a:latin typeface="Calibri"/>
                <a:cs typeface="Calibri"/>
              </a:rPr>
              <a:t>the</a:t>
            </a:r>
            <a:r>
              <a:rPr sz="2400" spc="245" dirty="0">
                <a:latin typeface="Calibri"/>
                <a:cs typeface="Calibri"/>
              </a:rPr>
              <a:t> </a:t>
            </a:r>
            <a:r>
              <a:rPr sz="2400" dirty="0">
                <a:latin typeface="Calibri"/>
                <a:cs typeface="Calibri"/>
              </a:rPr>
              <a:t>original</a:t>
            </a:r>
            <a:r>
              <a:rPr sz="2400" spc="235" dirty="0">
                <a:latin typeface="Calibri"/>
                <a:cs typeface="Calibri"/>
              </a:rPr>
              <a:t> </a:t>
            </a:r>
            <a:r>
              <a:rPr sz="2400" spc="-10" dirty="0">
                <a:latin typeface="Calibri"/>
                <a:cs typeface="Calibri"/>
              </a:rPr>
              <a:t>parameters? 	</a:t>
            </a:r>
            <a:r>
              <a:rPr sz="2400" dirty="0">
                <a:latin typeface="Calibri"/>
                <a:cs typeface="Calibri"/>
              </a:rPr>
              <a:t>When</a:t>
            </a:r>
            <a:r>
              <a:rPr sz="2400" spc="270" dirty="0">
                <a:latin typeface="Calibri"/>
                <a:cs typeface="Calibri"/>
              </a:rPr>
              <a:t> </a:t>
            </a:r>
            <a:r>
              <a:rPr sz="2400" spc="-25" dirty="0">
                <a:latin typeface="Calibri"/>
                <a:cs typeface="Calibri"/>
              </a:rPr>
              <a:t>trade-</a:t>
            </a:r>
            <a:r>
              <a:rPr sz="2400" dirty="0">
                <a:latin typeface="Calibri"/>
                <a:cs typeface="Calibri"/>
              </a:rPr>
              <a:t>offs</a:t>
            </a:r>
            <a:r>
              <a:rPr sz="2400" spc="270" dirty="0">
                <a:latin typeface="Calibri"/>
                <a:cs typeface="Calibri"/>
              </a:rPr>
              <a:t> </a:t>
            </a:r>
            <a:r>
              <a:rPr sz="2400" dirty="0">
                <a:latin typeface="Calibri"/>
                <a:cs typeface="Calibri"/>
              </a:rPr>
              <a:t>have</a:t>
            </a:r>
            <a:r>
              <a:rPr sz="2400" spc="280" dirty="0">
                <a:latin typeface="Calibri"/>
                <a:cs typeface="Calibri"/>
              </a:rPr>
              <a:t> </a:t>
            </a:r>
            <a:r>
              <a:rPr sz="2400" dirty="0">
                <a:latin typeface="Calibri"/>
                <a:cs typeface="Calibri"/>
              </a:rPr>
              <a:t>to</a:t>
            </a:r>
            <a:r>
              <a:rPr sz="2400" spc="265" dirty="0">
                <a:latin typeface="Calibri"/>
                <a:cs typeface="Calibri"/>
              </a:rPr>
              <a:t> </a:t>
            </a:r>
            <a:r>
              <a:rPr sz="2400" dirty="0">
                <a:latin typeface="Calibri"/>
                <a:cs typeface="Calibri"/>
              </a:rPr>
              <a:t>be</a:t>
            </a:r>
            <a:r>
              <a:rPr sz="2400" spc="275" dirty="0">
                <a:latin typeface="Calibri"/>
                <a:cs typeface="Calibri"/>
              </a:rPr>
              <a:t> </a:t>
            </a:r>
            <a:r>
              <a:rPr sz="2400" dirty="0">
                <a:latin typeface="Calibri"/>
                <a:cs typeface="Calibri"/>
              </a:rPr>
              <a:t>made,</a:t>
            </a:r>
            <a:r>
              <a:rPr sz="2400" spc="270" dirty="0">
                <a:latin typeface="Calibri"/>
                <a:cs typeface="Calibri"/>
              </a:rPr>
              <a:t> </a:t>
            </a:r>
            <a:r>
              <a:rPr sz="2400" dirty="0">
                <a:latin typeface="Calibri"/>
                <a:cs typeface="Calibri"/>
              </a:rPr>
              <a:t>is</a:t>
            </a:r>
            <a:r>
              <a:rPr sz="2400" spc="270" dirty="0">
                <a:latin typeface="Calibri"/>
                <a:cs typeface="Calibri"/>
              </a:rPr>
              <a:t> </a:t>
            </a:r>
            <a:r>
              <a:rPr sz="2400" dirty="0">
                <a:latin typeface="Calibri"/>
                <a:cs typeface="Calibri"/>
              </a:rPr>
              <a:t>it</a:t>
            </a:r>
            <a:r>
              <a:rPr sz="2400" spc="265" dirty="0">
                <a:latin typeface="Calibri"/>
                <a:cs typeface="Calibri"/>
              </a:rPr>
              <a:t> </a:t>
            </a:r>
            <a:r>
              <a:rPr sz="2400" dirty="0">
                <a:latin typeface="Calibri"/>
                <a:cs typeface="Calibri"/>
              </a:rPr>
              <a:t>permissible</a:t>
            </a:r>
            <a:r>
              <a:rPr sz="2400" spc="280" dirty="0">
                <a:latin typeface="Calibri"/>
                <a:cs typeface="Calibri"/>
              </a:rPr>
              <a:t> </a:t>
            </a:r>
            <a:r>
              <a:rPr sz="2400" dirty="0">
                <a:latin typeface="Calibri"/>
                <a:cs typeface="Calibri"/>
              </a:rPr>
              <a:t>for</a:t>
            </a:r>
            <a:r>
              <a:rPr sz="2400" spc="270" dirty="0">
                <a:latin typeface="Calibri"/>
                <a:cs typeface="Calibri"/>
              </a:rPr>
              <a:t> </a:t>
            </a:r>
            <a:r>
              <a:rPr sz="2400" dirty="0">
                <a:latin typeface="Calibri"/>
                <a:cs typeface="Calibri"/>
              </a:rPr>
              <a:t>the</a:t>
            </a:r>
            <a:r>
              <a:rPr sz="2400" spc="280" dirty="0">
                <a:latin typeface="Calibri"/>
                <a:cs typeface="Calibri"/>
              </a:rPr>
              <a:t> </a:t>
            </a:r>
            <a:r>
              <a:rPr sz="2400" dirty="0">
                <a:latin typeface="Calibri"/>
                <a:cs typeface="Calibri"/>
              </a:rPr>
              <a:t>schedule</a:t>
            </a:r>
            <a:r>
              <a:rPr sz="2400" spc="275" dirty="0">
                <a:latin typeface="Calibri"/>
                <a:cs typeface="Calibri"/>
              </a:rPr>
              <a:t> </a:t>
            </a:r>
            <a:r>
              <a:rPr sz="2400" dirty="0">
                <a:latin typeface="Calibri"/>
                <a:cs typeface="Calibri"/>
              </a:rPr>
              <a:t>to</a:t>
            </a:r>
            <a:r>
              <a:rPr sz="2400" spc="270" dirty="0">
                <a:latin typeface="Calibri"/>
                <a:cs typeface="Calibri"/>
              </a:rPr>
              <a:t> </a:t>
            </a:r>
            <a:r>
              <a:rPr sz="2400" dirty="0">
                <a:latin typeface="Calibri"/>
                <a:cs typeface="Calibri"/>
              </a:rPr>
              <a:t>slip,</a:t>
            </a:r>
            <a:r>
              <a:rPr sz="2400" spc="270" dirty="0">
                <a:latin typeface="Calibri"/>
                <a:cs typeface="Calibri"/>
              </a:rPr>
              <a:t> </a:t>
            </a:r>
            <a:r>
              <a:rPr sz="2400" spc="-25" dirty="0">
                <a:latin typeface="Calibri"/>
                <a:cs typeface="Calibri"/>
              </a:rPr>
              <a:t>to 	</a:t>
            </a:r>
            <a:r>
              <a:rPr sz="2400" dirty="0">
                <a:latin typeface="Calibri"/>
                <a:cs typeface="Calibri"/>
              </a:rPr>
              <a:t>reduce</a:t>
            </a:r>
            <a:r>
              <a:rPr sz="2400" spc="-4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scope</a:t>
            </a:r>
            <a:r>
              <a:rPr sz="2400" spc="-40" dirty="0">
                <a:latin typeface="Calibri"/>
                <a:cs typeface="Calibri"/>
              </a:rPr>
              <a:t> </a:t>
            </a:r>
            <a:r>
              <a:rPr sz="2400" dirty="0">
                <a:latin typeface="Calibri"/>
                <a:cs typeface="Calibri"/>
              </a:rPr>
              <a:t>and</a:t>
            </a:r>
            <a:r>
              <a:rPr sz="2400" spc="-50" dirty="0">
                <a:latin typeface="Calibri"/>
                <a:cs typeface="Calibri"/>
              </a:rPr>
              <a:t> </a:t>
            </a:r>
            <a:r>
              <a:rPr sz="2400" spc="-10" dirty="0">
                <a:latin typeface="Calibri"/>
                <a:cs typeface="Calibri"/>
              </a:rPr>
              <a:t>performance</a:t>
            </a:r>
            <a:r>
              <a:rPr sz="2400" spc="-45"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project,</a:t>
            </a:r>
            <a:r>
              <a:rPr sz="2400" spc="-50" dirty="0">
                <a:latin typeface="Calibri"/>
                <a:cs typeface="Calibri"/>
              </a:rPr>
              <a:t> </a:t>
            </a:r>
            <a:r>
              <a:rPr sz="2400" dirty="0">
                <a:latin typeface="Calibri"/>
                <a:cs typeface="Calibri"/>
              </a:rPr>
              <a:t>or</a:t>
            </a:r>
            <a:r>
              <a:rPr sz="2400" spc="-5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go</a:t>
            </a:r>
            <a:r>
              <a:rPr sz="2400" spc="-55" dirty="0">
                <a:latin typeface="Calibri"/>
                <a:cs typeface="Calibri"/>
              </a:rPr>
              <a:t> </a:t>
            </a:r>
            <a:r>
              <a:rPr sz="2400" dirty="0">
                <a:latin typeface="Calibri"/>
                <a:cs typeface="Calibri"/>
              </a:rPr>
              <a:t>over</a:t>
            </a:r>
            <a:r>
              <a:rPr sz="2400" spc="-50" dirty="0">
                <a:latin typeface="Calibri"/>
                <a:cs typeface="Calibri"/>
              </a:rPr>
              <a:t> </a:t>
            </a:r>
            <a:r>
              <a:rPr sz="2400" spc="-10" dirty="0">
                <a:latin typeface="Calibri"/>
                <a:cs typeface="Calibri"/>
              </a:rPr>
              <a:t>budget?</a:t>
            </a:r>
            <a:endParaRPr sz="2400">
              <a:latin typeface="Calibri"/>
              <a:cs typeface="Calibri"/>
            </a:endParaRPr>
          </a:p>
        </p:txBody>
      </p:sp>
      <p:sp>
        <p:nvSpPr>
          <p:cNvPr id="5" name="object 5"/>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4</a:t>
            </a:r>
            <a:endParaRPr sz="1200">
              <a:latin typeface="Calibri"/>
              <a:cs typeface="Calibri"/>
            </a:endParaRPr>
          </a:p>
        </p:txBody>
      </p:sp>
      <p:pic>
        <p:nvPicPr>
          <p:cNvPr id="6" name="Picture 5">
            <a:extLst>
              <a:ext uri="{FF2B5EF4-FFF2-40B4-BE49-F238E27FC236}">
                <a16:creationId xmlns:a16="http://schemas.microsoft.com/office/drawing/2014/main" id="{77069195-BBCD-EA6A-2E53-6B031C6ADF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96989" y="2642046"/>
            <a:ext cx="3723322" cy="2606574"/>
          </a:xfrm>
          <a:prstGeom prst="rect">
            <a:avLst/>
          </a:prstGeom>
        </p:spPr>
      </p:pic>
      <p:sp>
        <p:nvSpPr>
          <p:cNvPr id="3" name="object 3"/>
          <p:cNvSpPr txBox="1"/>
          <p:nvPr/>
        </p:nvSpPr>
        <p:spPr>
          <a:xfrm>
            <a:off x="514509" y="1645411"/>
            <a:ext cx="7698105" cy="4597400"/>
          </a:xfrm>
          <a:prstGeom prst="rect">
            <a:avLst/>
          </a:prstGeom>
        </p:spPr>
        <p:txBody>
          <a:bodyPr vert="horz" wrap="square" lIns="0" tIns="12700" rIns="0" bIns="0" rtlCol="0">
            <a:spAutoFit/>
          </a:bodyPr>
          <a:lstStyle/>
          <a:p>
            <a:pPr marL="224154" indent="-211454" algn="just">
              <a:lnSpc>
                <a:spcPct val="100000"/>
              </a:lnSpc>
              <a:spcBef>
                <a:spcPts val="100"/>
              </a:spcBef>
              <a:buFont typeface="Arial MT"/>
              <a:buChar char="•"/>
              <a:tabLst>
                <a:tab pos="224154" algn="l"/>
              </a:tabLst>
            </a:pPr>
            <a:r>
              <a:rPr sz="3000" dirty="0">
                <a:latin typeface="Calibri"/>
                <a:cs typeface="Calibri"/>
              </a:rPr>
              <a:t>Example:</a:t>
            </a:r>
            <a:r>
              <a:rPr sz="3000" spc="-75" dirty="0">
                <a:latin typeface="Calibri"/>
                <a:cs typeface="Calibri"/>
              </a:rPr>
              <a:t> </a:t>
            </a:r>
            <a:r>
              <a:rPr sz="3000" spc="-10" dirty="0">
                <a:latin typeface="Calibri"/>
                <a:cs typeface="Calibri"/>
              </a:rPr>
              <a:t>development</a:t>
            </a:r>
            <a:r>
              <a:rPr sz="3000" spc="-80" dirty="0">
                <a:latin typeface="Calibri"/>
                <a:cs typeface="Calibri"/>
              </a:rPr>
              <a:t> </a:t>
            </a:r>
            <a:r>
              <a:rPr sz="3000" dirty="0">
                <a:latin typeface="Calibri"/>
                <a:cs typeface="Calibri"/>
              </a:rPr>
              <a:t>of</a:t>
            </a:r>
            <a:r>
              <a:rPr sz="3000" spc="-75" dirty="0">
                <a:latin typeface="Calibri"/>
                <a:cs typeface="Calibri"/>
              </a:rPr>
              <a:t> </a:t>
            </a:r>
            <a:r>
              <a:rPr sz="3000" dirty="0">
                <a:latin typeface="Calibri"/>
                <a:cs typeface="Calibri"/>
              </a:rPr>
              <a:t>a</a:t>
            </a:r>
            <a:r>
              <a:rPr sz="3000" spc="-70" dirty="0">
                <a:latin typeface="Calibri"/>
                <a:cs typeface="Calibri"/>
              </a:rPr>
              <a:t> </a:t>
            </a:r>
            <a:r>
              <a:rPr sz="3000" dirty="0">
                <a:latin typeface="Calibri"/>
                <a:cs typeface="Calibri"/>
              </a:rPr>
              <a:t>new</a:t>
            </a:r>
            <a:r>
              <a:rPr sz="3000" spc="-70" dirty="0">
                <a:latin typeface="Calibri"/>
                <a:cs typeface="Calibri"/>
              </a:rPr>
              <a:t> </a:t>
            </a:r>
            <a:r>
              <a:rPr sz="3000" dirty="0">
                <a:latin typeface="Calibri"/>
                <a:cs typeface="Calibri"/>
              </a:rPr>
              <a:t>wireless</a:t>
            </a:r>
            <a:r>
              <a:rPr sz="3000" spc="-65" dirty="0">
                <a:latin typeface="Calibri"/>
                <a:cs typeface="Calibri"/>
              </a:rPr>
              <a:t> </a:t>
            </a:r>
            <a:r>
              <a:rPr sz="3000" spc="-10" dirty="0">
                <a:latin typeface="Calibri"/>
                <a:cs typeface="Calibri"/>
              </a:rPr>
              <a:t>router.</a:t>
            </a:r>
            <a:endParaRPr sz="3000">
              <a:latin typeface="Calibri"/>
              <a:cs typeface="Calibri"/>
            </a:endParaRPr>
          </a:p>
          <a:p>
            <a:pPr marL="224154" marR="5080" indent="-211454" algn="just">
              <a:lnSpc>
                <a:spcPct val="100000"/>
              </a:lnSpc>
              <a:buFont typeface="Arial MT"/>
              <a:buChar char="•"/>
              <a:tabLst>
                <a:tab pos="224154" algn="l"/>
              </a:tabLst>
            </a:pPr>
            <a:r>
              <a:rPr sz="3000" dirty="0">
                <a:latin typeface="Calibri"/>
                <a:cs typeface="Calibri"/>
              </a:rPr>
              <a:t>Because</a:t>
            </a:r>
            <a:r>
              <a:rPr sz="3000" spc="450" dirty="0">
                <a:latin typeface="Calibri"/>
                <a:cs typeface="Calibri"/>
              </a:rPr>
              <a:t> </a:t>
            </a:r>
            <a:r>
              <a:rPr sz="3000" i="1" dirty="0">
                <a:latin typeface="Calibri"/>
                <a:cs typeface="Calibri"/>
              </a:rPr>
              <a:t>time</a:t>
            </a:r>
            <a:r>
              <a:rPr sz="3000" i="1" spc="465" dirty="0">
                <a:latin typeface="Calibri"/>
                <a:cs typeface="Calibri"/>
              </a:rPr>
              <a:t> </a:t>
            </a:r>
            <a:r>
              <a:rPr sz="3000" dirty="0">
                <a:latin typeface="Calibri"/>
                <a:cs typeface="Calibri"/>
              </a:rPr>
              <a:t>to</a:t>
            </a:r>
            <a:r>
              <a:rPr sz="3000" spc="459" dirty="0">
                <a:latin typeface="Calibri"/>
                <a:cs typeface="Calibri"/>
              </a:rPr>
              <a:t> </a:t>
            </a:r>
            <a:r>
              <a:rPr sz="3000" dirty="0">
                <a:latin typeface="Calibri"/>
                <a:cs typeface="Calibri"/>
              </a:rPr>
              <a:t>market</a:t>
            </a:r>
            <a:r>
              <a:rPr sz="3000" spc="455" dirty="0">
                <a:latin typeface="Calibri"/>
                <a:cs typeface="Calibri"/>
              </a:rPr>
              <a:t> </a:t>
            </a:r>
            <a:r>
              <a:rPr sz="3000" dirty="0">
                <a:latin typeface="Calibri"/>
                <a:cs typeface="Calibri"/>
              </a:rPr>
              <a:t>is</a:t>
            </a:r>
            <a:r>
              <a:rPr sz="3000" spc="459" dirty="0">
                <a:latin typeface="Calibri"/>
                <a:cs typeface="Calibri"/>
              </a:rPr>
              <a:t> </a:t>
            </a:r>
            <a:r>
              <a:rPr sz="3000" dirty="0">
                <a:latin typeface="Calibri"/>
                <a:cs typeface="Calibri"/>
              </a:rPr>
              <a:t>important</a:t>
            </a:r>
            <a:r>
              <a:rPr sz="3000" spc="455" dirty="0">
                <a:latin typeface="Calibri"/>
                <a:cs typeface="Calibri"/>
              </a:rPr>
              <a:t> </a:t>
            </a:r>
            <a:r>
              <a:rPr sz="3000" dirty="0">
                <a:latin typeface="Calibri"/>
                <a:cs typeface="Calibri"/>
              </a:rPr>
              <a:t>to</a:t>
            </a:r>
            <a:r>
              <a:rPr sz="3000" spc="459" dirty="0">
                <a:latin typeface="Calibri"/>
                <a:cs typeface="Calibri"/>
              </a:rPr>
              <a:t> </a:t>
            </a:r>
            <a:r>
              <a:rPr sz="3000" spc="-10" dirty="0">
                <a:latin typeface="Calibri"/>
                <a:cs typeface="Calibri"/>
              </a:rPr>
              <a:t>sales, </a:t>
            </a:r>
            <a:r>
              <a:rPr sz="3000" dirty="0">
                <a:latin typeface="Calibri"/>
                <a:cs typeface="Calibri"/>
              </a:rPr>
              <a:t>the</a:t>
            </a:r>
            <a:r>
              <a:rPr sz="3000" spc="390" dirty="0">
                <a:latin typeface="Calibri"/>
                <a:cs typeface="Calibri"/>
              </a:rPr>
              <a:t>  </a:t>
            </a:r>
            <a:r>
              <a:rPr sz="3000" dirty="0">
                <a:latin typeface="Calibri"/>
                <a:cs typeface="Calibri"/>
              </a:rPr>
              <a:t>project</a:t>
            </a:r>
            <a:r>
              <a:rPr sz="3000" spc="395" dirty="0">
                <a:latin typeface="Calibri"/>
                <a:cs typeface="Calibri"/>
              </a:rPr>
              <a:t>  </a:t>
            </a:r>
            <a:r>
              <a:rPr sz="3000" dirty="0">
                <a:latin typeface="Calibri"/>
                <a:cs typeface="Calibri"/>
              </a:rPr>
              <a:t>manager</a:t>
            </a:r>
            <a:r>
              <a:rPr sz="3000" spc="395" dirty="0">
                <a:latin typeface="Calibri"/>
                <a:cs typeface="Calibri"/>
              </a:rPr>
              <a:t>  </a:t>
            </a:r>
            <a:r>
              <a:rPr sz="3000" dirty="0">
                <a:latin typeface="Calibri"/>
                <a:cs typeface="Calibri"/>
              </a:rPr>
              <a:t>is</a:t>
            </a:r>
            <a:r>
              <a:rPr sz="3000" spc="395" dirty="0">
                <a:latin typeface="Calibri"/>
                <a:cs typeface="Calibri"/>
              </a:rPr>
              <a:t>  </a:t>
            </a:r>
            <a:r>
              <a:rPr sz="3000" dirty="0">
                <a:latin typeface="Calibri"/>
                <a:cs typeface="Calibri"/>
              </a:rPr>
              <a:t>instructed</a:t>
            </a:r>
            <a:r>
              <a:rPr sz="3000" spc="395" dirty="0">
                <a:latin typeface="Calibri"/>
                <a:cs typeface="Calibri"/>
              </a:rPr>
              <a:t>  </a:t>
            </a:r>
            <a:r>
              <a:rPr sz="3000" dirty="0">
                <a:latin typeface="Calibri"/>
                <a:cs typeface="Calibri"/>
              </a:rPr>
              <a:t>to</a:t>
            </a:r>
            <a:r>
              <a:rPr sz="3000" spc="400" dirty="0">
                <a:latin typeface="Calibri"/>
                <a:cs typeface="Calibri"/>
              </a:rPr>
              <a:t>  </a:t>
            </a:r>
            <a:r>
              <a:rPr sz="3000" spc="-20" dirty="0">
                <a:latin typeface="Calibri"/>
                <a:cs typeface="Calibri"/>
              </a:rPr>
              <a:t>take </a:t>
            </a:r>
            <a:r>
              <a:rPr sz="3000" dirty="0">
                <a:latin typeface="Calibri"/>
                <a:cs typeface="Calibri"/>
              </a:rPr>
              <a:t>advantage</a:t>
            </a:r>
            <a:r>
              <a:rPr sz="3000" spc="409" dirty="0">
                <a:latin typeface="Calibri"/>
                <a:cs typeface="Calibri"/>
              </a:rPr>
              <a:t>  </a:t>
            </a:r>
            <a:r>
              <a:rPr sz="3000" dirty="0">
                <a:latin typeface="Calibri"/>
                <a:cs typeface="Calibri"/>
              </a:rPr>
              <a:t>of</a:t>
            </a:r>
            <a:r>
              <a:rPr sz="3000" spc="409" dirty="0">
                <a:latin typeface="Calibri"/>
                <a:cs typeface="Calibri"/>
              </a:rPr>
              <a:t>  </a:t>
            </a:r>
            <a:r>
              <a:rPr sz="3000" dirty="0">
                <a:latin typeface="Calibri"/>
                <a:cs typeface="Calibri"/>
              </a:rPr>
              <a:t>every</a:t>
            </a:r>
            <a:r>
              <a:rPr sz="3000" spc="415" dirty="0">
                <a:latin typeface="Calibri"/>
                <a:cs typeface="Calibri"/>
              </a:rPr>
              <a:t>  </a:t>
            </a:r>
            <a:r>
              <a:rPr sz="3000" dirty="0">
                <a:latin typeface="Calibri"/>
                <a:cs typeface="Calibri"/>
              </a:rPr>
              <a:t>opportunity</a:t>
            </a:r>
            <a:r>
              <a:rPr sz="3000" spc="415" dirty="0">
                <a:latin typeface="Calibri"/>
                <a:cs typeface="Calibri"/>
              </a:rPr>
              <a:t>  </a:t>
            </a:r>
            <a:r>
              <a:rPr sz="3000" dirty="0">
                <a:latin typeface="Calibri"/>
                <a:cs typeface="Calibri"/>
              </a:rPr>
              <a:t>to</a:t>
            </a:r>
            <a:r>
              <a:rPr sz="3000" spc="415" dirty="0">
                <a:latin typeface="Calibri"/>
                <a:cs typeface="Calibri"/>
              </a:rPr>
              <a:t>  </a:t>
            </a:r>
            <a:r>
              <a:rPr sz="3000" spc="-10" dirty="0">
                <a:latin typeface="Calibri"/>
                <a:cs typeface="Calibri"/>
              </a:rPr>
              <a:t>reduce </a:t>
            </a:r>
            <a:r>
              <a:rPr sz="3000" dirty="0">
                <a:latin typeface="Calibri"/>
                <a:cs typeface="Calibri"/>
              </a:rPr>
              <a:t>completion</a:t>
            </a:r>
            <a:r>
              <a:rPr sz="3000" spc="-135" dirty="0">
                <a:latin typeface="Calibri"/>
                <a:cs typeface="Calibri"/>
              </a:rPr>
              <a:t> </a:t>
            </a:r>
            <a:r>
              <a:rPr sz="3000" spc="-20" dirty="0">
                <a:latin typeface="Calibri"/>
                <a:cs typeface="Calibri"/>
              </a:rPr>
              <a:t>time.</a:t>
            </a:r>
            <a:endParaRPr sz="3000">
              <a:latin typeface="Calibri"/>
              <a:cs typeface="Calibri"/>
            </a:endParaRPr>
          </a:p>
          <a:p>
            <a:pPr marL="224154" marR="5715" indent="-211454" algn="just">
              <a:lnSpc>
                <a:spcPct val="100000"/>
              </a:lnSpc>
              <a:buFont typeface="Arial MT"/>
              <a:buChar char="•"/>
              <a:tabLst>
                <a:tab pos="224154" algn="l"/>
              </a:tabLst>
            </a:pPr>
            <a:r>
              <a:rPr sz="3000" dirty="0">
                <a:latin typeface="Calibri"/>
                <a:cs typeface="Calibri"/>
              </a:rPr>
              <a:t>In</a:t>
            </a:r>
            <a:r>
              <a:rPr sz="3000" spc="40" dirty="0">
                <a:latin typeface="Calibri"/>
                <a:cs typeface="Calibri"/>
              </a:rPr>
              <a:t>  </a:t>
            </a:r>
            <a:r>
              <a:rPr sz="3000" dirty="0">
                <a:latin typeface="Calibri"/>
                <a:cs typeface="Calibri"/>
              </a:rPr>
              <a:t>doing</a:t>
            </a:r>
            <a:r>
              <a:rPr sz="3000" spc="40" dirty="0">
                <a:latin typeface="Calibri"/>
                <a:cs typeface="Calibri"/>
              </a:rPr>
              <a:t>  </a:t>
            </a:r>
            <a:r>
              <a:rPr sz="3000" dirty="0">
                <a:latin typeface="Calibri"/>
                <a:cs typeface="Calibri"/>
              </a:rPr>
              <a:t>so,</a:t>
            </a:r>
            <a:r>
              <a:rPr sz="3000" spc="45" dirty="0">
                <a:latin typeface="Calibri"/>
                <a:cs typeface="Calibri"/>
              </a:rPr>
              <a:t>  </a:t>
            </a:r>
            <a:r>
              <a:rPr sz="3000" dirty="0">
                <a:latin typeface="Calibri"/>
                <a:cs typeface="Calibri"/>
              </a:rPr>
              <a:t>going</a:t>
            </a:r>
            <a:r>
              <a:rPr sz="3000" spc="40" dirty="0">
                <a:latin typeface="Calibri"/>
                <a:cs typeface="Calibri"/>
              </a:rPr>
              <a:t>  </a:t>
            </a:r>
            <a:r>
              <a:rPr sz="3000" dirty="0">
                <a:latin typeface="Calibri"/>
                <a:cs typeface="Calibri"/>
              </a:rPr>
              <a:t>over</a:t>
            </a:r>
            <a:r>
              <a:rPr sz="3000" spc="45" dirty="0">
                <a:latin typeface="Calibri"/>
                <a:cs typeface="Calibri"/>
              </a:rPr>
              <a:t>  </a:t>
            </a:r>
            <a:r>
              <a:rPr sz="3000" i="1" dirty="0">
                <a:latin typeface="Calibri"/>
                <a:cs typeface="Calibri"/>
              </a:rPr>
              <a:t>budget</a:t>
            </a:r>
            <a:r>
              <a:rPr sz="3000" i="1" spc="35" dirty="0">
                <a:latin typeface="Calibri"/>
                <a:cs typeface="Calibri"/>
              </a:rPr>
              <a:t>  </a:t>
            </a:r>
            <a:r>
              <a:rPr sz="3000" dirty="0">
                <a:latin typeface="Calibri"/>
                <a:cs typeface="Calibri"/>
              </a:rPr>
              <a:t>is</a:t>
            </a:r>
            <a:r>
              <a:rPr sz="3000" spc="45" dirty="0">
                <a:latin typeface="Calibri"/>
                <a:cs typeface="Calibri"/>
              </a:rPr>
              <a:t>  </a:t>
            </a:r>
            <a:r>
              <a:rPr sz="3000" spc="-10" dirty="0">
                <a:latin typeface="Calibri"/>
                <a:cs typeface="Calibri"/>
              </a:rPr>
              <a:t>acceptable </a:t>
            </a:r>
            <a:r>
              <a:rPr sz="3000" dirty="0">
                <a:latin typeface="Calibri"/>
                <a:cs typeface="Calibri"/>
              </a:rPr>
              <a:t>though</a:t>
            </a:r>
            <a:r>
              <a:rPr sz="3000" spc="-45" dirty="0">
                <a:latin typeface="Calibri"/>
                <a:cs typeface="Calibri"/>
              </a:rPr>
              <a:t> </a:t>
            </a:r>
            <a:r>
              <a:rPr sz="3000" dirty="0">
                <a:latin typeface="Calibri"/>
                <a:cs typeface="Calibri"/>
              </a:rPr>
              <a:t>not</a:t>
            </a:r>
            <a:r>
              <a:rPr sz="3000" spc="-45" dirty="0">
                <a:latin typeface="Calibri"/>
                <a:cs typeface="Calibri"/>
              </a:rPr>
              <a:t> </a:t>
            </a:r>
            <a:r>
              <a:rPr sz="3000" spc="-10" dirty="0">
                <a:latin typeface="Calibri"/>
                <a:cs typeface="Calibri"/>
              </a:rPr>
              <a:t>desirable.</a:t>
            </a:r>
            <a:endParaRPr sz="3000">
              <a:latin typeface="Calibri"/>
              <a:cs typeface="Calibri"/>
            </a:endParaRPr>
          </a:p>
          <a:p>
            <a:pPr marL="224154" marR="6350" indent="-211454" algn="just">
              <a:lnSpc>
                <a:spcPct val="100000"/>
              </a:lnSpc>
              <a:buFont typeface="Arial MT"/>
              <a:buChar char="•"/>
              <a:tabLst>
                <a:tab pos="224154" algn="l"/>
              </a:tabLst>
            </a:pPr>
            <a:r>
              <a:rPr sz="3000" dirty="0">
                <a:latin typeface="Calibri"/>
                <a:cs typeface="Calibri"/>
              </a:rPr>
              <a:t>At</a:t>
            </a:r>
            <a:r>
              <a:rPr sz="3000" spc="170" dirty="0">
                <a:latin typeface="Calibri"/>
                <a:cs typeface="Calibri"/>
              </a:rPr>
              <a:t>  </a:t>
            </a:r>
            <a:r>
              <a:rPr sz="3000" dirty="0">
                <a:latin typeface="Calibri"/>
                <a:cs typeface="Calibri"/>
              </a:rPr>
              <a:t>the</a:t>
            </a:r>
            <a:r>
              <a:rPr sz="3000" spc="170" dirty="0">
                <a:latin typeface="Calibri"/>
                <a:cs typeface="Calibri"/>
              </a:rPr>
              <a:t>  </a:t>
            </a:r>
            <a:r>
              <a:rPr sz="3000" dirty="0">
                <a:latin typeface="Calibri"/>
                <a:cs typeface="Calibri"/>
              </a:rPr>
              <a:t>same</a:t>
            </a:r>
            <a:r>
              <a:rPr sz="3000" spc="165" dirty="0">
                <a:latin typeface="Calibri"/>
                <a:cs typeface="Calibri"/>
              </a:rPr>
              <a:t>  </a:t>
            </a:r>
            <a:r>
              <a:rPr sz="3000" dirty="0">
                <a:latin typeface="Calibri"/>
                <a:cs typeface="Calibri"/>
              </a:rPr>
              <a:t>time,</a:t>
            </a:r>
            <a:r>
              <a:rPr sz="3000" spc="175" dirty="0">
                <a:latin typeface="Calibri"/>
                <a:cs typeface="Calibri"/>
              </a:rPr>
              <a:t>  </a:t>
            </a:r>
            <a:r>
              <a:rPr sz="3000" dirty="0">
                <a:latin typeface="Calibri"/>
                <a:cs typeface="Calibri"/>
              </a:rPr>
              <a:t>the</a:t>
            </a:r>
            <a:r>
              <a:rPr sz="3000" spc="170" dirty="0">
                <a:latin typeface="Calibri"/>
                <a:cs typeface="Calibri"/>
              </a:rPr>
              <a:t>  </a:t>
            </a:r>
            <a:r>
              <a:rPr sz="3000" dirty="0">
                <a:latin typeface="Calibri"/>
                <a:cs typeface="Calibri"/>
              </a:rPr>
              <a:t>original</a:t>
            </a:r>
            <a:r>
              <a:rPr sz="3000" spc="170" dirty="0">
                <a:latin typeface="Calibri"/>
                <a:cs typeface="Calibri"/>
              </a:rPr>
              <a:t>  </a:t>
            </a:r>
            <a:r>
              <a:rPr sz="3000" i="1" spc="-10" dirty="0">
                <a:latin typeface="Calibri"/>
                <a:cs typeface="Calibri"/>
              </a:rPr>
              <a:t>performance </a:t>
            </a:r>
            <a:r>
              <a:rPr sz="3000" dirty="0">
                <a:latin typeface="Calibri"/>
                <a:cs typeface="Calibri"/>
              </a:rPr>
              <a:t>specifications</a:t>
            </a:r>
            <a:r>
              <a:rPr sz="3000" spc="535" dirty="0">
                <a:latin typeface="Calibri"/>
                <a:cs typeface="Calibri"/>
              </a:rPr>
              <a:t>  </a:t>
            </a:r>
            <a:r>
              <a:rPr sz="3000" dirty="0">
                <a:latin typeface="Calibri"/>
                <a:cs typeface="Calibri"/>
              </a:rPr>
              <a:t>for</a:t>
            </a:r>
            <a:r>
              <a:rPr sz="3000" spc="540" dirty="0">
                <a:latin typeface="Calibri"/>
                <a:cs typeface="Calibri"/>
              </a:rPr>
              <a:t>  </a:t>
            </a:r>
            <a:r>
              <a:rPr sz="3000" dirty="0">
                <a:latin typeface="Calibri"/>
                <a:cs typeface="Calibri"/>
              </a:rPr>
              <a:t>the</a:t>
            </a:r>
            <a:r>
              <a:rPr sz="3000" spc="535" dirty="0">
                <a:latin typeface="Calibri"/>
                <a:cs typeface="Calibri"/>
              </a:rPr>
              <a:t>  </a:t>
            </a:r>
            <a:r>
              <a:rPr sz="3000" dirty="0">
                <a:latin typeface="Calibri"/>
                <a:cs typeface="Calibri"/>
              </a:rPr>
              <a:t>modem</a:t>
            </a:r>
            <a:r>
              <a:rPr sz="3000" spc="540" dirty="0">
                <a:latin typeface="Calibri"/>
                <a:cs typeface="Calibri"/>
              </a:rPr>
              <a:t>  </a:t>
            </a:r>
            <a:r>
              <a:rPr sz="3000" dirty="0">
                <a:latin typeface="Calibri"/>
                <a:cs typeface="Calibri"/>
              </a:rPr>
              <a:t>as</a:t>
            </a:r>
            <a:r>
              <a:rPr sz="3000" spc="535" dirty="0">
                <a:latin typeface="Calibri"/>
                <a:cs typeface="Calibri"/>
              </a:rPr>
              <a:t>  </a:t>
            </a:r>
            <a:r>
              <a:rPr sz="3000" dirty="0">
                <a:latin typeface="Calibri"/>
                <a:cs typeface="Calibri"/>
              </a:rPr>
              <a:t>well</a:t>
            </a:r>
            <a:r>
              <a:rPr sz="3000" spc="540" dirty="0">
                <a:latin typeface="Calibri"/>
                <a:cs typeface="Calibri"/>
              </a:rPr>
              <a:t>  </a:t>
            </a:r>
            <a:r>
              <a:rPr sz="3000" spc="-25" dirty="0">
                <a:latin typeface="Calibri"/>
                <a:cs typeface="Calibri"/>
              </a:rPr>
              <a:t>as </a:t>
            </a:r>
            <a:r>
              <a:rPr sz="3000" dirty="0">
                <a:latin typeface="Calibri"/>
                <a:cs typeface="Calibri"/>
              </a:rPr>
              <a:t>reliability</a:t>
            </a:r>
            <a:r>
              <a:rPr sz="3000" spc="-85" dirty="0">
                <a:latin typeface="Calibri"/>
                <a:cs typeface="Calibri"/>
              </a:rPr>
              <a:t> </a:t>
            </a:r>
            <a:r>
              <a:rPr sz="3000" spc="-10" dirty="0">
                <a:latin typeface="Calibri"/>
                <a:cs typeface="Calibri"/>
              </a:rPr>
              <a:t>standards</a:t>
            </a:r>
            <a:r>
              <a:rPr sz="3000" spc="-85" dirty="0">
                <a:latin typeface="Calibri"/>
                <a:cs typeface="Calibri"/>
              </a:rPr>
              <a:t> </a:t>
            </a:r>
            <a:r>
              <a:rPr sz="3000" dirty="0">
                <a:latin typeface="Calibri"/>
                <a:cs typeface="Calibri"/>
              </a:rPr>
              <a:t>cannot</a:t>
            </a:r>
            <a:r>
              <a:rPr sz="3000" spc="-90" dirty="0">
                <a:latin typeface="Calibri"/>
                <a:cs typeface="Calibri"/>
              </a:rPr>
              <a:t> </a:t>
            </a:r>
            <a:r>
              <a:rPr sz="3000" dirty="0">
                <a:latin typeface="Calibri"/>
                <a:cs typeface="Calibri"/>
              </a:rPr>
              <a:t>be</a:t>
            </a:r>
            <a:r>
              <a:rPr sz="3000" spc="-95" dirty="0">
                <a:latin typeface="Calibri"/>
                <a:cs typeface="Calibri"/>
              </a:rPr>
              <a:t> </a:t>
            </a:r>
            <a:r>
              <a:rPr sz="3000" spc="-10" dirty="0">
                <a:latin typeface="Calibri"/>
                <a:cs typeface="Calibri"/>
              </a:rPr>
              <a:t>compromised.</a:t>
            </a:r>
            <a:endParaRPr sz="30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17</a:t>
            </a:fld>
            <a:endParaRPr spc="-50" dirty="0"/>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Priority matrix </a:t>
            </a:r>
            <a:r>
              <a:rPr sz="1950" spc="-10" dirty="0"/>
              <a:t>(2/3)</a:t>
            </a:r>
            <a:endParaRPr sz="1950" dirty="0"/>
          </a:p>
        </p:txBody>
      </p:sp>
      <p:pic>
        <p:nvPicPr>
          <p:cNvPr id="6" name="Picture 5">
            <a:extLst>
              <a:ext uri="{FF2B5EF4-FFF2-40B4-BE49-F238E27FC236}">
                <a16:creationId xmlns:a16="http://schemas.microsoft.com/office/drawing/2014/main" id="{48DF57A7-F028-0999-E203-C8082C11B1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585467"/>
            <a:ext cx="10358755" cy="4920615"/>
          </a:xfrm>
          <a:prstGeom prst="rect">
            <a:avLst/>
          </a:prstGeom>
        </p:spPr>
        <p:txBody>
          <a:bodyPr vert="horz" wrap="square" lIns="0" tIns="63500" rIns="0" bIns="0" rtlCol="0">
            <a:spAutoFit/>
          </a:bodyPr>
          <a:lstStyle/>
          <a:p>
            <a:pPr marL="241300" marR="6350" indent="-228600" algn="just">
              <a:lnSpc>
                <a:spcPts val="3000"/>
              </a:lnSpc>
              <a:spcBef>
                <a:spcPts val="500"/>
              </a:spcBef>
              <a:buFont typeface="Arial MT"/>
              <a:buChar char="•"/>
              <a:tabLst>
                <a:tab pos="241300" algn="l"/>
              </a:tabLst>
            </a:pPr>
            <a:r>
              <a:rPr sz="2800" dirty="0">
                <a:latin typeface="Calibri"/>
                <a:cs typeface="Calibri"/>
              </a:rPr>
              <a:t>For</a:t>
            </a:r>
            <a:r>
              <a:rPr sz="2800" spc="55" dirty="0">
                <a:latin typeface="Calibri"/>
                <a:cs typeface="Calibri"/>
              </a:rPr>
              <a:t> </a:t>
            </a:r>
            <a:r>
              <a:rPr sz="2800" dirty="0">
                <a:latin typeface="Calibri"/>
                <a:cs typeface="Calibri"/>
              </a:rPr>
              <a:t>many</a:t>
            </a:r>
            <a:r>
              <a:rPr sz="2800" spc="50" dirty="0">
                <a:latin typeface="Calibri"/>
                <a:cs typeface="Calibri"/>
              </a:rPr>
              <a:t> </a:t>
            </a:r>
            <a:r>
              <a:rPr sz="2800" dirty="0">
                <a:latin typeface="Calibri"/>
                <a:cs typeface="Calibri"/>
              </a:rPr>
              <a:t>software</a:t>
            </a:r>
            <a:r>
              <a:rPr sz="2800" spc="55" dirty="0">
                <a:latin typeface="Calibri"/>
                <a:cs typeface="Calibri"/>
              </a:rPr>
              <a:t> </a:t>
            </a:r>
            <a:r>
              <a:rPr sz="2800" dirty="0">
                <a:latin typeface="Calibri"/>
                <a:cs typeface="Calibri"/>
              </a:rPr>
              <a:t>projects,</a:t>
            </a:r>
            <a:r>
              <a:rPr sz="2800" spc="55" dirty="0">
                <a:latin typeface="Calibri"/>
                <a:cs typeface="Calibri"/>
              </a:rPr>
              <a:t> </a:t>
            </a:r>
            <a:r>
              <a:rPr sz="2800" dirty="0">
                <a:latin typeface="Calibri"/>
                <a:cs typeface="Calibri"/>
              </a:rPr>
              <a:t>time</a:t>
            </a:r>
            <a:r>
              <a:rPr sz="2800" spc="55" dirty="0">
                <a:latin typeface="Calibri"/>
                <a:cs typeface="Calibri"/>
              </a:rPr>
              <a:t> </a:t>
            </a:r>
            <a:r>
              <a:rPr sz="2800" dirty="0">
                <a:latin typeface="Calibri"/>
                <a:cs typeface="Calibri"/>
              </a:rPr>
              <a:t>to</a:t>
            </a:r>
            <a:r>
              <a:rPr sz="2800" spc="55" dirty="0">
                <a:latin typeface="Calibri"/>
                <a:cs typeface="Calibri"/>
              </a:rPr>
              <a:t> </a:t>
            </a:r>
            <a:r>
              <a:rPr sz="2800" dirty="0">
                <a:latin typeface="Calibri"/>
                <a:cs typeface="Calibri"/>
              </a:rPr>
              <a:t>market</a:t>
            </a:r>
            <a:r>
              <a:rPr sz="2800" spc="60" dirty="0">
                <a:latin typeface="Calibri"/>
                <a:cs typeface="Calibri"/>
              </a:rPr>
              <a:t> </a:t>
            </a:r>
            <a:r>
              <a:rPr sz="2800" dirty="0">
                <a:latin typeface="Calibri"/>
                <a:cs typeface="Calibri"/>
              </a:rPr>
              <a:t>is</a:t>
            </a:r>
            <a:r>
              <a:rPr sz="2800" spc="60" dirty="0">
                <a:latin typeface="Calibri"/>
                <a:cs typeface="Calibri"/>
              </a:rPr>
              <a:t> </a:t>
            </a:r>
            <a:r>
              <a:rPr sz="2800" dirty="0">
                <a:latin typeface="Calibri"/>
                <a:cs typeface="Calibri"/>
              </a:rPr>
              <a:t>critical,</a:t>
            </a:r>
            <a:r>
              <a:rPr sz="2800" spc="55" dirty="0">
                <a:latin typeface="Calibri"/>
                <a:cs typeface="Calibri"/>
              </a:rPr>
              <a:t> </a:t>
            </a:r>
            <a:r>
              <a:rPr sz="2800" dirty="0">
                <a:latin typeface="Calibri"/>
                <a:cs typeface="Calibri"/>
              </a:rPr>
              <a:t>and</a:t>
            </a:r>
            <a:r>
              <a:rPr sz="2800" spc="60" dirty="0">
                <a:latin typeface="Calibri"/>
                <a:cs typeface="Calibri"/>
              </a:rPr>
              <a:t> </a:t>
            </a:r>
            <a:r>
              <a:rPr sz="2800" spc="-10" dirty="0">
                <a:latin typeface="Calibri"/>
                <a:cs typeface="Calibri"/>
              </a:rPr>
              <a:t>companies </a:t>
            </a:r>
            <a:r>
              <a:rPr sz="2800" dirty="0">
                <a:latin typeface="Calibri"/>
                <a:cs typeface="Calibri"/>
              </a:rPr>
              <a:t>like</a:t>
            </a:r>
            <a:r>
              <a:rPr sz="2800" spc="-5" dirty="0">
                <a:latin typeface="Calibri"/>
                <a:cs typeface="Calibri"/>
              </a:rPr>
              <a:t> </a:t>
            </a:r>
            <a:r>
              <a:rPr sz="2800" dirty="0">
                <a:latin typeface="Calibri"/>
                <a:cs typeface="Calibri"/>
              </a:rPr>
              <a:t>Microsoft</a:t>
            </a:r>
            <a:r>
              <a:rPr sz="2800" spc="5" dirty="0">
                <a:latin typeface="Calibri"/>
                <a:cs typeface="Calibri"/>
              </a:rPr>
              <a:t> </a:t>
            </a:r>
            <a:r>
              <a:rPr sz="2800" dirty="0">
                <a:latin typeface="Calibri"/>
                <a:cs typeface="Calibri"/>
              </a:rPr>
              <a:t>may defer original</a:t>
            </a:r>
            <a:r>
              <a:rPr sz="2800" spc="-5" dirty="0">
                <a:latin typeface="Calibri"/>
                <a:cs typeface="Calibri"/>
              </a:rPr>
              <a:t> </a:t>
            </a:r>
            <a:r>
              <a:rPr sz="2800" dirty="0">
                <a:latin typeface="Calibri"/>
                <a:cs typeface="Calibri"/>
              </a:rPr>
              <a:t>scope</a:t>
            </a:r>
            <a:r>
              <a:rPr sz="2800" spc="-5" dirty="0">
                <a:latin typeface="Calibri"/>
                <a:cs typeface="Calibri"/>
              </a:rPr>
              <a:t> </a:t>
            </a:r>
            <a:r>
              <a:rPr sz="2800" dirty="0">
                <a:latin typeface="Calibri"/>
                <a:cs typeface="Calibri"/>
              </a:rPr>
              <a:t>requirements to</a:t>
            </a:r>
            <a:r>
              <a:rPr sz="2800" spc="5" dirty="0">
                <a:latin typeface="Calibri"/>
                <a:cs typeface="Calibri"/>
              </a:rPr>
              <a:t> </a:t>
            </a:r>
            <a:r>
              <a:rPr sz="2800" dirty="0">
                <a:latin typeface="Calibri"/>
                <a:cs typeface="Calibri"/>
              </a:rPr>
              <a:t>later </a:t>
            </a:r>
            <a:r>
              <a:rPr sz="2800" spc="-10" dirty="0">
                <a:latin typeface="Calibri"/>
                <a:cs typeface="Calibri"/>
              </a:rPr>
              <a:t>versions </a:t>
            </a:r>
            <a:r>
              <a:rPr sz="2800" dirty="0">
                <a:latin typeface="Calibri"/>
                <a:cs typeface="Calibri"/>
              </a:rPr>
              <a:t>in</a:t>
            </a:r>
            <a:r>
              <a:rPr sz="2800" spc="-45" dirty="0">
                <a:latin typeface="Calibri"/>
                <a:cs typeface="Calibri"/>
              </a:rPr>
              <a:t> </a:t>
            </a:r>
            <a:r>
              <a:rPr sz="2800" dirty="0">
                <a:latin typeface="Calibri"/>
                <a:cs typeface="Calibri"/>
              </a:rPr>
              <a:t>order</a:t>
            </a:r>
            <a:r>
              <a:rPr sz="2800" spc="-55"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get</a:t>
            </a:r>
            <a:r>
              <a:rPr sz="2800" spc="-50" dirty="0">
                <a:latin typeface="Calibri"/>
                <a:cs typeface="Calibri"/>
              </a:rPr>
              <a:t> </a:t>
            </a:r>
            <a:r>
              <a:rPr sz="2800" dirty="0">
                <a:latin typeface="Calibri"/>
                <a:cs typeface="Calibri"/>
              </a:rPr>
              <a:t>to</a:t>
            </a:r>
            <a:r>
              <a:rPr sz="2800" spc="-4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market</a:t>
            </a:r>
            <a:r>
              <a:rPr sz="2800" spc="-50" dirty="0">
                <a:latin typeface="Calibri"/>
                <a:cs typeface="Calibri"/>
              </a:rPr>
              <a:t> </a:t>
            </a:r>
            <a:r>
              <a:rPr sz="2800" spc="-10" dirty="0">
                <a:latin typeface="Calibri"/>
                <a:cs typeface="Calibri"/>
              </a:rPr>
              <a:t>first.</a:t>
            </a:r>
            <a:endParaRPr sz="2800">
              <a:latin typeface="Calibri"/>
              <a:cs typeface="Calibri"/>
            </a:endParaRPr>
          </a:p>
          <a:p>
            <a:pPr marL="241300" marR="5080" indent="-228600" algn="just">
              <a:lnSpc>
                <a:spcPct val="90200"/>
              </a:lnSpc>
              <a:spcBef>
                <a:spcPts val="1010"/>
              </a:spcBef>
              <a:buFont typeface="Arial MT"/>
              <a:buChar char="•"/>
              <a:tabLst>
                <a:tab pos="241300" algn="l"/>
              </a:tabLst>
            </a:pPr>
            <a:r>
              <a:rPr sz="2800" dirty="0">
                <a:latin typeface="Calibri"/>
                <a:cs typeface="Calibri"/>
              </a:rPr>
              <a:t>Alternatively,</a:t>
            </a:r>
            <a:r>
              <a:rPr sz="2800" spc="370" dirty="0">
                <a:latin typeface="Calibri"/>
                <a:cs typeface="Calibri"/>
              </a:rPr>
              <a:t>  </a:t>
            </a:r>
            <a:r>
              <a:rPr sz="2800" dirty="0">
                <a:latin typeface="Calibri"/>
                <a:cs typeface="Calibri"/>
              </a:rPr>
              <a:t>for</a:t>
            </a:r>
            <a:r>
              <a:rPr sz="2800" spc="375" dirty="0">
                <a:latin typeface="Calibri"/>
                <a:cs typeface="Calibri"/>
              </a:rPr>
              <a:t>  </a:t>
            </a:r>
            <a:r>
              <a:rPr sz="2800" dirty="0">
                <a:latin typeface="Calibri"/>
                <a:cs typeface="Calibri"/>
              </a:rPr>
              <a:t>special</a:t>
            </a:r>
            <a:r>
              <a:rPr sz="2800" spc="365" dirty="0">
                <a:latin typeface="Calibri"/>
                <a:cs typeface="Calibri"/>
              </a:rPr>
              <a:t>  </a:t>
            </a:r>
            <a:r>
              <a:rPr sz="2800" dirty="0">
                <a:latin typeface="Calibri"/>
                <a:cs typeface="Calibri"/>
              </a:rPr>
              <a:t>event</a:t>
            </a:r>
            <a:r>
              <a:rPr sz="2800" spc="375" dirty="0">
                <a:latin typeface="Calibri"/>
                <a:cs typeface="Calibri"/>
              </a:rPr>
              <a:t>  </a:t>
            </a:r>
            <a:r>
              <a:rPr sz="2800" dirty="0">
                <a:latin typeface="Calibri"/>
                <a:cs typeface="Calibri"/>
              </a:rPr>
              <a:t>projects</a:t>
            </a:r>
            <a:r>
              <a:rPr sz="2800" spc="370" dirty="0">
                <a:latin typeface="Calibri"/>
                <a:cs typeface="Calibri"/>
              </a:rPr>
              <a:t>  </a:t>
            </a:r>
            <a:r>
              <a:rPr sz="2800" dirty="0">
                <a:latin typeface="Calibri"/>
                <a:cs typeface="Calibri"/>
              </a:rPr>
              <a:t>(conferences,</a:t>
            </a:r>
            <a:r>
              <a:rPr sz="2800" spc="375" dirty="0">
                <a:latin typeface="Calibri"/>
                <a:cs typeface="Calibri"/>
              </a:rPr>
              <a:t>  </a:t>
            </a:r>
            <a:r>
              <a:rPr sz="2800" spc="-10" dirty="0">
                <a:latin typeface="Calibri"/>
                <a:cs typeface="Calibri"/>
              </a:rPr>
              <a:t>parades, </a:t>
            </a:r>
            <a:r>
              <a:rPr sz="2800" dirty="0">
                <a:latin typeface="Calibri"/>
                <a:cs typeface="Calibri"/>
              </a:rPr>
              <a:t>tournaments),</a:t>
            </a:r>
            <a:r>
              <a:rPr sz="2800" spc="509" dirty="0">
                <a:latin typeface="Calibri"/>
                <a:cs typeface="Calibri"/>
              </a:rPr>
              <a:t>  </a:t>
            </a:r>
            <a:r>
              <a:rPr sz="2800" dirty="0">
                <a:latin typeface="Calibri"/>
                <a:cs typeface="Calibri"/>
              </a:rPr>
              <a:t>time</a:t>
            </a:r>
            <a:r>
              <a:rPr sz="2800" spc="515" dirty="0">
                <a:latin typeface="Calibri"/>
                <a:cs typeface="Calibri"/>
              </a:rPr>
              <a:t>  </a:t>
            </a:r>
            <a:r>
              <a:rPr sz="2800" dirty="0">
                <a:latin typeface="Calibri"/>
                <a:cs typeface="Calibri"/>
              </a:rPr>
              <a:t>is</a:t>
            </a:r>
            <a:r>
              <a:rPr sz="2800" spc="520" dirty="0">
                <a:latin typeface="Calibri"/>
                <a:cs typeface="Calibri"/>
              </a:rPr>
              <a:t>  </a:t>
            </a:r>
            <a:r>
              <a:rPr sz="2800" dirty="0">
                <a:latin typeface="Calibri"/>
                <a:cs typeface="Calibri"/>
              </a:rPr>
              <a:t>constrained</a:t>
            </a:r>
            <a:r>
              <a:rPr sz="2800" spc="520" dirty="0">
                <a:latin typeface="Calibri"/>
                <a:cs typeface="Calibri"/>
              </a:rPr>
              <a:t>  </a:t>
            </a:r>
            <a:r>
              <a:rPr sz="2800" dirty="0">
                <a:latin typeface="Calibri"/>
                <a:cs typeface="Calibri"/>
              </a:rPr>
              <a:t>once</a:t>
            </a:r>
            <a:r>
              <a:rPr sz="2800" spc="515" dirty="0">
                <a:latin typeface="Calibri"/>
                <a:cs typeface="Calibri"/>
              </a:rPr>
              <a:t>  </a:t>
            </a:r>
            <a:r>
              <a:rPr sz="2800" dirty="0">
                <a:latin typeface="Calibri"/>
                <a:cs typeface="Calibri"/>
              </a:rPr>
              <a:t>the</a:t>
            </a:r>
            <a:r>
              <a:rPr sz="2800" spc="515" dirty="0">
                <a:latin typeface="Calibri"/>
                <a:cs typeface="Calibri"/>
              </a:rPr>
              <a:t>  </a:t>
            </a:r>
            <a:r>
              <a:rPr sz="2800" dirty="0">
                <a:latin typeface="Calibri"/>
                <a:cs typeface="Calibri"/>
              </a:rPr>
              <a:t>date</a:t>
            </a:r>
            <a:r>
              <a:rPr sz="2800" spc="509" dirty="0">
                <a:latin typeface="Calibri"/>
                <a:cs typeface="Calibri"/>
              </a:rPr>
              <a:t>  </a:t>
            </a:r>
            <a:r>
              <a:rPr sz="2800" dirty="0">
                <a:latin typeface="Calibri"/>
                <a:cs typeface="Calibri"/>
              </a:rPr>
              <a:t>has</a:t>
            </a:r>
            <a:r>
              <a:rPr sz="2800" spc="515" dirty="0">
                <a:latin typeface="Calibri"/>
                <a:cs typeface="Calibri"/>
              </a:rPr>
              <a:t>  </a:t>
            </a:r>
            <a:r>
              <a:rPr sz="2800" spc="-20" dirty="0">
                <a:latin typeface="Calibri"/>
                <a:cs typeface="Calibri"/>
              </a:rPr>
              <a:t>been </a:t>
            </a:r>
            <a:r>
              <a:rPr sz="2800" dirty="0">
                <a:latin typeface="Calibri"/>
                <a:cs typeface="Calibri"/>
              </a:rPr>
              <a:t>announced,</a:t>
            </a:r>
            <a:r>
              <a:rPr sz="2800" spc="85" dirty="0">
                <a:latin typeface="Calibri"/>
                <a:cs typeface="Calibri"/>
              </a:rPr>
              <a:t>  </a:t>
            </a:r>
            <a:r>
              <a:rPr sz="2800" dirty="0">
                <a:latin typeface="Calibri"/>
                <a:cs typeface="Calibri"/>
              </a:rPr>
              <a:t>and</a:t>
            </a:r>
            <a:r>
              <a:rPr sz="2800" spc="90" dirty="0">
                <a:latin typeface="Calibri"/>
                <a:cs typeface="Calibri"/>
              </a:rPr>
              <a:t>  </a:t>
            </a:r>
            <a:r>
              <a:rPr sz="2800" dirty="0">
                <a:latin typeface="Calibri"/>
                <a:cs typeface="Calibri"/>
              </a:rPr>
              <a:t>if</a:t>
            </a:r>
            <a:r>
              <a:rPr sz="2800" spc="80"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budget</a:t>
            </a:r>
            <a:r>
              <a:rPr sz="2800" spc="80" dirty="0">
                <a:latin typeface="Calibri"/>
                <a:cs typeface="Calibri"/>
              </a:rPr>
              <a:t>  </a:t>
            </a:r>
            <a:r>
              <a:rPr sz="2800" dirty="0">
                <a:latin typeface="Calibri"/>
                <a:cs typeface="Calibri"/>
              </a:rPr>
              <a:t>is</a:t>
            </a:r>
            <a:r>
              <a:rPr sz="2800" spc="90" dirty="0">
                <a:latin typeface="Calibri"/>
                <a:cs typeface="Calibri"/>
              </a:rPr>
              <a:t>  </a:t>
            </a:r>
            <a:r>
              <a:rPr sz="2800" dirty="0">
                <a:latin typeface="Calibri"/>
                <a:cs typeface="Calibri"/>
              </a:rPr>
              <a:t>tight,</a:t>
            </a:r>
            <a:r>
              <a:rPr sz="2800" spc="85"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project</a:t>
            </a:r>
            <a:r>
              <a:rPr sz="2800" spc="85" dirty="0">
                <a:latin typeface="Calibri"/>
                <a:cs typeface="Calibri"/>
              </a:rPr>
              <a:t>  </a:t>
            </a:r>
            <a:r>
              <a:rPr sz="2800" dirty="0">
                <a:latin typeface="Calibri"/>
                <a:cs typeface="Calibri"/>
              </a:rPr>
              <a:t>manager</a:t>
            </a:r>
            <a:r>
              <a:rPr sz="2800" spc="85" dirty="0">
                <a:latin typeface="Calibri"/>
                <a:cs typeface="Calibri"/>
              </a:rPr>
              <a:t>  </a:t>
            </a:r>
            <a:r>
              <a:rPr sz="2800" spc="-20" dirty="0">
                <a:latin typeface="Calibri"/>
                <a:cs typeface="Calibri"/>
              </a:rPr>
              <a:t>will </a:t>
            </a:r>
            <a:r>
              <a:rPr sz="2800" dirty="0">
                <a:latin typeface="Calibri"/>
                <a:cs typeface="Calibri"/>
              </a:rPr>
              <a:t>compromise</a:t>
            </a:r>
            <a:r>
              <a:rPr sz="2800" spc="-10" dirty="0">
                <a:latin typeface="Calibri"/>
                <a:cs typeface="Calibri"/>
              </a:rPr>
              <a:t> </a:t>
            </a:r>
            <a:r>
              <a:rPr sz="2800" dirty="0">
                <a:latin typeface="Calibri"/>
                <a:cs typeface="Calibri"/>
              </a:rPr>
              <a:t>the</a:t>
            </a:r>
            <a:r>
              <a:rPr sz="2800" spc="-10" dirty="0">
                <a:latin typeface="Calibri"/>
                <a:cs typeface="Calibri"/>
              </a:rPr>
              <a:t> </a:t>
            </a:r>
            <a:r>
              <a:rPr sz="2800" dirty="0">
                <a:latin typeface="Calibri"/>
                <a:cs typeface="Calibri"/>
              </a:rPr>
              <a:t>scope</a:t>
            </a:r>
            <a:r>
              <a:rPr sz="2800" spc="-15" dirty="0">
                <a:latin typeface="Calibri"/>
                <a:cs typeface="Calibri"/>
              </a:rPr>
              <a:t> </a:t>
            </a:r>
            <a:r>
              <a:rPr sz="2800" dirty="0">
                <a:latin typeface="Calibri"/>
                <a:cs typeface="Calibri"/>
              </a:rPr>
              <a:t>of</a:t>
            </a:r>
            <a:r>
              <a:rPr sz="2800" spc="-15" dirty="0">
                <a:latin typeface="Calibri"/>
                <a:cs typeface="Calibri"/>
              </a:rPr>
              <a:t> </a:t>
            </a:r>
            <a:r>
              <a:rPr sz="2800" dirty="0">
                <a:latin typeface="Calibri"/>
                <a:cs typeface="Calibri"/>
              </a:rPr>
              <a:t>the</a:t>
            </a:r>
            <a:r>
              <a:rPr sz="2800" spc="-10" dirty="0">
                <a:latin typeface="Calibri"/>
                <a:cs typeface="Calibri"/>
              </a:rPr>
              <a:t> </a:t>
            </a:r>
            <a:r>
              <a:rPr sz="2800" dirty="0">
                <a:latin typeface="Calibri"/>
                <a:cs typeface="Calibri"/>
              </a:rPr>
              <a:t>project</a:t>
            </a:r>
            <a:r>
              <a:rPr sz="2800" spc="-10" dirty="0">
                <a:latin typeface="Calibri"/>
                <a:cs typeface="Calibri"/>
              </a:rPr>
              <a:t> </a:t>
            </a:r>
            <a:r>
              <a:rPr sz="2800" dirty="0">
                <a:latin typeface="Calibri"/>
                <a:cs typeface="Calibri"/>
              </a:rPr>
              <a:t>in order</a:t>
            </a:r>
            <a:r>
              <a:rPr sz="2800" spc="-10" dirty="0">
                <a:latin typeface="Calibri"/>
                <a:cs typeface="Calibri"/>
              </a:rPr>
              <a:t> </a:t>
            </a:r>
            <a:r>
              <a:rPr sz="2800" dirty="0">
                <a:latin typeface="Calibri"/>
                <a:cs typeface="Calibri"/>
              </a:rPr>
              <a:t>to</a:t>
            </a:r>
            <a:r>
              <a:rPr sz="2800" spc="-10" dirty="0">
                <a:latin typeface="Calibri"/>
                <a:cs typeface="Calibri"/>
              </a:rPr>
              <a:t> </a:t>
            </a:r>
            <a:r>
              <a:rPr sz="2800" dirty="0">
                <a:latin typeface="Calibri"/>
                <a:cs typeface="Calibri"/>
              </a:rPr>
              <a:t>complete</a:t>
            </a:r>
            <a:r>
              <a:rPr sz="2800" spc="-10" dirty="0">
                <a:latin typeface="Calibri"/>
                <a:cs typeface="Calibri"/>
              </a:rPr>
              <a:t> </a:t>
            </a:r>
            <a:r>
              <a:rPr sz="2800" dirty="0">
                <a:latin typeface="Calibri"/>
                <a:cs typeface="Calibri"/>
              </a:rPr>
              <a:t>the</a:t>
            </a:r>
            <a:r>
              <a:rPr sz="2800" spc="-10" dirty="0">
                <a:latin typeface="Calibri"/>
                <a:cs typeface="Calibri"/>
              </a:rPr>
              <a:t> project </a:t>
            </a:r>
            <a:r>
              <a:rPr sz="2800" dirty="0">
                <a:latin typeface="Calibri"/>
                <a:cs typeface="Calibri"/>
              </a:rPr>
              <a:t>on</a:t>
            </a:r>
            <a:r>
              <a:rPr sz="2800" spc="-30" dirty="0">
                <a:latin typeface="Calibri"/>
                <a:cs typeface="Calibri"/>
              </a:rPr>
              <a:t> </a:t>
            </a:r>
            <a:r>
              <a:rPr sz="2800" spc="-20" dirty="0">
                <a:latin typeface="Calibri"/>
                <a:cs typeface="Calibri"/>
              </a:rPr>
              <a:t>time.</a:t>
            </a:r>
            <a:endParaRPr sz="2800">
              <a:latin typeface="Calibri"/>
              <a:cs typeface="Calibri"/>
            </a:endParaRPr>
          </a:p>
          <a:p>
            <a:pPr marL="241300" marR="5715" indent="-228600" algn="just">
              <a:lnSpc>
                <a:spcPts val="3000"/>
              </a:lnSpc>
              <a:spcBef>
                <a:spcPts val="1019"/>
              </a:spcBef>
              <a:buFont typeface="Arial MT"/>
              <a:buChar char="•"/>
              <a:tabLst>
                <a:tab pos="241300" algn="l"/>
              </a:tabLst>
            </a:pPr>
            <a:r>
              <a:rPr sz="2800" dirty="0">
                <a:latin typeface="Calibri"/>
                <a:cs typeface="Calibri"/>
              </a:rPr>
              <a:t>There</a:t>
            </a:r>
            <a:r>
              <a:rPr sz="2800" spc="35" dirty="0">
                <a:latin typeface="Calibri"/>
                <a:cs typeface="Calibri"/>
              </a:rPr>
              <a:t>  </a:t>
            </a:r>
            <a:r>
              <a:rPr sz="2800" dirty="0">
                <a:latin typeface="Calibri"/>
                <a:cs typeface="Calibri"/>
              </a:rPr>
              <a:t>are</a:t>
            </a:r>
            <a:r>
              <a:rPr sz="2800" spc="35" dirty="0">
                <a:latin typeface="Calibri"/>
                <a:cs typeface="Calibri"/>
              </a:rPr>
              <a:t>  </a:t>
            </a:r>
            <a:r>
              <a:rPr sz="2800" dirty="0">
                <a:latin typeface="Calibri"/>
                <a:cs typeface="Calibri"/>
              </a:rPr>
              <a:t>likely</a:t>
            </a:r>
            <a:r>
              <a:rPr sz="2800" spc="35" dirty="0">
                <a:latin typeface="Calibri"/>
                <a:cs typeface="Calibri"/>
              </a:rPr>
              <a:t>  </a:t>
            </a:r>
            <a:r>
              <a:rPr sz="2800" dirty="0">
                <a:latin typeface="Calibri"/>
                <a:cs typeface="Calibri"/>
              </a:rPr>
              <a:t>to</a:t>
            </a:r>
            <a:r>
              <a:rPr sz="2800" spc="40" dirty="0">
                <a:latin typeface="Calibri"/>
                <a:cs typeface="Calibri"/>
              </a:rPr>
              <a:t>  </a:t>
            </a:r>
            <a:r>
              <a:rPr sz="2800" dirty="0">
                <a:latin typeface="Calibri"/>
                <a:cs typeface="Calibri"/>
              </a:rPr>
              <a:t>be</a:t>
            </a:r>
            <a:r>
              <a:rPr sz="2800" spc="35" dirty="0">
                <a:latin typeface="Calibri"/>
                <a:cs typeface="Calibri"/>
              </a:rPr>
              <a:t>  </a:t>
            </a:r>
            <a:r>
              <a:rPr sz="2800" dirty="0">
                <a:latin typeface="Calibri"/>
                <a:cs typeface="Calibri"/>
              </a:rPr>
              <a:t>natural</a:t>
            </a:r>
            <a:r>
              <a:rPr sz="2800" spc="30" dirty="0">
                <a:latin typeface="Calibri"/>
                <a:cs typeface="Calibri"/>
              </a:rPr>
              <a:t>  </a:t>
            </a:r>
            <a:r>
              <a:rPr sz="2800" dirty="0">
                <a:latin typeface="Calibri"/>
                <a:cs typeface="Calibri"/>
              </a:rPr>
              <a:t>limits</a:t>
            </a:r>
            <a:r>
              <a:rPr sz="2800" spc="40" dirty="0">
                <a:latin typeface="Calibri"/>
                <a:cs typeface="Calibri"/>
              </a:rPr>
              <a:t>  </a:t>
            </a:r>
            <a:r>
              <a:rPr sz="2800" dirty="0">
                <a:latin typeface="Calibri"/>
                <a:cs typeface="Calibri"/>
              </a:rPr>
              <a:t>to</a:t>
            </a:r>
            <a:r>
              <a:rPr sz="2800" spc="40"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extent</a:t>
            </a:r>
            <a:r>
              <a:rPr sz="2800" spc="35" dirty="0">
                <a:latin typeface="Calibri"/>
                <a:cs typeface="Calibri"/>
              </a:rPr>
              <a:t>  </a:t>
            </a:r>
            <a:r>
              <a:rPr sz="2800" dirty="0">
                <a:latin typeface="Calibri"/>
                <a:cs typeface="Calibri"/>
              </a:rPr>
              <a:t>managers</a:t>
            </a:r>
            <a:r>
              <a:rPr sz="2800" spc="40" dirty="0">
                <a:latin typeface="Calibri"/>
                <a:cs typeface="Calibri"/>
              </a:rPr>
              <a:t>  </a:t>
            </a:r>
            <a:r>
              <a:rPr sz="2800" spc="-25" dirty="0">
                <a:latin typeface="Calibri"/>
                <a:cs typeface="Calibri"/>
              </a:rPr>
              <a:t>can </a:t>
            </a:r>
            <a:r>
              <a:rPr sz="2800" dirty="0">
                <a:latin typeface="Calibri"/>
                <a:cs typeface="Calibri"/>
              </a:rPr>
              <a:t>constrain,</a:t>
            </a:r>
            <a:r>
              <a:rPr sz="2800" spc="245" dirty="0">
                <a:latin typeface="Calibri"/>
                <a:cs typeface="Calibri"/>
              </a:rPr>
              <a:t>  </a:t>
            </a:r>
            <a:r>
              <a:rPr sz="2800" dirty="0">
                <a:latin typeface="Calibri"/>
                <a:cs typeface="Calibri"/>
              </a:rPr>
              <a:t>optimize,</a:t>
            </a:r>
            <a:r>
              <a:rPr sz="2800" spc="250" dirty="0">
                <a:latin typeface="Calibri"/>
                <a:cs typeface="Calibri"/>
              </a:rPr>
              <a:t>  </a:t>
            </a:r>
            <a:r>
              <a:rPr sz="2800" dirty="0">
                <a:latin typeface="Calibri"/>
                <a:cs typeface="Calibri"/>
              </a:rPr>
              <a:t>or</a:t>
            </a:r>
            <a:r>
              <a:rPr sz="2800" spc="245" dirty="0">
                <a:latin typeface="Calibri"/>
                <a:cs typeface="Calibri"/>
              </a:rPr>
              <a:t>  </a:t>
            </a:r>
            <a:r>
              <a:rPr sz="2800" dirty="0">
                <a:latin typeface="Calibri"/>
                <a:cs typeface="Calibri"/>
              </a:rPr>
              <a:t>accept</a:t>
            </a:r>
            <a:r>
              <a:rPr sz="2800" spc="250" dirty="0">
                <a:latin typeface="Calibri"/>
                <a:cs typeface="Calibri"/>
              </a:rPr>
              <a:t>  </a:t>
            </a:r>
            <a:r>
              <a:rPr sz="2800" dirty="0">
                <a:latin typeface="Calibri"/>
                <a:cs typeface="Calibri"/>
              </a:rPr>
              <a:t>any</a:t>
            </a:r>
            <a:r>
              <a:rPr sz="2800" spc="245" dirty="0">
                <a:latin typeface="Calibri"/>
                <a:cs typeface="Calibri"/>
              </a:rPr>
              <a:t>  </a:t>
            </a:r>
            <a:r>
              <a:rPr sz="2800" dirty="0">
                <a:latin typeface="Calibri"/>
                <a:cs typeface="Calibri"/>
              </a:rPr>
              <a:t>one</a:t>
            </a:r>
            <a:r>
              <a:rPr sz="2800" spc="240" dirty="0">
                <a:latin typeface="Calibri"/>
                <a:cs typeface="Calibri"/>
              </a:rPr>
              <a:t>  </a:t>
            </a:r>
            <a:r>
              <a:rPr sz="2800" dirty="0">
                <a:latin typeface="Calibri"/>
                <a:cs typeface="Calibri"/>
              </a:rPr>
              <a:t>criterion.</a:t>
            </a:r>
            <a:r>
              <a:rPr sz="2800" spc="254" dirty="0">
                <a:latin typeface="Calibri"/>
                <a:cs typeface="Calibri"/>
              </a:rPr>
              <a:t>  </a:t>
            </a:r>
            <a:r>
              <a:rPr sz="2800" dirty="0">
                <a:latin typeface="Calibri"/>
                <a:cs typeface="Calibri"/>
              </a:rPr>
              <a:t>Some</a:t>
            </a:r>
            <a:r>
              <a:rPr sz="2800" spc="240" dirty="0">
                <a:latin typeface="Calibri"/>
                <a:cs typeface="Calibri"/>
              </a:rPr>
              <a:t>  </a:t>
            </a:r>
            <a:r>
              <a:rPr sz="2800" spc="-10" dirty="0">
                <a:latin typeface="Calibri"/>
                <a:cs typeface="Calibri"/>
              </a:rPr>
              <a:t>project </a:t>
            </a:r>
            <a:r>
              <a:rPr sz="2800" dirty="0">
                <a:latin typeface="Calibri"/>
                <a:cs typeface="Calibri"/>
              </a:rPr>
              <a:t>managers</a:t>
            </a:r>
            <a:r>
              <a:rPr sz="2800" spc="85" dirty="0">
                <a:latin typeface="Calibri"/>
                <a:cs typeface="Calibri"/>
              </a:rPr>
              <a:t>  </a:t>
            </a:r>
            <a:r>
              <a:rPr sz="2800" dirty="0">
                <a:latin typeface="Calibri"/>
                <a:cs typeface="Calibri"/>
              </a:rPr>
              <a:t>document</a:t>
            </a:r>
            <a:r>
              <a:rPr sz="2800" spc="85" dirty="0">
                <a:latin typeface="Calibri"/>
                <a:cs typeface="Calibri"/>
              </a:rPr>
              <a:t>  </a:t>
            </a:r>
            <a:r>
              <a:rPr sz="2800" dirty="0">
                <a:latin typeface="Calibri"/>
                <a:cs typeface="Calibri"/>
              </a:rPr>
              <a:t>these</a:t>
            </a:r>
            <a:r>
              <a:rPr sz="2800" spc="85" dirty="0">
                <a:latin typeface="Calibri"/>
                <a:cs typeface="Calibri"/>
              </a:rPr>
              <a:t>  </a:t>
            </a:r>
            <a:r>
              <a:rPr sz="2800" dirty="0">
                <a:latin typeface="Calibri"/>
                <a:cs typeface="Calibri"/>
              </a:rPr>
              <a:t>limits</a:t>
            </a:r>
            <a:r>
              <a:rPr sz="2800" spc="85" dirty="0">
                <a:latin typeface="Calibri"/>
                <a:cs typeface="Calibri"/>
              </a:rPr>
              <a:t>  </a:t>
            </a:r>
            <a:r>
              <a:rPr sz="2800" dirty="0">
                <a:latin typeface="Calibri"/>
                <a:cs typeface="Calibri"/>
              </a:rPr>
              <a:t>as</a:t>
            </a:r>
            <a:r>
              <a:rPr sz="2800" spc="90" dirty="0">
                <a:latin typeface="Calibri"/>
                <a:cs typeface="Calibri"/>
              </a:rPr>
              <a:t>  </a:t>
            </a:r>
            <a:r>
              <a:rPr sz="2800" dirty="0">
                <a:latin typeface="Calibri"/>
                <a:cs typeface="Calibri"/>
              </a:rPr>
              <a:t>part</a:t>
            </a:r>
            <a:r>
              <a:rPr sz="2800" spc="85" dirty="0">
                <a:latin typeface="Calibri"/>
                <a:cs typeface="Calibri"/>
              </a:rPr>
              <a:t>  </a:t>
            </a:r>
            <a:r>
              <a:rPr sz="2800" dirty="0">
                <a:latin typeface="Calibri"/>
                <a:cs typeface="Calibri"/>
              </a:rPr>
              <a:t>of</a:t>
            </a:r>
            <a:r>
              <a:rPr sz="2800" spc="85" dirty="0">
                <a:latin typeface="Calibri"/>
                <a:cs typeface="Calibri"/>
              </a:rPr>
              <a:t>  </a:t>
            </a:r>
            <a:r>
              <a:rPr sz="2800" dirty="0">
                <a:latin typeface="Calibri"/>
                <a:cs typeface="Calibri"/>
              </a:rPr>
              <a:t>creating</a:t>
            </a:r>
            <a:r>
              <a:rPr sz="2800" spc="80" dirty="0">
                <a:latin typeface="Calibri"/>
                <a:cs typeface="Calibri"/>
              </a:rPr>
              <a:t>  </a:t>
            </a:r>
            <a:r>
              <a:rPr sz="2800" dirty="0">
                <a:latin typeface="Calibri"/>
                <a:cs typeface="Calibri"/>
              </a:rPr>
              <a:t>the</a:t>
            </a:r>
            <a:r>
              <a:rPr sz="2800" spc="85" dirty="0">
                <a:latin typeface="Calibri"/>
                <a:cs typeface="Calibri"/>
              </a:rPr>
              <a:t>  </a:t>
            </a:r>
            <a:r>
              <a:rPr sz="2800" spc="-10" dirty="0">
                <a:latin typeface="Calibri"/>
                <a:cs typeface="Calibri"/>
              </a:rPr>
              <a:t>priority matrix.</a:t>
            </a:r>
            <a:endParaRPr sz="28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18</a:t>
            </a:fld>
            <a:endParaRPr spc="-50"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Priority matrix </a:t>
            </a:r>
            <a:r>
              <a:rPr sz="1950" spc="-10" dirty="0"/>
              <a:t>(3/3)</a:t>
            </a:r>
            <a:endParaRPr sz="1950" dirty="0"/>
          </a:p>
        </p:txBody>
      </p:sp>
      <p:pic>
        <p:nvPicPr>
          <p:cNvPr id="5" name="Picture 4">
            <a:extLst>
              <a:ext uri="{FF2B5EF4-FFF2-40B4-BE49-F238E27FC236}">
                <a16:creationId xmlns:a16="http://schemas.microsoft.com/office/drawing/2014/main" id="{6BA76725-AD7D-CCFF-9AC5-256CE587BD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0655">
              <a:lnSpc>
                <a:spcPct val="100000"/>
              </a:lnSpc>
              <a:spcBef>
                <a:spcPts val="110"/>
              </a:spcBef>
            </a:pPr>
            <a:r>
              <a:rPr b="1" u="sng" spc="95" dirty="0">
                <a:solidFill>
                  <a:srgbClr val="FF0000"/>
                </a:solidFill>
              </a:rPr>
              <a:t>Example: Designing new IPhone</a:t>
            </a:r>
          </a:p>
        </p:txBody>
      </p:sp>
      <p:graphicFrame>
        <p:nvGraphicFramePr>
          <p:cNvPr id="3" name="object 3"/>
          <p:cNvGraphicFramePr>
            <a:graphicFrameLocks noGrp="1"/>
          </p:cNvGraphicFramePr>
          <p:nvPr/>
        </p:nvGraphicFramePr>
        <p:xfrm>
          <a:off x="831850" y="2365428"/>
          <a:ext cx="10134599" cy="2316480"/>
        </p:xfrm>
        <a:graphic>
          <a:graphicData uri="http://schemas.openxmlformats.org/drawingml/2006/table">
            <a:tbl>
              <a:tblPr firstRow="1" bandRow="1">
                <a:tableStyleId>{2D5ABB26-0587-4C30-8999-92F81FD0307C}</a:tableStyleId>
              </a:tblPr>
              <a:tblGrid>
                <a:gridCol w="1788795">
                  <a:extLst>
                    <a:ext uri="{9D8B030D-6E8A-4147-A177-3AD203B41FA5}">
                      <a16:colId xmlns:a16="http://schemas.microsoft.com/office/drawing/2014/main" val="20000"/>
                    </a:ext>
                  </a:extLst>
                </a:gridCol>
                <a:gridCol w="2781935">
                  <a:extLst>
                    <a:ext uri="{9D8B030D-6E8A-4147-A177-3AD203B41FA5}">
                      <a16:colId xmlns:a16="http://schemas.microsoft.com/office/drawing/2014/main" val="20001"/>
                    </a:ext>
                  </a:extLst>
                </a:gridCol>
                <a:gridCol w="2781935">
                  <a:extLst>
                    <a:ext uri="{9D8B030D-6E8A-4147-A177-3AD203B41FA5}">
                      <a16:colId xmlns:a16="http://schemas.microsoft.com/office/drawing/2014/main" val="20002"/>
                    </a:ext>
                  </a:extLst>
                </a:gridCol>
                <a:gridCol w="2781934">
                  <a:extLst>
                    <a:ext uri="{9D8B030D-6E8A-4147-A177-3AD203B41FA5}">
                      <a16:colId xmlns:a16="http://schemas.microsoft.com/office/drawing/2014/main" val="20003"/>
                    </a:ext>
                  </a:extLst>
                </a:gridCol>
              </a:tblGrid>
              <a:tr h="579120">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a:txBody>
                    <a:bodyPr/>
                    <a:lstStyle/>
                    <a:p>
                      <a:pPr algn="ctr">
                        <a:lnSpc>
                          <a:spcPct val="100000"/>
                        </a:lnSpc>
                        <a:spcBef>
                          <a:spcPts val="155"/>
                        </a:spcBef>
                      </a:pPr>
                      <a:r>
                        <a:rPr sz="3200" b="1" spc="-20" dirty="0">
                          <a:solidFill>
                            <a:srgbClr val="FFFFFF"/>
                          </a:solidFill>
                          <a:latin typeface="Calibri"/>
                          <a:cs typeface="Calibri"/>
                        </a:rPr>
                        <a:t>Time</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a:txBody>
                    <a:bodyPr/>
                    <a:lstStyle/>
                    <a:p>
                      <a:pPr algn="ctr">
                        <a:lnSpc>
                          <a:spcPct val="100000"/>
                        </a:lnSpc>
                        <a:spcBef>
                          <a:spcPts val="155"/>
                        </a:spcBef>
                      </a:pPr>
                      <a:r>
                        <a:rPr sz="3200" b="1" spc="-20" dirty="0">
                          <a:solidFill>
                            <a:srgbClr val="FFFFFF"/>
                          </a:solidFill>
                          <a:latin typeface="Calibri"/>
                          <a:cs typeface="Calibri"/>
                        </a:rPr>
                        <a:t>Cost</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a:txBody>
                    <a:bodyPr/>
                    <a:lstStyle/>
                    <a:p>
                      <a:pPr marL="307340">
                        <a:lnSpc>
                          <a:spcPct val="100000"/>
                        </a:lnSpc>
                        <a:spcBef>
                          <a:spcPts val="155"/>
                        </a:spcBef>
                      </a:pPr>
                      <a:r>
                        <a:rPr sz="3200" b="1" spc="-10" dirty="0">
                          <a:solidFill>
                            <a:srgbClr val="FFFFFF"/>
                          </a:solidFill>
                          <a:latin typeface="Calibri"/>
                          <a:cs typeface="Calibri"/>
                        </a:rPr>
                        <a:t>Performance</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extLst>
                  <a:ext uri="{0D108BD9-81ED-4DB2-BD59-A6C34878D82A}">
                    <a16:rowId xmlns:a16="http://schemas.microsoft.com/office/drawing/2014/main" val="10000"/>
                  </a:ext>
                </a:extLst>
              </a:tr>
              <a:tr h="579120">
                <a:tc>
                  <a:txBody>
                    <a:bodyPr/>
                    <a:lstStyle/>
                    <a:p>
                      <a:pPr marL="91440">
                        <a:lnSpc>
                          <a:spcPct val="100000"/>
                        </a:lnSpc>
                        <a:spcBef>
                          <a:spcPts val="155"/>
                        </a:spcBef>
                      </a:pPr>
                      <a:r>
                        <a:rPr sz="3200" spc="-10" dirty="0">
                          <a:latin typeface="Calibri"/>
                          <a:cs typeface="Calibri"/>
                        </a:rPr>
                        <a:t>Constrain</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1"/>
                  </a:ext>
                </a:extLst>
              </a:tr>
              <a:tr h="579120">
                <a:tc>
                  <a:txBody>
                    <a:bodyPr/>
                    <a:lstStyle/>
                    <a:p>
                      <a:pPr marL="91440">
                        <a:lnSpc>
                          <a:spcPct val="100000"/>
                        </a:lnSpc>
                        <a:spcBef>
                          <a:spcPts val="155"/>
                        </a:spcBef>
                      </a:pPr>
                      <a:r>
                        <a:rPr sz="3200" spc="-10" dirty="0">
                          <a:latin typeface="Calibri"/>
                          <a:cs typeface="Calibri"/>
                        </a:rPr>
                        <a:t>Enhance</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579120">
                <a:tc>
                  <a:txBody>
                    <a:bodyPr/>
                    <a:lstStyle/>
                    <a:p>
                      <a:pPr marL="91440">
                        <a:lnSpc>
                          <a:spcPct val="100000"/>
                        </a:lnSpc>
                        <a:spcBef>
                          <a:spcPts val="155"/>
                        </a:spcBef>
                      </a:pPr>
                      <a:r>
                        <a:rPr sz="3200" spc="-10" dirty="0">
                          <a:latin typeface="Calibri"/>
                          <a:cs typeface="Calibri"/>
                        </a:rPr>
                        <a:t>Accept</a:t>
                      </a:r>
                      <a:endParaRPr sz="3200">
                        <a:latin typeface="Calibri"/>
                        <a:cs typeface="Calibri"/>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nSpc>
                          <a:spcPct val="100000"/>
                        </a:lnSpc>
                      </a:pPr>
                      <a:endParaRPr sz="3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3"/>
                  </a:ext>
                </a:extLst>
              </a:tr>
            </a:tbl>
          </a:graphicData>
        </a:graphic>
      </p:graphicFrame>
      <p:grpSp>
        <p:nvGrpSpPr>
          <p:cNvPr id="4" name="object 4"/>
          <p:cNvGrpSpPr/>
          <p:nvPr/>
        </p:nvGrpSpPr>
        <p:grpSpPr>
          <a:xfrm>
            <a:off x="3757929" y="3041650"/>
            <a:ext cx="439420" cy="439420"/>
            <a:chOff x="3757929" y="3041650"/>
            <a:chExt cx="439420" cy="439420"/>
          </a:xfrm>
        </p:grpSpPr>
        <p:sp>
          <p:nvSpPr>
            <p:cNvPr id="5" name="object 5"/>
            <p:cNvSpPr/>
            <p:nvPr/>
          </p:nvSpPr>
          <p:spPr>
            <a:xfrm>
              <a:off x="3764279" y="3048000"/>
              <a:ext cx="426720" cy="426720"/>
            </a:xfrm>
            <a:custGeom>
              <a:avLst/>
              <a:gdLst/>
              <a:ahLst/>
              <a:cxnLst/>
              <a:rect l="l" t="t" r="r" b="b"/>
              <a:pathLst>
                <a:path w="426720" h="426720">
                  <a:moveTo>
                    <a:pt x="213360" y="0"/>
                  </a:moveTo>
                  <a:lnTo>
                    <a:pt x="164438" y="5634"/>
                  </a:lnTo>
                  <a:lnTo>
                    <a:pt x="119529" y="21686"/>
                  </a:lnTo>
                  <a:lnTo>
                    <a:pt x="79914" y="46872"/>
                  </a:lnTo>
                  <a:lnTo>
                    <a:pt x="46872" y="79914"/>
                  </a:lnTo>
                  <a:lnTo>
                    <a:pt x="21686" y="119529"/>
                  </a:lnTo>
                  <a:lnTo>
                    <a:pt x="5634" y="164438"/>
                  </a:lnTo>
                  <a:lnTo>
                    <a:pt x="0" y="213360"/>
                  </a:lnTo>
                  <a:lnTo>
                    <a:pt x="5634" y="262281"/>
                  </a:lnTo>
                  <a:lnTo>
                    <a:pt x="21686" y="307190"/>
                  </a:lnTo>
                  <a:lnTo>
                    <a:pt x="46872" y="346805"/>
                  </a:lnTo>
                  <a:lnTo>
                    <a:pt x="79914" y="379847"/>
                  </a:lnTo>
                  <a:lnTo>
                    <a:pt x="119529" y="405033"/>
                  </a:lnTo>
                  <a:lnTo>
                    <a:pt x="164438" y="421085"/>
                  </a:lnTo>
                  <a:lnTo>
                    <a:pt x="213360" y="426720"/>
                  </a:lnTo>
                  <a:lnTo>
                    <a:pt x="262281" y="421085"/>
                  </a:lnTo>
                  <a:lnTo>
                    <a:pt x="307190" y="405033"/>
                  </a:lnTo>
                  <a:lnTo>
                    <a:pt x="346805" y="379847"/>
                  </a:lnTo>
                  <a:lnTo>
                    <a:pt x="379847" y="346805"/>
                  </a:lnTo>
                  <a:lnTo>
                    <a:pt x="405033" y="307190"/>
                  </a:lnTo>
                  <a:lnTo>
                    <a:pt x="421085" y="262281"/>
                  </a:lnTo>
                  <a:lnTo>
                    <a:pt x="426720" y="213360"/>
                  </a:lnTo>
                  <a:lnTo>
                    <a:pt x="421085" y="164438"/>
                  </a:lnTo>
                  <a:lnTo>
                    <a:pt x="405033" y="119529"/>
                  </a:lnTo>
                  <a:lnTo>
                    <a:pt x="379847" y="79914"/>
                  </a:lnTo>
                  <a:lnTo>
                    <a:pt x="346805" y="46872"/>
                  </a:lnTo>
                  <a:lnTo>
                    <a:pt x="307190" y="21686"/>
                  </a:lnTo>
                  <a:lnTo>
                    <a:pt x="262281" y="5634"/>
                  </a:lnTo>
                  <a:lnTo>
                    <a:pt x="213360" y="0"/>
                  </a:lnTo>
                  <a:close/>
                </a:path>
              </a:pathLst>
            </a:custGeom>
            <a:solidFill>
              <a:srgbClr val="4472C4"/>
            </a:solidFill>
          </p:spPr>
          <p:txBody>
            <a:bodyPr wrap="square" lIns="0" tIns="0" rIns="0" bIns="0" rtlCol="0"/>
            <a:lstStyle/>
            <a:p>
              <a:endParaRPr/>
            </a:p>
          </p:txBody>
        </p:sp>
        <p:sp>
          <p:nvSpPr>
            <p:cNvPr id="6" name="object 6"/>
            <p:cNvSpPr/>
            <p:nvPr/>
          </p:nvSpPr>
          <p:spPr>
            <a:xfrm>
              <a:off x="3764279" y="3048000"/>
              <a:ext cx="426720" cy="426720"/>
            </a:xfrm>
            <a:custGeom>
              <a:avLst/>
              <a:gdLst/>
              <a:ahLst/>
              <a:cxnLst/>
              <a:rect l="l" t="t" r="r" b="b"/>
              <a:pathLst>
                <a:path w="426720" h="426720">
                  <a:moveTo>
                    <a:pt x="0" y="213360"/>
                  </a:moveTo>
                  <a:lnTo>
                    <a:pt x="5634" y="164438"/>
                  </a:lnTo>
                  <a:lnTo>
                    <a:pt x="21686" y="119529"/>
                  </a:lnTo>
                  <a:lnTo>
                    <a:pt x="46872" y="79914"/>
                  </a:lnTo>
                  <a:lnTo>
                    <a:pt x="79914" y="46872"/>
                  </a:lnTo>
                  <a:lnTo>
                    <a:pt x="119529" y="21686"/>
                  </a:lnTo>
                  <a:lnTo>
                    <a:pt x="164438" y="5634"/>
                  </a:lnTo>
                  <a:lnTo>
                    <a:pt x="213360" y="0"/>
                  </a:lnTo>
                  <a:lnTo>
                    <a:pt x="262281" y="5634"/>
                  </a:lnTo>
                  <a:lnTo>
                    <a:pt x="307190" y="21686"/>
                  </a:lnTo>
                  <a:lnTo>
                    <a:pt x="346805" y="46872"/>
                  </a:lnTo>
                  <a:lnTo>
                    <a:pt x="379847" y="79914"/>
                  </a:lnTo>
                  <a:lnTo>
                    <a:pt x="405033" y="119529"/>
                  </a:lnTo>
                  <a:lnTo>
                    <a:pt x="421085" y="164438"/>
                  </a:lnTo>
                  <a:lnTo>
                    <a:pt x="426720" y="213360"/>
                  </a:lnTo>
                  <a:lnTo>
                    <a:pt x="421085" y="262281"/>
                  </a:lnTo>
                  <a:lnTo>
                    <a:pt x="405033" y="307190"/>
                  </a:lnTo>
                  <a:lnTo>
                    <a:pt x="379847" y="346805"/>
                  </a:lnTo>
                  <a:lnTo>
                    <a:pt x="346805" y="379847"/>
                  </a:lnTo>
                  <a:lnTo>
                    <a:pt x="307190" y="405033"/>
                  </a:lnTo>
                  <a:lnTo>
                    <a:pt x="262281" y="421085"/>
                  </a:lnTo>
                  <a:lnTo>
                    <a:pt x="213360" y="426720"/>
                  </a:lnTo>
                  <a:lnTo>
                    <a:pt x="164438" y="421085"/>
                  </a:lnTo>
                  <a:lnTo>
                    <a:pt x="119529" y="405033"/>
                  </a:lnTo>
                  <a:lnTo>
                    <a:pt x="79914" y="379847"/>
                  </a:lnTo>
                  <a:lnTo>
                    <a:pt x="46872" y="346805"/>
                  </a:lnTo>
                  <a:lnTo>
                    <a:pt x="21686" y="307190"/>
                  </a:lnTo>
                  <a:lnTo>
                    <a:pt x="5634" y="262281"/>
                  </a:lnTo>
                  <a:lnTo>
                    <a:pt x="0" y="213360"/>
                  </a:lnTo>
                  <a:close/>
                </a:path>
              </a:pathLst>
            </a:custGeom>
            <a:ln w="12700">
              <a:solidFill>
                <a:srgbClr val="172C51"/>
              </a:solidFill>
            </a:ln>
          </p:spPr>
          <p:txBody>
            <a:bodyPr wrap="square" lIns="0" tIns="0" rIns="0" bIns="0" rtlCol="0"/>
            <a:lstStyle/>
            <a:p>
              <a:endParaRPr/>
            </a:p>
          </p:txBody>
        </p:sp>
      </p:grpSp>
      <p:grpSp>
        <p:nvGrpSpPr>
          <p:cNvPr id="7" name="object 7"/>
          <p:cNvGrpSpPr/>
          <p:nvPr/>
        </p:nvGrpSpPr>
        <p:grpSpPr>
          <a:xfrm>
            <a:off x="6592569" y="4184650"/>
            <a:ext cx="439420" cy="439420"/>
            <a:chOff x="6592569" y="4184650"/>
            <a:chExt cx="439420" cy="439420"/>
          </a:xfrm>
        </p:grpSpPr>
        <p:sp>
          <p:nvSpPr>
            <p:cNvPr id="8" name="object 8"/>
            <p:cNvSpPr/>
            <p:nvPr/>
          </p:nvSpPr>
          <p:spPr>
            <a:xfrm>
              <a:off x="6598919" y="4191000"/>
              <a:ext cx="426720" cy="426720"/>
            </a:xfrm>
            <a:custGeom>
              <a:avLst/>
              <a:gdLst/>
              <a:ahLst/>
              <a:cxnLst/>
              <a:rect l="l" t="t" r="r" b="b"/>
              <a:pathLst>
                <a:path w="426720" h="426720">
                  <a:moveTo>
                    <a:pt x="213359" y="0"/>
                  </a:moveTo>
                  <a:lnTo>
                    <a:pt x="164438" y="5634"/>
                  </a:lnTo>
                  <a:lnTo>
                    <a:pt x="119529" y="21686"/>
                  </a:lnTo>
                  <a:lnTo>
                    <a:pt x="79914" y="46872"/>
                  </a:lnTo>
                  <a:lnTo>
                    <a:pt x="46872" y="79914"/>
                  </a:lnTo>
                  <a:lnTo>
                    <a:pt x="21686" y="119529"/>
                  </a:lnTo>
                  <a:lnTo>
                    <a:pt x="5634" y="164438"/>
                  </a:lnTo>
                  <a:lnTo>
                    <a:pt x="0" y="213360"/>
                  </a:lnTo>
                  <a:lnTo>
                    <a:pt x="5634" y="262281"/>
                  </a:lnTo>
                  <a:lnTo>
                    <a:pt x="21686" y="307190"/>
                  </a:lnTo>
                  <a:lnTo>
                    <a:pt x="46872" y="346805"/>
                  </a:lnTo>
                  <a:lnTo>
                    <a:pt x="79914" y="379847"/>
                  </a:lnTo>
                  <a:lnTo>
                    <a:pt x="119529" y="405033"/>
                  </a:lnTo>
                  <a:lnTo>
                    <a:pt x="164438" y="421085"/>
                  </a:lnTo>
                  <a:lnTo>
                    <a:pt x="213359" y="426719"/>
                  </a:lnTo>
                  <a:lnTo>
                    <a:pt x="262281" y="421085"/>
                  </a:lnTo>
                  <a:lnTo>
                    <a:pt x="307190" y="405033"/>
                  </a:lnTo>
                  <a:lnTo>
                    <a:pt x="346805" y="379847"/>
                  </a:lnTo>
                  <a:lnTo>
                    <a:pt x="379847" y="346805"/>
                  </a:lnTo>
                  <a:lnTo>
                    <a:pt x="405033" y="307190"/>
                  </a:lnTo>
                  <a:lnTo>
                    <a:pt x="421085" y="262281"/>
                  </a:lnTo>
                  <a:lnTo>
                    <a:pt x="426720" y="213360"/>
                  </a:lnTo>
                  <a:lnTo>
                    <a:pt x="421085" y="164438"/>
                  </a:lnTo>
                  <a:lnTo>
                    <a:pt x="405033" y="119529"/>
                  </a:lnTo>
                  <a:lnTo>
                    <a:pt x="379847" y="79914"/>
                  </a:lnTo>
                  <a:lnTo>
                    <a:pt x="346805" y="46872"/>
                  </a:lnTo>
                  <a:lnTo>
                    <a:pt x="307190" y="21686"/>
                  </a:lnTo>
                  <a:lnTo>
                    <a:pt x="262281" y="5634"/>
                  </a:lnTo>
                  <a:lnTo>
                    <a:pt x="213359" y="0"/>
                  </a:lnTo>
                  <a:close/>
                </a:path>
              </a:pathLst>
            </a:custGeom>
            <a:solidFill>
              <a:srgbClr val="4472C4"/>
            </a:solidFill>
          </p:spPr>
          <p:txBody>
            <a:bodyPr wrap="square" lIns="0" tIns="0" rIns="0" bIns="0" rtlCol="0"/>
            <a:lstStyle/>
            <a:p>
              <a:endParaRPr/>
            </a:p>
          </p:txBody>
        </p:sp>
        <p:sp>
          <p:nvSpPr>
            <p:cNvPr id="9" name="object 9"/>
            <p:cNvSpPr/>
            <p:nvPr/>
          </p:nvSpPr>
          <p:spPr>
            <a:xfrm>
              <a:off x="6598919" y="4191000"/>
              <a:ext cx="426720" cy="426720"/>
            </a:xfrm>
            <a:custGeom>
              <a:avLst/>
              <a:gdLst/>
              <a:ahLst/>
              <a:cxnLst/>
              <a:rect l="l" t="t" r="r" b="b"/>
              <a:pathLst>
                <a:path w="426720" h="426720">
                  <a:moveTo>
                    <a:pt x="0" y="213360"/>
                  </a:moveTo>
                  <a:lnTo>
                    <a:pt x="5634" y="164438"/>
                  </a:lnTo>
                  <a:lnTo>
                    <a:pt x="21686" y="119529"/>
                  </a:lnTo>
                  <a:lnTo>
                    <a:pt x="46872" y="79914"/>
                  </a:lnTo>
                  <a:lnTo>
                    <a:pt x="79914" y="46872"/>
                  </a:lnTo>
                  <a:lnTo>
                    <a:pt x="119529" y="21686"/>
                  </a:lnTo>
                  <a:lnTo>
                    <a:pt x="164438" y="5634"/>
                  </a:lnTo>
                  <a:lnTo>
                    <a:pt x="213360" y="0"/>
                  </a:lnTo>
                  <a:lnTo>
                    <a:pt x="262281" y="5634"/>
                  </a:lnTo>
                  <a:lnTo>
                    <a:pt x="307190" y="21686"/>
                  </a:lnTo>
                  <a:lnTo>
                    <a:pt x="346805" y="46872"/>
                  </a:lnTo>
                  <a:lnTo>
                    <a:pt x="379847" y="79914"/>
                  </a:lnTo>
                  <a:lnTo>
                    <a:pt x="405033" y="119529"/>
                  </a:lnTo>
                  <a:lnTo>
                    <a:pt x="421085" y="164438"/>
                  </a:lnTo>
                  <a:lnTo>
                    <a:pt x="426720" y="213360"/>
                  </a:lnTo>
                  <a:lnTo>
                    <a:pt x="421085" y="262281"/>
                  </a:lnTo>
                  <a:lnTo>
                    <a:pt x="405033" y="307190"/>
                  </a:lnTo>
                  <a:lnTo>
                    <a:pt x="379847" y="346805"/>
                  </a:lnTo>
                  <a:lnTo>
                    <a:pt x="346805" y="379847"/>
                  </a:lnTo>
                  <a:lnTo>
                    <a:pt x="307190" y="405033"/>
                  </a:lnTo>
                  <a:lnTo>
                    <a:pt x="262281" y="421085"/>
                  </a:lnTo>
                  <a:lnTo>
                    <a:pt x="213360" y="426720"/>
                  </a:lnTo>
                  <a:lnTo>
                    <a:pt x="164438" y="421085"/>
                  </a:lnTo>
                  <a:lnTo>
                    <a:pt x="119529" y="405033"/>
                  </a:lnTo>
                  <a:lnTo>
                    <a:pt x="79914" y="379847"/>
                  </a:lnTo>
                  <a:lnTo>
                    <a:pt x="46872" y="346805"/>
                  </a:lnTo>
                  <a:lnTo>
                    <a:pt x="21686" y="307190"/>
                  </a:lnTo>
                  <a:lnTo>
                    <a:pt x="5634" y="262281"/>
                  </a:lnTo>
                  <a:lnTo>
                    <a:pt x="0" y="213360"/>
                  </a:lnTo>
                  <a:close/>
                </a:path>
              </a:pathLst>
            </a:custGeom>
            <a:ln w="12700">
              <a:solidFill>
                <a:srgbClr val="172C51"/>
              </a:solidFill>
            </a:ln>
          </p:spPr>
          <p:txBody>
            <a:bodyPr wrap="square" lIns="0" tIns="0" rIns="0" bIns="0" rtlCol="0"/>
            <a:lstStyle/>
            <a:p>
              <a:endParaRPr/>
            </a:p>
          </p:txBody>
        </p:sp>
      </p:grpSp>
      <p:grpSp>
        <p:nvGrpSpPr>
          <p:cNvPr id="10" name="object 10"/>
          <p:cNvGrpSpPr/>
          <p:nvPr/>
        </p:nvGrpSpPr>
        <p:grpSpPr>
          <a:xfrm>
            <a:off x="9320530" y="3620770"/>
            <a:ext cx="439420" cy="439420"/>
            <a:chOff x="9320530" y="3620770"/>
            <a:chExt cx="439420" cy="439420"/>
          </a:xfrm>
        </p:grpSpPr>
        <p:sp>
          <p:nvSpPr>
            <p:cNvPr id="11" name="object 11"/>
            <p:cNvSpPr/>
            <p:nvPr/>
          </p:nvSpPr>
          <p:spPr>
            <a:xfrm>
              <a:off x="9326880" y="3627120"/>
              <a:ext cx="426720" cy="426720"/>
            </a:xfrm>
            <a:custGeom>
              <a:avLst/>
              <a:gdLst/>
              <a:ahLst/>
              <a:cxnLst/>
              <a:rect l="l" t="t" r="r" b="b"/>
              <a:pathLst>
                <a:path w="426720" h="426720">
                  <a:moveTo>
                    <a:pt x="213360" y="0"/>
                  </a:moveTo>
                  <a:lnTo>
                    <a:pt x="164438" y="5634"/>
                  </a:lnTo>
                  <a:lnTo>
                    <a:pt x="119529" y="21686"/>
                  </a:lnTo>
                  <a:lnTo>
                    <a:pt x="79914" y="46872"/>
                  </a:lnTo>
                  <a:lnTo>
                    <a:pt x="46872" y="79914"/>
                  </a:lnTo>
                  <a:lnTo>
                    <a:pt x="21686" y="119529"/>
                  </a:lnTo>
                  <a:lnTo>
                    <a:pt x="5634" y="164438"/>
                  </a:lnTo>
                  <a:lnTo>
                    <a:pt x="0" y="213359"/>
                  </a:lnTo>
                  <a:lnTo>
                    <a:pt x="5634" y="262281"/>
                  </a:lnTo>
                  <a:lnTo>
                    <a:pt x="21686" y="307190"/>
                  </a:lnTo>
                  <a:lnTo>
                    <a:pt x="46872" y="346805"/>
                  </a:lnTo>
                  <a:lnTo>
                    <a:pt x="79914" y="379847"/>
                  </a:lnTo>
                  <a:lnTo>
                    <a:pt x="119529" y="405033"/>
                  </a:lnTo>
                  <a:lnTo>
                    <a:pt x="164438" y="421085"/>
                  </a:lnTo>
                  <a:lnTo>
                    <a:pt x="213360" y="426719"/>
                  </a:lnTo>
                  <a:lnTo>
                    <a:pt x="262281" y="421085"/>
                  </a:lnTo>
                  <a:lnTo>
                    <a:pt x="307190" y="405033"/>
                  </a:lnTo>
                  <a:lnTo>
                    <a:pt x="346805" y="379847"/>
                  </a:lnTo>
                  <a:lnTo>
                    <a:pt x="379847" y="346805"/>
                  </a:lnTo>
                  <a:lnTo>
                    <a:pt x="405033" y="307190"/>
                  </a:lnTo>
                  <a:lnTo>
                    <a:pt x="421085" y="262281"/>
                  </a:lnTo>
                  <a:lnTo>
                    <a:pt x="426720" y="213359"/>
                  </a:lnTo>
                  <a:lnTo>
                    <a:pt x="421085" y="164438"/>
                  </a:lnTo>
                  <a:lnTo>
                    <a:pt x="405033" y="119529"/>
                  </a:lnTo>
                  <a:lnTo>
                    <a:pt x="379847" y="79914"/>
                  </a:lnTo>
                  <a:lnTo>
                    <a:pt x="346805" y="46872"/>
                  </a:lnTo>
                  <a:lnTo>
                    <a:pt x="307190" y="21686"/>
                  </a:lnTo>
                  <a:lnTo>
                    <a:pt x="262281" y="5634"/>
                  </a:lnTo>
                  <a:lnTo>
                    <a:pt x="213360" y="0"/>
                  </a:lnTo>
                  <a:close/>
                </a:path>
              </a:pathLst>
            </a:custGeom>
            <a:solidFill>
              <a:srgbClr val="4472C4"/>
            </a:solidFill>
          </p:spPr>
          <p:txBody>
            <a:bodyPr wrap="square" lIns="0" tIns="0" rIns="0" bIns="0" rtlCol="0"/>
            <a:lstStyle/>
            <a:p>
              <a:endParaRPr/>
            </a:p>
          </p:txBody>
        </p:sp>
        <p:sp>
          <p:nvSpPr>
            <p:cNvPr id="12" name="object 12"/>
            <p:cNvSpPr/>
            <p:nvPr/>
          </p:nvSpPr>
          <p:spPr>
            <a:xfrm>
              <a:off x="9326880" y="3627120"/>
              <a:ext cx="426720" cy="426720"/>
            </a:xfrm>
            <a:custGeom>
              <a:avLst/>
              <a:gdLst/>
              <a:ahLst/>
              <a:cxnLst/>
              <a:rect l="l" t="t" r="r" b="b"/>
              <a:pathLst>
                <a:path w="426720" h="426720">
                  <a:moveTo>
                    <a:pt x="0" y="213360"/>
                  </a:moveTo>
                  <a:lnTo>
                    <a:pt x="5634" y="164438"/>
                  </a:lnTo>
                  <a:lnTo>
                    <a:pt x="21686" y="119529"/>
                  </a:lnTo>
                  <a:lnTo>
                    <a:pt x="46872" y="79914"/>
                  </a:lnTo>
                  <a:lnTo>
                    <a:pt x="79914" y="46872"/>
                  </a:lnTo>
                  <a:lnTo>
                    <a:pt x="119529" y="21686"/>
                  </a:lnTo>
                  <a:lnTo>
                    <a:pt x="164438" y="5634"/>
                  </a:lnTo>
                  <a:lnTo>
                    <a:pt x="213360" y="0"/>
                  </a:lnTo>
                  <a:lnTo>
                    <a:pt x="262281" y="5634"/>
                  </a:lnTo>
                  <a:lnTo>
                    <a:pt x="307190" y="21686"/>
                  </a:lnTo>
                  <a:lnTo>
                    <a:pt x="346805" y="46872"/>
                  </a:lnTo>
                  <a:lnTo>
                    <a:pt x="379847" y="79914"/>
                  </a:lnTo>
                  <a:lnTo>
                    <a:pt x="405033" y="119529"/>
                  </a:lnTo>
                  <a:lnTo>
                    <a:pt x="421085" y="164438"/>
                  </a:lnTo>
                  <a:lnTo>
                    <a:pt x="426720" y="213360"/>
                  </a:lnTo>
                  <a:lnTo>
                    <a:pt x="421085" y="262281"/>
                  </a:lnTo>
                  <a:lnTo>
                    <a:pt x="405033" y="307190"/>
                  </a:lnTo>
                  <a:lnTo>
                    <a:pt x="379847" y="346805"/>
                  </a:lnTo>
                  <a:lnTo>
                    <a:pt x="346805" y="379847"/>
                  </a:lnTo>
                  <a:lnTo>
                    <a:pt x="307190" y="405033"/>
                  </a:lnTo>
                  <a:lnTo>
                    <a:pt x="262281" y="421085"/>
                  </a:lnTo>
                  <a:lnTo>
                    <a:pt x="213360" y="426720"/>
                  </a:lnTo>
                  <a:lnTo>
                    <a:pt x="164438" y="421085"/>
                  </a:lnTo>
                  <a:lnTo>
                    <a:pt x="119529" y="405033"/>
                  </a:lnTo>
                  <a:lnTo>
                    <a:pt x="79914" y="379847"/>
                  </a:lnTo>
                  <a:lnTo>
                    <a:pt x="46872" y="346805"/>
                  </a:lnTo>
                  <a:lnTo>
                    <a:pt x="21686" y="307190"/>
                  </a:lnTo>
                  <a:lnTo>
                    <a:pt x="5634" y="262281"/>
                  </a:lnTo>
                  <a:lnTo>
                    <a:pt x="0" y="213360"/>
                  </a:lnTo>
                  <a:close/>
                </a:path>
              </a:pathLst>
            </a:custGeom>
            <a:ln w="12700">
              <a:solidFill>
                <a:srgbClr val="172C51"/>
              </a:solidFill>
            </a:ln>
          </p:spPr>
          <p:txBody>
            <a:bodyPr wrap="square" lIns="0" tIns="0" rIns="0" bIns="0" rtlCol="0"/>
            <a:lstStyle/>
            <a:p>
              <a:endParaRPr/>
            </a:p>
          </p:txBody>
        </p:sp>
      </p:grpSp>
      <p:sp>
        <p:nvSpPr>
          <p:cNvPr id="13" name="object 13"/>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19</a:t>
            </a:fld>
            <a:endParaRPr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609600"/>
            <a:ext cx="12192000" cy="677108"/>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20</a:t>
            </a:fld>
            <a:endParaRPr spc="-50" dirty="0"/>
          </a:p>
        </p:txBody>
      </p:sp>
      <p:sp>
        <p:nvSpPr>
          <p:cNvPr id="3" name="object 3"/>
          <p:cNvSpPr txBox="1"/>
          <p:nvPr/>
        </p:nvSpPr>
        <p:spPr>
          <a:xfrm>
            <a:off x="916939" y="1744980"/>
            <a:ext cx="10359390" cy="4664710"/>
          </a:xfrm>
          <a:prstGeom prst="rect">
            <a:avLst/>
          </a:prstGeom>
        </p:spPr>
        <p:txBody>
          <a:bodyPr vert="horz" wrap="square" lIns="0" tIns="111125" rIns="0" bIns="0" rtlCol="0">
            <a:spAutoFit/>
          </a:bodyPr>
          <a:lstStyle/>
          <a:p>
            <a:pPr marL="241300" marR="5080" indent="-228600" algn="just">
              <a:lnSpc>
                <a:spcPct val="79800"/>
              </a:lnSpc>
              <a:spcBef>
                <a:spcPts val="875"/>
              </a:spcBef>
              <a:buFont typeface="Arial MT"/>
              <a:buChar char="•"/>
              <a:tabLst>
                <a:tab pos="241300" algn="l"/>
              </a:tabLst>
            </a:pPr>
            <a:r>
              <a:rPr sz="3200" b="1" u="heavy" dirty="0">
                <a:uFill>
                  <a:solidFill>
                    <a:srgbClr val="000000"/>
                  </a:solidFill>
                </a:uFill>
                <a:latin typeface="Calibri"/>
                <a:cs typeface="Calibri"/>
              </a:rPr>
              <a:t>Definition:</a:t>
            </a:r>
            <a:r>
              <a:rPr sz="3200" b="1" spc="525" dirty="0">
                <a:latin typeface="Calibri"/>
                <a:cs typeface="Calibri"/>
              </a:rPr>
              <a:t> </a:t>
            </a:r>
            <a:r>
              <a:rPr sz="3200" dirty="0">
                <a:latin typeface="Calibri"/>
                <a:cs typeface="Calibri"/>
              </a:rPr>
              <a:t>WBS</a:t>
            </a:r>
            <a:r>
              <a:rPr sz="3200" spc="530" dirty="0">
                <a:latin typeface="Calibri"/>
                <a:cs typeface="Calibri"/>
              </a:rPr>
              <a:t> </a:t>
            </a:r>
            <a:r>
              <a:rPr sz="3200" dirty="0">
                <a:latin typeface="Calibri"/>
                <a:cs typeface="Calibri"/>
              </a:rPr>
              <a:t>is</a:t>
            </a:r>
            <a:r>
              <a:rPr sz="3200" spc="520" dirty="0">
                <a:latin typeface="Calibri"/>
                <a:cs typeface="Calibri"/>
              </a:rPr>
              <a:t> </a:t>
            </a:r>
            <a:r>
              <a:rPr sz="3200" dirty="0">
                <a:latin typeface="Calibri"/>
                <a:cs typeface="Calibri"/>
              </a:rPr>
              <a:t>an</a:t>
            </a:r>
            <a:r>
              <a:rPr sz="3200" spc="535" dirty="0">
                <a:latin typeface="Calibri"/>
                <a:cs typeface="Calibri"/>
              </a:rPr>
              <a:t> </a:t>
            </a:r>
            <a:r>
              <a:rPr sz="3200" dirty="0">
                <a:latin typeface="Calibri"/>
                <a:cs typeface="Calibri"/>
              </a:rPr>
              <a:t>outline</a:t>
            </a:r>
            <a:r>
              <a:rPr sz="3200" spc="520" dirty="0">
                <a:latin typeface="Calibri"/>
                <a:cs typeface="Calibri"/>
              </a:rPr>
              <a:t> </a:t>
            </a:r>
            <a:r>
              <a:rPr sz="3200" dirty="0">
                <a:latin typeface="Calibri"/>
                <a:cs typeface="Calibri"/>
              </a:rPr>
              <a:t>of</a:t>
            </a:r>
            <a:r>
              <a:rPr sz="3200" spc="525" dirty="0">
                <a:latin typeface="Calibri"/>
                <a:cs typeface="Calibri"/>
              </a:rPr>
              <a:t> </a:t>
            </a:r>
            <a:r>
              <a:rPr sz="3200" dirty="0">
                <a:latin typeface="Calibri"/>
                <a:cs typeface="Calibri"/>
              </a:rPr>
              <a:t>the</a:t>
            </a:r>
            <a:r>
              <a:rPr sz="3200" spc="525" dirty="0">
                <a:latin typeface="Calibri"/>
                <a:cs typeface="Calibri"/>
              </a:rPr>
              <a:t> </a:t>
            </a:r>
            <a:r>
              <a:rPr sz="3200" dirty="0">
                <a:latin typeface="Calibri"/>
                <a:cs typeface="Calibri"/>
              </a:rPr>
              <a:t>project</a:t>
            </a:r>
            <a:r>
              <a:rPr sz="3200" spc="525" dirty="0">
                <a:latin typeface="Calibri"/>
                <a:cs typeface="Calibri"/>
              </a:rPr>
              <a:t> </a:t>
            </a:r>
            <a:r>
              <a:rPr sz="3200" dirty="0">
                <a:latin typeface="Calibri"/>
                <a:cs typeface="Calibri"/>
              </a:rPr>
              <a:t>with</a:t>
            </a:r>
            <a:r>
              <a:rPr sz="3200" spc="535" dirty="0">
                <a:latin typeface="Calibri"/>
                <a:cs typeface="Calibri"/>
              </a:rPr>
              <a:t> </a:t>
            </a:r>
            <a:r>
              <a:rPr sz="3200" spc="-10" dirty="0">
                <a:latin typeface="Calibri"/>
                <a:cs typeface="Calibri"/>
              </a:rPr>
              <a:t>different </a:t>
            </a:r>
            <a:r>
              <a:rPr sz="3200" dirty="0">
                <a:latin typeface="Calibri"/>
                <a:cs typeface="Calibri"/>
              </a:rPr>
              <a:t>levels</a:t>
            </a:r>
            <a:r>
              <a:rPr sz="3200" spc="150" dirty="0">
                <a:latin typeface="Calibri"/>
                <a:cs typeface="Calibri"/>
              </a:rPr>
              <a:t>  </a:t>
            </a:r>
            <a:r>
              <a:rPr sz="3200" dirty="0">
                <a:latin typeface="Calibri"/>
                <a:cs typeface="Calibri"/>
              </a:rPr>
              <a:t>of</a:t>
            </a:r>
            <a:r>
              <a:rPr sz="3200" spc="160" dirty="0">
                <a:latin typeface="Calibri"/>
                <a:cs typeface="Calibri"/>
              </a:rPr>
              <a:t>  </a:t>
            </a:r>
            <a:r>
              <a:rPr sz="3200" dirty="0">
                <a:latin typeface="Calibri"/>
                <a:cs typeface="Calibri"/>
              </a:rPr>
              <a:t>detail;</a:t>
            </a:r>
            <a:r>
              <a:rPr sz="3200" spc="165" dirty="0">
                <a:latin typeface="Calibri"/>
                <a:cs typeface="Calibri"/>
              </a:rPr>
              <a:t>  </a:t>
            </a:r>
            <a:r>
              <a:rPr sz="3200" dirty="0">
                <a:latin typeface="Calibri"/>
                <a:cs typeface="Calibri"/>
              </a:rPr>
              <a:t>where</a:t>
            </a:r>
            <a:r>
              <a:rPr sz="3200" spc="155" dirty="0">
                <a:latin typeface="Calibri"/>
                <a:cs typeface="Calibri"/>
              </a:rPr>
              <a:t>  </a:t>
            </a:r>
            <a:r>
              <a:rPr sz="3200" dirty="0">
                <a:latin typeface="Calibri"/>
                <a:cs typeface="Calibri"/>
              </a:rPr>
              <a:t>the</a:t>
            </a:r>
            <a:r>
              <a:rPr sz="3200" spc="160" dirty="0">
                <a:latin typeface="Calibri"/>
                <a:cs typeface="Calibri"/>
              </a:rPr>
              <a:t>  </a:t>
            </a:r>
            <a:r>
              <a:rPr sz="3200" dirty="0">
                <a:latin typeface="Calibri"/>
                <a:cs typeface="Calibri"/>
              </a:rPr>
              <a:t>work</a:t>
            </a:r>
            <a:r>
              <a:rPr sz="3200" spc="160" dirty="0">
                <a:latin typeface="Calibri"/>
                <a:cs typeface="Calibri"/>
              </a:rPr>
              <a:t>  </a:t>
            </a:r>
            <a:r>
              <a:rPr sz="3200" dirty="0">
                <a:latin typeface="Calibri"/>
                <a:cs typeface="Calibri"/>
              </a:rPr>
              <a:t>of</a:t>
            </a:r>
            <a:r>
              <a:rPr sz="3200" spc="160" dirty="0">
                <a:latin typeface="Calibri"/>
                <a:cs typeface="Calibri"/>
              </a:rPr>
              <a:t>  </a:t>
            </a:r>
            <a:r>
              <a:rPr sz="3200" dirty="0">
                <a:latin typeface="Calibri"/>
                <a:cs typeface="Calibri"/>
              </a:rPr>
              <a:t>the</a:t>
            </a:r>
            <a:r>
              <a:rPr sz="3200" spc="160" dirty="0">
                <a:latin typeface="Calibri"/>
                <a:cs typeface="Calibri"/>
              </a:rPr>
              <a:t>  </a:t>
            </a:r>
            <a:r>
              <a:rPr sz="3200" dirty="0">
                <a:latin typeface="Calibri"/>
                <a:cs typeface="Calibri"/>
              </a:rPr>
              <a:t>project</a:t>
            </a:r>
            <a:r>
              <a:rPr sz="3200" spc="160" dirty="0">
                <a:latin typeface="Calibri"/>
                <a:cs typeface="Calibri"/>
              </a:rPr>
              <a:t>  </a:t>
            </a:r>
            <a:r>
              <a:rPr sz="3200" dirty="0">
                <a:latin typeface="Calibri"/>
                <a:cs typeface="Calibri"/>
              </a:rPr>
              <a:t>can</a:t>
            </a:r>
            <a:r>
              <a:rPr sz="3200" spc="165" dirty="0">
                <a:latin typeface="Calibri"/>
                <a:cs typeface="Calibri"/>
              </a:rPr>
              <a:t>  </a:t>
            </a:r>
            <a:r>
              <a:rPr sz="3200" spc="-25" dirty="0">
                <a:latin typeface="Calibri"/>
                <a:cs typeface="Calibri"/>
              </a:rPr>
              <a:t>be </a:t>
            </a:r>
            <a:r>
              <a:rPr sz="3200" dirty="0">
                <a:latin typeface="Calibri"/>
                <a:cs typeface="Calibri"/>
              </a:rPr>
              <a:t>successively</a:t>
            </a:r>
            <a:r>
              <a:rPr sz="3200" spc="409" dirty="0">
                <a:latin typeface="Calibri"/>
                <a:cs typeface="Calibri"/>
              </a:rPr>
              <a:t>  </a:t>
            </a:r>
            <a:r>
              <a:rPr sz="3200" dirty="0">
                <a:latin typeface="Calibri"/>
                <a:cs typeface="Calibri"/>
              </a:rPr>
              <a:t>subdivided</a:t>
            </a:r>
            <a:r>
              <a:rPr sz="3200" spc="405" dirty="0">
                <a:latin typeface="Calibri"/>
                <a:cs typeface="Calibri"/>
              </a:rPr>
              <a:t>  </a:t>
            </a:r>
            <a:r>
              <a:rPr sz="3200" dirty="0">
                <a:latin typeface="Calibri"/>
                <a:cs typeface="Calibri"/>
              </a:rPr>
              <a:t>into</a:t>
            </a:r>
            <a:r>
              <a:rPr sz="3200" spc="405" dirty="0">
                <a:latin typeface="Calibri"/>
                <a:cs typeface="Calibri"/>
              </a:rPr>
              <a:t>  </a:t>
            </a:r>
            <a:r>
              <a:rPr sz="3200" dirty="0">
                <a:latin typeface="Calibri"/>
                <a:cs typeface="Calibri"/>
              </a:rPr>
              <a:t>smaller</a:t>
            </a:r>
            <a:r>
              <a:rPr sz="3200" spc="409" dirty="0">
                <a:latin typeface="Calibri"/>
                <a:cs typeface="Calibri"/>
              </a:rPr>
              <a:t>  </a:t>
            </a:r>
            <a:r>
              <a:rPr sz="3200" dirty="0">
                <a:latin typeface="Calibri"/>
                <a:cs typeface="Calibri"/>
              </a:rPr>
              <a:t>and</a:t>
            </a:r>
            <a:r>
              <a:rPr sz="3200" spc="409" dirty="0">
                <a:latin typeface="Calibri"/>
                <a:cs typeface="Calibri"/>
              </a:rPr>
              <a:t>  </a:t>
            </a:r>
            <a:r>
              <a:rPr sz="3200" dirty="0">
                <a:latin typeface="Calibri"/>
                <a:cs typeface="Calibri"/>
              </a:rPr>
              <a:t>smaller</a:t>
            </a:r>
            <a:r>
              <a:rPr sz="3200" spc="405" dirty="0">
                <a:latin typeface="Calibri"/>
                <a:cs typeface="Calibri"/>
              </a:rPr>
              <a:t>  </a:t>
            </a:r>
            <a:r>
              <a:rPr sz="3200" spc="-20" dirty="0">
                <a:latin typeface="Calibri"/>
                <a:cs typeface="Calibri"/>
              </a:rPr>
              <a:t>work </a:t>
            </a:r>
            <a:r>
              <a:rPr sz="3200" dirty="0">
                <a:latin typeface="Calibri"/>
                <a:cs typeface="Calibri"/>
              </a:rPr>
              <a:t>elements</a:t>
            </a:r>
            <a:r>
              <a:rPr sz="3200" spc="-70" dirty="0">
                <a:latin typeface="Calibri"/>
                <a:cs typeface="Calibri"/>
              </a:rPr>
              <a:t> </a:t>
            </a:r>
            <a:r>
              <a:rPr sz="3200" dirty="0">
                <a:latin typeface="Calibri"/>
                <a:cs typeface="Calibri"/>
              </a:rPr>
              <a:t>with</a:t>
            </a:r>
            <a:r>
              <a:rPr sz="3200" spc="-65" dirty="0">
                <a:latin typeface="Calibri"/>
                <a:cs typeface="Calibri"/>
              </a:rPr>
              <a:t> </a:t>
            </a:r>
            <a:r>
              <a:rPr sz="3200" dirty="0">
                <a:latin typeface="Calibri"/>
                <a:cs typeface="Calibri"/>
              </a:rPr>
              <a:t>its</a:t>
            </a:r>
            <a:r>
              <a:rPr sz="3200" spc="-80" dirty="0">
                <a:latin typeface="Calibri"/>
                <a:cs typeface="Calibri"/>
              </a:rPr>
              <a:t> </a:t>
            </a:r>
            <a:r>
              <a:rPr sz="3200" spc="-10" dirty="0">
                <a:latin typeface="Calibri"/>
                <a:cs typeface="Calibri"/>
              </a:rPr>
              <a:t>details.</a:t>
            </a:r>
            <a:endParaRPr sz="3200" dirty="0">
              <a:latin typeface="Calibri"/>
              <a:cs typeface="Calibri"/>
            </a:endParaRPr>
          </a:p>
          <a:p>
            <a:pPr marL="241300" marR="6985" indent="-228600" algn="just">
              <a:lnSpc>
                <a:spcPct val="79400"/>
              </a:lnSpc>
              <a:spcBef>
                <a:spcPts val="1055"/>
              </a:spcBef>
              <a:buFont typeface="Arial MT"/>
              <a:buChar char="•"/>
              <a:tabLst>
                <a:tab pos="241300" algn="l"/>
              </a:tabLst>
            </a:pPr>
            <a:r>
              <a:rPr sz="3200" dirty="0">
                <a:solidFill>
                  <a:srgbClr val="262EA4"/>
                </a:solidFill>
                <a:latin typeface="Calibri"/>
                <a:cs typeface="Calibri"/>
              </a:rPr>
              <a:t>It</a:t>
            </a:r>
            <a:r>
              <a:rPr sz="3200" spc="585" dirty="0">
                <a:solidFill>
                  <a:srgbClr val="262EA4"/>
                </a:solidFill>
                <a:latin typeface="Calibri"/>
                <a:cs typeface="Calibri"/>
              </a:rPr>
              <a:t> </a:t>
            </a:r>
            <a:r>
              <a:rPr sz="3200" dirty="0">
                <a:solidFill>
                  <a:srgbClr val="262EA4"/>
                </a:solidFill>
                <a:latin typeface="Calibri"/>
                <a:cs typeface="Calibri"/>
              </a:rPr>
              <a:t>defines</a:t>
            </a:r>
            <a:r>
              <a:rPr sz="3200" spc="575" dirty="0">
                <a:solidFill>
                  <a:srgbClr val="262EA4"/>
                </a:solidFill>
                <a:latin typeface="Calibri"/>
                <a:cs typeface="Calibri"/>
              </a:rPr>
              <a:t> </a:t>
            </a:r>
            <a:r>
              <a:rPr sz="3200" dirty="0">
                <a:solidFill>
                  <a:srgbClr val="262EA4"/>
                </a:solidFill>
                <a:latin typeface="Calibri"/>
                <a:cs typeface="Calibri"/>
              </a:rPr>
              <a:t>all</a:t>
            </a:r>
            <a:r>
              <a:rPr sz="3200" spc="585" dirty="0">
                <a:solidFill>
                  <a:srgbClr val="262EA4"/>
                </a:solidFill>
                <a:latin typeface="Calibri"/>
                <a:cs typeface="Calibri"/>
              </a:rPr>
              <a:t> </a:t>
            </a:r>
            <a:r>
              <a:rPr sz="3200" dirty="0">
                <a:solidFill>
                  <a:srgbClr val="262EA4"/>
                </a:solidFill>
                <a:latin typeface="Calibri"/>
                <a:cs typeface="Calibri"/>
              </a:rPr>
              <a:t>the</a:t>
            </a:r>
            <a:r>
              <a:rPr sz="3200" spc="580" dirty="0">
                <a:solidFill>
                  <a:srgbClr val="262EA4"/>
                </a:solidFill>
                <a:latin typeface="Calibri"/>
                <a:cs typeface="Calibri"/>
              </a:rPr>
              <a:t> </a:t>
            </a:r>
            <a:r>
              <a:rPr sz="3200" dirty="0">
                <a:solidFill>
                  <a:srgbClr val="262EA4"/>
                </a:solidFill>
                <a:latin typeface="Calibri"/>
                <a:cs typeface="Calibri"/>
              </a:rPr>
              <a:t>elements</a:t>
            </a:r>
            <a:r>
              <a:rPr sz="3200" spc="585" dirty="0">
                <a:solidFill>
                  <a:srgbClr val="262EA4"/>
                </a:solidFill>
                <a:latin typeface="Calibri"/>
                <a:cs typeface="Calibri"/>
              </a:rPr>
              <a:t> </a:t>
            </a:r>
            <a:r>
              <a:rPr sz="3200" dirty="0">
                <a:solidFill>
                  <a:srgbClr val="262EA4"/>
                </a:solidFill>
                <a:latin typeface="Calibri"/>
                <a:cs typeface="Calibri"/>
              </a:rPr>
              <a:t>of</a:t>
            </a:r>
            <a:r>
              <a:rPr sz="3200" spc="580" dirty="0">
                <a:solidFill>
                  <a:srgbClr val="262EA4"/>
                </a:solidFill>
                <a:latin typeface="Calibri"/>
                <a:cs typeface="Calibri"/>
              </a:rPr>
              <a:t> </a:t>
            </a:r>
            <a:r>
              <a:rPr sz="3200" dirty="0">
                <a:solidFill>
                  <a:srgbClr val="262EA4"/>
                </a:solidFill>
                <a:latin typeface="Calibri"/>
                <a:cs typeface="Calibri"/>
              </a:rPr>
              <a:t>the</a:t>
            </a:r>
            <a:r>
              <a:rPr sz="3200" spc="580" dirty="0">
                <a:solidFill>
                  <a:srgbClr val="262EA4"/>
                </a:solidFill>
                <a:latin typeface="Calibri"/>
                <a:cs typeface="Calibri"/>
              </a:rPr>
              <a:t> </a:t>
            </a:r>
            <a:r>
              <a:rPr sz="3200" dirty="0">
                <a:solidFill>
                  <a:srgbClr val="262EA4"/>
                </a:solidFill>
                <a:latin typeface="Calibri"/>
                <a:cs typeface="Calibri"/>
              </a:rPr>
              <a:t>project</a:t>
            </a:r>
            <a:r>
              <a:rPr sz="3200" spc="580" dirty="0">
                <a:solidFill>
                  <a:srgbClr val="262EA4"/>
                </a:solidFill>
                <a:latin typeface="Calibri"/>
                <a:cs typeface="Calibri"/>
              </a:rPr>
              <a:t> </a:t>
            </a:r>
            <a:r>
              <a:rPr sz="3200" dirty="0">
                <a:solidFill>
                  <a:srgbClr val="262EA4"/>
                </a:solidFill>
                <a:latin typeface="Calibri"/>
                <a:cs typeface="Calibri"/>
              </a:rPr>
              <a:t>in</a:t>
            </a:r>
            <a:r>
              <a:rPr sz="3200" spc="585" dirty="0">
                <a:solidFill>
                  <a:srgbClr val="262EA4"/>
                </a:solidFill>
                <a:latin typeface="Calibri"/>
                <a:cs typeface="Calibri"/>
              </a:rPr>
              <a:t> </a:t>
            </a:r>
            <a:r>
              <a:rPr sz="3200" dirty="0">
                <a:solidFill>
                  <a:srgbClr val="262EA4"/>
                </a:solidFill>
                <a:latin typeface="Calibri"/>
                <a:cs typeface="Calibri"/>
              </a:rPr>
              <a:t>a</a:t>
            </a:r>
            <a:r>
              <a:rPr sz="3200" spc="585" dirty="0">
                <a:solidFill>
                  <a:srgbClr val="262EA4"/>
                </a:solidFill>
                <a:latin typeface="Calibri"/>
                <a:cs typeface="Calibri"/>
              </a:rPr>
              <a:t> </a:t>
            </a:r>
            <a:r>
              <a:rPr sz="3200" spc="-10" dirty="0">
                <a:solidFill>
                  <a:srgbClr val="262EA4"/>
                </a:solidFill>
                <a:latin typeface="Calibri"/>
                <a:cs typeface="Calibri"/>
              </a:rPr>
              <a:t>hierarchical </a:t>
            </a:r>
            <a:r>
              <a:rPr sz="3200" dirty="0">
                <a:solidFill>
                  <a:srgbClr val="262EA4"/>
                </a:solidFill>
                <a:latin typeface="Calibri"/>
                <a:cs typeface="Calibri"/>
              </a:rPr>
              <a:t>framework</a:t>
            </a:r>
            <a:r>
              <a:rPr sz="3200" spc="160" dirty="0">
                <a:solidFill>
                  <a:srgbClr val="262EA4"/>
                </a:solidFill>
                <a:latin typeface="Calibri"/>
                <a:cs typeface="Calibri"/>
              </a:rPr>
              <a:t> </a:t>
            </a:r>
            <a:r>
              <a:rPr sz="3200" dirty="0">
                <a:solidFill>
                  <a:srgbClr val="262EA4"/>
                </a:solidFill>
                <a:latin typeface="Calibri"/>
                <a:cs typeface="Calibri"/>
              </a:rPr>
              <a:t>and</a:t>
            </a:r>
            <a:r>
              <a:rPr sz="3200" spc="180" dirty="0">
                <a:solidFill>
                  <a:srgbClr val="262EA4"/>
                </a:solidFill>
                <a:latin typeface="Calibri"/>
                <a:cs typeface="Calibri"/>
              </a:rPr>
              <a:t> </a:t>
            </a:r>
            <a:r>
              <a:rPr sz="3200" dirty="0">
                <a:solidFill>
                  <a:srgbClr val="262EA4"/>
                </a:solidFill>
                <a:latin typeface="Calibri"/>
                <a:cs typeface="Calibri"/>
              </a:rPr>
              <a:t>establishes</a:t>
            </a:r>
            <a:r>
              <a:rPr sz="3200" spc="170" dirty="0">
                <a:solidFill>
                  <a:srgbClr val="262EA4"/>
                </a:solidFill>
                <a:latin typeface="Calibri"/>
                <a:cs typeface="Calibri"/>
              </a:rPr>
              <a:t> </a:t>
            </a:r>
            <a:r>
              <a:rPr sz="3200" dirty="0">
                <a:solidFill>
                  <a:srgbClr val="262EA4"/>
                </a:solidFill>
                <a:latin typeface="Calibri"/>
                <a:cs typeface="Calibri"/>
              </a:rPr>
              <a:t>their</a:t>
            </a:r>
            <a:r>
              <a:rPr sz="3200" spc="170" dirty="0">
                <a:solidFill>
                  <a:srgbClr val="262EA4"/>
                </a:solidFill>
                <a:latin typeface="Calibri"/>
                <a:cs typeface="Calibri"/>
              </a:rPr>
              <a:t> </a:t>
            </a:r>
            <a:r>
              <a:rPr sz="3200" dirty="0">
                <a:solidFill>
                  <a:srgbClr val="262EA4"/>
                </a:solidFill>
                <a:latin typeface="Calibri"/>
                <a:cs typeface="Calibri"/>
              </a:rPr>
              <a:t>relationships</a:t>
            </a:r>
            <a:r>
              <a:rPr sz="3200" spc="160" dirty="0">
                <a:solidFill>
                  <a:srgbClr val="262EA4"/>
                </a:solidFill>
                <a:latin typeface="Calibri"/>
                <a:cs typeface="Calibri"/>
              </a:rPr>
              <a:t> </a:t>
            </a:r>
            <a:r>
              <a:rPr sz="3200" dirty="0">
                <a:solidFill>
                  <a:srgbClr val="262EA4"/>
                </a:solidFill>
                <a:latin typeface="Calibri"/>
                <a:cs typeface="Calibri"/>
              </a:rPr>
              <a:t>to</a:t>
            </a:r>
            <a:r>
              <a:rPr sz="3200" spc="170" dirty="0">
                <a:solidFill>
                  <a:srgbClr val="262EA4"/>
                </a:solidFill>
                <a:latin typeface="Calibri"/>
                <a:cs typeface="Calibri"/>
              </a:rPr>
              <a:t> </a:t>
            </a:r>
            <a:r>
              <a:rPr sz="3200" dirty="0">
                <a:solidFill>
                  <a:srgbClr val="262EA4"/>
                </a:solidFill>
                <a:latin typeface="Calibri"/>
                <a:cs typeface="Calibri"/>
              </a:rPr>
              <a:t>the</a:t>
            </a:r>
            <a:r>
              <a:rPr sz="3200" spc="170" dirty="0">
                <a:solidFill>
                  <a:srgbClr val="262EA4"/>
                </a:solidFill>
                <a:latin typeface="Calibri"/>
                <a:cs typeface="Calibri"/>
              </a:rPr>
              <a:t> </a:t>
            </a:r>
            <a:r>
              <a:rPr sz="3200" spc="-10" dirty="0">
                <a:solidFill>
                  <a:srgbClr val="262EA4"/>
                </a:solidFill>
                <a:latin typeface="Calibri"/>
                <a:cs typeface="Calibri"/>
              </a:rPr>
              <a:t>project </a:t>
            </a:r>
            <a:r>
              <a:rPr sz="3200" dirty="0">
                <a:solidFill>
                  <a:srgbClr val="262EA4"/>
                </a:solidFill>
                <a:latin typeface="Calibri"/>
                <a:cs typeface="Calibri"/>
              </a:rPr>
              <a:t>end</a:t>
            </a:r>
            <a:r>
              <a:rPr sz="3200" spc="-45" dirty="0">
                <a:solidFill>
                  <a:srgbClr val="262EA4"/>
                </a:solidFill>
                <a:latin typeface="Calibri"/>
                <a:cs typeface="Calibri"/>
              </a:rPr>
              <a:t> </a:t>
            </a:r>
            <a:r>
              <a:rPr sz="3200" spc="-10" dirty="0">
                <a:solidFill>
                  <a:srgbClr val="262EA4"/>
                </a:solidFill>
                <a:latin typeface="Calibri"/>
                <a:cs typeface="Calibri"/>
              </a:rPr>
              <a:t>item(s)</a:t>
            </a:r>
            <a:endParaRPr sz="3200" dirty="0">
              <a:latin typeface="Calibri"/>
              <a:cs typeface="Calibri"/>
            </a:endParaRPr>
          </a:p>
          <a:p>
            <a:pPr marL="241300" marR="6350" indent="-228600" algn="just">
              <a:lnSpc>
                <a:spcPct val="79800"/>
              </a:lnSpc>
              <a:spcBef>
                <a:spcPts val="1040"/>
              </a:spcBef>
              <a:buFont typeface="Arial MT"/>
              <a:buChar char="•"/>
              <a:tabLst>
                <a:tab pos="241300" algn="l"/>
              </a:tabLst>
            </a:pPr>
            <a:r>
              <a:rPr sz="3200" dirty="0">
                <a:latin typeface="Calibri"/>
                <a:cs typeface="Calibri"/>
              </a:rPr>
              <a:t>Use</a:t>
            </a:r>
            <a:r>
              <a:rPr sz="3200" spc="45" dirty="0">
                <a:latin typeface="Calibri"/>
                <a:cs typeface="Calibri"/>
              </a:rPr>
              <a:t>  </a:t>
            </a:r>
            <a:r>
              <a:rPr sz="3200" dirty="0">
                <a:latin typeface="Calibri"/>
                <a:cs typeface="Calibri"/>
              </a:rPr>
              <a:t>of</a:t>
            </a:r>
            <a:r>
              <a:rPr sz="3200" spc="45"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WBS</a:t>
            </a:r>
            <a:r>
              <a:rPr sz="3200" spc="50" dirty="0">
                <a:latin typeface="Calibri"/>
                <a:cs typeface="Calibri"/>
              </a:rPr>
              <a:t>  </a:t>
            </a:r>
            <a:r>
              <a:rPr sz="3200" dirty="0">
                <a:latin typeface="Calibri"/>
                <a:cs typeface="Calibri"/>
              </a:rPr>
              <a:t>helps</a:t>
            </a:r>
            <a:r>
              <a:rPr sz="3200" spc="50" dirty="0">
                <a:latin typeface="Calibri"/>
                <a:cs typeface="Calibri"/>
              </a:rPr>
              <a:t>  </a:t>
            </a:r>
            <a:r>
              <a:rPr sz="3200" dirty="0">
                <a:latin typeface="Calibri"/>
                <a:cs typeface="Calibri"/>
              </a:rPr>
              <a:t>to</a:t>
            </a:r>
            <a:r>
              <a:rPr sz="3200" spc="45" dirty="0">
                <a:latin typeface="Calibri"/>
                <a:cs typeface="Calibri"/>
              </a:rPr>
              <a:t>  </a:t>
            </a:r>
            <a:r>
              <a:rPr sz="3200" dirty="0">
                <a:latin typeface="Calibri"/>
                <a:cs typeface="Calibri"/>
              </a:rPr>
              <a:t>assure</a:t>
            </a:r>
            <a:r>
              <a:rPr sz="3200" spc="50" dirty="0">
                <a:latin typeface="Calibri"/>
                <a:cs typeface="Calibri"/>
              </a:rPr>
              <a:t>  </a:t>
            </a:r>
            <a:r>
              <a:rPr sz="3200" dirty="0">
                <a:latin typeface="Calibri"/>
                <a:cs typeface="Calibri"/>
              </a:rPr>
              <a:t>project</a:t>
            </a:r>
            <a:r>
              <a:rPr sz="3200" spc="45" dirty="0">
                <a:latin typeface="Calibri"/>
                <a:cs typeface="Calibri"/>
              </a:rPr>
              <a:t>  </a:t>
            </a:r>
            <a:r>
              <a:rPr sz="3200" dirty="0">
                <a:latin typeface="Calibri"/>
                <a:cs typeface="Calibri"/>
              </a:rPr>
              <a:t>managers</a:t>
            </a:r>
            <a:r>
              <a:rPr sz="3200" spc="45" dirty="0">
                <a:latin typeface="Calibri"/>
                <a:cs typeface="Calibri"/>
              </a:rPr>
              <a:t>  </a:t>
            </a:r>
            <a:r>
              <a:rPr sz="3200" dirty="0">
                <a:latin typeface="Calibri"/>
                <a:cs typeface="Calibri"/>
              </a:rPr>
              <a:t>that</a:t>
            </a:r>
            <a:r>
              <a:rPr sz="3200" spc="50" dirty="0">
                <a:latin typeface="Calibri"/>
                <a:cs typeface="Calibri"/>
              </a:rPr>
              <a:t>  </a:t>
            </a:r>
            <a:r>
              <a:rPr sz="3200" spc="-25" dirty="0">
                <a:latin typeface="Calibri"/>
                <a:cs typeface="Calibri"/>
              </a:rPr>
              <a:t>all </a:t>
            </a:r>
            <a:r>
              <a:rPr sz="3200" dirty="0">
                <a:latin typeface="Calibri"/>
                <a:cs typeface="Calibri"/>
              </a:rPr>
              <a:t>products</a:t>
            </a:r>
            <a:r>
              <a:rPr sz="3200" spc="195" dirty="0">
                <a:latin typeface="Calibri"/>
                <a:cs typeface="Calibri"/>
              </a:rPr>
              <a:t> </a:t>
            </a:r>
            <a:r>
              <a:rPr sz="3200" dirty="0">
                <a:latin typeface="Calibri"/>
                <a:cs typeface="Calibri"/>
              </a:rPr>
              <a:t>and</a:t>
            </a:r>
            <a:r>
              <a:rPr sz="3200" spc="210" dirty="0">
                <a:latin typeface="Calibri"/>
                <a:cs typeface="Calibri"/>
              </a:rPr>
              <a:t> </a:t>
            </a:r>
            <a:r>
              <a:rPr sz="3200" dirty="0">
                <a:latin typeface="Calibri"/>
                <a:cs typeface="Calibri"/>
              </a:rPr>
              <a:t>work</a:t>
            </a:r>
            <a:r>
              <a:rPr sz="3200" spc="200" dirty="0">
                <a:latin typeface="Calibri"/>
                <a:cs typeface="Calibri"/>
              </a:rPr>
              <a:t> </a:t>
            </a:r>
            <a:r>
              <a:rPr sz="3200" dirty="0">
                <a:latin typeface="Calibri"/>
                <a:cs typeface="Calibri"/>
              </a:rPr>
              <a:t>elements</a:t>
            </a:r>
            <a:r>
              <a:rPr sz="3200" spc="210" dirty="0">
                <a:latin typeface="Calibri"/>
                <a:cs typeface="Calibri"/>
              </a:rPr>
              <a:t> </a:t>
            </a:r>
            <a:r>
              <a:rPr sz="3200" dirty="0">
                <a:latin typeface="Calibri"/>
                <a:cs typeface="Calibri"/>
              </a:rPr>
              <a:t>are</a:t>
            </a:r>
            <a:r>
              <a:rPr sz="3200" spc="200" dirty="0">
                <a:latin typeface="Calibri"/>
                <a:cs typeface="Calibri"/>
              </a:rPr>
              <a:t> </a:t>
            </a:r>
            <a:r>
              <a:rPr sz="3200" dirty="0">
                <a:latin typeface="Calibri"/>
                <a:cs typeface="Calibri"/>
              </a:rPr>
              <a:t>identified,</a:t>
            </a:r>
            <a:r>
              <a:rPr sz="3200" spc="200" dirty="0">
                <a:latin typeface="Calibri"/>
                <a:cs typeface="Calibri"/>
              </a:rPr>
              <a:t> </a:t>
            </a:r>
            <a:r>
              <a:rPr sz="3200" dirty="0">
                <a:latin typeface="Calibri"/>
                <a:cs typeface="Calibri"/>
              </a:rPr>
              <a:t>to</a:t>
            </a:r>
            <a:r>
              <a:rPr sz="3200" spc="200" dirty="0">
                <a:latin typeface="Calibri"/>
                <a:cs typeface="Calibri"/>
              </a:rPr>
              <a:t> </a:t>
            </a:r>
            <a:r>
              <a:rPr sz="3200" dirty="0">
                <a:latin typeface="Calibri"/>
                <a:cs typeface="Calibri"/>
              </a:rPr>
              <a:t>integrate</a:t>
            </a:r>
            <a:r>
              <a:rPr sz="3200" spc="195" dirty="0">
                <a:latin typeface="Calibri"/>
                <a:cs typeface="Calibri"/>
              </a:rPr>
              <a:t> </a:t>
            </a:r>
            <a:r>
              <a:rPr sz="3200" spc="-25" dirty="0">
                <a:latin typeface="Calibri"/>
                <a:cs typeface="Calibri"/>
              </a:rPr>
              <a:t>the </a:t>
            </a:r>
            <a:r>
              <a:rPr sz="3200" dirty="0">
                <a:latin typeface="Calibri"/>
                <a:cs typeface="Calibri"/>
              </a:rPr>
              <a:t>project</a:t>
            </a:r>
            <a:r>
              <a:rPr sz="3200" spc="-75" dirty="0">
                <a:latin typeface="Calibri"/>
                <a:cs typeface="Calibri"/>
              </a:rPr>
              <a:t> </a:t>
            </a:r>
            <a:r>
              <a:rPr sz="3200" dirty="0">
                <a:latin typeface="Calibri"/>
                <a:cs typeface="Calibri"/>
              </a:rPr>
              <a:t>with</a:t>
            </a:r>
            <a:r>
              <a:rPr sz="3200" spc="-70" dirty="0">
                <a:latin typeface="Calibri"/>
                <a:cs typeface="Calibri"/>
              </a:rPr>
              <a:t> </a:t>
            </a:r>
            <a:r>
              <a:rPr sz="3200" dirty="0">
                <a:latin typeface="Calibri"/>
                <a:cs typeface="Calibri"/>
              </a:rPr>
              <a:t>the</a:t>
            </a:r>
            <a:r>
              <a:rPr sz="3200" spc="-75" dirty="0">
                <a:latin typeface="Calibri"/>
                <a:cs typeface="Calibri"/>
              </a:rPr>
              <a:t> </a:t>
            </a:r>
            <a:r>
              <a:rPr sz="3200" dirty="0">
                <a:latin typeface="Calibri"/>
                <a:cs typeface="Calibri"/>
              </a:rPr>
              <a:t>current</a:t>
            </a:r>
            <a:r>
              <a:rPr sz="3200" spc="-70" dirty="0">
                <a:latin typeface="Calibri"/>
                <a:cs typeface="Calibri"/>
              </a:rPr>
              <a:t> </a:t>
            </a:r>
            <a:r>
              <a:rPr sz="3200" spc="-10" dirty="0">
                <a:latin typeface="Calibri"/>
                <a:cs typeface="Calibri"/>
              </a:rPr>
              <a:t>organization,</a:t>
            </a:r>
            <a:r>
              <a:rPr sz="3200" spc="-80" dirty="0">
                <a:latin typeface="Calibri"/>
                <a:cs typeface="Calibri"/>
              </a:rPr>
              <a:t> </a:t>
            </a:r>
            <a:r>
              <a:rPr sz="3200" dirty="0">
                <a:latin typeface="Calibri"/>
                <a:cs typeface="Calibri"/>
              </a:rPr>
              <a:t>and</a:t>
            </a:r>
            <a:r>
              <a:rPr sz="3200" spc="-70" dirty="0">
                <a:latin typeface="Calibri"/>
                <a:cs typeface="Calibri"/>
              </a:rPr>
              <a:t> </a:t>
            </a:r>
            <a:r>
              <a:rPr sz="3200" dirty="0">
                <a:latin typeface="Calibri"/>
                <a:cs typeface="Calibri"/>
              </a:rPr>
              <a:t>to</a:t>
            </a:r>
            <a:r>
              <a:rPr sz="3200" spc="-70" dirty="0">
                <a:latin typeface="Calibri"/>
                <a:cs typeface="Calibri"/>
              </a:rPr>
              <a:t> </a:t>
            </a:r>
            <a:r>
              <a:rPr sz="3200" dirty="0">
                <a:latin typeface="Calibri"/>
                <a:cs typeface="Calibri"/>
              </a:rPr>
              <a:t>establish</a:t>
            </a:r>
            <a:r>
              <a:rPr sz="3200" spc="-65" dirty="0">
                <a:latin typeface="Calibri"/>
                <a:cs typeface="Calibri"/>
              </a:rPr>
              <a:t> </a:t>
            </a:r>
            <a:r>
              <a:rPr sz="3200" dirty="0">
                <a:latin typeface="Calibri"/>
                <a:cs typeface="Calibri"/>
              </a:rPr>
              <a:t>a</a:t>
            </a:r>
            <a:r>
              <a:rPr sz="3200" spc="-70" dirty="0">
                <a:latin typeface="Calibri"/>
                <a:cs typeface="Calibri"/>
              </a:rPr>
              <a:t> </a:t>
            </a:r>
            <a:r>
              <a:rPr sz="3200" spc="-10" dirty="0">
                <a:latin typeface="Calibri"/>
                <a:cs typeface="Calibri"/>
              </a:rPr>
              <a:t>basis </a:t>
            </a:r>
            <a:r>
              <a:rPr sz="3200" dirty="0">
                <a:latin typeface="Calibri"/>
                <a:cs typeface="Calibri"/>
              </a:rPr>
              <a:t>for</a:t>
            </a:r>
            <a:r>
              <a:rPr sz="3200" spc="-75" dirty="0">
                <a:latin typeface="Calibri"/>
                <a:cs typeface="Calibri"/>
              </a:rPr>
              <a:t> </a:t>
            </a:r>
            <a:r>
              <a:rPr sz="3200" spc="-10" dirty="0">
                <a:latin typeface="Calibri"/>
                <a:cs typeface="Calibri"/>
              </a:rPr>
              <a:t>control</a:t>
            </a:r>
            <a:endParaRPr sz="3200" dirty="0">
              <a:latin typeface="Calibri"/>
              <a:cs typeface="Calibri"/>
            </a:endParaRPr>
          </a:p>
        </p:txBody>
      </p:sp>
      <p:pic>
        <p:nvPicPr>
          <p:cNvPr id="5" name="Picture 4">
            <a:extLst>
              <a:ext uri="{FF2B5EF4-FFF2-40B4-BE49-F238E27FC236}">
                <a16:creationId xmlns:a16="http://schemas.microsoft.com/office/drawing/2014/main" id="{2D6CDE6A-968B-8125-F22F-F15898BD32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5600" y="-11722"/>
            <a:ext cx="1676400" cy="8043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64715"/>
            <a:ext cx="6818630" cy="4716780"/>
          </a:xfrm>
          <a:prstGeom prst="rect">
            <a:avLst/>
          </a:prstGeom>
        </p:spPr>
        <p:txBody>
          <a:bodyPr vert="horz" wrap="square" lIns="0" tIns="46355" rIns="0" bIns="0" rtlCol="0">
            <a:spAutoFit/>
          </a:bodyPr>
          <a:lstStyle/>
          <a:p>
            <a:pPr marL="241300" marR="5080" indent="-228600" algn="just">
              <a:lnSpc>
                <a:spcPct val="89900"/>
              </a:lnSpc>
              <a:spcBef>
                <a:spcPts val="365"/>
              </a:spcBef>
              <a:buFont typeface="Arial MT"/>
              <a:buChar char="•"/>
              <a:tabLst>
                <a:tab pos="241300" algn="l"/>
              </a:tabLst>
            </a:pPr>
            <a:r>
              <a:rPr sz="2200" dirty="0">
                <a:latin typeface="Calibri"/>
                <a:cs typeface="Calibri"/>
              </a:rPr>
              <a:t>WBS</a:t>
            </a:r>
            <a:r>
              <a:rPr sz="2200" spc="65" dirty="0">
                <a:latin typeface="Calibri"/>
                <a:cs typeface="Calibri"/>
              </a:rPr>
              <a:t>  </a:t>
            </a:r>
            <a:r>
              <a:rPr sz="2200" dirty="0">
                <a:latin typeface="Calibri"/>
                <a:cs typeface="Calibri"/>
              </a:rPr>
              <a:t>begins</a:t>
            </a:r>
            <a:r>
              <a:rPr sz="2200" spc="65" dirty="0">
                <a:latin typeface="Calibri"/>
                <a:cs typeface="Calibri"/>
              </a:rPr>
              <a:t>  </a:t>
            </a:r>
            <a:r>
              <a:rPr sz="2200" dirty="0">
                <a:latin typeface="Calibri"/>
                <a:cs typeface="Calibri"/>
              </a:rPr>
              <a:t>with</a:t>
            </a:r>
            <a:r>
              <a:rPr sz="2200" spc="60" dirty="0">
                <a:latin typeface="Calibri"/>
                <a:cs typeface="Calibri"/>
              </a:rPr>
              <a:t>  </a:t>
            </a:r>
            <a:r>
              <a:rPr sz="2200" dirty="0">
                <a:latin typeface="Calibri"/>
                <a:cs typeface="Calibri"/>
              </a:rPr>
              <a:t>the</a:t>
            </a:r>
            <a:r>
              <a:rPr sz="2200" spc="70" dirty="0">
                <a:latin typeface="Calibri"/>
                <a:cs typeface="Calibri"/>
              </a:rPr>
              <a:t>  </a:t>
            </a:r>
            <a:r>
              <a:rPr sz="2200" dirty="0">
                <a:latin typeface="Calibri"/>
                <a:cs typeface="Calibri"/>
              </a:rPr>
              <a:t>project</a:t>
            </a:r>
            <a:r>
              <a:rPr sz="2200" spc="65" dirty="0">
                <a:latin typeface="Calibri"/>
                <a:cs typeface="Calibri"/>
              </a:rPr>
              <a:t>  </a:t>
            </a:r>
            <a:r>
              <a:rPr sz="2200" dirty="0">
                <a:latin typeface="Calibri"/>
                <a:cs typeface="Calibri"/>
              </a:rPr>
              <a:t>as</a:t>
            </a:r>
            <a:r>
              <a:rPr sz="2200" spc="65" dirty="0">
                <a:latin typeface="Calibri"/>
                <a:cs typeface="Calibri"/>
              </a:rPr>
              <a:t>  </a:t>
            </a:r>
            <a:r>
              <a:rPr sz="2200" dirty="0">
                <a:latin typeface="Calibri"/>
                <a:cs typeface="Calibri"/>
              </a:rPr>
              <a:t>the</a:t>
            </a:r>
            <a:r>
              <a:rPr sz="2200" spc="70" dirty="0">
                <a:latin typeface="Calibri"/>
                <a:cs typeface="Calibri"/>
              </a:rPr>
              <a:t>  </a:t>
            </a:r>
            <a:r>
              <a:rPr sz="2200" dirty="0">
                <a:latin typeface="Calibri"/>
                <a:cs typeface="Calibri"/>
              </a:rPr>
              <a:t>final</a:t>
            </a:r>
            <a:r>
              <a:rPr sz="2200" spc="65" dirty="0">
                <a:latin typeface="Calibri"/>
                <a:cs typeface="Calibri"/>
              </a:rPr>
              <a:t>  </a:t>
            </a:r>
            <a:r>
              <a:rPr sz="2200" spc="-10" dirty="0">
                <a:latin typeface="Calibri"/>
                <a:cs typeface="Calibri"/>
              </a:rPr>
              <a:t>deliverable. </a:t>
            </a:r>
            <a:r>
              <a:rPr sz="2200" dirty="0">
                <a:latin typeface="Calibri"/>
                <a:cs typeface="Calibri"/>
              </a:rPr>
              <a:t>Major</a:t>
            </a:r>
            <a:r>
              <a:rPr sz="2200" spc="475" dirty="0">
                <a:latin typeface="Calibri"/>
                <a:cs typeface="Calibri"/>
              </a:rPr>
              <a:t> </a:t>
            </a:r>
            <a:r>
              <a:rPr sz="2200" dirty="0">
                <a:latin typeface="Calibri"/>
                <a:cs typeface="Calibri"/>
              </a:rPr>
              <a:t>project</a:t>
            </a:r>
            <a:r>
              <a:rPr sz="2200" spc="480" dirty="0">
                <a:latin typeface="Calibri"/>
                <a:cs typeface="Calibri"/>
              </a:rPr>
              <a:t> </a:t>
            </a:r>
            <a:r>
              <a:rPr sz="2200" dirty="0">
                <a:latin typeface="Calibri"/>
                <a:cs typeface="Calibri"/>
              </a:rPr>
              <a:t>work</a:t>
            </a:r>
            <a:r>
              <a:rPr sz="2200" spc="480" dirty="0">
                <a:latin typeface="Calibri"/>
                <a:cs typeface="Calibri"/>
              </a:rPr>
              <a:t> </a:t>
            </a:r>
            <a:r>
              <a:rPr sz="2200" dirty="0">
                <a:latin typeface="Calibri"/>
                <a:cs typeface="Calibri"/>
              </a:rPr>
              <a:t>deliverables/systems</a:t>
            </a:r>
            <a:r>
              <a:rPr sz="2200" spc="484" dirty="0">
                <a:latin typeface="Calibri"/>
                <a:cs typeface="Calibri"/>
              </a:rPr>
              <a:t> </a:t>
            </a:r>
            <a:r>
              <a:rPr sz="2200" dirty="0">
                <a:latin typeface="Calibri"/>
                <a:cs typeface="Calibri"/>
              </a:rPr>
              <a:t>are</a:t>
            </a:r>
            <a:r>
              <a:rPr sz="2200" spc="484" dirty="0">
                <a:latin typeface="Calibri"/>
                <a:cs typeface="Calibri"/>
              </a:rPr>
              <a:t> </a:t>
            </a:r>
            <a:r>
              <a:rPr sz="2200" spc="-10" dirty="0">
                <a:latin typeface="Calibri"/>
                <a:cs typeface="Calibri"/>
              </a:rPr>
              <a:t>identified </a:t>
            </a:r>
            <a:r>
              <a:rPr sz="2200" dirty="0">
                <a:latin typeface="Calibri"/>
                <a:cs typeface="Calibri"/>
              </a:rPr>
              <a:t>first;</a:t>
            </a:r>
            <a:r>
              <a:rPr sz="2200" spc="420" dirty="0">
                <a:latin typeface="Calibri"/>
                <a:cs typeface="Calibri"/>
              </a:rPr>
              <a:t> </a:t>
            </a:r>
            <a:r>
              <a:rPr sz="2200" dirty="0">
                <a:latin typeface="Calibri"/>
                <a:cs typeface="Calibri"/>
              </a:rPr>
              <a:t>then</a:t>
            </a:r>
            <a:r>
              <a:rPr sz="2200" spc="420" dirty="0">
                <a:latin typeface="Calibri"/>
                <a:cs typeface="Calibri"/>
              </a:rPr>
              <a:t> </a:t>
            </a:r>
            <a:r>
              <a:rPr sz="2200" dirty="0">
                <a:latin typeface="Calibri"/>
                <a:cs typeface="Calibri"/>
              </a:rPr>
              <a:t>the</a:t>
            </a:r>
            <a:r>
              <a:rPr sz="2200" spc="434" dirty="0">
                <a:latin typeface="Calibri"/>
                <a:cs typeface="Calibri"/>
              </a:rPr>
              <a:t> </a:t>
            </a:r>
            <a:r>
              <a:rPr sz="2200" dirty="0">
                <a:latin typeface="Calibri"/>
                <a:cs typeface="Calibri"/>
              </a:rPr>
              <a:t>subdeliverables</a:t>
            </a:r>
            <a:r>
              <a:rPr sz="2200" spc="430" dirty="0">
                <a:latin typeface="Calibri"/>
                <a:cs typeface="Calibri"/>
              </a:rPr>
              <a:t> </a:t>
            </a:r>
            <a:r>
              <a:rPr sz="2200" dirty="0">
                <a:latin typeface="Calibri"/>
                <a:cs typeface="Calibri"/>
              </a:rPr>
              <a:t>necessary</a:t>
            </a:r>
            <a:r>
              <a:rPr sz="2200" spc="430" dirty="0">
                <a:latin typeface="Calibri"/>
                <a:cs typeface="Calibri"/>
              </a:rPr>
              <a:t> </a:t>
            </a:r>
            <a:r>
              <a:rPr sz="2200" dirty="0">
                <a:latin typeface="Calibri"/>
                <a:cs typeface="Calibri"/>
              </a:rPr>
              <a:t>to</a:t>
            </a:r>
            <a:r>
              <a:rPr sz="2200" spc="425" dirty="0">
                <a:latin typeface="Calibri"/>
                <a:cs typeface="Calibri"/>
              </a:rPr>
              <a:t> </a:t>
            </a:r>
            <a:r>
              <a:rPr sz="2200" spc="-10" dirty="0">
                <a:latin typeface="Calibri"/>
                <a:cs typeface="Calibri"/>
              </a:rPr>
              <a:t>accomplish </a:t>
            </a:r>
            <a:r>
              <a:rPr sz="2200" dirty="0">
                <a:latin typeface="Calibri"/>
                <a:cs typeface="Calibri"/>
              </a:rPr>
              <a:t>the</a:t>
            </a:r>
            <a:r>
              <a:rPr sz="2200" spc="265" dirty="0">
                <a:latin typeface="Calibri"/>
                <a:cs typeface="Calibri"/>
              </a:rPr>
              <a:t>  </a:t>
            </a:r>
            <a:r>
              <a:rPr sz="2200" dirty="0">
                <a:latin typeface="Calibri"/>
                <a:cs typeface="Calibri"/>
              </a:rPr>
              <a:t>larger</a:t>
            </a:r>
            <a:r>
              <a:rPr sz="2200" spc="254" dirty="0">
                <a:latin typeface="Calibri"/>
                <a:cs typeface="Calibri"/>
              </a:rPr>
              <a:t>  </a:t>
            </a:r>
            <a:r>
              <a:rPr sz="2200" dirty="0">
                <a:latin typeface="Calibri"/>
                <a:cs typeface="Calibri"/>
              </a:rPr>
              <a:t>deliverables</a:t>
            </a:r>
            <a:r>
              <a:rPr sz="2200" spc="265" dirty="0">
                <a:latin typeface="Calibri"/>
                <a:cs typeface="Calibri"/>
              </a:rPr>
              <a:t>  </a:t>
            </a:r>
            <a:r>
              <a:rPr sz="2200" dirty="0">
                <a:latin typeface="Calibri"/>
                <a:cs typeface="Calibri"/>
              </a:rPr>
              <a:t>are</a:t>
            </a:r>
            <a:r>
              <a:rPr sz="2200" spc="265" dirty="0">
                <a:latin typeface="Calibri"/>
                <a:cs typeface="Calibri"/>
              </a:rPr>
              <a:t>  </a:t>
            </a:r>
            <a:r>
              <a:rPr sz="2200" dirty="0">
                <a:latin typeface="Calibri"/>
                <a:cs typeface="Calibri"/>
              </a:rPr>
              <a:t>defined.</a:t>
            </a:r>
            <a:r>
              <a:rPr sz="2200" spc="260" dirty="0">
                <a:latin typeface="Calibri"/>
                <a:cs typeface="Calibri"/>
              </a:rPr>
              <a:t>  </a:t>
            </a:r>
            <a:r>
              <a:rPr sz="2200" dirty="0">
                <a:latin typeface="Calibri"/>
                <a:cs typeface="Calibri"/>
              </a:rPr>
              <a:t>The</a:t>
            </a:r>
            <a:r>
              <a:rPr sz="2200" spc="265" dirty="0">
                <a:latin typeface="Calibri"/>
                <a:cs typeface="Calibri"/>
              </a:rPr>
              <a:t>  </a:t>
            </a:r>
            <a:r>
              <a:rPr sz="2200" dirty="0">
                <a:latin typeface="Calibri"/>
                <a:cs typeface="Calibri"/>
              </a:rPr>
              <a:t>process</a:t>
            </a:r>
            <a:r>
              <a:rPr sz="2200" spc="260" dirty="0">
                <a:latin typeface="Calibri"/>
                <a:cs typeface="Calibri"/>
              </a:rPr>
              <a:t>  </a:t>
            </a:r>
            <a:r>
              <a:rPr sz="2200" spc="-25" dirty="0">
                <a:latin typeface="Calibri"/>
                <a:cs typeface="Calibri"/>
              </a:rPr>
              <a:t>is </a:t>
            </a:r>
            <a:r>
              <a:rPr sz="2200" dirty="0">
                <a:latin typeface="Calibri"/>
                <a:cs typeface="Calibri"/>
              </a:rPr>
              <a:t>repeated</a:t>
            </a:r>
            <a:r>
              <a:rPr sz="2200" spc="254" dirty="0">
                <a:latin typeface="Calibri"/>
                <a:cs typeface="Calibri"/>
              </a:rPr>
              <a:t> </a:t>
            </a:r>
            <a:r>
              <a:rPr sz="2200" dirty="0">
                <a:latin typeface="Calibri"/>
                <a:cs typeface="Calibri"/>
              </a:rPr>
              <a:t>until</a:t>
            </a:r>
            <a:r>
              <a:rPr sz="2200" spc="254" dirty="0">
                <a:latin typeface="Calibri"/>
                <a:cs typeface="Calibri"/>
              </a:rPr>
              <a:t> </a:t>
            </a:r>
            <a:r>
              <a:rPr sz="2200" dirty="0">
                <a:latin typeface="Calibri"/>
                <a:cs typeface="Calibri"/>
              </a:rPr>
              <a:t>the</a:t>
            </a:r>
            <a:r>
              <a:rPr sz="2200" spc="265" dirty="0">
                <a:latin typeface="Calibri"/>
                <a:cs typeface="Calibri"/>
              </a:rPr>
              <a:t> </a:t>
            </a:r>
            <a:r>
              <a:rPr sz="2200" dirty="0">
                <a:latin typeface="Calibri"/>
                <a:cs typeface="Calibri"/>
              </a:rPr>
              <a:t>subdeliverable</a:t>
            </a:r>
            <a:r>
              <a:rPr sz="2200" spc="270" dirty="0">
                <a:latin typeface="Calibri"/>
                <a:cs typeface="Calibri"/>
              </a:rPr>
              <a:t> </a:t>
            </a:r>
            <a:r>
              <a:rPr sz="2200" dirty="0">
                <a:latin typeface="Calibri"/>
                <a:cs typeface="Calibri"/>
              </a:rPr>
              <a:t>detail</a:t>
            </a:r>
            <a:r>
              <a:rPr sz="2200" spc="254" dirty="0">
                <a:latin typeface="Calibri"/>
                <a:cs typeface="Calibri"/>
              </a:rPr>
              <a:t> </a:t>
            </a:r>
            <a:r>
              <a:rPr sz="2200" dirty="0">
                <a:latin typeface="Calibri"/>
                <a:cs typeface="Calibri"/>
              </a:rPr>
              <a:t>is</a:t>
            </a:r>
            <a:r>
              <a:rPr sz="2200" spc="265" dirty="0">
                <a:latin typeface="Calibri"/>
                <a:cs typeface="Calibri"/>
              </a:rPr>
              <a:t> </a:t>
            </a:r>
            <a:r>
              <a:rPr sz="2200" dirty="0">
                <a:latin typeface="Calibri"/>
                <a:cs typeface="Calibri"/>
              </a:rPr>
              <a:t>small</a:t>
            </a:r>
            <a:r>
              <a:rPr sz="2200" spc="260" dirty="0">
                <a:latin typeface="Calibri"/>
                <a:cs typeface="Calibri"/>
              </a:rPr>
              <a:t> </a:t>
            </a:r>
            <a:r>
              <a:rPr sz="2200" spc="-10" dirty="0">
                <a:latin typeface="Calibri"/>
                <a:cs typeface="Calibri"/>
              </a:rPr>
              <a:t>enough </a:t>
            </a:r>
            <a:r>
              <a:rPr sz="2200" dirty="0">
                <a:latin typeface="Calibri"/>
                <a:cs typeface="Calibri"/>
              </a:rPr>
              <a:t>to</a:t>
            </a:r>
            <a:r>
              <a:rPr sz="2200" spc="270" dirty="0">
                <a:latin typeface="Calibri"/>
                <a:cs typeface="Calibri"/>
              </a:rPr>
              <a:t>  </a:t>
            </a:r>
            <a:r>
              <a:rPr sz="2200" dirty="0">
                <a:latin typeface="Calibri"/>
                <a:cs typeface="Calibri"/>
              </a:rPr>
              <a:t>be</a:t>
            </a:r>
            <a:r>
              <a:rPr sz="2200" spc="275" dirty="0">
                <a:latin typeface="Calibri"/>
                <a:cs typeface="Calibri"/>
              </a:rPr>
              <a:t>  </a:t>
            </a:r>
            <a:r>
              <a:rPr sz="2200" dirty="0">
                <a:latin typeface="Calibri"/>
                <a:cs typeface="Calibri"/>
              </a:rPr>
              <a:t>manageable</a:t>
            </a:r>
            <a:r>
              <a:rPr sz="2200" spc="275" dirty="0">
                <a:latin typeface="Calibri"/>
                <a:cs typeface="Calibri"/>
              </a:rPr>
              <a:t>  </a:t>
            </a:r>
            <a:r>
              <a:rPr sz="2200" dirty="0">
                <a:latin typeface="Calibri"/>
                <a:cs typeface="Calibri"/>
              </a:rPr>
              <a:t>and</a:t>
            </a:r>
            <a:r>
              <a:rPr sz="2200" spc="270" dirty="0">
                <a:latin typeface="Calibri"/>
                <a:cs typeface="Calibri"/>
              </a:rPr>
              <a:t>  </a:t>
            </a:r>
            <a:r>
              <a:rPr sz="2200" dirty="0">
                <a:latin typeface="Calibri"/>
                <a:cs typeface="Calibri"/>
              </a:rPr>
              <a:t>where</a:t>
            </a:r>
            <a:r>
              <a:rPr sz="2200" spc="280" dirty="0">
                <a:latin typeface="Calibri"/>
                <a:cs typeface="Calibri"/>
              </a:rPr>
              <a:t>  </a:t>
            </a:r>
            <a:r>
              <a:rPr sz="2200" dirty="0">
                <a:latin typeface="Calibri"/>
                <a:cs typeface="Calibri"/>
              </a:rPr>
              <a:t>one</a:t>
            </a:r>
            <a:r>
              <a:rPr sz="2200" spc="275" dirty="0">
                <a:latin typeface="Calibri"/>
                <a:cs typeface="Calibri"/>
              </a:rPr>
              <a:t>  </a:t>
            </a:r>
            <a:r>
              <a:rPr sz="2200" dirty="0">
                <a:latin typeface="Calibri"/>
                <a:cs typeface="Calibri"/>
              </a:rPr>
              <a:t>person</a:t>
            </a:r>
            <a:r>
              <a:rPr sz="2200" spc="270" dirty="0">
                <a:latin typeface="Calibri"/>
                <a:cs typeface="Calibri"/>
              </a:rPr>
              <a:t>  </a:t>
            </a:r>
            <a:r>
              <a:rPr sz="2200" dirty="0">
                <a:latin typeface="Calibri"/>
                <a:cs typeface="Calibri"/>
              </a:rPr>
              <a:t>can</a:t>
            </a:r>
            <a:r>
              <a:rPr sz="2200" spc="270" dirty="0">
                <a:latin typeface="Calibri"/>
                <a:cs typeface="Calibri"/>
              </a:rPr>
              <a:t>  </a:t>
            </a:r>
            <a:r>
              <a:rPr sz="2200" spc="-35" dirty="0">
                <a:latin typeface="Calibri"/>
                <a:cs typeface="Calibri"/>
              </a:rPr>
              <a:t>be </a:t>
            </a:r>
            <a:r>
              <a:rPr sz="2200" dirty="0">
                <a:latin typeface="Calibri"/>
                <a:cs typeface="Calibri"/>
              </a:rPr>
              <a:t>responsible.</a:t>
            </a:r>
            <a:r>
              <a:rPr sz="2200" spc="509" dirty="0">
                <a:latin typeface="Calibri"/>
                <a:cs typeface="Calibri"/>
              </a:rPr>
              <a:t> </a:t>
            </a:r>
            <a:r>
              <a:rPr sz="2200" dirty="0">
                <a:latin typeface="Calibri"/>
                <a:cs typeface="Calibri"/>
              </a:rPr>
              <a:t>This</a:t>
            </a:r>
            <a:r>
              <a:rPr sz="2200" spc="520" dirty="0">
                <a:latin typeface="Calibri"/>
                <a:cs typeface="Calibri"/>
              </a:rPr>
              <a:t> </a:t>
            </a:r>
            <a:r>
              <a:rPr sz="2200" dirty="0">
                <a:latin typeface="Calibri"/>
                <a:cs typeface="Calibri"/>
              </a:rPr>
              <a:t>subdeliverable</a:t>
            </a:r>
            <a:r>
              <a:rPr sz="2200" spc="525" dirty="0">
                <a:latin typeface="Calibri"/>
                <a:cs typeface="Calibri"/>
              </a:rPr>
              <a:t> </a:t>
            </a:r>
            <a:r>
              <a:rPr sz="2200" dirty="0">
                <a:latin typeface="Calibri"/>
                <a:cs typeface="Calibri"/>
              </a:rPr>
              <a:t>is</a:t>
            </a:r>
            <a:r>
              <a:rPr sz="2200" spc="520" dirty="0">
                <a:latin typeface="Calibri"/>
                <a:cs typeface="Calibri"/>
              </a:rPr>
              <a:t> </a:t>
            </a:r>
            <a:r>
              <a:rPr sz="2200" dirty="0">
                <a:latin typeface="Calibri"/>
                <a:cs typeface="Calibri"/>
              </a:rPr>
              <a:t>further</a:t>
            </a:r>
            <a:r>
              <a:rPr sz="2200" spc="509" dirty="0">
                <a:latin typeface="Calibri"/>
                <a:cs typeface="Calibri"/>
              </a:rPr>
              <a:t> </a:t>
            </a:r>
            <a:r>
              <a:rPr sz="2200" dirty="0">
                <a:latin typeface="Calibri"/>
                <a:cs typeface="Calibri"/>
              </a:rPr>
              <a:t>divided</a:t>
            </a:r>
            <a:r>
              <a:rPr sz="2200" spc="509" dirty="0">
                <a:latin typeface="Calibri"/>
                <a:cs typeface="Calibri"/>
              </a:rPr>
              <a:t> </a:t>
            </a:r>
            <a:r>
              <a:rPr sz="2200" spc="-20" dirty="0">
                <a:latin typeface="Calibri"/>
                <a:cs typeface="Calibri"/>
              </a:rPr>
              <a:t>into </a:t>
            </a:r>
            <a:r>
              <a:rPr sz="2200" dirty="0">
                <a:latin typeface="Calibri"/>
                <a:cs typeface="Calibri"/>
              </a:rPr>
              <a:t>work</a:t>
            </a:r>
            <a:r>
              <a:rPr sz="2200" spc="-55" dirty="0">
                <a:latin typeface="Calibri"/>
                <a:cs typeface="Calibri"/>
              </a:rPr>
              <a:t> </a:t>
            </a:r>
            <a:r>
              <a:rPr sz="2200" spc="-10" dirty="0">
                <a:latin typeface="Calibri"/>
                <a:cs typeface="Calibri"/>
              </a:rPr>
              <a:t>packages.</a:t>
            </a:r>
            <a:endParaRPr sz="2200">
              <a:latin typeface="Calibri"/>
              <a:cs typeface="Calibri"/>
            </a:endParaRPr>
          </a:p>
          <a:p>
            <a:pPr marL="241300" marR="5715" indent="-228600" algn="just">
              <a:lnSpc>
                <a:spcPct val="90300"/>
              </a:lnSpc>
              <a:spcBef>
                <a:spcPts val="1000"/>
              </a:spcBef>
              <a:buFont typeface="Arial MT"/>
              <a:buChar char="•"/>
              <a:tabLst>
                <a:tab pos="241300" algn="l"/>
              </a:tabLst>
            </a:pPr>
            <a:r>
              <a:rPr sz="2200" dirty="0">
                <a:solidFill>
                  <a:srgbClr val="C00000"/>
                </a:solidFill>
                <a:latin typeface="Calibri"/>
                <a:cs typeface="Calibri"/>
              </a:rPr>
              <a:t>Because</a:t>
            </a:r>
            <a:r>
              <a:rPr sz="2200" spc="350" dirty="0">
                <a:solidFill>
                  <a:srgbClr val="C00000"/>
                </a:solidFill>
                <a:latin typeface="Calibri"/>
                <a:cs typeface="Calibri"/>
              </a:rPr>
              <a:t>  </a:t>
            </a:r>
            <a:r>
              <a:rPr sz="2200" dirty="0">
                <a:solidFill>
                  <a:srgbClr val="C00000"/>
                </a:solidFill>
                <a:latin typeface="Calibri"/>
                <a:cs typeface="Calibri"/>
              </a:rPr>
              <a:t>the</a:t>
            </a:r>
            <a:r>
              <a:rPr sz="2200" spc="355" dirty="0">
                <a:solidFill>
                  <a:srgbClr val="C00000"/>
                </a:solidFill>
                <a:latin typeface="Calibri"/>
                <a:cs typeface="Calibri"/>
              </a:rPr>
              <a:t>  </a:t>
            </a:r>
            <a:r>
              <a:rPr sz="2200" dirty="0">
                <a:solidFill>
                  <a:srgbClr val="C00000"/>
                </a:solidFill>
                <a:latin typeface="Calibri"/>
                <a:cs typeface="Calibri"/>
              </a:rPr>
              <a:t>lowest</a:t>
            </a:r>
            <a:r>
              <a:rPr sz="2200" spc="350" dirty="0">
                <a:solidFill>
                  <a:srgbClr val="C00000"/>
                </a:solidFill>
                <a:latin typeface="Calibri"/>
                <a:cs typeface="Calibri"/>
              </a:rPr>
              <a:t>  </a:t>
            </a:r>
            <a:r>
              <a:rPr sz="2200" dirty="0">
                <a:solidFill>
                  <a:srgbClr val="C00000"/>
                </a:solidFill>
                <a:latin typeface="Calibri"/>
                <a:cs typeface="Calibri"/>
              </a:rPr>
              <a:t>subdeliverable</a:t>
            </a:r>
            <a:r>
              <a:rPr sz="2200" spc="355" dirty="0">
                <a:solidFill>
                  <a:srgbClr val="C00000"/>
                </a:solidFill>
                <a:latin typeface="Calibri"/>
                <a:cs typeface="Calibri"/>
              </a:rPr>
              <a:t>  </a:t>
            </a:r>
            <a:r>
              <a:rPr sz="2200" dirty="0">
                <a:solidFill>
                  <a:srgbClr val="C00000"/>
                </a:solidFill>
                <a:latin typeface="Calibri"/>
                <a:cs typeface="Calibri"/>
              </a:rPr>
              <a:t>usually</a:t>
            </a:r>
            <a:r>
              <a:rPr sz="2200" spc="350" dirty="0">
                <a:solidFill>
                  <a:srgbClr val="C00000"/>
                </a:solidFill>
                <a:latin typeface="Calibri"/>
                <a:cs typeface="Calibri"/>
              </a:rPr>
              <a:t>  </a:t>
            </a:r>
            <a:r>
              <a:rPr sz="2200" spc="-10" dirty="0">
                <a:solidFill>
                  <a:srgbClr val="C00000"/>
                </a:solidFill>
                <a:latin typeface="Calibri"/>
                <a:cs typeface="Calibri"/>
              </a:rPr>
              <a:t>includes </a:t>
            </a:r>
            <a:r>
              <a:rPr sz="2200" dirty="0">
                <a:solidFill>
                  <a:srgbClr val="C00000"/>
                </a:solidFill>
                <a:latin typeface="Calibri"/>
                <a:cs typeface="Calibri"/>
              </a:rPr>
              <a:t>several</a:t>
            </a:r>
            <a:r>
              <a:rPr sz="2200" spc="-65" dirty="0">
                <a:solidFill>
                  <a:srgbClr val="C00000"/>
                </a:solidFill>
                <a:latin typeface="Calibri"/>
                <a:cs typeface="Calibri"/>
              </a:rPr>
              <a:t> </a:t>
            </a:r>
            <a:r>
              <a:rPr sz="2200" dirty="0">
                <a:solidFill>
                  <a:srgbClr val="C00000"/>
                </a:solidFill>
                <a:latin typeface="Calibri"/>
                <a:cs typeface="Calibri"/>
              </a:rPr>
              <a:t>work</a:t>
            </a:r>
            <a:r>
              <a:rPr sz="2200" spc="-55" dirty="0">
                <a:solidFill>
                  <a:srgbClr val="C00000"/>
                </a:solidFill>
                <a:latin typeface="Calibri"/>
                <a:cs typeface="Calibri"/>
              </a:rPr>
              <a:t> </a:t>
            </a:r>
            <a:r>
              <a:rPr sz="2200" dirty="0">
                <a:solidFill>
                  <a:srgbClr val="C00000"/>
                </a:solidFill>
                <a:latin typeface="Calibri"/>
                <a:cs typeface="Calibri"/>
              </a:rPr>
              <a:t>packages,</a:t>
            </a:r>
            <a:r>
              <a:rPr sz="2200" spc="-60" dirty="0">
                <a:solidFill>
                  <a:srgbClr val="C00000"/>
                </a:solidFill>
                <a:latin typeface="Calibri"/>
                <a:cs typeface="Calibri"/>
              </a:rPr>
              <a:t> </a:t>
            </a:r>
            <a:r>
              <a:rPr sz="2200" dirty="0">
                <a:solidFill>
                  <a:srgbClr val="C00000"/>
                </a:solidFill>
                <a:latin typeface="Calibri"/>
                <a:cs typeface="Calibri"/>
              </a:rPr>
              <a:t>the</a:t>
            </a:r>
            <a:r>
              <a:rPr sz="2200" spc="-55" dirty="0">
                <a:solidFill>
                  <a:srgbClr val="C00000"/>
                </a:solidFill>
                <a:latin typeface="Calibri"/>
                <a:cs typeface="Calibri"/>
              </a:rPr>
              <a:t> </a:t>
            </a:r>
            <a:r>
              <a:rPr sz="2200" dirty="0">
                <a:solidFill>
                  <a:srgbClr val="C00000"/>
                </a:solidFill>
                <a:latin typeface="Calibri"/>
                <a:cs typeface="Calibri"/>
              </a:rPr>
              <a:t>work</a:t>
            </a:r>
            <a:r>
              <a:rPr sz="2200" spc="-55" dirty="0">
                <a:solidFill>
                  <a:srgbClr val="C00000"/>
                </a:solidFill>
                <a:latin typeface="Calibri"/>
                <a:cs typeface="Calibri"/>
              </a:rPr>
              <a:t> </a:t>
            </a:r>
            <a:r>
              <a:rPr sz="2200" dirty="0">
                <a:solidFill>
                  <a:srgbClr val="C00000"/>
                </a:solidFill>
                <a:latin typeface="Calibri"/>
                <a:cs typeface="Calibri"/>
              </a:rPr>
              <a:t>packages</a:t>
            </a:r>
            <a:r>
              <a:rPr sz="2200" spc="-60" dirty="0">
                <a:solidFill>
                  <a:srgbClr val="C00000"/>
                </a:solidFill>
                <a:latin typeface="Calibri"/>
                <a:cs typeface="Calibri"/>
              </a:rPr>
              <a:t> </a:t>
            </a:r>
            <a:r>
              <a:rPr sz="2200" dirty="0">
                <a:solidFill>
                  <a:srgbClr val="C00000"/>
                </a:solidFill>
                <a:latin typeface="Calibri"/>
                <a:cs typeface="Calibri"/>
              </a:rPr>
              <a:t>are</a:t>
            </a:r>
            <a:r>
              <a:rPr sz="2200" spc="-50" dirty="0">
                <a:solidFill>
                  <a:srgbClr val="C00000"/>
                </a:solidFill>
                <a:latin typeface="Calibri"/>
                <a:cs typeface="Calibri"/>
              </a:rPr>
              <a:t> </a:t>
            </a:r>
            <a:r>
              <a:rPr sz="2200" dirty="0">
                <a:solidFill>
                  <a:srgbClr val="C00000"/>
                </a:solidFill>
                <a:latin typeface="Calibri"/>
                <a:cs typeface="Calibri"/>
              </a:rPr>
              <a:t>grouped</a:t>
            </a:r>
            <a:r>
              <a:rPr sz="2200" spc="-65" dirty="0">
                <a:solidFill>
                  <a:srgbClr val="C00000"/>
                </a:solidFill>
                <a:latin typeface="Calibri"/>
                <a:cs typeface="Calibri"/>
              </a:rPr>
              <a:t> </a:t>
            </a:r>
            <a:r>
              <a:rPr sz="2200" spc="-25" dirty="0">
                <a:solidFill>
                  <a:srgbClr val="C00000"/>
                </a:solidFill>
                <a:latin typeface="Calibri"/>
                <a:cs typeface="Calibri"/>
              </a:rPr>
              <a:t>by </a:t>
            </a:r>
            <a:r>
              <a:rPr sz="2200" dirty="0">
                <a:solidFill>
                  <a:srgbClr val="C00000"/>
                </a:solidFill>
                <a:latin typeface="Calibri"/>
                <a:cs typeface="Calibri"/>
              </a:rPr>
              <a:t>type</a:t>
            </a:r>
            <a:r>
              <a:rPr sz="2200" spc="545" dirty="0">
                <a:solidFill>
                  <a:srgbClr val="C00000"/>
                </a:solidFill>
                <a:latin typeface="Calibri"/>
                <a:cs typeface="Calibri"/>
              </a:rPr>
              <a:t> </a:t>
            </a:r>
            <a:r>
              <a:rPr sz="2200" dirty="0">
                <a:solidFill>
                  <a:srgbClr val="C00000"/>
                </a:solidFill>
                <a:latin typeface="Calibri"/>
                <a:cs typeface="Calibri"/>
              </a:rPr>
              <a:t>of</a:t>
            </a:r>
            <a:r>
              <a:rPr sz="2200" spc="540" dirty="0">
                <a:solidFill>
                  <a:srgbClr val="C00000"/>
                </a:solidFill>
                <a:latin typeface="Calibri"/>
                <a:cs typeface="Calibri"/>
              </a:rPr>
              <a:t> </a:t>
            </a:r>
            <a:r>
              <a:rPr sz="2200" dirty="0">
                <a:solidFill>
                  <a:srgbClr val="C00000"/>
                </a:solidFill>
                <a:latin typeface="Calibri"/>
                <a:cs typeface="Calibri"/>
              </a:rPr>
              <a:t>work.</a:t>
            </a:r>
            <a:r>
              <a:rPr sz="2200" spc="535" dirty="0">
                <a:solidFill>
                  <a:srgbClr val="C00000"/>
                </a:solidFill>
                <a:latin typeface="Calibri"/>
                <a:cs typeface="Calibri"/>
              </a:rPr>
              <a:t> </a:t>
            </a:r>
            <a:r>
              <a:rPr sz="2200" dirty="0">
                <a:solidFill>
                  <a:srgbClr val="C00000"/>
                </a:solidFill>
                <a:latin typeface="Calibri"/>
                <a:cs typeface="Calibri"/>
              </a:rPr>
              <a:t>For</a:t>
            </a:r>
            <a:r>
              <a:rPr sz="2200" spc="540" dirty="0">
                <a:solidFill>
                  <a:srgbClr val="C00000"/>
                </a:solidFill>
                <a:latin typeface="Calibri"/>
                <a:cs typeface="Calibri"/>
              </a:rPr>
              <a:t> </a:t>
            </a:r>
            <a:r>
              <a:rPr sz="2200" dirty="0">
                <a:solidFill>
                  <a:srgbClr val="C00000"/>
                </a:solidFill>
                <a:latin typeface="Calibri"/>
                <a:cs typeface="Calibri"/>
              </a:rPr>
              <a:t>example,</a:t>
            </a:r>
            <a:r>
              <a:rPr sz="2200" spc="540" dirty="0">
                <a:solidFill>
                  <a:srgbClr val="C00000"/>
                </a:solidFill>
                <a:latin typeface="Calibri"/>
                <a:cs typeface="Calibri"/>
              </a:rPr>
              <a:t> </a:t>
            </a:r>
            <a:r>
              <a:rPr sz="2200" dirty="0">
                <a:solidFill>
                  <a:srgbClr val="C00000"/>
                </a:solidFill>
                <a:latin typeface="Calibri"/>
                <a:cs typeface="Calibri"/>
              </a:rPr>
              <a:t>design</a:t>
            </a:r>
            <a:r>
              <a:rPr sz="2200" spc="535" dirty="0">
                <a:solidFill>
                  <a:srgbClr val="C00000"/>
                </a:solidFill>
                <a:latin typeface="Calibri"/>
                <a:cs typeface="Calibri"/>
              </a:rPr>
              <a:t> </a:t>
            </a:r>
            <a:r>
              <a:rPr sz="2200" dirty="0">
                <a:solidFill>
                  <a:srgbClr val="C00000"/>
                </a:solidFill>
                <a:latin typeface="Calibri"/>
                <a:cs typeface="Calibri"/>
              </a:rPr>
              <a:t>and</a:t>
            </a:r>
            <a:r>
              <a:rPr sz="2200" spc="535" dirty="0">
                <a:solidFill>
                  <a:srgbClr val="C00000"/>
                </a:solidFill>
                <a:latin typeface="Calibri"/>
                <a:cs typeface="Calibri"/>
              </a:rPr>
              <a:t> </a:t>
            </a:r>
            <a:r>
              <a:rPr sz="2200" dirty="0">
                <a:solidFill>
                  <a:srgbClr val="C00000"/>
                </a:solidFill>
                <a:latin typeface="Calibri"/>
                <a:cs typeface="Calibri"/>
              </a:rPr>
              <a:t>testing.</a:t>
            </a:r>
            <a:r>
              <a:rPr sz="2200" spc="535" dirty="0">
                <a:solidFill>
                  <a:srgbClr val="C00000"/>
                </a:solidFill>
                <a:latin typeface="Calibri"/>
                <a:cs typeface="Calibri"/>
              </a:rPr>
              <a:t> </a:t>
            </a:r>
            <a:r>
              <a:rPr sz="2200" spc="-10" dirty="0">
                <a:solidFill>
                  <a:srgbClr val="C00000"/>
                </a:solidFill>
                <a:latin typeface="Calibri"/>
                <a:cs typeface="Calibri"/>
              </a:rPr>
              <a:t>These </a:t>
            </a:r>
            <a:r>
              <a:rPr sz="2200" dirty="0">
                <a:solidFill>
                  <a:srgbClr val="C00000"/>
                </a:solidFill>
                <a:latin typeface="Calibri"/>
                <a:cs typeface="Calibri"/>
              </a:rPr>
              <a:t>groupings</a:t>
            </a:r>
            <a:r>
              <a:rPr sz="2200" spc="425" dirty="0">
                <a:solidFill>
                  <a:srgbClr val="C00000"/>
                </a:solidFill>
                <a:latin typeface="Calibri"/>
                <a:cs typeface="Calibri"/>
              </a:rPr>
              <a:t>  </a:t>
            </a:r>
            <a:r>
              <a:rPr sz="2200" dirty="0">
                <a:solidFill>
                  <a:srgbClr val="C00000"/>
                </a:solidFill>
                <a:latin typeface="Calibri"/>
                <a:cs typeface="Calibri"/>
              </a:rPr>
              <a:t>within</a:t>
            </a:r>
            <a:r>
              <a:rPr sz="2200" spc="430" dirty="0">
                <a:solidFill>
                  <a:srgbClr val="C00000"/>
                </a:solidFill>
                <a:latin typeface="Calibri"/>
                <a:cs typeface="Calibri"/>
              </a:rPr>
              <a:t>  </a:t>
            </a:r>
            <a:r>
              <a:rPr sz="2200" dirty="0">
                <a:solidFill>
                  <a:srgbClr val="C00000"/>
                </a:solidFill>
                <a:latin typeface="Calibri"/>
                <a:cs typeface="Calibri"/>
              </a:rPr>
              <a:t>a</a:t>
            </a:r>
            <a:r>
              <a:rPr sz="2200" spc="420" dirty="0">
                <a:solidFill>
                  <a:srgbClr val="C00000"/>
                </a:solidFill>
                <a:latin typeface="Calibri"/>
                <a:cs typeface="Calibri"/>
              </a:rPr>
              <a:t>  </a:t>
            </a:r>
            <a:r>
              <a:rPr sz="2200" dirty="0">
                <a:solidFill>
                  <a:srgbClr val="C00000"/>
                </a:solidFill>
                <a:latin typeface="Calibri"/>
                <a:cs typeface="Calibri"/>
              </a:rPr>
              <a:t>subdeliverable</a:t>
            </a:r>
            <a:r>
              <a:rPr sz="2200" spc="430" dirty="0">
                <a:solidFill>
                  <a:srgbClr val="C00000"/>
                </a:solidFill>
                <a:latin typeface="Calibri"/>
                <a:cs typeface="Calibri"/>
              </a:rPr>
              <a:t>  </a:t>
            </a:r>
            <a:r>
              <a:rPr sz="2200" dirty="0">
                <a:solidFill>
                  <a:srgbClr val="C00000"/>
                </a:solidFill>
                <a:latin typeface="Calibri"/>
                <a:cs typeface="Calibri"/>
              </a:rPr>
              <a:t>are</a:t>
            </a:r>
            <a:r>
              <a:rPr sz="2200" spc="430" dirty="0">
                <a:solidFill>
                  <a:srgbClr val="C00000"/>
                </a:solidFill>
                <a:latin typeface="Calibri"/>
                <a:cs typeface="Calibri"/>
              </a:rPr>
              <a:t>  </a:t>
            </a:r>
            <a:r>
              <a:rPr sz="2200" dirty="0">
                <a:solidFill>
                  <a:srgbClr val="C00000"/>
                </a:solidFill>
                <a:latin typeface="Calibri"/>
                <a:cs typeface="Calibri"/>
              </a:rPr>
              <a:t>called</a:t>
            </a:r>
            <a:r>
              <a:rPr sz="2200" spc="425" dirty="0">
                <a:solidFill>
                  <a:srgbClr val="C00000"/>
                </a:solidFill>
                <a:latin typeface="Calibri"/>
                <a:cs typeface="Calibri"/>
              </a:rPr>
              <a:t>  </a:t>
            </a:r>
            <a:r>
              <a:rPr sz="2200" spc="-20" dirty="0">
                <a:solidFill>
                  <a:srgbClr val="C00000"/>
                </a:solidFill>
                <a:latin typeface="Calibri"/>
                <a:cs typeface="Calibri"/>
              </a:rPr>
              <a:t>cost </a:t>
            </a:r>
            <a:r>
              <a:rPr sz="2200" dirty="0">
                <a:solidFill>
                  <a:srgbClr val="C00000"/>
                </a:solidFill>
                <a:latin typeface="Calibri"/>
                <a:cs typeface="Calibri"/>
              </a:rPr>
              <a:t>accounts.</a:t>
            </a:r>
            <a:r>
              <a:rPr sz="2200" spc="210" dirty="0">
                <a:solidFill>
                  <a:srgbClr val="C00000"/>
                </a:solidFill>
                <a:latin typeface="Calibri"/>
                <a:cs typeface="Calibri"/>
              </a:rPr>
              <a:t>   </a:t>
            </a:r>
            <a:r>
              <a:rPr sz="2200" dirty="0">
                <a:solidFill>
                  <a:srgbClr val="C00000"/>
                </a:solidFill>
                <a:latin typeface="Calibri"/>
                <a:cs typeface="Calibri"/>
              </a:rPr>
              <a:t>This</a:t>
            </a:r>
            <a:r>
              <a:rPr sz="2200" spc="210" dirty="0">
                <a:solidFill>
                  <a:srgbClr val="C00000"/>
                </a:solidFill>
                <a:latin typeface="Calibri"/>
                <a:cs typeface="Calibri"/>
              </a:rPr>
              <a:t>   </a:t>
            </a:r>
            <a:r>
              <a:rPr sz="2200" dirty="0">
                <a:solidFill>
                  <a:srgbClr val="C00000"/>
                </a:solidFill>
                <a:latin typeface="Calibri"/>
                <a:cs typeface="Calibri"/>
              </a:rPr>
              <a:t>grouping</a:t>
            </a:r>
            <a:r>
              <a:rPr sz="2200" spc="215" dirty="0">
                <a:solidFill>
                  <a:srgbClr val="C00000"/>
                </a:solidFill>
                <a:latin typeface="Calibri"/>
                <a:cs typeface="Calibri"/>
              </a:rPr>
              <a:t>   </a:t>
            </a:r>
            <a:r>
              <a:rPr sz="2200" dirty="0">
                <a:solidFill>
                  <a:srgbClr val="C00000"/>
                </a:solidFill>
                <a:latin typeface="Calibri"/>
                <a:cs typeface="Calibri"/>
              </a:rPr>
              <a:t>facilitates</a:t>
            </a:r>
            <a:r>
              <a:rPr sz="2200" spc="215" dirty="0">
                <a:solidFill>
                  <a:srgbClr val="C00000"/>
                </a:solidFill>
                <a:latin typeface="Calibri"/>
                <a:cs typeface="Calibri"/>
              </a:rPr>
              <a:t>   </a:t>
            </a:r>
            <a:r>
              <a:rPr sz="2200" dirty="0">
                <a:solidFill>
                  <a:srgbClr val="C00000"/>
                </a:solidFill>
                <a:latin typeface="Calibri"/>
                <a:cs typeface="Calibri"/>
              </a:rPr>
              <a:t>a</a:t>
            </a:r>
            <a:r>
              <a:rPr sz="2200" spc="210" dirty="0">
                <a:solidFill>
                  <a:srgbClr val="C00000"/>
                </a:solidFill>
                <a:latin typeface="Calibri"/>
                <a:cs typeface="Calibri"/>
              </a:rPr>
              <a:t>   </a:t>
            </a:r>
            <a:r>
              <a:rPr sz="2200" dirty="0">
                <a:solidFill>
                  <a:srgbClr val="C00000"/>
                </a:solidFill>
                <a:latin typeface="Calibri"/>
                <a:cs typeface="Calibri"/>
              </a:rPr>
              <a:t>system</a:t>
            </a:r>
            <a:r>
              <a:rPr sz="2200" spc="215" dirty="0">
                <a:solidFill>
                  <a:srgbClr val="C00000"/>
                </a:solidFill>
                <a:latin typeface="Calibri"/>
                <a:cs typeface="Calibri"/>
              </a:rPr>
              <a:t>   </a:t>
            </a:r>
            <a:r>
              <a:rPr sz="2200" spc="-25" dirty="0">
                <a:solidFill>
                  <a:srgbClr val="C00000"/>
                </a:solidFill>
                <a:latin typeface="Calibri"/>
                <a:cs typeface="Calibri"/>
              </a:rPr>
              <a:t>for </a:t>
            </a:r>
            <a:r>
              <a:rPr sz="2200" dirty="0">
                <a:solidFill>
                  <a:srgbClr val="C00000"/>
                </a:solidFill>
                <a:latin typeface="Calibri"/>
                <a:cs typeface="Calibri"/>
              </a:rPr>
              <a:t>monitoring</a:t>
            </a:r>
            <a:r>
              <a:rPr sz="2200" spc="204" dirty="0">
                <a:solidFill>
                  <a:srgbClr val="C00000"/>
                </a:solidFill>
                <a:latin typeface="Calibri"/>
                <a:cs typeface="Calibri"/>
              </a:rPr>
              <a:t>   </a:t>
            </a:r>
            <a:r>
              <a:rPr sz="2200" dirty="0">
                <a:solidFill>
                  <a:srgbClr val="C00000"/>
                </a:solidFill>
                <a:latin typeface="Calibri"/>
                <a:cs typeface="Calibri"/>
              </a:rPr>
              <a:t>project</a:t>
            </a:r>
            <a:r>
              <a:rPr sz="2200" spc="200" dirty="0">
                <a:solidFill>
                  <a:srgbClr val="C00000"/>
                </a:solidFill>
                <a:latin typeface="Calibri"/>
                <a:cs typeface="Calibri"/>
              </a:rPr>
              <a:t>   </a:t>
            </a:r>
            <a:r>
              <a:rPr sz="2200" dirty="0">
                <a:solidFill>
                  <a:srgbClr val="C00000"/>
                </a:solidFill>
                <a:latin typeface="Calibri"/>
                <a:cs typeface="Calibri"/>
              </a:rPr>
              <a:t>progress</a:t>
            </a:r>
            <a:r>
              <a:rPr sz="2200" spc="204" dirty="0">
                <a:solidFill>
                  <a:srgbClr val="C00000"/>
                </a:solidFill>
                <a:latin typeface="Calibri"/>
                <a:cs typeface="Calibri"/>
              </a:rPr>
              <a:t>   </a:t>
            </a:r>
            <a:r>
              <a:rPr sz="2200" dirty="0">
                <a:solidFill>
                  <a:srgbClr val="C00000"/>
                </a:solidFill>
                <a:latin typeface="Calibri"/>
                <a:cs typeface="Calibri"/>
              </a:rPr>
              <a:t>by</a:t>
            </a:r>
            <a:r>
              <a:rPr sz="2200" spc="204" dirty="0">
                <a:solidFill>
                  <a:srgbClr val="C00000"/>
                </a:solidFill>
                <a:latin typeface="Calibri"/>
                <a:cs typeface="Calibri"/>
              </a:rPr>
              <a:t>   </a:t>
            </a:r>
            <a:r>
              <a:rPr sz="2200" dirty="0">
                <a:solidFill>
                  <a:srgbClr val="C00000"/>
                </a:solidFill>
                <a:latin typeface="Calibri"/>
                <a:cs typeface="Calibri"/>
              </a:rPr>
              <a:t>work,</a:t>
            </a:r>
            <a:r>
              <a:rPr sz="2200" spc="204" dirty="0">
                <a:solidFill>
                  <a:srgbClr val="C00000"/>
                </a:solidFill>
                <a:latin typeface="Calibri"/>
                <a:cs typeface="Calibri"/>
              </a:rPr>
              <a:t>   </a:t>
            </a:r>
            <a:r>
              <a:rPr sz="2200" dirty="0">
                <a:solidFill>
                  <a:srgbClr val="C00000"/>
                </a:solidFill>
                <a:latin typeface="Calibri"/>
                <a:cs typeface="Calibri"/>
              </a:rPr>
              <a:t>cost,</a:t>
            </a:r>
            <a:r>
              <a:rPr sz="2200" spc="204" dirty="0">
                <a:solidFill>
                  <a:srgbClr val="C00000"/>
                </a:solidFill>
                <a:latin typeface="Calibri"/>
                <a:cs typeface="Calibri"/>
              </a:rPr>
              <a:t>   </a:t>
            </a:r>
            <a:r>
              <a:rPr sz="2200" spc="-25" dirty="0">
                <a:solidFill>
                  <a:srgbClr val="C00000"/>
                </a:solidFill>
                <a:latin typeface="Calibri"/>
                <a:cs typeface="Calibri"/>
              </a:rPr>
              <a:t>and </a:t>
            </a:r>
            <a:r>
              <a:rPr sz="2200" spc="-10" dirty="0">
                <a:solidFill>
                  <a:srgbClr val="C00000"/>
                </a:solidFill>
                <a:latin typeface="Calibri"/>
                <a:cs typeface="Calibri"/>
              </a:rPr>
              <a:t>responsibility.</a:t>
            </a:r>
            <a:endParaRPr sz="2200">
              <a:latin typeface="Calibri"/>
              <a:cs typeface="Calibri"/>
            </a:endParaRPr>
          </a:p>
        </p:txBody>
      </p:sp>
      <p:sp>
        <p:nvSpPr>
          <p:cNvPr id="3" name="object 3"/>
          <p:cNvSpPr txBox="1"/>
          <p:nvPr/>
        </p:nvSpPr>
        <p:spPr>
          <a:xfrm>
            <a:off x="11829693" y="6441620"/>
            <a:ext cx="77470" cy="186055"/>
          </a:xfrm>
          <a:prstGeom prst="rect">
            <a:avLst/>
          </a:prstGeom>
        </p:spPr>
        <p:txBody>
          <a:bodyPr vert="horz" wrap="square" lIns="0" tIns="0" rIns="0" bIns="0" rtlCol="0">
            <a:spAutoFit/>
          </a:bodyPr>
          <a:lstStyle/>
          <a:p>
            <a:pPr>
              <a:lnSpc>
                <a:spcPts val="1385"/>
              </a:lnSpc>
            </a:pPr>
            <a:r>
              <a:rPr sz="1200" b="1" spc="-60" dirty="0">
                <a:solidFill>
                  <a:srgbClr val="898989"/>
                </a:solidFill>
                <a:latin typeface="Calibri"/>
                <a:cs typeface="Calibri"/>
              </a:rPr>
              <a:t>9</a:t>
            </a:r>
            <a:endParaRPr sz="1200">
              <a:latin typeface="Calibri"/>
              <a:cs typeface="Calibri"/>
            </a:endParaRPr>
          </a:p>
        </p:txBody>
      </p:sp>
      <p:grpSp>
        <p:nvGrpSpPr>
          <p:cNvPr id="4" name="object 4"/>
          <p:cNvGrpSpPr/>
          <p:nvPr/>
        </p:nvGrpSpPr>
        <p:grpSpPr>
          <a:xfrm>
            <a:off x="8110906" y="1617328"/>
            <a:ext cx="3999229" cy="4775200"/>
            <a:chOff x="8110906" y="1617328"/>
            <a:chExt cx="3999229" cy="4775200"/>
          </a:xfrm>
        </p:grpSpPr>
        <p:pic>
          <p:nvPicPr>
            <p:cNvPr id="5" name="object 5"/>
            <p:cNvPicPr/>
            <p:nvPr/>
          </p:nvPicPr>
          <p:blipFill>
            <a:blip r:embed="rId2" cstate="print"/>
            <a:stretch>
              <a:fillRect/>
            </a:stretch>
          </p:blipFill>
          <p:spPr>
            <a:xfrm>
              <a:off x="8110906" y="1617328"/>
              <a:ext cx="3998733" cy="4775142"/>
            </a:xfrm>
            <a:prstGeom prst="rect">
              <a:avLst/>
            </a:prstGeom>
          </p:spPr>
        </p:pic>
        <p:sp>
          <p:nvSpPr>
            <p:cNvPr id="6" name="object 6"/>
            <p:cNvSpPr/>
            <p:nvPr/>
          </p:nvSpPr>
          <p:spPr>
            <a:xfrm>
              <a:off x="8732519" y="4907280"/>
              <a:ext cx="1859280" cy="792480"/>
            </a:xfrm>
            <a:custGeom>
              <a:avLst/>
              <a:gdLst/>
              <a:ahLst/>
              <a:cxnLst/>
              <a:rect l="l" t="t" r="r" b="b"/>
              <a:pathLst>
                <a:path w="1859279" h="792479">
                  <a:moveTo>
                    <a:pt x="0" y="396240"/>
                  </a:moveTo>
                  <a:lnTo>
                    <a:pt x="9231" y="340181"/>
                  </a:lnTo>
                  <a:lnTo>
                    <a:pt x="36088" y="286538"/>
                  </a:lnTo>
                  <a:lnTo>
                    <a:pt x="79310" y="235849"/>
                  </a:lnTo>
                  <a:lnTo>
                    <a:pt x="137640" y="188648"/>
                  </a:lnTo>
                  <a:lnTo>
                    <a:pt x="172077" y="166524"/>
                  </a:lnTo>
                  <a:lnTo>
                    <a:pt x="209819" y="145473"/>
                  </a:lnTo>
                  <a:lnTo>
                    <a:pt x="250709" y="125562"/>
                  </a:lnTo>
                  <a:lnTo>
                    <a:pt x="294589" y="106859"/>
                  </a:lnTo>
                  <a:lnTo>
                    <a:pt x="341302" y="89431"/>
                  </a:lnTo>
                  <a:lnTo>
                    <a:pt x="390690" y="73344"/>
                  </a:lnTo>
                  <a:lnTo>
                    <a:pt x="442598" y="58666"/>
                  </a:lnTo>
                  <a:lnTo>
                    <a:pt x="496866" y="45464"/>
                  </a:lnTo>
                  <a:lnTo>
                    <a:pt x="553338" y="33804"/>
                  </a:lnTo>
                  <a:lnTo>
                    <a:pt x="611856" y="23754"/>
                  </a:lnTo>
                  <a:lnTo>
                    <a:pt x="672264" y="15381"/>
                  </a:lnTo>
                  <a:lnTo>
                    <a:pt x="734403" y="8752"/>
                  </a:lnTo>
                  <a:lnTo>
                    <a:pt x="798117" y="3934"/>
                  </a:lnTo>
                  <a:lnTo>
                    <a:pt x="863248" y="994"/>
                  </a:lnTo>
                  <a:lnTo>
                    <a:pt x="929640" y="0"/>
                  </a:lnTo>
                  <a:lnTo>
                    <a:pt x="996031" y="994"/>
                  </a:lnTo>
                  <a:lnTo>
                    <a:pt x="1061162" y="3934"/>
                  </a:lnTo>
                  <a:lnTo>
                    <a:pt x="1124876" y="8752"/>
                  </a:lnTo>
                  <a:lnTo>
                    <a:pt x="1187015" y="15381"/>
                  </a:lnTo>
                  <a:lnTo>
                    <a:pt x="1247423" y="23754"/>
                  </a:lnTo>
                  <a:lnTo>
                    <a:pt x="1305941" y="33804"/>
                  </a:lnTo>
                  <a:lnTo>
                    <a:pt x="1362413" y="45464"/>
                  </a:lnTo>
                  <a:lnTo>
                    <a:pt x="1416681" y="58666"/>
                  </a:lnTo>
                  <a:lnTo>
                    <a:pt x="1468589" y="73344"/>
                  </a:lnTo>
                  <a:lnTo>
                    <a:pt x="1517977" y="89431"/>
                  </a:lnTo>
                  <a:lnTo>
                    <a:pt x="1564690" y="106859"/>
                  </a:lnTo>
                  <a:lnTo>
                    <a:pt x="1608570" y="125562"/>
                  </a:lnTo>
                  <a:lnTo>
                    <a:pt x="1649460" y="145473"/>
                  </a:lnTo>
                  <a:lnTo>
                    <a:pt x="1687202" y="166524"/>
                  </a:lnTo>
                  <a:lnTo>
                    <a:pt x="1721639" y="188648"/>
                  </a:lnTo>
                  <a:lnTo>
                    <a:pt x="1752614" y="211779"/>
                  </a:lnTo>
                  <a:lnTo>
                    <a:pt x="1803547" y="260791"/>
                  </a:lnTo>
                  <a:lnTo>
                    <a:pt x="1838744" y="313024"/>
                  </a:lnTo>
                  <a:lnTo>
                    <a:pt x="1856945" y="367942"/>
                  </a:lnTo>
                  <a:lnTo>
                    <a:pt x="1859280" y="396240"/>
                  </a:lnTo>
                  <a:lnTo>
                    <a:pt x="1856945" y="424537"/>
                  </a:lnTo>
                  <a:lnTo>
                    <a:pt x="1838744" y="479455"/>
                  </a:lnTo>
                  <a:lnTo>
                    <a:pt x="1803547" y="531688"/>
                  </a:lnTo>
                  <a:lnTo>
                    <a:pt x="1752614" y="580700"/>
                  </a:lnTo>
                  <a:lnTo>
                    <a:pt x="1721639" y="603831"/>
                  </a:lnTo>
                  <a:lnTo>
                    <a:pt x="1687202" y="625955"/>
                  </a:lnTo>
                  <a:lnTo>
                    <a:pt x="1649460" y="647006"/>
                  </a:lnTo>
                  <a:lnTo>
                    <a:pt x="1608570" y="666917"/>
                  </a:lnTo>
                  <a:lnTo>
                    <a:pt x="1564690" y="685620"/>
                  </a:lnTo>
                  <a:lnTo>
                    <a:pt x="1517977" y="703048"/>
                  </a:lnTo>
                  <a:lnTo>
                    <a:pt x="1468589" y="719135"/>
                  </a:lnTo>
                  <a:lnTo>
                    <a:pt x="1416681" y="733813"/>
                  </a:lnTo>
                  <a:lnTo>
                    <a:pt x="1362413" y="747015"/>
                  </a:lnTo>
                  <a:lnTo>
                    <a:pt x="1305941" y="758675"/>
                  </a:lnTo>
                  <a:lnTo>
                    <a:pt x="1247423" y="768725"/>
                  </a:lnTo>
                  <a:lnTo>
                    <a:pt x="1187015" y="777098"/>
                  </a:lnTo>
                  <a:lnTo>
                    <a:pt x="1124876" y="783727"/>
                  </a:lnTo>
                  <a:lnTo>
                    <a:pt x="1061162" y="788545"/>
                  </a:lnTo>
                  <a:lnTo>
                    <a:pt x="996031" y="791485"/>
                  </a:lnTo>
                  <a:lnTo>
                    <a:pt x="929640" y="792480"/>
                  </a:lnTo>
                  <a:lnTo>
                    <a:pt x="863248" y="791485"/>
                  </a:lnTo>
                  <a:lnTo>
                    <a:pt x="798117" y="788545"/>
                  </a:lnTo>
                  <a:lnTo>
                    <a:pt x="734403" y="783727"/>
                  </a:lnTo>
                  <a:lnTo>
                    <a:pt x="672264" y="777098"/>
                  </a:lnTo>
                  <a:lnTo>
                    <a:pt x="611856" y="768725"/>
                  </a:lnTo>
                  <a:lnTo>
                    <a:pt x="553338" y="758675"/>
                  </a:lnTo>
                  <a:lnTo>
                    <a:pt x="496866" y="747015"/>
                  </a:lnTo>
                  <a:lnTo>
                    <a:pt x="442598" y="733813"/>
                  </a:lnTo>
                  <a:lnTo>
                    <a:pt x="390690" y="719135"/>
                  </a:lnTo>
                  <a:lnTo>
                    <a:pt x="341302" y="703048"/>
                  </a:lnTo>
                  <a:lnTo>
                    <a:pt x="294589" y="685620"/>
                  </a:lnTo>
                  <a:lnTo>
                    <a:pt x="250709" y="666917"/>
                  </a:lnTo>
                  <a:lnTo>
                    <a:pt x="209819" y="647006"/>
                  </a:lnTo>
                  <a:lnTo>
                    <a:pt x="172077" y="625955"/>
                  </a:lnTo>
                  <a:lnTo>
                    <a:pt x="137640" y="603831"/>
                  </a:lnTo>
                  <a:lnTo>
                    <a:pt x="106665" y="580700"/>
                  </a:lnTo>
                  <a:lnTo>
                    <a:pt x="55732" y="531688"/>
                  </a:lnTo>
                  <a:lnTo>
                    <a:pt x="20535" y="479455"/>
                  </a:lnTo>
                  <a:lnTo>
                    <a:pt x="2334" y="424537"/>
                  </a:lnTo>
                  <a:lnTo>
                    <a:pt x="0" y="396240"/>
                  </a:lnTo>
                  <a:close/>
                </a:path>
              </a:pathLst>
            </a:custGeom>
            <a:ln w="31750">
              <a:solidFill>
                <a:srgbClr val="C00000"/>
              </a:solidFill>
            </a:ln>
          </p:spPr>
          <p:txBody>
            <a:bodyPr wrap="square" lIns="0" tIns="0" rIns="0" bIns="0" rtlCol="0"/>
            <a:lstStyle/>
            <a:p>
              <a:endParaRPr/>
            </a:p>
          </p:txBody>
        </p:sp>
      </p:grpSp>
      <p:sp>
        <p:nvSpPr>
          <p:cNvPr id="7" name="object 7"/>
          <p:cNvSpPr txBox="1">
            <a:spLocks noGrp="1"/>
          </p:cNvSpPr>
          <p:nvPr>
            <p:ph type="title"/>
          </p:nvPr>
        </p:nvSpPr>
        <p:spPr>
          <a:xfrm>
            <a:off x="35170" y="325887"/>
            <a:ext cx="10556630" cy="1338828"/>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p>
        </p:txBody>
      </p:sp>
      <p:sp>
        <p:nvSpPr>
          <p:cNvPr id="8" name="object 8"/>
          <p:cNvSpPr/>
          <p:nvPr/>
        </p:nvSpPr>
        <p:spPr>
          <a:xfrm>
            <a:off x="7702832" y="6454774"/>
            <a:ext cx="4489450" cy="339090"/>
          </a:xfrm>
          <a:custGeom>
            <a:avLst/>
            <a:gdLst/>
            <a:ahLst/>
            <a:cxnLst/>
            <a:rect l="l" t="t" r="r" b="b"/>
            <a:pathLst>
              <a:path w="4489450" h="339090">
                <a:moveTo>
                  <a:pt x="4489166" y="0"/>
                </a:moveTo>
                <a:lnTo>
                  <a:pt x="0" y="0"/>
                </a:lnTo>
                <a:lnTo>
                  <a:pt x="0" y="338553"/>
                </a:lnTo>
                <a:lnTo>
                  <a:pt x="4489166" y="338553"/>
                </a:lnTo>
                <a:lnTo>
                  <a:pt x="4489166" y="0"/>
                </a:lnTo>
                <a:close/>
              </a:path>
            </a:pathLst>
          </a:custGeom>
          <a:solidFill>
            <a:srgbClr val="FFFFFF"/>
          </a:solidFill>
        </p:spPr>
        <p:txBody>
          <a:bodyPr wrap="square" lIns="0" tIns="0" rIns="0" bIns="0" rtlCol="0"/>
          <a:lstStyle/>
          <a:p>
            <a:endParaRPr/>
          </a:p>
        </p:txBody>
      </p:sp>
      <p:sp>
        <p:nvSpPr>
          <p:cNvPr id="9" name="object 9"/>
          <p:cNvSpPr txBox="1"/>
          <p:nvPr/>
        </p:nvSpPr>
        <p:spPr>
          <a:xfrm>
            <a:off x="7781573" y="6469379"/>
            <a:ext cx="4394200" cy="281940"/>
          </a:xfrm>
          <a:prstGeom prst="rect">
            <a:avLst/>
          </a:prstGeom>
        </p:spPr>
        <p:txBody>
          <a:bodyPr vert="horz" wrap="square" lIns="0" tIns="12700" rIns="0" bIns="0" rtlCol="0">
            <a:spAutoFit/>
          </a:bodyPr>
          <a:lstStyle/>
          <a:p>
            <a:pPr marL="12700" marR="5080">
              <a:lnSpc>
                <a:spcPct val="105000"/>
              </a:lnSpc>
              <a:spcBef>
                <a:spcPts val="100"/>
              </a:spcBef>
            </a:pPr>
            <a:r>
              <a:rPr sz="800" dirty="0">
                <a:latin typeface="Calibri"/>
                <a:cs typeface="Calibri"/>
              </a:rPr>
              <a:t>*</a:t>
            </a:r>
            <a:r>
              <a:rPr sz="800" spc="-10" dirty="0">
                <a:latin typeface="Calibri"/>
                <a:cs typeface="Calibri"/>
              </a:rPr>
              <a:t> </a:t>
            </a:r>
            <a:r>
              <a:rPr sz="800" dirty="0">
                <a:latin typeface="Calibri"/>
                <a:cs typeface="Calibri"/>
              </a:rPr>
              <a:t>This</a:t>
            </a:r>
            <a:r>
              <a:rPr sz="800" spc="-10" dirty="0">
                <a:latin typeface="Calibri"/>
                <a:cs typeface="Calibri"/>
              </a:rPr>
              <a:t> breakdown </a:t>
            </a:r>
            <a:r>
              <a:rPr sz="800" dirty="0">
                <a:latin typeface="Calibri"/>
                <a:cs typeface="Calibri"/>
              </a:rPr>
              <a:t>groups</a:t>
            </a:r>
            <a:r>
              <a:rPr sz="800" spc="-10" dirty="0">
                <a:latin typeface="Calibri"/>
                <a:cs typeface="Calibri"/>
              </a:rPr>
              <a:t> </a:t>
            </a:r>
            <a:r>
              <a:rPr sz="800" dirty="0">
                <a:latin typeface="Calibri"/>
                <a:cs typeface="Calibri"/>
              </a:rPr>
              <a:t>work</a:t>
            </a:r>
            <a:r>
              <a:rPr sz="800" spc="-15" dirty="0">
                <a:latin typeface="Calibri"/>
                <a:cs typeface="Calibri"/>
              </a:rPr>
              <a:t> </a:t>
            </a:r>
            <a:r>
              <a:rPr sz="800" spc="-10" dirty="0">
                <a:latin typeface="Calibri"/>
                <a:cs typeface="Calibri"/>
              </a:rPr>
              <a:t>packages </a:t>
            </a:r>
            <a:r>
              <a:rPr sz="800" dirty="0">
                <a:latin typeface="Calibri"/>
                <a:cs typeface="Calibri"/>
              </a:rPr>
              <a:t>by</a:t>
            </a:r>
            <a:r>
              <a:rPr sz="800" spc="-15" dirty="0">
                <a:latin typeface="Calibri"/>
                <a:cs typeface="Calibri"/>
              </a:rPr>
              <a:t> </a:t>
            </a:r>
            <a:r>
              <a:rPr sz="800" dirty="0">
                <a:latin typeface="Calibri"/>
                <a:cs typeface="Calibri"/>
              </a:rPr>
              <a:t>type</a:t>
            </a:r>
            <a:r>
              <a:rPr sz="800" spc="-5" dirty="0">
                <a:latin typeface="Calibri"/>
                <a:cs typeface="Calibri"/>
              </a:rPr>
              <a:t> </a:t>
            </a:r>
            <a:r>
              <a:rPr sz="800" dirty="0">
                <a:latin typeface="Calibri"/>
                <a:cs typeface="Calibri"/>
              </a:rPr>
              <a:t>of</a:t>
            </a:r>
            <a:r>
              <a:rPr sz="800" spc="-5" dirty="0">
                <a:latin typeface="Calibri"/>
                <a:cs typeface="Calibri"/>
              </a:rPr>
              <a:t> </a:t>
            </a:r>
            <a:r>
              <a:rPr sz="800" dirty="0">
                <a:latin typeface="Calibri"/>
                <a:cs typeface="Calibri"/>
              </a:rPr>
              <a:t>work</a:t>
            </a:r>
            <a:r>
              <a:rPr sz="800" spc="-10" dirty="0">
                <a:latin typeface="Calibri"/>
                <a:cs typeface="Calibri"/>
              </a:rPr>
              <a:t> </a:t>
            </a:r>
            <a:r>
              <a:rPr sz="800" dirty="0">
                <a:latin typeface="Calibri"/>
                <a:cs typeface="Calibri"/>
              </a:rPr>
              <a:t>within</a:t>
            </a:r>
            <a:r>
              <a:rPr sz="800" spc="-10" dirty="0">
                <a:latin typeface="Calibri"/>
                <a:cs typeface="Calibri"/>
              </a:rPr>
              <a:t> </a:t>
            </a:r>
            <a:r>
              <a:rPr sz="800" dirty="0">
                <a:latin typeface="Calibri"/>
                <a:cs typeface="Calibri"/>
              </a:rPr>
              <a:t>a</a:t>
            </a:r>
            <a:r>
              <a:rPr sz="800" spc="-5" dirty="0">
                <a:latin typeface="Calibri"/>
                <a:cs typeface="Calibri"/>
              </a:rPr>
              <a:t> </a:t>
            </a:r>
            <a:r>
              <a:rPr sz="800" spc="-10" dirty="0">
                <a:latin typeface="Calibri"/>
                <a:cs typeface="Calibri"/>
              </a:rPr>
              <a:t>deliverable </a:t>
            </a:r>
            <a:r>
              <a:rPr sz="800" dirty="0">
                <a:latin typeface="Calibri"/>
                <a:cs typeface="Calibri"/>
              </a:rPr>
              <a:t>and</a:t>
            </a:r>
            <a:r>
              <a:rPr sz="800" spc="-5" dirty="0">
                <a:latin typeface="Calibri"/>
                <a:cs typeface="Calibri"/>
              </a:rPr>
              <a:t> </a:t>
            </a:r>
            <a:r>
              <a:rPr sz="800" dirty="0">
                <a:latin typeface="Calibri"/>
                <a:cs typeface="Calibri"/>
              </a:rPr>
              <a:t>allows</a:t>
            </a:r>
            <a:r>
              <a:rPr sz="800" spc="-10" dirty="0">
                <a:latin typeface="Calibri"/>
                <a:cs typeface="Calibri"/>
              </a:rPr>
              <a:t> assignment</a:t>
            </a:r>
            <a:r>
              <a:rPr sz="800" spc="-20" dirty="0">
                <a:latin typeface="Calibri"/>
                <a:cs typeface="Calibri"/>
              </a:rPr>
              <a:t> </a:t>
            </a:r>
            <a:r>
              <a:rPr sz="800" spc="-25" dirty="0">
                <a:latin typeface="Calibri"/>
                <a:cs typeface="Calibri"/>
              </a:rPr>
              <a:t>of</a:t>
            </a:r>
            <a:r>
              <a:rPr sz="800" spc="500" dirty="0">
                <a:latin typeface="Calibri"/>
                <a:cs typeface="Calibri"/>
              </a:rPr>
              <a:t> </a:t>
            </a:r>
            <a:r>
              <a:rPr sz="800" spc="-10" dirty="0">
                <a:latin typeface="Calibri"/>
                <a:cs typeface="Calibri"/>
              </a:rPr>
              <a:t>responsibility</a:t>
            </a:r>
            <a:r>
              <a:rPr sz="800" spc="-5" dirty="0">
                <a:latin typeface="Calibri"/>
                <a:cs typeface="Calibri"/>
              </a:rPr>
              <a:t> </a:t>
            </a:r>
            <a:r>
              <a:rPr sz="800" dirty="0">
                <a:latin typeface="Calibri"/>
                <a:cs typeface="Calibri"/>
              </a:rPr>
              <a:t>to an</a:t>
            </a:r>
            <a:r>
              <a:rPr sz="800" spc="5" dirty="0">
                <a:latin typeface="Calibri"/>
                <a:cs typeface="Calibri"/>
              </a:rPr>
              <a:t> </a:t>
            </a:r>
            <a:r>
              <a:rPr sz="800" spc="-10" dirty="0">
                <a:latin typeface="Calibri"/>
                <a:cs typeface="Calibri"/>
              </a:rPr>
              <a:t>organizational</a:t>
            </a:r>
            <a:r>
              <a:rPr sz="800" dirty="0">
                <a:latin typeface="Calibri"/>
                <a:cs typeface="Calibri"/>
              </a:rPr>
              <a:t> unit. This</a:t>
            </a:r>
            <a:r>
              <a:rPr sz="800" spc="-5" dirty="0">
                <a:latin typeface="Calibri"/>
                <a:cs typeface="Calibri"/>
              </a:rPr>
              <a:t> </a:t>
            </a:r>
            <a:r>
              <a:rPr sz="800" dirty="0">
                <a:latin typeface="Calibri"/>
                <a:cs typeface="Calibri"/>
              </a:rPr>
              <a:t>extra step</a:t>
            </a:r>
            <a:r>
              <a:rPr sz="800" spc="5" dirty="0">
                <a:latin typeface="Calibri"/>
                <a:cs typeface="Calibri"/>
              </a:rPr>
              <a:t> </a:t>
            </a:r>
            <a:r>
              <a:rPr sz="800" spc="-10" dirty="0">
                <a:latin typeface="Calibri"/>
                <a:cs typeface="Calibri"/>
              </a:rPr>
              <a:t>facilitates</a:t>
            </a:r>
            <a:r>
              <a:rPr sz="800" spc="-5" dirty="0">
                <a:latin typeface="Calibri"/>
                <a:cs typeface="Calibri"/>
              </a:rPr>
              <a:t> </a:t>
            </a:r>
            <a:r>
              <a:rPr sz="800" dirty="0">
                <a:latin typeface="Calibri"/>
                <a:cs typeface="Calibri"/>
              </a:rPr>
              <a:t>a</a:t>
            </a:r>
            <a:r>
              <a:rPr sz="800" spc="5" dirty="0">
                <a:latin typeface="Calibri"/>
                <a:cs typeface="Calibri"/>
              </a:rPr>
              <a:t> </a:t>
            </a:r>
            <a:r>
              <a:rPr sz="800" dirty="0">
                <a:latin typeface="Calibri"/>
                <a:cs typeface="Calibri"/>
              </a:rPr>
              <a:t>system</a:t>
            </a:r>
            <a:r>
              <a:rPr sz="800" spc="-5" dirty="0">
                <a:latin typeface="Calibri"/>
                <a:cs typeface="Calibri"/>
              </a:rPr>
              <a:t> </a:t>
            </a:r>
            <a:r>
              <a:rPr sz="800" dirty="0">
                <a:latin typeface="Calibri"/>
                <a:cs typeface="Calibri"/>
              </a:rPr>
              <a:t>for </a:t>
            </a:r>
            <a:r>
              <a:rPr sz="800" spc="-10" dirty="0">
                <a:latin typeface="Calibri"/>
                <a:cs typeface="Calibri"/>
              </a:rPr>
              <a:t>monitoring</a:t>
            </a:r>
            <a:r>
              <a:rPr sz="800" spc="-5" dirty="0">
                <a:latin typeface="Calibri"/>
                <a:cs typeface="Calibri"/>
              </a:rPr>
              <a:t> </a:t>
            </a:r>
            <a:r>
              <a:rPr sz="800" dirty="0">
                <a:latin typeface="Calibri"/>
                <a:cs typeface="Calibri"/>
              </a:rPr>
              <a:t>project</a:t>
            </a:r>
            <a:r>
              <a:rPr sz="800" spc="-10" dirty="0">
                <a:latin typeface="Calibri"/>
                <a:cs typeface="Calibri"/>
              </a:rPr>
              <a:t> progress</a:t>
            </a:r>
            <a:endParaRPr sz="800">
              <a:latin typeface="Calibri"/>
              <a:cs typeface="Calibri"/>
            </a:endParaRPr>
          </a:p>
        </p:txBody>
      </p:sp>
      <p:pic>
        <p:nvPicPr>
          <p:cNvPr id="10" name="Picture 9">
            <a:extLst>
              <a:ext uri="{FF2B5EF4-FFF2-40B4-BE49-F238E27FC236}">
                <a16:creationId xmlns:a16="http://schemas.microsoft.com/office/drawing/2014/main" id="{62DF1CC7-8736-9BD5-CA58-8D9CDCD450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1467" y="34828"/>
            <a:ext cx="2235365" cy="889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3439" y="1566164"/>
            <a:ext cx="10777220" cy="5179695"/>
          </a:xfrm>
          <a:prstGeom prst="rect">
            <a:avLst/>
          </a:prstGeom>
        </p:spPr>
        <p:txBody>
          <a:bodyPr vert="horz" wrap="square" lIns="0" tIns="53975" rIns="0" bIns="0" rtlCol="0">
            <a:spAutoFit/>
          </a:bodyPr>
          <a:lstStyle/>
          <a:p>
            <a:pPr marL="240029" marR="5080" indent="-227329" algn="just">
              <a:lnSpc>
                <a:spcPts val="2590"/>
              </a:lnSpc>
              <a:spcBef>
                <a:spcPts val="425"/>
              </a:spcBef>
              <a:buFont typeface="Arial MT"/>
              <a:buChar char="•"/>
              <a:tabLst>
                <a:tab pos="241300" algn="l"/>
              </a:tabLst>
            </a:pPr>
            <a:r>
              <a:rPr sz="2400" dirty="0">
                <a:latin typeface="Calibri"/>
                <a:cs typeface="Calibri"/>
              </a:rPr>
              <a:t>This</a:t>
            </a:r>
            <a:r>
              <a:rPr sz="2400" spc="245" dirty="0">
                <a:latin typeface="Calibri"/>
                <a:cs typeface="Calibri"/>
              </a:rPr>
              <a:t>  </a:t>
            </a:r>
            <a:r>
              <a:rPr sz="2400" dirty="0">
                <a:latin typeface="Calibri"/>
                <a:cs typeface="Calibri"/>
              </a:rPr>
              <a:t>hierarchical</a:t>
            </a:r>
            <a:r>
              <a:rPr sz="2400" spc="250" dirty="0">
                <a:latin typeface="Calibri"/>
                <a:cs typeface="Calibri"/>
              </a:rPr>
              <a:t>  </a:t>
            </a:r>
            <a:r>
              <a:rPr sz="2400" dirty="0">
                <a:latin typeface="Calibri"/>
                <a:cs typeface="Calibri"/>
              </a:rPr>
              <a:t>structure</a:t>
            </a:r>
            <a:r>
              <a:rPr sz="2400" spc="250" dirty="0">
                <a:latin typeface="Calibri"/>
                <a:cs typeface="Calibri"/>
              </a:rPr>
              <a:t>  </a:t>
            </a:r>
            <a:r>
              <a:rPr sz="2400" dirty="0">
                <a:latin typeface="Calibri"/>
                <a:cs typeface="Calibri"/>
              </a:rPr>
              <a:t>facilitates</a:t>
            </a:r>
            <a:r>
              <a:rPr sz="2400" spc="245" dirty="0">
                <a:latin typeface="Calibri"/>
                <a:cs typeface="Calibri"/>
              </a:rPr>
              <a:t>  </a:t>
            </a:r>
            <a:r>
              <a:rPr sz="2400" dirty="0">
                <a:latin typeface="Calibri"/>
                <a:cs typeface="Calibri"/>
              </a:rPr>
              <a:t>evaluation</a:t>
            </a:r>
            <a:r>
              <a:rPr sz="2400" spc="245" dirty="0">
                <a:latin typeface="Calibri"/>
                <a:cs typeface="Calibri"/>
              </a:rPr>
              <a:t>  </a:t>
            </a:r>
            <a:r>
              <a:rPr sz="2400" dirty="0">
                <a:latin typeface="Calibri"/>
                <a:cs typeface="Calibri"/>
              </a:rPr>
              <a:t>of</a:t>
            </a:r>
            <a:r>
              <a:rPr sz="2400" spc="250" dirty="0">
                <a:latin typeface="Calibri"/>
                <a:cs typeface="Calibri"/>
              </a:rPr>
              <a:t>  </a:t>
            </a:r>
            <a:r>
              <a:rPr sz="2400" dirty="0">
                <a:latin typeface="Calibri"/>
                <a:cs typeface="Calibri"/>
              </a:rPr>
              <a:t>cost,</a:t>
            </a:r>
            <a:r>
              <a:rPr sz="2400" spc="250" dirty="0">
                <a:latin typeface="Calibri"/>
                <a:cs typeface="Calibri"/>
              </a:rPr>
              <a:t>  </a:t>
            </a:r>
            <a:r>
              <a:rPr sz="2400" dirty="0">
                <a:latin typeface="Calibri"/>
                <a:cs typeface="Calibri"/>
              </a:rPr>
              <a:t>time,</a:t>
            </a:r>
            <a:r>
              <a:rPr sz="2400" spc="245" dirty="0">
                <a:latin typeface="Calibri"/>
                <a:cs typeface="Calibri"/>
              </a:rPr>
              <a:t>  </a:t>
            </a:r>
            <a:r>
              <a:rPr sz="2400" dirty="0">
                <a:latin typeface="Calibri"/>
                <a:cs typeface="Calibri"/>
              </a:rPr>
              <a:t>and</a:t>
            </a:r>
            <a:r>
              <a:rPr sz="2400" spc="250" dirty="0">
                <a:latin typeface="Calibri"/>
                <a:cs typeface="Calibri"/>
              </a:rPr>
              <a:t>  </a:t>
            </a:r>
            <a:r>
              <a:rPr sz="2400" spc="-10" dirty="0">
                <a:latin typeface="Calibri"/>
                <a:cs typeface="Calibri"/>
              </a:rPr>
              <a:t>technical 	performance</a:t>
            </a:r>
            <a:r>
              <a:rPr sz="2400" spc="-45" dirty="0">
                <a:latin typeface="Calibri"/>
                <a:cs typeface="Calibri"/>
              </a:rPr>
              <a:t> </a:t>
            </a:r>
            <a:r>
              <a:rPr sz="2400" dirty="0">
                <a:latin typeface="Calibri"/>
                <a:cs typeface="Calibri"/>
              </a:rPr>
              <a:t>at</a:t>
            </a:r>
            <a:r>
              <a:rPr sz="2400" spc="-50" dirty="0">
                <a:latin typeface="Calibri"/>
                <a:cs typeface="Calibri"/>
              </a:rPr>
              <a:t> </a:t>
            </a:r>
            <a:r>
              <a:rPr sz="2400" dirty="0">
                <a:latin typeface="Calibri"/>
                <a:cs typeface="Calibri"/>
              </a:rPr>
              <a:t>all</a:t>
            </a:r>
            <a:r>
              <a:rPr sz="2400" spc="-45" dirty="0">
                <a:latin typeface="Calibri"/>
                <a:cs typeface="Calibri"/>
              </a:rPr>
              <a:t> </a:t>
            </a:r>
            <a:r>
              <a:rPr sz="2400" dirty="0">
                <a:latin typeface="Calibri"/>
                <a:cs typeface="Calibri"/>
              </a:rPr>
              <a:t>levels</a:t>
            </a:r>
            <a:r>
              <a:rPr sz="2400" spc="-55"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organization</a:t>
            </a:r>
            <a:r>
              <a:rPr sz="2400" spc="-50" dirty="0">
                <a:latin typeface="Calibri"/>
                <a:cs typeface="Calibri"/>
              </a:rPr>
              <a:t> </a:t>
            </a:r>
            <a:r>
              <a:rPr sz="2400" dirty="0">
                <a:latin typeface="Calibri"/>
                <a:cs typeface="Calibri"/>
              </a:rPr>
              <a:t>over</a:t>
            </a:r>
            <a:r>
              <a:rPr sz="2400" spc="-5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life</a:t>
            </a:r>
            <a:r>
              <a:rPr sz="2400" spc="-5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project.</a:t>
            </a:r>
            <a:endParaRPr sz="2400">
              <a:latin typeface="Calibri"/>
              <a:cs typeface="Calibri"/>
            </a:endParaRPr>
          </a:p>
          <a:p>
            <a:pPr marL="240029" marR="5715" indent="-227329" algn="just">
              <a:lnSpc>
                <a:spcPct val="90400"/>
              </a:lnSpc>
              <a:spcBef>
                <a:spcPts val="865"/>
              </a:spcBef>
              <a:buFont typeface="Arial MT"/>
              <a:buChar char="•"/>
              <a:tabLst>
                <a:tab pos="241300" algn="l"/>
              </a:tabLst>
            </a:pPr>
            <a:r>
              <a:rPr sz="2400" dirty="0">
                <a:solidFill>
                  <a:srgbClr val="262EA4"/>
                </a:solidFill>
                <a:latin typeface="Calibri"/>
                <a:cs typeface="Calibri"/>
              </a:rPr>
              <a:t>WBS</a:t>
            </a:r>
            <a:r>
              <a:rPr sz="2400" spc="450" dirty="0">
                <a:solidFill>
                  <a:srgbClr val="262EA4"/>
                </a:solidFill>
                <a:latin typeface="Calibri"/>
                <a:cs typeface="Calibri"/>
              </a:rPr>
              <a:t> </a:t>
            </a:r>
            <a:r>
              <a:rPr sz="2400" dirty="0">
                <a:solidFill>
                  <a:srgbClr val="262EA4"/>
                </a:solidFill>
                <a:latin typeface="Calibri"/>
                <a:cs typeface="Calibri"/>
              </a:rPr>
              <a:t>also</a:t>
            </a:r>
            <a:r>
              <a:rPr sz="2400" spc="445" dirty="0">
                <a:solidFill>
                  <a:srgbClr val="262EA4"/>
                </a:solidFill>
                <a:latin typeface="Calibri"/>
                <a:cs typeface="Calibri"/>
              </a:rPr>
              <a:t> </a:t>
            </a:r>
            <a:r>
              <a:rPr sz="2400" dirty="0">
                <a:solidFill>
                  <a:srgbClr val="262EA4"/>
                </a:solidFill>
                <a:latin typeface="Calibri"/>
                <a:cs typeface="Calibri"/>
              </a:rPr>
              <a:t>provides</a:t>
            </a:r>
            <a:r>
              <a:rPr sz="2400" spc="445" dirty="0">
                <a:solidFill>
                  <a:srgbClr val="262EA4"/>
                </a:solidFill>
                <a:latin typeface="Calibri"/>
                <a:cs typeface="Calibri"/>
              </a:rPr>
              <a:t> </a:t>
            </a:r>
            <a:r>
              <a:rPr sz="2400" dirty="0">
                <a:solidFill>
                  <a:srgbClr val="262EA4"/>
                </a:solidFill>
                <a:latin typeface="Calibri"/>
                <a:cs typeface="Calibri"/>
              </a:rPr>
              <a:t>management</a:t>
            </a:r>
            <a:r>
              <a:rPr sz="2400" spc="455" dirty="0">
                <a:solidFill>
                  <a:srgbClr val="262EA4"/>
                </a:solidFill>
                <a:latin typeface="Calibri"/>
                <a:cs typeface="Calibri"/>
              </a:rPr>
              <a:t> </a:t>
            </a:r>
            <a:r>
              <a:rPr sz="2400" dirty="0">
                <a:solidFill>
                  <a:srgbClr val="262EA4"/>
                </a:solidFill>
                <a:latin typeface="Calibri"/>
                <a:cs typeface="Calibri"/>
              </a:rPr>
              <a:t>with</a:t>
            </a:r>
            <a:r>
              <a:rPr sz="2400" spc="455" dirty="0">
                <a:solidFill>
                  <a:srgbClr val="262EA4"/>
                </a:solidFill>
                <a:latin typeface="Calibri"/>
                <a:cs typeface="Calibri"/>
              </a:rPr>
              <a:t> </a:t>
            </a:r>
            <a:r>
              <a:rPr sz="2400" dirty="0">
                <a:solidFill>
                  <a:srgbClr val="262EA4"/>
                </a:solidFill>
                <a:latin typeface="Calibri"/>
                <a:cs typeface="Calibri"/>
              </a:rPr>
              <a:t>information</a:t>
            </a:r>
            <a:r>
              <a:rPr sz="2400" spc="459" dirty="0">
                <a:solidFill>
                  <a:srgbClr val="262EA4"/>
                </a:solidFill>
                <a:latin typeface="Calibri"/>
                <a:cs typeface="Calibri"/>
              </a:rPr>
              <a:t> </a:t>
            </a:r>
            <a:r>
              <a:rPr sz="2400" dirty="0">
                <a:solidFill>
                  <a:srgbClr val="262EA4"/>
                </a:solidFill>
                <a:latin typeface="Calibri"/>
                <a:cs typeface="Calibri"/>
              </a:rPr>
              <a:t>appropriate</a:t>
            </a:r>
            <a:r>
              <a:rPr sz="2400" spc="459" dirty="0">
                <a:solidFill>
                  <a:srgbClr val="262EA4"/>
                </a:solidFill>
                <a:latin typeface="Calibri"/>
                <a:cs typeface="Calibri"/>
              </a:rPr>
              <a:t> </a:t>
            </a:r>
            <a:r>
              <a:rPr sz="2400" dirty="0">
                <a:solidFill>
                  <a:srgbClr val="262EA4"/>
                </a:solidFill>
                <a:latin typeface="Calibri"/>
                <a:cs typeface="Calibri"/>
              </a:rPr>
              <a:t>to</a:t>
            </a:r>
            <a:r>
              <a:rPr sz="2400" spc="450" dirty="0">
                <a:solidFill>
                  <a:srgbClr val="262EA4"/>
                </a:solidFill>
                <a:latin typeface="Calibri"/>
                <a:cs typeface="Calibri"/>
              </a:rPr>
              <a:t> </a:t>
            </a:r>
            <a:r>
              <a:rPr sz="2400" dirty="0">
                <a:solidFill>
                  <a:srgbClr val="262EA4"/>
                </a:solidFill>
                <a:latin typeface="Calibri"/>
                <a:cs typeface="Calibri"/>
              </a:rPr>
              <a:t>each</a:t>
            </a:r>
            <a:r>
              <a:rPr sz="2400" spc="459" dirty="0">
                <a:solidFill>
                  <a:srgbClr val="262EA4"/>
                </a:solidFill>
                <a:latin typeface="Calibri"/>
                <a:cs typeface="Calibri"/>
              </a:rPr>
              <a:t> </a:t>
            </a:r>
            <a:r>
              <a:rPr sz="2400" dirty="0">
                <a:solidFill>
                  <a:srgbClr val="262EA4"/>
                </a:solidFill>
                <a:latin typeface="Calibri"/>
                <a:cs typeface="Calibri"/>
              </a:rPr>
              <a:t>level.</a:t>
            </a:r>
            <a:r>
              <a:rPr sz="2400" spc="445" dirty="0">
                <a:solidFill>
                  <a:srgbClr val="262EA4"/>
                </a:solidFill>
                <a:latin typeface="Calibri"/>
                <a:cs typeface="Calibri"/>
              </a:rPr>
              <a:t> </a:t>
            </a:r>
            <a:r>
              <a:rPr sz="2400" spc="-25" dirty="0">
                <a:solidFill>
                  <a:srgbClr val="262EA4"/>
                </a:solidFill>
                <a:latin typeface="Calibri"/>
                <a:cs typeface="Calibri"/>
              </a:rPr>
              <a:t>For 	</a:t>
            </a:r>
            <a:r>
              <a:rPr sz="2400" dirty="0">
                <a:solidFill>
                  <a:srgbClr val="262EA4"/>
                </a:solidFill>
                <a:latin typeface="Calibri"/>
                <a:cs typeface="Calibri"/>
              </a:rPr>
              <a:t>example,</a:t>
            </a:r>
            <a:r>
              <a:rPr sz="2400" spc="300" dirty="0">
                <a:solidFill>
                  <a:srgbClr val="262EA4"/>
                </a:solidFill>
                <a:latin typeface="Calibri"/>
                <a:cs typeface="Calibri"/>
              </a:rPr>
              <a:t> </a:t>
            </a:r>
            <a:r>
              <a:rPr sz="2400" dirty="0">
                <a:solidFill>
                  <a:srgbClr val="262EA4"/>
                </a:solidFill>
                <a:latin typeface="Calibri"/>
                <a:cs typeface="Calibri"/>
              </a:rPr>
              <a:t>top</a:t>
            </a:r>
            <a:r>
              <a:rPr sz="2400" spc="300" dirty="0">
                <a:solidFill>
                  <a:srgbClr val="262EA4"/>
                </a:solidFill>
                <a:latin typeface="Calibri"/>
                <a:cs typeface="Calibri"/>
              </a:rPr>
              <a:t> </a:t>
            </a:r>
            <a:r>
              <a:rPr sz="2400" dirty="0">
                <a:solidFill>
                  <a:srgbClr val="262EA4"/>
                </a:solidFill>
                <a:latin typeface="Calibri"/>
                <a:cs typeface="Calibri"/>
              </a:rPr>
              <a:t>management</a:t>
            </a:r>
            <a:r>
              <a:rPr sz="2400" spc="295" dirty="0">
                <a:solidFill>
                  <a:srgbClr val="262EA4"/>
                </a:solidFill>
                <a:latin typeface="Calibri"/>
                <a:cs typeface="Calibri"/>
              </a:rPr>
              <a:t> </a:t>
            </a:r>
            <a:r>
              <a:rPr sz="2400" dirty="0">
                <a:solidFill>
                  <a:srgbClr val="262EA4"/>
                </a:solidFill>
                <a:latin typeface="Calibri"/>
                <a:cs typeface="Calibri"/>
              </a:rPr>
              <a:t>deals</a:t>
            </a:r>
            <a:r>
              <a:rPr sz="2400" spc="295" dirty="0">
                <a:solidFill>
                  <a:srgbClr val="262EA4"/>
                </a:solidFill>
                <a:latin typeface="Calibri"/>
                <a:cs typeface="Calibri"/>
              </a:rPr>
              <a:t> </a:t>
            </a:r>
            <a:r>
              <a:rPr sz="2400" dirty="0">
                <a:solidFill>
                  <a:srgbClr val="262EA4"/>
                </a:solidFill>
                <a:latin typeface="Calibri"/>
                <a:cs typeface="Calibri"/>
              </a:rPr>
              <a:t>primarily</a:t>
            </a:r>
            <a:r>
              <a:rPr sz="2400" spc="300" dirty="0">
                <a:solidFill>
                  <a:srgbClr val="262EA4"/>
                </a:solidFill>
                <a:latin typeface="Calibri"/>
                <a:cs typeface="Calibri"/>
              </a:rPr>
              <a:t> </a:t>
            </a:r>
            <a:r>
              <a:rPr sz="2400" dirty="0">
                <a:solidFill>
                  <a:srgbClr val="262EA4"/>
                </a:solidFill>
                <a:latin typeface="Calibri"/>
                <a:cs typeface="Calibri"/>
              </a:rPr>
              <a:t>with</a:t>
            </a:r>
            <a:r>
              <a:rPr sz="2400" spc="300" dirty="0">
                <a:solidFill>
                  <a:srgbClr val="262EA4"/>
                </a:solidFill>
                <a:latin typeface="Calibri"/>
                <a:cs typeface="Calibri"/>
              </a:rPr>
              <a:t> </a:t>
            </a:r>
            <a:r>
              <a:rPr sz="2400" dirty="0">
                <a:solidFill>
                  <a:srgbClr val="262EA4"/>
                </a:solidFill>
                <a:latin typeface="Calibri"/>
                <a:cs typeface="Calibri"/>
              </a:rPr>
              <a:t>major</a:t>
            </a:r>
            <a:r>
              <a:rPr sz="2400" spc="300" dirty="0">
                <a:solidFill>
                  <a:srgbClr val="262EA4"/>
                </a:solidFill>
                <a:latin typeface="Calibri"/>
                <a:cs typeface="Calibri"/>
              </a:rPr>
              <a:t> </a:t>
            </a:r>
            <a:r>
              <a:rPr sz="2400" dirty="0">
                <a:solidFill>
                  <a:srgbClr val="262EA4"/>
                </a:solidFill>
                <a:latin typeface="Calibri"/>
                <a:cs typeface="Calibri"/>
              </a:rPr>
              <a:t>deliverables,</a:t>
            </a:r>
            <a:r>
              <a:rPr sz="2400" spc="295" dirty="0">
                <a:solidFill>
                  <a:srgbClr val="262EA4"/>
                </a:solidFill>
                <a:latin typeface="Calibri"/>
                <a:cs typeface="Calibri"/>
              </a:rPr>
              <a:t> </a:t>
            </a:r>
            <a:r>
              <a:rPr sz="2400" dirty="0">
                <a:solidFill>
                  <a:srgbClr val="262EA4"/>
                </a:solidFill>
                <a:latin typeface="Calibri"/>
                <a:cs typeface="Calibri"/>
              </a:rPr>
              <a:t>while</a:t>
            </a:r>
            <a:r>
              <a:rPr sz="2400" spc="300" dirty="0">
                <a:solidFill>
                  <a:srgbClr val="262EA4"/>
                </a:solidFill>
                <a:latin typeface="Calibri"/>
                <a:cs typeface="Calibri"/>
              </a:rPr>
              <a:t> </a:t>
            </a:r>
            <a:r>
              <a:rPr sz="2400" spc="-40" dirty="0">
                <a:solidFill>
                  <a:srgbClr val="262EA4"/>
                </a:solidFill>
                <a:latin typeface="Calibri"/>
                <a:cs typeface="Calibri"/>
              </a:rPr>
              <a:t>first-</a:t>
            </a:r>
            <a:r>
              <a:rPr sz="2400" spc="-20" dirty="0">
                <a:solidFill>
                  <a:srgbClr val="262EA4"/>
                </a:solidFill>
                <a:latin typeface="Calibri"/>
                <a:cs typeface="Calibri"/>
              </a:rPr>
              <a:t>line 	</a:t>
            </a:r>
            <a:r>
              <a:rPr sz="2400" dirty="0">
                <a:solidFill>
                  <a:srgbClr val="262EA4"/>
                </a:solidFill>
                <a:latin typeface="Calibri"/>
                <a:cs typeface="Calibri"/>
              </a:rPr>
              <a:t>supervisors</a:t>
            </a:r>
            <a:r>
              <a:rPr sz="2400" spc="-55" dirty="0">
                <a:solidFill>
                  <a:srgbClr val="262EA4"/>
                </a:solidFill>
                <a:latin typeface="Calibri"/>
                <a:cs typeface="Calibri"/>
              </a:rPr>
              <a:t> </a:t>
            </a:r>
            <a:r>
              <a:rPr sz="2400" dirty="0">
                <a:solidFill>
                  <a:srgbClr val="262EA4"/>
                </a:solidFill>
                <a:latin typeface="Calibri"/>
                <a:cs typeface="Calibri"/>
              </a:rPr>
              <a:t>deal</a:t>
            </a:r>
            <a:r>
              <a:rPr sz="2400" spc="-55" dirty="0">
                <a:solidFill>
                  <a:srgbClr val="262EA4"/>
                </a:solidFill>
                <a:latin typeface="Calibri"/>
                <a:cs typeface="Calibri"/>
              </a:rPr>
              <a:t> </a:t>
            </a:r>
            <a:r>
              <a:rPr sz="2400" dirty="0">
                <a:solidFill>
                  <a:srgbClr val="262EA4"/>
                </a:solidFill>
                <a:latin typeface="Calibri"/>
                <a:cs typeface="Calibri"/>
              </a:rPr>
              <a:t>with</a:t>
            </a:r>
            <a:r>
              <a:rPr sz="2400" spc="-55" dirty="0">
                <a:solidFill>
                  <a:srgbClr val="262EA4"/>
                </a:solidFill>
                <a:latin typeface="Calibri"/>
                <a:cs typeface="Calibri"/>
              </a:rPr>
              <a:t> </a:t>
            </a:r>
            <a:r>
              <a:rPr sz="2400" dirty="0">
                <a:solidFill>
                  <a:srgbClr val="262EA4"/>
                </a:solidFill>
                <a:latin typeface="Calibri"/>
                <a:cs typeface="Calibri"/>
              </a:rPr>
              <a:t>smaller</a:t>
            </a:r>
            <a:r>
              <a:rPr sz="2400" spc="-55" dirty="0">
                <a:solidFill>
                  <a:srgbClr val="262EA4"/>
                </a:solidFill>
                <a:latin typeface="Calibri"/>
                <a:cs typeface="Calibri"/>
              </a:rPr>
              <a:t> </a:t>
            </a:r>
            <a:r>
              <a:rPr sz="2400" spc="-10" dirty="0">
                <a:solidFill>
                  <a:srgbClr val="262EA4"/>
                </a:solidFill>
                <a:latin typeface="Calibri"/>
                <a:cs typeface="Calibri"/>
              </a:rPr>
              <a:t>subdeliverables</a:t>
            </a:r>
            <a:r>
              <a:rPr sz="2400" spc="-55" dirty="0">
                <a:solidFill>
                  <a:srgbClr val="262EA4"/>
                </a:solidFill>
                <a:latin typeface="Calibri"/>
                <a:cs typeface="Calibri"/>
              </a:rPr>
              <a:t> </a:t>
            </a:r>
            <a:r>
              <a:rPr sz="2400" dirty="0">
                <a:solidFill>
                  <a:srgbClr val="262EA4"/>
                </a:solidFill>
                <a:latin typeface="Calibri"/>
                <a:cs typeface="Calibri"/>
              </a:rPr>
              <a:t>and</a:t>
            </a:r>
            <a:r>
              <a:rPr sz="2400" spc="-50" dirty="0">
                <a:solidFill>
                  <a:srgbClr val="262EA4"/>
                </a:solidFill>
                <a:latin typeface="Calibri"/>
                <a:cs typeface="Calibri"/>
              </a:rPr>
              <a:t> </a:t>
            </a:r>
            <a:r>
              <a:rPr sz="2400" dirty="0">
                <a:solidFill>
                  <a:srgbClr val="262EA4"/>
                </a:solidFill>
                <a:latin typeface="Calibri"/>
                <a:cs typeface="Calibri"/>
              </a:rPr>
              <a:t>work</a:t>
            </a:r>
            <a:r>
              <a:rPr sz="2400" spc="-60" dirty="0">
                <a:solidFill>
                  <a:srgbClr val="262EA4"/>
                </a:solidFill>
                <a:latin typeface="Calibri"/>
                <a:cs typeface="Calibri"/>
              </a:rPr>
              <a:t> </a:t>
            </a:r>
            <a:r>
              <a:rPr sz="2400" spc="-10" dirty="0">
                <a:solidFill>
                  <a:srgbClr val="262EA4"/>
                </a:solidFill>
                <a:latin typeface="Calibri"/>
                <a:cs typeface="Calibri"/>
              </a:rPr>
              <a:t>packages.</a:t>
            </a:r>
            <a:endParaRPr sz="2400">
              <a:latin typeface="Calibri"/>
              <a:cs typeface="Calibri"/>
            </a:endParaRPr>
          </a:p>
          <a:p>
            <a:pPr marL="240029" marR="5080" indent="-227329" algn="just">
              <a:lnSpc>
                <a:spcPct val="90400"/>
              </a:lnSpc>
              <a:spcBef>
                <a:spcPts val="994"/>
              </a:spcBef>
              <a:buFont typeface="Arial MT"/>
              <a:buChar char="•"/>
              <a:tabLst>
                <a:tab pos="241300" algn="l"/>
              </a:tabLst>
            </a:pPr>
            <a:r>
              <a:rPr sz="2400" dirty="0">
                <a:latin typeface="Calibri"/>
                <a:cs typeface="Calibri"/>
              </a:rPr>
              <a:t>Each</a:t>
            </a:r>
            <a:r>
              <a:rPr sz="2400" spc="254" dirty="0">
                <a:latin typeface="Calibri"/>
                <a:cs typeface="Calibri"/>
              </a:rPr>
              <a:t> </a:t>
            </a:r>
            <a:r>
              <a:rPr sz="2400" dirty="0">
                <a:latin typeface="Calibri"/>
                <a:cs typeface="Calibri"/>
              </a:rPr>
              <a:t>item</a:t>
            </a:r>
            <a:r>
              <a:rPr sz="2400" spc="245" dirty="0">
                <a:latin typeface="Calibri"/>
                <a:cs typeface="Calibri"/>
              </a:rPr>
              <a:t> </a:t>
            </a:r>
            <a:r>
              <a:rPr sz="2400" dirty="0">
                <a:latin typeface="Calibri"/>
                <a:cs typeface="Calibri"/>
              </a:rPr>
              <a:t>in</a:t>
            </a:r>
            <a:r>
              <a:rPr sz="2400" spc="254" dirty="0">
                <a:latin typeface="Calibri"/>
                <a:cs typeface="Calibri"/>
              </a:rPr>
              <a:t> </a:t>
            </a:r>
            <a:r>
              <a:rPr sz="2400" dirty="0">
                <a:latin typeface="Calibri"/>
                <a:cs typeface="Calibri"/>
              </a:rPr>
              <a:t>the</a:t>
            </a:r>
            <a:r>
              <a:rPr sz="2400" spc="260" dirty="0">
                <a:latin typeface="Calibri"/>
                <a:cs typeface="Calibri"/>
              </a:rPr>
              <a:t> </a:t>
            </a:r>
            <a:r>
              <a:rPr sz="2400" dirty="0">
                <a:latin typeface="Calibri"/>
                <a:cs typeface="Calibri"/>
              </a:rPr>
              <a:t>WBS</a:t>
            </a:r>
            <a:r>
              <a:rPr sz="2400" spc="254" dirty="0">
                <a:latin typeface="Calibri"/>
                <a:cs typeface="Calibri"/>
              </a:rPr>
              <a:t> </a:t>
            </a:r>
            <a:r>
              <a:rPr sz="2400" dirty="0">
                <a:latin typeface="Calibri"/>
                <a:cs typeface="Calibri"/>
              </a:rPr>
              <a:t>needs</a:t>
            </a:r>
            <a:r>
              <a:rPr sz="2400" spc="250" dirty="0">
                <a:latin typeface="Calibri"/>
                <a:cs typeface="Calibri"/>
              </a:rPr>
              <a:t> </a:t>
            </a:r>
            <a:r>
              <a:rPr sz="2400" dirty="0">
                <a:latin typeface="Calibri"/>
                <a:cs typeface="Calibri"/>
              </a:rPr>
              <a:t>a</a:t>
            </a:r>
            <a:r>
              <a:rPr sz="2400" spc="250" dirty="0">
                <a:latin typeface="Calibri"/>
                <a:cs typeface="Calibri"/>
              </a:rPr>
              <a:t> </a:t>
            </a:r>
            <a:r>
              <a:rPr sz="2400" dirty="0">
                <a:latin typeface="Calibri"/>
                <a:cs typeface="Calibri"/>
              </a:rPr>
              <a:t>time</a:t>
            </a:r>
            <a:r>
              <a:rPr sz="2400" spc="254" dirty="0">
                <a:latin typeface="Calibri"/>
                <a:cs typeface="Calibri"/>
              </a:rPr>
              <a:t> </a:t>
            </a:r>
            <a:r>
              <a:rPr sz="2400" dirty="0">
                <a:latin typeface="Calibri"/>
                <a:cs typeface="Calibri"/>
              </a:rPr>
              <a:t>and</a:t>
            </a:r>
            <a:r>
              <a:rPr sz="2400" spc="254" dirty="0">
                <a:latin typeface="Calibri"/>
                <a:cs typeface="Calibri"/>
              </a:rPr>
              <a:t> </a:t>
            </a:r>
            <a:r>
              <a:rPr sz="2400" dirty="0">
                <a:latin typeface="Calibri"/>
                <a:cs typeface="Calibri"/>
              </a:rPr>
              <a:t>cost</a:t>
            </a:r>
            <a:r>
              <a:rPr sz="2400" spc="254" dirty="0">
                <a:latin typeface="Calibri"/>
                <a:cs typeface="Calibri"/>
              </a:rPr>
              <a:t> </a:t>
            </a:r>
            <a:r>
              <a:rPr sz="2400" dirty="0">
                <a:latin typeface="Calibri"/>
                <a:cs typeface="Calibri"/>
              </a:rPr>
              <a:t>estimate.</a:t>
            </a:r>
            <a:r>
              <a:rPr sz="2400" spc="245" dirty="0">
                <a:latin typeface="Calibri"/>
                <a:cs typeface="Calibri"/>
              </a:rPr>
              <a:t> </a:t>
            </a:r>
            <a:r>
              <a:rPr sz="2400" dirty="0">
                <a:latin typeface="Calibri"/>
                <a:cs typeface="Calibri"/>
              </a:rPr>
              <a:t>With</a:t>
            </a:r>
            <a:r>
              <a:rPr sz="2400" spc="250" dirty="0">
                <a:latin typeface="Calibri"/>
                <a:cs typeface="Calibri"/>
              </a:rPr>
              <a:t> </a:t>
            </a:r>
            <a:r>
              <a:rPr sz="2400" dirty="0">
                <a:latin typeface="Calibri"/>
                <a:cs typeface="Calibri"/>
              </a:rPr>
              <a:t>this</a:t>
            </a:r>
            <a:r>
              <a:rPr sz="2400" spc="250" dirty="0">
                <a:latin typeface="Calibri"/>
                <a:cs typeface="Calibri"/>
              </a:rPr>
              <a:t> </a:t>
            </a:r>
            <a:r>
              <a:rPr sz="2400" dirty="0">
                <a:latin typeface="Calibri"/>
                <a:cs typeface="Calibri"/>
              </a:rPr>
              <a:t>information,</a:t>
            </a:r>
            <a:r>
              <a:rPr sz="2400" spc="254" dirty="0">
                <a:latin typeface="Calibri"/>
                <a:cs typeface="Calibri"/>
              </a:rPr>
              <a:t> </a:t>
            </a:r>
            <a:r>
              <a:rPr sz="2400" dirty="0">
                <a:latin typeface="Calibri"/>
                <a:cs typeface="Calibri"/>
              </a:rPr>
              <a:t>it</a:t>
            </a:r>
            <a:r>
              <a:rPr sz="2400" spc="250" dirty="0">
                <a:latin typeface="Calibri"/>
                <a:cs typeface="Calibri"/>
              </a:rPr>
              <a:t> </a:t>
            </a:r>
            <a:r>
              <a:rPr sz="2400" spc="-25" dirty="0">
                <a:latin typeface="Calibri"/>
                <a:cs typeface="Calibri"/>
              </a:rPr>
              <a:t>is 	</a:t>
            </a:r>
            <a:r>
              <a:rPr sz="2400" dirty="0">
                <a:latin typeface="Calibri"/>
                <a:cs typeface="Calibri"/>
              </a:rPr>
              <a:t>possible</a:t>
            </a:r>
            <a:r>
              <a:rPr sz="2400" spc="540" dirty="0">
                <a:latin typeface="Calibri"/>
                <a:cs typeface="Calibri"/>
              </a:rPr>
              <a:t> </a:t>
            </a:r>
            <a:r>
              <a:rPr sz="2400" dirty="0">
                <a:latin typeface="Calibri"/>
                <a:cs typeface="Calibri"/>
              </a:rPr>
              <a:t>to</a:t>
            </a:r>
            <a:r>
              <a:rPr sz="2400" spc="535" dirty="0">
                <a:latin typeface="Calibri"/>
                <a:cs typeface="Calibri"/>
              </a:rPr>
              <a:t> </a:t>
            </a:r>
            <a:r>
              <a:rPr sz="2400" dirty="0">
                <a:latin typeface="Calibri"/>
                <a:cs typeface="Calibri"/>
              </a:rPr>
              <a:t>plan,</a:t>
            </a:r>
            <a:r>
              <a:rPr sz="2400" spc="540" dirty="0">
                <a:latin typeface="Calibri"/>
                <a:cs typeface="Calibri"/>
              </a:rPr>
              <a:t> </a:t>
            </a:r>
            <a:r>
              <a:rPr sz="2400" dirty="0">
                <a:latin typeface="Calibri"/>
                <a:cs typeface="Calibri"/>
              </a:rPr>
              <a:t>schedule,</a:t>
            </a:r>
            <a:r>
              <a:rPr sz="2400" spc="540" dirty="0">
                <a:latin typeface="Calibri"/>
                <a:cs typeface="Calibri"/>
              </a:rPr>
              <a:t> </a:t>
            </a:r>
            <a:r>
              <a:rPr sz="2400" dirty="0">
                <a:latin typeface="Calibri"/>
                <a:cs typeface="Calibri"/>
              </a:rPr>
              <a:t>and</a:t>
            </a:r>
            <a:r>
              <a:rPr sz="2400" spc="540" dirty="0">
                <a:latin typeface="Calibri"/>
                <a:cs typeface="Calibri"/>
              </a:rPr>
              <a:t> </a:t>
            </a:r>
            <a:r>
              <a:rPr sz="2400" dirty="0">
                <a:latin typeface="Calibri"/>
                <a:cs typeface="Calibri"/>
              </a:rPr>
              <a:t>budget</a:t>
            </a:r>
            <a:r>
              <a:rPr sz="2400" spc="530" dirty="0">
                <a:latin typeface="Calibri"/>
                <a:cs typeface="Calibri"/>
              </a:rPr>
              <a:t> </a:t>
            </a:r>
            <a:r>
              <a:rPr sz="2400" dirty="0">
                <a:latin typeface="Calibri"/>
                <a:cs typeface="Calibri"/>
              </a:rPr>
              <a:t>your</a:t>
            </a:r>
            <a:r>
              <a:rPr sz="2400" spc="535" dirty="0">
                <a:latin typeface="Calibri"/>
                <a:cs typeface="Calibri"/>
              </a:rPr>
              <a:t> </a:t>
            </a:r>
            <a:r>
              <a:rPr sz="2400" dirty="0">
                <a:latin typeface="Calibri"/>
                <a:cs typeface="Calibri"/>
              </a:rPr>
              <a:t>project.</a:t>
            </a:r>
            <a:r>
              <a:rPr sz="2400" spc="535" dirty="0">
                <a:latin typeface="Calibri"/>
                <a:cs typeface="Calibri"/>
              </a:rPr>
              <a:t> </a:t>
            </a:r>
            <a:r>
              <a:rPr sz="2400" dirty="0">
                <a:latin typeface="Calibri"/>
                <a:cs typeface="Calibri"/>
              </a:rPr>
              <a:t>The</a:t>
            </a:r>
            <a:r>
              <a:rPr sz="2400" spc="545" dirty="0">
                <a:latin typeface="Calibri"/>
                <a:cs typeface="Calibri"/>
              </a:rPr>
              <a:t> </a:t>
            </a:r>
            <a:r>
              <a:rPr sz="2400" dirty="0">
                <a:latin typeface="Calibri"/>
                <a:cs typeface="Calibri"/>
              </a:rPr>
              <a:t>WBS</a:t>
            </a:r>
            <a:r>
              <a:rPr sz="2400" spc="540" dirty="0">
                <a:latin typeface="Calibri"/>
                <a:cs typeface="Calibri"/>
              </a:rPr>
              <a:t> </a:t>
            </a:r>
            <a:r>
              <a:rPr sz="2400" dirty="0">
                <a:latin typeface="Calibri"/>
                <a:cs typeface="Calibri"/>
              </a:rPr>
              <a:t>also</a:t>
            </a:r>
            <a:r>
              <a:rPr sz="2400" spc="535" dirty="0">
                <a:latin typeface="Calibri"/>
                <a:cs typeface="Calibri"/>
              </a:rPr>
              <a:t> </a:t>
            </a:r>
            <a:r>
              <a:rPr sz="2400" dirty="0">
                <a:latin typeface="Calibri"/>
                <a:cs typeface="Calibri"/>
              </a:rPr>
              <a:t>serves</a:t>
            </a:r>
            <a:r>
              <a:rPr sz="2400" spc="535" dirty="0">
                <a:latin typeface="Calibri"/>
                <a:cs typeface="Calibri"/>
              </a:rPr>
              <a:t> </a:t>
            </a:r>
            <a:r>
              <a:rPr sz="2400" dirty="0">
                <a:latin typeface="Calibri"/>
                <a:cs typeface="Calibri"/>
              </a:rPr>
              <a:t>as</a:t>
            </a:r>
            <a:r>
              <a:rPr sz="2400" spc="540" dirty="0">
                <a:latin typeface="Calibri"/>
                <a:cs typeface="Calibri"/>
              </a:rPr>
              <a:t> </a:t>
            </a:r>
            <a:r>
              <a:rPr sz="2400" spc="-50" dirty="0">
                <a:latin typeface="Calibri"/>
                <a:cs typeface="Calibri"/>
              </a:rPr>
              <a:t>a 	</a:t>
            </a:r>
            <a:r>
              <a:rPr sz="2400" spc="-10" dirty="0">
                <a:latin typeface="Calibri"/>
                <a:cs typeface="Calibri"/>
              </a:rPr>
              <a:t>framework</a:t>
            </a:r>
            <a:r>
              <a:rPr sz="2400" spc="-75" dirty="0">
                <a:latin typeface="Calibri"/>
                <a:cs typeface="Calibri"/>
              </a:rPr>
              <a:t> </a:t>
            </a:r>
            <a:r>
              <a:rPr sz="2400" dirty="0">
                <a:latin typeface="Calibri"/>
                <a:cs typeface="Calibri"/>
              </a:rPr>
              <a:t>for</a:t>
            </a:r>
            <a:r>
              <a:rPr sz="2400" spc="-65" dirty="0">
                <a:latin typeface="Calibri"/>
                <a:cs typeface="Calibri"/>
              </a:rPr>
              <a:t> </a:t>
            </a:r>
            <a:r>
              <a:rPr sz="2400" dirty="0">
                <a:latin typeface="Calibri"/>
                <a:cs typeface="Calibri"/>
              </a:rPr>
              <a:t>tracking</a:t>
            </a:r>
            <a:r>
              <a:rPr sz="2400" spc="-75" dirty="0">
                <a:latin typeface="Calibri"/>
                <a:cs typeface="Calibri"/>
              </a:rPr>
              <a:t> </a:t>
            </a:r>
            <a:r>
              <a:rPr sz="2400" dirty="0">
                <a:latin typeface="Calibri"/>
                <a:cs typeface="Calibri"/>
              </a:rPr>
              <a:t>cost</a:t>
            </a:r>
            <a:r>
              <a:rPr sz="2400" spc="-70"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work</a:t>
            </a:r>
            <a:r>
              <a:rPr sz="2400" spc="-70" dirty="0">
                <a:latin typeface="Calibri"/>
                <a:cs typeface="Calibri"/>
              </a:rPr>
              <a:t> </a:t>
            </a:r>
            <a:r>
              <a:rPr sz="2400" spc="-10" dirty="0">
                <a:latin typeface="Calibri"/>
                <a:cs typeface="Calibri"/>
              </a:rPr>
              <a:t>performance.</a:t>
            </a:r>
            <a:endParaRPr sz="2400">
              <a:latin typeface="Calibri"/>
              <a:cs typeface="Calibri"/>
            </a:endParaRPr>
          </a:p>
          <a:p>
            <a:pPr marL="240029" marR="5715" indent="-227329" algn="just">
              <a:lnSpc>
                <a:spcPts val="2590"/>
              </a:lnSpc>
              <a:spcBef>
                <a:spcPts val="1050"/>
              </a:spcBef>
              <a:buFont typeface="Arial MT"/>
              <a:buChar char="•"/>
              <a:tabLst>
                <a:tab pos="241300" algn="l"/>
              </a:tabLst>
            </a:pPr>
            <a:r>
              <a:rPr sz="2400" dirty="0">
                <a:solidFill>
                  <a:srgbClr val="262EA4"/>
                </a:solidFill>
                <a:latin typeface="Calibri"/>
                <a:cs typeface="Calibri"/>
              </a:rPr>
              <a:t>As</a:t>
            </a:r>
            <a:r>
              <a:rPr sz="2400" spc="229" dirty="0">
                <a:solidFill>
                  <a:srgbClr val="262EA4"/>
                </a:solidFill>
                <a:latin typeface="Calibri"/>
                <a:cs typeface="Calibri"/>
              </a:rPr>
              <a:t>  </a:t>
            </a:r>
            <a:r>
              <a:rPr sz="2400" dirty="0">
                <a:solidFill>
                  <a:srgbClr val="262EA4"/>
                </a:solidFill>
                <a:latin typeface="Calibri"/>
                <a:cs typeface="Calibri"/>
              </a:rPr>
              <a:t>the</a:t>
            </a:r>
            <a:r>
              <a:rPr sz="2400" spc="235" dirty="0">
                <a:solidFill>
                  <a:srgbClr val="262EA4"/>
                </a:solidFill>
                <a:latin typeface="Calibri"/>
                <a:cs typeface="Calibri"/>
              </a:rPr>
              <a:t>  </a:t>
            </a:r>
            <a:r>
              <a:rPr sz="2400" dirty="0">
                <a:solidFill>
                  <a:srgbClr val="262EA4"/>
                </a:solidFill>
                <a:latin typeface="Calibri"/>
                <a:cs typeface="Calibri"/>
              </a:rPr>
              <a:t>WBS</a:t>
            </a:r>
            <a:r>
              <a:rPr sz="2400" spc="229" dirty="0">
                <a:solidFill>
                  <a:srgbClr val="262EA4"/>
                </a:solidFill>
                <a:latin typeface="Calibri"/>
                <a:cs typeface="Calibri"/>
              </a:rPr>
              <a:t>  </a:t>
            </a:r>
            <a:r>
              <a:rPr sz="2400" dirty="0">
                <a:solidFill>
                  <a:srgbClr val="262EA4"/>
                </a:solidFill>
                <a:latin typeface="Calibri"/>
                <a:cs typeface="Calibri"/>
              </a:rPr>
              <a:t>is</a:t>
            </a:r>
            <a:r>
              <a:rPr sz="2400" spc="229" dirty="0">
                <a:solidFill>
                  <a:srgbClr val="262EA4"/>
                </a:solidFill>
                <a:latin typeface="Calibri"/>
                <a:cs typeface="Calibri"/>
              </a:rPr>
              <a:t>  </a:t>
            </a:r>
            <a:r>
              <a:rPr sz="2400" dirty="0">
                <a:solidFill>
                  <a:srgbClr val="262EA4"/>
                </a:solidFill>
                <a:latin typeface="Calibri"/>
                <a:cs typeface="Calibri"/>
              </a:rPr>
              <a:t>developed,</a:t>
            </a:r>
            <a:r>
              <a:rPr sz="2400" spc="229" dirty="0">
                <a:solidFill>
                  <a:srgbClr val="262EA4"/>
                </a:solidFill>
                <a:latin typeface="Calibri"/>
                <a:cs typeface="Calibri"/>
              </a:rPr>
              <a:t>  </a:t>
            </a:r>
            <a:r>
              <a:rPr sz="2400" dirty="0">
                <a:solidFill>
                  <a:srgbClr val="262EA4"/>
                </a:solidFill>
                <a:latin typeface="Calibri"/>
                <a:cs typeface="Calibri"/>
              </a:rPr>
              <a:t>organizational</a:t>
            </a:r>
            <a:r>
              <a:rPr sz="2400" spc="229" dirty="0">
                <a:solidFill>
                  <a:srgbClr val="262EA4"/>
                </a:solidFill>
                <a:latin typeface="Calibri"/>
                <a:cs typeface="Calibri"/>
              </a:rPr>
              <a:t>  </a:t>
            </a:r>
            <a:r>
              <a:rPr sz="2400" dirty="0">
                <a:solidFill>
                  <a:srgbClr val="262EA4"/>
                </a:solidFill>
                <a:latin typeface="Calibri"/>
                <a:cs typeface="Calibri"/>
              </a:rPr>
              <a:t>units</a:t>
            </a:r>
            <a:r>
              <a:rPr sz="2400" spc="235" dirty="0">
                <a:solidFill>
                  <a:srgbClr val="262EA4"/>
                </a:solidFill>
                <a:latin typeface="Calibri"/>
                <a:cs typeface="Calibri"/>
              </a:rPr>
              <a:t>  </a:t>
            </a:r>
            <a:r>
              <a:rPr sz="2400" dirty="0">
                <a:solidFill>
                  <a:srgbClr val="262EA4"/>
                </a:solidFill>
                <a:latin typeface="Calibri"/>
                <a:cs typeface="Calibri"/>
              </a:rPr>
              <a:t>and</a:t>
            </a:r>
            <a:r>
              <a:rPr sz="2400" spc="229" dirty="0">
                <a:solidFill>
                  <a:srgbClr val="262EA4"/>
                </a:solidFill>
                <a:latin typeface="Calibri"/>
                <a:cs typeface="Calibri"/>
              </a:rPr>
              <a:t>  </a:t>
            </a:r>
            <a:r>
              <a:rPr sz="2400" dirty="0">
                <a:solidFill>
                  <a:srgbClr val="262EA4"/>
                </a:solidFill>
                <a:latin typeface="Calibri"/>
                <a:cs typeface="Calibri"/>
              </a:rPr>
              <a:t>individuals</a:t>
            </a:r>
            <a:r>
              <a:rPr sz="2400" spc="229" dirty="0">
                <a:solidFill>
                  <a:srgbClr val="262EA4"/>
                </a:solidFill>
                <a:latin typeface="Calibri"/>
                <a:cs typeface="Calibri"/>
              </a:rPr>
              <a:t>  </a:t>
            </a:r>
            <a:r>
              <a:rPr sz="2400" dirty="0">
                <a:solidFill>
                  <a:srgbClr val="262EA4"/>
                </a:solidFill>
                <a:latin typeface="Calibri"/>
                <a:cs typeface="Calibri"/>
              </a:rPr>
              <a:t>are</a:t>
            </a:r>
            <a:r>
              <a:rPr sz="2400" spc="229" dirty="0">
                <a:solidFill>
                  <a:srgbClr val="262EA4"/>
                </a:solidFill>
                <a:latin typeface="Calibri"/>
                <a:cs typeface="Calibri"/>
              </a:rPr>
              <a:t>  </a:t>
            </a:r>
            <a:r>
              <a:rPr sz="2400" spc="-10" dirty="0">
                <a:solidFill>
                  <a:srgbClr val="262EA4"/>
                </a:solidFill>
                <a:latin typeface="Calibri"/>
                <a:cs typeface="Calibri"/>
              </a:rPr>
              <a:t>assigned 	</a:t>
            </a:r>
            <a:r>
              <a:rPr sz="2400" dirty="0">
                <a:solidFill>
                  <a:srgbClr val="262EA4"/>
                </a:solidFill>
                <a:latin typeface="Calibri"/>
                <a:cs typeface="Calibri"/>
              </a:rPr>
              <a:t>responsibility</a:t>
            </a:r>
            <a:r>
              <a:rPr sz="2400" spc="140" dirty="0">
                <a:solidFill>
                  <a:srgbClr val="262EA4"/>
                </a:solidFill>
                <a:latin typeface="Calibri"/>
                <a:cs typeface="Calibri"/>
              </a:rPr>
              <a:t>  </a:t>
            </a:r>
            <a:r>
              <a:rPr sz="2400" dirty="0">
                <a:solidFill>
                  <a:srgbClr val="262EA4"/>
                </a:solidFill>
                <a:latin typeface="Calibri"/>
                <a:cs typeface="Calibri"/>
              </a:rPr>
              <a:t>for</a:t>
            </a:r>
            <a:r>
              <a:rPr sz="2400" spc="140" dirty="0">
                <a:solidFill>
                  <a:srgbClr val="262EA4"/>
                </a:solidFill>
                <a:latin typeface="Calibri"/>
                <a:cs typeface="Calibri"/>
              </a:rPr>
              <a:t>  </a:t>
            </a:r>
            <a:r>
              <a:rPr sz="2400" dirty="0">
                <a:solidFill>
                  <a:srgbClr val="262EA4"/>
                </a:solidFill>
                <a:latin typeface="Calibri"/>
                <a:cs typeface="Calibri"/>
              </a:rPr>
              <a:t>executing</a:t>
            </a:r>
            <a:r>
              <a:rPr sz="2400" spc="140" dirty="0">
                <a:solidFill>
                  <a:srgbClr val="262EA4"/>
                </a:solidFill>
                <a:latin typeface="Calibri"/>
                <a:cs typeface="Calibri"/>
              </a:rPr>
              <a:t>  </a:t>
            </a:r>
            <a:r>
              <a:rPr sz="2400" dirty="0">
                <a:solidFill>
                  <a:srgbClr val="262EA4"/>
                </a:solidFill>
                <a:latin typeface="Calibri"/>
                <a:cs typeface="Calibri"/>
              </a:rPr>
              <a:t>work</a:t>
            </a:r>
            <a:r>
              <a:rPr sz="2400" spc="140" dirty="0">
                <a:solidFill>
                  <a:srgbClr val="262EA4"/>
                </a:solidFill>
                <a:latin typeface="Calibri"/>
                <a:cs typeface="Calibri"/>
              </a:rPr>
              <a:t>  </a:t>
            </a:r>
            <a:r>
              <a:rPr sz="2400" dirty="0">
                <a:solidFill>
                  <a:srgbClr val="262EA4"/>
                </a:solidFill>
                <a:latin typeface="Calibri"/>
                <a:cs typeface="Calibri"/>
              </a:rPr>
              <a:t>packages.</a:t>
            </a:r>
            <a:r>
              <a:rPr sz="2400" spc="135" dirty="0">
                <a:solidFill>
                  <a:srgbClr val="262EA4"/>
                </a:solidFill>
                <a:latin typeface="Calibri"/>
                <a:cs typeface="Calibri"/>
              </a:rPr>
              <a:t>  </a:t>
            </a:r>
            <a:r>
              <a:rPr sz="2400" dirty="0">
                <a:solidFill>
                  <a:srgbClr val="262EA4"/>
                </a:solidFill>
                <a:latin typeface="Calibri"/>
                <a:cs typeface="Calibri"/>
              </a:rPr>
              <a:t>This</a:t>
            </a:r>
            <a:r>
              <a:rPr sz="2400" spc="135" dirty="0">
                <a:solidFill>
                  <a:srgbClr val="262EA4"/>
                </a:solidFill>
                <a:latin typeface="Calibri"/>
                <a:cs typeface="Calibri"/>
              </a:rPr>
              <a:t>  </a:t>
            </a:r>
            <a:r>
              <a:rPr sz="2400" dirty="0">
                <a:solidFill>
                  <a:srgbClr val="262EA4"/>
                </a:solidFill>
                <a:latin typeface="Calibri"/>
                <a:cs typeface="Calibri"/>
              </a:rPr>
              <a:t>integrates</a:t>
            </a:r>
            <a:r>
              <a:rPr sz="2400" spc="145" dirty="0">
                <a:solidFill>
                  <a:srgbClr val="262EA4"/>
                </a:solidFill>
                <a:latin typeface="Calibri"/>
                <a:cs typeface="Calibri"/>
              </a:rPr>
              <a:t>  </a:t>
            </a:r>
            <a:r>
              <a:rPr sz="2400" dirty="0">
                <a:solidFill>
                  <a:srgbClr val="262EA4"/>
                </a:solidFill>
                <a:latin typeface="Calibri"/>
                <a:cs typeface="Calibri"/>
              </a:rPr>
              <a:t>the</a:t>
            </a:r>
            <a:r>
              <a:rPr sz="2400" spc="140" dirty="0">
                <a:solidFill>
                  <a:srgbClr val="262EA4"/>
                </a:solidFill>
                <a:latin typeface="Calibri"/>
                <a:cs typeface="Calibri"/>
              </a:rPr>
              <a:t>  </a:t>
            </a:r>
            <a:r>
              <a:rPr sz="2400" dirty="0">
                <a:solidFill>
                  <a:srgbClr val="262EA4"/>
                </a:solidFill>
                <a:latin typeface="Calibri"/>
                <a:cs typeface="Calibri"/>
              </a:rPr>
              <a:t>work</a:t>
            </a:r>
            <a:r>
              <a:rPr sz="2400" spc="140" dirty="0">
                <a:solidFill>
                  <a:srgbClr val="262EA4"/>
                </a:solidFill>
                <a:latin typeface="Calibri"/>
                <a:cs typeface="Calibri"/>
              </a:rPr>
              <a:t>  </a:t>
            </a:r>
            <a:r>
              <a:rPr sz="2400" dirty="0">
                <a:solidFill>
                  <a:srgbClr val="262EA4"/>
                </a:solidFill>
                <a:latin typeface="Calibri"/>
                <a:cs typeface="Calibri"/>
              </a:rPr>
              <a:t>and</a:t>
            </a:r>
            <a:r>
              <a:rPr sz="2400" spc="140" dirty="0">
                <a:solidFill>
                  <a:srgbClr val="262EA4"/>
                </a:solidFill>
                <a:latin typeface="Calibri"/>
                <a:cs typeface="Calibri"/>
              </a:rPr>
              <a:t>  </a:t>
            </a:r>
            <a:r>
              <a:rPr sz="2400" spc="-25" dirty="0">
                <a:solidFill>
                  <a:srgbClr val="262EA4"/>
                </a:solidFill>
                <a:latin typeface="Calibri"/>
                <a:cs typeface="Calibri"/>
              </a:rPr>
              <a:t>the 	</a:t>
            </a:r>
            <a:r>
              <a:rPr sz="2400" spc="-10" dirty="0">
                <a:solidFill>
                  <a:srgbClr val="262EA4"/>
                </a:solidFill>
                <a:latin typeface="Calibri"/>
                <a:cs typeface="Calibri"/>
              </a:rPr>
              <a:t>organization.</a:t>
            </a:r>
            <a:endParaRPr sz="2400">
              <a:latin typeface="Calibri"/>
              <a:cs typeface="Calibri"/>
            </a:endParaRPr>
          </a:p>
          <a:p>
            <a:pPr marL="240029" marR="5715" indent="-227329" algn="just">
              <a:lnSpc>
                <a:spcPct val="90400"/>
              </a:lnSpc>
              <a:spcBef>
                <a:spcPts val="965"/>
              </a:spcBef>
              <a:buFont typeface="Arial MT"/>
              <a:buChar char="•"/>
              <a:tabLst>
                <a:tab pos="241300" algn="l"/>
              </a:tabLst>
            </a:pPr>
            <a:r>
              <a:rPr sz="2400" dirty="0">
                <a:latin typeface="Calibri"/>
                <a:cs typeface="Calibri"/>
              </a:rPr>
              <a:t>The</a:t>
            </a:r>
            <a:r>
              <a:rPr sz="2400" spc="160" dirty="0">
                <a:latin typeface="Calibri"/>
                <a:cs typeface="Calibri"/>
              </a:rPr>
              <a:t>  </a:t>
            </a:r>
            <a:r>
              <a:rPr sz="2400" dirty="0">
                <a:latin typeface="Calibri"/>
                <a:cs typeface="Calibri"/>
              </a:rPr>
              <a:t>WBS</a:t>
            </a:r>
            <a:r>
              <a:rPr sz="2400" spc="155" dirty="0">
                <a:latin typeface="Calibri"/>
                <a:cs typeface="Calibri"/>
              </a:rPr>
              <a:t>  </a:t>
            </a:r>
            <a:r>
              <a:rPr sz="2400" dirty="0">
                <a:latin typeface="Calibri"/>
                <a:cs typeface="Calibri"/>
              </a:rPr>
              <a:t>can</a:t>
            </a:r>
            <a:r>
              <a:rPr sz="2400" spc="160" dirty="0">
                <a:latin typeface="Calibri"/>
                <a:cs typeface="Calibri"/>
              </a:rPr>
              <a:t>  </a:t>
            </a:r>
            <a:r>
              <a:rPr sz="2400" dirty="0">
                <a:latin typeface="Calibri"/>
                <a:cs typeface="Calibri"/>
              </a:rPr>
              <a:t>also</a:t>
            </a:r>
            <a:r>
              <a:rPr sz="2400" spc="155" dirty="0">
                <a:latin typeface="Calibri"/>
                <a:cs typeface="Calibri"/>
              </a:rPr>
              <a:t>  </a:t>
            </a:r>
            <a:r>
              <a:rPr sz="2400" dirty="0">
                <a:latin typeface="Calibri"/>
                <a:cs typeface="Calibri"/>
              </a:rPr>
              <a:t>be</a:t>
            </a:r>
            <a:r>
              <a:rPr sz="2400" spc="160" dirty="0">
                <a:latin typeface="Calibri"/>
                <a:cs typeface="Calibri"/>
              </a:rPr>
              <a:t>  </a:t>
            </a:r>
            <a:r>
              <a:rPr sz="2400" dirty="0">
                <a:latin typeface="Calibri"/>
                <a:cs typeface="Calibri"/>
              </a:rPr>
              <a:t>used</a:t>
            </a:r>
            <a:r>
              <a:rPr sz="2400" spc="160" dirty="0">
                <a:latin typeface="Calibri"/>
                <a:cs typeface="Calibri"/>
              </a:rPr>
              <a:t>  </a:t>
            </a:r>
            <a:r>
              <a:rPr sz="2400" dirty="0">
                <a:latin typeface="Calibri"/>
                <a:cs typeface="Calibri"/>
              </a:rPr>
              <a:t>to</a:t>
            </a:r>
            <a:r>
              <a:rPr sz="2400" spc="155" dirty="0">
                <a:latin typeface="Calibri"/>
                <a:cs typeface="Calibri"/>
              </a:rPr>
              <a:t>  </a:t>
            </a:r>
            <a:r>
              <a:rPr sz="2400" dirty="0">
                <a:latin typeface="Calibri"/>
                <a:cs typeface="Calibri"/>
              </a:rPr>
              <a:t>define</a:t>
            </a:r>
            <a:r>
              <a:rPr sz="2400" spc="160" dirty="0">
                <a:latin typeface="Calibri"/>
                <a:cs typeface="Calibri"/>
              </a:rPr>
              <a:t>  </a:t>
            </a:r>
            <a:r>
              <a:rPr sz="2400" dirty="0">
                <a:latin typeface="Calibri"/>
                <a:cs typeface="Calibri"/>
              </a:rPr>
              <a:t>communication</a:t>
            </a:r>
            <a:r>
              <a:rPr sz="2400" spc="160" dirty="0">
                <a:latin typeface="Calibri"/>
                <a:cs typeface="Calibri"/>
              </a:rPr>
              <a:t>  </a:t>
            </a:r>
            <a:r>
              <a:rPr sz="2400" dirty="0">
                <a:latin typeface="Calibri"/>
                <a:cs typeface="Calibri"/>
              </a:rPr>
              <a:t>channels</a:t>
            </a:r>
            <a:r>
              <a:rPr sz="2400" spc="155" dirty="0">
                <a:latin typeface="Calibri"/>
                <a:cs typeface="Calibri"/>
              </a:rPr>
              <a:t>  </a:t>
            </a:r>
            <a:r>
              <a:rPr sz="2400" dirty="0">
                <a:latin typeface="Calibri"/>
                <a:cs typeface="Calibri"/>
              </a:rPr>
              <a:t>and</a:t>
            </a:r>
            <a:r>
              <a:rPr sz="2400" spc="160" dirty="0">
                <a:latin typeface="Calibri"/>
                <a:cs typeface="Calibri"/>
              </a:rPr>
              <a:t>  </a:t>
            </a:r>
            <a:r>
              <a:rPr sz="2400" dirty="0">
                <a:latin typeface="Calibri"/>
                <a:cs typeface="Calibri"/>
              </a:rPr>
              <a:t>assist</a:t>
            </a:r>
            <a:r>
              <a:rPr sz="2400" spc="155" dirty="0">
                <a:latin typeface="Calibri"/>
                <a:cs typeface="Calibri"/>
              </a:rPr>
              <a:t>  </a:t>
            </a:r>
            <a:r>
              <a:rPr sz="2400" spc="-25" dirty="0">
                <a:latin typeface="Calibri"/>
                <a:cs typeface="Calibri"/>
              </a:rPr>
              <a:t>in 	</a:t>
            </a:r>
            <a:r>
              <a:rPr sz="2400" dirty="0">
                <a:latin typeface="Calibri"/>
                <a:cs typeface="Calibri"/>
              </a:rPr>
              <a:t>understanding</a:t>
            </a:r>
            <a:r>
              <a:rPr sz="2400" spc="90" dirty="0">
                <a:latin typeface="Calibri"/>
                <a:cs typeface="Calibri"/>
              </a:rPr>
              <a:t> </a:t>
            </a:r>
            <a:r>
              <a:rPr sz="2400" dirty="0">
                <a:latin typeface="Calibri"/>
                <a:cs typeface="Calibri"/>
              </a:rPr>
              <a:t>and</a:t>
            </a:r>
            <a:r>
              <a:rPr sz="2400" spc="100" dirty="0">
                <a:latin typeface="Calibri"/>
                <a:cs typeface="Calibri"/>
              </a:rPr>
              <a:t> </a:t>
            </a:r>
            <a:r>
              <a:rPr sz="2400" dirty="0">
                <a:latin typeface="Calibri"/>
                <a:cs typeface="Calibri"/>
              </a:rPr>
              <a:t>coordinating</a:t>
            </a:r>
            <a:r>
              <a:rPr sz="2400" spc="90" dirty="0">
                <a:latin typeface="Calibri"/>
                <a:cs typeface="Calibri"/>
              </a:rPr>
              <a:t> </a:t>
            </a:r>
            <a:r>
              <a:rPr sz="2400" dirty="0">
                <a:latin typeface="Calibri"/>
                <a:cs typeface="Calibri"/>
              </a:rPr>
              <a:t>many</a:t>
            </a:r>
            <a:r>
              <a:rPr sz="2400" spc="100" dirty="0">
                <a:latin typeface="Calibri"/>
                <a:cs typeface="Calibri"/>
              </a:rPr>
              <a:t> </a:t>
            </a:r>
            <a:r>
              <a:rPr sz="2400" dirty="0">
                <a:latin typeface="Calibri"/>
                <a:cs typeface="Calibri"/>
              </a:rPr>
              <a:t>parts</a:t>
            </a:r>
            <a:r>
              <a:rPr sz="2400" spc="100" dirty="0">
                <a:latin typeface="Calibri"/>
                <a:cs typeface="Calibri"/>
              </a:rPr>
              <a:t> </a:t>
            </a:r>
            <a:r>
              <a:rPr sz="2400" dirty="0">
                <a:latin typeface="Calibri"/>
                <a:cs typeface="Calibri"/>
              </a:rPr>
              <a:t>of</a:t>
            </a:r>
            <a:r>
              <a:rPr sz="2400" spc="105" dirty="0">
                <a:latin typeface="Calibri"/>
                <a:cs typeface="Calibri"/>
              </a:rPr>
              <a:t> </a:t>
            </a:r>
            <a:r>
              <a:rPr sz="2400" dirty="0">
                <a:latin typeface="Calibri"/>
                <a:cs typeface="Calibri"/>
              </a:rPr>
              <a:t>the</a:t>
            </a:r>
            <a:r>
              <a:rPr sz="2400" spc="105" dirty="0">
                <a:latin typeface="Calibri"/>
                <a:cs typeface="Calibri"/>
              </a:rPr>
              <a:t> </a:t>
            </a:r>
            <a:r>
              <a:rPr sz="2400" dirty="0">
                <a:latin typeface="Calibri"/>
                <a:cs typeface="Calibri"/>
              </a:rPr>
              <a:t>project.</a:t>
            </a:r>
            <a:r>
              <a:rPr sz="2400" spc="95" dirty="0">
                <a:latin typeface="Calibri"/>
                <a:cs typeface="Calibri"/>
              </a:rPr>
              <a:t> </a:t>
            </a:r>
            <a:r>
              <a:rPr sz="2400" dirty="0">
                <a:latin typeface="Calibri"/>
                <a:cs typeface="Calibri"/>
              </a:rPr>
              <a:t>Problems</a:t>
            </a:r>
            <a:r>
              <a:rPr sz="2400" spc="100" dirty="0">
                <a:latin typeface="Calibri"/>
                <a:cs typeface="Calibri"/>
              </a:rPr>
              <a:t> </a:t>
            </a:r>
            <a:r>
              <a:rPr sz="2400" dirty="0">
                <a:latin typeface="Calibri"/>
                <a:cs typeface="Calibri"/>
              </a:rPr>
              <a:t>can</a:t>
            </a:r>
            <a:r>
              <a:rPr sz="2400" spc="100" dirty="0">
                <a:latin typeface="Calibri"/>
                <a:cs typeface="Calibri"/>
              </a:rPr>
              <a:t> </a:t>
            </a:r>
            <a:r>
              <a:rPr sz="2400" dirty="0">
                <a:latin typeface="Calibri"/>
                <a:cs typeface="Calibri"/>
              </a:rPr>
              <a:t>be</a:t>
            </a:r>
            <a:r>
              <a:rPr sz="2400" spc="105" dirty="0">
                <a:latin typeface="Calibri"/>
                <a:cs typeface="Calibri"/>
              </a:rPr>
              <a:t> </a:t>
            </a:r>
            <a:r>
              <a:rPr sz="2400" spc="-10" dirty="0">
                <a:latin typeface="Calibri"/>
                <a:cs typeface="Calibri"/>
              </a:rPr>
              <a:t>quickly 	</a:t>
            </a:r>
            <a:r>
              <a:rPr sz="2400" dirty="0">
                <a:latin typeface="Calibri"/>
                <a:cs typeface="Calibri"/>
              </a:rPr>
              <a:t>addressed</a:t>
            </a:r>
            <a:r>
              <a:rPr sz="2400" spc="-65" dirty="0">
                <a:latin typeface="Calibri"/>
                <a:cs typeface="Calibri"/>
              </a:rPr>
              <a:t> </a:t>
            </a:r>
            <a:r>
              <a:rPr sz="2400" dirty="0">
                <a:latin typeface="Calibri"/>
                <a:cs typeface="Calibri"/>
              </a:rPr>
              <a:t>and</a:t>
            </a:r>
            <a:r>
              <a:rPr sz="2400" spc="-60" dirty="0">
                <a:latin typeface="Calibri"/>
                <a:cs typeface="Calibri"/>
              </a:rPr>
              <a:t> </a:t>
            </a:r>
            <a:r>
              <a:rPr sz="2400" spc="-10" dirty="0">
                <a:latin typeface="Calibri"/>
                <a:cs typeface="Calibri"/>
              </a:rPr>
              <a:t>coordinated</a:t>
            </a:r>
            <a:r>
              <a:rPr sz="2400" spc="-65" dirty="0">
                <a:latin typeface="Calibri"/>
                <a:cs typeface="Calibri"/>
              </a:rPr>
              <a:t> </a:t>
            </a:r>
            <a:r>
              <a:rPr sz="2400" dirty="0">
                <a:latin typeface="Calibri"/>
                <a:cs typeface="Calibri"/>
              </a:rPr>
              <a:t>because</a:t>
            </a:r>
            <a:r>
              <a:rPr sz="2400" spc="-60"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structure</a:t>
            </a:r>
            <a:r>
              <a:rPr sz="2400" spc="-55" dirty="0">
                <a:latin typeface="Calibri"/>
                <a:cs typeface="Calibri"/>
              </a:rPr>
              <a:t> </a:t>
            </a:r>
            <a:r>
              <a:rPr sz="2400" spc="-20" dirty="0">
                <a:latin typeface="Calibri"/>
                <a:cs typeface="Calibri"/>
              </a:rPr>
              <a:t>integrates</a:t>
            </a:r>
            <a:r>
              <a:rPr sz="2400" spc="-65" dirty="0">
                <a:latin typeface="Calibri"/>
                <a:cs typeface="Calibri"/>
              </a:rPr>
              <a:t> </a:t>
            </a:r>
            <a:r>
              <a:rPr sz="2400" dirty="0">
                <a:latin typeface="Calibri"/>
                <a:cs typeface="Calibri"/>
              </a:rPr>
              <a:t>work</a:t>
            </a:r>
            <a:r>
              <a:rPr sz="2400" spc="-65" dirty="0">
                <a:latin typeface="Calibri"/>
                <a:cs typeface="Calibri"/>
              </a:rPr>
              <a:t> </a:t>
            </a:r>
            <a:r>
              <a:rPr sz="2400" dirty="0">
                <a:latin typeface="Calibri"/>
                <a:cs typeface="Calibri"/>
              </a:rPr>
              <a:t>and</a:t>
            </a:r>
            <a:r>
              <a:rPr sz="2400" spc="-60" dirty="0">
                <a:latin typeface="Calibri"/>
                <a:cs typeface="Calibri"/>
              </a:rPr>
              <a:t> </a:t>
            </a:r>
            <a:r>
              <a:rPr sz="2400" spc="-10" dirty="0">
                <a:latin typeface="Calibri"/>
                <a:cs typeface="Calibri"/>
              </a:rPr>
              <a:t>responsibility.</a:t>
            </a:r>
            <a:endParaRPr sz="24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10</a:t>
            </a:r>
            <a:endParaRPr sz="1200">
              <a:latin typeface="Calibri"/>
              <a:cs typeface="Calibri"/>
            </a:endParaRPr>
          </a:p>
        </p:txBody>
      </p:sp>
      <p:sp>
        <p:nvSpPr>
          <p:cNvPr id="4" name="object 4"/>
          <p:cNvSpPr txBox="1">
            <a:spLocks noGrp="1"/>
          </p:cNvSpPr>
          <p:nvPr>
            <p:ph type="title"/>
          </p:nvPr>
        </p:nvSpPr>
        <p:spPr>
          <a:xfrm>
            <a:off x="29309" y="239059"/>
            <a:ext cx="10131326" cy="1327105"/>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p>
        </p:txBody>
      </p:sp>
      <p:pic>
        <p:nvPicPr>
          <p:cNvPr id="5" name="Picture 4">
            <a:extLst>
              <a:ext uri="{FF2B5EF4-FFF2-40B4-BE49-F238E27FC236}">
                <a16:creationId xmlns:a16="http://schemas.microsoft.com/office/drawing/2014/main" id="{36B34880-2DDE-3B84-4534-1904B4B45A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7BA4-419B-404F-2795-89D6FC59DBB9}"/>
              </a:ext>
            </a:extLst>
          </p:cNvPr>
          <p:cNvSpPr>
            <a:spLocks noGrp="1"/>
          </p:cNvSpPr>
          <p:nvPr>
            <p:ph type="title"/>
          </p:nvPr>
        </p:nvSpPr>
        <p:spPr>
          <a:xfrm>
            <a:off x="178435" y="77471"/>
            <a:ext cx="9982199" cy="683260"/>
          </a:xfrm>
        </p:spPr>
        <p:txBody>
          <a:bodyPr/>
          <a:lstStyle/>
          <a:p>
            <a:r>
              <a:rPr lang="en-US" b="1" u="sng" spc="95" dirty="0">
                <a:solidFill>
                  <a:srgbClr val="FF0000"/>
                </a:solidFill>
              </a:rPr>
              <a:t>3- Creating the Work Breakdown Structure (WBS)</a:t>
            </a:r>
            <a:endParaRPr lang="en-US" dirty="0"/>
          </a:p>
        </p:txBody>
      </p:sp>
      <p:sp>
        <p:nvSpPr>
          <p:cNvPr id="3" name="Text Placeholder 2">
            <a:extLst>
              <a:ext uri="{FF2B5EF4-FFF2-40B4-BE49-F238E27FC236}">
                <a16:creationId xmlns:a16="http://schemas.microsoft.com/office/drawing/2014/main" id="{07C0B0E9-95E0-0C72-8062-EF9FEFD3394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CFE147B-2605-DEAE-9AC9-73E6F367E5E6}"/>
              </a:ext>
            </a:extLst>
          </p:cNvPr>
          <p:cNvPicPr>
            <a:picLocks noChangeAspect="1"/>
          </p:cNvPicPr>
          <p:nvPr/>
        </p:nvPicPr>
        <p:blipFill>
          <a:blip r:embed="rId3"/>
          <a:stretch>
            <a:fillRect/>
          </a:stretch>
        </p:blipFill>
        <p:spPr>
          <a:xfrm>
            <a:off x="1447800" y="1609118"/>
            <a:ext cx="8861259" cy="5226184"/>
          </a:xfrm>
          <a:prstGeom prst="rect">
            <a:avLst/>
          </a:prstGeom>
        </p:spPr>
      </p:pic>
      <p:pic>
        <p:nvPicPr>
          <p:cNvPr id="6" name="Picture 5">
            <a:extLst>
              <a:ext uri="{FF2B5EF4-FFF2-40B4-BE49-F238E27FC236}">
                <a16:creationId xmlns:a16="http://schemas.microsoft.com/office/drawing/2014/main" id="{087A0D6E-9BD8-AB38-C712-68C9E7A704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681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541BC-D2AD-E2D1-4D05-0337B066802C}"/>
              </a:ext>
            </a:extLst>
          </p:cNvPr>
          <p:cNvSpPr>
            <a:spLocks noGrp="1"/>
          </p:cNvSpPr>
          <p:nvPr>
            <p:ph type="title"/>
          </p:nvPr>
        </p:nvSpPr>
        <p:spPr>
          <a:xfrm>
            <a:off x="228600" y="168365"/>
            <a:ext cx="10357486" cy="250736"/>
          </a:xfrm>
        </p:spPr>
        <p:txBody>
          <a:bodyPr/>
          <a:lstStyle/>
          <a:p>
            <a:r>
              <a:rPr lang="en-US" b="1" u="sng" spc="95" dirty="0">
                <a:solidFill>
                  <a:srgbClr val="FF0000"/>
                </a:solidFill>
              </a:rPr>
              <a:t>3- Creating the Work Breakdown Structure (WBS)</a:t>
            </a:r>
            <a:endParaRPr lang="en-US" dirty="0"/>
          </a:p>
        </p:txBody>
      </p:sp>
      <p:sp>
        <p:nvSpPr>
          <p:cNvPr id="3" name="Text Placeholder 2">
            <a:extLst>
              <a:ext uri="{FF2B5EF4-FFF2-40B4-BE49-F238E27FC236}">
                <a16:creationId xmlns:a16="http://schemas.microsoft.com/office/drawing/2014/main" id="{63E68FB2-21E2-99DE-34F4-7CAC5FAEDFB8}"/>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84154694-B679-D605-466E-CA0687290B30}"/>
              </a:ext>
            </a:extLst>
          </p:cNvPr>
          <p:cNvPicPr>
            <a:picLocks noChangeAspect="1"/>
          </p:cNvPicPr>
          <p:nvPr/>
        </p:nvPicPr>
        <p:blipFill>
          <a:blip r:embed="rId2"/>
          <a:stretch>
            <a:fillRect/>
          </a:stretch>
        </p:blipFill>
        <p:spPr>
          <a:xfrm>
            <a:off x="762558" y="1716576"/>
            <a:ext cx="10641947" cy="4795520"/>
          </a:xfrm>
          <a:prstGeom prst="rect">
            <a:avLst/>
          </a:prstGeom>
        </p:spPr>
      </p:pic>
      <p:pic>
        <p:nvPicPr>
          <p:cNvPr id="6" name="Picture 5">
            <a:extLst>
              <a:ext uri="{FF2B5EF4-FFF2-40B4-BE49-F238E27FC236}">
                <a16:creationId xmlns:a16="http://schemas.microsoft.com/office/drawing/2014/main" id="{B977082A-B1D9-AB87-5603-8C5B0C9774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323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DD93-139C-415A-FFC7-0D8B4B17EEB0}"/>
              </a:ext>
            </a:extLst>
          </p:cNvPr>
          <p:cNvSpPr>
            <a:spLocks noGrp="1"/>
          </p:cNvSpPr>
          <p:nvPr>
            <p:ph type="title"/>
          </p:nvPr>
        </p:nvSpPr>
        <p:spPr/>
        <p:txBody>
          <a:bodyPr/>
          <a:lstStyle/>
          <a:p>
            <a:r>
              <a:rPr lang="en-US" b="1" u="sng" spc="95" dirty="0">
                <a:solidFill>
                  <a:srgbClr val="FF0000"/>
                </a:solidFill>
              </a:rPr>
              <a:t>Levels of Breakdown in (WBS)</a:t>
            </a:r>
          </a:p>
        </p:txBody>
      </p:sp>
      <p:sp>
        <p:nvSpPr>
          <p:cNvPr id="3" name="Text Placeholder 2">
            <a:extLst>
              <a:ext uri="{FF2B5EF4-FFF2-40B4-BE49-F238E27FC236}">
                <a16:creationId xmlns:a16="http://schemas.microsoft.com/office/drawing/2014/main" id="{FC1262A2-7737-01D8-23D8-647BCC873C33}"/>
              </a:ext>
            </a:extLst>
          </p:cNvPr>
          <p:cNvSpPr>
            <a:spLocks noGrp="1"/>
          </p:cNvSpPr>
          <p:nvPr>
            <p:ph type="body" idx="1"/>
          </p:nvPr>
        </p:nvSpPr>
        <p:spPr>
          <a:xfrm>
            <a:off x="457200" y="1920895"/>
            <a:ext cx="10357485" cy="3016210"/>
          </a:xfrm>
        </p:spPr>
        <p:txBody>
          <a:bodyPr/>
          <a:lstStyle/>
          <a:p>
            <a:r>
              <a:rPr lang="en-US" b="1" dirty="0">
                <a:solidFill>
                  <a:srgbClr val="FF0000"/>
                </a:solidFill>
              </a:rPr>
              <a:t>Hierarchical Structure</a:t>
            </a:r>
          </a:p>
          <a:p>
            <a:r>
              <a:rPr lang="en-US" dirty="0"/>
              <a:t>The WBS follows a hierarchical structure, where:</a:t>
            </a:r>
          </a:p>
          <a:p>
            <a:r>
              <a:rPr lang="en-US" b="1" dirty="0">
                <a:solidFill>
                  <a:srgbClr val="FF0000"/>
                </a:solidFill>
              </a:rPr>
              <a:t>Level 1</a:t>
            </a:r>
            <a:r>
              <a:rPr lang="en-US" dirty="0">
                <a:solidFill>
                  <a:srgbClr val="FF0000"/>
                </a:solidFill>
              </a:rPr>
              <a:t> </a:t>
            </a:r>
            <a:r>
              <a:rPr lang="en-US" dirty="0"/>
              <a:t>contains the overall project.</a:t>
            </a:r>
          </a:p>
          <a:p>
            <a:r>
              <a:rPr lang="en-US" b="1" dirty="0">
                <a:solidFill>
                  <a:srgbClr val="FF0000"/>
                </a:solidFill>
              </a:rPr>
              <a:t>Level 2</a:t>
            </a:r>
            <a:r>
              <a:rPr lang="en-US" dirty="0">
                <a:solidFill>
                  <a:srgbClr val="FF0000"/>
                </a:solidFill>
              </a:rPr>
              <a:t> </a:t>
            </a:r>
            <a:r>
              <a:rPr lang="en-US" dirty="0"/>
              <a:t>consists of major deliverables that contribute to the project.</a:t>
            </a:r>
          </a:p>
          <a:p>
            <a:r>
              <a:rPr lang="en-US" b="1" dirty="0">
                <a:solidFill>
                  <a:srgbClr val="FF0000"/>
                </a:solidFill>
              </a:rPr>
              <a:t>Level 3</a:t>
            </a:r>
            <a:r>
              <a:rPr lang="en-US" dirty="0">
                <a:solidFill>
                  <a:srgbClr val="FF0000"/>
                </a:solidFill>
              </a:rPr>
              <a:t> </a:t>
            </a:r>
            <a:r>
              <a:rPr lang="en-US" dirty="0"/>
              <a:t>includes tasks that need to be completed for each deliverable.</a:t>
            </a:r>
          </a:p>
          <a:p>
            <a:r>
              <a:rPr lang="en-US" b="1" dirty="0">
                <a:solidFill>
                  <a:srgbClr val="FF0000"/>
                </a:solidFill>
              </a:rPr>
              <a:t>Level 4</a:t>
            </a:r>
            <a:r>
              <a:rPr lang="en-US" dirty="0">
                <a:solidFill>
                  <a:srgbClr val="FF0000"/>
                </a:solidFill>
              </a:rPr>
              <a:t> </a:t>
            </a:r>
            <a:r>
              <a:rPr lang="en-US" dirty="0"/>
              <a:t>details the specific actions required to achieve those tasks.</a:t>
            </a:r>
          </a:p>
          <a:p>
            <a:endParaRPr lang="en-US" dirty="0"/>
          </a:p>
        </p:txBody>
      </p:sp>
    </p:spTree>
    <p:extLst>
      <p:ext uri="{BB962C8B-B14F-4D97-AF65-F5344CB8AC3E}">
        <p14:creationId xmlns:p14="http://schemas.microsoft.com/office/powerpoint/2010/main" val="3765809767"/>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684D-4B85-5025-E69C-956C28BED450}"/>
              </a:ext>
            </a:extLst>
          </p:cNvPr>
          <p:cNvSpPr>
            <a:spLocks noGrp="1"/>
          </p:cNvSpPr>
          <p:nvPr>
            <p:ph type="title"/>
          </p:nvPr>
        </p:nvSpPr>
        <p:spPr>
          <a:xfrm>
            <a:off x="762558" y="618843"/>
            <a:ext cx="11407775" cy="661720"/>
          </a:xfrm>
        </p:spPr>
        <p:txBody>
          <a:bodyPr/>
          <a:lstStyle/>
          <a:p>
            <a:r>
              <a:rPr lang="en-US" b="1" u="sng" spc="95" dirty="0">
                <a:solidFill>
                  <a:srgbClr val="FF0000"/>
                </a:solidFill>
              </a:rPr>
              <a:t>Levels of Breakdown in (WBS)</a:t>
            </a:r>
            <a:endParaRPr lang="en-US" dirty="0"/>
          </a:p>
        </p:txBody>
      </p:sp>
      <p:sp>
        <p:nvSpPr>
          <p:cNvPr id="3" name="Text Placeholder 2">
            <a:extLst>
              <a:ext uri="{FF2B5EF4-FFF2-40B4-BE49-F238E27FC236}">
                <a16:creationId xmlns:a16="http://schemas.microsoft.com/office/drawing/2014/main" id="{C556AACA-3109-B7DB-6467-31C6BA4647A5}"/>
              </a:ext>
            </a:extLst>
          </p:cNvPr>
          <p:cNvSpPr>
            <a:spLocks noGrp="1"/>
          </p:cNvSpPr>
          <p:nvPr>
            <p:ph type="body" idx="1"/>
          </p:nvPr>
        </p:nvSpPr>
        <p:spPr>
          <a:xfrm>
            <a:off x="990600" y="1524000"/>
            <a:ext cx="9601200" cy="5847755"/>
          </a:xfrm>
        </p:spPr>
        <p:txBody>
          <a:bodyPr/>
          <a:lstStyle/>
          <a:p>
            <a:r>
              <a:rPr lang="en-US" b="1" dirty="0">
                <a:solidFill>
                  <a:srgbClr val="FF0000"/>
                </a:solidFill>
              </a:rPr>
              <a:t>Level 1: Project Title</a:t>
            </a:r>
          </a:p>
          <a:p>
            <a:r>
              <a:rPr lang="en-US" b="1" dirty="0"/>
              <a:t>Description</a:t>
            </a:r>
            <a:r>
              <a:rPr lang="en-US" dirty="0"/>
              <a:t>: This is the highest level of the WBS and represents the entire project or program. It encapsulates the project's overall goal and vision.</a:t>
            </a:r>
          </a:p>
          <a:p>
            <a:r>
              <a:rPr lang="en-US" b="1" dirty="0"/>
              <a:t>Example</a:t>
            </a:r>
            <a:r>
              <a:rPr lang="en-US" dirty="0"/>
              <a:t>: "Annual Conference Planning“</a:t>
            </a:r>
          </a:p>
          <a:p>
            <a:r>
              <a:rPr lang="en-US" b="1" dirty="0">
                <a:solidFill>
                  <a:srgbClr val="FF0000"/>
                </a:solidFill>
              </a:rPr>
              <a:t>Level 2: Major Deliverables</a:t>
            </a:r>
          </a:p>
          <a:p>
            <a:r>
              <a:rPr lang="en-US" b="1" dirty="0"/>
              <a:t>Description</a:t>
            </a:r>
            <a:r>
              <a:rPr lang="en-US" dirty="0"/>
              <a:t>: This level includes the primary components or deliverables of the project. These are significant milestones that contribute directly to the project's objectives.</a:t>
            </a:r>
          </a:p>
          <a:p>
            <a:r>
              <a:rPr lang="en-US" b="1" dirty="0"/>
              <a:t>Examples</a:t>
            </a:r>
            <a:r>
              <a:rPr lang="en-US" dirty="0"/>
              <a:t>: </a:t>
            </a:r>
          </a:p>
          <a:p>
            <a:pPr lvl="1"/>
            <a:r>
              <a:rPr lang="en-US" dirty="0"/>
              <a:t>"Venue Selection"</a:t>
            </a:r>
          </a:p>
          <a:p>
            <a:pPr lvl="1"/>
            <a:r>
              <a:rPr lang="en-US" dirty="0"/>
              <a:t>"Agenda Development"</a:t>
            </a:r>
          </a:p>
          <a:p>
            <a:pPr lvl="1"/>
            <a:r>
              <a:rPr lang="en-US" dirty="0"/>
              <a:t>"Marketing and Promotion"</a:t>
            </a:r>
          </a:p>
          <a:p>
            <a:pPr lvl="1"/>
            <a:r>
              <a:rPr lang="en-US" dirty="0"/>
              <a:t>"Registration Management"</a:t>
            </a:r>
          </a:p>
          <a:p>
            <a:endParaRPr lang="en-US" dirty="0"/>
          </a:p>
        </p:txBody>
      </p:sp>
    </p:spTree>
    <p:extLst>
      <p:ext uri="{BB962C8B-B14F-4D97-AF65-F5344CB8AC3E}">
        <p14:creationId xmlns:p14="http://schemas.microsoft.com/office/powerpoint/2010/main" val="3248739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8681-DFFF-F96C-B8F2-4B9EF27AE368}"/>
              </a:ext>
            </a:extLst>
          </p:cNvPr>
          <p:cNvSpPr>
            <a:spLocks noGrp="1"/>
          </p:cNvSpPr>
          <p:nvPr>
            <p:ph type="title"/>
          </p:nvPr>
        </p:nvSpPr>
        <p:spPr/>
        <p:txBody>
          <a:bodyPr/>
          <a:lstStyle/>
          <a:p>
            <a:r>
              <a:rPr lang="en-US" b="1" u="sng" spc="95" dirty="0">
                <a:solidFill>
                  <a:srgbClr val="FF0000"/>
                </a:solidFill>
              </a:rPr>
              <a:t>Levels of Breakdown in (WBS)</a:t>
            </a:r>
            <a:endParaRPr lang="en-US" dirty="0"/>
          </a:p>
        </p:txBody>
      </p:sp>
      <p:sp>
        <p:nvSpPr>
          <p:cNvPr id="3" name="Text Placeholder 2">
            <a:extLst>
              <a:ext uri="{FF2B5EF4-FFF2-40B4-BE49-F238E27FC236}">
                <a16:creationId xmlns:a16="http://schemas.microsoft.com/office/drawing/2014/main" id="{A71A7301-3002-1C76-A1F4-9F020617FF6F}"/>
              </a:ext>
            </a:extLst>
          </p:cNvPr>
          <p:cNvSpPr>
            <a:spLocks noGrp="1"/>
          </p:cNvSpPr>
          <p:nvPr>
            <p:ph type="body" idx="1"/>
          </p:nvPr>
        </p:nvSpPr>
        <p:spPr>
          <a:xfrm>
            <a:off x="916939" y="1643379"/>
            <a:ext cx="10357485" cy="4955203"/>
          </a:xfrm>
        </p:spPr>
        <p:txBody>
          <a:bodyPr/>
          <a:lstStyle/>
          <a:p>
            <a:r>
              <a:rPr lang="en-US" b="1" dirty="0">
                <a:solidFill>
                  <a:srgbClr val="FF0000"/>
                </a:solidFill>
              </a:rPr>
              <a:t>Level 3: Sub-deliverables or Tasks</a:t>
            </a:r>
          </a:p>
          <a:p>
            <a:r>
              <a:rPr lang="en-US" b="1" dirty="0"/>
              <a:t>Description</a:t>
            </a:r>
            <a:r>
              <a:rPr lang="en-US" dirty="0"/>
              <a:t>: This level breaks down the major deliverables into smaller, more manageable components. Each sub-deliverable typically corresponds to a specific area of work that needs to be accomplished to achieve the major deliverable.</a:t>
            </a:r>
          </a:p>
          <a:p>
            <a:r>
              <a:rPr lang="en-US" b="1" dirty="0"/>
              <a:t>Examples</a:t>
            </a:r>
            <a:r>
              <a:rPr lang="en-US" dirty="0"/>
              <a:t>: </a:t>
            </a:r>
          </a:p>
          <a:p>
            <a:pPr lvl="1"/>
            <a:r>
              <a:rPr lang="en-US" dirty="0"/>
              <a:t>Under "Venue Selection": </a:t>
            </a:r>
          </a:p>
          <a:p>
            <a:pPr lvl="2"/>
            <a:r>
              <a:rPr lang="en-US" dirty="0"/>
              <a:t>"Research Venues"</a:t>
            </a:r>
          </a:p>
          <a:p>
            <a:pPr lvl="2"/>
            <a:r>
              <a:rPr lang="en-US" dirty="0"/>
              <a:t>"Site Visits"</a:t>
            </a:r>
          </a:p>
          <a:p>
            <a:pPr lvl="2"/>
            <a:r>
              <a:rPr lang="en-US" dirty="0"/>
              <a:t>"Contract Negotiation"</a:t>
            </a:r>
          </a:p>
          <a:p>
            <a:pPr lvl="1"/>
            <a:r>
              <a:rPr lang="en-US" dirty="0"/>
              <a:t>Under "Agenda Development": </a:t>
            </a:r>
          </a:p>
          <a:p>
            <a:pPr lvl="2"/>
            <a:r>
              <a:rPr lang="en-US" dirty="0"/>
              <a:t>"Identify Speakers"</a:t>
            </a:r>
          </a:p>
          <a:p>
            <a:pPr lvl="2"/>
            <a:r>
              <a:rPr lang="en-US" dirty="0"/>
              <a:t>"Schedule Sessions"</a:t>
            </a:r>
          </a:p>
          <a:p>
            <a:endParaRPr lang="en-US" dirty="0"/>
          </a:p>
        </p:txBody>
      </p:sp>
    </p:spTree>
    <p:extLst>
      <p:ext uri="{BB962C8B-B14F-4D97-AF65-F5344CB8AC3E}">
        <p14:creationId xmlns:p14="http://schemas.microsoft.com/office/powerpoint/2010/main" val="4021563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F350-B723-43E0-674F-4B887DECA9FA}"/>
              </a:ext>
            </a:extLst>
          </p:cNvPr>
          <p:cNvSpPr>
            <a:spLocks noGrp="1"/>
          </p:cNvSpPr>
          <p:nvPr>
            <p:ph type="title"/>
          </p:nvPr>
        </p:nvSpPr>
        <p:spPr/>
        <p:txBody>
          <a:bodyPr/>
          <a:lstStyle/>
          <a:p>
            <a:r>
              <a:rPr lang="en-US" b="1" u="sng" spc="95" dirty="0">
                <a:solidFill>
                  <a:srgbClr val="FF0000"/>
                </a:solidFill>
              </a:rPr>
              <a:t>Levels of Breakdown in (WBS)</a:t>
            </a:r>
            <a:endParaRPr lang="en-US" dirty="0"/>
          </a:p>
        </p:txBody>
      </p:sp>
      <p:sp>
        <p:nvSpPr>
          <p:cNvPr id="3" name="Text Placeholder 2">
            <a:extLst>
              <a:ext uri="{FF2B5EF4-FFF2-40B4-BE49-F238E27FC236}">
                <a16:creationId xmlns:a16="http://schemas.microsoft.com/office/drawing/2014/main" id="{E4025325-994D-D946-3A09-FD4418CB997F}"/>
              </a:ext>
            </a:extLst>
          </p:cNvPr>
          <p:cNvSpPr>
            <a:spLocks noGrp="1"/>
          </p:cNvSpPr>
          <p:nvPr>
            <p:ph type="body" idx="1"/>
          </p:nvPr>
        </p:nvSpPr>
        <p:spPr/>
        <p:txBody>
          <a:bodyPr/>
          <a:lstStyle/>
          <a:p>
            <a:r>
              <a:rPr lang="en-US" b="1" dirty="0">
                <a:solidFill>
                  <a:srgbClr val="FF0000"/>
                </a:solidFill>
              </a:rPr>
              <a:t>Level 4: Work Packages</a:t>
            </a:r>
          </a:p>
          <a:p>
            <a:r>
              <a:rPr lang="en-US" b="1" dirty="0"/>
              <a:t>Description</a:t>
            </a:r>
            <a:r>
              <a:rPr lang="en-US" dirty="0"/>
              <a:t>: This is the most detailed level of the WBS. Work packages are specific tasks or activities that can be assigned to team members. Each work package should have a clear output, duration, and assigned resources.</a:t>
            </a:r>
          </a:p>
          <a:p>
            <a:r>
              <a:rPr lang="en-US" b="1" dirty="0"/>
              <a:t>Examples</a:t>
            </a:r>
            <a:r>
              <a:rPr lang="en-US" dirty="0"/>
              <a:t>: </a:t>
            </a:r>
          </a:p>
          <a:p>
            <a:pPr lvl="1"/>
            <a:r>
              <a:rPr lang="en-US" dirty="0"/>
              <a:t>Under "Research Venues": </a:t>
            </a:r>
          </a:p>
          <a:p>
            <a:pPr lvl="2"/>
            <a:r>
              <a:rPr lang="en-US" dirty="0"/>
              <a:t>"Identify Potential Venues"</a:t>
            </a:r>
          </a:p>
          <a:p>
            <a:pPr lvl="2"/>
            <a:r>
              <a:rPr lang="en-US" dirty="0"/>
              <a:t>"Gather Venue Specifications"</a:t>
            </a:r>
          </a:p>
          <a:p>
            <a:pPr lvl="1"/>
            <a:r>
              <a:rPr lang="en-US" dirty="0"/>
              <a:t>Under "Identify Speakers": </a:t>
            </a:r>
          </a:p>
          <a:p>
            <a:pPr lvl="2"/>
            <a:r>
              <a:rPr lang="en-US" dirty="0"/>
              <a:t>"Create Speaker Criteria"</a:t>
            </a:r>
          </a:p>
          <a:p>
            <a:pPr lvl="2"/>
            <a:r>
              <a:rPr lang="en-US" dirty="0"/>
              <a:t>"Send Invitations"</a:t>
            </a:r>
          </a:p>
          <a:p>
            <a:endParaRPr lang="en-US" dirty="0"/>
          </a:p>
        </p:txBody>
      </p:sp>
    </p:spTree>
    <p:extLst>
      <p:ext uri="{BB962C8B-B14F-4D97-AF65-F5344CB8AC3E}">
        <p14:creationId xmlns:p14="http://schemas.microsoft.com/office/powerpoint/2010/main" val="1601450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C2F1-6355-6F19-F8F1-ED1A5D86BE92}"/>
              </a:ext>
            </a:extLst>
          </p:cNvPr>
          <p:cNvSpPr>
            <a:spLocks noGrp="1"/>
          </p:cNvSpPr>
          <p:nvPr>
            <p:ph type="title"/>
          </p:nvPr>
        </p:nvSpPr>
        <p:spPr>
          <a:xfrm>
            <a:off x="762557" y="332186"/>
            <a:ext cx="11407775" cy="683260"/>
          </a:xfrm>
        </p:spPr>
        <p:txBody>
          <a:bodyPr/>
          <a:lstStyle/>
          <a:p>
            <a:r>
              <a:rPr lang="en-US" b="1" u="sng" spc="95" dirty="0">
                <a:solidFill>
                  <a:srgbClr val="FF0000"/>
                </a:solidFill>
              </a:rPr>
              <a:t>Example 1:</a:t>
            </a:r>
          </a:p>
        </p:txBody>
      </p:sp>
      <p:sp>
        <p:nvSpPr>
          <p:cNvPr id="3" name="Text Placeholder 2">
            <a:extLst>
              <a:ext uri="{FF2B5EF4-FFF2-40B4-BE49-F238E27FC236}">
                <a16:creationId xmlns:a16="http://schemas.microsoft.com/office/drawing/2014/main" id="{4C781748-2BAB-96EF-C596-FA4BB4FB7A35}"/>
              </a:ext>
            </a:extLst>
          </p:cNvPr>
          <p:cNvSpPr>
            <a:spLocks noGrp="1"/>
          </p:cNvSpPr>
          <p:nvPr>
            <p:ph type="body" idx="1"/>
          </p:nvPr>
        </p:nvSpPr>
        <p:spPr/>
        <p:txBody>
          <a:bodyPr/>
          <a:lstStyle/>
          <a:p>
            <a:endParaRPr lang="en-US" dirty="0"/>
          </a:p>
        </p:txBody>
      </p:sp>
      <p:pic>
        <p:nvPicPr>
          <p:cNvPr id="1026" name="Picture 2">
            <a:extLst>
              <a:ext uri="{FF2B5EF4-FFF2-40B4-BE49-F238E27FC236}">
                <a16:creationId xmlns:a16="http://schemas.microsoft.com/office/drawing/2014/main" id="{83F6D4A0-44AD-74BC-AD4B-4728AC1F3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557" y="1200464"/>
            <a:ext cx="10057843" cy="56575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49F4A9B-DAD9-55C8-E221-F28F7B992C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701" y="29139"/>
            <a:ext cx="1730631" cy="96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540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ACFF0-C928-FE99-6672-1F7FBE669E44}"/>
              </a:ext>
            </a:extLst>
          </p:cNvPr>
          <p:cNvSpPr>
            <a:spLocks noGrp="1"/>
          </p:cNvSpPr>
          <p:nvPr>
            <p:ph type="title"/>
          </p:nvPr>
        </p:nvSpPr>
        <p:spPr/>
        <p:txBody>
          <a:bodyPr/>
          <a:lstStyle/>
          <a:p>
            <a:r>
              <a:rPr lang="en-US" b="1" u="sng" spc="95" dirty="0">
                <a:solidFill>
                  <a:srgbClr val="FF0000"/>
                </a:solidFill>
              </a:rPr>
              <a:t>Example 2:</a:t>
            </a:r>
            <a:endParaRPr lang="en-US" dirty="0"/>
          </a:p>
        </p:txBody>
      </p:sp>
      <p:sp>
        <p:nvSpPr>
          <p:cNvPr id="3" name="Text Placeholder 2">
            <a:extLst>
              <a:ext uri="{FF2B5EF4-FFF2-40B4-BE49-F238E27FC236}">
                <a16:creationId xmlns:a16="http://schemas.microsoft.com/office/drawing/2014/main" id="{6EB77516-AB3D-F0AC-33CC-AB0CC4D53FC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9054FC1-8B01-7554-67B8-E07BC27FCD3E}"/>
              </a:ext>
            </a:extLst>
          </p:cNvPr>
          <p:cNvPicPr>
            <a:picLocks noChangeAspect="1"/>
          </p:cNvPicPr>
          <p:nvPr/>
        </p:nvPicPr>
        <p:blipFill>
          <a:blip r:embed="rId3"/>
          <a:stretch>
            <a:fillRect/>
          </a:stretch>
        </p:blipFill>
        <p:spPr>
          <a:xfrm>
            <a:off x="-21667" y="1643380"/>
            <a:ext cx="12192000" cy="5214620"/>
          </a:xfrm>
          <a:prstGeom prst="rect">
            <a:avLst/>
          </a:prstGeom>
        </p:spPr>
      </p:pic>
      <p:pic>
        <p:nvPicPr>
          <p:cNvPr id="6" name="Picture 5">
            <a:extLst>
              <a:ext uri="{FF2B5EF4-FFF2-40B4-BE49-F238E27FC236}">
                <a16:creationId xmlns:a16="http://schemas.microsoft.com/office/drawing/2014/main" id="{786F5F2A-7E4D-E683-5DF7-0314AABEB5A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701" y="29139"/>
            <a:ext cx="1730631" cy="96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264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5796" y="1653219"/>
            <a:ext cx="8939182" cy="5096903"/>
          </a:xfrm>
          <a:prstGeom prst="rect">
            <a:avLst/>
          </a:prstGeom>
        </p:spPr>
      </p:pic>
      <p:sp>
        <p:nvSpPr>
          <p:cNvPr id="3" name="object 3"/>
          <p:cNvSpPr txBox="1">
            <a:spLocks noGrp="1"/>
          </p:cNvSpPr>
          <p:nvPr>
            <p:ph type="title"/>
          </p:nvPr>
        </p:nvSpPr>
        <p:spPr>
          <a:xfrm>
            <a:off x="775536" y="644802"/>
            <a:ext cx="10439701" cy="677108"/>
          </a:xfrm>
          <a:prstGeom prst="rect">
            <a:avLst/>
          </a:prstGeom>
        </p:spPr>
        <p:txBody>
          <a:bodyPr vert="horz" wrap="square" lIns="0" tIns="15240" rIns="0" bIns="0" rtlCol="0">
            <a:spAutoFit/>
          </a:bodyPr>
          <a:lstStyle/>
          <a:p>
            <a:pPr marL="167005">
              <a:lnSpc>
                <a:spcPct val="100000"/>
              </a:lnSpc>
              <a:spcBef>
                <a:spcPts val="120"/>
              </a:spcBef>
            </a:pPr>
            <a:r>
              <a:rPr lang="en-US" b="1" u="sng" spc="95" dirty="0">
                <a:solidFill>
                  <a:srgbClr val="FF0000"/>
                </a:solidFill>
              </a:rPr>
              <a:t>Example 3:</a:t>
            </a:r>
            <a:endParaRPr b="1" u="sng" spc="95" dirty="0">
              <a:solidFill>
                <a:srgbClr val="FF0000"/>
              </a:solidFill>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31</a:t>
            </a:fld>
            <a:endParaRPr spc="-25" dirty="0"/>
          </a:p>
        </p:txBody>
      </p:sp>
      <p:pic>
        <p:nvPicPr>
          <p:cNvPr id="5" name="Picture 4">
            <a:extLst>
              <a:ext uri="{FF2B5EF4-FFF2-40B4-BE49-F238E27FC236}">
                <a16:creationId xmlns:a16="http://schemas.microsoft.com/office/drawing/2014/main" id="{2DC968A2-A3A4-0324-6244-74703541F8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9701" y="29139"/>
            <a:ext cx="1730631" cy="9614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0928" y="1697228"/>
            <a:ext cx="10473690" cy="4786630"/>
          </a:xfrm>
          <a:prstGeom prst="rect">
            <a:avLst/>
          </a:prstGeom>
        </p:spPr>
        <p:txBody>
          <a:bodyPr vert="horz" wrap="square" lIns="0" tIns="9525" rIns="0" bIns="0" rtlCol="0">
            <a:spAutoFit/>
          </a:bodyPr>
          <a:lstStyle/>
          <a:p>
            <a:pPr marL="158750" marR="5715" indent="-146685">
              <a:lnSpc>
                <a:spcPct val="100800"/>
              </a:lnSpc>
              <a:spcBef>
                <a:spcPts val="75"/>
              </a:spcBef>
              <a:buFont typeface="Arial MT"/>
              <a:buChar char="•"/>
              <a:tabLst>
                <a:tab pos="160020" algn="l"/>
              </a:tabLst>
            </a:pPr>
            <a:r>
              <a:rPr sz="2400" dirty="0">
                <a:latin typeface="Calibri"/>
                <a:cs typeface="Calibri"/>
              </a:rPr>
              <a:t>Work</a:t>
            </a:r>
            <a:r>
              <a:rPr sz="2400" spc="95" dirty="0">
                <a:latin typeface="Calibri"/>
                <a:cs typeface="Calibri"/>
              </a:rPr>
              <a:t> </a:t>
            </a:r>
            <a:r>
              <a:rPr sz="2400" dirty="0">
                <a:latin typeface="Calibri"/>
                <a:cs typeface="Calibri"/>
              </a:rPr>
              <a:t>packages</a:t>
            </a:r>
            <a:r>
              <a:rPr sz="2400" spc="105" dirty="0">
                <a:latin typeface="Calibri"/>
                <a:cs typeface="Calibri"/>
              </a:rPr>
              <a:t> </a:t>
            </a:r>
            <a:r>
              <a:rPr sz="2400" dirty="0">
                <a:latin typeface="Calibri"/>
                <a:cs typeface="Calibri"/>
              </a:rPr>
              <a:t>are</a:t>
            </a:r>
            <a:r>
              <a:rPr sz="2400" spc="105" dirty="0">
                <a:latin typeface="Calibri"/>
                <a:cs typeface="Calibri"/>
              </a:rPr>
              <a:t> </a:t>
            </a:r>
            <a:r>
              <a:rPr sz="2400" dirty="0">
                <a:latin typeface="Calibri"/>
                <a:cs typeface="Calibri"/>
              </a:rPr>
              <a:t>short-</a:t>
            </a:r>
            <a:r>
              <a:rPr sz="2400" spc="110" dirty="0">
                <a:latin typeface="Calibri"/>
                <a:cs typeface="Calibri"/>
              </a:rPr>
              <a:t> </a:t>
            </a:r>
            <a:r>
              <a:rPr sz="2400" dirty="0">
                <a:latin typeface="Calibri"/>
                <a:cs typeface="Calibri"/>
              </a:rPr>
              <a:t>duration</a:t>
            </a:r>
            <a:r>
              <a:rPr sz="2400" spc="100" dirty="0">
                <a:latin typeface="Calibri"/>
                <a:cs typeface="Calibri"/>
              </a:rPr>
              <a:t> </a:t>
            </a:r>
            <a:r>
              <a:rPr sz="2400" dirty="0">
                <a:latin typeface="Calibri"/>
                <a:cs typeface="Calibri"/>
              </a:rPr>
              <a:t>tasks</a:t>
            </a:r>
            <a:r>
              <a:rPr sz="2400" spc="105" dirty="0">
                <a:latin typeface="Calibri"/>
                <a:cs typeface="Calibri"/>
              </a:rPr>
              <a:t> </a:t>
            </a:r>
            <a:r>
              <a:rPr sz="2400" dirty="0">
                <a:latin typeface="Calibri"/>
                <a:cs typeface="Calibri"/>
              </a:rPr>
              <a:t>that</a:t>
            </a:r>
            <a:r>
              <a:rPr sz="2400" spc="100" dirty="0">
                <a:latin typeface="Calibri"/>
                <a:cs typeface="Calibri"/>
              </a:rPr>
              <a:t> </a:t>
            </a:r>
            <a:r>
              <a:rPr sz="2400" dirty="0">
                <a:latin typeface="Calibri"/>
                <a:cs typeface="Calibri"/>
              </a:rPr>
              <a:t>have</a:t>
            </a:r>
            <a:r>
              <a:rPr sz="2400" spc="105" dirty="0">
                <a:latin typeface="Calibri"/>
                <a:cs typeface="Calibri"/>
              </a:rPr>
              <a:t> </a:t>
            </a:r>
            <a:r>
              <a:rPr sz="2400" dirty="0">
                <a:latin typeface="Calibri"/>
                <a:cs typeface="Calibri"/>
              </a:rPr>
              <a:t>a</a:t>
            </a:r>
            <a:r>
              <a:rPr sz="2400" spc="105" dirty="0">
                <a:latin typeface="Calibri"/>
                <a:cs typeface="Calibri"/>
              </a:rPr>
              <a:t> </a:t>
            </a:r>
            <a:r>
              <a:rPr sz="2400" dirty="0">
                <a:latin typeface="Calibri"/>
                <a:cs typeface="Calibri"/>
              </a:rPr>
              <a:t>definite</a:t>
            </a:r>
            <a:r>
              <a:rPr sz="2400" spc="110" dirty="0">
                <a:latin typeface="Calibri"/>
                <a:cs typeface="Calibri"/>
              </a:rPr>
              <a:t> </a:t>
            </a:r>
            <a:r>
              <a:rPr sz="2400" dirty="0">
                <a:latin typeface="Calibri"/>
                <a:cs typeface="Calibri"/>
              </a:rPr>
              <a:t>start</a:t>
            </a:r>
            <a:r>
              <a:rPr sz="2400" spc="100" dirty="0">
                <a:latin typeface="Calibri"/>
                <a:cs typeface="Calibri"/>
              </a:rPr>
              <a:t> </a:t>
            </a:r>
            <a:r>
              <a:rPr sz="2400" dirty="0">
                <a:latin typeface="Calibri"/>
                <a:cs typeface="Calibri"/>
              </a:rPr>
              <a:t>and</a:t>
            </a:r>
            <a:r>
              <a:rPr sz="2400" spc="105" dirty="0">
                <a:latin typeface="Calibri"/>
                <a:cs typeface="Calibri"/>
              </a:rPr>
              <a:t> </a:t>
            </a:r>
            <a:r>
              <a:rPr sz="2400" dirty="0">
                <a:latin typeface="Calibri"/>
                <a:cs typeface="Calibri"/>
              </a:rPr>
              <a:t>stop</a:t>
            </a:r>
            <a:r>
              <a:rPr sz="2400" spc="100" dirty="0">
                <a:latin typeface="Calibri"/>
                <a:cs typeface="Calibri"/>
              </a:rPr>
              <a:t> </a:t>
            </a:r>
            <a:r>
              <a:rPr sz="2400" spc="-10" dirty="0">
                <a:latin typeface="Calibri"/>
                <a:cs typeface="Calibri"/>
              </a:rPr>
              <a:t>point, 	</a:t>
            </a:r>
            <a:r>
              <a:rPr sz="2400" dirty="0">
                <a:latin typeface="Calibri"/>
                <a:cs typeface="Calibri"/>
              </a:rPr>
              <a:t>consume</a:t>
            </a:r>
            <a:r>
              <a:rPr sz="2400" spc="-60" dirty="0">
                <a:latin typeface="Calibri"/>
                <a:cs typeface="Calibri"/>
              </a:rPr>
              <a:t> </a:t>
            </a:r>
            <a:r>
              <a:rPr sz="2400" spc="-10" dirty="0">
                <a:latin typeface="Calibri"/>
                <a:cs typeface="Calibri"/>
              </a:rPr>
              <a:t>resources,</a:t>
            </a:r>
            <a:r>
              <a:rPr sz="2400" spc="-65" dirty="0">
                <a:latin typeface="Calibri"/>
                <a:cs typeface="Calibri"/>
              </a:rPr>
              <a:t> </a:t>
            </a:r>
            <a:r>
              <a:rPr sz="2400" dirty="0">
                <a:latin typeface="Calibri"/>
                <a:cs typeface="Calibri"/>
              </a:rPr>
              <a:t>and</a:t>
            </a:r>
            <a:r>
              <a:rPr sz="2400" spc="-65" dirty="0">
                <a:latin typeface="Calibri"/>
                <a:cs typeface="Calibri"/>
              </a:rPr>
              <a:t> </a:t>
            </a:r>
            <a:r>
              <a:rPr sz="2400" spc="-10" dirty="0">
                <a:latin typeface="Calibri"/>
                <a:cs typeface="Calibri"/>
              </a:rPr>
              <a:t>represent</a:t>
            </a:r>
            <a:r>
              <a:rPr sz="2400" spc="-70" dirty="0">
                <a:latin typeface="Calibri"/>
                <a:cs typeface="Calibri"/>
              </a:rPr>
              <a:t> </a:t>
            </a:r>
            <a:r>
              <a:rPr sz="2400" spc="-10" dirty="0">
                <a:latin typeface="Calibri"/>
                <a:cs typeface="Calibri"/>
              </a:rPr>
              <a:t>cost.</a:t>
            </a:r>
            <a:endParaRPr sz="2400" dirty="0">
              <a:latin typeface="Calibri"/>
              <a:cs typeface="Calibri"/>
            </a:endParaRPr>
          </a:p>
          <a:p>
            <a:pPr marL="159385" indent="-146685">
              <a:lnSpc>
                <a:spcPct val="100000"/>
              </a:lnSpc>
              <a:spcBef>
                <a:spcPts val="25"/>
              </a:spcBef>
              <a:buFont typeface="Arial MT"/>
              <a:buChar char="•"/>
              <a:tabLst>
                <a:tab pos="159385" algn="l"/>
              </a:tabLst>
            </a:pPr>
            <a:r>
              <a:rPr sz="2400" dirty="0">
                <a:solidFill>
                  <a:srgbClr val="262EA4"/>
                </a:solidFill>
                <a:latin typeface="Calibri"/>
                <a:cs typeface="Calibri"/>
              </a:rPr>
              <a:t>Each</a:t>
            </a:r>
            <a:r>
              <a:rPr sz="2400" spc="-60" dirty="0">
                <a:solidFill>
                  <a:srgbClr val="262EA4"/>
                </a:solidFill>
                <a:latin typeface="Calibri"/>
                <a:cs typeface="Calibri"/>
              </a:rPr>
              <a:t> </a:t>
            </a:r>
            <a:r>
              <a:rPr sz="2400" dirty="0">
                <a:solidFill>
                  <a:srgbClr val="262EA4"/>
                </a:solidFill>
                <a:latin typeface="Calibri"/>
                <a:cs typeface="Calibri"/>
              </a:rPr>
              <a:t>work</a:t>
            </a:r>
            <a:r>
              <a:rPr sz="2400" spc="-65" dirty="0">
                <a:solidFill>
                  <a:srgbClr val="262EA4"/>
                </a:solidFill>
                <a:latin typeface="Calibri"/>
                <a:cs typeface="Calibri"/>
              </a:rPr>
              <a:t> </a:t>
            </a:r>
            <a:r>
              <a:rPr sz="2400" dirty="0">
                <a:solidFill>
                  <a:srgbClr val="262EA4"/>
                </a:solidFill>
                <a:latin typeface="Calibri"/>
                <a:cs typeface="Calibri"/>
              </a:rPr>
              <a:t>package</a:t>
            </a:r>
            <a:r>
              <a:rPr sz="2400" spc="-50" dirty="0">
                <a:solidFill>
                  <a:srgbClr val="262EA4"/>
                </a:solidFill>
                <a:latin typeface="Calibri"/>
                <a:cs typeface="Calibri"/>
              </a:rPr>
              <a:t> </a:t>
            </a:r>
            <a:r>
              <a:rPr sz="2400" dirty="0">
                <a:solidFill>
                  <a:srgbClr val="262EA4"/>
                </a:solidFill>
                <a:latin typeface="Calibri"/>
                <a:cs typeface="Calibri"/>
              </a:rPr>
              <a:t>is</a:t>
            </a:r>
            <a:r>
              <a:rPr sz="2400" spc="-65" dirty="0">
                <a:solidFill>
                  <a:srgbClr val="262EA4"/>
                </a:solidFill>
                <a:latin typeface="Calibri"/>
                <a:cs typeface="Calibri"/>
              </a:rPr>
              <a:t> </a:t>
            </a:r>
            <a:r>
              <a:rPr sz="2400" dirty="0">
                <a:solidFill>
                  <a:srgbClr val="262EA4"/>
                </a:solidFill>
                <a:latin typeface="Calibri"/>
                <a:cs typeface="Calibri"/>
              </a:rPr>
              <a:t>a</a:t>
            </a:r>
            <a:r>
              <a:rPr sz="2400" spc="-55" dirty="0">
                <a:solidFill>
                  <a:srgbClr val="262EA4"/>
                </a:solidFill>
                <a:latin typeface="Calibri"/>
                <a:cs typeface="Calibri"/>
              </a:rPr>
              <a:t> </a:t>
            </a:r>
            <a:r>
              <a:rPr sz="2400" spc="-10" dirty="0">
                <a:solidFill>
                  <a:srgbClr val="262EA4"/>
                </a:solidFill>
                <a:latin typeface="Calibri"/>
                <a:cs typeface="Calibri"/>
              </a:rPr>
              <a:t>control</a:t>
            </a:r>
            <a:r>
              <a:rPr sz="2400" spc="-65" dirty="0">
                <a:solidFill>
                  <a:srgbClr val="262EA4"/>
                </a:solidFill>
                <a:latin typeface="Calibri"/>
                <a:cs typeface="Calibri"/>
              </a:rPr>
              <a:t> </a:t>
            </a:r>
            <a:r>
              <a:rPr sz="2400" spc="-10" dirty="0">
                <a:solidFill>
                  <a:srgbClr val="262EA4"/>
                </a:solidFill>
                <a:latin typeface="Calibri"/>
                <a:cs typeface="Calibri"/>
              </a:rPr>
              <a:t>point</a:t>
            </a:r>
            <a:r>
              <a:rPr sz="2400" spc="-10" dirty="0">
                <a:latin typeface="Calibri"/>
                <a:cs typeface="Calibri"/>
              </a:rPr>
              <a:t>.</a:t>
            </a:r>
            <a:endParaRPr sz="2400" dirty="0">
              <a:latin typeface="Calibri"/>
              <a:cs typeface="Calibri"/>
            </a:endParaRPr>
          </a:p>
          <a:p>
            <a:pPr marL="158750" marR="5080" indent="-146685">
              <a:lnSpc>
                <a:spcPct val="100800"/>
              </a:lnSpc>
              <a:buFont typeface="Arial MT"/>
              <a:buChar char="•"/>
              <a:tabLst>
                <a:tab pos="160020" algn="l"/>
              </a:tabLst>
            </a:pPr>
            <a:r>
              <a:rPr sz="2400" dirty="0">
                <a:latin typeface="Calibri"/>
                <a:cs typeface="Calibri"/>
              </a:rPr>
              <a:t>A</a:t>
            </a:r>
            <a:r>
              <a:rPr sz="2400" spc="180" dirty="0">
                <a:latin typeface="Calibri"/>
                <a:cs typeface="Calibri"/>
              </a:rPr>
              <a:t> </a:t>
            </a:r>
            <a:r>
              <a:rPr sz="2400" dirty="0">
                <a:latin typeface="Calibri"/>
                <a:cs typeface="Calibri"/>
              </a:rPr>
              <a:t>work</a:t>
            </a:r>
            <a:r>
              <a:rPr sz="2400" spc="185" dirty="0">
                <a:latin typeface="Calibri"/>
                <a:cs typeface="Calibri"/>
              </a:rPr>
              <a:t> </a:t>
            </a:r>
            <a:r>
              <a:rPr sz="2400" dirty="0">
                <a:latin typeface="Calibri"/>
                <a:cs typeface="Calibri"/>
              </a:rPr>
              <a:t>package</a:t>
            </a:r>
            <a:r>
              <a:rPr sz="2400" spc="190" dirty="0">
                <a:latin typeface="Calibri"/>
                <a:cs typeface="Calibri"/>
              </a:rPr>
              <a:t> </a:t>
            </a:r>
            <a:r>
              <a:rPr sz="2400" dirty="0">
                <a:latin typeface="Calibri"/>
                <a:cs typeface="Calibri"/>
              </a:rPr>
              <a:t>manager</a:t>
            </a:r>
            <a:r>
              <a:rPr sz="2400" spc="190" dirty="0">
                <a:latin typeface="Calibri"/>
                <a:cs typeface="Calibri"/>
              </a:rPr>
              <a:t> </a:t>
            </a:r>
            <a:r>
              <a:rPr sz="2400" dirty="0">
                <a:latin typeface="Calibri"/>
                <a:cs typeface="Calibri"/>
              </a:rPr>
              <a:t>is</a:t>
            </a:r>
            <a:r>
              <a:rPr sz="2400" spc="180" dirty="0">
                <a:latin typeface="Calibri"/>
                <a:cs typeface="Calibri"/>
              </a:rPr>
              <a:t> </a:t>
            </a:r>
            <a:r>
              <a:rPr sz="2400" dirty="0">
                <a:latin typeface="Calibri"/>
                <a:cs typeface="Calibri"/>
              </a:rPr>
              <a:t>responsible</a:t>
            </a:r>
            <a:r>
              <a:rPr sz="2400" spc="195" dirty="0">
                <a:latin typeface="Calibri"/>
                <a:cs typeface="Calibri"/>
              </a:rPr>
              <a:t> </a:t>
            </a:r>
            <a:r>
              <a:rPr sz="2400" dirty="0">
                <a:latin typeface="Calibri"/>
                <a:cs typeface="Calibri"/>
              </a:rPr>
              <a:t>for</a:t>
            </a:r>
            <a:r>
              <a:rPr sz="2400" spc="180" dirty="0">
                <a:latin typeface="Calibri"/>
                <a:cs typeface="Calibri"/>
              </a:rPr>
              <a:t> </a:t>
            </a:r>
            <a:r>
              <a:rPr sz="2400" dirty="0">
                <a:latin typeface="Calibri"/>
                <a:cs typeface="Calibri"/>
              </a:rPr>
              <a:t>seeing</a:t>
            </a:r>
            <a:r>
              <a:rPr sz="2400" spc="185" dirty="0">
                <a:latin typeface="Calibri"/>
                <a:cs typeface="Calibri"/>
              </a:rPr>
              <a:t> </a:t>
            </a:r>
            <a:r>
              <a:rPr sz="2400" dirty="0">
                <a:latin typeface="Calibri"/>
                <a:cs typeface="Calibri"/>
              </a:rPr>
              <a:t>that</a:t>
            </a:r>
            <a:r>
              <a:rPr sz="2400" spc="175" dirty="0">
                <a:latin typeface="Calibri"/>
                <a:cs typeface="Calibri"/>
              </a:rPr>
              <a:t> </a:t>
            </a:r>
            <a:r>
              <a:rPr sz="2400" dirty="0">
                <a:latin typeface="Calibri"/>
                <a:cs typeface="Calibri"/>
              </a:rPr>
              <a:t>the</a:t>
            </a:r>
            <a:r>
              <a:rPr sz="2400" spc="195" dirty="0">
                <a:latin typeface="Calibri"/>
                <a:cs typeface="Calibri"/>
              </a:rPr>
              <a:t> </a:t>
            </a:r>
            <a:r>
              <a:rPr sz="2400" dirty="0">
                <a:latin typeface="Calibri"/>
                <a:cs typeface="Calibri"/>
              </a:rPr>
              <a:t>package</a:t>
            </a:r>
            <a:r>
              <a:rPr sz="2400" spc="190" dirty="0">
                <a:latin typeface="Calibri"/>
                <a:cs typeface="Calibri"/>
              </a:rPr>
              <a:t> </a:t>
            </a:r>
            <a:r>
              <a:rPr sz="2400" dirty="0">
                <a:latin typeface="Calibri"/>
                <a:cs typeface="Calibri"/>
              </a:rPr>
              <a:t>is</a:t>
            </a:r>
            <a:r>
              <a:rPr sz="2400" spc="185" dirty="0">
                <a:latin typeface="Calibri"/>
                <a:cs typeface="Calibri"/>
              </a:rPr>
              <a:t> </a:t>
            </a:r>
            <a:r>
              <a:rPr sz="2400" spc="-10" dirty="0">
                <a:latin typeface="Calibri"/>
                <a:cs typeface="Calibri"/>
              </a:rPr>
              <a:t>completed 	</a:t>
            </a:r>
            <a:r>
              <a:rPr sz="2400" dirty="0">
                <a:latin typeface="Calibri"/>
                <a:cs typeface="Calibri"/>
              </a:rPr>
              <a:t>on</a:t>
            </a:r>
            <a:r>
              <a:rPr sz="2400" spc="-65" dirty="0">
                <a:latin typeface="Calibri"/>
                <a:cs typeface="Calibri"/>
              </a:rPr>
              <a:t> </a:t>
            </a:r>
            <a:r>
              <a:rPr sz="2400" dirty="0">
                <a:latin typeface="Calibri"/>
                <a:cs typeface="Calibri"/>
              </a:rPr>
              <a:t>time,</a:t>
            </a:r>
            <a:r>
              <a:rPr sz="2400" spc="-65" dirty="0">
                <a:latin typeface="Calibri"/>
                <a:cs typeface="Calibri"/>
              </a:rPr>
              <a:t> </a:t>
            </a:r>
            <a:r>
              <a:rPr sz="2400" dirty="0">
                <a:latin typeface="Calibri"/>
                <a:cs typeface="Calibri"/>
              </a:rPr>
              <a:t>within</a:t>
            </a:r>
            <a:r>
              <a:rPr sz="2400" spc="-60" dirty="0">
                <a:latin typeface="Calibri"/>
                <a:cs typeface="Calibri"/>
              </a:rPr>
              <a:t> </a:t>
            </a:r>
            <a:r>
              <a:rPr sz="2400" dirty="0">
                <a:latin typeface="Calibri"/>
                <a:cs typeface="Calibri"/>
              </a:rPr>
              <a:t>budget,</a:t>
            </a:r>
            <a:r>
              <a:rPr sz="2400" spc="-6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according</a:t>
            </a:r>
            <a:r>
              <a:rPr sz="2400" spc="-70"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technical</a:t>
            </a:r>
            <a:r>
              <a:rPr sz="2400" spc="-70" dirty="0">
                <a:latin typeface="Calibri"/>
                <a:cs typeface="Calibri"/>
              </a:rPr>
              <a:t> </a:t>
            </a:r>
            <a:r>
              <a:rPr sz="2400" spc="-10" dirty="0">
                <a:latin typeface="Calibri"/>
                <a:cs typeface="Calibri"/>
              </a:rPr>
              <a:t>specifications.</a:t>
            </a:r>
            <a:endParaRPr sz="2400" dirty="0">
              <a:latin typeface="Calibri"/>
              <a:cs typeface="Calibri"/>
            </a:endParaRPr>
          </a:p>
          <a:p>
            <a:pPr marL="159385" indent="-146685">
              <a:lnSpc>
                <a:spcPts val="2785"/>
              </a:lnSpc>
              <a:buFont typeface="Arial MT"/>
              <a:buChar char="•"/>
              <a:tabLst>
                <a:tab pos="159385" algn="l"/>
              </a:tabLst>
            </a:pPr>
            <a:r>
              <a:rPr sz="2400" dirty="0">
                <a:solidFill>
                  <a:srgbClr val="262EA4"/>
                </a:solidFill>
                <a:latin typeface="Calibri"/>
                <a:cs typeface="Calibri"/>
              </a:rPr>
              <a:t>Practice</a:t>
            </a:r>
            <a:r>
              <a:rPr sz="2400" spc="35" dirty="0">
                <a:solidFill>
                  <a:srgbClr val="262EA4"/>
                </a:solidFill>
                <a:latin typeface="Calibri"/>
                <a:cs typeface="Calibri"/>
              </a:rPr>
              <a:t> </a:t>
            </a:r>
            <a:r>
              <a:rPr sz="2400" dirty="0">
                <a:solidFill>
                  <a:srgbClr val="262EA4"/>
                </a:solidFill>
                <a:latin typeface="Calibri"/>
                <a:cs typeface="Calibri"/>
              </a:rPr>
              <a:t>suggests</a:t>
            </a:r>
            <a:r>
              <a:rPr sz="2400" spc="40" dirty="0">
                <a:solidFill>
                  <a:srgbClr val="262EA4"/>
                </a:solidFill>
                <a:latin typeface="Calibri"/>
                <a:cs typeface="Calibri"/>
              </a:rPr>
              <a:t> </a:t>
            </a:r>
            <a:r>
              <a:rPr sz="2400" dirty="0">
                <a:solidFill>
                  <a:srgbClr val="262EA4"/>
                </a:solidFill>
                <a:latin typeface="Calibri"/>
                <a:cs typeface="Calibri"/>
              </a:rPr>
              <a:t>a</a:t>
            </a:r>
            <a:r>
              <a:rPr sz="2400" spc="45" dirty="0">
                <a:solidFill>
                  <a:srgbClr val="262EA4"/>
                </a:solidFill>
                <a:latin typeface="Calibri"/>
                <a:cs typeface="Calibri"/>
              </a:rPr>
              <a:t> </a:t>
            </a:r>
            <a:r>
              <a:rPr sz="2400" dirty="0">
                <a:solidFill>
                  <a:srgbClr val="262EA4"/>
                </a:solidFill>
                <a:latin typeface="Calibri"/>
                <a:cs typeface="Calibri"/>
              </a:rPr>
              <a:t>work</a:t>
            </a:r>
            <a:r>
              <a:rPr sz="2400" spc="40" dirty="0">
                <a:solidFill>
                  <a:srgbClr val="262EA4"/>
                </a:solidFill>
                <a:latin typeface="Calibri"/>
                <a:cs typeface="Calibri"/>
              </a:rPr>
              <a:t> </a:t>
            </a:r>
            <a:r>
              <a:rPr sz="2400" dirty="0">
                <a:solidFill>
                  <a:srgbClr val="262EA4"/>
                </a:solidFill>
                <a:latin typeface="Calibri"/>
                <a:cs typeface="Calibri"/>
              </a:rPr>
              <a:t>package</a:t>
            </a:r>
            <a:r>
              <a:rPr sz="2400" spc="50" dirty="0">
                <a:solidFill>
                  <a:srgbClr val="262EA4"/>
                </a:solidFill>
                <a:latin typeface="Calibri"/>
                <a:cs typeface="Calibri"/>
              </a:rPr>
              <a:t> </a:t>
            </a:r>
            <a:r>
              <a:rPr sz="2400" dirty="0">
                <a:solidFill>
                  <a:srgbClr val="262EA4"/>
                </a:solidFill>
                <a:latin typeface="Calibri"/>
                <a:cs typeface="Calibri"/>
              </a:rPr>
              <a:t>should</a:t>
            </a:r>
            <a:r>
              <a:rPr sz="2400" spc="45" dirty="0">
                <a:solidFill>
                  <a:srgbClr val="262EA4"/>
                </a:solidFill>
                <a:latin typeface="Calibri"/>
                <a:cs typeface="Calibri"/>
              </a:rPr>
              <a:t> </a:t>
            </a:r>
            <a:r>
              <a:rPr sz="2400" dirty="0">
                <a:solidFill>
                  <a:srgbClr val="262EA4"/>
                </a:solidFill>
                <a:latin typeface="Calibri"/>
                <a:cs typeface="Calibri"/>
              </a:rPr>
              <a:t>not</a:t>
            </a:r>
            <a:r>
              <a:rPr sz="2400" spc="40" dirty="0">
                <a:solidFill>
                  <a:srgbClr val="262EA4"/>
                </a:solidFill>
                <a:latin typeface="Calibri"/>
                <a:cs typeface="Calibri"/>
              </a:rPr>
              <a:t> </a:t>
            </a:r>
            <a:r>
              <a:rPr sz="2400" dirty="0">
                <a:solidFill>
                  <a:srgbClr val="262EA4"/>
                </a:solidFill>
                <a:latin typeface="Calibri"/>
                <a:cs typeface="Calibri"/>
              </a:rPr>
              <a:t>exceed</a:t>
            </a:r>
            <a:r>
              <a:rPr sz="2400" spc="45" dirty="0">
                <a:solidFill>
                  <a:srgbClr val="262EA4"/>
                </a:solidFill>
                <a:latin typeface="Calibri"/>
                <a:cs typeface="Calibri"/>
              </a:rPr>
              <a:t> </a:t>
            </a:r>
            <a:r>
              <a:rPr sz="2400" u="heavy" dirty="0">
                <a:solidFill>
                  <a:srgbClr val="262EA4"/>
                </a:solidFill>
                <a:uFill>
                  <a:solidFill>
                    <a:srgbClr val="262EA4"/>
                  </a:solidFill>
                </a:uFill>
                <a:latin typeface="Calibri"/>
                <a:cs typeface="Calibri"/>
              </a:rPr>
              <a:t>10</a:t>
            </a:r>
            <a:r>
              <a:rPr sz="2400" u="heavy" spc="40" dirty="0">
                <a:solidFill>
                  <a:srgbClr val="262EA4"/>
                </a:solidFill>
                <a:uFill>
                  <a:solidFill>
                    <a:srgbClr val="262EA4"/>
                  </a:solidFill>
                </a:uFill>
                <a:latin typeface="Calibri"/>
                <a:cs typeface="Calibri"/>
              </a:rPr>
              <a:t> </a:t>
            </a:r>
            <a:r>
              <a:rPr sz="2400" u="heavy" dirty="0">
                <a:solidFill>
                  <a:srgbClr val="262EA4"/>
                </a:solidFill>
                <a:uFill>
                  <a:solidFill>
                    <a:srgbClr val="262EA4"/>
                  </a:solidFill>
                </a:uFill>
                <a:latin typeface="Calibri"/>
                <a:cs typeface="Calibri"/>
              </a:rPr>
              <a:t>workdays</a:t>
            </a:r>
            <a:r>
              <a:rPr sz="2400" spc="45" dirty="0">
                <a:solidFill>
                  <a:srgbClr val="262EA4"/>
                </a:solidFill>
                <a:latin typeface="Calibri"/>
                <a:cs typeface="Calibri"/>
              </a:rPr>
              <a:t> </a:t>
            </a:r>
            <a:r>
              <a:rPr sz="2400" dirty="0">
                <a:solidFill>
                  <a:srgbClr val="262EA4"/>
                </a:solidFill>
                <a:latin typeface="Calibri"/>
                <a:cs typeface="Calibri"/>
              </a:rPr>
              <a:t>or</a:t>
            </a:r>
            <a:r>
              <a:rPr sz="2400" spc="40" dirty="0">
                <a:solidFill>
                  <a:srgbClr val="262EA4"/>
                </a:solidFill>
                <a:latin typeface="Calibri"/>
                <a:cs typeface="Calibri"/>
              </a:rPr>
              <a:t> </a:t>
            </a:r>
            <a:r>
              <a:rPr sz="2400" dirty="0">
                <a:solidFill>
                  <a:srgbClr val="262EA4"/>
                </a:solidFill>
                <a:latin typeface="Calibri"/>
                <a:cs typeface="Calibri"/>
              </a:rPr>
              <a:t>one</a:t>
            </a:r>
            <a:r>
              <a:rPr sz="2400" spc="50" dirty="0">
                <a:solidFill>
                  <a:srgbClr val="262EA4"/>
                </a:solidFill>
                <a:latin typeface="Calibri"/>
                <a:cs typeface="Calibri"/>
              </a:rPr>
              <a:t> </a:t>
            </a:r>
            <a:r>
              <a:rPr sz="2400" spc="-10" dirty="0">
                <a:solidFill>
                  <a:srgbClr val="262EA4"/>
                </a:solidFill>
                <a:latin typeface="Calibri"/>
                <a:cs typeface="Calibri"/>
              </a:rPr>
              <a:t>reporting</a:t>
            </a:r>
            <a:endParaRPr sz="2400" dirty="0">
              <a:latin typeface="Calibri"/>
              <a:cs typeface="Calibri"/>
            </a:endParaRPr>
          </a:p>
          <a:p>
            <a:pPr marL="160020">
              <a:lnSpc>
                <a:spcPct val="100000"/>
              </a:lnSpc>
              <a:spcBef>
                <a:spcPts val="25"/>
              </a:spcBef>
            </a:pPr>
            <a:r>
              <a:rPr sz="2400" spc="-10" dirty="0">
                <a:solidFill>
                  <a:srgbClr val="262EA4"/>
                </a:solidFill>
                <a:latin typeface="Calibri"/>
                <a:cs typeface="Calibri"/>
              </a:rPr>
              <a:t>period.</a:t>
            </a:r>
            <a:endParaRPr sz="2400" dirty="0">
              <a:latin typeface="Calibri"/>
              <a:cs typeface="Calibri"/>
            </a:endParaRPr>
          </a:p>
          <a:p>
            <a:pPr marL="158750" marR="5080" indent="-146685" algn="just">
              <a:lnSpc>
                <a:spcPct val="100800"/>
              </a:lnSpc>
              <a:buFont typeface="Arial MT"/>
              <a:buChar char="•"/>
              <a:tabLst>
                <a:tab pos="160020" algn="l"/>
              </a:tabLst>
            </a:pPr>
            <a:r>
              <a:rPr sz="2400" dirty="0">
                <a:latin typeface="Calibri"/>
                <a:cs typeface="Calibri"/>
              </a:rPr>
              <a:t>If</a:t>
            </a:r>
            <a:r>
              <a:rPr sz="2400" spc="260" dirty="0">
                <a:latin typeface="Calibri"/>
                <a:cs typeface="Calibri"/>
              </a:rPr>
              <a:t> </a:t>
            </a:r>
            <a:r>
              <a:rPr sz="2400" dirty="0">
                <a:latin typeface="Calibri"/>
                <a:cs typeface="Calibri"/>
              </a:rPr>
              <a:t>a</a:t>
            </a:r>
            <a:r>
              <a:rPr sz="2400" spc="260" dirty="0">
                <a:latin typeface="Calibri"/>
                <a:cs typeface="Calibri"/>
              </a:rPr>
              <a:t> </a:t>
            </a:r>
            <a:r>
              <a:rPr sz="2400" dirty="0">
                <a:latin typeface="Calibri"/>
                <a:cs typeface="Calibri"/>
              </a:rPr>
              <a:t>work</a:t>
            </a:r>
            <a:r>
              <a:rPr sz="2400" spc="254" dirty="0">
                <a:latin typeface="Calibri"/>
                <a:cs typeface="Calibri"/>
              </a:rPr>
              <a:t> </a:t>
            </a:r>
            <a:r>
              <a:rPr sz="2400" dirty="0">
                <a:latin typeface="Calibri"/>
                <a:cs typeface="Calibri"/>
              </a:rPr>
              <a:t>package</a:t>
            </a:r>
            <a:r>
              <a:rPr sz="2400" spc="265" dirty="0">
                <a:latin typeface="Calibri"/>
                <a:cs typeface="Calibri"/>
              </a:rPr>
              <a:t> </a:t>
            </a:r>
            <a:r>
              <a:rPr sz="2400" dirty="0">
                <a:latin typeface="Calibri"/>
                <a:cs typeface="Calibri"/>
              </a:rPr>
              <a:t>has</a:t>
            </a:r>
            <a:r>
              <a:rPr sz="2400" spc="254" dirty="0">
                <a:latin typeface="Calibri"/>
                <a:cs typeface="Calibri"/>
              </a:rPr>
              <a:t> </a:t>
            </a:r>
            <a:r>
              <a:rPr sz="2400" dirty="0">
                <a:latin typeface="Calibri"/>
                <a:cs typeface="Calibri"/>
              </a:rPr>
              <a:t>a</a:t>
            </a:r>
            <a:r>
              <a:rPr sz="2400" spc="260" dirty="0">
                <a:latin typeface="Calibri"/>
                <a:cs typeface="Calibri"/>
              </a:rPr>
              <a:t> </a:t>
            </a:r>
            <a:r>
              <a:rPr sz="2400" dirty="0">
                <a:latin typeface="Calibri"/>
                <a:cs typeface="Calibri"/>
              </a:rPr>
              <a:t>duration</a:t>
            </a:r>
            <a:r>
              <a:rPr sz="2400" spc="260" dirty="0">
                <a:latin typeface="Calibri"/>
                <a:cs typeface="Calibri"/>
              </a:rPr>
              <a:t> </a:t>
            </a:r>
            <a:r>
              <a:rPr sz="2400" dirty="0">
                <a:latin typeface="Calibri"/>
                <a:cs typeface="Calibri"/>
              </a:rPr>
              <a:t>exceeding</a:t>
            </a:r>
            <a:r>
              <a:rPr sz="2400" spc="254" dirty="0">
                <a:latin typeface="Calibri"/>
                <a:cs typeface="Calibri"/>
              </a:rPr>
              <a:t> </a:t>
            </a:r>
            <a:r>
              <a:rPr sz="2400" dirty="0">
                <a:latin typeface="Calibri"/>
                <a:cs typeface="Calibri"/>
              </a:rPr>
              <a:t>10</a:t>
            </a:r>
            <a:r>
              <a:rPr sz="2400" spc="254" dirty="0">
                <a:latin typeface="Calibri"/>
                <a:cs typeface="Calibri"/>
              </a:rPr>
              <a:t> </a:t>
            </a:r>
            <a:r>
              <a:rPr sz="2400" dirty="0">
                <a:latin typeface="Calibri"/>
                <a:cs typeface="Calibri"/>
              </a:rPr>
              <a:t>days,</a:t>
            </a:r>
            <a:r>
              <a:rPr sz="2400" spc="254" dirty="0">
                <a:latin typeface="Calibri"/>
                <a:cs typeface="Calibri"/>
              </a:rPr>
              <a:t> </a:t>
            </a:r>
            <a:r>
              <a:rPr sz="2400" dirty="0">
                <a:latin typeface="Calibri"/>
                <a:cs typeface="Calibri"/>
              </a:rPr>
              <a:t>check</a:t>
            </a:r>
            <a:r>
              <a:rPr sz="2400" spc="254" dirty="0">
                <a:latin typeface="Calibri"/>
                <a:cs typeface="Calibri"/>
              </a:rPr>
              <a:t> </a:t>
            </a:r>
            <a:r>
              <a:rPr sz="2400" dirty="0">
                <a:latin typeface="Calibri"/>
                <a:cs typeface="Calibri"/>
              </a:rPr>
              <a:t>or</a:t>
            </a:r>
            <a:r>
              <a:rPr sz="2400" spc="254" dirty="0">
                <a:latin typeface="Calibri"/>
                <a:cs typeface="Calibri"/>
              </a:rPr>
              <a:t> </a:t>
            </a:r>
            <a:r>
              <a:rPr sz="2400" dirty="0">
                <a:latin typeface="Calibri"/>
                <a:cs typeface="Calibri"/>
              </a:rPr>
              <a:t>monitoring</a:t>
            </a:r>
            <a:r>
              <a:rPr sz="2400" spc="254" dirty="0">
                <a:latin typeface="Calibri"/>
                <a:cs typeface="Calibri"/>
              </a:rPr>
              <a:t> </a:t>
            </a:r>
            <a:r>
              <a:rPr sz="2400" spc="-10" dirty="0">
                <a:latin typeface="Calibri"/>
                <a:cs typeface="Calibri"/>
              </a:rPr>
              <a:t>points 	</a:t>
            </a:r>
            <a:r>
              <a:rPr sz="2400" dirty="0">
                <a:latin typeface="Calibri"/>
                <a:cs typeface="Calibri"/>
              </a:rPr>
              <a:t>should</a:t>
            </a:r>
            <a:r>
              <a:rPr sz="2400" spc="-40" dirty="0">
                <a:latin typeface="Calibri"/>
                <a:cs typeface="Calibri"/>
              </a:rPr>
              <a:t> </a:t>
            </a:r>
            <a:r>
              <a:rPr sz="2400" dirty="0">
                <a:latin typeface="Calibri"/>
                <a:cs typeface="Calibri"/>
              </a:rPr>
              <a:t>be</a:t>
            </a:r>
            <a:r>
              <a:rPr sz="2400" spc="-40" dirty="0">
                <a:latin typeface="Calibri"/>
                <a:cs typeface="Calibri"/>
              </a:rPr>
              <a:t> </a:t>
            </a:r>
            <a:r>
              <a:rPr sz="2400" dirty="0">
                <a:latin typeface="Calibri"/>
                <a:cs typeface="Calibri"/>
              </a:rPr>
              <a:t>established</a:t>
            </a:r>
            <a:r>
              <a:rPr sz="2400" spc="-40" dirty="0">
                <a:latin typeface="Calibri"/>
                <a:cs typeface="Calibri"/>
              </a:rPr>
              <a:t> </a:t>
            </a:r>
            <a:r>
              <a:rPr sz="2400" dirty="0">
                <a:latin typeface="Calibri"/>
                <a:cs typeface="Calibri"/>
              </a:rPr>
              <a:t>within</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duration,</a:t>
            </a:r>
            <a:r>
              <a:rPr sz="2400" spc="-40" dirty="0">
                <a:latin typeface="Calibri"/>
                <a:cs typeface="Calibri"/>
              </a:rPr>
              <a:t> </a:t>
            </a:r>
            <a:r>
              <a:rPr sz="2400" spc="-35" dirty="0">
                <a:latin typeface="Calibri"/>
                <a:cs typeface="Calibri"/>
              </a:rPr>
              <a:t>say,</a:t>
            </a:r>
            <a:r>
              <a:rPr sz="2400" spc="-40" dirty="0">
                <a:latin typeface="Calibri"/>
                <a:cs typeface="Calibri"/>
              </a:rPr>
              <a:t> </a:t>
            </a:r>
            <a:r>
              <a:rPr sz="2400" dirty="0">
                <a:latin typeface="Calibri"/>
                <a:cs typeface="Calibri"/>
              </a:rPr>
              <a:t>every</a:t>
            </a:r>
            <a:r>
              <a:rPr sz="2400" spc="-45" dirty="0">
                <a:latin typeface="Calibri"/>
                <a:cs typeface="Calibri"/>
              </a:rPr>
              <a:t> </a:t>
            </a:r>
            <a:r>
              <a:rPr sz="2400" dirty="0">
                <a:latin typeface="Calibri"/>
                <a:cs typeface="Calibri"/>
              </a:rPr>
              <a:t>three</a:t>
            </a:r>
            <a:r>
              <a:rPr sz="2400" spc="-35"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five</a:t>
            </a:r>
            <a:r>
              <a:rPr sz="2400" spc="-40" dirty="0">
                <a:latin typeface="Calibri"/>
                <a:cs typeface="Calibri"/>
              </a:rPr>
              <a:t> </a:t>
            </a:r>
            <a:r>
              <a:rPr sz="2400" dirty="0">
                <a:latin typeface="Calibri"/>
                <a:cs typeface="Calibri"/>
              </a:rPr>
              <a:t>days,</a:t>
            </a:r>
            <a:r>
              <a:rPr sz="2400" spc="-40" dirty="0">
                <a:latin typeface="Calibri"/>
                <a:cs typeface="Calibri"/>
              </a:rPr>
              <a:t> </a:t>
            </a:r>
            <a:r>
              <a:rPr sz="2400" dirty="0">
                <a:latin typeface="Calibri"/>
                <a:cs typeface="Calibri"/>
              </a:rPr>
              <a:t>so</a:t>
            </a:r>
            <a:r>
              <a:rPr sz="2400" spc="-45" dirty="0">
                <a:latin typeface="Calibri"/>
                <a:cs typeface="Calibri"/>
              </a:rPr>
              <a:t> </a:t>
            </a:r>
            <a:r>
              <a:rPr sz="2400" spc="-10" dirty="0">
                <a:latin typeface="Calibri"/>
                <a:cs typeface="Calibri"/>
              </a:rPr>
              <a:t>progress 	</a:t>
            </a:r>
            <a:r>
              <a:rPr sz="2400" dirty="0">
                <a:latin typeface="Calibri"/>
                <a:cs typeface="Calibri"/>
              </a:rPr>
              <a:t>and</a:t>
            </a:r>
            <a:r>
              <a:rPr sz="2400" spc="-65" dirty="0">
                <a:latin typeface="Calibri"/>
                <a:cs typeface="Calibri"/>
              </a:rPr>
              <a:t> </a:t>
            </a:r>
            <a:r>
              <a:rPr sz="2400" dirty="0">
                <a:latin typeface="Calibri"/>
                <a:cs typeface="Calibri"/>
              </a:rPr>
              <a:t>problems</a:t>
            </a:r>
            <a:r>
              <a:rPr sz="2400" spc="-65" dirty="0">
                <a:latin typeface="Calibri"/>
                <a:cs typeface="Calibri"/>
              </a:rPr>
              <a:t> </a:t>
            </a:r>
            <a:r>
              <a:rPr sz="2400" dirty="0">
                <a:latin typeface="Calibri"/>
                <a:cs typeface="Calibri"/>
              </a:rPr>
              <a:t>can</a:t>
            </a:r>
            <a:r>
              <a:rPr sz="2400" spc="-60" dirty="0">
                <a:latin typeface="Calibri"/>
                <a:cs typeface="Calibri"/>
              </a:rPr>
              <a:t> </a:t>
            </a:r>
            <a:r>
              <a:rPr sz="2400" dirty="0">
                <a:latin typeface="Calibri"/>
                <a:cs typeface="Calibri"/>
              </a:rPr>
              <a:t>be</a:t>
            </a:r>
            <a:r>
              <a:rPr sz="2400" spc="-60" dirty="0">
                <a:latin typeface="Calibri"/>
                <a:cs typeface="Calibri"/>
              </a:rPr>
              <a:t> </a:t>
            </a:r>
            <a:r>
              <a:rPr sz="2400" dirty="0">
                <a:latin typeface="Calibri"/>
                <a:cs typeface="Calibri"/>
              </a:rPr>
              <a:t>identified</a:t>
            </a:r>
            <a:r>
              <a:rPr sz="2400" spc="-65" dirty="0">
                <a:latin typeface="Calibri"/>
                <a:cs typeface="Calibri"/>
              </a:rPr>
              <a:t> </a:t>
            </a:r>
            <a:r>
              <a:rPr sz="2400" spc="-10" dirty="0">
                <a:latin typeface="Calibri"/>
                <a:cs typeface="Calibri"/>
              </a:rPr>
              <a:t>before</a:t>
            </a:r>
            <a:r>
              <a:rPr sz="2400" spc="-60" dirty="0">
                <a:latin typeface="Calibri"/>
                <a:cs typeface="Calibri"/>
              </a:rPr>
              <a:t> </a:t>
            </a:r>
            <a:r>
              <a:rPr sz="2400" dirty="0">
                <a:latin typeface="Calibri"/>
                <a:cs typeface="Calibri"/>
              </a:rPr>
              <a:t>too</a:t>
            </a:r>
            <a:r>
              <a:rPr sz="2400" spc="-65" dirty="0">
                <a:latin typeface="Calibri"/>
                <a:cs typeface="Calibri"/>
              </a:rPr>
              <a:t> </a:t>
            </a:r>
            <a:r>
              <a:rPr sz="2400" dirty="0">
                <a:latin typeface="Calibri"/>
                <a:cs typeface="Calibri"/>
              </a:rPr>
              <a:t>much</a:t>
            </a:r>
            <a:r>
              <a:rPr sz="2400" spc="-60" dirty="0">
                <a:latin typeface="Calibri"/>
                <a:cs typeface="Calibri"/>
              </a:rPr>
              <a:t> </a:t>
            </a:r>
            <a:r>
              <a:rPr sz="2400" dirty="0">
                <a:latin typeface="Calibri"/>
                <a:cs typeface="Calibri"/>
              </a:rPr>
              <a:t>time</a:t>
            </a:r>
            <a:r>
              <a:rPr sz="2400" spc="-60" dirty="0">
                <a:latin typeface="Calibri"/>
                <a:cs typeface="Calibri"/>
              </a:rPr>
              <a:t> </a:t>
            </a:r>
            <a:r>
              <a:rPr sz="2400" dirty="0">
                <a:latin typeface="Calibri"/>
                <a:cs typeface="Calibri"/>
              </a:rPr>
              <a:t>has</a:t>
            </a:r>
            <a:r>
              <a:rPr sz="2400" spc="-65" dirty="0">
                <a:latin typeface="Calibri"/>
                <a:cs typeface="Calibri"/>
              </a:rPr>
              <a:t> </a:t>
            </a:r>
            <a:r>
              <a:rPr sz="2400" spc="-10" dirty="0">
                <a:latin typeface="Calibri"/>
                <a:cs typeface="Calibri"/>
              </a:rPr>
              <a:t>passed.</a:t>
            </a:r>
            <a:endParaRPr sz="2400" dirty="0">
              <a:latin typeface="Calibri"/>
              <a:cs typeface="Calibri"/>
            </a:endParaRPr>
          </a:p>
          <a:p>
            <a:pPr marL="159385" indent="-146685" algn="just">
              <a:lnSpc>
                <a:spcPts val="2785"/>
              </a:lnSpc>
              <a:buFont typeface="Arial MT"/>
              <a:buChar char="•"/>
              <a:tabLst>
                <a:tab pos="159385" algn="l"/>
              </a:tabLst>
            </a:pPr>
            <a:r>
              <a:rPr sz="2400" dirty="0">
                <a:solidFill>
                  <a:srgbClr val="262EA4"/>
                </a:solidFill>
                <a:latin typeface="Calibri"/>
                <a:cs typeface="Calibri"/>
              </a:rPr>
              <a:t>Each</a:t>
            </a:r>
            <a:r>
              <a:rPr sz="2400" spc="35" dirty="0">
                <a:solidFill>
                  <a:srgbClr val="262EA4"/>
                </a:solidFill>
                <a:latin typeface="Calibri"/>
                <a:cs typeface="Calibri"/>
              </a:rPr>
              <a:t> </a:t>
            </a:r>
            <a:r>
              <a:rPr sz="2400" dirty="0">
                <a:solidFill>
                  <a:srgbClr val="262EA4"/>
                </a:solidFill>
                <a:latin typeface="Calibri"/>
                <a:cs typeface="Calibri"/>
              </a:rPr>
              <a:t>work</a:t>
            </a:r>
            <a:r>
              <a:rPr sz="2400" spc="35" dirty="0">
                <a:solidFill>
                  <a:srgbClr val="262EA4"/>
                </a:solidFill>
                <a:latin typeface="Calibri"/>
                <a:cs typeface="Calibri"/>
              </a:rPr>
              <a:t> </a:t>
            </a:r>
            <a:r>
              <a:rPr sz="2400" dirty="0">
                <a:solidFill>
                  <a:srgbClr val="262EA4"/>
                </a:solidFill>
                <a:latin typeface="Calibri"/>
                <a:cs typeface="Calibri"/>
              </a:rPr>
              <a:t>package</a:t>
            </a:r>
            <a:r>
              <a:rPr sz="2400" spc="40" dirty="0">
                <a:solidFill>
                  <a:srgbClr val="262EA4"/>
                </a:solidFill>
                <a:latin typeface="Calibri"/>
                <a:cs typeface="Calibri"/>
              </a:rPr>
              <a:t> </a:t>
            </a:r>
            <a:r>
              <a:rPr sz="2400" dirty="0">
                <a:solidFill>
                  <a:srgbClr val="262EA4"/>
                </a:solidFill>
                <a:latin typeface="Calibri"/>
                <a:cs typeface="Calibri"/>
              </a:rPr>
              <a:t>of</a:t>
            </a:r>
            <a:r>
              <a:rPr sz="2400" spc="40" dirty="0">
                <a:solidFill>
                  <a:srgbClr val="262EA4"/>
                </a:solidFill>
                <a:latin typeface="Calibri"/>
                <a:cs typeface="Calibri"/>
              </a:rPr>
              <a:t> </a:t>
            </a:r>
            <a:r>
              <a:rPr sz="2400" dirty="0">
                <a:solidFill>
                  <a:srgbClr val="262EA4"/>
                </a:solidFill>
                <a:latin typeface="Calibri"/>
                <a:cs typeface="Calibri"/>
              </a:rPr>
              <a:t>the</a:t>
            </a:r>
            <a:r>
              <a:rPr sz="2400" spc="45" dirty="0">
                <a:solidFill>
                  <a:srgbClr val="262EA4"/>
                </a:solidFill>
                <a:latin typeface="Calibri"/>
                <a:cs typeface="Calibri"/>
              </a:rPr>
              <a:t> </a:t>
            </a:r>
            <a:r>
              <a:rPr sz="2400" dirty="0">
                <a:solidFill>
                  <a:srgbClr val="262EA4"/>
                </a:solidFill>
                <a:latin typeface="Calibri"/>
                <a:cs typeface="Calibri"/>
              </a:rPr>
              <a:t>WBS</a:t>
            </a:r>
            <a:r>
              <a:rPr sz="2400" spc="30" dirty="0">
                <a:solidFill>
                  <a:srgbClr val="262EA4"/>
                </a:solidFill>
                <a:latin typeface="Calibri"/>
                <a:cs typeface="Calibri"/>
              </a:rPr>
              <a:t> </a:t>
            </a:r>
            <a:r>
              <a:rPr sz="2400" dirty="0">
                <a:solidFill>
                  <a:srgbClr val="262EA4"/>
                </a:solidFill>
                <a:latin typeface="Calibri"/>
                <a:cs typeface="Calibri"/>
              </a:rPr>
              <a:t>should</a:t>
            </a:r>
            <a:r>
              <a:rPr sz="2400" spc="40" dirty="0">
                <a:solidFill>
                  <a:srgbClr val="262EA4"/>
                </a:solidFill>
                <a:latin typeface="Calibri"/>
                <a:cs typeface="Calibri"/>
              </a:rPr>
              <a:t> </a:t>
            </a:r>
            <a:r>
              <a:rPr sz="2400" dirty="0">
                <a:solidFill>
                  <a:srgbClr val="262EA4"/>
                </a:solidFill>
                <a:latin typeface="Calibri"/>
                <a:cs typeface="Calibri"/>
              </a:rPr>
              <a:t>be</a:t>
            </a:r>
            <a:r>
              <a:rPr sz="2400" spc="40" dirty="0">
                <a:solidFill>
                  <a:srgbClr val="262EA4"/>
                </a:solidFill>
                <a:latin typeface="Calibri"/>
                <a:cs typeface="Calibri"/>
              </a:rPr>
              <a:t> </a:t>
            </a:r>
            <a:r>
              <a:rPr sz="2400" dirty="0">
                <a:solidFill>
                  <a:srgbClr val="262EA4"/>
                </a:solidFill>
                <a:latin typeface="Calibri"/>
                <a:cs typeface="Calibri"/>
              </a:rPr>
              <a:t>as</a:t>
            </a:r>
            <a:r>
              <a:rPr sz="2400" spc="30" dirty="0">
                <a:solidFill>
                  <a:srgbClr val="262EA4"/>
                </a:solidFill>
                <a:latin typeface="Calibri"/>
                <a:cs typeface="Calibri"/>
              </a:rPr>
              <a:t> </a:t>
            </a:r>
            <a:r>
              <a:rPr sz="2400" dirty="0">
                <a:solidFill>
                  <a:srgbClr val="262EA4"/>
                </a:solidFill>
                <a:latin typeface="Calibri"/>
                <a:cs typeface="Calibri"/>
              </a:rPr>
              <a:t>independent</a:t>
            </a:r>
            <a:r>
              <a:rPr sz="2400" spc="30" dirty="0">
                <a:solidFill>
                  <a:srgbClr val="262EA4"/>
                </a:solidFill>
                <a:latin typeface="Calibri"/>
                <a:cs typeface="Calibri"/>
              </a:rPr>
              <a:t> </a:t>
            </a:r>
            <a:r>
              <a:rPr sz="2400" dirty="0">
                <a:solidFill>
                  <a:srgbClr val="262EA4"/>
                </a:solidFill>
                <a:latin typeface="Calibri"/>
                <a:cs typeface="Calibri"/>
              </a:rPr>
              <a:t>of</a:t>
            </a:r>
            <a:r>
              <a:rPr sz="2400" spc="45" dirty="0">
                <a:solidFill>
                  <a:srgbClr val="262EA4"/>
                </a:solidFill>
                <a:latin typeface="Calibri"/>
                <a:cs typeface="Calibri"/>
              </a:rPr>
              <a:t> </a:t>
            </a:r>
            <a:r>
              <a:rPr sz="2400" dirty="0">
                <a:solidFill>
                  <a:srgbClr val="262EA4"/>
                </a:solidFill>
                <a:latin typeface="Calibri"/>
                <a:cs typeface="Calibri"/>
              </a:rPr>
              <a:t>other</a:t>
            </a:r>
            <a:r>
              <a:rPr sz="2400" spc="35" dirty="0">
                <a:solidFill>
                  <a:srgbClr val="262EA4"/>
                </a:solidFill>
                <a:latin typeface="Calibri"/>
                <a:cs typeface="Calibri"/>
              </a:rPr>
              <a:t> </a:t>
            </a:r>
            <a:r>
              <a:rPr sz="2400" dirty="0">
                <a:solidFill>
                  <a:srgbClr val="262EA4"/>
                </a:solidFill>
                <a:latin typeface="Calibri"/>
                <a:cs typeface="Calibri"/>
              </a:rPr>
              <a:t>packages</a:t>
            </a:r>
            <a:r>
              <a:rPr sz="2400" spc="40" dirty="0">
                <a:solidFill>
                  <a:srgbClr val="262EA4"/>
                </a:solidFill>
                <a:latin typeface="Calibri"/>
                <a:cs typeface="Calibri"/>
              </a:rPr>
              <a:t> </a:t>
            </a:r>
            <a:r>
              <a:rPr sz="2400" dirty="0">
                <a:solidFill>
                  <a:srgbClr val="262EA4"/>
                </a:solidFill>
                <a:latin typeface="Calibri"/>
                <a:cs typeface="Calibri"/>
              </a:rPr>
              <a:t>of</a:t>
            </a:r>
            <a:r>
              <a:rPr sz="2400" spc="40" dirty="0">
                <a:solidFill>
                  <a:srgbClr val="262EA4"/>
                </a:solidFill>
                <a:latin typeface="Calibri"/>
                <a:cs typeface="Calibri"/>
              </a:rPr>
              <a:t> </a:t>
            </a:r>
            <a:r>
              <a:rPr sz="2400" spc="-25" dirty="0">
                <a:solidFill>
                  <a:srgbClr val="262EA4"/>
                </a:solidFill>
                <a:latin typeface="Calibri"/>
                <a:cs typeface="Calibri"/>
              </a:rPr>
              <a:t>the</a:t>
            </a:r>
            <a:endParaRPr sz="2400" dirty="0">
              <a:latin typeface="Calibri"/>
              <a:cs typeface="Calibri"/>
            </a:endParaRPr>
          </a:p>
          <a:p>
            <a:pPr marL="160020" algn="just">
              <a:lnSpc>
                <a:spcPct val="100000"/>
              </a:lnSpc>
              <a:spcBef>
                <a:spcPts val="25"/>
              </a:spcBef>
            </a:pPr>
            <a:r>
              <a:rPr sz="2400" dirty="0">
                <a:solidFill>
                  <a:srgbClr val="262EA4"/>
                </a:solidFill>
                <a:latin typeface="Calibri"/>
                <a:cs typeface="Calibri"/>
              </a:rPr>
              <a:t>project</a:t>
            </a:r>
            <a:r>
              <a:rPr sz="2400" spc="-60" dirty="0">
                <a:solidFill>
                  <a:srgbClr val="262EA4"/>
                </a:solidFill>
                <a:latin typeface="Calibri"/>
                <a:cs typeface="Calibri"/>
              </a:rPr>
              <a:t> </a:t>
            </a:r>
            <a:r>
              <a:rPr sz="2400" dirty="0">
                <a:solidFill>
                  <a:srgbClr val="262EA4"/>
                </a:solidFill>
                <a:latin typeface="Calibri"/>
                <a:cs typeface="Calibri"/>
              </a:rPr>
              <a:t>as</a:t>
            </a:r>
            <a:r>
              <a:rPr sz="2400" spc="-50" dirty="0">
                <a:solidFill>
                  <a:srgbClr val="262EA4"/>
                </a:solidFill>
                <a:latin typeface="Calibri"/>
                <a:cs typeface="Calibri"/>
              </a:rPr>
              <a:t> </a:t>
            </a:r>
            <a:r>
              <a:rPr sz="2400" spc="-10" dirty="0">
                <a:solidFill>
                  <a:srgbClr val="262EA4"/>
                </a:solidFill>
                <a:latin typeface="Calibri"/>
                <a:cs typeface="Calibri"/>
              </a:rPr>
              <a:t>possible.</a:t>
            </a:r>
            <a:endParaRPr sz="2400" dirty="0">
              <a:latin typeface="Calibri"/>
              <a:cs typeface="Calibri"/>
            </a:endParaRPr>
          </a:p>
          <a:p>
            <a:pPr marL="159385" indent="-146685" algn="just">
              <a:lnSpc>
                <a:spcPct val="100000"/>
              </a:lnSpc>
              <a:spcBef>
                <a:spcPts val="25"/>
              </a:spcBef>
              <a:buFont typeface="Arial MT"/>
              <a:buChar char="•"/>
              <a:tabLst>
                <a:tab pos="159385" algn="l"/>
              </a:tabLst>
            </a:pPr>
            <a:r>
              <a:rPr sz="2400" dirty="0">
                <a:latin typeface="Calibri"/>
                <a:cs typeface="Calibri"/>
              </a:rPr>
              <a:t>No</a:t>
            </a:r>
            <a:r>
              <a:rPr sz="2400" spc="-50" dirty="0">
                <a:latin typeface="Calibri"/>
                <a:cs typeface="Calibri"/>
              </a:rPr>
              <a:t> </a:t>
            </a:r>
            <a:r>
              <a:rPr sz="2400" dirty="0">
                <a:latin typeface="Calibri"/>
                <a:cs typeface="Calibri"/>
              </a:rPr>
              <a:t>work</a:t>
            </a:r>
            <a:r>
              <a:rPr sz="2400" spc="-50" dirty="0">
                <a:latin typeface="Calibri"/>
                <a:cs typeface="Calibri"/>
              </a:rPr>
              <a:t> </a:t>
            </a:r>
            <a:r>
              <a:rPr sz="2400" dirty="0">
                <a:latin typeface="Calibri"/>
                <a:cs typeface="Calibri"/>
              </a:rPr>
              <a:t>package</a:t>
            </a:r>
            <a:r>
              <a:rPr sz="2400" spc="-45" dirty="0">
                <a:latin typeface="Calibri"/>
                <a:cs typeface="Calibri"/>
              </a:rPr>
              <a:t> </a:t>
            </a:r>
            <a:r>
              <a:rPr sz="2400" dirty="0">
                <a:latin typeface="Calibri"/>
                <a:cs typeface="Calibri"/>
              </a:rPr>
              <a:t>is</a:t>
            </a:r>
            <a:r>
              <a:rPr sz="2400" spc="-45" dirty="0">
                <a:latin typeface="Calibri"/>
                <a:cs typeface="Calibri"/>
              </a:rPr>
              <a:t> </a:t>
            </a:r>
            <a:r>
              <a:rPr sz="2400" dirty="0">
                <a:latin typeface="Calibri"/>
                <a:cs typeface="Calibri"/>
              </a:rPr>
              <a:t>described</a:t>
            </a:r>
            <a:r>
              <a:rPr sz="2400" spc="-50"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more</a:t>
            </a:r>
            <a:r>
              <a:rPr sz="2400" spc="-40" dirty="0">
                <a:latin typeface="Calibri"/>
                <a:cs typeface="Calibri"/>
              </a:rPr>
              <a:t> </a:t>
            </a:r>
            <a:r>
              <a:rPr sz="2400" dirty="0">
                <a:latin typeface="Calibri"/>
                <a:cs typeface="Calibri"/>
              </a:rPr>
              <a:t>than</a:t>
            </a:r>
            <a:r>
              <a:rPr sz="2400" spc="-45" dirty="0">
                <a:latin typeface="Calibri"/>
                <a:cs typeface="Calibri"/>
              </a:rPr>
              <a:t> </a:t>
            </a:r>
            <a:r>
              <a:rPr sz="2400" dirty="0">
                <a:latin typeface="Calibri"/>
                <a:cs typeface="Calibri"/>
              </a:rPr>
              <a:t>one</a:t>
            </a:r>
            <a:r>
              <a:rPr sz="2400" spc="-40" dirty="0">
                <a:latin typeface="Calibri"/>
                <a:cs typeface="Calibri"/>
              </a:rPr>
              <a:t> </a:t>
            </a:r>
            <a:r>
              <a:rPr sz="2400" spc="-10" dirty="0">
                <a:latin typeface="Calibri"/>
                <a:cs typeface="Calibri"/>
              </a:rPr>
              <a:t>subdeliverable</a:t>
            </a:r>
            <a:r>
              <a:rPr sz="2400" spc="-4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the</a:t>
            </a:r>
            <a:r>
              <a:rPr sz="2400" spc="-40" dirty="0">
                <a:latin typeface="Calibri"/>
                <a:cs typeface="Calibri"/>
              </a:rPr>
              <a:t> </a:t>
            </a:r>
            <a:r>
              <a:rPr sz="2400" spc="-20" dirty="0">
                <a:latin typeface="Calibri"/>
                <a:cs typeface="Calibri"/>
              </a:rPr>
              <a:t>WBS.</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32</a:t>
            </a:fld>
            <a:endParaRPr spc="-25" dirty="0"/>
          </a:p>
        </p:txBody>
      </p:sp>
      <p:sp>
        <p:nvSpPr>
          <p:cNvPr id="3" name="object 3"/>
          <p:cNvSpPr txBox="1">
            <a:spLocks noGrp="1"/>
          </p:cNvSpPr>
          <p:nvPr>
            <p:ph type="title"/>
          </p:nvPr>
        </p:nvSpPr>
        <p:spPr>
          <a:xfrm>
            <a:off x="39253" y="88624"/>
            <a:ext cx="10781148" cy="1338828"/>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p>
        </p:txBody>
      </p:sp>
      <p:pic>
        <p:nvPicPr>
          <p:cNvPr id="5" name="Picture 4">
            <a:extLst>
              <a:ext uri="{FF2B5EF4-FFF2-40B4-BE49-F238E27FC236}">
                <a16:creationId xmlns:a16="http://schemas.microsoft.com/office/drawing/2014/main" id="{F24A041A-9578-C10D-4655-19EBF4B1EB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6462" y="23446"/>
            <a:ext cx="1606286" cy="8090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40331"/>
            <a:ext cx="10357485" cy="1735455"/>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Lst>
            </a:pPr>
            <a:r>
              <a:rPr sz="2800" dirty="0">
                <a:latin typeface="Calibri"/>
                <a:cs typeface="Calibri"/>
              </a:rPr>
              <a:t>The</a:t>
            </a:r>
            <a:r>
              <a:rPr sz="2800" spc="90" dirty="0">
                <a:latin typeface="Calibri"/>
                <a:cs typeface="Calibri"/>
              </a:rPr>
              <a:t> </a:t>
            </a:r>
            <a:r>
              <a:rPr sz="2800" dirty="0">
                <a:latin typeface="Calibri"/>
                <a:cs typeface="Calibri"/>
              </a:rPr>
              <a:t>subdeliverable</a:t>
            </a:r>
            <a:r>
              <a:rPr sz="2800" spc="75" dirty="0">
                <a:latin typeface="Calibri"/>
                <a:cs typeface="Calibri"/>
              </a:rPr>
              <a:t> </a:t>
            </a:r>
            <a:r>
              <a:rPr sz="2800" dirty="0">
                <a:latin typeface="Calibri"/>
                <a:cs typeface="Calibri"/>
              </a:rPr>
              <a:t>does</a:t>
            </a:r>
            <a:r>
              <a:rPr sz="2800" spc="100" dirty="0">
                <a:latin typeface="Calibri"/>
                <a:cs typeface="Calibri"/>
              </a:rPr>
              <a:t> </a:t>
            </a:r>
            <a:r>
              <a:rPr sz="2800" dirty="0">
                <a:latin typeface="Calibri"/>
                <a:cs typeface="Calibri"/>
              </a:rPr>
              <a:t>not</a:t>
            </a:r>
            <a:r>
              <a:rPr sz="2800" spc="95" dirty="0">
                <a:latin typeface="Calibri"/>
                <a:cs typeface="Calibri"/>
              </a:rPr>
              <a:t> </a:t>
            </a:r>
            <a:r>
              <a:rPr sz="2800" dirty="0">
                <a:latin typeface="Calibri"/>
                <a:cs typeface="Calibri"/>
              </a:rPr>
              <a:t>have</a:t>
            </a:r>
            <a:r>
              <a:rPr sz="2800" spc="90" dirty="0">
                <a:latin typeface="Calibri"/>
                <a:cs typeface="Calibri"/>
              </a:rPr>
              <a:t> </a:t>
            </a:r>
            <a:r>
              <a:rPr sz="2800" dirty="0">
                <a:latin typeface="Calibri"/>
                <a:cs typeface="Calibri"/>
              </a:rPr>
              <a:t>a</a:t>
            </a:r>
            <a:r>
              <a:rPr sz="2800" spc="95" dirty="0">
                <a:latin typeface="Calibri"/>
                <a:cs typeface="Calibri"/>
              </a:rPr>
              <a:t> </a:t>
            </a:r>
            <a:r>
              <a:rPr sz="2800" dirty="0">
                <a:latin typeface="Calibri"/>
                <a:cs typeface="Calibri"/>
              </a:rPr>
              <a:t>duration</a:t>
            </a:r>
            <a:r>
              <a:rPr sz="2800" spc="95" dirty="0">
                <a:latin typeface="Calibri"/>
                <a:cs typeface="Calibri"/>
              </a:rPr>
              <a:t> </a:t>
            </a:r>
            <a:r>
              <a:rPr sz="2800" dirty="0">
                <a:latin typeface="Calibri"/>
                <a:cs typeface="Calibri"/>
              </a:rPr>
              <a:t>of</a:t>
            </a:r>
            <a:r>
              <a:rPr sz="2800" spc="95" dirty="0">
                <a:latin typeface="Calibri"/>
                <a:cs typeface="Calibri"/>
              </a:rPr>
              <a:t> </a:t>
            </a:r>
            <a:r>
              <a:rPr sz="2800" dirty="0">
                <a:latin typeface="Calibri"/>
                <a:cs typeface="Calibri"/>
              </a:rPr>
              <a:t>its</a:t>
            </a:r>
            <a:r>
              <a:rPr sz="2800" spc="100" dirty="0">
                <a:latin typeface="Calibri"/>
                <a:cs typeface="Calibri"/>
              </a:rPr>
              <a:t> </a:t>
            </a:r>
            <a:r>
              <a:rPr sz="2800" dirty="0">
                <a:latin typeface="Calibri"/>
                <a:cs typeface="Calibri"/>
              </a:rPr>
              <a:t>own</a:t>
            </a:r>
            <a:r>
              <a:rPr sz="2800" spc="100" dirty="0">
                <a:latin typeface="Calibri"/>
                <a:cs typeface="Calibri"/>
              </a:rPr>
              <a:t> </a:t>
            </a:r>
            <a:r>
              <a:rPr sz="2800" dirty="0">
                <a:latin typeface="Calibri"/>
                <a:cs typeface="Calibri"/>
              </a:rPr>
              <a:t>and</a:t>
            </a:r>
            <a:r>
              <a:rPr sz="2800" spc="105" dirty="0">
                <a:latin typeface="Calibri"/>
                <a:cs typeface="Calibri"/>
              </a:rPr>
              <a:t> </a:t>
            </a:r>
            <a:r>
              <a:rPr sz="2800" dirty="0">
                <a:latin typeface="Calibri"/>
                <a:cs typeface="Calibri"/>
              </a:rPr>
              <a:t>does</a:t>
            </a:r>
            <a:r>
              <a:rPr sz="2800" spc="100" dirty="0">
                <a:latin typeface="Calibri"/>
                <a:cs typeface="Calibri"/>
              </a:rPr>
              <a:t> </a:t>
            </a:r>
            <a:r>
              <a:rPr sz="2800" spc="-25" dirty="0">
                <a:latin typeface="Calibri"/>
                <a:cs typeface="Calibri"/>
              </a:rPr>
              <a:t>not </a:t>
            </a:r>
            <a:r>
              <a:rPr sz="2800" dirty="0">
                <a:latin typeface="Calibri"/>
                <a:cs typeface="Calibri"/>
              </a:rPr>
              <a:t>consume</a:t>
            </a:r>
            <a:r>
              <a:rPr sz="2800" spc="-95" dirty="0">
                <a:latin typeface="Calibri"/>
                <a:cs typeface="Calibri"/>
              </a:rPr>
              <a:t> </a:t>
            </a:r>
            <a:r>
              <a:rPr sz="2800" dirty="0">
                <a:latin typeface="Calibri"/>
                <a:cs typeface="Calibri"/>
              </a:rPr>
              <a:t>resources</a:t>
            </a:r>
            <a:r>
              <a:rPr sz="2800" spc="-90" dirty="0">
                <a:latin typeface="Calibri"/>
                <a:cs typeface="Calibri"/>
              </a:rPr>
              <a:t> </a:t>
            </a:r>
            <a:r>
              <a:rPr sz="2800" dirty="0">
                <a:latin typeface="Calibri"/>
                <a:cs typeface="Calibri"/>
              </a:rPr>
              <a:t>or</a:t>
            </a:r>
            <a:r>
              <a:rPr sz="2800" spc="-90" dirty="0">
                <a:latin typeface="Calibri"/>
                <a:cs typeface="Calibri"/>
              </a:rPr>
              <a:t> </a:t>
            </a:r>
            <a:r>
              <a:rPr sz="2800" dirty="0">
                <a:latin typeface="Calibri"/>
                <a:cs typeface="Calibri"/>
              </a:rPr>
              <a:t>cost</a:t>
            </a:r>
            <a:r>
              <a:rPr sz="2800" spc="-85" dirty="0">
                <a:latin typeface="Calibri"/>
                <a:cs typeface="Calibri"/>
              </a:rPr>
              <a:t> </a:t>
            </a:r>
            <a:r>
              <a:rPr sz="2800" dirty="0">
                <a:latin typeface="Calibri"/>
                <a:cs typeface="Calibri"/>
              </a:rPr>
              <a:t>money</a:t>
            </a:r>
            <a:r>
              <a:rPr sz="2800" spc="-95" dirty="0">
                <a:latin typeface="Calibri"/>
                <a:cs typeface="Calibri"/>
              </a:rPr>
              <a:t> </a:t>
            </a:r>
            <a:r>
              <a:rPr sz="2800" spc="-10" dirty="0">
                <a:latin typeface="Calibri"/>
                <a:cs typeface="Calibri"/>
              </a:rPr>
              <a:t>directly.</a:t>
            </a:r>
            <a:endParaRPr sz="2800">
              <a:latin typeface="Calibri"/>
              <a:cs typeface="Calibri"/>
            </a:endParaRPr>
          </a:p>
          <a:p>
            <a:pPr marL="241300" marR="5080" indent="-228600">
              <a:lnSpc>
                <a:spcPts val="3100"/>
              </a:lnSpc>
              <a:spcBef>
                <a:spcPts val="925"/>
              </a:spcBef>
              <a:buFont typeface="Arial MT"/>
              <a:buChar char="•"/>
              <a:tabLst>
                <a:tab pos="241300" algn="l"/>
                <a:tab pos="1266825" algn="l"/>
                <a:tab pos="1999614" algn="l"/>
                <a:tab pos="2973070" algn="l"/>
                <a:tab pos="4396105" algn="l"/>
                <a:tab pos="4866640" algn="l"/>
                <a:tab pos="5598795" algn="l"/>
                <a:tab pos="6577330" algn="l"/>
                <a:tab pos="7401559" algn="l"/>
                <a:tab pos="8341995" algn="l"/>
                <a:tab pos="9003030" algn="l"/>
              </a:tabLst>
            </a:pPr>
            <a:r>
              <a:rPr sz="2800" spc="-10" dirty="0">
                <a:solidFill>
                  <a:srgbClr val="262EA4"/>
                </a:solidFill>
                <a:latin typeface="Calibri"/>
                <a:cs typeface="Calibri"/>
              </a:rPr>
              <a:t>Thus,</a:t>
            </a:r>
            <a:r>
              <a:rPr sz="2800" dirty="0">
                <a:solidFill>
                  <a:srgbClr val="262EA4"/>
                </a:solidFill>
                <a:latin typeface="Calibri"/>
                <a:cs typeface="Calibri"/>
              </a:rPr>
              <a:t>	</a:t>
            </a:r>
            <a:r>
              <a:rPr sz="2800" spc="-25" dirty="0">
                <a:solidFill>
                  <a:srgbClr val="262EA4"/>
                </a:solidFill>
                <a:latin typeface="Calibri"/>
                <a:cs typeface="Calibri"/>
              </a:rPr>
              <a:t>the</a:t>
            </a:r>
            <a:r>
              <a:rPr sz="2800" dirty="0">
                <a:solidFill>
                  <a:srgbClr val="262EA4"/>
                </a:solidFill>
                <a:latin typeface="Calibri"/>
                <a:cs typeface="Calibri"/>
              </a:rPr>
              <a:t>	</a:t>
            </a:r>
            <a:r>
              <a:rPr sz="2800" spc="-20" dirty="0">
                <a:solidFill>
                  <a:srgbClr val="262EA4"/>
                </a:solidFill>
                <a:latin typeface="Calibri"/>
                <a:cs typeface="Calibri"/>
              </a:rPr>
              <a:t>work</a:t>
            </a:r>
            <a:r>
              <a:rPr sz="2800" dirty="0">
                <a:solidFill>
                  <a:srgbClr val="262EA4"/>
                </a:solidFill>
                <a:latin typeface="Calibri"/>
                <a:cs typeface="Calibri"/>
              </a:rPr>
              <a:t>	</a:t>
            </a:r>
            <a:r>
              <a:rPr sz="2800" spc="-10" dirty="0">
                <a:solidFill>
                  <a:srgbClr val="262EA4"/>
                </a:solidFill>
                <a:latin typeface="Calibri"/>
                <a:cs typeface="Calibri"/>
              </a:rPr>
              <a:t>package</a:t>
            </a:r>
            <a:r>
              <a:rPr sz="2800" dirty="0">
                <a:solidFill>
                  <a:srgbClr val="262EA4"/>
                </a:solidFill>
                <a:latin typeface="Calibri"/>
                <a:cs typeface="Calibri"/>
              </a:rPr>
              <a:t>	</a:t>
            </a:r>
            <a:r>
              <a:rPr sz="2800" spc="-25" dirty="0">
                <a:solidFill>
                  <a:srgbClr val="262EA4"/>
                </a:solidFill>
                <a:latin typeface="Calibri"/>
                <a:cs typeface="Calibri"/>
              </a:rPr>
              <a:t>is</a:t>
            </a:r>
            <a:r>
              <a:rPr sz="2800" dirty="0">
                <a:solidFill>
                  <a:srgbClr val="262EA4"/>
                </a:solidFill>
                <a:latin typeface="Calibri"/>
                <a:cs typeface="Calibri"/>
              </a:rPr>
              <a:t>	</a:t>
            </a:r>
            <a:r>
              <a:rPr sz="2800" spc="-25" dirty="0">
                <a:solidFill>
                  <a:srgbClr val="262EA4"/>
                </a:solidFill>
                <a:latin typeface="Calibri"/>
                <a:cs typeface="Calibri"/>
              </a:rPr>
              <a:t>the</a:t>
            </a:r>
            <a:r>
              <a:rPr sz="2800" dirty="0">
                <a:solidFill>
                  <a:srgbClr val="262EA4"/>
                </a:solidFill>
                <a:latin typeface="Calibri"/>
                <a:cs typeface="Calibri"/>
              </a:rPr>
              <a:t>	</a:t>
            </a:r>
            <a:r>
              <a:rPr sz="2800" spc="-10" dirty="0">
                <a:solidFill>
                  <a:srgbClr val="262EA4"/>
                </a:solidFill>
                <a:latin typeface="Calibri"/>
                <a:cs typeface="Calibri"/>
              </a:rPr>
              <a:t>basic</a:t>
            </a:r>
            <a:r>
              <a:rPr sz="2800" dirty="0">
                <a:solidFill>
                  <a:srgbClr val="262EA4"/>
                </a:solidFill>
                <a:latin typeface="Calibri"/>
                <a:cs typeface="Calibri"/>
              </a:rPr>
              <a:t>	</a:t>
            </a:r>
            <a:r>
              <a:rPr sz="2800" spc="-20" dirty="0">
                <a:solidFill>
                  <a:srgbClr val="262EA4"/>
                </a:solidFill>
                <a:latin typeface="Calibri"/>
                <a:cs typeface="Calibri"/>
              </a:rPr>
              <a:t>unit</a:t>
            </a:r>
            <a:r>
              <a:rPr sz="2800" dirty="0">
                <a:solidFill>
                  <a:srgbClr val="262EA4"/>
                </a:solidFill>
                <a:latin typeface="Calibri"/>
                <a:cs typeface="Calibri"/>
              </a:rPr>
              <a:t>	</a:t>
            </a:r>
            <a:r>
              <a:rPr sz="2800" spc="-20" dirty="0">
                <a:solidFill>
                  <a:srgbClr val="262EA4"/>
                </a:solidFill>
                <a:latin typeface="Calibri"/>
                <a:cs typeface="Calibri"/>
              </a:rPr>
              <a:t>used</a:t>
            </a:r>
            <a:r>
              <a:rPr sz="2800" dirty="0">
                <a:solidFill>
                  <a:srgbClr val="262EA4"/>
                </a:solidFill>
                <a:latin typeface="Calibri"/>
                <a:cs typeface="Calibri"/>
              </a:rPr>
              <a:t>	</a:t>
            </a:r>
            <a:r>
              <a:rPr sz="2800" spc="-25" dirty="0">
                <a:solidFill>
                  <a:srgbClr val="262EA4"/>
                </a:solidFill>
                <a:latin typeface="Calibri"/>
                <a:cs typeface="Calibri"/>
              </a:rPr>
              <a:t>for</a:t>
            </a:r>
            <a:r>
              <a:rPr sz="2800" dirty="0">
                <a:solidFill>
                  <a:srgbClr val="262EA4"/>
                </a:solidFill>
                <a:latin typeface="Calibri"/>
                <a:cs typeface="Calibri"/>
              </a:rPr>
              <a:t>	</a:t>
            </a:r>
            <a:r>
              <a:rPr sz="2800" spc="-10" dirty="0">
                <a:solidFill>
                  <a:srgbClr val="262EA4"/>
                </a:solidFill>
                <a:latin typeface="Calibri"/>
                <a:cs typeface="Calibri"/>
              </a:rPr>
              <a:t>planning, </a:t>
            </a:r>
            <a:r>
              <a:rPr sz="2800" dirty="0">
                <a:solidFill>
                  <a:srgbClr val="262EA4"/>
                </a:solidFill>
                <a:latin typeface="Calibri"/>
                <a:cs typeface="Calibri"/>
              </a:rPr>
              <a:t>scheduling,</a:t>
            </a:r>
            <a:r>
              <a:rPr sz="2800" spc="-50" dirty="0">
                <a:solidFill>
                  <a:srgbClr val="262EA4"/>
                </a:solidFill>
                <a:latin typeface="Calibri"/>
                <a:cs typeface="Calibri"/>
              </a:rPr>
              <a:t> </a:t>
            </a:r>
            <a:r>
              <a:rPr sz="2800" dirty="0">
                <a:solidFill>
                  <a:srgbClr val="262EA4"/>
                </a:solidFill>
                <a:latin typeface="Calibri"/>
                <a:cs typeface="Calibri"/>
              </a:rPr>
              <a:t>and</a:t>
            </a:r>
            <a:r>
              <a:rPr sz="2800" spc="-40" dirty="0">
                <a:solidFill>
                  <a:srgbClr val="262EA4"/>
                </a:solidFill>
                <a:latin typeface="Calibri"/>
                <a:cs typeface="Calibri"/>
              </a:rPr>
              <a:t> </a:t>
            </a:r>
            <a:r>
              <a:rPr sz="2800" spc="-10" dirty="0">
                <a:solidFill>
                  <a:srgbClr val="262EA4"/>
                </a:solidFill>
                <a:latin typeface="Calibri"/>
                <a:cs typeface="Calibri"/>
              </a:rPr>
              <a:t>controlling</a:t>
            </a:r>
            <a:r>
              <a:rPr sz="2800" spc="-45" dirty="0">
                <a:solidFill>
                  <a:srgbClr val="262EA4"/>
                </a:solidFill>
                <a:latin typeface="Calibri"/>
                <a:cs typeface="Calibri"/>
              </a:rPr>
              <a:t> </a:t>
            </a:r>
            <a:r>
              <a:rPr sz="2800" dirty="0">
                <a:solidFill>
                  <a:srgbClr val="262EA4"/>
                </a:solidFill>
                <a:latin typeface="Calibri"/>
                <a:cs typeface="Calibri"/>
              </a:rPr>
              <a:t>the</a:t>
            </a:r>
            <a:r>
              <a:rPr sz="2800" spc="-45" dirty="0">
                <a:solidFill>
                  <a:srgbClr val="262EA4"/>
                </a:solidFill>
                <a:latin typeface="Calibri"/>
                <a:cs typeface="Calibri"/>
              </a:rPr>
              <a:t> </a:t>
            </a:r>
            <a:r>
              <a:rPr sz="2800" spc="-10" dirty="0">
                <a:solidFill>
                  <a:srgbClr val="262EA4"/>
                </a:solidFill>
                <a:latin typeface="Calibri"/>
                <a:cs typeface="Calibri"/>
              </a:rPr>
              <a:t>project</a:t>
            </a:r>
            <a:endParaRPr sz="2800">
              <a:latin typeface="Calibri"/>
              <a:cs typeface="Calibri"/>
            </a:endParaRPr>
          </a:p>
        </p:txBody>
      </p:sp>
      <p:sp>
        <p:nvSpPr>
          <p:cNvPr id="3" name="object 3"/>
          <p:cNvSpPr txBox="1">
            <a:spLocks noGrp="1"/>
          </p:cNvSpPr>
          <p:nvPr>
            <p:ph type="title"/>
          </p:nvPr>
        </p:nvSpPr>
        <p:spPr>
          <a:xfrm>
            <a:off x="99335" y="145604"/>
            <a:ext cx="10357485" cy="1338828"/>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p>
        </p:txBody>
      </p:sp>
      <p:sp>
        <p:nvSpPr>
          <p:cNvPr id="4" name="object 4"/>
          <p:cNvSpPr txBox="1"/>
          <p:nvPr/>
        </p:nvSpPr>
        <p:spPr>
          <a:xfrm>
            <a:off x="4283033" y="3495714"/>
            <a:ext cx="3040380" cy="369570"/>
          </a:xfrm>
          <a:prstGeom prst="rect">
            <a:avLst/>
          </a:prstGeom>
          <a:ln w="19050">
            <a:solidFill>
              <a:srgbClr val="000000"/>
            </a:solidFill>
          </a:ln>
        </p:spPr>
        <p:txBody>
          <a:bodyPr vert="horz" wrap="square" lIns="0" tIns="33655" rIns="0" bIns="0" rtlCol="0">
            <a:spAutoFit/>
          </a:bodyPr>
          <a:lstStyle/>
          <a:p>
            <a:pPr marL="103505">
              <a:lnSpc>
                <a:spcPct val="100000"/>
              </a:lnSpc>
              <a:spcBef>
                <a:spcPts val="265"/>
              </a:spcBef>
            </a:pPr>
            <a:r>
              <a:rPr sz="1800" dirty="0">
                <a:latin typeface="Calibri"/>
                <a:cs typeface="Calibri"/>
              </a:rPr>
              <a:t>Each</a:t>
            </a:r>
            <a:r>
              <a:rPr sz="1800" spc="-45" dirty="0">
                <a:latin typeface="Calibri"/>
                <a:cs typeface="Calibri"/>
              </a:rPr>
              <a:t> </a:t>
            </a:r>
            <a:r>
              <a:rPr sz="1800" dirty="0">
                <a:latin typeface="Calibri"/>
                <a:cs typeface="Calibri"/>
              </a:rPr>
              <a:t>work</a:t>
            </a:r>
            <a:r>
              <a:rPr sz="1800" spc="-50" dirty="0">
                <a:latin typeface="Calibri"/>
                <a:cs typeface="Calibri"/>
              </a:rPr>
              <a:t> </a:t>
            </a:r>
            <a:r>
              <a:rPr sz="1800" dirty="0">
                <a:latin typeface="Calibri"/>
                <a:cs typeface="Calibri"/>
              </a:rPr>
              <a:t>package</a:t>
            </a:r>
            <a:r>
              <a:rPr sz="1800" spc="-40" dirty="0">
                <a:latin typeface="Calibri"/>
                <a:cs typeface="Calibri"/>
              </a:rPr>
              <a:t> </a:t>
            </a:r>
            <a:r>
              <a:rPr sz="1800" dirty="0">
                <a:latin typeface="Calibri"/>
                <a:cs typeface="Calibri"/>
              </a:rPr>
              <a:t>in</a:t>
            </a:r>
            <a:r>
              <a:rPr sz="1800" spc="-40" dirty="0">
                <a:latin typeface="Calibri"/>
                <a:cs typeface="Calibri"/>
              </a:rPr>
              <a:t> </a:t>
            </a:r>
            <a:r>
              <a:rPr sz="1800" dirty="0">
                <a:latin typeface="Calibri"/>
                <a:cs typeface="Calibri"/>
              </a:rPr>
              <a:t>the</a:t>
            </a:r>
            <a:r>
              <a:rPr sz="1800" spc="-40" dirty="0">
                <a:latin typeface="Calibri"/>
                <a:cs typeface="Calibri"/>
              </a:rPr>
              <a:t> </a:t>
            </a:r>
            <a:r>
              <a:rPr sz="1800" spc="-25" dirty="0">
                <a:latin typeface="Calibri"/>
                <a:cs typeface="Calibri"/>
              </a:rPr>
              <a:t>WBS</a:t>
            </a:r>
            <a:endParaRPr sz="1800">
              <a:latin typeface="Calibri"/>
              <a:cs typeface="Calibri"/>
            </a:endParaRPr>
          </a:p>
        </p:txBody>
      </p:sp>
      <p:sp>
        <p:nvSpPr>
          <p:cNvPr id="5" name="object 5"/>
          <p:cNvSpPr txBox="1"/>
          <p:nvPr/>
        </p:nvSpPr>
        <p:spPr>
          <a:xfrm>
            <a:off x="156556" y="4145079"/>
            <a:ext cx="1748789" cy="369570"/>
          </a:xfrm>
          <a:prstGeom prst="rect">
            <a:avLst/>
          </a:prstGeom>
          <a:ln w="9525">
            <a:solidFill>
              <a:srgbClr val="000000"/>
            </a:solidFill>
          </a:ln>
        </p:spPr>
        <p:txBody>
          <a:bodyPr vert="horz" wrap="square" lIns="0" tIns="33655" rIns="0" bIns="0" rtlCol="0">
            <a:spAutoFit/>
          </a:bodyPr>
          <a:lstStyle/>
          <a:p>
            <a:pPr marL="281940">
              <a:lnSpc>
                <a:spcPct val="100000"/>
              </a:lnSpc>
              <a:spcBef>
                <a:spcPts val="265"/>
              </a:spcBef>
            </a:pPr>
            <a:r>
              <a:rPr sz="1800" dirty="0">
                <a:latin typeface="Calibri"/>
                <a:cs typeface="Calibri"/>
              </a:rPr>
              <a:t>Work</a:t>
            </a:r>
            <a:r>
              <a:rPr sz="1800" spc="-85" dirty="0">
                <a:latin typeface="Calibri"/>
                <a:cs typeface="Calibri"/>
              </a:rPr>
              <a:t> </a:t>
            </a:r>
            <a:r>
              <a:rPr sz="1800" spc="-10" dirty="0">
                <a:latin typeface="Calibri"/>
                <a:cs typeface="Calibri"/>
              </a:rPr>
              <a:t>(what)</a:t>
            </a:r>
            <a:endParaRPr sz="1800">
              <a:latin typeface="Calibri"/>
              <a:cs typeface="Calibri"/>
            </a:endParaRPr>
          </a:p>
        </p:txBody>
      </p:sp>
      <p:sp>
        <p:nvSpPr>
          <p:cNvPr id="6" name="object 6"/>
          <p:cNvSpPr txBox="1"/>
          <p:nvPr/>
        </p:nvSpPr>
        <p:spPr>
          <a:xfrm>
            <a:off x="999307" y="4898225"/>
            <a:ext cx="2630805" cy="646430"/>
          </a:xfrm>
          <a:prstGeom prst="rect">
            <a:avLst/>
          </a:prstGeom>
          <a:ln w="9525">
            <a:solidFill>
              <a:srgbClr val="000000"/>
            </a:solidFill>
          </a:ln>
        </p:spPr>
        <p:txBody>
          <a:bodyPr vert="horz" wrap="square" lIns="0" tIns="49530" rIns="0" bIns="0" rtlCol="0">
            <a:spAutoFit/>
          </a:bodyPr>
          <a:lstStyle/>
          <a:p>
            <a:pPr marL="411480" marR="150495" indent="-252729">
              <a:lnSpc>
                <a:spcPts val="2090"/>
              </a:lnSpc>
              <a:spcBef>
                <a:spcPts val="390"/>
              </a:spcBef>
            </a:pPr>
            <a:r>
              <a:rPr sz="1800" dirty="0">
                <a:latin typeface="Calibri"/>
                <a:cs typeface="Calibri"/>
              </a:rPr>
              <a:t>Time</a:t>
            </a:r>
            <a:r>
              <a:rPr sz="1800" spc="-30" dirty="0">
                <a:latin typeface="Calibri"/>
                <a:cs typeface="Calibri"/>
              </a:rPr>
              <a:t> </a:t>
            </a:r>
            <a:r>
              <a:rPr sz="1800" dirty="0">
                <a:latin typeface="Calibri"/>
                <a:cs typeface="Calibri"/>
              </a:rPr>
              <a:t>to</a:t>
            </a:r>
            <a:r>
              <a:rPr sz="1800" spc="-35" dirty="0">
                <a:latin typeface="Calibri"/>
                <a:cs typeface="Calibri"/>
              </a:rPr>
              <a:t> </a:t>
            </a:r>
            <a:r>
              <a:rPr sz="1800" dirty="0">
                <a:latin typeface="Calibri"/>
                <a:cs typeface="Calibri"/>
              </a:rPr>
              <a:t>complete</a:t>
            </a:r>
            <a:r>
              <a:rPr sz="1800" spc="-30" dirty="0">
                <a:latin typeface="Calibri"/>
                <a:cs typeface="Calibri"/>
              </a:rPr>
              <a:t> </a:t>
            </a:r>
            <a:r>
              <a:rPr sz="1800" dirty="0">
                <a:latin typeface="Calibri"/>
                <a:cs typeface="Calibri"/>
              </a:rPr>
              <a:t>a</a:t>
            </a:r>
            <a:r>
              <a:rPr sz="1800" spc="-35" dirty="0">
                <a:latin typeface="Calibri"/>
                <a:cs typeface="Calibri"/>
              </a:rPr>
              <a:t> </a:t>
            </a:r>
            <a:r>
              <a:rPr sz="1800" spc="-20" dirty="0">
                <a:latin typeface="Calibri"/>
                <a:cs typeface="Calibri"/>
              </a:rPr>
              <a:t>work </a:t>
            </a:r>
            <a:r>
              <a:rPr sz="1800" spc="-10" dirty="0">
                <a:latin typeface="Calibri"/>
                <a:cs typeface="Calibri"/>
              </a:rPr>
              <a:t>package</a:t>
            </a:r>
            <a:r>
              <a:rPr sz="1800" spc="-40" dirty="0">
                <a:latin typeface="Calibri"/>
                <a:cs typeface="Calibri"/>
              </a:rPr>
              <a:t> </a:t>
            </a:r>
            <a:r>
              <a:rPr sz="1800" dirty="0">
                <a:latin typeface="Calibri"/>
                <a:cs typeface="Calibri"/>
              </a:rPr>
              <a:t>(how</a:t>
            </a:r>
            <a:r>
              <a:rPr sz="1800" spc="-45" dirty="0">
                <a:latin typeface="Calibri"/>
                <a:cs typeface="Calibri"/>
              </a:rPr>
              <a:t> </a:t>
            </a:r>
            <a:r>
              <a:rPr sz="1800" spc="-20" dirty="0">
                <a:latin typeface="Calibri"/>
                <a:cs typeface="Calibri"/>
              </a:rPr>
              <a:t>long)</a:t>
            </a:r>
            <a:endParaRPr sz="1800">
              <a:latin typeface="Calibri"/>
              <a:cs typeface="Calibri"/>
            </a:endParaRPr>
          </a:p>
        </p:txBody>
      </p:sp>
      <p:sp>
        <p:nvSpPr>
          <p:cNvPr id="7" name="object 7"/>
          <p:cNvSpPr txBox="1"/>
          <p:nvPr/>
        </p:nvSpPr>
        <p:spPr>
          <a:xfrm>
            <a:off x="2482118" y="5685421"/>
            <a:ext cx="3294379" cy="646430"/>
          </a:xfrm>
          <a:prstGeom prst="rect">
            <a:avLst/>
          </a:prstGeom>
          <a:ln w="9525">
            <a:solidFill>
              <a:srgbClr val="000000"/>
            </a:solidFill>
          </a:ln>
        </p:spPr>
        <p:txBody>
          <a:bodyPr vert="horz" wrap="square" lIns="0" tIns="46355" rIns="0" bIns="0" rtlCol="0">
            <a:spAutoFit/>
          </a:bodyPr>
          <a:lstStyle/>
          <a:p>
            <a:pPr marL="643890" marR="113664" indent="-523240">
              <a:lnSpc>
                <a:spcPts val="2110"/>
              </a:lnSpc>
              <a:spcBef>
                <a:spcPts val="365"/>
              </a:spcBef>
            </a:pPr>
            <a:r>
              <a:rPr sz="1800" spc="-10" dirty="0">
                <a:latin typeface="Calibri"/>
                <a:cs typeface="Calibri"/>
              </a:rPr>
              <a:t>time-</a:t>
            </a:r>
            <a:r>
              <a:rPr sz="1800" dirty="0">
                <a:latin typeface="Calibri"/>
                <a:cs typeface="Calibri"/>
              </a:rPr>
              <a:t>phased</a:t>
            </a:r>
            <a:r>
              <a:rPr sz="1800" spc="-35" dirty="0">
                <a:latin typeface="Calibri"/>
                <a:cs typeface="Calibri"/>
              </a:rPr>
              <a:t> </a:t>
            </a:r>
            <a:r>
              <a:rPr sz="1800" dirty="0">
                <a:latin typeface="Calibri"/>
                <a:cs typeface="Calibri"/>
              </a:rPr>
              <a:t>budget</a:t>
            </a:r>
            <a:r>
              <a:rPr sz="1800" spc="-35" dirty="0">
                <a:latin typeface="Calibri"/>
                <a:cs typeface="Calibri"/>
              </a:rPr>
              <a:t> </a:t>
            </a:r>
            <a:r>
              <a:rPr sz="1800" dirty="0">
                <a:latin typeface="Calibri"/>
                <a:cs typeface="Calibri"/>
              </a:rPr>
              <a:t>to</a:t>
            </a:r>
            <a:r>
              <a:rPr sz="1800" spc="-30" dirty="0">
                <a:latin typeface="Calibri"/>
                <a:cs typeface="Calibri"/>
              </a:rPr>
              <a:t> </a:t>
            </a:r>
            <a:r>
              <a:rPr sz="1800" spc="-10" dirty="0">
                <a:latin typeface="Calibri"/>
                <a:cs typeface="Calibri"/>
              </a:rPr>
              <a:t>complete </a:t>
            </a:r>
            <a:r>
              <a:rPr sz="1800" dirty="0">
                <a:latin typeface="Calibri"/>
                <a:cs typeface="Calibri"/>
              </a:rPr>
              <a:t>a</a:t>
            </a:r>
            <a:r>
              <a:rPr sz="1800" spc="-45" dirty="0">
                <a:latin typeface="Calibri"/>
                <a:cs typeface="Calibri"/>
              </a:rPr>
              <a:t> </a:t>
            </a:r>
            <a:r>
              <a:rPr sz="1800" dirty="0">
                <a:latin typeface="Calibri"/>
                <a:cs typeface="Calibri"/>
              </a:rPr>
              <a:t>work</a:t>
            </a:r>
            <a:r>
              <a:rPr sz="1800" spc="-50" dirty="0">
                <a:latin typeface="Calibri"/>
                <a:cs typeface="Calibri"/>
              </a:rPr>
              <a:t> </a:t>
            </a:r>
            <a:r>
              <a:rPr sz="1800" dirty="0">
                <a:latin typeface="Calibri"/>
                <a:cs typeface="Calibri"/>
              </a:rPr>
              <a:t>package</a:t>
            </a:r>
            <a:r>
              <a:rPr sz="1800" spc="-40" dirty="0">
                <a:latin typeface="Calibri"/>
                <a:cs typeface="Calibri"/>
              </a:rPr>
              <a:t> </a:t>
            </a:r>
            <a:r>
              <a:rPr sz="1800" spc="-10" dirty="0">
                <a:latin typeface="Calibri"/>
                <a:cs typeface="Calibri"/>
              </a:rPr>
              <a:t>(cost)</a:t>
            </a:r>
            <a:endParaRPr sz="1800">
              <a:latin typeface="Calibri"/>
              <a:cs typeface="Calibri"/>
            </a:endParaRPr>
          </a:p>
        </p:txBody>
      </p:sp>
      <p:sp>
        <p:nvSpPr>
          <p:cNvPr id="8" name="object 8"/>
          <p:cNvSpPr txBox="1"/>
          <p:nvPr/>
        </p:nvSpPr>
        <p:spPr>
          <a:xfrm>
            <a:off x="5949636" y="5710018"/>
            <a:ext cx="3294379" cy="646430"/>
          </a:xfrm>
          <a:prstGeom prst="rect">
            <a:avLst/>
          </a:prstGeom>
          <a:ln w="9525">
            <a:solidFill>
              <a:srgbClr val="000000"/>
            </a:solidFill>
          </a:ln>
        </p:spPr>
        <p:txBody>
          <a:bodyPr vert="horz" wrap="square" lIns="0" tIns="46355" rIns="0" bIns="0" rtlCol="0">
            <a:spAutoFit/>
          </a:bodyPr>
          <a:lstStyle/>
          <a:p>
            <a:pPr marL="425450" marR="144145" indent="-273050">
              <a:lnSpc>
                <a:spcPts val="2110"/>
              </a:lnSpc>
              <a:spcBef>
                <a:spcPts val="365"/>
              </a:spcBef>
            </a:pPr>
            <a:r>
              <a:rPr sz="1800" spc="-10" dirty="0">
                <a:latin typeface="Calibri"/>
                <a:cs typeface="Calibri"/>
              </a:rPr>
              <a:t>resources</a:t>
            </a:r>
            <a:r>
              <a:rPr sz="1800" spc="-50" dirty="0">
                <a:latin typeface="Calibri"/>
                <a:cs typeface="Calibri"/>
              </a:rPr>
              <a:t> </a:t>
            </a:r>
            <a:r>
              <a:rPr sz="1800" dirty="0">
                <a:latin typeface="Calibri"/>
                <a:cs typeface="Calibri"/>
              </a:rPr>
              <a:t>needed</a:t>
            </a:r>
            <a:r>
              <a:rPr sz="1800" spc="-40"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complete</a:t>
            </a:r>
            <a:r>
              <a:rPr sz="1800" spc="-40" dirty="0">
                <a:latin typeface="Calibri"/>
                <a:cs typeface="Calibri"/>
              </a:rPr>
              <a:t> </a:t>
            </a:r>
            <a:r>
              <a:rPr sz="1800" spc="-50" dirty="0">
                <a:latin typeface="Calibri"/>
                <a:cs typeface="Calibri"/>
              </a:rPr>
              <a:t>a </a:t>
            </a:r>
            <a:r>
              <a:rPr sz="1800" dirty="0">
                <a:latin typeface="Calibri"/>
                <a:cs typeface="Calibri"/>
              </a:rPr>
              <a:t>work</a:t>
            </a:r>
            <a:r>
              <a:rPr sz="1800" spc="-70" dirty="0">
                <a:latin typeface="Calibri"/>
                <a:cs typeface="Calibri"/>
              </a:rPr>
              <a:t> </a:t>
            </a:r>
            <a:r>
              <a:rPr sz="1800" dirty="0">
                <a:latin typeface="Calibri"/>
                <a:cs typeface="Calibri"/>
              </a:rPr>
              <a:t>package</a:t>
            </a:r>
            <a:r>
              <a:rPr sz="1800" spc="-60" dirty="0">
                <a:latin typeface="Calibri"/>
                <a:cs typeface="Calibri"/>
              </a:rPr>
              <a:t> </a:t>
            </a:r>
            <a:r>
              <a:rPr sz="1800" dirty="0">
                <a:latin typeface="Calibri"/>
                <a:cs typeface="Calibri"/>
              </a:rPr>
              <a:t>(how</a:t>
            </a:r>
            <a:r>
              <a:rPr sz="1800" spc="-60" dirty="0">
                <a:latin typeface="Calibri"/>
                <a:cs typeface="Calibri"/>
              </a:rPr>
              <a:t> </a:t>
            </a:r>
            <a:r>
              <a:rPr sz="1800" spc="-20" dirty="0">
                <a:latin typeface="Calibri"/>
                <a:cs typeface="Calibri"/>
              </a:rPr>
              <a:t>much)</a:t>
            </a:r>
            <a:endParaRPr sz="1800">
              <a:latin typeface="Calibri"/>
              <a:cs typeface="Calibri"/>
            </a:endParaRPr>
          </a:p>
        </p:txBody>
      </p:sp>
      <p:sp>
        <p:nvSpPr>
          <p:cNvPr id="9" name="object 9"/>
          <p:cNvSpPr txBox="1"/>
          <p:nvPr/>
        </p:nvSpPr>
        <p:spPr>
          <a:xfrm>
            <a:off x="8085537" y="4970869"/>
            <a:ext cx="3107690" cy="646430"/>
          </a:xfrm>
          <a:prstGeom prst="rect">
            <a:avLst/>
          </a:prstGeom>
          <a:ln w="9525">
            <a:solidFill>
              <a:srgbClr val="000000"/>
            </a:solidFill>
          </a:ln>
        </p:spPr>
        <p:txBody>
          <a:bodyPr vert="horz" wrap="square" lIns="0" tIns="50165" rIns="0" bIns="0" rtlCol="0">
            <a:spAutoFit/>
          </a:bodyPr>
          <a:lstStyle/>
          <a:p>
            <a:pPr marL="645160" marR="211454" indent="-427355">
              <a:lnSpc>
                <a:spcPts val="2090"/>
              </a:lnSpc>
              <a:spcBef>
                <a:spcPts val="395"/>
              </a:spcBef>
            </a:pPr>
            <a:r>
              <a:rPr sz="1800" dirty="0">
                <a:latin typeface="Calibri"/>
                <a:cs typeface="Calibri"/>
              </a:rPr>
              <a:t>single</a:t>
            </a:r>
            <a:r>
              <a:rPr sz="1800" spc="-35" dirty="0">
                <a:latin typeface="Calibri"/>
                <a:cs typeface="Calibri"/>
              </a:rPr>
              <a:t> </a:t>
            </a:r>
            <a:r>
              <a:rPr sz="1800" dirty="0">
                <a:latin typeface="Calibri"/>
                <a:cs typeface="Calibri"/>
              </a:rPr>
              <a:t>person</a:t>
            </a:r>
            <a:r>
              <a:rPr sz="1800" spc="-35" dirty="0">
                <a:latin typeface="Calibri"/>
                <a:cs typeface="Calibri"/>
              </a:rPr>
              <a:t> </a:t>
            </a:r>
            <a:r>
              <a:rPr sz="1800" spc="-10" dirty="0">
                <a:latin typeface="Calibri"/>
                <a:cs typeface="Calibri"/>
              </a:rPr>
              <a:t>responsible</a:t>
            </a:r>
            <a:r>
              <a:rPr sz="1800" spc="-30" dirty="0">
                <a:latin typeface="Calibri"/>
                <a:cs typeface="Calibri"/>
              </a:rPr>
              <a:t> </a:t>
            </a:r>
            <a:r>
              <a:rPr sz="1800" spc="-25" dirty="0">
                <a:latin typeface="Calibri"/>
                <a:cs typeface="Calibri"/>
              </a:rPr>
              <a:t>for </a:t>
            </a:r>
            <a:r>
              <a:rPr sz="1800" dirty="0">
                <a:latin typeface="Calibri"/>
                <a:cs typeface="Calibri"/>
              </a:rPr>
              <a:t>units</a:t>
            </a:r>
            <a:r>
              <a:rPr sz="1800" spc="-35"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work</a:t>
            </a:r>
            <a:r>
              <a:rPr sz="1800" spc="-40" dirty="0">
                <a:latin typeface="Calibri"/>
                <a:cs typeface="Calibri"/>
              </a:rPr>
              <a:t> </a:t>
            </a:r>
            <a:r>
              <a:rPr sz="1800" spc="-20" dirty="0">
                <a:latin typeface="Calibri"/>
                <a:cs typeface="Calibri"/>
              </a:rPr>
              <a:t>(who)</a:t>
            </a:r>
            <a:endParaRPr sz="1800">
              <a:latin typeface="Calibri"/>
              <a:cs typeface="Calibri"/>
            </a:endParaRPr>
          </a:p>
        </p:txBody>
      </p:sp>
      <p:sp>
        <p:nvSpPr>
          <p:cNvPr id="10" name="object 10"/>
          <p:cNvSpPr txBox="1"/>
          <p:nvPr/>
        </p:nvSpPr>
        <p:spPr>
          <a:xfrm>
            <a:off x="9074110" y="4180263"/>
            <a:ext cx="3070225" cy="646430"/>
          </a:xfrm>
          <a:prstGeom prst="rect">
            <a:avLst/>
          </a:prstGeom>
          <a:ln w="9525">
            <a:solidFill>
              <a:srgbClr val="000000"/>
            </a:solidFill>
          </a:ln>
        </p:spPr>
        <p:txBody>
          <a:bodyPr vert="horz" wrap="square" lIns="0" tIns="46355" rIns="0" bIns="0" rtlCol="0">
            <a:spAutoFit/>
          </a:bodyPr>
          <a:lstStyle/>
          <a:p>
            <a:pPr marL="109220" marR="101600" indent="436245">
              <a:lnSpc>
                <a:spcPts val="2110"/>
              </a:lnSpc>
              <a:spcBef>
                <a:spcPts val="365"/>
              </a:spcBef>
            </a:pPr>
            <a:r>
              <a:rPr sz="1800" dirty="0">
                <a:latin typeface="Calibri"/>
                <a:cs typeface="Calibri"/>
              </a:rPr>
              <a:t>monitoring</a:t>
            </a:r>
            <a:r>
              <a:rPr sz="1800" spc="-70" dirty="0">
                <a:latin typeface="Calibri"/>
                <a:cs typeface="Calibri"/>
              </a:rPr>
              <a:t> </a:t>
            </a:r>
            <a:r>
              <a:rPr sz="1800" dirty="0">
                <a:latin typeface="Calibri"/>
                <a:cs typeface="Calibri"/>
              </a:rPr>
              <a:t>points</a:t>
            </a:r>
            <a:r>
              <a:rPr sz="1800" spc="-70" dirty="0">
                <a:latin typeface="Calibri"/>
                <a:cs typeface="Calibri"/>
              </a:rPr>
              <a:t> </a:t>
            </a:r>
            <a:r>
              <a:rPr sz="1800" spc="-25" dirty="0">
                <a:latin typeface="Calibri"/>
                <a:cs typeface="Calibri"/>
              </a:rPr>
              <a:t>for </a:t>
            </a:r>
            <a:r>
              <a:rPr sz="1800" dirty="0">
                <a:latin typeface="Calibri"/>
                <a:cs typeface="Calibri"/>
              </a:rPr>
              <a:t>measuring</a:t>
            </a:r>
            <a:r>
              <a:rPr sz="1800" spc="-45" dirty="0">
                <a:latin typeface="Calibri"/>
                <a:cs typeface="Calibri"/>
              </a:rPr>
              <a:t> </a:t>
            </a:r>
            <a:r>
              <a:rPr sz="1800" spc="-10" dirty="0">
                <a:latin typeface="Calibri"/>
                <a:cs typeface="Calibri"/>
              </a:rPr>
              <a:t>progress</a:t>
            </a:r>
            <a:r>
              <a:rPr sz="1800" spc="-50" dirty="0">
                <a:latin typeface="Calibri"/>
                <a:cs typeface="Calibri"/>
              </a:rPr>
              <a:t> </a:t>
            </a:r>
            <a:r>
              <a:rPr sz="1800" dirty="0">
                <a:latin typeface="Calibri"/>
                <a:cs typeface="Calibri"/>
              </a:rPr>
              <a:t>(how</a:t>
            </a:r>
            <a:r>
              <a:rPr sz="1800" spc="-40" dirty="0">
                <a:latin typeface="Calibri"/>
                <a:cs typeface="Calibri"/>
              </a:rPr>
              <a:t> </a:t>
            </a:r>
            <a:r>
              <a:rPr sz="1800" spc="-20" dirty="0">
                <a:latin typeface="Calibri"/>
                <a:cs typeface="Calibri"/>
              </a:rPr>
              <a:t>well)</a:t>
            </a:r>
            <a:endParaRPr sz="1800">
              <a:latin typeface="Calibri"/>
              <a:cs typeface="Calibri"/>
            </a:endParaRPr>
          </a:p>
        </p:txBody>
      </p:sp>
      <p:sp>
        <p:nvSpPr>
          <p:cNvPr id="11" name="object 11"/>
          <p:cNvSpPr/>
          <p:nvPr/>
        </p:nvSpPr>
        <p:spPr>
          <a:xfrm>
            <a:off x="1965960" y="3840479"/>
            <a:ext cx="7108190" cy="1870075"/>
          </a:xfrm>
          <a:custGeom>
            <a:avLst/>
            <a:gdLst/>
            <a:ahLst/>
            <a:cxnLst/>
            <a:rect l="l" t="t" r="r" b="b"/>
            <a:pathLst>
              <a:path w="7108190" h="1870075">
                <a:moveTo>
                  <a:pt x="3799865" y="32270"/>
                </a:moveTo>
                <a:lnTo>
                  <a:pt x="3789642" y="16205"/>
                </a:lnTo>
                <a:lnTo>
                  <a:pt x="3765207" y="31762"/>
                </a:lnTo>
                <a:lnTo>
                  <a:pt x="3763035" y="15125"/>
                </a:lnTo>
                <a:lnTo>
                  <a:pt x="81864" y="497827"/>
                </a:lnTo>
                <a:lnTo>
                  <a:pt x="117665" y="438696"/>
                </a:lnTo>
                <a:lnTo>
                  <a:pt x="76784" y="466305"/>
                </a:lnTo>
                <a:lnTo>
                  <a:pt x="76784" y="517702"/>
                </a:lnTo>
                <a:lnTo>
                  <a:pt x="74307" y="498817"/>
                </a:lnTo>
                <a:lnTo>
                  <a:pt x="75552" y="508266"/>
                </a:lnTo>
                <a:lnTo>
                  <a:pt x="76784" y="517702"/>
                </a:lnTo>
                <a:lnTo>
                  <a:pt x="76784" y="466305"/>
                </a:lnTo>
                <a:lnTo>
                  <a:pt x="0" y="518160"/>
                </a:lnTo>
                <a:lnTo>
                  <a:pt x="134175" y="564616"/>
                </a:lnTo>
                <a:lnTo>
                  <a:pt x="85369" y="517702"/>
                </a:lnTo>
                <a:lnTo>
                  <a:pt x="84340" y="516712"/>
                </a:lnTo>
                <a:lnTo>
                  <a:pt x="3760673" y="34645"/>
                </a:lnTo>
                <a:lnTo>
                  <a:pt x="1729320" y="1327873"/>
                </a:lnTo>
                <a:lnTo>
                  <a:pt x="1728012" y="1339989"/>
                </a:lnTo>
                <a:lnTo>
                  <a:pt x="1733118" y="1348028"/>
                </a:lnTo>
                <a:lnTo>
                  <a:pt x="1728000" y="1339989"/>
                </a:lnTo>
                <a:lnTo>
                  <a:pt x="1729320" y="1327873"/>
                </a:lnTo>
                <a:lnTo>
                  <a:pt x="1736763" y="1259141"/>
                </a:lnTo>
                <a:lnTo>
                  <a:pt x="1663725" y="1380921"/>
                </a:lnTo>
                <a:lnTo>
                  <a:pt x="1804962" y="1366278"/>
                </a:lnTo>
                <a:lnTo>
                  <a:pt x="1751533" y="1348028"/>
                </a:lnTo>
                <a:lnTo>
                  <a:pt x="1739544" y="1343939"/>
                </a:lnTo>
                <a:lnTo>
                  <a:pt x="3799865" y="32270"/>
                </a:lnTo>
                <a:close/>
              </a:path>
              <a:path w="7108190" h="1870075">
                <a:moveTo>
                  <a:pt x="5630596" y="1869541"/>
                </a:moveTo>
                <a:lnTo>
                  <a:pt x="5615343" y="1821548"/>
                </a:lnTo>
                <a:lnTo>
                  <a:pt x="5587606" y="1734223"/>
                </a:lnTo>
                <a:lnTo>
                  <a:pt x="5578995" y="1802803"/>
                </a:lnTo>
                <a:lnTo>
                  <a:pt x="3843934" y="17932"/>
                </a:lnTo>
                <a:lnTo>
                  <a:pt x="3831526" y="29997"/>
                </a:lnTo>
                <a:lnTo>
                  <a:pt x="3818204" y="17818"/>
                </a:lnTo>
                <a:lnTo>
                  <a:pt x="2215261" y="1773669"/>
                </a:lnTo>
                <a:lnTo>
                  <a:pt x="2215261" y="1789430"/>
                </a:lnTo>
                <a:lnTo>
                  <a:pt x="2214448" y="1788680"/>
                </a:lnTo>
                <a:lnTo>
                  <a:pt x="2213495" y="1782673"/>
                </a:lnTo>
                <a:lnTo>
                  <a:pt x="2214549" y="1788680"/>
                </a:lnTo>
                <a:lnTo>
                  <a:pt x="2215261" y="1789430"/>
                </a:lnTo>
                <a:lnTo>
                  <a:pt x="2215261" y="1773669"/>
                </a:lnTo>
                <a:lnTo>
                  <a:pt x="2212556" y="1776628"/>
                </a:lnTo>
                <a:lnTo>
                  <a:pt x="2201799" y="1708340"/>
                </a:lnTo>
                <a:lnTo>
                  <a:pt x="2163076" y="1844941"/>
                </a:lnTo>
                <a:lnTo>
                  <a:pt x="2292654" y="1795094"/>
                </a:lnTo>
                <a:lnTo>
                  <a:pt x="2295601" y="1793963"/>
                </a:lnTo>
                <a:lnTo>
                  <a:pt x="2226614" y="1789468"/>
                </a:lnTo>
                <a:lnTo>
                  <a:pt x="3831031" y="32004"/>
                </a:lnTo>
                <a:lnTo>
                  <a:pt x="5565330" y="1816087"/>
                </a:lnTo>
                <a:lnTo>
                  <a:pt x="5577421" y="1814906"/>
                </a:lnTo>
                <a:lnTo>
                  <a:pt x="5578272" y="1808505"/>
                </a:lnTo>
                <a:lnTo>
                  <a:pt x="5577471" y="1814906"/>
                </a:lnTo>
                <a:lnTo>
                  <a:pt x="5565330" y="1816087"/>
                </a:lnTo>
                <a:lnTo>
                  <a:pt x="5496534" y="1822742"/>
                </a:lnTo>
                <a:lnTo>
                  <a:pt x="5630596" y="1869541"/>
                </a:lnTo>
                <a:close/>
              </a:path>
              <a:path w="7108190" h="1870075">
                <a:moveTo>
                  <a:pt x="7108139" y="662952"/>
                </a:moveTo>
                <a:lnTo>
                  <a:pt x="7100798" y="657225"/>
                </a:lnTo>
                <a:lnTo>
                  <a:pt x="6996201" y="575602"/>
                </a:lnTo>
                <a:lnTo>
                  <a:pt x="7027862" y="637044"/>
                </a:lnTo>
                <a:lnTo>
                  <a:pt x="3869474" y="0"/>
                </a:lnTo>
                <a:lnTo>
                  <a:pt x="3865702" y="18669"/>
                </a:lnTo>
                <a:lnTo>
                  <a:pt x="3870693" y="19685"/>
                </a:lnTo>
                <a:lnTo>
                  <a:pt x="3862489" y="32613"/>
                </a:lnTo>
                <a:lnTo>
                  <a:pt x="6043688" y="1416697"/>
                </a:lnTo>
                <a:lnTo>
                  <a:pt x="5978322" y="1439138"/>
                </a:lnTo>
                <a:lnTo>
                  <a:pt x="6119571" y="1453565"/>
                </a:lnTo>
                <a:lnTo>
                  <a:pt x="6099848" y="1420774"/>
                </a:lnTo>
                <a:lnTo>
                  <a:pt x="6046355" y="1331899"/>
                </a:lnTo>
                <a:lnTo>
                  <a:pt x="6053899" y="1400606"/>
                </a:lnTo>
                <a:lnTo>
                  <a:pt x="3880866" y="21729"/>
                </a:lnTo>
                <a:lnTo>
                  <a:pt x="7024090" y="655713"/>
                </a:lnTo>
                <a:lnTo>
                  <a:pt x="6971093" y="700087"/>
                </a:lnTo>
                <a:lnTo>
                  <a:pt x="7108139" y="662952"/>
                </a:lnTo>
                <a:close/>
              </a:path>
            </a:pathLst>
          </a:custGeom>
          <a:solidFill>
            <a:srgbClr val="4472C4"/>
          </a:solidFill>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33</a:t>
            </a:fld>
            <a:endParaRPr spc="-25" dirty="0"/>
          </a:p>
        </p:txBody>
      </p:sp>
      <p:pic>
        <p:nvPicPr>
          <p:cNvPr id="13" name="Picture 12">
            <a:extLst>
              <a:ext uri="{FF2B5EF4-FFF2-40B4-BE49-F238E27FC236}">
                <a16:creationId xmlns:a16="http://schemas.microsoft.com/office/drawing/2014/main" id="{426EF654-61FC-502E-4761-BD8DC548B6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dirty="0">
                <a:solidFill>
                  <a:srgbClr val="262EA4"/>
                </a:solidFill>
              </a:rPr>
              <a:t>Project</a:t>
            </a:r>
            <a:r>
              <a:rPr spc="295" dirty="0">
                <a:solidFill>
                  <a:srgbClr val="262EA4"/>
                </a:solidFill>
              </a:rPr>
              <a:t> </a:t>
            </a:r>
            <a:r>
              <a:rPr dirty="0">
                <a:solidFill>
                  <a:srgbClr val="262EA4"/>
                </a:solidFill>
              </a:rPr>
              <a:t>managers</a:t>
            </a:r>
            <a:r>
              <a:rPr spc="305" dirty="0">
                <a:solidFill>
                  <a:srgbClr val="262EA4"/>
                </a:solidFill>
              </a:rPr>
              <a:t> </a:t>
            </a:r>
            <a:r>
              <a:rPr dirty="0">
                <a:solidFill>
                  <a:srgbClr val="262EA4"/>
                </a:solidFill>
              </a:rPr>
              <a:t>should</a:t>
            </a:r>
            <a:r>
              <a:rPr spc="305" dirty="0">
                <a:solidFill>
                  <a:srgbClr val="262EA4"/>
                </a:solidFill>
              </a:rPr>
              <a:t> </a:t>
            </a:r>
            <a:r>
              <a:rPr dirty="0">
                <a:solidFill>
                  <a:srgbClr val="262EA4"/>
                </a:solidFill>
              </a:rPr>
              <a:t>take</a:t>
            </a:r>
            <a:r>
              <a:rPr spc="300" dirty="0">
                <a:solidFill>
                  <a:srgbClr val="262EA4"/>
                </a:solidFill>
              </a:rPr>
              <a:t> </a:t>
            </a:r>
            <a:r>
              <a:rPr dirty="0">
                <a:solidFill>
                  <a:srgbClr val="262EA4"/>
                </a:solidFill>
              </a:rPr>
              <a:t>advantage</a:t>
            </a:r>
            <a:r>
              <a:rPr spc="300" dirty="0">
                <a:solidFill>
                  <a:srgbClr val="262EA4"/>
                </a:solidFill>
              </a:rPr>
              <a:t> </a:t>
            </a:r>
            <a:r>
              <a:rPr dirty="0">
                <a:solidFill>
                  <a:srgbClr val="262EA4"/>
                </a:solidFill>
              </a:rPr>
              <a:t>of</a:t>
            </a:r>
            <a:r>
              <a:rPr spc="295" dirty="0">
                <a:solidFill>
                  <a:srgbClr val="262EA4"/>
                </a:solidFill>
              </a:rPr>
              <a:t> </a:t>
            </a:r>
            <a:r>
              <a:rPr dirty="0">
                <a:solidFill>
                  <a:srgbClr val="262EA4"/>
                </a:solidFill>
              </a:rPr>
              <a:t>relevant</a:t>
            </a:r>
            <a:r>
              <a:rPr spc="295" dirty="0">
                <a:solidFill>
                  <a:srgbClr val="262EA4"/>
                </a:solidFill>
              </a:rPr>
              <a:t> </a:t>
            </a:r>
            <a:r>
              <a:rPr dirty="0">
                <a:solidFill>
                  <a:srgbClr val="262EA4"/>
                </a:solidFill>
              </a:rPr>
              <a:t>examples</a:t>
            </a:r>
            <a:r>
              <a:rPr spc="310" dirty="0">
                <a:solidFill>
                  <a:srgbClr val="262EA4"/>
                </a:solidFill>
              </a:rPr>
              <a:t> </a:t>
            </a:r>
            <a:r>
              <a:rPr spc="-20" dirty="0">
                <a:solidFill>
                  <a:srgbClr val="262EA4"/>
                </a:solidFill>
              </a:rPr>
              <a:t>from </a:t>
            </a:r>
            <a:r>
              <a:rPr dirty="0">
                <a:solidFill>
                  <a:srgbClr val="262EA4"/>
                </a:solidFill>
              </a:rPr>
              <a:t>previous</a:t>
            </a:r>
            <a:r>
              <a:rPr spc="-60" dirty="0">
                <a:solidFill>
                  <a:srgbClr val="262EA4"/>
                </a:solidFill>
              </a:rPr>
              <a:t> </a:t>
            </a:r>
            <a:r>
              <a:rPr dirty="0">
                <a:solidFill>
                  <a:srgbClr val="262EA4"/>
                </a:solidFill>
              </a:rPr>
              <a:t>projects</a:t>
            </a:r>
            <a:r>
              <a:rPr spc="-60" dirty="0">
                <a:solidFill>
                  <a:srgbClr val="262EA4"/>
                </a:solidFill>
              </a:rPr>
              <a:t> </a:t>
            </a:r>
            <a:r>
              <a:rPr dirty="0">
                <a:solidFill>
                  <a:srgbClr val="262EA4"/>
                </a:solidFill>
              </a:rPr>
              <a:t>to</a:t>
            </a:r>
            <a:r>
              <a:rPr spc="-60" dirty="0">
                <a:solidFill>
                  <a:srgbClr val="262EA4"/>
                </a:solidFill>
              </a:rPr>
              <a:t> </a:t>
            </a:r>
            <a:r>
              <a:rPr dirty="0">
                <a:solidFill>
                  <a:srgbClr val="262EA4"/>
                </a:solidFill>
              </a:rPr>
              <a:t>begin</a:t>
            </a:r>
            <a:r>
              <a:rPr spc="-60" dirty="0">
                <a:solidFill>
                  <a:srgbClr val="262EA4"/>
                </a:solidFill>
              </a:rPr>
              <a:t> </a:t>
            </a:r>
            <a:r>
              <a:rPr dirty="0">
                <a:solidFill>
                  <a:srgbClr val="262EA4"/>
                </a:solidFill>
              </a:rPr>
              <a:t>the</a:t>
            </a:r>
            <a:r>
              <a:rPr spc="-65" dirty="0">
                <a:solidFill>
                  <a:srgbClr val="262EA4"/>
                </a:solidFill>
              </a:rPr>
              <a:t> </a:t>
            </a:r>
            <a:r>
              <a:rPr spc="-10" dirty="0">
                <a:solidFill>
                  <a:srgbClr val="262EA4"/>
                </a:solidFill>
              </a:rPr>
              <a:t>process</a:t>
            </a:r>
          </a:p>
          <a:p>
            <a:pPr marL="240665" indent="-227965" algn="just">
              <a:lnSpc>
                <a:spcPct val="100000"/>
              </a:lnSpc>
              <a:spcBef>
                <a:spcPts val="605"/>
              </a:spcBef>
              <a:buFont typeface="Arial MT"/>
              <a:buChar char="•"/>
              <a:tabLst>
                <a:tab pos="240665" algn="l"/>
              </a:tabLst>
            </a:pPr>
            <a:r>
              <a:rPr dirty="0"/>
              <a:t>WBSs</a:t>
            </a:r>
            <a:r>
              <a:rPr spc="-55" dirty="0"/>
              <a:t> </a:t>
            </a:r>
            <a:r>
              <a:rPr dirty="0"/>
              <a:t>are</a:t>
            </a:r>
            <a:r>
              <a:rPr spc="-60" dirty="0"/>
              <a:t> </a:t>
            </a:r>
            <a:r>
              <a:rPr dirty="0"/>
              <a:t>products</a:t>
            </a:r>
            <a:r>
              <a:rPr spc="-60" dirty="0"/>
              <a:t> </a:t>
            </a:r>
            <a:r>
              <a:rPr dirty="0"/>
              <a:t>of</a:t>
            </a:r>
            <a:r>
              <a:rPr spc="-60" dirty="0"/>
              <a:t> </a:t>
            </a:r>
            <a:r>
              <a:rPr dirty="0"/>
              <a:t>group</a:t>
            </a:r>
            <a:r>
              <a:rPr spc="-55" dirty="0"/>
              <a:t> </a:t>
            </a:r>
            <a:r>
              <a:rPr spc="-10" dirty="0"/>
              <a:t>efforts</a:t>
            </a:r>
          </a:p>
          <a:p>
            <a:pPr marL="241300" marR="5080" indent="-228600" algn="just">
              <a:lnSpc>
                <a:spcPts val="3000"/>
              </a:lnSpc>
              <a:spcBef>
                <a:spcPts val="1120"/>
              </a:spcBef>
              <a:buFont typeface="Arial MT"/>
              <a:buChar char="•"/>
              <a:tabLst>
                <a:tab pos="241300" algn="l"/>
              </a:tabLst>
            </a:pPr>
            <a:r>
              <a:rPr dirty="0">
                <a:solidFill>
                  <a:srgbClr val="262EA4"/>
                </a:solidFill>
              </a:rPr>
              <a:t>Project</a:t>
            </a:r>
            <a:r>
              <a:rPr spc="370" dirty="0">
                <a:solidFill>
                  <a:srgbClr val="262EA4"/>
                </a:solidFill>
              </a:rPr>
              <a:t> </a:t>
            </a:r>
            <a:r>
              <a:rPr dirty="0">
                <a:solidFill>
                  <a:srgbClr val="262EA4"/>
                </a:solidFill>
              </a:rPr>
              <a:t>teams</a:t>
            </a:r>
            <a:r>
              <a:rPr spc="380" dirty="0">
                <a:solidFill>
                  <a:srgbClr val="262EA4"/>
                </a:solidFill>
              </a:rPr>
              <a:t> </a:t>
            </a:r>
            <a:r>
              <a:rPr dirty="0">
                <a:solidFill>
                  <a:srgbClr val="262EA4"/>
                </a:solidFill>
              </a:rPr>
              <a:t>developing</a:t>
            </a:r>
            <a:r>
              <a:rPr spc="360" dirty="0">
                <a:solidFill>
                  <a:srgbClr val="262EA4"/>
                </a:solidFill>
              </a:rPr>
              <a:t> </a:t>
            </a:r>
            <a:r>
              <a:rPr dirty="0">
                <a:solidFill>
                  <a:srgbClr val="262EA4"/>
                </a:solidFill>
              </a:rPr>
              <a:t>their</a:t>
            </a:r>
            <a:r>
              <a:rPr spc="375" dirty="0">
                <a:solidFill>
                  <a:srgbClr val="262EA4"/>
                </a:solidFill>
              </a:rPr>
              <a:t> </a:t>
            </a:r>
            <a:r>
              <a:rPr dirty="0">
                <a:solidFill>
                  <a:srgbClr val="262EA4"/>
                </a:solidFill>
              </a:rPr>
              <a:t>first</a:t>
            </a:r>
            <a:r>
              <a:rPr spc="375" dirty="0">
                <a:solidFill>
                  <a:srgbClr val="262EA4"/>
                </a:solidFill>
              </a:rPr>
              <a:t> </a:t>
            </a:r>
            <a:r>
              <a:rPr dirty="0">
                <a:solidFill>
                  <a:srgbClr val="262EA4"/>
                </a:solidFill>
              </a:rPr>
              <a:t>WBS</a:t>
            </a:r>
            <a:r>
              <a:rPr spc="375" dirty="0">
                <a:solidFill>
                  <a:srgbClr val="262EA4"/>
                </a:solidFill>
              </a:rPr>
              <a:t> </a:t>
            </a:r>
            <a:r>
              <a:rPr dirty="0">
                <a:solidFill>
                  <a:srgbClr val="262EA4"/>
                </a:solidFill>
              </a:rPr>
              <a:t>frequently</a:t>
            </a:r>
            <a:r>
              <a:rPr spc="370" dirty="0">
                <a:solidFill>
                  <a:srgbClr val="262EA4"/>
                </a:solidFill>
              </a:rPr>
              <a:t> </a:t>
            </a:r>
            <a:r>
              <a:rPr dirty="0">
                <a:solidFill>
                  <a:srgbClr val="262EA4"/>
                </a:solidFill>
              </a:rPr>
              <a:t>forget</a:t>
            </a:r>
            <a:r>
              <a:rPr spc="370" dirty="0">
                <a:solidFill>
                  <a:srgbClr val="262EA4"/>
                </a:solidFill>
              </a:rPr>
              <a:t> </a:t>
            </a:r>
            <a:r>
              <a:rPr dirty="0">
                <a:solidFill>
                  <a:srgbClr val="262EA4"/>
                </a:solidFill>
              </a:rPr>
              <a:t>that</a:t>
            </a:r>
            <a:r>
              <a:rPr spc="375" dirty="0">
                <a:solidFill>
                  <a:srgbClr val="262EA4"/>
                </a:solidFill>
              </a:rPr>
              <a:t> </a:t>
            </a:r>
            <a:r>
              <a:rPr spc="-25" dirty="0">
                <a:solidFill>
                  <a:srgbClr val="262EA4"/>
                </a:solidFill>
              </a:rPr>
              <a:t>the </a:t>
            </a:r>
            <a:r>
              <a:rPr dirty="0">
                <a:solidFill>
                  <a:srgbClr val="262EA4"/>
                </a:solidFill>
              </a:rPr>
              <a:t>structure</a:t>
            </a:r>
            <a:r>
              <a:rPr spc="-75" dirty="0">
                <a:solidFill>
                  <a:srgbClr val="262EA4"/>
                </a:solidFill>
              </a:rPr>
              <a:t> </a:t>
            </a:r>
            <a:r>
              <a:rPr dirty="0">
                <a:solidFill>
                  <a:srgbClr val="262EA4"/>
                </a:solidFill>
              </a:rPr>
              <a:t>should</a:t>
            </a:r>
            <a:r>
              <a:rPr spc="-70" dirty="0">
                <a:solidFill>
                  <a:srgbClr val="262EA4"/>
                </a:solidFill>
              </a:rPr>
              <a:t> </a:t>
            </a:r>
            <a:r>
              <a:rPr dirty="0">
                <a:solidFill>
                  <a:srgbClr val="262EA4"/>
                </a:solidFill>
              </a:rPr>
              <a:t>be</a:t>
            </a:r>
            <a:r>
              <a:rPr spc="-75" dirty="0">
                <a:solidFill>
                  <a:srgbClr val="262EA4"/>
                </a:solidFill>
              </a:rPr>
              <a:t> </a:t>
            </a:r>
            <a:r>
              <a:rPr spc="-10" dirty="0">
                <a:solidFill>
                  <a:srgbClr val="262EA4"/>
                </a:solidFill>
              </a:rPr>
              <a:t>end-</a:t>
            </a:r>
            <a:r>
              <a:rPr dirty="0">
                <a:solidFill>
                  <a:srgbClr val="262EA4"/>
                </a:solidFill>
              </a:rPr>
              <a:t>item,</a:t>
            </a:r>
            <a:r>
              <a:rPr spc="-65" dirty="0">
                <a:solidFill>
                  <a:srgbClr val="262EA4"/>
                </a:solidFill>
              </a:rPr>
              <a:t> </a:t>
            </a:r>
            <a:r>
              <a:rPr dirty="0">
                <a:solidFill>
                  <a:srgbClr val="262EA4"/>
                </a:solidFill>
              </a:rPr>
              <a:t>output</a:t>
            </a:r>
            <a:r>
              <a:rPr spc="-65" dirty="0">
                <a:solidFill>
                  <a:srgbClr val="262EA4"/>
                </a:solidFill>
              </a:rPr>
              <a:t> </a:t>
            </a:r>
            <a:r>
              <a:rPr spc="-10" dirty="0">
                <a:solidFill>
                  <a:srgbClr val="262EA4"/>
                </a:solidFill>
              </a:rPr>
              <a:t>oriented.</a:t>
            </a:r>
          </a:p>
          <a:p>
            <a:pPr marL="241300" marR="5715" indent="-228600" algn="just">
              <a:lnSpc>
                <a:spcPct val="90200"/>
              </a:lnSpc>
              <a:spcBef>
                <a:spcPts val="940"/>
              </a:spcBef>
              <a:buFont typeface="Arial MT"/>
              <a:buChar char="•"/>
              <a:tabLst>
                <a:tab pos="241300" algn="l"/>
              </a:tabLst>
            </a:pPr>
            <a:r>
              <a:rPr dirty="0"/>
              <a:t>First</a:t>
            </a:r>
            <a:r>
              <a:rPr spc="555" dirty="0"/>
              <a:t> </a:t>
            </a:r>
            <a:r>
              <a:rPr dirty="0"/>
              <a:t>attempts</a:t>
            </a:r>
            <a:r>
              <a:rPr spc="565" dirty="0"/>
              <a:t> </a:t>
            </a:r>
            <a:r>
              <a:rPr dirty="0"/>
              <a:t>often</a:t>
            </a:r>
            <a:r>
              <a:rPr spc="555" dirty="0"/>
              <a:t> </a:t>
            </a:r>
            <a:r>
              <a:rPr dirty="0"/>
              <a:t>result</a:t>
            </a:r>
            <a:r>
              <a:rPr spc="555" dirty="0"/>
              <a:t> </a:t>
            </a:r>
            <a:r>
              <a:rPr dirty="0"/>
              <a:t>in</a:t>
            </a:r>
            <a:r>
              <a:rPr spc="565" dirty="0"/>
              <a:t> </a:t>
            </a:r>
            <a:r>
              <a:rPr dirty="0"/>
              <a:t>a</a:t>
            </a:r>
            <a:r>
              <a:rPr spc="550" dirty="0"/>
              <a:t> </a:t>
            </a:r>
            <a:r>
              <a:rPr dirty="0"/>
              <a:t>WBS</a:t>
            </a:r>
            <a:r>
              <a:rPr spc="560" dirty="0"/>
              <a:t> </a:t>
            </a:r>
            <a:r>
              <a:rPr dirty="0"/>
              <a:t>that</a:t>
            </a:r>
            <a:r>
              <a:rPr spc="560" dirty="0"/>
              <a:t> </a:t>
            </a:r>
            <a:r>
              <a:rPr dirty="0"/>
              <a:t>follows</a:t>
            </a:r>
            <a:r>
              <a:rPr spc="560" dirty="0"/>
              <a:t> </a:t>
            </a:r>
            <a:r>
              <a:rPr dirty="0"/>
              <a:t>the</a:t>
            </a:r>
            <a:r>
              <a:rPr spc="555" dirty="0"/>
              <a:t> </a:t>
            </a:r>
            <a:r>
              <a:rPr spc="-10" dirty="0"/>
              <a:t>organization </a:t>
            </a:r>
            <a:r>
              <a:rPr spc="-25" dirty="0"/>
              <a:t>structure—</a:t>
            </a:r>
            <a:r>
              <a:rPr dirty="0"/>
              <a:t>design,</a:t>
            </a:r>
            <a:r>
              <a:rPr spc="625" dirty="0"/>
              <a:t> </a:t>
            </a:r>
            <a:r>
              <a:rPr dirty="0"/>
              <a:t>marketing,</a:t>
            </a:r>
            <a:r>
              <a:rPr spc="630" dirty="0"/>
              <a:t> </a:t>
            </a:r>
            <a:r>
              <a:rPr dirty="0"/>
              <a:t>production,</a:t>
            </a:r>
            <a:r>
              <a:rPr spc="625" dirty="0"/>
              <a:t> </a:t>
            </a:r>
            <a:r>
              <a:rPr dirty="0"/>
              <a:t>finance.</a:t>
            </a:r>
            <a:r>
              <a:rPr spc="635" dirty="0"/>
              <a:t> </a:t>
            </a:r>
            <a:r>
              <a:rPr dirty="0"/>
              <a:t>So,</a:t>
            </a:r>
            <a:r>
              <a:rPr spc="635" dirty="0"/>
              <a:t> </a:t>
            </a:r>
            <a:r>
              <a:rPr dirty="0"/>
              <a:t>every</a:t>
            </a:r>
            <a:r>
              <a:rPr spc="625" dirty="0"/>
              <a:t> </a:t>
            </a:r>
            <a:r>
              <a:rPr spc="-10" dirty="0"/>
              <a:t>effort </a:t>
            </a:r>
            <a:r>
              <a:rPr dirty="0"/>
              <a:t>should</a:t>
            </a:r>
            <a:r>
              <a:rPr spc="85" dirty="0"/>
              <a:t> </a:t>
            </a:r>
            <a:r>
              <a:rPr dirty="0"/>
              <a:t>be</a:t>
            </a:r>
            <a:r>
              <a:rPr spc="80" dirty="0"/>
              <a:t> </a:t>
            </a:r>
            <a:r>
              <a:rPr dirty="0"/>
              <a:t>made</a:t>
            </a:r>
            <a:r>
              <a:rPr spc="80" dirty="0"/>
              <a:t> </a:t>
            </a:r>
            <a:r>
              <a:rPr dirty="0"/>
              <a:t>to</a:t>
            </a:r>
            <a:r>
              <a:rPr spc="85" dirty="0"/>
              <a:t> </a:t>
            </a:r>
            <a:r>
              <a:rPr dirty="0"/>
              <a:t>develop</a:t>
            </a:r>
            <a:r>
              <a:rPr spc="90" dirty="0"/>
              <a:t> </a:t>
            </a:r>
            <a:r>
              <a:rPr dirty="0"/>
              <a:t>a</a:t>
            </a:r>
            <a:r>
              <a:rPr spc="85" dirty="0"/>
              <a:t> </a:t>
            </a:r>
            <a:r>
              <a:rPr dirty="0"/>
              <a:t>WBS</a:t>
            </a:r>
            <a:r>
              <a:rPr spc="90" dirty="0"/>
              <a:t> </a:t>
            </a:r>
            <a:r>
              <a:rPr dirty="0"/>
              <a:t>that</a:t>
            </a:r>
            <a:r>
              <a:rPr spc="85" dirty="0"/>
              <a:t> </a:t>
            </a:r>
            <a:r>
              <a:rPr dirty="0"/>
              <a:t>is</a:t>
            </a:r>
            <a:r>
              <a:rPr spc="90" dirty="0"/>
              <a:t> </a:t>
            </a:r>
            <a:r>
              <a:rPr dirty="0"/>
              <a:t>output</a:t>
            </a:r>
            <a:r>
              <a:rPr spc="90" dirty="0"/>
              <a:t> </a:t>
            </a:r>
            <a:r>
              <a:rPr dirty="0"/>
              <a:t>oriented</a:t>
            </a:r>
            <a:r>
              <a:rPr spc="90" dirty="0"/>
              <a:t> </a:t>
            </a:r>
            <a:r>
              <a:rPr dirty="0"/>
              <a:t>in</a:t>
            </a:r>
            <a:r>
              <a:rPr spc="90" dirty="0"/>
              <a:t> </a:t>
            </a:r>
            <a:r>
              <a:rPr dirty="0"/>
              <a:t>order</a:t>
            </a:r>
            <a:r>
              <a:rPr spc="85" dirty="0"/>
              <a:t> </a:t>
            </a:r>
            <a:r>
              <a:rPr spc="-25" dirty="0"/>
              <a:t>to </a:t>
            </a:r>
            <a:r>
              <a:rPr spc="-20" dirty="0"/>
              <a:t>concentrate</a:t>
            </a:r>
            <a:r>
              <a:rPr spc="-70" dirty="0"/>
              <a:t> </a:t>
            </a:r>
            <a:r>
              <a:rPr dirty="0"/>
              <a:t>on</a:t>
            </a:r>
            <a:r>
              <a:rPr spc="-55" dirty="0"/>
              <a:t> </a:t>
            </a:r>
            <a:r>
              <a:rPr spc="-10" dirty="0"/>
              <a:t>concrete</a:t>
            </a:r>
            <a:r>
              <a:rPr spc="-65" dirty="0"/>
              <a:t> </a:t>
            </a:r>
            <a:r>
              <a:rPr spc="-10" dirty="0"/>
              <a:t>deliverables</a:t>
            </a:r>
          </a:p>
          <a:p>
            <a:pPr marL="241300" marR="5080" indent="-228600" algn="just">
              <a:lnSpc>
                <a:spcPts val="3000"/>
              </a:lnSpc>
              <a:spcBef>
                <a:spcPts val="1045"/>
              </a:spcBef>
              <a:buFont typeface="Arial MT"/>
              <a:buChar char="•"/>
              <a:tabLst>
                <a:tab pos="241300" algn="l"/>
              </a:tabLst>
            </a:pPr>
            <a:r>
              <a:rPr dirty="0">
                <a:solidFill>
                  <a:srgbClr val="262EA4"/>
                </a:solidFill>
              </a:rPr>
              <a:t>WBS</a:t>
            </a:r>
            <a:r>
              <a:rPr spc="40" dirty="0">
                <a:solidFill>
                  <a:srgbClr val="262EA4"/>
                </a:solidFill>
              </a:rPr>
              <a:t> </a:t>
            </a:r>
            <a:r>
              <a:rPr dirty="0">
                <a:solidFill>
                  <a:srgbClr val="262EA4"/>
                </a:solidFill>
              </a:rPr>
              <a:t>should</a:t>
            </a:r>
            <a:r>
              <a:rPr spc="45" dirty="0">
                <a:solidFill>
                  <a:srgbClr val="262EA4"/>
                </a:solidFill>
              </a:rPr>
              <a:t> </a:t>
            </a:r>
            <a:r>
              <a:rPr dirty="0">
                <a:solidFill>
                  <a:srgbClr val="262EA4"/>
                </a:solidFill>
              </a:rPr>
              <a:t>provide</a:t>
            </a:r>
            <a:r>
              <a:rPr spc="30" dirty="0">
                <a:solidFill>
                  <a:srgbClr val="262EA4"/>
                </a:solidFill>
              </a:rPr>
              <a:t> </a:t>
            </a:r>
            <a:r>
              <a:rPr dirty="0">
                <a:solidFill>
                  <a:srgbClr val="262EA4"/>
                </a:solidFill>
              </a:rPr>
              <a:t>the</a:t>
            </a:r>
            <a:r>
              <a:rPr spc="35" dirty="0">
                <a:solidFill>
                  <a:srgbClr val="262EA4"/>
                </a:solidFill>
              </a:rPr>
              <a:t> </a:t>
            </a:r>
            <a:r>
              <a:rPr dirty="0">
                <a:solidFill>
                  <a:srgbClr val="262EA4"/>
                </a:solidFill>
              </a:rPr>
              <a:t>level</a:t>
            </a:r>
            <a:r>
              <a:rPr spc="35" dirty="0">
                <a:solidFill>
                  <a:srgbClr val="262EA4"/>
                </a:solidFill>
              </a:rPr>
              <a:t> </a:t>
            </a:r>
            <a:r>
              <a:rPr dirty="0">
                <a:solidFill>
                  <a:srgbClr val="262EA4"/>
                </a:solidFill>
              </a:rPr>
              <a:t>of</a:t>
            </a:r>
            <a:r>
              <a:rPr spc="35" dirty="0">
                <a:solidFill>
                  <a:srgbClr val="262EA4"/>
                </a:solidFill>
              </a:rPr>
              <a:t> </a:t>
            </a:r>
            <a:r>
              <a:rPr dirty="0">
                <a:solidFill>
                  <a:srgbClr val="262EA4"/>
                </a:solidFill>
              </a:rPr>
              <a:t>detail</a:t>
            </a:r>
            <a:r>
              <a:rPr spc="35" dirty="0">
                <a:solidFill>
                  <a:srgbClr val="262EA4"/>
                </a:solidFill>
              </a:rPr>
              <a:t> </a:t>
            </a:r>
            <a:r>
              <a:rPr dirty="0">
                <a:solidFill>
                  <a:srgbClr val="262EA4"/>
                </a:solidFill>
              </a:rPr>
              <a:t>needed</a:t>
            </a:r>
            <a:r>
              <a:rPr spc="40" dirty="0">
                <a:solidFill>
                  <a:srgbClr val="262EA4"/>
                </a:solidFill>
              </a:rPr>
              <a:t> </a:t>
            </a:r>
            <a:r>
              <a:rPr dirty="0">
                <a:solidFill>
                  <a:srgbClr val="262EA4"/>
                </a:solidFill>
              </a:rPr>
              <a:t>to</a:t>
            </a:r>
            <a:r>
              <a:rPr spc="40" dirty="0">
                <a:solidFill>
                  <a:srgbClr val="262EA4"/>
                </a:solidFill>
              </a:rPr>
              <a:t> </a:t>
            </a:r>
            <a:r>
              <a:rPr dirty="0">
                <a:solidFill>
                  <a:srgbClr val="262EA4"/>
                </a:solidFill>
              </a:rPr>
              <a:t>manage</a:t>
            </a:r>
            <a:r>
              <a:rPr spc="35" dirty="0">
                <a:solidFill>
                  <a:srgbClr val="262EA4"/>
                </a:solidFill>
              </a:rPr>
              <a:t> </a:t>
            </a:r>
            <a:r>
              <a:rPr dirty="0">
                <a:solidFill>
                  <a:srgbClr val="262EA4"/>
                </a:solidFill>
              </a:rPr>
              <a:t>the</a:t>
            </a:r>
            <a:r>
              <a:rPr spc="35" dirty="0">
                <a:solidFill>
                  <a:srgbClr val="262EA4"/>
                </a:solidFill>
              </a:rPr>
              <a:t> </a:t>
            </a:r>
            <a:r>
              <a:rPr spc="-10" dirty="0">
                <a:solidFill>
                  <a:srgbClr val="262EA4"/>
                </a:solidFill>
              </a:rPr>
              <a:t>specific </a:t>
            </a:r>
            <a:r>
              <a:rPr dirty="0">
                <a:solidFill>
                  <a:srgbClr val="262EA4"/>
                </a:solidFill>
              </a:rPr>
              <a:t>project</a:t>
            </a:r>
            <a:r>
              <a:rPr spc="-90" dirty="0">
                <a:solidFill>
                  <a:srgbClr val="262EA4"/>
                </a:solidFill>
              </a:rPr>
              <a:t> </a:t>
            </a:r>
            <a:r>
              <a:rPr spc="-10" dirty="0">
                <a:solidFill>
                  <a:srgbClr val="262EA4"/>
                </a:solidFill>
              </a:rPr>
              <a:t>successfully.</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34</a:t>
            </a:fld>
            <a:endParaRPr spc="-25" dirty="0"/>
          </a:p>
        </p:txBody>
      </p:sp>
      <p:sp>
        <p:nvSpPr>
          <p:cNvPr id="3" name="object 3"/>
          <p:cNvSpPr txBox="1">
            <a:spLocks noGrp="1"/>
          </p:cNvSpPr>
          <p:nvPr>
            <p:ph type="title"/>
          </p:nvPr>
        </p:nvSpPr>
        <p:spPr>
          <a:xfrm>
            <a:off x="45114" y="61699"/>
            <a:ext cx="10093854" cy="1338828"/>
          </a:xfrm>
          <a:prstGeom prst="rect">
            <a:avLst/>
          </a:prstGeom>
        </p:spPr>
        <p:txBody>
          <a:bodyPr vert="horz" wrap="square" lIns="0" tIns="15240" rIns="0" bIns="0" rtlCol="0">
            <a:spAutoFit/>
          </a:bodyPr>
          <a:lstStyle/>
          <a:p>
            <a:pPr marL="167005">
              <a:lnSpc>
                <a:spcPct val="100000"/>
              </a:lnSpc>
              <a:spcBef>
                <a:spcPts val="120"/>
              </a:spcBef>
            </a:pPr>
            <a:r>
              <a:rPr b="1" u="sng" spc="95" dirty="0">
                <a:solidFill>
                  <a:srgbClr val="FF0000"/>
                </a:solidFill>
              </a:rPr>
              <a:t>3- Creating the Work Breakdown Structure (WBS)</a:t>
            </a:r>
          </a:p>
        </p:txBody>
      </p:sp>
      <p:pic>
        <p:nvPicPr>
          <p:cNvPr id="5" name="Picture 4">
            <a:extLst>
              <a:ext uri="{FF2B5EF4-FFF2-40B4-BE49-F238E27FC236}">
                <a16:creationId xmlns:a16="http://schemas.microsoft.com/office/drawing/2014/main" id="{B1EFAAD3-6DDE-4C93-4B4D-13B62822FA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6814" y="1033916"/>
            <a:ext cx="10451465" cy="5710555"/>
            <a:chOff x="1740774" y="1069384"/>
            <a:chExt cx="10451465" cy="5710555"/>
          </a:xfrm>
        </p:grpSpPr>
        <p:pic>
          <p:nvPicPr>
            <p:cNvPr id="3" name="object 3"/>
            <p:cNvPicPr/>
            <p:nvPr/>
          </p:nvPicPr>
          <p:blipFill>
            <a:blip r:embed="rId2" cstate="print"/>
            <a:stretch>
              <a:fillRect/>
            </a:stretch>
          </p:blipFill>
          <p:spPr>
            <a:xfrm>
              <a:off x="1740774" y="1670620"/>
              <a:ext cx="8532485" cy="5109020"/>
            </a:xfrm>
            <a:prstGeom prst="rect">
              <a:avLst/>
            </a:prstGeom>
          </p:spPr>
        </p:pic>
        <p:pic>
          <p:nvPicPr>
            <p:cNvPr id="4" name="object 4"/>
            <p:cNvPicPr/>
            <p:nvPr/>
          </p:nvPicPr>
          <p:blipFill>
            <a:blip r:embed="rId3" cstate="print"/>
            <a:stretch>
              <a:fillRect/>
            </a:stretch>
          </p:blipFill>
          <p:spPr>
            <a:xfrm>
              <a:off x="9124378" y="1069384"/>
              <a:ext cx="3067621" cy="1642816"/>
            </a:xfrm>
            <a:prstGeom prst="rect">
              <a:avLst/>
            </a:prstGeom>
          </p:spPr>
        </p:pic>
      </p:grpSp>
      <p:sp>
        <p:nvSpPr>
          <p:cNvPr id="5" name="object 5"/>
          <p:cNvSpPr txBox="1">
            <a:spLocks noGrp="1"/>
          </p:cNvSpPr>
          <p:nvPr>
            <p:ph type="title"/>
          </p:nvPr>
        </p:nvSpPr>
        <p:spPr>
          <a:xfrm>
            <a:off x="152401" y="113529"/>
            <a:ext cx="9753600" cy="1337546"/>
          </a:xfrm>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4- Integrating the WBS with the Organization (1/2)</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35</a:t>
            </a:fld>
            <a:endParaRPr spc="-25" dirty="0"/>
          </a:p>
        </p:txBody>
      </p:sp>
      <p:pic>
        <p:nvPicPr>
          <p:cNvPr id="7" name="Picture 6">
            <a:extLst>
              <a:ext uri="{FF2B5EF4-FFF2-40B4-BE49-F238E27FC236}">
                <a16:creationId xmlns:a16="http://schemas.microsoft.com/office/drawing/2014/main" id="{11F5104C-0486-A4BD-8DB4-2CE099846DB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1" y="105654"/>
            <a:ext cx="9829800" cy="1342146"/>
          </a:xfrm>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4- Integrating the WBS with the Organization (2/2)</a:t>
            </a: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sp>
        <p:nvSpPr>
          <p:cNvPr id="4" name="object 4"/>
          <p:cNvSpPr txBox="1"/>
          <p:nvPr/>
        </p:nvSpPr>
        <p:spPr>
          <a:xfrm>
            <a:off x="916939" y="1577340"/>
            <a:ext cx="10358120" cy="5210175"/>
          </a:xfrm>
          <a:prstGeom prst="rect">
            <a:avLst/>
          </a:prstGeom>
        </p:spPr>
        <p:txBody>
          <a:bodyPr vert="horz" wrap="square" lIns="0" tIns="57150" rIns="0" bIns="0" rtlCol="0">
            <a:spAutoFit/>
          </a:bodyPr>
          <a:lstStyle/>
          <a:p>
            <a:pPr marL="241300" marR="5715" indent="-228600" algn="just">
              <a:lnSpc>
                <a:spcPts val="2810"/>
              </a:lnSpc>
              <a:spcBef>
                <a:spcPts val="450"/>
              </a:spcBef>
              <a:buFont typeface="Arial MT"/>
              <a:buChar char="•"/>
              <a:tabLst>
                <a:tab pos="241300" algn="l"/>
              </a:tabLst>
            </a:pPr>
            <a:r>
              <a:rPr sz="2600" dirty="0">
                <a:latin typeface="Calibri"/>
                <a:cs typeface="Calibri"/>
              </a:rPr>
              <a:t>The</a:t>
            </a:r>
            <a:r>
              <a:rPr sz="2600" spc="25" dirty="0">
                <a:latin typeface="Calibri"/>
                <a:cs typeface="Calibri"/>
              </a:rPr>
              <a:t> </a:t>
            </a:r>
            <a:r>
              <a:rPr sz="2600" dirty="0">
                <a:latin typeface="Calibri"/>
                <a:cs typeface="Calibri"/>
              </a:rPr>
              <a:t>WBS</a:t>
            </a:r>
            <a:r>
              <a:rPr sz="2600" spc="45" dirty="0">
                <a:latin typeface="Calibri"/>
                <a:cs typeface="Calibri"/>
              </a:rPr>
              <a:t> </a:t>
            </a:r>
            <a:r>
              <a:rPr sz="2600" dirty="0">
                <a:latin typeface="Calibri"/>
                <a:cs typeface="Calibri"/>
              </a:rPr>
              <a:t>is</a:t>
            </a:r>
            <a:r>
              <a:rPr sz="2600" spc="30" dirty="0">
                <a:latin typeface="Calibri"/>
                <a:cs typeface="Calibri"/>
              </a:rPr>
              <a:t> </a:t>
            </a:r>
            <a:r>
              <a:rPr sz="2600" dirty="0">
                <a:latin typeface="Calibri"/>
                <a:cs typeface="Calibri"/>
              </a:rPr>
              <a:t>used</a:t>
            </a:r>
            <a:r>
              <a:rPr sz="2600" spc="35" dirty="0">
                <a:latin typeface="Calibri"/>
                <a:cs typeface="Calibri"/>
              </a:rPr>
              <a:t> </a:t>
            </a:r>
            <a:r>
              <a:rPr sz="2600" dirty="0">
                <a:latin typeface="Calibri"/>
                <a:cs typeface="Calibri"/>
              </a:rPr>
              <a:t>to</a:t>
            </a:r>
            <a:r>
              <a:rPr sz="2600" spc="35" dirty="0">
                <a:latin typeface="Calibri"/>
                <a:cs typeface="Calibri"/>
              </a:rPr>
              <a:t> </a:t>
            </a:r>
            <a:r>
              <a:rPr sz="2600" dirty="0">
                <a:latin typeface="Calibri"/>
                <a:cs typeface="Calibri"/>
              </a:rPr>
              <a:t>link</a:t>
            </a:r>
            <a:r>
              <a:rPr sz="2600" spc="40" dirty="0">
                <a:latin typeface="Calibri"/>
                <a:cs typeface="Calibri"/>
              </a:rPr>
              <a:t> </a:t>
            </a:r>
            <a:r>
              <a:rPr sz="2600" dirty="0">
                <a:latin typeface="Calibri"/>
                <a:cs typeface="Calibri"/>
              </a:rPr>
              <a:t>the</a:t>
            </a:r>
            <a:r>
              <a:rPr sz="2600" spc="35" dirty="0">
                <a:latin typeface="Calibri"/>
                <a:cs typeface="Calibri"/>
              </a:rPr>
              <a:t> </a:t>
            </a:r>
            <a:r>
              <a:rPr sz="2600" spc="-10" dirty="0">
                <a:latin typeface="Calibri"/>
                <a:cs typeface="Calibri"/>
              </a:rPr>
              <a:t>organizational</a:t>
            </a:r>
            <a:r>
              <a:rPr sz="2600" spc="40" dirty="0">
                <a:latin typeface="Calibri"/>
                <a:cs typeface="Calibri"/>
              </a:rPr>
              <a:t> </a:t>
            </a:r>
            <a:r>
              <a:rPr sz="2600" dirty="0">
                <a:latin typeface="Calibri"/>
                <a:cs typeface="Calibri"/>
              </a:rPr>
              <a:t>units</a:t>
            </a:r>
            <a:r>
              <a:rPr sz="2600" spc="30" dirty="0">
                <a:latin typeface="Calibri"/>
                <a:cs typeface="Calibri"/>
              </a:rPr>
              <a:t> </a:t>
            </a:r>
            <a:r>
              <a:rPr sz="2600" dirty="0">
                <a:latin typeface="Calibri"/>
                <a:cs typeface="Calibri"/>
              </a:rPr>
              <a:t>responsible</a:t>
            </a:r>
            <a:r>
              <a:rPr sz="2600" spc="30" dirty="0">
                <a:latin typeface="Calibri"/>
                <a:cs typeface="Calibri"/>
              </a:rPr>
              <a:t> </a:t>
            </a:r>
            <a:r>
              <a:rPr sz="2600" dirty="0">
                <a:latin typeface="Calibri"/>
                <a:cs typeface="Calibri"/>
              </a:rPr>
              <a:t>for</a:t>
            </a:r>
            <a:r>
              <a:rPr sz="2600" spc="45" dirty="0">
                <a:latin typeface="Calibri"/>
                <a:cs typeface="Calibri"/>
              </a:rPr>
              <a:t> </a:t>
            </a:r>
            <a:r>
              <a:rPr sz="2600" spc="-10" dirty="0">
                <a:latin typeface="Calibri"/>
                <a:cs typeface="Calibri"/>
              </a:rPr>
              <a:t>performing </a:t>
            </a:r>
            <a:r>
              <a:rPr sz="2600" dirty="0">
                <a:latin typeface="Calibri"/>
                <a:cs typeface="Calibri"/>
              </a:rPr>
              <a:t>the</a:t>
            </a:r>
            <a:r>
              <a:rPr sz="2600" spc="570" dirty="0">
                <a:latin typeface="Calibri"/>
                <a:cs typeface="Calibri"/>
              </a:rPr>
              <a:t> </a:t>
            </a:r>
            <a:r>
              <a:rPr sz="2600" dirty="0">
                <a:latin typeface="Calibri"/>
                <a:cs typeface="Calibri"/>
              </a:rPr>
              <a:t>work.</a:t>
            </a:r>
            <a:r>
              <a:rPr sz="2600" spc="580" dirty="0">
                <a:latin typeface="Calibri"/>
                <a:cs typeface="Calibri"/>
              </a:rPr>
              <a:t> </a:t>
            </a:r>
            <a:r>
              <a:rPr sz="2600" dirty="0">
                <a:latin typeface="Calibri"/>
                <a:cs typeface="Calibri"/>
              </a:rPr>
              <a:t>In</a:t>
            </a:r>
            <a:r>
              <a:rPr sz="2600" spc="575" dirty="0">
                <a:latin typeface="Calibri"/>
                <a:cs typeface="Calibri"/>
              </a:rPr>
              <a:t> </a:t>
            </a:r>
            <a:r>
              <a:rPr sz="2600" dirty="0">
                <a:latin typeface="Calibri"/>
                <a:cs typeface="Calibri"/>
              </a:rPr>
              <a:t>practice,</a:t>
            </a:r>
            <a:r>
              <a:rPr sz="2600" spc="575" dirty="0">
                <a:latin typeface="Calibri"/>
                <a:cs typeface="Calibri"/>
              </a:rPr>
              <a:t> </a:t>
            </a:r>
            <a:r>
              <a:rPr sz="2600" dirty="0">
                <a:latin typeface="Calibri"/>
                <a:cs typeface="Calibri"/>
              </a:rPr>
              <a:t>the</a:t>
            </a:r>
            <a:r>
              <a:rPr sz="2600" spc="570" dirty="0">
                <a:latin typeface="Calibri"/>
                <a:cs typeface="Calibri"/>
              </a:rPr>
              <a:t> </a:t>
            </a:r>
            <a:r>
              <a:rPr sz="2600" dirty="0">
                <a:latin typeface="Calibri"/>
                <a:cs typeface="Calibri"/>
              </a:rPr>
              <a:t>outcome</a:t>
            </a:r>
            <a:r>
              <a:rPr sz="2600" spc="570" dirty="0">
                <a:latin typeface="Calibri"/>
                <a:cs typeface="Calibri"/>
              </a:rPr>
              <a:t> </a:t>
            </a:r>
            <a:r>
              <a:rPr sz="2600" dirty="0">
                <a:latin typeface="Calibri"/>
                <a:cs typeface="Calibri"/>
              </a:rPr>
              <a:t>of</a:t>
            </a:r>
            <a:r>
              <a:rPr sz="2600" spc="570" dirty="0">
                <a:latin typeface="Calibri"/>
                <a:cs typeface="Calibri"/>
              </a:rPr>
              <a:t> </a:t>
            </a:r>
            <a:r>
              <a:rPr sz="2600" dirty="0">
                <a:latin typeface="Calibri"/>
                <a:cs typeface="Calibri"/>
              </a:rPr>
              <a:t>this</a:t>
            </a:r>
            <a:r>
              <a:rPr sz="2600" spc="575" dirty="0">
                <a:latin typeface="Calibri"/>
                <a:cs typeface="Calibri"/>
              </a:rPr>
              <a:t> </a:t>
            </a:r>
            <a:r>
              <a:rPr sz="2600" dirty="0">
                <a:latin typeface="Calibri"/>
                <a:cs typeface="Calibri"/>
              </a:rPr>
              <a:t>process</a:t>
            </a:r>
            <a:r>
              <a:rPr sz="2600" spc="570" dirty="0">
                <a:latin typeface="Calibri"/>
                <a:cs typeface="Calibri"/>
              </a:rPr>
              <a:t> </a:t>
            </a:r>
            <a:r>
              <a:rPr sz="2600" dirty="0">
                <a:latin typeface="Calibri"/>
                <a:cs typeface="Calibri"/>
              </a:rPr>
              <a:t>is</a:t>
            </a:r>
            <a:r>
              <a:rPr sz="2600" spc="575" dirty="0">
                <a:latin typeface="Calibri"/>
                <a:cs typeface="Calibri"/>
              </a:rPr>
              <a:t> </a:t>
            </a:r>
            <a:r>
              <a:rPr sz="2600" dirty="0">
                <a:latin typeface="Calibri"/>
                <a:cs typeface="Calibri"/>
              </a:rPr>
              <a:t>the</a:t>
            </a:r>
            <a:r>
              <a:rPr sz="2600" spc="570" dirty="0">
                <a:latin typeface="Calibri"/>
                <a:cs typeface="Calibri"/>
              </a:rPr>
              <a:t> </a:t>
            </a:r>
            <a:r>
              <a:rPr sz="2600" b="1" u="heavy" spc="-10" dirty="0">
                <a:uFill>
                  <a:solidFill>
                    <a:srgbClr val="000000"/>
                  </a:solidFill>
                </a:uFill>
                <a:latin typeface="Calibri"/>
                <a:cs typeface="Calibri"/>
              </a:rPr>
              <a:t>organization</a:t>
            </a:r>
            <a:r>
              <a:rPr sz="2600" b="1" spc="-10" dirty="0">
                <a:latin typeface="Calibri"/>
                <a:cs typeface="Calibri"/>
              </a:rPr>
              <a:t> </a:t>
            </a:r>
            <a:r>
              <a:rPr sz="2600" b="1" u="heavy" spc="-10" dirty="0">
                <a:uFill>
                  <a:solidFill>
                    <a:srgbClr val="000000"/>
                  </a:solidFill>
                </a:uFill>
                <a:latin typeface="Calibri"/>
                <a:cs typeface="Calibri"/>
              </a:rPr>
              <a:t>breakdown</a:t>
            </a:r>
            <a:r>
              <a:rPr sz="2600" b="1" u="heavy" spc="-125" dirty="0">
                <a:uFill>
                  <a:solidFill>
                    <a:srgbClr val="000000"/>
                  </a:solidFill>
                </a:uFill>
                <a:latin typeface="Calibri"/>
                <a:cs typeface="Calibri"/>
              </a:rPr>
              <a:t> </a:t>
            </a:r>
            <a:r>
              <a:rPr sz="2600" b="1" u="heavy" dirty="0">
                <a:uFill>
                  <a:solidFill>
                    <a:srgbClr val="000000"/>
                  </a:solidFill>
                </a:uFill>
                <a:latin typeface="Calibri"/>
                <a:cs typeface="Calibri"/>
              </a:rPr>
              <a:t>structure</a:t>
            </a:r>
            <a:r>
              <a:rPr sz="2600" b="1" u="heavy" spc="-125" dirty="0">
                <a:uFill>
                  <a:solidFill>
                    <a:srgbClr val="000000"/>
                  </a:solidFill>
                </a:uFill>
                <a:latin typeface="Calibri"/>
                <a:cs typeface="Calibri"/>
              </a:rPr>
              <a:t> </a:t>
            </a:r>
            <a:r>
              <a:rPr sz="2600" b="1" u="heavy" spc="-10" dirty="0">
                <a:uFill>
                  <a:solidFill>
                    <a:srgbClr val="000000"/>
                  </a:solidFill>
                </a:uFill>
                <a:latin typeface="Calibri"/>
                <a:cs typeface="Calibri"/>
              </a:rPr>
              <a:t>(OBS)</a:t>
            </a:r>
            <a:endParaRPr sz="2600">
              <a:latin typeface="Calibri"/>
              <a:cs typeface="Calibri"/>
            </a:endParaRPr>
          </a:p>
          <a:p>
            <a:pPr marL="241300" marR="6350" indent="-228600" algn="just">
              <a:lnSpc>
                <a:spcPts val="2900"/>
              </a:lnSpc>
              <a:spcBef>
                <a:spcPts val="905"/>
              </a:spcBef>
              <a:buFont typeface="Arial MT"/>
              <a:buChar char="•"/>
              <a:tabLst>
                <a:tab pos="241300" algn="l"/>
              </a:tabLst>
            </a:pPr>
            <a:r>
              <a:rPr sz="2600" dirty="0">
                <a:solidFill>
                  <a:srgbClr val="262EA4"/>
                </a:solidFill>
                <a:latin typeface="Calibri"/>
                <a:cs typeface="Calibri"/>
              </a:rPr>
              <a:t>The</a:t>
            </a:r>
            <a:r>
              <a:rPr sz="2600" spc="360" dirty="0">
                <a:solidFill>
                  <a:srgbClr val="262EA4"/>
                </a:solidFill>
                <a:latin typeface="Calibri"/>
                <a:cs typeface="Calibri"/>
              </a:rPr>
              <a:t>  </a:t>
            </a:r>
            <a:r>
              <a:rPr sz="2600" dirty="0">
                <a:solidFill>
                  <a:srgbClr val="262EA4"/>
                </a:solidFill>
                <a:latin typeface="Calibri"/>
                <a:cs typeface="Calibri"/>
              </a:rPr>
              <a:t>OBS</a:t>
            </a:r>
            <a:r>
              <a:rPr sz="2600" spc="365" dirty="0">
                <a:solidFill>
                  <a:srgbClr val="262EA4"/>
                </a:solidFill>
                <a:latin typeface="Calibri"/>
                <a:cs typeface="Calibri"/>
              </a:rPr>
              <a:t>  </a:t>
            </a:r>
            <a:r>
              <a:rPr sz="2600" dirty="0">
                <a:solidFill>
                  <a:srgbClr val="262EA4"/>
                </a:solidFill>
                <a:latin typeface="Calibri"/>
                <a:cs typeface="Calibri"/>
              </a:rPr>
              <a:t>depicts</a:t>
            </a:r>
            <a:r>
              <a:rPr sz="2600" spc="365" dirty="0">
                <a:solidFill>
                  <a:srgbClr val="262EA4"/>
                </a:solidFill>
                <a:latin typeface="Calibri"/>
                <a:cs typeface="Calibri"/>
              </a:rPr>
              <a:t>  </a:t>
            </a:r>
            <a:r>
              <a:rPr sz="2600" dirty="0">
                <a:solidFill>
                  <a:srgbClr val="262EA4"/>
                </a:solidFill>
                <a:latin typeface="Calibri"/>
                <a:cs typeface="Calibri"/>
              </a:rPr>
              <a:t>how</a:t>
            </a:r>
            <a:r>
              <a:rPr sz="2600" spc="365" dirty="0">
                <a:solidFill>
                  <a:srgbClr val="262EA4"/>
                </a:solidFill>
                <a:latin typeface="Calibri"/>
                <a:cs typeface="Calibri"/>
              </a:rPr>
              <a:t>  </a:t>
            </a:r>
            <a:r>
              <a:rPr sz="2600" dirty="0">
                <a:solidFill>
                  <a:srgbClr val="262EA4"/>
                </a:solidFill>
                <a:latin typeface="Calibri"/>
                <a:cs typeface="Calibri"/>
              </a:rPr>
              <a:t>the</a:t>
            </a:r>
            <a:r>
              <a:rPr sz="2600" spc="365" dirty="0">
                <a:solidFill>
                  <a:srgbClr val="262EA4"/>
                </a:solidFill>
                <a:latin typeface="Calibri"/>
                <a:cs typeface="Calibri"/>
              </a:rPr>
              <a:t>  </a:t>
            </a:r>
            <a:r>
              <a:rPr sz="2600" dirty="0">
                <a:solidFill>
                  <a:srgbClr val="262EA4"/>
                </a:solidFill>
                <a:latin typeface="Calibri"/>
                <a:cs typeface="Calibri"/>
              </a:rPr>
              <a:t>firm</a:t>
            </a:r>
            <a:r>
              <a:rPr sz="2600" spc="365" dirty="0">
                <a:solidFill>
                  <a:srgbClr val="262EA4"/>
                </a:solidFill>
                <a:latin typeface="Calibri"/>
                <a:cs typeface="Calibri"/>
              </a:rPr>
              <a:t>  </a:t>
            </a:r>
            <a:r>
              <a:rPr sz="2600" dirty="0">
                <a:solidFill>
                  <a:srgbClr val="262EA4"/>
                </a:solidFill>
                <a:latin typeface="Calibri"/>
                <a:cs typeface="Calibri"/>
              </a:rPr>
              <a:t>has</a:t>
            </a:r>
            <a:r>
              <a:rPr sz="2600" spc="360" dirty="0">
                <a:solidFill>
                  <a:srgbClr val="262EA4"/>
                </a:solidFill>
                <a:latin typeface="Calibri"/>
                <a:cs typeface="Calibri"/>
              </a:rPr>
              <a:t>  </a:t>
            </a:r>
            <a:r>
              <a:rPr sz="2600" dirty="0">
                <a:solidFill>
                  <a:srgbClr val="262EA4"/>
                </a:solidFill>
                <a:latin typeface="Calibri"/>
                <a:cs typeface="Calibri"/>
              </a:rPr>
              <a:t>organized</a:t>
            </a:r>
            <a:r>
              <a:rPr sz="2600" spc="365" dirty="0">
                <a:solidFill>
                  <a:srgbClr val="262EA4"/>
                </a:solidFill>
                <a:latin typeface="Calibri"/>
                <a:cs typeface="Calibri"/>
              </a:rPr>
              <a:t>  </a:t>
            </a:r>
            <a:r>
              <a:rPr sz="2600" dirty="0">
                <a:solidFill>
                  <a:srgbClr val="262EA4"/>
                </a:solidFill>
                <a:latin typeface="Calibri"/>
                <a:cs typeface="Calibri"/>
              </a:rPr>
              <a:t>to</a:t>
            </a:r>
            <a:r>
              <a:rPr sz="2600" spc="370" dirty="0">
                <a:solidFill>
                  <a:srgbClr val="262EA4"/>
                </a:solidFill>
                <a:latin typeface="Calibri"/>
                <a:cs typeface="Calibri"/>
              </a:rPr>
              <a:t>  </a:t>
            </a:r>
            <a:r>
              <a:rPr sz="2600" dirty="0">
                <a:solidFill>
                  <a:srgbClr val="262EA4"/>
                </a:solidFill>
                <a:latin typeface="Calibri"/>
                <a:cs typeface="Calibri"/>
              </a:rPr>
              <a:t>discharge</a:t>
            </a:r>
            <a:r>
              <a:rPr sz="2600" spc="360" dirty="0">
                <a:solidFill>
                  <a:srgbClr val="262EA4"/>
                </a:solidFill>
                <a:latin typeface="Calibri"/>
                <a:cs typeface="Calibri"/>
              </a:rPr>
              <a:t>  </a:t>
            </a:r>
            <a:r>
              <a:rPr sz="2600" spc="-20" dirty="0">
                <a:solidFill>
                  <a:srgbClr val="262EA4"/>
                </a:solidFill>
                <a:latin typeface="Calibri"/>
                <a:cs typeface="Calibri"/>
              </a:rPr>
              <a:t>work </a:t>
            </a:r>
            <a:r>
              <a:rPr sz="2600" spc="-10" dirty="0">
                <a:solidFill>
                  <a:srgbClr val="262EA4"/>
                </a:solidFill>
                <a:latin typeface="Calibri"/>
                <a:cs typeface="Calibri"/>
              </a:rPr>
              <a:t>responsibility.</a:t>
            </a:r>
            <a:endParaRPr sz="2600">
              <a:latin typeface="Calibri"/>
              <a:cs typeface="Calibri"/>
            </a:endParaRPr>
          </a:p>
          <a:p>
            <a:pPr marL="241300" marR="5080" indent="-228600" algn="just">
              <a:lnSpc>
                <a:spcPct val="89600"/>
              </a:lnSpc>
              <a:spcBef>
                <a:spcPts val="940"/>
              </a:spcBef>
              <a:buFont typeface="Arial MT"/>
              <a:buChar char="•"/>
              <a:tabLst>
                <a:tab pos="241300" algn="l"/>
              </a:tabLst>
            </a:pPr>
            <a:r>
              <a:rPr sz="2600" dirty="0">
                <a:latin typeface="Calibri"/>
                <a:cs typeface="Calibri"/>
              </a:rPr>
              <a:t>The</a:t>
            </a:r>
            <a:r>
              <a:rPr sz="2600" spc="90" dirty="0">
                <a:latin typeface="Calibri"/>
                <a:cs typeface="Calibri"/>
              </a:rPr>
              <a:t>  </a:t>
            </a:r>
            <a:r>
              <a:rPr sz="2600" dirty="0">
                <a:latin typeface="Calibri"/>
                <a:cs typeface="Calibri"/>
              </a:rPr>
              <a:t>purposes</a:t>
            </a:r>
            <a:r>
              <a:rPr sz="2600" spc="95" dirty="0">
                <a:latin typeface="Calibri"/>
                <a:cs typeface="Calibri"/>
              </a:rPr>
              <a:t>  </a:t>
            </a:r>
            <a:r>
              <a:rPr sz="2600" dirty="0">
                <a:latin typeface="Calibri"/>
                <a:cs typeface="Calibri"/>
              </a:rPr>
              <a:t>of</a:t>
            </a:r>
            <a:r>
              <a:rPr sz="2600" spc="90" dirty="0">
                <a:latin typeface="Calibri"/>
                <a:cs typeface="Calibri"/>
              </a:rPr>
              <a:t>  </a:t>
            </a:r>
            <a:r>
              <a:rPr sz="2600" dirty="0">
                <a:latin typeface="Calibri"/>
                <a:cs typeface="Calibri"/>
              </a:rPr>
              <a:t>the</a:t>
            </a:r>
            <a:r>
              <a:rPr sz="2600" spc="95" dirty="0">
                <a:latin typeface="Calibri"/>
                <a:cs typeface="Calibri"/>
              </a:rPr>
              <a:t>  </a:t>
            </a:r>
            <a:r>
              <a:rPr sz="2600" dirty="0">
                <a:latin typeface="Calibri"/>
                <a:cs typeface="Calibri"/>
              </a:rPr>
              <a:t>OBS</a:t>
            </a:r>
            <a:r>
              <a:rPr sz="2600" spc="100" dirty="0">
                <a:latin typeface="Calibri"/>
                <a:cs typeface="Calibri"/>
              </a:rPr>
              <a:t>  </a:t>
            </a:r>
            <a:r>
              <a:rPr sz="2600" dirty="0">
                <a:latin typeface="Calibri"/>
                <a:cs typeface="Calibri"/>
              </a:rPr>
              <a:t>are</a:t>
            </a:r>
            <a:r>
              <a:rPr sz="2600" spc="90" dirty="0">
                <a:latin typeface="Calibri"/>
                <a:cs typeface="Calibri"/>
              </a:rPr>
              <a:t>  </a:t>
            </a:r>
            <a:r>
              <a:rPr sz="2600" dirty="0">
                <a:latin typeface="Calibri"/>
                <a:cs typeface="Calibri"/>
              </a:rPr>
              <a:t>to</a:t>
            </a:r>
            <a:r>
              <a:rPr sz="2600" spc="100" dirty="0">
                <a:latin typeface="Calibri"/>
                <a:cs typeface="Calibri"/>
              </a:rPr>
              <a:t>  </a:t>
            </a:r>
            <a:r>
              <a:rPr sz="2600" dirty="0">
                <a:latin typeface="Calibri"/>
                <a:cs typeface="Calibri"/>
              </a:rPr>
              <a:t>provide</a:t>
            </a:r>
            <a:r>
              <a:rPr sz="2600" spc="95" dirty="0">
                <a:latin typeface="Calibri"/>
                <a:cs typeface="Calibri"/>
              </a:rPr>
              <a:t>  </a:t>
            </a:r>
            <a:r>
              <a:rPr sz="2600" dirty="0">
                <a:latin typeface="Calibri"/>
                <a:cs typeface="Calibri"/>
              </a:rPr>
              <a:t>a</a:t>
            </a:r>
            <a:r>
              <a:rPr sz="2600" spc="100" dirty="0">
                <a:latin typeface="Calibri"/>
                <a:cs typeface="Calibri"/>
              </a:rPr>
              <a:t>  </a:t>
            </a:r>
            <a:r>
              <a:rPr sz="2600" dirty="0">
                <a:latin typeface="Calibri"/>
                <a:cs typeface="Calibri"/>
              </a:rPr>
              <a:t>framework</a:t>
            </a:r>
            <a:r>
              <a:rPr sz="2600" spc="100" dirty="0">
                <a:latin typeface="Calibri"/>
                <a:cs typeface="Calibri"/>
              </a:rPr>
              <a:t>  </a:t>
            </a:r>
            <a:r>
              <a:rPr sz="2600" dirty="0">
                <a:latin typeface="Calibri"/>
                <a:cs typeface="Calibri"/>
              </a:rPr>
              <a:t>to</a:t>
            </a:r>
            <a:r>
              <a:rPr sz="2600" spc="100" dirty="0">
                <a:latin typeface="Calibri"/>
                <a:cs typeface="Calibri"/>
              </a:rPr>
              <a:t>  </a:t>
            </a:r>
            <a:r>
              <a:rPr sz="2600" spc="-10" dirty="0">
                <a:latin typeface="Calibri"/>
                <a:cs typeface="Calibri"/>
              </a:rPr>
              <a:t>summarize </a:t>
            </a:r>
            <a:r>
              <a:rPr sz="2600" spc="-20" dirty="0">
                <a:latin typeface="Calibri"/>
                <a:cs typeface="Calibri"/>
              </a:rPr>
              <a:t>organization</a:t>
            </a:r>
            <a:r>
              <a:rPr sz="2600" spc="-55" dirty="0">
                <a:latin typeface="Calibri"/>
                <a:cs typeface="Calibri"/>
              </a:rPr>
              <a:t> </a:t>
            </a:r>
            <a:r>
              <a:rPr sz="2600" dirty="0">
                <a:latin typeface="Calibri"/>
                <a:cs typeface="Calibri"/>
              </a:rPr>
              <a:t>unit</a:t>
            </a:r>
            <a:r>
              <a:rPr sz="2600" spc="-45" dirty="0">
                <a:latin typeface="Calibri"/>
                <a:cs typeface="Calibri"/>
              </a:rPr>
              <a:t> </a:t>
            </a:r>
            <a:r>
              <a:rPr sz="2600" dirty="0">
                <a:latin typeface="Calibri"/>
                <a:cs typeface="Calibri"/>
              </a:rPr>
              <a:t>work</a:t>
            </a:r>
            <a:r>
              <a:rPr sz="2600" spc="-40" dirty="0">
                <a:latin typeface="Calibri"/>
                <a:cs typeface="Calibri"/>
              </a:rPr>
              <a:t> </a:t>
            </a:r>
            <a:r>
              <a:rPr sz="2600" dirty="0">
                <a:latin typeface="Calibri"/>
                <a:cs typeface="Calibri"/>
              </a:rPr>
              <a:t>performance,</a:t>
            </a:r>
            <a:r>
              <a:rPr sz="2600" spc="-45" dirty="0">
                <a:latin typeface="Calibri"/>
                <a:cs typeface="Calibri"/>
              </a:rPr>
              <a:t> </a:t>
            </a:r>
            <a:r>
              <a:rPr sz="2600" dirty="0">
                <a:latin typeface="Calibri"/>
                <a:cs typeface="Calibri"/>
              </a:rPr>
              <a:t>identify</a:t>
            </a:r>
            <a:r>
              <a:rPr sz="2600" spc="-50" dirty="0">
                <a:latin typeface="Calibri"/>
                <a:cs typeface="Calibri"/>
              </a:rPr>
              <a:t> </a:t>
            </a:r>
            <a:r>
              <a:rPr sz="2600" spc="-20" dirty="0">
                <a:latin typeface="Calibri"/>
                <a:cs typeface="Calibri"/>
              </a:rPr>
              <a:t>organization</a:t>
            </a:r>
            <a:r>
              <a:rPr sz="2600" spc="-55" dirty="0">
                <a:latin typeface="Calibri"/>
                <a:cs typeface="Calibri"/>
              </a:rPr>
              <a:t> </a:t>
            </a:r>
            <a:r>
              <a:rPr sz="2600" dirty="0">
                <a:latin typeface="Calibri"/>
                <a:cs typeface="Calibri"/>
              </a:rPr>
              <a:t>units</a:t>
            </a:r>
            <a:r>
              <a:rPr sz="2600" spc="-50" dirty="0">
                <a:latin typeface="Calibri"/>
                <a:cs typeface="Calibri"/>
              </a:rPr>
              <a:t> </a:t>
            </a:r>
            <a:r>
              <a:rPr sz="2600" spc="-10" dirty="0">
                <a:latin typeface="Calibri"/>
                <a:cs typeface="Calibri"/>
              </a:rPr>
              <a:t>responsible </a:t>
            </a:r>
            <a:r>
              <a:rPr sz="2600" dirty="0">
                <a:latin typeface="Calibri"/>
                <a:cs typeface="Calibri"/>
              </a:rPr>
              <a:t>for</a:t>
            </a:r>
            <a:r>
              <a:rPr sz="2600" spc="-50" dirty="0">
                <a:latin typeface="Calibri"/>
                <a:cs typeface="Calibri"/>
              </a:rPr>
              <a:t> </a:t>
            </a:r>
            <a:r>
              <a:rPr sz="2600" dirty="0">
                <a:latin typeface="Calibri"/>
                <a:cs typeface="Calibri"/>
              </a:rPr>
              <a:t>work</a:t>
            </a:r>
            <a:r>
              <a:rPr sz="2600" spc="-45" dirty="0">
                <a:latin typeface="Calibri"/>
                <a:cs typeface="Calibri"/>
              </a:rPr>
              <a:t> </a:t>
            </a:r>
            <a:r>
              <a:rPr sz="2600" spc="-10" dirty="0">
                <a:latin typeface="Calibri"/>
                <a:cs typeface="Calibri"/>
              </a:rPr>
              <a:t>packages,</a:t>
            </a:r>
            <a:r>
              <a:rPr sz="2600" spc="-55" dirty="0">
                <a:latin typeface="Calibri"/>
                <a:cs typeface="Calibri"/>
              </a:rPr>
              <a:t> </a:t>
            </a:r>
            <a:r>
              <a:rPr sz="2600" dirty="0">
                <a:latin typeface="Calibri"/>
                <a:cs typeface="Calibri"/>
              </a:rPr>
              <a:t>and</a:t>
            </a:r>
            <a:r>
              <a:rPr sz="2600" spc="-55" dirty="0">
                <a:latin typeface="Calibri"/>
                <a:cs typeface="Calibri"/>
              </a:rPr>
              <a:t> </a:t>
            </a:r>
            <a:r>
              <a:rPr sz="2600" dirty="0">
                <a:latin typeface="Calibri"/>
                <a:cs typeface="Calibri"/>
              </a:rPr>
              <a:t>tie</a:t>
            </a:r>
            <a:r>
              <a:rPr sz="2600" spc="-60" dirty="0">
                <a:latin typeface="Calibri"/>
                <a:cs typeface="Calibri"/>
              </a:rPr>
              <a:t> </a:t>
            </a:r>
            <a:r>
              <a:rPr sz="2600" dirty="0">
                <a:latin typeface="Calibri"/>
                <a:cs typeface="Calibri"/>
              </a:rPr>
              <a:t>the</a:t>
            </a:r>
            <a:r>
              <a:rPr sz="2600" spc="-60" dirty="0">
                <a:latin typeface="Calibri"/>
                <a:cs typeface="Calibri"/>
              </a:rPr>
              <a:t> </a:t>
            </a:r>
            <a:r>
              <a:rPr sz="2600" spc="-20" dirty="0">
                <a:latin typeface="Calibri"/>
                <a:cs typeface="Calibri"/>
              </a:rPr>
              <a:t>organizational</a:t>
            </a:r>
            <a:r>
              <a:rPr sz="2600" spc="-50" dirty="0">
                <a:latin typeface="Calibri"/>
                <a:cs typeface="Calibri"/>
              </a:rPr>
              <a:t> </a:t>
            </a:r>
            <a:r>
              <a:rPr sz="2600" dirty="0">
                <a:latin typeface="Calibri"/>
                <a:cs typeface="Calibri"/>
              </a:rPr>
              <a:t>unit</a:t>
            </a:r>
            <a:r>
              <a:rPr sz="2600" spc="-50"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cost</a:t>
            </a:r>
            <a:r>
              <a:rPr sz="2600" spc="-50" dirty="0">
                <a:latin typeface="Calibri"/>
                <a:cs typeface="Calibri"/>
              </a:rPr>
              <a:t> </a:t>
            </a:r>
            <a:r>
              <a:rPr sz="2600" spc="-10" dirty="0">
                <a:latin typeface="Calibri"/>
                <a:cs typeface="Calibri"/>
              </a:rPr>
              <a:t>control</a:t>
            </a:r>
            <a:r>
              <a:rPr sz="2600" spc="-50" dirty="0">
                <a:latin typeface="Calibri"/>
                <a:cs typeface="Calibri"/>
              </a:rPr>
              <a:t> </a:t>
            </a:r>
            <a:r>
              <a:rPr sz="2600" spc="-10" dirty="0">
                <a:latin typeface="Calibri"/>
                <a:cs typeface="Calibri"/>
              </a:rPr>
              <a:t>accounts.</a:t>
            </a:r>
            <a:endParaRPr sz="2600">
              <a:latin typeface="Calibri"/>
              <a:cs typeface="Calibri"/>
            </a:endParaRPr>
          </a:p>
          <a:p>
            <a:pPr marL="241300" marR="6350" indent="-228600" algn="just">
              <a:lnSpc>
                <a:spcPts val="2780"/>
              </a:lnSpc>
              <a:spcBef>
                <a:spcPts val="1075"/>
              </a:spcBef>
              <a:buFont typeface="Arial MT"/>
              <a:buChar char="•"/>
              <a:tabLst>
                <a:tab pos="241300" algn="l"/>
              </a:tabLst>
            </a:pPr>
            <a:r>
              <a:rPr sz="2600" dirty="0">
                <a:solidFill>
                  <a:srgbClr val="262EA4"/>
                </a:solidFill>
                <a:latin typeface="Calibri"/>
                <a:cs typeface="Calibri"/>
              </a:rPr>
              <a:t>The</a:t>
            </a:r>
            <a:r>
              <a:rPr sz="2600" spc="350" dirty="0">
                <a:solidFill>
                  <a:srgbClr val="262EA4"/>
                </a:solidFill>
                <a:latin typeface="Calibri"/>
                <a:cs typeface="Calibri"/>
              </a:rPr>
              <a:t> </a:t>
            </a:r>
            <a:r>
              <a:rPr sz="2600" dirty="0">
                <a:solidFill>
                  <a:srgbClr val="262EA4"/>
                </a:solidFill>
                <a:latin typeface="Calibri"/>
                <a:cs typeface="Calibri"/>
              </a:rPr>
              <a:t>intersection</a:t>
            </a:r>
            <a:r>
              <a:rPr sz="2600" spc="360" dirty="0">
                <a:solidFill>
                  <a:srgbClr val="262EA4"/>
                </a:solidFill>
                <a:latin typeface="Calibri"/>
                <a:cs typeface="Calibri"/>
              </a:rPr>
              <a:t> </a:t>
            </a:r>
            <a:r>
              <a:rPr sz="2600" dirty="0">
                <a:solidFill>
                  <a:srgbClr val="262EA4"/>
                </a:solidFill>
                <a:latin typeface="Calibri"/>
                <a:cs typeface="Calibri"/>
              </a:rPr>
              <a:t>of</a:t>
            </a:r>
            <a:r>
              <a:rPr sz="2600" spc="355" dirty="0">
                <a:solidFill>
                  <a:srgbClr val="262EA4"/>
                </a:solidFill>
                <a:latin typeface="Calibri"/>
                <a:cs typeface="Calibri"/>
              </a:rPr>
              <a:t> </a:t>
            </a:r>
            <a:r>
              <a:rPr sz="2600" dirty="0">
                <a:solidFill>
                  <a:srgbClr val="262EA4"/>
                </a:solidFill>
                <a:latin typeface="Calibri"/>
                <a:cs typeface="Calibri"/>
              </a:rPr>
              <a:t>work</a:t>
            </a:r>
            <a:r>
              <a:rPr sz="2600" spc="370" dirty="0">
                <a:solidFill>
                  <a:srgbClr val="262EA4"/>
                </a:solidFill>
                <a:latin typeface="Calibri"/>
                <a:cs typeface="Calibri"/>
              </a:rPr>
              <a:t> </a:t>
            </a:r>
            <a:r>
              <a:rPr sz="2600" dirty="0">
                <a:solidFill>
                  <a:srgbClr val="262EA4"/>
                </a:solidFill>
                <a:latin typeface="Calibri"/>
                <a:cs typeface="Calibri"/>
              </a:rPr>
              <a:t>packages</a:t>
            </a:r>
            <a:r>
              <a:rPr sz="2600" spc="355" dirty="0">
                <a:solidFill>
                  <a:srgbClr val="262EA4"/>
                </a:solidFill>
                <a:latin typeface="Calibri"/>
                <a:cs typeface="Calibri"/>
              </a:rPr>
              <a:t> </a:t>
            </a:r>
            <a:r>
              <a:rPr sz="2600" dirty="0">
                <a:solidFill>
                  <a:srgbClr val="262EA4"/>
                </a:solidFill>
                <a:latin typeface="Calibri"/>
                <a:cs typeface="Calibri"/>
              </a:rPr>
              <a:t>and</a:t>
            </a:r>
            <a:r>
              <a:rPr sz="2600" spc="365" dirty="0">
                <a:solidFill>
                  <a:srgbClr val="262EA4"/>
                </a:solidFill>
                <a:latin typeface="Calibri"/>
                <a:cs typeface="Calibri"/>
              </a:rPr>
              <a:t> </a:t>
            </a:r>
            <a:r>
              <a:rPr sz="2600" dirty="0">
                <a:solidFill>
                  <a:srgbClr val="262EA4"/>
                </a:solidFill>
                <a:latin typeface="Calibri"/>
                <a:cs typeface="Calibri"/>
              </a:rPr>
              <a:t>the</a:t>
            </a:r>
            <a:r>
              <a:rPr sz="2600" spc="360" dirty="0">
                <a:solidFill>
                  <a:srgbClr val="262EA4"/>
                </a:solidFill>
                <a:latin typeface="Calibri"/>
                <a:cs typeface="Calibri"/>
              </a:rPr>
              <a:t> </a:t>
            </a:r>
            <a:r>
              <a:rPr sz="2600" dirty="0">
                <a:solidFill>
                  <a:srgbClr val="262EA4"/>
                </a:solidFill>
                <a:latin typeface="Calibri"/>
                <a:cs typeface="Calibri"/>
              </a:rPr>
              <a:t>organizational</a:t>
            </a:r>
            <a:r>
              <a:rPr sz="2600" spc="365" dirty="0">
                <a:solidFill>
                  <a:srgbClr val="262EA4"/>
                </a:solidFill>
                <a:latin typeface="Calibri"/>
                <a:cs typeface="Calibri"/>
              </a:rPr>
              <a:t> </a:t>
            </a:r>
            <a:r>
              <a:rPr sz="2600" dirty="0">
                <a:solidFill>
                  <a:srgbClr val="262EA4"/>
                </a:solidFill>
                <a:latin typeface="Calibri"/>
                <a:cs typeface="Calibri"/>
              </a:rPr>
              <a:t>unit</a:t>
            </a:r>
            <a:r>
              <a:rPr sz="2600" spc="365" dirty="0">
                <a:solidFill>
                  <a:srgbClr val="262EA4"/>
                </a:solidFill>
                <a:latin typeface="Calibri"/>
                <a:cs typeface="Calibri"/>
              </a:rPr>
              <a:t> </a:t>
            </a:r>
            <a:r>
              <a:rPr sz="2600" dirty="0">
                <a:solidFill>
                  <a:srgbClr val="262EA4"/>
                </a:solidFill>
                <a:latin typeface="Calibri"/>
                <a:cs typeface="Calibri"/>
              </a:rPr>
              <a:t>creates</a:t>
            </a:r>
            <a:r>
              <a:rPr sz="2600" spc="355" dirty="0">
                <a:solidFill>
                  <a:srgbClr val="262EA4"/>
                </a:solidFill>
                <a:latin typeface="Calibri"/>
                <a:cs typeface="Calibri"/>
              </a:rPr>
              <a:t> </a:t>
            </a:r>
            <a:r>
              <a:rPr sz="2600" spc="-50" dirty="0">
                <a:solidFill>
                  <a:srgbClr val="262EA4"/>
                </a:solidFill>
                <a:latin typeface="Calibri"/>
                <a:cs typeface="Calibri"/>
              </a:rPr>
              <a:t>a </a:t>
            </a:r>
            <a:r>
              <a:rPr sz="2600" dirty="0">
                <a:solidFill>
                  <a:srgbClr val="262EA4"/>
                </a:solidFill>
                <a:latin typeface="Calibri"/>
                <a:cs typeface="Calibri"/>
              </a:rPr>
              <a:t>project</a:t>
            </a:r>
            <a:r>
              <a:rPr sz="2600" spc="-90" dirty="0">
                <a:solidFill>
                  <a:srgbClr val="262EA4"/>
                </a:solidFill>
                <a:latin typeface="Calibri"/>
                <a:cs typeface="Calibri"/>
              </a:rPr>
              <a:t> </a:t>
            </a:r>
            <a:r>
              <a:rPr sz="2600" spc="-10" dirty="0">
                <a:solidFill>
                  <a:srgbClr val="262EA4"/>
                </a:solidFill>
                <a:latin typeface="Calibri"/>
                <a:cs typeface="Calibri"/>
              </a:rPr>
              <a:t>control</a:t>
            </a:r>
            <a:r>
              <a:rPr sz="2600" spc="-85" dirty="0">
                <a:solidFill>
                  <a:srgbClr val="262EA4"/>
                </a:solidFill>
                <a:latin typeface="Calibri"/>
                <a:cs typeface="Calibri"/>
              </a:rPr>
              <a:t> </a:t>
            </a:r>
            <a:r>
              <a:rPr sz="2600" dirty="0">
                <a:solidFill>
                  <a:srgbClr val="262EA4"/>
                </a:solidFill>
                <a:latin typeface="Calibri"/>
                <a:cs typeface="Calibri"/>
              </a:rPr>
              <a:t>point</a:t>
            </a:r>
            <a:r>
              <a:rPr sz="2600" spc="-90" dirty="0">
                <a:solidFill>
                  <a:srgbClr val="262EA4"/>
                </a:solidFill>
                <a:latin typeface="Calibri"/>
                <a:cs typeface="Calibri"/>
              </a:rPr>
              <a:t> </a:t>
            </a:r>
            <a:r>
              <a:rPr sz="2600" b="1" u="heavy" dirty="0">
                <a:solidFill>
                  <a:srgbClr val="262EA4"/>
                </a:solidFill>
                <a:uFill>
                  <a:solidFill>
                    <a:srgbClr val="262EA4"/>
                  </a:solidFill>
                </a:uFill>
                <a:latin typeface="Calibri"/>
                <a:cs typeface="Calibri"/>
              </a:rPr>
              <a:t>(cost</a:t>
            </a:r>
            <a:r>
              <a:rPr sz="2600" b="1" u="heavy" spc="-85" dirty="0">
                <a:solidFill>
                  <a:srgbClr val="262EA4"/>
                </a:solidFill>
                <a:uFill>
                  <a:solidFill>
                    <a:srgbClr val="262EA4"/>
                  </a:solidFill>
                </a:uFill>
                <a:latin typeface="Calibri"/>
                <a:cs typeface="Calibri"/>
              </a:rPr>
              <a:t> </a:t>
            </a:r>
            <a:r>
              <a:rPr sz="2600" b="1" u="heavy" dirty="0">
                <a:solidFill>
                  <a:srgbClr val="262EA4"/>
                </a:solidFill>
                <a:uFill>
                  <a:solidFill>
                    <a:srgbClr val="262EA4"/>
                  </a:solidFill>
                </a:uFill>
                <a:latin typeface="Calibri"/>
                <a:cs typeface="Calibri"/>
              </a:rPr>
              <a:t>account)</a:t>
            </a:r>
            <a:r>
              <a:rPr sz="2600" b="1" spc="-85" dirty="0">
                <a:solidFill>
                  <a:srgbClr val="262EA4"/>
                </a:solidFill>
                <a:latin typeface="Calibri"/>
                <a:cs typeface="Calibri"/>
              </a:rPr>
              <a:t> </a:t>
            </a:r>
            <a:r>
              <a:rPr sz="2600" dirty="0">
                <a:solidFill>
                  <a:srgbClr val="262EA4"/>
                </a:solidFill>
                <a:latin typeface="Calibri"/>
                <a:cs typeface="Calibri"/>
              </a:rPr>
              <a:t>that</a:t>
            </a:r>
            <a:r>
              <a:rPr sz="2600" spc="-80" dirty="0">
                <a:solidFill>
                  <a:srgbClr val="262EA4"/>
                </a:solidFill>
                <a:latin typeface="Calibri"/>
                <a:cs typeface="Calibri"/>
              </a:rPr>
              <a:t> </a:t>
            </a:r>
            <a:r>
              <a:rPr sz="2600" spc="-10" dirty="0">
                <a:solidFill>
                  <a:srgbClr val="262EA4"/>
                </a:solidFill>
                <a:latin typeface="Calibri"/>
                <a:cs typeface="Calibri"/>
              </a:rPr>
              <a:t>integrates</a:t>
            </a:r>
            <a:r>
              <a:rPr sz="2600" spc="-90" dirty="0">
                <a:solidFill>
                  <a:srgbClr val="262EA4"/>
                </a:solidFill>
                <a:latin typeface="Calibri"/>
                <a:cs typeface="Calibri"/>
              </a:rPr>
              <a:t> </a:t>
            </a:r>
            <a:r>
              <a:rPr sz="2600" dirty="0">
                <a:solidFill>
                  <a:srgbClr val="262EA4"/>
                </a:solidFill>
                <a:latin typeface="Calibri"/>
                <a:cs typeface="Calibri"/>
              </a:rPr>
              <a:t>work</a:t>
            </a:r>
            <a:r>
              <a:rPr sz="2600" spc="-85" dirty="0">
                <a:solidFill>
                  <a:srgbClr val="262EA4"/>
                </a:solidFill>
                <a:latin typeface="Calibri"/>
                <a:cs typeface="Calibri"/>
              </a:rPr>
              <a:t> </a:t>
            </a:r>
            <a:r>
              <a:rPr sz="2600" dirty="0">
                <a:solidFill>
                  <a:srgbClr val="262EA4"/>
                </a:solidFill>
                <a:latin typeface="Calibri"/>
                <a:cs typeface="Calibri"/>
              </a:rPr>
              <a:t>and</a:t>
            </a:r>
            <a:r>
              <a:rPr sz="2600" spc="-90" dirty="0">
                <a:solidFill>
                  <a:srgbClr val="262EA4"/>
                </a:solidFill>
                <a:latin typeface="Calibri"/>
                <a:cs typeface="Calibri"/>
              </a:rPr>
              <a:t> </a:t>
            </a:r>
            <a:r>
              <a:rPr sz="2600" spc="-10" dirty="0">
                <a:solidFill>
                  <a:srgbClr val="262EA4"/>
                </a:solidFill>
                <a:latin typeface="Calibri"/>
                <a:cs typeface="Calibri"/>
              </a:rPr>
              <a:t>responsibility</a:t>
            </a:r>
            <a:endParaRPr sz="2600">
              <a:latin typeface="Calibri"/>
              <a:cs typeface="Calibri"/>
            </a:endParaRPr>
          </a:p>
          <a:p>
            <a:pPr marL="241300" marR="5080" indent="-228600" algn="just">
              <a:lnSpc>
                <a:spcPct val="89600"/>
              </a:lnSpc>
              <a:spcBef>
                <a:spcPts val="985"/>
              </a:spcBef>
              <a:buFont typeface="Arial MT"/>
              <a:buChar char="•"/>
              <a:tabLst>
                <a:tab pos="241300" algn="l"/>
              </a:tabLst>
            </a:pPr>
            <a:r>
              <a:rPr sz="2600" dirty="0">
                <a:latin typeface="Calibri"/>
                <a:cs typeface="Calibri"/>
              </a:rPr>
              <a:t>In</a:t>
            </a:r>
            <a:r>
              <a:rPr sz="2600" spc="15" dirty="0">
                <a:latin typeface="Calibri"/>
                <a:cs typeface="Calibri"/>
              </a:rPr>
              <a:t> </a:t>
            </a:r>
            <a:r>
              <a:rPr sz="2600" dirty="0">
                <a:latin typeface="Calibri"/>
                <a:cs typeface="Calibri"/>
              </a:rPr>
              <a:t>the</a:t>
            </a:r>
            <a:r>
              <a:rPr sz="2600" spc="10" dirty="0">
                <a:latin typeface="Calibri"/>
                <a:cs typeface="Calibri"/>
              </a:rPr>
              <a:t> </a:t>
            </a:r>
            <a:r>
              <a:rPr sz="2600" dirty="0">
                <a:latin typeface="Calibri"/>
                <a:cs typeface="Calibri"/>
              </a:rPr>
              <a:t>execution</a:t>
            </a:r>
            <a:r>
              <a:rPr sz="2600" spc="15" dirty="0">
                <a:latin typeface="Calibri"/>
                <a:cs typeface="Calibri"/>
              </a:rPr>
              <a:t> </a:t>
            </a:r>
            <a:r>
              <a:rPr sz="2600" dirty="0">
                <a:latin typeface="Calibri"/>
                <a:cs typeface="Calibri"/>
              </a:rPr>
              <a:t>phase</a:t>
            </a:r>
            <a:r>
              <a:rPr sz="2600" spc="15" dirty="0">
                <a:latin typeface="Calibri"/>
                <a:cs typeface="Calibri"/>
              </a:rPr>
              <a:t> </a:t>
            </a:r>
            <a:r>
              <a:rPr sz="2600" dirty="0">
                <a:latin typeface="Calibri"/>
                <a:cs typeface="Calibri"/>
              </a:rPr>
              <a:t>of</a:t>
            </a:r>
            <a:r>
              <a:rPr sz="2600" spc="10" dirty="0">
                <a:latin typeface="Calibri"/>
                <a:cs typeface="Calibri"/>
              </a:rPr>
              <a:t> </a:t>
            </a:r>
            <a:r>
              <a:rPr sz="2600" dirty="0">
                <a:latin typeface="Calibri"/>
                <a:cs typeface="Calibri"/>
              </a:rPr>
              <a:t>the</a:t>
            </a:r>
            <a:r>
              <a:rPr sz="2600" spc="10" dirty="0">
                <a:latin typeface="Calibri"/>
                <a:cs typeface="Calibri"/>
              </a:rPr>
              <a:t> </a:t>
            </a:r>
            <a:r>
              <a:rPr sz="2600" dirty="0">
                <a:latin typeface="Calibri"/>
                <a:cs typeface="Calibri"/>
              </a:rPr>
              <a:t>project,</a:t>
            </a:r>
            <a:r>
              <a:rPr sz="2600" spc="20" dirty="0">
                <a:latin typeface="Calibri"/>
                <a:cs typeface="Calibri"/>
              </a:rPr>
              <a:t> </a:t>
            </a:r>
            <a:r>
              <a:rPr sz="2600" dirty="0">
                <a:latin typeface="Calibri"/>
                <a:cs typeface="Calibri"/>
              </a:rPr>
              <a:t>progress</a:t>
            </a:r>
            <a:r>
              <a:rPr sz="2600" spc="10" dirty="0">
                <a:latin typeface="Calibri"/>
                <a:cs typeface="Calibri"/>
              </a:rPr>
              <a:t> </a:t>
            </a:r>
            <a:r>
              <a:rPr sz="2600" dirty="0">
                <a:latin typeface="Calibri"/>
                <a:cs typeface="Calibri"/>
              </a:rPr>
              <a:t>can</a:t>
            </a:r>
            <a:r>
              <a:rPr sz="2600" spc="15" dirty="0">
                <a:latin typeface="Calibri"/>
                <a:cs typeface="Calibri"/>
              </a:rPr>
              <a:t> </a:t>
            </a:r>
            <a:r>
              <a:rPr sz="2600" dirty="0">
                <a:latin typeface="Calibri"/>
                <a:cs typeface="Calibri"/>
              </a:rPr>
              <a:t>be</a:t>
            </a:r>
            <a:r>
              <a:rPr sz="2600" spc="10" dirty="0">
                <a:latin typeface="Calibri"/>
                <a:cs typeface="Calibri"/>
              </a:rPr>
              <a:t> </a:t>
            </a:r>
            <a:r>
              <a:rPr sz="2600" dirty="0">
                <a:latin typeface="Calibri"/>
                <a:cs typeface="Calibri"/>
              </a:rPr>
              <a:t>tracked</a:t>
            </a:r>
            <a:r>
              <a:rPr sz="2600" spc="15" dirty="0">
                <a:latin typeface="Calibri"/>
                <a:cs typeface="Calibri"/>
              </a:rPr>
              <a:t> </a:t>
            </a:r>
            <a:r>
              <a:rPr sz="2600" dirty="0">
                <a:latin typeface="Calibri"/>
                <a:cs typeface="Calibri"/>
              </a:rPr>
              <a:t>vertically</a:t>
            </a:r>
            <a:r>
              <a:rPr sz="2600" spc="10" dirty="0">
                <a:latin typeface="Calibri"/>
                <a:cs typeface="Calibri"/>
              </a:rPr>
              <a:t> </a:t>
            </a:r>
            <a:r>
              <a:rPr sz="2600" spc="-25" dirty="0">
                <a:latin typeface="Calibri"/>
                <a:cs typeface="Calibri"/>
              </a:rPr>
              <a:t>on </a:t>
            </a:r>
            <a:r>
              <a:rPr sz="2600" dirty="0">
                <a:latin typeface="Calibri"/>
                <a:cs typeface="Calibri"/>
              </a:rPr>
              <a:t>deliverables</a:t>
            </a:r>
            <a:r>
              <a:rPr sz="2600" spc="55" dirty="0">
                <a:latin typeface="Calibri"/>
                <a:cs typeface="Calibri"/>
              </a:rPr>
              <a:t>  </a:t>
            </a:r>
            <a:r>
              <a:rPr sz="2600" dirty="0">
                <a:latin typeface="Calibri"/>
                <a:cs typeface="Calibri"/>
              </a:rPr>
              <a:t>(client’s</a:t>
            </a:r>
            <a:r>
              <a:rPr sz="2600" spc="55" dirty="0">
                <a:latin typeface="Calibri"/>
                <a:cs typeface="Calibri"/>
              </a:rPr>
              <a:t>  </a:t>
            </a:r>
            <a:r>
              <a:rPr sz="2600" dirty="0">
                <a:latin typeface="Calibri"/>
                <a:cs typeface="Calibri"/>
              </a:rPr>
              <a:t>interest)</a:t>
            </a:r>
            <a:r>
              <a:rPr sz="2600" spc="60" dirty="0">
                <a:latin typeface="Calibri"/>
                <a:cs typeface="Calibri"/>
              </a:rPr>
              <a:t>  </a:t>
            </a:r>
            <a:r>
              <a:rPr sz="2600" dirty="0">
                <a:latin typeface="Calibri"/>
                <a:cs typeface="Calibri"/>
              </a:rPr>
              <a:t>and</a:t>
            </a:r>
            <a:r>
              <a:rPr sz="2600" spc="55" dirty="0">
                <a:latin typeface="Calibri"/>
                <a:cs typeface="Calibri"/>
              </a:rPr>
              <a:t>  </a:t>
            </a:r>
            <a:r>
              <a:rPr sz="2600" dirty="0">
                <a:latin typeface="Calibri"/>
                <a:cs typeface="Calibri"/>
              </a:rPr>
              <a:t>tracked</a:t>
            </a:r>
            <a:r>
              <a:rPr sz="2600" spc="60" dirty="0">
                <a:latin typeface="Calibri"/>
                <a:cs typeface="Calibri"/>
              </a:rPr>
              <a:t>  </a:t>
            </a:r>
            <a:r>
              <a:rPr sz="2600" dirty="0">
                <a:latin typeface="Calibri"/>
                <a:cs typeface="Calibri"/>
              </a:rPr>
              <a:t>horizontally</a:t>
            </a:r>
            <a:r>
              <a:rPr sz="2600" spc="55" dirty="0">
                <a:latin typeface="Calibri"/>
                <a:cs typeface="Calibri"/>
              </a:rPr>
              <a:t>  </a:t>
            </a:r>
            <a:r>
              <a:rPr sz="2600" dirty="0">
                <a:latin typeface="Calibri"/>
                <a:cs typeface="Calibri"/>
              </a:rPr>
              <a:t>by</a:t>
            </a:r>
            <a:r>
              <a:rPr sz="2600" spc="55" dirty="0">
                <a:latin typeface="Calibri"/>
                <a:cs typeface="Calibri"/>
              </a:rPr>
              <a:t>  </a:t>
            </a:r>
            <a:r>
              <a:rPr sz="2600" spc="-10" dirty="0">
                <a:latin typeface="Calibri"/>
                <a:cs typeface="Calibri"/>
              </a:rPr>
              <a:t>organization </a:t>
            </a:r>
            <a:r>
              <a:rPr sz="2600" dirty="0">
                <a:latin typeface="Calibri"/>
                <a:cs typeface="Calibri"/>
              </a:rPr>
              <a:t>responsibility</a:t>
            </a:r>
            <a:r>
              <a:rPr sz="2600" spc="-125" dirty="0">
                <a:latin typeface="Calibri"/>
                <a:cs typeface="Calibri"/>
              </a:rPr>
              <a:t> </a:t>
            </a:r>
            <a:r>
              <a:rPr sz="2600" dirty="0">
                <a:latin typeface="Calibri"/>
                <a:cs typeface="Calibri"/>
              </a:rPr>
              <a:t>(owner’s</a:t>
            </a:r>
            <a:r>
              <a:rPr sz="2600" spc="-120" dirty="0">
                <a:latin typeface="Calibri"/>
                <a:cs typeface="Calibri"/>
              </a:rPr>
              <a:t> </a:t>
            </a:r>
            <a:r>
              <a:rPr sz="2600" spc="-10" dirty="0">
                <a:latin typeface="Calibri"/>
                <a:cs typeface="Calibri"/>
              </a:rPr>
              <a:t>interest).</a:t>
            </a:r>
            <a:endParaRPr sz="2600">
              <a:latin typeface="Calibri"/>
              <a:cs typeface="Calibri"/>
            </a:endParaRPr>
          </a:p>
        </p:txBody>
      </p:sp>
      <p:pic>
        <p:nvPicPr>
          <p:cNvPr id="5" name="Picture 4">
            <a:extLst>
              <a:ext uri="{FF2B5EF4-FFF2-40B4-BE49-F238E27FC236}">
                <a16:creationId xmlns:a16="http://schemas.microsoft.com/office/drawing/2014/main" id="{37E3A5AC-3EF8-DBD1-8F35-A62457687B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8967" y="2913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688847"/>
            <a:ext cx="11407775" cy="683260"/>
          </a:xfrm>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5- Coding the WBS for the Information System</a:t>
            </a:r>
            <a:r>
              <a:rPr spc="105" dirty="0"/>
              <a:t> </a:t>
            </a:r>
            <a:r>
              <a:rPr sz="1950" spc="-10" dirty="0"/>
              <a:t>(1/2)</a:t>
            </a:r>
            <a:endParaRPr sz="1950" dirty="0"/>
          </a:p>
        </p:txBody>
      </p:sp>
      <p:sp>
        <p:nvSpPr>
          <p:cNvPr id="3" name="object 3"/>
          <p:cNvSpPr txBox="1"/>
          <p:nvPr/>
        </p:nvSpPr>
        <p:spPr>
          <a:xfrm>
            <a:off x="916939" y="1742947"/>
            <a:ext cx="10358120" cy="1674495"/>
          </a:xfrm>
          <a:prstGeom prst="rect">
            <a:avLst/>
          </a:prstGeom>
        </p:spPr>
        <p:txBody>
          <a:bodyPr vert="horz" wrap="square" lIns="0" tIns="121920" rIns="0" bIns="0" rtlCol="0">
            <a:spAutoFit/>
          </a:bodyPr>
          <a:lstStyle/>
          <a:p>
            <a:pPr marL="240029" marR="5080" indent="-227329">
              <a:lnSpc>
                <a:spcPct val="70000"/>
              </a:lnSpc>
              <a:spcBef>
                <a:spcPts val="960"/>
              </a:spcBef>
              <a:buFont typeface="Arial MT"/>
              <a:buChar char="•"/>
              <a:tabLst>
                <a:tab pos="241300" algn="l"/>
              </a:tabLst>
            </a:pPr>
            <a:r>
              <a:rPr sz="2400" dirty="0">
                <a:latin typeface="Calibri"/>
                <a:cs typeface="Calibri"/>
              </a:rPr>
              <a:t>Gaining</a:t>
            </a:r>
            <a:r>
              <a:rPr sz="2400" spc="65" dirty="0">
                <a:latin typeface="Calibri"/>
                <a:cs typeface="Calibri"/>
              </a:rPr>
              <a:t> </a:t>
            </a:r>
            <a:r>
              <a:rPr sz="2400" dirty="0">
                <a:latin typeface="Calibri"/>
                <a:cs typeface="Calibri"/>
              </a:rPr>
              <a:t>the</a:t>
            </a:r>
            <a:r>
              <a:rPr sz="2400" spc="70" dirty="0">
                <a:latin typeface="Calibri"/>
                <a:cs typeface="Calibri"/>
              </a:rPr>
              <a:t> </a:t>
            </a:r>
            <a:r>
              <a:rPr sz="2400" dirty="0">
                <a:latin typeface="Calibri"/>
                <a:cs typeface="Calibri"/>
              </a:rPr>
              <a:t>maximum</a:t>
            </a:r>
            <a:r>
              <a:rPr sz="2400" spc="65" dirty="0">
                <a:latin typeface="Calibri"/>
                <a:cs typeface="Calibri"/>
              </a:rPr>
              <a:t> </a:t>
            </a:r>
            <a:r>
              <a:rPr sz="2400" dirty="0">
                <a:latin typeface="Calibri"/>
                <a:cs typeface="Calibri"/>
              </a:rPr>
              <a:t>usefulness</a:t>
            </a:r>
            <a:r>
              <a:rPr sz="2400" spc="65" dirty="0">
                <a:latin typeface="Calibri"/>
                <a:cs typeface="Calibri"/>
              </a:rPr>
              <a:t> </a:t>
            </a:r>
            <a:r>
              <a:rPr sz="2400" dirty="0">
                <a:latin typeface="Calibri"/>
                <a:cs typeface="Calibri"/>
              </a:rPr>
              <a:t>of</a:t>
            </a:r>
            <a:r>
              <a:rPr sz="2400" spc="75" dirty="0">
                <a:latin typeface="Calibri"/>
                <a:cs typeface="Calibri"/>
              </a:rPr>
              <a:t> </a:t>
            </a:r>
            <a:r>
              <a:rPr sz="2400" dirty="0">
                <a:latin typeface="Calibri"/>
                <a:cs typeface="Calibri"/>
              </a:rPr>
              <a:t>a</a:t>
            </a:r>
            <a:r>
              <a:rPr sz="2400" spc="70" dirty="0">
                <a:latin typeface="Calibri"/>
                <a:cs typeface="Calibri"/>
              </a:rPr>
              <a:t> </a:t>
            </a:r>
            <a:r>
              <a:rPr sz="2400" dirty="0">
                <a:latin typeface="Calibri"/>
                <a:cs typeface="Calibri"/>
              </a:rPr>
              <a:t>breakdown</a:t>
            </a:r>
            <a:r>
              <a:rPr sz="2400" spc="70" dirty="0">
                <a:latin typeface="Calibri"/>
                <a:cs typeface="Calibri"/>
              </a:rPr>
              <a:t> </a:t>
            </a:r>
            <a:r>
              <a:rPr sz="2400" dirty="0">
                <a:latin typeface="Calibri"/>
                <a:cs typeface="Calibri"/>
              </a:rPr>
              <a:t>structure</a:t>
            </a:r>
            <a:r>
              <a:rPr sz="2400" spc="75" dirty="0">
                <a:latin typeface="Calibri"/>
                <a:cs typeface="Calibri"/>
              </a:rPr>
              <a:t> </a:t>
            </a:r>
            <a:r>
              <a:rPr sz="2400" dirty="0">
                <a:latin typeface="Calibri"/>
                <a:cs typeface="Calibri"/>
              </a:rPr>
              <a:t>depends</a:t>
            </a:r>
            <a:r>
              <a:rPr sz="2400" spc="60" dirty="0">
                <a:latin typeface="Calibri"/>
                <a:cs typeface="Calibri"/>
              </a:rPr>
              <a:t> </a:t>
            </a:r>
            <a:r>
              <a:rPr sz="2400" dirty="0">
                <a:latin typeface="Calibri"/>
                <a:cs typeface="Calibri"/>
              </a:rPr>
              <a:t>on</a:t>
            </a:r>
            <a:r>
              <a:rPr sz="2400" spc="70" dirty="0">
                <a:latin typeface="Calibri"/>
                <a:cs typeface="Calibri"/>
              </a:rPr>
              <a:t> </a:t>
            </a:r>
            <a:r>
              <a:rPr sz="2400" dirty="0">
                <a:latin typeface="Calibri"/>
                <a:cs typeface="Calibri"/>
              </a:rPr>
              <a:t>a</a:t>
            </a:r>
            <a:r>
              <a:rPr sz="2400" spc="70" dirty="0">
                <a:latin typeface="Calibri"/>
                <a:cs typeface="Calibri"/>
              </a:rPr>
              <a:t> </a:t>
            </a:r>
            <a:r>
              <a:rPr sz="2400" spc="-10" dirty="0">
                <a:latin typeface="Calibri"/>
                <a:cs typeface="Calibri"/>
              </a:rPr>
              <a:t>coding 	system.</a:t>
            </a:r>
            <a:endParaRPr sz="2400">
              <a:latin typeface="Calibri"/>
              <a:cs typeface="Calibri"/>
            </a:endParaRPr>
          </a:p>
          <a:p>
            <a:pPr marL="240029" marR="6350" indent="-227329">
              <a:lnSpc>
                <a:spcPct val="72500"/>
              </a:lnSpc>
              <a:spcBef>
                <a:spcPts val="915"/>
              </a:spcBef>
              <a:buFont typeface="Arial MT"/>
              <a:buChar char="•"/>
              <a:tabLst>
                <a:tab pos="241300" algn="l"/>
                <a:tab pos="848360" algn="l"/>
                <a:tab pos="1712595" algn="l"/>
                <a:tab pos="2258695" algn="l"/>
                <a:tab pos="2996565" algn="l"/>
                <a:tab pos="3401695" algn="l"/>
                <a:tab pos="4333240" algn="l"/>
                <a:tab pos="5176520" algn="l"/>
                <a:tab pos="5788660" algn="l"/>
                <a:tab pos="7082790" algn="l"/>
                <a:tab pos="7458709" algn="l"/>
                <a:tab pos="8018780" algn="l"/>
                <a:tab pos="8816975" algn="l"/>
              </a:tabLst>
            </a:pPr>
            <a:r>
              <a:rPr sz="2400" spc="-25" dirty="0">
                <a:solidFill>
                  <a:srgbClr val="262EA4"/>
                </a:solidFill>
                <a:latin typeface="Calibri"/>
                <a:cs typeface="Calibri"/>
              </a:rPr>
              <a:t>The</a:t>
            </a:r>
            <a:r>
              <a:rPr sz="2400" dirty="0">
                <a:solidFill>
                  <a:srgbClr val="262EA4"/>
                </a:solidFill>
                <a:latin typeface="Calibri"/>
                <a:cs typeface="Calibri"/>
              </a:rPr>
              <a:t>	</a:t>
            </a:r>
            <a:r>
              <a:rPr sz="2400" spc="-20" dirty="0">
                <a:solidFill>
                  <a:srgbClr val="262EA4"/>
                </a:solidFill>
                <a:latin typeface="Calibri"/>
                <a:cs typeface="Calibri"/>
              </a:rPr>
              <a:t>codes</a:t>
            </a:r>
            <a:r>
              <a:rPr sz="2400" dirty="0">
                <a:solidFill>
                  <a:srgbClr val="262EA4"/>
                </a:solidFill>
                <a:latin typeface="Calibri"/>
                <a:cs typeface="Calibri"/>
              </a:rPr>
              <a:t>	</a:t>
            </a:r>
            <a:r>
              <a:rPr sz="2400" spc="-25" dirty="0">
                <a:solidFill>
                  <a:srgbClr val="262EA4"/>
                </a:solidFill>
                <a:latin typeface="Calibri"/>
                <a:cs typeface="Calibri"/>
              </a:rPr>
              <a:t>are</a:t>
            </a:r>
            <a:r>
              <a:rPr sz="2400" dirty="0">
                <a:solidFill>
                  <a:srgbClr val="262EA4"/>
                </a:solidFill>
                <a:latin typeface="Calibri"/>
                <a:cs typeface="Calibri"/>
              </a:rPr>
              <a:t>	</a:t>
            </a:r>
            <a:r>
              <a:rPr sz="2400" spc="-20" dirty="0">
                <a:solidFill>
                  <a:srgbClr val="262EA4"/>
                </a:solidFill>
                <a:latin typeface="Calibri"/>
                <a:cs typeface="Calibri"/>
              </a:rPr>
              <a:t>used</a:t>
            </a:r>
            <a:r>
              <a:rPr sz="2400" dirty="0">
                <a:solidFill>
                  <a:srgbClr val="262EA4"/>
                </a:solidFill>
                <a:latin typeface="Calibri"/>
                <a:cs typeface="Calibri"/>
              </a:rPr>
              <a:t>	</a:t>
            </a:r>
            <a:r>
              <a:rPr sz="2400" spc="-25" dirty="0">
                <a:solidFill>
                  <a:srgbClr val="262EA4"/>
                </a:solidFill>
                <a:latin typeface="Calibri"/>
                <a:cs typeface="Calibri"/>
              </a:rPr>
              <a:t>to</a:t>
            </a:r>
            <a:r>
              <a:rPr sz="2400" dirty="0">
                <a:solidFill>
                  <a:srgbClr val="262EA4"/>
                </a:solidFill>
                <a:latin typeface="Calibri"/>
                <a:cs typeface="Calibri"/>
              </a:rPr>
              <a:t>	</a:t>
            </a:r>
            <a:r>
              <a:rPr sz="2400" spc="-10" dirty="0">
                <a:solidFill>
                  <a:srgbClr val="262EA4"/>
                </a:solidFill>
                <a:latin typeface="Calibri"/>
                <a:cs typeface="Calibri"/>
              </a:rPr>
              <a:t>define</a:t>
            </a:r>
            <a:r>
              <a:rPr sz="2400" dirty="0">
                <a:solidFill>
                  <a:srgbClr val="262EA4"/>
                </a:solidFill>
                <a:latin typeface="Calibri"/>
                <a:cs typeface="Calibri"/>
              </a:rPr>
              <a:t>	</a:t>
            </a:r>
            <a:r>
              <a:rPr sz="2400" spc="-10" dirty="0">
                <a:solidFill>
                  <a:srgbClr val="262EA4"/>
                </a:solidFill>
                <a:latin typeface="Calibri"/>
                <a:cs typeface="Calibri"/>
              </a:rPr>
              <a:t>levels</a:t>
            </a:r>
            <a:r>
              <a:rPr sz="2400" dirty="0">
                <a:solidFill>
                  <a:srgbClr val="262EA4"/>
                </a:solidFill>
                <a:latin typeface="Calibri"/>
                <a:cs typeface="Calibri"/>
              </a:rPr>
              <a:t>	</a:t>
            </a:r>
            <a:r>
              <a:rPr sz="2400" spc="-25" dirty="0">
                <a:solidFill>
                  <a:srgbClr val="262EA4"/>
                </a:solidFill>
                <a:latin typeface="Calibri"/>
                <a:cs typeface="Calibri"/>
              </a:rPr>
              <a:t>and</a:t>
            </a:r>
            <a:r>
              <a:rPr sz="2400" dirty="0">
                <a:solidFill>
                  <a:srgbClr val="262EA4"/>
                </a:solidFill>
                <a:latin typeface="Calibri"/>
                <a:cs typeface="Calibri"/>
              </a:rPr>
              <a:t>	</a:t>
            </a:r>
            <a:r>
              <a:rPr sz="2400" spc="-10" dirty="0">
                <a:solidFill>
                  <a:srgbClr val="262EA4"/>
                </a:solidFill>
                <a:latin typeface="Calibri"/>
                <a:cs typeface="Calibri"/>
              </a:rPr>
              <a:t>elements</a:t>
            </a:r>
            <a:r>
              <a:rPr sz="2400" dirty="0">
                <a:solidFill>
                  <a:srgbClr val="262EA4"/>
                </a:solidFill>
                <a:latin typeface="Calibri"/>
                <a:cs typeface="Calibri"/>
              </a:rPr>
              <a:t>	</a:t>
            </a:r>
            <a:r>
              <a:rPr sz="2400" spc="-25" dirty="0">
                <a:solidFill>
                  <a:srgbClr val="262EA4"/>
                </a:solidFill>
                <a:latin typeface="Calibri"/>
                <a:cs typeface="Calibri"/>
              </a:rPr>
              <a:t>in</a:t>
            </a:r>
            <a:r>
              <a:rPr sz="2400" dirty="0">
                <a:solidFill>
                  <a:srgbClr val="262EA4"/>
                </a:solidFill>
                <a:latin typeface="Calibri"/>
                <a:cs typeface="Calibri"/>
              </a:rPr>
              <a:t>	</a:t>
            </a:r>
            <a:r>
              <a:rPr sz="2400" spc="-25" dirty="0">
                <a:solidFill>
                  <a:srgbClr val="262EA4"/>
                </a:solidFill>
                <a:latin typeface="Calibri"/>
                <a:cs typeface="Calibri"/>
              </a:rPr>
              <a:t>the</a:t>
            </a:r>
            <a:r>
              <a:rPr sz="2400" dirty="0">
                <a:solidFill>
                  <a:srgbClr val="262EA4"/>
                </a:solidFill>
                <a:latin typeface="Calibri"/>
                <a:cs typeface="Calibri"/>
              </a:rPr>
              <a:t>	</a:t>
            </a:r>
            <a:r>
              <a:rPr sz="2400" spc="-20" dirty="0">
                <a:solidFill>
                  <a:srgbClr val="262EA4"/>
                </a:solidFill>
                <a:latin typeface="Calibri"/>
                <a:cs typeface="Calibri"/>
              </a:rPr>
              <a:t>WBS,</a:t>
            </a:r>
            <a:r>
              <a:rPr sz="2400" dirty="0">
                <a:solidFill>
                  <a:srgbClr val="262EA4"/>
                </a:solidFill>
                <a:latin typeface="Calibri"/>
                <a:cs typeface="Calibri"/>
              </a:rPr>
              <a:t>	</a:t>
            </a:r>
            <a:r>
              <a:rPr sz="2400" spc="-20" dirty="0">
                <a:solidFill>
                  <a:srgbClr val="262EA4"/>
                </a:solidFill>
                <a:latin typeface="Calibri"/>
                <a:cs typeface="Calibri"/>
              </a:rPr>
              <a:t>organization 	</a:t>
            </a:r>
            <a:r>
              <a:rPr sz="2400" dirty="0">
                <a:solidFill>
                  <a:srgbClr val="262EA4"/>
                </a:solidFill>
                <a:latin typeface="Calibri"/>
                <a:cs typeface="Calibri"/>
              </a:rPr>
              <a:t>elements,</a:t>
            </a:r>
            <a:r>
              <a:rPr sz="2400" spc="-60" dirty="0">
                <a:solidFill>
                  <a:srgbClr val="262EA4"/>
                </a:solidFill>
                <a:latin typeface="Calibri"/>
                <a:cs typeface="Calibri"/>
              </a:rPr>
              <a:t> </a:t>
            </a:r>
            <a:r>
              <a:rPr sz="2400" dirty="0">
                <a:solidFill>
                  <a:srgbClr val="262EA4"/>
                </a:solidFill>
                <a:latin typeface="Calibri"/>
                <a:cs typeface="Calibri"/>
              </a:rPr>
              <a:t>work</a:t>
            </a:r>
            <a:r>
              <a:rPr sz="2400" spc="-65" dirty="0">
                <a:solidFill>
                  <a:srgbClr val="262EA4"/>
                </a:solidFill>
                <a:latin typeface="Calibri"/>
                <a:cs typeface="Calibri"/>
              </a:rPr>
              <a:t> </a:t>
            </a:r>
            <a:r>
              <a:rPr sz="2400" spc="-10" dirty="0">
                <a:solidFill>
                  <a:srgbClr val="262EA4"/>
                </a:solidFill>
                <a:latin typeface="Calibri"/>
                <a:cs typeface="Calibri"/>
              </a:rPr>
              <a:t>packages,</a:t>
            </a:r>
            <a:r>
              <a:rPr sz="2400" spc="-60" dirty="0">
                <a:solidFill>
                  <a:srgbClr val="262EA4"/>
                </a:solidFill>
                <a:latin typeface="Calibri"/>
                <a:cs typeface="Calibri"/>
              </a:rPr>
              <a:t> </a:t>
            </a:r>
            <a:r>
              <a:rPr sz="2400" dirty="0">
                <a:solidFill>
                  <a:srgbClr val="262EA4"/>
                </a:solidFill>
                <a:latin typeface="Calibri"/>
                <a:cs typeface="Calibri"/>
              </a:rPr>
              <a:t>and</a:t>
            </a:r>
            <a:r>
              <a:rPr sz="2400" spc="-65" dirty="0">
                <a:solidFill>
                  <a:srgbClr val="262EA4"/>
                </a:solidFill>
                <a:latin typeface="Calibri"/>
                <a:cs typeface="Calibri"/>
              </a:rPr>
              <a:t> </a:t>
            </a:r>
            <a:r>
              <a:rPr sz="2400" dirty="0">
                <a:solidFill>
                  <a:srgbClr val="262EA4"/>
                </a:solidFill>
                <a:latin typeface="Calibri"/>
                <a:cs typeface="Calibri"/>
              </a:rPr>
              <a:t>budget</a:t>
            </a:r>
            <a:r>
              <a:rPr sz="2400" spc="-70" dirty="0">
                <a:solidFill>
                  <a:srgbClr val="262EA4"/>
                </a:solidFill>
                <a:latin typeface="Calibri"/>
                <a:cs typeface="Calibri"/>
              </a:rPr>
              <a:t> </a:t>
            </a:r>
            <a:r>
              <a:rPr sz="2400" dirty="0">
                <a:solidFill>
                  <a:srgbClr val="262EA4"/>
                </a:solidFill>
                <a:latin typeface="Calibri"/>
                <a:cs typeface="Calibri"/>
              </a:rPr>
              <a:t>and</a:t>
            </a:r>
            <a:r>
              <a:rPr sz="2400" spc="-60" dirty="0">
                <a:solidFill>
                  <a:srgbClr val="262EA4"/>
                </a:solidFill>
                <a:latin typeface="Calibri"/>
                <a:cs typeface="Calibri"/>
              </a:rPr>
              <a:t> </a:t>
            </a:r>
            <a:r>
              <a:rPr sz="2400" dirty="0">
                <a:solidFill>
                  <a:srgbClr val="262EA4"/>
                </a:solidFill>
                <a:latin typeface="Calibri"/>
                <a:cs typeface="Calibri"/>
              </a:rPr>
              <a:t>cost</a:t>
            </a:r>
            <a:r>
              <a:rPr sz="2400" spc="-65" dirty="0">
                <a:solidFill>
                  <a:srgbClr val="262EA4"/>
                </a:solidFill>
                <a:latin typeface="Calibri"/>
                <a:cs typeface="Calibri"/>
              </a:rPr>
              <a:t> </a:t>
            </a:r>
            <a:r>
              <a:rPr sz="2400" spc="-10" dirty="0">
                <a:solidFill>
                  <a:srgbClr val="262EA4"/>
                </a:solidFill>
                <a:latin typeface="Calibri"/>
                <a:cs typeface="Calibri"/>
              </a:rPr>
              <a:t>information.</a:t>
            </a:r>
            <a:endParaRPr sz="2400">
              <a:latin typeface="Calibri"/>
              <a:cs typeface="Calibri"/>
            </a:endParaRPr>
          </a:p>
          <a:p>
            <a:pPr marL="240029" indent="-227329">
              <a:lnSpc>
                <a:spcPct val="100000"/>
              </a:lnSpc>
              <a:spcBef>
                <a:spcPts val="120"/>
              </a:spcBef>
              <a:buFont typeface="Arial MT"/>
              <a:buChar char="•"/>
              <a:tabLst>
                <a:tab pos="240029" algn="l"/>
              </a:tabLst>
            </a:pPr>
            <a:r>
              <a:rPr sz="2400" dirty="0">
                <a:latin typeface="Calibri"/>
                <a:cs typeface="Calibri"/>
              </a:rPr>
              <a:t>The</a:t>
            </a:r>
            <a:r>
              <a:rPr sz="2400" spc="-30" dirty="0">
                <a:latin typeface="Calibri"/>
                <a:cs typeface="Calibri"/>
              </a:rPr>
              <a:t> </a:t>
            </a:r>
            <a:r>
              <a:rPr sz="2400" dirty="0">
                <a:latin typeface="Calibri"/>
                <a:cs typeface="Calibri"/>
              </a:rPr>
              <a:t>codes</a:t>
            </a:r>
            <a:r>
              <a:rPr sz="2400" spc="-30" dirty="0">
                <a:latin typeface="Calibri"/>
                <a:cs typeface="Calibri"/>
              </a:rPr>
              <a:t> </a:t>
            </a:r>
            <a:r>
              <a:rPr sz="2400" dirty="0">
                <a:latin typeface="Calibri"/>
                <a:cs typeface="Calibri"/>
              </a:rPr>
              <a:t>allow</a:t>
            </a:r>
            <a:r>
              <a:rPr sz="2400" spc="-35" dirty="0">
                <a:latin typeface="Calibri"/>
                <a:cs typeface="Calibri"/>
              </a:rPr>
              <a:t> </a:t>
            </a:r>
            <a:r>
              <a:rPr sz="2400" dirty="0">
                <a:latin typeface="Calibri"/>
                <a:cs typeface="Calibri"/>
              </a:rPr>
              <a:t>reports</a:t>
            </a:r>
            <a:r>
              <a:rPr sz="2400" spc="-30" dirty="0">
                <a:latin typeface="Calibri"/>
                <a:cs typeface="Calibri"/>
              </a:rPr>
              <a:t> </a:t>
            </a:r>
            <a:r>
              <a:rPr sz="2400" dirty="0">
                <a:latin typeface="Calibri"/>
                <a:cs typeface="Calibri"/>
              </a:rPr>
              <a:t>to</a:t>
            </a:r>
            <a:r>
              <a:rPr sz="2400" spc="-35" dirty="0">
                <a:latin typeface="Calibri"/>
                <a:cs typeface="Calibri"/>
              </a:rPr>
              <a:t> </a:t>
            </a:r>
            <a:r>
              <a:rPr sz="2400" dirty="0">
                <a:latin typeface="Calibri"/>
                <a:cs typeface="Calibri"/>
              </a:rPr>
              <a:t>be</a:t>
            </a:r>
            <a:r>
              <a:rPr sz="2400" spc="-25" dirty="0">
                <a:latin typeface="Calibri"/>
                <a:cs typeface="Calibri"/>
              </a:rPr>
              <a:t> </a:t>
            </a:r>
            <a:r>
              <a:rPr sz="2400" dirty="0">
                <a:latin typeface="Calibri"/>
                <a:cs typeface="Calibri"/>
              </a:rPr>
              <a:t>consolidated</a:t>
            </a:r>
            <a:r>
              <a:rPr sz="2400" spc="-35" dirty="0">
                <a:latin typeface="Calibri"/>
                <a:cs typeface="Calibri"/>
              </a:rPr>
              <a:t> </a:t>
            </a:r>
            <a:r>
              <a:rPr sz="2400" dirty="0">
                <a:latin typeface="Calibri"/>
                <a:cs typeface="Calibri"/>
              </a:rPr>
              <a:t>at</a:t>
            </a:r>
            <a:r>
              <a:rPr sz="2400" spc="-35" dirty="0">
                <a:latin typeface="Calibri"/>
                <a:cs typeface="Calibri"/>
              </a:rPr>
              <a:t> </a:t>
            </a:r>
            <a:r>
              <a:rPr sz="2400" dirty="0">
                <a:latin typeface="Calibri"/>
                <a:cs typeface="Calibri"/>
              </a:rPr>
              <a:t>any</a:t>
            </a:r>
            <a:r>
              <a:rPr sz="2400" spc="-30" dirty="0">
                <a:latin typeface="Calibri"/>
                <a:cs typeface="Calibri"/>
              </a:rPr>
              <a:t> </a:t>
            </a:r>
            <a:r>
              <a:rPr sz="2400" dirty="0">
                <a:latin typeface="Calibri"/>
                <a:cs typeface="Calibri"/>
              </a:rPr>
              <a:t>level</a:t>
            </a:r>
            <a:r>
              <a:rPr sz="2400" spc="-35" dirty="0">
                <a:latin typeface="Calibri"/>
                <a:cs typeface="Calibri"/>
              </a:rPr>
              <a:t> </a:t>
            </a:r>
            <a:r>
              <a:rPr sz="2400" dirty="0">
                <a:latin typeface="Calibri"/>
                <a:cs typeface="Calibri"/>
              </a:rPr>
              <a:t>in</a:t>
            </a:r>
            <a:r>
              <a:rPr sz="2400" spc="-25"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structure.</a:t>
            </a:r>
            <a:r>
              <a:rPr sz="2400" spc="-35" dirty="0">
                <a:latin typeface="Calibri"/>
                <a:cs typeface="Calibri"/>
              </a:rPr>
              <a:t> </a:t>
            </a:r>
            <a:r>
              <a:rPr sz="2400" dirty="0">
                <a:latin typeface="Calibri"/>
                <a:cs typeface="Calibri"/>
              </a:rPr>
              <a:t>The</a:t>
            </a:r>
            <a:r>
              <a:rPr sz="2400" spc="-25" dirty="0">
                <a:latin typeface="Calibri"/>
                <a:cs typeface="Calibri"/>
              </a:rPr>
              <a:t> </a:t>
            </a:r>
            <a:r>
              <a:rPr sz="2400" spc="-20" dirty="0">
                <a:latin typeface="Calibri"/>
                <a:cs typeface="Calibri"/>
              </a:rPr>
              <a:t>most</a:t>
            </a:r>
            <a:endParaRPr sz="2400">
              <a:latin typeface="Calibri"/>
              <a:cs typeface="Calibri"/>
            </a:endParaRPr>
          </a:p>
        </p:txBody>
      </p:sp>
      <p:sp>
        <p:nvSpPr>
          <p:cNvPr id="4" name="object 4"/>
          <p:cNvSpPr txBox="1"/>
          <p:nvPr/>
        </p:nvSpPr>
        <p:spPr>
          <a:xfrm>
            <a:off x="1145539" y="3282188"/>
            <a:ext cx="10127615" cy="391160"/>
          </a:xfrm>
          <a:prstGeom prst="rect">
            <a:avLst/>
          </a:prstGeom>
        </p:spPr>
        <p:txBody>
          <a:bodyPr vert="horz" wrap="square" lIns="0" tIns="12700" rIns="0" bIns="0" rtlCol="0">
            <a:spAutoFit/>
          </a:bodyPr>
          <a:lstStyle/>
          <a:p>
            <a:pPr marL="12700">
              <a:lnSpc>
                <a:spcPct val="100000"/>
              </a:lnSpc>
              <a:spcBef>
                <a:spcPts val="100"/>
              </a:spcBef>
              <a:tabLst>
                <a:tab pos="1471295" algn="l"/>
                <a:tab pos="2221865" algn="l"/>
                <a:tab pos="3336290" algn="l"/>
                <a:tab pos="3724910" algn="l"/>
                <a:tab pos="4871085" algn="l"/>
                <a:tab pos="5218430" algn="l"/>
                <a:tab pos="6397625" algn="l"/>
                <a:tab pos="7829550" algn="l"/>
                <a:tab pos="9036050" algn="l"/>
                <a:tab pos="9700895" algn="l"/>
              </a:tabLst>
            </a:pPr>
            <a:r>
              <a:rPr sz="2400" spc="-10" dirty="0">
                <a:latin typeface="Calibri"/>
                <a:cs typeface="Calibri"/>
              </a:rPr>
              <a:t>commonly</a:t>
            </a:r>
            <a:r>
              <a:rPr sz="2400" dirty="0">
                <a:latin typeface="Calibri"/>
                <a:cs typeface="Calibri"/>
              </a:rPr>
              <a:t>	</a:t>
            </a:r>
            <a:r>
              <a:rPr sz="2400" spc="-20" dirty="0">
                <a:latin typeface="Calibri"/>
                <a:cs typeface="Calibri"/>
              </a:rPr>
              <a:t>used</a:t>
            </a:r>
            <a:r>
              <a:rPr sz="2400" dirty="0">
                <a:latin typeface="Calibri"/>
                <a:cs typeface="Calibri"/>
              </a:rPr>
              <a:t>	</a:t>
            </a:r>
            <a:r>
              <a:rPr sz="2400" spc="-10" dirty="0">
                <a:latin typeface="Calibri"/>
                <a:cs typeface="Calibri"/>
              </a:rPr>
              <a:t>scheme</a:t>
            </a:r>
            <a:r>
              <a:rPr sz="2400" dirty="0">
                <a:latin typeface="Calibri"/>
                <a:cs typeface="Calibri"/>
              </a:rPr>
              <a:t>	</a:t>
            </a:r>
            <a:r>
              <a:rPr sz="2400" spc="-25" dirty="0">
                <a:latin typeface="Calibri"/>
                <a:cs typeface="Calibri"/>
              </a:rPr>
              <a:t>in</a:t>
            </a:r>
            <a:r>
              <a:rPr sz="2400" dirty="0">
                <a:latin typeface="Calibri"/>
                <a:cs typeface="Calibri"/>
              </a:rPr>
              <a:t>	</a:t>
            </a:r>
            <a:r>
              <a:rPr sz="2400" spc="-10" dirty="0">
                <a:latin typeface="Calibri"/>
                <a:cs typeface="Calibri"/>
              </a:rPr>
              <a:t>practice</a:t>
            </a:r>
            <a:r>
              <a:rPr sz="2400" dirty="0">
                <a:latin typeface="Calibri"/>
                <a:cs typeface="Calibri"/>
              </a:rPr>
              <a:t>	</a:t>
            </a:r>
            <a:r>
              <a:rPr sz="2400" spc="-25" dirty="0">
                <a:latin typeface="Calibri"/>
                <a:cs typeface="Calibri"/>
              </a:rPr>
              <a:t>is</a:t>
            </a:r>
            <a:r>
              <a:rPr sz="2400" dirty="0">
                <a:latin typeface="Calibri"/>
                <a:cs typeface="Calibri"/>
              </a:rPr>
              <a:t>	</a:t>
            </a:r>
            <a:r>
              <a:rPr sz="2400" spc="-10" dirty="0">
                <a:latin typeface="Calibri"/>
                <a:cs typeface="Calibri"/>
              </a:rPr>
              <a:t>numeric</a:t>
            </a:r>
            <a:r>
              <a:rPr sz="2400" dirty="0">
                <a:latin typeface="Calibri"/>
                <a:cs typeface="Calibri"/>
              </a:rPr>
              <a:t>	</a:t>
            </a:r>
            <a:r>
              <a:rPr sz="2400" spc="-10" dirty="0">
                <a:latin typeface="Calibri"/>
                <a:cs typeface="Calibri"/>
              </a:rPr>
              <a:t>indention;</a:t>
            </a:r>
            <a:r>
              <a:rPr sz="2400" dirty="0">
                <a:latin typeface="Calibri"/>
                <a:cs typeface="Calibri"/>
              </a:rPr>
              <a:t>	</a:t>
            </a:r>
            <a:r>
              <a:rPr sz="2400" spc="-10" dirty="0">
                <a:latin typeface="Calibri"/>
                <a:cs typeface="Calibri"/>
              </a:rPr>
              <a:t>knowing</a:t>
            </a:r>
            <a:r>
              <a:rPr sz="2400" dirty="0">
                <a:latin typeface="Calibri"/>
                <a:cs typeface="Calibri"/>
              </a:rPr>
              <a:t>	</a:t>
            </a:r>
            <a:r>
              <a:rPr sz="2400" spc="-20" dirty="0">
                <a:latin typeface="Calibri"/>
                <a:cs typeface="Calibri"/>
              </a:rPr>
              <a:t>that</a:t>
            </a:r>
            <a:r>
              <a:rPr sz="2400" dirty="0">
                <a:latin typeface="Calibri"/>
                <a:cs typeface="Calibri"/>
              </a:rPr>
              <a:t>	</a:t>
            </a:r>
            <a:r>
              <a:rPr sz="2400" spc="-25" dirty="0">
                <a:latin typeface="Calibri"/>
                <a:cs typeface="Calibri"/>
              </a:rPr>
              <a:t>the</a:t>
            </a:r>
            <a:endParaRPr sz="2400">
              <a:latin typeface="Calibri"/>
              <a:cs typeface="Calibri"/>
            </a:endParaRPr>
          </a:p>
        </p:txBody>
      </p:sp>
      <p:sp>
        <p:nvSpPr>
          <p:cNvPr id="5" name="object 5"/>
          <p:cNvSpPr txBox="1"/>
          <p:nvPr/>
        </p:nvSpPr>
        <p:spPr>
          <a:xfrm>
            <a:off x="916939" y="3535171"/>
            <a:ext cx="10357485" cy="1418590"/>
          </a:xfrm>
          <a:prstGeom prst="rect">
            <a:avLst/>
          </a:prstGeom>
        </p:spPr>
        <p:txBody>
          <a:bodyPr vert="horz" wrap="square" lIns="0" tIns="12700" rIns="0" bIns="0" rtlCol="0">
            <a:spAutoFit/>
          </a:bodyPr>
          <a:lstStyle/>
          <a:p>
            <a:pPr marL="241300">
              <a:lnSpc>
                <a:spcPct val="100000"/>
              </a:lnSpc>
              <a:spcBef>
                <a:spcPts val="100"/>
              </a:spcBef>
            </a:pPr>
            <a:r>
              <a:rPr sz="2400" dirty="0">
                <a:latin typeface="Calibri"/>
                <a:cs typeface="Calibri"/>
              </a:rPr>
              <a:t>project</a:t>
            </a:r>
            <a:r>
              <a:rPr sz="2400" spc="-55" dirty="0">
                <a:latin typeface="Calibri"/>
                <a:cs typeface="Calibri"/>
              </a:rPr>
              <a:t> </a:t>
            </a:r>
            <a:r>
              <a:rPr sz="2400" spc="-10" dirty="0">
                <a:latin typeface="Calibri"/>
                <a:cs typeface="Calibri"/>
              </a:rPr>
              <a:t>identification</a:t>
            </a:r>
            <a:r>
              <a:rPr sz="2400" spc="-50" dirty="0">
                <a:latin typeface="Calibri"/>
                <a:cs typeface="Calibri"/>
              </a:rPr>
              <a:t> </a:t>
            </a:r>
            <a:r>
              <a:rPr sz="2400" dirty="0">
                <a:latin typeface="Calibri"/>
                <a:cs typeface="Calibri"/>
              </a:rPr>
              <a:t>is</a:t>
            </a:r>
            <a:r>
              <a:rPr sz="2400" spc="-50" dirty="0">
                <a:latin typeface="Calibri"/>
                <a:cs typeface="Calibri"/>
              </a:rPr>
              <a:t> </a:t>
            </a:r>
            <a:r>
              <a:rPr sz="2400" spc="-25" dirty="0">
                <a:latin typeface="Calibri"/>
                <a:cs typeface="Calibri"/>
              </a:rPr>
              <a:t>1.0</a:t>
            </a:r>
            <a:endParaRPr sz="2400">
              <a:latin typeface="Calibri"/>
              <a:cs typeface="Calibri"/>
            </a:endParaRPr>
          </a:p>
          <a:p>
            <a:pPr marL="240029" indent="-227329">
              <a:lnSpc>
                <a:spcPct val="100000"/>
              </a:lnSpc>
              <a:spcBef>
                <a:spcPts val="120"/>
              </a:spcBef>
              <a:buFont typeface="Arial MT"/>
              <a:buChar char="•"/>
              <a:tabLst>
                <a:tab pos="240029" algn="l"/>
              </a:tabLst>
            </a:pPr>
            <a:r>
              <a:rPr sz="2400" dirty="0">
                <a:solidFill>
                  <a:srgbClr val="262EA4"/>
                </a:solidFill>
                <a:latin typeface="Calibri"/>
                <a:cs typeface="Calibri"/>
              </a:rPr>
              <a:t>All</a:t>
            </a:r>
            <a:r>
              <a:rPr sz="2400" spc="-65" dirty="0">
                <a:solidFill>
                  <a:srgbClr val="262EA4"/>
                </a:solidFill>
                <a:latin typeface="Calibri"/>
                <a:cs typeface="Calibri"/>
              </a:rPr>
              <a:t> </a:t>
            </a:r>
            <a:r>
              <a:rPr sz="2400" dirty="0">
                <a:solidFill>
                  <a:srgbClr val="262EA4"/>
                </a:solidFill>
                <a:latin typeface="Calibri"/>
                <a:cs typeface="Calibri"/>
              </a:rPr>
              <a:t>tasks</a:t>
            </a:r>
            <a:r>
              <a:rPr sz="2400" spc="-60" dirty="0">
                <a:solidFill>
                  <a:srgbClr val="262EA4"/>
                </a:solidFill>
                <a:latin typeface="Calibri"/>
                <a:cs typeface="Calibri"/>
              </a:rPr>
              <a:t> </a:t>
            </a:r>
            <a:r>
              <a:rPr sz="2400" dirty="0">
                <a:solidFill>
                  <a:srgbClr val="262EA4"/>
                </a:solidFill>
                <a:latin typeface="Calibri"/>
                <a:cs typeface="Calibri"/>
              </a:rPr>
              <a:t>and</a:t>
            </a:r>
            <a:r>
              <a:rPr sz="2400" spc="-55" dirty="0">
                <a:solidFill>
                  <a:srgbClr val="262EA4"/>
                </a:solidFill>
                <a:latin typeface="Calibri"/>
                <a:cs typeface="Calibri"/>
              </a:rPr>
              <a:t> </a:t>
            </a:r>
            <a:r>
              <a:rPr sz="2400" dirty="0">
                <a:solidFill>
                  <a:srgbClr val="262EA4"/>
                </a:solidFill>
                <a:latin typeface="Calibri"/>
                <a:cs typeface="Calibri"/>
              </a:rPr>
              <a:t>elements</a:t>
            </a:r>
            <a:r>
              <a:rPr sz="2400" spc="-55" dirty="0">
                <a:solidFill>
                  <a:srgbClr val="262EA4"/>
                </a:solidFill>
                <a:latin typeface="Calibri"/>
                <a:cs typeface="Calibri"/>
              </a:rPr>
              <a:t> </a:t>
            </a:r>
            <a:r>
              <a:rPr sz="2400" dirty="0">
                <a:solidFill>
                  <a:srgbClr val="262EA4"/>
                </a:solidFill>
                <a:latin typeface="Calibri"/>
                <a:cs typeface="Calibri"/>
              </a:rPr>
              <a:t>in</a:t>
            </a:r>
            <a:r>
              <a:rPr sz="2400" spc="-55" dirty="0">
                <a:solidFill>
                  <a:srgbClr val="262EA4"/>
                </a:solidFill>
                <a:latin typeface="Calibri"/>
                <a:cs typeface="Calibri"/>
              </a:rPr>
              <a:t> </a:t>
            </a:r>
            <a:r>
              <a:rPr sz="2400" dirty="0">
                <a:solidFill>
                  <a:srgbClr val="262EA4"/>
                </a:solidFill>
                <a:latin typeface="Calibri"/>
                <a:cs typeface="Calibri"/>
              </a:rPr>
              <a:t>the</a:t>
            </a:r>
            <a:r>
              <a:rPr sz="2400" spc="-50" dirty="0">
                <a:solidFill>
                  <a:srgbClr val="262EA4"/>
                </a:solidFill>
                <a:latin typeface="Calibri"/>
                <a:cs typeface="Calibri"/>
              </a:rPr>
              <a:t> </a:t>
            </a:r>
            <a:r>
              <a:rPr sz="2400" spc="-10" dirty="0">
                <a:solidFill>
                  <a:srgbClr val="262EA4"/>
                </a:solidFill>
                <a:latin typeface="Calibri"/>
                <a:cs typeface="Calibri"/>
              </a:rPr>
              <a:t>structure</a:t>
            </a:r>
            <a:r>
              <a:rPr sz="2400" spc="-55" dirty="0">
                <a:solidFill>
                  <a:srgbClr val="262EA4"/>
                </a:solidFill>
                <a:latin typeface="Calibri"/>
                <a:cs typeface="Calibri"/>
              </a:rPr>
              <a:t> </a:t>
            </a:r>
            <a:r>
              <a:rPr sz="2400" dirty="0">
                <a:solidFill>
                  <a:srgbClr val="262EA4"/>
                </a:solidFill>
                <a:latin typeface="Calibri"/>
                <a:cs typeface="Calibri"/>
              </a:rPr>
              <a:t>have</a:t>
            </a:r>
            <a:r>
              <a:rPr sz="2400" spc="-50" dirty="0">
                <a:solidFill>
                  <a:srgbClr val="262EA4"/>
                </a:solidFill>
                <a:latin typeface="Calibri"/>
                <a:cs typeface="Calibri"/>
              </a:rPr>
              <a:t> </a:t>
            </a:r>
            <a:r>
              <a:rPr sz="2400" dirty="0">
                <a:solidFill>
                  <a:srgbClr val="262EA4"/>
                </a:solidFill>
                <a:latin typeface="Calibri"/>
                <a:cs typeface="Calibri"/>
              </a:rPr>
              <a:t>an</a:t>
            </a:r>
            <a:r>
              <a:rPr sz="2400" spc="-55" dirty="0">
                <a:solidFill>
                  <a:srgbClr val="262EA4"/>
                </a:solidFill>
                <a:latin typeface="Calibri"/>
                <a:cs typeface="Calibri"/>
              </a:rPr>
              <a:t> </a:t>
            </a:r>
            <a:r>
              <a:rPr sz="2400" spc="-10" dirty="0">
                <a:solidFill>
                  <a:srgbClr val="262EA4"/>
                </a:solidFill>
                <a:latin typeface="Calibri"/>
                <a:cs typeface="Calibri"/>
              </a:rPr>
              <a:t>identification</a:t>
            </a:r>
            <a:r>
              <a:rPr sz="2400" spc="-55" dirty="0">
                <a:solidFill>
                  <a:srgbClr val="262EA4"/>
                </a:solidFill>
                <a:latin typeface="Calibri"/>
                <a:cs typeface="Calibri"/>
              </a:rPr>
              <a:t> </a:t>
            </a:r>
            <a:r>
              <a:rPr sz="2400" spc="-10" dirty="0">
                <a:solidFill>
                  <a:srgbClr val="262EA4"/>
                </a:solidFill>
                <a:latin typeface="Calibri"/>
                <a:cs typeface="Calibri"/>
              </a:rPr>
              <a:t>code.</a:t>
            </a:r>
            <a:endParaRPr sz="2400">
              <a:latin typeface="Calibri"/>
              <a:cs typeface="Calibri"/>
            </a:endParaRPr>
          </a:p>
          <a:p>
            <a:pPr marL="240029" marR="5080" indent="-227329">
              <a:lnSpc>
                <a:spcPct val="72500"/>
              </a:lnSpc>
              <a:spcBef>
                <a:spcPts val="910"/>
              </a:spcBef>
              <a:buFont typeface="Arial MT"/>
              <a:buChar char="•"/>
              <a:tabLst>
                <a:tab pos="241300" algn="l"/>
              </a:tabLst>
            </a:pPr>
            <a:r>
              <a:rPr sz="2400" dirty="0">
                <a:latin typeface="Calibri"/>
                <a:cs typeface="Calibri"/>
              </a:rPr>
              <a:t>The</a:t>
            </a:r>
            <a:r>
              <a:rPr sz="2400" spc="-55" dirty="0">
                <a:latin typeface="Calibri"/>
                <a:cs typeface="Calibri"/>
              </a:rPr>
              <a:t> </a:t>
            </a:r>
            <a:r>
              <a:rPr sz="2400" spc="-20" dirty="0">
                <a:latin typeface="Calibri"/>
                <a:cs typeface="Calibri"/>
              </a:rPr>
              <a:t>“cost</a:t>
            </a:r>
            <a:r>
              <a:rPr sz="2400" spc="-55" dirty="0">
                <a:latin typeface="Calibri"/>
                <a:cs typeface="Calibri"/>
              </a:rPr>
              <a:t> </a:t>
            </a:r>
            <a:r>
              <a:rPr sz="2400" dirty="0">
                <a:latin typeface="Calibri"/>
                <a:cs typeface="Calibri"/>
              </a:rPr>
              <a:t>account”</a:t>
            </a:r>
            <a:r>
              <a:rPr sz="2400" spc="-60"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focal</a:t>
            </a:r>
            <a:r>
              <a:rPr sz="2400" spc="-55" dirty="0">
                <a:latin typeface="Calibri"/>
                <a:cs typeface="Calibri"/>
              </a:rPr>
              <a:t> </a:t>
            </a:r>
            <a:r>
              <a:rPr sz="2400" dirty="0">
                <a:latin typeface="Calibri"/>
                <a:cs typeface="Calibri"/>
              </a:rPr>
              <a:t>point</a:t>
            </a:r>
            <a:r>
              <a:rPr sz="2400" spc="-60" dirty="0">
                <a:latin typeface="Calibri"/>
                <a:cs typeface="Calibri"/>
              </a:rPr>
              <a:t> </a:t>
            </a:r>
            <a:r>
              <a:rPr sz="2400" dirty="0">
                <a:latin typeface="Calibri"/>
                <a:cs typeface="Calibri"/>
              </a:rPr>
              <a:t>because</a:t>
            </a:r>
            <a:r>
              <a:rPr sz="2400" spc="-50" dirty="0">
                <a:latin typeface="Calibri"/>
                <a:cs typeface="Calibri"/>
              </a:rPr>
              <a:t> </a:t>
            </a:r>
            <a:r>
              <a:rPr sz="2400" dirty="0">
                <a:latin typeface="Calibri"/>
                <a:cs typeface="Calibri"/>
              </a:rPr>
              <a:t>all</a:t>
            </a:r>
            <a:r>
              <a:rPr sz="2400" spc="-55" dirty="0">
                <a:latin typeface="Calibri"/>
                <a:cs typeface="Calibri"/>
              </a:rPr>
              <a:t> </a:t>
            </a:r>
            <a:r>
              <a:rPr sz="2400" dirty="0">
                <a:latin typeface="Calibri"/>
                <a:cs typeface="Calibri"/>
              </a:rPr>
              <a:t>budgets,</a:t>
            </a:r>
            <a:r>
              <a:rPr sz="2400" spc="-60" dirty="0">
                <a:latin typeface="Calibri"/>
                <a:cs typeface="Calibri"/>
              </a:rPr>
              <a:t> </a:t>
            </a:r>
            <a:r>
              <a:rPr sz="2400" dirty="0">
                <a:latin typeface="Calibri"/>
                <a:cs typeface="Calibri"/>
              </a:rPr>
              <a:t>work</a:t>
            </a:r>
            <a:r>
              <a:rPr sz="2400" spc="-60" dirty="0">
                <a:latin typeface="Calibri"/>
                <a:cs typeface="Calibri"/>
              </a:rPr>
              <a:t> </a:t>
            </a:r>
            <a:r>
              <a:rPr sz="2400" dirty="0">
                <a:latin typeface="Calibri"/>
                <a:cs typeface="Calibri"/>
              </a:rPr>
              <a:t>assignments,</a:t>
            </a:r>
            <a:r>
              <a:rPr sz="2400" spc="-50" dirty="0">
                <a:latin typeface="Calibri"/>
                <a:cs typeface="Calibri"/>
              </a:rPr>
              <a:t> </a:t>
            </a:r>
            <a:r>
              <a:rPr sz="2400" spc="-10" dirty="0">
                <a:latin typeface="Calibri"/>
                <a:cs typeface="Calibri"/>
              </a:rPr>
              <a:t>time, 	</a:t>
            </a:r>
            <a:r>
              <a:rPr sz="2400" dirty="0">
                <a:latin typeface="Calibri"/>
                <a:cs typeface="Calibri"/>
              </a:rPr>
              <a:t>cost,</a:t>
            </a:r>
            <a:r>
              <a:rPr sz="2400" spc="-6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technical</a:t>
            </a:r>
            <a:r>
              <a:rPr sz="2400" spc="-75" dirty="0">
                <a:latin typeface="Calibri"/>
                <a:cs typeface="Calibri"/>
              </a:rPr>
              <a:t> </a:t>
            </a:r>
            <a:r>
              <a:rPr sz="2400" spc="-10" dirty="0">
                <a:latin typeface="Calibri"/>
                <a:cs typeface="Calibri"/>
              </a:rPr>
              <a:t>performance</a:t>
            </a:r>
            <a:r>
              <a:rPr sz="2400" spc="-55" dirty="0">
                <a:latin typeface="Calibri"/>
                <a:cs typeface="Calibri"/>
              </a:rPr>
              <a:t> </a:t>
            </a:r>
            <a:r>
              <a:rPr sz="2400" dirty="0">
                <a:latin typeface="Calibri"/>
                <a:cs typeface="Calibri"/>
              </a:rPr>
              <a:t>come</a:t>
            </a:r>
            <a:r>
              <a:rPr sz="2400" spc="-60" dirty="0">
                <a:latin typeface="Calibri"/>
                <a:cs typeface="Calibri"/>
              </a:rPr>
              <a:t> </a:t>
            </a:r>
            <a:r>
              <a:rPr sz="2400" dirty="0">
                <a:latin typeface="Calibri"/>
                <a:cs typeface="Calibri"/>
              </a:rPr>
              <a:t>together</a:t>
            </a:r>
            <a:r>
              <a:rPr sz="2400" spc="-65" dirty="0">
                <a:latin typeface="Calibri"/>
                <a:cs typeface="Calibri"/>
              </a:rPr>
              <a:t> </a:t>
            </a:r>
            <a:r>
              <a:rPr sz="2400" dirty="0">
                <a:latin typeface="Calibri"/>
                <a:cs typeface="Calibri"/>
              </a:rPr>
              <a:t>at</a:t>
            </a:r>
            <a:r>
              <a:rPr sz="2400" spc="-70" dirty="0">
                <a:latin typeface="Calibri"/>
                <a:cs typeface="Calibri"/>
              </a:rPr>
              <a:t> </a:t>
            </a:r>
            <a:r>
              <a:rPr sz="2400" dirty="0">
                <a:latin typeface="Calibri"/>
                <a:cs typeface="Calibri"/>
              </a:rPr>
              <a:t>this</a:t>
            </a:r>
            <a:r>
              <a:rPr sz="2400" spc="-65" dirty="0">
                <a:latin typeface="Calibri"/>
                <a:cs typeface="Calibri"/>
              </a:rPr>
              <a:t> </a:t>
            </a:r>
            <a:r>
              <a:rPr sz="2400" spc="-10" dirty="0">
                <a:latin typeface="Calibri"/>
                <a:cs typeface="Calibri"/>
              </a:rPr>
              <a:t>point.</a:t>
            </a:r>
            <a:endParaRPr sz="2400">
              <a:latin typeface="Calibri"/>
              <a:cs typeface="Calibri"/>
            </a:endParaRPr>
          </a:p>
        </p:txBody>
      </p:sp>
      <p:sp>
        <p:nvSpPr>
          <p:cNvPr id="6" name="object 6"/>
          <p:cNvSpPr txBox="1"/>
          <p:nvPr/>
        </p:nvSpPr>
        <p:spPr>
          <a:xfrm>
            <a:off x="916939" y="5324347"/>
            <a:ext cx="10356850" cy="391160"/>
          </a:xfrm>
          <a:prstGeom prst="rect">
            <a:avLst/>
          </a:prstGeom>
        </p:spPr>
        <p:txBody>
          <a:bodyPr vert="horz" wrap="square" lIns="0" tIns="12700" rIns="0" bIns="0" rtlCol="0">
            <a:spAutoFit/>
          </a:bodyPr>
          <a:lstStyle/>
          <a:p>
            <a:pPr marL="240029" indent="-227329">
              <a:lnSpc>
                <a:spcPct val="100000"/>
              </a:lnSpc>
              <a:spcBef>
                <a:spcPts val="100"/>
              </a:spcBef>
              <a:buFont typeface="Arial MT"/>
              <a:buChar char="•"/>
              <a:tabLst>
                <a:tab pos="240029" algn="l"/>
              </a:tabLst>
            </a:pPr>
            <a:r>
              <a:rPr sz="2400" dirty="0">
                <a:solidFill>
                  <a:srgbClr val="C00000"/>
                </a:solidFill>
                <a:latin typeface="Calibri"/>
                <a:cs typeface="Calibri"/>
              </a:rPr>
              <a:t>This</a:t>
            </a:r>
            <a:r>
              <a:rPr sz="2400" spc="125" dirty="0">
                <a:solidFill>
                  <a:srgbClr val="C00000"/>
                </a:solidFill>
                <a:latin typeface="Calibri"/>
                <a:cs typeface="Calibri"/>
              </a:rPr>
              <a:t> </a:t>
            </a:r>
            <a:r>
              <a:rPr sz="2400" dirty="0">
                <a:solidFill>
                  <a:srgbClr val="C00000"/>
                </a:solidFill>
                <a:latin typeface="Calibri"/>
                <a:cs typeface="Calibri"/>
              </a:rPr>
              <a:t>coding</a:t>
            </a:r>
            <a:r>
              <a:rPr sz="2400" spc="120" dirty="0">
                <a:solidFill>
                  <a:srgbClr val="C00000"/>
                </a:solidFill>
                <a:latin typeface="Calibri"/>
                <a:cs typeface="Calibri"/>
              </a:rPr>
              <a:t> </a:t>
            </a:r>
            <a:r>
              <a:rPr sz="2400" dirty="0">
                <a:solidFill>
                  <a:srgbClr val="C00000"/>
                </a:solidFill>
                <a:latin typeface="Calibri"/>
                <a:cs typeface="Calibri"/>
              </a:rPr>
              <a:t>system</a:t>
            </a:r>
            <a:r>
              <a:rPr sz="2400" spc="125" dirty="0">
                <a:solidFill>
                  <a:srgbClr val="C00000"/>
                </a:solidFill>
                <a:latin typeface="Calibri"/>
                <a:cs typeface="Calibri"/>
              </a:rPr>
              <a:t> </a:t>
            </a:r>
            <a:r>
              <a:rPr sz="2400" dirty="0">
                <a:solidFill>
                  <a:srgbClr val="C00000"/>
                </a:solidFill>
                <a:latin typeface="Calibri"/>
                <a:cs typeface="Calibri"/>
              </a:rPr>
              <a:t>can</a:t>
            </a:r>
            <a:r>
              <a:rPr sz="2400" spc="130" dirty="0">
                <a:solidFill>
                  <a:srgbClr val="C00000"/>
                </a:solidFill>
                <a:latin typeface="Calibri"/>
                <a:cs typeface="Calibri"/>
              </a:rPr>
              <a:t> </a:t>
            </a:r>
            <a:r>
              <a:rPr sz="2400" dirty="0">
                <a:solidFill>
                  <a:srgbClr val="C00000"/>
                </a:solidFill>
                <a:latin typeface="Calibri"/>
                <a:cs typeface="Calibri"/>
              </a:rPr>
              <a:t>be</a:t>
            </a:r>
            <a:r>
              <a:rPr sz="2400" spc="130" dirty="0">
                <a:solidFill>
                  <a:srgbClr val="C00000"/>
                </a:solidFill>
                <a:latin typeface="Calibri"/>
                <a:cs typeface="Calibri"/>
              </a:rPr>
              <a:t> </a:t>
            </a:r>
            <a:r>
              <a:rPr sz="2400" dirty="0">
                <a:solidFill>
                  <a:srgbClr val="C00000"/>
                </a:solidFill>
                <a:latin typeface="Calibri"/>
                <a:cs typeface="Calibri"/>
              </a:rPr>
              <a:t>extended</a:t>
            </a:r>
            <a:r>
              <a:rPr sz="2400" spc="140" dirty="0">
                <a:solidFill>
                  <a:srgbClr val="C00000"/>
                </a:solidFill>
                <a:latin typeface="Calibri"/>
                <a:cs typeface="Calibri"/>
              </a:rPr>
              <a:t> </a:t>
            </a:r>
            <a:r>
              <a:rPr sz="2400" dirty="0">
                <a:solidFill>
                  <a:srgbClr val="C00000"/>
                </a:solidFill>
                <a:latin typeface="Calibri"/>
                <a:cs typeface="Calibri"/>
              </a:rPr>
              <a:t>to</a:t>
            </a:r>
            <a:r>
              <a:rPr sz="2400" spc="125" dirty="0">
                <a:solidFill>
                  <a:srgbClr val="C00000"/>
                </a:solidFill>
                <a:latin typeface="Calibri"/>
                <a:cs typeface="Calibri"/>
              </a:rPr>
              <a:t> </a:t>
            </a:r>
            <a:r>
              <a:rPr sz="2400" dirty="0">
                <a:solidFill>
                  <a:srgbClr val="C00000"/>
                </a:solidFill>
                <a:latin typeface="Calibri"/>
                <a:cs typeface="Calibri"/>
              </a:rPr>
              <a:t>cover</a:t>
            </a:r>
            <a:r>
              <a:rPr sz="2400" spc="130" dirty="0">
                <a:solidFill>
                  <a:srgbClr val="C00000"/>
                </a:solidFill>
                <a:latin typeface="Calibri"/>
                <a:cs typeface="Calibri"/>
              </a:rPr>
              <a:t> </a:t>
            </a:r>
            <a:r>
              <a:rPr sz="2400" dirty="0">
                <a:solidFill>
                  <a:srgbClr val="C00000"/>
                </a:solidFill>
                <a:latin typeface="Calibri"/>
                <a:cs typeface="Calibri"/>
              </a:rPr>
              <a:t>large</a:t>
            </a:r>
            <a:r>
              <a:rPr sz="2400" spc="135" dirty="0">
                <a:solidFill>
                  <a:srgbClr val="C00000"/>
                </a:solidFill>
                <a:latin typeface="Calibri"/>
                <a:cs typeface="Calibri"/>
              </a:rPr>
              <a:t> </a:t>
            </a:r>
            <a:r>
              <a:rPr sz="2400" dirty="0">
                <a:solidFill>
                  <a:srgbClr val="C00000"/>
                </a:solidFill>
                <a:latin typeface="Calibri"/>
                <a:cs typeface="Calibri"/>
              </a:rPr>
              <a:t>projects.</a:t>
            </a:r>
            <a:r>
              <a:rPr sz="2400" spc="125" dirty="0">
                <a:solidFill>
                  <a:srgbClr val="C00000"/>
                </a:solidFill>
                <a:latin typeface="Calibri"/>
                <a:cs typeface="Calibri"/>
              </a:rPr>
              <a:t> </a:t>
            </a:r>
            <a:r>
              <a:rPr sz="2400" dirty="0">
                <a:solidFill>
                  <a:srgbClr val="C00000"/>
                </a:solidFill>
                <a:latin typeface="Calibri"/>
                <a:cs typeface="Calibri"/>
              </a:rPr>
              <a:t>Additional</a:t>
            </a:r>
            <a:r>
              <a:rPr sz="2400" spc="130" dirty="0">
                <a:solidFill>
                  <a:srgbClr val="C00000"/>
                </a:solidFill>
                <a:latin typeface="Calibri"/>
                <a:cs typeface="Calibri"/>
              </a:rPr>
              <a:t> </a:t>
            </a:r>
            <a:r>
              <a:rPr sz="2400" spc="-10" dirty="0">
                <a:solidFill>
                  <a:srgbClr val="C00000"/>
                </a:solidFill>
                <a:latin typeface="Calibri"/>
                <a:cs typeface="Calibri"/>
              </a:rPr>
              <a:t>schemes</a:t>
            </a:r>
            <a:endParaRPr sz="2400">
              <a:latin typeface="Calibri"/>
              <a:cs typeface="Calibri"/>
            </a:endParaRPr>
          </a:p>
        </p:txBody>
      </p:sp>
      <p:sp>
        <p:nvSpPr>
          <p:cNvPr id="7" name="object 7"/>
          <p:cNvSpPr txBox="1"/>
          <p:nvPr/>
        </p:nvSpPr>
        <p:spPr>
          <a:xfrm>
            <a:off x="1145539" y="5580379"/>
            <a:ext cx="101288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Calibri"/>
                <a:cs typeface="Calibri"/>
              </a:rPr>
              <a:t>can</a:t>
            </a:r>
            <a:r>
              <a:rPr sz="2400" spc="-20" dirty="0">
                <a:solidFill>
                  <a:srgbClr val="C00000"/>
                </a:solidFill>
                <a:latin typeface="Calibri"/>
                <a:cs typeface="Calibri"/>
              </a:rPr>
              <a:t> </a:t>
            </a:r>
            <a:r>
              <a:rPr sz="2400" dirty="0">
                <a:solidFill>
                  <a:srgbClr val="C00000"/>
                </a:solidFill>
                <a:latin typeface="Calibri"/>
                <a:cs typeface="Calibri"/>
              </a:rPr>
              <a:t>be</a:t>
            </a:r>
            <a:r>
              <a:rPr sz="2400" spc="-10" dirty="0">
                <a:solidFill>
                  <a:srgbClr val="C00000"/>
                </a:solidFill>
                <a:latin typeface="Calibri"/>
                <a:cs typeface="Calibri"/>
              </a:rPr>
              <a:t> </a:t>
            </a:r>
            <a:r>
              <a:rPr sz="2400" dirty="0">
                <a:solidFill>
                  <a:srgbClr val="C00000"/>
                </a:solidFill>
                <a:latin typeface="Calibri"/>
                <a:cs typeface="Calibri"/>
              </a:rPr>
              <a:t>added</a:t>
            </a:r>
            <a:r>
              <a:rPr sz="2400" spc="-20" dirty="0">
                <a:solidFill>
                  <a:srgbClr val="C00000"/>
                </a:solidFill>
                <a:latin typeface="Calibri"/>
                <a:cs typeface="Calibri"/>
              </a:rPr>
              <a:t> </a:t>
            </a:r>
            <a:r>
              <a:rPr sz="2400" dirty="0">
                <a:solidFill>
                  <a:srgbClr val="C00000"/>
                </a:solidFill>
                <a:latin typeface="Calibri"/>
                <a:cs typeface="Calibri"/>
              </a:rPr>
              <a:t>for</a:t>
            </a:r>
            <a:r>
              <a:rPr sz="2400" spc="-15" dirty="0">
                <a:solidFill>
                  <a:srgbClr val="C00000"/>
                </a:solidFill>
                <a:latin typeface="Calibri"/>
                <a:cs typeface="Calibri"/>
              </a:rPr>
              <a:t> </a:t>
            </a:r>
            <a:r>
              <a:rPr sz="2400" dirty="0">
                <a:solidFill>
                  <a:srgbClr val="C00000"/>
                </a:solidFill>
                <a:latin typeface="Calibri"/>
                <a:cs typeface="Calibri"/>
              </a:rPr>
              <a:t>special</a:t>
            </a:r>
            <a:r>
              <a:rPr sz="2400" spc="-15" dirty="0">
                <a:solidFill>
                  <a:srgbClr val="C00000"/>
                </a:solidFill>
                <a:latin typeface="Calibri"/>
                <a:cs typeface="Calibri"/>
              </a:rPr>
              <a:t> </a:t>
            </a:r>
            <a:r>
              <a:rPr sz="2400" dirty="0">
                <a:solidFill>
                  <a:srgbClr val="C00000"/>
                </a:solidFill>
                <a:latin typeface="Calibri"/>
                <a:cs typeface="Calibri"/>
              </a:rPr>
              <a:t>reports.</a:t>
            </a:r>
            <a:r>
              <a:rPr sz="2400" spc="-25" dirty="0">
                <a:solidFill>
                  <a:srgbClr val="C00000"/>
                </a:solidFill>
                <a:latin typeface="Calibri"/>
                <a:cs typeface="Calibri"/>
              </a:rPr>
              <a:t> </a:t>
            </a:r>
            <a:r>
              <a:rPr sz="2400" dirty="0">
                <a:solidFill>
                  <a:srgbClr val="C00000"/>
                </a:solidFill>
                <a:latin typeface="Calibri"/>
                <a:cs typeface="Calibri"/>
              </a:rPr>
              <a:t>For</a:t>
            </a:r>
            <a:r>
              <a:rPr sz="2400" spc="-15" dirty="0">
                <a:solidFill>
                  <a:srgbClr val="C00000"/>
                </a:solidFill>
                <a:latin typeface="Calibri"/>
                <a:cs typeface="Calibri"/>
              </a:rPr>
              <a:t> </a:t>
            </a:r>
            <a:r>
              <a:rPr sz="2400" dirty="0">
                <a:solidFill>
                  <a:srgbClr val="C00000"/>
                </a:solidFill>
                <a:latin typeface="Calibri"/>
                <a:cs typeface="Calibri"/>
              </a:rPr>
              <a:t>example,</a:t>
            </a:r>
            <a:r>
              <a:rPr sz="2400" spc="-5" dirty="0">
                <a:solidFill>
                  <a:srgbClr val="C00000"/>
                </a:solidFill>
                <a:latin typeface="Calibri"/>
                <a:cs typeface="Calibri"/>
              </a:rPr>
              <a:t> </a:t>
            </a:r>
            <a:r>
              <a:rPr sz="2400" dirty="0">
                <a:solidFill>
                  <a:srgbClr val="C00000"/>
                </a:solidFill>
                <a:latin typeface="Calibri"/>
                <a:cs typeface="Calibri"/>
              </a:rPr>
              <a:t>adding</a:t>
            </a:r>
            <a:r>
              <a:rPr sz="2400" spc="-25" dirty="0">
                <a:solidFill>
                  <a:srgbClr val="C00000"/>
                </a:solidFill>
                <a:latin typeface="Calibri"/>
                <a:cs typeface="Calibri"/>
              </a:rPr>
              <a:t> </a:t>
            </a:r>
            <a:r>
              <a:rPr sz="2400" dirty="0">
                <a:solidFill>
                  <a:srgbClr val="C00000"/>
                </a:solidFill>
                <a:latin typeface="Calibri"/>
                <a:cs typeface="Calibri"/>
              </a:rPr>
              <a:t>a</a:t>
            </a:r>
            <a:r>
              <a:rPr sz="2400" spc="-15" dirty="0">
                <a:solidFill>
                  <a:srgbClr val="C00000"/>
                </a:solidFill>
                <a:latin typeface="Calibri"/>
                <a:cs typeface="Calibri"/>
              </a:rPr>
              <a:t> </a:t>
            </a:r>
            <a:r>
              <a:rPr sz="2400" dirty="0">
                <a:solidFill>
                  <a:srgbClr val="C00000"/>
                </a:solidFill>
                <a:latin typeface="Calibri"/>
                <a:cs typeface="Calibri"/>
              </a:rPr>
              <a:t>“23”</a:t>
            </a:r>
            <a:r>
              <a:rPr sz="2400" spc="-20" dirty="0">
                <a:solidFill>
                  <a:srgbClr val="C00000"/>
                </a:solidFill>
                <a:latin typeface="Calibri"/>
                <a:cs typeface="Calibri"/>
              </a:rPr>
              <a:t> </a:t>
            </a:r>
            <a:r>
              <a:rPr sz="2400" dirty="0">
                <a:solidFill>
                  <a:srgbClr val="C00000"/>
                </a:solidFill>
                <a:latin typeface="Calibri"/>
                <a:cs typeface="Calibri"/>
              </a:rPr>
              <a:t>after</a:t>
            </a:r>
            <a:r>
              <a:rPr sz="2400" spc="-20" dirty="0">
                <a:solidFill>
                  <a:srgbClr val="C00000"/>
                </a:solidFill>
                <a:latin typeface="Calibri"/>
                <a:cs typeface="Calibri"/>
              </a:rPr>
              <a:t> </a:t>
            </a:r>
            <a:r>
              <a:rPr sz="2400" dirty="0">
                <a:solidFill>
                  <a:srgbClr val="C00000"/>
                </a:solidFill>
                <a:latin typeface="Calibri"/>
                <a:cs typeface="Calibri"/>
              </a:rPr>
              <a:t>the</a:t>
            </a:r>
            <a:r>
              <a:rPr sz="2400" spc="-5" dirty="0">
                <a:solidFill>
                  <a:srgbClr val="C00000"/>
                </a:solidFill>
                <a:latin typeface="Calibri"/>
                <a:cs typeface="Calibri"/>
              </a:rPr>
              <a:t> </a:t>
            </a:r>
            <a:r>
              <a:rPr sz="2400" dirty="0">
                <a:solidFill>
                  <a:srgbClr val="C00000"/>
                </a:solidFill>
                <a:latin typeface="Calibri"/>
                <a:cs typeface="Calibri"/>
              </a:rPr>
              <a:t>code</a:t>
            </a:r>
            <a:r>
              <a:rPr sz="2400" spc="-15" dirty="0">
                <a:solidFill>
                  <a:srgbClr val="C00000"/>
                </a:solidFill>
                <a:latin typeface="Calibri"/>
                <a:cs typeface="Calibri"/>
              </a:rPr>
              <a:t> </a:t>
            </a:r>
            <a:r>
              <a:rPr sz="2400" spc="-10" dirty="0">
                <a:solidFill>
                  <a:srgbClr val="C00000"/>
                </a:solidFill>
                <a:latin typeface="Calibri"/>
                <a:cs typeface="Calibri"/>
              </a:rPr>
              <a:t>could</a:t>
            </a:r>
            <a:endParaRPr sz="2400">
              <a:latin typeface="Calibri"/>
              <a:cs typeface="Calibri"/>
            </a:endParaRPr>
          </a:p>
        </p:txBody>
      </p:sp>
      <p:sp>
        <p:nvSpPr>
          <p:cNvPr id="8" name="object 8"/>
          <p:cNvSpPr txBox="1"/>
          <p:nvPr/>
        </p:nvSpPr>
        <p:spPr>
          <a:xfrm>
            <a:off x="1145539" y="5833364"/>
            <a:ext cx="101282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Calibri"/>
                <a:cs typeface="Calibri"/>
              </a:rPr>
              <a:t>indicate</a:t>
            </a:r>
            <a:r>
              <a:rPr sz="2400" spc="270" dirty="0">
                <a:solidFill>
                  <a:srgbClr val="C00000"/>
                </a:solidFill>
                <a:latin typeface="Calibri"/>
                <a:cs typeface="Calibri"/>
              </a:rPr>
              <a:t> </a:t>
            </a:r>
            <a:r>
              <a:rPr sz="2400" dirty="0">
                <a:solidFill>
                  <a:srgbClr val="C00000"/>
                </a:solidFill>
                <a:latin typeface="Calibri"/>
                <a:cs typeface="Calibri"/>
              </a:rPr>
              <a:t>a</a:t>
            </a:r>
            <a:r>
              <a:rPr sz="2400" spc="275" dirty="0">
                <a:solidFill>
                  <a:srgbClr val="C00000"/>
                </a:solidFill>
                <a:latin typeface="Calibri"/>
                <a:cs typeface="Calibri"/>
              </a:rPr>
              <a:t> </a:t>
            </a:r>
            <a:r>
              <a:rPr sz="2400" dirty="0">
                <a:solidFill>
                  <a:srgbClr val="C00000"/>
                </a:solidFill>
                <a:latin typeface="Calibri"/>
                <a:cs typeface="Calibri"/>
              </a:rPr>
              <a:t>site</a:t>
            </a:r>
            <a:r>
              <a:rPr sz="2400" spc="275" dirty="0">
                <a:solidFill>
                  <a:srgbClr val="C00000"/>
                </a:solidFill>
                <a:latin typeface="Calibri"/>
                <a:cs typeface="Calibri"/>
              </a:rPr>
              <a:t> </a:t>
            </a:r>
            <a:r>
              <a:rPr sz="2400" dirty="0">
                <a:solidFill>
                  <a:srgbClr val="C00000"/>
                </a:solidFill>
                <a:latin typeface="Calibri"/>
                <a:cs typeface="Calibri"/>
              </a:rPr>
              <a:t>location,</a:t>
            </a:r>
            <a:r>
              <a:rPr sz="2400" spc="275" dirty="0">
                <a:solidFill>
                  <a:srgbClr val="C00000"/>
                </a:solidFill>
                <a:latin typeface="Calibri"/>
                <a:cs typeface="Calibri"/>
              </a:rPr>
              <a:t> </a:t>
            </a:r>
            <a:r>
              <a:rPr sz="2400" dirty="0">
                <a:solidFill>
                  <a:srgbClr val="C00000"/>
                </a:solidFill>
                <a:latin typeface="Calibri"/>
                <a:cs typeface="Calibri"/>
              </a:rPr>
              <a:t>an</a:t>
            </a:r>
            <a:r>
              <a:rPr sz="2400" spc="275" dirty="0">
                <a:solidFill>
                  <a:srgbClr val="C00000"/>
                </a:solidFill>
                <a:latin typeface="Calibri"/>
                <a:cs typeface="Calibri"/>
              </a:rPr>
              <a:t> </a:t>
            </a:r>
            <a:r>
              <a:rPr sz="2400" dirty="0">
                <a:solidFill>
                  <a:srgbClr val="C00000"/>
                </a:solidFill>
                <a:latin typeface="Calibri"/>
                <a:cs typeface="Calibri"/>
              </a:rPr>
              <a:t>elevation,</a:t>
            </a:r>
            <a:r>
              <a:rPr sz="2400" spc="275" dirty="0">
                <a:solidFill>
                  <a:srgbClr val="C00000"/>
                </a:solidFill>
                <a:latin typeface="Calibri"/>
                <a:cs typeface="Calibri"/>
              </a:rPr>
              <a:t> </a:t>
            </a:r>
            <a:r>
              <a:rPr sz="2400" dirty="0">
                <a:solidFill>
                  <a:srgbClr val="C00000"/>
                </a:solidFill>
                <a:latin typeface="Calibri"/>
                <a:cs typeface="Calibri"/>
              </a:rPr>
              <a:t>or</a:t>
            </a:r>
            <a:r>
              <a:rPr sz="2400" spc="275" dirty="0">
                <a:solidFill>
                  <a:srgbClr val="C00000"/>
                </a:solidFill>
                <a:latin typeface="Calibri"/>
                <a:cs typeface="Calibri"/>
              </a:rPr>
              <a:t> </a:t>
            </a:r>
            <a:r>
              <a:rPr sz="2400" dirty="0">
                <a:solidFill>
                  <a:srgbClr val="C00000"/>
                </a:solidFill>
                <a:latin typeface="Calibri"/>
                <a:cs typeface="Calibri"/>
              </a:rPr>
              <a:t>a</a:t>
            </a:r>
            <a:r>
              <a:rPr sz="2400" spc="275" dirty="0">
                <a:solidFill>
                  <a:srgbClr val="C00000"/>
                </a:solidFill>
                <a:latin typeface="Calibri"/>
                <a:cs typeface="Calibri"/>
              </a:rPr>
              <a:t> </a:t>
            </a:r>
            <a:r>
              <a:rPr sz="2400" dirty="0">
                <a:solidFill>
                  <a:srgbClr val="C00000"/>
                </a:solidFill>
                <a:latin typeface="Calibri"/>
                <a:cs typeface="Calibri"/>
              </a:rPr>
              <a:t>special</a:t>
            </a:r>
            <a:r>
              <a:rPr sz="2400" spc="270" dirty="0">
                <a:solidFill>
                  <a:srgbClr val="C00000"/>
                </a:solidFill>
                <a:latin typeface="Calibri"/>
                <a:cs typeface="Calibri"/>
              </a:rPr>
              <a:t> </a:t>
            </a:r>
            <a:r>
              <a:rPr sz="2400" dirty="0">
                <a:solidFill>
                  <a:srgbClr val="C00000"/>
                </a:solidFill>
                <a:latin typeface="Calibri"/>
                <a:cs typeface="Calibri"/>
              </a:rPr>
              <a:t>account</a:t>
            </a:r>
            <a:r>
              <a:rPr sz="2400" spc="270" dirty="0">
                <a:solidFill>
                  <a:srgbClr val="C00000"/>
                </a:solidFill>
                <a:latin typeface="Calibri"/>
                <a:cs typeface="Calibri"/>
              </a:rPr>
              <a:t> </a:t>
            </a:r>
            <a:r>
              <a:rPr sz="2400" dirty="0">
                <a:solidFill>
                  <a:srgbClr val="C00000"/>
                </a:solidFill>
                <a:latin typeface="Calibri"/>
                <a:cs typeface="Calibri"/>
              </a:rPr>
              <a:t>such</a:t>
            </a:r>
            <a:r>
              <a:rPr sz="2400" spc="280" dirty="0">
                <a:solidFill>
                  <a:srgbClr val="C00000"/>
                </a:solidFill>
                <a:latin typeface="Calibri"/>
                <a:cs typeface="Calibri"/>
              </a:rPr>
              <a:t> </a:t>
            </a:r>
            <a:r>
              <a:rPr sz="2400" dirty="0">
                <a:solidFill>
                  <a:srgbClr val="C00000"/>
                </a:solidFill>
                <a:latin typeface="Calibri"/>
                <a:cs typeface="Calibri"/>
              </a:rPr>
              <a:t>as</a:t>
            </a:r>
            <a:r>
              <a:rPr sz="2400" spc="270" dirty="0">
                <a:solidFill>
                  <a:srgbClr val="C00000"/>
                </a:solidFill>
                <a:latin typeface="Calibri"/>
                <a:cs typeface="Calibri"/>
              </a:rPr>
              <a:t> </a:t>
            </a:r>
            <a:r>
              <a:rPr sz="2400" dirty="0">
                <a:solidFill>
                  <a:srgbClr val="C00000"/>
                </a:solidFill>
                <a:latin typeface="Calibri"/>
                <a:cs typeface="Calibri"/>
              </a:rPr>
              <a:t>labor.</a:t>
            </a:r>
            <a:r>
              <a:rPr sz="2400" spc="270" dirty="0">
                <a:solidFill>
                  <a:srgbClr val="C00000"/>
                </a:solidFill>
                <a:latin typeface="Calibri"/>
                <a:cs typeface="Calibri"/>
              </a:rPr>
              <a:t> </a:t>
            </a:r>
            <a:r>
              <a:rPr sz="2400" spc="-20" dirty="0">
                <a:solidFill>
                  <a:srgbClr val="C00000"/>
                </a:solidFill>
                <a:latin typeface="Calibri"/>
                <a:cs typeface="Calibri"/>
              </a:rPr>
              <a:t>Some</a:t>
            </a:r>
            <a:endParaRPr sz="2400">
              <a:latin typeface="Calibri"/>
              <a:cs typeface="Calibri"/>
            </a:endParaRPr>
          </a:p>
        </p:txBody>
      </p:sp>
      <p:sp>
        <p:nvSpPr>
          <p:cNvPr id="9" name="object 9"/>
          <p:cNvSpPr txBox="1"/>
          <p:nvPr/>
        </p:nvSpPr>
        <p:spPr>
          <a:xfrm>
            <a:off x="1145539" y="6086347"/>
            <a:ext cx="10128250" cy="659765"/>
          </a:xfrm>
          <a:prstGeom prst="rect">
            <a:avLst/>
          </a:prstGeom>
        </p:spPr>
        <p:txBody>
          <a:bodyPr vert="horz" wrap="square" lIns="0" tIns="109855" rIns="0" bIns="0" rtlCol="0">
            <a:spAutoFit/>
          </a:bodyPr>
          <a:lstStyle/>
          <a:p>
            <a:pPr marL="12700" marR="5080">
              <a:lnSpc>
                <a:spcPct val="73300"/>
              </a:lnSpc>
              <a:spcBef>
                <a:spcPts val="865"/>
              </a:spcBef>
            </a:pPr>
            <a:r>
              <a:rPr sz="2400" dirty="0">
                <a:solidFill>
                  <a:srgbClr val="C00000"/>
                </a:solidFill>
                <a:latin typeface="Calibri"/>
                <a:cs typeface="Calibri"/>
              </a:rPr>
              <a:t>letters</a:t>
            </a:r>
            <a:r>
              <a:rPr sz="2400" spc="370" dirty="0">
                <a:solidFill>
                  <a:srgbClr val="C00000"/>
                </a:solidFill>
                <a:latin typeface="Calibri"/>
                <a:cs typeface="Calibri"/>
              </a:rPr>
              <a:t> </a:t>
            </a:r>
            <a:r>
              <a:rPr sz="2400" dirty="0">
                <a:solidFill>
                  <a:srgbClr val="C00000"/>
                </a:solidFill>
                <a:latin typeface="Calibri"/>
                <a:cs typeface="Calibri"/>
              </a:rPr>
              <a:t>can</a:t>
            </a:r>
            <a:r>
              <a:rPr sz="2400" spc="380" dirty="0">
                <a:solidFill>
                  <a:srgbClr val="C00000"/>
                </a:solidFill>
                <a:latin typeface="Calibri"/>
                <a:cs typeface="Calibri"/>
              </a:rPr>
              <a:t> </a:t>
            </a:r>
            <a:r>
              <a:rPr sz="2400" dirty="0">
                <a:solidFill>
                  <a:srgbClr val="C00000"/>
                </a:solidFill>
                <a:latin typeface="Calibri"/>
                <a:cs typeface="Calibri"/>
              </a:rPr>
              <a:t>be</a:t>
            </a:r>
            <a:r>
              <a:rPr sz="2400" spc="380" dirty="0">
                <a:solidFill>
                  <a:srgbClr val="C00000"/>
                </a:solidFill>
                <a:latin typeface="Calibri"/>
                <a:cs typeface="Calibri"/>
              </a:rPr>
              <a:t> </a:t>
            </a:r>
            <a:r>
              <a:rPr sz="2400" dirty="0">
                <a:solidFill>
                  <a:srgbClr val="C00000"/>
                </a:solidFill>
                <a:latin typeface="Calibri"/>
                <a:cs typeface="Calibri"/>
              </a:rPr>
              <a:t>used</a:t>
            </a:r>
            <a:r>
              <a:rPr sz="2400" spc="375" dirty="0">
                <a:solidFill>
                  <a:srgbClr val="C00000"/>
                </a:solidFill>
                <a:latin typeface="Calibri"/>
                <a:cs typeface="Calibri"/>
              </a:rPr>
              <a:t> </a:t>
            </a:r>
            <a:r>
              <a:rPr sz="2400" dirty="0">
                <a:solidFill>
                  <a:srgbClr val="C00000"/>
                </a:solidFill>
                <a:latin typeface="Calibri"/>
                <a:cs typeface="Calibri"/>
              </a:rPr>
              <a:t>as</a:t>
            </a:r>
            <a:r>
              <a:rPr sz="2400" spc="375" dirty="0">
                <a:solidFill>
                  <a:srgbClr val="C00000"/>
                </a:solidFill>
                <a:latin typeface="Calibri"/>
                <a:cs typeface="Calibri"/>
              </a:rPr>
              <a:t> </a:t>
            </a:r>
            <a:r>
              <a:rPr sz="2400" dirty="0">
                <a:solidFill>
                  <a:srgbClr val="C00000"/>
                </a:solidFill>
                <a:latin typeface="Calibri"/>
                <a:cs typeface="Calibri"/>
              </a:rPr>
              <a:t>special</a:t>
            </a:r>
            <a:r>
              <a:rPr sz="2400" spc="380" dirty="0">
                <a:solidFill>
                  <a:srgbClr val="C00000"/>
                </a:solidFill>
                <a:latin typeface="Calibri"/>
                <a:cs typeface="Calibri"/>
              </a:rPr>
              <a:t> </a:t>
            </a:r>
            <a:r>
              <a:rPr sz="2400" dirty="0">
                <a:solidFill>
                  <a:srgbClr val="C00000"/>
                </a:solidFill>
                <a:latin typeface="Calibri"/>
                <a:cs typeface="Calibri"/>
              </a:rPr>
              <a:t>identifiers</a:t>
            </a:r>
            <a:r>
              <a:rPr sz="2400" spc="370" dirty="0">
                <a:solidFill>
                  <a:srgbClr val="C00000"/>
                </a:solidFill>
                <a:latin typeface="Calibri"/>
                <a:cs typeface="Calibri"/>
              </a:rPr>
              <a:t> </a:t>
            </a:r>
            <a:r>
              <a:rPr sz="2400" dirty="0">
                <a:solidFill>
                  <a:srgbClr val="C00000"/>
                </a:solidFill>
                <a:latin typeface="Calibri"/>
                <a:cs typeface="Calibri"/>
              </a:rPr>
              <a:t>such</a:t>
            </a:r>
            <a:r>
              <a:rPr sz="2400" spc="380" dirty="0">
                <a:solidFill>
                  <a:srgbClr val="C00000"/>
                </a:solidFill>
                <a:latin typeface="Calibri"/>
                <a:cs typeface="Calibri"/>
              </a:rPr>
              <a:t> </a:t>
            </a:r>
            <a:r>
              <a:rPr sz="2400" dirty="0">
                <a:solidFill>
                  <a:srgbClr val="C00000"/>
                </a:solidFill>
                <a:latin typeface="Calibri"/>
                <a:cs typeface="Calibri"/>
              </a:rPr>
              <a:t>as</a:t>
            </a:r>
            <a:r>
              <a:rPr sz="2400" spc="375" dirty="0">
                <a:solidFill>
                  <a:srgbClr val="C00000"/>
                </a:solidFill>
                <a:latin typeface="Calibri"/>
                <a:cs typeface="Calibri"/>
              </a:rPr>
              <a:t> </a:t>
            </a:r>
            <a:r>
              <a:rPr sz="2400" dirty="0">
                <a:solidFill>
                  <a:srgbClr val="C00000"/>
                </a:solidFill>
                <a:latin typeface="Calibri"/>
                <a:cs typeface="Calibri"/>
              </a:rPr>
              <a:t>“M”</a:t>
            </a:r>
            <a:r>
              <a:rPr sz="2400" spc="365" dirty="0">
                <a:solidFill>
                  <a:srgbClr val="C00000"/>
                </a:solidFill>
                <a:latin typeface="Calibri"/>
                <a:cs typeface="Calibri"/>
              </a:rPr>
              <a:t> </a:t>
            </a:r>
            <a:r>
              <a:rPr sz="2400" dirty="0">
                <a:solidFill>
                  <a:srgbClr val="C00000"/>
                </a:solidFill>
                <a:latin typeface="Calibri"/>
                <a:cs typeface="Calibri"/>
              </a:rPr>
              <a:t>for</a:t>
            </a:r>
            <a:r>
              <a:rPr sz="2400" spc="380" dirty="0">
                <a:solidFill>
                  <a:srgbClr val="C00000"/>
                </a:solidFill>
                <a:latin typeface="Calibri"/>
                <a:cs typeface="Calibri"/>
              </a:rPr>
              <a:t> </a:t>
            </a:r>
            <a:r>
              <a:rPr sz="2400" dirty="0">
                <a:solidFill>
                  <a:srgbClr val="C00000"/>
                </a:solidFill>
                <a:latin typeface="Calibri"/>
                <a:cs typeface="Calibri"/>
              </a:rPr>
              <a:t>materials</a:t>
            </a:r>
            <a:r>
              <a:rPr sz="2400" spc="380" dirty="0">
                <a:solidFill>
                  <a:srgbClr val="C00000"/>
                </a:solidFill>
                <a:latin typeface="Calibri"/>
                <a:cs typeface="Calibri"/>
              </a:rPr>
              <a:t> </a:t>
            </a:r>
            <a:r>
              <a:rPr sz="2400" dirty="0">
                <a:solidFill>
                  <a:srgbClr val="C00000"/>
                </a:solidFill>
                <a:latin typeface="Calibri"/>
                <a:cs typeface="Calibri"/>
              </a:rPr>
              <a:t>or</a:t>
            </a:r>
            <a:r>
              <a:rPr sz="2400" spc="375" dirty="0">
                <a:solidFill>
                  <a:srgbClr val="C00000"/>
                </a:solidFill>
                <a:latin typeface="Calibri"/>
                <a:cs typeface="Calibri"/>
              </a:rPr>
              <a:t> </a:t>
            </a:r>
            <a:r>
              <a:rPr sz="2400" dirty="0">
                <a:solidFill>
                  <a:srgbClr val="C00000"/>
                </a:solidFill>
                <a:latin typeface="Calibri"/>
                <a:cs typeface="Calibri"/>
              </a:rPr>
              <a:t>“E”</a:t>
            </a:r>
            <a:r>
              <a:rPr sz="2400" spc="375" dirty="0">
                <a:solidFill>
                  <a:srgbClr val="C00000"/>
                </a:solidFill>
                <a:latin typeface="Calibri"/>
                <a:cs typeface="Calibri"/>
              </a:rPr>
              <a:t> </a:t>
            </a:r>
            <a:r>
              <a:rPr sz="2400" spc="-25" dirty="0">
                <a:solidFill>
                  <a:srgbClr val="C00000"/>
                </a:solidFill>
                <a:latin typeface="Calibri"/>
                <a:cs typeface="Calibri"/>
              </a:rPr>
              <a:t>for </a:t>
            </a:r>
            <a:r>
              <a:rPr sz="2400" spc="-10" dirty="0">
                <a:solidFill>
                  <a:srgbClr val="C00000"/>
                </a:solidFill>
                <a:latin typeface="Calibri"/>
                <a:cs typeface="Calibri"/>
              </a:rPr>
              <a:t>engineers</a:t>
            </a:r>
            <a:endParaRPr sz="2400">
              <a:latin typeface="Calibri"/>
              <a:cs typeface="Calibri"/>
            </a:endParaRPr>
          </a:p>
        </p:txBody>
      </p:sp>
      <p:sp>
        <p:nvSpPr>
          <p:cNvPr id="10" name="object 10"/>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17</a:t>
            </a:r>
            <a:endParaRPr sz="1200">
              <a:latin typeface="Calibri"/>
              <a:cs typeface="Calibri"/>
            </a:endParaRPr>
          </a:p>
        </p:txBody>
      </p:sp>
      <p:pic>
        <p:nvPicPr>
          <p:cNvPr id="11" name="Picture 10">
            <a:extLst>
              <a:ext uri="{FF2B5EF4-FFF2-40B4-BE49-F238E27FC236}">
                <a16:creationId xmlns:a16="http://schemas.microsoft.com/office/drawing/2014/main" id="{B007699A-3160-1513-9A39-62E32E24CD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50105" y="1595676"/>
            <a:ext cx="4353888" cy="5128320"/>
          </a:xfrm>
          <a:prstGeom prst="rect">
            <a:avLst/>
          </a:prstGeom>
        </p:spPr>
      </p:pic>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18</a:t>
            </a:r>
            <a:endParaRPr sz="1200">
              <a:latin typeface="Calibri"/>
              <a:cs typeface="Calibri"/>
            </a:endParaRPr>
          </a:p>
        </p:txBody>
      </p:sp>
      <p:sp>
        <p:nvSpPr>
          <p:cNvPr id="4" name="object 4"/>
          <p:cNvSpPr txBox="1">
            <a:spLocks noGrp="1"/>
          </p:cNvSpPr>
          <p:nvPr>
            <p:ph type="title"/>
          </p:nvPr>
        </p:nvSpPr>
        <p:spPr>
          <a:xfrm>
            <a:off x="76200" y="430022"/>
            <a:ext cx="11407775" cy="683260"/>
          </a:xfrm>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5- Coding the WBS for the Information System </a:t>
            </a:r>
            <a:r>
              <a:rPr sz="1950" spc="-10" dirty="0"/>
              <a:t>(2/2)</a:t>
            </a:r>
            <a:endParaRPr sz="1950" dirty="0"/>
          </a:p>
        </p:txBody>
      </p:sp>
      <p:sp>
        <p:nvSpPr>
          <p:cNvPr id="5" name="object 5"/>
          <p:cNvSpPr txBox="1"/>
          <p:nvPr/>
        </p:nvSpPr>
        <p:spPr>
          <a:xfrm>
            <a:off x="664532" y="1609852"/>
            <a:ext cx="6934834" cy="1696085"/>
          </a:xfrm>
          <a:prstGeom prst="rect">
            <a:avLst/>
          </a:prstGeom>
        </p:spPr>
        <p:txBody>
          <a:bodyPr vert="horz" wrap="square" lIns="0" tIns="12700" rIns="0" bIns="0" rtlCol="0">
            <a:spAutoFit/>
          </a:bodyPr>
          <a:lstStyle/>
          <a:p>
            <a:pPr marL="297815" indent="-285115">
              <a:lnSpc>
                <a:spcPts val="2615"/>
              </a:lnSpc>
              <a:spcBef>
                <a:spcPts val="100"/>
              </a:spcBef>
              <a:buFont typeface="Arial MT"/>
              <a:buChar char="•"/>
              <a:tabLst>
                <a:tab pos="297815" algn="l"/>
              </a:tabLst>
            </a:pPr>
            <a:r>
              <a:rPr sz="2200" spc="-40" dirty="0">
                <a:latin typeface="Calibri"/>
                <a:cs typeface="Calibri"/>
              </a:rPr>
              <a:t>You</a:t>
            </a:r>
            <a:r>
              <a:rPr sz="2200" spc="-50" dirty="0">
                <a:latin typeface="Calibri"/>
                <a:cs typeface="Calibri"/>
              </a:rPr>
              <a:t> </a:t>
            </a:r>
            <a:r>
              <a:rPr sz="2200" dirty="0">
                <a:latin typeface="Calibri"/>
                <a:cs typeface="Calibri"/>
              </a:rPr>
              <a:t>are</a:t>
            </a:r>
            <a:r>
              <a:rPr sz="2200" spc="-35" dirty="0">
                <a:latin typeface="Calibri"/>
                <a:cs typeface="Calibri"/>
              </a:rPr>
              <a:t> </a:t>
            </a:r>
            <a:r>
              <a:rPr sz="2200" dirty="0">
                <a:latin typeface="Calibri"/>
                <a:cs typeface="Calibri"/>
              </a:rPr>
              <a:t>not</a:t>
            </a:r>
            <a:r>
              <a:rPr sz="2200" spc="-45" dirty="0">
                <a:latin typeface="Calibri"/>
                <a:cs typeface="Calibri"/>
              </a:rPr>
              <a:t> </a:t>
            </a:r>
            <a:r>
              <a:rPr sz="2200" dirty="0">
                <a:latin typeface="Calibri"/>
                <a:cs typeface="Calibri"/>
              </a:rPr>
              <a:t>limited</a:t>
            </a:r>
            <a:r>
              <a:rPr sz="2200" spc="-50"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only</a:t>
            </a:r>
            <a:r>
              <a:rPr sz="2200" spc="-35" dirty="0">
                <a:latin typeface="Calibri"/>
                <a:cs typeface="Calibri"/>
              </a:rPr>
              <a:t> </a:t>
            </a:r>
            <a:r>
              <a:rPr sz="2200" dirty="0">
                <a:latin typeface="Calibri"/>
                <a:cs typeface="Calibri"/>
              </a:rPr>
              <a:t>10</a:t>
            </a:r>
            <a:r>
              <a:rPr sz="2200" spc="-45" dirty="0">
                <a:latin typeface="Calibri"/>
                <a:cs typeface="Calibri"/>
              </a:rPr>
              <a:t> </a:t>
            </a:r>
            <a:r>
              <a:rPr sz="2200" dirty="0">
                <a:latin typeface="Calibri"/>
                <a:cs typeface="Calibri"/>
              </a:rPr>
              <a:t>subdivisions</a:t>
            </a:r>
            <a:r>
              <a:rPr sz="2200" spc="-35" dirty="0">
                <a:latin typeface="Calibri"/>
                <a:cs typeface="Calibri"/>
              </a:rPr>
              <a:t> </a:t>
            </a:r>
            <a:r>
              <a:rPr sz="2200" spc="-10" dirty="0">
                <a:latin typeface="Calibri"/>
                <a:cs typeface="Calibri"/>
              </a:rPr>
              <a:t>(0–9)</a:t>
            </a:r>
            <a:endParaRPr sz="2200">
              <a:latin typeface="Calibri"/>
              <a:cs typeface="Calibri"/>
            </a:endParaRPr>
          </a:p>
          <a:p>
            <a:pPr marL="298450" marR="5080" indent="-285750">
              <a:lnSpc>
                <a:spcPts val="2620"/>
              </a:lnSpc>
              <a:spcBef>
                <a:spcPts val="80"/>
              </a:spcBef>
              <a:buFont typeface="Arial MT"/>
              <a:buChar char="•"/>
              <a:tabLst>
                <a:tab pos="298450" algn="l"/>
                <a:tab pos="1052195" algn="l"/>
                <a:tab pos="2464435" algn="l"/>
                <a:tab pos="3173730" algn="l"/>
                <a:tab pos="3691890" algn="l"/>
                <a:tab pos="4705985" algn="l"/>
                <a:tab pos="6043295" algn="l"/>
              </a:tabLst>
            </a:pPr>
            <a:r>
              <a:rPr sz="2200" spc="-25" dirty="0">
                <a:latin typeface="Calibri"/>
                <a:cs typeface="Calibri"/>
              </a:rPr>
              <a:t>For</a:t>
            </a:r>
            <a:r>
              <a:rPr sz="2200" dirty="0">
                <a:latin typeface="Calibri"/>
                <a:cs typeface="Calibri"/>
              </a:rPr>
              <a:t>	</a:t>
            </a:r>
            <a:r>
              <a:rPr sz="2200" spc="-10" dirty="0">
                <a:latin typeface="Calibri"/>
                <a:cs typeface="Calibri"/>
              </a:rPr>
              <a:t>example,</a:t>
            </a:r>
            <a:r>
              <a:rPr sz="2200" dirty="0">
                <a:latin typeface="Calibri"/>
                <a:cs typeface="Calibri"/>
              </a:rPr>
              <a:t>	</a:t>
            </a:r>
            <a:r>
              <a:rPr sz="2200" spc="-25" dirty="0">
                <a:latin typeface="Calibri"/>
                <a:cs typeface="Calibri"/>
              </a:rPr>
              <a:t>for</a:t>
            </a:r>
            <a:r>
              <a:rPr sz="2200" dirty="0">
                <a:latin typeface="Calibri"/>
                <a:cs typeface="Calibri"/>
              </a:rPr>
              <a:t>	</a:t>
            </a:r>
            <a:r>
              <a:rPr sz="2200" spc="-50" dirty="0">
                <a:latin typeface="Calibri"/>
                <a:cs typeface="Calibri"/>
              </a:rPr>
              <a:t>a</a:t>
            </a:r>
            <a:r>
              <a:rPr sz="2200" dirty="0">
                <a:latin typeface="Calibri"/>
                <a:cs typeface="Calibri"/>
              </a:rPr>
              <a:t>	</a:t>
            </a:r>
            <a:r>
              <a:rPr sz="2200" spc="-10" dirty="0">
                <a:latin typeface="Calibri"/>
                <a:cs typeface="Calibri"/>
              </a:rPr>
              <a:t>large,</a:t>
            </a:r>
            <a:r>
              <a:rPr sz="2200" dirty="0">
                <a:latin typeface="Calibri"/>
                <a:cs typeface="Calibri"/>
              </a:rPr>
              <a:t>	</a:t>
            </a:r>
            <a:r>
              <a:rPr sz="2200" spc="-10" dirty="0">
                <a:latin typeface="Calibri"/>
                <a:cs typeface="Calibri"/>
              </a:rPr>
              <a:t>complex</a:t>
            </a:r>
            <a:r>
              <a:rPr sz="2200" dirty="0">
                <a:latin typeface="Calibri"/>
                <a:cs typeface="Calibri"/>
              </a:rPr>
              <a:t>	</a:t>
            </a:r>
            <a:r>
              <a:rPr sz="2200" spc="-10" dirty="0">
                <a:latin typeface="Calibri"/>
                <a:cs typeface="Calibri"/>
              </a:rPr>
              <a:t>project: </a:t>
            </a:r>
            <a:r>
              <a:rPr sz="2200" dirty="0">
                <a:latin typeface="Calibri"/>
                <a:cs typeface="Calibri"/>
              </a:rPr>
              <a:t>3R−237A−P2−33.6;</a:t>
            </a:r>
            <a:r>
              <a:rPr sz="2200" spc="254" dirty="0">
                <a:latin typeface="Calibri"/>
                <a:cs typeface="Calibri"/>
              </a:rPr>
              <a:t> </a:t>
            </a:r>
            <a:r>
              <a:rPr sz="2200" dirty="0">
                <a:latin typeface="Calibri"/>
                <a:cs typeface="Calibri"/>
              </a:rPr>
              <a:t>where</a:t>
            </a:r>
            <a:r>
              <a:rPr sz="2200" spc="275" dirty="0">
                <a:latin typeface="Calibri"/>
                <a:cs typeface="Calibri"/>
              </a:rPr>
              <a:t> </a:t>
            </a:r>
            <a:r>
              <a:rPr sz="2200" dirty="0">
                <a:latin typeface="Calibri"/>
                <a:cs typeface="Calibri"/>
              </a:rPr>
              <a:t>3R</a:t>
            </a:r>
            <a:r>
              <a:rPr sz="2200" spc="270" dirty="0">
                <a:latin typeface="Calibri"/>
                <a:cs typeface="Calibri"/>
              </a:rPr>
              <a:t> </a:t>
            </a:r>
            <a:r>
              <a:rPr sz="2200" dirty="0">
                <a:latin typeface="Calibri"/>
                <a:cs typeface="Calibri"/>
              </a:rPr>
              <a:t>identifies</a:t>
            </a:r>
            <a:r>
              <a:rPr sz="2200" spc="265" dirty="0">
                <a:latin typeface="Calibri"/>
                <a:cs typeface="Calibri"/>
              </a:rPr>
              <a:t> </a:t>
            </a:r>
            <a:r>
              <a:rPr sz="2200" dirty="0">
                <a:latin typeface="Calibri"/>
                <a:cs typeface="Calibri"/>
              </a:rPr>
              <a:t>the</a:t>
            </a:r>
            <a:r>
              <a:rPr sz="2200" spc="275" dirty="0">
                <a:latin typeface="Calibri"/>
                <a:cs typeface="Calibri"/>
              </a:rPr>
              <a:t> </a:t>
            </a:r>
            <a:r>
              <a:rPr sz="2200" dirty="0">
                <a:latin typeface="Calibri"/>
                <a:cs typeface="Calibri"/>
              </a:rPr>
              <a:t>facility,</a:t>
            </a:r>
            <a:r>
              <a:rPr sz="2200" spc="270" dirty="0">
                <a:latin typeface="Calibri"/>
                <a:cs typeface="Calibri"/>
              </a:rPr>
              <a:t> </a:t>
            </a:r>
            <a:r>
              <a:rPr sz="2200" spc="-20" dirty="0">
                <a:latin typeface="Calibri"/>
                <a:cs typeface="Calibri"/>
              </a:rPr>
              <a:t>237A</a:t>
            </a:r>
            <a:endParaRPr sz="2200">
              <a:latin typeface="Calibri"/>
              <a:cs typeface="Calibri"/>
            </a:endParaRPr>
          </a:p>
          <a:p>
            <a:pPr marL="298450" marR="5080">
              <a:lnSpc>
                <a:spcPts val="2620"/>
              </a:lnSpc>
              <a:spcBef>
                <a:spcPts val="60"/>
              </a:spcBef>
              <a:tabLst>
                <a:tab pos="1203960" algn="l"/>
                <a:tab pos="2006600" algn="l"/>
                <a:tab pos="2615565" algn="l"/>
                <a:tab pos="3293110" algn="l"/>
                <a:tab pos="4684395" algn="l"/>
                <a:tab pos="5247005" algn="l"/>
                <a:tab pos="5999480" algn="l"/>
              </a:tabLst>
            </a:pPr>
            <a:r>
              <a:rPr sz="2200" dirty="0">
                <a:latin typeface="Calibri"/>
                <a:cs typeface="Calibri"/>
              </a:rPr>
              <a:t>represents</a:t>
            </a:r>
            <a:r>
              <a:rPr sz="2200" spc="-15" dirty="0">
                <a:latin typeface="Calibri"/>
                <a:cs typeface="Calibri"/>
              </a:rPr>
              <a:t> </a:t>
            </a:r>
            <a:r>
              <a:rPr sz="2200" dirty="0">
                <a:latin typeface="Calibri"/>
                <a:cs typeface="Calibri"/>
              </a:rPr>
              <a:t>elevation</a:t>
            </a:r>
            <a:r>
              <a:rPr sz="2200" spc="-15" dirty="0">
                <a:latin typeface="Calibri"/>
                <a:cs typeface="Calibri"/>
              </a:rPr>
              <a:t> </a:t>
            </a:r>
            <a:r>
              <a:rPr sz="2200" dirty="0">
                <a:latin typeface="Calibri"/>
                <a:cs typeface="Calibri"/>
              </a:rPr>
              <a:t>and</a:t>
            </a:r>
            <a:r>
              <a:rPr sz="2200" spc="-20" dirty="0">
                <a:latin typeface="Calibri"/>
                <a:cs typeface="Calibri"/>
              </a:rPr>
              <a:t> </a:t>
            </a:r>
            <a:r>
              <a:rPr sz="2200" dirty="0">
                <a:latin typeface="Calibri"/>
                <a:cs typeface="Calibri"/>
              </a:rPr>
              <a:t>the</a:t>
            </a:r>
            <a:r>
              <a:rPr sz="2200" spc="-10" dirty="0">
                <a:latin typeface="Calibri"/>
                <a:cs typeface="Calibri"/>
              </a:rPr>
              <a:t> </a:t>
            </a:r>
            <a:r>
              <a:rPr sz="2200" dirty="0">
                <a:latin typeface="Calibri"/>
                <a:cs typeface="Calibri"/>
              </a:rPr>
              <a:t>area,</a:t>
            </a:r>
            <a:r>
              <a:rPr sz="2200" spc="-10" dirty="0">
                <a:latin typeface="Calibri"/>
                <a:cs typeface="Calibri"/>
              </a:rPr>
              <a:t> </a:t>
            </a:r>
            <a:r>
              <a:rPr sz="2200" dirty="0">
                <a:latin typeface="Calibri"/>
                <a:cs typeface="Calibri"/>
              </a:rPr>
              <a:t>P2</a:t>
            </a:r>
            <a:r>
              <a:rPr sz="2200" spc="-15" dirty="0">
                <a:latin typeface="Calibri"/>
                <a:cs typeface="Calibri"/>
              </a:rPr>
              <a:t> </a:t>
            </a:r>
            <a:r>
              <a:rPr sz="2200" dirty="0">
                <a:latin typeface="Calibri"/>
                <a:cs typeface="Calibri"/>
              </a:rPr>
              <a:t>represents</a:t>
            </a:r>
            <a:r>
              <a:rPr sz="2200" spc="-15" dirty="0">
                <a:latin typeface="Calibri"/>
                <a:cs typeface="Calibri"/>
              </a:rPr>
              <a:t> </a:t>
            </a:r>
            <a:r>
              <a:rPr sz="2200" dirty="0">
                <a:latin typeface="Calibri"/>
                <a:cs typeface="Calibri"/>
              </a:rPr>
              <a:t>pipe</a:t>
            </a:r>
            <a:r>
              <a:rPr sz="2200" spc="-15" dirty="0">
                <a:latin typeface="Calibri"/>
                <a:cs typeface="Calibri"/>
              </a:rPr>
              <a:t> </a:t>
            </a:r>
            <a:r>
              <a:rPr sz="2200" spc="-25" dirty="0">
                <a:latin typeface="Calibri"/>
                <a:cs typeface="Calibri"/>
              </a:rPr>
              <a:t>two </a:t>
            </a:r>
            <a:r>
              <a:rPr sz="2200" spc="-10" dirty="0">
                <a:latin typeface="Calibri"/>
                <a:cs typeface="Calibri"/>
              </a:rPr>
              <a:t>inches</a:t>
            </a:r>
            <a:r>
              <a:rPr sz="2200" dirty="0">
                <a:latin typeface="Calibri"/>
                <a:cs typeface="Calibri"/>
              </a:rPr>
              <a:t>	</a:t>
            </a:r>
            <a:r>
              <a:rPr sz="2200" spc="-20" dirty="0">
                <a:latin typeface="Calibri"/>
                <a:cs typeface="Calibri"/>
              </a:rPr>
              <a:t>wide,</a:t>
            </a:r>
            <a:r>
              <a:rPr sz="2200" dirty="0">
                <a:latin typeface="Calibri"/>
                <a:cs typeface="Calibri"/>
              </a:rPr>
              <a:t>	</a:t>
            </a:r>
            <a:r>
              <a:rPr sz="2200" spc="-25" dirty="0">
                <a:latin typeface="Calibri"/>
                <a:cs typeface="Calibri"/>
              </a:rPr>
              <a:t>and</a:t>
            </a:r>
            <a:r>
              <a:rPr sz="2200" dirty="0">
                <a:latin typeface="Calibri"/>
                <a:cs typeface="Calibri"/>
              </a:rPr>
              <a:t>	</a:t>
            </a:r>
            <a:r>
              <a:rPr sz="2200" spc="-20" dirty="0">
                <a:latin typeface="Calibri"/>
                <a:cs typeface="Calibri"/>
              </a:rPr>
              <a:t>33.6</a:t>
            </a:r>
            <a:r>
              <a:rPr sz="2200" dirty="0">
                <a:latin typeface="Calibri"/>
                <a:cs typeface="Calibri"/>
              </a:rPr>
              <a:t>	</a:t>
            </a:r>
            <a:r>
              <a:rPr sz="2200" spc="-10" dirty="0">
                <a:latin typeface="Calibri"/>
                <a:cs typeface="Calibri"/>
              </a:rPr>
              <a:t>represents</a:t>
            </a:r>
            <a:r>
              <a:rPr sz="2200" dirty="0">
                <a:latin typeface="Calibri"/>
                <a:cs typeface="Calibri"/>
              </a:rPr>
              <a:t>	</a:t>
            </a:r>
            <a:r>
              <a:rPr sz="2200" spc="-25" dirty="0">
                <a:latin typeface="Calibri"/>
                <a:cs typeface="Calibri"/>
              </a:rPr>
              <a:t>the</a:t>
            </a:r>
            <a:r>
              <a:rPr sz="2200" dirty="0">
                <a:latin typeface="Calibri"/>
                <a:cs typeface="Calibri"/>
              </a:rPr>
              <a:t>	</a:t>
            </a:r>
            <a:r>
              <a:rPr sz="2200" spc="-20" dirty="0">
                <a:latin typeface="Calibri"/>
                <a:cs typeface="Calibri"/>
              </a:rPr>
              <a:t>work</a:t>
            </a:r>
            <a:r>
              <a:rPr sz="2200" dirty="0">
                <a:latin typeface="Calibri"/>
                <a:cs typeface="Calibri"/>
              </a:rPr>
              <a:t>	</a:t>
            </a:r>
            <a:r>
              <a:rPr sz="2200" spc="-20" dirty="0">
                <a:latin typeface="Calibri"/>
                <a:cs typeface="Calibri"/>
              </a:rPr>
              <a:t>package</a:t>
            </a:r>
            <a:endParaRPr sz="2200">
              <a:latin typeface="Calibri"/>
              <a:cs typeface="Calibri"/>
            </a:endParaRPr>
          </a:p>
        </p:txBody>
      </p:sp>
      <p:sp>
        <p:nvSpPr>
          <p:cNvPr id="6" name="object 6"/>
          <p:cNvSpPr txBox="1"/>
          <p:nvPr/>
        </p:nvSpPr>
        <p:spPr>
          <a:xfrm>
            <a:off x="664532" y="3286252"/>
            <a:ext cx="6935470" cy="3372485"/>
          </a:xfrm>
          <a:prstGeom prst="rect">
            <a:avLst/>
          </a:prstGeom>
        </p:spPr>
        <p:txBody>
          <a:bodyPr vert="horz" wrap="square" lIns="0" tIns="17145" rIns="0" bIns="0" rtlCol="0">
            <a:spAutoFit/>
          </a:bodyPr>
          <a:lstStyle/>
          <a:p>
            <a:pPr marL="298450" marR="5715" algn="just">
              <a:lnSpc>
                <a:spcPct val="98600"/>
              </a:lnSpc>
              <a:spcBef>
                <a:spcPts val="135"/>
              </a:spcBef>
            </a:pPr>
            <a:r>
              <a:rPr sz="2200" dirty="0">
                <a:latin typeface="Calibri"/>
                <a:cs typeface="Calibri"/>
              </a:rPr>
              <a:t>number.</a:t>
            </a:r>
            <a:r>
              <a:rPr sz="2200" spc="515" dirty="0">
                <a:latin typeface="Calibri"/>
                <a:cs typeface="Calibri"/>
              </a:rPr>
              <a:t> </a:t>
            </a:r>
            <a:r>
              <a:rPr sz="2200" dirty="0">
                <a:latin typeface="Calibri"/>
                <a:cs typeface="Calibri"/>
              </a:rPr>
              <a:t>In</a:t>
            </a:r>
            <a:r>
              <a:rPr sz="2200" spc="520" dirty="0">
                <a:latin typeface="Calibri"/>
                <a:cs typeface="Calibri"/>
              </a:rPr>
              <a:t> </a:t>
            </a:r>
            <a:r>
              <a:rPr sz="2200" dirty="0">
                <a:latin typeface="Calibri"/>
                <a:cs typeface="Calibri"/>
              </a:rPr>
              <a:t>practice</a:t>
            </a:r>
            <a:r>
              <a:rPr sz="2200" spc="515" dirty="0">
                <a:latin typeface="Calibri"/>
                <a:cs typeface="Calibri"/>
              </a:rPr>
              <a:t> </a:t>
            </a:r>
            <a:r>
              <a:rPr sz="2200" dirty="0">
                <a:latin typeface="Calibri"/>
                <a:cs typeface="Calibri"/>
              </a:rPr>
              <a:t>most</a:t>
            </a:r>
            <a:r>
              <a:rPr sz="2200" spc="525" dirty="0">
                <a:latin typeface="Calibri"/>
                <a:cs typeface="Calibri"/>
              </a:rPr>
              <a:t> </a:t>
            </a:r>
            <a:r>
              <a:rPr sz="2200" dirty="0">
                <a:latin typeface="Calibri"/>
                <a:cs typeface="Calibri"/>
              </a:rPr>
              <a:t>organizations</a:t>
            </a:r>
            <a:r>
              <a:rPr sz="2200" spc="520" dirty="0">
                <a:latin typeface="Calibri"/>
                <a:cs typeface="Calibri"/>
              </a:rPr>
              <a:t> </a:t>
            </a:r>
            <a:r>
              <a:rPr sz="2200" dirty="0">
                <a:latin typeface="Calibri"/>
                <a:cs typeface="Calibri"/>
              </a:rPr>
              <a:t>are</a:t>
            </a:r>
            <a:r>
              <a:rPr sz="2200" spc="520" dirty="0">
                <a:latin typeface="Calibri"/>
                <a:cs typeface="Calibri"/>
              </a:rPr>
              <a:t> </a:t>
            </a:r>
            <a:r>
              <a:rPr sz="2200" dirty="0">
                <a:latin typeface="Calibri"/>
                <a:cs typeface="Calibri"/>
              </a:rPr>
              <a:t>creative</a:t>
            </a:r>
            <a:r>
              <a:rPr sz="2200" spc="525" dirty="0">
                <a:latin typeface="Calibri"/>
                <a:cs typeface="Calibri"/>
              </a:rPr>
              <a:t> </a:t>
            </a:r>
            <a:r>
              <a:rPr sz="2200" spc="-25" dirty="0">
                <a:latin typeface="Calibri"/>
                <a:cs typeface="Calibri"/>
              </a:rPr>
              <a:t>in </a:t>
            </a:r>
            <a:r>
              <a:rPr sz="2200" dirty="0">
                <a:latin typeface="Calibri"/>
                <a:cs typeface="Calibri"/>
              </a:rPr>
              <a:t>combining</a:t>
            </a:r>
            <a:r>
              <a:rPr sz="2200" spc="105" dirty="0">
                <a:latin typeface="Calibri"/>
                <a:cs typeface="Calibri"/>
              </a:rPr>
              <a:t> </a:t>
            </a:r>
            <a:r>
              <a:rPr sz="2200" dirty="0">
                <a:latin typeface="Calibri"/>
                <a:cs typeface="Calibri"/>
              </a:rPr>
              <a:t>letters</a:t>
            </a:r>
            <a:r>
              <a:rPr sz="2200" spc="100" dirty="0">
                <a:latin typeface="Calibri"/>
                <a:cs typeface="Calibri"/>
              </a:rPr>
              <a:t> </a:t>
            </a:r>
            <a:r>
              <a:rPr sz="2200" dirty="0">
                <a:latin typeface="Calibri"/>
                <a:cs typeface="Calibri"/>
              </a:rPr>
              <a:t>and</a:t>
            </a:r>
            <a:r>
              <a:rPr sz="2200" spc="100" dirty="0">
                <a:latin typeface="Calibri"/>
                <a:cs typeface="Calibri"/>
              </a:rPr>
              <a:t> </a:t>
            </a:r>
            <a:r>
              <a:rPr sz="2200" dirty="0">
                <a:latin typeface="Calibri"/>
                <a:cs typeface="Calibri"/>
              </a:rPr>
              <a:t>numbers</a:t>
            </a:r>
            <a:r>
              <a:rPr sz="2200" spc="100" dirty="0">
                <a:latin typeface="Calibri"/>
                <a:cs typeface="Calibri"/>
              </a:rPr>
              <a:t> </a:t>
            </a:r>
            <a:r>
              <a:rPr sz="2200" dirty="0">
                <a:latin typeface="Calibri"/>
                <a:cs typeface="Calibri"/>
              </a:rPr>
              <a:t>to</a:t>
            </a:r>
            <a:r>
              <a:rPr sz="2200" spc="110" dirty="0">
                <a:latin typeface="Calibri"/>
                <a:cs typeface="Calibri"/>
              </a:rPr>
              <a:t> </a:t>
            </a:r>
            <a:r>
              <a:rPr sz="2200" dirty="0">
                <a:latin typeface="Calibri"/>
                <a:cs typeface="Calibri"/>
              </a:rPr>
              <a:t>minimize</a:t>
            </a:r>
            <a:r>
              <a:rPr sz="2200" spc="110" dirty="0">
                <a:latin typeface="Calibri"/>
                <a:cs typeface="Calibri"/>
              </a:rPr>
              <a:t> </a:t>
            </a:r>
            <a:r>
              <a:rPr sz="2200" dirty="0">
                <a:latin typeface="Calibri"/>
                <a:cs typeface="Calibri"/>
              </a:rPr>
              <a:t>the</a:t>
            </a:r>
            <a:r>
              <a:rPr sz="2200" spc="110" dirty="0">
                <a:latin typeface="Calibri"/>
                <a:cs typeface="Calibri"/>
              </a:rPr>
              <a:t> </a:t>
            </a:r>
            <a:r>
              <a:rPr sz="2200" dirty="0">
                <a:latin typeface="Calibri"/>
                <a:cs typeface="Calibri"/>
              </a:rPr>
              <a:t>length</a:t>
            </a:r>
            <a:r>
              <a:rPr sz="2200" spc="95" dirty="0">
                <a:latin typeface="Calibri"/>
                <a:cs typeface="Calibri"/>
              </a:rPr>
              <a:t> </a:t>
            </a:r>
            <a:r>
              <a:rPr sz="2200" spc="-25" dirty="0">
                <a:latin typeface="Calibri"/>
                <a:cs typeface="Calibri"/>
              </a:rPr>
              <a:t>of </a:t>
            </a:r>
            <a:r>
              <a:rPr sz="2200" dirty="0">
                <a:latin typeface="Calibri"/>
                <a:cs typeface="Calibri"/>
              </a:rPr>
              <a:t>WBS</a:t>
            </a:r>
            <a:r>
              <a:rPr sz="2200" spc="-40" dirty="0">
                <a:latin typeface="Calibri"/>
                <a:cs typeface="Calibri"/>
              </a:rPr>
              <a:t> </a:t>
            </a:r>
            <a:r>
              <a:rPr sz="2200" spc="-10" dirty="0">
                <a:latin typeface="Calibri"/>
                <a:cs typeface="Calibri"/>
              </a:rPr>
              <a:t>codes.</a:t>
            </a:r>
            <a:endParaRPr sz="2200">
              <a:latin typeface="Calibri"/>
              <a:cs typeface="Calibri"/>
            </a:endParaRPr>
          </a:p>
          <a:p>
            <a:pPr marL="279400" marR="5080" indent="-266700" algn="just">
              <a:lnSpc>
                <a:spcPct val="99800"/>
              </a:lnSpc>
              <a:spcBef>
                <a:spcPts val="55"/>
              </a:spcBef>
              <a:buFont typeface="Arial MT"/>
              <a:buChar char="•"/>
              <a:tabLst>
                <a:tab pos="279400" algn="l"/>
              </a:tabLst>
            </a:pPr>
            <a:r>
              <a:rPr sz="2200" dirty="0">
                <a:latin typeface="Calibri"/>
                <a:cs typeface="Calibri"/>
              </a:rPr>
              <a:t>On</a:t>
            </a:r>
            <a:r>
              <a:rPr sz="2200" spc="310" dirty="0">
                <a:latin typeface="Calibri"/>
                <a:cs typeface="Calibri"/>
              </a:rPr>
              <a:t> </a:t>
            </a:r>
            <a:r>
              <a:rPr sz="2200" dirty="0">
                <a:latin typeface="Calibri"/>
                <a:cs typeface="Calibri"/>
              </a:rPr>
              <a:t>larger</a:t>
            </a:r>
            <a:r>
              <a:rPr sz="2200" spc="305" dirty="0">
                <a:latin typeface="Calibri"/>
                <a:cs typeface="Calibri"/>
              </a:rPr>
              <a:t> </a:t>
            </a:r>
            <a:r>
              <a:rPr sz="2200" dirty="0">
                <a:latin typeface="Calibri"/>
                <a:cs typeface="Calibri"/>
              </a:rPr>
              <a:t>projects,</a:t>
            </a:r>
            <a:r>
              <a:rPr sz="2200" spc="315" dirty="0">
                <a:latin typeface="Calibri"/>
                <a:cs typeface="Calibri"/>
              </a:rPr>
              <a:t> </a:t>
            </a:r>
            <a:r>
              <a:rPr sz="2200" dirty="0">
                <a:latin typeface="Calibri"/>
                <a:cs typeface="Calibri"/>
              </a:rPr>
              <a:t>the</a:t>
            </a:r>
            <a:r>
              <a:rPr sz="2200" spc="325" dirty="0">
                <a:latin typeface="Calibri"/>
                <a:cs typeface="Calibri"/>
              </a:rPr>
              <a:t> </a:t>
            </a:r>
            <a:r>
              <a:rPr sz="2200" dirty="0">
                <a:latin typeface="Calibri"/>
                <a:cs typeface="Calibri"/>
              </a:rPr>
              <a:t>WBS</a:t>
            </a:r>
            <a:r>
              <a:rPr sz="2200" spc="320" dirty="0">
                <a:latin typeface="Calibri"/>
                <a:cs typeface="Calibri"/>
              </a:rPr>
              <a:t> </a:t>
            </a:r>
            <a:r>
              <a:rPr sz="2200" dirty="0">
                <a:latin typeface="Calibri"/>
                <a:cs typeface="Calibri"/>
              </a:rPr>
              <a:t>is</a:t>
            </a:r>
            <a:r>
              <a:rPr sz="2200" spc="315" dirty="0">
                <a:latin typeface="Calibri"/>
                <a:cs typeface="Calibri"/>
              </a:rPr>
              <a:t> </a:t>
            </a:r>
            <a:r>
              <a:rPr sz="2200" dirty="0">
                <a:latin typeface="Calibri"/>
                <a:cs typeface="Calibri"/>
              </a:rPr>
              <a:t>further</a:t>
            </a:r>
            <a:r>
              <a:rPr sz="2200" spc="310" dirty="0">
                <a:latin typeface="Calibri"/>
                <a:cs typeface="Calibri"/>
              </a:rPr>
              <a:t> </a:t>
            </a:r>
            <a:r>
              <a:rPr sz="2200" dirty="0">
                <a:latin typeface="Calibri"/>
                <a:cs typeface="Calibri"/>
              </a:rPr>
              <a:t>supported</a:t>
            </a:r>
            <a:r>
              <a:rPr sz="2200" spc="310" dirty="0">
                <a:latin typeface="Calibri"/>
                <a:cs typeface="Calibri"/>
              </a:rPr>
              <a:t> </a:t>
            </a:r>
            <a:r>
              <a:rPr sz="2200" dirty="0">
                <a:latin typeface="Calibri"/>
                <a:cs typeface="Calibri"/>
              </a:rPr>
              <a:t>with</a:t>
            </a:r>
            <a:r>
              <a:rPr sz="2200" spc="310" dirty="0">
                <a:latin typeface="Calibri"/>
                <a:cs typeface="Calibri"/>
              </a:rPr>
              <a:t> </a:t>
            </a:r>
            <a:r>
              <a:rPr sz="2200" spc="-50" dirty="0">
                <a:latin typeface="Calibri"/>
                <a:cs typeface="Calibri"/>
              </a:rPr>
              <a:t>a </a:t>
            </a:r>
            <a:r>
              <a:rPr sz="2200" b="1" dirty="0">
                <a:latin typeface="Calibri"/>
                <a:cs typeface="Calibri"/>
              </a:rPr>
              <a:t>WBS</a:t>
            </a:r>
            <a:r>
              <a:rPr sz="2200" b="1" spc="170" dirty="0">
                <a:latin typeface="Calibri"/>
                <a:cs typeface="Calibri"/>
              </a:rPr>
              <a:t> </a:t>
            </a:r>
            <a:r>
              <a:rPr sz="2200" b="1" dirty="0">
                <a:latin typeface="Calibri"/>
                <a:cs typeface="Calibri"/>
              </a:rPr>
              <a:t>dictionary</a:t>
            </a:r>
            <a:r>
              <a:rPr sz="2200" b="1" spc="170" dirty="0">
                <a:latin typeface="Calibri"/>
                <a:cs typeface="Calibri"/>
              </a:rPr>
              <a:t> </a:t>
            </a:r>
            <a:r>
              <a:rPr sz="2200" dirty="0">
                <a:latin typeface="Calibri"/>
                <a:cs typeface="Calibri"/>
              </a:rPr>
              <a:t>that</a:t>
            </a:r>
            <a:r>
              <a:rPr sz="2200" spc="180" dirty="0">
                <a:latin typeface="Calibri"/>
                <a:cs typeface="Calibri"/>
              </a:rPr>
              <a:t> </a:t>
            </a:r>
            <a:r>
              <a:rPr sz="2200" dirty="0">
                <a:latin typeface="Calibri"/>
                <a:cs typeface="Calibri"/>
              </a:rPr>
              <a:t>provides</a:t>
            </a:r>
            <a:r>
              <a:rPr sz="2200" spc="180" dirty="0">
                <a:latin typeface="Calibri"/>
                <a:cs typeface="Calibri"/>
              </a:rPr>
              <a:t> </a:t>
            </a:r>
            <a:r>
              <a:rPr sz="2200" dirty="0">
                <a:latin typeface="Calibri"/>
                <a:cs typeface="Calibri"/>
              </a:rPr>
              <a:t>detailed</a:t>
            </a:r>
            <a:r>
              <a:rPr sz="2200" spc="165" dirty="0">
                <a:latin typeface="Calibri"/>
                <a:cs typeface="Calibri"/>
              </a:rPr>
              <a:t> </a:t>
            </a:r>
            <a:r>
              <a:rPr sz="2200" dirty="0">
                <a:latin typeface="Calibri"/>
                <a:cs typeface="Calibri"/>
              </a:rPr>
              <a:t>information</a:t>
            </a:r>
            <a:r>
              <a:rPr sz="2200" spc="165" dirty="0">
                <a:latin typeface="Calibri"/>
                <a:cs typeface="Calibri"/>
              </a:rPr>
              <a:t> </a:t>
            </a:r>
            <a:r>
              <a:rPr sz="2200" spc="-10" dirty="0">
                <a:latin typeface="Calibri"/>
                <a:cs typeface="Calibri"/>
              </a:rPr>
              <a:t>about </a:t>
            </a:r>
            <a:r>
              <a:rPr sz="2200" dirty="0">
                <a:latin typeface="Calibri"/>
                <a:cs typeface="Calibri"/>
              </a:rPr>
              <a:t>each</a:t>
            </a:r>
            <a:r>
              <a:rPr sz="2200" spc="-10" dirty="0">
                <a:latin typeface="Calibri"/>
                <a:cs typeface="Calibri"/>
              </a:rPr>
              <a:t> </a:t>
            </a:r>
            <a:r>
              <a:rPr sz="2200" dirty="0">
                <a:latin typeface="Calibri"/>
                <a:cs typeface="Calibri"/>
              </a:rPr>
              <a:t>element in</a:t>
            </a:r>
            <a:r>
              <a:rPr sz="2200" spc="-10" dirty="0">
                <a:latin typeface="Calibri"/>
                <a:cs typeface="Calibri"/>
              </a:rPr>
              <a:t> </a:t>
            </a:r>
            <a:r>
              <a:rPr sz="2200" dirty="0">
                <a:latin typeface="Calibri"/>
                <a:cs typeface="Calibri"/>
              </a:rPr>
              <a:t>the WBS.</a:t>
            </a:r>
            <a:r>
              <a:rPr sz="2200" spc="-10" dirty="0">
                <a:latin typeface="Calibri"/>
                <a:cs typeface="Calibri"/>
              </a:rPr>
              <a:t> </a:t>
            </a:r>
            <a:r>
              <a:rPr sz="2200" dirty="0">
                <a:latin typeface="Calibri"/>
                <a:cs typeface="Calibri"/>
              </a:rPr>
              <a:t>The</a:t>
            </a:r>
            <a:r>
              <a:rPr sz="2200" spc="-5" dirty="0">
                <a:latin typeface="Calibri"/>
                <a:cs typeface="Calibri"/>
              </a:rPr>
              <a:t> </a:t>
            </a:r>
            <a:r>
              <a:rPr sz="2200" dirty="0">
                <a:latin typeface="Calibri"/>
                <a:cs typeface="Calibri"/>
              </a:rPr>
              <a:t>dictionary</a:t>
            </a:r>
            <a:r>
              <a:rPr sz="2200" spc="-10" dirty="0">
                <a:latin typeface="Calibri"/>
                <a:cs typeface="Calibri"/>
              </a:rPr>
              <a:t> </a:t>
            </a:r>
            <a:r>
              <a:rPr sz="2200" dirty="0">
                <a:latin typeface="Calibri"/>
                <a:cs typeface="Calibri"/>
              </a:rPr>
              <a:t>typically </a:t>
            </a:r>
            <a:r>
              <a:rPr sz="2200" spc="-10" dirty="0">
                <a:latin typeface="Calibri"/>
                <a:cs typeface="Calibri"/>
              </a:rPr>
              <a:t>includes </a:t>
            </a:r>
            <a:r>
              <a:rPr sz="2200" dirty="0">
                <a:latin typeface="Calibri"/>
                <a:cs typeface="Calibri"/>
              </a:rPr>
              <a:t>the</a:t>
            </a:r>
            <a:r>
              <a:rPr sz="2200" spc="140" dirty="0">
                <a:latin typeface="Calibri"/>
                <a:cs typeface="Calibri"/>
              </a:rPr>
              <a:t>  </a:t>
            </a:r>
            <a:r>
              <a:rPr sz="2200" dirty="0">
                <a:latin typeface="Calibri"/>
                <a:cs typeface="Calibri"/>
              </a:rPr>
              <a:t>work</a:t>
            </a:r>
            <a:r>
              <a:rPr sz="2200" spc="140" dirty="0">
                <a:latin typeface="Calibri"/>
                <a:cs typeface="Calibri"/>
              </a:rPr>
              <a:t>  </a:t>
            </a:r>
            <a:r>
              <a:rPr sz="2200" dirty="0">
                <a:latin typeface="Calibri"/>
                <a:cs typeface="Calibri"/>
              </a:rPr>
              <a:t>package</a:t>
            </a:r>
            <a:r>
              <a:rPr sz="2200" spc="140" dirty="0">
                <a:latin typeface="Calibri"/>
                <a:cs typeface="Calibri"/>
              </a:rPr>
              <a:t>  </a:t>
            </a:r>
            <a:r>
              <a:rPr sz="2200" dirty="0">
                <a:latin typeface="Calibri"/>
                <a:cs typeface="Calibri"/>
              </a:rPr>
              <a:t>level</a:t>
            </a:r>
            <a:r>
              <a:rPr sz="2200" spc="135" dirty="0">
                <a:latin typeface="Calibri"/>
                <a:cs typeface="Calibri"/>
              </a:rPr>
              <a:t>  </a:t>
            </a:r>
            <a:r>
              <a:rPr sz="2200" dirty="0">
                <a:latin typeface="Calibri"/>
                <a:cs typeface="Calibri"/>
              </a:rPr>
              <a:t>(code),</a:t>
            </a:r>
            <a:r>
              <a:rPr sz="2200" spc="135" dirty="0">
                <a:latin typeface="Calibri"/>
                <a:cs typeface="Calibri"/>
              </a:rPr>
              <a:t>  </a:t>
            </a:r>
            <a:r>
              <a:rPr sz="2200" dirty="0">
                <a:latin typeface="Calibri"/>
                <a:cs typeface="Calibri"/>
              </a:rPr>
              <a:t>name,</a:t>
            </a:r>
            <a:r>
              <a:rPr sz="2200" spc="140" dirty="0">
                <a:latin typeface="Calibri"/>
                <a:cs typeface="Calibri"/>
              </a:rPr>
              <a:t>  </a:t>
            </a:r>
            <a:r>
              <a:rPr sz="2200" dirty="0">
                <a:latin typeface="Calibri"/>
                <a:cs typeface="Calibri"/>
              </a:rPr>
              <a:t>and</a:t>
            </a:r>
            <a:r>
              <a:rPr sz="2200" spc="135" dirty="0">
                <a:latin typeface="Calibri"/>
                <a:cs typeface="Calibri"/>
              </a:rPr>
              <a:t>  </a:t>
            </a:r>
            <a:r>
              <a:rPr sz="2200" spc="-10" dirty="0">
                <a:latin typeface="Calibri"/>
                <a:cs typeface="Calibri"/>
              </a:rPr>
              <a:t>functional </a:t>
            </a:r>
            <a:r>
              <a:rPr sz="2200" dirty="0">
                <a:latin typeface="Calibri"/>
                <a:cs typeface="Calibri"/>
              </a:rPr>
              <a:t>description.</a:t>
            </a:r>
            <a:r>
              <a:rPr sz="2200" spc="350" dirty="0">
                <a:latin typeface="Calibri"/>
                <a:cs typeface="Calibri"/>
              </a:rPr>
              <a:t> </a:t>
            </a:r>
            <a:r>
              <a:rPr sz="2200" dirty="0">
                <a:latin typeface="Calibri"/>
                <a:cs typeface="Calibri"/>
              </a:rPr>
              <a:t>In</a:t>
            </a:r>
            <a:r>
              <a:rPr sz="2200" spc="350" dirty="0">
                <a:latin typeface="Calibri"/>
                <a:cs typeface="Calibri"/>
              </a:rPr>
              <a:t> </a:t>
            </a:r>
            <a:r>
              <a:rPr sz="2200" dirty="0">
                <a:latin typeface="Calibri"/>
                <a:cs typeface="Calibri"/>
              </a:rPr>
              <a:t>some</a:t>
            </a:r>
            <a:r>
              <a:rPr sz="2200" spc="360" dirty="0">
                <a:latin typeface="Calibri"/>
                <a:cs typeface="Calibri"/>
              </a:rPr>
              <a:t> </a:t>
            </a:r>
            <a:r>
              <a:rPr sz="2200" dirty="0">
                <a:latin typeface="Calibri"/>
                <a:cs typeface="Calibri"/>
              </a:rPr>
              <a:t>cases,</a:t>
            </a:r>
            <a:r>
              <a:rPr sz="2200" spc="360" dirty="0">
                <a:latin typeface="Calibri"/>
                <a:cs typeface="Calibri"/>
              </a:rPr>
              <a:t> </a:t>
            </a:r>
            <a:r>
              <a:rPr sz="2200" dirty="0">
                <a:latin typeface="Calibri"/>
                <a:cs typeface="Calibri"/>
              </a:rPr>
              <a:t>the</a:t>
            </a:r>
            <a:r>
              <a:rPr sz="2200" spc="365" dirty="0">
                <a:latin typeface="Calibri"/>
                <a:cs typeface="Calibri"/>
              </a:rPr>
              <a:t> </a:t>
            </a:r>
            <a:r>
              <a:rPr sz="2200" dirty="0">
                <a:latin typeface="Calibri"/>
                <a:cs typeface="Calibri"/>
              </a:rPr>
              <a:t>description</a:t>
            </a:r>
            <a:r>
              <a:rPr sz="2200" spc="350" dirty="0">
                <a:latin typeface="Calibri"/>
                <a:cs typeface="Calibri"/>
              </a:rPr>
              <a:t> </a:t>
            </a:r>
            <a:r>
              <a:rPr sz="2200" dirty="0">
                <a:latin typeface="Calibri"/>
                <a:cs typeface="Calibri"/>
              </a:rPr>
              <a:t>is</a:t>
            </a:r>
            <a:r>
              <a:rPr sz="2200" spc="360" dirty="0">
                <a:latin typeface="Calibri"/>
                <a:cs typeface="Calibri"/>
              </a:rPr>
              <a:t> </a:t>
            </a:r>
            <a:r>
              <a:rPr sz="2200" spc="-10" dirty="0">
                <a:latin typeface="Calibri"/>
                <a:cs typeface="Calibri"/>
              </a:rPr>
              <a:t>supported </a:t>
            </a:r>
            <a:r>
              <a:rPr sz="2200" dirty="0">
                <a:latin typeface="Calibri"/>
                <a:cs typeface="Calibri"/>
              </a:rPr>
              <a:t>with</a:t>
            </a:r>
            <a:r>
              <a:rPr sz="2200" spc="-25" dirty="0">
                <a:latin typeface="Calibri"/>
                <a:cs typeface="Calibri"/>
              </a:rPr>
              <a:t> </a:t>
            </a:r>
            <a:r>
              <a:rPr sz="2200" spc="-10" dirty="0">
                <a:latin typeface="Calibri"/>
                <a:cs typeface="Calibri"/>
              </a:rPr>
              <a:t>specifications.</a:t>
            </a:r>
            <a:r>
              <a:rPr sz="2200" spc="-30" dirty="0">
                <a:latin typeface="Calibri"/>
                <a:cs typeface="Calibri"/>
              </a:rPr>
              <a:t> </a:t>
            </a:r>
            <a:r>
              <a:rPr sz="2200" dirty="0">
                <a:latin typeface="Calibri"/>
                <a:cs typeface="Calibri"/>
              </a:rPr>
              <a:t>The</a:t>
            </a:r>
            <a:r>
              <a:rPr sz="2200" spc="-20" dirty="0">
                <a:latin typeface="Calibri"/>
                <a:cs typeface="Calibri"/>
              </a:rPr>
              <a:t> </a:t>
            </a:r>
            <a:r>
              <a:rPr sz="2200" spc="-10" dirty="0">
                <a:latin typeface="Calibri"/>
                <a:cs typeface="Calibri"/>
              </a:rPr>
              <a:t>availability</a:t>
            </a:r>
            <a:r>
              <a:rPr sz="2200" spc="-30" dirty="0">
                <a:latin typeface="Calibri"/>
                <a:cs typeface="Calibri"/>
              </a:rPr>
              <a:t> </a:t>
            </a:r>
            <a:r>
              <a:rPr sz="2200" dirty="0">
                <a:latin typeface="Calibri"/>
                <a:cs typeface="Calibri"/>
              </a:rPr>
              <a:t>of</a:t>
            </a:r>
            <a:r>
              <a:rPr sz="2200" spc="-20" dirty="0">
                <a:latin typeface="Calibri"/>
                <a:cs typeface="Calibri"/>
              </a:rPr>
              <a:t> </a:t>
            </a:r>
            <a:r>
              <a:rPr sz="2200" dirty="0">
                <a:latin typeface="Calibri"/>
                <a:cs typeface="Calibri"/>
              </a:rPr>
              <a:t>detailed</a:t>
            </a:r>
            <a:r>
              <a:rPr sz="2200" spc="-35" dirty="0">
                <a:latin typeface="Calibri"/>
                <a:cs typeface="Calibri"/>
              </a:rPr>
              <a:t> </a:t>
            </a:r>
            <a:r>
              <a:rPr sz="2200" spc="-10" dirty="0">
                <a:latin typeface="Calibri"/>
                <a:cs typeface="Calibri"/>
              </a:rPr>
              <a:t>descriptions </a:t>
            </a:r>
            <a:r>
              <a:rPr sz="2200" dirty="0">
                <a:latin typeface="Calibri"/>
                <a:cs typeface="Calibri"/>
              </a:rPr>
              <a:t>has</a:t>
            </a:r>
            <a:r>
              <a:rPr sz="2200" spc="-35" dirty="0">
                <a:latin typeface="Calibri"/>
                <a:cs typeface="Calibri"/>
              </a:rPr>
              <a:t> </a:t>
            </a:r>
            <a:r>
              <a:rPr sz="2200" dirty="0">
                <a:latin typeface="Calibri"/>
                <a:cs typeface="Calibri"/>
              </a:rPr>
              <a:t>an</a:t>
            </a:r>
            <a:r>
              <a:rPr sz="2200" spc="-40" dirty="0">
                <a:latin typeface="Calibri"/>
                <a:cs typeface="Calibri"/>
              </a:rPr>
              <a:t> </a:t>
            </a:r>
            <a:r>
              <a:rPr sz="2200" dirty="0">
                <a:latin typeface="Calibri"/>
                <a:cs typeface="Calibri"/>
              </a:rPr>
              <a:t>added</a:t>
            </a:r>
            <a:r>
              <a:rPr sz="2200" spc="-35" dirty="0">
                <a:latin typeface="Calibri"/>
                <a:cs typeface="Calibri"/>
              </a:rPr>
              <a:t> </a:t>
            </a:r>
            <a:r>
              <a:rPr sz="2200" dirty="0">
                <a:latin typeface="Calibri"/>
                <a:cs typeface="Calibri"/>
              </a:rPr>
              <a:t>benefit</a:t>
            </a:r>
            <a:r>
              <a:rPr sz="2200" spc="-35" dirty="0">
                <a:latin typeface="Calibri"/>
                <a:cs typeface="Calibri"/>
              </a:rPr>
              <a:t> </a:t>
            </a:r>
            <a:r>
              <a:rPr sz="2200" dirty="0">
                <a:latin typeface="Calibri"/>
                <a:cs typeface="Calibri"/>
              </a:rPr>
              <a:t>of</a:t>
            </a:r>
            <a:r>
              <a:rPr sz="2200" spc="-25" dirty="0">
                <a:latin typeface="Calibri"/>
                <a:cs typeface="Calibri"/>
              </a:rPr>
              <a:t> </a:t>
            </a:r>
            <a:r>
              <a:rPr sz="2200" dirty="0">
                <a:latin typeface="Calibri"/>
                <a:cs typeface="Calibri"/>
              </a:rPr>
              <a:t>dampening</a:t>
            </a:r>
            <a:r>
              <a:rPr sz="2200" spc="-35" dirty="0">
                <a:latin typeface="Calibri"/>
                <a:cs typeface="Calibri"/>
              </a:rPr>
              <a:t> </a:t>
            </a:r>
            <a:r>
              <a:rPr sz="2200" dirty="0">
                <a:latin typeface="Calibri"/>
                <a:cs typeface="Calibri"/>
              </a:rPr>
              <a:t>scope</a:t>
            </a:r>
            <a:r>
              <a:rPr sz="2200" spc="-30" dirty="0">
                <a:latin typeface="Calibri"/>
                <a:cs typeface="Calibri"/>
              </a:rPr>
              <a:t> </a:t>
            </a:r>
            <a:r>
              <a:rPr sz="2200" spc="-10" dirty="0">
                <a:latin typeface="Calibri"/>
                <a:cs typeface="Calibri"/>
              </a:rPr>
              <a:t>creep.</a:t>
            </a:r>
            <a:endParaRPr sz="2200">
              <a:latin typeface="Calibri"/>
              <a:cs typeface="Calibri"/>
            </a:endParaRPr>
          </a:p>
        </p:txBody>
      </p:sp>
      <p:pic>
        <p:nvPicPr>
          <p:cNvPr id="7" name="Picture 6">
            <a:extLst>
              <a:ext uri="{FF2B5EF4-FFF2-40B4-BE49-F238E27FC236}">
                <a16:creationId xmlns:a16="http://schemas.microsoft.com/office/drawing/2014/main" id="{3AF21666-3306-183A-CE1B-5B340AB5C0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Responsibility Matrices </a:t>
            </a:r>
            <a:r>
              <a:rPr sz="1950" spc="-10" dirty="0"/>
              <a:t>(1/3)</a:t>
            </a:r>
            <a:endParaRPr sz="1950" dirty="0"/>
          </a:p>
        </p:txBody>
      </p:sp>
      <p:sp>
        <p:nvSpPr>
          <p:cNvPr id="3" name="object 3"/>
          <p:cNvSpPr txBox="1"/>
          <p:nvPr/>
        </p:nvSpPr>
        <p:spPr>
          <a:xfrm>
            <a:off x="916939" y="1625091"/>
            <a:ext cx="10358755" cy="5048885"/>
          </a:xfrm>
          <a:prstGeom prst="rect">
            <a:avLst/>
          </a:prstGeom>
        </p:spPr>
        <p:txBody>
          <a:bodyPr vert="horz" wrap="square" lIns="0" tIns="54610" rIns="0" bIns="0" rtlCol="0">
            <a:spAutoFit/>
          </a:bodyPr>
          <a:lstStyle/>
          <a:p>
            <a:pPr marL="241300" marR="5715" indent="-228600" algn="just">
              <a:lnSpc>
                <a:spcPct val="90200"/>
              </a:lnSpc>
              <a:spcBef>
                <a:spcPts val="430"/>
              </a:spcBef>
              <a:buFont typeface="Arial MT"/>
              <a:buChar char="•"/>
              <a:tabLst>
                <a:tab pos="241300" algn="l"/>
              </a:tabLst>
            </a:pPr>
            <a:r>
              <a:rPr sz="2800" dirty="0">
                <a:latin typeface="Calibri"/>
                <a:cs typeface="Calibri"/>
              </a:rPr>
              <a:t>In</a:t>
            </a:r>
            <a:r>
              <a:rPr sz="2800" spc="300" dirty="0">
                <a:latin typeface="Calibri"/>
                <a:cs typeface="Calibri"/>
              </a:rPr>
              <a:t> </a:t>
            </a:r>
            <a:r>
              <a:rPr sz="2800" dirty="0">
                <a:latin typeface="Calibri"/>
                <a:cs typeface="Calibri"/>
              </a:rPr>
              <a:t>many</a:t>
            </a:r>
            <a:r>
              <a:rPr sz="2800" spc="290" dirty="0">
                <a:latin typeface="Calibri"/>
                <a:cs typeface="Calibri"/>
              </a:rPr>
              <a:t> </a:t>
            </a:r>
            <a:r>
              <a:rPr sz="2800" dirty="0">
                <a:latin typeface="Calibri"/>
                <a:cs typeface="Calibri"/>
              </a:rPr>
              <a:t>cases,</a:t>
            </a:r>
            <a:r>
              <a:rPr sz="2800" spc="295" dirty="0">
                <a:latin typeface="Calibri"/>
                <a:cs typeface="Calibri"/>
              </a:rPr>
              <a:t> </a:t>
            </a:r>
            <a:r>
              <a:rPr sz="2800" dirty="0">
                <a:latin typeface="Calibri"/>
                <a:cs typeface="Calibri"/>
              </a:rPr>
              <a:t>the</a:t>
            </a:r>
            <a:r>
              <a:rPr sz="2800" spc="295" dirty="0">
                <a:latin typeface="Calibri"/>
                <a:cs typeface="Calibri"/>
              </a:rPr>
              <a:t> </a:t>
            </a:r>
            <a:r>
              <a:rPr sz="2800" dirty="0">
                <a:latin typeface="Calibri"/>
                <a:cs typeface="Calibri"/>
              </a:rPr>
              <a:t>size</a:t>
            </a:r>
            <a:r>
              <a:rPr sz="2800" spc="290" dirty="0">
                <a:latin typeface="Calibri"/>
                <a:cs typeface="Calibri"/>
              </a:rPr>
              <a:t> </a:t>
            </a:r>
            <a:r>
              <a:rPr sz="2800" dirty="0">
                <a:latin typeface="Calibri"/>
                <a:cs typeface="Calibri"/>
              </a:rPr>
              <a:t>and</a:t>
            </a:r>
            <a:r>
              <a:rPr sz="2800" spc="300" dirty="0">
                <a:latin typeface="Calibri"/>
                <a:cs typeface="Calibri"/>
              </a:rPr>
              <a:t> </a:t>
            </a:r>
            <a:r>
              <a:rPr sz="2800" dirty="0">
                <a:latin typeface="Calibri"/>
                <a:cs typeface="Calibri"/>
              </a:rPr>
              <a:t>scope</a:t>
            </a:r>
            <a:r>
              <a:rPr sz="2800" spc="290" dirty="0">
                <a:latin typeface="Calibri"/>
                <a:cs typeface="Calibri"/>
              </a:rPr>
              <a:t> </a:t>
            </a:r>
            <a:r>
              <a:rPr sz="2800" dirty="0">
                <a:latin typeface="Calibri"/>
                <a:cs typeface="Calibri"/>
              </a:rPr>
              <a:t>of</a:t>
            </a:r>
            <a:r>
              <a:rPr sz="2800" spc="290" dirty="0">
                <a:latin typeface="Calibri"/>
                <a:cs typeface="Calibri"/>
              </a:rPr>
              <a:t> </a:t>
            </a:r>
            <a:r>
              <a:rPr sz="2800" dirty="0">
                <a:latin typeface="Calibri"/>
                <a:cs typeface="Calibri"/>
              </a:rPr>
              <a:t>the</a:t>
            </a:r>
            <a:r>
              <a:rPr sz="2800" spc="290" dirty="0">
                <a:latin typeface="Calibri"/>
                <a:cs typeface="Calibri"/>
              </a:rPr>
              <a:t> </a:t>
            </a:r>
            <a:r>
              <a:rPr sz="2800" dirty="0">
                <a:latin typeface="Calibri"/>
                <a:cs typeface="Calibri"/>
              </a:rPr>
              <a:t>project</a:t>
            </a:r>
            <a:r>
              <a:rPr sz="2800" spc="295" dirty="0">
                <a:latin typeface="Calibri"/>
                <a:cs typeface="Calibri"/>
              </a:rPr>
              <a:t> </a:t>
            </a:r>
            <a:r>
              <a:rPr sz="2800" dirty="0">
                <a:latin typeface="Calibri"/>
                <a:cs typeface="Calibri"/>
              </a:rPr>
              <a:t>do</a:t>
            </a:r>
            <a:r>
              <a:rPr sz="2800" spc="290" dirty="0">
                <a:latin typeface="Calibri"/>
                <a:cs typeface="Calibri"/>
              </a:rPr>
              <a:t> </a:t>
            </a:r>
            <a:r>
              <a:rPr sz="2800" dirty="0">
                <a:latin typeface="Calibri"/>
                <a:cs typeface="Calibri"/>
              </a:rPr>
              <a:t>not</a:t>
            </a:r>
            <a:r>
              <a:rPr sz="2800" spc="295" dirty="0">
                <a:latin typeface="Calibri"/>
                <a:cs typeface="Calibri"/>
              </a:rPr>
              <a:t> </a:t>
            </a:r>
            <a:r>
              <a:rPr sz="2800" dirty="0">
                <a:latin typeface="Calibri"/>
                <a:cs typeface="Calibri"/>
              </a:rPr>
              <a:t>warrant</a:t>
            </a:r>
            <a:r>
              <a:rPr sz="2800" spc="295" dirty="0">
                <a:latin typeface="Calibri"/>
                <a:cs typeface="Calibri"/>
              </a:rPr>
              <a:t> </a:t>
            </a:r>
            <a:r>
              <a:rPr sz="2800" spc="-25" dirty="0">
                <a:latin typeface="Calibri"/>
                <a:cs typeface="Calibri"/>
              </a:rPr>
              <a:t>an </a:t>
            </a:r>
            <a:r>
              <a:rPr sz="2800" dirty="0">
                <a:latin typeface="Calibri"/>
                <a:cs typeface="Calibri"/>
              </a:rPr>
              <a:t>elaborate</a:t>
            </a:r>
            <a:r>
              <a:rPr sz="2800" spc="85" dirty="0">
                <a:latin typeface="Calibri"/>
                <a:cs typeface="Calibri"/>
              </a:rPr>
              <a:t>  </a:t>
            </a:r>
            <a:r>
              <a:rPr sz="2800" dirty="0">
                <a:latin typeface="Calibri"/>
                <a:cs typeface="Calibri"/>
              </a:rPr>
              <a:t>WBS</a:t>
            </a:r>
            <a:r>
              <a:rPr sz="2800" spc="90" dirty="0">
                <a:latin typeface="Calibri"/>
                <a:cs typeface="Calibri"/>
              </a:rPr>
              <a:t>  </a:t>
            </a:r>
            <a:r>
              <a:rPr sz="2800" dirty="0">
                <a:latin typeface="Calibri"/>
                <a:cs typeface="Calibri"/>
              </a:rPr>
              <a:t>or</a:t>
            </a:r>
            <a:r>
              <a:rPr sz="2800" spc="85" dirty="0">
                <a:latin typeface="Calibri"/>
                <a:cs typeface="Calibri"/>
              </a:rPr>
              <a:t>  </a:t>
            </a:r>
            <a:r>
              <a:rPr sz="2800" dirty="0">
                <a:latin typeface="Calibri"/>
                <a:cs typeface="Calibri"/>
              </a:rPr>
              <a:t>OBS.</a:t>
            </a:r>
            <a:r>
              <a:rPr sz="2800" spc="95" dirty="0">
                <a:latin typeface="Calibri"/>
                <a:cs typeface="Calibri"/>
              </a:rPr>
              <a:t>  </a:t>
            </a:r>
            <a:r>
              <a:rPr sz="2800" dirty="0">
                <a:latin typeface="Calibri"/>
                <a:cs typeface="Calibri"/>
              </a:rPr>
              <a:t>One</a:t>
            </a:r>
            <a:r>
              <a:rPr sz="2800" spc="85" dirty="0">
                <a:latin typeface="Calibri"/>
                <a:cs typeface="Calibri"/>
              </a:rPr>
              <a:t>  </a:t>
            </a:r>
            <a:r>
              <a:rPr sz="2800" dirty="0">
                <a:latin typeface="Calibri"/>
                <a:cs typeface="Calibri"/>
              </a:rPr>
              <a:t>tool</a:t>
            </a:r>
            <a:r>
              <a:rPr sz="2800" spc="90" dirty="0">
                <a:latin typeface="Calibri"/>
                <a:cs typeface="Calibri"/>
              </a:rPr>
              <a:t>  </a:t>
            </a:r>
            <a:r>
              <a:rPr sz="2800" dirty="0">
                <a:latin typeface="Calibri"/>
                <a:cs typeface="Calibri"/>
              </a:rPr>
              <a:t>that</a:t>
            </a:r>
            <a:r>
              <a:rPr sz="2800" spc="85" dirty="0">
                <a:latin typeface="Calibri"/>
                <a:cs typeface="Calibri"/>
              </a:rPr>
              <a:t>  </a:t>
            </a:r>
            <a:r>
              <a:rPr sz="2800" dirty="0">
                <a:latin typeface="Calibri"/>
                <a:cs typeface="Calibri"/>
              </a:rPr>
              <a:t>is</a:t>
            </a:r>
            <a:r>
              <a:rPr sz="2800" spc="90" dirty="0">
                <a:latin typeface="Calibri"/>
                <a:cs typeface="Calibri"/>
              </a:rPr>
              <a:t>  </a:t>
            </a:r>
            <a:r>
              <a:rPr sz="2800" dirty="0">
                <a:latin typeface="Calibri"/>
                <a:cs typeface="Calibri"/>
              </a:rPr>
              <a:t>widely</a:t>
            </a:r>
            <a:r>
              <a:rPr sz="2800" spc="90" dirty="0">
                <a:latin typeface="Calibri"/>
                <a:cs typeface="Calibri"/>
              </a:rPr>
              <a:t>  </a:t>
            </a:r>
            <a:r>
              <a:rPr sz="2800" dirty="0">
                <a:latin typeface="Calibri"/>
                <a:cs typeface="Calibri"/>
              </a:rPr>
              <a:t>used</a:t>
            </a:r>
            <a:r>
              <a:rPr sz="2800" spc="85" dirty="0">
                <a:latin typeface="Calibri"/>
                <a:cs typeface="Calibri"/>
              </a:rPr>
              <a:t>  </a:t>
            </a:r>
            <a:r>
              <a:rPr sz="2800" dirty="0">
                <a:latin typeface="Calibri"/>
                <a:cs typeface="Calibri"/>
              </a:rPr>
              <a:t>by</a:t>
            </a:r>
            <a:r>
              <a:rPr sz="2800" spc="85" dirty="0">
                <a:latin typeface="Calibri"/>
                <a:cs typeface="Calibri"/>
              </a:rPr>
              <a:t>  </a:t>
            </a:r>
            <a:r>
              <a:rPr sz="2800" spc="-10" dirty="0">
                <a:latin typeface="Calibri"/>
                <a:cs typeface="Calibri"/>
              </a:rPr>
              <a:t>project </a:t>
            </a:r>
            <a:r>
              <a:rPr sz="2800" dirty="0">
                <a:latin typeface="Calibri"/>
                <a:cs typeface="Calibri"/>
              </a:rPr>
              <a:t>managers</a:t>
            </a:r>
            <a:r>
              <a:rPr sz="2800" spc="-5" dirty="0">
                <a:latin typeface="Calibri"/>
                <a:cs typeface="Calibri"/>
              </a:rPr>
              <a:t> </a:t>
            </a:r>
            <a:r>
              <a:rPr sz="2800" dirty="0">
                <a:latin typeface="Calibri"/>
                <a:cs typeface="Calibri"/>
              </a:rPr>
              <a:t>and</a:t>
            </a:r>
            <a:r>
              <a:rPr sz="2800" spc="-5" dirty="0">
                <a:latin typeface="Calibri"/>
                <a:cs typeface="Calibri"/>
              </a:rPr>
              <a:t> </a:t>
            </a:r>
            <a:r>
              <a:rPr sz="2800" dirty="0">
                <a:latin typeface="Calibri"/>
                <a:cs typeface="Calibri"/>
              </a:rPr>
              <a:t>task</a:t>
            </a:r>
            <a:r>
              <a:rPr sz="2800" spc="-10" dirty="0">
                <a:latin typeface="Calibri"/>
                <a:cs typeface="Calibri"/>
              </a:rPr>
              <a:t> </a:t>
            </a:r>
            <a:r>
              <a:rPr sz="2800" dirty="0">
                <a:latin typeface="Calibri"/>
                <a:cs typeface="Calibri"/>
              </a:rPr>
              <a:t>force</a:t>
            </a:r>
            <a:r>
              <a:rPr sz="2800" spc="-15" dirty="0">
                <a:latin typeface="Calibri"/>
                <a:cs typeface="Calibri"/>
              </a:rPr>
              <a:t> </a:t>
            </a:r>
            <a:r>
              <a:rPr sz="2800" dirty="0">
                <a:latin typeface="Calibri"/>
                <a:cs typeface="Calibri"/>
              </a:rPr>
              <a:t>leaders</a:t>
            </a:r>
            <a:r>
              <a:rPr sz="2800" spc="-10" dirty="0">
                <a:latin typeface="Calibri"/>
                <a:cs typeface="Calibri"/>
              </a:rPr>
              <a:t> </a:t>
            </a:r>
            <a:r>
              <a:rPr sz="2800" dirty="0">
                <a:latin typeface="Calibri"/>
                <a:cs typeface="Calibri"/>
              </a:rPr>
              <a:t>of</a:t>
            </a:r>
            <a:r>
              <a:rPr sz="2800" spc="-10" dirty="0">
                <a:latin typeface="Calibri"/>
                <a:cs typeface="Calibri"/>
              </a:rPr>
              <a:t> </a:t>
            </a:r>
            <a:r>
              <a:rPr sz="2800" dirty="0">
                <a:latin typeface="Calibri"/>
                <a:cs typeface="Calibri"/>
              </a:rPr>
              <a:t>small</a:t>
            </a:r>
            <a:r>
              <a:rPr sz="2800" spc="-20" dirty="0">
                <a:latin typeface="Calibri"/>
                <a:cs typeface="Calibri"/>
              </a:rPr>
              <a:t> </a:t>
            </a:r>
            <a:r>
              <a:rPr sz="2800" dirty="0">
                <a:latin typeface="Calibri"/>
                <a:cs typeface="Calibri"/>
              </a:rPr>
              <a:t>projects</a:t>
            </a:r>
            <a:r>
              <a:rPr sz="2800" spc="-10" dirty="0">
                <a:latin typeface="Calibri"/>
                <a:cs typeface="Calibri"/>
              </a:rPr>
              <a:t> </a:t>
            </a:r>
            <a:r>
              <a:rPr sz="2800" dirty="0">
                <a:latin typeface="Calibri"/>
                <a:cs typeface="Calibri"/>
              </a:rPr>
              <a:t>is</a:t>
            </a:r>
            <a:r>
              <a:rPr sz="2800" spc="-5" dirty="0">
                <a:latin typeface="Calibri"/>
                <a:cs typeface="Calibri"/>
              </a:rPr>
              <a:t> </a:t>
            </a:r>
            <a:r>
              <a:rPr sz="2800" dirty="0">
                <a:latin typeface="Calibri"/>
                <a:cs typeface="Calibri"/>
              </a:rPr>
              <a:t>the</a:t>
            </a:r>
            <a:r>
              <a:rPr sz="2800" spc="-15" dirty="0">
                <a:latin typeface="Calibri"/>
                <a:cs typeface="Calibri"/>
              </a:rPr>
              <a:t> </a:t>
            </a:r>
            <a:r>
              <a:rPr sz="2800" b="1" spc="-10" dirty="0">
                <a:latin typeface="Calibri"/>
                <a:cs typeface="Calibri"/>
              </a:rPr>
              <a:t>responsibility </a:t>
            </a:r>
            <a:r>
              <a:rPr sz="2800" b="1" dirty="0">
                <a:latin typeface="Calibri"/>
                <a:cs typeface="Calibri"/>
              </a:rPr>
              <a:t>matrix</a:t>
            </a:r>
            <a:r>
              <a:rPr sz="2800" b="1" spc="-75" dirty="0">
                <a:latin typeface="Calibri"/>
                <a:cs typeface="Calibri"/>
              </a:rPr>
              <a:t> </a:t>
            </a:r>
            <a:r>
              <a:rPr sz="2800" dirty="0">
                <a:latin typeface="Calibri"/>
                <a:cs typeface="Calibri"/>
              </a:rPr>
              <a:t>(RM);</a:t>
            </a:r>
            <a:r>
              <a:rPr sz="2800" spc="-65" dirty="0">
                <a:latin typeface="Calibri"/>
                <a:cs typeface="Calibri"/>
              </a:rPr>
              <a:t> </a:t>
            </a:r>
            <a:r>
              <a:rPr sz="2800" dirty="0">
                <a:latin typeface="Calibri"/>
                <a:cs typeface="Calibri"/>
              </a:rPr>
              <a:t>(sometimes</a:t>
            </a:r>
            <a:r>
              <a:rPr sz="2800" spc="-65" dirty="0">
                <a:latin typeface="Calibri"/>
                <a:cs typeface="Calibri"/>
              </a:rPr>
              <a:t> </a:t>
            </a:r>
            <a:r>
              <a:rPr sz="2800" dirty="0">
                <a:latin typeface="Calibri"/>
                <a:cs typeface="Calibri"/>
              </a:rPr>
              <a:t>called</a:t>
            </a:r>
            <a:r>
              <a:rPr sz="2800" spc="-65" dirty="0">
                <a:latin typeface="Calibri"/>
                <a:cs typeface="Calibri"/>
              </a:rPr>
              <a:t> </a:t>
            </a:r>
            <a:r>
              <a:rPr sz="2800" dirty="0">
                <a:latin typeface="Calibri"/>
                <a:cs typeface="Calibri"/>
              </a:rPr>
              <a:t>a</a:t>
            </a:r>
            <a:r>
              <a:rPr sz="2800" spc="-70" dirty="0">
                <a:latin typeface="Calibri"/>
                <a:cs typeface="Calibri"/>
              </a:rPr>
              <a:t> </a:t>
            </a:r>
            <a:r>
              <a:rPr sz="2800" dirty="0">
                <a:latin typeface="Calibri"/>
                <a:cs typeface="Calibri"/>
              </a:rPr>
              <a:t>linear</a:t>
            </a:r>
            <a:r>
              <a:rPr sz="2800" spc="-75" dirty="0">
                <a:latin typeface="Calibri"/>
                <a:cs typeface="Calibri"/>
              </a:rPr>
              <a:t> </a:t>
            </a:r>
            <a:r>
              <a:rPr sz="2800" dirty="0">
                <a:latin typeface="Calibri"/>
                <a:cs typeface="Calibri"/>
              </a:rPr>
              <a:t>responsibility</a:t>
            </a:r>
            <a:r>
              <a:rPr sz="2800" spc="-80" dirty="0">
                <a:latin typeface="Calibri"/>
                <a:cs typeface="Calibri"/>
              </a:rPr>
              <a:t> </a:t>
            </a:r>
            <a:r>
              <a:rPr sz="2800" spc="-10" dirty="0">
                <a:latin typeface="Calibri"/>
                <a:cs typeface="Calibri"/>
              </a:rPr>
              <a:t>chart)</a:t>
            </a:r>
            <a:endParaRPr sz="2800">
              <a:latin typeface="Calibri"/>
              <a:cs typeface="Calibri"/>
            </a:endParaRPr>
          </a:p>
          <a:p>
            <a:pPr marL="241300" marR="5080" indent="-228600" algn="just">
              <a:lnSpc>
                <a:spcPts val="3000"/>
              </a:lnSpc>
              <a:spcBef>
                <a:spcPts val="1019"/>
              </a:spcBef>
              <a:buFont typeface="Arial MT"/>
              <a:buChar char="•"/>
              <a:tabLst>
                <a:tab pos="241300" algn="l"/>
              </a:tabLst>
            </a:pPr>
            <a:r>
              <a:rPr sz="2800" dirty="0">
                <a:solidFill>
                  <a:srgbClr val="C00000"/>
                </a:solidFill>
                <a:latin typeface="Calibri"/>
                <a:cs typeface="Calibri"/>
              </a:rPr>
              <a:t>It</a:t>
            </a:r>
            <a:r>
              <a:rPr sz="2800" spc="310" dirty="0">
                <a:solidFill>
                  <a:srgbClr val="C00000"/>
                </a:solidFill>
                <a:latin typeface="Calibri"/>
                <a:cs typeface="Calibri"/>
              </a:rPr>
              <a:t> </a:t>
            </a:r>
            <a:r>
              <a:rPr sz="2800" dirty="0">
                <a:solidFill>
                  <a:srgbClr val="C00000"/>
                </a:solidFill>
                <a:latin typeface="Calibri"/>
                <a:cs typeface="Calibri"/>
              </a:rPr>
              <a:t>summarizes</a:t>
            </a:r>
            <a:r>
              <a:rPr sz="2800" spc="320" dirty="0">
                <a:solidFill>
                  <a:srgbClr val="C00000"/>
                </a:solidFill>
                <a:latin typeface="Calibri"/>
                <a:cs typeface="Calibri"/>
              </a:rPr>
              <a:t> </a:t>
            </a:r>
            <a:r>
              <a:rPr sz="2800" dirty="0">
                <a:solidFill>
                  <a:srgbClr val="C00000"/>
                </a:solidFill>
                <a:latin typeface="Calibri"/>
                <a:cs typeface="Calibri"/>
              </a:rPr>
              <a:t>the</a:t>
            </a:r>
            <a:r>
              <a:rPr sz="2800" spc="305" dirty="0">
                <a:solidFill>
                  <a:srgbClr val="C00000"/>
                </a:solidFill>
                <a:latin typeface="Calibri"/>
                <a:cs typeface="Calibri"/>
              </a:rPr>
              <a:t> </a:t>
            </a:r>
            <a:r>
              <a:rPr sz="2800" dirty="0">
                <a:solidFill>
                  <a:srgbClr val="C00000"/>
                </a:solidFill>
                <a:latin typeface="Calibri"/>
                <a:cs typeface="Calibri"/>
              </a:rPr>
              <a:t>tasks</a:t>
            </a:r>
            <a:r>
              <a:rPr sz="2800" spc="320" dirty="0">
                <a:solidFill>
                  <a:srgbClr val="C00000"/>
                </a:solidFill>
                <a:latin typeface="Calibri"/>
                <a:cs typeface="Calibri"/>
              </a:rPr>
              <a:t> </a:t>
            </a:r>
            <a:r>
              <a:rPr sz="2800" dirty="0">
                <a:solidFill>
                  <a:srgbClr val="C00000"/>
                </a:solidFill>
                <a:latin typeface="Calibri"/>
                <a:cs typeface="Calibri"/>
              </a:rPr>
              <a:t>to</a:t>
            </a:r>
            <a:r>
              <a:rPr sz="2800" spc="310" dirty="0">
                <a:solidFill>
                  <a:srgbClr val="C00000"/>
                </a:solidFill>
                <a:latin typeface="Calibri"/>
                <a:cs typeface="Calibri"/>
              </a:rPr>
              <a:t> </a:t>
            </a:r>
            <a:r>
              <a:rPr sz="2800" dirty="0">
                <a:solidFill>
                  <a:srgbClr val="C00000"/>
                </a:solidFill>
                <a:latin typeface="Calibri"/>
                <a:cs typeface="Calibri"/>
              </a:rPr>
              <a:t>be</a:t>
            </a:r>
            <a:r>
              <a:rPr sz="2800" spc="310" dirty="0">
                <a:solidFill>
                  <a:srgbClr val="C00000"/>
                </a:solidFill>
                <a:latin typeface="Calibri"/>
                <a:cs typeface="Calibri"/>
              </a:rPr>
              <a:t> </a:t>
            </a:r>
            <a:r>
              <a:rPr sz="2800" dirty="0">
                <a:solidFill>
                  <a:srgbClr val="C00000"/>
                </a:solidFill>
                <a:latin typeface="Calibri"/>
                <a:cs typeface="Calibri"/>
              </a:rPr>
              <a:t>accomplished</a:t>
            </a:r>
            <a:r>
              <a:rPr sz="2800" spc="315" dirty="0">
                <a:solidFill>
                  <a:srgbClr val="C00000"/>
                </a:solidFill>
                <a:latin typeface="Calibri"/>
                <a:cs typeface="Calibri"/>
              </a:rPr>
              <a:t> </a:t>
            </a:r>
            <a:r>
              <a:rPr sz="2800" dirty="0">
                <a:solidFill>
                  <a:srgbClr val="C00000"/>
                </a:solidFill>
                <a:latin typeface="Calibri"/>
                <a:cs typeface="Calibri"/>
              </a:rPr>
              <a:t>and</a:t>
            </a:r>
            <a:r>
              <a:rPr sz="2800" spc="320" dirty="0">
                <a:solidFill>
                  <a:srgbClr val="C00000"/>
                </a:solidFill>
                <a:latin typeface="Calibri"/>
                <a:cs typeface="Calibri"/>
              </a:rPr>
              <a:t> </a:t>
            </a:r>
            <a:r>
              <a:rPr sz="2800" dirty="0">
                <a:solidFill>
                  <a:srgbClr val="C00000"/>
                </a:solidFill>
                <a:latin typeface="Calibri"/>
                <a:cs typeface="Calibri"/>
              </a:rPr>
              <a:t>who</a:t>
            </a:r>
            <a:r>
              <a:rPr sz="2800" spc="310" dirty="0">
                <a:solidFill>
                  <a:srgbClr val="C00000"/>
                </a:solidFill>
                <a:latin typeface="Calibri"/>
                <a:cs typeface="Calibri"/>
              </a:rPr>
              <a:t> </a:t>
            </a:r>
            <a:r>
              <a:rPr sz="2800" dirty="0">
                <a:solidFill>
                  <a:srgbClr val="C00000"/>
                </a:solidFill>
                <a:latin typeface="Calibri"/>
                <a:cs typeface="Calibri"/>
              </a:rPr>
              <a:t>is</a:t>
            </a:r>
            <a:r>
              <a:rPr sz="2800" spc="320" dirty="0">
                <a:solidFill>
                  <a:srgbClr val="C00000"/>
                </a:solidFill>
                <a:latin typeface="Calibri"/>
                <a:cs typeface="Calibri"/>
              </a:rPr>
              <a:t> </a:t>
            </a:r>
            <a:r>
              <a:rPr sz="2800" spc="-10" dirty="0">
                <a:solidFill>
                  <a:srgbClr val="C00000"/>
                </a:solidFill>
                <a:latin typeface="Calibri"/>
                <a:cs typeface="Calibri"/>
              </a:rPr>
              <a:t>responsible </a:t>
            </a:r>
            <a:r>
              <a:rPr sz="2800" dirty="0">
                <a:solidFill>
                  <a:srgbClr val="C00000"/>
                </a:solidFill>
                <a:latin typeface="Calibri"/>
                <a:cs typeface="Calibri"/>
              </a:rPr>
              <a:t>for</a:t>
            </a:r>
            <a:r>
              <a:rPr sz="2800" spc="-45" dirty="0">
                <a:solidFill>
                  <a:srgbClr val="C00000"/>
                </a:solidFill>
                <a:latin typeface="Calibri"/>
                <a:cs typeface="Calibri"/>
              </a:rPr>
              <a:t> </a:t>
            </a:r>
            <a:r>
              <a:rPr sz="2800" dirty="0">
                <a:solidFill>
                  <a:srgbClr val="C00000"/>
                </a:solidFill>
                <a:latin typeface="Calibri"/>
                <a:cs typeface="Calibri"/>
              </a:rPr>
              <a:t>what</a:t>
            </a:r>
            <a:r>
              <a:rPr sz="2800" spc="-40" dirty="0">
                <a:solidFill>
                  <a:srgbClr val="C00000"/>
                </a:solidFill>
                <a:latin typeface="Calibri"/>
                <a:cs typeface="Calibri"/>
              </a:rPr>
              <a:t> </a:t>
            </a:r>
            <a:r>
              <a:rPr sz="2800" dirty="0">
                <a:solidFill>
                  <a:srgbClr val="C00000"/>
                </a:solidFill>
                <a:latin typeface="Calibri"/>
                <a:cs typeface="Calibri"/>
              </a:rPr>
              <a:t>on</a:t>
            </a:r>
            <a:r>
              <a:rPr sz="2800" spc="-40" dirty="0">
                <a:solidFill>
                  <a:srgbClr val="C00000"/>
                </a:solidFill>
                <a:latin typeface="Calibri"/>
                <a:cs typeface="Calibri"/>
              </a:rPr>
              <a:t> </a:t>
            </a:r>
            <a:r>
              <a:rPr sz="2800" dirty="0">
                <a:solidFill>
                  <a:srgbClr val="C00000"/>
                </a:solidFill>
                <a:latin typeface="Calibri"/>
                <a:cs typeface="Calibri"/>
              </a:rPr>
              <a:t>a</a:t>
            </a:r>
            <a:r>
              <a:rPr sz="2800" spc="-40" dirty="0">
                <a:solidFill>
                  <a:srgbClr val="C00000"/>
                </a:solidFill>
                <a:latin typeface="Calibri"/>
                <a:cs typeface="Calibri"/>
              </a:rPr>
              <a:t> </a:t>
            </a:r>
            <a:r>
              <a:rPr sz="2800" spc="-10" dirty="0">
                <a:solidFill>
                  <a:srgbClr val="C00000"/>
                </a:solidFill>
                <a:latin typeface="Calibri"/>
                <a:cs typeface="Calibri"/>
              </a:rPr>
              <a:t>project.</a:t>
            </a:r>
            <a:endParaRPr sz="2800">
              <a:latin typeface="Calibri"/>
              <a:cs typeface="Calibri"/>
            </a:endParaRPr>
          </a:p>
          <a:p>
            <a:pPr marL="241300" marR="5715" indent="-228600" algn="just">
              <a:lnSpc>
                <a:spcPts val="3100"/>
              </a:lnSpc>
              <a:spcBef>
                <a:spcPts val="930"/>
              </a:spcBef>
              <a:buFont typeface="Arial MT"/>
              <a:buChar char="•"/>
              <a:tabLst>
                <a:tab pos="241300" algn="l"/>
              </a:tabLst>
            </a:pPr>
            <a:r>
              <a:rPr sz="2800" dirty="0">
                <a:latin typeface="Calibri"/>
                <a:cs typeface="Calibri"/>
              </a:rPr>
              <a:t>In</a:t>
            </a:r>
            <a:r>
              <a:rPr sz="2800" spc="350" dirty="0">
                <a:latin typeface="Calibri"/>
                <a:cs typeface="Calibri"/>
              </a:rPr>
              <a:t> </a:t>
            </a:r>
            <a:r>
              <a:rPr sz="2800" dirty="0">
                <a:latin typeface="Calibri"/>
                <a:cs typeface="Calibri"/>
              </a:rPr>
              <a:t>its</a:t>
            </a:r>
            <a:r>
              <a:rPr sz="2800" spc="350" dirty="0">
                <a:latin typeface="Calibri"/>
                <a:cs typeface="Calibri"/>
              </a:rPr>
              <a:t> </a:t>
            </a:r>
            <a:r>
              <a:rPr sz="2800" dirty="0">
                <a:latin typeface="Calibri"/>
                <a:cs typeface="Calibri"/>
              </a:rPr>
              <a:t>simplest</a:t>
            </a:r>
            <a:r>
              <a:rPr sz="2800" spc="345" dirty="0">
                <a:latin typeface="Calibri"/>
                <a:cs typeface="Calibri"/>
              </a:rPr>
              <a:t> </a:t>
            </a:r>
            <a:r>
              <a:rPr sz="2800" dirty="0">
                <a:latin typeface="Calibri"/>
                <a:cs typeface="Calibri"/>
              </a:rPr>
              <a:t>form</a:t>
            </a:r>
            <a:r>
              <a:rPr sz="2800" spc="350" dirty="0">
                <a:latin typeface="Calibri"/>
                <a:cs typeface="Calibri"/>
              </a:rPr>
              <a:t> </a:t>
            </a:r>
            <a:r>
              <a:rPr sz="2800" dirty="0">
                <a:latin typeface="Calibri"/>
                <a:cs typeface="Calibri"/>
              </a:rPr>
              <a:t>an</a:t>
            </a:r>
            <a:r>
              <a:rPr sz="2800" spc="355" dirty="0">
                <a:latin typeface="Calibri"/>
                <a:cs typeface="Calibri"/>
              </a:rPr>
              <a:t> </a:t>
            </a:r>
            <a:r>
              <a:rPr sz="2800" dirty="0">
                <a:latin typeface="Calibri"/>
                <a:cs typeface="Calibri"/>
              </a:rPr>
              <a:t>RM</a:t>
            </a:r>
            <a:r>
              <a:rPr sz="2800" spc="355" dirty="0">
                <a:latin typeface="Calibri"/>
                <a:cs typeface="Calibri"/>
              </a:rPr>
              <a:t> </a:t>
            </a:r>
            <a:r>
              <a:rPr sz="2800" dirty="0">
                <a:latin typeface="Calibri"/>
                <a:cs typeface="Calibri"/>
              </a:rPr>
              <a:t>consists</a:t>
            </a:r>
            <a:r>
              <a:rPr sz="2800" spc="350" dirty="0">
                <a:latin typeface="Calibri"/>
                <a:cs typeface="Calibri"/>
              </a:rPr>
              <a:t> </a:t>
            </a:r>
            <a:r>
              <a:rPr sz="2800" dirty="0">
                <a:latin typeface="Calibri"/>
                <a:cs typeface="Calibri"/>
              </a:rPr>
              <a:t>of</a:t>
            </a:r>
            <a:r>
              <a:rPr sz="2800" spc="345" dirty="0">
                <a:latin typeface="Calibri"/>
                <a:cs typeface="Calibri"/>
              </a:rPr>
              <a:t> </a:t>
            </a:r>
            <a:r>
              <a:rPr sz="2800" dirty="0">
                <a:latin typeface="Calibri"/>
                <a:cs typeface="Calibri"/>
              </a:rPr>
              <a:t>a</a:t>
            </a:r>
            <a:r>
              <a:rPr sz="2800" spc="345" dirty="0">
                <a:latin typeface="Calibri"/>
                <a:cs typeface="Calibri"/>
              </a:rPr>
              <a:t> </a:t>
            </a:r>
            <a:r>
              <a:rPr sz="2800" dirty="0">
                <a:latin typeface="Calibri"/>
                <a:cs typeface="Calibri"/>
              </a:rPr>
              <a:t>chart</a:t>
            </a:r>
            <a:r>
              <a:rPr sz="2800" spc="350" dirty="0">
                <a:latin typeface="Calibri"/>
                <a:cs typeface="Calibri"/>
              </a:rPr>
              <a:t> </a:t>
            </a:r>
            <a:r>
              <a:rPr sz="2800" dirty="0">
                <a:latin typeface="Calibri"/>
                <a:cs typeface="Calibri"/>
              </a:rPr>
              <a:t>listing</a:t>
            </a:r>
            <a:r>
              <a:rPr sz="2800" spc="340" dirty="0">
                <a:latin typeface="Calibri"/>
                <a:cs typeface="Calibri"/>
              </a:rPr>
              <a:t> </a:t>
            </a:r>
            <a:r>
              <a:rPr sz="2800" dirty="0">
                <a:latin typeface="Calibri"/>
                <a:cs typeface="Calibri"/>
              </a:rPr>
              <a:t>all</a:t>
            </a:r>
            <a:r>
              <a:rPr sz="2800" spc="345" dirty="0">
                <a:latin typeface="Calibri"/>
                <a:cs typeface="Calibri"/>
              </a:rPr>
              <a:t> </a:t>
            </a:r>
            <a:r>
              <a:rPr sz="2800" dirty="0">
                <a:latin typeface="Calibri"/>
                <a:cs typeface="Calibri"/>
              </a:rPr>
              <a:t>the</a:t>
            </a:r>
            <a:r>
              <a:rPr sz="2800" spc="345" dirty="0">
                <a:latin typeface="Calibri"/>
                <a:cs typeface="Calibri"/>
              </a:rPr>
              <a:t> </a:t>
            </a:r>
            <a:r>
              <a:rPr sz="2800" spc="-10" dirty="0">
                <a:latin typeface="Calibri"/>
                <a:cs typeface="Calibri"/>
              </a:rPr>
              <a:t>project </a:t>
            </a:r>
            <a:r>
              <a:rPr sz="2800" dirty="0">
                <a:latin typeface="Calibri"/>
                <a:cs typeface="Calibri"/>
              </a:rPr>
              <a:t>activities</a:t>
            </a:r>
            <a:r>
              <a:rPr sz="2800" spc="-60" dirty="0">
                <a:latin typeface="Calibri"/>
                <a:cs typeface="Calibri"/>
              </a:rPr>
              <a:t> </a:t>
            </a:r>
            <a:r>
              <a:rPr sz="2800" dirty="0">
                <a:latin typeface="Calibri"/>
                <a:cs typeface="Calibri"/>
              </a:rPr>
              <a:t>and</a:t>
            </a:r>
            <a:r>
              <a:rPr sz="2800" spc="-6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participants</a:t>
            </a:r>
            <a:r>
              <a:rPr sz="2800" spc="-60" dirty="0">
                <a:latin typeface="Calibri"/>
                <a:cs typeface="Calibri"/>
              </a:rPr>
              <a:t> </a:t>
            </a:r>
            <a:r>
              <a:rPr sz="2800" dirty="0">
                <a:latin typeface="Calibri"/>
                <a:cs typeface="Calibri"/>
              </a:rPr>
              <a:t>responsible</a:t>
            </a:r>
            <a:r>
              <a:rPr sz="2800" spc="-75" dirty="0">
                <a:latin typeface="Calibri"/>
                <a:cs typeface="Calibri"/>
              </a:rPr>
              <a:t> </a:t>
            </a:r>
            <a:r>
              <a:rPr sz="2800" dirty="0">
                <a:latin typeface="Calibri"/>
                <a:cs typeface="Calibri"/>
              </a:rPr>
              <a:t>for</a:t>
            </a:r>
            <a:r>
              <a:rPr sz="2800" spc="-60" dirty="0">
                <a:latin typeface="Calibri"/>
                <a:cs typeface="Calibri"/>
              </a:rPr>
              <a:t> </a:t>
            </a:r>
            <a:r>
              <a:rPr sz="2800" dirty="0">
                <a:latin typeface="Calibri"/>
                <a:cs typeface="Calibri"/>
              </a:rPr>
              <a:t>each</a:t>
            </a:r>
            <a:r>
              <a:rPr sz="2800" spc="-60" dirty="0">
                <a:latin typeface="Calibri"/>
                <a:cs typeface="Calibri"/>
              </a:rPr>
              <a:t> </a:t>
            </a:r>
            <a:r>
              <a:rPr sz="2800" spc="-10" dirty="0">
                <a:latin typeface="Calibri"/>
                <a:cs typeface="Calibri"/>
              </a:rPr>
              <a:t>activity</a:t>
            </a:r>
            <a:endParaRPr sz="2800">
              <a:latin typeface="Calibri"/>
              <a:cs typeface="Calibri"/>
            </a:endParaRPr>
          </a:p>
          <a:p>
            <a:pPr marL="241300" marR="6350" indent="-228600" algn="just">
              <a:lnSpc>
                <a:spcPts val="3000"/>
              </a:lnSpc>
              <a:spcBef>
                <a:spcPts val="985"/>
              </a:spcBef>
              <a:buFont typeface="Arial MT"/>
              <a:buChar char="•"/>
              <a:tabLst>
                <a:tab pos="241300" algn="l"/>
              </a:tabLst>
            </a:pPr>
            <a:r>
              <a:rPr sz="2800" dirty="0">
                <a:solidFill>
                  <a:srgbClr val="C00000"/>
                </a:solidFill>
                <a:latin typeface="Calibri"/>
                <a:cs typeface="Calibri"/>
              </a:rPr>
              <a:t>By</a:t>
            </a:r>
            <a:r>
              <a:rPr sz="2800" spc="254" dirty="0">
                <a:solidFill>
                  <a:srgbClr val="C00000"/>
                </a:solidFill>
                <a:latin typeface="Calibri"/>
                <a:cs typeface="Calibri"/>
              </a:rPr>
              <a:t>  </a:t>
            </a:r>
            <a:r>
              <a:rPr sz="2800" dirty="0">
                <a:solidFill>
                  <a:srgbClr val="C00000"/>
                </a:solidFill>
                <a:latin typeface="Calibri"/>
                <a:cs typeface="Calibri"/>
              </a:rPr>
              <a:t>using</a:t>
            </a:r>
            <a:r>
              <a:rPr sz="2800" spc="260" dirty="0">
                <a:solidFill>
                  <a:srgbClr val="C00000"/>
                </a:solidFill>
                <a:latin typeface="Calibri"/>
                <a:cs typeface="Calibri"/>
              </a:rPr>
              <a:t>  </a:t>
            </a:r>
            <a:r>
              <a:rPr sz="2800" dirty="0">
                <a:solidFill>
                  <a:srgbClr val="C00000"/>
                </a:solidFill>
                <a:latin typeface="Calibri"/>
                <a:cs typeface="Calibri"/>
              </a:rPr>
              <a:t>an</a:t>
            </a:r>
            <a:r>
              <a:rPr sz="2800" spc="265" dirty="0">
                <a:solidFill>
                  <a:srgbClr val="C00000"/>
                </a:solidFill>
                <a:latin typeface="Calibri"/>
                <a:cs typeface="Calibri"/>
              </a:rPr>
              <a:t>  </a:t>
            </a:r>
            <a:r>
              <a:rPr sz="2800" dirty="0">
                <a:solidFill>
                  <a:srgbClr val="C00000"/>
                </a:solidFill>
                <a:latin typeface="Calibri"/>
                <a:cs typeface="Calibri"/>
              </a:rPr>
              <a:t>RM</a:t>
            </a:r>
            <a:r>
              <a:rPr sz="2800" spc="265" dirty="0">
                <a:solidFill>
                  <a:srgbClr val="C00000"/>
                </a:solidFill>
                <a:latin typeface="Calibri"/>
                <a:cs typeface="Calibri"/>
              </a:rPr>
              <a:t>  </a:t>
            </a:r>
            <a:r>
              <a:rPr sz="2800" dirty="0">
                <a:solidFill>
                  <a:srgbClr val="C00000"/>
                </a:solidFill>
                <a:latin typeface="Calibri"/>
                <a:cs typeface="Calibri"/>
              </a:rPr>
              <a:t>and</a:t>
            </a:r>
            <a:r>
              <a:rPr sz="2800" spc="260" dirty="0">
                <a:solidFill>
                  <a:srgbClr val="C00000"/>
                </a:solidFill>
                <a:latin typeface="Calibri"/>
                <a:cs typeface="Calibri"/>
              </a:rPr>
              <a:t>  </a:t>
            </a:r>
            <a:r>
              <a:rPr sz="2800" dirty="0">
                <a:solidFill>
                  <a:srgbClr val="C00000"/>
                </a:solidFill>
                <a:latin typeface="Calibri"/>
                <a:cs typeface="Calibri"/>
              </a:rPr>
              <a:t>by</a:t>
            </a:r>
            <a:r>
              <a:rPr sz="2800" spc="260" dirty="0">
                <a:solidFill>
                  <a:srgbClr val="C00000"/>
                </a:solidFill>
                <a:latin typeface="Calibri"/>
                <a:cs typeface="Calibri"/>
              </a:rPr>
              <a:t>  </a:t>
            </a:r>
            <a:r>
              <a:rPr sz="2800" dirty="0">
                <a:solidFill>
                  <a:srgbClr val="C00000"/>
                </a:solidFill>
                <a:latin typeface="Calibri"/>
                <a:cs typeface="Calibri"/>
              </a:rPr>
              <a:t>defining</a:t>
            </a:r>
            <a:r>
              <a:rPr sz="2800" spc="254" dirty="0">
                <a:solidFill>
                  <a:srgbClr val="C00000"/>
                </a:solidFill>
                <a:latin typeface="Calibri"/>
                <a:cs typeface="Calibri"/>
              </a:rPr>
              <a:t>  </a:t>
            </a:r>
            <a:r>
              <a:rPr sz="2800" dirty="0">
                <a:solidFill>
                  <a:srgbClr val="C00000"/>
                </a:solidFill>
                <a:latin typeface="Calibri"/>
                <a:cs typeface="Calibri"/>
              </a:rPr>
              <a:t>authority,</a:t>
            </a:r>
            <a:r>
              <a:rPr sz="2800" spc="260" dirty="0">
                <a:solidFill>
                  <a:srgbClr val="C00000"/>
                </a:solidFill>
                <a:latin typeface="Calibri"/>
                <a:cs typeface="Calibri"/>
              </a:rPr>
              <a:t>  </a:t>
            </a:r>
            <a:r>
              <a:rPr sz="2800" dirty="0">
                <a:solidFill>
                  <a:srgbClr val="C00000"/>
                </a:solidFill>
                <a:latin typeface="Calibri"/>
                <a:cs typeface="Calibri"/>
              </a:rPr>
              <a:t>responsibility,</a:t>
            </a:r>
            <a:r>
              <a:rPr sz="2800" spc="260" dirty="0">
                <a:solidFill>
                  <a:srgbClr val="C00000"/>
                </a:solidFill>
                <a:latin typeface="Calibri"/>
                <a:cs typeface="Calibri"/>
              </a:rPr>
              <a:t>  </a:t>
            </a:r>
            <a:r>
              <a:rPr sz="2800" spc="-25" dirty="0">
                <a:solidFill>
                  <a:srgbClr val="C00000"/>
                </a:solidFill>
                <a:latin typeface="Calibri"/>
                <a:cs typeface="Calibri"/>
              </a:rPr>
              <a:t>and </a:t>
            </a:r>
            <a:r>
              <a:rPr sz="2800" dirty="0">
                <a:solidFill>
                  <a:srgbClr val="C00000"/>
                </a:solidFill>
                <a:latin typeface="Calibri"/>
                <a:cs typeface="Calibri"/>
              </a:rPr>
              <a:t>communications</a:t>
            </a:r>
            <a:r>
              <a:rPr sz="2800" spc="190" dirty="0">
                <a:solidFill>
                  <a:srgbClr val="C00000"/>
                </a:solidFill>
                <a:latin typeface="Calibri"/>
                <a:cs typeface="Calibri"/>
              </a:rPr>
              <a:t>  </a:t>
            </a:r>
            <a:r>
              <a:rPr sz="2800" dirty="0">
                <a:solidFill>
                  <a:srgbClr val="C00000"/>
                </a:solidFill>
                <a:latin typeface="Calibri"/>
                <a:cs typeface="Calibri"/>
              </a:rPr>
              <a:t>within</a:t>
            </a:r>
            <a:r>
              <a:rPr sz="2800" spc="190" dirty="0">
                <a:solidFill>
                  <a:srgbClr val="C00000"/>
                </a:solidFill>
                <a:latin typeface="Calibri"/>
                <a:cs typeface="Calibri"/>
              </a:rPr>
              <a:t>  </a:t>
            </a:r>
            <a:r>
              <a:rPr sz="2800" dirty="0">
                <a:solidFill>
                  <a:srgbClr val="C00000"/>
                </a:solidFill>
                <a:latin typeface="Calibri"/>
                <a:cs typeface="Calibri"/>
              </a:rPr>
              <a:t>its</a:t>
            </a:r>
            <a:r>
              <a:rPr sz="2800" spc="190" dirty="0">
                <a:solidFill>
                  <a:srgbClr val="C00000"/>
                </a:solidFill>
                <a:latin typeface="Calibri"/>
                <a:cs typeface="Calibri"/>
              </a:rPr>
              <a:t>  </a:t>
            </a:r>
            <a:r>
              <a:rPr sz="2800" dirty="0">
                <a:solidFill>
                  <a:srgbClr val="C00000"/>
                </a:solidFill>
                <a:latin typeface="Calibri"/>
                <a:cs typeface="Calibri"/>
              </a:rPr>
              <a:t>framework,</a:t>
            </a:r>
            <a:r>
              <a:rPr sz="2800" spc="190" dirty="0">
                <a:solidFill>
                  <a:srgbClr val="C00000"/>
                </a:solidFill>
                <a:latin typeface="Calibri"/>
                <a:cs typeface="Calibri"/>
              </a:rPr>
              <a:t>  </a:t>
            </a:r>
            <a:r>
              <a:rPr sz="2800" dirty="0">
                <a:solidFill>
                  <a:srgbClr val="C00000"/>
                </a:solidFill>
                <a:latin typeface="Calibri"/>
                <a:cs typeface="Calibri"/>
              </a:rPr>
              <a:t>the</a:t>
            </a:r>
            <a:r>
              <a:rPr sz="2800" spc="185" dirty="0">
                <a:solidFill>
                  <a:srgbClr val="C00000"/>
                </a:solidFill>
                <a:latin typeface="Calibri"/>
                <a:cs typeface="Calibri"/>
              </a:rPr>
              <a:t>  </a:t>
            </a:r>
            <a:r>
              <a:rPr sz="2800" dirty="0">
                <a:solidFill>
                  <a:srgbClr val="C00000"/>
                </a:solidFill>
                <a:latin typeface="Calibri"/>
                <a:cs typeface="Calibri"/>
              </a:rPr>
              <a:t>relationship</a:t>
            </a:r>
            <a:r>
              <a:rPr sz="2800" spc="190" dirty="0">
                <a:solidFill>
                  <a:srgbClr val="C00000"/>
                </a:solidFill>
                <a:latin typeface="Calibri"/>
                <a:cs typeface="Calibri"/>
              </a:rPr>
              <a:t>  </a:t>
            </a:r>
            <a:r>
              <a:rPr sz="2800" spc="-10" dirty="0">
                <a:solidFill>
                  <a:srgbClr val="C00000"/>
                </a:solidFill>
                <a:latin typeface="Calibri"/>
                <a:cs typeface="Calibri"/>
              </a:rPr>
              <a:t>between </a:t>
            </a:r>
            <a:r>
              <a:rPr sz="2800" dirty="0">
                <a:solidFill>
                  <a:srgbClr val="C00000"/>
                </a:solidFill>
                <a:latin typeface="Calibri"/>
                <a:cs typeface="Calibri"/>
              </a:rPr>
              <a:t>different</a:t>
            </a:r>
            <a:r>
              <a:rPr sz="2800" spc="235" dirty="0">
                <a:solidFill>
                  <a:srgbClr val="C00000"/>
                </a:solidFill>
                <a:latin typeface="Calibri"/>
                <a:cs typeface="Calibri"/>
              </a:rPr>
              <a:t> </a:t>
            </a:r>
            <a:r>
              <a:rPr sz="2800" dirty="0">
                <a:solidFill>
                  <a:srgbClr val="C00000"/>
                </a:solidFill>
                <a:latin typeface="Calibri"/>
                <a:cs typeface="Calibri"/>
              </a:rPr>
              <a:t>organizational</a:t>
            </a:r>
            <a:r>
              <a:rPr sz="2800" spc="229" dirty="0">
                <a:solidFill>
                  <a:srgbClr val="C00000"/>
                </a:solidFill>
                <a:latin typeface="Calibri"/>
                <a:cs typeface="Calibri"/>
              </a:rPr>
              <a:t> </a:t>
            </a:r>
            <a:r>
              <a:rPr sz="2800" dirty="0">
                <a:solidFill>
                  <a:srgbClr val="C00000"/>
                </a:solidFill>
                <a:latin typeface="Calibri"/>
                <a:cs typeface="Calibri"/>
              </a:rPr>
              <a:t>units</a:t>
            </a:r>
            <a:r>
              <a:rPr sz="2800" spc="245" dirty="0">
                <a:solidFill>
                  <a:srgbClr val="C00000"/>
                </a:solidFill>
                <a:latin typeface="Calibri"/>
                <a:cs typeface="Calibri"/>
              </a:rPr>
              <a:t> </a:t>
            </a:r>
            <a:r>
              <a:rPr sz="2800" dirty="0">
                <a:solidFill>
                  <a:srgbClr val="C00000"/>
                </a:solidFill>
                <a:latin typeface="Calibri"/>
                <a:cs typeface="Calibri"/>
              </a:rPr>
              <a:t>and</a:t>
            </a:r>
            <a:r>
              <a:rPr sz="2800" spc="240" dirty="0">
                <a:solidFill>
                  <a:srgbClr val="C00000"/>
                </a:solidFill>
                <a:latin typeface="Calibri"/>
                <a:cs typeface="Calibri"/>
              </a:rPr>
              <a:t> </a:t>
            </a:r>
            <a:r>
              <a:rPr sz="2800" dirty="0">
                <a:solidFill>
                  <a:srgbClr val="C00000"/>
                </a:solidFill>
                <a:latin typeface="Calibri"/>
                <a:cs typeface="Calibri"/>
              </a:rPr>
              <a:t>the</a:t>
            </a:r>
            <a:r>
              <a:rPr sz="2800" spc="235" dirty="0">
                <a:solidFill>
                  <a:srgbClr val="C00000"/>
                </a:solidFill>
                <a:latin typeface="Calibri"/>
                <a:cs typeface="Calibri"/>
              </a:rPr>
              <a:t> </a:t>
            </a:r>
            <a:r>
              <a:rPr sz="2800" dirty="0">
                <a:solidFill>
                  <a:srgbClr val="C00000"/>
                </a:solidFill>
                <a:latin typeface="Calibri"/>
                <a:cs typeface="Calibri"/>
              </a:rPr>
              <a:t>work</a:t>
            </a:r>
            <a:r>
              <a:rPr sz="2800" spc="240" dirty="0">
                <a:solidFill>
                  <a:srgbClr val="C00000"/>
                </a:solidFill>
                <a:latin typeface="Calibri"/>
                <a:cs typeface="Calibri"/>
              </a:rPr>
              <a:t> </a:t>
            </a:r>
            <a:r>
              <a:rPr sz="2800" dirty="0">
                <a:solidFill>
                  <a:srgbClr val="C00000"/>
                </a:solidFill>
                <a:latin typeface="Calibri"/>
                <a:cs typeface="Calibri"/>
              </a:rPr>
              <a:t>content</a:t>
            </a:r>
            <a:r>
              <a:rPr sz="2800" spc="229" dirty="0">
                <a:solidFill>
                  <a:srgbClr val="C00000"/>
                </a:solidFill>
                <a:latin typeface="Calibri"/>
                <a:cs typeface="Calibri"/>
              </a:rPr>
              <a:t> </a:t>
            </a:r>
            <a:r>
              <a:rPr sz="2800" dirty="0">
                <a:solidFill>
                  <a:srgbClr val="C00000"/>
                </a:solidFill>
                <a:latin typeface="Calibri"/>
                <a:cs typeface="Calibri"/>
              </a:rPr>
              <a:t>of</a:t>
            </a:r>
            <a:r>
              <a:rPr sz="2800" spc="235" dirty="0">
                <a:solidFill>
                  <a:srgbClr val="C00000"/>
                </a:solidFill>
                <a:latin typeface="Calibri"/>
                <a:cs typeface="Calibri"/>
              </a:rPr>
              <a:t> </a:t>
            </a:r>
            <a:r>
              <a:rPr sz="2800" dirty="0">
                <a:solidFill>
                  <a:srgbClr val="C00000"/>
                </a:solidFill>
                <a:latin typeface="Calibri"/>
                <a:cs typeface="Calibri"/>
              </a:rPr>
              <a:t>the</a:t>
            </a:r>
            <a:r>
              <a:rPr sz="2800" spc="235" dirty="0">
                <a:solidFill>
                  <a:srgbClr val="C00000"/>
                </a:solidFill>
                <a:latin typeface="Calibri"/>
                <a:cs typeface="Calibri"/>
              </a:rPr>
              <a:t> </a:t>
            </a:r>
            <a:r>
              <a:rPr sz="2800" dirty="0">
                <a:solidFill>
                  <a:srgbClr val="C00000"/>
                </a:solidFill>
                <a:latin typeface="Calibri"/>
                <a:cs typeface="Calibri"/>
              </a:rPr>
              <a:t>project</a:t>
            </a:r>
            <a:r>
              <a:rPr sz="2800" spc="235" dirty="0">
                <a:solidFill>
                  <a:srgbClr val="C00000"/>
                </a:solidFill>
                <a:latin typeface="Calibri"/>
                <a:cs typeface="Calibri"/>
              </a:rPr>
              <a:t> </a:t>
            </a:r>
            <a:r>
              <a:rPr sz="2800" spc="-25" dirty="0">
                <a:solidFill>
                  <a:srgbClr val="C00000"/>
                </a:solidFill>
                <a:latin typeface="Calibri"/>
                <a:cs typeface="Calibri"/>
              </a:rPr>
              <a:t>is </a:t>
            </a:r>
            <a:r>
              <a:rPr sz="2800" dirty="0">
                <a:solidFill>
                  <a:srgbClr val="C00000"/>
                </a:solidFill>
                <a:latin typeface="Calibri"/>
                <a:cs typeface="Calibri"/>
              </a:rPr>
              <a:t>made</a:t>
            </a:r>
            <a:r>
              <a:rPr sz="2800" spc="-25" dirty="0">
                <a:solidFill>
                  <a:srgbClr val="C00000"/>
                </a:solidFill>
                <a:latin typeface="Calibri"/>
                <a:cs typeface="Calibri"/>
              </a:rPr>
              <a:t> </a:t>
            </a:r>
            <a:r>
              <a:rPr sz="2800" spc="-20" dirty="0">
                <a:solidFill>
                  <a:srgbClr val="C00000"/>
                </a:solidFill>
                <a:latin typeface="Calibri"/>
                <a:cs typeface="Calibri"/>
              </a:rPr>
              <a:t>clear</a:t>
            </a:r>
            <a:endParaRPr sz="28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19</a:t>
            </a:r>
            <a:endParaRPr sz="1200">
              <a:latin typeface="Calibri"/>
              <a:cs typeface="Calibri"/>
            </a:endParaRPr>
          </a:p>
        </p:txBody>
      </p:sp>
      <p:pic>
        <p:nvPicPr>
          <p:cNvPr id="5" name="Picture 4">
            <a:extLst>
              <a:ext uri="{FF2B5EF4-FFF2-40B4-BE49-F238E27FC236}">
                <a16:creationId xmlns:a16="http://schemas.microsoft.com/office/drawing/2014/main" id="{8DB9B7F6-3457-DB69-D820-AB52082AA1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20</a:t>
            </a:r>
            <a:endParaRPr sz="1200">
              <a:latin typeface="Calibri"/>
              <a:cs typeface="Calibri"/>
            </a:endParaRPr>
          </a:p>
        </p:txBody>
      </p:sp>
      <p:pic>
        <p:nvPicPr>
          <p:cNvPr id="3" name="object 3"/>
          <p:cNvPicPr/>
          <p:nvPr/>
        </p:nvPicPr>
        <p:blipFill>
          <a:blip r:embed="rId2" cstate="print"/>
          <a:stretch>
            <a:fillRect/>
          </a:stretch>
        </p:blipFill>
        <p:spPr>
          <a:xfrm>
            <a:off x="1550060" y="1722388"/>
            <a:ext cx="8858248" cy="5078548"/>
          </a:xfrm>
          <a:prstGeom prst="rect">
            <a:avLst/>
          </a:prstGeom>
        </p:spPr>
      </p:pic>
      <p:sp>
        <p:nvSpPr>
          <p:cNvPr id="4" name="object 4"/>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Responsibility Matrices </a:t>
            </a:r>
            <a:r>
              <a:rPr sz="1950" spc="-10" dirty="0"/>
              <a:t>(2/3)</a:t>
            </a:r>
            <a:endParaRPr sz="1950" dirty="0"/>
          </a:p>
        </p:txBody>
      </p:sp>
      <p:sp>
        <p:nvSpPr>
          <p:cNvPr id="5" name="object 5"/>
          <p:cNvSpPr txBox="1"/>
          <p:nvPr/>
        </p:nvSpPr>
        <p:spPr>
          <a:xfrm>
            <a:off x="4520" y="3046476"/>
            <a:ext cx="1536065" cy="1244600"/>
          </a:xfrm>
          <a:prstGeom prst="rect">
            <a:avLst/>
          </a:prstGeom>
        </p:spPr>
        <p:txBody>
          <a:bodyPr vert="horz" wrap="square" lIns="0" tIns="12700" rIns="0" bIns="0" rtlCol="0">
            <a:spAutoFit/>
          </a:bodyPr>
          <a:lstStyle/>
          <a:p>
            <a:pPr marL="12700" marR="5080" indent="-1905" algn="ctr">
              <a:lnSpc>
                <a:spcPct val="100000"/>
              </a:lnSpc>
              <a:spcBef>
                <a:spcPts val="100"/>
              </a:spcBef>
            </a:pPr>
            <a:r>
              <a:rPr sz="2000" dirty="0">
                <a:latin typeface="Calibri"/>
                <a:cs typeface="Calibri"/>
              </a:rPr>
              <a:t>Example</a:t>
            </a:r>
            <a:r>
              <a:rPr sz="2000" spc="-105" dirty="0">
                <a:latin typeface="Calibri"/>
                <a:cs typeface="Calibri"/>
              </a:rPr>
              <a:t> </a:t>
            </a:r>
            <a:r>
              <a:rPr sz="2000" spc="-25" dirty="0">
                <a:latin typeface="Calibri"/>
                <a:cs typeface="Calibri"/>
              </a:rPr>
              <a:t>for</a:t>
            </a:r>
            <a:r>
              <a:rPr sz="2000" spc="500" dirty="0">
                <a:latin typeface="Calibri"/>
                <a:cs typeface="Calibri"/>
              </a:rPr>
              <a:t> </a:t>
            </a:r>
            <a:r>
              <a:rPr sz="2000" dirty="0">
                <a:latin typeface="Calibri"/>
                <a:cs typeface="Calibri"/>
              </a:rPr>
              <a:t>an</a:t>
            </a:r>
            <a:r>
              <a:rPr sz="2000" spc="-40" dirty="0">
                <a:latin typeface="Calibri"/>
                <a:cs typeface="Calibri"/>
              </a:rPr>
              <a:t> </a:t>
            </a:r>
            <a:r>
              <a:rPr sz="2000" dirty="0">
                <a:latin typeface="Calibri"/>
                <a:cs typeface="Calibri"/>
              </a:rPr>
              <a:t>RM</a:t>
            </a:r>
            <a:r>
              <a:rPr sz="2000" spc="-30" dirty="0">
                <a:latin typeface="Calibri"/>
                <a:cs typeface="Calibri"/>
              </a:rPr>
              <a:t> </a:t>
            </a:r>
            <a:r>
              <a:rPr sz="2000" dirty="0">
                <a:latin typeface="Calibri"/>
                <a:cs typeface="Calibri"/>
              </a:rPr>
              <a:t>for</a:t>
            </a:r>
            <a:r>
              <a:rPr sz="2000" spc="-35" dirty="0">
                <a:latin typeface="Calibri"/>
                <a:cs typeface="Calibri"/>
              </a:rPr>
              <a:t> </a:t>
            </a:r>
            <a:r>
              <a:rPr sz="2000" spc="-50" dirty="0">
                <a:latin typeface="Calibri"/>
                <a:cs typeface="Calibri"/>
              </a:rPr>
              <a:t>a </a:t>
            </a:r>
            <a:r>
              <a:rPr sz="2000" dirty="0">
                <a:latin typeface="Calibri"/>
                <a:cs typeface="Calibri"/>
              </a:rPr>
              <a:t>simple</a:t>
            </a:r>
            <a:r>
              <a:rPr sz="2000" spc="-55" dirty="0">
                <a:latin typeface="Calibri"/>
                <a:cs typeface="Calibri"/>
              </a:rPr>
              <a:t> </a:t>
            </a:r>
            <a:r>
              <a:rPr sz="2000" spc="-10" dirty="0">
                <a:latin typeface="Calibri"/>
                <a:cs typeface="Calibri"/>
              </a:rPr>
              <a:t>market research</a:t>
            </a:r>
            <a:r>
              <a:rPr sz="2000" spc="-35" dirty="0">
                <a:latin typeface="Calibri"/>
                <a:cs typeface="Calibri"/>
              </a:rPr>
              <a:t> </a:t>
            </a:r>
            <a:r>
              <a:rPr sz="2000" spc="-20" dirty="0">
                <a:latin typeface="Calibri"/>
                <a:cs typeface="Calibri"/>
              </a:rPr>
              <a:t>study</a:t>
            </a:r>
            <a:endParaRPr sz="2000">
              <a:latin typeface="Calibri"/>
              <a:cs typeface="Calibri"/>
            </a:endParaRPr>
          </a:p>
        </p:txBody>
      </p:sp>
      <p:pic>
        <p:nvPicPr>
          <p:cNvPr id="6" name="Picture 5">
            <a:extLst>
              <a:ext uri="{FF2B5EF4-FFF2-40B4-BE49-F238E27FC236}">
                <a16:creationId xmlns:a16="http://schemas.microsoft.com/office/drawing/2014/main" id="{BC548C65-4D3A-887F-03DA-C3CF1A7B0C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543048"/>
            <a:ext cx="12164098" cy="4949825"/>
          </a:xfrm>
          <a:prstGeom prst="rect">
            <a:avLst/>
          </a:prstGeom>
        </p:spPr>
      </p:pic>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21</a:t>
            </a:r>
            <a:endParaRPr sz="1200">
              <a:latin typeface="Calibri"/>
              <a:cs typeface="Calibri"/>
            </a:endParaRPr>
          </a:p>
        </p:txBody>
      </p:sp>
      <p:sp>
        <p:nvSpPr>
          <p:cNvPr id="4" name="object 4"/>
          <p:cNvSpPr txBox="1"/>
          <p:nvPr/>
        </p:nvSpPr>
        <p:spPr>
          <a:xfrm>
            <a:off x="920671" y="6390132"/>
            <a:ext cx="994854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Example</a:t>
            </a:r>
            <a:r>
              <a:rPr sz="2000" spc="-45" dirty="0">
                <a:latin typeface="Calibri"/>
                <a:cs typeface="Calibri"/>
              </a:rPr>
              <a:t> </a:t>
            </a:r>
            <a:r>
              <a:rPr sz="2000" dirty="0">
                <a:latin typeface="Calibri"/>
                <a:cs typeface="Calibri"/>
              </a:rPr>
              <a:t>for</a:t>
            </a:r>
            <a:r>
              <a:rPr sz="2000" spc="-45" dirty="0">
                <a:latin typeface="Calibri"/>
                <a:cs typeface="Calibri"/>
              </a:rPr>
              <a:t> </a:t>
            </a:r>
            <a:r>
              <a:rPr sz="2000" dirty="0">
                <a:latin typeface="Calibri"/>
                <a:cs typeface="Calibri"/>
              </a:rPr>
              <a:t>an</a:t>
            </a:r>
            <a:r>
              <a:rPr sz="2000" spc="-50" dirty="0">
                <a:latin typeface="Calibri"/>
                <a:cs typeface="Calibri"/>
              </a:rPr>
              <a:t> </a:t>
            </a:r>
            <a:r>
              <a:rPr sz="2000" dirty="0">
                <a:latin typeface="Calibri"/>
                <a:cs typeface="Calibri"/>
              </a:rPr>
              <a:t>RM</a:t>
            </a:r>
            <a:r>
              <a:rPr sz="2000" spc="-45" dirty="0">
                <a:latin typeface="Calibri"/>
                <a:cs typeface="Calibri"/>
              </a:rPr>
              <a:t> </a:t>
            </a:r>
            <a:r>
              <a:rPr sz="2000" dirty="0">
                <a:latin typeface="Calibri"/>
                <a:cs typeface="Calibri"/>
              </a:rPr>
              <a:t>for</a:t>
            </a:r>
            <a:r>
              <a:rPr sz="2000" spc="-40" dirty="0">
                <a:latin typeface="Calibri"/>
                <a:cs typeface="Calibri"/>
              </a:rPr>
              <a:t> </a:t>
            </a:r>
            <a:r>
              <a:rPr sz="2000" dirty="0">
                <a:latin typeface="Calibri"/>
                <a:cs typeface="Calibri"/>
              </a:rPr>
              <a:t>a</a:t>
            </a:r>
            <a:r>
              <a:rPr sz="2000" spc="-45" dirty="0">
                <a:latin typeface="Calibri"/>
                <a:cs typeface="Calibri"/>
              </a:rPr>
              <a:t> </a:t>
            </a:r>
            <a:r>
              <a:rPr sz="2000" dirty="0">
                <a:latin typeface="Calibri"/>
                <a:cs typeface="Calibri"/>
              </a:rPr>
              <a:t>large,</a:t>
            </a:r>
            <a:r>
              <a:rPr sz="2000" spc="-50" dirty="0">
                <a:latin typeface="Calibri"/>
                <a:cs typeface="Calibri"/>
              </a:rPr>
              <a:t> </a:t>
            </a:r>
            <a:r>
              <a:rPr sz="2000" spc="-10" dirty="0">
                <a:latin typeface="Calibri"/>
                <a:cs typeface="Calibri"/>
              </a:rPr>
              <a:t>complex</a:t>
            </a:r>
            <a:r>
              <a:rPr sz="2000" spc="-55" dirty="0">
                <a:latin typeface="Calibri"/>
                <a:cs typeface="Calibri"/>
              </a:rPr>
              <a:t> </a:t>
            </a:r>
            <a:r>
              <a:rPr sz="2000" dirty="0">
                <a:latin typeface="Calibri"/>
                <a:cs typeface="Calibri"/>
              </a:rPr>
              <a:t>project</a:t>
            </a:r>
            <a:r>
              <a:rPr sz="2000" spc="-40" dirty="0">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develop</a:t>
            </a:r>
            <a:r>
              <a:rPr sz="2000" spc="-50"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new</a:t>
            </a:r>
            <a:r>
              <a:rPr sz="2000" spc="-55" dirty="0">
                <a:latin typeface="Calibri"/>
                <a:cs typeface="Calibri"/>
              </a:rPr>
              <a:t> </a:t>
            </a:r>
            <a:r>
              <a:rPr sz="2000" dirty="0">
                <a:latin typeface="Calibri"/>
                <a:cs typeface="Calibri"/>
              </a:rPr>
              <a:t>piece</a:t>
            </a:r>
            <a:r>
              <a:rPr sz="2000" spc="-45" dirty="0">
                <a:latin typeface="Calibri"/>
                <a:cs typeface="Calibri"/>
              </a:rPr>
              <a:t> </a:t>
            </a:r>
            <a:r>
              <a:rPr sz="2000" dirty="0">
                <a:latin typeface="Calibri"/>
                <a:cs typeface="Calibri"/>
              </a:rPr>
              <a:t>of</a:t>
            </a:r>
            <a:r>
              <a:rPr sz="2000" spc="-50" dirty="0">
                <a:latin typeface="Calibri"/>
                <a:cs typeface="Calibri"/>
              </a:rPr>
              <a:t> </a:t>
            </a:r>
            <a:r>
              <a:rPr sz="2000" spc="-10" dirty="0">
                <a:latin typeface="Calibri"/>
                <a:cs typeface="Calibri"/>
              </a:rPr>
              <a:t>automated</a:t>
            </a:r>
            <a:r>
              <a:rPr sz="2000" spc="-45" dirty="0">
                <a:latin typeface="Calibri"/>
                <a:cs typeface="Calibri"/>
              </a:rPr>
              <a:t> </a:t>
            </a:r>
            <a:r>
              <a:rPr sz="2000" spc="-10" dirty="0">
                <a:latin typeface="Calibri"/>
                <a:cs typeface="Calibri"/>
              </a:rPr>
              <a:t>equipment</a:t>
            </a:r>
            <a:endParaRPr sz="20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Responsibility Matrices </a:t>
            </a:r>
            <a:r>
              <a:rPr sz="1950" spc="-10" dirty="0"/>
              <a:t>(3/3)</a:t>
            </a:r>
            <a:endParaRPr sz="1950" dirty="0"/>
          </a:p>
        </p:txBody>
      </p:sp>
      <p:pic>
        <p:nvPicPr>
          <p:cNvPr id="6" name="Picture 5">
            <a:extLst>
              <a:ext uri="{FF2B5EF4-FFF2-40B4-BE49-F238E27FC236}">
                <a16:creationId xmlns:a16="http://schemas.microsoft.com/office/drawing/2014/main" id="{446762E3-43C1-7F9C-505D-F5168DA8BB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(1/6)</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42</a:t>
            </a:fld>
            <a:endParaRPr spc="-25" dirty="0"/>
          </a:p>
        </p:txBody>
      </p:sp>
      <p:sp>
        <p:nvSpPr>
          <p:cNvPr id="3" name="object 3"/>
          <p:cNvSpPr txBox="1">
            <a:spLocks noGrp="1"/>
          </p:cNvSpPr>
          <p:nvPr>
            <p:ph type="body" idx="1"/>
          </p:nvPr>
        </p:nvSpPr>
        <p:spPr>
          <a:prstGeom prst="rect">
            <a:avLst/>
          </a:prstGeom>
        </p:spPr>
        <p:txBody>
          <a:bodyPr vert="horz" wrap="square" lIns="0" tIns="215900" rIns="0" bIns="0" rtlCol="0">
            <a:spAutoFit/>
          </a:bodyPr>
          <a:lstStyle/>
          <a:p>
            <a:pPr marL="241300" marR="6350" indent="-228600" algn="just">
              <a:lnSpc>
                <a:spcPts val="3000"/>
              </a:lnSpc>
              <a:spcBef>
                <a:spcPts val="500"/>
              </a:spcBef>
              <a:buFont typeface="Arial MT"/>
              <a:buChar char="•"/>
              <a:tabLst>
                <a:tab pos="241300" algn="l"/>
              </a:tabLst>
            </a:pPr>
            <a:r>
              <a:rPr dirty="0"/>
              <a:t>Once</a:t>
            </a:r>
            <a:r>
              <a:rPr spc="35" dirty="0"/>
              <a:t>  </a:t>
            </a:r>
            <a:r>
              <a:rPr dirty="0"/>
              <a:t>the</a:t>
            </a:r>
            <a:r>
              <a:rPr spc="40" dirty="0"/>
              <a:t>  </a:t>
            </a:r>
            <a:r>
              <a:rPr dirty="0"/>
              <a:t>project</a:t>
            </a:r>
            <a:r>
              <a:rPr spc="40" dirty="0"/>
              <a:t>  </a:t>
            </a:r>
            <a:r>
              <a:rPr dirty="0"/>
              <a:t>deliverables</a:t>
            </a:r>
            <a:r>
              <a:rPr spc="45" dirty="0"/>
              <a:t>  </a:t>
            </a:r>
            <a:r>
              <a:rPr dirty="0"/>
              <a:t>and</a:t>
            </a:r>
            <a:r>
              <a:rPr spc="45" dirty="0"/>
              <a:t>  </a:t>
            </a:r>
            <a:r>
              <a:rPr dirty="0"/>
              <a:t>work</a:t>
            </a:r>
            <a:r>
              <a:rPr spc="40" dirty="0"/>
              <a:t>  </a:t>
            </a:r>
            <a:r>
              <a:rPr dirty="0"/>
              <a:t>are</a:t>
            </a:r>
            <a:r>
              <a:rPr spc="40" dirty="0"/>
              <a:t>  </a:t>
            </a:r>
            <a:r>
              <a:rPr dirty="0"/>
              <a:t>clearly</a:t>
            </a:r>
            <a:r>
              <a:rPr spc="40" dirty="0"/>
              <a:t>  </a:t>
            </a:r>
            <a:r>
              <a:rPr dirty="0"/>
              <a:t>identified,</a:t>
            </a:r>
            <a:r>
              <a:rPr spc="35" dirty="0"/>
              <a:t>  </a:t>
            </a:r>
            <a:r>
              <a:rPr spc="-25" dirty="0"/>
              <a:t>an </a:t>
            </a:r>
            <a:r>
              <a:rPr dirty="0"/>
              <a:t>internal</a:t>
            </a:r>
            <a:r>
              <a:rPr spc="-50" dirty="0"/>
              <a:t> </a:t>
            </a:r>
            <a:r>
              <a:rPr spc="-10" dirty="0"/>
              <a:t>communication</a:t>
            </a:r>
            <a:r>
              <a:rPr spc="-40" dirty="0"/>
              <a:t> </a:t>
            </a:r>
            <a:r>
              <a:rPr dirty="0"/>
              <a:t>plan</a:t>
            </a:r>
            <a:r>
              <a:rPr spc="-40" dirty="0"/>
              <a:t> </a:t>
            </a:r>
            <a:r>
              <a:rPr dirty="0"/>
              <a:t>is</a:t>
            </a:r>
            <a:r>
              <a:rPr spc="-40" dirty="0"/>
              <a:t> </a:t>
            </a:r>
            <a:r>
              <a:rPr dirty="0"/>
              <a:t>vital</a:t>
            </a:r>
            <a:r>
              <a:rPr spc="-50" dirty="0"/>
              <a:t> </a:t>
            </a:r>
            <a:r>
              <a:rPr dirty="0"/>
              <a:t>as</a:t>
            </a:r>
            <a:r>
              <a:rPr spc="-40" dirty="0"/>
              <a:t> </a:t>
            </a:r>
            <a:r>
              <a:rPr dirty="0"/>
              <a:t>the</a:t>
            </a:r>
            <a:r>
              <a:rPr spc="-45" dirty="0"/>
              <a:t> </a:t>
            </a:r>
            <a:r>
              <a:rPr dirty="0"/>
              <a:t>next</a:t>
            </a:r>
            <a:r>
              <a:rPr spc="-45" dirty="0"/>
              <a:t> </a:t>
            </a:r>
            <a:r>
              <a:rPr spc="-10" dirty="0"/>
              <a:t>step.</a:t>
            </a:r>
          </a:p>
          <a:p>
            <a:pPr marL="240665" indent="-227965" algn="just">
              <a:lnSpc>
                <a:spcPct val="100000"/>
              </a:lnSpc>
              <a:spcBef>
                <a:spcPts val="585"/>
              </a:spcBef>
              <a:buFont typeface="Arial MT"/>
              <a:buChar char="•"/>
              <a:tabLst>
                <a:tab pos="240665" algn="l"/>
              </a:tabLst>
            </a:pPr>
            <a:r>
              <a:rPr dirty="0">
                <a:solidFill>
                  <a:srgbClr val="C00000"/>
                </a:solidFill>
              </a:rPr>
              <a:t>Poor</a:t>
            </a:r>
            <a:r>
              <a:rPr spc="-50" dirty="0">
                <a:solidFill>
                  <a:srgbClr val="C00000"/>
                </a:solidFill>
              </a:rPr>
              <a:t> </a:t>
            </a:r>
            <a:r>
              <a:rPr spc="-10" dirty="0">
                <a:solidFill>
                  <a:srgbClr val="C00000"/>
                </a:solidFill>
              </a:rPr>
              <a:t>communication</a:t>
            </a:r>
            <a:r>
              <a:rPr spc="-40" dirty="0">
                <a:solidFill>
                  <a:srgbClr val="C00000"/>
                </a:solidFill>
              </a:rPr>
              <a:t> </a:t>
            </a:r>
            <a:r>
              <a:rPr dirty="0">
                <a:solidFill>
                  <a:srgbClr val="C00000"/>
                </a:solidFill>
              </a:rPr>
              <a:t>is</a:t>
            </a:r>
            <a:r>
              <a:rPr spc="-40" dirty="0">
                <a:solidFill>
                  <a:srgbClr val="C00000"/>
                </a:solidFill>
              </a:rPr>
              <a:t> </a:t>
            </a:r>
            <a:r>
              <a:rPr dirty="0">
                <a:solidFill>
                  <a:srgbClr val="C00000"/>
                </a:solidFill>
              </a:rPr>
              <a:t>a</a:t>
            </a:r>
            <a:r>
              <a:rPr spc="-50" dirty="0">
                <a:solidFill>
                  <a:srgbClr val="C00000"/>
                </a:solidFill>
              </a:rPr>
              <a:t> </a:t>
            </a:r>
            <a:r>
              <a:rPr dirty="0">
                <a:solidFill>
                  <a:srgbClr val="C00000"/>
                </a:solidFill>
              </a:rPr>
              <a:t>major</a:t>
            </a:r>
            <a:r>
              <a:rPr spc="-50" dirty="0">
                <a:solidFill>
                  <a:srgbClr val="C00000"/>
                </a:solidFill>
              </a:rPr>
              <a:t> </a:t>
            </a:r>
            <a:r>
              <a:rPr spc="-10" dirty="0">
                <a:solidFill>
                  <a:srgbClr val="C00000"/>
                </a:solidFill>
              </a:rPr>
              <a:t>contributor</a:t>
            </a:r>
            <a:r>
              <a:rPr spc="-50" dirty="0">
                <a:solidFill>
                  <a:srgbClr val="C00000"/>
                </a:solidFill>
              </a:rPr>
              <a:t> </a:t>
            </a:r>
            <a:r>
              <a:rPr dirty="0">
                <a:solidFill>
                  <a:srgbClr val="C00000"/>
                </a:solidFill>
              </a:rPr>
              <a:t>to</a:t>
            </a:r>
            <a:r>
              <a:rPr spc="-50" dirty="0">
                <a:solidFill>
                  <a:srgbClr val="C00000"/>
                </a:solidFill>
              </a:rPr>
              <a:t> </a:t>
            </a:r>
            <a:r>
              <a:rPr dirty="0">
                <a:solidFill>
                  <a:srgbClr val="C00000"/>
                </a:solidFill>
              </a:rPr>
              <a:t>project</a:t>
            </a:r>
            <a:r>
              <a:rPr spc="-45" dirty="0">
                <a:solidFill>
                  <a:srgbClr val="C00000"/>
                </a:solidFill>
              </a:rPr>
              <a:t> </a:t>
            </a:r>
            <a:r>
              <a:rPr spc="-10" dirty="0">
                <a:solidFill>
                  <a:srgbClr val="C00000"/>
                </a:solidFill>
              </a:rPr>
              <a:t>failure</a:t>
            </a:r>
          </a:p>
          <a:p>
            <a:pPr marL="241300" marR="5080" indent="-228600" algn="just">
              <a:lnSpc>
                <a:spcPts val="3000"/>
              </a:lnSpc>
              <a:spcBef>
                <a:spcPts val="1140"/>
              </a:spcBef>
              <a:buFont typeface="Arial MT"/>
              <a:buChar char="•"/>
              <a:tabLst>
                <a:tab pos="241300" algn="l"/>
              </a:tabLst>
            </a:pPr>
            <a:r>
              <a:rPr dirty="0"/>
              <a:t>The</a:t>
            </a:r>
            <a:r>
              <a:rPr spc="380" dirty="0"/>
              <a:t> </a:t>
            </a:r>
            <a:r>
              <a:rPr dirty="0"/>
              <a:t>communication</a:t>
            </a:r>
            <a:r>
              <a:rPr spc="390" dirty="0"/>
              <a:t> </a:t>
            </a:r>
            <a:r>
              <a:rPr dirty="0"/>
              <a:t>plan</a:t>
            </a:r>
            <a:r>
              <a:rPr spc="390" dirty="0"/>
              <a:t> </a:t>
            </a:r>
            <a:r>
              <a:rPr dirty="0"/>
              <a:t>is</a:t>
            </a:r>
            <a:r>
              <a:rPr spc="385" dirty="0"/>
              <a:t> </a:t>
            </a:r>
            <a:r>
              <a:rPr dirty="0"/>
              <a:t>usually</a:t>
            </a:r>
            <a:r>
              <a:rPr spc="385" dirty="0"/>
              <a:t> </a:t>
            </a:r>
            <a:r>
              <a:rPr dirty="0"/>
              <a:t>created</a:t>
            </a:r>
            <a:r>
              <a:rPr spc="390" dirty="0"/>
              <a:t> </a:t>
            </a:r>
            <a:r>
              <a:rPr dirty="0"/>
              <a:t>by</a:t>
            </a:r>
            <a:r>
              <a:rPr spc="385" dirty="0"/>
              <a:t> </a:t>
            </a:r>
            <a:r>
              <a:rPr dirty="0"/>
              <a:t>the</a:t>
            </a:r>
            <a:r>
              <a:rPr spc="380" dirty="0"/>
              <a:t> </a:t>
            </a:r>
            <a:r>
              <a:rPr dirty="0"/>
              <a:t>project</a:t>
            </a:r>
            <a:r>
              <a:rPr spc="385" dirty="0"/>
              <a:t> </a:t>
            </a:r>
            <a:r>
              <a:rPr spc="-10" dirty="0"/>
              <a:t>manager </a:t>
            </a:r>
            <a:r>
              <a:rPr dirty="0"/>
              <a:t>and/or</a:t>
            </a:r>
            <a:r>
              <a:rPr spc="-60" dirty="0"/>
              <a:t> </a:t>
            </a:r>
            <a:r>
              <a:rPr dirty="0"/>
              <a:t>the</a:t>
            </a:r>
            <a:r>
              <a:rPr spc="-55" dirty="0"/>
              <a:t> </a:t>
            </a:r>
            <a:r>
              <a:rPr dirty="0"/>
              <a:t>project</a:t>
            </a:r>
            <a:r>
              <a:rPr spc="-60" dirty="0"/>
              <a:t> </a:t>
            </a:r>
            <a:r>
              <a:rPr dirty="0"/>
              <a:t>team</a:t>
            </a:r>
            <a:r>
              <a:rPr spc="-55" dirty="0"/>
              <a:t> </a:t>
            </a:r>
            <a:r>
              <a:rPr dirty="0"/>
              <a:t>in</a:t>
            </a:r>
            <a:r>
              <a:rPr spc="-50" dirty="0"/>
              <a:t> </a:t>
            </a:r>
            <a:r>
              <a:rPr dirty="0"/>
              <a:t>the</a:t>
            </a:r>
            <a:r>
              <a:rPr spc="-60" dirty="0"/>
              <a:t> </a:t>
            </a:r>
            <a:r>
              <a:rPr dirty="0"/>
              <a:t>early</a:t>
            </a:r>
            <a:r>
              <a:rPr spc="-55" dirty="0"/>
              <a:t> </a:t>
            </a:r>
            <a:r>
              <a:rPr dirty="0"/>
              <a:t>stage</a:t>
            </a:r>
            <a:r>
              <a:rPr spc="-60" dirty="0"/>
              <a:t> </a:t>
            </a:r>
            <a:r>
              <a:rPr dirty="0"/>
              <a:t>of</a:t>
            </a:r>
            <a:r>
              <a:rPr spc="-65" dirty="0"/>
              <a:t> </a:t>
            </a:r>
            <a:r>
              <a:rPr dirty="0"/>
              <a:t>project</a:t>
            </a:r>
            <a:r>
              <a:rPr spc="-55" dirty="0"/>
              <a:t> </a:t>
            </a:r>
            <a:r>
              <a:rPr spc="-10" dirty="0"/>
              <a:t>planning</a:t>
            </a:r>
          </a:p>
          <a:p>
            <a:pPr marL="241300" marR="5715" indent="-228600" algn="just">
              <a:lnSpc>
                <a:spcPts val="3000"/>
              </a:lnSpc>
              <a:spcBef>
                <a:spcPts val="1010"/>
              </a:spcBef>
              <a:buFont typeface="Arial MT"/>
              <a:buChar char="•"/>
              <a:tabLst>
                <a:tab pos="241300" algn="l"/>
              </a:tabLst>
            </a:pPr>
            <a:r>
              <a:rPr dirty="0">
                <a:solidFill>
                  <a:srgbClr val="C00000"/>
                </a:solidFill>
              </a:rPr>
              <a:t>The</a:t>
            </a:r>
            <a:r>
              <a:rPr spc="229" dirty="0">
                <a:solidFill>
                  <a:srgbClr val="C00000"/>
                </a:solidFill>
              </a:rPr>
              <a:t> </a:t>
            </a:r>
            <a:r>
              <a:rPr dirty="0">
                <a:solidFill>
                  <a:srgbClr val="C00000"/>
                </a:solidFill>
              </a:rPr>
              <a:t>plan</a:t>
            </a:r>
            <a:r>
              <a:rPr spc="235" dirty="0">
                <a:solidFill>
                  <a:srgbClr val="C00000"/>
                </a:solidFill>
              </a:rPr>
              <a:t> </a:t>
            </a:r>
            <a:r>
              <a:rPr dirty="0">
                <a:solidFill>
                  <a:srgbClr val="C00000"/>
                </a:solidFill>
              </a:rPr>
              <a:t>maps</a:t>
            </a:r>
            <a:r>
              <a:rPr spc="240" dirty="0">
                <a:solidFill>
                  <a:srgbClr val="C00000"/>
                </a:solidFill>
              </a:rPr>
              <a:t> </a:t>
            </a:r>
            <a:r>
              <a:rPr dirty="0">
                <a:solidFill>
                  <a:srgbClr val="C00000"/>
                </a:solidFill>
              </a:rPr>
              <a:t>out</a:t>
            </a:r>
            <a:r>
              <a:rPr spc="235" dirty="0">
                <a:solidFill>
                  <a:srgbClr val="C00000"/>
                </a:solidFill>
              </a:rPr>
              <a:t> </a:t>
            </a:r>
            <a:r>
              <a:rPr dirty="0">
                <a:solidFill>
                  <a:srgbClr val="C00000"/>
                </a:solidFill>
              </a:rPr>
              <a:t>the</a:t>
            </a:r>
            <a:r>
              <a:rPr spc="235" dirty="0">
                <a:solidFill>
                  <a:srgbClr val="C00000"/>
                </a:solidFill>
              </a:rPr>
              <a:t> </a:t>
            </a:r>
            <a:r>
              <a:rPr dirty="0">
                <a:solidFill>
                  <a:srgbClr val="C00000"/>
                </a:solidFill>
              </a:rPr>
              <a:t>flow</a:t>
            </a:r>
            <a:r>
              <a:rPr spc="235" dirty="0">
                <a:solidFill>
                  <a:srgbClr val="C00000"/>
                </a:solidFill>
              </a:rPr>
              <a:t> </a:t>
            </a:r>
            <a:r>
              <a:rPr dirty="0">
                <a:solidFill>
                  <a:srgbClr val="C00000"/>
                </a:solidFill>
              </a:rPr>
              <a:t>of</a:t>
            </a:r>
            <a:r>
              <a:rPr spc="235" dirty="0">
                <a:solidFill>
                  <a:srgbClr val="C00000"/>
                </a:solidFill>
              </a:rPr>
              <a:t> </a:t>
            </a:r>
            <a:r>
              <a:rPr dirty="0">
                <a:solidFill>
                  <a:srgbClr val="C00000"/>
                </a:solidFill>
              </a:rPr>
              <a:t>information</a:t>
            </a:r>
            <a:r>
              <a:rPr spc="240" dirty="0">
                <a:solidFill>
                  <a:srgbClr val="C00000"/>
                </a:solidFill>
              </a:rPr>
              <a:t> </a:t>
            </a:r>
            <a:r>
              <a:rPr dirty="0">
                <a:solidFill>
                  <a:srgbClr val="C00000"/>
                </a:solidFill>
              </a:rPr>
              <a:t>to</a:t>
            </a:r>
            <a:r>
              <a:rPr spc="235" dirty="0">
                <a:solidFill>
                  <a:srgbClr val="C00000"/>
                </a:solidFill>
              </a:rPr>
              <a:t> </a:t>
            </a:r>
            <a:r>
              <a:rPr dirty="0">
                <a:solidFill>
                  <a:srgbClr val="C00000"/>
                </a:solidFill>
              </a:rPr>
              <a:t>different</a:t>
            </a:r>
            <a:r>
              <a:rPr spc="235" dirty="0">
                <a:solidFill>
                  <a:srgbClr val="C00000"/>
                </a:solidFill>
              </a:rPr>
              <a:t> </a:t>
            </a:r>
            <a:r>
              <a:rPr spc="-10" dirty="0">
                <a:solidFill>
                  <a:srgbClr val="C00000"/>
                </a:solidFill>
              </a:rPr>
              <a:t>stakeholders </a:t>
            </a:r>
            <a:r>
              <a:rPr dirty="0">
                <a:solidFill>
                  <a:srgbClr val="C00000"/>
                </a:solidFill>
              </a:rPr>
              <a:t>and</a:t>
            </a:r>
            <a:r>
              <a:rPr spc="-60" dirty="0">
                <a:solidFill>
                  <a:srgbClr val="C00000"/>
                </a:solidFill>
              </a:rPr>
              <a:t> </a:t>
            </a:r>
            <a:r>
              <a:rPr dirty="0">
                <a:solidFill>
                  <a:srgbClr val="C00000"/>
                </a:solidFill>
              </a:rPr>
              <a:t>becomes</a:t>
            </a:r>
            <a:r>
              <a:rPr spc="-55" dirty="0">
                <a:solidFill>
                  <a:srgbClr val="C00000"/>
                </a:solidFill>
              </a:rPr>
              <a:t> </a:t>
            </a:r>
            <a:r>
              <a:rPr dirty="0">
                <a:solidFill>
                  <a:srgbClr val="C00000"/>
                </a:solidFill>
              </a:rPr>
              <a:t>an</a:t>
            </a:r>
            <a:r>
              <a:rPr spc="-55" dirty="0">
                <a:solidFill>
                  <a:srgbClr val="C00000"/>
                </a:solidFill>
              </a:rPr>
              <a:t> </a:t>
            </a:r>
            <a:r>
              <a:rPr dirty="0">
                <a:solidFill>
                  <a:srgbClr val="C00000"/>
                </a:solidFill>
              </a:rPr>
              <a:t>integral</a:t>
            </a:r>
            <a:r>
              <a:rPr spc="-60" dirty="0">
                <a:solidFill>
                  <a:srgbClr val="C00000"/>
                </a:solidFill>
              </a:rPr>
              <a:t> </a:t>
            </a:r>
            <a:r>
              <a:rPr dirty="0">
                <a:solidFill>
                  <a:srgbClr val="C00000"/>
                </a:solidFill>
              </a:rPr>
              <a:t>part</a:t>
            </a:r>
            <a:r>
              <a:rPr spc="-60" dirty="0">
                <a:solidFill>
                  <a:srgbClr val="C00000"/>
                </a:solidFill>
              </a:rPr>
              <a:t> </a:t>
            </a:r>
            <a:r>
              <a:rPr dirty="0">
                <a:solidFill>
                  <a:srgbClr val="C00000"/>
                </a:solidFill>
              </a:rPr>
              <a:t>of</a:t>
            </a:r>
            <a:r>
              <a:rPr spc="-60" dirty="0">
                <a:solidFill>
                  <a:srgbClr val="C00000"/>
                </a:solidFill>
              </a:rPr>
              <a:t> </a:t>
            </a:r>
            <a:r>
              <a:rPr dirty="0">
                <a:solidFill>
                  <a:srgbClr val="C00000"/>
                </a:solidFill>
              </a:rPr>
              <a:t>the</a:t>
            </a:r>
            <a:r>
              <a:rPr spc="-60" dirty="0">
                <a:solidFill>
                  <a:srgbClr val="C00000"/>
                </a:solidFill>
              </a:rPr>
              <a:t> </a:t>
            </a:r>
            <a:r>
              <a:rPr dirty="0">
                <a:solidFill>
                  <a:srgbClr val="C00000"/>
                </a:solidFill>
              </a:rPr>
              <a:t>overall</a:t>
            </a:r>
            <a:r>
              <a:rPr spc="-60" dirty="0">
                <a:solidFill>
                  <a:srgbClr val="C00000"/>
                </a:solidFill>
              </a:rPr>
              <a:t> </a:t>
            </a:r>
            <a:r>
              <a:rPr dirty="0">
                <a:solidFill>
                  <a:srgbClr val="C00000"/>
                </a:solidFill>
              </a:rPr>
              <a:t>project</a:t>
            </a:r>
            <a:r>
              <a:rPr spc="-60" dirty="0">
                <a:solidFill>
                  <a:srgbClr val="C00000"/>
                </a:solidFill>
              </a:rPr>
              <a:t> </a:t>
            </a:r>
            <a:r>
              <a:rPr spc="-20" dirty="0">
                <a:solidFill>
                  <a:srgbClr val="C00000"/>
                </a:solidFill>
              </a:rPr>
              <a:t>plan</a:t>
            </a:r>
          </a:p>
          <a:p>
            <a:pPr marL="241300" marR="5080" indent="-228600" algn="just">
              <a:lnSpc>
                <a:spcPts val="3000"/>
              </a:lnSpc>
              <a:spcBef>
                <a:spcPts val="1105"/>
              </a:spcBef>
              <a:buFont typeface="Arial MT"/>
              <a:buChar char="•"/>
              <a:tabLst>
                <a:tab pos="241300" algn="l"/>
              </a:tabLst>
            </a:pPr>
            <a:r>
              <a:rPr dirty="0"/>
              <a:t>The</a:t>
            </a:r>
            <a:r>
              <a:rPr spc="545" dirty="0"/>
              <a:t> </a:t>
            </a:r>
            <a:r>
              <a:rPr dirty="0"/>
              <a:t>purpose</a:t>
            </a:r>
            <a:r>
              <a:rPr spc="545" dirty="0"/>
              <a:t> </a:t>
            </a:r>
            <a:r>
              <a:rPr dirty="0"/>
              <a:t>of</a:t>
            </a:r>
            <a:r>
              <a:rPr spc="550" dirty="0"/>
              <a:t> </a:t>
            </a:r>
            <a:r>
              <a:rPr dirty="0"/>
              <a:t>a</a:t>
            </a:r>
            <a:r>
              <a:rPr spc="550" dirty="0"/>
              <a:t> </a:t>
            </a:r>
            <a:r>
              <a:rPr dirty="0"/>
              <a:t>project</a:t>
            </a:r>
            <a:r>
              <a:rPr spc="555" dirty="0"/>
              <a:t> </a:t>
            </a:r>
            <a:r>
              <a:rPr dirty="0"/>
              <a:t>communication</a:t>
            </a:r>
            <a:r>
              <a:rPr spc="560" dirty="0"/>
              <a:t> </a:t>
            </a:r>
            <a:r>
              <a:rPr dirty="0"/>
              <a:t>plan</a:t>
            </a:r>
            <a:r>
              <a:rPr spc="555" dirty="0"/>
              <a:t> </a:t>
            </a:r>
            <a:r>
              <a:rPr dirty="0"/>
              <a:t>is</a:t>
            </a:r>
            <a:r>
              <a:rPr spc="560" dirty="0"/>
              <a:t> </a:t>
            </a:r>
            <a:r>
              <a:rPr dirty="0"/>
              <a:t>to</a:t>
            </a:r>
            <a:r>
              <a:rPr spc="550" dirty="0"/>
              <a:t> </a:t>
            </a:r>
            <a:r>
              <a:rPr dirty="0"/>
              <a:t>express</a:t>
            </a:r>
            <a:r>
              <a:rPr spc="560" dirty="0"/>
              <a:t> </a:t>
            </a:r>
            <a:r>
              <a:rPr u="heavy" spc="-10" dirty="0">
                <a:uFill>
                  <a:solidFill>
                    <a:srgbClr val="000000"/>
                  </a:solidFill>
                </a:uFill>
              </a:rPr>
              <a:t>what</a:t>
            </a:r>
            <a:r>
              <a:rPr spc="-10" dirty="0"/>
              <a:t>, </a:t>
            </a:r>
            <a:r>
              <a:rPr u="heavy" dirty="0">
                <a:uFill>
                  <a:solidFill>
                    <a:srgbClr val="000000"/>
                  </a:solidFill>
                </a:uFill>
              </a:rPr>
              <a:t>who</a:t>
            </a:r>
            <a:r>
              <a:rPr dirty="0"/>
              <a:t>,</a:t>
            </a:r>
            <a:r>
              <a:rPr spc="90" dirty="0"/>
              <a:t>  </a:t>
            </a:r>
            <a:r>
              <a:rPr u="heavy" dirty="0">
                <a:uFill>
                  <a:solidFill>
                    <a:srgbClr val="000000"/>
                  </a:solidFill>
                </a:uFill>
              </a:rPr>
              <a:t>how</a:t>
            </a:r>
            <a:r>
              <a:rPr dirty="0"/>
              <a:t>,</a:t>
            </a:r>
            <a:r>
              <a:rPr spc="90" dirty="0"/>
              <a:t>  </a:t>
            </a:r>
            <a:r>
              <a:rPr dirty="0"/>
              <a:t>and</a:t>
            </a:r>
            <a:r>
              <a:rPr spc="95" dirty="0"/>
              <a:t>  </a:t>
            </a:r>
            <a:r>
              <a:rPr u="heavy" dirty="0">
                <a:uFill>
                  <a:solidFill>
                    <a:srgbClr val="000000"/>
                  </a:solidFill>
                </a:uFill>
              </a:rPr>
              <a:t>when</a:t>
            </a:r>
            <a:r>
              <a:rPr spc="95" dirty="0"/>
              <a:t>  </a:t>
            </a:r>
            <a:r>
              <a:rPr dirty="0"/>
              <a:t>information</a:t>
            </a:r>
            <a:r>
              <a:rPr spc="90" dirty="0"/>
              <a:t>  </a:t>
            </a:r>
            <a:r>
              <a:rPr dirty="0"/>
              <a:t>will</a:t>
            </a:r>
            <a:r>
              <a:rPr spc="90" dirty="0"/>
              <a:t>  </a:t>
            </a:r>
            <a:r>
              <a:rPr dirty="0"/>
              <a:t>be</a:t>
            </a:r>
            <a:r>
              <a:rPr spc="90" dirty="0"/>
              <a:t>  </a:t>
            </a:r>
            <a:r>
              <a:rPr dirty="0"/>
              <a:t>transmitted</a:t>
            </a:r>
            <a:r>
              <a:rPr spc="90" dirty="0"/>
              <a:t>  </a:t>
            </a:r>
            <a:r>
              <a:rPr dirty="0"/>
              <a:t>to</a:t>
            </a:r>
            <a:r>
              <a:rPr spc="95" dirty="0"/>
              <a:t>  </a:t>
            </a:r>
            <a:r>
              <a:rPr spc="-10" dirty="0"/>
              <a:t>project </a:t>
            </a:r>
            <a:r>
              <a:rPr spc="-20" dirty="0"/>
              <a:t>stakeholders</a:t>
            </a:r>
            <a:r>
              <a:rPr spc="-45" dirty="0"/>
              <a:t> </a:t>
            </a:r>
            <a:r>
              <a:rPr dirty="0"/>
              <a:t>so</a:t>
            </a:r>
            <a:r>
              <a:rPr spc="-45" dirty="0"/>
              <a:t> </a:t>
            </a:r>
            <a:r>
              <a:rPr dirty="0"/>
              <a:t>schedules,</a:t>
            </a:r>
            <a:r>
              <a:rPr spc="-50" dirty="0"/>
              <a:t> </a:t>
            </a:r>
            <a:r>
              <a:rPr dirty="0"/>
              <a:t>issues,</a:t>
            </a:r>
            <a:r>
              <a:rPr spc="-45" dirty="0"/>
              <a:t> </a:t>
            </a:r>
            <a:r>
              <a:rPr dirty="0"/>
              <a:t>and</a:t>
            </a:r>
            <a:r>
              <a:rPr spc="-40" dirty="0"/>
              <a:t> </a:t>
            </a:r>
            <a:r>
              <a:rPr dirty="0"/>
              <a:t>action</a:t>
            </a:r>
            <a:r>
              <a:rPr spc="-40" dirty="0"/>
              <a:t> </a:t>
            </a:r>
            <a:r>
              <a:rPr dirty="0"/>
              <a:t>items</a:t>
            </a:r>
            <a:r>
              <a:rPr spc="-40" dirty="0"/>
              <a:t> </a:t>
            </a:r>
            <a:r>
              <a:rPr dirty="0"/>
              <a:t>can</a:t>
            </a:r>
            <a:r>
              <a:rPr spc="-45" dirty="0"/>
              <a:t> </a:t>
            </a:r>
            <a:r>
              <a:rPr dirty="0"/>
              <a:t>be</a:t>
            </a:r>
            <a:r>
              <a:rPr spc="-50" dirty="0"/>
              <a:t> </a:t>
            </a:r>
            <a:r>
              <a:rPr spc="-10" dirty="0"/>
              <a:t>tracked</a:t>
            </a:r>
          </a:p>
        </p:txBody>
      </p:sp>
      <p:pic>
        <p:nvPicPr>
          <p:cNvPr id="5" name="Picture 4">
            <a:extLst>
              <a:ext uri="{FF2B5EF4-FFF2-40B4-BE49-F238E27FC236}">
                <a16:creationId xmlns:a16="http://schemas.microsoft.com/office/drawing/2014/main" id="{BB3E3282-D8D5-DE00-3A24-EB6B8A5C6A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64592" rIns="0" bIns="0" rtlCol="0">
            <a:spAutoFit/>
          </a:bodyPr>
          <a:lstStyle/>
          <a:p>
            <a:pPr marL="12700">
              <a:lnSpc>
                <a:spcPct val="100000"/>
              </a:lnSpc>
              <a:spcBef>
                <a:spcPts val="720"/>
              </a:spcBef>
            </a:pPr>
            <a:r>
              <a:rPr dirty="0"/>
              <a:t>Project</a:t>
            </a:r>
            <a:r>
              <a:rPr spc="-85" dirty="0"/>
              <a:t> </a:t>
            </a:r>
            <a:r>
              <a:rPr spc="-10" dirty="0"/>
              <a:t>communication</a:t>
            </a:r>
            <a:r>
              <a:rPr spc="-75" dirty="0"/>
              <a:t> </a:t>
            </a:r>
            <a:r>
              <a:rPr dirty="0"/>
              <a:t>plans</a:t>
            </a:r>
            <a:r>
              <a:rPr spc="-80" dirty="0"/>
              <a:t> </a:t>
            </a:r>
            <a:r>
              <a:rPr dirty="0"/>
              <a:t>address</a:t>
            </a:r>
            <a:r>
              <a:rPr spc="-75" dirty="0"/>
              <a:t> </a:t>
            </a:r>
            <a:r>
              <a:rPr dirty="0"/>
              <a:t>the</a:t>
            </a:r>
            <a:r>
              <a:rPr spc="-85" dirty="0"/>
              <a:t> </a:t>
            </a:r>
            <a:r>
              <a:rPr dirty="0"/>
              <a:t>following</a:t>
            </a:r>
            <a:r>
              <a:rPr spc="-85" dirty="0"/>
              <a:t> </a:t>
            </a:r>
            <a:r>
              <a:rPr dirty="0"/>
              <a:t>core</a:t>
            </a:r>
            <a:r>
              <a:rPr spc="-85" dirty="0"/>
              <a:t> </a:t>
            </a:r>
            <a:r>
              <a:rPr spc="-10" dirty="0"/>
              <a:t>questions:</a:t>
            </a:r>
          </a:p>
          <a:p>
            <a:pPr marL="464820" indent="-226695">
              <a:lnSpc>
                <a:spcPct val="100000"/>
              </a:lnSpc>
              <a:spcBef>
                <a:spcPts val="625"/>
              </a:spcBef>
              <a:buFont typeface="Arial MT"/>
              <a:buChar char="•"/>
              <a:tabLst>
                <a:tab pos="464820" algn="l"/>
              </a:tabLst>
            </a:pPr>
            <a:r>
              <a:rPr dirty="0"/>
              <a:t>What</a:t>
            </a:r>
            <a:r>
              <a:rPr spc="-45" dirty="0"/>
              <a:t> </a:t>
            </a:r>
            <a:r>
              <a:rPr spc="-10" dirty="0"/>
              <a:t>information</a:t>
            </a:r>
            <a:r>
              <a:rPr spc="-40" dirty="0"/>
              <a:t> </a:t>
            </a:r>
            <a:r>
              <a:rPr dirty="0"/>
              <a:t>needs</a:t>
            </a:r>
            <a:r>
              <a:rPr spc="-45" dirty="0"/>
              <a:t> </a:t>
            </a:r>
            <a:r>
              <a:rPr dirty="0"/>
              <a:t>to</a:t>
            </a:r>
            <a:r>
              <a:rPr spc="-45" dirty="0"/>
              <a:t> </a:t>
            </a:r>
            <a:r>
              <a:rPr dirty="0"/>
              <a:t>be</a:t>
            </a:r>
            <a:r>
              <a:rPr spc="-50" dirty="0"/>
              <a:t> </a:t>
            </a:r>
            <a:r>
              <a:rPr dirty="0"/>
              <a:t>collected</a:t>
            </a:r>
            <a:r>
              <a:rPr spc="-40" dirty="0"/>
              <a:t> </a:t>
            </a:r>
            <a:r>
              <a:rPr dirty="0"/>
              <a:t>and</a:t>
            </a:r>
            <a:r>
              <a:rPr spc="-45" dirty="0"/>
              <a:t> </a:t>
            </a:r>
            <a:r>
              <a:rPr spc="-10" dirty="0"/>
              <a:t>when?</a:t>
            </a:r>
          </a:p>
          <a:p>
            <a:pPr marL="464820" indent="-226695">
              <a:lnSpc>
                <a:spcPct val="100000"/>
              </a:lnSpc>
              <a:spcBef>
                <a:spcPts val="650"/>
              </a:spcBef>
              <a:buFont typeface="Arial MT"/>
              <a:buChar char="•"/>
              <a:tabLst>
                <a:tab pos="464820" algn="l"/>
              </a:tabLst>
            </a:pPr>
            <a:r>
              <a:rPr dirty="0"/>
              <a:t>Who</a:t>
            </a:r>
            <a:r>
              <a:rPr spc="-40" dirty="0"/>
              <a:t> </a:t>
            </a:r>
            <a:r>
              <a:rPr dirty="0"/>
              <a:t>will</a:t>
            </a:r>
            <a:r>
              <a:rPr spc="-40" dirty="0"/>
              <a:t> </a:t>
            </a:r>
            <a:r>
              <a:rPr dirty="0"/>
              <a:t>receive</a:t>
            </a:r>
            <a:r>
              <a:rPr spc="-45" dirty="0"/>
              <a:t> </a:t>
            </a:r>
            <a:r>
              <a:rPr dirty="0"/>
              <a:t>the</a:t>
            </a:r>
            <a:r>
              <a:rPr spc="-40" dirty="0"/>
              <a:t> </a:t>
            </a:r>
            <a:r>
              <a:rPr spc="-10" dirty="0"/>
              <a:t>information?</a:t>
            </a:r>
          </a:p>
          <a:p>
            <a:pPr marL="464820" indent="-226695">
              <a:lnSpc>
                <a:spcPct val="100000"/>
              </a:lnSpc>
              <a:spcBef>
                <a:spcPts val="745"/>
              </a:spcBef>
              <a:buFont typeface="Arial MT"/>
              <a:buChar char="•"/>
              <a:tabLst>
                <a:tab pos="464820" algn="l"/>
              </a:tabLst>
            </a:pPr>
            <a:r>
              <a:rPr dirty="0"/>
              <a:t>What</a:t>
            </a:r>
            <a:r>
              <a:rPr spc="-55" dirty="0"/>
              <a:t> </a:t>
            </a:r>
            <a:r>
              <a:rPr dirty="0"/>
              <a:t>methods</a:t>
            </a:r>
            <a:r>
              <a:rPr spc="-50" dirty="0"/>
              <a:t> </a:t>
            </a:r>
            <a:r>
              <a:rPr dirty="0"/>
              <a:t>will</a:t>
            </a:r>
            <a:r>
              <a:rPr spc="-55" dirty="0"/>
              <a:t> </a:t>
            </a:r>
            <a:r>
              <a:rPr dirty="0"/>
              <a:t>be</a:t>
            </a:r>
            <a:r>
              <a:rPr spc="-60" dirty="0"/>
              <a:t> </a:t>
            </a:r>
            <a:r>
              <a:rPr dirty="0"/>
              <a:t>used</a:t>
            </a:r>
            <a:r>
              <a:rPr spc="-55" dirty="0"/>
              <a:t> </a:t>
            </a:r>
            <a:r>
              <a:rPr dirty="0"/>
              <a:t>to</a:t>
            </a:r>
            <a:r>
              <a:rPr spc="-55" dirty="0"/>
              <a:t> </a:t>
            </a:r>
            <a:r>
              <a:rPr dirty="0"/>
              <a:t>gather</a:t>
            </a:r>
            <a:r>
              <a:rPr spc="-55" dirty="0"/>
              <a:t> </a:t>
            </a:r>
            <a:r>
              <a:rPr dirty="0"/>
              <a:t>and</a:t>
            </a:r>
            <a:r>
              <a:rPr spc="-50" dirty="0"/>
              <a:t> </a:t>
            </a:r>
            <a:r>
              <a:rPr dirty="0"/>
              <a:t>store</a:t>
            </a:r>
            <a:r>
              <a:rPr spc="-55" dirty="0"/>
              <a:t> </a:t>
            </a:r>
            <a:r>
              <a:rPr spc="-10" dirty="0"/>
              <a:t>information?</a:t>
            </a:r>
          </a:p>
          <a:p>
            <a:pPr marL="464820" marR="5080" indent="-227329">
              <a:lnSpc>
                <a:spcPts val="3000"/>
              </a:lnSpc>
              <a:spcBef>
                <a:spcPts val="1045"/>
              </a:spcBef>
              <a:buFont typeface="Arial MT"/>
              <a:buChar char="•"/>
              <a:tabLst>
                <a:tab pos="464820" algn="l"/>
                <a:tab pos="1386205" algn="l"/>
                <a:tab pos="1983105" algn="l"/>
                <a:tab pos="2597785" algn="l"/>
                <a:tab pos="3604895" algn="l"/>
                <a:tab pos="3925570" algn="l"/>
                <a:tab pos="4632325" algn="l"/>
                <a:tab pos="5139055" algn="l"/>
                <a:tab pos="5899785" algn="l"/>
                <a:tab pos="6529070" algn="l"/>
                <a:tab pos="7588250" algn="l"/>
                <a:tab pos="8023225" algn="l"/>
                <a:tab pos="9159240" algn="l"/>
                <a:tab pos="10048240" algn="l"/>
              </a:tabLst>
            </a:pPr>
            <a:r>
              <a:rPr spc="-20" dirty="0"/>
              <a:t>What</a:t>
            </a:r>
            <a:r>
              <a:rPr dirty="0"/>
              <a:t>	</a:t>
            </a:r>
            <a:r>
              <a:rPr spc="-25" dirty="0"/>
              <a:t>are</a:t>
            </a:r>
            <a:r>
              <a:rPr dirty="0"/>
              <a:t>	</a:t>
            </a:r>
            <a:r>
              <a:rPr spc="-25" dirty="0"/>
              <a:t>the</a:t>
            </a:r>
            <a:r>
              <a:rPr dirty="0"/>
              <a:t>	</a:t>
            </a:r>
            <a:r>
              <a:rPr spc="-10" dirty="0"/>
              <a:t>limits,</a:t>
            </a:r>
            <a:r>
              <a:rPr dirty="0"/>
              <a:t>	</a:t>
            </a:r>
            <a:r>
              <a:rPr spc="-25" dirty="0"/>
              <a:t>if</a:t>
            </a:r>
            <a:r>
              <a:rPr dirty="0"/>
              <a:t>	</a:t>
            </a:r>
            <a:r>
              <a:rPr spc="-20" dirty="0"/>
              <a:t>any,</a:t>
            </a:r>
            <a:r>
              <a:rPr dirty="0"/>
              <a:t>	</a:t>
            </a:r>
            <a:r>
              <a:rPr spc="-25" dirty="0"/>
              <a:t>on</a:t>
            </a:r>
            <a:r>
              <a:rPr dirty="0"/>
              <a:t>	</a:t>
            </a:r>
            <a:r>
              <a:rPr spc="-25" dirty="0"/>
              <a:t>who</a:t>
            </a:r>
            <a:r>
              <a:rPr dirty="0"/>
              <a:t>	</a:t>
            </a:r>
            <a:r>
              <a:rPr spc="-25" dirty="0"/>
              <a:t>has</a:t>
            </a:r>
            <a:r>
              <a:rPr dirty="0"/>
              <a:t>	</a:t>
            </a:r>
            <a:r>
              <a:rPr spc="-10" dirty="0"/>
              <a:t>access</a:t>
            </a:r>
            <a:r>
              <a:rPr dirty="0"/>
              <a:t>	</a:t>
            </a:r>
            <a:r>
              <a:rPr spc="-25" dirty="0"/>
              <a:t>to</a:t>
            </a:r>
            <a:r>
              <a:rPr dirty="0"/>
              <a:t>	</a:t>
            </a:r>
            <a:r>
              <a:rPr spc="-10" dirty="0"/>
              <a:t>certain</a:t>
            </a:r>
            <a:r>
              <a:rPr dirty="0"/>
              <a:t>	</a:t>
            </a:r>
            <a:r>
              <a:rPr spc="-10" dirty="0"/>
              <a:t>kinds</a:t>
            </a:r>
            <a:r>
              <a:rPr dirty="0"/>
              <a:t>	</a:t>
            </a:r>
            <a:r>
              <a:rPr spc="-25" dirty="0"/>
              <a:t>of </a:t>
            </a:r>
            <a:r>
              <a:rPr spc="-10" dirty="0"/>
              <a:t>information?</a:t>
            </a:r>
          </a:p>
          <a:p>
            <a:pPr marL="464820" indent="-226695">
              <a:lnSpc>
                <a:spcPct val="100000"/>
              </a:lnSpc>
              <a:spcBef>
                <a:spcPts val="585"/>
              </a:spcBef>
              <a:buFont typeface="Arial MT"/>
              <a:buChar char="•"/>
              <a:tabLst>
                <a:tab pos="464820" algn="l"/>
              </a:tabLst>
            </a:pPr>
            <a:r>
              <a:rPr dirty="0"/>
              <a:t>When</a:t>
            </a:r>
            <a:r>
              <a:rPr spc="-25" dirty="0"/>
              <a:t> </a:t>
            </a:r>
            <a:r>
              <a:rPr dirty="0"/>
              <a:t>will</a:t>
            </a:r>
            <a:r>
              <a:rPr spc="-30" dirty="0"/>
              <a:t> </a:t>
            </a:r>
            <a:r>
              <a:rPr dirty="0"/>
              <a:t>the</a:t>
            </a:r>
            <a:r>
              <a:rPr spc="-30" dirty="0"/>
              <a:t> </a:t>
            </a:r>
            <a:r>
              <a:rPr spc="-10" dirty="0"/>
              <a:t>information</a:t>
            </a:r>
            <a:r>
              <a:rPr spc="-25" dirty="0"/>
              <a:t> </a:t>
            </a:r>
            <a:r>
              <a:rPr dirty="0"/>
              <a:t>be</a:t>
            </a:r>
            <a:r>
              <a:rPr spc="-35" dirty="0"/>
              <a:t> </a:t>
            </a:r>
            <a:r>
              <a:rPr spc="-10" dirty="0"/>
              <a:t>communicated?</a:t>
            </a:r>
          </a:p>
          <a:p>
            <a:pPr marL="464820" indent="-226695">
              <a:lnSpc>
                <a:spcPct val="100000"/>
              </a:lnSpc>
              <a:spcBef>
                <a:spcPts val="745"/>
              </a:spcBef>
              <a:buFont typeface="Arial MT"/>
              <a:buChar char="•"/>
              <a:tabLst>
                <a:tab pos="464820" algn="l"/>
              </a:tabLst>
            </a:pPr>
            <a:r>
              <a:rPr dirty="0"/>
              <a:t>How</a:t>
            </a:r>
            <a:r>
              <a:rPr spc="-20" dirty="0"/>
              <a:t> </a:t>
            </a:r>
            <a:r>
              <a:rPr dirty="0"/>
              <a:t>will</a:t>
            </a:r>
            <a:r>
              <a:rPr spc="-20" dirty="0"/>
              <a:t> </a:t>
            </a:r>
            <a:r>
              <a:rPr dirty="0"/>
              <a:t>it</a:t>
            </a:r>
            <a:r>
              <a:rPr spc="-15" dirty="0"/>
              <a:t> </a:t>
            </a:r>
            <a:r>
              <a:rPr dirty="0"/>
              <a:t>be</a:t>
            </a:r>
            <a:r>
              <a:rPr spc="-25" dirty="0"/>
              <a:t> </a:t>
            </a:r>
            <a:r>
              <a:rPr spc="-10" dirty="0"/>
              <a:t>communicated?</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43</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(2/6)</a:t>
            </a:r>
            <a:endParaRPr sz="1950" dirty="0"/>
          </a:p>
        </p:txBody>
      </p:sp>
      <p:pic>
        <p:nvPicPr>
          <p:cNvPr id="5" name="Picture 4">
            <a:extLst>
              <a:ext uri="{FF2B5EF4-FFF2-40B4-BE49-F238E27FC236}">
                <a16:creationId xmlns:a16="http://schemas.microsoft.com/office/drawing/2014/main" id="{A4C029A0-1B0E-F512-2E49-13134165F5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61404"/>
            <a:ext cx="10632440" cy="1543685"/>
          </a:xfrm>
          <a:prstGeom prst="rect">
            <a:avLst/>
          </a:prstGeom>
        </p:spPr>
        <p:txBody>
          <a:bodyPr vert="horz" wrap="square" lIns="0" tIns="46990" rIns="0" bIns="0" rtlCol="0">
            <a:spAutoFit/>
          </a:bodyPr>
          <a:lstStyle/>
          <a:p>
            <a:pPr marL="240665" indent="-227965" algn="just">
              <a:lnSpc>
                <a:spcPct val="100000"/>
              </a:lnSpc>
              <a:spcBef>
                <a:spcPts val="370"/>
              </a:spcBef>
              <a:buFont typeface="Arial MT"/>
              <a:buChar char="•"/>
              <a:tabLst>
                <a:tab pos="240665" algn="l"/>
              </a:tabLst>
            </a:pPr>
            <a:r>
              <a:rPr sz="2800" dirty="0">
                <a:latin typeface="Calibri"/>
                <a:cs typeface="Calibri"/>
              </a:rPr>
              <a:t>Developing</a:t>
            </a:r>
            <a:r>
              <a:rPr sz="2800" spc="-60" dirty="0">
                <a:latin typeface="Calibri"/>
                <a:cs typeface="Calibri"/>
              </a:rPr>
              <a:t> </a:t>
            </a:r>
            <a:r>
              <a:rPr sz="2800" dirty="0">
                <a:latin typeface="Calibri"/>
                <a:cs typeface="Calibri"/>
              </a:rPr>
              <a:t>a</a:t>
            </a:r>
            <a:r>
              <a:rPr sz="2800" spc="-60" dirty="0">
                <a:latin typeface="Calibri"/>
                <a:cs typeface="Calibri"/>
              </a:rPr>
              <a:t> </a:t>
            </a:r>
            <a:r>
              <a:rPr sz="2800" spc="-10" dirty="0">
                <a:latin typeface="Calibri"/>
                <a:cs typeface="Calibri"/>
              </a:rPr>
              <a:t>communication</a:t>
            </a:r>
            <a:r>
              <a:rPr sz="2800" spc="-55" dirty="0">
                <a:latin typeface="Calibri"/>
                <a:cs typeface="Calibri"/>
              </a:rPr>
              <a:t> </a:t>
            </a:r>
            <a:r>
              <a:rPr sz="2800" dirty="0">
                <a:latin typeface="Calibri"/>
                <a:cs typeface="Calibri"/>
              </a:rPr>
              <a:t>plan</a:t>
            </a:r>
            <a:r>
              <a:rPr sz="2800" spc="-50" dirty="0">
                <a:latin typeface="Calibri"/>
                <a:cs typeface="Calibri"/>
              </a:rPr>
              <a:t> </a:t>
            </a:r>
            <a:r>
              <a:rPr sz="2800" dirty="0">
                <a:latin typeface="Calibri"/>
                <a:cs typeface="Calibri"/>
              </a:rPr>
              <a:t>usually</a:t>
            </a:r>
            <a:r>
              <a:rPr sz="2800" spc="-60" dirty="0">
                <a:latin typeface="Calibri"/>
                <a:cs typeface="Calibri"/>
              </a:rPr>
              <a:t> </a:t>
            </a:r>
            <a:r>
              <a:rPr sz="2800" dirty="0">
                <a:latin typeface="Calibri"/>
                <a:cs typeface="Calibri"/>
              </a:rPr>
              <a:t>includes</a:t>
            </a:r>
            <a:r>
              <a:rPr sz="2800" spc="-5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following</a:t>
            </a:r>
            <a:r>
              <a:rPr sz="2800" spc="-60" dirty="0">
                <a:latin typeface="Calibri"/>
                <a:cs typeface="Calibri"/>
              </a:rPr>
              <a:t> </a:t>
            </a:r>
            <a:r>
              <a:rPr sz="2800" spc="-10" dirty="0">
                <a:latin typeface="Calibri"/>
                <a:cs typeface="Calibri"/>
              </a:rPr>
              <a:t>steps:</a:t>
            </a:r>
            <a:endParaRPr sz="2800">
              <a:latin typeface="Calibri"/>
              <a:cs typeface="Calibri"/>
            </a:endParaRPr>
          </a:p>
          <a:p>
            <a:pPr marL="690245" marR="5080" lvl="1" indent="-330200" algn="just">
              <a:lnSpc>
                <a:spcPct val="90400"/>
              </a:lnSpc>
              <a:spcBef>
                <a:spcPts val="509"/>
              </a:spcBef>
              <a:buAutoNum type="arabicPeriod"/>
              <a:tabLst>
                <a:tab pos="692150" algn="l"/>
              </a:tabLst>
            </a:pPr>
            <a:r>
              <a:rPr sz="2400" b="1" dirty="0">
                <a:solidFill>
                  <a:srgbClr val="262EA4"/>
                </a:solidFill>
                <a:latin typeface="Calibri"/>
                <a:cs typeface="Calibri"/>
              </a:rPr>
              <a:t>Stakeholder</a:t>
            </a:r>
            <a:r>
              <a:rPr sz="2400" b="1" spc="35" dirty="0">
                <a:solidFill>
                  <a:srgbClr val="262EA4"/>
                </a:solidFill>
                <a:latin typeface="Calibri"/>
                <a:cs typeface="Calibri"/>
              </a:rPr>
              <a:t>  </a:t>
            </a:r>
            <a:r>
              <a:rPr sz="2400" b="1" dirty="0">
                <a:solidFill>
                  <a:srgbClr val="262EA4"/>
                </a:solidFill>
                <a:latin typeface="Calibri"/>
                <a:cs typeface="Calibri"/>
              </a:rPr>
              <a:t>analysis:</a:t>
            </a:r>
            <a:r>
              <a:rPr sz="2400" b="1" spc="40" dirty="0">
                <a:solidFill>
                  <a:srgbClr val="262EA4"/>
                </a:solidFill>
                <a:latin typeface="Calibri"/>
                <a:cs typeface="Calibri"/>
              </a:rPr>
              <a:t>  </a:t>
            </a:r>
            <a:r>
              <a:rPr sz="2400" dirty="0">
                <a:latin typeface="Calibri"/>
                <a:cs typeface="Calibri"/>
              </a:rPr>
              <a:t>Identify</a:t>
            </a:r>
            <a:r>
              <a:rPr sz="2400" spc="4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target</a:t>
            </a:r>
            <a:r>
              <a:rPr sz="2400" spc="35" dirty="0">
                <a:latin typeface="Calibri"/>
                <a:cs typeface="Calibri"/>
              </a:rPr>
              <a:t>  </a:t>
            </a:r>
            <a:r>
              <a:rPr sz="2400" dirty="0">
                <a:latin typeface="Calibri"/>
                <a:cs typeface="Calibri"/>
              </a:rPr>
              <a:t>groups.</a:t>
            </a:r>
            <a:r>
              <a:rPr sz="2400" spc="40"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common</a:t>
            </a:r>
            <a:r>
              <a:rPr sz="2400" spc="40" dirty="0">
                <a:latin typeface="Calibri"/>
                <a:cs typeface="Calibri"/>
              </a:rPr>
              <a:t>  </a:t>
            </a:r>
            <a:r>
              <a:rPr sz="2400" dirty="0">
                <a:latin typeface="Calibri"/>
                <a:cs typeface="Calibri"/>
              </a:rPr>
              <a:t>tool</a:t>
            </a:r>
            <a:r>
              <a:rPr sz="2400" spc="35" dirty="0">
                <a:latin typeface="Calibri"/>
                <a:cs typeface="Calibri"/>
              </a:rPr>
              <a:t>  </a:t>
            </a:r>
            <a:r>
              <a:rPr sz="2400" dirty="0">
                <a:latin typeface="Calibri"/>
                <a:cs typeface="Calibri"/>
              </a:rPr>
              <a:t>found</a:t>
            </a:r>
            <a:r>
              <a:rPr sz="2400" spc="40" dirty="0">
                <a:latin typeface="Calibri"/>
                <a:cs typeface="Calibri"/>
              </a:rPr>
              <a:t>  </a:t>
            </a:r>
            <a:r>
              <a:rPr sz="2400" spc="-25" dirty="0">
                <a:latin typeface="Calibri"/>
                <a:cs typeface="Calibri"/>
              </a:rPr>
              <a:t>in 	</a:t>
            </a:r>
            <a:r>
              <a:rPr sz="2400" dirty="0">
                <a:latin typeface="Calibri"/>
                <a:cs typeface="Calibri"/>
              </a:rPr>
              <a:t>practice</a:t>
            </a:r>
            <a:r>
              <a:rPr sz="2400" spc="500" dirty="0">
                <a:latin typeface="Calibri"/>
                <a:cs typeface="Calibri"/>
              </a:rPr>
              <a:t>  </a:t>
            </a:r>
            <a:r>
              <a:rPr sz="2400" dirty="0">
                <a:latin typeface="Calibri"/>
                <a:cs typeface="Calibri"/>
              </a:rPr>
              <a:t>to</a:t>
            </a:r>
            <a:r>
              <a:rPr sz="2400" spc="500" dirty="0">
                <a:latin typeface="Calibri"/>
                <a:cs typeface="Calibri"/>
              </a:rPr>
              <a:t>  </a:t>
            </a:r>
            <a:r>
              <a:rPr sz="2400" dirty="0">
                <a:latin typeface="Calibri"/>
                <a:cs typeface="Calibri"/>
              </a:rPr>
              <a:t>initially</a:t>
            </a:r>
            <a:r>
              <a:rPr sz="2400" spc="495" dirty="0">
                <a:latin typeface="Calibri"/>
                <a:cs typeface="Calibri"/>
              </a:rPr>
              <a:t>  </a:t>
            </a:r>
            <a:r>
              <a:rPr sz="2400" dirty="0">
                <a:latin typeface="Calibri"/>
                <a:cs typeface="Calibri"/>
              </a:rPr>
              <a:t>identify</a:t>
            </a:r>
            <a:r>
              <a:rPr sz="2400" spc="500" dirty="0">
                <a:latin typeface="Calibri"/>
                <a:cs typeface="Calibri"/>
              </a:rPr>
              <a:t>  </a:t>
            </a:r>
            <a:r>
              <a:rPr sz="2400" dirty="0">
                <a:latin typeface="Calibri"/>
                <a:cs typeface="Calibri"/>
              </a:rPr>
              <a:t>and</a:t>
            </a:r>
            <a:r>
              <a:rPr sz="2400" spc="495" dirty="0">
                <a:latin typeface="Calibri"/>
                <a:cs typeface="Calibri"/>
              </a:rPr>
              <a:t>  </a:t>
            </a:r>
            <a:r>
              <a:rPr sz="2400" dirty="0">
                <a:latin typeface="Calibri"/>
                <a:cs typeface="Calibri"/>
              </a:rPr>
              <a:t>analyze</a:t>
            </a:r>
            <a:r>
              <a:rPr sz="2400" spc="505" dirty="0">
                <a:latin typeface="Calibri"/>
                <a:cs typeface="Calibri"/>
              </a:rPr>
              <a:t>  </a:t>
            </a:r>
            <a:r>
              <a:rPr sz="2400" dirty="0">
                <a:latin typeface="Calibri"/>
                <a:cs typeface="Calibri"/>
              </a:rPr>
              <a:t>major</a:t>
            </a:r>
            <a:r>
              <a:rPr sz="2400" spc="500" dirty="0">
                <a:latin typeface="Calibri"/>
                <a:cs typeface="Calibri"/>
              </a:rPr>
              <a:t>  </a:t>
            </a:r>
            <a:r>
              <a:rPr sz="2400" dirty="0">
                <a:latin typeface="Calibri"/>
                <a:cs typeface="Calibri"/>
              </a:rPr>
              <a:t>project</a:t>
            </a:r>
            <a:r>
              <a:rPr sz="2400" spc="490" dirty="0">
                <a:latin typeface="Calibri"/>
                <a:cs typeface="Calibri"/>
              </a:rPr>
              <a:t>  </a:t>
            </a:r>
            <a:r>
              <a:rPr sz="2400" spc="-10" dirty="0">
                <a:latin typeface="Calibri"/>
                <a:cs typeface="Calibri"/>
              </a:rPr>
              <a:t>stakeholders’ 	communication</a:t>
            </a:r>
            <a:r>
              <a:rPr sz="2400" spc="-45" dirty="0">
                <a:latin typeface="Calibri"/>
                <a:cs typeface="Calibri"/>
              </a:rPr>
              <a:t> </a:t>
            </a:r>
            <a:r>
              <a:rPr sz="2400" dirty="0">
                <a:latin typeface="Calibri"/>
                <a:cs typeface="Calibri"/>
              </a:rPr>
              <a:t>needs</a:t>
            </a:r>
            <a:r>
              <a:rPr sz="2400" spc="-45" dirty="0">
                <a:latin typeface="Calibri"/>
                <a:cs typeface="Calibri"/>
              </a:rPr>
              <a:t> </a:t>
            </a:r>
            <a:r>
              <a:rPr sz="2400" spc="-25" dirty="0">
                <a:latin typeface="Calibri"/>
                <a:cs typeface="Calibri"/>
              </a:rPr>
              <a:t>is:</a:t>
            </a:r>
            <a:endParaRPr sz="2400">
              <a:latin typeface="Calibri"/>
              <a:cs typeface="Calibri"/>
            </a:endParaRPr>
          </a:p>
        </p:txBody>
      </p:sp>
      <p:pic>
        <p:nvPicPr>
          <p:cNvPr id="3" name="object 3"/>
          <p:cNvPicPr/>
          <p:nvPr/>
        </p:nvPicPr>
        <p:blipFill>
          <a:blip r:embed="rId2" cstate="print"/>
          <a:stretch>
            <a:fillRect/>
          </a:stretch>
        </p:blipFill>
        <p:spPr>
          <a:xfrm>
            <a:off x="4372609" y="3366133"/>
            <a:ext cx="3790363" cy="3429912"/>
          </a:xfrm>
          <a:prstGeom prst="rect">
            <a:avLst/>
          </a:prstGeom>
        </p:spPr>
      </p:pic>
      <p:sp>
        <p:nvSpPr>
          <p:cNvPr id="4" name="object 4"/>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(3/6)</a:t>
            </a:r>
            <a:endParaRPr sz="1950" dirty="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44</a:t>
            </a:fld>
            <a:endParaRPr spc="-25" dirty="0"/>
          </a:p>
        </p:txBody>
      </p:sp>
      <p:pic>
        <p:nvPicPr>
          <p:cNvPr id="6" name="Picture 5">
            <a:extLst>
              <a:ext uri="{FF2B5EF4-FFF2-40B4-BE49-F238E27FC236}">
                <a16:creationId xmlns:a16="http://schemas.microsoft.com/office/drawing/2014/main" id="{160DB244-012C-F331-A76D-F07B85D271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36267"/>
            <a:ext cx="10357485" cy="1701800"/>
          </a:xfrm>
          <a:prstGeom prst="rect">
            <a:avLst/>
          </a:prstGeom>
        </p:spPr>
        <p:txBody>
          <a:bodyPr vert="horz" wrap="square" lIns="0" tIns="50800" rIns="0" bIns="0" rtlCol="0">
            <a:spAutoFit/>
          </a:bodyPr>
          <a:lstStyle/>
          <a:p>
            <a:pPr marL="409575" marR="5080" indent="-396875" algn="just">
              <a:lnSpc>
                <a:spcPct val="89600"/>
              </a:lnSpc>
              <a:spcBef>
                <a:spcPts val="400"/>
              </a:spcBef>
            </a:pPr>
            <a:r>
              <a:rPr sz="2400" b="1" dirty="0">
                <a:solidFill>
                  <a:srgbClr val="262EA4"/>
                </a:solidFill>
                <a:latin typeface="Calibri"/>
                <a:cs typeface="Calibri"/>
              </a:rPr>
              <a:t>2.</a:t>
            </a:r>
            <a:r>
              <a:rPr sz="2400" b="1" spc="35" dirty="0">
                <a:solidFill>
                  <a:srgbClr val="262EA4"/>
                </a:solidFill>
                <a:latin typeface="Calibri"/>
                <a:cs typeface="Calibri"/>
              </a:rPr>
              <a:t>  </a:t>
            </a:r>
            <a:r>
              <a:rPr sz="2400" b="1" dirty="0">
                <a:solidFill>
                  <a:srgbClr val="262EA4"/>
                </a:solidFill>
                <a:latin typeface="Calibri"/>
                <a:cs typeface="Calibri"/>
              </a:rPr>
              <a:t>Information</a:t>
            </a:r>
            <a:r>
              <a:rPr sz="2400" b="1" spc="390" dirty="0">
                <a:solidFill>
                  <a:srgbClr val="262EA4"/>
                </a:solidFill>
                <a:latin typeface="Calibri"/>
                <a:cs typeface="Calibri"/>
              </a:rPr>
              <a:t> </a:t>
            </a:r>
            <a:r>
              <a:rPr sz="2400" b="1" dirty="0">
                <a:solidFill>
                  <a:srgbClr val="262EA4"/>
                </a:solidFill>
                <a:latin typeface="Calibri"/>
                <a:cs typeface="Calibri"/>
              </a:rPr>
              <a:t>needs:</a:t>
            </a:r>
            <a:r>
              <a:rPr sz="2400" b="1" spc="395" dirty="0">
                <a:solidFill>
                  <a:srgbClr val="262EA4"/>
                </a:solidFill>
                <a:latin typeface="Calibri"/>
                <a:cs typeface="Calibri"/>
              </a:rPr>
              <a:t> </a:t>
            </a:r>
            <a:r>
              <a:rPr sz="2400" dirty="0">
                <a:latin typeface="Calibri"/>
                <a:cs typeface="Calibri"/>
              </a:rPr>
              <a:t>What</a:t>
            </a:r>
            <a:r>
              <a:rPr sz="2400" spc="385" dirty="0">
                <a:latin typeface="Calibri"/>
                <a:cs typeface="Calibri"/>
              </a:rPr>
              <a:t> </a:t>
            </a:r>
            <a:r>
              <a:rPr sz="2400" dirty="0">
                <a:latin typeface="Calibri"/>
                <a:cs typeface="Calibri"/>
              </a:rPr>
              <a:t>information</a:t>
            </a:r>
            <a:r>
              <a:rPr sz="2400" spc="390" dirty="0">
                <a:latin typeface="Calibri"/>
                <a:cs typeface="Calibri"/>
              </a:rPr>
              <a:t> </a:t>
            </a:r>
            <a:r>
              <a:rPr sz="2400" dirty="0">
                <a:latin typeface="Calibri"/>
                <a:cs typeface="Calibri"/>
              </a:rPr>
              <a:t>is</a:t>
            </a:r>
            <a:r>
              <a:rPr sz="2400" spc="385" dirty="0">
                <a:latin typeface="Calibri"/>
                <a:cs typeface="Calibri"/>
              </a:rPr>
              <a:t> </a:t>
            </a:r>
            <a:r>
              <a:rPr sz="2400" dirty="0">
                <a:latin typeface="Calibri"/>
                <a:cs typeface="Calibri"/>
              </a:rPr>
              <a:t>closely</a:t>
            </a:r>
            <a:r>
              <a:rPr sz="2400" spc="395" dirty="0">
                <a:latin typeface="Calibri"/>
                <a:cs typeface="Calibri"/>
              </a:rPr>
              <a:t> </a:t>
            </a:r>
            <a:r>
              <a:rPr sz="2400" dirty="0">
                <a:latin typeface="Calibri"/>
                <a:cs typeface="Calibri"/>
              </a:rPr>
              <a:t>related</a:t>
            </a:r>
            <a:r>
              <a:rPr sz="2400" spc="390" dirty="0">
                <a:latin typeface="Calibri"/>
                <a:cs typeface="Calibri"/>
              </a:rPr>
              <a:t> </a:t>
            </a:r>
            <a:r>
              <a:rPr sz="2400" dirty="0">
                <a:latin typeface="Calibri"/>
                <a:cs typeface="Calibri"/>
              </a:rPr>
              <a:t>to</a:t>
            </a:r>
            <a:r>
              <a:rPr sz="2400" spc="385" dirty="0">
                <a:latin typeface="Calibri"/>
                <a:cs typeface="Calibri"/>
              </a:rPr>
              <a:t> </a:t>
            </a:r>
            <a:r>
              <a:rPr sz="2400" dirty="0">
                <a:latin typeface="Calibri"/>
                <a:cs typeface="Calibri"/>
              </a:rPr>
              <a:t>stakeholders</a:t>
            </a:r>
            <a:r>
              <a:rPr sz="2400" spc="390" dirty="0">
                <a:latin typeface="Calibri"/>
                <a:cs typeface="Calibri"/>
              </a:rPr>
              <a:t> </a:t>
            </a:r>
            <a:r>
              <a:rPr sz="2400" spc="-25" dirty="0">
                <a:latin typeface="Calibri"/>
                <a:cs typeface="Calibri"/>
              </a:rPr>
              <a:t>who </a:t>
            </a:r>
            <a:r>
              <a:rPr sz="2400" dirty="0">
                <a:latin typeface="Calibri"/>
                <a:cs typeface="Calibri"/>
              </a:rPr>
              <a:t>contribute</a:t>
            </a:r>
            <a:r>
              <a:rPr sz="2400" spc="165" dirty="0">
                <a:latin typeface="Calibri"/>
                <a:cs typeface="Calibri"/>
              </a:rPr>
              <a:t> </a:t>
            </a:r>
            <a:r>
              <a:rPr sz="2400" dirty="0">
                <a:latin typeface="Calibri"/>
                <a:cs typeface="Calibri"/>
              </a:rPr>
              <a:t>to</a:t>
            </a:r>
            <a:r>
              <a:rPr sz="2400" spc="165" dirty="0">
                <a:latin typeface="Calibri"/>
                <a:cs typeface="Calibri"/>
              </a:rPr>
              <a:t> </a:t>
            </a:r>
            <a:r>
              <a:rPr sz="2400" dirty="0">
                <a:latin typeface="Calibri"/>
                <a:cs typeface="Calibri"/>
              </a:rPr>
              <a:t>the</a:t>
            </a:r>
            <a:r>
              <a:rPr sz="2400" spc="165" dirty="0">
                <a:latin typeface="Calibri"/>
                <a:cs typeface="Calibri"/>
              </a:rPr>
              <a:t> </a:t>
            </a:r>
            <a:r>
              <a:rPr sz="2400" dirty="0">
                <a:latin typeface="Calibri"/>
                <a:cs typeface="Calibri"/>
              </a:rPr>
              <a:t>project’s</a:t>
            </a:r>
            <a:r>
              <a:rPr sz="2400" spc="155" dirty="0">
                <a:latin typeface="Calibri"/>
                <a:cs typeface="Calibri"/>
              </a:rPr>
              <a:t> </a:t>
            </a:r>
            <a:r>
              <a:rPr sz="2400" dirty="0">
                <a:latin typeface="Calibri"/>
                <a:cs typeface="Calibri"/>
              </a:rPr>
              <a:t>progress?</a:t>
            </a:r>
            <a:r>
              <a:rPr sz="2400" spc="155" dirty="0">
                <a:latin typeface="Calibri"/>
                <a:cs typeface="Calibri"/>
              </a:rPr>
              <a:t> </a:t>
            </a:r>
            <a:r>
              <a:rPr sz="2400" dirty="0">
                <a:latin typeface="Calibri"/>
                <a:cs typeface="Calibri"/>
              </a:rPr>
              <a:t>The</a:t>
            </a:r>
            <a:r>
              <a:rPr sz="2400" spc="165" dirty="0">
                <a:latin typeface="Calibri"/>
                <a:cs typeface="Calibri"/>
              </a:rPr>
              <a:t> </a:t>
            </a:r>
            <a:r>
              <a:rPr sz="2400" dirty="0">
                <a:latin typeface="Calibri"/>
                <a:cs typeface="Calibri"/>
              </a:rPr>
              <a:t>simplest</a:t>
            </a:r>
            <a:r>
              <a:rPr sz="2400" spc="155" dirty="0">
                <a:latin typeface="Calibri"/>
                <a:cs typeface="Calibri"/>
              </a:rPr>
              <a:t> </a:t>
            </a:r>
            <a:r>
              <a:rPr sz="2400" dirty="0">
                <a:latin typeface="Calibri"/>
                <a:cs typeface="Calibri"/>
              </a:rPr>
              <a:t>answer</a:t>
            </a:r>
            <a:r>
              <a:rPr sz="2400" spc="160" dirty="0">
                <a:latin typeface="Calibri"/>
                <a:cs typeface="Calibri"/>
              </a:rPr>
              <a:t> </a:t>
            </a:r>
            <a:r>
              <a:rPr sz="2400" dirty="0">
                <a:latin typeface="Calibri"/>
                <a:cs typeface="Calibri"/>
              </a:rPr>
              <a:t>to</a:t>
            </a:r>
            <a:r>
              <a:rPr sz="2400" spc="160" dirty="0">
                <a:latin typeface="Calibri"/>
                <a:cs typeface="Calibri"/>
              </a:rPr>
              <a:t> </a:t>
            </a:r>
            <a:r>
              <a:rPr sz="2400" dirty="0">
                <a:latin typeface="Calibri"/>
                <a:cs typeface="Calibri"/>
              </a:rPr>
              <a:t>this</a:t>
            </a:r>
            <a:r>
              <a:rPr sz="2400" spc="165" dirty="0">
                <a:latin typeface="Calibri"/>
                <a:cs typeface="Calibri"/>
              </a:rPr>
              <a:t> </a:t>
            </a:r>
            <a:r>
              <a:rPr sz="2400" dirty="0">
                <a:latin typeface="Calibri"/>
                <a:cs typeface="Calibri"/>
              </a:rPr>
              <a:t>question</a:t>
            </a:r>
            <a:r>
              <a:rPr sz="2400" spc="160" dirty="0">
                <a:latin typeface="Calibri"/>
                <a:cs typeface="Calibri"/>
              </a:rPr>
              <a:t> </a:t>
            </a:r>
            <a:r>
              <a:rPr sz="2400" spc="-25" dirty="0">
                <a:latin typeface="Calibri"/>
                <a:cs typeface="Calibri"/>
              </a:rPr>
              <a:t>can </a:t>
            </a:r>
            <a:r>
              <a:rPr sz="2400" dirty="0">
                <a:latin typeface="Calibri"/>
                <a:cs typeface="Calibri"/>
              </a:rPr>
              <a:t>be</a:t>
            </a:r>
            <a:r>
              <a:rPr sz="2400" spc="365" dirty="0">
                <a:latin typeface="Calibri"/>
                <a:cs typeface="Calibri"/>
              </a:rPr>
              <a:t> </a:t>
            </a:r>
            <a:r>
              <a:rPr sz="2400" dirty="0">
                <a:latin typeface="Calibri"/>
                <a:cs typeface="Calibri"/>
              </a:rPr>
              <a:t>obtained</a:t>
            </a:r>
            <a:r>
              <a:rPr sz="2400" spc="360" dirty="0">
                <a:latin typeface="Calibri"/>
                <a:cs typeface="Calibri"/>
              </a:rPr>
              <a:t> </a:t>
            </a:r>
            <a:r>
              <a:rPr sz="2400" dirty="0">
                <a:latin typeface="Calibri"/>
                <a:cs typeface="Calibri"/>
              </a:rPr>
              <a:t>by</a:t>
            </a:r>
            <a:r>
              <a:rPr sz="2400" spc="360" dirty="0">
                <a:latin typeface="Calibri"/>
                <a:cs typeface="Calibri"/>
              </a:rPr>
              <a:t> </a:t>
            </a:r>
            <a:r>
              <a:rPr sz="2400" dirty="0">
                <a:latin typeface="Calibri"/>
                <a:cs typeface="Calibri"/>
              </a:rPr>
              <a:t>asking</a:t>
            </a:r>
            <a:r>
              <a:rPr sz="2400" spc="355" dirty="0">
                <a:latin typeface="Calibri"/>
                <a:cs typeface="Calibri"/>
              </a:rPr>
              <a:t> </a:t>
            </a:r>
            <a:r>
              <a:rPr sz="2400" dirty="0">
                <a:latin typeface="Calibri"/>
                <a:cs typeface="Calibri"/>
              </a:rPr>
              <a:t>the</a:t>
            </a:r>
            <a:r>
              <a:rPr sz="2400" spc="365" dirty="0">
                <a:latin typeface="Calibri"/>
                <a:cs typeface="Calibri"/>
              </a:rPr>
              <a:t> </a:t>
            </a:r>
            <a:r>
              <a:rPr sz="2400" dirty="0">
                <a:latin typeface="Calibri"/>
                <a:cs typeface="Calibri"/>
              </a:rPr>
              <a:t>different</a:t>
            </a:r>
            <a:r>
              <a:rPr sz="2400" spc="360" dirty="0">
                <a:latin typeface="Calibri"/>
                <a:cs typeface="Calibri"/>
              </a:rPr>
              <a:t> </a:t>
            </a:r>
            <a:r>
              <a:rPr sz="2400" dirty="0">
                <a:latin typeface="Calibri"/>
                <a:cs typeface="Calibri"/>
              </a:rPr>
              <a:t>people</a:t>
            </a:r>
            <a:r>
              <a:rPr sz="2400" spc="365" dirty="0">
                <a:latin typeface="Calibri"/>
                <a:cs typeface="Calibri"/>
              </a:rPr>
              <a:t> </a:t>
            </a:r>
            <a:r>
              <a:rPr sz="2400" dirty="0">
                <a:latin typeface="Calibri"/>
                <a:cs typeface="Calibri"/>
              </a:rPr>
              <a:t>what</a:t>
            </a:r>
            <a:r>
              <a:rPr sz="2400" spc="355" dirty="0">
                <a:latin typeface="Calibri"/>
                <a:cs typeface="Calibri"/>
              </a:rPr>
              <a:t> </a:t>
            </a:r>
            <a:r>
              <a:rPr sz="2400" dirty="0">
                <a:latin typeface="Calibri"/>
                <a:cs typeface="Calibri"/>
              </a:rPr>
              <a:t>information</a:t>
            </a:r>
            <a:r>
              <a:rPr sz="2400" spc="365" dirty="0">
                <a:latin typeface="Calibri"/>
                <a:cs typeface="Calibri"/>
              </a:rPr>
              <a:t> </a:t>
            </a:r>
            <a:r>
              <a:rPr sz="2400" dirty="0">
                <a:latin typeface="Calibri"/>
                <a:cs typeface="Calibri"/>
              </a:rPr>
              <a:t>they</a:t>
            </a:r>
            <a:r>
              <a:rPr sz="2400" spc="365" dirty="0">
                <a:latin typeface="Calibri"/>
                <a:cs typeface="Calibri"/>
              </a:rPr>
              <a:t> </a:t>
            </a:r>
            <a:r>
              <a:rPr sz="2400" dirty="0">
                <a:latin typeface="Calibri"/>
                <a:cs typeface="Calibri"/>
              </a:rPr>
              <a:t>need</a:t>
            </a:r>
            <a:r>
              <a:rPr sz="2400" spc="360" dirty="0">
                <a:latin typeface="Calibri"/>
                <a:cs typeface="Calibri"/>
              </a:rPr>
              <a:t> </a:t>
            </a:r>
            <a:r>
              <a:rPr sz="2400" spc="-25" dirty="0">
                <a:latin typeface="Calibri"/>
                <a:cs typeface="Calibri"/>
              </a:rPr>
              <a:t>and </a:t>
            </a:r>
            <a:r>
              <a:rPr sz="2400" dirty="0">
                <a:latin typeface="Calibri"/>
                <a:cs typeface="Calibri"/>
              </a:rPr>
              <a:t>when</a:t>
            </a:r>
            <a:r>
              <a:rPr sz="2400" spc="130" dirty="0">
                <a:latin typeface="Calibri"/>
                <a:cs typeface="Calibri"/>
              </a:rPr>
              <a:t> </a:t>
            </a:r>
            <a:r>
              <a:rPr sz="2400" dirty="0">
                <a:latin typeface="Calibri"/>
                <a:cs typeface="Calibri"/>
              </a:rPr>
              <a:t>they</a:t>
            </a:r>
            <a:r>
              <a:rPr sz="2400" spc="130" dirty="0">
                <a:latin typeface="Calibri"/>
                <a:cs typeface="Calibri"/>
              </a:rPr>
              <a:t> </a:t>
            </a:r>
            <a:r>
              <a:rPr sz="2400" dirty="0">
                <a:latin typeface="Calibri"/>
                <a:cs typeface="Calibri"/>
              </a:rPr>
              <a:t>need</a:t>
            </a:r>
            <a:r>
              <a:rPr sz="2400" spc="135" dirty="0">
                <a:latin typeface="Calibri"/>
                <a:cs typeface="Calibri"/>
              </a:rPr>
              <a:t> </a:t>
            </a:r>
            <a:r>
              <a:rPr sz="2400" dirty="0">
                <a:latin typeface="Calibri"/>
                <a:cs typeface="Calibri"/>
              </a:rPr>
              <a:t>it.</a:t>
            </a:r>
            <a:r>
              <a:rPr sz="2400" spc="120" dirty="0">
                <a:latin typeface="Calibri"/>
                <a:cs typeface="Calibri"/>
              </a:rPr>
              <a:t> </a:t>
            </a:r>
            <a:r>
              <a:rPr sz="2400" dirty="0">
                <a:latin typeface="Calibri"/>
                <a:cs typeface="Calibri"/>
              </a:rPr>
              <a:t>Frequent</a:t>
            </a:r>
            <a:r>
              <a:rPr sz="2400" spc="125" dirty="0">
                <a:latin typeface="Calibri"/>
                <a:cs typeface="Calibri"/>
              </a:rPr>
              <a:t> </a:t>
            </a:r>
            <a:r>
              <a:rPr sz="2400" dirty="0">
                <a:latin typeface="Calibri"/>
                <a:cs typeface="Calibri"/>
              </a:rPr>
              <a:t>information</a:t>
            </a:r>
            <a:r>
              <a:rPr sz="2400" spc="130" dirty="0">
                <a:latin typeface="Calibri"/>
                <a:cs typeface="Calibri"/>
              </a:rPr>
              <a:t> </a:t>
            </a:r>
            <a:r>
              <a:rPr sz="2400" dirty="0">
                <a:latin typeface="Calibri"/>
                <a:cs typeface="Calibri"/>
              </a:rPr>
              <a:t>needs</a:t>
            </a:r>
            <a:r>
              <a:rPr sz="2400" spc="125" dirty="0">
                <a:latin typeface="Calibri"/>
                <a:cs typeface="Calibri"/>
              </a:rPr>
              <a:t> </a:t>
            </a:r>
            <a:r>
              <a:rPr sz="2400" dirty="0">
                <a:latin typeface="Calibri"/>
                <a:cs typeface="Calibri"/>
              </a:rPr>
              <a:t>found</a:t>
            </a:r>
            <a:r>
              <a:rPr sz="2400" spc="135" dirty="0">
                <a:latin typeface="Calibri"/>
                <a:cs typeface="Calibri"/>
              </a:rPr>
              <a:t> </a:t>
            </a:r>
            <a:r>
              <a:rPr sz="2400" dirty="0">
                <a:latin typeface="Calibri"/>
                <a:cs typeface="Calibri"/>
              </a:rPr>
              <a:t>in</a:t>
            </a:r>
            <a:r>
              <a:rPr sz="2400" spc="130" dirty="0">
                <a:latin typeface="Calibri"/>
                <a:cs typeface="Calibri"/>
              </a:rPr>
              <a:t> </a:t>
            </a:r>
            <a:r>
              <a:rPr sz="2400" dirty="0">
                <a:latin typeface="Calibri"/>
                <a:cs typeface="Calibri"/>
              </a:rPr>
              <a:t>communication</a:t>
            </a:r>
            <a:r>
              <a:rPr sz="2400" spc="130" dirty="0">
                <a:latin typeface="Calibri"/>
                <a:cs typeface="Calibri"/>
              </a:rPr>
              <a:t> </a:t>
            </a:r>
            <a:r>
              <a:rPr sz="2400" spc="-10" dirty="0">
                <a:latin typeface="Calibri"/>
                <a:cs typeface="Calibri"/>
              </a:rPr>
              <a:t>plans </a:t>
            </a:r>
            <a:r>
              <a:rPr sz="2400" spc="-20" dirty="0">
                <a:latin typeface="Calibri"/>
                <a:cs typeface="Calibri"/>
              </a:rPr>
              <a:t>are:</a:t>
            </a:r>
            <a:endParaRPr sz="2400">
              <a:latin typeface="Calibri"/>
              <a:cs typeface="Calibri"/>
            </a:endParaRPr>
          </a:p>
        </p:txBody>
      </p:sp>
      <p:sp>
        <p:nvSpPr>
          <p:cNvPr id="3" name="object 3"/>
          <p:cNvSpPr txBox="1"/>
          <p:nvPr/>
        </p:nvSpPr>
        <p:spPr>
          <a:xfrm>
            <a:off x="916939" y="4888483"/>
            <a:ext cx="10358120" cy="1699260"/>
          </a:xfrm>
          <a:prstGeom prst="rect">
            <a:avLst/>
          </a:prstGeom>
        </p:spPr>
        <p:txBody>
          <a:bodyPr vert="horz" wrap="square" lIns="0" tIns="51435" rIns="0" bIns="0" rtlCol="0">
            <a:spAutoFit/>
          </a:bodyPr>
          <a:lstStyle/>
          <a:p>
            <a:pPr marL="469900" marR="5080" indent="-457200" algn="just">
              <a:lnSpc>
                <a:spcPct val="89400"/>
              </a:lnSpc>
              <a:spcBef>
                <a:spcPts val="405"/>
              </a:spcBef>
            </a:pPr>
            <a:r>
              <a:rPr sz="2400" b="1" dirty="0">
                <a:solidFill>
                  <a:srgbClr val="262EA4"/>
                </a:solidFill>
                <a:latin typeface="Calibri"/>
                <a:cs typeface="Calibri"/>
              </a:rPr>
              <a:t>3.</a:t>
            </a:r>
            <a:r>
              <a:rPr sz="2400" b="1" spc="260" dirty="0">
                <a:solidFill>
                  <a:srgbClr val="262EA4"/>
                </a:solidFill>
                <a:latin typeface="Calibri"/>
                <a:cs typeface="Calibri"/>
              </a:rPr>
              <a:t>  </a:t>
            </a:r>
            <a:r>
              <a:rPr sz="2400" b="1" dirty="0">
                <a:solidFill>
                  <a:srgbClr val="262EA4"/>
                </a:solidFill>
                <a:latin typeface="Calibri"/>
                <a:cs typeface="Calibri"/>
              </a:rPr>
              <a:t>Sources</a:t>
            </a:r>
            <a:r>
              <a:rPr sz="2400" b="1" spc="229" dirty="0">
                <a:solidFill>
                  <a:srgbClr val="262EA4"/>
                </a:solidFill>
                <a:latin typeface="Calibri"/>
                <a:cs typeface="Calibri"/>
              </a:rPr>
              <a:t> </a:t>
            </a:r>
            <a:r>
              <a:rPr sz="2400" b="1" dirty="0">
                <a:solidFill>
                  <a:srgbClr val="262EA4"/>
                </a:solidFill>
                <a:latin typeface="Calibri"/>
                <a:cs typeface="Calibri"/>
              </a:rPr>
              <a:t>of</a:t>
            </a:r>
            <a:r>
              <a:rPr sz="2400" b="1" spc="225" dirty="0">
                <a:solidFill>
                  <a:srgbClr val="262EA4"/>
                </a:solidFill>
                <a:latin typeface="Calibri"/>
                <a:cs typeface="Calibri"/>
              </a:rPr>
              <a:t> </a:t>
            </a:r>
            <a:r>
              <a:rPr sz="2400" b="1" dirty="0">
                <a:solidFill>
                  <a:srgbClr val="262EA4"/>
                </a:solidFill>
                <a:latin typeface="Calibri"/>
                <a:cs typeface="Calibri"/>
              </a:rPr>
              <a:t>information:</a:t>
            </a:r>
            <a:r>
              <a:rPr sz="2400" b="1" spc="225" dirty="0">
                <a:solidFill>
                  <a:srgbClr val="262EA4"/>
                </a:solidFill>
                <a:latin typeface="Calibri"/>
                <a:cs typeface="Calibri"/>
              </a:rPr>
              <a:t> </a:t>
            </a:r>
            <a:r>
              <a:rPr sz="2400" dirty="0">
                <a:latin typeface="Calibri"/>
                <a:cs typeface="Calibri"/>
              </a:rPr>
              <a:t>When</a:t>
            </a:r>
            <a:r>
              <a:rPr sz="2400" spc="220" dirty="0">
                <a:latin typeface="Calibri"/>
                <a:cs typeface="Calibri"/>
              </a:rPr>
              <a:t> </a:t>
            </a:r>
            <a:r>
              <a:rPr sz="2400" dirty="0">
                <a:latin typeface="Calibri"/>
                <a:cs typeface="Calibri"/>
              </a:rPr>
              <a:t>the</a:t>
            </a:r>
            <a:r>
              <a:rPr sz="2400" spc="229" dirty="0">
                <a:latin typeface="Calibri"/>
                <a:cs typeface="Calibri"/>
              </a:rPr>
              <a:t> </a:t>
            </a:r>
            <a:r>
              <a:rPr sz="2400" dirty="0">
                <a:latin typeface="Calibri"/>
                <a:cs typeface="Calibri"/>
              </a:rPr>
              <a:t>information</a:t>
            </a:r>
            <a:r>
              <a:rPr sz="2400" spc="225" dirty="0">
                <a:latin typeface="Calibri"/>
                <a:cs typeface="Calibri"/>
              </a:rPr>
              <a:t> </a:t>
            </a:r>
            <a:r>
              <a:rPr sz="2400" dirty="0">
                <a:latin typeface="Calibri"/>
                <a:cs typeface="Calibri"/>
              </a:rPr>
              <a:t>needs</a:t>
            </a:r>
            <a:r>
              <a:rPr sz="2400" spc="215" dirty="0">
                <a:latin typeface="Calibri"/>
                <a:cs typeface="Calibri"/>
              </a:rPr>
              <a:t> </a:t>
            </a:r>
            <a:r>
              <a:rPr sz="2400" dirty="0">
                <a:latin typeface="Calibri"/>
                <a:cs typeface="Calibri"/>
              </a:rPr>
              <a:t>are</a:t>
            </a:r>
            <a:r>
              <a:rPr sz="2400" spc="229" dirty="0">
                <a:latin typeface="Calibri"/>
                <a:cs typeface="Calibri"/>
              </a:rPr>
              <a:t> </a:t>
            </a:r>
            <a:r>
              <a:rPr sz="2400" dirty="0">
                <a:latin typeface="Calibri"/>
                <a:cs typeface="Calibri"/>
              </a:rPr>
              <a:t>identified,</a:t>
            </a:r>
            <a:r>
              <a:rPr sz="2400" spc="215" dirty="0">
                <a:latin typeface="Calibri"/>
                <a:cs typeface="Calibri"/>
              </a:rPr>
              <a:t> </a:t>
            </a:r>
            <a:r>
              <a:rPr sz="2400" dirty="0">
                <a:latin typeface="Calibri"/>
                <a:cs typeface="Calibri"/>
              </a:rPr>
              <a:t>the</a:t>
            </a:r>
            <a:r>
              <a:rPr sz="2400" spc="229" dirty="0">
                <a:latin typeface="Calibri"/>
                <a:cs typeface="Calibri"/>
              </a:rPr>
              <a:t> </a:t>
            </a:r>
            <a:r>
              <a:rPr sz="2400" spc="-20" dirty="0">
                <a:latin typeface="Calibri"/>
                <a:cs typeface="Calibri"/>
              </a:rPr>
              <a:t>next </a:t>
            </a:r>
            <a:r>
              <a:rPr sz="2400" dirty="0">
                <a:latin typeface="Calibri"/>
                <a:cs typeface="Calibri"/>
              </a:rPr>
              <a:t>step</a:t>
            </a:r>
            <a:r>
              <a:rPr sz="2400" spc="30" dirty="0">
                <a:latin typeface="Calibri"/>
                <a:cs typeface="Calibri"/>
              </a:rPr>
              <a:t>  </a:t>
            </a:r>
            <a:r>
              <a:rPr sz="2400" dirty="0">
                <a:latin typeface="Calibri"/>
                <a:cs typeface="Calibri"/>
              </a:rPr>
              <a:t>is</a:t>
            </a:r>
            <a:r>
              <a:rPr sz="2400" spc="35" dirty="0">
                <a:latin typeface="Calibri"/>
                <a:cs typeface="Calibri"/>
              </a:rPr>
              <a:t>  </a:t>
            </a:r>
            <a:r>
              <a:rPr sz="2400" dirty="0">
                <a:latin typeface="Calibri"/>
                <a:cs typeface="Calibri"/>
              </a:rPr>
              <a:t>to</a:t>
            </a:r>
            <a:r>
              <a:rPr sz="2400" spc="35" dirty="0">
                <a:latin typeface="Calibri"/>
                <a:cs typeface="Calibri"/>
              </a:rPr>
              <a:t>  </a:t>
            </a:r>
            <a:r>
              <a:rPr sz="2400" dirty="0">
                <a:latin typeface="Calibri"/>
                <a:cs typeface="Calibri"/>
              </a:rPr>
              <a:t>determine</a:t>
            </a:r>
            <a:r>
              <a:rPr sz="2400" spc="35"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sources</a:t>
            </a:r>
            <a:r>
              <a:rPr sz="2400" spc="4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information.</a:t>
            </a:r>
            <a:r>
              <a:rPr sz="2400" spc="30" dirty="0">
                <a:latin typeface="Calibri"/>
                <a:cs typeface="Calibri"/>
              </a:rPr>
              <a:t>  </a:t>
            </a:r>
            <a:r>
              <a:rPr sz="2400" dirty="0">
                <a:latin typeface="Calibri"/>
                <a:cs typeface="Calibri"/>
              </a:rPr>
              <a:t>That</a:t>
            </a:r>
            <a:r>
              <a:rPr sz="2400" spc="35" dirty="0">
                <a:latin typeface="Calibri"/>
                <a:cs typeface="Calibri"/>
              </a:rPr>
              <a:t>  </a:t>
            </a:r>
            <a:r>
              <a:rPr sz="2400" dirty="0">
                <a:latin typeface="Calibri"/>
                <a:cs typeface="Calibri"/>
              </a:rPr>
              <a:t>is,</a:t>
            </a:r>
            <a:r>
              <a:rPr sz="2400" spc="35" dirty="0">
                <a:latin typeface="Calibri"/>
                <a:cs typeface="Calibri"/>
              </a:rPr>
              <a:t>  </a:t>
            </a:r>
            <a:r>
              <a:rPr sz="2400" dirty="0">
                <a:latin typeface="Calibri"/>
                <a:cs typeface="Calibri"/>
              </a:rPr>
              <a:t>where</a:t>
            </a:r>
            <a:r>
              <a:rPr sz="2400" spc="35" dirty="0">
                <a:latin typeface="Calibri"/>
                <a:cs typeface="Calibri"/>
              </a:rPr>
              <a:t>  </a:t>
            </a:r>
            <a:r>
              <a:rPr sz="2400" dirty="0">
                <a:latin typeface="Calibri"/>
                <a:cs typeface="Calibri"/>
              </a:rPr>
              <a:t>does</a:t>
            </a:r>
            <a:r>
              <a:rPr sz="2400" spc="35" dirty="0">
                <a:latin typeface="Calibri"/>
                <a:cs typeface="Calibri"/>
              </a:rPr>
              <a:t>  </a:t>
            </a:r>
            <a:r>
              <a:rPr sz="2400" spc="-25" dirty="0">
                <a:latin typeface="Calibri"/>
                <a:cs typeface="Calibri"/>
              </a:rPr>
              <a:t>the </a:t>
            </a:r>
            <a:r>
              <a:rPr sz="2400" dirty="0">
                <a:latin typeface="Calibri"/>
                <a:cs typeface="Calibri"/>
              </a:rPr>
              <a:t>information</a:t>
            </a:r>
            <a:r>
              <a:rPr sz="2400" spc="40" dirty="0">
                <a:latin typeface="Calibri"/>
                <a:cs typeface="Calibri"/>
              </a:rPr>
              <a:t> </a:t>
            </a:r>
            <a:r>
              <a:rPr sz="2400" dirty="0">
                <a:latin typeface="Calibri"/>
                <a:cs typeface="Calibri"/>
              </a:rPr>
              <a:t>reside?</a:t>
            </a:r>
            <a:r>
              <a:rPr sz="2400" spc="45" dirty="0">
                <a:latin typeface="Calibri"/>
                <a:cs typeface="Calibri"/>
              </a:rPr>
              <a:t> </a:t>
            </a:r>
            <a:r>
              <a:rPr sz="2400" dirty="0">
                <a:latin typeface="Calibri"/>
                <a:cs typeface="Calibri"/>
              </a:rPr>
              <a:t>How</a:t>
            </a:r>
            <a:r>
              <a:rPr sz="2400" spc="45" dirty="0">
                <a:latin typeface="Calibri"/>
                <a:cs typeface="Calibri"/>
              </a:rPr>
              <a:t> </a:t>
            </a:r>
            <a:r>
              <a:rPr sz="2400" dirty="0">
                <a:latin typeface="Calibri"/>
                <a:cs typeface="Calibri"/>
              </a:rPr>
              <a:t>will</a:t>
            </a:r>
            <a:r>
              <a:rPr sz="2400" spc="45" dirty="0">
                <a:latin typeface="Calibri"/>
                <a:cs typeface="Calibri"/>
              </a:rPr>
              <a:t> </a:t>
            </a:r>
            <a:r>
              <a:rPr sz="2400" dirty="0">
                <a:latin typeface="Calibri"/>
                <a:cs typeface="Calibri"/>
              </a:rPr>
              <a:t>it</a:t>
            </a:r>
            <a:r>
              <a:rPr sz="2400" spc="40" dirty="0">
                <a:latin typeface="Calibri"/>
                <a:cs typeface="Calibri"/>
              </a:rPr>
              <a:t> </a:t>
            </a:r>
            <a:r>
              <a:rPr sz="2400" dirty="0">
                <a:latin typeface="Calibri"/>
                <a:cs typeface="Calibri"/>
              </a:rPr>
              <a:t>be</a:t>
            </a:r>
            <a:r>
              <a:rPr sz="2400" spc="50" dirty="0">
                <a:latin typeface="Calibri"/>
                <a:cs typeface="Calibri"/>
              </a:rPr>
              <a:t> </a:t>
            </a:r>
            <a:r>
              <a:rPr sz="2400" dirty="0">
                <a:latin typeface="Calibri"/>
                <a:cs typeface="Calibri"/>
              </a:rPr>
              <a:t>collected?</a:t>
            </a:r>
            <a:r>
              <a:rPr sz="2400" spc="40" dirty="0">
                <a:latin typeface="Calibri"/>
                <a:cs typeface="Calibri"/>
              </a:rPr>
              <a:t> </a:t>
            </a:r>
            <a:r>
              <a:rPr sz="2400" dirty="0">
                <a:latin typeface="Calibri"/>
                <a:cs typeface="Calibri"/>
              </a:rPr>
              <a:t>For</a:t>
            </a:r>
            <a:r>
              <a:rPr sz="2400" spc="45" dirty="0">
                <a:latin typeface="Calibri"/>
                <a:cs typeface="Calibri"/>
              </a:rPr>
              <a:t> </a:t>
            </a:r>
            <a:r>
              <a:rPr sz="2400" dirty="0">
                <a:latin typeface="Calibri"/>
                <a:cs typeface="Calibri"/>
              </a:rPr>
              <a:t>example,</a:t>
            </a:r>
            <a:r>
              <a:rPr sz="2400" spc="45" dirty="0">
                <a:latin typeface="Calibri"/>
                <a:cs typeface="Calibri"/>
              </a:rPr>
              <a:t> </a:t>
            </a:r>
            <a:r>
              <a:rPr sz="2400" dirty="0">
                <a:latin typeface="Calibri"/>
                <a:cs typeface="Calibri"/>
              </a:rPr>
              <a:t>information</a:t>
            </a:r>
            <a:r>
              <a:rPr sz="2400" spc="50" dirty="0">
                <a:latin typeface="Calibri"/>
                <a:cs typeface="Calibri"/>
              </a:rPr>
              <a:t> </a:t>
            </a:r>
            <a:r>
              <a:rPr sz="2400" spc="-10" dirty="0">
                <a:latin typeface="Calibri"/>
                <a:cs typeface="Calibri"/>
              </a:rPr>
              <a:t>relating </a:t>
            </a:r>
            <a:r>
              <a:rPr sz="2400" dirty="0">
                <a:latin typeface="Calibri"/>
                <a:cs typeface="Calibri"/>
              </a:rPr>
              <a:t>to</a:t>
            </a:r>
            <a:r>
              <a:rPr sz="2400" spc="65" dirty="0">
                <a:latin typeface="Calibri"/>
                <a:cs typeface="Calibri"/>
              </a:rPr>
              <a:t> </a:t>
            </a:r>
            <a:r>
              <a:rPr sz="2400" dirty="0">
                <a:latin typeface="Calibri"/>
                <a:cs typeface="Calibri"/>
              </a:rPr>
              <a:t>the</a:t>
            </a:r>
            <a:r>
              <a:rPr sz="2400" spc="75" dirty="0">
                <a:latin typeface="Calibri"/>
                <a:cs typeface="Calibri"/>
              </a:rPr>
              <a:t> </a:t>
            </a:r>
            <a:r>
              <a:rPr sz="2400" dirty="0">
                <a:latin typeface="Calibri"/>
                <a:cs typeface="Calibri"/>
              </a:rPr>
              <a:t>milestone</a:t>
            </a:r>
            <a:r>
              <a:rPr sz="2400" spc="85" dirty="0">
                <a:latin typeface="Calibri"/>
                <a:cs typeface="Calibri"/>
              </a:rPr>
              <a:t> </a:t>
            </a:r>
            <a:r>
              <a:rPr sz="2400" dirty="0">
                <a:latin typeface="Calibri"/>
                <a:cs typeface="Calibri"/>
              </a:rPr>
              <a:t>report,</a:t>
            </a:r>
            <a:r>
              <a:rPr sz="2400" spc="70" dirty="0">
                <a:latin typeface="Calibri"/>
                <a:cs typeface="Calibri"/>
              </a:rPr>
              <a:t> </a:t>
            </a:r>
            <a:r>
              <a:rPr sz="2400" dirty="0">
                <a:latin typeface="Calibri"/>
                <a:cs typeface="Calibri"/>
              </a:rPr>
              <a:t>team</a:t>
            </a:r>
            <a:r>
              <a:rPr sz="2400" spc="65" dirty="0">
                <a:latin typeface="Calibri"/>
                <a:cs typeface="Calibri"/>
              </a:rPr>
              <a:t> </a:t>
            </a:r>
            <a:r>
              <a:rPr sz="2400" dirty="0">
                <a:latin typeface="Calibri"/>
                <a:cs typeface="Calibri"/>
              </a:rPr>
              <a:t>meetings,</a:t>
            </a:r>
            <a:r>
              <a:rPr sz="2400" spc="75" dirty="0">
                <a:latin typeface="Calibri"/>
                <a:cs typeface="Calibri"/>
              </a:rPr>
              <a:t> </a:t>
            </a:r>
            <a:r>
              <a:rPr sz="2400" dirty="0">
                <a:latin typeface="Calibri"/>
                <a:cs typeface="Calibri"/>
              </a:rPr>
              <a:t>and</a:t>
            </a:r>
            <a:r>
              <a:rPr sz="2400" spc="70"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status</a:t>
            </a:r>
            <a:r>
              <a:rPr sz="2400" spc="65" dirty="0">
                <a:latin typeface="Calibri"/>
                <a:cs typeface="Calibri"/>
              </a:rPr>
              <a:t> </a:t>
            </a:r>
            <a:r>
              <a:rPr sz="2400" dirty="0">
                <a:latin typeface="Calibri"/>
                <a:cs typeface="Calibri"/>
              </a:rPr>
              <a:t>meetings</a:t>
            </a:r>
            <a:r>
              <a:rPr sz="2400" spc="75" dirty="0">
                <a:latin typeface="Calibri"/>
                <a:cs typeface="Calibri"/>
              </a:rPr>
              <a:t> </a:t>
            </a:r>
            <a:r>
              <a:rPr sz="2400" dirty="0">
                <a:latin typeface="Calibri"/>
                <a:cs typeface="Calibri"/>
              </a:rPr>
              <a:t>would</a:t>
            </a:r>
            <a:r>
              <a:rPr sz="2400" spc="70" dirty="0">
                <a:latin typeface="Calibri"/>
                <a:cs typeface="Calibri"/>
              </a:rPr>
              <a:t> </a:t>
            </a:r>
            <a:r>
              <a:rPr sz="2400" spc="-25" dirty="0">
                <a:latin typeface="Calibri"/>
                <a:cs typeface="Calibri"/>
              </a:rPr>
              <a:t>be </a:t>
            </a:r>
            <a:r>
              <a:rPr sz="2400" dirty="0">
                <a:latin typeface="Calibri"/>
                <a:cs typeface="Calibri"/>
              </a:rPr>
              <a:t>found</a:t>
            </a:r>
            <a:r>
              <a:rPr sz="2400" spc="-75" dirty="0">
                <a:latin typeface="Calibri"/>
                <a:cs typeface="Calibri"/>
              </a:rPr>
              <a:t> </a:t>
            </a:r>
            <a:r>
              <a:rPr sz="2400" dirty="0">
                <a:latin typeface="Calibri"/>
                <a:cs typeface="Calibri"/>
              </a:rPr>
              <a:t>in</a:t>
            </a:r>
            <a:r>
              <a:rPr sz="2400" spc="-60"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minutes</a:t>
            </a:r>
            <a:r>
              <a:rPr sz="2400" spc="-60"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reports</a:t>
            </a:r>
            <a:r>
              <a:rPr sz="2400" spc="-7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various</a:t>
            </a:r>
            <a:r>
              <a:rPr sz="2400" spc="-60" dirty="0">
                <a:latin typeface="Calibri"/>
                <a:cs typeface="Calibri"/>
              </a:rPr>
              <a:t> </a:t>
            </a:r>
            <a:r>
              <a:rPr sz="2400" spc="-10" dirty="0">
                <a:latin typeface="Calibri"/>
                <a:cs typeface="Calibri"/>
              </a:rPr>
              <a:t>groups.</a:t>
            </a:r>
            <a:endParaRPr sz="24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25</a:t>
            </a:r>
            <a:endParaRPr sz="12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(4/6)</a:t>
            </a:r>
            <a:endParaRPr sz="1950" dirty="0"/>
          </a:p>
        </p:txBody>
      </p:sp>
      <p:sp>
        <p:nvSpPr>
          <p:cNvPr id="6" name="object 6"/>
          <p:cNvSpPr txBox="1"/>
          <p:nvPr/>
        </p:nvSpPr>
        <p:spPr>
          <a:xfrm>
            <a:off x="3021690" y="3291332"/>
            <a:ext cx="2677160" cy="1494790"/>
          </a:xfrm>
          <a:prstGeom prst="rect">
            <a:avLst/>
          </a:prstGeom>
        </p:spPr>
        <p:txBody>
          <a:bodyPr vert="horz" wrap="square" lIns="0" tIns="10160" rIns="0" bIns="0" rtlCol="0">
            <a:spAutoFit/>
          </a:bodyPr>
          <a:lstStyle/>
          <a:p>
            <a:pPr marL="12700" marR="5080">
              <a:lnSpc>
                <a:spcPct val="100600"/>
              </a:lnSpc>
              <a:spcBef>
                <a:spcPts val="80"/>
              </a:spcBef>
            </a:pPr>
            <a:r>
              <a:rPr sz="2400" dirty="0">
                <a:latin typeface="Calibri"/>
                <a:cs typeface="Calibri"/>
              </a:rPr>
              <a:t>Project</a:t>
            </a:r>
            <a:r>
              <a:rPr sz="2400" spc="-110" dirty="0">
                <a:latin typeface="Calibri"/>
                <a:cs typeface="Calibri"/>
              </a:rPr>
              <a:t> </a:t>
            </a:r>
            <a:r>
              <a:rPr sz="2400" dirty="0">
                <a:latin typeface="Calibri"/>
                <a:cs typeface="Calibri"/>
              </a:rPr>
              <a:t>status</a:t>
            </a:r>
            <a:r>
              <a:rPr sz="2400" spc="-110" dirty="0">
                <a:latin typeface="Calibri"/>
                <a:cs typeface="Calibri"/>
              </a:rPr>
              <a:t> </a:t>
            </a:r>
            <a:r>
              <a:rPr sz="2400" spc="-10" dirty="0">
                <a:latin typeface="Calibri"/>
                <a:cs typeface="Calibri"/>
              </a:rPr>
              <a:t>reports </a:t>
            </a:r>
            <a:r>
              <a:rPr sz="2400" dirty="0">
                <a:latin typeface="Calibri"/>
                <a:cs typeface="Calibri"/>
              </a:rPr>
              <a:t>Changes</a:t>
            </a:r>
            <a:r>
              <a:rPr sz="2400" spc="-55" dirty="0">
                <a:latin typeface="Calibri"/>
                <a:cs typeface="Calibri"/>
              </a:rPr>
              <a:t> </a:t>
            </a:r>
            <a:r>
              <a:rPr sz="2400" dirty="0">
                <a:latin typeface="Calibri"/>
                <a:cs typeface="Calibri"/>
              </a:rPr>
              <a:t>in</a:t>
            </a:r>
            <a:r>
              <a:rPr sz="2400" spc="-50" dirty="0">
                <a:latin typeface="Calibri"/>
                <a:cs typeface="Calibri"/>
              </a:rPr>
              <a:t> </a:t>
            </a:r>
            <a:r>
              <a:rPr sz="2400" spc="-20" dirty="0">
                <a:latin typeface="Calibri"/>
                <a:cs typeface="Calibri"/>
              </a:rPr>
              <a:t>scope </a:t>
            </a:r>
            <a:r>
              <a:rPr sz="2400" dirty="0">
                <a:latin typeface="Calibri"/>
                <a:cs typeface="Calibri"/>
              </a:rPr>
              <a:t>Gating</a:t>
            </a:r>
            <a:r>
              <a:rPr sz="2400" spc="-65" dirty="0">
                <a:latin typeface="Calibri"/>
                <a:cs typeface="Calibri"/>
              </a:rPr>
              <a:t> </a:t>
            </a:r>
            <a:r>
              <a:rPr sz="2400" spc="-10" dirty="0">
                <a:latin typeface="Calibri"/>
                <a:cs typeface="Calibri"/>
              </a:rPr>
              <a:t>decisions </a:t>
            </a:r>
            <a:r>
              <a:rPr sz="2400" dirty="0">
                <a:latin typeface="Calibri"/>
                <a:cs typeface="Calibri"/>
              </a:rPr>
              <a:t>Action</a:t>
            </a:r>
            <a:r>
              <a:rPr sz="2400" spc="-40" dirty="0">
                <a:latin typeface="Calibri"/>
                <a:cs typeface="Calibri"/>
              </a:rPr>
              <a:t> </a:t>
            </a:r>
            <a:r>
              <a:rPr sz="2400" spc="-20" dirty="0">
                <a:latin typeface="Calibri"/>
                <a:cs typeface="Calibri"/>
              </a:rPr>
              <a:t>items</a:t>
            </a:r>
            <a:endParaRPr sz="2400">
              <a:latin typeface="Calibri"/>
              <a:cs typeface="Calibri"/>
            </a:endParaRPr>
          </a:p>
        </p:txBody>
      </p:sp>
      <p:sp>
        <p:nvSpPr>
          <p:cNvPr id="7" name="object 7"/>
          <p:cNvSpPr txBox="1"/>
          <p:nvPr/>
        </p:nvSpPr>
        <p:spPr>
          <a:xfrm>
            <a:off x="6679290" y="3291332"/>
            <a:ext cx="3270885" cy="149479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Deliverable</a:t>
            </a:r>
            <a:r>
              <a:rPr sz="2400" spc="-60" dirty="0">
                <a:latin typeface="Calibri"/>
                <a:cs typeface="Calibri"/>
              </a:rPr>
              <a:t> </a:t>
            </a:r>
            <a:r>
              <a:rPr sz="2400" spc="-10" dirty="0">
                <a:latin typeface="Calibri"/>
                <a:cs typeface="Calibri"/>
              </a:rPr>
              <a:t>issues</a:t>
            </a:r>
            <a:endParaRPr sz="2400">
              <a:latin typeface="Calibri"/>
              <a:cs typeface="Calibri"/>
            </a:endParaRPr>
          </a:p>
          <a:p>
            <a:pPr marL="12700" marR="5080">
              <a:lnSpc>
                <a:spcPct val="100400"/>
              </a:lnSpc>
              <a:spcBef>
                <a:spcPts val="10"/>
              </a:spcBef>
            </a:pPr>
            <a:r>
              <a:rPr sz="2400" spc="-50" dirty="0">
                <a:latin typeface="Calibri"/>
                <a:cs typeface="Calibri"/>
              </a:rPr>
              <a:t>Team</a:t>
            </a:r>
            <a:r>
              <a:rPr sz="2400" spc="-85" dirty="0">
                <a:latin typeface="Calibri"/>
                <a:cs typeface="Calibri"/>
              </a:rPr>
              <a:t> </a:t>
            </a:r>
            <a:r>
              <a:rPr sz="2400" dirty="0">
                <a:latin typeface="Calibri"/>
                <a:cs typeface="Calibri"/>
              </a:rPr>
              <a:t>status</a:t>
            </a:r>
            <a:r>
              <a:rPr sz="2400" spc="-105" dirty="0">
                <a:latin typeface="Calibri"/>
                <a:cs typeface="Calibri"/>
              </a:rPr>
              <a:t> </a:t>
            </a:r>
            <a:r>
              <a:rPr sz="2400" spc="-10" dirty="0">
                <a:latin typeface="Calibri"/>
                <a:cs typeface="Calibri"/>
              </a:rPr>
              <a:t>meetings </a:t>
            </a:r>
            <a:r>
              <a:rPr sz="2400" dirty="0">
                <a:latin typeface="Calibri"/>
                <a:cs typeface="Calibri"/>
              </a:rPr>
              <a:t>Accepted</a:t>
            </a:r>
            <a:r>
              <a:rPr sz="2400" spc="-110" dirty="0">
                <a:latin typeface="Calibri"/>
                <a:cs typeface="Calibri"/>
              </a:rPr>
              <a:t> </a:t>
            </a:r>
            <a:r>
              <a:rPr sz="2400" dirty="0">
                <a:latin typeface="Calibri"/>
                <a:cs typeface="Calibri"/>
              </a:rPr>
              <a:t>request</a:t>
            </a:r>
            <a:r>
              <a:rPr sz="2400" spc="-105" dirty="0">
                <a:latin typeface="Calibri"/>
                <a:cs typeface="Calibri"/>
              </a:rPr>
              <a:t> </a:t>
            </a:r>
            <a:r>
              <a:rPr sz="2400" spc="-10" dirty="0">
                <a:latin typeface="Calibri"/>
                <a:cs typeface="Calibri"/>
              </a:rPr>
              <a:t>changes </a:t>
            </a:r>
            <a:r>
              <a:rPr sz="2400" dirty="0">
                <a:latin typeface="Calibri"/>
                <a:cs typeface="Calibri"/>
              </a:rPr>
              <a:t>Milestone</a:t>
            </a:r>
            <a:r>
              <a:rPr sz="2400" spc="-114" dirty="0">
                <a:latin typeface="Calibri"/>
                <a:cs typeface="Calibri"/>
              </a:rPr>
              <a:t> </a:t>
            </a:r>
            <a:r>
              <a:rPr sz="2400" spc="-10" dirty="0">
                <a:latin typeface="Calibri"/>
                <a:cs typeface="Calibri"/>
              </a:rPr>
              <a:t>reports</a:t>
            </a:r>
            <a:endParaRPr sz="2400">
              <a:latin typeface="Calibri"/>
              <a:cs typeface="Calibri"/>
            </a:endParaRPr>
          </a:p>
        </p:txBody>
      </p:sp>
      <p:pic>
        <p:nvPicPr>
          <p:cNvPr id="8" name="Picture 7">
            <a:extLst>
              <a:ext uri="{FF2B5EF4-FFF2-40B4-BE49-F238E27FC236}">
                <a16:creationId xmlns:a16="http://schemas.microsoft.com/office/drawing/2014/main" id="{4EC0A369-F4E2-2DFB-9E78-9EAA3F92A3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40484"/>
            <a:ext cx="10358120" cy="4201160"/>
          </a:xfrm>
          <a:prstGeom prst="rect">
            <a:avLst/>
          </a:prstGeom>
        </p:spPr>
        <p:txBody>
          <a:bodyPr vert="horz" wrap="square" lIns="0" tIns="50165" rIns="0" bIns="0" rtlCol="0">
            <a:spAutoFit/>
          </a:bodyPr>
          <a:lstStyle/>
          <a:p>
            <a:pPr marL="361315" marR="5080" indent="-349250" algn="just">
              <a:lnSpc>
                <a:spcPct val="89700"/>
              </a:lnSpc>
              <a:spcBef>
                <a:spcPts val="395"/>
              </a:spcBef>
              <a:buAutoNum type="arabicPeriod" startAt="4"/>
              <a:tabLst>
                <a:tab pos="363220" algn="l"/>
              </a:tabLst>
            </a:pPr>
            <a:r>
              <a:rPr sz="2400" b="1" dirty="0">
                <a:solidFill>
                  <a:srgbClr val="262EA4"/>
                </a:solidFill>
                <a:latin typeface="Calibri"/>
                <a:cs typeface="Calibri"/>
              </a:rPr>
              <a:t>Dissemination</a:t>
            </a:r>
            <a:r>
              <a:rPr sz="2400" b="1" spc="210" dirty="0">
                <a:solidFill>
                  <a:srgbClr val="262EA4"/>
                </a:solidFill>
                <a:latin typeface="Calibri"/>
                <a:cs typeface="Calibri"/>
              </a:rPr>
              <a:t> </a:t>
            </a:r>
            <a:r>
              <a:rPr sz="2400" b="1" dirty="0">
                <a:solidFill>
                  <a:srgbClr val="262EA4"/>
                </a:solidFill>
                <a:latin typeface="Calibri"/>
                <a:cs typeface="Calibri"/>
              </a:rPr>
              <a:t>modes:</a:t>
            </a:r>
            <a:r>
              <a:rPr sz="2400" b="1" spc="215" dirty="0">
                <a:solidFill>
                  <a:srgbClr val="262EA4"/>
                </a:solidFill>
                <a:latin typeface="Calibri"/>
                <a:cs typeface="Calibri"/>
              </a:rPr>
              <a:t> </a:t>
            </a:r>
            <a:r>
              <a:rPr sz="2400" dirty="0">
                <a:latin typeface="Calibri"/>
                <a:cs typeface="Calibri"/>
              </a:rPr>
              <a:t>In</a:t>
            </a:r>
            <a:r>
              <a:rPr sz="2400" spc="220" dirty="0">
                <a:latin typeface="Calibri"/>
                <a:cs typeface="Calibri"/>
              </a:rPr>
              <a:t> </a:t>
            </a:r>
            <a:r>
              <a:rPr sz="2400" dirty="0">
                <a:latin typeface="Calibri"/>
                <a:cs typeface="Calibri"/>
              </a:rPr>
              <a:t>today’s</a:t>
            </a:r>
            <a:r>
              <a:rPr sz="2400" spc="210" dirty="0">
                <a:latin typeface="Calibri"/>
                <a:cs typeface="Calibri"/>
              </a:rPr>
              <a:t> </a:t>
            </a:r>
            <a:r>
              <a:rPr sz="2400" dirty="0">
                <a:latin typeface="Calibri"/>
                <a:cs typeface="Calibri"/>
              </a:rPr>
              <a:t>world,</a:t>
            </a:r>
            <a:r>
              <a:rPr sz="2400" spc="220" dirty="0">
                <a:latin typeface="Calibri"/>
                <a:cs typeface="Calibri"/>
              </a:rPr>
              <a:t> </a:t>
            </a:r>
            <a:r>
              <a:rPr sz="2400" dirty="0">
                <a:latin typeface="Calibri"/>
                <a:cs typeface="Calibri"/>
              </a:rPr>
              <a:t>traditional</a:t>
            </a:r>
            <a:r>
              <a:rPr sz="2400" spc="215" dirty="0">
                <a:latin typeface="Calibri"/>
                <a:cs typeface="Calibri"/>
              </a:rPr>
              <a:t> </a:t>
            </a:r>
            <a:r>
              <a:rPr sz="2400" dirty="0">
                <a:latin typeface="Calibri"/>
                <a:cs typeface="Calibri"/>
              </a:rPr>
              <a:t>status</a:t>
            </a:r>
            <a:r>
              <a:rPr sz="2400" spc="210" dirty="0">
                <a:latin typeface="Calibri"/>
                <a:cs typeface="Calibri"/>
              </a:rPr>
              <a:t> </a:t>
            </a:r>
            <a:r>
              <a:rPr sz="2400" dirty="0">
                <a:latin typeface="Calibri"/>
                <a:cs typeface="Calibri"/>
              </a:rPr>
              <a:t>report</a:t>
            </a:r>
            <a:r>
              <a:rPr sz="2400" spc="215" dirty="0">
                <a:latin typeface="Calibri"/>
                <a:cs typeface="Calibri"/>
              </a:rPr>
              <a:t> </a:t>
            </a:r>
            <a:r>
              <a:rPr sz="2400" dirty="0">
                <a:latin typeface="Calibri"/>
                <a:cs typeface="Calibri"/>
              </a:rPr>
              <a:t>meetings</a:t>
            </a:r>
            <a:r>
              <a:rPr sz="2400" spc="220" dirty="0">
                <a:latin typeface="Calibri"/>
                <a:cs typeface="Calibri"/>
              </a:rPr>
              <a:t> </a:t>
            </a:r>
            <a:r>
              <a:rPr sz="2400" spc="-25" dirty="0">
                <a:latin typeface="Calibri"/>
                <a:cs typeface="Calibri"/>
              </a:rPr>
              <a:t>are 	</a:t>
            </a:r>
            <a:r>
              <a:rPr sz="2400" dirty="0">
                <a:latin typeface="Calibri"/>
                <a:cs typeface="Calibri"/>
              </a:rPr>
              <a:t>being</a:t>
            </a:r>
            <a:r>
              <a:rPr sz="2400" spc="220" dirty="0">
                <a:latin typeface="Calibri"/>
                <a:cs typeface="Calibri"/>
              </a:rPr>
              <a:t>  </a:t>
            </a:r>
            <a:r>
              <a:rPr sz="2400" dirty="0">
                <a:latin typeface="Calibri"/>
                <a:cs typeface="Calibri"/>
              </a:rPr>
              <a:t>supplemented</a:t>
            </a:r>
            <a:r>
              <a:rPr sz="2400" spc="235" dirty="0">
                <a:latin typeface="Calibri"/>
                <a:cs typeface="Calibri"/>
              </a:rPr>
              <a:t>  </a:t>
            </a:r>
            <a:r>
              <a:rPr sz="2400" dirty="0">
                <a:latin typeface="Calibri"/>
                <a:cs typeface="Calibri"/>
              </a:rPr>
              <a:t>by</a:t>
            </a:r>
            <a:r>
              <a:rPr sz="2400" spc="229" dirty="0">
                <a:latin typeface="Calibri"/>
                <a:cs typeface="Calibri"/>
              </a:rPr>
              <a:t>  </a:t>
            </a:r>
            <a:r>
              <a:rPr sz="2400" spc="-10" dirty="0">
                <a:latin typeface="Calibri"/>
                <a:cs typeface="Calibri"/>
              </a:rPr>
              <a:t>e-</a:t>
            </a:r>
            <a:r>
              <a:rPr sz="2400" dirty="0">
                <a:latin typeface="Calibri"/>
                <a:cs typeface="Calibri"/>
              </a:rPr>
              <a:t>mail,</a:t>
            </a:r>
            <a:r>
              <a:rPr sz="2400" spc="229" dirty="0">
                <a:latin typeface="Calibri"/>
                <a:cs typeface="Calibri"/>
              </a:rPr>
              <a:t>  </a:t>
            </a:r>
            <a:r>
              <a:rPr sz="2400" dirty="0">
                <a:latin typeface="Calibri"/>
                <a:cs typeface="Calibri"/>
              </a:rPr>
              <a:t>teleconferencing,</a:t>
            </a:r>
            <a:r>
              <a:rPr sz="2400" spc="225" dirty="0">
                <a:latin typeface="Calibri"/>
                <a:cs typeface="Calibri"/>
              </a:rPr>
              <a:t>  </a:t>
            </a:r>
            <a:r>
              <a:rPr sz="2400" dirty="0">
                <a:latin typeface="Calibri"/>
                <a:cs typeface="Calibri"/>
              </a:rPr>
              <a:t>…..</a:t>
            </a:r>
            <a:r>
              <a:rPr sz="2400" spc="225" dirty="0">
                <a:latin typeface="Calibri"/>
                <a:cs typeface="Calibri"/>
              </a:rPr>
              <a:t>  </a:t>
            </a:r>
            <a:r>
              <a:rPr sz="2400" dirty="0">
                <a:latin typeface="Calibri"/>
                <a:cs typeface="Calibri"/>
              </a:rPr>
              <a:t>In</a:t>
            </a:r>
            <a:r>
              <a:rPr sz="2400" spc="229" dirty="0">
                <a:latin typeface="Calibri"/>
                <a:cs typeface="Calibri"/>
              </a:rPr>
              <a:t>  </a:t>
            </a:r>
            <a:r>
              <a:rPr sz="2400" dirty="0">
                <a:latin typeface="Calibri"/>
                <a:cs typeface="Calibri"/>
              </a:rPr>
              <a:t>particular,</a:t>
            </a:r>
            <a:r>
              <a:rPr sz="2400" spc="229" dirty="0">
                <a:latin typeface="Calibri"/>
                <a:cs typeface="Calibri"/>
              </a:rPr>
              <a:t>  </a:t>
            </a:r>
            <a:r>
              <a:rPr sz="2400" spc="-20" dirty="0">
                <a:latin typeface="Calibri"/>
                <a:cs typeface="Calibri"/>
              </a:rPr>
              <a:t>many 	</a:t>
            </a:r>
            <a:r>
              <a:rPr sz="2400" dirty="0">
                <a:latin typeface="Calibri"/>
                <a:cs typeface="Calibri"/>
              </a:rPr>
              <a:t>companies</a:t>
            </a:r>
            <a:r>
              <a:rPr sz="2400" spc="5" dirty="0">
                <a:latin typeface="Calibri"/>
                <a:cs typeface="Calibri"/>
              </a:rPr>
              <a:t> </a:t>
            </a:r>
            <a:r>
              <a:rPr sz="2400" dirty="0">
                <a:latin typeface="Calibri"/>
                <a:cs typeface="Calibri"/>
              </a:rPr>
              <a:t>are</a:t>
            </a:r>
            <a:r>
              <a:rPr sz="2400" spc="20" dirty="0">
                <a:latin typeface="Calibri"/>
                <a:cs typeface="Calibri"/>
              </a:rPr>
              <a:t> </a:t>
            </a:r>
            <a:r>
              <a:rPr sz="2400" dirty="0">
                <a:latin typeface="Calibri"/>
                <a:cs typeface="Calibri"/>
              </a:rPr>
              <a:t>using</a:t>
            </a:r>
            <a:r>
              <a:rPr sz="2400" spc="10"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Web</a:t>
            </a:r>
            <a:r>
              <a:rPr sz="2400" spc="20" dirty="0">
                <a:latin typeface="Calibri"/>
                <a:cs typeface="Calibri"/>
              </a:rPr>
              <a:t> </a:t>
            </a:r>
            <a:r>
              <a:rPr sz="2400" dirty="0">
                <a:latin typeface="Calibri"/>
                <a:cs typeface="Calibri"/>
              </a:rPr>
              <a:t>to</a:t>
            </a:r>
            <a:r>
              <a:rPr sz="2400" spc="10" dirty="0">
                <a:latin typeface="Calibri"/>
                <a:cs typeface="Calibri"/>
              </a:rPr>
              <a:t> </a:t>
            </a:r>
            <a:r>
              <a:rPr sz="2400" dirty="0">
                <a:latin typeface="Calibri"/>
                <a:cs typeface="Calibri"/>
              </a:rPr>
              <a:t>create</a:t>
            </a:r>
            <a:r>
              <a:rPr sz="2400" spc="20" dirty="0">
                <a:latin typeface="Calibri"/>
                <a:cs typeface="Calibri"/>
              </a:rPr>
              <a:t> </a:t>
            </a:r>
            <a:r>
              <a:rPr sz="2400" dirty="0">
                <a:latin typeface="Calibri"/>
                <a:cs typeface="Calibri"/>
              </a:rPr>
              <a:t>a</a:t>
            </a:r>
            <a:r>
              <a:rPr sz="2400" spc="15" dirty="0">
                <a:latin typeface="Calibri"/>
                <a:cs typeface="Calibri"/>
              </a:rPr>
              <a:t> </a:t>
            </a:r>
            <a:r>
              <a:rPr sz="2400" dirty="0">
                <a:latin typeface="Calibri"/>
                <a:cs typeface="Calibri"/>
              </a:rPr>
              <a:t>“virtual</a:t>
            </a:r>
            <a:r>
              <a:rPr sz="2400" spc="15" dirty="0">
                <a:latin typeface="Calibri"/>
                <a:cs typeface="Calibri"/>
              </a:rPr>
              <a:t> </a:t>
            </a:r>
            <a:r>
              <a:rPr sz="2400" dirty="0">
                <a:latin typeface="Calibri"/>
                <a:cs typeface="Calibri"/>
              </a:rPr>
              <a:t>project</a:t>
            </a:r>
            <a:r>
              <a:rPr sz="2400" spc="10" dirty="0">
                <a:latin typeface="Calibri"/>
                <a:cs typeface="Calibri"/>
              </a:rPr>
              <a:t> </a:t>
            </a:r>
            <a:r>
              <a:rPr sz="2400" dirty="0">
                <a:latin typeface="Calibri"/>
                <a:cs typeface="Calibri"/>
              </a:rPr>
              <a:t>office”</a:t>
            </a:r>
            <a:r>
              <a:rPr sz="2400" spc="15" dirty="0">
                <a:latin typeface="Calibri"/>
                <a:cs typeface="Calibri"/>
              </a:rPr>
              <a:t> </a:t>
            </a:r>
            <a:r>
              <a:rPr sz="2400" dirty="0">
                <a:latin typeface="Calibri"/>
                <a:cs typeface="Calibri"/>
              </a:rPr>
              <a:t>to</a:t>
            </a:r>
            <a:r>
              <a:rPr sz="2400" spc="15" dirty="0">
                <a:latin typeface="Calibri"/>
                <a:cs typeface="Calibri"/>
              </a:rPr>
              <a:t> </a:t>
            </a:r>
            <a:r>
              <a:rPr sz="2400" dirty="0">
                <a:latin typeface="Calibri"/>
                <a:cs typeface="Calibri"/>
              </a:rPr>
              <a:t>store</a:t>
            </a:r>
            <a:r>
              <a:rPr sz="2400" spc="20" dirty="0">
                <a:latin typeface="Calibri"/>
                <a:cs typeface="Calibri"/>
              </a:rPr>
              <a:t> </a:t>
            </a:r>
            <a:r>
              <a:rPr sz="2400" spc="-10" dirty="0">
                <a:latin typeface="Calibri"/>
                <a:cs typeface="Calibri"/>
              </a:rPr>
              <a:t>project 	</a:t>
            </a:r>
            <a:r>
              <a:rPr sz="2400" dirty="0">
                <a:latin typeface="Calibri"/>
                <a:cs typeface="Calibri"/>
              </a:rPr>
              <a:t>information.</a:t>
            </a:r>
            <a:r>
              <a:rPr sz="2400" spc="160" dirty="0">
                <a:latin typeface="Calibri"/>
                <a:cs typeface="Calibri"/>
              </a:rPr>
              <a:t> </a:t>
            </a:r>
            <a:r>
              <a:rPr sz="2400" dirty="0">
                <a:latin typeface="Calibri"/>
                <a:cs typeface="Calibri"/>
              </a:rPr>
              <a:t>In</a:t>
            </a:r>
            <a:r>
              <a:rPr sz="2400" spc="170" dirty="0">
                <a:latin typeface="Calibri"/>
                <a:cs typeface="Calibri"/>
              </a:rPr>
              <a:t> </a:t>
            </a:r>
            <a:r>
              <a:rPr sz="2400" dirty="0">
                <a:latin typeface="Calibri"/>
                <a:cs typeface="Calibri"/>
              </a:rPr>
              <a:t>some</a:t>
            </a:r>
            <a:r>
              <a:rPr sz="2400" spc="175" dirty="0">
                <a:latin typeface="Calibri"/>
                <a:cs typeface="Calibri"/>
              </a:rPr>
              <a:t> </a:t>
            </a:r>
            <a:r>
              <a:rPr sz="2400" dirty="0">
                <a:latin typeface="Calibri"/>
                <a:cs typeface="Calibri"/>
              </a:rPr>
              <a:t>cases,</a:t>
            </a:r>
            <a:r>
              <a:rPr sz="2400" spc="165" dirty="0">
                <a:latin typeface="Calibri"/>
                <a:cs typeface="Calibri"/>
              </a:rPr>
              <a:t> </a:t>
            </a:r>
            <a:r>
              <a:rPr sz="2400" dirty="0">
                <a:latin typeface="Calibri"/>
                <a:cs typeface="Calibri"/>
              </a:rPr>
              <a:t>appropriate</a:t>
            </a:r>
            <a:r>
              <a:rPr sz="2400" spc="175" dirty="0">
                <a:latin typeface="Calibri"/>
                <a:cs typeface="Calibri"/>
              </a:rPr>
              <a:t> </a:t>
            </a:r>
            <a:r>
              <a:rPr sz="2400" dirty="0">
                <a:latin typeface="Calibri"/>
                <a:cs typeface="Calibri"/>
              </a:rPr>
              <a:t>information</a:t>
            </a:r>
            <a:r>
              <a:rPr sz="2400" spc="165" dirty="0">
                <a:latin typeface="Calibri"/>
                <a:cs typeface="Calibri"/>
              </a:rPr>
              <a:t> </a:t>
            </a:r>
            <a:r>
              <a:rPr sz="2400" dirty="0">
                <a:latin typeface="Calibri"/>
                <a:cs typeface="Calibri"/>
              </a:rPr>
              <a:t>is</a:t>
            </a:r>
            <a:r>
              <a:rPr sz="2400" spc="165" dirty="0">
                <a:latin typeface="Calibri"/>
                <a:cs typeface="Calibri"/>
              </a:rPr>
              <a:t> </a:t>
            </a:r>
            <a:r>
              <a:rPr sz="2400" dirty="0">
                <a:latin typeface="Calibri"/>
                <a:cs typeface="Calibri"/>
              </a:rPr>
              <a:t>routed</a:t>
            </a:r>
            <a:r>
              <a:rPr sz="2400" spc="170" dirty="0">
                <a:latin typeface="Calibri"/>
                <a:cs typeface="Calibri"/>
              </a:rPr>
              <a:t> </a:t>
            </a:r>
            <a:r>
              <a:rPr sz="2400" dirty="0">
                <a:latin typeface="Calibri"/>
                <a:cs typeface="Calibri"/>
              </a:rPr>
              <a:t>automatically</a:t>
            </a:r>
            <a:r>
              <a:rPr sz="2400" spc="160" dirty="0">
                <a:latin typeface="Calibri"/>
                <a:cs typeface="Calibri"/>
              </a:rPr>
              <a:t> </a:t>
            </a:r>
            <a:r>
              <a:rPr sz="2400" spc="-25" dirty="0">
                <a:latin typeface="Calibri"/>
                <a:cs typeface="Calibri"/>
              </a:rPr>
              <a:t>to 	</a:t>
            </a:r>
            <a:r>
              <a:rPr sz="2400" dirty="0">
                <a:latin typeface="Calibri"/>
                <a:cs typeface="Calibri"/>
              </a:rPr>
              <a:t>key</a:t>
            </a:r>
            <a:r>
              <a:rPr sz="2400" spc="110" dirty="0">
                <a:latin typeface="Calibri"/>
                <a:cs typeface="Calibri"/>
              </a:rPr>
              <a:t> </a:t>
            </a:r>
            <a:r>
              <a:rPr sz="2400" dirty="0">
                <a:latin typeface="Calibri"/>
                <a:cs typeface="Calibri"/>
              </a:rPr>
              <a:t>stakeholders.</a:t>
            </a:r>
            <a:r>
              <a:rPr sz="2400" spc="114" dirty="0">
                <a:latin typeface="Calibri"/>
                <a:cs typeface="Calibri"/>
              </a:rPr>
              <a:t> </a:t>
            </a:r>
            <a:r>
              <a:rPr sz="2400" dirty="0">
                <a:latin typeface="Calibri"/>
                <a:cs typeface="Calibri"/>
              </a:rPr>
              <a:t>Backup</a:t>
            </a:r>
            <a:r>
              <a:rPr sz="2400" spc="114" dirty="0">
                <a:latin typeface="Calibri"/>
                <a:cs typeface="Calibri"/>
              </a:rPr>
              <a:t> </a:t>
            </a:r>
            <a:r>
              <a:rPr sz="2400" dirty="0">
                <a:latin typeface="Calibri"/>
                <a:cs typeface="Calibri"/>
              </a:rPr>
              <a:t>paper</a:t>
            </a:r>
            <a:r>
              <a:rPr sz="2400" spc="110" dirty="0">
                <a:latin typeface="Calibri"/>
                <a:cs typeface="Calibri"/>
              </a:rPr>
              <a:t> </a:t>
            </a:r>
            <a:r>
              <a:rPr sz="2400" dirty="0">
                <a:latin typeface="Calibri"/>
                <a:cs typeface="Calibri"/>
              </a:rPr>
              <a:t>hardcopy</a:t>
            </a:r>
            <a:r>
              <a:rPr sz="2400" spc="120" dirty="0">
                <a:latin typeface="Calibri"/>
                <a:cs typeface="Calibri"/>
              </a:rPr>
              <a:t> </a:t>
            </a:r>
            <a:r>
              <a:rPr sz="2400" dirty="0">
                <a:latin typeface="Calibri"/>
                <a:cs typeface="Calibri"/>
              </a:rPr>
              <a:t>to</a:t>
            </a:r>
            <a:r>
              <a:rPr sz="2400" spc="114" dirty="0">
                <a:latin typeface="Calibri"/>
                <a:cs typeface="Calibri"/>
              </a:rPr>
              <a:t> </a:t>
            </a:r>
            <a:r>
              <a:rPr sz="2400" dirty="0">
                <a:latin typeface="Calibri"/>
                <a:cs typeface="Calibri"/>
              </a:rPr>
              <a:t>specific</a:t>
            </a:r>
            <a:r>
              <a:rPr sz="2400" spc="114" dirty="0">
                <a:latin typeface="Calibri"/>
                <a:cs typeface="Calibri"/>
              </a:rPr>
              <a:t> </a:t>
            </a:r>
            <a:r>
              <a:rPr sz="2400" dirty="0">
                <a:latin typeface="Calibri"/>
                <a:cs typeface="Calibri"/>
              </a:rPr>
              <a:t>stakeholders</a:t>
            </a:r>
            <a:r>
              <a:rPr sz="2400" spc="110" dirty="0">
                <a:latin typeface="Calibri"/>
                <a:cs typeface="Calibri"/>
              </a:rPr>
              <a:t> </a:t>
            </a:r>
            <a:r>
              <a:rPr sz="2400" dirty="0">
                <a:latin typeface="Calibri"/>
                <a:cs typeface="Calibri"/>
              </a:rPr>
              <a:t>is</a:t>
            </a:r>
            <a:r>
              <a:rPr sz="2400" spc="114" dirty="0">
                <a:latin typeface="Calibri"/>
                <a:cs typeface="Calibri"/>
              </a:rPr>
              <a:t> </a:t>
            </a:r>
            <a:r>
              <a:rPr sz="2400" dirty="0">
                <a:latin typeface="Calibri"/>
                <a:cs typeface="Calibri"/>
              </a:rPr>
              <a:t>still</a:t>
            </a:r>
            <a:r>
              <a:rPr sz="2400" spc="114" dirty="0">
                <a:latin typeface="Calibri"/>
                <a:cs typeface="Calibri"/>
              </a:rPr>
              <a:t> </a:t>
            </a:r>
            <a:r>
              <a:rPr sz="2400" spc="-10" dirty="0">
                <a:latin typeface="Calibri"/>
                <a:cs typeface="Calibri"/>
              </a:rPr>
              <a:t>critical 	</a:t>
            </a:r>
            <a:r>
              <a:rPr sz="2400" dirty="0">
                <a:latin typeface="Calibri"/>
                <a:cs typeface="Calibri"/>
              </a:rPr>
              <a:t>for</a:t>
            </a:r>
            <a:r>
              <a:rPr sz="2400" spc="-75" dirty="0">
                <a:latin typeface="Calibri"/>
                <a:cs typeface="Calibri"/>
              </a:rPr>
              <a:t> </a:t>
            </a:r>
            <a:r>
              <a:rPr sz="2400" dirty="0">
                <a:latin typeface="Calibri"/>
                <a:cs typeface="Calibri"/>
              </a:rPr>
              <a:t>many</a:t>
            </a:r>
            <a:r>
              <a:rPr sz="2400" spc="-70" dirty="0">
                <a:latin typeface="Calibri"/>
                <a:cs typeface="Calibri"/>
              </a:rPr>
              <a:t> </a:t>
            </a:r>
            <a:r>
              <a:rPr sz="2400" dirty="0">
                <a:latin typeface="Calibri"/>
                <a:cs typeface="Calibri"/>
              </a:rPr>
              <a:t>project</a:t>
            </a:r>
            <a:r>
              <a:rPr sz="2400" spc="-80" dirty="0">
                <a:latin typeface="Calibri"/>
                <a:cs typeface="Calibri"/>
              </a:rPr>
              <a:t> </a:t>
            </a:r>
            <a:r>
              <a:rPr sz="2400" dirty="0">
                <a:latin typeface="Calibri"/>
                <a:cs typeface="Calibri"/>
              </a:rPr>
              <a:t>changes</a:t>
            </a:r>
            <a:r>
              <a:rPr sz="2400" spc="-70" dirty="0">
                <a:latin typeface="Calibri"/>
                <a:cs typeface="Calibri"/>
              </a:rPr>
              <a:t> </a:t>
            </a:r>
            <a:r>
              <a:rPr sz="2400" dirty="0">
                <a:latin typeface="Calibri"/>
                <a:cs typeface="Calibri"/>
              </a:rPr>
              <a:t>and</a:t>
            </a:r>
            <a:r>
              <a:rPr sz="2400" spc="-70" dirty="0">
                <a:latin typeface="Calibri"/>
                <a:cs typeface="Calibri"/>
              </a:rPr>
              <a:t> </a:t>
            </a:r>
            <a:r>
              <a:rPr sz="2400" dirty="0">
                <a:latin typeface="Calibri"/>
                <a:cs typeface="Calibri"/>
              </a:rPr>
              <a:t>action</a:t>
            </a:r>
            <a:r>
              <a:rPr sz="2400" spc="-75" dirty="0">
                <a:latin typeface="Calibri"/>
                <a:cs typeface="Calibri"/>
              </a:rPr>
              <a:t> </a:t>
            </a:r>
            <a:r>
              <a:rPr sz="2400" spc="-10" dirty="0">
                <a:latin typeface="Calibri"/>
                <a:cs typeface="Calibri"/>
              </a:rPr>
              <a:t>items.</a:t>
            </a:r>
            <a:endParaRPr sz="2400">
              <a:latin typeface="Calibri"/>
              <a:cs typeface="Calibri"/>
            </a:endParaRPr>
          </a:p>
          <a:p>
            <a:pPr>
              <a:lnSpc>
                <a:spcPct val="100000"/>
              </a:lnSpc>
              <a:spcBef>
                <a:spcPts val="1285"/>
              </a:spcBef>
              <a:buClr>
                <a:srgbClr val="262EA4"/>
              </a:buClr>
              <a:buFont typeface="Calibri"/>
              <a:buAutoNum type="arabicPeriod" startAt="4"/>
            </a:pPr>
            <a:endParaRPr sz="2400">
              <a:latin typeface="Calibri"/>
              <a:cs typeface="Calibri"/>
            </a:endParaRPr>
          </a:p>
          <a:p>
            <a:pPr marL="361315" marR="5715" indent="-349250" algn="just">
              <a:lnSpc>
                <a:spcPct val="89400"/>
              </a:lnSpc>
              <a:spcBef>
                <a:spcPts val="5"/>
              </a:spcBef>
              <a:buAutoNum type="arabicPeriod" startAt="4"/>
              <a:tabLst>
                <a:tab pos="363220" algn="l"/>
              </a:tabLst>
            </a:pPr>
            <a:r>
              <a:rPr sz="2400" b="1" dirty="0">
                <a:solidFill>
                  <a:srgbClr val="262EA4"/>
                </a:solidFill>
                <a:latin typeface="Calibri"/>
                <a:cs typeface="Calibri"/>
              </a:rPr>
              <a:t>Responsibility</a:t>
            </a:r>
            <a:r>
              <a:rPr sz="2400" b="1" spc="325" dirty="0">
                <a:solidFill>
                  <a:srgbClr val="262EA4"/>
                </a:solidFill>
                <a:latin typeface="Calibri"/>
                <a:cs typeface="Calibri"/>
              </a:rPr>
              <a:t> </a:t>
            </a:r>
            <a:r>
              <a:rPr sz="2400" b="1" dirty="0">
                <a:solidFill>
                  <a:srgbClr val="262EA4"/>
                </a:solidFill>
                <a:latin typeface="Calibri"/>
                <a:cs typeface="Calibri"/>
              </a:rPr>
              <a:t>and</a:t>
            </a:r>
            <a:r>
              <a:rPr sz="2400" b="1" spc="325" dirty="0">
                <a:solidFill>
                  <a:srgbClr val="262EA4"/>
                </a:solidFill>
                <a:latin typeface="Calibri"/>
                <a:cs typeface="Calibri"/>
              </a:rPr>
              <a:t> </a:t>
            </a:r>
            <a:r>
              <a:rPr sz="2400" b="1" dirty="0">
                <a:solidFill>
                  <a:srgbClr val="262EA4"/>
                </a:solidFill>
                <a:latin typeface="Calibri"/>
                <a:cs typeface="Calibri"/>
              </a:rPr>
              <a:t>timing:</a:t>
            </a:r>
            <a:r>
              <a:rPr sz="2400" b="1" spc="330" dirty="0">
                <a:solidFill>
                  <a:srgbClr val="262EA4"/>
                </a:solidFill>
                <a:latin typeface="Calibri"/>
                <a:cs typeface="Calibri"/>
              </a:rPr>
              <a:t> </a:t>
            </a:r>
            <a:r>
              <a:rPr sz="2400" dirty="0">
                <a:latin typeface="Calibri"/>
                <a:cs typeface="Calibri"/>
              </a:rPr>
              <a:t>Determine</a:t>
            </a:r>
            <a:r>
              <a:rPr sz="2400" spc="330" dirty="0">
                <a:latin typeface="Calibri"/>
                <a:cs typeface="Calibri"/>
              </a:rPr>
              <a:t> </a:t>
            </a:r>
            <a:r>
              <a:rPr sz="2400" dirty="0">
                <a:latin typeface="Calibri"/>
                <a:cs typeface="Calibri"/>
              </a:rPr>
              <a:t>who</a:t>
            </a:r>
            <a:r>
              <a:rPr sz="2400" spc="330" dirty="0">
                <a:latin typeface="Calibri"/>
                <a:cs typeface="Calibri"/>
              </a:rPr>
              <a:t> </a:t>
            </a:r>
            <a:r>
              <a:rPr sz="2400" dirty="0">
                <a:latin typeface="Calibri"/>
                <a:cs typeface="Calibri"/>
              </a:rPr>
              <a:t>will</a:t>
            </a:r>
            <a:r>
              <a:rPr sz="2400" spc="325" dirty="0">
                <a:latin typeface="Calibri"/>
                <a:cs typeface="Calibri"/>
              </a:rPr>
              <a:t> </a:t>
            </a:r>
            <a:r>
              <a:rPr sz="2400" dirty="0">
                <a:latin typeface="Calibri"/>
                <a:cs typeface="Calibri"/>
              </a:rPr>
              <a:t>send</a:t>
            </a:r>
            <a:r>
              <a:rPr sz="2400" spc="335" dirty="0">
                <a:latin typeface="Calibri"/>
                <a:cs typeface="Calibri"/>
              </a:rPr>
              <a:t> </a:t>
            </a:r>
            <a:r>
              <a:rPr sz="2400" dirty="0">
                <a:latin typeface="Calibri"/>
                <a:cs typeface="Calibri"/>
              </a:rPr>
              <a:t>out</a:t>
            </a:r>
            <a:r>
              <a:rPr sz="2400" spc="320" dirty="0">
                <a:latin typeface="Calibri"/>
                <a:cs typeface="Calibri"/>
              </a:rPr>
              <a:t> </a:t>
            </a:r>
            <a:r>
              <a:rPr sz="2400" dirty="0">
                <a:latin typeface="Calibri"/>
                <a:cs typeface="Calibri"/>
              </a:rPr>
              <a:t>the</a:t>
            </a:r>
            <a:r>
              <a:rPr sz="2400" spc="335" dirty="0">
                <a:latin typeface="Calibri"/>
                <a:cs typeface="Calibri"/>
              </a:rPr>
              <a:t> </a:t>
            </a:r>
            <a:r>
              <a:rPr sz="2400" dirty="0">
                <a:latin typeface="Calibri"/>
                <a:cs typeface="Calibri"/>
              </a:rPr>
              <a:t>information.</a:t>
            </a:r>
            <a:r>
              <a:rPr sz="2400" spc="320" dirty="0">
                <a:latin typeface="Calibri"/>
                <a:cs typeface="Calibri"/>
              </a:rPr>
              <a:t> </a:t>
            </a:r>
            <a:r>
              <a:rPr sz="2400" spc="-25" dirty="0">
                <a:latin typeface="Calibri"/>
                <a:cs typeface="Calibri"/>
              </a:rPr>
              <a:t>For 	</a:t>
            </a:r>
            <a:r>
              <a:rPr sz="2400" dirty="0">
                <a:latin typeface="Calibri"/>
                <a:cs typeface="Calibri"/>
              </a:rPr>
              <a:t>example,</a:t>
            </a:r>
            <a:r>
              <a:rPr sz="2400" spc="409" dirty="0">
                <a:latin typeface="Calibri"/>
                <a:cs typeface="Calibri"/>
              </a:rPr>
              <a:t> </a:t>
            </a:r>
            <a:r>
              <a:rPr sz="2400" dirty="0">
                <a:latin typeface="Calibri"/>
                <a:cs typeface="Calibri"/>
              </a:rPr>
              <a:t>a</a:t>
            </a:r>
            <a:r>
              <a:rPr sz="2400" spc="409" dirty="0">
                <a:latin typeface="Calibri"/>
                <a:cs typeface="Calibri"/>
              </a:rPr>
              <a:t> </a:t>
            </a:r>
            <a:r>
              <a:rPr sz="2400" dirty="0">
                <a:latin typeface="Calibri"/>
                <a:cs typeface="Calibri"/>
              </a:rPr>
              <a:t>common</a:t>
            </a:r>
            <a:r>
              <a:rPr sz="2400" spc="415" dirty="0">
                <a:latin typeface="Calibri"/>
                <a:cs typeface="Calibri"/>
              </a:rPr>
              <a:t> </a:t>
            </a:r>
            <a:r>
              <a:rPr sz="2400" dirty="0">
                <a:latin typeface="Calibri"/>
                <a:cs typeface="Calibri"/>
              </a:rPr>
              <a:t>practice</a:t>
            </a:r>
            <a:r>
              <a:rPr sz="2400" spc="415" dirty="0">
                <a:latin typeface="Calibri"/>
                <a:cs typeface="Calibri"/>
              </a:rPr>
              <a:t> </a:t>
            </a:r>
            <a:r>
              <a:rPr sz="2400" dirty="0">
                <a:latin typeface="Calibri"/>
                <a:cs typeface="Calibri"/>
              </a:rPr>
              <a:t>is</a:t>
            </a:r>
            <a:r>
              <a:rPr sz="2400" spc="409" dirty="0">
                <a:latin typeface="Calibri"/>
                <a:cs typeface="Calibri"/>
              </a:rPr>
              <a:t> </a:t>
            </a:r>
            <a:r>
              <a:rPr sz="2400" dirty="0">
                <a:latin typeface="Calibri"/>
                <a:cs typeface="Calibri"/>
              </a:rPr>
              <a:t>to</a:t>
            </a:r>
            <a:r>
              <a:rPr sz="2400" spc="409" dirty="0">
                <a:latin typeface="Calibri"/>
                <a:cs typeface="Calibri"/>
              </a:rPr>
              <a:t> </a:t>
            </a:r>
            <a:r>
              <a:rPr sz="2400" dirty="0">
                <a:latin typeface="Calibri"/>
                <a:cs typeface="Calibri"/>
              </a:rPr>
              <a:t>have</a:t>
            </a:r>
            <a:r>
              <a:rPr sz="2400" spc="420" dirty="0">
                <a:latin typeface="Calibri"/>
                <a:cs typeface="Calibri"/>
              </a:rPr>
              <a:t> </a:t>
            </a:r>
            <a:r>
              <a:rPr sz="2400" dirty="0">
                <a:latin typeface="Calibri"/>
                <a:cs typeface="Calibri"/>
              </a:rPr>
              <a:t>secretaries</a:t>
            </a:r>
            <a:r>
              <a:rPr sz="2400" spc="409" dirty="0">
                <a:latin typeface="Calibri"/>
                <a:cs typeface="Calibri"/>
              </a:rPr>
              <a:t> </a:t>
            </a:r>
            <a:r>
              <a:rPr sz="2400" dirty="0">
                <a:latin typeface="Calibri"/>
                <a:cs typeface="Calibri"/>
              </a:rPr>
              <a:t>of</a:t>
            </a:r>
            <a:r>
              <a:rPr sz="2400" spc="415" dirty="0">
                <a:latin typeface="Calibri"/>
                <a:cs typeface="Calibri"/>
              </a:rPr>
              <a:t> </a:t>
            </a:r>
            <a:r>
              <a:rPr sz="2400" dirty="0">
                <a:latin typeface="Calibri"/>
                <a:cs typeface="Calibri"/>
              </a:rPr>
              <a:t>meetings</a:t>
            </a:r>
            <a:r>
              <a:rPr sz="2400" spc="409" dirty="0">
                <a:latin typeface="Calibri"/>
                <a:cs typeface="Calibri"/>
              </a:rPr>
              <a:t> </a:t>
            </a:r>
            <a:r>
              <a:rPr sz="2400" dirty="0">
                <a:latin typeface="Calibri"/>
                <a:cs typeface="Calibri"/>
              </a:rPr>
              <a:t>forward</a:t>
            </a:r>
            <a:r>
              <a:rPr sz="2400" spc="415" dirty="0">
                <a:latin typeface="Calibri"/>
                <a:cs typeface="Calibri"/>
              </a:rPr>
              <a:t> </a:t>
            </a:r>
            <a:r>
              <a:rPr sz="2400" spc="-25" dirty="0">
                <a:latin typeface="Calibri"/>
                <a:cs typeface="Calibri"/>
              </a:rPr>
              <a:t>the 	</a:t>
            </a:r>
            <a:r>
              <a:rPr sz="2400" dirty="0">
                <a:latin typeface="Calibri"/>
                <a:cs typeface="Calibri"/>
              </a:rPr>
              <a:t>minutes</a:t>
            </a:r>
            <a:r>
              <a:rPr sz="2400" spc="85" dirty="0">
                <a:latin typeface="Calibri"/>
                <a:cs typeface="Calibri"/>
              </a:rPr>
              <a:t> </a:t>
            </a:r>
            <a:r>
              <a:rPr sz="2400" dirty="0">
                <a:latin typeface="Calibri"/>
                <a:cs typeface="Calibri"/>
              </a:rPr>
              <a:t>or</a:t>
            </a:r>
            <a:r>
              <a:rPr sz="2400" spc="80" dirty="0">
                <a:latin typeface="Calibri"/>
                <a:cs typeface="Calibri"/>
              </a:rPr>
              <a:t> </a:t>
            </a:r>
            <a:r>
              <a:rPr sz="2400" dirty="0">
                <a:latin typeface="Calibri"/>
                <a:cs typeface="Calibri"/>
              </a:rPr>
              <a:t>specific</a:t>
            </a:r>
            <a:r>
              <a:rPr sz="2400" spc="80" dirty="0">
                <a:latin typeface="Calibri"/>
                <a:cs typeface="Calibri"/>
              </a:rPr>
              <a:t> </a:t>
            </a:r>
            <a:r>
              <a:rPr sz="2400" dirty="0">
                <a:latin typeface="Calibri"/>
                <a:cs typeface="Calibri"/>
              </a:rPr>
              <a:t>information</a:t>
            </a:r>
            <a:r>
              <a:rPr sz="2400" spc="85" dirty="0">
                <a:latin typeface="Calibri"/>
                <a:cs typeface="Calibri"/>
              </a:rPr>
              <a:t> </a:t>
            </a:r>
            <a:r>
              <a:rPr sz="2400" dirty="0">
                <a:latin typeface="Calibri"/>
                <a:cs typeface="Calibri"/>
              </a:rPr>
              <a:t>to</a:t>
            </a:r>
            <a:r>
              <a:rPr sz="2400" spc="80" dirty="0">
                <a:latin typeface="Calibri"/>
                <a:cs typeface="Calibri"/>
              </a:rPr>
              <a:t> </a:t>
            </a:r>
            <a:r>
              <a:rPr sz="2400" dirty="0">
                <a:latin typeface="Calibri"/>
                <a:cs typeface="Calibri"/>
              </a:rPr>
              <a:t>the</a:t>
            </a:r>
            <a:r>
              <a:rPr sz="2400" spc="90" dirty="0">
                <a:latin typeface="Calibri"/>
                <a:cs typeface="Calibri"/>
              </a:rPr>
              <a:t> </a:t>
            </a:r>
            <a:r>
              <a:rPr sz="2400" dirty="0">
                <a:latin typeface="Calibri"/>
                <a:cs typeface="Calibri"/>
              </a:rPr>
              <a:t>appropriate</a:t>
            </a:r>
            <a:r>
              <a:rPr sz="2400" spc="90" dirty="0">
                <a:latin typeface="Calibri"/>
                <a:cs typeface="Calibri"/>
              </a:rPr>
              <a:t> </a:t>
            </a:r>
            <a:r>
              <a:rPr sz="2400" dirty="0">
                <a:latin typeface="Calibri"/>
                <a:cs typeface="Calibri"/>
              </a:rPr>
              <a:t>stakeholders.</a:t>
            </a:r>
            <a:r>
              <a:rPr sz="2400" spc="75" dirty="0">
                <a:latin typeface="Calibri"/>
                <a:cs typeface="Calibri"/>
              </a:rPr>
              <a:t> </a:t>
            </a:r>
            <a:r>
              <a:rPr sz="2400" dirty="0">
                <a:latin typeface="Calibri"/>
                <a:cs typeface="Calibri"/>
              </a:rPr>
              <a:t>In</a:t>
            </a:r>
            <a:r>
              <a:rPr sz="2400" spc="85" dirty="0">
                <a:latin typeface="Calibri"/>
                <a:cs typeface="Calibri"/>
              </a:rPr>
              <a:t> </a:t>
            </a:r>
            <a:r>
              <a:rPr sz="2400" dirty="0">
                <a:latin typeface="Calibri"/>
                <a:cs typeface="Calibri"/>
              </a:rPr>
              <a:t>some</a:t>
            </a:r>
            <a:r>
              <a:rPr sz="2400" spc="90" dirty="0">
                <a:latin typeface="Calibri"/>
                <a:cs typeface="Calibri"/>
              </a:rPr>
              <a:t> </a:t>
            </a:r>
            <a:r>
              <a:rPr sz="2400" spc="-10" dirty="0">
                <a:latin typeface="Calibri"/>
                <a:cs typeface="Calibri"/>
              </a:rPr>
              <a:t>cases, 	</a:t>
            </a:r>
            <a:r>
              <a:rPr sz="2400" dirty="0">
                <a:latin typeface="Calibri"/>
                <a:cs typeface="Calibri"/>
              </a:rPr>
              <a:t>the</a:t>
            </a:r>
            <a:r>
              <a:rPr sz="2400" spc="365" dirty="0">
                <a:latin typeface="Calibri"/>
                <a:cs typeface="Calibri"/>
              </a:rPr>
              <a:t> </a:t>
            </a:r>
            <a:r>
              <a:rPr sz="2400" dirty="0">
                <a:latin typeface="Calibri"/>
                <a:cs typeface="Calibri"/>
              </a:rPr>
              <a:t>responsibility</a:t>
            </a:r>
            <a:r>
              <a:rPr sz="2400" spc="365" dirty="0">
                <a:latin typeface="Calibri"/>
                <a:cs typeface="Calibri"/>
              </a:rPr>
              <a:t> </a:t>
            </a:r>
            <a:r>
              <a:rPr sz="2400" dirty="0">
                <a:latin typeface="Calibri"/>
                <a:cs typeface="Calibri"/>
              </a:rPr>
              <a:t>lies</a:t>
            </a:r>
            <a:r>
              <a:rPr sz="2400" spc="350" dirty="0">
                <a:latin typeface="Calibri"/>
                <a:cs typeface="Calibri"/>
              </a:rPr>
              <a:t> </a:t>
            </a:r>
            <a:r>
              <a:rPr sz="2400" dirty="0">
                <a:latin typeface="Calibri"/>
                <a:cs typeface="Calibri"/>
              </a:rPr>
              <a:t>with</a:t>
            </a:r>
            <a:r>
              <a:rPr sz="2400" spc="365" dirty="0">
                <a:latin typeface="Calibri"/>
                <a:cs typeface="Calibri"/>
              </a:rPr>
              <a:t> </a:t>
            </a:r>
            <a:r>
              <a:rPr sz="2400" dirty="0">
                <a:latin typeface="Calibri"/>
                <a:cs typeface="Calibri"/>
              </a:rPr>
              <a:t>the</a:t>
            </a:r>
            <a:r>
              <a:rPr sz="2400" spc="365" dirty="0">
                <a:latin typeface="Calibri"/>
                <a:cs typeface="Calibri"/>
              </a:rPr>
              <a:t> </a:t>
            </a:r>
            <a:r>
              <a:rPr sz="2400" dirty="0">
                <a:latin typeface="Calibri"/>
                <a:cs typeface="Calibri"/>
              </a:rPr>
              <a:t>project</a:t>
            </a:r>
            <a:r>
              <a:rPr sz="2400" spc="355" dirty="0">
                <a:latin typeface="Calibri"/>
                <a:cs typeface="Calibri"/>
              </a:rPr>
              <a:t> </a:t>
            </a:r>
            <a:r>
              <a:rPr sz="2400" dirty="0">
                <a:latin typeface="Calibri"/>
                <a:cs typeface="Calibri"/>
              </a:rPr>
              <a:t>manager</a:t>
            </a:r>
            <a:r>
              <a:rPr sz="2400" spc="360" dirty="0">
                <a:latin typeface="Calibri"/>
                <a:cs typeface="Calibri"/>
              </a:rPr>
              <a:t> </a:t>
            </a:r>
            <a:r>
              <a:rPr sz="2400" dirty="0">
                <a:latin typeface="Calibri"/>
                <a:cs typeface="Calibri"/>
              </a:rPr>
              <a:t>or</a:t>
            </a:r>
            <a:r>
              <a:rPr sz="2400" spc="360" dirty="0">
                <a:latin typeface="Calibri"/>
                <a:cs typeface="Calibri"/>
              </a:rPr>
              <a:t> </a:t>
            </a:r>
            <a:r>
              <a:rPr sz="2400" dirty="0">
                <a:latin typeface="Calibri"/>
                <a:cs typeface="Calibri"/>
              </a:rPr>
              <a:t>project</a:t>
            </a:r>
            <a:r>
              <a:rPr sz="2400" spc="355" dirty="0">
                <a:latin typeface="Calibri"/>
                <a:cs typeface="Calibri"/>
              </a:rPr>
              <a:t> </a:t>
            </a:r>
            <a:r>
              <a:rPr sz="2400" dirty="0">
                <a:latin typeface="Calibri"/>
                <a:cs typeface="Calibri"/>
              </a:rPr>
              <a:t>office.</a:t>
            </a:r>
            <a:r>
              <a:rPr sz="2400" spc="350" dirty="0">
                <a:latin typeface="Calibri"/>
                <a:cs typeface="Calibri"/>
              </a:rPr>
              <a:t> </a:t>
            </a:r>
            <a:r>
              <a:rPr sz="2400" dirty="0">
                <a:latin typeface="Calibri"/>
                <a:cs typeface="Calibri"/>
              </a:rPr>
              <a:t>Timing</a:t>
            </a:r>
            <a:r>
              <a:rPr sz="2400" spc="360" dirty="0">
                <a:latin typeface="Calibri"/>
                <a:cs typeface="Calibri"/>
              </a:rPr>
              <a:t> </a:t>
            </a:r>
            <a:r>
              <a:rPr sz="2400" spc="-25" dirty="0">
                <a:latin typeface="Calibri"/>
                <a:cs typeface="Calibri"/>
              </a:rPr>
              <a:t>and 	</a:t>
            </a:r>
            <a:r>
              <a:rPr sz="2400" dirty="0">
                <a:latin typeface="Calibri"/>
                <a:cs typeface="Calibri"/>
              </a:rPr>
              <a:t>frequency</a:t>
            </a:r>
            <a:r>
              <a:rPr sz="2400" spc="-6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distribution</a:t>
            </a:r>
            <a:r>
              <a:rPr sz="2400" spc="-60" dirty="0">
                <a:latin typeface="Calibri"/>
                <a:cs typeface="Calibri"/>
              </a:rPr>
              <a:t> </a:t>
            </a:r>
            <a:r>
              <a:rPr sz="2400" spc="-10" dirty="0">
                <a:latin typeface="Calibri"/>
                <a:cs typeface="Calibri"/>
              </a:rPr>
              <a:t>appropriate</a:t>
            </a:r>
            <a:r>
              <a:rPr sz="2400" spc="-55"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the</a:t>
            </a:r>
            <a:r>
              <a:rPr sz="2400" spc="-50" dirty="0">
                <a:latin typeface="Calibri"/>
                <a:cs typeface="Calibri"/>
              </a:rPr>
              <a:t> </a:t>
            </a:r>
            <a:r>
              <a:rPr sz="2400" spc="-10" dirty="0">
                <a:latin typeface="Calibri"/>
                <a:cs typeface="Calibri"/>
              </a:rPr>
              <a:t>information</a:t>
            </a:r>
            <a:r>
              <a:rPr sz="2400" spc="-60" dirty="0">
                <a:latin typeface="Calibri"/>
                <a:cs typeface="Calibri"/>
              </a:rPr>
              <a:t> </a:t>
            </a:r>
            <a:r>
              <a:rPr sz="2400" dirty="0">
                <a:latin typeface="Calibri"/>
                <a:cs typeface="Calibri"/>
              </a:rPr>
              <a:t>need</a:t>
            </a:r>
            <a:r>
              <a:rPr sz="2400" spc="-65"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be</a:t>
            </a:r>
            <a:r>
              <a:rPr sz="2400" spc="-60" dirty="0">
                <a:latin typeface="Calibri"/>
                <a:cs typeface="Calibri"/>
              </a:rPr>
              <a:t> </a:t>
            </a:r>
            <a:r>
              <a:rPr sz="2400" spc="-10" dirty="0">
                <a:latin typeface="Calibri"/>
                <a:cs typeface="Calibri"/>
              </a:rPr>
              <a:t>established.</a:t>
            </a:r>
            <a:endParaRPr sz="24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46</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(5/6)</a:t>
            </a:r>
            <a:endParaRPr sz="1950" dirty="0"/>
          </a:p>
        </p:txBody>
      </p:sp>
      <p:pic>
        <p:nvPicPr>
          <p:cNvPr id="5" name="Picture 4">
            <a:extLst>
              <a:ext uri="{FF2B5EF4-FFF2-40B4-BE49-F238E27FC236}">
                <a16:creationId xmlns:a16="http://schemas.microsoft.com/office/drawing/2014/main" id="{7F4F14EE-7F8D-2559-1FCC-B153C20F9E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85840" y="1650502"/>
            <a:ext cx="6904431" cy="5134563"/>
          </a:xfrm>
          <a:prstGeom prst="rect">
            <a:avLst/>
          </a:prstGeom>
        </p:spPr>
      </p:pic>
      <p:sp>
        <p:nvSpPr>
          <p:cNvPr id="3" name="object 3"/>
          <p:cNvSpPr txBox="1"/>
          <p:nvPr/>
        </p:nvSpPr>
        <p:spPr>
          <a:xfrm>
            <a:off x="410347" y="3263900"/>
            <a:ext cx="1989455" cy="845819"/>
          </a:xfrm>
          <a:prstGeom prst="rect">
            <a:avLst/>
          </a:prstGeom>
        </p:spPr>
        <p:txBody>
          <a:bodyPr vert="horz" wrap="square" lIns="0" tIns="13970" rIns="0" bIns="0" rtlCol="0">
            <a:spAutoFit/>
          </a:bodyPr>
          <a:lstStyle/>
          <a:p>
            <a:pPr marL="12700" marR="5080" algn="ctr">
              <a:lnSpc>
                <a:spcPct val="99400"/>
              </a:lnSpc>
              <a:spcBef>
                <a:spcPts val="110"/>
              </a:spcBef>
            </a:pPr>
            <a:r>
              <a:rPr sz="1800" b="1" dirty="0">
                <a:latin typeface="Calibri"/>
                <a:cs typeface="Calibri"/>
              </a:rPr>
              <a:t>Example:</a:t>
            </a:r>
            <a:r>
              <a:rPr sz="1800" b="1" spc="-40" dirty="0">
                <a:latin typeface="Calibri"/>
                <a:cs typeface="Calibri"/>
              </a:rPr>
              <a:t> </a:t>
            </a:r>
            <a:r>
              <a:rPr sz="1800" b="1" dirty="0">
                <a:latin typeface="Calibri"/>
                <a:cs typeface="Calibri"/>
              </a:rPr>
              <a:t>Shale</a:t>
            </a:r>
            <a:r>
              <a:rPr sz="1800" b="1" spc="-50" dirty="0">
                <a:latin typeface="Calibri"/>
                <a:cs typeface="Calibri"/>
              </a:rPr>
              <a:t> </a:t>
            </a:r>
            <a:r>
              <a:rPr sz="1800" b="1" spc="-25" dirty="0">
                <a:latin typeface="Calibri"/>
                <a:cs typeface="Calibri"/>
              </a:rPr>
              <a:t>Oil </a:t>
            </a:r>
            <a:r>
              <a:rPr sz="1800" b="1" dirty="0">
                <a:latin typeface="Calibri"/>
                <a:cs typeface="Calibri"/>
              </a:rPr>
              <a:t>Research</a:t>
            </a:r>
            <a:r>
              <a:rPr sz="1800" b="1" spc="-100" dirty="0">
                <a:latin typeface="Calibri"/>
                <a:cs typeface="Calibri"/>
              </a:rPr>
              <a:t> </a:t>
            </a:r>
            <a:r>
              <a:rPr sz="1800" b="1" spc="-10" dirty="0">
                <a:latin typeface="Calibri"/>
                <a:cs typeface="Calibri"/>
              </a:rPr>
              <a:t>Project </a:t>
            </a:r>
            <a:r>
              <a:rPr sz="1800" b="1" dirty="0">
                <a:latin typeface="Calibri"/>
                <a:cs typeface="Calibri"/>
              </a:rPr>
              <a:t>Communication</a:t>
            </a:r>
            <a:r>
              <a:rPr sz="1800" b="1" spc="-80" dirty="0">
                <a:latin typeface="Calibri"/>
                <a:cs typeface="Calibri"/>
              </a:rPr>
              <a:t> </a:t>
            </a:r>
            <a:r>
              <a:rPr sz="1800" b="1" spc="-20" dirty="0">
                <a:latin typeface="Calibri"/>
                <a:cs typeface="Calibri"/>
              </a:rPr>
              <a:t>Plan</a:t>
            </a:r>
            <a:endParaRPr sz="18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47</a:t>
            </a:fld>
            <a:endParaRPr spc="-25" dirty="0"/>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Project Communication Plan </a:t>
            </a:r>
            <a:r>
              <a:rPr sz="1950" spc="-10" dirty="0"/>
              <a:t>(6/6)</a:t>
            </a:r>
            <a:endParaRPr sz="1950" dirty="0"/>
          </a:p>
        </p:txBody>
      </p:sp>
      <p:pic>
        <p:nvPicPr>
          <p:cNvPr id="6" name="Picture 5">
            <a:extLst>
              <a:ext uri="{FF2B5EF4-FFF2-40B4-BE49-F238E27FC236}">
                <a16:creationId xmlns:a16="http://schemas.microsoft.com/office/drawing/2014/main" id="{FD2D75C6-D86D-A305-1CBA-16925DB0F5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67005">
              <a:lnSpc>
                <a:spcPct val="100000"/>
              </a:lnSpc>
              <a:spcBef>
                <a:spcPts val="110"/>
              </a:spcBef>
            </a:pPr>
            <a:r>
              <a:rPr b="1" u="sng" spc="95" dirty="0">
                <a:solidFill>
                  <a:srgbClr val="FF0000"/>
                </a:solidFill>
              </a:rPr>
              <a:t>Assignement 3</a:t>
            </a:r>
          </a:p>
        </p:txBody>
      </p:sp>
      <p:sp>
        <p:nvSpPr>
          <p:cNvPr id="3" name="object 3"/>
          <p:cNvSpPr txBox="1"/>
          <p:nvPr/>
        </p:nvSpPr>
        <p:spPr>
          <a:xfrm>
            <a:off x="947419" y="1719579"/>
            <a:ext cx="11244581" cy="4984750"/>
          </a:xfrm>
          <a:prstGeom prst="rect">
            <a:avLst/>
          </a:prstGeom>
        </p:spPr>
        <p:txBody>
          <a:bodyPr vert="horz" wrap="square" lIns="0" tIns="63500" rIns="0" bIns="0" rtlCol="0">
            <a:spAutoFit/>
          </a:bodyPr>
          <a:lstStyle/>
          <a:p>
            <a:pPr marL="294005" marR="5715" indent="-284480">
              <a:lnSpc>
                <a:spcPts val="3000"/>
              </a:lnSpc>
              <a:spcBef>
                <a:spcPts val="500"/>
              </a:spcBef>
              <a:buAutoNum type="arabicPeriod"/>
              <a:tabLst>
                <a:tab pos="295275" algn="l"/>
                <a:tab pos="1273810" algn="l"/>
                <a:tab pos="2154555" algn="l"/>
                <a:tab pos="2544445" algn="l"/>
                <a:tab pos="3552190" algn="l"/>
                <a:tab pos="3930650" algn="l"/>
                <a:tab pos="4603115" algn="l"/>
                <a:tab pos="6093460" algn="l"/>
                <a:tab pos="6578600" algn="l"/>
                <a:tab pos="6938645" algn="l"/>
                <a:tab pos="8153400" algn="l"/>
                <a:tab pos="9489440" algn="l"/>
              </a:tabLst>
            </a:pPr>
            <a:r>
              <a:rPr sz="2800" spc="-20" dirty="0">
                <a:latin typeface="Calibri"/>
                <a:cs typeface="Calibri"/>
              </a:rPr>
              <a:t>What</a:t>
            </a:r>
            <a:r>
              <a:rPr sz="2800" dirty="0">
                <a:latin typeface="Calibri"/>
                <a:cs typeface="Calibri"/>
              </a:rPr>
              <a:t>	</a:t>
            </a:r>
            <a:r>
              <a:rPr sz="2800" spc="-20" dirty="0">
                <a:latin typeface="Calibri"/>
                <a:cs typeface="Calibri"/>
              </a:rPr>
              <a:t>does</a:t>
            </a:r>
            <a:r>
              <a:rPr sz="2800" dirty="0">
                <a:latin typeface="Calibri"/>
                <a:cs typeface="Calibri"/>
              </a:rPr>
              <a:t>	</a:t>
            </a:r>
            <a:r>
              <a:rPr sz="2800" spc="-25" dirty="0">
                <a:latin typeface="Calibri"/>
                <a:cs typeface="Calibri"/>
              </a:rPr>
              <a:t>it</a:t>
            </a:r>
            <a:r>
              <a:rPr sz="2800" dirty="0">
                <a:latin typeface="Calibri"/>
                <a:cs typeface="Calibri"/>
              </a:rPr>
              <a:t>	</a:t>
            </a:r>
            <a:r>
              <a:rPr sz="2800" spc="-20" dirty="0">
                <a:latin typeface="Calibri"/>
                <a:cs typeface="Calibri"/>
              </a:rPr>
              <a:t>mean</a:t>
            </a:r>
            <a:r>
              <a:rPr sz="2800" dirty="0">
                <a:latin typeface="Calibri"/>
                <a:cs typeface="Calibri"/>
              </a:rPr>
              <a:t>	</a:t>
            </a:r>
            <a:r>
              <a:rPr sz="2800" spc="-25" dirty="0">
                <a:latin typeface="Calibri"/>
                <a:cs typeface="Calibri"/>
              </a:rPr>
              <a:t>if</a:t>
            </a:r>
            <a:r>
              <a:rPr sz="2800" dirty="0">
                <a:latin typeface="Calibri"/>
                <a:cs typeface="Calibri"/>
              </a:rPr>
              <a:t>	</a:t>
            </a:r>
            <a:r>
              <a:rPr sz="2800" spc="-25" dirty="0">
                <a:latin typeface="Calibri"/>
                <a:cs typeface="Calibri"/>
              </a:rPr>
              <a:t>the</a:t>
            </a:r>
            <a:r>
              <a:rPr sz="2800" dirty="0">
                <a:latin typeface="Calibri"/>
                <a:cs typeface="Calibri"/>
              </a:rPr>
              <a:t>	</a:t>
            </a:r>
            <a:r>
              <a:rPr sz="2800" spc="-10" dirty="0">
                <a:latin typeface="Calibri"/>
                <a:cs typeface="Calibri"/>
              </a:rPr>
              <a:t>priorities</a:t>
            </a:r>
            <a:r>
              <a:rPr sz="2800" dirty="0">
                <a:latin typeface="Calibri"/>
                <a:cs typeface="Calibri"/>
              </a:rPr>
              <a:t>	</a:t>
            </a:r>
            <a:r>
              <a:rPr sz="2800" spc="-25" dirty="0">
                <a:latin typeface="Calibri"/>
                <a:cs typeface="Calibri"/>
              </a:rPr>
              <a:t>of</a:t>
            </a:r>
            <a:r>
              <a:rPr sz="2800" dirty="0">
                <a:latin typeface="Calibri"/>
                <a:cs typeface="Calibri"/>
              </a:rPr>
              <a:t>	</a:t>
            </a:r>
            <a:r>
              <a:rPr sz="2800" spc="-50" dirty="0">
                <a:latin typeface="Calibri"/>
                <a:cs typeface="Calibri"/>
              </a:rPr>
              <a:t>a</a:t>
            </a:r>
            <a:r>
              <a:rPr sz="2800" dirty="0">
                <a:latin typeface="Calibri"/>
                <a:cs typeface="Calibri"/>
              </a:rPr>
              <a:t>	</a:t>
            </a:r>
            <a:r>
              <a:rPr sz="2800" spc="-10" dirty="0">
                <a:latin typeface="Calibri"/>
                <a:cs typeface="Calibri"/>
              </a:rPr>
              <a:t>project</a:t>
            </a:r>
            <a:r>
              <a:rPr sz="2800" dirty="0">
                <a:latin typeface="Calibri"/>
                <a:cs typeface="Calibri"/>
              </a:rPr>
              <a:t>	</a:t>
            </a:r>
            <a:r>
              <a:rPr sz="2800" spc="-10" dirty="0">
                <a:latin typeface="Calibri"/>
                <a:cs typeface="Calibri"/>
              </a:rPr>
              <a:t>include:</a:t>
            </a:r>
            <a:r>
              <a:rPr sz="2800" dirty="0">
                <a:latin typeface="Calibri"/>
                <a:cs typeface="Calibri"/>
              </a:rPr>
              <a:t>	</a:t>
            </a:r>
            <a:r>
              <a:rPr sz="2800" spc="-10" dirty="0">
                <a:latin typeface="Calibri"/>
                <a:cs typeface="Calibri"/>
              </a:rPr>
              <a:t>Time- 	constrain,</a:t>
            </a:r>
            <a:r>
              <a:rPr sz="2800" spc="-65" dirty="0">
                <a:latin typeface="Calibri"/>
                <a:cs typeface="Calibri"/>
              </a:rPr>
              <a:t> </a:t>
            </a:r>
            <a:r>
              <a:rPr sz="2800" dirty="0">
                <a:latin typeface="Calibri"/>
                <a:cs typeface="Calibri"/>
              </a:rPr>
              <a:t>Scope-</a:t>
            </a:r>
            <a:r>
              <a:rPr sz="2800" spc="-55" dirty="0">
                <a:latin typeface="Calibri"/>
                <a:cs typeface="Calibri"/>
              </a:rPr>
              <a:t> </a:t>
            </a:r>
            <a:r>
              <a:rPr sz="2800" dirty="0">
                <a:latin typeface="Calibri"/>
                <a:cs typeface="Calibri"/>
              </a:rPr>
              <a:t>accept,</a:t>
            </a:r>
            <a:r>
              <a:rPr sz="2800" spc="-60" dirty="0">
                <a:latin typeface="Calibri"/>
                <a:cs typeface="Calibri"/>
              </a:rPr>
              <a:t> </a:t>
            </a:r>
            <a:r>
              <a:rPr sz="2800" dirty="0">
                <a:latin typeface="Calibri"/>
                <a:cs typeface="Calibri"/>
              </a:rPr>
              <a:t>and</a:t>
            </a:r>
            <a:r>
              <a:rPr sz="2800" spc="-60" dirty="0">
                <a:latin typeface="Calibri"/>
                <a:cs typeface="Calibri"/>
              </a:rPr>
              <a:t> </a:t>
            </a:r>
            <a:r>
              <a:rPr sz="2800" spc="-35" dirty="0">
                <a:latin typeface="Calibri"/>
                <a:cs typeface="Calibri"/>
              </a:rPr>
              <a:t>Cost-</a:t>
            </a:r>
            <a:r>
              <a:rPr sz="2800" spc="-10" dirty="0">
                <a:latin typeface="Calibri"/>
                <a:cs typeface="Calibri"/>
              </a:rPr>
              <a:t>enhance?</a:t>
            </a:r>
            <a:endParaRPr sz="2800" dirty="0">
              <a:latin typeface="Calibri"/>
              <a:cs typeface="Calibri"/>
            </a:endParaRPr>
          </a:p>
          <a:p>
            <a:pPr marL="294005" indent="-284480">
              <a:lnSpc>
                <a:spcPct val="100000"/>
              </a:lnSpc>
              <a:spcBef>
                <a:spcPts val="585"/>
              </a:spcBef>
              <a:buAutoNum type="arabicPeriod"/>
              <a:tabLst>
                <a:tab pos="294005" algn="l"/>
              </a:tabLst>
            </a:pPr>
            <a:r>
              <a:rPr sz="2800" dirty="0">
                <a:latin typeface="Calibri"/>
                <a:cs typeface="Calibri"/>
              </a:rPr>
              <a:t>What</a:t>
            </a:r>
            <a:r>
              <a:rPr sz="2800" spc="-40" dirty="0">
                <a:latin typeface="Calibri"/>
                <a:cs typeface="Calibri"/>
              </a:rPr>
              <a:t> </a:t>
            </a:r>
            <a:r>
              <a:rPr sz="2800" dirty="0">
                <a:latin typeface="Calibri"/>
                <a:cs typeface="Calibri"/>
              </a:rPr>
              <a:t>kinds</a:t>
            </a:r>
            <a:r>
              <a:rPr sz="2800" spc="-30" dirty="0">
                <a:latin typeface="Calibri"/>
                <a:cs typeface="Calibri"/>
              </a:rPr>
              <a:t> </a:t>
            </a:r>
            <a:r>
              <a:rPr sz="2800" dirty="0">
                <a:latin typeface="Calibri"/>
                <a:cs typeface="Calibri"/>
              </a:rPr>
              <a:t>of</a:t>
            </a:r>
            <a:r>
              <a:rPr sz="2800" spc="-45" dirty="0">
                <a:latin typeface="Calibri"/>
                <a:cs typeface="Calibri"/>
              </a:rPr>
              <a:t> </a:t>
            </a:r>
            <a:r>
              <a:rPr sz="2800" spc="-10" dirty="0">
                <a:latin typeface="Calibri"/>
                <a:cs typeface="Calibri"/>
              </a:rPr>
              <a:t>information</a:t>
            </a:r>
            <a:r>
              <a:rPr sz="2800" spc="-40" dirty="0">
                <a:latin typeface="Calibri"/>
                <a:cs typeface="Calibri"/>
              </a:rPr>
              <a:t> </a:t>
            </a:r>
            <a:r>
              <a:rPr sz="2800" dirty="0">
                <a:latin typeface="Calibri"/>
                <a:cs typeface="Calibri"/>
              </a:rPr>
              <a:t>are</a:t>
            </a:r>
            <a:r>
              <a:rPr sz="2800" spc="-45" dirty="0">
                <a:latin typeface="Calibri"/>
                <a:cs typeface="Calibri"/>
              </a:rPr>
              <a:t> </a:t>
            </a:r>
            <a:r>
              <a:rPr sz="2800" dirty="0">
                <a:latin typeface="Calibri"/>
                <a:cs typeface="Calibri"/>
              </a:rPr>
              <a:t>included</a:t>
            </a:r>
            <a:r>
              <a:rPr sz="2800" spc="-35" dirty="0">
                <a:latin typeface="Calibri"/>
                <a:cs typeface="Calibri"/>
              </a:rPr>
              <a:t> </a:t>
            </a:r>
            <a:r>
              <a:rPr sz="2800" dirty="0">
                <a:latin typeface="Calibri"/>
                <a:cs typeface="Calibri"/>
              </a:rPr>
              <a:t>in</a:t>
            </a:r>
            <a:r>
              <a:rPr sz="2800" spc="-3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work</a:t>
            </a:r>
            <a:r>
              <a:rPr sz="2800" spc="-40" dirty="0">
                <a:latin typeface="Calibri"/>
                <a:cs typeface="Calibri"/>
              </a:rPr>
              <a:t> </a:t>
            </a:r>
            <a:r>
              <a:rPr sz="2800" spc="-10" dirty="0">
                <a:latin typeface="Calibri"/>
                <a:cs typeface="Calibri"/>
              </a:rPr>
              <a:t>package?</a:t>
            </a:r>
            <a:endParaRPr sz="2800" dirty="0">
              <a:latin typeface="Calibri"/>
              <a:cs typeface="Calibri"/>
            </a:endParaRPr>
          </a:p>
          <a:p>
            <a:pPr marL="294005" marR="5080" indent="-284480">
              <a:lnSpc>
                <a:spcPts val="3000"/>
              </a:lnSpc>
              <a:spcBef>
                <a:spcPts val="1140"/>
              </a:spcBef>
              <a:buAutoNum type="arabicPeriod"/>
              <a:tabLst>
                <a:tab pos="295275" algn="l"/>
              </a:tabLst>
            </a:pPr>
            <a:r>
              <a:rPr sz="2800" dirty="0">
                <a:latin typeface="Calibri"/>
                <a:cs typeface="Calibri"/>
              </a:rPr>
              <a:t>When</a:t>
            </a:r>
            <a:r>
              <a:rPr sz="2800" spc="-10" dirty="0">
                <a:latin typeface="Calibri"/>
                <a:cs typeface="Calibri"/>
              </a:rPr>
              <a:t> </a:t>
            </a:r>
            <a:r>
              <a:rPr sz="2800" dirty="0">
                <a:latin typeface="Calibri"/>
                <a:cs typeface="Calibri"/>
              </a:rPr>
              <a:t>would</a:t>
            </a:r>
            <a:r>
              <a:rPr sz="2800" spc="-10" dirty="0">
                <a:latin typeface="Calibri"/>
                <a:cs typeface="Calibri"/>
              </a:rPr>
              <a:t> </a:t>
            </a:r>
            <a:r>
              <a:rPr sz="2800" dirty="0">
                <a:latin typeface="Calibri"/>
                <a:cs typeface="Calibri"/>
              </a:rPr>
              <a:t>it</a:t>
            </a:r>
            <a:r>
              <a:rPr sz="2800" spc="-15" dirty="0">
                <a:latin typeface="Calibri"/>
                <a:cs typeface="Calibri"/>
              </a:rPr>
              <a:t> </a:t>
            </a:r>
            <a:r>
              <a:rPr sz="2800" dirty="0">
                <a:latin typeface="Calibri"/>
                <a:cs typeface="Calibri"/>
              </a:rPr>
              <a:t>be</a:t>
            </a:r>
            <a:r>
              <a:rPr sz="2800" spc="-15" dirty="0">
                <a:latin typeface="Calibri"/>
                <a:cs typeface="Calibri"/>
              </a:rPr>
              <a:t> </a:t>
            </a:r>
            <a:r>
              <a:rPr sz="2800" dirty="0">
                <a:latin typeface="Calibri"/>
                <a:cs typeface="Calibri"/>
              </a:rPr>
              <a:t>appropriate</a:t>
            </a:r>
            <a:r>
              <a:rPr sz="2800" spc="-20" dirty="0">
                <a:latin typeface="Calibri"/>
                <a:cs typeface="Calibri"/>
              </a:rPr>
              <a:t> </a:t>
            </a:r>
            <a:r>
              <a:rPr sz="2800" dirty="0">
                <a:latin typeface="Calibri"/>
                <a:cs typeface="Calibri"/>
              </a:rPr>
              <a:t>to</a:t>
            </a:r>
            <a:r>
              <a:rPr sz="2800" spc="-15" dirty="0">
                <a:latin typeface="Calibri"/>
                <a:cs typeface="Calibri"/>
              </a:rPr>
              <a:t> </a:t>
            </a:r>
            <a:r>
              <a:rPr sz="2800" dirty="0">
                <a:latin typeface="Calibri"/>
                <a:cs typeface="Calibri"/>
              </a:rPr>
              <a:t>create</a:t>
            </a:r>
            <a:r>
              <a:rPr sz="2800" spc="-20"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responsibility</a:t>
            </a:r>
            <a:r>
              <a:rPr sz="2800" spc="-25" dirty="0">
                <a:latin typeface="Calibri"/>
                <a:cs typeface="Calibri"/>
              </a:rPr>
              <a:t> </a:t>
            </a:r>
            <a:r>
              <a:rPr sz="2800" dirty="0">
                <a:latin typeface="Calibri"/>
                <a:cs typeface="Calibri"/>
              </a:rPr>
              <a:t>matrix</a:t>
            </a:r>
            <a:r>
              <a:rPr sz="2800" spc="-15" dirty="0">
                <a:latin typeface="Calibri"/>
                <a:cs typeface="Calibri"/>
              </a:rPr>
              <a:t> </a:t>
            </a:r>
            <a:r>
              <a:rPr sz="2800" spc="-10" dirty="0">
                <a:latin typeface="Calibri"/>
                <a:cs typeface="Calibri"/>
              </a:rPr>
              <a:t>rather 	</a:t>
            </a:r>
            <a:r>
              <a:rPr sz="2800" dirty="0">
                <a:latin typeface="Calibri"/>
                <a:cs typeface="Calibri"/>
              </a:rPr>
              <a:t>than</a:t>
            </a:r>
            <a:r>
              <a:rPr sz="2800" spc="-25"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full-</a:t>
            </a:r>
            <a:r>
              <a:rPr sz="2800" spc="-25" dirty="0">
                <a:latin typeface="Calibri"/>
                <a:cs typeface="Calibri"/>
              </a:rPr>
              <a:t> </a:t>
            </a:r>
            <a:r>
              <a:rPr sz="2800" dirty="0">
                <a:latin typeface="Calibri"/>
                <a:cs typeface="Calibri"/>
              </a:rPr>
              <a:t>blown</a:t>
            </a:r>
            <a:r>
              <a:rPr sz="2800" spc="-25" dirty="0">
                <a:latin typeface="Calibri"/>
                <a:cs typeface="Calibri"/>
              </a:rPr>
              <a:t> </a:t>
            </a:r>
            <a:r>
              <a:rPr sz="2800" spc="-20" dirty="0">
                <a:latin typeface="Calibri"/>
                <a:cs typeface="Calibri"/>
              </a:rPr>
              <a:t>WBS?</a:t>
            </a:r>
            <a:endParaRPr sz="2800" dirty="0">
              <a:latin typeface="Calibri"/>
              <a:cs typeface="Calibri"/>
            </a:endParaRPr>
          </a:p>
          <a:p>
            <a:pPr marL="294005" indent="-284480">
              <a:lnSpc>
                <a:spcPct val="100000"/>
              </a:lnSpc>
              <a:spcBef>
                <a:spcPts val="610"/>
              </a:spcBef>
              <a:buAutoNum type="arabicPeriod"/>
              <a:tabLst>
                <a:tab pos="294005" algn="l"/>
              </a:tabLst>
            </a:pPr>
            <a:r>
              <a:rPr sz="2800" dirty="0">
                <a:latin typeface="Calibri"/>
                <a:cs typeface="Calibri"/>
              </a:rPr>
              <a:t>How</a:t>
            </a:r>
            <a:r>
              <a:rPr sz="2800" spc="-50" dirty="0">
                <a:latin typeface="Calibri"/>
                <a:cs typeface="Calibri"/>
              </a:rPr>
              <a:t> </a:t>
            </a:r>
            <a:r>
              <a:rPr sz="2800" dirty="0">
                <a:latin typeface="Calibri"/>
                <a:cs typeface="Calibri"/>
              </a:rPr>
              <a:t>does</a:t>
            </a:r>
            <a:r>
              <a:rPr sz="2800" spc="-40" dirty="0">
                <a:latin typeface="Calibri"/>
                <a:cs typeface="Calibri"/>
              </a:rPr>
              <a:t> </a:t>
            </a:r>
            <a:r>
              <a:rPr sz="2800" dirty="0">
                <a:latin typeface="Calibri"/>
                <a:cs typeface="Calibri"/>
              </a:rPr>
              <a:t>a</a:t>
            </a:r>
            <a:r>
              <a:rPr sz="2800" spc="-45" dirty="0">
                <a:latin typeface="Calibri"/>
                <a:cs typeface="Calibri"/>
              </a:rPr>
              <a:t> </a:t>
            </a:r>
            <a:r>
              <a:rPr sz="2800" spc="-10" dirty="0">
                <a:latin typeface="Calibri"/>
                <a:cs typeface="Calibri"/>
              </a:rPr>
              <a:t>communication</a:t>
            </a:r>
            <a:r>
              <a:rPr sz="2800" spc="-40" dirty="0">
                <a:latin typeface="Calibri"/>
                <a:cs typeface="Calibri"/>
              </a:rPr>
              <a:t> </a:t>
            </a:r>
            <a:r>
              <a:rPr sz="2800" dirty="0">
                <a:latin typeface="Calibri"/>
                <a:cs typeface="Calibri"/>
              </a:rPr>
              <a:t>plan</a:t>
            </a:r>
            <a:r>
              <a:rPr sz="2800" spc="-40" dirty="0">
                <a:latin typeface="Calibri"/>
                <a:cs typeface="Calibri"/>
              </a:rPr>
              <a:t> </a:t>
            </a:r>
            <a:r>
              <a:rPr sz="2800" dirty="0">
                <a:latin typeface="Calibri"/>
                <a:cs typeface="Calibri"/>
              </a:rPr>
              <a:t>benefit</a:t>
            </a:r>
            <a:r>
              <a:rPr sz="2800" spc="-50" dirty="0">
                <a:latin typeface="Calibri"/>
                <a:cs typeface="Calibri"/>
              </a:rPr>
              <a:t> </a:t>
            </a:r>
            <a:r>
              <a:rPr sz="2800" dirty="0">
                <a:latin typeface="Calibri"/>
                <a:cs typeface="Calibri"/>
              </a:rPr>
              <a:t>management</a:t>
            </a:r>
            <a:r>
              <a:rPr sz="2800" spc="-45" dirty="0">
                <a:latin typeface="Calibri"/>
                <a:cs typeface="Calibri"/>
              </a:rPr>
              <a:t> </a:t>
            </a:r>
            <a:r>
              <a:rPr sz="2800" dirty="0">
                <a:latin typeface="Calibri"/>
                <a:cs typeface="Calibri"/>
              </a:rPr>
              <a:t>of</a:t>
            </a:r>
            <a:r>
              <a:rPr sz="2800" spc="-50" dirty="0">
                <a:latin typeface="Calibri"/>
                <a:cs typeface="Calibri"/>
              </a:rPr>
              <a:t> </a:t>
            </a:r>
            <a:r>
              <a:rPr sz="2800" spc="-10" dirty="0">
                <a:latin typeface="Calibri"/>
                <a:cs typeface="Calibri"/>
              </a:rPr>
              <a:t>projects?</a:t>
            </a:r>
            <a:endParaRPr sz="2800" dirty="0">
              <a:latin typeface="Calibri"/>
              <a:cs typeface="Calibri"/>
            </a:endParaRPr>
          </a:p>
          <a:p>
            <a:pPr marL="294005" marR="5080" indent="-284480">
              <a:lnSpc>
                <a:spcPts val="3100"/>
              </a:lnSpc>
              <a:spcBef>
                <a:spcPts val="970"/>
              </a:spcBef>
              <a:buAutoNum type="arabicPeriod"/>
              <a:tabLst>
                <a:tab pos="295275" algn="l"/>
                <a:tab pos="1553845" algn="l"/>
                <a:tab pos="2251710" algn="l"/>
                <a:tab pos="2841625" algn="l"/>
                <a:tab pos="4350385" algn="l"/>
                <a:tab pos="4797425" algn="l"/>
                <a:tab pos="5120005" algn="l"/>
                <a:tab pos="6296660" algn="l"/>
                <a:tab pos="7040880" algn="l"/>
                <a:tab pos="8086725" algn="l"/>
                <a:tab pos="8547100" algn="l"/>
                <a:tab pos="9383395" algn="l"/>
                <a:tab pos="9830435" algn="l"/>
              </a:tabLst>
            </a:pPr>
            <a:r>
              <a:rPr sz="2800" spc="-10" dirty="0">
                <a:latin typeface="Calibri"/>
                <a:cs typeface="Calibri"/>
              </a:rPr>
              <a:t>Identify</a:t>
            </a:r>
            <a:r>
              <a:rPr sz="2800" dirty="0">
                <a:latin typeface="Calibri"/>
                <a:cs typeface="Calibri"/>
              </a:rPr>
              <a:t>	</a:t>
            </a:r>
            <a:r>
              <a:rPr sz="2800" spc="-20" dirty="0">
                <a:latin typeface="Calibri"/>
                <a:cs typeface="Calibri"/>
              </a:rPr>
              <a:t>real</a:t>
            </a:r>
            <a:r>
              <a:rPr sz="2800" dirty="0">
                <a:latin typeface="Calibri"/>
                <a:cs typeface="Calibri"/>
              </a:rPr>
              <a:t>	</a:t>
            </a:r>
            <a:r>
              <a:rPr sz="2800" spc="-20" dirty="0">
                <a:latin typeface="Calibri"/>
                <a:cs typeface="Calibri"/>
              </a:rPr>
              <a:t>life</a:t>
            </a:r>
            <a:r>
              <a:rPr sz="2800" dirty="0">
                <a:latin typeface="Calibri"/>
                <a:cs typeface="Calibri"/>
              </a:rPr>
              <a:t>	</a:t>
            </a:r>
            <a:r>
              <a:rPr sz="2800" spc="-10" dirty="0">
                <a:latin typeface="Calibri"/>
                <a:cs typeface="Calibri"/>
              </a:rPr>
              <a:t>examples</a:t>
            </a:r>
            <a:r>
              <a:rPr sz="2800" dirty="0">
                <a:latin typeface="Calibri"/>
                <a:cs typeface="Calibri"/>
              </a:rPr>
              <a:t>	</a:t>
            </a:r>
            <a:r>
              <a:rPr sz="2800" spc="-25" dirty="0">
                <a:latin typeface="Calibri"/>
                <a:cs typeface="Calibri"/>
              </a:rPr>
              <a:t>of</a:t>
            </a:r>
            <a:r>
              <a:rPr sz="2800" dirty="0">
                <a:latin typeface="Calibri"/>
                <a:cs typeface="Calibri"/>
              </a:rPr>
              <a:t>	</a:t>
            </a:r>
            <a:r>
              <a:rPr sz="2800" spc="-50" dirty="0">
                <a:latin typeface="Calibri"/>
                <a:cs typeface="Calibri"/>
              </a:rPr>
              <a:t>a</a:t>
            </a:r>
            <a:r>
              <a:rPr sz="2800" dirty="0">
                <a:latin typeface="Calibri"/>
                <a:cs typeface="Calibri"/>
              </a:rPr>
              <a:t>	</a:t>
            </a:r>
            <a:r>
              <a:rPr sz="2800" spc="-10" dirty="0">
                <a:latin typeface="Calibri"/>
                <a:cs typeface="Calibri"/>
              </a:rPr>
              <a:t>project</a:t>
            </a:r>
            <a:r>
              <a:rPr sz="2800" dirty="0">
                <a:latin typeface="Calibri"/>
                <a:cs typeface="Calibri"/>
              </a:rPr>
              <a:t>	</a:t>
            </a:r>
            <a:r>
              <a:rPr sz="2800" spc="-20" dirty="0">
                <a:latin typeface="Calibri"/>
                <a:cs typeface="Calibri"/>
              </a:rPr>
              <a:t>that</a:t>
            </a:r>
            <a:r>
              <a:rPr sz="2800" dirty="0">
                <a:latin typeface="Calibri"/>
                <a:cs typeface="Calibri"/>
              </a:rPr>
              <a:t>	</a:t>
            </a:r>
            <a:r>
              <a:rPr sz="2800" spc="-10" dirty="0">
                <a:latin typeface="Calibri"/>
                <a:cs typeface="Calibri"/>
              </a:rPr>
              <a:t>would</a:t>
            </a:r>
            <a:r>
              <a:rPr sz="2800" dirty="0">
                <a:latin typeface="Calibri"/>
                <a:cs typeface="Calibri"/>
              </a:rPr>
              <a:t>	</a:t>
            </a:r>
            <a:r>
              <a:rPr sz="2800" spc="-25" dirty="0">
                <a:latin typeface="Calibri"/>
                <a:cs typeface="Calibri"/>
              </a:rPr>
              <a:t>fit</a:t>
            </a:r>
            <a:r>
              <a:rPr sz="2800" dirty="0">
                <a:latin typeface="Calibri"/>
                <a:cs typeface="Calibri"/>
              </a:rPr>
              <a:t>	</a:t>
            </a:r>
            <a:r>
              <a:rPr sz="2800" spc="-20" dirty="0">
                <a:latin typeface="Calibri"/>
                <a:cs typeface="Calibri"/>
              </a:rPr>
              <a:t>each</a:t>
            </a:r>
            <a:r>
              <a:rPr sz="2800" dirty="0">
                <a:latin typeface="Calibri"/>
                <a:cs typeface="Calibri"/>
              </a:rPr>
              <a:t>	</a:t>
            </a:r>
            <a:r>
              <a:rPr sz="2800" spc="-25" dirty="0">
                <a:latin typeface="Calibri"/>
                <a:cs typeface="Calibri"/>
              </a:rPr>
              <a:t>of</a:t>
            </a:r>
            <a:r>
              <a:rPr sz="2800" dirty="0">
                <a:latin typeface="Calibri"/>
                <a:cs typeface="Calibri"/>
              </a:rPr>
              <a:t>	</a:t>
            </a:r>
            <a:r>
              <a:rPr sz="2800" spc="-25" dirty="0">
                <a:latin typeface="Calibri"/>
                <a:cs typeface="Calibri"/>
              </a:rPr>
              <a:t>the 	</a:t>
            </a:r>
            <a:r>
              <a:rPr sz="2800" dirty="0">
                <a:latin typeface="Calibri"/>
                <a:cs typeface="Calibri"/>
              </a:rPr>
              <a:t>following</a:t>
            </a:r>
            <a:r>
              <a:rPr sz="2800" spc="-95" dirty="0">
                <a:latin typeface="Calibri"/>
                <a:cs typeface="Calibri"/>
              </a:rPr>
              <a:t> </a:t>
            </a:r>
            <a:r>
              <a:rPr sz="2800" dirty="0">
                <a:latin typeface="Calibri"/>
                <a:cs typeface="Calibri"/>
              </a:rPr>
              <a:t>priority</a:t>
            </a:r>
            <a:r>
              <a:rPr sz="2800" spc="-95" dirty="0">
                <a:latin typeface="Calibri"/>
                <a:cs typeface="Calibri"/>
              </a:rPr>
              <a:t> </a:t>
            </a:r>
            <a:r>
              <a:rPr sz="2800" spc="-10" dirty="0">
                <a:latin typeface="Calibri"/>
                <a:cs typeface="Calibri"/>
              </a:rPr>
              <a:t>scenarios:</a:t>
            </a:r>
            <a:endParaRPr sz="2800" dirty="0">
              <a:latin typeface="Calibri"/>
              <a:cs typeface="Calibri"/>
            </a:endParaRPr>
          </a:p>
          <a:p>
            <a:pPr marL="274320" marR="3380740">
              <a:lnSpc>
                <a:spcPts val="3479"/>
              </a:lnSpc>
              <a:spcBef>
                <a:spcPts val="95"/>
              </a:spcBef>
            </a:pPr>
            <a:r>
              <a:rPr sz="2800" dirty="0">
                <a:latin typeface="Calibri"/>
                <a:cs typeface="Calibri"/>
              </a:rPr>
              <a:t>a.Time-</a:t>
            </a:r>
            <a:r>
              <a:rPr sz="2800" spc="-10" dirty="0">
                <a:latin typeface="Calibri"/>
                <a:cs typeface="Calibri"/>
              </a:rPr>
              <a:t>constrain,</a:t>
            </a:r>
            <a:r>
              <a:rPr sz="2800" spc="-15" dirty="0">
                <a:latin typeface="Calibri"/>
                <a:cs typeface="Calibri"/>
              </a:rPr>
              <a:t> </a:t>
            </a:r>
            <a:r>
              <a:rPr sz="2800" spc="-20" dirty="0">
                <a:latin typeface="Calibri"/>
                <a:cs typeface="Calibri"/>
              </a:rPr>
              <a:t>Scope-</a:t>
            </a:r>
            <a:r>
              <a:rPr sz="2800" dirty="0">
                <a:latin typeface="Calibri"/>
                <a:cs typeface="Calibri"/>
              </a:rPr>
              <a:t>enhance,</a:t>
            </a:r>
            <a:r>
              <a:rPr sz="2800" spc="-10" dirty="0">
                <a:latin typeface="Calibri"/>
                <a:cs typeface="Calibri"/>
              </a:rPr>
              <a:t> </a:t>
            </a:r>
            <a:r>
              <a:rPr sz="2800" spc="-35" dirty="0">
                <a:latin typeface="Calibri"/>
                <a:cs typeface="Calibri"/>
              </a:rPr>
              <a:t>Cost-</a:t>
            </a:r>
            <a:r>
              <a:rPr sz="2800" spc="-10" dirty="0">
                <a:latin typeface="Calibri"/>
                <a:cs typeface="Calibri"/>
              </a:rPr>
              <a:t>accept b.Time-</a:t>
            </a:r>
            <a:r>
              <a:rPr sz="2800" dirty="0">
                <a:latin typeface="Calibri"/>
                <a:cs typeface="Calibri"/>
              </a:rPr>
              <a:t>enhance,</a:t>
            </a:r>
            <a:r>
              <a:rPr sz="2800" spc="-45" dirty="0">
                <a:latin typeface="Calibri"/>
                <a:cs typeface="Calibri"/>
              </a:rPr>
              <a:t> </a:t>
            </a:r>
            <a:r>
              <a:rPr sz="2800" spc="-20" dirty="0">
                <a:latin typeface="Calibri"/>
                <a:cs typeface="Calibri"/>
              </a:rPr>
              <a:t>Scope-</a:t>
            </a:r>
            <a:r>
              <a:rPr sz="2800" spc="-10" dirty="0">
                <a:latin typeface="Calibri"/>
                <a:cs typeface="Calibri"/>
              </a:rPr>
              <a:t>constrain,</a:t>
            </a:r>
            <a:r>
              <a:rPr sz="2800" spc="-45" dirty="0">
                <a:latin typeface="Calibri"/>
                <a:cs typeface="Calibri"/>
              </a:rPr>
              <a:t> </a:t>
            </a:r>
            <a:r>
              <a:rPr sz="2800" spc="-35" dirty="0">
                <a:latin typeface="Calibri"/>
                <a:cs typeface="Calibri"/>
              </a:rPr>
              <a:t>Cost-</a:t>
            </a:r>
            <a:r>
              <a:rPr sz="2800" spc="-10" dirty="0">
                <a:latin typeface="Calibri"/>
                <a:cs typeface="Calibri"/>
              </a:rPr>
              <a:t>accept</a:t>
            </a:r>
            <a:endParaRPr sz="2800" dirty="0">
              <a:latin typeface="Calibri"/>
              <a:cs typeface="Calibri"/>
            </a:endParaRPr>
          </a:p>
          <a:p>
            <a:pPr marL="274320">
              <a:lnSpc>
                <a:spcPct val="100000"/>
              </a:lnSpc>
              <a:spcBef>
                <a:spcPts val="5"/>
              </a:spcBef>
            </a:pPr>
            <a:r>
              <a:rPr sz="2800" spc="-10" dirty="0">
                <a:latin typeface="Calibri"/>
                <a:cs typeface="Calibri"/>
              </a:rPr>
              <a:t>c.</a:t>
            </a:r>
            <a:r>
              <a:rPr sz="2800" spc="-330" dirty="0">
                <a:latin typeface="Calibri"/>
                <a:cs typeface="Calibri"/>
              </a:rPr>
              <a:t> </a:t>
            </a:r>
            <a:r>
              <a:rPr sz="2800" spc="-20" dirty="0">
                <a:latin typeface="Calibri"/>
                <a:cs typeface="Calibri"/>
              </a:rPr>
              <a:t>Time-</a:t>
            </a:r>
            <a:r>
              <a:rPr sz="2800" spc="-10" dirty="0">
                <a:latin typeface="Calibri"/>
                <a:cs typeface="Calibri"/>
              </a:rPr>
              <a:t>constrain,</a:t>
            </a:r>
            <a:r>
              <a:rPr sz="2800" spc="-25" dirty="0">
                <a:latin typeface="Calibri"/>
                <a:cs typeface="Calibri"/>
              </a:rPr>
              <a:t> </a:t>
            </a:r>
            <a:r>
              <a:rPr sz="2800" spc="-20" dirty="0">
                <a:latin typeface="Calibri"/>
                <a:cs typeface="Calibri"/>
              </a:rPr>
              <a:t>Scope-</a:t>
            </a:r>
            <a:r>
              <a:rPr sz="2800" dirty="0">
                <a:latin typeface="Calibri"/>
                <a:cs typeface="Calibri"/>
              </a:rPr>
              <a:t>accept,</a:t>
            </a:r>
            <a:r>
              <a:rPr sz="2800" spc="-15" dirty="0">
                <a:latin typeface="Calibri"/>
                <a:cs typeface="Calibri"/>
              </a:rPr>
              <a:t> </a:t>
            </a:r>
            <a:r>
              <a:rPr sz="2800" spc="-35" dirty="0">
                <a:latin typeface="Calibri"/>
                <a:cs typeface="Calibri"/>
              </a:rPr>
              <a:t>Cost-</a:t>
            </a:r>
            <a:r>
              <a:rPr sz="2800" spc="-10" dirty="0">
                <a:latin typeface="Calibri"/>
                <a:cs typeface="Calibri"/>
              </a:rPr>
              <a:t>enhance</a:t>
            </a:r>
            <a:endParaRPr sz="28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28</a:t>
            </a:r>
            <a:endParaRPr sz="1200">
              <a:latin typeface="Calibri"/>
              <a:cs typeface="Calibri"/>
            </a:endParaRPr>
          </a:p>
        </p:txBody>
      </p:sp>
      <p:pic>
        <p:nvPicPr>
          <p:cNvPr id="5" name="Picture 4">
            <a:extLst>
              <a:ext uri="{FF2B5EF4-FFF2-40B4-BE49-F238E27FC236}">
                <a16:creationId xmlns:a16="http://schemas.microsoft.com/office/drawing/2014/main" id="{751A161E-FBB2-B3B8-48AA-0D8C6FE2B1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7151" y="29138"/>
            <a:ext cx="1543181" cy="8573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149</TotalTime>
  <Words>6958</Words>
  <Application>Microsoft Office PowerPoint</Application>
  <PresentationFormat>Widescreen</PresentationFormat>
  <Paragraphs>536</Paragraphs>
  <Slides>48</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Adobe Clean</vt:lpstr>
      <vt:lpstr>Arial</vt:lpstr>
      <vt:lpstr>Arial MT</vt:lpstr>
      <vt:lpstr>Calibri</vt:lpstr>
      <vt:lpstr>Calibri Light</vt:lpstr>
      <vt:lpstr>Raleway</vt:lpstr>
      <vt:lpstr>Roboto</vt:lpstr>
      <vt:lpstr>Times New Roman</vt:lpstr>
      <vt:lpstr>Office Theme</vt:lpstr>
      <vt:lpstr>Defining the Project</vt:lpstr>
      <vt:lpstr>Five general steps for collecting project information </vt:lpstr>
      <vt:lpstr>Step 1: Defining project scope</vt:lpstr>
      <vt:lpstr>Why is defining project scope important in project management? </vt:lpstr>
      <vt:lpstr>How to define project scope step-by-step?  </vt:lpstr>
      <vt:lpstr>Scope statement – example </vt:lpstr>
      <vt:lpstr>PowerPoint Presentation</vt:lpstr>
      <vt:lpstr>PowerPoint Presentation</vt:lpstr>
      <vt:lpstr>PowerPoint Presentation</vt:lpstr>
      <vt:lpstr>More Project scope examples </vt:lpstr>
      <vt:lpstr>Project charter </vt:lpstr>
      <vt:lpstr>Creating a Project Charter </vt:lpstr>
      <vt:lpstr>Scope creep  </vt:lpstr>
      <vt:lpstr>Six of most causes of scope creep:</vt:lpstr>
      <vt:lpstr>2- Establishing Project Priorities</vt:lpstr>
      <vt:lpstr>Priority matrix (1/3)</vt:lpstr>
      <vt:lpstr>Priority matrix (2/3)</vt:lpstr>
      <vt:lpstr>Priority matrix (3/3)</vt:lpstr>
      <vt:lpstr>Example: Designing new IPhone</vt:lpstr>
      <vt:lpstr>3- Creating the Work Breakdown Structure (WBS)</vt:lpstr>
      <vt:lpstr>3- Creating the Work Breakdown Structure (WBS)</vt:lpstr>
      <vt:lpstr>3- Creating the Work Breakdown Structure (WBS)</vt:lpstr>
      <vt:lpstr>3- Creating the Work Breakdown Structure (WBS)</vt:lpstr>
      <vt:lpstr>3- Creating the Work Breakdown Structure (WBS)</vt:lpstr>
      <vt:lpstr>Levels of Breakdown in (WBS)</vt:lpstr>
      <vt:lpstr>Levels of Breakdown in (WBS)</vt:lpstr>
      <vt:lpstr>Levels of Breakdown in (WBS)</vt:lpstr>
      <vt:lpstr>Levels of Breakdown in (WBS)</vt:lpstr>
      <vt:lpstr>Example 1:</vt:lpstr>
      <vt:lpstr>Example 2:</vt:lpstr>
      <vt:lpstr>Example 3:</vt:lpstr>
      <vt:lpstr>3- Creating the Work Breakdown Structure (WBS)</vt:lpstr>
      <vt:lpstr>3- Creating the Work Breakdown Structure (WBS)</vt:lpstr>
      <vt:lpstr>3- Creating the Work Breakdown Structure (WBS)</vt:lpstr>
      <vt:lpstr>4- Integrating the WBS with the Organization (1/2)</vt:lpstr>
      <vt:lpstr>4- Integrating the WBS with the Organization (2/2)</vt:lpstr>
      <vt:lpstr>5- Coding the WBS for the Information System (1/2)</vt:lpstr>
      <vt:lpstr>5- Coding the WBS for the Information System (2/2)</vt:lpstr>
      <vt:lpstr>Responsibility Matrices (1/3)</vt:lpstr>
      <vt:lpstr>Responsibility Matrices (2/3)</vt:lpstr>
      <vt:lpstr>Responsibility Matrices (3/3)</vt:lpstr>
      <vt:lpstr>Project Communication Plan (1/6)</vt:lpstr>
      <vt:lpstr>Project Communication Plan (2/6)</vt:lpstr>
      <vt:lpstr>Project Communication Plan (3/6)</vt:lpstr>
      <vt:lpstr>Project Communication Plan (4/6)</vt:lpstr>
      <vt:lpstr>Project Communication Plan (5/6)</vt:lpstr>
      <vt:lpstr>Project Communication Plan (6/6)</vt:lpstr>
      <vt:lpstr>Assignement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Defining the Project</dc:title>
  <dc:creator>BASHA</dc:creator>
  <cp:lastModifiedBy>Zahraa.Ismail</cp:lastModifiedBy>
  <cp:revision>43</cp:revision>
  <dcterms:created xsi:type="dcterms:W3CDTF">2025-07-31T07:39:44Z</dcterms:created>
  <dcterms:modified xsi:type="dcterms:W3CDTF">2025-10-19T07:30:06Z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2024-03-04T00:00:00Z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