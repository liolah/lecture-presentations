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0"/>
  </p:notesMasterIdLst>
  <p:sldIdLst>
    <p:sldId id="256" r:id="rId2"/>
    <p:sldId id="257" r:id="rId3"/>
    <p:sldId id="258" r:id="rId4"/>
    <p:sldId id="298" r:id="rId5"/>
    <p:sldId id="299" r:id="rId6"/>
    <p:sldId id="259" r:id="rId7"/>
    <p:sldId id="289" r:id="rId8"/>
    <p:sldId id="301" r:id="rId9"/>
    <p:sldId id="261" r:id="rId10"/>
    <p:sldId id="260" r:id="rId11"/>
    <p:sldId id="262" r:id="rId12"/>
    <p:sldId id="263" r:id="rId13"/>
    <p:sldId id="264" r:id="rId14"/>
    <p:sldId id="265" r:id="rId15"/>
    <p:sldId id="266" r:id="rId16"/>
    <p:sldId id="267" r:id="rId17"/>
    <p:sldId id="268" r:id="rId18"/>
    <p:sldId id="269" r:id="rId19"/>
    <p:sldId id="300" r:id="rId20"/>
    <p:sldId id="270" r:id="rId21"/>
    <p:sldId id="271" r:id="rId22"/>
    <p:sldId id="306" r:id="rId23"/>
    <p:sldId id="272" r:id="rId24"/>
    <p:sldId id="273" r:id="rId25"/>
    <p:sldId id="274" r:id="rId26"/>
    <p:sldId id="302" r:id="rId27"/>
    <p:sldId id="303" r:id="rId28"/>
    <p:sldId id="275" r:id="rId29"/>
    <p:sldId id="276" r:id="rId30"/>
    <p:sldId id="304" r:id="rId31"/>
    <p:sldId id="277" r:id="rId32"/>
    <p:sldId id="278" r:id="rId33"/>
    <p:sldId id="305" r:id="rId34"/>
    <p:sldId id="279" r:id="rId35"/>
    <p:sldId id="280" r:id="rId36"/>
    <p:sldId id="281" r:id="rId37"/>
    <p:sldId id="282" r:id="rId38"/>
    <p:sldId id="283" r:id="rId39"/>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4303" autoAdjust="0"/>
  </p:normalViewPr>
  <p:slideViewPr>
    <p:cSldViewPr>
      <p:cViewPr varScale="1">
        <p:scale>
          <a:sx n="64" d="100"/>
          <a:sy n="64" d="100"/>
        </p:scale>
        <p:origin x="1548" y="66"/>
      </p:cViewPr>
      <p:guideLst>
        <p:guide orient="horz" pos="2880"/>
        <p:guide pos="2160"/>
      </p:guideLst>
    </p:cSldViewPr>
  </p:slideViewPr>
  <p:notesTextViewPr>
    <p:cViewPr>
      <p:scale>
        <a:sx n="100" d="100"/>
        <a:sy n="100" d="100"/>
      </p:scale>
      <p:origin x="0" y="-2622"/>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64377179-65AD-4F6A-8145-D4C52C8C8613}" type="datetimeFigureOut">
              <a:rPr lang="en-US" smtClean="0"/>
              <a:t>10/30/2025</a:t>
            </a:fld>
            <a:endParaRPr lang="en-US"/>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9A7E9661-917B-4FBF-BFC0-D8B59675D29E}" type="slidenum">
              <a:rPr lang="en-US" smtClean="0"/>
              <a:t>‹#›</a:t>
            </a:fld>
            <a:endParaRPr lang="en-US"/>
          </a:p>
        </p:txBody>
      </p:sp>
    </p:spTree>
    <p:extLst>
      <p:ext uri="{BB962C8B-B14F-4D97-AF65-F5344CB8AC3E}">
        <p14:creationId xmlns:p14="http://schemas.microsoft.com/office/powerpoint/2010/main" val="3478801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taskford.com/en/blog/project-planning-advanced-tips" TargetMode="External"/><Relationship Id="rId2" Type="http://schemas.openxmlformats.org/officeDocument/2006/relationships/slide" Target="../slides/slide22.xml"/><Relationship Id="rId1" Type="http://schemas.openxmlformats.org/officeDocument/2006/relationships/notesMaster" Target="../notesMasters/notesMaster1.xml"/><Relationship Id="rId6" Type="http://schemas.openxmlformats.org/officeDocument/2006/relationships/hyperlink" Target="https://taskford.com/en/blog/what-is-float-in-project-management" TargetMode="External"/><Relationship Id="rId5" Type="http://schemas.openxmlformats.org/officeDocument/2006/relationships/hyperlink" Target="https://taskford.com/en/blog/types-of-project-managers" TargetMode="External"/><Relationship Id="rId4" Type="http://schemas.openxmlformats.org/officeDocument/2006/relationships/hyperlink" Target="https://taskford.com/en/blog/understanding-resource-allocation" TargetMode="Externa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ar-EG" sz="1200" b="0" i="0" kern="1200" dirty="0">
                <a:solidFill>
                  <a:schemeClr val="tx1"/>
                </a:solidFill>
                <a:effectLst/>
                <a:latin typeface="+mn-lt"/>
                <a:ea typeface="+mn-ea"/>
                <a:cs typeface="+mn-cs"/>
              </a:rPr>
              <a:t>شبكة المشروع هي الأداة المستخدمة لتخطيط وجدولة ومراقبة تقدم المشروع. تُطوّر هذه الشبكة من المعلومات المُجمّعة لهيكل تقسيم العمل (</a:t>
            </a:r>
            <a:r>
              <a:rPr lang="en-US" sz="1200" b="0" i="0" kern="1200" dirty="0">
                <a:solidFill>
                  <a:schemeClr val="tx1"/>
                </a:solidFill>
                <a:effectLst/>
                <a:latin typeface="+mn-lt"/>
                <a:ea typeface="+mn-ea"/>
                <a:cs typeface="+mn-cs"/>
              </a:rPr>
              <a:t>WBS)، </a:t>
            </a:r>
            <a:r>
              <a:rPr lang="ar-EG" sz="1200" b="0" i="0" kern="1200" dirty="0">
                <a:solidFill>
                  <a:schemeClr val="tx1"/>
                </a:solidFill>
                <a:effectLst/>
                <a:latin typeface="+mn-lt"/>
                <a:ea typeface="+mn-ea"/>
                <a:cs typeface="+mn-cs"/>
              </a:rPr>
              <a:t>وهي عبارة عن مخطط انسيابي بياني لخطة عمل المشروع. توضح الشبكة أنشطة المشروع التي يجب إكمالها، والتسلسلات المنطقية، والترابطات بين الأنشطة المطلوب إكمالها، وفي معظم الحالات، أوقات بدء وانتهاء الأنشطة، بالإضافة إلى أطول مسار (مسارات) عبر الشبكة - المسار الحرج. وهي الإطار الذي يعتمد عليه مديرو المشاريع لاتخاذ القرارات المتعلقة بوقت المشروع وتكلفته وأدائه.</a:t>
            </a:r>
          </a:p>
          <a:p>
            <a:endParaRPr lang="en-US" dirty="0"/>
          </a:p>
        </p:txBody>
      </p:sp>
      <p:sp>
        <p:nvSpPr>
          <p:cNvPr id="4" name="Slide Number Placeholder 3"/>
          <p:cNvSpPr>
            <a:spLocks noGrp="1"/>
          </p:cNvSpPr>
          <p:nvPr>
            <p:ph type="sldNum" sz="quarter" idx="5"/>
          </p:nvPr>
        </p:nvSpPr>
        <p:spPr/>
        <p:txBody>
          <a:bodyPr/>
          <a:lstStyle/>
          <a:p>
            <a:fld id="{9A7E9661-917B-4FBF-BFC0-D8B59675D29E}" type="slidenum">
              <a:rPr lang="en-US" smtClean="0"/>
              <a:t>2</a:t>
            </a:fld>
            <a:endParaRPr lang="en-US"/>
          </a:p>
        </p:txBody>
      </p:sp>
    </p:spTree>
    <p:extLst>
      <p:ext uri="{BB962C8B-B14F-4D97-AF65-F5344CB8AC3E}">
        <p14:creationId xmlns:p14="http://schemas.microsoft.com/office/powerpoint/2010/main" val="19630646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ar-EG" sz="1200" b="0" i="0" kern="1200" dirty="0">
                <a:solidFill>
                  <a:schemeClr val="tx1"/>
                </a:solidFill>
                <a:effectLst/>
                <a:latin typeface="+mn-lt"/>
                <a:ea typeface="+mn-ea"/>
                <a:cs typeface="+mn-cs"/>
              </a:rPr>
              <a:t>الشبكة سهلة الفهم للآخرين لأنها تُقدم عرضًا بيانيًا لتدفق وتسلسل العمل خلال المشروع.</a:t>
            </a:r>
          </a:p>
          <a:p>
            <a:pPr rtl="1"/>
            <a:endParaRPr lang="ar-EG" sz="1200" b="0" i="0" kern="1200" dirty="0">
              <a:solidFill>
                <a:schemeClr val="tx1"/>
              </a:solidFill>
              <a:effectLst/>
              <a:latin typeface="+mn-lt"/>
              <a:ea typeface="+mn-ea"/>
              <a:cs typeface="+mn-cs"/>
            </a:endParaRPr>
          </a:p>
          <a:p>
            <a:pPr rtl="1"/>
            <a:r>
              <a:rPr lang="ar-EG" sz="1200" b="0" i="0" kern="1200" dirty="0">
                <a:solidFill>
                  <a:schemeClr val="tx1"/>
                </a:solidFill>
                <a:effectLst/>
                <a:latin typeface="+mn-lt"/>
                <a:ea typeface="+mn-ea"/>
                <a:cs typeface="+mn-cs"/>
              </a:rPr>
              <a:t>من السهل جدًا تعديلها أو تغييرها عند حدوث أحداث غير متوقعة أثناء تقدم المشروع.</a:t>
            </a:r>
          </a:p>
          <a:p>
            <a:pPr rtl="1"/>
            <a:endParaRPr lang="ar-EG" sz="1200" b="0" i="0" kern="1200" dirty="0">
              <a:solidFill>
                <a:schemeClr val="tx1"/>
              </a:solidFill>
              <a:effectLst/>
              <a:latin typeface="+mn-lt"/>
              <a:ea typeface="+mn-ea"/>
              <a:cs typeface="+mn-cs"/>
            </a:endParaRPr>
          </a:p>
          <a:p>
            <a:pPr rtl="1"/>
            <a:r>
              <a:rPr lang="ar-EG" sz="1200" b="0" i="0" kern="1200" dirty="0">
                <a:solidFill>
                  <a:schemeClr val="tx1"/>
                </a:solidFill>
                <a:effectLst/>
                <a:latin typeface="+mn-lt"/>
                <a:ea typeface="+mn-ea"/>
                <a:cs typeface="+mn-cs"/>
              </a:rPr>
              <a:t>تُوفر أساسًا لجدولة العمل والمعدات.</a:t>
            </a:r>
          </a:p>
          <a:p>
            <a:pPr rtl="1"/>
            <a:endParaRPr lang="ar-EG" sz="1200" b="0" i="0" kern="1200" dirty="0">
              <a:solidFill>
                <a:schemeClr val="tx1"/>
              </a:solidFill>
              <a:effectLst/>
              <a:latin typeface="+mn-lt"/>
              <a:ea typeface="+mn-ea"/>
              <a:cs typeface="+mn-cs"/>
            </a:endParaRPr>
          </a:p>
          <a:p>
            <a:pPr rtl="1"/>
            <a:r>
              <a:rPr lang="ar-EG" sz="1200" b="0" i="0" kern="1200" dirty="0">
                <a:solidFill>
                  <a:schemeClr val="tx1"/>
                </a:solidFill>
                <a:effectLst/>
                <a:latin typeface="+mn-lt"/>
                <a:ea typeface="+mn-ea"/>
                <a:cs typeface="+mn-cs"/>
              </a:rPr>
              <a:t>تُعزز التواصل الذي يجمع جميع المديرين والمجموعات معًا لتحقيق أهداف الوقت والتكلفة والأداء للمشروع.</a:t>
            </a:r>
          </a:p>
          <a:p>
            <a:pPr rtl="1"/>
            <a:endParaRPr lang="ar-EG" sz="1200" b="0" i="0" kern="1200" dirty="0">
              <a:solidFill>
                <a:schemeClr val="tx1"/>
              </a:solidFill>
              <a:effectLst/>
              <a:latin typeface="+mn-lt"/>
              <a:ea typeface="+mn-ea"/>
              <a:cs typeface="+mn-cs"/>
            </a:endParaRPr>
          </a:p>
          <a:p>
            <a:pPr rtl="1"/>
            <a:r>
              <a:rPr lang="ar-EG" sz="1200" b="0" i="0" kern="1200" dirty="0">
                <a:solidFill>
                  <a:schemeClr val="tx1"/>
                </a:solidFill>
                <a:effectLst/>
                <a:latin typeface="+mn-lt"/>
                <a:ea typeface="+mn-ea"/>
                <a:cs typeface="+mn-cs"/>
              </a:rPr>
              <a:t>تُقدم تقديرًا لمدة المشروع بدلاً من اختيار تاريخ إنجاز المشروع من تاريخ مُفضل لشخص ما.</a:t>
            </a:r>
          </a:p>
          <a:p>
            <a:pPr rtl="1"/>
            <a:endParaRPr lang="ar-EG" sz="1200" b="0" i="0" kern="1200" dirty="0">
              <a:solidFill>
                <a:schemeClr val="tx1"/>
              </a:solidFill>
              <a:effectLst/>
              <a:latin typeface="+mn-lt"/>
              <a:ea typeface="+mn-ea"/>
              <a:cs typeface="+mn-cs"/>
            </a:endParaRPr>
          </a:p>
          <a:p>
            <a:pPr rtl="1"/>
            <a:r>
              <a:rPr lang="ar-EG" sz="1200" b="0" i="0" kern="1200" dirty="0">
                <a:solidFill>
                  <a:schemeClr val="tx1"/>
                </a:solidFill>
                <a:effectLst/>
                <a:latin typeface="+mn-lt"/>
                <a:ea typeface="+mn-ea"/>
                <a:cs typeface="+mn-cs"/>
              </a:rPr>
              <a:t>تُحدد أوقات بدء الأنشطة وانتهائها ومتى يُمكن تأجيلها.</a:t>
            </a:r>
          </a:p>
          <a:p>
            <a:pPr rtl="1"/>
            <a:endParaRPr lang="ar-EG" sz="1200" b="0" i="0" kern="1200" dirty="0">
              <a:solidFill>
                <a:schemeClr val="tx1"/>
              </a:solidFill>
              <a:effectLst/>
              <a:latin typeface="+mn-lt"/>
              <a:ea typeface="+mn-ea"/>
              <a:cs typeface="+mn-cs"/>
            </a:endParaRPr>
          </a:p>
          <a:p>
            <a:pPr rtl="1"/>
            <a:r>
              <a:rPr lang="ar-EG" sz="1200" b="0" i="0" kern="1200" dirty="0">
                <a:solidFill>
                  <a:schemeClr val="tx1"/>
                </a:solidFill>
                <a:effectLst/>
                <a:latin typeface="+mn-lt"/>
                <a:ea typeface="+mn-ea"/>
                <a:cs typeface="+mn-cs"/>
              </a:rPr>
              <a:t>تُوفر أساسًا لوضع ميزانية التدفق النقدي للمشروع.</a:t>
            </a:r>
          </a:p>
          <a:p>
            <a:pPr rtl="1"/>
            <a:endParaRPr lang="ar-EG" sz="1200" b="0" i="0" kern="1200" dirty="0">
              <a:solidFill>
                <a:schemeClr val="tx1"/>
              </a:solidFill>
              <a:effectLst/>
              <a:latin typeface="+mn-lt"/>
              <a:ea typeface="+mn-ea"/>
              <a:cs typeface="+mn-cs"/>
            </a:endParaRPr>
          </a:p>
          <a:p>
            <a:pPr rtl="1"/>
            <a:r>
              <a:rPr lang="ar-EG" sz="1200" b="0" i="0" kern="1200" dirty="0">
                <a:solidFill>
                  <a:schemeClr val="tx1"/>
                </a:solidFill>
                <a:effectLst/>
                <a:latin typeface="+mn-lt"/>
                <a:ea typeface="+mn-ea"/>
                <a:cs typeface="+mn-cs"/>
              </a:rPr>
              <a:t>تُحدد الأنشطة "الحرجة"، وبالتالي لا ينبغي تأخيرها إذا كان من المقرر إكمال المشروع كما هو مُخطط له. وتُسلط الضوء على الأنشطة التي يجب مراعاتها إذا كان المشروع بحاجة إلى ضغط للوفاء بالموعد النهائي.</a:t>
            </a:r>
          </a:p>
          <a:p>
            <a:pPr algn="l" fontAlgn="base"/>
            <a:endParaRPr lang="en-US" b="0" i="0" dirty="0">
              <a:solidFill>
                <a:srgbClr val="414141"/>
              </a:solidFill>
              <a:effectLst/>
              <a:latin typeface="Roboto" panose="02000000000000000000" pitchFamily="2" charset="0"/>
            </a:endParaRPr>
          </a:p>
          <a:p>
            <a:pPr algn="l" fontAlgn="base"/>
            <a:r>
              <a:rPr lang="en-US" b="0" i="0" dirty="0">
                <a:solidFill>
                  <a:srgbClr val="414141"/>
                </a:solidFill>
                <a:effectLst/>
                <a:latin typeface="Roboto" panose="02000000000000000000" pitchFamily="2" charset="0"/>
              </a:rPr>
              <a:t>Network diagrams serve multiple purposes in project management. Let’s explore the key objectives they help achieve:</a:t>
            </a:r>
          </a:p>
          <a:p>
            <a:pPr algn="l" fontAlgn="base"/>
            <a:r>
              <a:rPr lang="en-US" b="1" i="0" dirty="0">
                <a:solidFill>
                  <a:srgbClr val="222222"/>
                </a:solidFill>
                <a:effectLst/>
                <a:latin typeface="Roboto" panose="02000000000000000000" pitchFamily="2" charset="0"/>
              </a:rPr>
              <a:t>Understanding the Project Scope</a:t>
            </a:r>
          </a:p>
          <a:p>
            <a:pPr algn="l" fontAlgn="base"/>
            <a:r>
              <a:rPr lang="en-US" b="0" i="0" dirty="0">
                <a:solidFill>
                  <a:srgbClr val="414141"/>
                </a:solidFill>
                <a:effectLst/>
                <a:latin typeface="Roboto" panose="02000000000000000000" pitchFamily="2" charset="0"/>
              </a:rPr>
              <a:t>Network diagrams help project managers and stakeholders gain a comprehensive understanding of the project’s scope. By visually representing the project’s activities and their relationships, network diagrams provide a holistic view of the project’s intricacies and deliverables.</a:t>
            </a:r>
          </a:p>
          <a:p>
            <a:pPr algn="l" fontAlgn="base"/>
            <a:r>
              <a:rPr lang="en-US" b="1" i="0" dirty="0">
                <a:solidFill>
                  <a:srgbClr val="222222"/>
                </a:solidFill>
                <a:effectLst/>
                <a:latin typeface="Roboto" panose="02000000000000000000" pitchFamily="2" charset="0"/>
              </a:rPr>
              <a:t>Identifying Critical Path</a:t>
            </a:r>
          </a:p>
          <a:p>
            <a:pPr algn="l" fontAlgn="base"/>
            <a:r>
              <a:rPr lang="en-US" b="0" i="0" dirty="0">
                <a:solidFill>
                  <a:srgbClr val="414141"/>
                </a:solidFill>
                <a:effectLst/>
                <a:latin typeface="Roboto" panose="02000000000000000000" pitchFamily="2" charset="0"/>
              </a:rPr>
              <a:t>The critical path of a project is the sequence of activities that will take the longest time to complete and determines the project’s overall duration. Network diagrams enable project managers to identify the critical path by analyzing the dependencies and durations of activities. This helps in resource planning and ensures that project timelines are met.</a:t>
            </a:r>
          </a:p>
          <a:p>
            <a:pPr algn="l" fontAlgn="base"/>
            <a:r>
              <a:rPr lang="en-US" b="1" i="0" dirty="0">
                <a:solidFill>
                  <a:srgbClr val="222222"/>
                </a:solidFill>
                <a:effectLst/>
                <a:latin typeface="Roboto" panose="02000000000000000000" pitchFamily="2" charset="0"/>
              </a:rPr>
              <a:t>Estimating Project Duration</a:t>
            </a:r>
          </a:p>
          <a:p>
            <a:pPr algn="l" fontAlgn="base"/>
            <a:r>
              <a:rPr lang="en-US" b="0" i="0" dirty="0">
                <a:solidFill>
                  <a:srgbClr val="414141"/>
                </a:solidFill>
                <a:effectLst/>
                <a:latin typeface="Roboto" panose="02000000000000000000" pitchFamily="2" charset="0"/>
              </a:rPr>
              <a:t>By analyzing the relationships and durations of activities, network diagrams assist in estimating the project’s duration. Project managers can identify the activities that might cause delays and take necessary actions to mitigate risks. Accurate project duration estimation helps allocate resources effectively and set realistic expectations for project stakeholders.</a:t>
            </a:r>
          </a:p>
          <a:p>
            <a:pPr algn="l" fontAlgn="base"/>
            <a:r>
              <a:rPr lang="en-US" b="1" i="0" dirty="0">
                <a:solidFill>
                  <a:srgbClr val="222222"/>
                </a:solidFill>
                <a:effectLst/>
                <a:latin typeface="Roboto" panose="02000000000000000000" pitchFamily="2" charset="0"/>
              </a:rPr>
              <a:t>Allocating Resources</a:t>
            </a:r>
          </a:p>
          <a:p>
            <a:pPr algn="l" fontAlgn="base"/>
            <a:r>
              <a:rPr lang="en-US" b="0" i="0" dirty="0">
                <a:solidFill>
                  <a:srgbClr val="414141"/>
                </a:solidFill>
                <a:effectLst/>
                <a:latin typeface="Roboto" panose="02000000000000000000" pitchFamily="2" charset="0"/>
              </a:rPr>
              <a:t>Network diagrams provide project managers with insights into resource allocation. By identifying the dependencies between activities, managers can allocate resources efficiently, ensuring that they are available when needed. This prevents resource conflicts and enables maximum utilization of available resources.</a:t>
            </a:r>
          </a:p>
          <a:p>
            <a:pPr algn="l" fontAlgn="base"/>
            <a:r>
              <a:rPr lang="en-US" b="1" i="0" dirty="0">
                <a:solidFill>
                  <a:srgbClr val="222222"/>
                </a:solidFill>
                <a:effectLst/>
                <a:latin typeface="Roboto" panose="02000000000000000000" pitchFamily="2" charset="0"/>
              </a:rPr>
              <a:t>Managing Dependencies</a:t>
            </a:r>
          </a:p>
          <a:p>
            <a:pPr algn="l" fontAlgn="base"/>
            <a:r>
              <a:rPr lang="en-US" b="0" i="0" dirty="0">
                <a:solidFill>
                  <a:srgbClr val="414141"/>
                </a:solidFill>
                <a:effectLst/>
                <a:latin typeface="Roboto" panose="02000000000000000000" pitchFamily="2" charset="0"/>
              </a:rPr>
              <a:t>Dependencies between activities are a crucial aspect of project management. Network diagrams help visualize these dependencies, ensuring that activities are sequenced correctly to avoid disruptions. By managing dependencies effectively, project managers can streamline project execution and prevent delays.</a:t>
            </a:r>
          </a:p>
          <a:p>
            <a:pPr algn="l" fontAlgn="base"/>
            <a:r>
              <a:rPr lang="en-US" b="1" i="0" dirty="0">
                <a:solidFill>
                  <a:srgbClr val="222222"/>
                </a:solidFill>
                <a:effectLst/>
                <a:latin typeface="Roboto" panose="02000000000000000000" pitchFamily="2" charset="0"/>
              </a:rPr>
              <a:t>Reducing Risks and Uncertainties</a:t>
            </a:r>
          </a:p>
          <a:p>
            <a:pPr algn="l" fontAlgn="base"/>
            <a:r>
              <a:rPr lang="en-US" b="0" i="0" dirty="0">
                <a:solidFill>
                  <a:srgbClr val="414141"/>
                </a:solidFill>
                <a:effectLst/>
                <a:latin typeface="Roboto" panose="02000000000000000000" pitchFamily="2" charset="0"/>
              </a:rPr>
              <a:t>Network diagrams play a vital role in risk management. By visually representing the flow of activities and their dependencies, project teams can identify potential risks and uncertainties. This allows for proactive risk mitigation strategies and ensures that the project progresses smoothly.</a:t>
            </a:r>
          </a:p>
          <a:p>
            <a:pPr algn="l" fontAlgn="base"/>
            <a:r>
              <a:rPr lang="en-US" b="1" i="0" dirty="0">
                <a:solidFill>
                  <a:srgbClr val="222222"/>
                </a:solidFill>
                <a:effectLst/>
                <a:latin typeface="Roboto" panose="02000000000000000000" pitchFamily="2" charset="0"/>
              </a:rPr>
              <a:t>Enhancing Communication</a:t>
            </a:r>
          </a:p>
          <a:p>
            <a:pPr algn="l" fontAlgn="base"/>
            <a:r>
              <a:rPr lang="en-US" b="0" i="0" dirty="0">
                <a:solidFill>
                  <a:srgbClr val="414141"/>
                </a:solidFill>
                <a:effectLst/>
                <a:latin typeface="Roboto" panose="02000000000000000000" pitchFamily="2" charset="0"/>
              </a:rPr>
              <a:t>Clear communication is essential for successful project management. Network diagrams provide a visual language that enhances communication among project teams and stakeholders. By providing a common understanding of the project’s structure and dependencies, network diagrams facilitate effective communication and collaboration.</a:t>
            </a:r>
          </a:p>
          <a:p>
            <a:pPr algn="l" fontAlgn="base"/>
            <a:r>
              <a:rPr lang="en-US" b="1" i="0" dirty="0">
                <a:solidFill>
                  <a:srgbClr val="222222"/>
                </a:solidFill>
                <a:effectLst/>
                <a:latin typeface="Roboto" panose="02000000000000000000" pitchFamily="2" charset="0"/>
              </a:rPr>
              <a:t>Facilitating Decision Making</a:t>
            </a:r>
          </a:p>
          <a:p>
            <a:pPr algn="l" fontAlgn="base"/>
            <a:r>
              <a:rPr lang="en-US" b="0" i="0" dirty="0">
                <a:solidFill>
                  <a:srgbClr val="414141"/>
                </a:solidFill>
                <a:effectLst/>
                <a:latin typeface="Roboto" panose="02000000000000000000" pitchFamily="2" charset="0"/>
              </a:rPr>
              <a:t>Network diagrams provide project managers with valuable insights that aid in decision-making. By analyzing the dependencies and critical path, managers can make informed decisions about resource allocation, sequencing of activities, and risk mitigation strategies. This ensures that projects stay on track and deliver the desired outcomes.</a:t>
            </a:r>
          </a:p>
          <a:p>
            <a:pPr algn="l" fontAlgn="base"/>
            <a:endParaRPr lang="en-US" b="0" i="0" dirty="0">
              <a:solidFill>
                <a:srgbClr val="414141"/>
              </a:solidFill>
              <a:effectLst/>
              <a:latin typeface="Roboto" panose="02000000000000000000" pitchFamily="2" charset="0"/>
            </a:endParaRPr>
          </a:p>
          <a:p>
            <a:pPr algn="l" fontAlgn="base"/>
            <a:endParaRPr lang="en-US" b="0" i="0" dirty="0">
              <a:solidFill>
                <a:srgbClr val="414141"/>
              </a:solidFill>
              <a:effectLst/>
              <a:latin typeface="Roboto" panose="02000000000000000000" pitchFamily="2" charset="0"/>
            </a:endParaRPr>
          </a:p>
          <a:p>
            <a:pPr algn="l" fontAlgn="base"/>
            <a:endParaRPr lang="en-US" b="0" i="0" dirty="0">
              <a:solidFill>
                <a:srgbClr val="414141"/>
              </a:solidFill>
              <a:effectLst/>
              <a:latin typeface="Roboto" panose="02000000000000000000" pitchFamily="2" charset="0"/>
            </a:endParaRPr>
          </a:p>
          <a:p>
            <a:pPr algn="l" fontAlgn="base"/>
            <a:r>
              <a:rPr lang="en-US" b="0" i="0" dirty="0">
                <a:solidFill>
                  <a:srgbClr val="414141"/>
                </a:solidFill>
                <a:effectLst/>
                <a:latin typeface="Roboto" panose="02000000000000000000" pitchFamily="2" charset="0"/>
              </a:rPr>
              <a:t>Network diagrams offer numerous benefits for project management. Let’s explore the advantages of using network diagrams:</a:t>
            </a:r>
          </a:p>
          <a:p>
            <a:pPr algn="l" fontAlgn="base"/>
            <a:r>
              <a:rPr lang="en-US" b="1" i="0" dirty="0">
                <a:solidFill>
                  <a:srgbClr val="222222"/>
                </a:solidFill>
                <a:effectLst/>
                <a:latin typeface="Roboto" panose="02000000000000000000" pitchFamily="2" charset="0"/>
              </a:rPr>
              <a:t>Visual Representation</a:t>
            </a:r>
          </a:p>
          <a:p>
            <a:pPr algn="l" fontAlgn="base"/>
            <a:r>
              <a:rPr lang="en-US" b="0" i="0" dirty="0">
                <a:solidFill>
                  <a:srgbClr val="414141"/>
                </a:solidFill>
                <a:effectLst/>
                <a:latin typeface="Roboto" panose="02000000000000000000" pitchFamily="2" charset="0"/>
              </a:rPr>
              <a:t>One of the significant benefits of network diagrams is their visual representation of a project’s structure. By presenting the project in a graphical format, network diagrams make it easier to understand complex relationships and dependencies. Visual representations promote clarity and comprehension, enabling stakeholders to grasp the project’s intricacies quickly.</a:t>
            </a:r>
          </a:p>
          <a:p>
            <a:pPr algn="l" fontAlgn="base"/>
            <a:r>
              <a:rPr lang="en-US" b="1" i="0" dirty="0">
                <a:solidFill>
                  <a:srgbClr val="222222"/>
                </a:solidFill>
                <a:effectLst/>
                <a:latin typeface="Roboto" panose="02000000000000000000" pitchFamily="2" charset="0"/>
              </a:rPr>
              <a:t>Identifying Critical Path</a:t>
            </a:r>
          </a:p>
          <a:p>
            <a:pPr algn="l" fontAlgn="base"/>
            <a:r>
              <a:rPr lang="en-US" b="0" i="0" dirty="0">
                <a:solidFill>
                  <a:srgbClr val="414141"/>
                </a:solidFill>
                <a:effectLst/>
                <a:latin typeface="Roboto" panose="02000000000000000000" pitchFamily="2" charset="0"/>
              </a:rPr>
              <a:t>Network diagrams play a crucial role in identifying the critical path. By analyzing the dependencies and durations of activities, project managers can determine the sequence of activities that must be completed on time. This helps in resource allocation and ensures that deadlines are met, preventing costly delays.</a:t>
            </a:r>
          </a:p>
          <a:p>
            <a:pPr algn="l" fontAlgn="base"/>
            <a:r>
              <a:rPr lang="en-US" b="1" i="0" dirty="0">
                <a:solidFill>
                  <a:srgbClr val="222222"/>
                </a:solidFill>
                <a:effectLst/>
                <a:latin typeface="Roboto" panose="02000000000000000000" pitchFamily="2" charset="0"/>
              </a:rPr>
              <a:t>Efficient Resource Allocation</a:t>
            </a:r>
          </a:p>
          <a:p>
            <a:pPr algn="l" fontAlgn="base"/>
            <a:r>
              <a:rPr lang="en-US" b="0" i="0" dirty="0">
                <a:solidFill>
                  <a:srgbClr val="414141"/>
                </a:solidFill>
                <a:effectLst/>
                <a:latin typeface="Roboto" panose="02000000000000000000" pitchFamily="2" charset="0"/>
              </a:rPr>
              <a:t>By visualizing dependencies and sequencing of activities, network diagrams assist in efficient resource allocation. Project managers can identify the activities that require specific resources and ensure that resources are available when needed. This prevents resource conflicts and optimizes resource utilization, leading to cost savings and improved project efficiency.</a:t>
            </a:r>
          </a:p>
          <a:p>
            <a:pPr algn="l" fontAlgn="base"/>
            <a:r>
              <a:rPr lang="en-US" b="1" i="0" dirty="0">
                <a:solidFill>
                  <a:srgbClr val="222222"/>
                </a:solidFill>
                <a:effectLst/>
                <a:latin typeface="Roboto" panose="02000000000000000000" pitchFamily="2" charset="0"/>
              </a:rPr>
              <a:t>Understanding Dependencies</a:t>
            </a:r>
          </a:p>
          <a:p>
            <a:pPr algn="l" fontAlgn="base"/>
            <a:r>
              <a:rPr lang="en-US" b="0" i="0" dirty="0">
                <a:solidFill>
                  <a:srgbClr val="414141"/>
                </a:solidFill>
                <a:effectLst/>
                <a:latin typeface="Roboto" panose="02000000000000000000" pitchFamily="2" charset="0"/>
              </a:rPr>
              <a:t>Network diagrams highlight the dependencies between activities, providing project teams with a clear understanding of how activities are related. This enables teams to identify any potential bottlenecks or constraints that may hinder project progress. Understanding dependencies helps project managers allocate resources effectively and establish a realistic project schedule.</a:t>
            </a:r>
          </a:p>
          <a:p>
            <a:pPr algn="l" fontAlgn="base"/>
            <a:r>
              <a:rPr lang="en-US" b="1" i="0" dirty="0">
                <a:solidFill>
                  <a:srgbClr val="222222"/>
                </a:solidFill>
                <a:effectLst/>
                <a:latin typeface="Roboto" panose="02000000000000000000" pitchFamily="2" charset="0"/>
              </a:rPr>
              <a:t>Effective Risk Management</a:t>
            </a:r>
          </a:p>
          <a:p>
            <a:pPr algn="l" fontAlgn="base"/>
            <a:r>
              <a:rPr lang="en-US" b="0" i="0" dirty="0">
                <a:solidFill>
                  <a:srgbClr val="414141"/>
                </a:solidFill>
                <a:effectLst/>
                <a:latin typeface="Roboto" panose="02000000000000000000" pitchFamily="2" charset="0"/>
              </a:rPr>
              <a:t>Network diagrams aid in effective risk management by visualizing the flow of activities and their interdependencies. Project teams can identify potential risks and uncertainties, allowing them to develop proactive risk mitigation strategies. By addressing potential risks in advance, project managers can minimize their impact and increase the chances of project success.</a:t>
            </a:r>
          </a:p>
          <a:p>
            <a:pPr algn="l" fontAlgn="base"/>
            <a:r>
              <a:rPr lang="en-US" b="1" i="0" dirty="0">
                <a:solidFill>
                  <a:srgbClr val="222222"/>
                </a:solidFill>
                <a:effectLst/>
                <a:latin typeface="Roboto" panose="02000000000000000000" pitchFamily="2" charset="0"/>
              </a:rPr>
              <a:t>Improved Communication</a:t>
            </a:r>
          </a:p>
          <a:p>
            <a:pPr algn="l" fontAlgn="base"/>
            <a:r>
              <a:rPr lang="en-US" b="0" i="0" dirty="0">
                <a:solidFill>
                  <a:srgbClr val="414141"/>
                </a:solidFill>
                <a:effectLst/>
                <a:latin typeface="Roboto" panose="02000000000000000000" pitchFamily="2" charset="0"/>
              </a:rPr>
              <a:t>Clear and effective communication is essential for successful project management. Network diagrams provide a visual language that enhances communication among project teams and stakeholders. By presenting the project structure and dependencies in a graphical format, network diagrams facilitate better understanding and collaboration, leading to improved project outcomes.</a:t>
            </a:r>
          </a:p>
          <a:p>
            <a:pPr algn="l" fontAlgn="base"/>
            <a:r>
              <a:rPr lang="en-US" b="1" i="0" dirty="0">
                <a:solidFill>
                  <a:srgbClr val="222222"/>
                </a:solidFill>
                <a:effectLst/>
                <a:latin typeface="Roboto" panose="02000000000000000000" pitchFamily="2" charset="0"/>
              </a:rPr>
              <a:t>Enhanced Decision Making</a:t>
            </a:r>
          </a:p>
          <a:p>
            <a:pPr algn="l" fontAlgn="base"/>
            <a:r>
              <a:rPr lang="en-US" b="0" i="0" dirty="0">
                <a:solidFill>
                  <a:srgbClr val="414141"/>
                </a:solidFill>
                <a:effectLst/>
                <a:latin typeface="Roboto" panose="02000000000000000000" pitchFamily="2" charset="0"/>
              </a:rPr>
              <a:t>Network diagrams support informed decision-making by providing valuable insights into project dependencies and critical path analysis. Project managers can make data-driven decisions regarding resource allocation, activity sequencing, and risk mitigation strategies. This ensures that projects stay on track and deliver the desired outcomes within the set timelines.</a:t>
            </a:r>
          </a:p>
          <a:p>
            <a:pPr algn="l" fontAlgn="base"/>
            <a:r>
              <a:rPr lang="en-US" b="1" i="0" dirty="0">
                <a:solidFill>
                  <a:srgbClr val="222222"/>
                </a:solidFill>
                <a:effectLst/>
                <a:latin typeface="Roboto" panose="02000000000000000000" pitchFamily="2" charset="0"/>
              </a:rPr>
              <a:t>Optimized Project Planning</a:t>
            </a:r>
          </a:p>
          <a:p>
            <a:pPr algn="l" fontAlgn="base"/>
            <a:r>
              <a:rPr lang="en-US" b="0" i="0" dirty="0">
                <a:solidFill>
                  <a:srgbClr val="414141"/>
                </a:solidFill>
                <a:effectLst/>
                <a:latin typeface="Roboto" panose="02000000000000000000" pitchFamily="2" charset="0"/>
              </a:rPr>
              <a:t>By visualizing the project flow and dependencies, network diagrams optimize project planning. Project managers can analyze the critical path, identify potential delays, and allocate resources efficiently. This results in a well-structured and realistic project plan, increasing the chances of project success.</a:t>
            </a:r>
          </a:p>
          <a:p>
            <a:pPr algn="l" fontAlgn="base"/>
            <a:endParaRPr lang="en-US" b="0" i="0" dirty="0">
              <a:solidFill>
                <a:srgbClr val="414141"/>
              </a:solidFill>
              <a:effectLst/>
              <a:latin typeface="Roboto" panose="02000000000000000000" pitchFamily="2" charset="0"/>
            </a:endParaRPr>
          </a:p>
          <a:p>
            <a:endParaRPr lang="en-US" dirty="0"/>
          </a:p>
        </p:txBody>
      </p:sp>
      <p:sp>
        <p:nvSpPr>
          <p:cNvPr id="4" name="Slide Number Placeholder 3"/>
          <p:cNvSpPr>
            <a:spLocks noGrp="1"/>
          </p:cNvSpPr>
          <p:nvPr>
            <p:ph type="sldNum" sz="quarter" idx="5"/>
          </p:nvPr>
        </p:nvSpPr>
        <p:spPr/>
        <p:txBody>
          <a:bodyPr/>
          <a:lstStyle/>
          <a:p>
            <a:fld id="{9A7E9661-917B-4FBF-BFC0-D8B59675D29E}" type="slidenum">
              <a:rPr lang="en-US" smtClean="0"/>
              <a:t>3</a:t>
            </a:fld>
            <a:endParaRPr lang="en-US"/>
          </a:p>
        </p:txBody>
      </p:sp>
    </p:spTree>
    <p:extLst>
      <p:ext uri="{BB962C8B-B14F-4D97-AF65-F5344CB8AC3E}">
        <p14:creationId xmlns:p14="http://schemas.microsoft.com/office/powerpoint/2010/main" val="38066300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ar-EG" sz="1200" b="0" i="0" kern="1200" dirty="0">
                <a:solidFill>
                  <a:schemeClr val="tx1"/>
                </a:solidFill>
                <a:effectLst/>
                <a:latin typeface="+mn-lt"/>
                <a:ea typeface="+mn-ea"/>
                <a:cs typeface="+mn-cs"/>
              </a:rPr>
              <a:t>هيكل تقسيم العمل (</a:t>
            </a:r>
            <a:r>
              <a:rPr lang="en-US" sz="1200" b="0" i="0" kern="1200" dirty="0">
                <a:solidFill>
                  <a:schemeClr val="tx1"/>
                </a:solidFill>
                <a:effectLst/>
                <a:latin typeface="+mn-lt"/>
                <a:ea typeface="+mn-ea"/>
                <a:cs typeface="+mn-cs"/>
              </a:rPr>
              <a:t>WBS) </a:t>
            </a:r>
            <a:r>
              <a:rPr lang="ar-EG" sz="1200" b="0" i="0" kern="1200" dirty="0">
                <a:solidFill>
                  <a:schemeClr val="tx1"/>
                </a:solidFill>
                <a:effectLst/>
                <a:latin typeface="+mn-lt"/>
                <a:ea typeface="+mn-ea"/>
                <a:cs typeface="+mn-cs"/>
              </a:rPr>
              <a:t>هرمي، بينما شبكة المشروع تسلسلية.</a:t>
            </a:r>
          </a:p>
          <a:p>
            <a:pPr rtl="1"/>
            <a:endParaRPr lang="ar-EG" sz="1200" b="0" i="0" kern="1200" dirty="0">
              <a:solidFill>
                <a:schemeClr val="tx1"/>
              </a:solidFill>
              <a:effectLst/>
              <a:latin typeface="+mn-lt"/>
              <a:ea typeface="+mn-ea"/>
              <a:cs typeface="+mn-cs"/>
            </a:endParaRPr>
          </a:p>
          <a:p>
            <a:pPr rtl="1"/>
            <a:r>
              <a:rPr lang="ar-EG" sz="1200" b="0" i="0" kern="1200" dirty="0">
                <a:solidFill>
                  <a:schemeClr val="tx1"/>
                </a:solidFill>
                <a:effectLst/>
                <a:latin typeface="+mn-lt"/>
                <a:ea typeface="+mn-ea"/>
                <a:cs typeface="+mn-cs"/>
              </a:rPr>
              <a:t>توفر الشبكة جدولًا زمنيًا للمشروع من خلال تحديد التبعيات التسلسلية وتوقيت أنشطة المشروع.</a:t>
            </a:r>
          </a:p>
          <a:p>
            <a:pPr rtl="1"/>
            <a:endParaRPr lang="ar-EG" sz="1200" b="0" i="0" kern="1200" dirty="0">
              <a:solidFill>
                <a:schemeClr val="tx1"/>
              </a:solidFill>
              <a:effectLst/>
              <a:latin typeface="+mn-lt"/>
              <a:ea typeface="+mn-ea"/>
              <a:cs typeface="+mn-cs"/>
            </a:endParaRPr>
          </a:p>
          <a:p>
            <a:pPr rtl="1"/>
            <a:r>
              <a:rPr lang="ar-EG" sz="1200" b="0" i="0" kern="1200" dirty="0">
                <a:solidFill>
                  <a:schemeClr val="tx1"/>
                </a:solidFill>
                <a:effectLst/>
                <a:latin typeface="+mn-lt"/>
                <a:ea typeface="+mn-ea"/>
                <a:cs typeface="+mn-cs"/>
              </a:rPr>
              <a:t>يُستخدم هيكل تقسيم العمل لتحديد كل مُخرجات المشروع ووحدة التنظيم المسؤولة عن إنجازها ضمن الميزانية والمدة الزمنية المحددة.</a:t>
            </a:r>
          </a:p>
          <a:p>
            <a:pPr rtl="1"/>
            <a:endParaRPr lang="ar-EG" sz="1200" b="0" i="0" kern="1200" dirty="0">
              <a:solidFill>
                <a:schemeClr val="tx1"/>
              </a:solidFill>
              <a:effectLst/>
              <a:latin typeface="+mn-lt"/>
              <a:ea typeface="+mn-ea"/>
              <a:cs typeface="+mn-cs"/>
            </a:endParaRPr>
          </a:p>
          <a:p>
            <a:pPr rtl="1"/>
            <a:r>
              <a:rPr lang="ar-EG" sz="1200" b="0" i="0" kern="1200" dirty="0">
                <a:solidFill>
                  <a:schemeClr val="tx1"/>
                </a:solidFill>
                <a:effectLst/>
                <a:latin typeface="+mn-lt"/>
                <a:ea typeface="+mn-ea"/>
                <a:cs typeface="+mn-cs"/>
              </a:rPr>
              <a:t>تحدد الشبكة جميع أعمال المشروع واحتياجاته من الموارد والميزانيات في إطار زمني تسلسلي؛ ولا يوفر هيكل تقسيم العمل هذه المعلومات.</a:t>
            </a:r>
          </a:p>
          <a:p>
            <a:pPr rtl="1"/>
            <a:endParaRPr lang="ar-EG" sz="1200" b="0" i="0" kern="1200" dirty="0">
              <a:solidFill>
                <a:schemeClr val="tx1"/>
              </a:solidFill>
              <a:effectLst/>
              <a:latin typeface="+mn-lt"/>
              <a:ea typeface="+mn-ea"/>
              <a:cs typeface="+mn-cs"/>
            </a:endParaRPr>
          </a:p>
          <a:p>
            <a:pPr rtl="1"/>
            <a:r>
              <a:rPr lang="ar-EG" sz="1200" b="0" i="0" kern="1200" dirty="0">
                <a:solidFill>
                  <a:schemeClr val="tx1"/>
                </a:solidFill>
                <a:effectLst/>
                <a:latin typeface="+mn-lt"/>
                <a:ea typeface="+mn-ea"/>
                <a:cs typeface="+mn-cs"/>
              </a:rPr>
              <a:t>يوفر هيكل تقسيم العمل إطارًا لتتبع تكاليف المُخرجات ووحدات التنظيم المسؤولة.</a:t>
            </a:r>
          </a:p>
          <a:p>
            <a:endParaRPr lang="en-US" dirty="0"/>
          </a:p>
        </p:txBody>
      </p:sp>
      <p:sp>
        <p:nvSpPr>
          <p:cNvPr id="4" name="Slide Number Placeholder 3"/>
          <p:cNvSpPr>
            <a:spLocks noGrp="1"/>
          </p:cNvSpPr>
          <p:nvPr>
            <p:ph type="sldNum" sz="quarter" idx="5"/>
          </p:nvPr>
        </p:nvSpPr>
        <p:spPr/>
        <p:txBody>
          <a:bodyPr/>
          <a:lstStyle/>
          <a:p>
            <a:fld id="{9A7E9661-917B-4FBF-BFC0-D8B59675D29E}" type="slidenum">
              <a:rPr lang="en-US" smtClean="0"/>
              <a:t>4</a:t>
            </a:fld>
            <a:endParaRPr lang="en-US"/>
          </a:p>
        </p:txBody>
      </p:sp>
    </p:spTree>
    <p:extLst>
      <p:ext uri="{BB962C8B-B14F-4D97-AF65-F5344CB8AC3E}">
        <p14:creationId xmlns:p14="http://schemas.microsoft.com/office/powerpoint/2010/main" val="22622488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ar-EG" sz="1200" b="0" i="0" kern="1200" dirty="0">
                <a:solidFill>
                  <a:schemeClr val="tx1"/>
                </a:solidFill>
                <a:effectLst/>
                <a:latin typeface="+mn-lt"/>
                <a:ea typeface="+mn-ea"/>
                <a:cs typeface="+mn-cs"/>
              </a:rPr>
              <a:t>تستخدم الشبكة تقديرات الوقت الموجودة في حزم عمل هيكل تقسيم العمل لتطويرها. تُحدد تقديرات الوقت والميزانيات والموارد اللازمة لحزم العمل في هيكل تقسيم العمل ضمن أطر زمنية، ولكن دون تحديد تواريخ. تُحسب التواريخ بعد تطوير الشبكة.</a:t>
            </a:r>
          </a:p>
          <a:p>
            <a:endParaRPr lang="en-US" dirty="0"/>
          </a:p>
        </p:txBody>
      </p:sp>
      <p:sp>
        <p:nvSpPr>
          <p:cNvPr id="4" name="Slide Number Placeholder 3"/>
          <p:cNvSpPr>
            <a:spLocks noGrp="1"/>
          </p:cNvSpPr>
          <p:nvPr>
            <p:ph type="sldNum" sz="quarter" idx="5"/>
          </p:nvPr>
        </p:nvSpPr>
        <p:spPr/>
        <p:txBody>
          <a:bodyPr/>
          <a:lstStyle/>
          <a:p>
            <a:fld id="{9A7E9661-917B-4FBF-BFC0-D8B59675D29E}" type="slidenum">
              <a:rPr lang="en-US" smtClean="0"/>
              <a:t>5</a:t>
            </a:fld>
            <a:endParaRPr lang="en-US"/>
          </a:p>
        </p:txBody>
      </p:sp>
    </p:spTree>
    <p:extLst>
      <p:ext uri="{BB962C8B-B14F-4D97-AF65-F5344CB8AC3E}">
        <p14:creationId xmlns:p14="http://schemas.microsoft.com/office/powerpoint/2010/main" val="1634680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ar-EG" sz="1200" b="0" i="0" kern="1200" dirty="0">
                <a:solidFill>
                  <a:schemeClr val="tx1"/>
                </a:solidFill>
                <a:effectLst/>
                <a:latin typeface="+mn-lt"/>
                <a:ea typeface="+mn-ea"/>
                <a:cs typeface="+mn-cs"/>
              </a:rPr>
              <a:t>تُطوَّر شبكات المشاريع بناءً على هيكل تقسيم العمل (</a:t>
            </a:r>
            <a:r>
              <a:rPr lang="en-US" sz="1200" b="0" i="0" kern="1200" dirty="0">
                <a:solidFill>
                  <a:schemeClr val="tx1"/>
                </a:solidFill>
                <a:effectLst/>
                <a:latin typeface="+mn-lt"/>
                <a:ea typeface="+mn-ea"/>
                <a:cs typeface="+mn-cs"/>
              </a:rPr>
              <a:t>WBS) </a:t>
            </a:r>
            <a:r>
              <a:rPr lang="ar-EG" sz="1200" b="0" i="0" kern="1200" dirty="0">
                <a:solidFill>
                  <a:schemeClr val="tx1"/>
                </a:solidFill>
                <a:effectLst/>
                <a:latin typeface="+mn-lt"/>
                <a:ea typeface="+mn-ea"/>
                <a:cs typeface="+mn-cs"/>
              </a:rPr>
              <a:t>أو مصفوفة المسؤولية.</a:t>
            </a:r>
          </a:p>
          <a:p>
            <a:pPr rtl="1"/>
            <a:endParaRPr lang="ar-EG" sz="1200" b="0" i="0" kern="1200" dirty="0">
              <a:solidFill>
                <a:schemeClr val="tx1"/>
              </a:solidFill>
              <a:effectLst/>
              <a:latin typeface="+mn-lt"/>
              <a:ea typeface="+mn-ea"/>
              <a:cs typeface="+mn-cs"/>
            </a:endParaRPr>
          </a:p>
          <a:p>
            <a:pPr rtl="1"/>
            <a:r>
              <a:rPr lang="ar-EG" sz="1200" b="0" i="0" kern="1200" dirty="0">
                <a:solidFill>
                  <a:schemeClr val="tx1"/>
                </a:solidFill>
                <a:effectLst/>
                <a:latin typeface="+mn-lt"/>
                <a:ea typeface="+mn-ea"/>
                <a:cs typeface="+mn-cs"/>
              </a:rPr>
              <a:t>شبكة المشروع عبارة عن مخطط انسيابي بصري يُظهر التسلسل، والعلاقات المتبادلة، والتبعيات بين جميع الأنشطة التي يجب إنجازها لإتمام المشروع.</a:t>
            </a:r>
          </a:p>
          <a:p>
            <a:pPr rtl="1"/>
            <a:endParaRPr lang="ar-EG" sz="1200" b="0" i="0" kern="1200" dirty="0">
              <a:solidFill>
                <a:schemeClr val="tx1"/>
              </a:solidFill>
              <a:effectLst/>
              <a:latin typeface="+mn-lt"/>
              <a:ea typeface="+mn-ea"/>
              <a:cs typeface="+mn-cs"/>
            </a:endParaRPr>
          </a:p>
          <a:p>
            <a:pPr rtl="1"/>
            <a:r>
              <a:rPr lang="ar-EG" sz="1200" b="0" i="0" kern="1200" dirty="0">
                <a:solidFill>
                  <a:schemeClr val="tx1"/>
                </a:solidFill>
                <a:effectLst/>
                <a:latin typeface="+mn-lt"/>
                <a:ea typeface="+mn-ea"/>
                <a:cs typeface="+mn-cs"/>
              </a:rPr>
              <a:t>النشاط هو عنصر في المشروع يستهلك وقتًا.</a:t>
            </a:r>
            <a:endParaRPr lang="en-US" sz="1200" b="0" i="0" kern="1200" dirty="0">
              <a:solidFill>
                <a:schemeClr val="tx1"/>
              </a:solidFill>
              <a:effectLst/>
              <a:latin typeface="+mn-lt"/>
              <a:ea typeface="+mn-ea"/>
              <a:cs typeface="+mn-cs"/>
            </a:endParaRPr>
          </a:p>
          <a:p>
            <a:pPr rtl="1"/>
            <a:endParaRPr lang="en-US" sz="1200" b="0" i="0" kern="1200" dirty="0">
              <a:solidFill>
                <a:schemeClr val="tx1"/>
              </a:solidFill>
              <a:effectLst/>
              <a:latin typeface="+mn-lt"/>
              <a:ea typeface="+mn-ea"/>
              <a:cs typeface="+mn-cs"/>
            </a:endParaRPr>
          </a:p>
          <a:p>
            <a:pPr rtl="1"/>
            <a:r>
              <a:rPr lang="ar-EG" sz="1200" b="0" i="0" kern="1200" dirty="0">
                <a:solidFill>
                  <a:schemeClr val="tx1"/>
                </a:solidFill>
                <a:effectLst/>
                <a:latin typeface="+mn-lt"/>
                <a:ea typeface="+mn-ea"/>
                <a:cs typeface="+mn-cs"/>
              </a:rPr>
              <a:t>تُرتب الأنشطة بتسلسل يضمن إتمام المشروع بشكل منظم. تُبنى الشبكات باستخدام عُقد (مربعات) وأسهم (خطوط).</a:t>
            </a:r>
          </a:p>
          <a:p>
            <a:pPr rtl="1"/>
            <a:endParaRPr lang="ar-EG" sz="1200" b="0" i="0" kern="1200" dirty="0">
              <a:solidFill>
                <a:schemeClr val="tx1"/>
              </a:solidFill>
              <a:effectLst/>
              <a:latin typeface="+mn-lt"/>
              <a:ea typeface="+mn-ea"/>
              <a:cs typeface="+mn-cs"/>
            </a:endParaRPr>
          </a:p>
          <a:p>
            <a:pPr rtl="1"/>
            <a:r>
              <a:rPr lang="ar-EG" sz="1200" b="0" i="0" kern="1200" dirty="0">
                <a:solidFill>
                  <a:schemeClr val="tx1"/>
                </a:solidFill>
                <a:effectLst/>
                <a:latin typeface="+mn-lt"/>
                <a:ea typeface="+mn-ea"/>
                <a:cs typeface="+mn-cs"/>
              </a:rPr>
              <a:t>يجب على مدير المشروع الحرص على ضمان الاستمرارية من خلال الاستعانة ببعض الأشخاص الذين حددوا هيكل تقسيم العمل وحزم العمل لتطوير أنشطة الشبكة.</a:t>
            </a:r>
          </a:p>
          <a:p>
            <a:pPr rtl="1"/>
            <a:endParaRPr lang="ar-EG" sz="1200" b="0" i="0" kern="1200" dirty="0">
              <a:solidFill>
                <a:schemeClr val="tx1"/>
              </a:solidFill>
              <a:effectLst/>
              <a:latin typeface="+mn-lt"/>
              <a:ea typeface="+mn-ea"/>
              <a:cs typeface="+mn-cs"/>
            </a:endParaRPr>
          </a:p>
          <a:p>
            <a:pPr rtl="1"/>
            <a:r>
              <a:rPr lang="ar-EG" sz="1200" b="0" i="0" kern="1200" dirty="0">
                <a:solidFill>
                  <a:schemeClr val="tx1"/>
                </a:solidFill>
                <a:effectLst/>
                <a:latin typeface="+mn-lt"/>
                <a:ea typeface="+mn-ea"/>
                <a:cs typeface="+mn-cs"/>
              </a:rPr>
              <a:t>تُوفر الشبكات الجدول الزمني للمشروع من خلال تحديد التبعيات، وتسلسل الأنشطة، وتوقيتها، وهو ما لم يُصمم هيكل تقسيم العمل للقيام به.</a:t>
            </a:r>
          </a:p>
          <a:p>
            <a:pPr rtl="1"/>
            <a:endParaRPr lang="ar-EG" sz="1200" b="0" i="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9A7E9661-917B-4FBF-BFC0-D8B59675D29E}" type="slidenum">
              <a:rPr lang="en-US" smtClean="0"/>
              <a:t>6</a:t>
            </a:fld>
            <a:endParaRPr lang="en-US"/>
          </a:p>
        </p:txBody>
      </p:sp>
    </p:spTree>
    <p:extLst>
      <p:ext uri="{BB962C8B-B14F-4D97-AF65-F5344CB8AC3E}">
        <p14:creationId xmlns:p14="http://schemas.microsoft.com/office/powerpoint/2010/main" val="33759525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fontAlgn="base"/>
            <a:r>
              <a:rPr lang="en-US" b="0" i="0" dirty="0">
                <a:solidFill>
                  <a:srgbClr val="414141"/>
                </a:solidFill>
                <a:effectLst/>
                <a:latin typeface="Roboto" panose="02000000000000000000" pitchFamily="2" charset="0"/>
              </a:rPr>
              <a:t>To understand network diagrams fully, it is essential to familiarize yourself with their key elements. Let’s explore each element in detail:</a:t>
            </a:r>
          </a:p>
          <a:p>
            <a:pPr algn="l" fontAlgn="base"/>
            <a:r>
              <a:rPr lang="en-US" b="1" i="0" dirty="0">
                <a:solidFill>
                  <a:srgbClr val="222222"/>
                </a:solidFill>
                <a:effectLst/>
                <a:latin typeface="Roboto" panose="02000000000000000000" pitchFamily="2" charset="0"/>
              </a:rPr>
              <a:t>Nodes</a:t>
            </a:r>
          </a:p>
          <a:p>
            <a:pPr algn="l" fontAlgn="base"/>
            <a:r>
              <a:rPr lang="en-US" b="0" i="0" dirty="0">
                <a:solidFill>
                  <a:srgbClr val="414141"/>
                </a:solidFill>
                <a:effectLst/>
                <a:latin typeface="Roboto" panose="02000000000000000000" pitchFamily="2" charset="0"/>
              </a:rPr>
              <a:t>In a network diagram, nodes represent the various activities or tasks within a project. Each node represents a specific activity that needs to be completed. Nodes are usually depicted as circles or rectangles, and their placement within the diagram signifies their sequence in the project’s flow.</a:t>
            </a:r>
          </a:p>
          <a:p>
            <a:pPr algn="l" fontAlgn="base"/>
            <a:r>
              <a:rPr lang="en-US" b="1" i="0" dirty="0">
                <a:solidFill>
                  <a:srgbClr val="222222"/>
                </a:solidFill>
                <a:effectLst/>
                <a:latin typeface="Roboto" panose="02000000000000000000" pitchFamily="2" charset="0"/>
              </a:rPr>
              <a:t>Activities</a:t>
            </a:r>
          </a:p>
          <a:p>
            <a:pPr algn="l" fontAlgn="base"/>
            <a:r>
              <a:rPr lang="en-US" b="0" i="0" dirty="0">
                <a:solidFill>
                  <a:srgbClr val="414141"/>
                </a:solidFill>
                <a:effectLst/>
                <a:latin typeface="Roboto" panose="02000000000000000000" pitchFamily="2" charset="0"/>
              </a:rPr>
              <a:t>Activities are the individual tasks or work packages that need to be completed as part of a project. They can be depicted as lines connecting the nodes within the network diagram. Each activity has a specific duration and may have dependencies on other activities.</a:t>
            </a:r>
          </a:p>
          <a:p>
            <a:pPr algn="l" fontAlgn="base"/>
            <a:r>
              <a:rPr lang="en-US" b="1" i="0" dirty="0">
                <a:solidFill>
                  <a:srgbClr val="222222"/>
                </a:solidFill>
                <a:effectLst/>
                <a:latin typeface="Roboto" panose="02000000000000000000" pitchFamily="2" charset="0"/>
              </a:rPr>
              <a:t>Dependencies</a:t>
            </a:r>
          </a:p>
          <a:p>
            <a:pPr algn="l" fontAlgn="base"/>
            <a:r>
              <a:rPr lang="en-US" b="0" i="0" dirty="0">
                <a:solidFill>
                  <a:srgbClr val="414141"/>
                </a:solidFill>
                <a:effectLst/>
                <a:latin typeface="Roboto" panose="02000000000000000000" pitchFamily="2" charset="0"/>
              </a:rPr>
              <a:t>Dependencies represent the relationships between activities. They indicate the order in which activities should be executed. There are four types of dependencies commonly used in network diagrams:</a:t>
            </a:r>
          </a:p>
          <a:p>
            <a:pPr algn="l" fontAlgn="base">
              <a:buFont typeface="Arial" panose="020B0604020202020204" pitchFamily="34" charset="0"/>
              <a:buChar char="•"/>
            </a:pPr>
            <a:r>
              <a:rPr lang="en-US" b="0" i="0" dirty="0">
                <a:solidFill>
                  <a:srgbClr val="414141"/>
                </a:solidFill>
                <a:effectLst/>
                <a:latin typeface="Roboto" panose="02000000000000000000" pitchFamily="2" charset="0"/>
              </a:rPr>
              <a:t>Finish-to-Start (FS) – The dependent activity cannot start until the preceding activity is finished.</a:t>
            </a:r>
          </a:p>
          <a:p>
            <a:pPr algn="l" fontAlgn="base">
              <a:buFont typeface="Arial" panose="020B0604020202020204" pitchFamily="34" charset="0"/>
              <a:buChar char="•"/>
            </a:pPr>
            <a:r>
              <a:rPr lang="en-US" b="0" i="0" dirty="0">
                <a:solidFill>
                  <a:srgbClr val="414141"/>
                </a:solidFill>
                <a:effectLst/>
                <a:latin typeface="Roboto" panose="02000000000000000000" pitchFamily="2" charset="0"/>
              </a:rPr>
              <a:t>Start-to-Start (SS) – The dependent activity cannot start until the preceding activity has started.</a:t>
            </a:r>
          </a:p>
          <a:p>
            <a:pPr algn="l" fontAlgn="base">
              <a:buFont typeface="Arial" panose="020B0604020202020204" pitchFamily="34" charset="0"/>
              <a:buChar char="•"/>
            </a:pPr>
            <a:r>
              <a:rPr lang="en-US" b="0" i="0" dirty="0">
                <a:solidFill>
                  <a:srgbClr val="414141"/>
                </a:solidFill>
                <a:effectLst/>
                <a:latin typeface="Roboto" panose="02000000000000000000" pitchFamily="2" charset="0"/>
              </a:rPr>
              <a:t>Finish-to-Finish (FF) – The dependent activity cannot finish until the preceding activity has finished.</a:t>
            </a:r>
          </a:p>
          <a:p>
            <a:pPr algn="l" fontAlgn="base">
              <a:buFont typeface="Arial" panose="020B0604020202020204" pitchFamily="34" charset="0"/>
              <a:buChar char="•"/>
            </a:pPr>
            <a:r>
              <a:rPr lang="en-US" b="0" i="0" dirty="0">
                <a:solidFill>
                  <a:srgbClr val="414141"/>
                </a:solidFill>
                <a:effectLst/>
                <a:latin typeface="Roboto" panose="02000000000000000000" pitchFamily="2" charset="0"/>
              </a:rPr>
              <a:t>Start-to-Finish (SF) – The dependent activity cannot finish until the preceding activity has started.</a:t>
            </a:r>
          </a:p>
          <a:p>
            <a:pPr algn="l" fontAlgn="base"/>
            <a:r>
              <a:rPr lang="en-US" b="0" i="0" dirty="0">
                <a:solidFill>
                  <a:srgbClr val="414141"/>
                </a:solidFill>
                <a:effectLst/>
                <a:latin typeface="Roboto" panose="02000000000000000000" pitchFamily="2" charset="0"/>
              </a:rPr>
              <a:t>These dependencies play a vital role in determining the critical path and sequencing of activities.</a:t>
            </a:r>
          </a:p>
          <a:p>
            <a:pPr algn="l" fontAlgn="base"/>
            <a:r>
              <a:rPr lang="en-US" b="1" i="0" dirty="0">
                <a:solidFill>
                  <a:srgbClr val="222222"/>
                </a:solidFill>
                <a:effectLst/>
                <a:latin typeface="Roboto" panose="02000000000000000000" pitchFamily="2" charset="0"/>
              </a:rPr>
              <a:t>Critical Path</a:t>
            </a:r>
          </a:p>
          <a:p>
            <a:pPr algn="l" fontAlgn="base"/>
            <a:r>
              <a:rPr lang="en-US" b="0" i="0" dirty="0">
                <a:solidFill>
                  <a:srgbClr val="414141"/>
                </a:solidFill>
                <a:effectLst/>
                <a:latin typeface="Roboto" panose="02000000000000000000" pitchFamily="2" charset="0"/>
              </a:rPr>
              <a:t>The critical path is the longest sequence of dependent activities in a network diagram. It determines the minimum timeframe required to complete the project. The critical path helps project managers identify the activities that must be completed on time to prevent delays in project delivery.</a:t>
            </a:r>
          </a:p>
          <a:p>
            <a:pPr algn="l" fontAlgn="base"/>
            <a:r>
              <a:rPr lang="en-US" b="1" i="0" dirty="0">
                <a:solidFill>
                  <a:srgbClr val="222222"/>
                </a:solidFill>
                <a:effectLst/>
                <a:latin typeface="Roboto" panose="02000000000000000000" pitchFamily="2" charset="0"/>
              </a:rPr>
              <a:t>Float/Slack</a:t>
            </a:r>
          </a:p>
          <a:p>
            <a:pPr algn="l" fontAlgn="base"/>
            <a:r>
              <a:rPr lang="en-US" b="0" i="0" dirty="0">
                <a:solidFill>
                  <a:srgbClr val="414141"/>
                </a:solidFill>
                <a:effectLst/>
                <a:latin typeface="Roboto" panose="02000000000000000000" pitchFamily="2" charset="0"/>
              </a:rPr>
              <a:t>Float, also known as slack, refers to the amount of time an activity can be delayed without impacting the project’s overall duration. Activities on the critical path have zero float since any delay in these activities will directly impact the project’s timeline. Activities with float can be delayed without affecting the project’s completion date.</a:t>
            </a:r>
          </a:p>
          <a:p>
            <a:pPr algn="l" fontAlgn="base"/>
            <a:r>
              <a:rPr lang="en-US" b="1" i="0" dirty="0">
                <a:solidFill>
                  <a:srgbClr val="222222"/>
                </a:solidFill>
                <a:effectLst/>
                <a:latin typeface="Roboto" panose="02000000000000000000" pitchFamily="2" charset="0"/>
              </a:rPr>
              <a:t>Milestones</a:t>
            </a:r>
          </a:p>
          <a:p>
            <a:pPr algn="l" fontAlgn="base"/>
            <a:r>
              <a:rPr lang="en-US" b="0" i="0" dirty="0">
                <a:solidFill>
                  <a:srgbClr val="414141"/>
                </a:solidFill>
                <a:effectLst/>
                <a:latin typeface="Roboto" panose="02000000000000000000" pitchFamily="2" charset="0"/>
              </a:rPr>
              <a:t>Milestones represent significant events or achievements within a project. They are often depicted as diamond-shaped nodes in the network diagram. Milestones help project teams track progress and provide a sense of accomplishment as they reach key points in the project timeline.</a:t>
            </a:r>
          </a:p>
          <a:p>
            <a:pPr algn="l" fontAlgn="base"/>
            <a:r>
              <a:rPr lang="en-US" b="0" i="0" dirty="0">
                <a:solidFill>
                  <a:srgbClr val="414141"/>
                </a:solidFill>
                <a:effectLst/>
                <a:latin typeface="Roboto" panose="02000000000000000000" pitchFamily="2" charset="0"/>
              </a:rPr>
              <a:t>By understanding these key elements, project managers can effectively analyze and interpret network diagrams, leading to better project planning and execution.</a:t>
            </a:r>
          </a:p>
          <a:p>
            <a:br>
              <a:rPr lang="en-US" dirty="0"/>
            </a:br>
            <a:endParaRPr lang="en-US" dirty="0"/>
          </a:p>
          <a:p>
            <a:endParaRPr lang="en-US" dirty="0"/>
          </a:p>
        </p:txBody>
      </p:sp>
      <p:sp>
        <p:nvSpPr>
          <p:cNvPr id="4" name="Slide Number Placeholder 3"/>
          <p:cNvSpPr>
            <a:spLocks noGrp="1"/>
          </p:cNvSpPr>
          <p:nvPr>
            <p:ph type="sldNum" sz="quarter" idx="5"/>
          </p:nvPr>
        </p:nvSpPr>
        <p:spPr/>
        <p:txBody>
          <a:bodyPr/>
          <a:lstStyle/>
          <a:p>
            <a:fld id="{9A7E9661-917B-4FBF-BFC0-D8B59675D29E}" type="slidenum">
              <a:rPr lang="en-US" smtClean="0"/>
              <a:t>7</a:t>
            </a:fld>
            <a:endParaRPr lang="en-US"/>
          </a:p>
        </p:txBody>
      </p:sp>
    </p:spTree>
    <p:extLst>
      <p:ext uri="{BB962C8B-B14F-4D97-AF65-F5344CB8AC3E}">
        <p14:creationId xmlns:p14="http://schemas.microsoft.com/office/powerpoint/2010/main" val="21776694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forward pass and backward pass are essential calculations in the Critical Path Method (CPM) for </a:t>
            </a:r>
            <a:r>
              <a:rPr lang="en-US" sz="1200" b="0" i="0" kern="1200" dirty="0">
                <a:solidFill>
                  <a:schemeClr val="tx1"/>
                </a:solidFill>
                <a:effectLst/>
                <a:latin typeface="+mn-lt"/>
                <a:ea typeface="+mn-ea"/>
                <a:cs typeface="+mn-cs"/>
                <a:hlinkClick r:id="rId3"/>
              </a:rPr>
              <a:t>project planning</a:t>
            </a:r>
            <a:r>
              <a:rPr lang="en-US" sz="1200" b="0" i="0" kern="1200" dirty="0">
                <a:solidFill>
                  <a:schemeClr val="tx1"/>
                </a:solidFill>
                <a:effectLst/>
                <a:latin typeface="+mn-lt"/>
                <a:ea typeface="+mn-ea"/>
                <a:cs typeface="+mn-cs"/>
              </a:rPr>
              <a:t>, each serving distinct purposes in determining project timelines and flexibility. Below are the key differences between the two:</a:t>
            </a:r>
          </a:p>
          <a:p>
            <a:r>
              <a:rPr lang="en-US" sz="1200" b="1" i="0" kern="1200" dirty="0">
                <a:solidFill>
                  <a:schemeClr val="tx1"/>
                </a:solidFill>
                <a:effectLst/>
                <a:latin typeface="+mn-lt"/>
                <a:ea typeface="+mn-ea"/>
                <a:cs typeface="+mn-cs"/>
              </a:rPr>
              <a:t>1. Direction of Calculation</a:t>
            </a:r>
          </a:p>
          <a:p>
            <a:r>
              <a:rPr lang="en-US" sz="1200" b="1" i="0" kern="1200" dirty="0">
                <a:solidFill>
                  <a:schemeClr val="tx1"/>
                </a:solidFill>
                <a:effectLst/>
                <a:latin typeface="+mn-lt"/>
                <a:ea typeface="+mn-ea"/>
                <a:cs typeface="+mn-cs"/>
              </a:rPr>
              <a:t>Forward Pass:</a:t>
            </a:r>
            <a:r>
              <a:rPr lang="en-US" sz="1200" b="0" i="0" kern="1200" dirty="0">
                <a:solidFill>
                  <a:schemeClr val="tx1"/>
                </a:solidFill>
                <a:effectLst/>
                <a:latin typeface="+mn-lt"/>
                <a:ea typeface="+mn-ea"/>
                <a:cs typeface="+mn-cs"/>
              </a:rPr>
              <a:t> Moves from the start of the project to the end, progressing through the project network in chronological order.</a:t>
            </a:r>
          </a:p>
          <a:p>
            <a:r>
              <a:rPr lang="en-US" sz="1200" b="1" i="0" kern="1200" dirty="0">
                <a:solidFill>
                  <a:schemeClr val="tx1"/>
                </a:solidFill>
                <a:effectLst/>
                <a:latin typeface="+mn-lt"/>
                <a:ea typeface="+mn-ea"/>
                <a:cs typeface="+mn-cs"/>
              </a:rPr>
              <a:t>Backward Pass:</a:t>
            </a:r>
            <a:r>
              <a:rPr lang="en-US" sz="1200" b="0" i="0" kern="1200" dirty="0">
                <a:solidFill>
                  <a:schemeClr val="tx1"/>
                </a:solidFill>
                <a:effectLst/>
                <a:latin typeface="+mn-lt"/>
                <a:ea typeface="+mn-ea"/>
                <a:cs typeface="+mn-cs"/>
              </a:rPr>
              <a:t> Moves from the end of the project to the start, working backward through the network.</a:t>
            </a:r>
          </a:p>
          <a:p>
            <a:r>
              <a:rPr lang="en-US" sz="1200" b="1" i="0" kern="1200" dirty="0">
                <a:solidFill>
                  <a:schemeClr val="tx1"/>
                </a:solidFill>
                <a:effectLst/>
                <a:latin typeface="+mn-lt"/>
                <a:ea typeface="+mn-ea"/>
                <a:cs typeface="+mn-cs"/>
              </a:rPr>
              <a:t>2. Focus</a:t>
            </a:r>
          </a:p>
          <a:p>
            <a:r>
              <a:rPr lang="en-US" sz="1200" b="1" i="0" kern="1200" dirty="0">
                <a:solidFill>
                  <a:schemeClr val="tx1"/>
                </a:solidFill>
                <a:effectLst/>
                <a:latin typeface="+mn-lt"/>
                <a:ea typeface="+mn-ea"/>
                <a:cs typeface="+mn-cs"/>
              </a:rPr>
              <a:t>Forward Pass:</a:t>
            </a:r>
            <a:r>
              <a:rPr lang="en-US" sz="1200" b="0" i="0" kern="1200" dirty="0">
                <a:solidFill>
                  <a:schemeClr val="tx1"/>
                </a:solidFill>
                <a:effectLst/>
                <a:latin typeface="+mn-lt"/>
                <a:ea typeface="+mn-ea"/>
                <a:cs typeface="+mn-cs"/>
              </a:rPr>
              <a:t> Determines the earliest possible start (ES) and finish (EF) times for each activity, establishing the shortest project duration.</a:t>
            </a:r>
          </a:p>
          <a:p>
            <a:r>
              <a:rPr lang="en-US" sz="1200" b="1" i="0" kern="1200" dirty="0">
                <a:solidFill>
                  <a:schemeClr val="tx1"/>
                </a:solidFill>
                <a:effectLst/>
                <a:latin typeface="+mn-lt"/>
                <a:ea typeface="+mn-ea"/>
                <a:cs typeface="+mn-cs"/>
              </a:rPr>
              <a:t>Backward Pass:</a:t>
            </a:r>
            <a:r>
              <a:rPr lang="en-US" sz="1200" b="0" i="0" kern="1200" dirty="0">
                <a:solidFill>
                  <a:schemeClr val="tx1"/>
                </a:solidFill>
                <a:effectLst/>
                <a:latin typeface="+mn-lt"/>
                <a:ea typeface="+mn-ea"/>
                <a:cs typeface="+mn-cs"/>
              </a:rPr>
              <a:t> Calculates the latest allowable start (LS) and finish (LF) times for each activity to meet the project deadline without delays.</a:t>
            </a:r>
          </a:p>
          <a:p>
            <a:r>
              <a:rPr lang="en-US" sz="1200" b="1" i="0" kern="1200" dirty="0">
                <a:solidFill>
                  <a:schemeClr val="tx1"/>
                </a:solidFill>
                <a:effectLst/>
                <a:latin typeface="+mn-lt"/>
                <a:ea typeface="+mn-ea"/>
                <a:cs typeface="+mn-cs"/>
              </a:rPr>
              <a:t>3. Outputs</a:t>
            </a:r>
          </a:p>
          <a:p>
            <a:r>
              <a:rPr lang="en-US" sz="1200" b="1" i="0" kern="1200" dirty="0">
                <a:solidFill>
                  <a:schemeClr val="tx1"/>
                </a:solidFill>
                <a:effectLst/>
                <a:latin typeface="+mn-lt"/>
                <a:ea typeface="+mn-ea"/>
                <a:cs typeface="+mn-cs"/>
              </a:rPr>
              <a:t>Forward Pass:</a:t>
            </a:r>
            <a:r>
              <a:rPr lang="en-US" sz="1200" b="0" i="0" kern="1200" dirty="0">
                <a:solidFill>
                  <a:schemeClr val="tx1"/>
                </a:solidFill>
                <a:effectLst/>
                <a:latin typeface="+mn-lt"/>
                <a:ea typeface="+mn-ea"/>
                <a:cs typeface="+mn-cs"/>
              </a:rPr>
              <a:t> Produces Early Start (ES) and Early Finish (EF) for each activity, identifying the earliest project completion time.</a:t>
            </a:r>
          </a:p>
          <a:p>
            <a:r>
              <a:rPr lang="en-US" sz="1200" b="1" i="0" kern="1200" dirty="0">
                <a:solidFill>
                  <a:schemeClr val="tx1"/>
                </a:solidFill>
                <a:effectLst/>
                <a:latin typeface="+mn-lt"/>
                <a:ea typeface="+mn-ea"/>
                <a:cs typeface="+mn-cs"/>
              </a:rPr>
              <a:t>Backward Pass:</a:t>
            </a:r>
            <a:r>
              <a:rPr lang="en-US" sz="1200" b="0" i="0" kern="1200" dirty="0">
                <a:solidFill>
                  <a:schemeClr val="tx1"/>
                </a:solidFill>
                <a:effectLst/>
                <a:latin typeface="+mn-lt"/>
                <a:ea typeface="+mn-ea"/>
                <a:cs typeface="+mn-cs"/>
              </a:rPr>
              <a:t> Yields Late Start (LS) and Late Finish (LF) for each activity, indicating the latest times tasks can occur without impacting the project.</a:t>
            </a:r>
          </a:p>
          <a:p>
            <a:r>
              <a:rPr lang="en-US" sz="1200" b="1" i="0" kern="1200" dirty="0">
                <a:solidFill>
                  <a:schemeClr val="tx1"/>
                </a:solidFill>
                <a:effectLst/>
                <a:latin typeface="+mn-lt"/>
                <a:ea typeface="+mn-ea"/>
                <a:cs typeface="+mn-cs"/>
              </a:rPr>
              <a:t>4. Role in CPM</a:t>
            </a:r>
          </a:p>
          <a:p>
            <a:r>
              <a:rPr lang="en-US" sz="1200" b="1" i="0" kern="1200" dirty="0">
                <a:solidFill>
                  <a:schemeClr val="tx1"/>
                </a:solidFill>
                <a:effectLst/>
                <a:latin typeface="+mn-lt"/>
                <a:ea typeface="+mn-ea"/>
                <a:cs typeface="+mn-cs"/>
              </a:rPr>
              <a:t>Forward Pass:</a:t>
            </a:r>
            <a:r>
              <a:rPr lang="en-US" sz="1200" b="0" i="0" kern="1200" dirty="0">
                <a:solidFill>
                  <a:schemeClr val="tx1"/>
                </a:solidFill>
                <a:effectLst/>
                <a:latin typeface="+mn-lt"/>
                <a:ea typeface="+mn-ea"/>
                <a:cs typeface="+mn-cs"/>
              </a:rPr>
              <a:t> Establishes the project’s critical path and minimum duration by calculating the earliest completion times.</a:t>
            </a:r>
          </a:p>
          <a:p>
            <a:r>
              <a:rPr lang="en-US" sz="1200" b="1" i="0" kern="1200" dirty="0">
                <a:solidFill>
                  <a:schemeClr val="tx1"/>
                </a:solidFill>
                <a:effectLst/>
                <a:latin typeface="+mn-lt"/>
                <a:ea typeface="+mn-ea"/>
                <a:cs typeface="+mn-cs"/>
              </a:rPr>
              <a:t>Backward Pass:</a:t>
            </a:r>
            <a:r>
              <a:rPr lang="en-US" sz="1200" b="0" i="0" kern="1200" dirty="0">
                <a:solidFill>
                  <a:schemeClr val="tx1"/>
                </a:solidFill>
                <a:effectLst/>
                <a:latin typeface="+mn-lt"/>
                <a:ea typeface="+mn-ea"/>
                <a:cs typeface="+mn-cs"/>
              </a:rPr>
              <a:t> Identifies float/slack (scheduling flexibility) for activities and confirms the critical path by determining which tasks have no leeway.</a:t>
            </a:r>
          </a:p>
          <a:p>
            <a:endParaRPr lang="en-US" dirty="0"/>
          </a:p>
          <a:p>
            <a:endParaRPr lang="en-US" dirty="0"/>
          </a:p>
          <a:p>
            <a:r>
              <a:rPr lang="en-US" sz="1200" b="1" i="0" kern="1200" dirty="0">
                <a:solidFill>
                  <a:schemeClr val="tx1"/>
                </a:solidFill>
                <a:effectLst/>
                <a:latin typeface="+mn-lt"/>
                <a:ea typeface="+mn-ea"/>
                <a:cs typeface="+mn-cs"/>
              </a:rPr>
              <a:t>How Forward Pass and Backward Pass Work Together</a:t>
            </a:r>
          </a:p>
          <a:p>
            <a:r>
              <a:rPr lang="en-US" sz="1200" b="0" i="0" kern="1200" dirty="0">
                <a:solidFill>
                  <a:schemeClr val="tx1"/>
                </a:solidFill>
                <a:effectLst/>
                <a:latin typeface="+mn-lt"/>
                <a:ea typeface="+mn-ea"/>
                <a:cs typeface="+mn-cs"/>
              </a:rPr>
              <a:t>The forward pass and backward pass in the Critical Path Method (CPM) work together to create a clear, practical project schedule.</a:t>
            </a:r>
          </a:p>
          <a:p>
            <a:r>
              <a:rPr lang="en-US" sz="1200" b="1" i="0" kern="1200" dirty="0">
                <a:solidFill>
                  <a:schemeClr val="tx1"/>
                </a:solidFill>
                <a:effectLst/>
                <a:latin typeface="+mn-lt"/>
                <a:ea typeface="+mn-ea"/>
                <a:cs typeface="+mn-cs"/>
              </a:rPr>
              <a:t>Forward Pass</a:t>
            </a:r>
            <a:r>
              <a:rPr lang="en-US" sz="1200" b="0" i="0" kern="1200" dirty="0">
                <a:solidFill>
                  <a:schemeClr val="tx1"/>
                </a:solidFill>
                <a:effectLst/>
                <a:latin typeface="+mn-lt"/>
                <a:ea typeface="+mn-ea"/>
                <a:cs typeface="+mn-cs"/>
              </a:rPr>
              <a:t>: Calculates the earliest start (ES) and early finish (EF) times for each task, setting the shortest project timeline and identifying the critical path.</a:t>
            </a:r>
          </a:p>
          <a:p>
            <a:r>
              <a:rPr lang="en-US" sz="1200" b="1" i="0" kern="1200" dirty="0">
                <a:solidFill>
                  <a:schemeClr val="tx1"/>
                </a:solidFill>
                <a:effectLst/>
                <a:latin typeface="+mn-lt"/>
                <a:ea typeface="+mn-ea"/>
                <a:cs typeface="+mn-cs"/>
              </a:rPr>
              <a:t>Backward Pass</a:t>
            </a:r>
            <a:r>
              <a:rPr lang="en-US" sz="1200" b="0" i="0" kern="1200" dirty="0">
                <a:solidFill>
                  <a:schemeClr val="tx1"/>
                </a:solidFill>
                <a:effectLst/>
                <a:latin typeface="+mn-lt"/>
                <a:ea typeface="+mn-ea"/>
                <a:cs typeface="+mn-cs"/>
              </a:rPr>
              <a:t>: Determines the latest start (LS) and late finish (LF) times, revealing </a:t>
            </a:r>
            <a:r>
              <a:rPr lang="en-US" sz="1200" b="1" i="0" kern="1200" dirty="0">
                <a:solidFill>
                  <a:schemeClr val="tx1"/>
                </a:solidFill>
                <a:effectLst/>
                <a:latin typeface="+mn-lt"/>
                <a:ea typeface="+mn-ea"/>
                <a:cs typeface="+mn-cs"/>
              </a:rPr>
              <a:t>float</a:t>
            </a:r>
            <a:r>
              <a:rPr lang="en-US" sz="1200" b="0" i="0" kern="1200" dirty="0">
                <a:solidFill>
                  <a:schemeClr val="tx1"/>
                </a:solidFill>
                <a:effectLst/>
                <a:latin typeface="+mn-lt"/>
                <a:ea typeface="+mn-ea"/>
                <a:cs typeface="+mn-cs"/>
              </a:rPr>
              <a:t> (flexibility) for non-critical tasks to avoid delays.</a:t>
            </a:r>
          </a:p>
          <a:p>
            <a:r>
              <a:rPr lang="en-US" sz="1200" b="1" i="0" kern="1200" dirty="0">
                <a:solidFill>
                  <a:schemeClr val="tx1"/>
                </a:solidFill>
                <a:effectLst/>
                <a:latin typeface="+mn-lt"/>
                <a:ea typeface="+mn-ea"/>
                <a:cs typeface="+mn-cs"/>
              </a:rPr>
              <a:t>Collaboration</a:t>
            </a:r>
            <a:r>
              <a:rPr lang="en-US" sz="1200" b="0" i="0" kern="1200" dirty="0">
                <a:solidFill>
                  <a:schemeClr val="tx1"/>
                </a:solidFill>
                <a:effectLst/>
                <a:latin typeface="+mn-lt"/>
                <a:ea typeface="+mn-ea"/>
                <a:cs typeface="+mn-cs"/>
              </a:rPr>
              <a:t>: The forward pass establishes the fastest timeline, while the backward pass ensures tasks stay within allowable limits, optimizing scheduling and resource use.</a:t>
            </a:r>
          </a:p>
          <a:p>
            <a:r>
              <a:rPr lang="en-US" sz="1200" b="1" i="0" kern="1200" dirty="0">
                <a:solidFill>
                  <a:schemeClr val="tx1"/>
                </a:solidFill>
                <a:effectLst/>
                <a:latin typeface="+mn-lt"/>
                <a:ea typeface="+mn-ea"/>
                <a:cs typeface="+mn-cs"/>
              </a:rPr>
              <a:t>Example</a:t>
            </a:r>
            <a:r>
              <a:rPr lang="en-US" sz="1200" b="0" i="0" kern="1200" dirty="0">
                <a:solidFill>
                  <a:schemeClr val="tx1"/>
                </a:solidFill>
                <a:effectLst/>
                <a:latin typeface="+mn-lt"/>
                <a:ea typeface="+mn-ea"/>
                <a:cs typeface="+mn-cs"/>
              </a:rPr>
              <a:t>: In a 7-day project, the </a:t>
            </a:r>
            <a:r>
              <a:rPr lang="en-US" sz="1200" b="1" i="0" kern="1200" dirty="0">
                <a:solidFill>
                  <a:schemeClr val="tx1"/>
                </a:solidFill>
                <a:effectLst/>
                <a:latin typeface="+mn-lt"/>
                <a:ea typeface="+mn-ea"/>
                <a:cs typeface="+mn-cs"/>
              </a:rPr>
              <a:t>Forward Pass</a:t>
            </a:r>
            <a:r>
              <a:rPr lang="en-US" sz="1200" b="0" i="0" kern="1200" dirty="0">
                <a:solidFill>
                  <a:schemeClr val="tx1"/>
                </a:solidFill>
                <a:effectLst/>
                <a:latin typeface="+mn-lt"/>
                <a:ea typeface="+mn-ea"/>
                <a:cs typeface="+mn-cs"/>
              </a:rPr>
              <a:t> establishes the critical path, and the </a:t>
            </a:r>
            <a:r>
              <a:rPr lang="en-US" sz="1200" b="1" i="0" kern="1200" dirty="0">
                <a:solidFill>
                  <a:schemeClr val="tx1"/>
                </a:solidFill>
                <a:effectLst/>
                <a:latin typeface="+mn-lt"/>
                <a:ea typeface="+mn-ea"/>
                <a:cs typeface="+mn-cs"/>
              </a:rPr>
              <a:t>Backward Pass</a:t>
            </a:r>
            <a:r>
              <a:rPr lang="en-US" sz="1200" b="0" i="0" kern="1200" dirty="0">
                <a:solidFill>
                  <a:schemeClr val="tx1"/>
                </a:solidFill>
                <a:effectLst/>
                <a:latin typeface="+mn-lt"/>
                <a:ea typeface="+mn-ea"/>
                <a:cs typeface="+mn-cs"/>
              </a:rPr>
              <a:t> identifies available float for non-critical tasks, allowing for better </a:t>
            </a:r>
            <a:r>
              <a:rPr lang="en-US" sz="1200" b="0" i="0" kern="1200" dirty="0">
                <a:solidFill>
                  <a:schemeClr val="tx1"/>
                </a:solidFill>
                <a:effectLst/>
                <a:latin typeface="+mn-lt"/>
                <a:ea typeface="+mn-ea"/>
                <a:cs typeface="+mn-cs"/>
                <a:hlinkClick r:id="rId4"/>
              </a:rPr>
              <a:t>resource allocation</a:t>
            </a:r>
            <a:r>
              <a:rPr lang="en-US" sz="1200" b="0" i="0" kern="1200" dirty="0">
                <a:solidFill>
                  <a:schemeClr val="tx1"/>
                </a:solidFill>
                <a:effectLst/>
                <a:latin typeface="+mn-lt"/>
                <a:ea typeface="+mn-ea"/>
                <a:cs typeface="+mn-cs"/>
              </a:rPr>
              <a:t> and efficient scheduling.</a:t>
            </a:r>
          </a:p>
          <a:p>
            <a:r>
              <a:rPr lang="en-US" sz="1200" b="1" i="0" kern="1200" dirty="0">
                <a:solidFill>
                  <a:schemeClr val="tx1"/>
                </a:solidFill>
                <a:effectLst/>
                <a:latin typeface="+mn-lt"/>
                <a:ea typeface="+mn-ea"/>
                <a:cs typeface="+mn-cs"/>
              </a:rPr>
              <a:t>Calculating Float/Slack Using Forward and Backward Pass</a:t>
            </a:r>
          </a:p>
          <a:p>
            <a:r>
              <a:rPr lang="en-US" sz="1200" b="1" i="0" kern="1200" dirty="0">
                <a:solidFill>
                  <a:schemeClr val="tx1"/>
                </a:solidFill>
                <a:effectLst/>
                <a:latin typeface="+mn-lt"/>
                <a:ea typeface="+mn-ea"/>
                <a:cs typeface="+mn-cs"/>
              </a:rPr>
              <a:t>Float</a:t>
            </a:r>
            <a:r>
              <a:rPr lang="en-US" sz="1200" b="0" i="0" kern="1200" dirty="0">
                <a:solidFill>
                  <a:schemeClr val="tx1"/>
                </a:solidFill>
                <a:effectLst/>
                <a:latin typeface="+mn-lt"/>
                <a:ea typeface="+mn-ea"/>
                <a:cs typeface="+mn-cs"/>
              </a:rPr>
              <a:t> (or </a:t>
            </a:r>
            <a:r>
              <a:rPr lang="en-US" sz="1200" b="1" i="0" kern="1200" dirty="0">
                <a:solidFill>
                  <a:schemeClr val="tx1"/>
                </a:solidFill>
                <a:effectLst/>
                <a:latin typeface="+mn-lt"/>
                <a:ea typeface="+mn-ea"/>
                <a:cs typeface="+mn-cs"/>
              </a:rPr>
              <a:t>slack</a:t>
            </a:r>
            <a:r>
              <a:rPr lang="en-US" sz="1200" b="0" i="0" kern="1200" dirty="0">
                <a:solidFill>
                  <a:schemeClr val="tx1"/>
                </a:solidFill>
                <a:effectLst/>
                <a:latin typeface="+mn-lt"/>
                <a:ea typeface="+mn-ea"/>
                <a:cs typeface="+mn-cs"/>
              </a:rPr>
              <a:t>) is the amount of time a task can be delayed without affecting the project’s overall completion date. It helps </a:t>
            </a:r>
            <a:r>
              <a:rPr lang="en-US" sz="1200" b="0" i="0" kern="1200" dirty="0">
                <a:solidFill>
                  <a:schemeClr val="tx1"/>
                </a:solidFill>
                <a:effectLst/>
                <a:latin typeface="+mn-lt"/>
                <a:ea typeface="+mn-ea"/>
                <a:cs typeface="+mn-cs"/>
                <a:hlinkClick r:id="rId5"/>
              </a:rPr>
              <a:t>project managers</a:t>
            </a:r>
            <a:r>
              <a:rPr lang="en-US" sz="1200" b="0" i="0" kern="1200" dirty="0">
                <a:solidFill>
                  <a:schemeClr val="tx1"/>
                </a:solidFill>
                <a:effectLst/>
                <a:latin typeface="+mn-lt"/>
                <a:ea typeface="+mn-ea"/>
                <a:cs typeface="+mn-cs"/>
              </a:rPr>
              <a:t> identify which tasks are flexible and which ones are critical to the timeline.</a:t>
            </a:r>
          </a:p>
          <a:p>
            <a:r>
              <a:rPr lang="en-US" sz="1200" b="0" i="0" kern="1200" dirty="0">
                <a:solidFill>
                  <a:schemeClr val="tx1"/>
                </a:solidFill>
                <a:effectLst/>
                <a:latin typeface="+mn-lt"/>
                <a:ea typeface="+mn-ea"/>
                <a:cs typeface="+mn-cs"/>
              </a:rPr>
              <a:t>(For more details on Float/Slack, check out our comprehensive guide on </a:t>
            </a:r>
            <a:r>
              <a:rPr lang="en-US" sz="1200" b="0" i="0" kern="1200" dirty="0">
                <a:solidFill>
                  <a:schemeClr val="tx1"/>
                </a:solidFill>
                <a:effectLst/>
                <a:latin typeface="+mn-lt"/>
                <a:ea typeface="+mn-ea"/>
                <a:cs typeface="+mn-cs"/>
                <a:hlinkClick r:id="rId6"/>
              </a:rPr>
              <a:t>Float in project management</a:t>
            </a:r>
            <a:r>
              <a:rPr lang="en-US" sz="1200" b="0" i="0" kern="1200" dirty="0">
                <a:solidFill>
                  <a:schemeClr val="tx1"/>
                </a:solidFill>
                <a:effectLst/>
                <a:latin typeface="+mn-lt"/>
                <a:ea typeface="+mn-ea"/>
                <a:cs typeface="+mn-cs"/>
              </a:rPr>
              <a:t>)</a:t>
            </a:r>
          </a:p>
          <a:p>
            <a:r>
              <a:rPr lang="en-US" sz="1200" b="1" i="0" kern="1200" dirty="0">
                <a:solidFill>
                  <a:schemeClr val="tx1"/>
                </a:solidFill>
                <a:effectLst/>
                <a:latin typeface="+mn-lt"/>
                <a:ea typeface="+mn-ea"/>
                <a:cs typeface="+mn-cs"/>
              </a:rPr>
              <a:t>How to Calculate Float:</a:t>
            </a:r>
          </a:p>
          <a:p>
            <a:r>
              <a:rPr lang="en-US" sz="1200" b="1" i="0" kern="1200" dirty="0">
                <a:solidFill>
                  <a:schemeClr val="tx1"/>
                </a:solidFill>
                <a:effectLst/>
                <a:latin typeface="+mn-lt"/>
                <a:ea typeface="+mn-ea"/>
                <a:cs typeface="+mn-cs"/>
              </a:rPr>
              <a:t>Key Terms:</a:t>
            </a:r>
            <a:endParaRPr lang="en-US" sz="1200" b="0" i="0" kern="1200" dirty="0">
              <a:solidFill>
                <a:schemeClr val="tx1"/>
              </a:solidFill>
              <a:effectLst/>
              <a:latin typeface="+mn-lt"/>
              <a:ea typeface="+mn-ea"/>
              <a:cs typeface="+mn-cs"/>
            </a:endParaRPr>
          </a:p>
          <a:p>
            <a:pPr lvl="1"/>
            <a:r>
              <a:rPr lang="en-US" sz="1200" b="1" i="0" kern="1200" dirty="0">
                <a:solidFill>
                  <a:schemeClr val="tx1"/>
                </a:solidFill>
                <a:effectLst/>
                <a:latin typeface="+mn-lt"/>
                <a:ea typeface="+mn-ea"/>
                <a:cs typeface="+mn-cs"/>
              </a:rPr>
              <a:t>Earliest Start (ES)</a:t>
            </a:r>
            <a:r>
              <a:rPr lang="en-US" sz="1200" b="0" i="0" kern="1200" dirty="0">
                <a:solidFill>
                  <a:schemeClr val="tx1"/>
                </a:solidFill>
                <a:effectLst/>
                <a:latin typeface="+mn-lt"/>
                <a:ea typeface="+mn-ea"/>
                <a:cs typeface="+mn-cs"/>
              </a:rPr>
              <a:t>: The earliest time a task can </a:t>
            </a:r>
            <a:r>
              <a:rPr lang="en-US" sz="1200" b="1" i="0" kern="1200" dirty="0">
                <a:solidFill>
                  <a:schemeClr val="tx1"/>
                </a:solidFill>
                <a:effectLst/>
                <a:latin typeface="+mn-lt"/>
                <a:ea typeface="+mn-ea"/>
                <a:cs typeface="+mn-cs"/>
              </a:rPr>
              <a:t>begin</a:t>
            </a:r>
            <a:r>
              <a:rPr lang="en-US" sz="1200" b="0" i="0" kern="1200" dirty="0">
                <a:solidFill>
                  <a:schemeClr val="tx1"/>
                </a:solidFill>
                <a:effectLst/>
                <a:latin typeface="+mn-lt"/>
                <a:ea typeface="+mn-ea"/>
                <a:cs typeface="+mn-cs"/>
              </a:rPr>
              <a:t>, calculated during the Forward Pass.</a:t>
            </a:r>
          </a:p>
          <a:p>
            <a:pPr lvl="1"/>
            <a:r>
              <a:rPr lang="en-US" sz="1200" b="1" i="0" kern="1200" dirty="0">
                <a:solidFill>
                  <a:schemeClr val="tx1"/>
                </a:solidFill>
                <a:effectLst/>
                <a:latin typeface="+mn-lt"/>
                <a:ea typeface="+mn-ea"/>
                <a:cs typeface="+mn-cs"/>
              </a:rPr>
              <a:t>Earliest Finish (EF)</a:t>
            </a:r>
            <a:r>
              <a:rPr lang="en-US" sz="1200" b="0" i="0" kern="1200" dirty="0">
                <a:solidFill>
                  <a:schemeClr val="tx1"/>
                </a:solidFill>
                <a:effectLst/>
                <a:latin typeface="+mn-lt"/>
                <a:ea typeface="+mn-ea"/>
                <a:cs typeface="+mn-cs"/>
              </a:rPr>
              <a:t>: The earliest time a task can </a:t>
            </a:r>
            <a:r>
              <a:rPr lang="en-US" sz="1200" b="1" i="0" kern="1200" dirty="0">
                <a:solidFill>
                  <a:schemeClr val="tx1"/>
                </a:solidFill>
                <a:effectLst/>
                <a:latin typeface="+mn-lt"/>
                <a:ea typeface="+mn-ea"/>
                <a:cs typeface="+mn-cs"/>
              </a:rPr>
              <a:t>finish</a:t>
            </a:r>
            <a:r>
              <a:rPr lang="en-US" sz="1200" b="0" i="0" kern="1200" dirty="0">
                <a:solidFill>
                  <a:schemeClr val="tx1"/>
                </a:solidFill>
                <a:effectLst/>
                <a:latin typeface="+mn-lt"/>
                <a:ea typeface="+mn-ea"/>
                <a:cs typeface="+mn-cs"/>
              </a:rPr>
              <a:t>, calculated during the Forward Pass.</a:t>
            </a:r>
          </a:p>
          <a:p>
            <a:pPr lvl="1"/>
            <a:r>
              <a:rPr lang="en-US" sz="1200" b="1" i="0" kern="1200" dirty="0">
                <a:solidFill>
                  <a:schemeClr val="tx1"/>
                </a:solidFill>
                <a:effectLst/>
                <a:latin typeface="+mn-lt"/>
                <a:ea typeface="+mn-ea"/>
                <a:cs typeface="+mn-cs"/>
              </a:rPr>
              <a:t>Latest Start (LS)</a:t>
            </a:r>
            <a:r>
              <a:rPr lang="en-US" sz="1200" b="0" i="0" kern="1200" dirty="0">
                <a:solidFill>
                  <a:schemeClr val="tx1"/>
                </a:solidFill>
                <a:effectLst/>
                <a:latin typeface="+mn-lt"/>
                <a:ea typeface="+mn-ea"/>
                <a:cs typeface="+mn-cs"/>
              </a:rPr>
              <a:t>: The latest time a task can start without delaying the project, calculated during the Backward Pass.</a:t>
            </a:r>
          </a:p>
          <a:p>
            <a:pPr lvl="1"/>
            <a:r>
              <a:rPr lang="en-US" sz="1200" b="1" i="0" kern="1200">
                <a:solidFill>
                  <a:schemeClr val="tx1"/>
                </a:solidFill>
                <a:effectLst/>
                <a:latin typeface="+mn-lt"/>
                <a:ea typeface="+mn-ea"/>
                <a:cs typeface="+mn-cs"/>
              </a:rPr>
              <a:t>Latest Finish (LF)</a:t>
            </a:r>
            <a:r>
              <a:rPr lang="en-US" sz="1200" b="0" i="0" kern="1200">
                <a:solidFill>
                  <a:schemeClr val="tx1"/>
                </a:solidFill>
                <a:effectLst/>
                <a:latin typeface="+mn-lt"/>
                <a:ea typeface="+mn-ea"/>
                <a:cs typeface="+mn-cs"/>
              </a:rPr>
              <a:t>: The latest time a task can finish without delaying the project, calculated during the Backward Pass.</a:t>
            </a:r>
          </a:p>
          <a:p>
            <a:endParaRPr lang="en-US"/>
          </a:p>
        </p:txBody>
      </p:sp>
      <p:sp>
        <p:nvSpPr>
          <p:cNvPr id="4" name="Slide Number Placeholder 3"/>
          <p:cNvSpPr>
            <a:spLocks noGrp="1"/>
          </p:cNvSpPr>
          <p:nvPr>
            <p:ph type="sldNum" sz="quarter" idx="5"/>
          </p:nvPr>
        </p:nvSpPr>
        <p:spPr/>
        <p:txBody>
          <a:bodyPr/>
          <a:lstStyle/>
          <a:p>
            <a:fld id="{9A7E9661-917B-4FBF-BFC0-D8B59675D29E}" type="slidenum">
              <a:rPr lang="en-US" smtClean="0"/>
              <a:t>22</a:t>
            </a:fld>
            <a:endParaRPr lang="en-US"/>
          </a:p>
        </p:txBody>
      </p:sp>
    </p:spTree>
    <p:extLst>
      <p:ext uri="{BB962C8B-B14F-4D97-AF65-F5344CB8AC3E}">
        <p14:creationId xmlns:p14="http://schemas.microsoft.com/office/powerpoint/2010/main" val="42837199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fontAlgn="base"/>
            <a:r>
              <a:rPr lang="en-US" b="0" i="0" dirty="0">
                <a:solidFill>
                  <a:srgbClr val="414141"/>
                </a:solidFill>
                <a:effectLst/>
                <a:latin typeface="Roboto" panose="02000000000000000000" pitchFamily="2" charset="0"/>
              </a:rPr>
              <a:t>When it comes to project planning and scheduling, both Gantt charts and network diagrams play significant roles. Let’s compare these two tools:</a:t>
            </a:r>
          </a:p>
          <a:p>
            <a:pPr algn="l" fontAlgn="base"/>
            <a:r>
              <a:rPr lang="en-US" b="1" i="0" dirty="0">
                <a:solidFill>
                  <a:srgbClr val="222222"/>
                </a:solidFill>
                <a:effectLst/>
                <a:latin typeface="Roboto" panose="02000000000000000000" pitchFamily="2" charset="0"/>
              </a:rPr>
              <a:t>Definition and Purpose</a:t>
            </a:r>
          </a:p>
          <a:p>
            <a:pPr algn="l" fontAlgn="base"/>
            <a:r>
              <a:rPr lang="en-US" b="0" i="0" dirty="0">
                <a:solidFill>
                  <a:srgbClr val="414141"/>
                </a:solidFill>
                <a:effectLst/>
                <a:latin typeface="Roboto" panose="02000000000000000000" pitchFamily="2" charset="0"/>
              </a:rPr>
              <a:t>A Gantt chart is a horizontal bar chart that visually represents project tasks, their durations, and their interdependencies. It provides a timeline view of the project and allows project managers to track progress and identify potential delays. On the other hand, a network diagram visually represents the flow and dependencies between activities, showcasing the logical sequence of tasks.</a:t>
            </a:r>
          </a:p>
          <a:p>
            <a:pPr algn="l" fontAlgn="base"/>
            <a:r>
              <a:rPr lang="en-US" b="1" i="0" dirty="0">
                <a:solidFill>
                  <a:srgbClr val="222222"/>
                </a:solidFill>
                <a:effectLst/>
                <a:latin typeface="Roboto" panose="02000000000000000000" pitchFamily="2" charset="0"/>
              </a:rPr>
              <a:t>Visual Presentation</a:t>
            </a:r>
          </a:p>
          <a:p>
            <a:pPr algn="l" fontAlgn="base"/>
            <a:r>
              <a:rPr lang="en-US" b="0" i="0" dirty="0">
                <a:solidFill>
                  <a:srgbClr val="414141"/>
                </a:solidFill>
                <a:effectLst/>
                <a:latin typeface="Roboto" panose="02000000000000000000" pitchFamily="2" charset="0"/>
              </a:rPr>
              <a:t>Gantt charts present project tasks and their durations in a sequential manner, displaying them on a timeline. They offer a clear overview of project progress and help project managers monitor the completion status of tasks. Network diagrams, on the other hand, focus on the relationships and dependencies between activities and provide a visual representation of project flow.</a:t>
            </a:r>
          </a:p>
          <a:p>
            <a:pPr algn="l" fontAlgn="base"/>
            <a:r>
              <a:rPr lang="en-US" b="1" i="0" dirty="0">
                <a:solidFill>
                  <a:srgbClr val="222222"/>
                </a:solidFill>
                <a:effectLst/>
                <a:latin typeface="Roboto" panose="02000000000000000000" pitchFamily="2" charset="0"/>
              </a:rPr>
              <a:t>Level of Detail</a:t>
            </a:r>
          </a:p>
          <a:p>
            <a:pPr algn="l" fontAlgn="base"/>
            <a:r>
              <a:rPr lang="en-US" b="0" i="0" dirty="0">
                <a:solidFill>
                  <a:srgbClr val="414141"/>
                </a:solidFill>
                <a:effectLst/>
                <a:latin typeface="Roboto" panose="02000000000000000000" pitchFamily="2" charset="0"/>
              </a:rPr>
              <a:t>Gantt charts offer a high level of detail, displaying individual tasks along with their durations, dependencies, and progress. They are widely used for day-to-day project tracking and monitoring. Network diagrams, however, provide a higher-level view, showcasing the flow and dependencies between activities rather than specific task details.</a:t>
            </a:r>
          </a:p>
          <a:p>
            <a:pPr algn="l" fontAlgn="base"/>
            <a:r>
              <a:rPr lang="en-US" b="1" i="0" dirty="0">
                <a:solidFill>
                  <a:srgbClr val="222222"/>
                </a:solidFill>
                <a:effectLst/>
                <a:latin typeface="Roboto" panose="02000000000000000000" pitchFamily="2" charset="0"/>
              </a:rPr>
              <a:t>Focus on Time</a:t>
            </a:r>
          </a:p>
          <a:p>
            <a:pPr algn="l" fontAlgn="base"/>
            <a:r>
              <a:rPr lang="en-US" b="0" i="0" dirty="0">
                <a:solidFill>
                  <a:srgbClr val="414141"/>
                </a:solidFill>
                <a:effectLst/>
                <a:latin typeface="Roboto" panose="02000000000000000000" pitchFamily="2" charset="0"/>
              </a:rPr>
              <a:t>Gantt charts emphasize time by presenting tasks on a timeline. They enable project managers to track project progress against predetermined schedules and identify any deviations. Network diagrams, on the other hand, highlight the logical flow and sequencing of activities, helping project managers understand the relationships and dependencies between tasks.</a:t>
            </a:r>
          </a:p>
          <a:p>
            <a:pPr algn="l" fontAlgn="base"/>
            <a:r>
              <a:rPr lang="en-US" b="1" i="0" dirty="0">
                <a:solidFill>
                  <a:srgbClr val="222222"/>
                </a:solidFill>
                <a:effectLst/>
                <a:latin typeface="Roboto" panose="02000000000000000000" pitchFamily="2" charset="0"/>
              </a:rPr>
              <a:t>Complexity and Scalability</a:t>
            </a:r>
          </a:p>
          <a:p>
            <a:pPr algn="l" fontAlgn="base"/>
            <a:r>
              <a:rPr lang="en-US" b="0" i="0" dirty="0">
                <a:solidFill>
                  <a:srgbClr val="414141"/>
                </a:solidFill>
                <a:effectLst/>
                <a:latin typeface="Roboto" panose="02000000000000000000" pitchFamily="2" charset="0"/>
              </a:rPr>
              <a:t>Gantt charts are well-suited for smaller projects with a limited number of tasks and dependencies. They can quickly become cluttered and difficult to read when used for larger and more complex projects. Network diagrams, on the other hand, handle complexity and scalability more effectively, making them suitable for projects with numerous activities and dependencies.</a:t>
            </a:r>
          </a:p>
          <a:p>
            <a:pPr algn="l" fontAlgn="base"/>
            <a:r>
              <a:rPr lang="en-US" b="0" i="0" dirty="0">
                <a:solidFill>
                  <a:srgbClr val="414141"/>
                </a:solidFill>
                <a:effectLst/>
                <a:latin typeface="Roboto" panose="02000000000000000000" pitchFamily="2" charset="0"/>
              </a:rPr>
              <a:t>Both Gantt charts and network diagrams have their benefits and serve different purposes in project management. Project managers often use them in conjunction to achieve a comprehensive view of project planning, scheduling, and progress tracking.</a:t>
            </a:r>
          </a:p>
          <a:p>
            <a:endParaRPr lang="en-US" dirty="0"/>
          </a:p>
        </p:txBody>
      </p:sp>
      <p:sp>
        <p:nvSpPr>
          <p:cNvPr id="4" name="Slide Number Placeholder 3"/>
          <p:cNvSpPr>
            <a:spLocks noGrp="1"/>
          </p:cNvSpPr>
          <p:nvPr>
            <p:ph type="sldNum" sz="quarter" idx="5"/>
          </p:nvPr>
        </p:nvSpPr>
        <p:spPr/>
        <p:txBody>
          <a:bodyPr/>
          <a:lstStyle/>
          <a:p>
            <a:fld id="{9A7E9661-917B-4FBF-BFC0-D8B59675D29E}" type="slidenum">
              <a:rPr lang="en-US" smtClean="0"/>
              <a:t>38</a:t>
            </a:fld>
            <a:endParaRPr lang="en-US"/>
          </a:p>
        </p:txBody>
      </p:sp>
    </p:spTree>
    <p:extLst>
      <p:ext uri="{BB962C8B-B14F-4D97-AF65-F5344CB8AC3E}">
        <p14:creationId xmlns:p14="http://schemas.microsoft.com/office/powerpoint/2010/main" val="12312520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6939" y="615856"/>
            <a:ext cx="6278245" cy="686247"/>
          </a:xfrm>
          <a:prstGeom prst="rect">
            <a:avLst/>
          </a:prstGeom>
        </p:spPr>
        <p:txBody>
          <a:bodyPr wrap="square" lIns="0" tIns="0" rIns="0" bIns="0">
            <a:spAutoFit/>
          </a:bodyPr>
          <a:lstStyle>
            <a:lvl1pPr>
              <a:defRPr sz="4300" b="0" i="0">
                <a:solidFill>
                  <a:schemeClr val="tx1"/>
                </a:solidFill>
                <a:latin typeface="Calibri Light"/>
                <a:cs typeface="Calibri Light"/>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4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10/30/2025</a:t>
            </a:fld>
            <a:endParaRPr lang="en-US"/>
          </a:p>
        </p:txBody>
      </p:sp>
      <p:sp>
        <p:nvSpPr>
          <p:cNvPr id="6" name="Holder 6"/>
          <p:cNvSpPr>
            <a:spLocks noGrp="1"/>
          </p:cNvSpPr>
          <p:nvPr>
            <p:ph type="sldNum" sz="quarter" idx="7"/>
          </p:nvPr>
        </p:nvSpPr>
        <p:spPr/>
        <p:txBody>
          <a:bodyPr lIns="0" tIns="0" rIns="0" bIns="0"/>
          <a:lstStyle>
            <a:lvl1pPr>
              <a:defRPr sz="1200" b="1" i="0">
                <a:solidFill>
                  <a:srgbClr val="898989"/>
                </a:solidFill>
                <a:latin typeface="Calibri"/>
                <a:cs typeface="Calibri"/>
              </a:defRPr>
            </a:lvl1pPr>
          </a:lstStyle>
          <a:p>
            <a:pPr marL="38100">
              <a:lnSpc>
                <a:spcPct val="100000"/>
              </a:lnSpc>
              <a:spcBef>
                <a:spcPts val="40"/>
              </a:spcBef>
            </a:pPr>
            <a:fld id="{81D60167-4931-47E6-BA6A-407CBD079E47}" type="slidenum">
              <a:rPr spc="-25" dirty="0"/>
              <a:t>‹#›</a:t>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300" b="0" i="0">
                <a:solidFill>
                  <a:schemeClr val="tx1"/>
                </a:solidFill>
                <a:latin typeface="Calibri Light"/>
                <a:cs typeface="Calibri Light"/>
              </a:defRPr>
            </a:lvl1pPr>
          </a:lstStyle>
          <a:p>
            <a:endParaRPr/>
          </a:p>
        </p:txBody>
      </p:sp>
      <p:sp>
        <p:nvSpPr>
          <p:cNvPr id="3" name="Holder 3"/>
          <p:cNvSpPr>
            <a:spLocks noGrp="1"/>
          </p:cNvSpPr>
          <p:nvPr>
            <p:ph type="body" idx="1"/>
          </p:nvPr>
        </p:nvSpPr>
        <p:spPr/>
        <p:txBody>
          <a:bodyPr lIns="0" tIns="0" rIns="0" bIns="0"/>
          <a:lstStyle>
            <a:lvl1pPr>
              <a:defRPr sz="24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10/30/2025</a:t>
            </a:fld>
            <a:endParaRPr lang="en-US"/>
          </a:p>
        </p:txBody>
      </p:sp>
      <p:sp>
        <p:nvSpPr>
          <p:cNvPr id="6" name="Holder 6"/>
          <p:cNvSpPr>
            <a:spLocks noGrp="1"/>
          </p:cNvSpPr>
          <p:nvPr>
            <p:ph type="sldNum" sz="quarter" idx="7"/>
          </p:nvPr>
        </p:nvSpPr>
        <p:spPr/>
        <p:txBody>
          <a:bodyPr lIns="0" tIns="0" rIns="0" bIns="0"/>
          <a:lstStyle>
            <a:lvl1pPr>
              <a:defRPr sz="1200" b="1" i="0">
                <a:solidFill>
                  <a:srgbClr val="898989"/>
                </a:solidFill>
                <a:latin typeface="Calibri"/>
                <a:cs typeface="Calibri"/>
              </a:defRPr>
            </a:lvl1pPr>
          </a:lstStyle>
          <a:p>
            <a:pPr marL="38100">
              <a:lnSpc>
                <a:spcPct val="100000"/>
              </a:lnSpc>
              <a:spcBef>
                <a:spcPts val="40"/>
              </a:spcBef>
            </a:pPr>
            <a:fld id="{81D60167-4931-47E6-BA6A-407CBD079E47}" type="slidenum">
              <a:rPr spc="-25" dirty="0"/>
              <a:t>‹#›</a:t>
            </a:fld>
            <a:endParaRPr spc="-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300" b="0" i="0">
                <a:solidFill>
                  <a:schemeClr val="tx1"/>
                </a:solidFill>
                <a:latin typeface="Calibri Light"/>
                <a:cs typeface="Calibri Light"/>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10/30/2025</a:t>
            </a:fld>
            <a:endParaRPr lang="en-US"/>
          </a:p>
        </p:txBody>
      </p:sp>
      <p:sp>
        <p:nvSpPr>
          <p:cNvPr id="7" name="Holder 7"/>
          <p:cNvSpPr>
            <a:spLocks noGrp="1"/>
          </p:cNvSpPr>
          <p:nvPr>
            <p:ph type="sldNum" sz="quarter" idx="7"/>
          </p:nvPr>
        </p:nvSpPr>
        <p:spPr/>
        <p:txBody>
          <a:bodyPr lIns="0" tIns="0" rIns="0" bIns="0"/>
          <a:lstStyle>
            <a:lvl1pPr>
              <a:defRPr sz="1200" b="1" i="0">
                <a:solidFill>
                  <a:srgbClr val="898989"/>
                </a:solidFill>
                <a:latin typeface="Calibri"/>
                <a:cs typeface="Calibri"/>
              </a:defRPr>
            </a:lvl1pPr>
          </a:lstStyle>
          <a:p>
            <a:pPr marL="38100">
              <a:lnSpc>
                <a:spcPct val="100000"/>
              </a:lnSpc>
              <a:spcBef>
                <a:spcPts val="40"/>
              </a:spcBef>
            </a:pPr>
            <a:fld id="{81D60167-4931-47E6-BA6A-407CBD079E47}" type="slidenum">
              <a:rPr spc="-25" dirty="0"/>
              <a:t>‹#›</a:t>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300" b="0" i="0">
                <a:solidFill>
                  <a:schemeClr val="tx1"/>
                </a:solidFill>
                <a:latin typeface="Calibri Light"/>
                <a:cs typeface="Calibri Light"/>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10/30/2025</a:t>
            </a:fld>
            <a:endParaRPr lang="en-US"/>
          </a:p>
        </p:txBody>
      </p:sp>
      <p:sp>
        <p:nvSpPr>
          <p:cNvPr id="5" name="Holder 5"/>
          <p:cNvSpPr>
            <a:spLocks noGrp="1"/>
          </p:cNvSpPr>
          <p:nvPr>
            <p:ph type="sldNum" sz="quarter" idx="7"/>
          </p:nvPr>
        </p:nvSpPr>
        <p:spPr/>
        <p:txBody>
          <a:bodyPr lIns="0" tIns="0" rIns="0" bIns="0"/>
          <a:lstStyle>
            <a:lvl1pPr>
              <a:defRPr sz="1200" b="1" i="0">
                <a:solidFill>
                  <a:srgbClr val="898989"/>
                </a:solidFill>
                <a:latin typeface="Calibri"/>
                <a:cs typeface="Calibri"/>
              </a:defRPr>
            </a:lvl1pPr>
          </a:lstStyle>
          <a:p>
            <a:pPr marL="38100">
              <a:lnSpc>
                <a:spcPct val="100000"/>
              </a:lnSpc>
              <a:spcBef>
                <a:spcPts val="40"/>
              </a:spcBef>
            </a:pPr>
            <a:fld id="{81D60167-4931-47E6-BA6A-407CBD079E47}" type="slidenum">
              <a:rPr spc="-25" dirty="0"/>
              <a:t>‹#›</a:t>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10/30/2025</a:t>
            </a:fld>
            <a:endParaRPr lang="en-US"/>
          </a:p>
        </p:txBody>
      </p:sp>
      <p:sp>
        <p:nvSpPr>
          <p:cNvPr id="4" name="Holder 4"/>
          <p:cNvSpPr>
            <a:spLocks noGrp="1"/>
          </p:cNvSpPr>
          <p:nvPr>
            <p:ph type="sldNum" sz="quarter" idx="7"/>
          </p:nvPr>
        </p:nvSpPr>
        <p:spPr/>
        <p:txBody>
          <a:bodyPr lIns="0" tIns="0" rIns="0" bIns="0"/>
          <a:lstStyle>
            <a:lvl1pPr>
              <a:defRPr sz="1200" b="1" i="0">
                <a:solidFill>
                  <a:srgbClr val="898989"/>
                </a:solidFill>
                <a:latin typeface="Calibri"/>
                <a:cs typeface="Calibri"/>
              </a:defRPr>
            </a:lvl1pPr>
          </a:lstStyle>
          <a:p>
            <a:pPr marL="38100">
              <a:lnSpc>
                <a:spcPct val="100000"/>
              </a:lnSpc>
              <a:spcBef>
                <a:spcPts val="40"/>
              </a:spcBef>
            </a:pPr>
            <a:fld id="{81D60167-4931-47E6-BA6A-407CBD079E47}" type="slidenum">
              <a:rPr spc="-25" dirty="0"/>
              <a:t>‹#›</a:t>
            </a:fld>
            <a:endParaRPr spc="-25"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1533377"/>
            <a:ext cx="9959975" cy="0"/>
          </a:xfrm>
          <a:custGeom>
            <a:avLst/>
            <a:gdLst/>
            <a:ahLst/>
            <a:cxnLst/>
            <a:rect l="l" t="t" r="r" b="b"/>
            <a:pathLst>
              <a:path w="9959975">
                <a:moveTo>
                  <a:pt x="0" y="0"/>
                </a:moveTo>
                <a:lnTo>
                  <a:pt x="9959926" y="1"/>
                </a:lnTo>
              </a:path>
            </a:pathLst>
          </a:custGeom>
          <a:ln w="57150">
            <a:solidFill>
              <a:srgbClr val="4472C4"/>
            </a:solidFill>
          </a:ln>
        </p:spPr>
        <p:txBody>
          <a:bodyPr wrap="square" lIns="0" tIns="0" rIns="0" bIns="0" rtlCol="0"/>
          <a:lstStyle/>
          <a:p>
            <a:endParaRPr/>
          </a:p>
        </p:txBody>
      </p:sp>
      <p:pic>
        <p:nvPicPr>
          <p:cNvPr id="17" name="bg object 17"/>
          <p:cNvPicPr/>
          <p:nvPr/>
        </p:nvPicPr>
        <p:blipFill>
          <a:blip r:embed="rId7" cstate="print"/>
          <a:stretch>
            <a:fillRect/>
          </a:stretch>
        </p:blipFill>
        <p:spPr>
          <a:xfrm>
            <a:off x="10631358" y="58331"/>
            <a:ext cx="1491574" cy="534930"/>
          </a:xfrm>
          <a:prstGeom prst="rect">
            <a:avLst/>
          </a:prstGeom>
        </p:spPr>
      </p:pic>
      <p:sp>
        <p:nvSpPr>
          <p:cNvPr id="2" name="Holder 2"/>
          <p:cNvSpPr>
            <a:spLocks noGrp="1"/>
          </p:cNvSpPr>
          <p:nvPr>
            <p:ph type="title"/>
          </p:nvPr>
        </p:nvSpPr>
        <p:spPr>
          <a:xfrm>
            <a:off x="916939" y="615856"/>
            <a:ext cx="11207115" cy="686247"/>
          </a:xfrm>
          <a:prstGeom prst="rect">
            <a:avLst/>
          </a:prstGeom>
        </p:spPr>
        <p:txBody>
          <a:bodyPr wrap="square" lIns="0" tIns="0" rIns="0" bIns="0">
            <a:spAutoFit/>
          </a:bodyPr>
          <a:lstStyle>
            <a:lvl1pPr>
              <a:defRPr sz="4300" b="0" i="0">
                <a:solidFill>
                  <a:schemeClr val="tx1"/>
                </a:solidFill>
                <a:latin typeface="Calibri Light"/>
                <a:cs typeface="Calibri Light"/>
              </a:defRPr>
            </a:lvl1pPr>
          </a:lstStyle>
          <a:p>
            <a:endParaRPr/>
          </a:p>
        </p:txBody>
      </p:sp>
      <p:sp>
        <p:nvSpPr>
          <p:cNvPr id="3" name="Holder 3"/>
          <p:cNvSpPr>
            <a:spLocks noGrp="1"/>
          </p:cNvSpPr>
          <p:nvPr>
            <p:ph type="body" idx="1"/>
          </p:nvPr>
        </p:nvSpPr>
        <p:spPr>
          <a:xfrm>
            <a:off x="916939" y="1547876"/>
            <a:ext cx="10358120" cy="1826895"/>
          </a:xfrm>
          <a:prstGeom prst="rect">
            <a:avLst/>
          </a:prstGeom>
        </p:spPr>
        <p:txBody>
          <a:bodyPr wrap="square" lIns="0" tIns="0" rIns="0" bIns="0">
            <a:spAutoFit/>
          </a:bodyPr>
          <a:lstStyle>
            <a:lvl1pPr>
              <a:defRPr sz="2400" b="0" i="0">
                <a:solidFill>
                  <a:schemeClr val="tx1"/>
                </a:solidFill>
                <a:latin typeface="Calibri"/>
                <a:cs typeface="Calibri"/>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10/30/2025</a:t>
            </a:fld>
            <a:endParaRPr lang="en-US"/>
          </a:p>
        </p:txBody>
      </p:sp>
      <p:sp>
        <p:nvSpPr>
          <p:cNvPr id="6" name="Holder 6"/>
          <p:cNvSpPr>
            <a:spLocks noGrp="1"/>
          </p:cNvSpPr>
          <p:nvPr>
            <p:ph type="sldNum" sz="quarter" idx="7"/>
          </p:nvPr>
        </p:nvSpPr>
        <p:spPr>
          <a:xfrm>
            <a:off x="11713804" y="6428920"/>
            <a:ext cx="244475" cy="211454"/>
          </a:xfrm>
          <a:prstGeom prst="rect">
            <a:avLst/>
          </a:prstGeom>
        </p:spPr>
        <p:txBody>
          <a:bodyPr wrap="square" lIns="0" tIns="0" rIns="0" bIns="0">
            <a:spAutoFit/>
          </a:bodyPr>
          <a:lstStyle>
            <a:lvl1pPr>
              <a:defRPr sz="1200" b="1" i="0">
                <a:solidFill>
                  <a:srgbClr val="898989"/>
                </a:solidFill>
                <a:latin typeface="Calibri"/>
                <a:cs typeface="Calibri"/>
              </a:defRPr>
            </a:lvl1pPr>
          </a:lstStyle>
          <a:p>
            <a:pPr marL="38100">
              <a:lnSpc>
                <a:spcPct val="100000"/>
              </a:lnSpc>
              <a:spcBef>
                <a:spcPts val="40"/>
              </a:spcBef>
            </a:pPr>
            <a:fld id="{81D60167-4931-47E6-BA6A-407CBD079E47}" type="slidenum">
              <a:rPr spc="-25" dirty="0"/>
              <a:t>‹#›</a:t>
            </a:fld>
            <a:endParaRPr spc="-2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jpg"/><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4.jp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jpg"/><Relationship Id="rId1" Type="http://schemas.openxmlformats.org/officeDocument/2006/relationships/slideLayout" Target="../slideLayouts/slideLayout4.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image" Target="../media/image21.jp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3.jp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3.png"/><Relationship Id="rId2" Type="http://schemas.openxmlformats.org/officeDocument/2006/relationships/image" Target="../media/image24.png"/><Relationship Id="rId1" Type="http://schemas.openxmlformats.org/officeDocument/2006/relationships/slideLayout" Target="../slideLayouts/slideLayout4.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1.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image" Target="../media/image32.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image" Target="../media/image34.png"/><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35.png"/></Relationships>
</file>

<file path=ppt/slides/_rels/slide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image" Target="../media/image37.png"/><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38.png"/></Relationships>
</file>

<file path=ppt/slides/_rels/slide3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0.jp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3.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4.jp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8" Type="http://schemas.openxmlformats.org/officeDocument/2006/relationships/image" Target="../media/image50.png"/><Relationship Id="rId13" Type="http://schemas.openxmlformats.org/officeDocument/2006/relationships/image" Target="../media/image3.png"/><Relationship Id="rId3" Type="http://schemas.openxmlformats.org/officeDocument/2006/relationships/image" Target="../media/image45.jpg"/><Relationship Id="rId7" Type="http://schemas.openxmlformats.org/officeDocument/2006/relationships/image" Target="../media/image49.jpg"/><Relationship Id="rId12" Type="http://schemas.openxmlformats.org/officeDocument/2006/relationships/image" Target="../media/image54.jp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48.png"/><Relationship Id="rId11" Type="http://schemas.openxmlformats.org/officeDocument/2006/relationships/image" Target="../media/image53.png"/><Relationship Id="rId5" Type="http://schemas.openxmlformats.org/officeDocument/2006/relationships/image" Target="../media/image47.png"/><Relationship Id="rId10" Type="http://schemas.openxmlformats.org/officeDocument/2006/relationships/image" Target="../media/image52.jpg"/><Relationship Id="rId4" Type="http://schemas.openxmlformats.org/officeDocument/2006/relationships/image" Target="../media/image46.jpg"/><Relationship Id="rId9" Type="http://schemas.openxmlformats.org/officeDocument/2006/relationships/image" Target="../media/image51.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66663" y="1642991"/>
            <a:ext cx="8114665" cy="922019"/>
          </a:xfrm>
          <a:prstGeom prst="rect">
            <a:avLst/>
          </a:prstGeom>
        </p:spPr>
        <p:txBody>
          <a:bodyPr vert="horz" wrap="square" lIns="0" tIns="16510" rIns="0" bIns="0" rtlCol="0">
            <a:spAutoFit/>
          </a:bodyPr>
          <a:lstStyle/>
          <a:p>
            <a:pPr marL="12700">
              <a:lnSpc>
                <a:spcPct val="100000"/>
              </a:lnSpc>
              <a:spcBef>
                <a:spcPts val="130"/>
              </a:spcBef>
            </a:pPr>
            <a:r>
              <a:rPr sz="5850" spc="150" dirty="0">
                <a:solidFill>
                  <a:srgbClr val="C00000"/>
                </a:solidFill>
              </a:rPr>
              <a:t>Developing</a:t>
            </a:r>
            <a:r>
              <a:rPr sz="5850" spc="185" dirty="0">
                <a:solidFill>
                  <a:srgbClr val="C00000"/>
                </a:solidFill>
              </a:rPr>
              <a:t> </a:t>
            </a:r>
            <a:r>
              <a:rPr sz="5850" spc="55" dirty="0">
                <a:solidFill>
                  <a:srgbClr val="C00000"/>
                </a:solidFill>
              </a:rPr>
              <a:t>a</a:t>
            </a:r>
            <a:r>
              <a:rPr sz="5850" spc="180" dirty="0">
                <a:solidFill>
                  <a:srgbClr val="C00000"/>
                </a:solidFill>
              </a:rPr>
              <a:t> </a:t>
            </a:r>
            <a:r>
              <a:rPr sz="5850" spc="120" dirty="0">
                <a:solidFill>
                  <a:srgbClr val="C00000"/>
                </a:solidFill>
              </a:rPr>
              <a:t>Project</a:t>
            </a:r>
            <a:r>
              <a:rPr sz="5850" spc="175" dirty="0">
                <a:solidFill>
                  <a:srgbClr val="C00000"/>
                </a:solidFill>
              </a:rPr>
              <a:t> </a:t>
            </a:r>
            <a:r>
              <a:rPr sz="5850" spc="120" dirty="0">
                <a:solidFill>
                  <a:srgbClr val="C00000"/>
                </a:solidFill>
              </a:rPr>
              <a:t>Plan</a:t>
            </a:r>
            <a:endParaRPr sz="5850" dirty="0"/>
          </a:p>
        </p:txBody>
      </p:sp>
      <p:sp>
        <p:nvSpPr>
          <p:cNvPr id="3" name="object 3"/>
          <p:cNvSpPr txBox="1"/>
          <p:nvPr/>
        </p:nvSpPr>
        <p:spPr>
          <a:xfrm>
            <a:off x="4425886" y="2366661"/>
            <a:ext cx="3340735" cy="2185670"/>
          </a:xfrm>
          <a:prstGeom prst="rect">
            <a:avLst/>
          </a:prstGeom>
        </p:spPr>
        <p:txBody>
          <a:bodyPr vert="horz" wrap="square" lIns="0" tIns="187960" rIns="0" bIns="0" rtlCol="0">
            <a:spAutoFit/>
          </a:bodyPr>
          <a:lstStyle/>
          <a:p>
            <a:pPr marL="60325" algn="ctr">
              <a:lnSpc>
                <a:spcPct val="100000"/>
              </a:lnSpc>
              <a:spcBef>
                <a:spcPts val="1480"/>
              </a:spcBef>
            </a:pPr>
            <a:r>
              <a:rPr sz="2650" spc="65" dirty="0">
                <a:latin typeface="Calibri Light"/>
                <a:cs typeface="Calibri Light"/>
              </a:rPr>
              <a:t>(2</a:t>
            </a:r>
            <a:r>
              <a:rPr lang="en-US" sz="2650" spc="65" dirty="0">
                <a:latin typeface="Calibri Light"/>
                <a:cs typeface="Calibri Light"/>
              </a:rPr>
              <a:t>5CPE4602</a:t>
            </a:r>
            <a:r>
              <a:rPr sz="2650" spc="65" dirty="0">
                <a:latin typeface="Calibri Light"/>
                <a:cs typeface="Calibri Light"/>
              </a:rPr>
              <a:t>)</a:t>
            </a:r>
            <a:endParaRPr sz="2650" dirty="0">
              <a:latin typeface="Calibri Light"/>
              <a:cs typeface="Calibri Light"/>
            </a:endParaRPr>
          </a:p>
          <a:p>
            <a:pPr marL="66675" algn="ctr">
              <a:lnSpc>
                <a:spcPct val="100000"/>
              </a:lnSpc>
              <a:spcBef>
                <a:spcPts val="2305"/>
              </a:spcBef>
            </a:pPr>
            <a:r>
              <a:rPr sz="4400" b="1" dirty="0">
                <a:solidFill>
                  <a:srgbClr val="2F5597"/>
                </a:solidFill>
                <a:latin typeface="Calibri"/>
                <a:cs typeface="Calibri"/>
              </a:rPr>
              <a:t>Lecture</a:t>
            </a:r>
            <a:r>
              <a:rPr sz="4400" b="1" spc="-80" dirty="0">
                <a:solidFill>
                  <a:srgbClr val="2F5597"/>
                </a:solidFill>
                <a:latin typeface="Calibri"/>
                <a:cs typeface="Calibri"/>
              </a:rPr>
              <a:t> </a:t>
            </a:r>
            <a:r>
              <a:rPr sz="4400" b="1" spc="-50" dirty="0">
                <a:solidFill>
                  <a:srgbClr val="2F5597"/>
                </a:solidFill>
                <a:latin typeface="Calibri"/>
                <a:cs typeface="Calibri"/>
              </a:rPr>
              <a:t>6</a:t>
            </a:r>
            <a:endParaRPr sz="4400" dirty="0">
              <a:latin typeface="Calibri"/>
              <a:cs typeface="Calibri"/>
            </a:endParaRPr>
          </a:p>
          <a:p>
            <a:pPr algn="ctr">
              <a:lnSpc>
                <a:spcPct val="100000"/>
              </a:lnSpc>
              <a:spcBef>
                <a:spcPts val="1500"/>
              </a:spcBef>
            </a:pPr>
            <a:r>
              <a:rPr sz="2800" spc="150" dirty="0">
                <a:latin typeface="Georgia"/>
                <a:cs typeface="Georgia"/>
              </a:rPr>
              <a:t>Dr.</a:t>
            </a:r>
            <a:r>
              <a:rPr sz="2800" spc="254" dirty="0">
                <a:latin typeface="Georgia"/>
                <a:cs typeface="Georgia"/>
              </a:rPr>
              <a:t> </a:t>
            </a:r>
            <a:r>
              <a:rPr lang="en-US" sz="2800" spc="210" dirty="0">
                <a:latin typeface="Georgia"/>
                <a:cs typeface="Georgia"/>
              </a:rPr>
              <a:t>Zahraa Ismail</a:t>
            </a:r>
            <a:endParaRPr sz="2800" dirty="0">
              <a:latin typeface="Georgia"/>
              <a:cs typeface="Georgia"/>
            </a:endParaRPr>
          </a:p>
        </p:txBody>
      </p:sp>
      <p:pic>
        <p:nvPicPr>
          <p:cNvPr id="4" name="object 4"/>
          <p:cNvPicPr/>
          <p:nvPr/>
        </p:nvPicPr>
        <p:blipFill>
          <a:blip r:embed="rId2" cstate="print"/>
          <a:stretch>
            <a:fillRect/>
          </a:stretch>
        </p:blipFill>
        <p:spPr>
          <a:xfrm>
            <a:off x="3708164" y="4723403"/>
            <a:ext cx="4545091" cy="2134595"/>
          </a:xfrm>
          <a:prstGeom prst="rect">
            <a:avLst/>
          </a:prstGeom>
        </p:spPr>
      </p:pic>
      <p:pic>
        <p:nvPicPr>
          <p:cNvPr id="5" name="object 5"/>
          <p:cNvPicPr/>
          <p:nvPr/>
        </p:nvPicPr>
        <p:blipFill>
          <a:blip r:embed="rId3" cstate="print"/>
          <a:stretch>
            <a:fillRect/>
          </a:stretch>
        </p:blipFill>
        <p:spPr>
          <a:xfrm>
            <a:off x="4671043" y="350415"/>
            <a:ext cx="2274953" cy="815877"/>
          </a:xfrm>
          <a:prstGeom prst="rect">
            <a:avLst/>
          </a:prstGeom>
        </p:spPr>
      </p:pic>
      <p:pic>
        <p:nvPicPr>
          <p:cNvPr id="6" name="Picture 5">
            <a:extLst>
              <a:ext uri="{FF2B5EF4-FFF2-40B4-BE49-F238E27FC236}">
                <a16:creationId xmlns:a16="http://schemas.microsoft.com/office/drawing/2014/main" id="{7B739C16-5E84-DB9F-B032-6CF3DE6124C3}"/>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599706" y="62074"/>
            <a:ext cx="2639293" cy="158091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spc="110" dirty="0"/>
              <a:t>Developing</a:t>
            </a:r>
            <a:r>
              <a:rPr spc="120" dirty="0"/>
              <a:t> </a:t>
            </a:r>
            <a:r>
              <a:rPr spc="95" dirty="0"/>
              <a:t>the</a:t>
            </a:r>
            <a:r>
              <a:rPr spc="120" dirty="0"/>
              <a:t> </a:t>
            </a:r>
            <a:r>
              <a:rPr spc="85" dirty="0"/>
              <a:t>Project</a:t>
            </a:r>
            <a:r>
              <a:rPr spc="125" dirty="0"/>
              <a:t> </a:t>
            </a:r>
            <a:r>
              <a:rPr spc="90" dirty="0"/>
              <a:t>Network</a:t>
            </a:r>
          </a:p>
        </p:txBody>
      </p:sp>
      <p:sp>
        <p:nvSpPr>
          <p:cNvPr id="3" name="object 3"/>
          <p:cNvSpPr txBox="1"/>
          <p:nvPr/>
        </p:nvSpPr>
        <p:spPr>
          <a:xfrm>
            <a:off x="916939" y="1622043"/>
            <a:ext cx="10358755" cy="5093702"/>
          </a:xfrm>
          <a:prstGeom prst="rect">
            <a:avLst/>
          </a:prstGeom>
        </p:spPr>
        <p:txBody>
          <a:bodyPr vert="horz" wrap="square" lIns="0" tIns="63500" rIns="0" bIns="0" rtlCol="0">
            <a:spAutoFit/>
          </a:bodyPr>
          <a:lstStyle/>
          <a:p>
            <a:pPr marL="241300" marR="6985" indent="-228600" algn="just">
              <a:lnSpc>
                <a:spcPts val="3000"/>
              </a:lnSpc>
              <a:spcBef>
                <a:spcPts val="500"/>
              </a:spcBef>
              <a:buFont typeface="Arial MT"/>
              <a:buChar char="•"/>
              <a:tabLst>
                <a:tab pos="241300" algn="l"/>
              </a:tabLst>
            </a:pPr>
            <a:r>
              <a:rPr sz="2800" dirty="0">
                <a:latin typeface="Calibri"/>
                <a:cs typeface="Calibri"/>
              </a:rPr>
              <a:t>The</a:t>
            </a:r>
            <a:r>
              <a:rPr sz="2800" spc="445" dirty="0">
                <a:latin typeface="Calibri"/>
                <a:cs typeface="Calibri"/>
              </a:rPr>
              <a:t> </a:t>
            </a:r>
            <a:r>
              <a:rPr sz="2800" dirty="0">
                <a:latin typeface="Calibri"/>
                <a:cs typeface="Calibri"/>
              </a:rPr>
              <a:t>project</a:t>
            </a:r>
            <a:r>
              <a:rPr sz="2800" spc="450" dirty="0">
                <a:latin typeface="Calibri"/>
                <a:cs typeface="Calibri"/>
              </a:rPr>
              <a:t> </a:t>
            </a:r>
            <a:r>
              <a:rPr sz="2800" dirty="0">
                <a:latin typeface="Calibri"/>
                <a:cs typeface="Calibri"/>
              </a:rPr>
              <a:t>network</a:t>
            </a:r>
            <a:r>
              <a:rPr sz="2800" spc="455" dirty="0">
                <a:latin typeface="Calibri"/>
                <a:cs typeface="Calibri"/>
              </a:rPr>
              <a:t> </a:t>
            </a:r>
            <a:r>
              <a:rPr sz="2800" dirty="0">
                <a:latin typeface="Calibri"/>
                <a:cs typeface="Calibri"/>
              </a:rPr>
              <a:t>is</a:t>
            </a:r>
            <a:r>
              <a:rPr sz="2800" spc="455" dirty="0">
                <a:latin typeface="Calibri"/>
                <a:cs typeface="Calibri"/>
              </a:rPr>
              <a:t> </a:t>
            </a:r>
            <a:r>
              <a:rPr sz="2800" dirty="0">
                <a:latin typeface="Calibri"/>
                <a:cs typeface="Calibri"/>
              </a:rPr>
              <a:t>the</a:t>
            </a:r>
            <a:r>
              <a:rPr sz="2800" spc="450" dirty="0">
                <a:latin typeface="Calibri"/>
                <a:cs typeface="Calibri"/>
              </a:rPr>
              <a:t> </a:t>
            </a:r>
            <a:r>
              <a:rPr sz="2800" b="1" dirty="0">
                <a:solidFill>
                  <a:srgbClr val="FF0000"/>
                </a:solidFill>
                <a:latin typeface="Calibri"/>
                <a:cs typeface="Calibri"/>
              </a:rPr>
              <a:t>tool</a:t>
            </a:r>
            <a:r>
              <a:rPr sz="2800" spc="445" dirty="0">
                <a:latin typeface="Calibri"/>
                <a:cs typeface="Calibri"/>
              </a:rPr>
              <a:t> </a:t>
            </a:r>
            <a:r>
              <a:rPr sz="2800" dirty="0">
                <a:latin typeface="Calibri"/>
                <a:cs typeface="Calibri"/>
              </a:rPr>
              <a:t>used</a:t>
            </a:r>
            <a:r>
              <a:rPr sz="2800" spc="455" dirty="0">
                <a:latin typeface="Calibri"/>
                <a:cs typeface="Calibri"/>
              </a:rPr>
              <a:t> </a:t>
            </a:r>
            <a:r>
              <a:rPr sz="2800" dirty="0">
                <a:latin typeface="Calibri"/>
                <a:cs typeface="Calibri"/>
              </a:rPr>
              <a:t>for</a:t>
            </a:r>
            <a:r>
              <a:rPr sz="2800" spc="455" dirty="0">
                <a:latin typeface="Calibri"/>
                <a:cs typeface="Calibri"/>
              </a:rPr>
              <a:t> </a:t>
            </a:r>
            <a:r>
              <a:rPr sz="2800" b="1" dirty="0">
                <a:solidFill>
                  <a:srgbClr val="00B050"/>
                </a:solidFill>
                <a:latin typeface="Calibri"/>
                <a:cs typeface="Calibri"/>
              </a:rPr>
              <a:t>planning,</a:t>
            </a:r>
            <a:r>
              <a:rPr sz="2800" b="1" spc="455" dirty="0">
                <a:solidFill>
                  <a:srgbClr val="00B050"/>
                </a:solidFill>
                <a:latin typeface="Calibri"/>
                <a:cs typeface="Calibri"/>
              </a:rPr>
              <a:t> </a:t>
            </a:r>
            <a:r>
              <a:rPr sz="2800" b="1" dirty="0">
                <a:solidFill>
                  <a:srgbClr val="00B050"/>
                </a:solidFill>
                <a:latin typeface="Calibri"/>
                <a:cs typeface="Calibri"/>
              </a:rPr>
              <a:t>scheduling,</a:t>
            </a:r>
            <a:r>
              <a:rPr sz="2800" b="1" spc="450" dirty="0">
                <a:solidFill>
                  <a:srgbClr val="00B050"/>
                </a:solidFill>
                <a:latin typeface="Calibri"/>
                <a:cs typeface="Calibri"/>
              </a:rPr>
              <a:t> </a:t>
            </a:r>
            <a:r>
              <a:rPr sz="2800" b="1" spc="-25" dirty="0">
                <a:solidFill>
                  <a:srgbClr val="00B050"/>
                </a:solidFill>
                <a:latin typeface="Calibri"/>
                <a:cs typeface="Calibri"/>
              </a:rPr>
              <a:t>and </a:t>
            </a:r>
            <a:r>
              <a:rPr sz="2800" b="1" dirty="0">
                <a:solidFill>
                  <a:srgbClr val="00B050"/>
                </a:solidFill>
                <a:latin typeface="Calibri"/>
                <a:cs typeface="Calibri"/>
              </a:rPr>
              <a:t>monitoring</a:t>
            </a:r>
            <a:r>
              <a:rPr sz="2800" b="1" spc="-114" dirty="0">
                <a:solidFill>
                  <a:srgbClr val="00B050"/>
                </a:solidFill>
                <a:latin typeface="Calibri"/>
                <a:cs typeface="Calibri"/>
              </a:rPr>
              <a:t> </a:t>
            </a:r>
            <a:r>
              <a:rPr sz="2800" b="1" dirty="0">
                <a:solidFill>
                  <a:srgbClr val="00B050"/>
                </a:solidFill>
                <a:latin typeface="Calibri"/>
                <a:cs typeface="Calibri"/>
              </a:rPr>
              <a:t>project</a:t>
            </a:r>
            <a:r>
              <a:rPr sz="2800" b="1" spc="-105" dirty="0">
                <a:solidFill>
                  <a:srgbClr val="00B050"/>
                </a:solidFill>
                <a:latin typeface="Calibri"/>
                <a:cs typeface="Calibri"/>
              </a:rPr>
              <a:t> </a:t>
            </a:r>
            <a:r>
              <a:rPr sz="2800" b="1" spc="-10" dirty="0">
                <a:solidFill>
                  <a:srgbClr val="00B050"/>
                </a:solidFill>
                <a:latin typeface="Calibri"/>
                <a:cs typeface="Calibri"/>
              </a:rPr>
              <a:t>progress</a:t>
            </a:r>
            <a:r>
              <a:rPr sz="2800" spc="-10" dirty="0">
                <a:latin typeface="Calibri"/>
                <a:cs typeface="Calibri"/>
              </a:rPr>
              <a:t>.</a:t>
            </a:r>
            <a:endParaRPr sz="2800" dirty="0">
              <a:latin typeface="Calibri"/>
              <a:cs typeface="Calibri"/>
            </a:endParaRPr>
          </a:p>
          <a:p>
            <a:pPr marL="241300" marR="6350" indent="-228600" algn="just">
              <a:lnSpc>
                <a:spcPts val="3100"/>
              </a:lnSpc>
              <a:spcBef>
                <a:spcPts val="905"/>
              </a:spcBef>
              <a:buFont typeface="Arial MT"/>
              <a:buChar char="•"/>
              <a:tabLst>
                <a:tab pos="241300" algn="l"/>
              </a:tabLst>
            </a:pPr>
            <a:r>
              <a:rPr sz="2800" dirty="0">
                <a:solidFill>
                  <a:srgbClr val="262EA4"/>
                </a:solidFill>
                <a:latin typeface="Calibri"/>
                <a:cs typeface="Calibri"/>
              </a:rPr>
              <a:t>It</a:t>
            </a:r>
            <a:r>
              <a:rPr sz="2800" spc="275" dirty="0">
                <a:solidFill>
                  <a:srgbClr val="262EA4"/>
                </a:solidFill>
                <a:latin typeface="Calibri"/>
                <a:cs typeface="Calibri"/>
              </a:rPr>
              <a:t> </a:t>
            </a:r>
            <a:r>
              <a:rPr sz="2800" dirty="0">
                <a:solidFill>
                  <a:srgbClr val="262EA4"/>
                </a:solidFill>
                <a:latin typeface="Calibri"/>
                <a:cs typeface="Calibri"/>
              </a:rPr>
              <a:t>is</a:t>
            </a:r>
            <a:r>
              <a:rPr sz="2800" spc="280" dirty="0">
                <a:solidFill>
                  <a:srgbClr val="262EA4"/>
                </a:solidFill>
                <a:latin typeface="Calibri"/>
                <a:cs typeface="Calibri"/>
              </a:rPr>
              <a:t> </a:t>
            </a:r>
            <a:r>
              <a:rPr sz="2800" dirty="0">
                <a:solidFill>
                  <a:srgbClr val="262EA4"/>
                </a:solidFill>
                <a:latin typeface="Calibri"/>
                <a:cs typeface="Calibri"/>
              </a:rPr>
              <a:t>developed</a:t>
            </a:r>
            <a:r>
              <a:rPr sz="2800" spc="275" dirty="0">
                <a:solidFill>
                  <a:srgbClr val="262EA4"/>
                </a:solidFill>
                <a:latin typeface="Calibri"/>
                <a:cs typeface="Calibri"/>
              </a:rPr>
              <a:t> </a:t>
            </a:r>
            <a:r>
              <a:rPr sz="2800" dirty="0">
                <a:solidFill>
                  <a:srgbClr val="262EA4"/>
                </a:solidFill>
                <a:latin typeface="Calibri"/>
                <a:cs typeface="Calibri"/>
              </a:rPr>
              <a:t>from</a:t>
            </a:r>
            <a:r>
              <a:rPr sz="2800" spc="275" dirty="0">
                <a:solidFill>
                  <a:srgbClr val="262EA4"/>
                </a:solidFill>
                <a:latin typeface="Calibri"/>
                <a:cs typeface="Calibri"/>
              </a:rPr>
              <a:t> </a:t>
            </a:r>
            <a:r>
              <a:rPr sz="2800" dirty="0">
                <a:solidFill>
                  <a:srgbClr val="262EA4"/>
                </a:solidFill>
                <a:latin typeface="Calibri"/>
                <a:cs typeface="Calibri"/>
              </a:rPr>
              <a:t>the</a:t>
            </a:r>
            <a:r>
              <a:rPr sz="2800" spc="275" dirty="0">
                <a:solidFill>
                  <a:srgbClr val="262EA4"/>
                </a:solidFill>
                <a:latin typeface="Calibri"/>
                <a:cs typeface="Calibri"/>
              </a:rPr>
              <a:t> </a:t>
            </a:r>
            <a:r>
              <a:rPr sz="2800" dirty="0">
                <a:solidFill>
                  <a:srgbClr val="262EA4"/>
                </a:solidFill>
                <a:latin typeface="Calibri"/>
                <a:cs typeface="Calibri"/>
              </a:rPr>
              <a:t>information</a:t>
            </a:r>
            <a:r>
              <a:rPr sz="2800" spc="280" dirty="0">
                <a:solidFill>
                  <a:srgbClr val="262EA4"/>
                </a:solidFill>
                <a:latin typeface="Calibri"/>
                <a:cs typeface="Calibri"/>
              </a:rPr>
              <a:t> </a:t>
            </a:r>
            <a:r>
              <a:rPr sz="2800" dirty="0">
                <a:solidFill>
                  <a:srgbClr val="262EA4"/>
                </a:solidFill>
                <a:latin typeface="Calibri"/>
                <a:cs typeface="Calibri"/>
              </a:rPr>
              <a:t>collected</a:t>
            </a:r>
            <a:r>
              <a:rPr sz="2800" spc="280" dirty="0">
                <a:solidFill>
                  <a:srgbClr val="262EA4"/>
                </a:solidFill>
                <a:latin typeface="Calibri"/>
                <a:cs typeface="Calibri"/>
              </a:rPr>
              <a:t> </a:t>
            </a:r>
            <a:r>
              <a:rPr sz="2800" dirty="0">
                <a:solidFill>
                  <a:srgbClr val="262EA4"/>
                </a:solidFill>
                <a:latin typeface="Calibri"/>
                <a:cs typeface="Calibri"/>
              </a:rPr>
              <a:t>for</a:t>
            </a:r>
            <a:r>
              <a:rPr sz="2800" spc="275" dirty="0">
                <a:solidFill>
                  <a:srgbClr val="262EA4"/>
                </a:solidFill>
                <a:latin typeface="Calibri"/>
                <a:cs typeface="Calibri"/>
              </a:rPr>
              <a:t> </a:t>
            </a:r>
            <a:r>
              <a:rPr sz="2800" dirty="0">
                <a:solidFill>
                  <a:srgbClr val="262EA4"/>
                </a:solidFill>
                <a:latin typeface="Calibri"/>
                <a:cs typeface="Calibri"/>
              </a:rPr>
              <a:t>the</a:t>
            </a:r>
            <a:r>
              <a:rPr sz="2800" spc="275" dirty="0">
                <a:solidFill>
                  <a:srgbClr val="262EA4"/>
                </a:solidFill>
                <a:latin typeface="Calibri"/>
                <a:cs typeface="Calibri"/>
              </a:rPr>
              <a:t> </a:t>
            </a:r>
            <a:r>
              <a:rPr sz="2800" b="1" dirty="0">
                <a:solidFill>
                  <a:srgbClr val="FF0000"/>
                </a:solidFill>
                <a:latin typeface="Calibri"/>
                <a:cs typeface="Calibri"/>
              </a:rPr>
              <a:t>WBS</a:t>
            </a:r>
            <a:r>
              <a:rPr sz="2800" spc="280" dirty="0">
                <a:solidFill>
                  <a:srgbClr val="262EA4"/>
                </a:solidFill>
                <a:latin typeface="Calibri"/>
                <a:cs typeface="Calibri"/>
              </a:rPr>
              <a:t> </a:t>
            </a:r>
            <a:r>
              <a:rPr sz="2800" dirty="0">
                <a:solidFill>
                  <a:srgbClr val="262EA4"/>
                </a:solidFill>
                <a:latin typeface="Calibri"/>
                <a:cs typeface="Calibri"/>
              </a:rPr>
              <a:t>and</a:t>
            </a:r>
            <a:r>
              <a:rPr sz="2800" spc="285" dirty="0">
                <a:solidFill>
                  <a:srgbClr val="262EA4"/>
                </a:solidFill>
                <a:latin typeface="Calibri"/>
                <a:cs typeface="Calibri"/>
              </a:rPr>
              <a:t> </a:t>
            </a:r>
            <a:r>
              <a:rPr sz="2800" dirty="0">
                <a:solidFill>
                  <a:srgbClr val="262EA4"/>
                </a:solidFill>
                <a:latin typeface="Calibri"/>
                <a:cs typeface="Calibri"/>
              </a:rPr>
              <a:t>is</a:t>
            </a:r>
            <a:r>
              <a:rPr sz="2800" spc="280" dirty="0">
                <a:solidFill>
                  <a:srgbClr val="262EA4"/>
                </a:solidFill>
                <a:latin typeface="Calibri"/>
                <a:cs typeface="Calibri"/>
              </a:rPr>
              <a:t> </a:t>
            </a:r>
            <a:r>
              <a:rPr sz="2800" spc="-50" dirty="0">
                <a:solidFill>
                  <a:srgbClr val="262EA4"/>
                </a:solidFill>
                <a:latin typeface="Calibri"/>
                <a:cs typeface="Calibri"/>
              </a:rPr>
              <a:t>a </a:t>
            </a:r>
            <a:r>
              <a:rPr sz="2800" dirty="0">
                <a:solidFill>
                  <a:srgbClr val="262EA4"/>
                </a:solidFill>
                <a:latin typeface="Calibri"/>
                <a:cs typeface="Calibri"/>
              </a:rPr>
              <a:t>graphic</a:t>
            </a:r>
            <a:r>
              <a:rPr sz="2800" spc="-45" dirty="0">
                <a:solidFill>
                  <a:srgbClr val="262EA4"/>
                </a:solidFill>
                <a:latin typeface="Calibri"/>
                <a:cs typeface="Calibri"/>
              </a:rPr>
              <a:t> </a:t>
            </a:r>
            <a:r>
              <a:rPr sz="2800" dirty="0">
                <a:solidFill>
                  <a:srgbClr val="262EA4"/>
                </a:solidFill>
                <a:latin typeface="Calibri"/>
                <a:cs typeface="Calibri"/>
              </a:rPr>
              <a:t>flow</a:t>
            </a:r>
            <a:r>
              <a:rPr sz="2800" spc="-50" dirty="0">
                <a:solidFill>
                  <a:srgbClr val="262EA4"/>
                </a:solidFill>
                <a:latin typeface="Calibri"/>
                <a:cs typeface="Calibri"/>
              </a:rPr>
              <a:t> </a:t>
            </a:r>
            <a:r>
              <a:rPr sz="2800" dirty="0">
                <a:solidFill>
                  <a:srgbClr val="262EA4"/>
                </a:solidFill>
                <a:latin typeface="Calibri"/>
                <a:cs typeface="Calibri"/>
              </a:rPr>
              <a:t>chart</a:t>
            </a:r>
            <a:r>
              <a:rPr sz="2800" spc="-50" dirty="0">
                <a:solidFill>
                  <a:srgbClr val="262EA4"/>
                </a:solidFill>
                <a:latin typeface="Calibri"/>
                <a:cs typeface="Calibri"/>
              </a:rPr>
              <a:t> </a:t>
            </a:r>
            <a:r>
              <a:rPr sz="2800" dirty="0">
                <a:solidFill>
                  <a:srgbClr val="262EA4"/>
                </a:solidFill>
                <a:latin typeface="Calibri"/>
                <a:cs typeface="Calibri"/>
              </a:rPr>
              <a:t>of</a:t>
            </a:r>
            <a:r>
              <a:rPr sz="2800" spc="-55" dirty="0">
                <a:solidFill>
                  <a:srgbClr val="262EA4"/>
                </a:solidFill>
                <a:latin typeface="Calibri"/>
                <a:cs typeface="Calibri"/>
              </a:rPr>
              <a:t> </a:t>
            </a:r>
            <a:r>
              <a:rPr sz="2800" dirty="0">
                <a:solidFill>
                  <a:srgbClr val="262EA4"/>
                </a:solidFill>
                <a:latin typeface="Calibri"/>
                <a:cs typeface="Calibri"/>
              </a:rPr>
              <a:t>the</a:t>
            </a:r>
            <a:r>
              <a:rPr sz="2800" spc="-50" dirty="0">
                <a:solidFill>
                  <a:srgbClr val="262EA4"/>
                </a:solidFill>
                <a:latin typeface="Calibri"/>
                <a:cs typeface="Calibri"/>
              </a:rPr>
              <a:t> </a:t>
            </a:r>
            <a:r>
              <a:rPr sz="2800" dirty="0">
                <a:solidFill>
                  <a:srgbClr val="262EA4"/>
                </a:solidFill>
                <a:latin typeface="Calibri"/>
                <a:cs typeface="Calibri"/>
              </a:rPr>
              <a:t>project</a:t>
            </a:r>
            <a:r>
              <a:rPr sz="2800" spc="-50" dirty="0">
                <a:solidFill>
                  <a:srgbClr val="262EA4"/>
                </a:solidFill>
                <a:latin typeface="Calibri"/>
                <a:cs typeface="Calibri"/>
              </a:rPr>
              <a:t> </a:t>
            </a:r>
            <a:r>
              <a:rPr sz="2800" dirty="0">
                <a:solidFill>
                  <a:srgbClr val="262EA4"/>
                </a:solidFill>
                <a:latin typeface="Calibri"/>
                <a:cs typeface="Calibri"/>
              </a:rPr>
              <a:t>job</a:t>
            </a:r>
            <a:r>
              <a:rPr sz="2800" spc="-40" dirty="0">
                <a:solidFill>
                  <a:srgbClr val="262EA4"/>
                </a:solidFill>
                <a:latin typeface="Calibri"/>
                <a:cs typeface="Calibri"/>
              </a:rPr>
              <a:t> </a:t>
            </a:r>
            <a:r>
              <a:rPr sz="2800" spc="-10" dirty="0">
                <a:solidFill>
                  <a:srgbClr val="262EA4"/>
                </a:solidFill>
                <a:latin typeface="Calibri"/>
                <a:cs typeface="Calibri"/>
              </a:rPr>
              <a:t>plan.</a:t>
            </a:r>
            <a:endParaRPr sz="2800" dirty="0">
              <a:latin typeface="Calibri"/>
              <a:cs typeface="Calibri"/>
            </a:endParaRPr>
          </a:p>
          <a:p>
            <a:pPr marL="241300" marR="5715" indent="-228600" algn="just">
              <a:lnSpc>
                <a:spcPct val="90200"/>
              </a:lnSpc>
              <a:spcBef>
                <a:spcPts val="910"/>
              </a:spcBef>
              <a:buFont typeface="Arial MT"/>
              <a:buChar char="•"/>
              <a:tabLst>
                <a:tab pos="241300" algn="l"/>
              </a:tabLst>
            </a:pPr>
            <a:r>
              <a:rPr sz="2800" dirty="0">
                <a:latin typeface="Calibri"/>
                <a:cs typeface="Calibri"/>
              </a:rPr>
              <a:t>It</a:t>
            </a:r>
            <a:r>
              <a:rPr sz="2800" spc="80" dirty="0">
                <a:latin typeface="Calibri"/>
                <a:cs typeface="Calibri"/>
              </a:rPr>
              <a:t> </a:t>
            </a:r>
            <a:r>
              <a:rPr sz="2800" dirty="0">
                <a:latin typeface="Calibri"/>
                <a:cs typeface="Calibri"/>
              </a:rPr>
              <a:t>illustrates</a:t>
            </a:r>
            <a:r>
              <a:rPr sz="2800" spc="80" dirty="0">
                <a:latin typeface="Calibri"/>
                <a:cs typeface="Calibri"/>
              </a:rPr>
              <a:t> </a:t>
            </a:r>
            <a:r>
              <a:rPr sz="2800" dirty="0">
                <a:latin typeface="Calibri"/>
                <a:cs typeface="Calibri"/>
              </a:rPr>
              <a:t>the</a:t>
            </a:r>
            <a:r>
              <a:rPr sz="2800" spc="75" dirty="0">
                <a:latin typeface="Calibri"/>
                <a:cs typeface="Calibri"/>
              </a:rPr>
              <a:t> </a:t>
            </a:r>
            <a:r>
              <a:rPr sz="2800" b="1" dirty="0">
                <a:solidFill>
                  <a:srgbClr val="00B050"/>
                </a:solidFill>
                <a:latin typeface="Calibri"/>
                <a:cs typeface="Calibri"/>
              </a:rPr>
              <a:t>project</a:t>
            </a:r>
            <a:r>
              <a:rPr sz="2800" b="1" spc="75" dirty="0">
                <a:solidFill>
                  <a:srgbClr val="00B050"/>
                </a:solidFill>
                <a:latin typeface="Calibri"/>
                <a:cs typeface="Calibri"/>
              </a:rPr>
              <a:t> </a:t>
            </a:r>
            <a:r>
              <a:rPr sz="2800" b="1" dirty="0">
                <a:solidFill>
                  <a:srgbClr val="00B050"/>
                </a:solidFill>
                <a:latin typeface="Calibri"/>
                <a:cs typeface="Calibri"/>
              </a:rPr>
              <a:t>activities</a:t>
            </a:r>
            <a:r>
              <a:rPr sz="2800" b="1" spc="80" dirty="0">
                <a:solidFill>
                  <a:srgbClr val="00B050"/>
                </a:solidFill>
                <a:latin typeface="Calibri"/>
                <a:cs typeface="Calibri"/>
              </a:rPr>
              <a:t> </a:t>
            </a:r>
            <a:r>
              <a:rPr sz="2800" dirty="0">
                <a:latin typeface="Calibri"/>
                <a:cs typeface="Calibri"/>
              </a:rPr>
              <a:t>that</a:t>
            </a:r>
            <a:r>
              <a:rPr sz="2800" spc="85" dirty="0">
                <a:latin typeface="Calibri"/>
                <a:cs typeface="Calibri"/>
              </a:rPr>
              <a:t> </a:t>
            </a:r>
            <a:r>
              <a:rPr sz="2800" dirty="0">
                <a:latin typeface="Calibri"/>
                <a:cs typeface="Calibri"/>
              </a:rPr>
              <a:t>must</a:t>
            </a:r>
            <a:r>
              <a:rPr sz="2800" spc="80" dirty="0">
                <a:latin typeface="Calibri"/>
                <a:cs typeface="Calibri"/>
              </a:rPr>
              <a:t> </a:t>
            </a:r>
            <a:r>
              <a:rPr sz="2800" dirty="0">
                <a:latin typeface="Calibri"/>
                <a:cs typeface="Calibri"/>
              </a:rPr>
              <a:t>be</a:t>
            </a:r>
            <a:r>
              <a:rPr sz="2800" spc="70" dirty="0">
                <a:latin typeface="Calibri"/>
                <a:cs typeface="Calibri"/>
              </a:rPr>
              <a:t> </a:t>
            </a:r>
            <a:r>
              <a:rPr sz="2800" dirty="0">
                <a:latin typeface="Calibri"/>
                <a:cs typeface="Calibri"/>
              </a:rPr>
              <a:t>completed,</a:t>
            </a:r>
            <a:r>
              <a:rPr sz="2800" spc="80" dirty="0">
                <a:latin typeface="Calibri"/>
                <a:cs typeface="Calibri"/>
              </a:rPr>
              <a:t> </a:t>
            </a:r>
            <a:r>
              <a:rPr sz="2800" b="1" dirty="0">
                <a:solidFill>
                  <a:srgbClr val="00B050"/>
                </a:solidFill>
                <a:latin typeface="Calibri"/>
                <a:cs typeface="Calibri"/>
              </a:rPr>
              <a:t>the</a:t>
            </a:r>
            <a:r>
              <a:rPr sz="2800" b="1" spc="75" dirty="0">
                <a:solidFill>
                  <a:srgbClr val="00B050"/>
                </a:solidFill>
                <a:latin typeface="Calibri"/>
                <a:cs typeface="Calibri"/>
              </a:rPr>
              <a:t> </a:t>
            </a:r>
            <a:r>
              <a:rPr sz="2800" b="1" spc="-10" dirty="0">
                <a:solidFill>
                  <a:srgbClr val="00B050"/>
                </a:solidFill>
                <a:latin typeface="Calibri"/>
                <a:cs typeface="Calibri"/>
              </a:rPr>
              <a:t>logical </a:t>
            </a:r>
            <a:r>
              <a:rPr sz="2800" b="1" dirty="0">
                <a:solidFill>
                  <a:srgbClr val="00B050"/>
                </a:solidFill>
                <a:latin typeface="Calibri"/>
                <a:cs typeface="Calibri"/>
              </a:rPr>
              <a:t>sequences,</a:t>
            </a:r>
            <a:r>
              <a:rPr sz="2800" b="1" spc="250" dirty="0">
                <a:solidFill>
                  <a:srgbClr val="00B050"/>
                </a:solidFill>
                <a:latin typeface="Calibri"/>
                <a:cs typeface="Calibri"/>
              </a:rPr>
              <a:t> </a:t>
            </a:r>
            <a:r>
              <a:rPr sz="2800" b="1" dirty="0">
                <a:solidFill>
                  <a:srgbClr val="00B050"/>
                </a:solidFill>
                <a:latin typeface="Calibri"/>
                <a:cs typeface="Calibri"/>
              </a:rPr>
              <a:t>the</a:t>
            </a:r>
            <a:r>
              <a:rPr sz="2800" b="1" spc="254" dirty="0">
                <a:solidFill>
                  <a:srgbClr val="00B050"/>
                </a:solidFill>
                <a:latin typeface="Calibri"/>
                <a:cs typeface="Calibri"/>
              </a:rPr>
              <a:t> </a:t>
            </a:r>
            <a:r>
              <a:rPr sz="2800" b="1" dirty="0">
                <a:solidFill>
                  <a:srgbClr val="00B050"/>
                </a:solidFill>
                <a:latin typeface="Calibri"/>
                <a:cs typeface="Calibri"/>
              </a:rPr>
              <a:t>interdependencies</a:t>
            </a:r>
            <a:r>
              <a:rPr sz="2800" b="1" spc="265" dirty="0">
                <a:solidFill>
                  <a:srgbClr val="00B050"/>
                </a:solidFill>
                <a:latin typeface="Calibri"/>
                <a:cs typeface="Calibri"/>
              </a:rPr>
              <a:t> </a:t>
            </a:r>
            <a:r>
              <a:rPr sz="2800" b="1" dirty="0">
                <a:solidFill>
                  <a:srgbClr val="00B050"/>
                </a:solidFill>
                <a:latin typeface="Calibri"/>
                <a:cs typeface="Calibri"/>
              </a:rPr>
              <a:t>of</a:t>
            </a:r>
            <a:r>
              <a:rPr sz="2800" b="1" spc="254" dirty="0">
                <a:solidFill>
                  <a:srgbClr val="00B050"/>
                </a:solidFill>
                <a:latin typeface="Calibri"/>
                <a:cs typeface="Calibri"/>
              </a:rPr>
              <a:t> </a:t>
            </a:r>
            <a:r>
              <a:rPr sz="2800" b="1" dirty="0">
                <a:solidFill>
                  <a:srgbClr val="00B050"/>
                </a:solidFill>
                <a:latin typeface="Calibri"/>
                <a:cs typeface="Calibri"/>
              </a:rPr>
              <a:t>the</a:t>
            </a:r>
            <a:r>
              <a:rPr sz="2800" b="1" spc="254" dirty="0">
                <a:solidFill>
                  <a:srgbClr val="00B050"/>
                </a:solidFill>
                <a:latin typeface="Calibri"/>
                <a:cs typeface="Calibri"/>
              </a:rPr>
              <a:t> </a:t>
            </a:r>
            <a:r>
              <a:rPr sz="2800" b="1" dirty="0">
                <a:solidFill>
                  <a:srgbClr val="00B050"/>
                </a:solidFill>
                <a:latin typeface="Calibri"/>
                <a:cs typeface="Calibri"/>
              </a:rPr>
              <a:t>activities</a:t>
            </a:r>
            <a:r>
              <a:rPr sz="2800" b="1" spc="265" dirty="0">
                <a:solidFill>
                  <a:srgbClr val="00B050"/>
                </a:solidFill>
                <a:latin typeface="Calibri"/>
                <a:cs typeface="Calibri"/>
              </a:rPr>
              <a:t> </a:t>
            </a:r>
            <a:r>
              <a:rPr sz="2800" dirty="0">
                <a:latin typeface="Calibri"/>
                <a:cs typeface="Calibri"/>
              </a:rPr>
              <a:t>to</a:t>
            </a:r>
            <a:r>
              <a:rPr sz="2800" spc="260" dirty="0">
                <a:latin typeface="Calibri"/>
                <a:cs typeface="Calibri"/>
              </a:rPr>
              <a:t> </a:t>
            </a:r>
            <a:r>
              <a:rPr sz="2800" dirty="0">
                <a:latin typeface="Calibri"/>
                <a:cs typeface="Calibri"/>
              </a:rPr>
              <a:t>be</a:t>
            </a:r>
            <a:r>
              <a:rPr sz="2800" spc="250" dirty="0">
                <a:latin typeface="Calibri"/>
                <a:cs typeface="Calibri"/>
              </a:rPr>
              <a:t> </a:t>
            </a:r>
            <a:r>
              <a:rPr sz="2800" spc="-10" dirty="0">
                <a:latin typeface="Calibri"/>
                <a:cs typeface="Calibri"/>
              </a:rPr>
              <a:t>completed, </a:t>
            </a:r>
            <a:r>
              <a:rPr sz="2800" dirty="0">
                <a:latin typeface="Calibri"/>
                <a:cs typeface="Calibri"/>
              </a:rPr>
              <a:t>and</a:t>
            </a:r>
            <a:r>
              <a:rPr sz="2800" spc="80" dirty="0">
                <a:latin typeface="Calibri"/>
                <a:cs typeface="Calibri"/>
              </a:rPr>
              <a:t> </a:t>
            </a:r>
            <a:r>
              <a:rPr sz="2800" dirty="0">
                <a:latin typeface="Calibri"/>
                <a:cs typeface="Calibri"/>
              </a:rPr>
              <a:t>in</a:t>
            </a:r>
            <a:r>
              <a:rPr sz="2800" spc="80" dirty="0">
                <a:latin typeface="Calibri"/>
                <a:cs typeface="Calibri"/>
              </a:rPr>
              <a:t> </a:t>
            </a:r>
            <a:r>
              <a:rPr sz="2800" dirty="0">
                <a:latin typeface="Calibri"/>
                <a:cs typeface="Calibri"/>
              </a:rPr>
              <a:t>most</a:t>
            </a:r>
            <a:r>
              <a:rPr sz="2800" spc="75" dirty="0">
                <a:latin typeface="Calibri"/>
                <a:cs typeface="Calibri"/>
              </a:rPr>
              <a:t> </a:t>
            </a:r>
            <a:r>
              <a:rPr sz="2800" dirty="0">
                <a:latin typeface="Calibri"/>
                <a:cs typeface="Calibri"/>
              </a:rPr>
              <a:t>cases</a:t>
            </a:r>
            <a:r>
              <a:rPr sz="2800" spc="85" dirty="0">
                <a:latin typeface="Calibri"/>
                <a:cs typeface="Calibri"/>
              </a:rPr>
              <a:t> </a:t>
            </a:r>
            <a:r>
              <a:rPr sz="2800" dirty="0">
                <a:latin typeface="Calibri"/>
                <a:cs typeface="Calibri"/>
              </a:rPr>
              <a:t>the</a:t>
            </a:r>
            <a:r>
              <a:rPr sz="2800" spc="70" dirty="0">
                <a:latin typeface="Calibri"/>
                <a:cs typeface="Calibri"/>
              </a:rPr>
              <a:t> </a:t>
            </a:r>
            <a:r>
              <a:rPr sz="2800" dirty="0">
                <a:latin typeface="Calibri"/>
                <a:cs typeface="Calibri"/>
              </a:rPr>
              <a:t>times</a:t>
            </a:r>
            <a:r>
              <a:rPr sz="2800" spc="80" dirty="0">
                <a:latin typeface="Calibri"/>
                <a:cs typeface="Calibri"/>
              </a:rPr>
              <a:t> </a:t>
            </a:r>
            <a:r>
              <a:rPr sz="2800" dirty="0">
                <a:latin typeface="Calibri"/>
                <a:cs typeface="Calibri"/>
              </a:rPr>
              <a:t>for</a:t>
            </a:r>
            <a:r>
              <a:rPr sz="2800" spc="80" dirty="0">
                <a:latin typeface="Calibri"/>
                <a:cs typeface="Calibri"/>
              </a:rPr>
              <a:t> </a:t>
            </a:r>
            <a:r>
              <a:rPr sz="2800" dirty="0">
                <a:latin typeface="Calibri"/>
                <a:cs typeface="Calibri"/>
              </a:rPr>
              <a:t>the</a:t>
            </a:r>
            <a:r>
              <a:rPr sz="2800" spc="70" dirty="0">
                <a:latin typeface="Calibri"/>
                <a:cs typeface="Calibri"/>
              </a:rPr>
              <a:t> </a:t>
            </a:r>
            <a:r>
              <a:rPr sz="2800" dirty="0">
                <a:latin typeface="Calibri"/>
                <a:cs typeface="Calibri"/>
              </a:rPr>
              <a:t>activities</a:t>
            </a:r>
            <a:r>
              <a:rPr sz="2800" spc="80" dirty="0">
                <a:latin typeface="Calibri"/>
                <a:cs typeface="Calibri"/>
              </a:rPr>
              <a:t> </a:t>
            </a:r>
            <a:r>
              <a:rPr sz="2800" dirty="0">
                <a:latin typeface="Calibri"/>
                <a:cs typeface="Calibri"/>
              </a:rPr>
              <a:t>to</a:t>
            </a:r>
            <a:r>
              <a:rPr sz="2800" spc="75" dirty="0">
                <a:latin typeface="Calibri"/>
                <a:cs typeface="Calibri"/>
              </a:rPr>
              <a:t> </a:t>
            </a:r>
            <a:r>
              <a:rPr sz="2800" dirty="0">
                <a:latin typeface="Calibri"/>
                <a:cs typeface="Calibri"/>
              </a:rPr>
              <a:t>start</a:t>
            </a:r>
            <a:r>
              <a:rPr sz="2800" spc="75" dirty="0">
                <a:latin typeface="Calibri"/>
                <a:cs typeface="Calibri"/>
              </a:rPr>
              <a:t> </a:t>
            </a:r>
            <a:r>
              <a:rPr sz="2800" dirty="0">
                <a:latin typeface="Calibri"/>
                <a:cs typeface="Calibri"/>
              </a:rPr>
              <a:t>and</a:t>
            </a:r>
            <a:r>
              <a:rPr sz="2800" spc="85" dirty="0">
                <a:latin typeface="Calibri"/>
                <a:cs typeface="Calibri"/>
              </a:rPr>
              <a:t> </a:t>
            </a:r>
            <a:r>
              <a:rPr sz="2800" dirty="0">
                <a:latin typeface="Calibri"/>
                <a:cs typeface="Calibri"/>
              </a:rPr>
              <a:t>finish</a:t>
            </a:r>
            <a:r>
              <a:rPr sz="2800" spc="80" dirty="0">
                <a:latin typeface="Calibri"/>
                <a:cs typeface="Calibri"/>
              </a:rPr>
              <a:t> </a:t>
            </a:r>
            <a:r>
              <a:rPr sz="2800" spc="-10" dirty="0">
                <a:latin typeface="Calibri"/>
                <a:cs typeface="Calibri"/>
              </a:rPr>
              <a:t>along </a:t>
            </a:r>
            <a:r>
              <a:rPr sz="2800" dirty="0">
                <a:latin typeface="Calibri"/>
                <a:cs typeface="Calibri"/>
              </a:rPr>
              <a:t>with</a:t>
            </a:r>
            <a:r>
              <a:rPr sz="2800" spc="-50" dirty="0">
                <a:latin typeface="Calibri"/>
                <a:cs typeface="Calibri"/>
              </a:rPr>
              <a:t> </a:t>
            </a:r>
            <a:r>
              <a:rPr sz="2800" dirty="0">
                <a:latin typeface="Calibri"/>
                <a:cs typeface="Calibri"/>
              </a:rPr>
              <a:t>the</a:t>
            </a:r>
            <a:r>
              <a:rPr sz="2800" spc="-60" dirty="0">
                <a:latin typeface="Calibri"/>
                <a:cs typeface="Calibri"/>
              </a:rPr>
              <a:t> </a:t>
            </a:r>
            <a:r>
              <a:rPr sz="2800" dirty="0">
                <a:latin typeface="Calibri"/>
                <a:cs typeface="Calibri"/>
              </a:rPr>
              <a:t>longest</a:t>
            </a:r>
            <a:r>
              <a:rPr sz="2800" spc="-55" dirty="0">
                <a:latin typeface="Calibri"/>
                <a:cs typeface="Calibri"/>
              </a:rPr>
              <a:t> </a:t>
            </a:r>
            <a:r>
              <a:rPr sz="2800" dirty="0">
                <a:latin typeface="Calibri"/>
                <a:cs typeface="Calibri"/>
              </a:rPr>
              <a:t>path(s)</a:t>
            </a:r>
            <a:r>
              <a:rPr sz="2800" spc="-60" dirty="0">
                <a:latin typeface="Calibri"/>
                <a:cs typeface="Calibri"/>
              </a:rPr>
              <a:t> </a:t>
            </a:r>
            <a:r>
              <a:rPr sz="2800" dirty="0">
                <a:latin typeface="Calibri"/>
                <a:cs typeface="Calibri"/>
              </a:rPr>
              <a:t>through</a:t>
            </a:r>
            <a:r>
              <a:rPr sz="2800" spc="-50" dirty="0">
                <a:latin typeface="Calibri"/>
                <a:cs typeface="Calibri"/>
              </a:rPr>
              <a:t> </a:t>
            </a:r>
            <a:r>
              <a:rPr sz="2800" dirty="0">
                <a:latin typeface="Calibri"/>
                <a:cs typeface="Calibri"/>
              </a:rPr>
              <a:t>the</a:t>
            </a:r>
            <a:r>
              <a:rPr sz="2800" spc="-55" dirty="0">
                <a:latin typeface="Calibri"/>
                <a:cs typeface="Calibri"/>
              </a:rPr>
              <a:t> </a:t>
            </a:r>
            <a:r>
              <a:rPr sz="2800" spc="-20" dirty="0">
                <a:latin typeface="Calibri"/>
                <a:cs typeface="Calibri"/>
              </a:rPr>
              <a:t>network—</a:t>
            </a:r>
            <a:r>
              <a:rPr sz="2800" dirty="0">
                <a:latin typeface="Calibri"/>
                <a:cs typeface="Calibri"/>
              </a:rPr>
              <a:t>the</a:t>
            </a:r>
            <a:r>
              <a:rPr sz="2800" spc="-60" dirty="0">
                <a:latin typeface="Calibri"/>
                <a:cs typeface="Calibri"/>
              </a:rPr>
              <a:t> </a:t>
            </a:r>
            <a:r>
              <a:rPr sz="2800" b="1" i="1" u="heavy" dirty="0">
                <a:solidFill>
                  <a:srgbClr val="FF0000"/>
                </a:solidFill>
                <a:uFill>
                  <a:solidFill>
                    <a:srgbClr val="000000"/>
                  </a:solidFill>
                </a:uFill>
                <a:latin typeface="Calibri"/>
                <a:cs typeface="Calibri"/>
              </a:rPr>
              <a:t>critical</a:t>
            </a:r>
            <a:r>
              <a:rPr sz="2800" b="1" i="1" u="heavy" spc="-60" dirty="0">
                <a:solidFill>
                  <a:srgbClr val="FF0000"/>
                </a:solidFill>
                <a:uFill>
                  <a:solidFill>
                    <a:srgbClr val="000000"/>
                  </a:solidFill>
                </a:uFill>
                <a:latin typeface="Calibri"/>
                <a:cs typeface="Calibri"/>
              </a:rPr>
              <a:t> </a:t>
            </a:r>
            <a:r>
              <a:rPr sz="2800" b="1" i="1" u="heavy" spc="-10" dirty="0">
                <a:solidFill>
                  <a:srgbClr val="FF0000"/>
                </a:solidFill>
                <a:uFill>
                  <a:solidFill>
                    <a:srgbClr val="000000"/>
                  </a:solidFill>
                </a:uFill>
                <a:latin typeface="Calibri"/>
                <a:cs typeface="Calibri"/>
              </a:rPr>
              <a:t>path</a:t>
            </a:r>
            <a:r>
              <a:rPr sz="2800" spc="-10" dirty="0">
                <a:latin typeface="Calibri"/>
                <a:cs typeface="Calibri"/>
              </a:rPr>
              <a:t>.</a:t>
            </a:r>
            <a:endParaRPr sz="2800" dirty="0">
              <a:latin typeface="Calibri"/>
              <a:cs typeface="Calibri"/>
            </a:endParaRPr>
          </a:p>
          <a:p>
            <a:pPr marL="241300" marR="5080" indent="-228600" algn="just">
              <a:lnSpc>
                <a:spcPts val="3000"/>
              </a:lnSpc>
              <a:spcBef>
                <a:spcPts val="1050"/>
              </a:spcBef>
              <a:buFont typeface="Arial MT"/>
              <a:buChar char="•"/>
              <a:tabLst>
                <a:tab pos="241300" algn="l"/>
              </a:tabLst>
            </a:pPr>
            <a:r>
              <a:rPr sz="2800" dirty="0">
                <a:solidFill>
                  <a:srgbClr val="262EA4"/>
                </a:solidFill>
                <a:latin typeface="Calibri"/>
                <a:cs typeface="Calibri"/>
              </a:rPr>
              <a:t>It</a:t>
            </a:r>
            <a:r>
              <a:rPr sz="2800" spc="395" dirty="0">
                <a:solidFill>
                  <a:srgbClr val="262EA4"/>
                </a:solidFill>
                <a:latin typeface="Calibri"/>
                <a:cs typeface="Calibri"/>
              </a:rPr>
              <a:t> </a:t>
            </a:r>
            <a:r>
              <a:rPr sz="2800" dirty="0">
                <a:solidFill>
                  <a:srgbClr val="262EA4"/>
                </a:solidFill>
                <a:latin typeface="Calibri"/>
                <a:cs typeface="Calibri"/>
              </a:rPr>
              <a:t>is</a:t>
            </a:r>
            <a:r>
              <a:rPr sz="2800" spc="395" dirty="0">
                <a:solidFill>
                  <a:srgbClr val="262EA4"/>
                </a:solidFill>
                <a:latin typeface="Calibri"/>
                <a:cs typeface="Calibri"/>
              </a:rPr>
              <a:t> </a:t>
            </a:r>
            <a:r>
              <a:rPr sz="2800" dirty="0">
                <a:solidFill>
                  <a:srgbClr val="262EA4"/>
                </a:solidFill>
                <a:latin typeface="Calibri"/>
                <a:cs typeface="Calibri"/>
              </a:rPr>
              <a:t>the</a:t>
            </a:r>
            <a:r>
              <a:rPr sz="2800" spc="390" dirty="0">
                <a:solidFill>
                  <a:srgbClr val="262EA4"/>
                </a:solidFill>
                <a:latin typeface="Calibri"/>
                <a:cs typeface="Calibri"/>
              </a:rPr>
              <a:t> </a:t>
            </a:r>
            <a:r>
              <a:rPr sz="2800" dirty="0">
                <a:solidFill>
                  <a:srgbClr val="262EA4"/>
                </a:solidFill>
                <a:latin typeface="Calibri"/>
                <a:cs typeface="Calibri"/>
              </a:rPr>
              <a:t>framework</a:t>
            </a:r>
            <a:r>
              <a:rPr sz="2800" spc="395" dirty="0">
                <a:solidFill>
                  <a:srgbClr val="262EA4"/>
                </a:solidFill>
                <a:latin typeface="Calibri"/>
                <a:cs typeface="Calibri"/>
              </a:rPr>
              <a:t> </a:t>
            </a:r>
            <a:r>
              <a:rPr sz="2800" dirty="0">
                <a:solidFill>
                  <a:srgbClr val="262EA4"/>
                </a:solidFill>
                <a:latin typeface="Calibri"/>
                <a:cs typeface="Calibri"/>
              </a:rPr>
              <a:t>for</a:t>
            </a:r>
            <a:r>
              <a:rPr sz="2800" spc="395" dirty="0">
                <a:solidFill>
                  <a:srgbClr val="262EA4"/>
                </a:solidFill>
                <a:latin typeface="Calibri"/>
                <a:cs typeface="Calibri"/>
              </a:rPr>
              <a:t> </a:t>
            </a:r>
            <a:r>
              <a:rPr sz="2800" dirty="0">
                <a:solidFill>
                  <a:srgbClr val="262EA4"/>
                </a:solidFill>
                <a:latin typeface="Calibri"/>
                <a:cs typeface="Calibri"/>
              </a:rPr>
              <a:t>the</a:t>
            </a:r>
            <a:r>
              <a:rPr sz="2800" spc="390" dirty="0">
                <a:solidFill>
                  <a:srgbClr val="262EA4"/>
                </a:solidFill>
                <a:latin typeface="Calibri"/>
                <a:cs typeface="Calibri"/>
              </a:rPr>
              <a:t> </a:t>
            </a:r>
            <a:r>
              <a:rPr sz="2800" dirty="0">
                <a:solidFill>
                  <a:srgbClr val="262EA4"/>
                </a:solidFill>
                <a:latin typeface="Calibri"/>
                <a:cs typeface="Calibri"/>
              </a:rPr>
              <a:t>project</a:t>
            </a:r>
            <a:r>
              <a:rPr sz="2800" spc="395" dirty="0">
                <a:solidFill>
                  <a:srgbClr val="262EA4"/>
                </a:solidFill>
                <a:latin typeface="Calibri"/>
                <a:cs typeface="Calibri"/>
              </a:rPr>
              <a:t> </a:t>
            </a:r>
            <a:r>
              <a:rPr sz="2800" dirty="0">
                <a:solidFill>
                  <a:srgbClr val="262EA4"/>
                </a:solidFill>
                <a:latin typeface="Calibri"/>
                <a:cs typeface="Calibri"/>
              </a:rPr>
              <a:t>information</a:t>
            </a:r>
            <a:r>
              <a:rPr sz="2800" spc="395" dirty="0">
                <a:solidFill>
                  <a:srgbClr val="262EA4"/>
                </a:solidFill>
                <a:latin typeface="Calibri"/>
                <a:cs typeface="Calibri"/>
              </a:rPr>
              <a:t> </a:t>
            </a:r>
            <a:r>
              <a:rPr sz="2800" dirty="0">
                <a:solidFill>
                  <a:srgbClr val="262EA4"/>
                </a:solidFill>
                <a:latin typeface="Calibri"/>
                <a:cs typeface="Calibri"/>
              </a:rPr>
              <a:t>system</a:t>
            </a:r>
            <a:r>
              <a:rPr sz="2800" spc="390" dirty="0">
                <a:solidFill>
                  <a:srgbClr val="262EA4"/>
                </a:solidFill>
                <a:latin typeface="Calibri"/>
                <a:cs typeface="Calibri"/>
              </a:rPr>
              <a:t> </a:t>
            </a:r>
            <a:r>
              <a:rPr sz="2800" dirty="0">
                <a:solidFill>
                  <a:srgbClr val="262EA4"/>
                </a:solidFill>
                <a:latin typeface="Calibri"/>
                <a:cs typeface="Calibri"/>
              </a:rPr>
              <a:t>that</a:t>
            </a:r>
            <a:r>
              <a:rPr sz="2800" spc="395" dirty="0">
                <a:solidFill>
                  <a:srgbClr val="262EA4"/>
                </a:solidFill>
                <a:latin typeface="Calibri"/>
                <a:cs typeface="Calibri"/>
              </a:rPr>
              <a:t> </a:t>
            </a:r>
            <a:r>
              <a:rPr sz="2800" dirty="0">
                <a:solidFill>
                  <a:srgbClr val="262EA4"/>
                </a:solidFill>
                <a:latin typeface="Calibri"/>
                <a:cs typeface="Calibri"/>
              </a:rPr>
              <a:t>will</a:t>
            </a:r>
            <a:r>
              <a:rPr sz="2800" spc="390" dirty="0">
                <a:solidFill>
                  <a:srgbClr val="262EA4"/>
                </a:solidFill>
                <a:latin typeface="Calibri"/>
                <a:cs typeface="Calibri"/>
              </a:rPr>
              <a:t> </a:t>
            </a:r>
            <a:r>
              <a:rPr sz="2800" spc="-25" dirty="0">
                <a:solidFill>
                  <a:srgbClr val="262EA4"/>
                </a:solidFill>
                <a:latin typeface="Calibri"/>
                <a:cs typeface="Calibri"/>
              </a:rPr>
              <a:t>be </a:t>
            </a:r>
            <a:r>
              <a:rPr sz="2800" dirty="0">
                <a:solidFill>
                  <a:srgbClr val="262EA4"/>
                </a:solidFill>
                <a:latin typeface="Calibri"/>
                <a:cs typeface="Calibri"/>
              </a:rPr>
              <a:t>used</a:t>
            </a:r>
            <a:r>
              <a:rPr sz="2800" spc="270" dirty="0">
                <a:solidFill>
                  <a:srgbClr val="262EA4"/>
                </a:solidFill>
                <a:latin typeface="Calibri"/>
                <a:cs typeface="Calibri"/>
              </a:rPr>
              <a:t> </a:t>
            </a:r>
            <a:r>
              <a:rPr sz="2800" dirty="0">
                <a:solidFill>
                  <a:srgbClr val="262EA4"/>
                </a:solidFill>
                <a:latin typeface="Calibri"/>
                <a:cs typeface="Calibri"/>
              </a:rPr>
              <a:t>by</a:t>
            </a:r>
            <a:r>
              <a:rPr sz="2800" spc="265" dirty="0">
                <a:solidFill>
                  <a:srgbClr val="262EA4"/>
                </a:solidFill>
                <a:latin typeface="Calibri"/>
                <a:cs typeface="Calibri"/>
              </a:rPr>
              <a:t> </a:t>
            </a:r>
            <a:r>
              <a:rPr sz="2800" dirty="0">
                <a:solidFill>
                  <a:srgbClr val="262EA4"/>
                </a:solidFill>
                <a:latin typeface="Calibri"/>
                <a:cs typeface="Calibri"/>
              </a:rPr>
              <a:t>the</a:t>
            </a:r>
            <a:r>
              <a:rPr sz="2800" spc="270" dirty="0">
                <a:solidFill>
                  <a:srgbClr val="262EA4"/>
                </a:solidFill>
                <a:latin typeface="Calibri"/>
                <a:cs typeface="Calibri"/>
              </a:rPr>
              <a:t> </a:t>
            </a:r>
            <a:r>
              <a:rPr sz="2800" dirty="0">
                <a:solidFill>
                  <a:srgbClr val="262EA4"/>
                </a:solidFill>
                <a:latin typeface="Calibri"/>
                <a:cs typeface="Calibri"/>
              </a:rPr>
              <a:t>project</a:t>
            </a:r>
            <a:r>
              <a:rPr sz="2800" spc="275" dirty="0">
                <a:solidFill>
                  <a:srgbClr val="262EA4"/>
                </a:solidFill>
                <a:latin typeface="Calibri"/>
                <a:cs typeface="Calibri"/>
              </a:rPr>
              <a:t> </a:t>
            </a:r>
            <a:r>
              <a:rPr sz="2800" dirty="0">
                <a:solidFill>
                  <a:srgbClr val="262EA4"/>
                </a:solidFill>
                <a:latin typeface="Calibri"/>
                <a:cs typeface="Calibri"/>
              </a:rPr>
              <a:t>managers</a:t>
            </a:r>
            <a:r>
              <a:rPr sz="2800" spc="280" dirty="0">
                <a:solidFill>
                  <a:srgbClr val="262EA4"/>
                </a:solidFill>
                <a:latin typeface="Calibri"/>
                <a:cs typeface="Calibri"/>
              </a:rPr>
              <a:t> </a:t>
            </a:r>
            <a:r>
              <a:rPr sz="2800" dirty="0">
                <a:solidFill>
                  <a:srgbClr val="262EA4"/>
                </a:solidFill>
                <a:latin typeface="Calibri"/>
                <a:cs typeface="Calibri"/>
              </a:rPr>
              <a:t>to</a:t>
            </a:r>
            <a:r>
              <a:rPr sz="2800" spc="275" dirty="0">
                <a:solidFill>
                  <a:srgbClr val="262EA4"/>
                </a:solidFill>
                <a:latin typeface="Calibri"/>
                <a:cs typeface="Calibri"/>
              </a:rPr>
              <a:t> </a:t>
            </a:r>
            <a:r>
              <a:rPr sz="2800" dirty="0">
                <a:solidFill>
                  <a:srgbClr val="262EA4"/>
                </a:solidFill>
                <a:latin typeface="Calibri"/>
                <a:cs typeface="Calibri"/>
              </a:rPr>
              <a:t>make</a:t>
            </a:r>
            <a:r>
              <a:rPr sz="2800" spc="270" dirty="0">
                <a:solidFill>
                  <a:srgbClr val="262EA4"/>
                </a:solidFill>
                <a:latin typeface="Calibri"/>
                <a:cs typeface="Calibri"/>
              </a:rPr>
              <a:t> </a:t>
            </a:r>
            <a:r>
              <a:rPr sz="2800" dirty="0">
                <a:solidFill>
                  <a:srgbClr val="262EA4"/>
                </a:solidFill>
                <a:latin typeface="Calibri"/>
                <a:cs typeface="Calibri"/>
              </a:rPr>
              <a:t>decisions</a:t>
            </a:r>
            <a:r>
              <a:rPr sz="2800" spc="275" dirty="0">
                <a:solidFill>
                  <a:srgbClr val="262EA4"/>
                </a:solidFill>
                <a:latin typeface="Calibri"/>
                <a:cs typeface="Calibri"/>
              </a:rPr>
              <a:t> </a:t>
            </a:r>
            <a:r>
              <a:rPr sz="2800" dirty="0">
                <a:solidFill>
                  <a:srgbClr val="262EA4"/>
                </a:solidFill>
                <a:latin typeface="Calibri"/>
                <a:cs typeface="Calibri"/>
              </a:rPr>
              <a:t>concerning</a:t>
            </a:r>
            <a:r>
              <a:rPr sz="2800" spc="275" dirty="0">
                <a:solidFill>
                  <a:srgbClr val="262EA4"/>
                </a:solidFill>
                <a:latin typeface="Calibri"/>
                <a:cs typeface="Calibri"/>
              </a:rPr>
              <a:t> </a:t>
            </a:r>
            <a:r>
              <a:rPr sz="2800" spc="-10" dirty="0">
                <a:solidFill>
                  <a:srgbClr val="262EA4"/>
                </a:solidFill>
                <a:latin typeface="Calibri"/>
                <a:cs typeface="Calibri"/>
              </a:rPr>
              <a:t>project </a:t>
            </a:r>
            <a:r>
              <a:rPr sz="2800" b="1" dirty="0">
                <a:solidFill>
                  <a:srgbClr val="FF0000"/>
                </a:solidFill>
                <a:latin typeface="Calibri"/>
                <a:cs typeface="Calibri"/>
              </a:rPr>
              <a:t>time,</a:t>
            </a:r>
            <a:r>
              <a:rPr sz="2800" b="1" spc="-50" dirty="0">
                <a:solidFill>
                  <a:srgbClr val="FF0000"/>
                </a:solidFill>
                <a:latin typeface="Calibri"/>
                <a:cs typeface="Calibri"/>
              </a:rPr>
              <a:t> </a:t>
            </a:r>
            <a:r>
              <a:rPr sz="2800" b="1" dirty="0">
                <a:solidFill>
                  <a:srgbClr val="FF0000"/>
                </a:solidFill>
                <a:latin typeface="Calibri"/>
                <a:cs typeface="Calibri"/>
              </a:rPr>
              <a:t>cost,</a:t>
            </a:r>
            <a:r>
              <a:rPr sz="2800" b="1" spc="-45" dirty="0">
                <a:solidFill>
                  <a:srgbClr val="FF0000"/>
                </a:solidFill>
                <a:latin typeface="Calibri"/>
                <a:cs typeface="Calibri"/>
              </a:rPr>
              <a:t> </a:t>
            </a:r>
            <a:r>
              <a:rPr sz="2800" b="1" dirty="0">
                <a:solidFill>
                  <a:srgbClr val="FF0000"/>
                </a:solidFill>
                <a:latin typeface="Calibri"/>
                <a:cs typeface="Calibri"/>
              </a:rPr>
              <a:t>and</a:t>
            </a:r>
            <a:r>
              <a:rPr sz="2800" b="1" spc="-45" dirty="0">
                <a:solidFill>
                  <a:srgbClr val="FF0000"/>
                </a:solidFill>
                <a:latin typeface="Calibri"/>
                <a:cs typeface="Calibri"/>
              </a:rPr>
              <a:t> </a:t>
            </a:r>
            <a:r>
              <a:rPr sz="2800" b="1" spc="-10" dirty="0">
                <a:solidFill>
                  <a:srgbClr val="FF0000"/>
                </a:solidFill>
                <a:latin typeface="Calibri"/>
                <a:cs typeface="Calibri"/>
              </a:rPr>
              <a:t>performance</a:t>
            </a:r>
            <a:r>
              <a:rPr sz="2800" spc="-10" dirty="0">
                <a:solidFill>
                  <a:srgbClr val="262EA4"/>
                </a:solidFill>
                <a:latin typeface="Calibri"/>
                <a:cs typeface="Calibri"/>
              </a:rPr>
              <a:t>.</a:t>
            </a:r>
            <a:endParaRPr sz="2800" dirty="0">
              <a:latin typeface="Calibri"/>
              <a:cs typeface="Calibri"/>
            </a:endParaRPr>
          </a:p>
        </p:txBody>
      </p:sp>
      <p:sp>
        <p:nvSpPr>
          <p:cNvPr id="4" name="object 4"/>
          <p:cNvSpPr txBox="1"/>
          <p:nvPr/>
        </p:nvSpPr>
        <p:spPr>
          <a:xfrm>
            <a:off x="11816993" y="6421628"/>
            <a:ext cx="102870" cy="208279"/>
          </a:xfrm>
          <a:prstGeom prst="rect">
            <a:avLst/>
          </a:prstGeom>
        </p:spPr>
        <p:txBody>
          <a:bodyPr vert="horz" wrap="square" lIns="0" tIns="12700" rIns="0" bIns="0" rtlCol="0">
            <a:spAutoFit/>
          </a:bodyPr>
          <a:lstStyle/>
          <a:p>
            <a:pPr marL="12700">
              <a:lnSpc>
                <a:spcPct val="100000"/>
              </a:lnSpc>
              <a:spcBef>
                <a:spcPts val="100"/>
              </a:spcBef>
            </a:pPr>
            <a:r>
              <a:rPr sz="1200" b="1" spc="-50" dirty="0">
                <a:solidFill>
                  <a:srgbClr val="898989"/>
                </a:solidFill>
                <a:latin typeface="Calibri"/>
                <a:cs typeface="Calibri"/>
              </a:rPr>
              <a:t>2</a:t>
            </a:r>
            <a:endParaRPr sz="1200">
              <a:latin typeface="Calibri"/>
              <a:cs typeface="Calibri"/>
            </a:endParaRPr>
          </a:p>
        </p:txBody>
      </p:sp>
      <p:pic>
        <p:nvPicPr>
          <p:cNvPr id="5" name="Picture 4">
            <a:extLst>
              <a:ext uri="{FF2B5EF4-FFF2-40B4-BE49-F238E27FC236}">
                <a16:creationId xmlns:a16="http://schemas.microsoft.com/office/drawing/2014/main" id="{AE0D6ECE-977E-7FF3-6980-E14E69F56EA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6063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spc="105" dirty="0"/>
              <a:t>Importance</a:t>
            </a:r>
            <a:r>
              <a:rPr spc="130" dirty="0"/>
              <a:t> </a:t>
            </a:r>
            <a:r>
              <a:rPr spc="80" dirty="0"/>
              <a:t>of</a:t>
            </a:r>
            <a:r>
              <a:rPr spc="125" dirty="0"/>
              <a:t> </a:t>
            </a:r>
            <a:r>
              <a:rPr spc="95" dirty="0"/>
              <a:t>the</a:t>
            </a:r>
            <a:r>
              <a:rPr spc="135" dirty="0"/>
              <a:t> </a:t>
            </a:r>
            <a:r>
              <a:rPr spc="85" dirty="0"/>
              <a:t>Project</a:t>
            </a:r>
            <a:r>
              <a:rPr spc="130" dirty="0"/>
              <a:t> </a:t>
            </a:r>
            <a:r>
              <a:rPr spc="95" dirty="0"/>
              <a:t>Network</a:t>
            </a:r>
          </a:p>
        </p:txBody>
      </p:sp>
      <p:sp>
        <p:nvSpPr>
          <p:cNvPr id="3" name="object 3"/>
          <p:cNvSpPr txBox="1"/>
          <p:nvPr/>
        </p:nvSpPr>
        <p:spPr>
          <a:xfrm>
            <a:off x="877750" y="1483867"/>
            <a:ext cx="10358120" cy="5380990"/>
          </a:xfrm>
          <a:prstGeom prst="rect">
            <a:avLst/>
          </a:prstGeom>
        </p:spPr>
        <p:txBody>
          <a:bodyPr vert="horz" wrap="square" lIns="0" tIns="88900" rIns="0" bIns="0" rtlCol="0">
            <a:spAutoFit/>
          </a:bodyPr>
          <a:lstStyle/>
          <a:p>
            <a:pPr marL="307975" marR="5715" indent="-295275">
              <a:lnSpc>
                <a:spcPct val="79200"/>
              </a:lnSpc>
              <a:spcBef>
                <a:spcPts val="700"/>
              </a:spcBef>
              <a:buAutoNum type="arabicPeriod"/>
              <a:tabLst>
                <a:tab pos="309880" algn="l"/>
              </a:tabLst>
            </a:pPr>
            <a:r>
              <a:rPr sz="2400" dirty="0">
                <a:latin typeface="Calibri"/>
                <a:cs typeface="Calibri"/>
              </a:rPr>
              <a:t>The</a:t>
            </a:r>
            <a:r>
              <a:rPr sz="2400" spc="30" dirty="0">
                <a:latin typeface="Calibri"/>
                <a:cs typeface="Calibri"/>
              </a:rPr>
              <a:t> </a:t>
            </a:r>
            <a:r>
              <a:rPr sz="2400" dirty="0">
                <a:latin typeface="Calibri"/>
                <a:cs typeface="Calibri"/>
              </a:rPr>
              <a:t>network</a:t>
            </a:r>
            <a:r>
              <a:rPr sz="2400" spc="20" dirty="0">
                <a:latin typeface="Calibri"/>
                <a:cs typeface="Calibri"/>
              </a:rPr>
              <a:t> </a:t>
            </a:r>
            <a:r>
              <a:rPr sz="2400" dirty="0">
                <a:latin typeface="Calibri"/>
                <a:cs typeface="Calibri"/>
              </a:rPr>
              <a:t>is</a:t>
            </a:r>
            <a:r>
              <a:rPr sz="2400" spc="20" dirty="0">
                <a:latin typeface="Calibri"/>
                <a:cs typeface="Calibri"/>
              </a:rPr>
              <a:t> </a:t>
            </a:r>
            <a:r>
              <a:rPr sz="2400" dirty="0">
                <a:latin typeface="Calibri"/>
                <a:cs typeface="Calibri"/>
              </a:rPr>
              <a:t>easily</a:t>
            </a:r>
            <a:r>
              <a:rPr sz="2400" spc="25" dirty="0">
                <a:latin typeface="Calibri"/>
                <a:cs typeface="Calibri"/>
              </a:rPr>
              <a:t> </a:t>
            </a:r>
            <a:r>
              <a:rPr sz="2400" dirty="0">
                <a:latin typeface="Calibri"/>
                <a:cs typeface="Calibri"/>
              </a:rPr>
              <a:t>understood</a:t>
            </a:r>
            <a:r>
              <a:rPr sz="2400" spc="25" dirty="0">
                <a:latin typeface="Calibri"/>
                <a:cs typeface="Calibri"/>
              </a:rPr>
              <a:t> </a:t>
            </a:r>
            <a:r>
              <a:rPr sz="2400" dirty="0">
                <a:latin typeface="Calibri"/>
                <a:cs typeface="Calibri"/>
              </a:rPr>
              <a:t>by</a:t>
            </a:r>
            <a:r>
              <a:rPr sz="2400" spc="20" dirty="0">
                <a:latin typeface="Calibri"/>
                <a:cs typeface="Calibri"/>
              </a:rPr>
              <a:t> </a:t>
            </a:r>
            <a:r>
              <a:rPr sz="2400" dirty="0">
                <a:latin typeface="Calibri"/>
                <a:cs typeface="Calibri"/>
              </a:rPr>
              <a:t>others</a:t>
            </a:r>
            <a:r>
              <a:rPr sz="2400" spc="20" dirty="0">
                <a:latin typeface="Calibri"/>
                <a:cs typeface="Calibri"/>
              </a:rPr>
              <a:t> </a:t>
            </a:r>
            <a:r>
              <a:rPr sz="2400" dirty="0">
                <a:latin typeface="Calibri"/>
                <a:cs typeface="Calibri"/>
              </a:rPr>
              <a:t>because</a:t>
            </a:r>
            <a:r>
              <a:rPr sz="2400" spc="30" dirty="0">
                <a:latin typeface="Calibri"/>
                <a:cs typeface="Calibri"/>
              </a:rPr>
              <a:t> </a:t>
            </a:r>
            <a:r>
              <a:rPr sz="2400" dirty="0">
                <a:latin typeface="Calibri"/>
                <a:cs typeface="Calibri"/>
              </a:rPr>
              <a:t>It</a:t>
            </a:r>
            <a:r>
              <a:rPr sz="2400" spc="20" dirty="0">
                <a:latin typeface="Calibri"/>
                <a:cs typeface="Calibri"/>
              </a:rPr>
              <a:t> </a:t>
            </a:r>
            <a:r>
              <a:rPr sz="2400" dirty="0">
                <a:latin typeface="Calibri"/>
                <a:cs typeface="Calibri"/>
              </a:rPr>
              <a:t>presents</a:t>
            </a:r>
            <a:r>
              <a:rPr sz="2400" spc="20" dirty="0">
                <a:latin typeface="Calibri"/>
                <a:cs typeface="Calibri"/>
              </a:rPr>
              <a:t> </a:t>
            </a:r>
            <a:r>
              <a:rPr sz="2400" dirty="0">
                <a:latin typeface="Calibri"/>
                <a:cs typeface="Calibri"/>
              </a:rPr>
              <a:t>a</a:t>
            </a:r>
            <a:r>
              <a:rPr sz="2400" spc="20" dirty="0">
                <a:latin typeface="Calibri"/>
                <a:cs typeface="Calibri"/>
              </a:rPr>
              <a:t> </a:t>
            </a:r>
            <a:r>
              <a:rPr sz="2400" dirty="0">
                <a:latin typeface="Calibri"/>
                <a:cs typeface="Calibri"/>
              </a:rPr>
              <a:t>graphic</a:t>
            </a:r>
            <a:r>
              <a:rPr sz="2400" spc="25" dirty="0">
                <a:latin typeface="Calibri"/>
                <a:cs typeface="Calibri"/>
              </a:rPr>
              <a:t> </a:t>
            </a:r>
            <a:r>
              <a:rPr sz="2400" spc="-10" dirty="0">
                <a:latin typeface="Calibri"/>
                <a:cs typeface="Calibri"/>
              </a:rPr>
              <a:t>display 	</a:t>
            </a:r>
            <a:r>
              <a:rPr sz="2400" dirty="0">
                <a:latin typeface="Calibri"/>
                <a:cs typeface="Calibri"/>
              </a:rPr>
              <a:t>of</a:t>
            </a:r>
            <a:r>
              <a:rPr sz="2400" spc="-50" dirty="0">
                <a:latin typeface="Calibri"/>
                <a:cs typeface="Calibri"/>
              </a:rPr>
              <a:t> </a:t>
            </a:r>
            <a:r>
              <a:rPr sz="2400" dirty="0">
                <a:latin typeface="Calibri"/>
                <a:cs typeface="Calibri"/>
              </a:rPr>
              <a:t>the</a:t>
            </a:r>
            <a:r>
              <a:rPr sz="2400" spc="-40" dirty="0">
                <a:latin typeface="Calibri"/>
                <a:cs typeface="Calibri"/>
              </a:rPr>
              <a:t> </a:t>
            </a:r>
            <a:r>
              <a:rPr sz="2400" dirty="0">
                <a:latin typeface="Calibri"/>
                <a:cs typeface="Calibri"/>
              </a:rPr>
              <a:t>flow</a:t>
            </a:r>
            <a:r>
              <a:rPr sz="2400" spc="-50" dirty="0">
                <a:latin typeface="Calibri"/>
                <a:cs typeface="Calibri"/>
              </a:rPr>
              <a:t> </a:t>
            </a:r>
            <a:r>
              <a:rPr sz="2400" dirty="0">
                <a:latin typeface="Calibri"/>
                <a:cs typeface="Calibri"/>
              </a:rPr>
              <a:t>and</a:t>
            </a:r>
            <a:r>
              <a:rPr sz="2400" spc="-50" dirty="0">
                <a:latin typeface="Calibri"/>
                <a:cs typeface="Calibri"/>
              </a:rPr>
              <a:t> </a:t>
            </a:r>
            <a:r>
              <a:rPr sz="2400" dirty="0">
                <a:latin typeface="Calibri"/>
                <a:cs typeface="Calibri"/>
              </a:rPr>
              <a:t>sequence</a:t>
            </a:r>
            <a:r>
              <a:rPr sz="2400" spc="-35" dirty="0">
                <a:latin typeface="Calibri"/>
                <a:cs typeface="Calibri"/>
              </a:rPr>
              <a:t> </a:t>
            </a:r>
            <a:r>
              <a:rPr sz="2400" dirty="0">
                <a:latin typeface="Calibri"/>
                <a:cs typeface="Calibri"/>
              </a:rPr>
              <a:t>of</a:t>
            </a:r>
            <a:r>
              <a:rPr sz="2400" spc="-50" dirty="0">
                <a:latin typeface="Calibri"/>
                <a:cs typeface="Calibri"/>
              </a:rPr>
              <a:t> </a:t>
            </a:r>
            <a:r>
              <a:rPr sz="2400" dirty="0">
                <a:latin typeface="Calibri"/>
                <a:cs typeface="Calibri"/>
              </a:rPr>
              <a:t>work</a:t>
            </a:r>
            <a:r>
              <a:rPr sz="2400" spc="-50" dirty="0">
                <a:latin typeface="Calibri"/>
                <a:cs typeface="Calibri"/>
              </a:rPr>
              <a:t> </a:t>
            </a:r>
            <a:r>
              <a:rPr sz="2400" dirty="0">
                <a:latin typeface="Calibri"/>
                <a:cs typeface="Calibri"/>
              </a:rPr>
              <a:t>through</a:t>
            </a:r>
            <a:r>
              <a:rPr sz="2400" spc="-45" dirty="0">
                <a:latin typeface="Calibri"/>
                <a:cs typeface="Calibri"/>
              </a:rPr>
              <a:t> </a:t>
            </a:r>
            <a:r>
              <a:rPr sz="2400" dirty="0">
                <a:latin typeface="Calibri"/>
                <a:cs typeface="Calibri"/>
              </a:rPr>
              <a:t>the</a:t>
            </a:r>
            <a:r>
              <a:rPr sz="2400" spc="-45" dirty="0">
                <a:latin typeface="Calibri"/>
                <a:cs typeface="Calibri"/>
              </a:rPr>
              <a:t> </a:t>
            </a:r>
            <a:r>
              <a:rPr sz="2400" spc="-10" dirty="0">
                <a:latin typeface="Calibri"/>
                <a:cs typeface="Calibri"/>
              </a:rPr>
              <a:t>project.</a:t>
            </a:r>
            <a:endParaRPr sz="2400" dirty="0">
              <a:latin typeface="Calibri"/>
              <a:cs typeface="Calibri"/>
            </a:endParaRPr>
          </a:p>
          <a:p>
            <a:pPr marL="307975" marR="5080" indent="-295275">
              <a:lnSpc>
                <a:spcPct val="80000"/>
              </a:lnSpc>
              <a:spcBef>
                <a:spcPts val="1005"/>
              </a:spcBef>
              <a:buAutoNum type="arabicPeriod"/>
              <a:tabLst>
                <a:tab pos="309880" algn="l"/>
              </a:tabLst>
            </a:pPr>
            <a:r>
              <a:rPr sz="2400" dirty="0">
                <a:solidFill>
                  <a:srgbClr val="C00000"/>
                </a:solidFill>
                <a:latin typeface="Calibri"/>
                <a:cs typeface="Calibri"/>
              </a:rPr>
              <a:t>It</a:t>
            </a:r>
            <a:r>
              <a:rPr sz="2400" spc="25" dirty="0">
                <a:solidFill>
                  <a:srgbClr val="C00000"/>
                </a:solidFill>
                <a:latin typeface="Calibri"/>
                <a:cs typeface="Calibri"/>
              </a:rPr>
              <a:t> </a:t>
            </a:r>
            <a:r>
              <a:rPr sz="2400" dirty="0">
                <a:solidFill>
                  <a:srgbClr val="C00000"/>
                </a:solidFill>
                <a:latin typeface="Calibri"/>
                <a:cs typeface="Calibri"/>
              </a:rPr>
              <a:t>is</a:t>
            </a:r>
            <a:r>
              <a:rPr sz="2400" spc="30" dirty="0">
                <a:solidFill>
                  <a:srgbClr val="C00000"/>
                </a:solidFill>
                <a:latin typeface="Calibri"/>
                <a:cs typeface="Calibri"/>
              </a:rPr>
              <a:t> </a:t>
            </a:r>
            <a:r>
              <a:rPr sz="2400" dirty="0">
                <a:solidFill>
                  <a:srgbClr val="C00000"/>
                </a:solidFill>
                <a:latin typeface="Calibri"/>
                <a:cs typeface="Calibri"/>
              </a:rPr>
              <a:t>very</a:t>
            </a:r>
            <a:r>
              <a:rPr sz="2400" spc="30" dirty="0">
                <a:solidFill>
                  <a:srgbClr val="C00000"/>
                </a:solidFill>
                <a:latin typeface="Calibri"/>
                <a:cs typeface="Calibri"/>
              </a:rPr>
              <a:t> </a:t>
            </a:r>
            <a:r>
              <a:rPr sz="2400" dirty="0">
                <a:solidFill>
                  <a:srgbClr val="C00000"/>
                </a:solidFill>
                <a:latin typeface="Calibri"/>
                <a:cs typeface="Calibri"/>
              </a:rPr>
              <a:t>easy</a:t>
            </a:r>
            <a:r>
              <a:rPr sz="2400" spc="40" dirty="0">
                <a:solidFill>
                  <a:srgbClr val="C00000"/>
                </a:solidFill>
                <a:latin typeface="Calibri"/>
                <a:cs typeface="Calibri"/>
              </a:rPr>
              <a:t> </a:t>
            </a:r>
            <a:r>
              <a:rPr sz="2400" dirty="0">
                <a:solidFill>
                  <a:srgbClr val="C00000"/>
                </a:solidFill>
                <a:latin typeface="Calibri"/>
                <a:cs typeface="Calibri"/>
              </a:rPr>
              <a:t>to</a:t>
            </a:r>
            <a:r>
              <a:rPr sz="2400" spc="30" dirty="0">
                <a:solidFill>
                  <a:srgbClr val="C00000"/>
                </a:solidFill>
                <a:latin typeface="Calibri"/>
                <a:cs typeface="Calibri"/>
              </a:rPr>
              <a:t> </a:t>
            </a:r>
            <a:r>
              <a:rPr sz="2400" dirty="0">
                <a:solidFill>
                  <a:srgbClr val="C00000"/>
                </a:solidFill>
                <a:latin typeface="Calibri"/>
                <a:cs typeface="Calibri"/>
              </a:rPr>
              <a:t>modify</a:t>
            </a:r>
            <a:r>
              <a:rPr sz="2400" spc="35" dirty="0">
                <a:solidFill>
                  <a:srgbClr val="C00000"/>
                </a:solidFill>
                <a:latin typeface="Calibri"/>
                <a:cs typeface="Calibri"/>
              </a:rPr>
              <a:t> </a:t>
            </a:r>
            <a:r>
              <a:rPr sz="2400" dirty="0">
                <a:solidFill>
                  <a:srgbClr val="C00000"/>
                </a:solidFill>
                <a:latin typeface="Calibri"/>
                <a:cs typeface="Calibri"/>
              </a:rPr>
              <a:t>or</a:t>
            </a:r>
            <a:r>
              <a:rPr sz="2400" spc="30" dirty="0">
                <a:solidFill>
                  <a:srgbClr val="C00000"/>
                </a:solidFill>
                <a:latin typeface="Calibri"/>
                <a:cs typeface="Calibri"/>
              </a:rPr>
              <a:t> </a:t>
            </a:r>
            <a:r>
              <a:rPr sz="2400" dirty="0">
                <a:solidFill>
                  <a:srgbClr val="C00000"/>
                </a:solidFill>
                <a:latin typeface="Calibri"/>
                <a:cs typeface="Calibri"/>
              </a:rPr>
              <a:t>change</a:t>
            </a:r>
            <a:r>
              <a:rPr sz="2400" spc="40" dirty="0">
                <a:solidFill>
                  <a:srgbClr val="C00000"/>
                </a:solidFill>
                <a:latin typeface="Calibri"/>
                <a:cs typeface="Calibri"/>
              </a:rPr>
              <a:t> </a:t>
            </a:r>
            <a:r>
              <a:rPr sz="2400" dirty="0">
                <a:solidFill>
                  <a:srgbClr val="C00000"/>
                </a:solidFill>
                <a:latin typeface="Calibri"/>
                <a:cs typeface="Calibri"/>
              </a:rPr>
              <a:t>when</a:t>
            </a:r>
            <a:r>
              <a:rPr sz="2400" spc="35" dirty="0">
                <a:solidFill>
                  <a:srgbClr val="C00000"/>
                </a:solidFill>
                <a:latin typeface="Calibri"/>
                <a:cs typeface="Calibri"/>
              </a:rPr>
              <a:t> </a:t>
            </a:r>
            <a:r>
              <a:rPr sz="2400" dirty="0">
                <a:solidFill>
                  <a:srgbClr val="C00000"/>
                </a:solidFill>
                <a:latin typeface="Calibri"/>
                <a:cs typeface="Calibri"/>
              </a:rPr>
              <a:t>unexpected</a:t>
            </a:r>
            <a:r>
              <a:rPr sz="2400" spc="25" dirty="0">
                <a:solidFill>
                  <a:srgbClr val="C00000"/>
                </a:solidFill>
                <a:latin typeface="Calibri"/>
                <a:cs typeface="Calibri"/>
              </a:rPr>
              <a:t> </a:t>
            </a:r>
            <a:r>
              <a:rPr sz="2400" dirty="0">
                <a:solidFill>
                  <a:srgbClr val="C00000"/>
                </a:solidFill>
                <a:latin typeface="Calibri"/>
                <a:cs typeface="Calibri"/>
              </a:rPr>
              <a:t>events</a:t>
            </a:r>
            <a:r>
              <a:rPr sz="2400" spc="30" dirty="0">
                <a:solidFill>
                  <a:srgbClr val="C00000"/>
                </a:solidFill>
                <a:latin typeface="Calibri"/>
                <a:cs typeface="Calibri"/>
              </a:rPr>
              <a:t> </a:t>
            </a:r>
            <a:r>
              <a:rPr sz="2400" dirty="0">
                <a:solidFill>
                  <a:srgbClr val="C00000"/>
                </a:solidFill>
                <a:latin typeface="Calibri"/>
                <a:cs typeface="Calibri"/>
              </a:rPr>
              <a:t>occur</a:t>
            </a:r>
            <a:r>
              <a:rPr sz="2400" spc="40" dirty="0">
                <a:solidFill>
                  <a:srgbClr val="C00000"/>
                </a:solidFill>
                <a:latin typeface="Calibri"/>
                <a:cs typeface="Calibri"/>
              </a:rPr>
              <a:t> </a:t>
            </a:r>
            <a:r>
              <a:rPr sz="2400" dirty="0">
                <a:solidFill>
                  <a:srgbClr val="C00000"/>
                </a:solidFill>
                <a:latin typeface="Calibri"/>
                <a:cs typeface="Calibri"/>
              </a:rPr>
              <a:t>as</a:t>
            </a:r>
            <a:r>
              <a:rPr sz="2400" spc="30" dirty="0">
                <a:solidFill>
                  <a:srgbClr val="C00000"/>
                </a:solidFill>
                <a:latin typeface="Calibri"/>
                <a:cs typeface="Calibri"/>
              </a:rPr>
              <a:t> </a:t>
            </a:r>
            <a:r>
              <a:rPr sz="2400" dirty="0">
                <a:solidFill>
                  <a:srgbClr val="C00000"/>
                </a:solidFill>
                <a:latin typeface="Calibri"/>
                <a:cs typeface="Calibri"/>
              </a:rPr>
              <a:t>the</a:t>
            </a:r>
            <a:r>
              <a:rPr sz="2400" spc="35" dirty="0">
                <a:solidFill>
                  <a:srgbClr val="C00000"/>
                </a:solidFill>
                <a:latin typeface="Calibri"/>
                <a:cs typeface="Calibri"/>
              </a:rPr>
              <a:t> </a:t>
            </a:r>
            <a:r>
              <a:rPr sz="2400" spc="-10" dirty="0">
                <a:solidFill>
                  <a:srgbClr val="C00000"/>
                </a:solidFill>
                <a:latin typeface="Calibri"/>
                <a:cs typeface="Calibri"/>
              </a:rPr>
              <a:t>project 	progresses.</a:t>
            </a:r>
            <a:endParaRPr sz="2400" dirty="0">
              <a:latin typeface="Calibri"/>
              <a:cs typeface="Calibri"/>
            </a:endParaRPr>
          </a:p>
          <a:p>
            <a:pPr marL="307975" indent="-295275">
              <a:lnSpc>
                <a:spcPct val="100000"/>
              </a:lnSpc>
              <a:spcBef>
                <a:spcPts val="409"/>
              </a:spcBef>
              <a:buAutoNum type="arabicPeriod"/>
              <a:tabLst>
                <a:tab pos="307975" algn="l"/>
              </a:tabLst>
            </a:pPr>
            <a:r>
              <a:rPr sz="2400" dirty="0">
                <a:latin typeface="Calibri"/>
                <a:cs typeface="Calibri"/>
              </a:rPr>
              <a:t>It</a:t>
            </a:r>
            <a:r>
              <a:rPr sz="2400" spc="-65" dirty="0">
                <a:latin typeface="Calibri"/>
                <a:cs typeface="Calibri"/>
              </a:rPr>
              <a:t> </a:t>
            </a:r>
            <a:r>
              <a:rPr sz="2400" dirty="0">
                <a:latin typeface="Calibri"/>
                <a:cs typeface="Calibri"/>
              </a:rPr>
              <a:t>provides</a:t>
            </a:r>
            <a:r>
              <a:rPr sz="2400" spc="-65" dirty="0">
                <a:latin typeface="Calibri"/>
                <a:cs typeface="Calibri"/>
              </a:rPr>
              <a:t> </a:t>
            </a:r>
            <a:r>
              <a:rPr sz="2400" dirty="0">
                <a:latin typeface="Calibri"/>
                <a:cs typeface="Calibri"/>
              </a:rPr>
              <a:t>the</a:t>
            </a:r>
            <a:r>
              <a:rPr sz="2400" spc="-50" dirty="0">
                <a:latin typeface="Calibri"/>
                <a:cs typeface="Calibri"/>
              </a:rPr>
              <a:t> </a:t>
            </a:r>
            <a:r>
              <a:rPr sz="2400" dirty="0">
                <a:latin typeface="Calibri"/>
                <a:cs typeface="Calibri"/>
              </a:rPr>
              <a:t>basis</a:t>
            </a:r>
            <a:r>
              <a:rPr sz="2400" spc="-65" dirty="0">
                <a:latin typeface="Calibri"/>
                <a:cs typeface="Calibri"/>
              </a:rPr>
              <a:t> </a:t>
            </a:r>
            <a:r>
              <a:rPr sz="2400" dirty="0">
                <a:latin typeface="Calibri"/>
                <a:cs typeface="Calibri"/>
              </a:rPr>
              <a:t>for</a:t>
            </a:r>
            <a:r>
              <a:rPr sz="2400" spc="-55" dirty="0">
                <a:latin typeface="Calibri"/>
                <a:cs typeface="Calibri"/>
              </a:rPr>
              <a:t> </a:t>
            </a:r>
            <a:r>
              <a:rPr sz="2400" dirty="0">
                <a:latin typeface="Calibri"/>
                <a:cs typeface="Calibri"/>
              </a:rPr>
              <a:t>scheduling</a:t>
            </a:r>
            <a:r>
              <a:rPr sz="2400" spc="-65" dirty="0">
                <a:latin typeface="Calibri"/>
                <a:cs typeface="Calibri"/>
              </a:rPr>
              <a:t> </a:t>
            </a:r>
            <a:r>
              <a:rPr sz="2400" dirty="0">
                <a:latin typeface="Calibri"/>
                <a:cs typeface="Calibri"/>
              </a:rPr>
              <a:t>labor</a:t>
            </a:r>
            <a:r>
              <a:rPr sz="2400" spc="-60" dirty="0">
                <a:latin typeface="Calibri"/>
                <a:cs typeface="Calibri"/>
              </a:rPr>
              <a:t> </a:t>
            </a:r>
            <a:r>
              <a:rPr sz="2400" dirty="0">
                <a:latin typeface="Calibri"/>
                <a:cs typeface="Calibri"/>
              </a:rPr>
              <a:t>and</a:t>
            </a:r>
            <a:r>
              <a:rPr sz="2400" spc="-55" dirty="0">
                <a:latin typeface="Calibri"/>
                <a:cs typeface="Calibri"/>
              </a:rPr>
              <a:t> </a:t>
            </a:r>
            <a:r>
              <a:rPr sz="2400" spc="-10" dirty="0">
                <a:latin typeface="Calibri"/>
                <a:cs typeface="Calibri"/>
              </a:rPr>
              <a:t>equipment.</a:t>
            </a:r>
            <a:endParaRPr sz="2400" dirty="0">
              <a:latin typeface="Calibri"/>
              <a:cs typeface="Calibri"/>
            </a:endParaRPr>
          </a:p>
          <a:p>
            <a:pPr marL="307975" marR="6350" indent="-295275" algn="just">
              <a:lnSpc>
                <a:spcPts val="2400"/>
              </a:lnSpc>
              <a:spcBef>
                <a:spcPts val="910"/>
              </a:spcBef>
              <a:buAutoNum type="arabicPeriod"/>
              <a:tabLst>
                <a:tab pos="309880" algn="l"/>
              </a:tabLst>
            </a:pPr>
            <a:r>
              <a:rPr sz="2400" dirty="0">
                <a:solidFill>
                  <a:srgbClr val="C00000"/>
                </a:solidFill>
                <a:latin typeface="Calibri"/>
                <a:cs typeface="Calibri"/>
              </a:rPr>
              <a:t>It</a:t>
            </a:r>
            <a:r>
              <a:rPr sz="2400" spc="405" dirty="0">
                <a:solidFill>
                  <a:srgbClr val="C00000"/>
                </a:solidFill>
                <a:latin typeface="Calibri"/>
                <a:cs typeface="Calibri"/>
              </a:rPr>
              <a:t> </a:t>
            </a:r>
            <a:r>
              <a:rPr sz="2400" dirty="0">
                <a:solidFill>
                  <a:srgbClr val="C00000"/>
                </a:solidFill>
                <a:latin typeface="Calibri"/>
                <a:cs typeface="Calibri"/>
              </a:rPr>
              <a:t>enhances</a:t>
            </a:r>
            <a:r>
              <a:rPr sz="2400" spc="415" dirty="0">
                <a:solidFill>
                  <a:srgbClr val="C00000"/>
                </a:solidFill>
                <a:latin typeface="Calibri"/>
                <a:cs typeface="Calibri"/>
              </a:rPr>
              <a:t> </a:t>
            </a:r>
            <a:r>
              <a:rPr sz="2400" dirty="0">
                <a:solidFill>
                  <a:srgbClr val="C00000"/>
                </a:solidFill>
                <a:latin typeface="Calibri"/>
                <a:cs typeface="Calibri"/>
              </a:rPr>
              <a:t>communication</a:t>
            </a:r>
            <a:r>
              <a:rPr sz="2400" spc="415" dirty="0">
                <a:solidFill>
                  <a:srgbClr val="C00000"/>
                </a:solidFill>
                <a:latin typeface="Calibri"/>
                <a:cs typeface="Calibri"/>
              </a:rPr>
              <a:t> </a:t>
            </a:r>
            <a:r>
              <a:rPr sz="2400" dirty="0">
                <a:solidFill>
                  <a:srgbClr val="C00000"/>
                </a:solidFill>
                <a:latin typeface="Calibri"/>
                <a:cs typeface="Calibri"/>
              </a:rPr>
              <a:t>that</a:t>
            </a:r>
            <a:r>
              <a:rPr sz="2400" spc="405" dirty="0">
                <a:solidFill>
                  <a:srgbClr val="C00000"/>
                </a:solidFill>
                <a:latin typeface="Calibri"/>
                <a:cs typeface="Calibri"/>
              </a:rPr>
              <a:t> </a:t>
            </a:r>
            <a:r>
              <a:rPr sz="2400" dirty="0">
                <a:solidFill>
                  <a:srgbClr val="C00000"/>
                </a:solidFill>
                <a:latin typeface="Calibri"/>
                <a:cs typeface="Calibri"/>
              </a:rPr>
              <a:t>blends</a:t>
            </a:r>
            <a:r>
              <a:rPr sz="2400" spc="409" dirty="0">
                <a:solidFill>
                  <a:srgbClr val="C00000"/>
                </a:solidFill>
                <a:latin typeface="Calibri"/>
                <a:cs typeface="Calibri"/>
              </a:rPr>
              <a:t> </a:t>
            </a:r>
            <a:r>
              <a:rPr sz="2400" dirty="0">
                <a:solidFill>
                  <a:srgbClr val="C00000"/>
                </a:solidFill>
                <a:latin typeface="Calibri"/>
                <a:cs typeface="Calibri"/>
              </a:rPr>
              <a:t>all</a:t>
            </a:r>
            <a:r>
              <a:rPr sz="2400" spc="415" dirty="0">
                <a:solidFill>
                  <a:srgbClr val="C00000"/>
                </a:solidFill>
                <a:latin typeface="Calibri"/>
                <a:cs typeface="Calibri"/>
              </a:rPr>
              <a:t> </a:t>
            </a:r>
            <a:r>
              <a:rPr sz="2400" dirty="0">
                <a:solidFill>
                  <a:srgbClr val="C00000"/>
                </a:solidFill>
                <a:latin typeface="Calibri"/>
                <a:cs typeface="Calibri"/>
              </a:rPr>
              <a:t>managers</a:t>
            </a:r>
            <a:r>
              <a:rPr sz="2400" spc="415" dirty="0">
                <a:solidFill>
                  <a:srgbClr val="C00000"/>
                </a:solidFill>
                <a:latin typeface="Calibri"/>
                <a:cs typeface="Calibri"/>
              </a:rPr>
              <a:t> </a:t>
            </a:r>
            <a:r>
              <a:rPr sz="2400" dirty="0">
                <a:solidFill>
                  <a:srgbClr val="C00000"/>
                </a:solidFill>
                <a:latin typeface="Calibri"/>
                <a:cs typeface="Calibri"/>
              </a:rPr>
              <a:t>and</a:t>
            </a:r>
            <a:r>
              <a:rPr sz="2400" spc="415" dirty="0">
                <a:solidFill>
                  <a:srgbClr val="C00000"/>
                </a:solidFill>
                <a:latin typeface="Calibri"/>
                <a:cs typeface="Calibri"/>
              </a:rPr>
              <a:t> </a:t>
            </a:r>
            <a:r>
              <a:rPr sz="2400" dirty="0">
                <a:solidFill>
                  <a:srgbClr val="C00000"/>
                </a:solidFill>
                <a:latin typeface="Calibri"/>
                <a:cs typeface="Calibri"/>
              </a:rPr>
              <a:t>groups</a:t>
            </a:r>
            <a:r>
              <a:rPr sz="2400" spc="415" dirty="0">
                <a:solidFill>
                  <a:srgbClr val="C00000"/>
                </a:solidFill>
                <a:latin typeface="Calibri"/>
                <a:cs typeface="Calibri"/>
              </a:rPr>
              <a:t> </a:t>
            </a:r>
            <a:r>
              <a:rPr sz="2400" dirty="0">
                <a:solidFill>
                  <a:srgbClr val="C00000"/>
                </a:solidFill>
                <a:latin typeface="Calibri"/>
                <a:cs typeface="Calibri"/>
              </a:rPr>
              <a:t>together</a:t>
            </a:r>
            <a:r>
              <a:rPr sz="2400" spc="415" dirty="0">
                <a:solidFill>
                  <a:srgbClr val="C00000"/>
                </a:solidFill>
                <a:latin typeface="Calibri"/>
                <a:cs typeface="Calibri"/>
              </a:rPr>
              <a:t> </a:t>
            </a:r>
            <a:r>
              <a:rPr sz="2400" spc="-25" dirty="0">
                <a:solidFill>
                  <a:srgbClr val="C00000"/>
                </a:solidFill>
                <a:latin typeface="Calibri"/>
                <a:cs typeface="Calibri"/>
              </a:rPr>
              <a:t>in 	</a:t>
            </a:r>
            <a:r>
              <a:rPr sz="2400" dirty="0">
                <a:solidFill>
                  <a:srgbClr val="C00000"/>
                </a:solidFill>
                <a:latin typeface="Calibri"/>
                <a:cs typeface="Calibri"/>
              </a:rPr>
              <a:t>meeting</a:t>
            </a:r>
            <a:r>
              <a:rPr sz="2400" spc="-60" dirty="0">
                <a:solidFill>
                  <a:srgbClr val="C00000"/>
                </a:solidFill>
                <a:latin typeface="Calibri"/>
                <a:cs typeface="Calibri"/>
              </a:rPr>
              <a:t> </a:t>
            </a:r>
            <a:r>
              <a:rPr sz="2400" dirty="0">
                <a:solidFill>
                  <a:srgbClr val="C00000"/>
                </a:solidFill>
                <a:latin typeface="Calibri"/>
                <a:cs typeface="Calibri"/>
              </a:rPr>
              <a:t>the</a:t>
            </a:r>
            <a:r>
              <a:rPr sz="2400" spc="-45" dirty="0">
                <a:solidFill>
                  <a:srgbClr val="C00000"/>
                </a:solidFill>
                <a:latin typeface="Calibri"/>
                <a:cs typeface="Calibri"/>
              </a:rPr>
              <a:t> </a:t>
            </a:r>
            <a:r>
              <a:rPr sz="2400" dirty="0">
                <a:solidFill>
                  <a:srgbClr val="C00000"/>
                </a:solidFill>
                <a:latin typeface="Calibri"/>
                <a:cs typeface="Calibri"/>
              </a:rPr>
              <a:t>time,</a:t>
            </a:r>
            <a:r>
              <a:rPr sz="2400" spc="-55" dirty="0">
                <a:solidFill>
                  <a:srgbClr val="C00000"/>
                </a:solidFill>
                <a:latin typeface="Calibri"/>
                <a:cs typeface="Calibri"/>
              </a:rPr>
              <a:t> </a:t>
            </a:r>
            <a:r>
              <a:rPr sz="2400" dirty="0">
                <a:solidFill>
                  <a:srgbClr val="C00000"/>
                </a:solidFill>
                <a:latin typeface="Calibri"/>
                <a:cs typeface="Calibri"/>
              </a:rPr>
              <a:t>cost,</a:t>
            </a:r>
            <a:r>
              <a:rPr sz="2400" spc="-50" dirty="0">
                <a:solidFill>
                  <a:srgbClr val="C00000"/>
                </a:solidFill>
                <a:latin typeface="Calibri"/>
                <a:cs typeface="Calibri"/>
              </a:rPr>
              <a:t> </a:t>
            </a:r>
            <a:r>
              <a:rPr sz="2400" dirty="0">
                <a:solidFill>
                  <a:srgbClr val="C00000"/>
                </a:solidFill>
                <a:latin typeface="Calibri"/>
                <a:cs typeface="Calibri"/>
              </a:rPr>
              <a:t>and</a:t>
            </a:r>
            <a:r>
              <a:rPr sz="2400" spc="-50" dirty="0">
                <a:solidFill>
                  <a:srgbClr val="C00000"/>
                </a:solidFill>
                <a:latin typeface="Calibri"/>
                <a:cs typeface="Calibri"/>
              </a:rPr>
              <a:t> </a:t>
            </a:r>
            <a:r>
              <a:rPr sz="2400" spc="-10" dirty="0">
                <a:solidFill>
                  <a:srgbClr val="C00000"/>
                </a:solidFill>
                <a:latin typeface="Calibri"/>
                <a:cs typeface="Calibri"/>
              </a:rPr>
              <a:t>performance</a:t>
            </a:r>
            <a:r>
              <a:rPr sz="2400" spc="-45" dirty="0">
                <a:solidFill>
                  <a:srgbClr val="C00000"/>
                </a:solidFill>
                <a:latin typeface="Calibri"/>
                <a:cs typeface="Calibri"/>
              </a:rPr>
              <a:t> </a:t>
            </a:r>
            <a:r>
              <a:rPr sz="2400" dirty="0">
                <a:solidFill>
                  <a:srgbClr val="C00000"/>
                </a:solidFill>
                <a:latin typeface="Calibri"/>
                <a:cs typeface="Calibri"/>
              </a:rPr>
              <a:t>objectives</a:t>
            </a:r>
            <a:r>
              <a:rPr sz="2400" spc="-50" dirty="0">
                <a:solidFill>
                  <a:srgbClr val="C00000"/>
                </a:solidFill>
                <a:latin typeface="Calibri"/>
                <a:cs typeface="Calibri"/>
              </a:rPr>
              <a:t> </a:t>
            </a:r>
            <a:r>
              <a:rPr sz="2400" dirty="0">
                <a:solidFill>
                  <a:srgbClr val="C00000"/>
                </a:solidFill>
                <a:latin typeface="Calibri"/>
                <a:cs typeface="Calibri"/>
              </a:rPr>
              <a:t>of</a:t>
            </a:r>
            <a:r>
              <a:rPr sz="2400" spc="-55" dirty="0">
                <a:solidFill>
                  <a:srgbClr val="C00000"/>
                </a:solidFill>
                <a:latin typeface="Calibri"/>
                <a:cs typeface="Calibri"/>
              </a:rPr>
              <a:t> </a:t>
            </a:r>
            <a:r>
              <a:rPr sz="2400" dirty="0">
                <a:solidFill>
                  <a:srgbClr val="C00000"/>
                </a:solidFill>
                <a:latin typeface="Calibri"/>
                <a:cs typeface="Calibri"/>
              </a:rPr>
              <a:t>the</a:t>
            </a:r>
            <a:r>
              <a:rPr sz="2400" spc="-45" dirty="0">
                <a:solidFill>
                  <a:srgbClr val="C00000"/>
                </a:solidFill>
                <a:latin typeface="Calibri"/>
                <a:cs typeface="Calibri"/>
              </a:rPr>
              <a:t> </a:t>
            </a:r>
            <a:r>
              <a:rPr sz="2400" spc="-10" dirty="0">
                <a:solidFill>
                  <a:srgbClr val="C00000"/>
                </a:solidFill>
                <a:latin typeface="Calibri"/>
                <a:cs typeface="Calibri"/>
              </a:rPr>
              <a:t>project.</a:t>
            </a:r>
            <a:endParaRPr sz="2400" dirty="0">
              <a:latin typeface="Calibri"/>
              <a:cs typeface="Calibri"/>
            </a:endParaRPr>
          </a:p>
          <a:p>
            <a:pPr marL="307975" marR="5080" indent="-295275" algn="just">
              <a:lnSpc>
                <a:spcPts val="2300"/>
              </a:lnSpc>
              <a:spcBef>
                <a:spcPts val="969"/>
              </a:spcBef>
              <a:buAutoNum type="arabicPeriod"/>
              <a:tabLst>
                <a:tab pos="309880" algn="l"/>
              </a:tabLst>
            </a:pPr>
            <a:r>
              <a:rPr sz="2400" dirty="0">
                <a:latin typeface="Calibri"/>
                <a:cs typeface="Calibri"/>
              </a:rPr>
              <a:t>It</a:t>
            </a:r>
            <a:r>
              <a:rPr sz="2400" spc="130" dirty="0">
                <a:latin typeface="Calibri"/>
                <a:cs typeface="Calibri"/>
              </a:rPr>
              <a:t>  </a:t>
            </a:r>
            <a:r>
              <a:rPr sz="2400" dirty="0">
                <a:latin typeface="Calibri"/>
                <a:cs typeface="Calibri"/>
              </a:rPr>
              <a:t>provides</a:t>
            </a:r>
            <a:r>
              <a:rPr sz="2400" spc="135" dirty="0">
                <a:latin typeface="Calibri"/>
                <a:cs typeface="Calibri"/>
              </a:rPr>
              <a:t>  </a:t>
            </a:r>
            <a:r>
              <a:rPr sz="2400" dirty="0">
                <a:latin typeface="Calibri"/>
                <a:cs typeface="Calibri"/>
              </a:rPr>
              <a:t>an</a:t>
            </a:r>
            <a:r>
              <a:rPr sz="2400" spc="135" dirty="0">
                <a:latin typeface="Calibri"/>
                <a:cs typeface="Calibri"/>
              </a:rPr>
              <a:t>  </a:t>
            </a:r>
            <a:r>
              <a:rPr sz="2400" dirty="0">
                <a:latin typeface="Calibri"/>
                <a:cs typeface="Calibri"/>
              </a:rPr>
              <a:t>estimate</a:t>
            </a:r>
            <a:r>
              <a:rPr sz="2400" spc="140" dirty="0">
                <a:latin typeface="Calibri"/>
                <a:cs typeface="Calibri"/>
              </a:rPr>
              <a:t>  </a:t>
            </a:r>
            <a:r>
              <a:rPr sz="2400" dirty="0">
                <a:latin typeface="Calibri"/>
                <a:cs typeface="Calibri"/>
              </a:rPr>
              <a:t>of</a:t>
            </a:r>
            <a:r>
              <a:rPr sz="2400" spc="135" dirty="0">
                <a:latin typeface="Calibri"/>
                <a:cs typeface="Calibri"/>
              </a:rPr>
              <a:t>  </a:t>
            </a:r>
            <a:r>
              <a:rPr sz="2400" dirty="0">
                <a:latin typeface="Calibri"/>
                <a:cs typeface="Calibri"/>
              </a:rPr>
              <a:t>project</a:t>
            </a:r>
            <a:r>
              <a:rPr sz="2400" spc="130" dirty="0">
                <a:latin typeface="Calibri"/>
                <a:cs typeface="Calibri"/>
              </a:rPr>
              <a:t>  </a:t>
            </a:r>
            <a:r>
              <a:rPr sz="2400" dirty="0">
                <a:latin typeface="Calibri"/>
                <a:cs typeface="Calibri"/>
              </a:rPr>
              <a:t>duration</a:t>
            </a:r>
            <a:r>
              <a:rPr sz="2400" spc="135" dirty="0">
                <a:latin typeface="Calibri"/>
                <a:cs typeface="Calibri"/>
              </a:rPr>
              <a:t>  </a:t>
            </a:r>
            <a:r>
              <a:rPr sz="2400" dirty="0">
                <a:latin typeface="Calibri"/>
                <a:cs typeface="Calibri"/>
              </a:rPr>
              <a:t>rather</a:t>
            </a:r>
            <a:r>
              <a:rPr sz="2400" spc="130" dirty="0">
                <a:latin typeface="Calibri"/>
                <a:cs typeface="Calibri"/>
              </a:rPr>
              <a:t>  </a:t>
            </a:r>
            <a:r>
              <a:rPr sz="2400" dirty="0">
                <a:latin typeface="Calibri"/>
                <a:cs typeface="Calibri"/>
              </a:rPr>
              <a:t>than</a:t>
            </a:r>
            <a:r>
              <a:rPr sz="2400" spc="140" dirty="0">
                <a:latin typeface="Calibri"/>
                <a:cs typeface="Calibri"/>
              </a:rPr>
              <a:t>  </a:t>
            </a:r>
            <a:r>
              <a:rPr sz="2400" dirty="0">
                <a:latin typeface="Calibri"/>
                <a:cs typeface="Calibri"/>
              </a:rPr>
              <a:t>picking</a:t>
            </a:r>
            <a:r>
              <a:rPr sz="2400" spc="130" dirty="0">
                <a:latin typeface="Calibri"/>
                <a:cs typeface="Calibri"/>
              </a:rPr>
              <a:t>  </a:t>
            </a:r>
            <a:r>
              <a:rPr sz="2400" dirty="0">
                <a:latin typeface="Calibri"/>
                <a:cs typeface="Calibri"/>
              </a:rPr>
              <a:t>a</a:t>
            </a:r>
            <a:r>
              <a:rPr sz="2400" spc="135" dirty="0">
                <a:latin typeface="Calibri"/>
                <a:cs typeface="Calibri"/>
              </a:rPr>
              <a:t>  </a:t>
            </a:r>
            <a:r>
              <a:rPr sz="2400" spc="-10" dirty="0">
                <a:latin typeface="Calibri"/>
                <a:cs typeface="Calibri"/>
              </a:rPr>
              <a:t>project 	</a:t>
            </a:r>
            <a:r>
              <a:rPr sz="2400" dirty="0">
                <a:latin typeface="Calibri"/>
                <a:cs typeface="Calibri"/>
              </a:rPr>
              <a:t>completion</a:t>
            </a:r>
            <a:r>
              <a:rPr sz="2400" spc="-80" dirty="0">
                <a:latin typeface="Calibri"/>
                <a:cs typeface="Calibri"/>
              </a:rPr>
              <a:t> </a:t>
            </a:r>
            <a:r>
              <a:rPr sz="2400" dirty="0">
                <a:latin typeface="Calibri"/>
                <a:cs typeface="Calibri"/>
              </a:rPr>
              <a:t>date</a:t>
            </a:r>
            <a:r>
              <a:rPr sz="2400" spc="-65" dirty="0">
                <a:latin typeface="Calibri"/>
                <a:cs typeface="Calibri"/>
              </a:rPr>
              <a:t> </a:t>
            </a:r>
            <a:r>
              <a:rPr sz="2400" dirty="0">
                <a:latin typeface="Calibri"/>
                <a:cs typeface="Calibri"/>
              </a:rPr>
              <a:t>from</a:t>
            </a:r>
            <a:r>
              <a:rPr sz="2400" spc="-85" dirty="0">
                <a:latin typeface="Calibri"/>
                <a:cs typeface="Calibri"/>
              </a:rPr>
              <a:t> </a:t>
            </a:r>
            <a:r>
              <a:rPr sz="2400" spc="-20" dirty="0">
                <a:latin typeface="Calibri"/>
                <a:cs typeface="Calibri"/>
              </a:rPr>
              <a:t>someone’s</a:t>
            </a:r>
            <a:r>
              <a:rPr sz="2400" spc="-65" dirty="0">
                <a:latin typeface="Calibri"/>
                <a:cs typeface="Calibri"/>
              </a:rPr>
              <a:t> </a:t>
            </a:r>
            <a:r>
              <a:rPr sz="2400" spc="-20" dirty="0">
                <a:latin typeface="Calibri"/>
                <a:cs typeface="Calibri"/>
              </a:rPr>
              <a:t>preferred</a:t>
            </a:r>
            <a:r>
              <a:rPr sz="2400" spc="-75" dirty="0">
                <a:latin typeface="Calibri"/>
                <a:cs typeface="Calibri"/>
              </a:rPr>
              <a:t> </a:t>
            </a:r>
            <a:r>
              <a:rPr sz="2400" spc="-10" dirty="0">
                <a:latin typeface="Calibri"/>
                <a:cs typeface="Calibri"/>
              </a:rPr>
              <a:t>date.</a:t>
            </a:r>
            <a:endParaRPr sz="2400" dirty="0">
              <a:latin typeface="Calibri"/>
              <a:cs typeface="Calibri"/>
            </a:endParaRPr>
          </a:p>
          <a:p>
            <a:pPr marL="307975" marR="5715" indent="-295275" algn="just">
              <a:lnSpc>
                <a:spcPct val="79200"/>
              </a:lnSpc>
              <a:spcBef>
                <a:spcPts val="1055"/>
              </a:spcBef>
              <a:buAutoNum type="arabicPeriod"/>
              <a:tabLst>
                <a:tab pos="309880" algn="l"/>
              </a:tabLst>
            </a:pPr>
            <a:r>
              <a:rPr sz="2400" dirty="0">
                <a:solidFill>
                  <a:srgbClr val="C00000"/>
                </a:solidFill>
                <a:latin typeface="Calibri"/>
                <a:cs typeface="Calibri"/>
              </a:rPr>
              <a:t>It</a:t>
            </a:r>
            <a:r>
              <a:rPr sz="2400" spc="390" dirty="0">
                <a:solidFill>
                  <a:srgbClr val="C00000"/>
                </a:solidFill>
                <a:latin typeface="Calibri"/>
                <a:cs typeface="Calibri"/>
              </a:rPr>
              <a:t> </a:t>
            </a:r>
            <a:r>
              <a:rPr sz="2400" dirty="0">
                <a:solidFill>
                  <a:srgbClr val="C00000"/>
                </a:solidFill>
                <a:latin typeface="Calibri"/>
                <a:cs typeface="Calibri"/>
              </a:rPr>
              <a:t>gives</a:t>
            </a:r>
            <a:r>
              <a:rPr sz="2400" spc="395" dirty="0">
                <a:solidFill>
                  <a:srgbClr val="C00000"/>
                </a:solidFill>
                <a:latin typeface="Calibri"/>
                <a:cs typeface="Calibri"/>
              </a:rPr>
              <a:t> </a:t>
            </a:r>
            <a:r>
              <a:rPr sz="2400" dirty="0">
                <a:solidFill>
                  <a:srgbClr val="C00000"/>
                </a:solidFill>
                <a:latin typeface="Calibri"/>
                <a:cs typeface="Calibri"/>
              </a:rPr>
              <a:t>the</a:t>
            </a:r>
            <a:r>
              <a:rPr sz="2400" spc="400" dirty="0">
                <a:solidFill>
                  <a:srgbClr val="C00000"/>
                </a:solidFill>
                <a:latin typeface="Calibri"/>
                <a:cs typeface="Calibri"/>
              </a:rPr>
              <a:t> </a:t>
            </a:r>
            <a:r>
              <a:rPr sz="2400" dirty="0">
                <a:solidFill>
                  <a:srgbClr val="C00000"/>
                </a:solidFill>
                <a:latin typeface="Calibri"/>
                <a:cs typeface="Calibri"/>
              </a:rPr>
              <a:t>times</a:t>
            </a:r>
            <a:r>
              <a:rPr sz="2400" spc="400" dirty="0">
                <a:solidFill>
                  <a:srgbClr val="C00000"/>
                </a:solidFill>
                <a:latin typeface="Calibri"/>
                <a:cs typeface="Calibri"/>
              </a:rPr>
              <a:t> </a:t>
            </a:r>
            <a:r>
              <a:rPr sz="2400" dirty="0">
                <a:solidFill>
                  <a:srgbClr val="C00000"/>
                </a:solidFill>
                <a:latin typeface="Calibri"/>
                <a:cs typeface="Calibri"/>
              </a:rPr>
              <a:t>when</a:t>
            </a:r>
            <a:r>
              <a:rPr sz="2400" spc="395" dirty="0">
                <a:solidFill>
                  <a:srgbClr val="C00000"/>
                </a:solidFill>
                <a:latin typeface="Calibri"/>
                <a:cs typeface="Calibri"/>
              </a:rPr>
              <a:t> </a:t>
            </a:r>
            <a:r>
              <a:rPr sz="2400" dirty="0">
                <a:solidFill>
                  <a:srgbClr val="C00000"/>
                </a:solidFill>
                <a:latin typeface="Calibri"/>
                <a:cs typeface="Calibri"/>
              </a:rPr>
              <a:t>activities</a:t>
            </a:r>
            <a:r>
              <a:rPr sz="2400" spc="385" dirty="0">
                <a:solidFill>
                  <a:srgbClr val="C00000"/>
                </a:solidFill>
                <a:latin typeface="Calibri"/>
                <a:cs typeface="Calibri"/>
              </a:rPr>
              <a:t> </a:t>
            </a:r>
            <a:r>
              <a:rPr sz="2400" dirty="0">
                <a:solidFill>
                  <a:srgbClr val="C00000"/>
                </a:solidFill>
                <a:latin typeface="Calibri"/>
                <a:cs typeface="Calibri"/>
              </a:rPr>
              <a:t>can</a:t>
            </a:r>
            <a:r>
              <a:rPr sz="2400" spc="400" dirty="0">
                <a:solidFill>
                  <a:srgbClr val="C00000"/>
                </a:solidFill>
                <a:latin typeface="Calibri"/>
                <a:cs typeface="Calibri"/>
              </a:rPr>
              <a:t> </a:t>
            </a:r>
            <a:r>
              <a:rPr sz="2400" dirty="0">
                <a:solidFill>
                  <a:srgbClr val="C00000"/>
                </a:solidFill>
                <a:latin typeface="Calibri"/>
                <a:cs typeface="Calibri"/>
              </a:rPr>
              <a:t>start</a:t>
            </a:r>
            <a:r>
              <a:rPr sz="2400" spc="390" dirty="0">
                <a:solidFill>
                  <a:srgbClr val="C00000"/>
                </a:solidFill>
                <a:latin typeface="Calibri"/>
                <a:cs typeface="Calibri"/>
              </a:rPr>
              <a:t> </a:t>
            </a:r>
            <a:r>
              <a:rPr sz="2400" dirty="0">
                <a:solidFill>
                  <a:srgbClr val="C00000"/>
                </a:solidFill>
                <a:latin typeface="Calibri"/>
                <a:cs typeface="Calibri"/>
              </a:rPr>
              <a:t>and</a:t>
            </a:r>
            <a:r>
              <a:rPr sz="2400" spc="395" dirty="0">
                <a:solidFill>
                  <a:srgbClr val="C00000"/>
                </a:solidFill>
                <a:latin typeface="Calibri"/>
                <a:cs typeface="Calibri"/>
              </a:rPr>
              <a:t> </a:t>
            </a:r>
            <a:r>
              <a:rPr sz="2400" dirty="0">
                <a:solidFill>
                  <a:srgbClr val="C00000"/>
                </a:solidFill>
                <a:latin typeface="Calibri"/>
                <a:cs typeface="Calibri"/>
              </a:rPr>
              <a:t>finish</a:t>
            </a:r>
            <a:r>
              <a:rPr sz="2400" spc="395" dirty="0">
                <a:solidFill>
                  <a:srgbClr val="C00000"/>
                </a:solidFill>
                <a:latin typeface="Calibri"/>
                <a:cs typeface="Calibri"/>
              </a:rPr>
              <a:t> </a:t>
            </a:r>
            <a:r>
              <a:rPr sz="2400" dirty="0">
                <a:solidFill>
                  <a:srgbClr val="C00000"/>
                </a:solidFill>
                <a:latin typeface="Calibri"/>
                <a:cs typeface="Calibri"/>
              </a:rPr>
              <a:t>and</a:t>
            </a:r>
            <a:r>
              <a:rPr sz="2400" spc="400" dirty="0">
                <a:solidFill>
                  <a:srgbClr val="C00000"/>
                </a:solidFill>
                <a:latin typeface="Calibri"/>
                <a:cs typeface="Calibri"/>
              </a:rPr>
              <a:t> </a:t>
            </a:r>
            <a:r>
              <a:rPr sz="2400" dirty="0">
                <a:solidFill>
                  <a:srgbClr val="C00000"/>
                </a:solidFill>
                <a:latin typeface="Calibri"/>
                <a:cs typeface="Calibri"/>
              </a:rPr>
              <a:t>when</a:t>
            </a:r>
            <a:r>
              <a:rPr sz="2400" spc="395" dirty="0">
                <a:solidFill>
                  <a:srgbClr val="C00000"/>
                </a:solidFill>
                <a:latin typeface="Calibri"/>
                <a:cs typeface="Calibri"/>
              </a:rPr>
              <a:t> </a:t>
            </a:r>
            <a:r>
              <a:rPr sz="2400" dirty="0">
                <a:solidFill>
                  <a:srgbClr val="C00000"/>
                </a:solidFill>
                <a:latin typeface="Calibri"/>
                <a:cs typeface="Calibri"/>
              </a:rPr>
              <a:t>they</a:t>
            </a:r>
            <a:r>
              <a:rPr sz="2400" spc="400" dirty="0">
                <a:solidFill>
                  <a:srgbClr val="C00000"/>
                </a:solidFill>
                <a:latin typeface="Calibri"/>
                <a:cs typeface="Calibri"/>
              </a:rPr>
              <a:t> </a:t>
            </a:r>
            <a:r>
              <a:rPr sz="2400" dirty="0">
                <a:solidFill>
                  <a:srgbClr val="C00000"/>
                </a:solidFill>
                <a:latin typeface="Calibri"/>
                <a:cs typeface="Calibri"/>
              </a:rPr>
              <a:t>can</a:t>
            </a:r>
            <a:r>
              <a:rPr sz="2400" spc="395" dirty="0">
                <a:solidFill>
                  <a:srgbClr val="C00000"/>
                </a:solidFill>
                <a:latin typeface="Calibri"/>
                <a:cs typeface="Calibri"/>
              </a:rPr>
              <a:t> </a:t>
            </a:r>
            <a:r>
              <a:rPr sz="2400" spc="-25" dirty="0">
                <a:solidFill>
                  <a:srgbClr val="C00000"/>
                </a:solidFill>
                <a:latin typeface="Calibri"/>
                <a:cs typeface="Calibri"/>
              </a:rPr>
              <a:t>be 	</a:t>
            </a:r>
            <a:r>
              <a:rPr sz="2400" spc="-10" dirty="0">
                <a:solidFill>
                  <a:srgbClr val="C00000"/>
                </a:solidFill>
                <a:latin typeface="Calibri"/>
                <a:cs typeface="Calibri"/>
              </a:rPr>
              <a:t>delayed.</a:t>
            </a:r>
            <a:endParaRPr sz="2400" dirty="0">
              <a:latin typeface="Calibri"/>
              <a:cs typeface="Calibri"/>
            </a:endParaRPr>
          </a:p>
          <a:p>
            <a:pPr marL="307975" indent="-295275" algn="just">
              <a:lnSpc>
                <a:spcPct val="100000"/>
              </a:lnSpc>
              <a:spcBef>
                <a:spcPts val="430"/>
              </a:spcBef>
              <a:buAutoNum type="arabicPeriod"/>
              <a:tabLst>
                <a:tab pos="307975" algn="l"/>
              </a:tabLst>
            </a:pPr>
            <a:r>
              <a:rPr sz="2400" dirty="0">
                <a:latin typeface="Calibri"/>
                <a:cs typeface="Calibri"/>
              </a:rPr>
              <a:t>It</a:t>
            </a:r>
            <a:r>
              <a:rPr sz="2400" spc="-55" dirty="0">
                <a:latin typeface="Calibri"/>
                <a:cs typeface="Calibri"/>
              </a:rPr>
              <a:t> </a:t>
            </a:r>
            <a:r>
              <a:rPr sz="2400" dirty="0">
                <a:latin typeface="Calibri"/>
                <a:cs typeface="Calibri"/>
              </a:rPr>
              <a:t>provides</a:t>
            </a:r>
            <a:r>
              <a:rPr sz="2400" spc="-50" dirty="0">
                <a:latin typeface="Calibri"/>
                <a:cs typeface="Calibri"/>
              </a:rPr>
              <a:t> </a:t>
            </a:r>
            <a:r>
              <a:rPr sz="2400" dirty="0">
                <a:latin typeface="Calibri"/>
                <a:cs typeface="Calibri"/>
              </a:rPr>
              <a:t>the</a:t>
            </a:r>
            <a:r>
              <a:rPr sz="2400" spc="-40" dirty="0">
                <a:latin typeface="Calibri"/>
                <a:cs typeface="Calibri"/>
              </a:rPr>
              <a:t> </a:t>
            </a:r>
            <a:r>
              <a:rPr sz="2400" dirty="0">
                <a:latin typeface="Calibri"/>
                <a:cs typeface="Calibri"/>
              </a:rPr>
              <a:t>basis</a:t>
            </a:r>
            <a:r>
              <a:rPr sz="2400" spc="-50" dirty="0">
                <a:latin typeface="Calibri"/>
                <a:cs typeface="Calibri"/>
              </a:rPr>
              <a:t> </a:t>
            </a:r>
            <a:r>
              <a:rPr sz="2400" dirty="0">
                <a:latin typeface="Calibri"/>
                <a:cs typeface="Calibri"/>
              </a:rPr>
              <a:t>for</a:t>
            </a:r>
            <a:r>
              <a:rPr sz="2400" spc="-50" dirty="0">
                <a:latin typeface="Calibri"/>
                <a:cs typeface="Calibri"/>
              </a:rPr>
              <a:t> </a:t>
            </a:r>
            <a:r>
              <a:rPr sz="2400" dirty="0">
                <a:latin typeface="Calibri"/>
                <a:cs typeface="Calibri"/>
              </a:rPr>
              <a:t>budgeting</a:t>
            </a:r>
            <a:r>
              <a:rPr sz="2400" spc="-55" dirty="0">
                <a:latin typeface="Calibri"/>
                <a:cs typeface="Calibri"/>
              </a:rPr>
              <a:t> </a:t>
            </a:r>
            <a:r>
              <a:rPr sz="2400" dirty="0">
                <a:latin typeface="Calibri"/>
                <a:cs typeface="Calibri"/>
              </a:rPr>
              <a:t>the</a:t>
            </a:r>
            <a:r>
              <a:rPr sz="2400" spc="-40" dirty="0">
                <a:latin typeface="Calibri"/>
                <a:cs typeface="Calibri"/>
              </a:rPr>
              <a:t> </a:t>
            </a:r>
            <a:r>
              <a:rPr sz="2400" dirty="0">
                <a:latin typeface="Calibri"/>
                <a:cs typeface="Calibri"/>
              </a:rPr>
              <a:t>cash</a:t>
            </a:r>
            <a:r>
              <a:rPr sz="2400" spc="-45" dirty="0">
                <a:latin typeface="Calibri"/>
                <a:cs typeface="Calibri"/>
              </a:rPr>
              <a:t> </a:t>
            </a:r>
            <a:r>
              <a:rPr sz="2400" dirty="0">
                <a:latin typeface="Calibri"/>
                <a:cs typeface="Calibri"/>
              </a:rPr>
              <a:t>flow</a:t>
            </a:r>
            <a:r>
              <a:rPr sz="2400" spc="-50" dirty="0">
                <a:latin typeface="Calibri"/>
                <a:cs typeface="Calibri"/>
              </a:rPr>
              <a:t> </a:t>
            </a:r>
            <a:r>
              <a:rPr sz="2400" dirty="0">
                <a:latin typeface="Calibri"/>
                <a:cs typeface="Calibri"/>
              </a:rPr>
              <a:t>of</a:t>
            </a:r>
            <a:r>
              <a:rPr sz="2400" spc="-50" dirty="0">
                <a:latin typeface="Calibri"/>
                <a:cs typeface="Calibri"/>
              </a:rPr>
              <a:t> </a:t>
            </a:r>
            <a:r>
              <a:rPr sz="2400" dirty="0">
                <a:latin typeface="Calibri"/>
                <a:cs typeface="Calibri"/>
              </a:rPr>
              <a:t>the</a:t>
            </a:r>
            <a:r>
              <a:rPr sz="2400" spc="-40" dirty="0">
                <a:latin typeface="Calibri"/>
                <a:cs typeface="Calibri"/>
              </a:rPr>
              <a:t> </a:t>
            </a:r>
            <a:r>
              <a:rPr sz="2400" spc="-10" dirty="0">
                <a:latin typeface="Calibri"/>
                <a:cs typeface="Calibri"/>
              </a:rPr>
              <a:t>project.</a:t>
            </a:r>
            <a:endParaRPr sz="2400" dirty="0">
              <a:latin typeface="Calibri"/>
              <a:cs typeface="Calibri"/>
            </a:endParaRPr>
          </a:p>
          <a:p>
            <a:pPr marL="307975" marR="6350" indent="-295275" algn="just">
              <a:lnSpc>
                <a:spcPts val="2300"/>
              </a:lnSpc>
              <a:spcBef>
                <a:spcPts val="969"/>
              </a:spcBef>
              <a:buAutoNum type="arabicPeriod"/>
              <a:tabLst>
                <a:tab pos="309880" algn="l"/>
              </a:tabLst>
            </a:pPr>
            <a:r>
              <a:rPr sz="2400" dirty="0">
                <a:solidFill>
                  <a:srgbClr val="C00000"/>
                </a:solidFill>
                <a:latin typeface="Calibri"/>
                <a:cs typeface="Calibri"/>
              </a:rPr>
              <a:t>It</a:t>
            </a:r>
            <a:r>
              <a:rPr sz="2400" spc="-15" dirty="0">
                <a:solidFill>
                  <a:srgbClr val="C00000"/>
                </a:solidFill>
                <a:latin typeface="Calibri"/>
                <a:cs typeface="Calibri"/>
              </a:rPr>
              <a:t> </a:t>
            </a:r>
            <a:r>
              <a:rPr sz="2400" dirty="0">
                <a:solidFill>
                  <a:srgbClr val="C00000"/>
                </a:solidFill>
                <a:latin typeface="Calibri"/>
                <a:cs typeface="Calibri"/>
              </a:rPr>
              <a:t>identifies</a:t>
            </a:r>
            <a:r>
              <a:rPr sz="2400" spc="-15" dirty="0">
                <a:solidFill>
                  <a:srgbClr val="C00000"/>
                </a:solidFill>
                <a:latin typeface="Calibri"/>
                <a:cs typeface="Calibri"/>
              </a:rPr>
              <a:t> </a:t>
            </a:r>
            <a:r>
              <a:rPr sz="2400" dirty="0">
                <a:solidFill>
                  <a:srgbClr val="C00000"/>
                </a:solidFill>
                <a:latin typeface="Calibri"/>
                <a:cs typeface="Calibri"/>
              </a:rPr>
              <a:t>which</a:t>
            </a:r>
            <a:r>
              <a:rPr sz="2400" spc="-5" dirty="0">
                <a:solidFill>
                  <a:srgbClr val="C00000"/>
                </a:solidFill>
                <a:latin typeface="Calibri"/>
                <a:cs typeface="Calibri"/>
              </a:rPr>
              <a:t> </a:t>
            </a:r>
            <a:r>
              <a:rPr sz="2400" dirty="0">
                <a:solidFill>
                  <a:srgbClr val="C00000"/>
                </a:solidFill>
                <a:latin typeface="Calibri"/>
                <a:cs typeface="Calibri"/>
              </a:rPr>
              <a:t>activities</a:t>
            </a:r>
            <a:r>
              <a:rPr sz="2400" spc="-15" dirty="0">
                <a:solidFill>
                  <a:srgbClr val="C00000"/>
                </a:solidFill>
                <a:latin typeface="Calibri"/>
                <a:cs typeface="Calibri"/>
              </a:rPr>
              <a:t> </a:t>
            </a:r>
            <a:r>
              <a:rPr sz="2400" dirty="0">
                <a:solidFill>
                  <a:srgbClr val="C00000"/>
                </a:solidFill>
                <a:latin typeface="Calibri"/>
                <a:cs typeface="Calibri"/>
              </a:rPr>
              <a:t>are</a:t>
            </a:r>
            <a:r>
              <a:rPr sz="2400" spc="-5" dirty="0">
                <a:solidFill>
                  <a:srgbClr val="C00000"/>
                </a:solidFill>
                <a:latin typeface="Calibri"/>
                <a:cs typeface="Calibri"/>
              </a:rPr>
              <a:t> </a:t>
            </a:r>
            <a:r>
              <a:rPr sz="2400" dirty="0">
                <a:solidFill>
                  <a:srgbClr val="C00000"/>
                </a:solidFill>
                <a:latin typeface="Calibri"/>
                <a:cs typeface="Calibri"/>
              </a:rPr>
              <a:t>“critical”</a:t>
            </a:r>
            <a:r>
              <a:rPr sz="2400" spc="-10" dirty="0">
                <a:solidFill>
                  <a:srgbClr val="C00000"/>
                </a:solidFill>
                <a:latin typeface="Calibri"/>
                <a:cs typeface="Calibri"/>
              </a:rPr>
              <a:t> </a:t>
            </a:r>
            <a:r>
              <a:rPr sz="2400" dirty="0">
                <a:solidFill>
                  <a:srgbClr val="C00000"/>
                </a:solidFill>
                <a:latin typeface="Calibri"/>
                <a:cs typeface="Calibri"/>
              </a:rPr>
              <a:t>and,</a:t>
            </a:r>
            <a:r>
              <a:rPr sz="2400" spc="-5" dirty="0">
                <a:solidFill>
                  <a:srgbClr val="C00000"/>
                </a:solidFill>
                <a:latin typeface="Calibri"/>
                <a:cs typeface="Calibri"/>
              </a:rPr>
              <a:t> </a:t>
            </a:r>
            <a:r>
              <a:rPr sz="2400" dirty="0">
                <a:solidFill>
                  <a:srgbClr val="C00000"/>
                </a:solidFill>
                <a:latin typeface="Calibri"/>
                <a:cs typeface="Calibri"/>
              </a:rPr>
              <a:t>therefore,</a:t>
            </a:r>
            <a:r>
              <a:rPr sz="2400" spc="-5" dirty="0">
                <a:solidFill>
                  <a:srgbClr val="C00000"/>
                </a:solidFill>
                <a:latin typeface="Calibri"/>
                <a:cs typeface="Calibri"/>
              </a:rPr>
              <a:t> </a:t>
            </a:r>
            <a:r>
              <a:rPr sz="2400" dirty="0">
                <a:solidFill>
                  <a:srgbClr val="C00000"/>
                </a:solidFill>
                <a:latin typeface="Calibri"/>
                <a:cs typeface="Calibri"/>
              </a:rPr>
              <a:t>should</a:t>
            </a:r>
            <a:r>
              <a:rPr sz="2400" spc="-5" dirty="0">
                <a:solidFill>
                  <a:srgbClr val="C00000"/>
                </a:solidFill>
                <a:latin typeface="Calibri"/>
                <a:cs typeface="Calibri"/>
              </a:rPr>
              <a:t> </a:t>
            </a:r>
            <a:r>
              <a:rPr sz="2400" dirty="0">
                <a:solidFill>
                  <a:srgbClr val="C00000"/>
                </a:solidFill>
                <a:latin typeface="Calibri"/>
                <a:cs typeface="Calibri"/>
              </a:rPr>
              <a:t>not</a:t>
            </a:r>
            <a:r>
              <a:rPr sz="2400" spc="-10" dirty="0">
                <a:solidFill>
                  <a:srgbClr val="C00000"/>
                </a:solidFill>
                <a:latin typeface="Calibri"/>
                <a:cs typeface="Calibri"/>
              </a:rPr>
              <a:t> </a:t>
            </a:r>
            <a:r>
              <a:rPr sz="2400" dirty="0">
                <a:solidFill>
                  <a:srgbClr val="C00000"/>
                </a:solidFill>
                <a:latin typeface="Calibri"/>
                <a:cs typeface="Calibri"/>
              </a:rPr>
              <a:t>be</a:t>
            </a:r>
            <a:r>
              <a:rPr sz="2400" spc="-5" dirty="0">
                <a:solidFill>
                  <a:srgbClr val="C00000"/>
                </a:solidFill>
                <a:latin typeface="Calibri"/>
                <a:cs typeface="Calibri"/>
              </a:rPr>
              <a:t> </a:t>
            </a:r>
            <a:r>
              <a:rPr sz="2400" dirty="0">
                <a:solidFill>
                  <a:srgbClr val="C00000"/>
                </a:solidFill>
                <a:latin typeface="Calibri"/>
                <a:cs typeface="Calibri"/>
              </a:rPr>
              <a:t>delayed</a:t>
            </a:r>
            <a:r>
              <a:rPr sz="2400" spc="-10" dirty="0">
                <a:solidFill>
                  <a:srgbClr val="C00000"/>
                </a:solidFill>
                <a:latin typeface="Calibri"/>
                <a:cs typeface="Calibri"/>
              </a:rPr>
              <a:t> </a:t>
            </a:r>
            <a:r>
              <a:rPr sz="2400" spc="-25" dirty="0">
                <a:solidFill>
                  <a:srgbClr val="C00000"/>
                </a:solidFill>
                <a:latin typeface="Calibri"/>
                <a:cs typeface="Calibri"/>
              </a:rPr>
              <a:t>if 	</a:t>
            </a:r>
            <a:r>
              <a:rPr sz="2400" dirty="0">
                <a:solidFill>
                  <a:srgbClr val="C00000"/>
                </a:solidFill>
                <a:latin typeface="Calibri"/>
                <a:cs typeface="Calibri"/>
              </a:rPr>
              <a:t>the</a:t>
            </a:r>
            <a:r>
              <a:rPr sz="2400" spc="40" dirty="0">
                <a:solidFill>
                  <a:srgbClr val="C00000"/>
                </a:solidFill>
                <a:latin typeface="Calibri"/>
                <a:cs typeface="Calibri"/>
              </a:rPr>
              <a:t>  </a:t>
            </a:r>
            <a:r>
              <a:rPr sz="2400" dirty="0">
                <a:solidFill>
                  <a:srgbClr val="C00000"/>
                </a:solidFill>
                <a:latin typeface="Calibri"/>
                <a:cs typeface="Calibri"/>
              </a:rPr>
              <a:t>project</a:t>
            </a:r>
            <a:r>
              <a:rPr sz="2400" spc="35" dirty="0">
                <a:solidFill>
                  <a:srgbClr val="C00000"/>
                </a:solidFill>
                <a:latin typeface="Calibri"/>
                <a:cs typeface="Calibri"/>
              </a:rPr>
              <a:t>  </a:t>
            </a:r>
            <a:r>
              <a:rPr sz="2400" dirty="0">
                <a:solidFill>
                  <a:srgbClr val="C00000"/>
                </a:solidFill>
                <a:latin typeface="Calibri"/>
                <a:cs typeface="Calibri"/>
              </a:rPr>
              <a:t>is</a:t>
            </a:r>
            <a:r>
              <a:rPr sz="2400" spc="35" dirty="0">
                <a:solidFill>
                  <a:srgbClr val="C00000"/>
                </a:solidFill>
                <a:latin typeface="Calibri"/>
                <a:cs typeface="Calibri"/>
              </a:rPr>
              <a:t>  </a:t>
            </a:r>
            <a:r>
              <a:rPr sz="2400" dirty="0">
                <a:solidFill>
                  <a:srgbClr val="C00000"/>
                </a:solidFill>
                <a:latin typeface="Calibri"/>
                <a:cs typeface="Calibri"/>
              </a:rPr>
              <a:t>to</a:t>
            </a:r>
            <a:r>
              <a:rPr sz="2400" spc="35" dirty="0">
                <a:solidFill>
                  <a:srgbClr val="C00000"/>
                </a:solidFill>
                <a:latin typeface="Calibri"/>
                <a:cs typeface="Calibri"/>
              </a:rPr>
              <a:t>  </a:t>
            </a:r>
            <a:r>
              <a:rPr sz="2400" dirty="0">
                <a:solidFill>
                  <a:srgbClr val="C00000"/>
                </a:solidFill>
                <a:latin typeface="Calibri"/>
                <a:cs typeface="Calibri"/>
              </a:rPr>
              <a:t>be</a:t>
            </a:r>
            <a:r>
              <a:rPr sz="2400" spc="40" dirty="0">
                <a:solidFill>
                  <a:srgbClr val="C00000"/>
                </a:solidFill>
                <a:latin typeface="Calibri"/>
                <a:cs typeface="Calibri"/>
              </a:rPr>
              <a:t>  </a:t>
            </a:r>
            <a:r>
              <a:rPr sz="2400" dirty="0">
                <a:solidFill>
                  <a:srgbClr val="C00000"/>
                </a:solidFill>
                <a:latin typeface="Calibri"/>
                <a:cs typeface="Calibri"/>
              </a:rPr>
              <a:t>completed</a:t>
            </a:r>
            <a:r>
              <a:rPr sz="2400" spc="40" dirty="0">
                <a:solidFill>
                  <a:srgbClr val="C00000"/>
                </a:solidFill>
                <a:latin typeface="Calibri"/>
                <a:cs typeface="Calibri"/>
              </a:rPr>
              <a:t>  </a:t>
            </a:r>
            <a:r>
              <a:rPr sz="2400" dirty="0">
                <a:solidFill>
                  <a:srgbClr val="C00000"/>
                </a:solidFill>
                <a:latin typeface="Calibri"/>
                <a:cs typeface="Calibri"/>
              </a:rPr>
              <a:t>as</a:t>
            </a:r>
            <a:r>
              <a:rPr sz="2400" spc="35" dirty="0">
                <a:solidFill>
                  <a:srgbClr val="C00000"/>
                </a:solidFill>
                <a:latin typeface="Calibri"/>
                <a:cs typeface="Calibri"/>
              </a:rPr>
              <a:t>  </a:t>
            </a:r>
            <a:r>
              <a:rPr sz="2400" dirty="0">
                <a:solidFill>
                  <a:srgbClr val="C00000"/>
                </a:solidFill>
                <a:latin typeface="Calibri"/>
                <a:cs typeface="Calibri"/>
              </a:rPr>
              <a:t>planned.</a:t>
            </a:r>
            <a:r>
              <a:rPr sz="2400" spc="35" dirty="0">
                <a:solidFill>
                  <a:srgbClr val="C00000"/>
                </a:solidFill>
                <a:latin typeface="Calibri"/>
                <a:cs typeface="Calibri"/>
              </a:rPr>
              <a:t>  </a:t>
            </a:r>
            <a:r>
              <a:rPr sz="2400" dirty="0">
                <a:solidFill>
                  <a:srgbClr val="C00000"/>
                </a:solidFill>
                <a:latin typeface="Calibri"/>
                <a:cs typeface="Calibri"/>
              </a:rPr>
              <a:t>It</a:t>
            </a:r>
            <a:r>
              <a:rPr sz="2400" spc="40" dirty="0">
                <a:solidFill>
                  <a:srgbClr val="C00000"/>
                </a:solidFill>
                <a:latin typeface="Calibri"/>
                <a:cs typeface="Calibri"/>
              </a:rPr>
              <a:t>  </a:t>
            </a:r>
            <a:r>
              <a:rPr sz="2400" dirty="0">
                <a:solidFill>
                  <a:srgbClr val="C00000"/>
                </a:solidFill>
                <a:latin typeface="Calibri"/>
                <a:cs typeface="Calibri"/>
              </a:rPr>
              <a:t>highlights</a:t>
            </a:r>
            <a:r>
              <a:rPr sz="2400" spc="35" dirty="0">
                <a:solidFill>
                  <a:srgbClr val="C00000"/>
                </a:solidFill>
                <a:latin typeface="Calibri"/>
                <a:cs typeface="Calibri"/>
              </a:rPr>
              <a:t>  </a:t>
            </a:r>
            <a:r>
              <a:rPr sz="2400" dirty="0">
                <a:solidFill>
                  <a:srgbClr val="C00000"/>
                </a:solidFill>
                <a:latin typeface="Calibri"/>
                <a:cs typeface="Calibri"/>
              </a:rPr>
              <a:t>which</a:t>
            </a:r>
            <a:r>
              <a:rPr sz="2400" spc="40" dirty="0">
                <a:solidFill>
                  <a:srgbClr val="C00000"/>
                </a:solidFill>
                <a:latin typeface="Calibri"/>
                <a:cs typeface="Calibri"/>
              </a:rPr>
              <a:t>  </a:t>
            </a:r>
            <a:r>
              <a:rPr sz="2400" dirty="0">
                <a:solidFill>
                  <a:srgbClr val="C00000"/>
                </a:solidFill>
                <a:latin typeface="Calibri"/>
                <a:cs typeface="Calibri"/>
              </a:rPr>
              <a:t>activities</a:t>
            </a:r>
            <a:r>
              <a:rPr sz="2400" spc="35" dirty="0">
                <a:solidFill>
                  <a:srgbClr val="C00000"/>
                </a:solidFill>
                <a:latin typeface="Calibri"/>
                <a:cs typeface="Calibri"/>
              </a:rPr>
              <a:t>  </a:t>
            </a:r>
            <a:r>
              <a:rPr sz="2400" spc="-25" dirty="0">
                <a:solidFill>
                  <a:srgbClr val="C00000"/>
                </a:solidFill>
                <a:latin typeface="Calibri"/>
                <a:cs typeface="Calibri"/>
              </a:rPr>
              <a:t>to 	</a:t>
            </a:r>
            <a:r>
              <a:rPr sz="2400" dirty="0">
                <a:solidFill>
                  <a:srgbClr val="C00000"/>
                </a:solidFill>
                <a:latin typeface="Calibri"/>
                <a:cs typeface="Calibri"/>
              </a:rPr>
              <a:t>consider</a:t>
            </a:r>
            <a:r>
              <a:rPr sz="2400" spc="-50" dirty="0">
                <a:solidFill>
                  <a:srgbClr val="C00000"/>
                </a:solidFill>
                <a:latin typeface="Calibri"/>
                <a:cs typeface="Calibri"/>
              </a:rPr>
              <a:t> </a:t>
            </a:r>
            <a:r>
              <a:rPr sz="2400" dirty="0">
                <a:solidFill>
                  <a:srgbClr val="C00000"/>
                </a:solidFill>
                <a:latin typeface="Calibri"/>
                <a:cs typeface="Calibri"/>
              </a:rPr>
              <a:t>if</a:t>
            </a:r>
            <a:r>
              <a:rPr sz="2400" spc="-45" dirty="0">
                <a:solidFill>
                  <a:srgbClr val="C00000"/>
                </a:solidFill>
                <a:latin typeface="Calibri"/>
                <a:cs typeface="Calibri"/>
              </a:rPr>
              <a:t> </a:t>
            </a:r>
            <a:r>
              <a:rPr sz="2400" dirty="0">
                <a:solidFill>
                  <a:srgbClr val="C00000"/>
                </a:solidFill>
                <a:latin typeface="Calibri"/>
                <a:cs typeface="Calibri"/>
              </a:rPr>
              <a:t>the</a:t>
            </a:r>
            <a:r>
              <a:rPr sz="2400" spc="-40" dirty="0">
                <a:solidFill>
                  <a:srgbClr val="C00000"/>
                </a:solidFill>
                <a:latin typeface="Calibri"/>
                <a:cs typeface="Calibri"/>
              </a:rPr>
              <a:t> </a:t>
            </a:r>
            <a:r>
              <a:rPr sz="2400" dirty="0">
                <a:solidFill>
                  <a:srgbClr val="C00000"/>
                </a:solidFill>
                <a:latin typeface="Calibri"/>
                <a:cs typeface="Calibri"/>
              </a:rPr>
              <a:t>project</a:t>
            </a:r>
            <a:r>
              <a:rPr sz="2400" spc="-50" dirty="0">
                <a:solidFill>
                  <a:srgbClr val="C00000"/>
                </a:solidFill>
                <a:latin typeface="Calibri"/>
                <a:cs typeface="Calibri"/>
              </a:rPr>
              <a:t> </a:t>
            </a:r>
            <a:r>
              <a:rPr sz="2400" dirty="0">
                <a:solidFill>
                  <a:srgbClr val="C00000"/>
                </a:solidFill>
                <a:latin typeface="Calibri"/>
                <a:cs typeface="Calibri"/>
              </a:rPr>
              <a:t>needs</a:t>
            </a:r>
            <a:r>
              <a:rPr sz="2400" spc="-50" dirty="0">
                <a:solidFill>
                  <a:srgbClr val="C00000"/>
                </a:solidFill>
                <a:latin typeface="Calibri"/>
                <a:cs typeface="Calibri"/>
              </a:rPr>
              <a:t> </a:t>
            </a:r>
            <a:r>
              <a:rPr sz="2400" dirty="0">
                <a:solidFill>
                  <a:srgbClr val="C00000"/>
                </a:solidFill>
                <a:latin typeface="Calibri"/>
                <a:cs typeface="Calibri"/>
              </a:rPr>
              <a:t>to</a:t>
            </a:r>
            <a:r>
              <a:rPr sz="2400" spc="-45" dirty="0">
                <a:solidFill>
                  <a:srgbClr val="C00000"/>
                </a:solidFill>
                <a:latin typeface="Calibri"/>
                <a:cs typeface="Calibri"/>
              </a:rPr>
              <a:t> </a:t>
            </a:r>
            <a:r>
              <a:rPr sz="2400" dirty="0">
                <a:solidFill>
                  <a:srgbClr val="C00000"/>
                </a:solidFill>
                <a:latin typeface="Calibri"/>
                <a:cs typeface="Calibri"/>
              </a:rPr>
              <a:t>be</a:t>
            </a:r>
            <a:r>
              <a:rPr sz="2400" spc="-45" dirty="0">
                <a:solidFill>
                  <a:srgbClr val="C00000"/>
                </a:solidFill>
                <a:latin typeface="Calibri"/>
                <a:cs typeface="Calibri"/>
              </a:rPr>
              <a:t> </a:t>
            </a:r>
            <a:r>
              <a:rPr sz="2400" spc="-10" dirty="0">
                <a:solidFill>
                  <a:srgbClr val="C00000"/>
                </a:solidFill>
                <a:latin typeface="Calibri"/>
                <a:cs typeface="Calibri"/>
              </a:rPr>
              <a:t>compressed</a:t>
            </a:r>
            <a:r>
              <a:rPr sz="2400" spc="-45" dirty="0">
                <a:solidFill>
                  <a:srgbClr val="C00000"/>
                </a:solidFill>
                <a:latin typeface="Calibri"/>
                <a:cs typeface="Calibri"/>
              </a:rPr>
              <a:t> </a:t>
            </a:r>
            <a:r>
              <a:rPr sz="2400" dirty="0">
                <a:solidFill>
                  <a:srgbClr val="C00000"/>
                </a:solidFill>
                <a:latin typeface="Calibri"/>
                <a:cs typeface="Calibri"/>
              </a:rPr>
              <a:t>to</a:t>
            </a:r>
            <a:r>
              <a:rPr sz="2400" spc="-45" dirty="0">
                <a:solidFill>
                  <a:srgbClr val="C00000"/>
                </a:solidFill>
                <a:latin typeface="Calibri"/>
                <a:cs typeface="Calibri"/>
              </a:rPr>
              <a:t> </a:t>
            </a:r>
            <a:r>
              <a:rPr sz="2400" dirty="0">
                <a:solidFill>
                  <a:srgbClr val="C00000"/>
                </a:solidFill>
                <a:latin typeface="Calibri"/>
                <a:cs typeface="Calibri"/>
              </a:rPr>
              <a:t>meet</a:t>
            </a:r>
            <a:r>
              <a:rPr sz="2400" spc="-55" dirty="0">
                <a:solidFill>
                  <a:srgbClr val="C00000"/>
                </a:solidFill>
                <a:latin typeface="Calibri"/>
                <a:cs typeface="Calibri"/>
              </a:rPr>
              <a:t> </a:t>
            </a:r>
            <a:r>
              <a:rPr sz="2400" dirty="0">
                <a:solidFill>
                  <a:srgbClr val="C00000"/>
                </a:solidFill>
                <a:latin typeface="Calibri"/>
                <a:cs typeface="Calibri"/>
              </a:rPr>
              <a:t>a</a:t>
            </a:r>
            <a:r>
              <a:rPr sz="2400" spc="-40" dirty="0">
                <a:solidFill>
                  <a:srgbClr val="C00000"/>
                </a:solidFill>
                <a:latin typeface="Calibri"/>
                <a:cs typeface="Calibri"/>
              </a:rPr>
              <a:t> </a:t>
            </a:r>
            <a:r>
              <a:rPr sz="2400" spc="-10" dirty="0">
                <a:solidFill>
                  <a:srgbClr val="C00000"/>
                </a:solidFill>
                <a:latin typeface="Calibri"/>
                <a:cs typeface="Calibri"/>
              </a:rPr>
              <a:t>deadline.</a:t>
            </a:r>
            <a:endParaRPr sz="2400" dirty="0">
              <a:latin typeface="Calibri"/>
              <a:cs typeface="Calibri"/>
            </a:endParaRPr>
          </a:p>
        </p:txBody>
      </p:sp>
      <p:sp>
        <p:nvSpPr>
          <p:cNvPr id="4" name="object 4"/>
          <p:cNvSpPr txBox="1"/>
          <p:nvPr/>
        </p:nvSpPr>
        <p:spPr>
          <a:xfrm>
            <a:off x="11816993" y="6421628"/>
            <a:ext cx="102870" cy="208279"/>
          </a:xfrm>
          <a:prstGeom prst="rect">
            <a:avLst/>
          </a:prstGeom>
        </p:spPr>
        <p:txBody>
          <a:bodyPr vert="horz" wrap="square" lIns="0" tIns="12700" rIns="0" bIns="0" rtlCol="0">
            <a:spAutoFit/>
          </a:bodyPr>
          <a:lstStyle/>
          <a:p>
            <a:pPr marL="12700">
              <a:lnSpc>
                <a:spcPct val="100000"/>
              </a:lnSpc>
              <a:spcBef>
                <a:spcPts val="100"/>
              </a:spcBef>
            </a:pPr>
            <a:r>
              <a:rPr sz="1200" b="1" spc="-50" dirty="0">
                <a:solidFill>
                  <a:srgbClr val="898989"/>
                </a:solidFill>
                <a:latin typeface="Calibri"/>
                <a:cs typeface="Calibri"/>
              </a:rPr>
              <a:t>3</a:t>
            </a:r>
            <a:endParaRPr sz="1200">
              <a:latin typeface="Calibri"/>
              <a:cs typeface="Calibri"/>
            </a:endParaRPr>
          </a:p>
        </p:txBody>
      </p:sp>
      <p:pic>
        <p:nvPicPr>
          <p:cNvPr id="5" name="Picture 4">
            <a:extLst>
              <a:ext uri="{FF2B5EF4-FFF2-40B4-BE49-F238E27FC236}">
                <a16:creationId xmlns:a16="http://schemas.microsoft.com/office/drawing/2014/main" id="{3813B721-9DAC-CBD9-EDF0-F7C6AECA365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6063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2133676" y="1701092"/>
            <a:ext cx="7455763" cy="72357"/>
          </a:xfrm>
          <a:prstGeom prst="rect">
            <a:avLst/>
          </a:prstGeom>
        </p:spPr>
      </p:pic>
      <p:sp>
        <p:nvSpPr>
          <p:cNvPr id="3" name="object 3"/>
          <p:cNvSpPr txBox="1">
            <a:spLocks noGrp="1"/>
          </p:cNvSpPr>
          <p:nvPr>
            <p:ph type="title"/>
          </p:nvPr>
        </p:nvSpPr>
        <p:spPr>
          <a:xfrm>
            <a:off x="381000" y="695270"/>
            <a:ext cx="10171163" cy="673940"/>
          </a:xfrm>
          <a:prstGeom prst="rect">
            <a:avLst/>
          </a:prstGeom>
        </p:spPr>
        <p:txBody>
          <a:bodyPr vert="horz" wrap="square" lIns="0" tIns="12102" rIns="0" bIns="0" rtlCol="0">
            <a:spAutoFit/>
          </a:bodyPr>
          <a:lstStyle/>
          <a:p>
            <a:pPr marL="13832">
              <a:spcBef>
                <a:spcPts val="95"/>
              </a:spcBef>
            </a:pPr>
            <a:r>
              <a:rPr spc="110" dirty="0"/>
              <a:t>From</a:t>
            </a:r>
            <a:r>
              <a:rPr sz="3540" dirty="0">
                <a:latin typeface="Trebuchet MS"/>
                <a:cs typeface="Trebuchet MS"/>
              </a:rPr>
              <a:t> </a:t>
            </a:r>
            <a:r>
              <a:rPr spc="110" dirty="0"/>
              <a:t>Work Package to Network</a:t>
            </a:r>
          </a:p>
        </p:txBody>
      </p:sp>
      <p:sp>
        <p:nvSpPr>
          <p:cNvPr id="7" name="object 7"/>
          <p:cNvSpPr txBox="1">
            <a:spLocks noGrp="1"/>
          </p:cNvSpPr>
          <p:nvPr>
            <p:ph type="sldNum" sz="quarter" idx="7"/>
          </p:nvPr>
        </p:nvSpPr>
        <p:spPr>
          <a:xfrm>
            <a:off x="13118081" y="5834650"/>
            <a:ext cx="221876" cy="190485"/>
          </a:xfrm>
          <a:prstGeom prst="rect">
            <a:avLst/>
          </a:prstGeom>
        </p:spPr>
        <p:txBody>
          <a:bodyPr vert="horz" wrap="square" lIns="0" tIns="5763" rIns="0" bIns="0" rtlCol="0">
            <a:spAutoFit/>
          </a:bodyPr>
          <a:lstStyle/>
          <a:p>
            <a:pPr marL="91060">
              <a:spcBef>
                <a:spcPts val="45"/>
              </a:spcBef>
            </a:pPr>
            <a:fld id="{81D60167-4931-47E6-BA6A-407CBD079E47}" type="slidenum">
              <a:rPr spc="-23" dirty="0"/>
              <a:pPr marL="91060">
                <a:spcBef>
                  <a:spcPts val="45"/>
                </a:spcBef>
              </a:pPr>
              <a:t>4</a:t>
            </a:fld>
            <a:endParaRPr spc="-23" dirty="0"/>
          </a:p>
        </p:txBody>
      </p:sp>
      <p:sp>
        <p:nvSpPr>
          <p:cNvPr id="4" name="object 4"/>
          <p:cNvSpPr txBox="1"/>
          <p:nvPr/>
        </p:nvSpPr>
        <p:spPr>
          <a:xfrm>
            <a:off x="84945" y="1701092"/>
            <a:ext cx="9363855" cy="5195973"/>
          </a:xfrm>
          <a:prstGeom prst="rect">
            <a:avLst/>
          </a:prstGeom>
        </p:spPr>
        <p:txBody>
          <a:bodyPr vert="horz" wrap="square" lIns="0" tIns="175196" rIns="0" bIns="0" rtlCol="0">
            <a:spAutoFit/>
          </a:bodyPr>
          <a:lstStyle/>
          <a:p>
            <a:pPr marL="11527">
              <a:spcBef>
                <a:spcPts val="1380"/>
              </a:spcBef>
            </a:pPr>
            <a:r>
              <a:rPr sz="2814" dirty="0">
                <a:solidFill>
                  <a:srgbClr val="BF0001"/>
                </a:solidFill>
                <a:latin typeface="Arial MT"/>
                <a:cs typeface="Arial MT"/>
              </a:rPr>
              <a:t>Difference</a:t>
            </a:r>
            <a:r>
              <a:rPr sz="2814" spc="50" dirty="0">
                <a:solidFill>
                  <a:srgbClr val="BF0001"/>
                </a:solidFill>
                <a:latin typeface="Arial MT"/>
                <a:cs typeface="Arial MT"/>
              </a:rPr>
              <a:t> </a:t>
            </a:r>
            <a:r>
              <a:rPr sz="2814" dirty="0">
                <a:solidFill>
                  <a:srgbClr val="C40000"/>
                </a:solidFill>
                <a:latin typeface="Arial MT"/>
                <a:cs typeface="Arial MT"/>
              </a:rPr>
              <a:t>between</a:t>
            </a:r>
            <a:r>
              <a:rPr sz="2814" spc="-23" dirty="0">
                <a:solidFill>
                  <a:srgbClr val="C40000"/>
                </a:solidFill>
                <a:latin typeface="Arial MT"/>
                <a:cs typeface="Arial MT"/>
              </a:rPr>
              <a:t> </a:t>
            </a:r>
            <a:r>
              <a:rPr sz="2814" spc="-68" dirty="0">
                <a:solidFill>
                  <a:srgbClr val="C80000"/>
                </a:solidFill>
                <a:latin typeface="Arial MT"/>
                <a:cs typeface="Arial MT"/>
              </a:rPr>
              <a:t>WBS</a:t>
            </a:r>
            <a:r>
              <a:rPr sz="2814" spc="-91" dirty="0">
                <a:solidFill>
                  <a:srgbClr val="C80000"/>
                </a:solidFill>
                <a:latin typeface="Arial MT"/>
                <a:cs typeface="Arial MT"/>
              </a:rPr>
              <a:t> </a:t>
            </a:r>
            <a:r>
              <a:rPr sz="2814" dirty="0">
                <a:solidFill>
                  <a:srgbClr val="BD0100"/>
                </a:solidFill>
                <a:latin typeface="Arial MT"/>
                <a:cs typeface="Arial MT"/>
              </a:rPr>
              <a:t>and</a:t>
            </a:r>
            <a:r>
              <a:rPr sz="2814" spc="-150" dirty="0">
                <a:solidFill>
                  <a:srgbClr val="BD0100"/>
                </a:solidFill>
                <a:latin typeface="Arial MT"/>
                <a:cs typeface="Arial MT"/>
              </a:rPr>
              <a:t> </a:t>
            </a:r>
            <a:r>
              <a:rPr sz="2814" dirty="0">
                <a:solidFill>
                  <a:srgbClr val="C60003"/>
                </a:solidFill>
                <a:latin typeface="Arial MT"/>
                <a:cs typeface="Arial MT"/>
              </a:rPr>
              <a:t>Proiect</a:t>
            </a:r>
            <a:r>
              <a:rPr sz="2814" spc="36" dirty="0">
                <a:solidFill>
                  <a:srgbClr val="C60003"/>
                </a:solidFill>
                <a:latin typeface="Arial MT"/>
                <a:cs typeface="Arial MT"/>
              </a:rPr>
              <a:t> </a:t>
            </a:r>
            <a:r>
              <a:rPr sz="2814" spc="-9" dirty="0">
                <a:solidFill>
                  <a:srgbClr val="BD0003"/>
                </a:solidFill>
                <a:latin typeface="Arial MT"/>
                <a:cs typeface="Arial MT"/>
              </a:rPr>
              <a:t>Network:</a:t>
            </a:r>
            <a:endParaRPr sz="2814" dirty="0">
              <a:latin typeface="Arial MT"/>
              <a:cs typeface="Arial MT"/>
            </a:endParaRPr>
          </a:p>
          <a:p>
            <a:pPr marL="229377" indent="-214969">
              <a:spcBef>
                <a:spcPts val="1089"/>
              </a:spcBef>
              <a:buChar char="•"/>
              <a:tabLst>
                <a:tab pos="229377" algn="l"/>
              </a:tabLst>
            </a:pPr>
            <a:r>
              <a:rPr sz="2314" dirty="0">
                <a:solidFill>
                  <a:srgbClr val="FD0100"/>
                </a:solidFill>
                <a:latin typeface="Arial MT"/>
                <a:cs typeface="Arial MT"/>
              </a:rPr>
              <a:t>WBS</a:t>
            </a:r>
            <a:r>
              <a:rPr sz="2314" spc="50" dirty="0">
                <a:solidFill>
                  <a:srgbClr val="FD0100"/>
                </a:solidFill>
                <a:latin typeface="Arial MT"/>
                <a:cs typeface="Arial MT"/>
              </a:rPr>
              <a:t> </a:t>
            </a:r>
            <a:r>
              <a:rPr sz="2314" dirty="0">
                <a:latin typeface="Arial MT"/>
                <a:cs typeface="Arial MT"/>
              </a:rPr>
              <a:t>is</a:t>
            </a:r>
            <a:r>
              <a:rPr sz="2314" spc="23" dirty="0">
                <a:latin typeface="Arial MT"/>
                <a:cs typeface="Arial MT"/>
              </a:rPr>
              <a:t> </a:t>
            </a:r>
            <a:r>
              <a:rPr sz="2314" spc="41" dirty="0">
                <a:latin typeface="Arial MT"/>
                <a:cs typeface="Arial MT"/>
              </a:rPr>
              <a:t>hierarchical,</a:t>
            </a:r>
            <a:r>
              <a:rPr sz="2314" spc="231" dirty="0">
                <a:latin typeface="Arial MT"/>
                <a:cs typeface="Arial MT"/>
              </a:rPr>
              <a:t> </a:t>
            </a:r>
            <a:r>
              <a:rPr sz="2314" u="heavy" spc="59" dirty="0">
                <a:uFill>
                  <a:solidFill>
                    <a:srgbClr val="000000"/>
                  </a:solidFill>
                </a:uFill>
                <a:latin typeface="Arial MT"/>
                <a:cs typeface="Arial MT"/>
              </a:rPr>
              <a:t>while</a:t>
            </a:r>
            <a:r>
              <a:rPr sz="2314" spc="18" dirty="0">
                <a:latin typeface="Arial MT"/>
                <a:cs typeface="Arial MT"/>
              </a:rPr>
              <a:t> </a:t>
            </a:r>
            <a:r>
              <a:rPr sz="2314" spc="64" dirty="0">
                <a:solidFill>
                  <a:srgbClr val="FB0103"/>
                </a:solidFill>
                <a:latin typeface="Arial MT"/>
                <a:cs typeface="Arial MT"/>
              </a:rPr>
              <a:t>project</a:t>
            </a:r>
            <a:r>
              <a:rPr sz="2314" spc="127" dirty="0">
                <a:solidFill>
                  <a:srgbClr val="FB0103"/>
                </a:solidFill>
                <a:latin typeface="Arial MT"/>
                <a:cs typeface="Arial MT"/>
              </a:rPr>
              <a:t> </a:t>
            </a:r>
            <a:r>
              <a:rPr sz="2314" spc="54" dirty="0">
                <a:solidFill>
                  <a:srgbClr val="FD0000"/>
                </a:solidFill>
                <a:latin typeface="Arial MT"/>
                <a:cs typeface="Arial MT"/>
              </a:rPr>
              <a:t>network</a:t>
            </a:r>
            <a:r>
              <a:rPr sz="2314" spc="145" dirty="0">
                <a:solidFill>
                  <a:srgbClr val="FD0000"/>
                </a:solidFill>
                <a:latin typeface="Arial MT"/>
                <a:cs typeface="Arial MT"/>
              </a:rPr>
              <a:t> </a:t>
            </a:r>
            <a:r>
              <a:rPr sz="2314" dirty="0">
                <a:latin typeface="Arial MT"/>
                <a:cs typeface="Arial MT"/>
              </a:rPr>
              <a:t>is</a:t>
            </a:r>
            <a:r>
              <a:rPr sz="2314" spc="9" dirty="0">
                <a:latin typeface="Arial MT"/>
                <a:cs typeface="Arial MT"/>
              </a:rPr>
              <a:t> </a:t>
            </a:r>
            <a:r>
              <a:rPr sz="2314" spc="-9" dirty="0">
                <a:solidFill>
                  <a:srgbClr val="0001DB"/>
                </a:solidFill>
                <a:latin typeface="Arial MT"/>
                <a:cs typeface="Arial MT"/>
              </a:rPr>
              <a:t>sequential.</a:t>
            </a:r>
            <a:endParaRPr sz="2314" dirty="0">
              <a:latin typeface="Arial MT"/>
              <a:cs typeface="Arial MT"/>
            </a:endParaRPr>
          </a:p>
          <a:p>
            <a:pPr marL="227072" marR="4611" indent="-214969">
              <a:lnSpc>
                <a:spcPts val="2714"/>
              </a:lnSpc>
              <a:spcBef>
                <a:spcPts val="1239"/>
              </a:spcBef>
              <a:buChar char="•"/>
              <a:tabLst>
                <a:tab pos="227072" algn="l"/>
                <a:tab pos="228801" algn="l"/>
              </a:tabLst>
            </a:pPr>
            <a:r>
              <a:rPr sz="2269" dirty="0">
                <a:solidFill>
                  <a:srgbClr val="FB0103"/>
                </a:solidFill>
                <a:latin typeface="Arial MT"/>
                <a:cs typeface="Arial MT"/>
              </a:rPr>
              <a:t>	</a:t>
            </a:r>
            <a:r>
              <a:rPr sz="2269" spc="68" dirty="0">
                <a:solidFill>
                  <a:srgbClr val="FD0000"/>
                </a:solidFill>
                <a:latin typeface="Arial MT"/>
                <a:cs typeface="Arial MT"/>
              </a:rPr>
              <a:t>Network</a:t>
            </a:r>
            <a:r>
              <a:rPr sz="2269" spc="213" dirty="0">
                <a:solidFill>
                  <a:srgbClr val="FD0000"/>
                </a:solidFill>
                <a:latin typeface="Arial MT"/>
                <a:cs typeface="Arial MT"/>
              </a:rPr>
              <a:t> </a:t>
            </a:r>
            <a:r>
              <a:rPr lang="en-US" sz="2269" u="heavy" spc="73" dirty="0">
                <a:solidFill>
                  <a:srgbClr val="03AC4F"/>
                </a:solidFill>
                <a:uFill>
                  <a:solidFill>
                    <a:srgbClr val="08A854"/>
                  </a:solidFill>
                </a:uFill>
                <a:latin typeface="Arial MT"/>
                <a:cs typeface="Arial MT"/>
              </a:rPr>
              <a:t>p</a:t>
            </a:r>
            <a:r>
              <a:rPr sz="2269" u="heavy" spc="73" dirty="0">
                <a:solidFill>
                  <a:srgbClr val="03AC4F"/>
                </a:solidFill>
                <a:uFill>
                  <a:solidFill>
                    <a:srgbClr val="08A854"/>
                  </a:solidFill>
                </a:uFill>
                <a:latin typeface="Arial MT"/>
                <a:cs typeface="Arial MT"/>
              </a:rPr>
              <a:t>rovides</a:t>
            </a:r>
            <a:r>
              <a:rPr sz="2269" spc="182" dirty="0">
                <a:solidFill>
                  <a:srgbClr val="03AC4F"/>
                </a:solidFill>
                <a:latin typeface="Arial MT"/>
                <a:cs typeface="Arial MT"/>
              </a:rPr>
              <a:t> </a:t>
            </a:r>
            <a:r>
              <a:rPr sz="2269" dirty="0">
                <a:latin typeface="Arial MT"/>
                <a:cs typeface="Arial MT"/>
              </a:rPr>
              <a:t>a</a:t>
            </a:r>
            <a:r>
              <a:rPr sz="2269" spc="68" dirty="0">
                <a:latin typeface="Arial MT"/>
                <a:cs typeface="Arial MT"/>
              </a:rPr>
              <a:t> </a:t>
            </a:r>
            <a:r>
              <a:rPr sz="2269" spc="82" dirty="0">
                <a:solidFill>
                  <a:srgbClr val="0003C8"/>
                </a:solidFill>
                <a:latin typeface="Arial MT"/>
                <a:cs typeface="Arial MT"/>
              </a:rPr>
              <a:t>project</a:t>
            </a:r>
            <a:r>
              <a:rPr sz="2269" spc="132" dirty="0">
                <a:solidFill>
                  <a:srgbClr val="0003C8"/>
                </a:solidFill>
                <a:latin typeface="Arial MT"/>
                <a:cs typeface="Arial MT"/>
              </a:rPr>
              <a:t> </a:t>
            </a:r>
            <a:r>
              <a:rPr sz="2269" spc="64" dirty="0">
                <a:solidFill>
                  <a:srgbClr val="0003D4"/>
                </a:solidFill>
                <a:latin typeface="Arial MT"/>
                <a:cs typeface="Arial MT"/>
              </a:rPr>
              <a:t>schedule</a:t>
            </a:r>
            <a:r>
              <a:rPr sz="2269" spc="32" dirty="0">
                <a:solidFill>
                  <a:srgbClr val="0003D4"/>
                </a:solidFill>
                <a:latin typeface="Arial MT"/>
                <a:cs typeface="Arial MT"/>
              </a:rPr>
              <a:t> </a:t>
            </a:r>
            <a:r>
              <a:rPr sz="2269" spc="-318" dirty="0">
                <a:solidFill>
                  <a:srgbClr val="08AE4F"/>
                </a:solidFill>
                <a:latin typeface="Arial MT"/>
                <a:cs typeface="Arial MT"/>
              </a:rPr>
              <a:t>by</a:t>
            </a:r>
            <a:r>
              <a:rPr sz="2269" spc="95" dirty="0">
                <a:solidFill>
                  <a:srgbClr val="08AE4F"/>
                </a:solidFill>
                <a:latin typeface="Arial MT"/>
                <a:cs typeface="Arial MT"/>
              </a:rPr>
              <a:t> </a:t>
            </a:r>
            <a:r>
              <a:rPr sz="2269" spc="77" dirty="0">
                <a:solidFill>
                  <a:srgbClr val="01B34F"/>
                </a:solidFill>
                <a:latin typeface="Arial MT"/>
                <a:cs typeface="Arial MT"/>
              </a:rPr>
              <a:t>identifying </a:t>
            </a:r>
            <a:r>
              <a:rPr sz="2269" spc="68" dirty="0">
                <a:solidFill>
                  <a:srgbClr val="0000D1"/>
                </a:solidFill>
                <a:latin typeface="Arial MT"/>
                <a:cs typeface="Arial MT"/>
              </a:rPr>
              <a:t>sequential</a:t>
            </a:r>
            <a:r>
              <a:rPr sz="2269" spc="163" dirty="0">
                <a:solidFill>
                  <a:srgbClr val="0000D1"/>
                </a:solidFill>
                <a:latin typeface="Arial MT"/>
                <a:cs typeface="Arial MT"/>
              </a:rPr>
              <a:t> </a:t>
            </a:r>
            <a:r>
              <a:rPr sz="2269" spc="54" dirty="0">
                <a:solidFill>
                  <a:srgbClr val="0001C6"/>
                </a:solidFill>
                <a:latin typeface="Arial MT"/>
                <a:cs typeface="Arial MT"/>
              </a:rPr>
              <a:t>dependencies</a:t>
            </a:r>
            <a:r>
              <a:rPr sz="2269" spc="245" dirty="0">
                <a:solidFill>
                  <a:srgbClr val="0001C6"/>
                </a:solidFill>
                <a:latin typeface="Arial MT"/>
                <a:cs typeface="Arial MT"/>
              </a:rPr>
              <a:t> </a:t>
            </a:r>
            <a:r>
              <a:rPr sz="2269" u="heavy" spc="59" dirty="0">
                <a:uFill>
                  <a:solidFill>
                    <a:srgbClr val="000000"/>
                  </a:solidFill>
                </a:uFill>
                <a:latin typeface="Arial MT"/>
                <a:cs typeface="Arial MT"/>
              </a:rPr>
              <a:t>and</a:t>
            </a:r>
            <a:r>
              <a:rPr sz="2269" spc="5" dirty="0">
                <a:latin typeface="Arial MT"/>
                <a:cs typeface="Arial MT"/>
              </a:rPr>
              <a:t> </a:t>
            </a:r>
            <a:r>
              <a:rPr sz="2269" spc="113" dirty="0">
                <a:solidFill>
                  <a:srgbClr val="0101BF"/>
                </a:solidFill>
                <a:latin typeface="Arial MT"/>
                <a:cs typeface="Arial MT"/>
              </a:rPr>
              <a:t>timing</a:t>
            </a:r>
            <a:r>
              <a:rPr sz="2269" spc="9" dirty="0">
                <a:solidFill>
                  <a:srgbClr val="0101BF"/>
                </a:solidFill>
                <a:latin typeface="Arial MT"/>
                <a:cs typeface="Arial MT"/>
              </a:rPr>
              <a:t> </a:t>
            </a:r>
            <a:r>
              <a:rPr sz="2269" dirty="0">
                <a:latin typeface="Arial MT"/>
                <a:cs typeface="Arial MT"/>
              </a:rPr>
              <a:t>of</a:t>
            </a:r>
            <a:r>
              <a:rPr sz="2269" spc="64" dirty="0">
                <a:latin typeface="Arial MT"/>
                <a:cs typeface="Arial MT"/>
              </a:rPr>
              <a:t> </a:t>
            </a:r>
            <a:r>
              <a:rPr sz="2269" dirty="0">
                <a:latin typeface="Arial MT"/>
                <a:cs typeface="Arial MT"/>
              </a:rPr>
              <a:t>project</a:t>
            </a:r>
            <a:r>
              <a:rPr sz="2269" spc="123" dirty="0">
                <a:latin typeface="Arial MT"/>
                <a:cs typeface="Arial MT"/>
              </a:rPr>
              <a:t> </a:t>
            </a:r>
            <a:r>
              <a:rPr sz="2269" spc="77" dirty="0">
                <a:solidFill>
                  <a:srgbClr val="0000D1"/>
                </a:solidFill>
                <a:latin typeface="Arial MT"/>
                <a:cs typeface="Arial MT"/>
              </a:rPr>
              <a:t>activities.</a:t>
            </a:r>
            <a:r>
              <a:rPr sz="2269" spc="145" dirty="0">
                <a:solidFill>
                  <a:srgbClr val="0000D1"/>
                </a:solidFill>
                <a:latin typeface="Arial MT"/>
                <a:cs typeface="Arial MT"/>
              </a:rPr>
              <a:t> </a:t>
            </a:r>
            <a:endParaRPr sz="2269" dirty="0">
              <a:latin typeface="Arial MT"/>
              <a:cs typeface="Arial MT"/>
            </a:endParaRPr>
          </a:p>
          <a:p>
            <a:pPr marL="229377" marR="817807" indent="-217275">
              <a:lnSpc>
                <a:spcPct val="100400"/>
              </a:lnSpc>
              <a:spcBef>
                <a:spcPts val="1076"/>
              </a:spcBef>
              <a:buClr>
                <a:srgbClr val="F70300"/>
              </a:buClr>
              <a:buChar char="•"/>
              <a:tabLst>
                <a:tab pos="232258" algn="l"/>
              </a:tabLst>
            </a:pPr>
            <a:r>
              <a:rPr sz="2269" dirty="0">
                <a:solidFill>
                  <a:srgbClr val="FD0000"/>
                </a:solidFill>
                <a:latin typeface="Arial MT"/>
                <a:cs typeface="Arial MT"/>
              </a:rPr>
              <a:t>WBS</a:t>
            </a:r>
            <a:r>
              <a:rPr sz="2269" spc="68" dirty="0">
                <a:solidFill>
                  <a:srgbClr val="FD0000"/>
                </a:solidFill>
                <a:latin typeface="Arial MT"/>
                <a:cs typeface="Arial MT"/>
              </a:rPr>
              <a:t> </a:t>
            </a:r>
            <a:r>
              <a:rPr sz="2269" dirty="0">
                <a:latin typeface="Arial MT"/>
                <a:cs typeface="Arial MT"/>
              </a:rPr>
              <a:t>is</a:t>
            </a:r>
            <a:r>
              <a:rPr sz="2269" spc="18" dirty="0">
                <a:latin typeface="Arial MT"/>
                <a:cs typeface="Arial MT"/>
              </a:rPr>
              <a:t> </a:t>
            </a:r>
            <a:r>
              <a:rPr sz="2269" dirty="0">
                <a:latin typeface="Arial MT"/>
                <a:cs typeface="Arial MT"/>
              </a:rPr>
              <a:t>used</a:t>
            </a:r>
            <a:r>
              <a:rPr sz="2269" spc="77" dirty="0">
                <a:latin typeface="Arial MT"/>
                <a:cs typeface="Arial MT"/>
              </a:rPr>
              <a:t> </a:t>
            </a:r>
            <a:r>
              <a:rPr sz="2269" dirty="0">
                <a:latin typeface="Arial MT"/>
                <a:cs typeface="Arial MT"/>
              </a:rPr>
              <a:t>to</a:t>
            </a:r>
            <a:r>
              <a:rPr sz="2269" spc="27" dirty="0">
                <a:latin typeface="Arial MT"/>
                <a:cs typeface="Arial MT"/>
              </a:rPr>
              <a:t> </a:t>
            </a:r>
            <a:r>
              <a:rPr sz="2269" u="heavy" spc="86" dirty="0">
                <a:solidFill>
                  <a:srgbClr val="01B34F"/>
                </a:solidFill>
                <a:uFill>
                  <a:solidFill>
                    <a:srgbClr val="034F60"/>
                  </a:solidFill>
                </a:uFill>
                <a:latin typeface="Arial MT"/>
                <a:cs typeface="Arial MT"/>
              </a:rPr>
              <a:t>identifv</a:t>
            </a:r>
            <a:r>
              <a:rPr sz="2269" spc="109" dirty="0">
                <a:solidFill>
                  <a:srgbClr val="01B34F"/>
                </a:solidFill>
                <a:latin typeface="Arial MT"/>
                <a:cs typeface="Arial MT"/>
              </a:rPr>
              <a:t> </a:t>
            </a:r>
            <a:r>
              <a:rPr sz="2269" u="heavy" spc="45" dirty="0">
                <a:solidFill>
                  <a:srgbClr val="0101C4"/>
                </a:solidFill>
                <a:uFill>
                  <a:solidFill>
                    <a:srgbClr val="034F60"/>
                  </a:solidFill>
                </a:uFill>
                <a:latin typeface="Arial MT"/>
                <a:cs typeface="Arial MT"/>
              </a:rPr>
              <a:t>each</a:t>
            </a:r>
            <a:r>
              <a:rPr sz="2269" spc="68" dirty="0">
                <a:solidFill>
                  <a:srgbClr val="0101C4"/>
                </a:solidFill>
                <a:latin typeface="Arial MT"/>
                <a:cs typeface="Arial MT"/>
              </a:rPr>
              <a:t> </a:t>
            </a:r>
            <a:r>
              <a:rPr sz="2269" spc="82" dirty="0">
                <a:solidFill>
                  <a:srgbClr val="0003C3"/>
                </a:solidFill>
                <a:latin typeface="Arial MT"/>
                <a:cs typeface="Arial MT"/>
              </a:rPr>
              <a:t>project</a:t>
            </a:r>
            <a:r>
              <a:rPr sz="2269" spc="136" dirty="0">
                <a:solidFill>
                  <a:srgbClr val="0003C3"/>
                </a:solidFill>
                <a:latin typeface="Arial MT"/>
                <a:cs typeface="Arial MT"/>
              </a:rPr>
              <a:t> </a:t>
            </a:r>
            <a:r>
              <a:rPr sz="2269" spc="54" dirty="0">
                <a:solidFill>
                  <a:srgbClr val="0001CD"/>
                </a:solidFill>
                <a:latin typeface="Arial MT"/>
                <a:cs typeface="Arial MT"/>
              </a:rPr>
              <a:t>deliverable</a:t>
            </a:r>
            <a:r>
              <a:rPr sz="2269" spc="185" dirty="0">
                <a:solidFill>
                  <a:srgbClr val="0001CD"/>
                </a:solidFill>
                <a:latin typeface="Arial MT"/>
                <a:cs typeface="Arial MT"/>
              </a:rPr>
              <a:t> </a:t>
            </a:r>
            <a:r>
              <a:rPr sz="2269" u="heavy" spc="45" dirty="0">
                <a:uFill>
                  <a:solidFill>
                    <a:srgbClr val="034F60"/>
                  </a:solidFill>
                </a:uFill>
                <a:latin typeface="Arial MT"/>
                <a:cs typeface="Arial MT"/>
              </a:rPr>
              <a:t>and</a:t>
            </a:r>
            <a:r>
              <a:rPr sz="2269" spc="45" dirty="0">
                <a:latin typeface="Arial MT"/>
                <a:cs typeface="Arial MT"/>
              </a:rPr>
              <a:t> 	</a:t>
            </a:r>
            <a:r>
              <a:rPr sz="2269" spc="64" dirty="0">
                <a:solidFill>
                  <a:srgbClr val="0103CF"/>
                </a:solidFill>
                <a:latin typeface="Arial MT"/>
                <a:cs typeface="Arial MT"/>
              </a:rPr>
              <a:t>organization</a:t>
            </a:r>
            <a:r>
              <a:rPr sz="2269" spc="227" dirty="0">
                <a:solidFill>
                  <a:srgbClr val="0103CF"/>
                </a:solidFill>
                <a:latin typeface="Arial MT"/>
                <a:cs typeface="Arial MT"/>
              </a:rPr>
              <a:t> </a:t>
            </a:r>
            <a:r>
              <a:rPr sz="2269" spc="103" dirty="0">
                <a:solidFill>
                  <a:srgbClr val="0005BF"/>
                </a:solidFill>
                <a:latin typeface="Arial MT"/>
                <a:cs typeface="Arial MT"/>
              </a:rPr>
              <a:t>unit</a:t>
            </a:r>
            <a:r>
              <a:rPr sz="2269" spc="68" dirty="0">
                <a:solidFill>
                  <a:srgbClr val="0005BF"/>
                </a:solidFill>
                <a:latin typeface="Arial MT"/>
                <a:cs typeface="Arial MT"/>
              </a:rPr>
              <a:t> </a:t>
            </a:r>
            <a:r>
              <a:rPr sz="2269" u="heavy" spc="77" dirty="0">
                <a:solidFill>
                  <a:srgbClr val="07AC4F"/>
                </a:solidFill>
                <a:uFill>
                  <a:solidFill>
                    <a:srgbClr val="03A84F"/>
                  </a:solidFill>
                </a:uFill>
                <a:latin typeface="Arial MT"/>
                <a:cs typeface="Arial MT"/>
              </a:rPr>
              <a:t>res</a:t>
            </a:r>
            <a:r>
              <a:rPr lang="en-US" sz="2269" u="heavy" spc="77" dirty="0">
                <a:solidFill>
                  <a:srgbClr val="07AC4F"/>
                </a:solidFill>
                <a:uFill>
                  <a:solidFill>
                    <a:srgbClr val="03A84F"/>
                  </a:solidFill>
                </a:uFill>
                <a:latin typeface="Arial MT"/>
                <a:cs typeface="Arial MT"/>
              </a:rPr>
              <a:t>p</a:t>
            </a:r>
            <a:r>
              <a:rPr sz="2269" u="heavy" spc="77" dirty="0">
                <a:solidFill>
                  <a:srgbClr val="07AC4F"/>
                </a:solidFill>
                <a:uFill>
                  <a:solidFill>
                    <a:srgbClr val="03A84F"/>
                  </a:solidFill>
                </a:uFill>
                <a:latin typeface="Arial MT"/>
                <a:cs typeface="Arial MT"/>
              </a:rPr>
              <a:t>onsible</a:t>
            </a:r>
            <a:r>
              <a:rPr sz="2269" spc="168" dirty="0">
                <a:solidFill>
                  <a:srgbClr val="07AC4F"/>
                </a:solidFill>
                <a:latin typeface="Arial MT"/>
                <a:cs typeface="Arial MT"/>
              </a:rPr>
              <a:t> </a:t>
            </a:r>
            <a:r>
              <a:rPr sz="2269" dirty="0">
                <a:latin typeface="Arial MT"/>
                <a:cs typeface="Arial MT"/>
              </a:rPr>
              <a:t>for</a:t>
            </a:r>
            <a:r>
              <a:rPr sz="2269" spc="45" dirty="0">
                <a:latin typeface="Arial MT"/>
                <a:cs typeface="Arial MT"/>
              </a:rPr>
              <a:t> </a:t>
            </a:r>
            <a:r>
              <a:rPr sz="2269" dirty="0">
                <a:latin typeface="Arial MT"/>
                <a:cs typeface="Arial MT"/>
              </a:rPr>
              <a:t>its</a:t>
            </a:r>
            <a:r>
              <a:rPr sz="2269" spc="27" dirty="0">
                <a:latin typeface="Arial MT"/>
                <a:cs typeface="Arial MT"/>
              </a:rPr>
              <a:t> </a:t>
            </a:r>
            <a:r>
              <a:rPr sz="2269" spc="91" dirty="0">
                <a:solidFill>
                  <a:srgbClr val="0003BD"/>
                </a:solidFill>
                <a:latin typeface="Arial MT"/>
                <a:cs typeface="Arial MT"/>
              </a:rPr>
              <a:t>accomplishment </a:t>
            </a:r>
            <a:r>
              <a:rPr sz="2269" u="heavy" spc="100" dirty="0">
                <a:solidFill>
                  <a:srgbClr val="00B54D"/>
                </a:solidFill>
                <a:uFill>
                  <a:solidFill>
                    <a:srgbClr val="03672F"/>
                  </a:solidFill>
                </a:uFill>
                <a:latin typeface="Arial MT"/>
                <a:cs typeface="Arial MT"/>
              </a:rPr>
              <a:t>within</a:t>
            </a:r>
            <a:r>
              <a:rPr sz="2269" spc="50" dirty="0">
                <a:solidFill>
                  <a:srgbClr val="00B54D"/>
                </a:solidFill>
                <a:latin typeface="Arial MT"/>
                <a:cs typeface="Arial MT"/>
              </a:rPr>
              <a:t> </a:t>
            </a:r>
            <a:r>
              <a:rPr sz="2269" spc="73" dirty="0">
                <a:solidFill>
                  <a:srgbClr val="0003BD"/>
                </a:solidFill>
                <a:latin typeface="Arial MT"/>
                <a:cs typeface="Arial MT"/>
              </a:rPr>
              <a:t>budget</a:t>
            </a:r>
            <a:r>
              <a:rPr sz="2269" spc="91" dirty="0">
                <a:solidFill>
                  <a:srgbClr val="0003BD"/>
                </a:solidFill>
                <a:latin typeface="Arial MT"/>
                <a:cs typeface="Arial MT"/>
              </a:rPr>
              <a:t> </a:t>
            </a:r>
            <a:r>
              <a:rPr sz="2269" u="heavy" spc="68" dirty="0">
                <a:uFill>
                  <a:solidFill>
                    <a:srgbClr val="03672F"/>
                  </a:solidFill>
                </a:uFill>
                <a:latin typeface="Arial MT"/>
                <a:cs typeface="Arial MT"/>
              </a:rPr>
              <a:t>and</a:t>
            </a:r>
            <a:r>
              <a:rPr sz="2269" spc="-9" dirty="0">
                <a:latin typeface="Arial MT"/>
                <a:cs typeface="Arial MT"/>
              </a:rPr>
              <a:t> </a:t>
            </a:r>
            <a:r>
              <a:rPr sz="2269" dirty="0">
                <a:latin typeface="Arial MT"/>
                <a:cs typeface="Arial MT"/>
              </a:rPr>
              <a:t>within</a:t>
            </a:r>
            <a:r>
              <a:rPr sz="2269" spc="113" dirty="0">
                <a:latin typeface="Arial MT"/>
                <a:cs typeface="Arial MT"/>
              </a:rPr>
              <a:t> </a:t>
            </a:r>
            <a:r>
              <a:rPr sz="2269" dirty="0">
                <a:latin typeface="Arial MT"/>
                <a:cs typeface="Arial MT"/>
              </a:rPr>
              <a:t>a</a:t>
            </a:r>
            <a:r>
              <a:rPr sz="2269" spc="-9" dirty="0">
                <a:latin typeface="Arial MT"/>
                <a:cs typeface="Arial MT"/>
              </a:rPr>
              <a:t> </a:t>
            </a:r>
            <a:r>
              <a:rPr sz="2269" spc="82" dirty="0">
                <a:solidFill>
                  <a:srgbClr val="0100D1"/>
                </a:solidFill>
                <a:latin typeface="Arial MT"/>
                <a:cs typeface="Arial MT"/>
              </a:rPr>
              <a:t>time</a:t>
            </a:r>
            <a:r>
              <a:rPr sz="2269" spc="59" dirty="0">
                <a:solidFill>
                  <a:srgbClr val="0100D1"/>
                </a:solidFill>
                <a:latin typeface="Arial MT"/>
                <a:cs typeface="Arial MT"/>
              </a:rPr>
              <a:t> </a:t>
            </a:r>
            <a:r>
              <a:rPr sz="2269" spc="64" dirty="0">
                <a:latin typeface="Arial MT"/>
                <a:cs typeface="Arial MT"/>
              </a:rPr>
              <a:t>duration.</a:t>
            </a:r>
            <a:endParaRPr sz="2269" dirty="0">
              <a:latin typeface="Arial MT"/>
              <a:cs typeface="Arial MT"/>
            </a:endParaRPr>
          </a:p>
          <a:p>
            <a:pPr marL="231107" marR="853539" indent="-219580">
              <a:lnSpc>
                <a:spcPct val="99600"/>
              </a:lnSpc>
              <a:spcBef>
                <a:spcPts val="1162"/>
              </a:spcBef>
              <a:buClr>
                <a:srgbClr val="FB0101"/>
              </a:buClr>
              <a:buChar char="•"/>
              <a:tabLst>
                <a:tab pos="231107" algn="l"/>
              </a:tabLst>
            </a:pPr>
            <a:r>
              <a:rPr sz="2269" spc="59" dirty="0">
                <a:solidFill>
                  <a:srgbClr val="FD0000"/>
                </a:solidFill>
                <a:latin typeface="Arial MT"/>
                <a:cs typeface="Arial MT"/>
              </a:rPr>
              <a:t>Network</a:t>
            </a:r>
            <a:r>
              <a:rPr sz="2269" spc="227" dirty="0">
                <a:solidFill>
                  <a:srgbClr val="FD0000"/>
                </a:solidFill>
                <a:latin typeface="Arial MT"/>
                <a:cs typeface="Arial MT"/>
              </a:rPr>
              <a:t> </a:t>
            </a:r>
            <a:r>
              <a:rPr sz="2269" u="heavy" spc="73" dirty="0">
                <a:solidFill>
                  <a:srgbClr val="0CAA4D"/>
                </a:solidFill>
                <a:uFill>
                  <a:solidFill>
                    <a:srgbClr val="08A84F"/>
                  </a:solidFill>
                </a:uFill>
                <a:latin typeface="Arial MT"/>
                <a:cs typeface="Arial MT"/>
              </a:rPr>
              <a:t>sets</a:t>
            </a:r>
            <a:r>
              <a:rPr sz="2269" spc="136" dirty="0">
                <a:solidFill>
                  <a:srgbClr val="0CAA4D"/>
                </a:solidFill>
                <a:latin typeface="Arial MT"/>
                <a:cs typeface="Arial MT"/>
              </a:rPr>
              <a:t> </a:t>
            </a:r>
            <a:r>
              <a:rPr sz="2269" spc="86" dirty="0">
                <a:solidFill>
                  <a:srgbClr val="0100D4"/>
                </a:solidFill>
                <a:latin typeface="Arial MT"/>
                <a:cs typeface="Arial MT"/>
              </a:rPr>
              <a:t>all</a:t>
            </a:r>
            <a:r>
              <a:rPr sz="2269" spc="36" dirty="0">
                <a:solidFill>
                  <a:srgbClr val="0100D4"/>
                </a:solidFill>
                <a:latin typeface="Arial MT"/>
                <a:cs typeface="Arial MT"/>
              </a:rPr>
              <a:t> </a:t>
            </a:r>
            <a:r>
              <a:rPr sz="2269" spc="82" dirty="0">
                <a:solidFill>
                  <a:srgbClr val="0100CA"/>
                </a:solidFill>
                <a:latin typeface="Arial MT"/>
                <a:cs typeface="Arial MT"/>
              </a:rPr>
              <a:t>project</a:t>
            </a:r>
            <a:r>
              <a:rPr sz="2269" spc="185" dirty="0">
                <a:solidFill>
                  <a:srgbClr val="0100CA"/>
                </a:solidFill>
                <a:latin typeface="Arial MT"/>
                <a:cs typeface="Arial MT"/>
              </a:rPr>
              <a:t> </a:t>
            </a:r>
            <a:r>
              <a:rPr sz="2269" spc="82" dirty="0">
                <a:latin typeface="Arial MT"/>
                <a:cs typeface="Arial MT"/>
              </a:rPr>
              <a:t>work, </a:t>
            </a:r>
            <a:r>
              <a:rPr sz="2269" spc="73" dirty="0">
                <a:solidFill>
                  <a:srgbClr val="0300D1"/>
                </a:solidFill>
                <a:latin typeface="Arial MT"/>
                <a:cs typeface="Arial MT"/>
              </a:rPr>
              <a:t>resource</a:t>
            </a:r>
            <a:r>
              <a:rPr sz="2269" spc="182" dirty="0">
                <a:solidFill>
                  <a:srgbClr val="0300D1"/>
                </a:solidFill>
                <a:latin typeface="Arial MT"/>
                <a:cs typeface="Arial MT"/>
              </a:rPr>
              <a:t> </a:t>
            </a:r>
            <a:r>
              <a:rPr sz="2269" dirty="0">
                <a:latin typeface="Arial MT"/>
                <a:cs typeface="Arial MT"/>
              </a:rPr>
              <a:t>needs,</a:t>
            </a:r>
            <a:r>
              <a:rPr sz="2269" spc="132" dirty="0">
                <a:latin typeface="Arial MT"/>
                <a:cs typeface="Arial MT"/>
              </a:rPr>
              <a:t> </a:t>
            </a:r>
            <a:r>
              <a:rPr sz="2269" spc="-23" dirty="0">
                <a:latin typeface="Arial MT"/>
                <a:cs typeface="Arial MT"/>
              </a:rPr>
              <a:t>and </a:t>
            </a:r>
            <a:r>
              <a:rPr sz="2269" spc="77" dirty="0">
                <a:solidFill>
                  <a:srgbClr val="0001C4"/>
                </a:solidFill>
                <a:latin typeface="Arial MT"/>
                <a:cs typeface="Arial MT"/>
              </a:rPr>
              <a:t>budgets</a:t>
            </a:r>
            <a:r>
              <a:rPr sz="2269" spc="195" dirty="0">
                <a:solidFill>
                  <a:srgbClr val="0001C4"/>
                </a:solidFill>
                <a:latin typeface="Arial MT"/>
                <a:cs typeface="Arial MT"/>
              </a:rPr>
              <a:t> </a:t>
            </a:r>
            <a:r>
              <a:rPr sz="2269" u="heavy" spc="103" dirty="0">
                <a:solidFill>
                  <a:srgbClr val="07AA52"/>
                </a:solidFill>
                <a:uFill>
                  <a:solidFill>
                    <a:srgbClr val="08A84F"/>
                  </a:solidFill>
                </a:uFill>
                <a:latin typeface="Arial MT"/>
                <a:cs typeface="Arial MT"/>
              </a:rPr>
              <a:t>into</a:t>
            </a:r>
            <a:r>
              <a:rPr sz="2269" spc="64" dirty="0">
                <a:solidFill>
                  <a:srgbClr val="07AA52"/>
                </a:solidFill>
                <a:latin typeface="Arial MT"/>
                <a:cs typeface="Arial MT"/>
              </a:rPr>
              <a:t> </a:t>
            </a:r>
            <a:r>
              <a:rPr sz="2269" dirty="0">
                <a:latin typeface="Arial MT"/>
                <a:cs typeface="Arial MT"/>
              </a:rPr>
              <a:t>a</a:t>
            </a:r>
            <a:r>
              <a:rPr sz="2269" spc="91" dirty="0">
                <a:latin typeface="Arial MT"/>
                <a:cs typeface="Arial MT"/>
              </a:rPr>
              <a:t> </a:t>
            </a:r>
            <a:r>
              <a:rPr sz="2269" spc="54" dirty="0">
                <a:solidFill>
                  <a:srgbClr val="0000C8"/>
                </a:solidFill>
                <a:latin typeface="Arial MT"/>
                <a:cs typeface="Arial MT"/>
              </a:rPr>
              <a:t>sequential</a:t>
            </a:r>
            <a:r>
              <a:rPr sz="2269" spc="268" dirty="0">
                <a:solidFill>
                  <a:srgbClr val="0000C8"/>
                </a:solidFill>
                <a:latin typeface="Arial MT"/>
                <a:cs typeface="Arial MT"/>
              </a:rPr>
              <a:t> </a:t>
            </a:r>
            <a:r>
              <a:rPr sz="2269" spc="82" dirty="0">
                <a:solidFill>
                  <a:srgbClr val="0100C8"/>
                </a:solidFill>
                <a:latin typeface="Arial MT"/>
                <a:cs typeface="Arial MT"/>
              </a:rPr>
              <a:t>time</a:t>
            </a:r>
            <a:r>
              <a:rPr sz="2269" spc="73" dirty="0">
                <a:solidFill>
                  <a:srgbClr val="0100C8"/>
                </a:solidFill>
                <a:latin typeface="Arial MT"/>
                <a:cs typeface="Arial MT"/>
              </a:rPr>
              <a:t> </a:t>
            </a:r>
            <a:r>
              <a:rPr sz="2269" dirty="0">
                <a:latin typeface="Arial MT"/>
                <a:cs typeface="Arial MT"/>
              </a:rPr>
              <a:t>frame;</a:t>
            </a:r>
            <a:r>
              <a:rPr sz="2269" spc="159" dirty="0">
                <a:latin typeface="Arial MT"/>
                <a:cs typeface="Arial MT"/>
              </a:rPr>
              <a:t> </a:t>
            </a:r>
            <a:r>
              <a:rPr sz="2269" dirty="0">
                <a:solidFill>
                  <a:srgbClr val="FD0000"/>
                </a:solidFill>
                <a:latin typeface="Arial MT"/>
                <a:cs typeface="Arial MT"/>
              </a:rPr>
              <a:t>WBS</a:t>
            </a:r>
            <a:r>
              <a:rPr sz="2269" spc="127" dirty="0">
                <a:solidFill>
                  <a:srgbClr val="FD0000"/>
                </a:solidFill>
                <a:latin typeface="Arial MT"/>
                <a:cs typeface="Arial MT"/>
              </a:rPr>
              <a:t> </a:t>
            </a:r>
            <a:r>
              <a:rPr sz="2269" u="heavy" spc="59" dirty="0">
                <a:solidFill>
                  <a:srgbClr val="00B14D"/>
                </a:solidFill>
                <a:uFill>
                  <a:solidFill>
                    <a:srgbClr val="08A84F"/>
                  </a:solidFill>
                </a:uFill>
                <a:latin typeface="Arial MT"/>
                <a:cs typeface="Arial MT"/>
              </a:rPr>
              <a:t>does</a:t>
            </a:r>
            <a:r>
              <a:rPr sz="2269" u="heavy" spc="154" dirty="0">
                <a:solidFill>
                  <a:srgbClr val="00B14D"/>
                </a:solidFill>
                <a:uFill>
                  <a:solidFill>
                    <a:srgbClr val="08A84F"/>
                  </a:solidFill>
                </a:uFill>
                <a:latin typeface="Arial MT"/>
                <a:cs typeface="Arial MT"/>
              </a:rPr>
              <a:t> </a:t>
            </a:r>
            <a:r>
              <a:rPr sz="2269" u="heavy" spc="64" dirty="0">
                <a:solidFill>
                  <a:srgbClr val="03AC4D"/>
                </a:solidFill>
                <a:uFill>
                  <a:solidFill>
                    <a:srgbClr val="08A84F"/>
                  </a:solidFill>
                </a:uFill>
                <a:latin typeface="Arial MT"/>
                <a:cs typeface="Arial MT"/>
              </a:rPr>
              <a:t>not</a:t>
            </a:r>
            <a:r>
              <a:rPr sz="2269" spc="64" dirty="0">
                <a:solidFill>
                  <a:srgbClr val="03AC4D"/>
                </a:solidFill>
                <a:latin typeface="Arial MT"/>
                <a:cs typeface="Arial MT"/>
              </a:rPr>
              <a:t> </a:t>
            </a:r>
            <a:r>
              <a:rPr sz="2269" spc="77" dirty="0">
                <a:solidFill>
                  <a:srgbClr val="03AE4D"/>
                </a:solidFill>
                <a:latin typeface="Arial MT"/>
                <a:cs typeface="Arial MT"/>
              </a:rPr>
              <a:t>provide</a:t>
            </a:r>
            <a:r>
              <a:rPr sz="2269" spc="118" dirty="0">
                <a:solidFill>
                  <a:srgbClr val="03AE4D"/>
                </a:solidFill>
                <a:latin typeface="Arial MT"/>
                <a:cs typeface="Arial MT"/>
              </a:rPr>
              <a:t> </a:t>
            </a:r>
            <a:r>
              <a:rPr sz="2269" dirty="0">
                <a:latin typeface="Arial MT"/>
                <a:cs typeface="Arial MT"/>
              </a:rPr>
              <a:t>this</a:t>
            </a:r>
            <a:r>
              <a:rPr sz="2269" spc="82" dirty="0">
                <a:latin typeface="Arial MT"/>
                <a:cs typeface="Arial MT"/>
              </a:rPr>
              <a:t> information.</a:t>
            </a:r>
            <a:r>
              <a:rPr sz="2269" spc="231" dirty="0">
                <a:latin typeface="Arial MT"/>
                <a:cs typeface="Arial MT"/>
              </a:rPr>
              <a:t> </a:t>
            </a:r>
            <a:endParaRPr sz="2269" dirty="0">
              <a:latin typeface="Arial MT"/>
              <a:cs typeface="Arial MT"/>
            </a:endParaRPr>
          </a:p>
          <a:p>
            <a:pPr marL="228801" marR="1393556" indent="-214393">
              <a:lnSpc>
                <a:spcPct val="100400"/>
              </a:lnSpc>
              <a:spcBef>
                <a:spcPts val="1184"/>
              </a:spcBef>
              <a:buChar char="•"/>
              <a:tabLst>
                <a:tab pos="231683" algn="l"/>
              </a:tabLst>
            </a:pPr>
            <a:r>
              <a:rPr sz="2269" dirty="0">
                <a:solidFill>
                  <a:srgbClr val="FD0100"/>
                </a:solidFill>
                <a:latin typeface="Arial MT"/>
                <a:cs typeface="Arial MT"/>
              </a:rPr>
              <a:t>WBS</a:t>
            </a:r>
            <a:r>
              <a:rPr sz="2269" spc="50" dirty="0">
                <a:solidFill>
                  <a:srgbClr val="FD0100"/>
                </a:solidFill>
                <a:latin typeface="Arial MT"/>
                <a:cs typeface="Arial MT"/>
              </a:rPr>
              <a:t> </a:t>
            </a:r>
            <a:r>
              <a:rPr sz="2269" dirty="0">
                <a:latin typeface="Arial MT"/>
                <a:cs typeface="Arial MT"/>
              </a:rPr>
              <a:t>provides</a:t>
            </a:r>
            <a:r>
              <a:rPr sz="2269" spc="208" dirty="0">
                <a:latin typeface="Arial MT"/>
                <a:cs typeface="Arial MT"/>
              </a:rPr>
              <a:t> </a:t>
            </a:r>
            <a:r>
              <a:rPr sz="2269" dirty="0">
                <a:latin typeface="Arial MT"/>
                <a:cs typeface="Arial MT"/>
              </a:rPr>
              <a:t>a </a:t>
            </a:r>
            <a:r>
              <a:rPr sz="2269" spc="68" dirty="0">
                <a:solidFill>
                  <a:srgbClr val="0100D4"/>
                </a:solidFill>
                <a:latin typeface="Arial MT"/>
                <a:cs typeface="Arial MT"/>
              </a:rPr>
              <a:t>framework</a:t>
            </a:r>
            <a:r>
              <a:rPr sz="2269" spc="204" dirty="0">
                <a:solidFill>
                  <a:srgbClr val="0100D4"/>
                </a:solidFill>
                <a:latin typeface="Arial MT"/>
                <a:cs typeface="Arial MT"/>
              </a:rPr>
              <a:t> </a:t>
            </a:r>
            <a:r>
              <a:rPr sz="2269" dirty="0">
                <a:latin typeface="Arial MT"/>
                <a:cs typeface="Arial MT"/>
              </a:rPr>
              <a:t>for</a:t>
            </a:r>
            <a:r>
              <a:rPr sz="2269" spc="9" dirty="0">
                <a:latin typeface="Arial MT"/>
                <a:cs typeface="Arial MT"/>
              </a:rPr>
              <a:t> </a:t>
            </a:r>
            <a:r>
              <a:rPr sz="2269" u="heavy" spc="82" dirty="0">
                <a:solidFill>
                  <a:srgbClr val="05AC4F"/>
                </a:solidFill>
                <a:uFill>
                  <a:solidFill>
                    <a:srgbClr val="08A84F"/>
                  </a:solidFill>
                </a:uFill>
                <a:latin typeface="Arial MT"/>
                <a:cs typeface="Arial MT"/>
              </a:rPr>
              <a:t>trackinq</a:t>
            </a:r>
            <a:r>
              <a:rPr sz="2269" spc="150" dirty="0">
                <a:solidFill>
                  <a:srgbClr val="05AC4F"/>
                </a:solidFill>
                <a:latin typeface="Arial MT"/>
                <a:cs typeface="Arial MT"/>
              </a:rPr>
              <a:t> </a:t>
            </a:r>
            <a:r>
              <a:rPr sz="2269" spc="103" dirty="0">
                <a:solidFill>
                  <a:srgbClr val="0003BD"/>
                </a:solidFill>
                <a:latin typeface="Arial MT"/>
                <a:cs typeface="Arial MT"/>
              </a:rPr>
              <a:t>costs</a:t>
            </a:r>
            <a:r>
              <a:rPr sz="2269" spc="59" dirty="0">
                <a:solidFill>
                  <a:srgbClr val="0003BD"/>
                </a:solidFill>
                <a:latin typeface="Arial MT"/>
                <a:cs typeface="Arial MT"/>
              </a:rPr>
              <a:t> </a:t>
            </a:r>
            <a:r>
              <a:rPr sz="2269" spc="-23" dirty="0">
                <a:latin typeface="Arial MT"/>
                <a:cs typeface="Arial MT"/>
              </a:rPr>
              <a:t>of </a:t>
            </a:r>
            <a:r>
              <a:rPr sz="2269" spc="59" dirty="0">
                <a:solidFill>
                  <a:srgbClr val="0100CA"/>
                </a:solidFill>
                <a:latin typeface="Arial MT"/>
                <a:cs typeface="Arial MT"/>
              </a:rPr>
              <a:t>deliverables</a:t>
            </a:r>
            <a:r>
              <a:rPr sz="2269" spc="268" dirty="0">
                <a:solidFill>
                  <a:srgbClr val="0100CA"/>
                </a:solidFill>
                <a:latin typeface="Arial MT"/>
                <a:cs typeface="Arial MT"/>
              </a:rPr>
              <a:t> </a:t>
            </a:r>
            <a:r>
              <a:rPr sz="2269" u="heavy" spc="68" dirty="0">
                <a:uFill>
                  <a:solidFill>
                    <a:srgbClr val="000000"/>
                  </a:solidFill>
                </a:uFill>
                <a:latin typeface="Arial MT"/>
                <a:cs typeface="Arial MT"/>
              </a:rPr>
              <a:t>and</a:t>
            </a:r>
            <a:r>
              <a:rPr sz="2269" spc="54" dirty="0">
                <a:latin typeface="Arial MT"/>
                <a:cs typeface="Arial MT"/>
              </a:rPr>
              <a:t> </a:t>
            </a:r>
            <a:r>
              <a:rPr sz="2269" spc="64" dirty="0">
                <a:solidFill>
                  <a:srgbClr val="0101C3"/>
                </a:solidFill>
                <a:latin typeface="Arial MT"/>
                <a:cs typeface="Arial MT"/>
              </a:rPr>
              <a:t>organization</a:t>
            </a:r>
            <a:r>
              <a:rPr sz="2269" spc="250" dirty="0">
                <a:solidFill>
                  <a:srgbClr val="0101C3"/>
                </a:solidFill>
                <a:latin typeface="Arial MT"/>
                <a:cs typeface="Arial MT"/>
              </a:rPr>
              <a:t> </a:t>
            </a:r>
            <a:r>
              <a:rPr sz="2269" spc="103" dirty="0">
                <a:solidFill>
                  <a:srgbClr val="0000CC"/>
                </a:solidFill>
                <a:latin typeface="Arial MT"/>
                <a:cs typeface="Arial MT"/>
              </a:rPr>
              <a:t>units </a:t>
            </a:r>
            <a:r>
              <a:rPr sz="2269" u="heavy" spc="64" dirty="0">
                <a:solidFill>
                  <a:srgbClr val="00B34D"/>
                </a:solidFill>
                <a:uFill>
                  <a:solidFill>
                    <a:srgbClr val="08A84F"/>
                  </a:solidFill>
                </a:uFill>
                <a:latin typeface="Arial MT"/>
                <a:cs typeface="Arial MT"/>
              </a:rPr>
              <a:t>res</a:t>
            </a:r>
            <a:r>
              <a:rPr lang="en-US" sz="2269" u="heavy" spc="64" dirty="0">
                <a:solidFill>
                  <a:srgbClr val="00B34D"/>
                </a:solidFill>
                <a:uFill>
                  <a:solidFill>
                    <a:srgbClr val="08A84F"/>
                  </a:solidFill>
                </a:uFill>
                <a:latin typeface="Arial MT"/>
                <a:cs typeface="Arial MT"/>
              </a:rPr>
              <a:t>p</a:t>
            </a:r>
            <a:r>
              <a:rPr sz="2269" u="heavy" spc="64" dirty="0">
                <a:solidFill>
                  <a:srgbClr val="00B34D"/>
                </a:solidFill>
                <a:uFill>
                  <a:solidFill>
                    <a:srgbClr val="08A84F"/>
                  </a:solidFill>
                </a:uFill>
                <a:latin typeface="Arial MT"/>
                <a:cs typeface="Arial MT"/>
              </a:rPr>
              <a:t>onsible.</a:t>
            </a:r>
            <a:endParaRPr sz="2269" dirty="0">
              <a:latin typeface="Arial MT"/>
              <a:cs typeface="Arial MT"/>
            </a:endParaRPr>
          </a:p>
        </p:txBody>
      </p:sp>
      <p:pic>
        <p:nvPicPr>
          <p:cNvPr id="5" name="Picture 4">
            <a:extLst>
              <a:ext uri="{FF2B5EF4-FFF2-40B4-BE49-F238E27FC236}">
                <a16:creationId xmlns:a16="http://schemas.microsoft.com/office/drawing/2014/main" id="{D3A603F8-4803-B855-95F8-81E0EE1645B0}"/>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160634" y="0"/>
            <a:ext cx="2031366" cy="1128537"/>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DEF73676-E70B-B62F-EC6E-C2957C27599C}"/>
              </a:ext>
            </a:extLst>
          </p:cNvPr>
          <p:cNvPicPr>
            <a:picLocks noChangeAspect="1"/>
          </p:cNvPicPr>
          <p:nvPr/>
        </p:nvPicPr>
        <p:blipFill>
          <a:blip r:embed="rId5"/>
          <a:stretch>
            <a:fillRect/>
          </a:stretch>
        </p:blipFill>
        <p:spPr>
          <a:xfrm>
            <a:off x="8686800" y="1943561"/>
            <a:ext cx="3505200" cy="1545303"/>
          </a:xfrm>
          <a:prstGeom prst="rect">
            <a:avLst/>
          </a:prstGeom>
        </p:spPr>
      </p:pic>
      <p:pic>
        <p:nvPicPr>
          <p:cNvPr id="10" name="Picture 9">
            <a:extLst>
              <a:ext uri="{FF2B5EF4-FFF2-40B4-BE49-F238E27FC236}">
                <a16:creationId xmlns:a16="http://schemas.microsoft.com/office/drawing/2014/main" id="{F9E7A751-E525-E600-B3EB-452929D1A84C}"/>
              </a:ext>
            </a:extLst>
          </p:cNvPr>
          <p:cNvPicPr>
            <a:picLocks noChangeAspect="1"/>
          </p:cNvPicPr>
          <p:nvPr/>
        </p:nvPicPr>
        <p:blipFill>
          <a:blip r:embed="rId6"/>
          <a:stretch>
            <a:fillRect/>
          </a:stretch>
        </p:blipFill>
        <p:spPr>
          <a:xfrm>
            <a:off x="8686800" y="4384256"/>
            <a:ext cx="3538144" cy="164087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2168408" y="1698196"/>
            <a:ext cx="6740866" cy="75251"/>
          </a:xfrm>
          <a:prstGeom prst="rect">
            <a:avLst/>
          </a:prstGeom>
        </p:spPr>
      </p:pic>
      <p:sp>
        <p:nvSpPr>
          <p:cNvPr id="3" name="object 3"/>
          <p:cNvSpPr txBox="1">
            <a:spLocks noGrp="1"/>
          </p:cNvSpPr>
          <p:nvPr>
            <p:ph type="title"/>
          </p:nvPr>
        </p:nvSpPr>
        <p:spPr>
          <a:xfrm>
            <a:off x="989055" y="630343"/>
            <a:ext cx="10171163" cy="673940"/>
          </a:xfrm>
          <a:prstGeom prst="rect">
            <a:avLst/>
          </a:prstGeom>
        </p:spPr>
        <p:txBody>
          <a:bodyPr vert="horz" wrap="square" lIns="0" tIns="12102" rIns="0" bIns="0" rtlCol="0">
            <a:spAutoFit/>
          </a:bodyPr>
          <a:lstStyle/>
          <a:p>
            <a:pPr marL="13832">
              <a:spcBef>
                <a:spcPts val="95"/>
              </a:spcBef>
            </a:pPr>
            <a:r>
              <a:rPr spc="110" dirty="0"/>
              <a:t>From Work Package to Network</a:t>
            </a:r>
          </a:p>
        </p:txBody>
      </p:sp>
      <p:sp>
        <p:nvSpPr>
          <p:cNvPr id="7" name="object 7"/>
          <p:cNvSpPr txBox="1">
            <a:spLocks noGrp="1"/>
          </p:cNvSpPr>
          <p:nvPr>
            <p:ph type="sldNum" sz="quarter" idx="7"/>
          </p:nvPr>
        </p:nvSpPr>
        <p:spPr>
          <a:xfrm>
            <a:off x="13118081" y="5834650"/>
            <a:ext cx="221876" cy="190485"/>
          </a:xfrm>
          <a:prstGeom prst="rect">
            <a:avLst/>
          </a:prstGeom>
        </p:spPr>
        <p:txBody>
          <a:bodyPr vert="horz" wrap="square" lIns="0" tIns="5763" rIns="0" bIns="0" rtlCol="0">
            <a:spAutoFit/>
          </a:bodyPr>
          <a:lstStyle/>
          <a:p>
            <a:pPr marL="91060">
              <a:spcBef>
                <a:spcPts val="45"/>
              </a:spcBef>
            </a:pPr>
            <a:fld id="{81D60167-4931-47E6-BA6A-407CBD079E47}" type="slidenum">
              <a:rPr spc="-23" dirty="0"/>
              <a:pPr marL="91060">
                <a:spcBef>
                  <a:spcPts val="45"/>
                </a:spcBef>
              </a:pPr>
              <a:t>5</a:t>
            </a:fld>
            <a:endParaRPr spc="-23" dirty="0"/>
          </a:p>
        </p:txBody>
      </p:sp>
      <p:sp>
        <p:nvSpPr>
          <p:cNvPr id="4" name="object 4"/>
          <p:cNvSpPr txBox="1"/>
          <p:nvPr/>
        </p:nvSpPr>
        <p:spPr>
          <a:xfrm>
            <a:off x="457201" y="1737070"/>
            <a:ext cx="5334000" cy="4586052"/>
          </a:xfrm>
          <a:prstGeom prst="rect">
            <a:avLst/>
          </a:prstGeom>
        </p:spPr>
        <p:txBody>
          <a:bodyPr vert="horz" wrap="square" lIns="0" tIns="181535" rIns="0" bIns="0" rtlCol="0">
            <a:spAutoFit/>
          </a:bodyPr>
          <a:lstStyle/>
          <a:p>
            <a:pPr marL="11527">
              <a:spcBef>
                <a:spcPts val="1429"/>
              </a:spcBef>
            </a:pPr>
            <a:r>
              <a:rPr sz="2677" spc="50" dirty="0">
                <a:solidFill>
                  <a:srgbClr val="AF0800"/>
                </a:solidFill>
                <a:latin typeface="Arial MT"/>
                <a:cs typeface="Arial MT"/>
              </a:rPr>
              <a:t>How</a:t>
            </a:r>
            <a:r>
              <a:rPr sz="2677" spc="100" dirty="0">
                <a:solidFill>
                  <a:srgbClr val="AF0800"/>
                </a:solidFill>
                <a:latin typeface="Arial MT"/>
                <a:cs typeface="Arial MT"/>
              </a:rPr>
              <a:t> </a:t>
            </a:r>
            <a:r>
              <a:rPr sz="2677" dirty="0">
                <a:solidFill>
                  <a:srgbClr val="C10003"/>
                </a:solidFill>
                <a:latin typeface="Arial MT"/>
                <a:cs typeface="Arial MT"/>
              </a:rPr>
              <a:t>are</a:t>
            </a:r>
            <a:r>
              <a:rPr sz="2677" spc="45" dirty="0">
                <a:solidFill>
                  <a:srgbClr val="C10003"/>
                </a:solidFill>
                <a:latin typeface="Arial MT"/>
                <a:cs typeface="Arial MT"/>
              </a:rPr>
              <a:t> </a:t>
            </a:r>
            <a:r>
              <a:rPr sz="2677" dirty="0">
                <a:solidFill>
                  <a:srgbClr val="BA0000"/>
                </a:solidFill>
                <a:latin typeface="Arial MT"/>
                <a:cs typeface="Arial MT"/>
              </a:rPr>
              <a:t>WBS</a:t>
            </a:r>
            <a:r>
              <a:rPr sz="2677" spc="82" dirty="0">
                <a:solidFill>
                  <a:srgbClr val="BA0000"/>
                </a:solidFill>
                <a:latin typeface="Arial MT"/>
                <a:cs typeface="Arial MT"/>
              </a:rPr>
              <a:t> </a:t>
            </a:r>
            <a:r>
              <a:rPr sz="2677" spc="68">
                <a:solidFill>
                  <a:srgbClr val="BF0001"/>
                </a:solidFill>
                <a:latin typeface="Arial MT"/>
                <a:cs typeface="Arial MT"/>
              </a:rPr>
              <a:t>and</a:t>
            </a:r>
            <a:r>
              <a:rPr sz="2677" spc="36">
                <a:solidFill>
                  <a:srgbClr val="BF0001"/>
                </a:solidFill>
                <a:latin typeface="Arial MT"/>
                <a:cs typeface="Arial MT"/>
              </a:rPr>
              <a:t> </a:t>
            </a:r>
            <a:r>
              <a:rPr sz="2677" spc="77">
                <a:solidFill>
                  <a:srgbClr val="CD0000"/>
                </a:solidFill>
                <a:latin typeface="Arial MT"/>
                <a:cs typeface="Arial MT"/>
              </a:rPr>
              <a:t>Pro</a:t>
            </a:r>
            <a:r>
              <a:rPr lang="en-US" sz="2677" spc="77">
                <a:solidFill>
                  <a:srgbClr val="CD0000"/>
                </a:solidFill>
                <a:latin typeface="Arial MT"/>
                <a:cs typeface="Arial MT"/>
              </a:rPr>
              <a:t>j</a:t>
            </a:r>
            <a:r>
              <a:rPr sz="2677" spc="77">
                <a:solidFill>
                  <a:srgbClr val="CD0000"/>
                </a:solidFill>
                <a:latin typeface="Arial MT"/>
                <a:cs typeface="Arial MT"/>
              </a:rPr>
              <a:t>ect</a:t>
            </a:r>
            <a:r>
              <a:rPr sz="2677" spc="163">
                <a:solidFill>
                  <a:srgbClr val="CD0000"/>
                </a:solidFill>
                <a:latin typeface="Arial MT"/>
                <a:cs typeface="Arial MT"/>
              </a:rPr>
              <a:t> </a:t>
            </a:r>
            <a:r>
              <a:rPr sz="2677" spc="68" dirty="0">
                <a:solidFill>
                  <a:srgbClr val="C10001"/>
                </a:solidFill>
                <a:latin typeface="Arial MT"/>
                <a:cs typeface="Arial MT"/>
              </a:rPr>
              <a:t>Network</a:t>
            </a:r>
            <a:r>
              <a:rPr sz="2677" spc="200" dirty="0">
                <a:solidFill>
                  <a:srgbClr val="C10001"/>
                </a:solidFill>
                <a:latin typeface="Arial MT"/>
                <a:cs typeface="Arial MT"/>
              </a:rPr>
              <a:t> </a:t>
            </a:r>
            <a:r>
              <a:rPr sz="2677" spc="82" dirty="0">
                <a:solidFill>
                  <a:srgbClr val="C10003"/>
                </a:solidFill>
                <a:latin typeface="Arial MT"/>
                <a:cs typeface="Arial MT"/>
              </a:rPr>
              <a:t>linked:</a:t>
            </a:r>
            <a:endParaRPr sz="2677" dirty="0">
              <a:latin typeface="Arial MT"/>
              <a:cs typeface="Arial MT"/>
            </a:endParaRPr>
          </a:p>
          <a:p>
            <a:pPr marL="224191" marR="330235" indent="-210359">
              <a:lnSpc>
                <a:spcPct val="100400"/>
              </a:lnSpc>
              <a:spcBef>
                <a:spcPts val="1153"/>
              </a:spcBef>
              <a:buClr>
                <a:srgbClr val="FD0001"/>
              </a:buClr>
              <a:buChar char="•"/>
              <a:tabLst>
                <a:tab pos="225920" algn="l"/>
              </a:tabLst>
            </a:pPr>
            <a:r>
              <a:rPr sz="2269" spc="68" dirty="0">
                <a:solidFill>
                  <a:srgbClr val="FD0100"/>
                </a:solidFill>
                <a:latin typeface="Arial MT"/>
                <a:cs typeface="Arial MT"/>
              </a:rPr>
              <a:t>Network</a:t>
            </a:r>
            <a:r>
              <a:rPr sz="2269" spc="150" dirty="0">
                <a:solidFill>
                  <a:srgbClr val="FD0100"/>
                </a:solidFill>
                <a:latin typeface="Arial MT"/>
                <a:cs typeface="Arial MT"/>
              </a:rPr>
              <a:t> </a:t>
            </a:r>
            <a:r>
              <a:rPr sz="2269" u="heavy" spc="59" dirty="0">
                <a:solidFill>
                  <a:srgbClr val="00AF54"/>
                </a:solidFill>
                <a:uFill>
                  <a:solidFill>
                    <a:srgbClr val="03773B"/>
                  </a:solidFill>
                </a:uFill>
                <a:latin typeface="Arial MT"/>
                <a:cs typeface="Arial MT"/>
              </a:rPr>
              <a:t>uses</a:t>
            </a:r>
            <a:r>
              <a:rPr sz="2269" spc="73" dirty="0">
                <a:solidFill>
                  <a:srgbClr val="00AF54"/>
                </a:solidFill>
                <a:latin typeface="Arial MT"/>
                <a:cs typeface="Arial MT"/>
              </a:rPr>
              <a:t> </a:t>
            </a:r>
            <a:r>
              <a:rPr sz="2269" spc="82" dirty="0">
                <a:solidFill>
                  <a:srgbClr val="0100C8"/>
                </a:solidFill>
                <a:latin typeface="Arial MT"/>
                <a:cs typeface="Arial MT"/>
              </a:rPr>
              <a:t>time</a:t>
            </a:r>
            <a:r>
              <a:rPr sz="2269" spc="14" dirty="0">
                <a:solidFill>
                  <a:srgbClr val="0100C8"/>
                </a:solidFill>
                <a:latin typeface="Arial MT"/>
                <a:cs typeface="Arial MT"/>
              </a:rPr>
              <a:t> </a:t>
            </a:r>
            <a:r>
              <a:rPr sz="2269" spc="64" dirty="0">
                <a:solidFill>
                  <a:srgbClr val="0003BD"/>
                </a:solidFill>
                <a:latin typeface="Arial MT"/>
                <a:cs typeface="Arial MT"/>
              </a:rPr>
              <a:t>estimates</a:t>
            </a:r>
            <a:r>
              <a:rPr sz="2269" spc="191" dirty="0">
                <a:solidFill>
                  <a:srgbClr val="0003BD"/>
                </a:solidFill>
                <a:latin typeface="Arial MT"/>
                <a:cs typeface="Arial MT"/>
              </a:rPr>
              <a:t> </a:t>
            </a:r>
            <a:r>
              <a:rPr sz="2269" dirty="0">
                <a:latin typeface="Arial MT"/>
                <a:cs typeface="Arial MT"/>
              </a:rPr>
              <a:t>found</a:t>
            </a:r>
            <a:r>
              <a:rPr sz="2269" spc="103" dirty="0">
                <a:latin typeface="Arial MT"/>
                <a:cs typeface="Arial MT"/>
              </a:rPr>
              <a:t> </a:t>
            </a:r>
            <a:r>
              <a:rPr sz="2269" u="heavy" dirty="0">
                <a:uFill>
                  <a:solidFill>
                    <a:srgbClr val="03773B"/>
                  </a:solidFill>
                </a:uFill>
                <a:latin typeface="Arial MT"/>
                <a:cs typeface="Arial MT"/>
              </a:rPr>
              <a:t>in</a:t>
            </a:r>
            <a:r>
              <a:rPr sz="2269" spc="290" dirty="0">
                <a:latin typeface="Arial MT"/>
                <a:cs typeface="Arial MT"/>
              </a:rPr>
              <a:t> </a:t>
            </a:r>
            <a:r>
              <a:rPr sz="2269" spc="103" dirty="0">
                <a:solidFill>
                  <a:srgbClr val="FB0300"/>
                </a:solidFill>
                <a:latin typeface="Arial MT"/>
                <a:cs typeface="Arial MT"/>
              </a:rPr>
              <a:t>work</a:t>
            </a:r>
            <a:r>
              <a:rPr sz="2269" spc="45" dirty="0">
                <a:solidFill>
                  <a:srgbClr val="FB0300"/>
                </a:solidFill>
                <a:latin typeface="Arial MT"/>
                <a:cs typeface="Arial MT"/>
              </a:rPr>
              <a:t> packages</a:t>
            </a:r>
            <a:r>
              <a:rPr sz="2269" spc="185" dirty="0">
                <a:solidFill>
                  <a:srgbClr val="FB0300"/>
                </a:solidFill>
                <a:latin typeface="Arial MT"/>
                <a:cs typeface="Arial MT"/>
              </a:rPr>
              <a:t> </a:t>
            </a:r>
            <a:r>
              <a:rPr sz="2269" spc="-23" dirty="0">
                <a:latin typeface="Arial MT"/>
                <a:cs typeface="Arial MT"/>
              </a:rPr>
              <a:t>of </a:t>
            </a:r>
            <a:r>
              <a:rPr sz="2269" dirty="0">
                <a:solidFill>
                  <a:srgbClr val="FD0005"/>
                </a:solidFill>
                <a:latin typeface="Arial MT"/>
                <a:cs typeface="Arial MT"/>
              </a:rPr>
              <a:t>WBS</a:t>
            </a:r>
            <a:r>
              <a:rPr sz="2269" spc="86" dirty="0">
                <a:solidFill>
                  <a:srgbClr val="FD0005"/>
                </a:solidFill>
                <a:latin typeface="Arial MT"/>
                <a:cs typeface="Arial MT"/>
              </a:rPr>
              <a:t> </a:t>
            </a:r>
            <a:r>
              <a:rPr sz="2269" dirty="0">
                <a:latin typeface="Arial MT"/>
                <a:cs typeface="Arial MT"/>
              </a:rPr>
              <a:t>to</a:t>
            </a:r>
            <a:r>
              <a:rPr sz="2269" spc="45" dirty="0">
                <a:latin typeface="Arial MT"/>
                <a:cs typeface="Arial MT"/>
              </a:rPr>
              <a:t> </a:t>
            </a:r>
            <a:r>
              <a:rPr sz="2269" u="heavy" spc="73" dirty="0">
                <a:solidFill>
                  <a:srgbClr val="0AAA4D"/>
                </a:solidFill>
                <a:uFill>
                  <a:solidFill>
                    <a:srgbClr val="08A84F"/>
                  </a:solidFill>
                </a:uFill>
                <a:latin typeface="Arial MT"/>
                <a:cs typeface="Arial MT"/>
              </a:rPr>
              <a:t>develo</a:t>
            </a:r>
            <a:r>
              <a:rPr lang="en-US" sz="2269" u="heavy" spc="73" dirty="0">
                <a:solidFill>
                  <a:srgbClr val="0AAA4D"/>
                </a:solidFill>
                <a:uFill>
                  <a:solidFill>
                    <a:srgbClr val="08A84F"/>
                  </a:solidFill>
                </a:uFill>
                <a:latin typeface="Arial MT"/>
                <a:cs typeface="Arial MT"/>
              </a:rPr>
              <a:t>p</a:t>
            </a:r>
            <a:r>
              <a:rPr sz="2269" spc="45" dirty="0">
                <a:solidFill>
                  <a:srgbClr val="0AAA4D"/>
                </a:solidFill>
                <a:latin typeface="Arial MT"/>
                <a:cs typeface="Arial MT"/>
              </a:rPr>
              <a:t> </a:t>
            </a:r>
            <a:r>
              <a:rPr sz="2269" spc="41" dirty="0">
                <a:latin typeface="Arial MT"/>
                <a:cs typeface="Arial MT"/>
              </a:rPr>
              <a:t>Network.</a:t>
            </a:r>
            <a:endParaRPr sz="2269" dirty="0">
              <a:latin typeface="Arial MT"/>
              <a:cs typeface="Arial MT"/>
            </a:endParaRPr>
          </a:p>
          <a:p>
            <a:pPr marL="225343" marR="4611" indent="-214393">
              <a:spcBef>
                <a:spcPts val="1148"/>
              </a:spcBef>
              <a:buClr>
                <a:srgbClr val="0000D1"/>
              </a:buClr>
              <a:buChar char="•"/>
              <a:tabLst>
                <a:tab pos="228225" algn="l"/>
              </a:tabLst>
            </a:pPr>
            <a:r>
              <a:rPr sz="2269" dirty="0">
                <a:solidFill>
                  <a:srgbClr val="0000CD"/>
                </a:solidFill>
                <a:latin typeface="Arial MT"/>
                <a:cs typeface="Arial MT"/>
              </a:rPr>
              <a:t>Time</a:t>
            </a:r>
            <a:r>
              <a:rPr sz="2269" spc="36" dirty="0">
                <a:solidFill>
                  <a:srgbClr val="0000CD"/>
                </a:solidFill>
                <a:latin typeface="Arial MT"/>
                <a:cs typeface="Arial MT"/>
              </a:rPr>
              <a:t> </a:t>
            </a:r>
            <a:r>
              <a:rPr sz="2269" spc="54" dirty="0">
                <a:latin typeface="Arial MT"/>
                <a:cs typeface="Arial MT"/>
              </a:rPr>
              <a:t>estimates,</a:t>
            </a:r>
            <a:r>
              <a:rPr sz="2269" spc="191" dirty="0">
                <a:latin typeface="Arial MT"/>
                <a:cs typeface="Arial MT"/>
              </a:rPr>
              <a:t> </a:t>
            </a:r>
            <a:r>
              <a:rPr sz="2269" spc="59" dirty="0">
                <a:latin typeface="Arial MT"/>
                <a:cs typeface="Arial MT"/>
              </a:rPr>
              <a:t>budgets,</a:t>
            </a:r>
            <a:r>
              <a:rPr sz="2269" spc="195" dirty="0">
                <a:latin typeface="Arial MT"/>
                <a:cs typeface="Arial MT"/>
              </a:rPr>
              <a:t> </a:t>
            </a:r>
            <a:r>
              <a:rPr sz="2269" dirty="0">
                <a:latin typeface="Arial MT"/>
                <a:cs typeface="Arial MT"/>
              </a:rPr>
              <a:t>and</a:t>
            </a:r>
            <a:r>
              <a:rPr sz="2269" spc="100" dirty="0">
                <a:latin typeface="Arial MT"/>
                <a:cs typeface="Arial MT"/>
              </a:rPr>
              <a:t> </a:t>
            </a:r>
            <a:r>
              <a:rPr sz="2269" spc="77" dirty="0">
                <a:solidFill>
                  <a:srgbClr val="0003D1"/>
                </a:solidFill>
                <a:latin typeface="Arial MT"/>
                <a:cs typeface="Arial MT"/>
              </a:rPr>
              <a:t>resources</a:t>
            </a:r>
            <a:r>
              <a:rPr sz="2269" spc="200" dirty="0">
                <a:solidFill>
                  <a:srgbClr val="0003D1"/>
                </a:solidFill>
                <a:latin typeface="Arial MT"/>
                <a:cs typeface="Arial MT"/>
              </a:rPr>
              <a:t> </a:t>
            </a:r>
            <a:r>
              <a:rPr sz="2269" u="heavy" spc="68" dirty="0">
                <a:solidFill>
                  <a:srgbClr val="00B14F"/>
                </a:solidFill>
                <a:uFill>
                  <a:solidFill>
                    <a:srgbClr val="08A84F"/>
                  </a:solidFill>
                </a:uFill>
                <a:latin typeface="Arial MT"/>
                <a:cs typeface="Arial MT"/>
              </a:rPr>
              <a:t>re</a:t>
            </a:r>
            <a:r>
              <a:rPr lang="en-US" sz="2269" u="heavy" spc="68" dirty="0">
                <a:solidFill>
                  <a:srgbClr val="00B14F"/>
                </a:solidFill>
                <a:uFill>
                  <a:solidFill>
                    <a:srgbClr val="08A84F"/>
                  </a:solidFill>
                </a:uFill>
                <a:latin typeface="Arial MT"/>
                <a:cs typeface="Arial MT"/>
              </a:rPr>
              <a:t>q</a:t>
            </a:r>
            <a:r>
              <a:rPr sz="2269" u="heavy" spc="68" dirty="0">
                <a:solidFill>
                  <a:srgbClr val="00B14F"/>
                </a:solidFill>
                <a:uFill>
                  <a:solidFill>
                    <a:srgbClr val="08A84F"/>
                  </a:solidFill>
                </a:uFill>
                <a:latin typeface="Arial MT"/>
                <a:cs typeface="Arial MT"/>
              </a:rPr>
              <a:t>uired</a:t>
            </a:r>
            <a:r>
              <a:rPr sz="2269" spc="154" dirty="0">
                <a:solidFill>
                  <a:srgbClr val="00B14F"/>
                </a:solidFill>
                <a:latin typeface="Arial MT"/>
                <a:cs typeface="Arial MT"/>
              </a:rPr>
              <a:t> </a:t>
            </a:r>
            <a:r>
              <a:rPr sz="2269" dirty="0">
                <a:latin typeface="Arial MT"/>
                <a:cs typeface="Arial MT"/>
              </a:rPr>
              <a:t>for</a:t>
            </a:r>
            <a:r>
              <a:rPr sz="2269" spc="95" dirty="0">
                <a:latin typeface="Arial MT"/>
                <a:cs typeface="Arial MT"/>
              </a:rPr>
              <a:t> </a:t>
            </a:r>
            <a:r>
              <a:rPr sz="2269" spc="-45" dirty="0">
                <a:latin typeface="Arial MT"/>
                <a:cs typeface="Arial MT"/>
              </a:rPr>
              <a:t>a </a:t>
            </a:r>
            <a:r>
              <a:rPr sz="2269" spc="103" dirty="0">
                <a:solidFill>
                  <a:srgbClr val="FB0101"/>
                </a:solidFill>
                <a:latin typeface="Arial MT"/>
                <a:cs typeface="Arial MT"/>
              </a:rPr>
              <a:t>work</a:t>
            </a:r>
            <a:r>
              <a:rPr sz="2269" spc="64" dirty="0">
                <a:solidFill>
                  <a:srgbClr val="FB0101"/>
                </a:solidFill>
                <a:latin typeface="Arial MT"/>
                <a:cs typeface="Arial MT"/>
              </a:rPr>
              <a:t> </a:t>
            </a:r>
            <a:r>
              <a:rPr sz="2269" spc="45" dirty="0">
                <a:solidFill>
                  <a:srgbClr val="FD0300"/>
                </a:solidFill>
                <a:latin typeface="Arial MT"/>
                <a:cs typeface="Arial MT"/>
              </a:rPr>
              <a:t>packages</a:t>
            </a:r>
            <a:r>
              <a:rPr sz="2269" spc="250" dirty="0">
                <a:solidFill>
                  <a:srgbClr val="FD0300"/>
                </a:solidFill>
                <a:latin typeface="Arial MT"/>
                <a:cs typeface="Arial MT"/>
              </a:rPr>
              <a:t> </a:t>
            </a:r>
            <a:r>
              <a:rPr sz="2269" u="heavy" dirty="0">
                <a:uFill>
                  <a:solidFill>
                    <a:srgbClr val="03803F"/>
                  </a:solidFill>
                </a:uFill>
                <a:latin typeface="Arial MT"/>
                <a:cs typeface="Arial MT"/>
              </a:rPr>
              <a:t>in</a:t>
            </a:r>
            <a:r>
              <a:rPr sz="2269" spc="163" dirty="0">
                <a:latin typeface="Arial MT"/>
                <a:cs typeface="Arial MT"/>
              </a:rPr>
              <a:t> </a:t>
            </a:r>
            <a:r>
              <a:rPr sz="2269" dirty="0">
                <a:solidFill>
                  <a:srgbClr val="FD0100"/>
                </a:solidFill>
                <a:latin typeface="Arial MT"/>
                <a:cs typeface="Arial MT"/>
              </a:rPr>
              <a:t>WBS</a:t>
            </a:r>
            <a:r>
              <a:rPr sz="2269" spc="95" dirty="0">
                <a:solidFill>
                  <a:srgbClr val="FD0100"/>
                </a:solidFill>
                <a:latin typeface="Arial MT"/>
                <a:cs typeface="Arial MT"/>
              </a:rPr>
              <a:t> </a:t>
            </a:r>
            <a:r>
              <a:rPr sz="2269" dirty="0">
                <a:latin typeface="Arial MT"/>
                <a:cs typeface="Arial MT"/>
              </a:rPr>
              <a:t>are</a:t>
            </a:r>
            <a:r>
              <a:rPr sz="2269" spc="82" dirty="0">
                <a:latin typeface="Arial MT"/>
                <a:cs typeface="Arial MT"/>
              </a:rPr>
              <a:t> </a:t>
            </a:r>
            <a:r>
              <a:rPr sz="2269" u="heavy" spc="54" dirty="0">
                <a:solidFill>
                  <a:srgbClr val="0CAA4B"/>
                </a:solidFill>
                <a:uFill>
                  <a:solidFill>
                    <a:srgbClr val="03803F"/>
                  </a:solidFill>
                </a:uFill>
                <a:latin typeface="Arial MT"/>
                <a:cs typeface="Arial MT"/>
              </a:rPr>
              <a:t>set</a:t>
            </a:r>
            <a:r>
              <a:rPr sz="2269" spc="82" dirty="0">
                <a:solidFill>
                  <a:srgbClr val="0CAA4B"/>
                </a:solidFill>
                <a:latin typeface="Arial MT"/>
                <a:cs typeface="Arial MT"/>
              </a:rPr>
              <a:t> </a:t>
            </a:r>
            <a:r>
              <a:rPr sz="2269" spc="59" dirty="0">
                <a:solidFill>
                  <a:srgbClr val="01AF4D"/>
                </a:solidFill>
                <a:latin typeface="Arial MT"/>
                <a:cs typeface="Arial MT"/>
              </a:rPr>
              <a:t>in</a:t>
            </a:r>
            <a:r>
              <a:rPr sz="2269" spc="113" dirty="0">
                <a:solidFill>
                  <a:srgbClr val="01AF4D"/>
                </a:solidFill>
                <a:latin typeface="Arial MT"/>
                <a:cs typeface="Arial MT"/>
              </a:rPr>
              <a:t> </a:t>
            </a:r>
            <a:r>
              <a:rPr sz="2269" spc="82" dirty="0">
                <a:solidFill>
                  <a:srgbClr val="0503D6"/>
                </a:solidFill>
                <a:latin typeface="Arial MT"/>
                <a:cs typeface="Arial MT"/>
              </a:rPr>
              <a:t>time</a:t>
            </a:r>
            <a:r>
              <a:rPr sz="2269" spc="50" dirty="0">
                <a:solidFill>
                  <a:srgbClr val="0503D6"/>
                </a:solidFill>
                <a:latin typeface="Arial MT"/>
                <a:cs typeface="Arial MT"/>
              </a:rPr>
              <a:t> </a:t>
            </a:r>
            <a:r>
              <a:rPr sz="2269" spc="50" dirty="0">
                <a:latin typeface="Arial MT"/>
                <a:cs typeface="Arial MT"/>
              </a:rPr>
              <a:t>frames,</a:t>
            </a:r>
            <a:r>
              <a:rPr sz="2269" spc="163" dirty="0">
                <a:latin typeface="Arial MT"/>
                <a:cs typeface="Arial MT"/>
              </a:rPr>
              <a:t> </a:t>
            </a:r>
            <a:r>
              <a:rPr sz="2269" u="heavy" spc="91" dirty="0">
                <a:solidFill>
                  <a:srgbClr val="05AC52"/>
                </a:solidFill>
                <a:uFill>
                  <a:solidFill>
                    <a:srgbClr val="03803F"/>
                  </a:solidFill>
                </a:uFill>
                <a:latin typeface="Arial MT"/>
                <a:cs typeface="Arial MT"/>
              </a:rPr>
              <a:t>but</a:t>
            </a:r>
            <a:r>
              <a:rPr sz="2269" spc="64" dirty="0">
                <a:solidFill>
                  <a:srgbClr val="05AC52"/>
                </a:solidFill>
                <a:latin typeface="Arial MT"/>
                <a:cs typeface="Arial MT"/>
              </a:rPr>
              <a:t> </a:t>
            </a:r>
            <a:r>
              <a:rPr sz="2269" i="1" spc="95" dirty="0">
                <a:solidFill>
                  <a:srgbClr val="0100CA"/>
                </a:solidFill>
                <a:latin typeface="Arial"/>
                <a:cs typeface="Arial"/>
              </a:rPr>
              <a:t>without </a:t>
            </a:r>
            <a:r>
              <a:rPr sz="2269" dirty="0">
                <a:latin typeface="Arial MT"/>
                <a:cs typeface="Arial MT"/>
              </a:rPr>
              <a:t>dates.</a:t>
            </a:r>
            <a:r>
              <a:rPr sz="2269" spc="231" dirty="0">
                <a:latin typeface="Arial MT"/>
                <a:cs typeface="Arial MT"/>
              </a:rPr>
              <a:t> </a:t>
            </a:r>
            <a:endParaRPr lang="en-US" sz="2269" spc="185" dirty="0">
              <a:latin typeface="Arial MT"/>
              <a:cs typeface="Arial MT"/>
            </a:endParaRPr>
          </a:p>
          <a:p>
            <a:pPr marL="225343" marR="4611" indent="-214393">
              <a:spcBef>
                <a:spcPts val="1148"/>
              </a:spcBef>
              <a:buClr>
                <a:srgbClr val="0000D1"/>
              </a:buClr>
              <a:buChar char="•"/>
              <a:tabLst>
                <a:tab pos="228225" algn="l"/>
              </a:tabLst>
            </a:pPr>
            <a:r>
              <a:rPr sz="2269" dirty="0">
                <a:solidFill>
                  <a:srgbClr val="0000D3"/>
                </a:solidFill>
                <a:latin typeface="Arial MT"/>
                <a:cs typeface="Arial MT"/>
              </a:rPr>
              <a:t>Dates</a:t>
            </a:r>
            <a:r>
              <a:rPr sz="2269" spc="195" dirty="0">
                <a:solidFill>
                  <a:srgbClr val="0000D3"/>
                </a:solidFill>
                <a:latin typeface="Arial MT"/>
                <a:cs typeface="Arial MT"/>
              </a:rPr>
              <a:t> </a:t>
            </a:r>
            <a:r>
              <a:rPr sz="2269" dirty="0">
                <a:latin typeface="Arial MT"/>
                <a:cs typeface="Arial MT"/>
              </a:rPr>
              <a:t>are</a:t>
            </a:r>
            <a:r>
              <a:rPr sz="2269" spc="109" dirty="0">
                <a:latin typeface="Arial MT"/>
                <a:cs typeface="Arial MT"/>
              </a:rPr>
              <a:t> </a:t>
            </a:r>
            <a:r>
              <a:rPr sz="2269" u="heavy" spc="82" dirty="0">
                <a:solidFill>
                  <a:srgbClr val="00AF4D"/>
                </a:solidFill>
                <a:uFill>
                  <a:solidFill>
                    <a:srgbClr val="08A84F"/>
                  </a:solidFill>
                </a:uFill>
                <a:latin typeface="Arial MT"/>
                <a:cs typeface="Arial MT"/>
              </a:rPr>
              <a:t>com</a:t>
            </a:r>
            <a:r>
              <a:rPr lang="en-US" sz="2269" u="heavy" spc="82" dirty="0">
                <a:solidFill>
                  <a:srgbClr val="00AF4D"/>
                </a:solidFill>
                <a:uFill>
                  <a:solidFill>
                    <a:srgbClr val="08A84F"/>
                  </a:solidFill>
                </a:uFill>
                <a:latin typeface="Arial MT"/>
                <a:cs typeface="Arial MT"/>
              </a:rPr>
              <a:t>p</a:t>
            </a:r>
            <a:r>
              <a:rPr sz="2269" u="heavy" spc="82" dirty="0">
                <a:solidFill>
                  <a:srgbClr val="00AF4D"/>
                </a:solidFill>
                <a:uFill>
                  <a:solidFill>
                    <a:srgbClr val="08A84F"/>
                  </a:solidFill>
                </a:uFill>
                <a:latin typeface="Arial MT"/>
                <a:cs typeface="Arial MT"/>
              </a:rPr>
              <a:t>uted</a:t>
            </a:r>
            <a:r>
              <a:rPr sz="2269" spc="204" dirty="0">
                <a:solidFill>
                  <a:srgbClr val="00AF4D"/>
                </a:solidFill>
                <a:latin typeface="Arial MT"/>
                <a:cs typeface="Arial MT"/>
              </a:rPr>
              <a:t> </a:t>
            </a:r>
            <a:r>
              <a:rPr sz="2269" spc="54" dirty="0">
                <a:solidFill>
                  <a:srgbClr val="00B352"/>
                </a:solidFill>
                <a:latin typeface="Arial MT"/>
                <a:cs typeface="Arial MT"/>
              </a:rPr>
              <a:t>after</a:t>
            </a:r>
            <a:r>
              <a:rPr sz="2269" spc="82" dirty="0">
                <a:solidFill>
                  <a:srgbClr val="00B352"/>
                </a:solidFill>
                <a:latin typeface="Arial MT"/>
                <a:cs typeface="Arial MT"/>
              </a:rPr>
              <a:t> </a:t>
            </a:r>
            <a:r>
              <a:rPr sz="2269" spc="68" dirty="0">
                <a:solidFill>
                  <a:srgbClr val="FD0005"/>
                </a:solidFill>
                <a:latin typeface="Arial MT"/>
                <a:cs typeface="Arial MT"/>
              </a:rPr>
              <a:t>Network</a:t>
            </a:r>
            <a:r>
              <a:rPr sz="2269" spc="177" dirty="0">
                <a:solidFill>
                  <a:srgbClr val="FD0005"/>
                </a:solidFill>
                <a:latin typeface="Arial MT"/>
                <a:cs typeface="Arial MT"/>
              </a:rPr>
              <a:t> </a:t>
            </a:r>
            <a:r>
              <a:rPr sz="2269" dirty="0">
                <a:latin typeface="Arial MT"/>
                <a:cs typeface="Arial MT"/>
              </a:rPr>
              <a:t>is</a:t>
            </a:r>
            <a:r>
              <a:rPr sz="2269" spc="77" dirty="0">
                <a:latin typeface="Arial MT"/>
                <a:cs typeface="Arial MT"/>
              </a:rPr>
              <a:t> </a:t>
            </a:r>
            <a:r>
              <a:rPr sz="2269" u="heavy" spc="41" dirty="0">
                <a:solidFill>
                  <a:srgbClr val="00B352"/>
                </a:solidFill>
                <a:uFill>
                  <a:solidFill>
                    <a:srgbClr val="08A84F"/>
                  </a:solidFill>
                </a:uFill>
                <a:latin typeface="Arial MT"/>
                <a:cs typeface="Arial MT"/>
              </a:rPr>
              <a:t>develo</a:t>
            </a:r>
            <a:r>
              <a:rPr lang="en-US" sz="2269" u="heavy" spc="41" dirty="0">
                <a:solidFill>
                  <a:srgbClr val="00B352"/>
                </a:solidFill>
                <a:uFill>
                  <a:solidFill>
                    <a:srgbClr val="08A84F"/>
                  </a:solidFill>
                </a:uFill>
                <a:latin typeface="Arial MT"/>
                <a:cs typeface="Arial MT"/>
              </a:rPr>
              <a:t>p</a:t>
            </a:r>
            <a:r>
              <a:rPr sz="2269" u="heavy" spc="41" dirty="0">
                <a:solidFill>
                  <a:srgbClr val="00B352"/>
                </a:solidFill>
                <a:uFill>
                  <a:solidFill>
                    <a:srgbClr val="08A84F"/>
                  </a:solidFill>
                </a:uFill>
                <a:latin typeface="Arial MT"/>
                <a:cs typeface="Arial MT"/>
              </a:rPr>
              <a:t>ed.</a:t>
            </a:r>
            <a:endParaRPr sz="2269" dirty="0">
              <a:latin typeface="Arial MT"/>
              <a:cs typeface="Arial MT"/>
            </a:endParaRPr>
          </a:p>
        </p:txBody>
      </p:sp>
      <p:pic>
        <p:nvPicPr>
          <p:cNvPr id="5" name="Picture 4">
            <a:extLst>
              <a:ext uri="{FF2B5EF4-FFF2-40B4-BE49-F238E27FC236}">
                <a16:creationId xmlns:a16="http://schemas.microsoft.com/office/drawing/2014/main" id="{05A0DFAC-23D9-2A72-ED40-A5E012D1ABAE}"/>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160634" y="0"/>
            <a:ext cx="2031366" cy="1128537"/>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081DF1B1-2B90-9ED5-E58D-E09A3C17DD50}"/>
              </a:ext>
            </a:extLst>
          </p:cNvPr>
          <p:cNvPicPr>
            <a:picLocks noChangeAspect="1"/>
          </p:cNvPicPr>
          <p:nvPr/>
        </p:nvPicPr>
        <p:blipFill>
          <a:blip r:embed="rId5"/>
          <a:stretch>
            <a:fillRect/>
          </a:stretch>
        </p:blipFill>
        <p:spPr>
          <a:xfrm>
            <a:off x="5760716" y="2070646"/>
            <a:ext cx="7108049" cy="419073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spc="85" dirty="0"/>
              <a:t>From</a:t>
            </a:r>
            <a:r>
              <a:rPr spc="120" dirty="0"/>
              <a:t> </a:t>
            </a:r>
            <a:r>
              <a:rPr spc="55" dirty="0"/>
              <a:t>Work</a:t>
            </a:r>
            <a:r>
              <a:rPr spc="125" dirty="0"/>
              <a:t> </a:t>
            </a:r>
            <a:r>
              <a:rPr spc="80" dirty="0"/>
              <a:t>Package</a:t>
            </a:r>
            <a:r>
              <a:rPr spc="125" dirty="0"/>
              <a:t> </a:t>
            </a:r>
            <a:r>
              <a:rPr spc="60" dirty="0"/>
              <a:t>to</a:t>
            </a:r>
            <a:r>
              <a:rPr spc="135" dirty="0"/>
              <a:t> </a:t>
            </a:r>
            <a:r>
              <a:rPr spc="105" dirty="0"/>
              <a:t>Network</a:t>
            </a:r>
            <a:r>
              <a:rPr spc="125" dirty="0"/>
              <a:t> </a:t>
            </a:r>
            <a:r>
              <a:rPr sz="1950" spc="-10" dirty="0"/>
              <a:t>(1/2)</a:t>
            </a:r>
            <a:endParaRPr sz="1950"/>
          </a:p>
        </p:txBody>
      </p:sp>
      <p:sp>
        <p:nvSpPr>
          <p:cNvPr id="3" name="object 3"/>
          <p:cNvSpPr txBox="1"/>
          <p:nvPr/>
        </p:nvSpPr>
        <p:spPr>
          <a:xfrm>
            <a:off x="916939" y="1586484"/>
            <a:ext cx="10358120" cy="1793239"/>
          </a:xfrm>
          <a:prstGeom prst="rect">
            <a:avLst/>
          </a:prstGeom>
        </p:spPr>
        <p:txBody>
          <a:bodyPr vert="horz" wrap="square" lIns="0" tIns="12700" rIns="0" bIns="0" rtlCol="0">
            <a:spAutoFit/>
          </a:bodyPr>
          <a:lstStyle/>
          <a:p>
            <a:pPr marL="241300" indent="-228600">
              <a:lnSpc>
                <a:spcPct val="100000"/>
              </a:lnSpc>
              <a:spcBef>
                <a:spcPts val="100"/>
              </a:spcBef>
              <a:buFont typeface="Arial MT"/>
              <a:buChar char="•"/>
              <a:tabLst>
                <a:tab pos="241300" algn="l"/>
              </a:tabLst>
            </a:pPr>
            <a:r>
              <a:rPr sz="2600" dirty="0">
                <a:latin typeface="Calibri"/>
                <a:cs typeface="Calibri"/>
              </a:rPr>
              <a:t>Project</a:t>
            </a:r>
            <a:r>
              <a:rPr sz="2600" spc="-65" dirty="0">
                <a:latin typeface="Calibri"/>
                <a:cs typeface="Calibri"/>
              </a:rPr>
              <a:t> </a:t>
            </a:r>
            <a:r>
              <a:rPr sz="2600" dirty="0">
                <a:latin typeface="Calibri"/>
                <a:cs typeface="Calibri"/>
              </a:rPr>
              <a:t>networks</a:t>
            </a:r>
            <a:r>
              <a:rPr sz="2600" spc="-80" dirty="0">
                <a:latin typeface="Calibri"/>
                <a:cs typeface="Calibri"/>
              </a:rPr>
              <a:t> </a:t>
            </a:r>
            <a:r>
              <a:rPr sz="2600" dirty="0">
                <a:latin typeface="Calibri"/>
                <a:cs typeface="Calibri"/>
              </a:rPr>
              <a:t>are</a:t>
            </a:r>
            <a:r>
              <a:rPr sz="2600" spc="-80" dirty="0">
                <a:latin typeface="Calibri"/>
                <a:cs typeface="Calibri"/>
              </a:rPr>
              <a:t> </a:t>
            </a:r>
            <a:r>
              <a:rPr sz="2600" dirty="0">
                <a:latin typeface="Calibri"/>
                <a:cs typeface="Calibri"/>
              </a:rPr>
              <a:t>developed</a:t>
            </a:r>
            <a:r>
              <a:rPr sz="2600" spc="-75" dirty="0">
                <a:latin typeface="Calibri"/>
                <a:cs typeface="Calibri"/>
              </a:rPr>
              <a:t> </a:t>
            </a:r>
            <a:r>
              <a:rPr sz="2600" dirty="0">
                <a:latin typeface="Calibri"/>
                <a:cs typeface="Calibri"/>
              </a:rPr>
              <a:t>from</a:t>
            </a:r>
            <a:r>
              <a:rPr sz="2600" spc="-75" dirty="0">
                <a:latin typeface="Calibri"/>
                <a:cs typeface="Calibri"/>
              </a:rPr>
              <a:t> </a:t>
            </a:r>
            <a:r>
              <a:rPr sz="2600" dirty="0">
                <a:latin typeface="Calibri"/>
                <a:cs typeface="Calibri"/>
              </a:rPr>
              <a:t>the</a:t>
            </a:r>
            <a:r>
              <a:rPr sz="2600" spc="-75" dirty="0">
                <a:latin typeface="Calibri"/>
                <a:cs typeface="Calibri"/>
              </a:rPr>
              <a:t> </a:t>
            </a:r>
            <a:r>
              <a:rPr sz="2600" dirty="0">
                <a:latin typeface="Calibri"/>
                <a:cs typeface="Calibri"/>
              </a:rPr>
              <a:t>WBS</a:t>
            </a:r>
            <a:r>
              <a:rPr sz="2600" spc="-65" dirty="0">
                <a:latin typeface="Calibri"/>
                <a:cs typeface="Calibri"/>
              </a:rPr>
              <a:t> </a:t>
            </a:r>
            <a:r>
              <a:rPr sz="2600" dirty="0">
                <a:latin typeface="Calibri"/>
                <a:cs typeface="Calibri"/>
              </a:rPr>
              <a:t>or</a:t>
            </a:r>
            <a:r>
              <a:rPr sz="2600" spc="-70" dirty="0">
                <a:latin typeface="Calibri"/>
                <a:cs typeface="Calibri"/>
              </a:rPr>
              <a:t> </a:t>
            </a:r>
            <a:r>
              <a:rPr sz="2600" dirty="0">
                <a:latin typeface="Calibri"/>
                <a:cs typeface="Calibri"/>
              </a:rPr>
              <a:t>the</a:t>
            </a:r>
            <a:r>
              <a:rPr sz="2600" spc="-70" dirty="0">
                <a:latin typeface="Calibri"/>
                <a:cs typeface="Calibri"/>
              </a:rPr>
              <a:t> </a:t>
            </a:r>
            <a:r>
              <a:rPr sz="2600" dirty="0">
                <a:latin typeface="Calibri"/>
                <a:cs typeface="Calibri"/>
              </a:rPr>
              <a:t>responsibility</a:t>
            </a:r>
            <a:r>
              <a:rPr sz="2600" spc="-75" dirty="0">
                <a:latin typeface="Calibri"/>
                <a:cs typeface="Calibri"/>
              </a:rPr>
              <a:t> </a:t>
            </a:r>
            <a:r>
              <a:rPr sz="2600" spc="-10" dirty="0">
                <a:latin typeface="Calibri"/>
                <a:cs typeface="Calibri"/>
              </a:rPr>
              <a:t>matrix.</a:t>
            </a:r>
            <a:endParaRPr sz="2600" dirty="0">
              <a:latin typeface="Calibri"/>
              <a:cs typeface="Calibri"/>
            </a:endParaRPr>
          </a:p>
          <a:p>
            <a:pPr marL="241300" indent="-228600">
              <a:lnSpc>
                <a:spcPts val="2650"/>
              </a:lnSpc>
              <a:spcBef>
                <a:spcPts val="95"/>
              </a:spcBef>
              <a:buFont typeface="Arial MT"/>
              <a:buChar char="•"/>
              <a:tabLst>
                <a:tab pos="241300" algn="l"/>
                <a:tab pos="1002030" algn="l"/>
                <a:tab pos="2218690" algn="l"/>
                <a:tab pos="3603625" algn="l"/>
                <a:tab pos="4072890" algn="l"/>
                <a:tab pos="4495800" algn="l"/>
                <a:tab pos="5522595" algn="l"/>
                <a:tab pos="6372860" algn="l"/>
                <a:tab pos="7732395" algn="l"/>
                <a:tab pos="8271509" algn="l"/>
                <a:tab pos="8983345" algn="l"/>
              </a:tabLst>
            </a:pPr>
            <a:r>
              <a:rPr sz="2600" spc="-25" dirty="0">
                <a:solidFill>
                  <a:srgbClr val="262EA4"/>
                </a:solidFill>
                <a:latin typeface="Calibri"/>
                <a:cs typeface="Calibri"/>
              </a:rPr>
              <a:t>The</a:t>
            </a:r>
            <a:r>
              <a:rPr sz="2600" dirty="0">
                <a:solidFill>
                  <a:srgbClr val="262EA4"/>
                </a:solidFill>
                <a:latin typeface="Calibri"/>
                <a:cs typeface="Calibri"/>
              </a:rPr>
              <a:t>	</a:t>
            </a:r>
            <a:r>
              <a:rPr sz="2600" spc="-10" dirty="0">
                <a:solidFill>
                  <a:srgbClr val="262EA4"/>
                </a:solidFill>
                <a:latin typeface="Calibri"/>
                <a:cs typeface="Calibri"/>
              </a:rPr>
              <a:t>project</a:t>
            </a:r>
            <a:r>
              <a:rPr sz="2600" dirty="0">
                <a:solidFill>
                  <a:srgbClr val="262EA4"/>
                </a:solidFill>
                <a:latin typeface="Calibri"/>
                <a:cs typeface="Calibri"/>
              </a:rPr>
              <a:t>	</a:t>
            </a:r>
            <a:r>
              <a:rPr sz="2600" spc="-10" dirty="0">
                <a:solidFill>
                  <a:srgbClr val="262EA4"/>
                </a:solidFill>
                <a:latin typeface="Calibri"/>
                <a:cs typeface="Calibri"/>
              </a:rPr>
              <a:t>network</a:t>
            </a:r>
            <a:r>
              <a:rPr sz="2600" dirty="0">
                <a:solidFill>
                  <a:srgbClr val="262EA4"/>
                </a:solidFill>
                <a:latin typeface="Calibri"/>
                <a:cs typeface="Calibri"/>
              </a:rPr>
              <a:t>	</a:t>
            </a:r>
            <a:r>
              <a:rPr sz="2600" spc="-25" dirty="0">
                <a:solidFill>
                  <a:srgbClr val="262EA4"/>
                </a:solidFill>
                <a:latin typeface="Calibri"/>
                <a:cs typeface="Calibri"/>
              </a:rPr>
              <a:t>is</a:t>
            </a:r>
            <a:r>
              <a:rPr sz="2600" dirty="0">
                <a:solidFill>
                  <a:srgbClr val="262EA4"/>
                </a:solidFill>
                <a:latin typeface="Calibri"/>
                <a:cs typeface="Calibri"/>
              </a:rPr>
              <a:t>	</a:t>
            </a:r>
            <a:r>
              <a:rPr sz="2600" spc="-50" dirty="0">
                <a:solidFill>
                  <a:srgbClr val="262EA4"/>
                </a:solidFill>
                <a:latin typeface="Calibri"/>
                <a:cs typeface="Calibri"/>
              </a:rPr>
              <a:t>a</a:t>
            </a:r>
            <a:r>
              <a:rPr sz="2600" dirty="0">
                <a:solidFill>
                  <a:srgbClr val="262EA4"/>
                </a:solidFill>
                <a:latin typeface="Calibri"/>
                <a:cs typeface="Calibri"/>
              </a:rPr>
              <a:t>	</a:t>
            </a:r>
            <a:r>
              <a:rPr sz="2600" spc="-10" dirty="0">
                <a:solidFill>
                  <a:srgbClr val="262EA4"/>
                </a:solidFill>
                <a:latin typeface="Calibri"/>
                <a:cs typeface="Calibri"/>
              </a:rPr>
              <a:t>visual</a:t>
            </a:r>
            <a:r>
              <a:rPr sz="2600" dirty="0">
                <a:solidFill>
                  <a:srgbClr val="262EA4"/>
                </a:solidFill>
                <a:latin typeface="Calibri"/>
                <a:cs typeface="Calibri"/>
              </a:rPr>
              <a:t>	</a:t>
            </a:r>
            <a:r>
              <a:rPr sz="2600" spc="-20" dirty="0">
                <a:solidFill>
                  <a:srgbClr val="262EA4"/>
                </a:solidFill>
                <a:latin typeface="Calibri"/>
                <a:cs typeface="Calibri"/>
              </a:rPr>
              <a:t>flow</a:t>
            </a:r>
            <a:r>
              <a:rPr sz="2600" dirty="0">
                <a:solidFill>
                  <a:srgbClr val="262EA4"/>
                </a:solidFill>
                <a:latin typeface="Calibri"/>
                <a:cs typeface="Calibri"/>
              </a:rPr>
              <a:t>	</a:t>
            </a:r>
            <a:r>
              <a:rPr sz="2600" spc="-10" dirty="0">
                <a:solidFill>
                  <a:srgbClr val="262EA4"/>
                </a:solidFill>
                <a:latin typeface="Calibri"/>
                <a:cs typeface="Calibri"/>
              </a:rPr>
              <a:t>diagram</a:t>
            </a:r>
            <a:r>
              <a:rPr sz="2600" dirty="0">
                <a:solidFill>
                  <a:srgbClr val="262EA4"/>
                </a:solidFill>
                <a:latin typeface="Calibri"/>
                <a:cs typeface="Calibri"/>
              </a:rPr>
              <a:t>	</a:t>
            </a:r>
            <a:r>
              <a:rPr sz="2600" spc="-25" dirty="0">
                <a:solidFill>
                  <a:srgbClr val="262EA4"/>
                </a:solidFill>
                <a:latin typeface="Calibri"/>
                <a:cs typeface="Calibri"/>
              </a:rPr>
              <a:t>of</a:t>
            </a:r>
            <a:r>
              <a:rPr sz="2600" dirty="0">
                <a:solidFill>
                  <a:srgbClr val="262EA4"/>
                </a:solidFill>
                <a:latin typeface="Calibri"/>
                <a:cs typeface="Calibri"/>
              </a:rPr>
              <a:t>	</a:t>
            </a:r>
            <a:r>
              <a:rPr sz="2600" spc="-25" dirty="0">
                <a:solidFill>
                  <a:srgbClr val="262EA4"/>
                </a:solidFill>
                <a:latin typeface="Calibri"/>
                <a:cs typeface="Calibri"/>
              </a:rPr>
              <a:t>the</a:t>
            </a:r>
            <a:r>
              <a:rPr sz="2600" dirty="0">
                <a:solidFill>
                  <a:srgbClr val="262EA4"/>
                </a:solidFill>
                <a:latin typeface="Calibri"/>
                <a:cs typeface="Calibri"/>
              </a:rPr>
              <a:t>	</a:t>
            </a:r>
            <a:r>
              <a:rPr sz="2600" spc="-10" dirty="0">
                <a:solidFill>
                  <a:srgbClr val="262EA4"/>
                </a:solidFill>
                <a:latin typeface="Calibri"/>
                <a:cs typeface="Calibri"/>
              </a:rPr>
              <a:t>sequence,</a:t>
            </a:r>
            <a:endParaRPr sz="2600" dirty="0">
              <a:latin typeface="Calibri"/>
              <a:cs typeface="Calibri"/>
            </a:endParaRPr>
          </a:p>
          <a:p>
            <a:pPr marL="241300" marR="5080">
              <a:lnSpc>
                <a:spcPct val="70800"/>
              </a:lnSpc>
              <a:spcBef>
                <a:spcPts val="445"/>
              </a:spcBef>
              <a:tabLst>
                <a:tab pos="2844800" algn="l"/>
                <a:tab pos="3517900" algn="l"/>
                <a:tab pos="5549900" algn="l"/>
                <a:tab pos="5993130" algn="l"/>
                <a:tab pos="6472555" algn="l"/>
                <a:tab pos="7088505" algn="l"/>
                <a:tab pos="8447405" algn="l"/>
                <a:tab pos="9166225" algn="l"/>
                <a:tab pos="10006965" algn="l"/>
              </a:tabLst>
            </a:pPr>
            <a:r>
              <a:rPr sz="2600" spc="-10" dirty="0">
                <a:solidFill>
                  <a:srgbClr val="262EA4"/>
                </a:solidFill>
                <a:latin typeface="Calibri"/>
                <a:cs typeface="Calibri"/>
              </a:rPr>
              <a:t>interrelationships,</a:t>
            </a:r>
            <a:r>
              <a:rPr sz="2600" dirty="0">
                <a:solidFill>
                  <a:srgbClr val="262EA4"/>
                </a:solidFill>
                <a:latin typeface="Calibri"/>
                <a:cs typeface="Calibri"/>
              </a:rPr>
              <a:t>	</a:t>
            </a:r>
            <a:r>
              <a:rPr sz="2600" spc="-25" dirty="0">
                <a:solidFill>
                  <a:srgbClr val="262EA4"/>
                </a:solidFill>
                <a:latin typeface="Calibri"/>
                <a:cs typeface="Calibri"/>
              </a:rPr>
              <a:t>and</a:t>
            </a:r>
            <a:r>
              <a:rPr sz="2600" dirty="0">
                <a:solidFill>
                  <a:srgbClr val="262EA4"/>
                </a:solidFill>
                <a:latin typeface="Calibri"/>
                <a:cs typeface="Calibri"/>
              </a:rPr>
              <a:t>	</a:t>
            </a:r>
            <a:r>
              <a:rPr sz="2600" spc="-10" dirty="0">
                <a:solidFill>
                  <a:srgbClr val="262EA4"/>
                </a:solidFill>
                <a:latin typeface="Calibri"/>
                <a:cs typeface="Calibri"/>
              </a:rPr>
              <a:t>dependencies</a:t>
            </a:r>
            <a:r>
              <a:rPr sz="2600" dirty="0">
                <a:solidFill>
                  <a:srgbClr val="262EA4"/>
                </a:solidFill>
                <a:latin typeface="Calibri"/>
                <a:cs typeface="Calibri"/>
              </a:rPr>
              <a:t>	</a:t>
            </a:r>
            <a:r>
              <a:rPr sz="2600" spc="-25" dirty="0">
                <a:solidFill>
                  <a:srgbClr val="262EA4"/>
                </a:solidFill>
                <a:latin typeface="Calibri"/>
                <a:cs typeface="Calibri"/>
              </a:rPr>
              <a:t>of</a:t>
            </a:r>
            <a:r>
              <a:rPr sz="2600" dirty="0">
                <a:solidFill>
                  <a:srgbClr val="262EA4"/>
                </a:solidFill>
                <a:latin typeface="Calibri"/>
                <a:cs typeface="Calibri"/>
              </a:rPr>
              <a:t>	</a:t>
            </a:r>
            <a:r>
              <a:rPr sz="2600" spc="-25" dirty="0">
                <a:solidFill>
                  <a:srgbClr val="262EA4"/>
                </a:solidFill>
                <a:latin typeface="Calibri"/>
                <a:cs typeface="Calibri"/>
              </a:rPr>
              <a:t>all</a:t>
            </a:r>
            <a:r>
              <a:rPr sz="2600" dirty="0">
                <a:solidFill>
                  <a:srgbClr val="262EA4"/>
                </a:solidFill>
                <a:latin typeface="Calibri"/>
                <a:cs typeface="Calibri"/>
              </a:rPr>
              <a:t>	</a:t>
            </a:r>
            <a:r>
              <a:rPr sz="2600" spc="-25" dirty="0">
                <a:solidFill>
                  <a:srgbClr val="262EA4"/>
                </a:solidFill>
                <a:latin typeface="Calibri"/>
                <a:cs typeface="Calibri"/>
              </a:rPr>
              <a:t>the</a:t>
            </a:r>
            <a:r>
              <a:rPr sz="2600" dirty="0">
                <a:solidFill>
                  <a:srgbClr val="262EA4"/>
                </a:solidFill>
                <a:latin typeface="Calibri"/>
                <a:cs typeface="Calibri"/>
              </a:rPr>
              <a:t>	</a:t>
            </a:r>
            <a:r>
              <a:rPr sz="2600" spc="-10" dirty="0">
                <a:solidFill>
                  <a:srgbClr val="262EA4"/>
                </a:solidFill>
                <a:latin typeface="Calibri"/>
                <a:cs typeface="Calibri"/>
              </a:rPr>
              <a:t>activities</a:t>
            </a:r>
            <a:r>
              <a:rPr sz="2600" dirty="0">
                <a:solidFill>
                  <a:srgbClr val="262EA4"/>
                </a:solidFill>
                <a:latin typeface="Calibri"/>
                <a:cs typeface="Calibri"/>
              </a:rPr>
              <a:t>	</a:t>
            </a:r>
            <a:r>
              <a:rPr sz="2600" spc="-20" dirty="0">
                <a:solidFill>
                  <a:srgbClr val="262EA4"/>
                </a:solidFill>
                <a:latin typeface="Calibri"/>
                <a:cs typeface="Calibri"/>
              </a:rPr>
              <a:t>that</a:t>
            </a:r>
            <a:r>
              <a:rPr sz="2600" dirty="0">
                <a:solidFill>
                  <a:srgbClr val="262EA4"/>
                </a:solidFill>
                <a:latin typeface="Calibri"/>
                <a:cs typeface="Calibri"/>
              </a:rPr>
              <a:t>	</a:t>
            </a:r>
            <a:r>
              <a:rPr sz="2600" spc="-20" dirty="0">
                <a:solidFill>
                  <a:srgbClr val="262EA4"/>
                </a:solidFill>
                <a:latin typeface="Calibri"/>
                <a:cs typeface="Calibri"/>
              </a:rPr>
              <a:t>must</a:t>
            </a:r>
            <a:r>
              <a:rPr sz="2600" dirty="0">
                <a:solidFill>
                  <a:srgbClr val="262EA4"/>
                </a:solidFill>
                <a:latin typeface="Calibri"/>
                <a:cs typeface="Calibri"/>
              </a:rPr>
              <a:t>	</a:t>
            </a:r>
            <a:r>
              <a:rPr sz="2600" spc="-25" dirty="0">
                <a:solidFill>
                  <a:srgbClr val="262EA4"/>
                </a:solidFill>
                <a:latin typeface="Calibri"/>
                <a:cs typeface="Calibri"/>
              </a:rPr>
              <a:t>be </a:t>
            </a:r>
            <a:r>
              <a:rPr sz="2600" dirty="0">
                <a:solidFill>
                  <a:srgbClr val="262EA4"/>
                </a:solidFill>
                <a:latin typeface="Calibri"/>
                <a:cs typeface="Calibri"/>
              </a:rPr>
              <a:t>accomplished</a:t>
            </a:r>
            <a:r>
              <a:rPr sz="2600" spc="-90" dirty="0">
                <a:solidFill>
                  <a:srgbClr val="262EA4"/>
                </a:solidFill>
                <a:latin typeface="Calibri"/>
                <a:cs typeface="Calibri"/>
              </a:rPr>
              <a:t> </a:t>
            </a:r>
            <a:r>
              <a:rPr sz="2600" dirty="0">
                <a:solidFill>
                  <a:srgbClr val="262EA4"/>
                </a:solidFill>
                <a:latin typeface="Calibri"/>
                <a:cs typeface="Calibri"/>
              </a:rPr>
              <a:t>to</a:t>
            </a:r>
            <a:r>
              <a:rPr sz="2600" spc="-85" dirty="0">
                <a:solidFill>
                  <a:srgbClr val="262EA4"/>
                </a:solidFill>
                <a:latin typeface="Calibri"/>
                <a:cs typeface="Calibri"/>
              </a:rPr>
              <a:t> </a:t>
            </a:r>
            <a:r>
              <a:rPr sz="2600" dirty="0">
                <a:solidFill>
                  <a:srgbClr val="262EA4"/>
                </a:solidFill>
                <a:latin typeface="Calibri"/>
                <a:cs typeface="Calibri"/>
              </a:rPr>
              <a:t>complete</a:t>
            </a:r>
            <a:r>
              <a:rPr sz="2600" spc="-85" dirty="0">
                <a:solidFill>
                  <a:srgbClr val="262EA4"/>
                </a:solidFill>
                <a:latin typeface="Calibri"/>
                <a:cs typeface="Calibri"/>
              </a:rPr>
              <a:t> </a:t>
            </a:r>
            <a:r>
              <a:rPr sz="2600" dirty="0">
                <a:solidFill>
                  <a:srgbClr val="262EA4"/>
                </a:solidFill>
                <a:latin typeface="Calibri"/>
                <a:cs typeface="Calibri"/>
              </a:rPr>
              <a:t>the</a:t>
            </a:r>
            <a:r>
              <a:rPr sz="2600" spc="-90" dirty="0">
                <a:solidFill>
                  <a:srgbClr val="262EA4"/>
                </a:solidFill>
                <a:latin typeface="Calibri"/>
                <a:cs typeface="Calibri"/>
              </a:rPr>
              <a:t> </a:t>
            </a:r>
            <a:r>
              <a:rPr sz="2600" spc="-10" dirty="0">
                <a:solidFill>
                  <a:srgbClr val="262EA4"/>
                </a:solidFill>
                <a:latin typeface="Calibri"/>
                <a:cs typeface="Calibri"/>
              </a:rPr>
              <a:t>project.</a:t>
            </a:r>
            <a:endParaRPr sz="2600" dirty="0">
              <a:latin typeface="Calibri"/>
              <a:cs typeface="Calibri"/>
            </a:endParaRPr>
          </a:p>
          <a:p>
            <a:pPr marL="241300" indent="-228600">
              <a:lnSpc>
                <a:spcPct val="100000"/>
              </a:lnSpc>
              <a:spcBef>
                <a:spcPts val="70"/>
              </a:spcBef>
              <a:buFont typeface="Arial MT"/>
              <a:buChar char="•"/>
              <a:tabLst>
                <a:tab pos="241300" algn="l"/>
              </a:tabLst>
            </a:pPr>
            <a:r>
              <a:rPr sz="2600" i="1" dirty="0">
                <a:latin typeface="Calibri"/>
                <a:cs typeface="Calibri"/>
              </a:rPr>
              <a:t>An</a:t>
            </a:r>
            <a:r>
              <a:rPr sz="2600" i="1" spc="-50" dirty="0">
                <a:latin typeface="Calibri"/>
                <a:cs typeface="Calibri"/>
              </a:rPr>
              <a:t> </a:t>
            </a:r>
            <a:r>
              <a:rPr sz="2600" b="1" i="1" dirty="0">
                <a:solidFill>
                  <a:srgbClr val="FF0000"/>
                </a:solidFill>
                <a:latin typeface="Calibri"/>
                <a:cs typeface="Calibri"/>
              </a:rPr>
              <a:t>activity</a:t>
            </a:r>
            <a:r>
              <a:rPr sz="2600" b="1" i="1" spc="-40" dirty="0">
                <a:latin typeface="Calibri"/>
                <a:cs typeface="Calibri"/>
              </a:rPr>
              <a:t> </a:t>
            </a:r>
            <a:r>
              <a:rPr sz="2600" i="1" dirty="0">
                <a:latin typeface="Calibri"/>
                <a:cs typeface="Calibri"/>
              </a:rPr>
              <a:t>is</a:t>
            </a:r>
            <a:r>
              <a:rPr sz="2600" i="1" spc="-50" dirty="0">
                <a:latin typeface="Calibri"/>
                <a:cs typeface="Calibri"/>
              </a:rPr>
              <a:t> </a:t>
            </a:r>
            <a:r>
              <a:rPr sz="2600" i="1" dirty="0">
                <a:latin typeface="Calibri"/>
                <a:cs typeface="Calibri"/>
              </a:rPr>
              <a:t>an</a:t>
            </a:r>
            <a:r>
              <a:rPr sz="2600" i="1" spc="-50" dirty="0">
                <a:latin typeface="Calibri"/>
                <a:cs typeface="Calibri"/>
              </a:rPr>
              <a:t> </a:t>
            </a:r>
            <a:r>
              <a:rPr sz="2600" i="1" dirty="0">
                <a:latin typeface="Calibri"/>
                <a:cs typeface="Calibri"/>
              </a:rPr>
              <a:t>element</a:t>
            </a:r>
            <a:r>
              <a:rPr sz="2600" i="1" spc="-40" dirty="0">
                <a:latin typeface="Calibri"/>
                <a:cs typeface="Calibri"/>
              </a:rPr>
              <a:t> </a:t>
            </a:r>
            <a:r>
              <a:rPr sz="2600" i="1" dirty="0">
                <a:latin typeface="Calibri"/>
                <a:cs typeface="Calibri"/>
              </a:rPr>
              <a:t>in</a:t>
            </a:r>
            <a:r>
              <a:rPr sz="2600" i="1" spc="-50" dirty="0">
                <a:latin typeface="Calibri"/>
                <a:cs typeface="Calibri"/>
              </a:rPr>
              <a:t> </a:t>
            </a:r>
            <a:r>
              <a:rPr sz="2600" i="1" dirty="0">
                <a:latin typeface="Calibri"/>
                <a:cs typeface="Calibri"/>
              </a:rPr>
              <a:t>the</a:t>
            </a:r>
            <a:r>
              <a:rPr sz="2600" i="1" spc="-55" dirty="0">
                <a:latin typeface="Calibri"/>
                <a:cs typeface="Calibri"/>
              </a:rPr>
              <a:t> </a:t>
            </a:r>
            <a:r>
              <a:rPr sz="2600" i="1" dirty="0">
                <a:latin typeface="Calibri"/>
                <a:cs typeface="Calibri"/>
              </a:rPr>
              <a:t>project</a:t>
            </a:r>
            <a:r>
              <a:rPr sz="2600" i="1" spc="-45" dirty="0">
                <a:latin typeface="Calibri"/>
                <a:cs typeface="Calibri"/>
              </a:rPr>
              <a:t> </a:t>
            </a:r>
            <a:r>
              <a:rPr sz="2600" i="1" dirty="0">
                <a:latin typeface="Calibri"/>
                <a:cs typeface="Calibri"/>
              </a:rPr>
              <a:t>that</a:t>
            </a:r>
            <a:r>
              <a:rPr sz="2600" i="1" spc="-45" dirty="0">
                <a:latin typeface="Calibri"/>
                <a:cs typeface="Calibri"/>
              </a:rPr>
              <a:t> </a:t>
            </a:r>
            <a:r>
              <a:rPr sz="2600" i="1" dirty="0">
                <a:latin typeface="Calibri"/>
                <a:cs typeface="Calibri"/>
              </a:rPr>
              <a:t>consumes</a:t>
            </a:r>
            <a:r>
              <a:rPr sz="2600" i="1" spc="-45" dirty="0">
                <a:latin typeface="Calibri"/>
                <a:cs typeface="Calibri"/>
              </a:rPr>
              <a:t> </a:t>
            </a:r>
            <a:r>
              <a:rPr sz="2600" i="1" spc="-10" dirty="0">
                <a:latin typeface="Calibri"/>
                <a:cs typeface="Calibri"/>
              </a:rPr>
              <a:t>time.</a:t>
            </a:r>
            <a:endParaRPr sz="2600" dirty="0">
              <a:latin typeface="Calibri"/>
              <a:cs typeface="Calibri"/>
            </a:endParaRPr>
          </a:p>
        </p:txBody>
      </p:sp>
      <p:sp>
        <p:nvSpPr>
          <p:cNvPr id="4" name="object 4"/>
          <p:cNvSpPr txBox="1"/>
          <p:nvPr/>
        </p:nvSpPr>
        <p:spPr>
          <a:xfrm>
            <a:off x="916939" y="3366516"/>
            <a:ext cx="10357485" cy="421640"/>
          </a:xfrm>
          <a:prstGeom prst="rect">
            <a:avLst/>
          </a:prstGeom>
        </p:spPr>
        <p:txBody>
          <a:bodyPr vert="horz" wrap="square" lIns="0" tIns="12700" rIns="0" bIns="0" rtlCol="0">
            <a:spAutoFit/>
          </a:bodyPr>
          <a:lstStyle/>
          <a:p>
            <a:pPr marL="241300" indent="-228600">
              <a:lnSpc>
                <a:spcPct val="100000"/>
              </a:lnSpc>
              <a:spcBef>
                <a:spcPts val="100"/>
              </a:spcBef>
              <a:buFont typeface="Arial MT"/>
              <a:buChar char="•"/>
              <a:tabLst>
                <a:tab pos="241300" algn="l"/>
              </a:tabLst>
            </a:pPr>
            <a:r>
              <a:rPr sz="2600" dirty="0">
                <a:solidFill>
                  <a:srgbClr val="262EA4"/>
                </a:solidFill>
                <a:latin typeface="Calibri"/>
                <a:cs typeface="Calibri"/>
              </a:rPr>
              <a:t>Work</a:t>
            </a:r>
            <a:r>
              <a:rPr sz="2600" spc="140" dirty="0">
                <a:solidFill>
                  <a:srgbClr val="262EA4"/>
                </a:solidFill>
                <a:latin typeface="Calibri"/>
                <a:cs typeface="Calibri"/>
              </a:rPr>
              <a:t> </a:t>
            </a:r>
            <a:r>
              <a:rPr sz="2600" dirty="0">
                <a:solidFill>
                  <a:srgbClr val="262EA4"/>
                </a:solidFill>
                <a:latin typeface="Calibri"/>
                <a:cs typeface="Calibri"/>
              </a:rPr>
              <a:t>packages</a:t>
            </a:r>
            <a:r>
              <a:rPr sz="2600" spc="125" dirty="0">
                <a:solidFill>
                  <a:srgbClr val="262EA4"/>
                </a:solidFill>
                <a:latin typeface="Calibri"/>
                <a:cs typeface="Calibri"/>
              </a:rPr>
              <a:t> </a:t>
            </a:r>
            <a:r>
              <a:rPr sz="2600" dirty="0">
                <a:solidFill>
                  <a:srgbClr val="262EA4"/>
                </a:solidFill>
                <a:latin typeface="Calibri"/>
                <a:cs typeface="Calibri"/>
              </a:rPr>
              <a:t>from</a:t>
            </a:r>
            <a:r>
              <a:rPr sz="2600" spc="130" dirty="0">
                <a:solidFill>
                  <a:srgbClr val="262EA4"/>
                </a:solidFill>
                <a:latin typeface="Calibri"/>
                <a:cs typeface="Calibri"/>
              </a:rPr>
              <a:t> </a:t>
            </a:r>
            <a:r>
              <a:rPr sz="2600" dirty="0">
                <a:solidFill>
                  <a:srgbClr val="262EA4"/>
                </a:solidFill>
                <a:latin typeface="Calibri"/>
                <a:cs typeface="Calibri"/>
              </a:rPr>
              <a:t>the</a:t>
            </a:r>
            <a:r>
              <a:rPr sz="2600" spc="135" dirty="0">
                <a:solidFill>
                  <a:srgbClr val="262EA4"/>
                </a:solidFill>
                <a:latin typeface="Calibri"/>
                <a:cs typeface="Calibri"/>
              </a:rPr>
              <a:t> </a:t>
            </a:r>
            <a:r>
              <a:rPr sz="2600" dirty="0">
                <a:solidFill>
                  <a:srgbClr val="262EA4"/>
                </a:solidFill>
                <a:latin typeface="Calibri"/>
                <a:cs typeface="Calibri"/>
              </a:rPr>
              <a:t>WBS</a:t>
            </a:r>
            <a:r>
              <a:rPr sz="2600" spc="140" dirty="0">
                <a:solidFill>
                  <a:srgbClr val="262EA4"/>
                </a:solidFill>
                <a:latin typeface="Calibri"/>
                <a:cs typeface="Calibri"/>
              </a:rPr>
              <a:t> </a:t>
            </a:r>
            <a:r>
              <a:rPr sz="2600" dirty="0">
                <a:solidFill>
                  <a:srgbClr val="262EA4"/>
                </a:solidFill>
                <a:latin typeface="Calibri"/>
                <a:cs typeface="Calibri"/>
              </a:rPr>
              <a:t>are</a:t>
            </a:r>
            <a:r>
              <a:rPr sz="2600" spc="125" dirty="0">
                <a:solidFill>
                  <a:srgbClr val="262EA4"/>
                </a:solidFill>
                <a:latin typeface="Calibri"/>
                <a:cs typeface="Calibri"/>
              </a:rPr>
              <a:t> </a:t>
            </a:r>
            <a:r>
              <a:rPr sz="2600" dirty="0">
                <a:solidFill>
                  <a:srgbClr val="262EA4"/>
                </a:solidFill>
                <a:latin typeface="Calibri"/>
                <a:cs typeface="Calibri"/>
              </a:rPr>
              <a:t>used</a:t>
            </a:r>
            <a:r>
              <a:rPr sz="2600" spc="135" dirty="0">
                <a:solidFill>
                  <a:srgbClr val="262EA4"/>
                </a:solidFill>
                <a:latin typeface="Calibri"/>
                <a:cs typeface="Calibri"/>
              </a:rPr>
              <a:t> </a:t>
            </a:r>
            <a:r>
              <a:rPr sz="2600" dirty="0">
                <a:solidFill>
                  <a:srgbClr val="262EA4"/>
                </a:solidFill>
                <a:latin typeface="Calibri"/>
                <a:cs typeface="Calibri"/>
              </a:rPr>
              <a:t>to</a:t>
            </a:r>
            <a:r>
              <a:rPr sz="2600" spc="135" dirty="0">
                <a:solidFill>
                  <a:srgbClr val="262EA4"/>
                </a:solidFill>
                <a:latin typeface="Calibri"/>
                <a:cs typeface="Calibri"/>
              </a:rPr>
              <a:t> </a:t>
            </a:r>
            <a:r>
              <a:rPr sz="2600" dirty="0">
                <a:solidFill>
                  <a:srgbClr val="262EA4"/>
                </a:solidFill>
                <a:latin typeface="Calibri"/>
                <a:cs typeface="Calibri"/>
              </a:rPr>
              <a:t>build</a:t>
            </a:r>
            <a:r>
              <a:rPr sz="2600" spc="130" dirty="0">
                <a:solidFill>
                  <a:srgbClr val="262EA4"/>
                </a:solidFill>
                <a:latin typeface="Calibri"/>
                <a:cs typeface="Calibri"/>
              </a:rPr>
              <a:t> </a:t>
            </a:r>
            <a:r>
              <a:rPr sz="2600" dirty="0">
                <a:solidFill>
                  <a:srgbClr val="262EA4"/>
                </a:solidFill>
                <a:latin typeface="Calibri"/>
                <a:cs typeface="Calibri"/>
              </a:rPr>
              <a:t>the</a:t>
            </a:r>
            <a:r>
              <a:rPr sz="2600" spc="135" dirty="0">
                <a:solidFill>
                  <a:srgbClr val="262EA4"/>
                </a:solidFill>
                <a:latin typeface="Calibri"/>
                <a:cs typeface="Calibri"/>
              </a:rPr>
              <a:t> </a:t>
            </a:r>
            <a:r>
              <a:rPr sz="2600" dirty="0">
                <a:solidFill>
                  <a:srgbClr val="262EA4"/>
                </a:solidFill>
                <a:latin typeface="Calibri"/>
                <a:cs typeface="Calibri"/>
              </a:rPr>
              <a:t>activities</a:t>
            </a:r>
            <a:r>
              <a:rPr sz="2600" spc="120" dirty="0">
                <a:solidFill>
                  <a:srgbClr val="262EA4"/>
                </a:solidFill>
                <a:latin typeface="Calibri"/>
                <a:cs typeface="Calibri"/>
              </a:rPr>
              <a:t> </a:t>
            </a:r>
            <a:r>
              <a:rPr sz="2600" dirty="0">
                <a:solidFill>
                  <a:srgbClr val="262EA4"/>
                </a:solidFill>
                <a:latin typeface="Calibri"/>
                <a:cs typeface="Calibri"/>
              </a:rPr>
              <a:t>found</a:t>
            </a:r>
            <a:r>
              <a:rPr sz="2600" spc="135" dirty="0">
                <a:solidFill>
                  <a:srgbClr val="262EA4"/>
                </a:solidFill>
                <a:latin typeface="Calibri"/>
                <a:cs typeface="Calibri"/>
              </a:rPr>
              <a:t> </a:t>
            </a:r>
            <a:r>
              <a:rPr sz="2600" dirty="0">
                <a:solidFill>
                  <a:srgbClr val="262EA4"/>
                </a:solidFill>
                <a:latin typeface="Calibri"/>
                <a:cs typeface="Calibri"/>
              </a:rPr>
              <a:t>in</a:t>
            </a:r>
            <a:r>
              <a:rPr sz="2600" spc="130" dirty="0">
                <a:solidFill>
                  <a:srgbClr val="262EA4"/>
                </a:solidFill>
                <a:latin typeface="Calibri"/>
                <a:cs typeface="Calibri"/>
              </a:rPr>
              <a:t> </a:t>
            </a:r>
            <a:r>
              <a:rPr sz="2600" spc="-25" dirty="0">
                <a:solidFill>
                  <a:srgbClr val="262EA4"/>
                </a:solidFill>
                <a:latin typeface="Calibri"/>
                <a:cs typeface="Calibri"/>
              </a:rPr>
              <a:t>the</a:t>
            </a:r>
            <a:endParaRPr sz="2600" dirty="0">
              <a:latin typeface="Calibri"/>
              <a:cs typeface="Calibri"/>
            </a:endParaRPr>
          </a:p>
        </p:txBody>
      </p:sp>
      <p:sp>
        <p:nvSpPr>
          <p:cNvPr id="5" name="object 5"/>
          <p:cNvSpPr txBox="1"/>
          <p:nvPr/>
        </p:nvSpPr>
        <p:spPr>
          <a:xfrm>
            <a:off x="1145539" y="3631692"/>
            <a:ext cx="2256155" cy="421640"/>
          </a:xfrm>
          <a:prstGeom prst="rect">
            <a:avLst/>
          </a:prstGeom>
        </p:spPr>
        <p:txBody>
          <a:bodyPr vert="horz" wrap="square" lIns="0" tIns="12700" rIns="0" bIns="0" rtlCol="0">
            <a:spAutoFit/>
          </a:bodyPr>
          <a:lstStyle/>
          <a:p>
            <a:pPr marL="12700">
              <a:lnSpc>
                <a:spcPct val="100000"/>
              </a:lnSpc>
              <a:spcBef>
                <a:spcPts val="100"/>
              </a:spcBef>
            </a:pPr>
            <a:r>
              <a:rPr sz="2600" dirty="0">
                <a:solidFill>
                  <a:srgbClr val="262EA4"/>
                </a:solidFill>
                <a:latin typeface="Calibri"/>
                <a:cs typeface="Calibri"/>
              </a:rPr>
              <a:t>project</a:t>
            </a:r>
            <a:r>
              <a:rPr sz="2600" spc="-120" dirty="0">
                <a:solidFill>
                  <a:srgbClr val="262EA4"/>
                </a:solidFill>
                <a:latin typeface="Calibri"/>
                <a:cs typeface="Calibri"/>
              </a:rPr>
              <a:t> </a:t>
            </a:r>
            <a:r>
              <a:rPr sz="2600" spc="-10" dirty="0">
                <a:solidFill>
                  <a:srgbClr val="262EA4"/>
                </a:solidFill>
                <a:latin typeface="Calibri"/>
                <a:cs typeface="Calibri"/>
              </a:rPr>
              <a:t>network.</a:t>
            </a:r>
            <a:endParaRPr sz="2600">
              <a:latin typeface="Calibri"/>
              <a:cs typeface="Calibri"/>
            </a:endParaRPr>
          </a:p>
        </p:txBody>
      </p:sp>
      <p:sp>
        <p:nvSpPr>
          <p:cNvPr id="6" name="object 6"/>
          <p:cNvSpPr txBox="1"/>
          <p:nvPr/>
        </p:nvSpPr>
        <p:spPr>
          <a:xfrm>
            <a:off x="916939" y="4040123"/>
            <a:ext cx="10358120" cy="2371868"/>
          </a:xfrm>
          <a:prstGeom prst="rect">
            <a:avLst/>
          </a:prstGeom>
        </p:spPr>
        <p:txBody>
          <a:bodyPr vert="horz" wrap="square" lIns="0" tIns="131445" rIns="0" bIns="0" rtlCol="0">
            <a:spAutoFit/>
          </a:bodyPr>
          <a:lstStyle/>
          <a:p>
            <a:pPr marL="241300" marR="5715" indent="-228600">
              <a:lnSpc>
                <a:spcPct val="70000"/>
              </a:lnSpc>
              <a:spcBef>
                <a:spcPts val="1035"/>
              </a:spcBef>
              <a:buFont typeface="Arial MT"/>
              <a:buChar char="•"/>
              <a:tabLst>
                <a:tab pos="241300" algn="l"/>
              </a:tabLst>
            </a:pPr>
            <a:r>
              <a:rPr sz="2600" dirty="0">
                <a:latin typeface="Calibri"/>
                <a:cs typeface="Calibri"/>
              </a:rPr>
              <a:t>The</a:t>
            </a:r>
            <a:r>
              <a:rPr sz="2600" spc="-50" dirty="0">
                <a:latin typeface="Calibri"/>
                <a:cs typeface="Calibri"/>
              </a:rPr>
              <a:t> </a:t>
            </a:r>
            <a:r>
              <a:rPr sz="2600" dirty="0">
                <a:latin typeface="Calibri"/>
                <a:cs typeface="Calibri"/>
              </a:rPr>
              <a:t>activities</a:t>
            </a:r>
            <a:r>
              <a:rPr sz="2600" spc="-50" dirty="0">
                <a:latin typeface="Calibri"/>
                <a:cs typeface="Calibri"/>
              </a:rPr>
              <a:t> </a:t>
            </a:r>
            <a:r>
              <a:rPr sz="2600" dirty="0">
                <a:latin typeface="Calibri"/>
                <a:cs typeface="Calibri"/>
              </a:rPr>
              <a:t>are</a:t>
            </a:r>
            <a:r>
              <a:rPr sz="2600" spc="-45" dirty="0">
                <a:latin typeface="Calibri"/>
                <a:cs typeface="Calibri"/>
              </a:rPr>
              <a:t> </a:t>
            </a:r>
            <a:r>
              <a:rPr sz="2600" dirty="0">
                <a:latin typeface="Calibri"/>
                <a:cs typeface="Calibri"/>
              </a:rPr>
              <a:t>placed</a:t>
            </a:r>
            <a:r>
              <a:rPr sz="2600" spc="-45" dirty="0">
                <a:latin typeface="Calibri"/>
                <a:cs typeface="Calibri"/>
              </a:rPr>
              <a:t> </a:t>
            </a:r>
            <a:r>
              <a:rPr sz="2600" dirty="0">
                <a:latin typeface="Calibri"/>
                <a:cs typeface="Calibri"/>
              </a:rPr>
              <a:t>in</a:t>
            </a:r>
            <a:r>
              <a:rPr sz="2600" spc="-40" dirty="0">
                <a:latin typeface="Calibri"/>
                <a:cs typeface="Calibri"/>
              </a:rPr>
              <a:t> </a:t>
            </a:r>
            <a:r>
              <a:rPr sz="2600" dirty="0">
                <a:latin typeface="Calibri"/>
                <a:cs typeface="Calibri"/>
              </a:rPr>
              <a:t>a</a:t>
            </a:r>
            <a:r>
              <a:rPr sz="2600" spc="-35" dirty="0">
                <a:latin typeface="Calibri"/>
                <a:cs typeface="Calibri"/>
              </a:rPr>
              <a:t> </a:t>
            </a:r>
            <a:r>
              <a:rPr sz="2600" dirty="0">
                <a:latin typeface="Calibri"/>
                <a:cs typeface="Calibri"/>
              </a:rPr>
              <a:t>sequence</a:t>
            </a:r>
            <a:r>
              <a:rPr sz="2600" spc="-50" dirty="0">
                <a:latin typeface="Calibri"/>
                <a:cs typeface="Calibri"/>
              </a:rPr>
              <a:t> </a:t>
            </a:r>
            <a:r>
              <a:rPr sz="2600" dirty="0">
                <a:latin typeface="Calibri"/>
                <a:cs typeface="Calibri"/>
              </a:rPr>
              <a:t>that</a:t>
            </a:r>
            <a:r>
              <a:rPr sz="2600" spc="-35" dirty="0">
                <a:latin typeface="Calibri"/>
                <a:cs typeface="Calibri"/>
              </a:rPr>
              <a:t> </a:t>
            </a:r>
            <a:r>
              <a:rPr sz="2600" dirty="0">
                <a:latin typeface="Calibri"/>
                <a:cs typeface="Calibri"/>
              </a:rPr>
              <a:t>provides</a:t>
            </a:r>
            <a:r>
              <a:rPr sz="2600" spc="-45" dirty="0">
                <a:latin typeface="Calibri"/>
                <a:cs typeface="Calibri"/>
              </a:rPr>
              <a:t> </a:t>
            </a:r>
            <a:r>
              <a:rPr sz="2600" dirty="0">
                <a:latin typeface="Calibri"/>
                <a:cs typeface="Calibri"/>
              </a:rPr>
              <a:t>for</a:t>
            </a:r>
            <a:r>
              <a:rPr sz="2600" spc="-35" dirty="0">
                <a:latin typeface="Calibri"/>
                <a:cs typeface="Calibri"/>
              </a:rPr>
              <a:t> </a:t>
            </a:r>
            <a:r>
              <a:rPr sz="2600" dirty="0">
                <a:latin typeface="Calibri"/>
                <a:cs typeface="Calibri"/>
              </a:rPr>
              <a:t>orderly</a:t>
            </a:r>
            <a:r>
              <a:rPr sz="2600" spc="-40" dirty="0">
                <a:latin typeface="Calibri"/>
                <a:cs typeface="Calibri"/>
              </a:rPr>
              <a:t> </a:t>
            </a:r>
            <a:r>
              <a:rPr sz="2600" spc="-10" dirty="0">
                <a:latin typeface="Calibri"/>
                <a:cs typeface="Calibri"/>
              </a:rPr>
              <a:t>completion </a:t>
            </a:r>
            <a:r>
              <a:rPr sz="2600" dirty="0">
                <a:latin typeface="Calibri"/>
                <a:cs typeface="Calibri"/>
              </a:rPr>
              <a:t>of</a:t>
            </a:r>
            <a:r>
              <a:rPr sz="2600" spc="-75" dirty="0">
                <a:latin typeface="Calibri"/>
                <a:cs typeface="Calibri"/>
              </a:rPr>
              <a:t> </a:t>
            </a:r>
            <a:r>
              <a:rPr sz="2600" dirty="0">
                <a:latin typeface="Calibri"/>
                <a:cs typeface="Calibri"/>
              </a:rPr>
              <a:t>the</a:t>
            </a:r>
            <a:r>
              <a:rPr sz="2600" spc="-65" dirty="0">
                <a:latin typeface="Calibri"/>
                <a:cs typeface="Calibri"/>
              </a:rPr>
              <a:t> </a:t>
            </a:r>
            <a:r>
              <a:rPr sz="2600" dirty="0">
                <a:latin typeface="Calibri"/>
                <a:cs typeface="Calibri"/>
              </a:rPr>
              <a:t>project.</a:t>
            </a:r>
            <a:r>
              <a:rPr sz="2600" spc="-55" dirty="0">
                <a:latin typeface="Calibri"/>
                <a:cs typeface="Calibri"/>
              </a:rPr>
              <a:t> </a:t>
            </a:r>
            <a:r>
              <a:rPr sz="2600" dirty="0">
                <a:latin typeface="Calibri"/>
                <a:cs typeface="Calibri"/>
              </a:rPr>
              <a:t>Networks</a:t>
            </a:r>
            <a:r>
              <a:rPr sz="2600" spc="-70" dirty="0">
                <a:latin typeface="Calibri"/>
                <a:cs typeface="Calibri"/>
              </a:rPr>
              <a:t> </a:t>
            </a:r>
            <a:r>
              <a:rPr sz="2600" dirty="0">
                <a:latin typeface="Calibri"/>
                <a:cs typeface="Calibri"/>
              </a:rPr>
              <a:t>are</a:t>
            </a:r>
            <a:r>
              <a:rPr sz="2600" spc="-70" dirty="0">
                <a:latin typeface="Calibri"/>
                <a:cs typeface="Calibri"/>
              </a:rPr>
              <a:t> </a:t>
            </a:r>
            <a:r>
              <a:rPr sz="2600" dirty="0">
                <a:latin typeface="Calibri"/>
                <a:cs typeface="Calibri"/>
              </a:rPr>
              <a:t>built</a:t>
            </a:r>
            <a:r>
              <a:rPr sz="2600" spc="-65" dirty="0">
                <a:latin typeface="Calibri"/>
                <a:cs typeface="Calibri"/>
              </a:rPr>
              <a:t> </a:t>
            </a:r>
            <a:r>
              <a:rPr sz="2600" dirty="0">
                <a:latin typeface="Calibri"/>
                <a:cs typeface="Calibri"/>
              </a:rPr>
              <a:t>using</a:t>
            </a:r>
            <a:r>
              <a:rPr sz="2600" spc="-65" dirty="0">
                <a:latin typeface="Calibri"/>
                <a:cs typeface="Calibri"/>
              </a:rPr>
              <a:t> </a:t>
            </a:r>
            <a:r>
              <a:rPr sz="2600" dirty="0">
                <a:solidFill>
                  <a:srgbClr val="FF0000"/>
                </a:solidFill>
                <a:latin typeface="Calibri"/>
                <a:cs typeface="Calibri"/>
              </a:rPr>
              <a:t>nodes</a:t>
            </a:r>
            <a:r>
              <a:rPr sz="2600" spc="-70" dirty="0">
                <a:solidFill>
                  <a:srgbClr val="FF0000"/>
                </a:solidFill>
                <a:latin typeface="Calibri"/>
                <a:cs typeface="Calibri"/>
              </a:rPr>
              <a:t> </a:t>
            </a:r>
            <a:r>
              <a:rPr sz="2600" spc="-10" dirty="0">
                <a:solidFill>
                  <a:srgbClr val="FF0000"/>
                </a:solidFill>
                <a:latin typeface="Calibri"/>
                <a:cs typeface="Calibri"/>
              </a:rPr>
              <a:t>(boxes)</a:t>
            </a:r>
            <a:r>
              <a:rPr sz="2600" spc="-60" dirty="0">
                <a:solidFill>
                  <a:srgbClr val="FF0000"/>
                </a:solidFill>
                <a:latin typeface="Calibri"/>
                <a:cs typeface="Calibri"/>
              </a:rPr>
              <a:t> </a:t>
            </a:r>
            <a:r>
              <a:rPr sz="2600" dirty="0">
                <a:latin typeface="Calibri"/>
                <a:cs typeface="Calibri"/>
              </a:rPr>
              <a:t>and</a:t>
            </a:r>
            <a:r>
              <a:rPr sz="2600" spc="-70" dirty="0">
                <a:latin typeface="Calibri"/>
                <a:cs typeface="Calibri"/>
              </a:rPr>
              <a:t> </a:t>
            </a:r>
            <a:r>
              <a:rPr sz="2600" dirty="0">
                <a:solidFill>
                  <a:srgbClr val="FF0000"/>
                </a:solidFill>
                <a:latin typeface="Calibri"/>
                <a:cs typeface="Calibri"/>
              </a:rPr>
              <a:t>arrows</a:t>
            </a:r>
            <a:r>
              <a:rPr sz="2600" spc="-70" dirty="0">
                <a:solidFill>
                  <a:srgbClr val="FF0000"/>
                </a:solidFill>
                <a:latin typeface="Calibri"/>
                <a:cs typeface="Calibri"/>
              </a:rPr>
              <a:t> </a:t>
            </a:r>
            <a:r>
              <a:rPr sz="2600" spc="-10" dirty="0">
                <a:solidFill>
                  <a:srgbClr val="FF0000"/>
                </a:solidFill>
                <a:latin typeface="Calibri"/>
                <a:cs typeface="Calibri"/>
              </a:rPr>
              <a:t>(lines).</a:t>
            </a:r>
            <a:endParaRPr sz="2600" dirty="0">
              <a:solidFill>
                <a:srgbClr val="FF0000"/>
              </a:solidFill>
              <a:latin typeface="Calibri"/>
              <a:cs typeface="Calibri"/>
            </a:endParaRPr>
          </a:p>
          <a:p>
            <a:pPr marL="241300" indent="-228600">
              <a:lnSpc>
                <a:spcPts val="2650"/>
              </a:lnSpc>
              <a:spcBef>
                <a:spcPts val="95"/>
              </a:spcBef>
              <a:buFont typeface="Arial MT"/>
              <a:buChar char="•"/>
              <a:tabLst>
                <a:tab pos="241300" algn="l"/>
                <a:tab pos="872490" algn="l"/>
                <a:tab pos="1958975" algn="l"/>
                <a:tab pos="3279775" algn="l"/>
                <a:tab pos="4087495" algn="l"/>
                <a:tab pos="4558665" algn="l"/>
                <a:tab pos="5610225" algn="l"/>
                <a:tab pos="6027420" algn="l"/>
                <a:tab pos="7521575" algn="l"/>
                <a:tab pos="9008110" algn="l"/>
                <a:tab pos="9463405" algn="l"/>
              </a:tabLst>
            </a:pPr>
            <a:r>
              <a:rPr sz="2600" spc="-25" dirty="0">
                <a:solidFill>
                  <a:srgbClr val="262EA4"/>
                </a:solidFill>
                <a:latin typeface="Calibri"/>
                <a:cs typeface="Calibri"/>
              </a:rPr>
              <a:t>The</a:t>
            </a:r>
            <a:r>
              <a:rPr sz="2600" dirty="0">
                <a:solidFill>
                  <a:srgbClr val="262EA4"/>
                </a:solidFill>
                <a:latin typeface="Calibri"/>
                <a:cs typeface="Calibri"/>
              </a:rPr>
              <a:t>	</a:t>
            </a:r>
            <a:r>
              <a:rPr sz="2600" spc="-10" dirty="0">
                <a:solidFill>
                  <a:srgbClr val="262EA4"/>
                </a:solidFill>
                <a:latin typeface="Calibri"/>
                <a:cs typeface="Calibri"/>
              </a:rPr>
              <a:t>project</a:t>
            </a:r>
            <a:r>
              <a:rPr sz="2600" dirty="0">
                <a:solidFill>
                  <a:srgbClr val="262EA4"/>
                </a:solidFill>
                <a:latin typeface="Calibri"/>
                <a:cs typeface="Calibri"/>
              </a:rPr>
              <a:t>	</a:t>
            </a:r>
            <a:r>
              <a:rPr sz="2600" spc="-10" dirty="0">
                <a:solidFill>
                  <a:srgbClr val="262EA4"/>
                </a:solidFill>
                <a:latin typeface="Calibri"/>
                <a:cs typeface="Calibri"/>
              </a:rPr>
              <a:t>manager</a:t>
            </a:r>
            <a:r>
              <a:rPr sz="2600" dirty="0">
                <a:solidFill>
                  <a:srgbClr val="262EA4"/>
                </a:solidFill>
                <a:latin typeface="Calibri"/>
                <a:cs typeface="Calibri"/>
              </a:rPr>
              <a:t>	</a:t>
            </a:r>
            <a:r>
              <a:rPr sz="2600" spc="-20" dirty="0">
                <a:solidFill>
                  <a:srgbClr val="262EA4"/>
                </a:solidFill>
                <a:latin typeface="Calibri"/>
                <a:cs typeface="Calibri"/>
              </a:rPr>
              <a:t>must</a:t>
            </a:r>
            <a:r>
              <a:rPr sz="2600" dirty="0">
                <a:solidFill>
                  <a:srgbClr val="262EA4"/>
                </a:solidFill>
                <a:latin typeface="Calibri"/>
                <a:cs typeface="Calibri"/>
              </a:rPr>
              <a:t>	</a:t>
            </a:r>
            <a:r>
              <a:rPr sz="2600" spc="-25" dirty="0">
                <a:solidFill>
                  <a:srgbClr val="262EA4"/>
                </a:solidFill>
                <a:latin typeface="Calibri"/>
                <a:cs typeface="Calibri"/>
              </a:rPr>
              <a:t>be</a:t>
            </a:r>
            <a:r>
              <a:rPr sz="2600" dirty="0">
                <a:solidFill>
                  <a:srgbClr val="262EA4"/>
                </a:solidFill>
                <a:latin typeface="Calibri"/>
                <a:cs typeface="Calibri"/>
              </a:rPr>
              <a:t>	</a:t>
            </a:r>
            <a:r>
              <a:rPr sz="2600" spc="-10" dirty="0">
                <a:solidFill>
                  <a:srgbClr val="262EA4"/>
                </a:solidFill>
                <a:latin typeface="Calibri"/>
                <a:cs typeface="Calibri"/>
              </a:rPr>
              <a:t>careful</a:t>
            </a:r>
            <a:r>
              <a:rPr sz="2600" dirty="0">
                <a:solidFill>
                  <a:srgbClr val="262EA4"/>
                </a:solidFill>
                <a:latin typeface="Calibri"/>
                <a:cs typeface="Calibri"/>
              </a:rPr>
              <a:t>	</a:t>
            </a:r>
            <a:r>
              <a:rPr sz="2600" spc="-25" dirty="0">
                <a:solidFill>
                  <a:srgbClr val="262EA4"/>
                </a:solidFill>
                <a:latin typeface="Calibri"/>
                <a:cs typeface="Calibri"/>
              </a:rPr>
              <a:t>to</a:t>
            </a:r>
            <a:r>
              <a:rPr sz="2600" dirty="0">
                <a:solidFill>
                  <a:srgbClr val="262EA4"/>
                </a:solidFill>
                <a:latin typeface="Calibri"/>
                <a:cs typeface="Calibri"/>
              </a:rPr>
              <a:t>	</a:t>
            </a:r>
            <a:r>
              <a:rPr sz="2600" spc="-10" dirty="0">
                <a:solidFill>
                  <a:srgbClr val="262EA4"/>
                </a:solidFill>
                <a:latin typeface="Calibri"/>
                <a:cs typeface="Calibri"/>
              </a:rPr>
              <a:t>guarantee</a:t>
            </a:r>
            <a:r>
              <a:rPr sz="2600" dirty="0">
                <a:solidFill>
                  <a:srgbClr val="262EA4"/>
                </a:solidFill>
                <a:latin typeface="Calibri"/>
                <a:cs typeface="Calibri"/>
              </a:rPr>
              <a:t>	</a:t>
            </a:r>
            <a:r>
              <a:rPr sz="2600" spc="-10" dirty="0">
                <a:solidFill>
                  <a:srgbClr val="262EA4"/>
                </a:solidFill>
                <a:latin typeface="Calibri"/>
                <a:cs typeface="Calibri"/>
              </a:rPr>
              <a:t>continuity</a:t>
            </a:r>
            <a:r>
              <a:rPr sz="2600" dirty="0">
                <a:solidFill>
                  <a:srgbClr val="262EA4"/>
                </a:solidFill>
                <a:latin typeface="Calibri"/>
                <a:cs typeface="Calibri"/>
              </a:rPr>
              <a:t>	</a:t>
            </a:r>
            <a:r>
              <a:rPr sz="2600" spc="-25" dirty="0">
                <a:solidFill>
                  <a:srgbClr val="262EA4"/>
                </a:solidFill>
                <a:latin typeface="Calibri"/>
                <a:cs typeface="Calibri"/>
              </a:rPr>
              <a:t>by</a:t>
            </a:r>
            <a:r>
              <a:rPr sz="2600" dirty="0">
                <a:solidFill>
                  <a:srgbClr val="262EA4"/>
                </a:solidFill>
                <a:latin typeface="Calibri"/>
                <a:cs typeface="Calibri"/>
              </a:rPr>
              <a:t>	</a:t>
            </a:r>
            <a:r>
              <a:rPr sz="2600" spc="-10" dirty="0">
                <a:solidFill>
                  <a:srgbClr val="262EA4"/>
                </a:solidFill>
                <a:latin typeface="Calibri"/>
                <a:cs typeface="Calibri"/>
              </a:rPr>
              <a:t>having</a:t>
            </a:r>
            <a:endParaRPr sz="2600" dirty="0">
              <a:latin typeface="Calibri"/>
              <a:cs typeface="Calibri"/>
            </a:endParaRPr>
          </a:p>
          <a:p>
            <a:pPr marL="241300" marR="5080">
              <a:lnSpc>
                <a:spcPct val="70800"/>
              </a:lnSpc>
              <a:spcBef>
                <a:spcPts val="445"/>
              </a:spcBef>
              <a:tabLst>
                <a:tab pos="1147445" algn="l"/>
                <a:tab pos="1597660" algn="l"/>
                <a:tab pos="2221230" algn="l"/>
                <a:tab pos="3111500" algn="l"/>
                <a:tab pos="4211320" algn="l"/>
                <a:tab pos="4972050" algn="l"/>
                <a:tab pos="6167120" algn="l"/>
                <a:tab pos="6790690" algn="l"/>
                <a:tab pos="7592059" algn="l"/>
                <a:tab pos="8272780" algn="l"/>
                <a:tab pos="9123680" algn="l"/>
              </a:tabLst>
            </a:pPr>
            <a:r>
              <a:rPr sz="2600" spc="-20" dirty="0">
                <a:solidFill>
                  <a:srgbClr val="262EA4"/>
                </a:solidFill>
                <a:latin typeface="Calibri"/>
                <a:cs typeface="Calibri"/>
              </a:rPr>
              <a:t>some</a:t>
            </a:r>
            <a:r>
              <a:rPr sz="2600" dirty="0">
                <a:solidFill>
                  <a:srgbClr val="262EA4"/>
                </a:solidFill>
                <a:latin typeface="Calibri"/>
                <a:cs typeface="Calibri"/>
              </a:rPr>
              <a:t>	</a:t>
            </a:r>
            <a:r>
              <a:rPr sz="2600" spc="-25" dirty="0">
                <a:solidFill>
                  <a:srgbClr val="262EA4"/>
                </a:solidFill>
                <a:latin typeface="Calibri"/>
                <a:cs typeface="Calibri"/>
              </a:rPr>
              <a:t>of</a:t>
            </a:r>
            <a:r>
              <a:rPr sz="2600" dirty="0">
                <a:solidFill>
                  <a:srgbClr val="262EA4"/>
                </a:solidFill>
                <a:latin typeface="Calibri"/>
                <a:cs typeface="Calibri"/>
              </a:rPr>
              <a:t>	</a:t>
            </a:r>
            <a:r>
              <a:rPr sz="2600" spc="-25" dirty="0">
                <a:solidFill>
                  <a:srgbClr val="262EA4"/>
                </a:solidFill>
                <a:latin typeface="Calibri"/>
                <a:cs typeface="Calibri"/>
              </a:rPr>
              <a:t>the</a:t>
            </a:r>
            <a:r>
              <a:rPr sz="2600" dirty="0">
                <a:solidFill>
                  <a:srgbClr val="262EA4"/>
                </a:solidFill>
                <a:latin typeface="Calibri"/>
                <a:cs typeface="Calibri"/>
              </a:rPr>
              <a:t>	</a:t>
            </a:r>
            <a:r>
              <a:rPr sz="2600" spc="-20" dirty="0">
                <a:solidFill>
                  <a:srgbClr val="262EA4"/>
                </a:solidFill>
                <a:latin typeface="Calibri"/>
                <a:cs typeface="Calibri"/>
              </a:rPr>
              <a:t>same</a:t>
            </a:r>
            <a:r>
              <a:rPr sz="2600" dirty="0">
                <a:solidFill>
                  <a:srgbClr val="262EA4"/>
                </a:solidFill>
                <a:latin typeface="Calibri"/>
                <a:cs typeface="Calibri"/>
              </a:rPr>
              <a:t>	</a:t>
            </a:r>
            <a:r>
              <a:rPr sz="2600" spc="-10" dirty="0">
                <a:solidFill>
                  <a:srgbClr val="262EA4"/>
                </a:solidFill>
                <a:latin typeface="Calibri"/>
                <a:cs typeface="Calibri"/>
              </a:rPr>
              <a:t>people</a:t>
            </a:r>
            <a:r>
              <a:rPr sz="2600" dirty="0">
                <a:solidFill>
                  <a:srgbClr val="262EA4"/>
                </a:solidFill>
                <a:latin typeface="Calibri"/>
                <a:cs typeface="Calibri"/>
              </a:rPr>
              <a:t>	</a:t>
            </a:r>
            <a:r>
              <a:rPr sz="2600" spc="-25" dirty="0">
                <a:solidFill>
                  <a:srgbClr val="262EA4"/>
                </a:solidFill>
                <a:latin typeface="Calibri"/>
                <a:cs typeface="Calibri"/>
              </a:rPr>
              <a:t>who</a:t>
            </a:r>
            <a:r>
              <a:rPr sz="2600" dirty="0">
                <a:solidFill>
                  <a:srgbClr val="262EA4"/>
                </a:solidFill>
                <a:latin typeface="Calibri"/>
                <a:cs typeface="Calibri"/>
              </a:rPr>
              <a:t>	</a:t>
            </a:r>
            <a:r>
              <a:rPr sz="2600" spc="-10" dirty="0">
                <a:solidFill>
                  <a:srgbClr val="262EA4"/>
                </a:solidFill>
                <a:latin typeface="Calibri"/>
                <a:cs typeface="Calibri"/>
              </a:rPr>
              <a:t>defined</a:t>
            </a:r>
            <a:r>
              <a:rPr sz="2600" dirty="0">
                <a:solidFill>
                  <a:srgbClr val="262EA4"/>
                </a:solidFill>
                <a:latin typeface="Calibri"/>
                <a:cs typeface="Calibri"/>
              </a:rPr>
              <a:t>	</a:t>
            </a:r>
            <a:r>
              <a:rPr sz="2600" spc="-25" dirty="0">
                <a:solidFill>
                  <a:srgbClr val="262EA4"/>
                </a:solidFill>
                <a:latin typeface="Calibri"/>
                <a:cs typeface="Calibri"/>
              </a:rPr>
              <a:t>the</a:t>
            </a:r>
            <a:r>
              <a:rPr sz="2600" dirty="0">
                <a:solidFill>
                  <a:srgbClr val="262EA4"/>
                </a:solidFill>
                <a:latin typeface="Calibri"/>
                <a:cs typeface="Calibri"/>
              </a:rPr>
              <a:t>	</a:t>
            </a:r>
            <a:r>
              <a:rPr sz="2600" spc="-25" dirty="0">
                <a:solidFill>
                  <a:srgbClr val="262EA4"/>
                </a:solidFill>
                <a:latin typeface="Calibri"/>
                <a:cs typeface="Calibri"/>
              </a:rPr>
              <a:t>WBS</a:t>
            </a:r>
            <a:r>
              <a:rPr sz="2600" dirty="0">
                <a:solidFill>
                  <a:srgbClr val="262EA4"/>
                </a:solidFill>
                <a:latin typeface="Calibri"/>
                <a:cs typeface="Calibri"/>
              </a:rPr>
              <a:t>	</a:t>
            </a:r>
            <a:r>
              <a:rPr sz="2600" spc="-25" dirty="0">
                <a:solidFill>
                  <a:srgbClr val="262EA4"/>
                </a:solidFill>
                <a:latin typeface="Calibri"/>
                <a:cs typeface="Calibri"/>
              </a:rPr>
              <a:t>and</a:t>
            </a:r>
            <a:r>
              <a:rPr sz="2600" dirty="0">
                <a:solidFill>
                  <a:srgbClr val="262EA4"/>
                </a:solidFill>
                <a:latin typeface="Calibri"/>
                <a:cs typeface="Calibri"/>
              </a:rPr>
              <a:t>	</a:t>
            </a:r>
            <a:r>
              <a:rPr sz="2600" spc="-20" dirty="0">
                <a:solidFill>
                  <a:srgbClr val="262EA4"/>
                </a:solidFill>
                <a:latin typeface="Calibri"/>
                <a:cs typeface="Calibri"/>
              </a:rPr>
              <a:t>work</a:t>
            </a:r>
            <a:r>
              <a:rPr sz="2600" dirty="0">
                <a:solidFill>
                  <a:srgbClr val="262EA4"/>
                </a:solidFill>
                <a:latin typeface="Calibri"/>
                <a:cs typeface="Calibri"/>
              </a:rPr>
              <a:t>	</a:t>
            </a:r>
            <a:r>
              <a:rPr sz="2600" spc="-20" dirty="0">
                <a:solidFill>
                  <a:srgbClr val="262EA4"/>
                </a:solidFill>
                <a:latin typeface="Calibri"/>
                <a:cs typeface="Calibri"/>
              </a:rPr>
              <a:t>packages </a:t>
            </a:r>
            <a:r>
              <a:rPr sz="2600" dirty="0">
                <a:solidFill>
                  <a:srgbClr val="262EA4"/>
                </a:solidFill>
                <a:latin typeface="Calibri"/>
                <a:cs typeface="Calibri"/>
              </a:rPr>
              <a:t>develop</a:t>
            </a:r>
            <a:r>
              <a:rPr sz="2600" spc="-85" dirty="0">
                <a:solidFill>
                  <a:srgbClr val="262EA4"/>
                </a:solidFill>
                <a:latin typeface="Calibri"/>
                <a:cs typeface="Calibri"/>
              </a:rPr>
              <a:t> </a:t>
            </a:r>
            <a:r>
              <a:rPr sz="2600" dirty="0">
                <a:solidFill>
                  <a:srgbClr val="262EA4"/>
                </a:solidFill>
                <a:latin typeface="Calibri"/>
                <a:cs typeface="Calibri"/>
              </a:rPr>
              <a:t>the</a:t>
            </a:r>
            <a:r>
              <a:rPr sz="2600" spc="-80" dirty="0">
                <a:solidFill>
                  <a:srgbClr val="262EA4"/>
                </a:solidFill>
                <a:latin typeface="Calibri"/>
                <a:cs typeface="Calibri"/>
              </a:rPr>
              <a:t> </a:t>
            </a:r>
            <a:r>
              <a:rPr sz="2600" dirty="0">
                <a:solidFill>
                  <a:srgbClr val="262EA4"/>
                </a:solidFill>
                <a:latin typeface="Calibri"/>
                <a:cs typeface="Calibri"/>
              </a:rPr>
              <a:t>network</a:t>
            </a:r>
            <a:r>
              <a:rPr sz="2600" spc="-80" dirty="0">
                <a:solidFill>
                  <a:srgbClr val="262EA4"/>
                </a:solidFill>
                <a:latin typeface="Calibri"/>
                <a:cs typeface="Calibri"/>
              </a:rPr>
              <a:t> </a:t>
            </a:r>
            <a:r>
              <a:rPr sz="2600" spc="-10" dirty="0">
                <a:solidFill>
                  <a:srgbClr val="262EA4"/>
                </a:solidFill>
                <a:latin typeface="Calibri"/>
                <a:cs typeface="Calibri"/>
              </a:rPr>
              <a:t>activities.</a:t>
            </a:r>
            <a:endParaRPr sz="2600" dirty="0">
              <a:latin typeface="Calibri"/>
              <a:cs typeface="Calibri"/>
            </a:endParaRPr>
          </a:p>
          <a:p>
            <a:pPr marL="241300" marR="5080" indent="-228600">
              <a:lnSpc>
                <a:spcPct val="70800"/>
              </a:lnSpc>
              <a:spcBef>
                <a:spcPts val="885"/>
              </a:spcBef>
              <a:buFont typeface="Arial MT"/>
              <a:buChar char="•"/>
              <a:tabLst>
                <a:tab pos="241300" algn="l"/>
                <a:tab pos="1743075" algn="l"/>
                <a:tab pos="2978785" algn="l"/>
                <a:tab pos="3642995" algn="l"/>
                <a:tab pos="4811395" algn="l"/>
                <a:tab pos="6217920" algn="l"/>
                <a:tab pos="6755130" algn="l"/>
                <a:tab pos="8397240" algn="l"/>
              </a:tabLst>
            </a:pPr>
            <a:r>
              <a:rPr sz="2600" spc="-10" dirty="0">
                <a:latin typeface="Calibri"/>
                <a:cs typeface="Calibri"/>
              </a:rPr>
              <a:t>Networks</a:t>
            </a:r>
            <a:r>
              <a:rPr sz="2600" dirty="0">
                <a:latin typeface="Calibri"/>
                <a:cs typeface="Calibri"/>
              </a:rPr>
              <a:t>	</a:t>
            </a:r>
            <a:r>
              <a:rPr sz="2600" spc="-10" dirty="0">
                <a:latin typeface="Calibri"/>
                <a:cs typeface="Calibri"/>
              </a:rPr>
              <a:t>provide</a:t>
            </a:r>
            <a:r>
              <a:rPr sz="2600" dirty="0">
                <a:latin typeface="Calibri"/>
                <a:cs typeface="Calibri"/>
              </a:rPr>
              <a:t>	</a:t>
            </a:r>
            <a:r>
              <a:rPr sz="2600" spc="-25" dirty="0">
                <a:latin typeface="Calibri"/>
                <a:cs typeface="Calibri"/>
              </a:rPr>
              <a:t>the</a:t>
            </a:r>
            <a:r>
              <a:rPr sz="2600" dirty="0">
                <a:latin typeface="Calibri"/>
                <a:cs typeface="Calibri"/>
              </a:rPr>
              <a:t>	</a:t>
            </a:r>
            <a:r>
              <a:rPr sz="2600" spc="-10" dirty="0">
                <a:latin typeface="Calibri"/>
                <a:cs typeface="Calibri"/>
              </a:rPr>
              <a:t>project</a:t>
            </a:r>
            <a:r>
              <a:rPr sz="2600" dirty="0">
                <a:latin typeface="Calibri"/>
                <a:cs typeface="Calibri"/>
              </a:rPr>
              <a:t>	</a:t>
            </a:r>
            <a:r>
              <a:rPr sz="2600" spc="-10" dirty="0">
                <a:latin typeface="Calibri"/>
                <a:cs typeface="Calibri"/>
              </a:rPr>
              <a:t>schedule</a:t>
            </a:r>
            <a:r>
              <a:rPr sz="2600" dirty="0">
                <a:latin typeface="Calibri"/>
                <a:cs typeface="Calibri"/>
              </a:rPr>
              <a:t>	</a:t>
            </a:r>
            <a:r>
              <a:rPr sz="2600" spc="-25" dirty="0">
                <a:latin typeface="Calibri"/>
                <a:cs typeface="Calibri"/>
              </a:rPr>
              <a:t>by</a:t>
            </a:r>
            <a:r>
              <a:rPr sz="2600" dirty="0">
                <a:latin typeface="Calibri"/>
                <a:cs typeface="Calibri"/>
              </a:rPr>
              <a:t>	</a:t>
            </a:r>
            <a:r>
              <a:rPr sz="2600" spc="-10" dirty="0">
                <a:latin typeface="Calibri"/>
                <a:cs typeface="Calibri"/>
              </a:rPr>
              <a:t>identifying</a:t>
            </a:r>
            <a:r>
              <a:rPr sz="2600" dirty="0">
                <a:latin typeface="Calibri"/>
                <a:cs typeface="Calibri"/>
              </a:rPr>
              <a:t>	</a:t>
            </a:r>
            <a:r>
              <a:rPr sz="2600" spc="-10" dirty="0">
                <a:latin typeface="Calibri"/>
                <a:cs typeface="Calibri"/>
              </a:rPr>
              <a:t>dependencies, </a:t>
            </a:r>
            <a:r>
              <a:rPr sz="2600" dirty="0">
                <a:latin typeface="Calibri"/>
                <a:cs typeface="Calibri"/>
              </a:rPr>
              <a:t>sequencing,</a:t>
            </a:r>
            <a:r>
              <a:rPr sz="2600" spc="-55" dirty="0">
                <a:latin typeface="Calibri"/>
                <a:cs typeface="Calibri"/>
              </a:rPr>
              <a:t> </a:t>
            </a:r>
            <a:r>
              <a:rPr sz="2600" dirty="0">
                <a:latin typeface="Calibri"/>
                <a:cs typeface="Calibri"/>
              </a:rPr>
              <a:t>and</a:t>
            </a:r>
            <a:r>
              <a:rPr sz="2600" spc="-45" dirty="0">
                <a:latin typeface="Calibri"/>
                <a:cs typeface="Calibri"/>
              </a:rPr>
              <a:t> </a:t>
            </a:r>
            <a:r>
              <a:rPr sz="2600" dirty="0">
                <a:latin typeface="Calibri"/>
                <a:cs typeface="Calibri"/>
              </a:rPr>
              <a:t>timing</a:t>
            </a:r>
            <a:r>
              <a:rPr sz="2600" spc="-45" dirty="0">
                <a:latin typeface="Calibri"/>
                <a:cs typeface="Calibri"/>
              </a:rPr>
              <a:t> </a:t>
            </a:r>
            <a:r>
              <a:rPr sz="2600" dirty="0">
                <a:latin typeface="Calibri"/>
                <a:cs typeface="Calibri"/>
              </a:rPr>
              <a:t>of</a:t>
            </a:r>
            <a:r>
              <a:rPr sz="2600" spc="-50" dirty="0">
                <a:latin typeface="Calibri"/>
                <a:cs typeface="Calibri"/>
              </a:rPr>
              <a:t> </a:t>
            </a:r>
            <a:r>
              <a:rPr sz="2600" dirty="0">
                <a:latin typeface="Calibri"/>
                <a:cs typeface="Calibri"/>
              </a:rPr>
              <a:t>activities,</a:t>
            </a:r>
            <a:r>
              <a:rPr sz="2600" spc="-55" dirty="0">
                <a:latin typeface="Calibri"/>
                <a:cs typeface="Calibri"/>
              </a:rPr>
              <a:t> </a:t>
            </a:r>
            <a:r>
              <a:rPr sz="2600" dirty="0">
                <a:latin typeface="Calibri"/>
                <a:cs typeface="Calibri"/>
              </a:rPr>
              <a:t>which</a:t>
            </a:r>
            <a:r>
              <a:rPr sz="2600" spc="-45" dirty="0">
                <a:latin typeface="Calibri"/>
                <a:cs typeface="Calibri"/>
              </a:rPr>
              <a:t> </a:t>
            </a:r>
            <a:r>
              <a:rPr sz="2600" dirty="0">
                <a:latin typeface="Calibri"/>
                <a:cs typeface="Calibri"/>
              </a:rPr>
              <a:t>the</a:t>
            </a:r>
            <a:r>
              <a:rPr sz="2600" spc="-50" dirty="0">
                <a:latin typeface="Calibri"/>
                <a:cs typeface="Calibri"/>
              </a:rPr>
              <a:t> </a:t>
            </a:r>
            <a:r>
              <a:rPr sz="2600" dirty="0">
                <a:latin typeface="Calibri"/>
                <a:cs typeface="Calibri"/>
              </a:rPr>
              <a:t>WBS</a:t>
            </a:r>
            <a:r>
              <a:rPr sz="2600" spc="-35" dirty="0">
                <a:latin typeface="Calibri"/>
                <a:cs typeface="Calibri"/>
              </a:rPr>
              <a:t> </a:t>
            </a:r>
            <a:r>
              <a:rPr sz="2600" dirty="0">
                <a:latin typeface="Calibri"/>
                <a:cs typeface="Calibri"/>
              </a:rPr>
              <a:t>is</a:t>
            </a:r>
            <a:r>
              <a:rPr sz="2600" spc="-55" dirty="0">
                <a:latin typeface="Calibri"/>
                <a:cs typeface="Calibri"/>
              </a:rPr>
              <a:t> </a:t>
            </a:r>
            <a:r>
              <a:rPr sz="2600" dirty="0">
                <a:latin typeface="Calibri"/>
                <a:cs typeface="Calibri"/>
              </a:rPr>
              <a:t>not</a:t>
            </a:r>
            <a:r>
              <a:rPr sz="2600" spc="-40" dirty="0">
                <a:latin typeface="Calibri"/>
                <a:cs typeface="Calibri"/>
              </a:rPr>
              <a:t> </a:t>
            </a:r>
            <a:r>
              <a:rPr sz="2600" dirty="0">
                <a:latin typeface="Calibri"/>
                <a:cs typeface="Calibri"/>
              </a:rPr>
              <a:t>designed</a:t>
            </a:r>
            <a:r>
              <a:rPr sz="2600" spc="-50" dirty="0">
                <a:latin typeface="Calibri"/>
                <a:cs typeface="Calibri"/>
              </a:rPr>
              <a:t> </a:t>
            </a:r>
            <a:r>
              <a:rPr sz="2600" dirty="0">
                <a:latin typeface="Calibri"/>
                <a:cs typeface="Calibri"/>
              </a:rPr>
              <a:t>to</a:t>
            </a:r>
            <a:r>
              <a:rPr sz="2600" spc="-45" dirty="0">
                <a:latin typeface="Calibri"/>
                <a:cs typeface="Calibri"/>
              </a:rPr>
              <a:t> </a:t>
            </a:r>
            <a:r>
              <a:rPr sz="2600" spc="-25" dirty="0">
                <a:latin typeface="Calibri"/>
                <a:cs typeface="Calibri"/>
              </a:rPr>
              <a:t>do.</a:t>
            </a:r>
            <a:endParaRPr sz="2600" dirty="0">
              <a:latin typeface="Calibri"/>
              <a:cs typeface="Calibri"/>
            </a:endParaRPr>
          </a:p>
        </p:txBody>
      </p:sp>
      <p:sp>
        <p:nvSpPr>
          <p:cNvPr id="7" name="object 7"/>
          <p:cNvSpPr txBox="1"/>
          <p:nvPr/>
        </p:nvSpPr>
        <p:spPr>
          <a:xfrm>
            <a:off x="11816993" y="6421628"/>
            <a:ext cx="102870" cy="208279"/>
          </a:xfrm>
          <a:prstGeom prst="rect">
            <a:avLst/>
          </a:prstGeom>
        </p:spPr>
        <p:txBody>
          <a:bodyPr vert="horz" wrap="square" lIns="0" tIns="12700" rIns="0" bIns="0" rtlCol="0">
            <a:spAutoFit/>
          </a:bodyPr>
          <a:lstStyle/>
          <a:p>
            <a:pPr marL="12700">
              <a:lnSpc>
                <a:spcPct val="100000"/>
              </a:lnSpc>
              <a:spcBef>
                <a:spcPts val="100"/>
              </a:spcBef>
            </a:pPr>
            <a:r>
              <a:rPr sz="1200" b="1" spc="-50" dirty="0">
                <a:solidFill>
                  <a:srgbClr val="898989"/>
                </a:solidFill>
                <a:latin typeface="Calibri"/>
                <a:cs typeface="Calibri"/>
              </a:rPr>
              <a:t>4</a:t>
            </a:r>
            <a:endParaRPr sz="1200">
              <a:latin typeface="Calibri"/>
              <a:cs typeface="Calibri"/>
            </a:endParaRPr>
          </a:p>
        </p:txBody>
      </p:sp>
      <p:pic>
        <p:nvPicPr>
          <p:cNvPr id="8" name="Picture 7">
            <a:extLst>
              <a:ext uri="{FF2B5EF4-FFF2-40B4-BE49-F238E27FC236}">
                <a16:creationId xmlns:a16="http://schemas.microsoft.com/office/drawing/2014/main" id="{C151CB5C-F895-2AEB-2CB7-0A3546AA98C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6063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5C2FB6-06A4-4DA5-BEF1-1CBD807809E7}"/>
              </a:ext>
            </a:extLst>
          </p:cNvPr>
          <p:cNvSpPr>
            <a:spLocks noGrp="1"/>
          </p:cNvSpPr>
          <p:nvPr>
            <p:ph type="title"/>
          </p:nvPr>
        </p:nvSpPr>
        <p:spPr>
          <a:xfrm>
            <a:off x="375664" y="381000"/>
            <a:ext cx="11207115" cy="1323439"/>
          </a:xfrm>
        </p:spPr>
        <p:txBody>
          <a:bodyPr/>
          <a:lstStyle/>
          <a:p>
            <a:r>
              <a:rPr lang="en-US" spc="110" dirty="0"/>
              <a:t>Key Elements of a Network Diagram</a:t>
            </a:r>
            <a:br>
              <a:rPr lang="en-US" b="1" i="0" dirty="0">
                <a:solidFill>
                  <a:srgbClr val="222222"/>
                </a:solidFill>
                <a:effectLst/>
                <a:latin typeface="Roboto" panose="02000000000000000000" pitchFamily="2" charset="0"/>
              </a:rPr>
            </a:br>
            <a:endParaRPr lang="en-US" dirty="0"/>
          </a:p>
        </p:txBody>
      </p:sp>
      <p:sp>
        <p:nvSpPr>
          <p:cNvPr id="4" name="TextBox 3">
            <a:extLst>
              <a:ext uri="{FF2B5EF4-FFF2-40B4-BE49-F238E27FC236}">
                <a16:creationId xmlns:a16="http://schemas.microsoft.com/office/drawing/2014/main" id="{47C071D4-BC4F-4B1C-8BDE-91C41A619984}"/>
              </a:ext>
            </a:extLst>
          </p:cNvPr>
          <p:cNvSpPr txBox="1"/>
          <p:nvPr/>
        </p:nvSpPr>
        <p:spPr>
          <a:xfrm>
            <a:off x="109303" y="1595021"/>
            <a:ext cx="11973393" cy="5324535"/>
          </a:xfrm>
          <a:prstGeom prst="rect">
            <a:avLst/>
          </a:prstGeom>
          <a:noFill/>
        </p:spPr>
        <p:txBody>
          <a:bodyPr wrap="square">
            <a:spAutoFit/>
          </a:bodyPr>
          <a:lstStyle/>
          <a:p>
            <a:pPr algn="l" fontAlgn="base"/>
            <a:r>
              <a:rPr lang="en-US" sz="1600" b="0" i="0" dirty="0">
                <a:solidFill>
                  <a:srgbClr val="414141"/>
                </a:solidFill>
                <a:effectLst/>
                <a:latin typeface="Roboto" panose="02000000000000000000" pitchFamily="2" charset="0"/>
              </a:rPr>
              <a:t>To understand network diagrams fully, it is essential to familiarize yourself with their key elements. Let’s explore each element in detail:</a:t>
            </a:r>
          </a:p>
          <a:p>
            <a:pPr algn="l" fontAlgn="base"/>
            <a:endParaRPr lang="en-US" sz="1600" b="0" i="0" dirty="0">
              <a:solidFill>
                <a:srgbClr val="414141"/>
              </a:solidFill>
              <a:effectLst/>
              <a:latin typeface="Roboto" panose="02000000000000000000" pitchFamily="2" charset="0"/>
            </a:endParaRPr>
          </a:p>
          <a:p>
            <a:pPr algn="l" fontAlgn="base"/>
            <a:r>
              <a:rPr lang="en-US" b="1" i="0" dirty="0">
                <a:solidFill>
                  <a:srgbClr val="FF0000"/>
                </a:solidFill>
                <a:effectLst/>
                <a:latin typeface="Roboto" panose="02000000000000000000" pitchFamily="2" charset="0"/>
              </a:rPr>
              <a:t>Nodes</a:t>
            </a:r>
          </a:p>
          <a:p>
            <a:pPr algn="l" fontAlgn="base"/>
            <a:r>
              <a:rPr lang="en-US" sz="1600" b="0" i="0" dirty="0">
                <a:solidFill>
                  <a:srgbClr val="414141"/>
                </a:solidFill>
                <a:effectLst/>
                <a:latin typeface="Roboto" panose="02000000000000000000" pitchFamily="2" charset="0"/>
              </a:rPr>
              <a:t>In a network diagram, nodes represent the various activities or tasks within a project. Each node represents a specific activity that needs to be completed. Nodes are usually depicted as circles or rectangles, and their placement within the diagram signifies their sequence in the project’s flow.</a:t>
            </a:r>
          </a:p>
          <a:p>
            <a:pPr algn="l" fontAlgn="base"/>
            <a:endParaRPr lang="en-US" sz="1600" b="0" i="0" dirty="0">
              <a:solidFill>
                <a:srgbClr val="414141"/>
              </a:solidFill>
              <a:effectLst/>
              <a:latin typeface="Roboto" panose="02000000000000000000" pitchFamily="2" charset="0"/>
            </a:endParaRPr>
          </a:p>
          <a:p>
            <a:pPr algn="l" fontAlgn="base"/>
            <a:r>
              <a:rPr lang="en-US" b="1" i="0" dirty="0">
                <a:solidFill>
                  <a:srgbClr val="FF0000"/>
                </a:solidFill>
                <a:effectLst/>
                <a:latin typeface="Roboto" panose="02000000000000000000" pitchFamily="2" charset="0"/>
              </a:rPr>
              <a:t>Activities</a:t>
            </a:r>
          </a:p>
          <a:p>
            <a:pPr algn="l" fontAlgn="base"/>
            <a:r>
              <a:rPr lang="en-US" sz="1600" b="0" i="0" dirty="0">
                <a:solidFill>
                  <a:srgbClr val="414141"/>
                </a:solidFill>
                <a:effectLst/>
                <a:latin typeface="Roboto" panose="02000000000000000000" pitchFamily="2" charset="0"/>
              </a:rPr>
              <a:t>Activities are the individual tasks or work packages that need to be completed as part of a project. They can be depicted as lines connecting the nodes within the network diagram. Each activity has a specific duration and may have dependencies on other activities.</a:t>
            </a:r>
          </a:p>
          <a:p>
            <a:pPr algn="l" fontAlgn="base"/>
            <a:endParaRPr lang="en-US" sz="1600" b="0" i="0" dirty="0">
              <a:solidFill>
                <a:srgbClr val="414141"/>
              </a:solidFill>
              <a:effectLst/>
              <a:latin typeface="Roboto" panose="02000000000000000000" pitchFamily="2" charset="0"/>
            </a:endParaRPr>
          </a:p>
          <a:p>
            <a:pPr algn="l" fontAlgn="base"/>
            <a:r>
              <a:rPr lang="en-US" b="1" i="0" dirty="0">
                <a:solidFill>
                  <a:srgbClr val="FF0000"/>
                </a:solidFill>
                <a:effectLst/>
                <a:latin typeface="Roboto" panose="02000000000000000000" pitchFamily="2" charset="0"/>
              </a:rPr>
              <a:t>Dependencies</a:t>
            </a:r>
          </a:p>
          <a:p>
            <a:pPr algn="l" fontAlgn="base"/>
            <a:r>
              <a:rPr lang="en-US" sz="1600" b="0" i="0" dirty="0">
                <a:solidFill>
                  <a:srgbClr val="414141"/>
                </a:solidFill>
                <a:effectLst/>
                <a:latin typeface="Roboto" panose="02000000000000000000" pitchFamily="2" charset="0"/>
              </a:rPr>
              <a:t>Dependencies represent the relationships between activities. They indicate the order in which activities should be executed. There are four types of dependencies commonly used in network diagrams:</a:t>
            </a:r>
          </a:p>
          <a:p>
            <a:pPr algn="l" fontAlgn="base">
              <a:buFont typeface="Arial" panose="020B0604020202020204" pitchFamily="34" charset="0"/>
              <a:buChar char="•"/>
            </a:pPr>
            <a:r>
              <a:rPr lang="en-US" sz="1600" b="0" i="0" dirty="0">
                <a:solidFill>
                  <a:srgbClr val="414141"/>
                </a:solidFill>
                <a:effectLst/>
                <a:latin typeface="Roboto" panose="02000000000000000000" pitchFamily="2" charset="0"/>
              </a:rPr>
              <a:t>Finish-to-Start (FS) – The dependent activity cannot start until the preceding activity is finished.</a:t>
            </a:r>
          </a:p>
          <a:p>
            <a:pPr algn="l" fontAlgn="base">
              <a:buFont typeface="Arial" panose="020B0604020202020204" pitchFamily="34" charset="0"/>
              <a:buChar char="•"/>
            </a:pPr>
            <a:r>
              <a:rPr lang="en-US" sz="1600" b="0" i="0" dirty="0">
                <a:solidFill>
                  <a:srgbClr val="414141"/>
                </a:solidFill>
                <a:effectLst/>
                <a:latin typeface="Roboto" panose="02000000000000000000" pitchFamily="2" charset="0"/>
              </a:rPr>
              <a:t>Start-to-Start (SS) – The dependent activity cannot start until the preceding activity has started.</a:t>
            </a:r>
          </a:p>
          <a:p>
            <a:pPr algn="l" fontAlgn="base">
              <a:buFont typeface="Arial" panose="020B0604020202020204" pitchFamily="34" charset="0"/>
              <a:buChar char="•"/>
            </a:pPr>
            <a:r>
              <a:rPr lang="en-US" sz="1600" b="0" i="0" dirty="0">
                <a:solidFill>
                  <a:srgbClr val="414141"/>
                </a:solidFill>
                <a:effectLst/>
                <a:latin typeface="Roboto" panose="02000000000000000000" pitchFamily="2" charset="0"/>
              </a:rPr>
              <a:t>Finish-to-Finish (FF) – The dependent activity cannot finish until the preceding activity has finished.</a:t>
            </a:r>
          </a:p>
          <a:p>
            <a:pPr algn="l" fontAlgn="base">
              <a:buFont typeface="Arial" panose="020B0604020202020204" pitchFamily="34" charset="0"/>
              <a:buChar char="•"/>
            </a:pPr>
            <a:r>
              <a:rPr lang="en-US" sz="1600" b="0" i="0" dirty="0">
                <a:solidFill>
                  <a:srgbClr val="414141"/>
                </a:solidFill>
                <a:effectLst/>
                <a:latin typeface="Roboto" panose="02000000000000000000" pitchFamily="2" charset="0"/>
              </a:rPr>
              <a:t>Start-to-Finish (SF) – The dependent activity cannot finish until the preceding activity has started.</a:t>
            </a:r>
          </a:p>
          <a:p>
            <a:pPr algn="l" fontAlgn="base"/>
            <a:r>
              <a:rPr lang="en-US" sz="1600" b="0" i="0" dirty="0">
                <a:solidFill>
                  <a:srgbClr val="414141"/>
                </a:solidFill>
                <a:effectLst/>
                <a:latin typeface="Roboto" panose="02000000000000000000" pitchFamily="2" charset="0"/>
              </a:rPr>
              <a:t>These dependencies play a vital role in determining the critical path and sequencing of activities.</a:t>
            </a:r>
          </a:p>
        </p:txBody>
      </p:sp>
      <p:pic>
        <p:nvPicPr>
          <p:cNvPr id="3" name="Picture 2">
            <a:extLst>
              <a:ext uri="{FF2B5EF4-FFF2-40B4-BE49-F238E27FC236}">
                <a16:creationId xmlns:a16="http://schemas.microsoft.com/office/drawing/2014/main" id="{0E9CC9F6-D9E2-A2D6-55E8-95C4A66988A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6063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29890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7CD8267-5589-CA9C-715F-5DB72D00D8D7}"/>
              </a:ext>
            </a:extLst>
          </p:cNvPr>
          <p:cNvSpPr txBox="1"/>
          <p:nvPr/>
        </p:nvSpPr>
        <p:spPr>
          <a:xfrm>
            <a:off x="304800" y="1828800"/>
            <a:ext cx="11207115" cy="4801314"/>
          </a:xfrm>
          <a:prstGeom prst="rect">
            <a:avLst/>
          </a:prstGeom>
          <a:noFill/>
        </p:spPr>
        <p:txBody>
          <a:bodyPr wrap="square">
            <a:spAutoFit/>
          </a:bodyPr>
          <a:lstStyle/>
          <a:p>
            <a:pPr algn="l" fontAlgn="base"/>
            <a:r>
              <a:rPr lang="en-US" sz="1800" b="1" i="0" dirty="0">
                <a:solidFill>
                  <a:srgbClr val="FF0000"/>
                </a:solidFill>
                <a:effectLst/>
                <a:latin typeface="Roboto" panose="02000000000000000000" pitchFamily="2" charset="0"/>
              </a:rPr>
              <a:t>Critical Path</a:t>
            </a:r>
          </a:p>
          <a:p>
            <a:pPr algn="l" fontAlgn="base"/>
            <a:r>
              <a:rPr lang="en-US" sz="1800" b="0" i="0" dirty="0">
                <a:solidFill>
                  <a:srgbClr val="414141"/>
                </a:solidFill>
                <a:effectLst/>
                <a:latin typeface="Roboto" panose="02000000000000000000" pitchFamily="2" charset="0"/>
              </a:rPr>
              <a:t>The critical path is the longest sequence of dependent activities in a network diagram. It determines the minimum timeframe required to complete the project. The critical path helps project managers identify the activities that must be completed on time to prevent delays in project delivery.</a:t>
            </a:r>
          </a:p>
          <a:p>
            <a:pPr algn="l" fontAlgn="base"/>
            <a:endParaRPr lang="en-US" sz="1800" b="0" i="0" dirty="0">
              <a:solidFill>
                <a:srgbClr val="414141"/>
              </a:solidFill>
              <a:effectLst/>
              <a:latin typeface="Roboto" panose="02000000000000000000" pitchFamily="2" charset="0"/>
            </a:endParaRPr>
          </a:p>
          <a:p>
            <a:pPr algn="l" fontAlgn="base"/>
            <a:r>
              <a:rPr lang="en-US" sz="1800" b="1" i="0" dirty="0">
                <a:solidFill>
                  <a:srgbClr val="FF0000"/>
                </a:solidFill>
                <a:effectLst/>
                <a:latin typeface="Roboto" panose="02000000000000000000" pitchFamily="2" charset="0"/>
              </a:rPr>
              <a:t>Float/Slack</a:t>
            </a:r>
          </a:p>
          <a:p>
            <a:pPr algn="l" fontAlgn="base"/>
            <a:r>
              <a:rPr lang="en-US" sz="1800" b="0" i="0" dirty="0">
                <a:solidFill>
                  <a:srgbClr val="414141"/>
                </a:solidFill>
                <a:effectLst/>
                <a:latin typeface="Roboto" panose="02000000000000000000" pitchFamily="2" charset="0"/>
              </a:rPr>
              <a:t>Float, also known as slack, refers to the amount of time an activity can be delayed without impacting the project’s overall duration. Activities on the critical path have zero float since any delay in these activities will directly impact the project’s timeline. Activities with float can be delayed without affecting the project’s completion date.</a:t>
            </a:r>
          </a:p>
          <a:p>
            <a:pPr algn="l" fontAlgn="base"/>
            <a:endParaRPr lang="en-US" sz="1800" b="0" i="0" dirty="0">
              <a:solidFill>
                <a:srgbClr val="414141"/>
              </a:solidFill>
              <a:effectLst/>
              <a:latin typeface="Roboto" panose="02000000000000000000" pitchFamily="2" charset="0"/>
            </a:endParaRPr>
          </a:p>
          <a:p>
            <a:pPr algn="l" fontAlgn="base"/>
            <a:r>
              <a:rPr lang="en-US" sz="1800" b="1" i="0" dirty="0">
                <a:solidFill>
                  <a:srgbClr val="FF0000"/>
                </a:solidFill>
                <a:effectLst/>
                <a:latin typeface="Roboto" panose="02000000000000000000" pitchFamily="2" charset="0"/>
              </a:rPr>
              <a:t>Milestones</a:t>
            </a:r>
          </a:p>
          <a:p>
            <a:pPr algn="l" fontAlgn="base"/>
            <a:r>
              <a:rPr lang="en-US" sz="1800" b="0" i="0" dirty="0">
                <a:solidFill>
                  <a:srgbClr val="414141"/>
                </a:solidFill>
                <a:effectLst/>
                <a:latin typeface="Roboto" panose="02000000000000000000" pitchFamily="2" charset="0"/>
              </a:rPr>
              <a:t>Milestones represent significant events or achievements within a project. They are often depicted as diamond-shaped nodes in the network diagram. Milestones help project teams track progress and provide a sense of accomplishment as they reach key points in the project timeline.</a:t>
            </a:r>
          </a:p>
          <a:p>
            <a:pPr algn="l" fontAlgn="base"/>
            <a:r>
              <a:rPr lang="en-US" sz="1800" b="0" i="0" dirty="0">
                <a:solidFill>
                  <a:srgbClr val="414141"/>
                </a:solidFill>
                <a:effectLst/>
                <a:latin typeface="Roboto" panose="02000000000000000000" pitchFamily="2" charset="0"/>
              </a:rPr>
              <a:t>By understanding these key elements, project managers can effectively analyze and interpret network diagrams, leading to better project planning and execution.</a:t>
            </a:r>
          </a:p>
        </p:txBody>
      </p:sp>
      <p:pic>
        <p:nvPicPr>
          <p:cNvPr id="5" name="Picture 4">
            <a:extLst>
              <a:ext uri="{FF2B5EF4-FFF2-40B4-BE49-F238E27FC236}">
                <a16:creationId xmlns:a16="http://schemas.microsoft.com/office/drawing/2014/main" id="{9C525DE6-ECCA-535D-BF88-33D72AACAA3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16063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9572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spc="110" dirty="0"/>
              <a:t>Constructing</a:t>
            </a:r>
            <a:r>
              <a:rPr spc="145" dirty="0"/>
              <a:t> </a:t>
            </a:r>
            <a:r>
              <a:rPr dirty="0"/>
              <a:t>a</a:t>
            </a:r>
            <a:r>
              <a:rPr spc="150" dirty="0"/>
              <a:t> </a:t>
            </a:r>
            <a:r>
              <a:rPr spc="85" dirty="0"/>
              <a:t>Project</a:t>
            </a:r>
            <a:r>
              <a:rPr spc="145" dirty="0"/>
              <a:t> </a:t>
            </a:r>
            <a:r>
              <a:rPr spc="105" dirty="0"/>
              <a:t>Network</a:t>
            </a:r>
          </a:p>
        </p:txBody>
      </p:sp>
      <p:sp>
        <p:nvSpPr>
          <p:cNvPr id="3" name="object 3"/>
          <p:cNvSpPr txBox="1"/>
          <p:nvPr/>
        </p:nvSpPr>
        <p:spPr>
          <a:xfrm>
            <a:off x="916939" y="1458468"/>
            <a:ext cx="1722120" cy="421640"/>
          </a:xfrm>
          <a:prstGeom prst="rect">
            <a:avLst/>
          </a:prstGeom>
        </p:spPr>
        <p:txBody>
          <a:bodyPr vert="horz" wrap="square" lIns="0" tIns="12700" rIns="0" bIns="0" rtlCol="0">
            <a:spAutoFit/>
          </a:bodyPr>
          <a:lstStyle/>
          <a:p>
            <a:pPr marL="12700">
              <a:lnSpc>
                <a:spcPct val="100000"/>
              </a:lnSpc>
              <a:spcBef>
                <a:spcPts val="100"/>
              </a:spcBef>
            </a:pPr>
            <a:r>
              <a:rPr sz="2600" b="1" u="heavy" spc="-25" dirty="0">
                <a:uFill>
                  <a:solidFill>
                    <a:srgbClr val="000000"/>
                  </a:solidFill>
                </a:uFill>
                <a:latin typeface="Calibri"/>
                <a:cs typeface="Calibri"/>
              </a:rPr>
              <a:t>Terminology</a:t>
            </a:r>
            <a:endParaRPr sz="2600">
              <a:latin typeface="Calibri"/>
              <a:cs typeface="Calibri"/>
            </a:endParaRPr>
          </a:p>
        </p:txBody>
      </p:sp>
      <p:sp>
        <p:nvSpPr>
          <p:cNvPr id="4" name="object 4"/>
          <p:cNvSpPr txBox="1"/>
          <p:nvPr/>
        </p:nvSpPr>
        <p:spPr>
          <a:xfrm>
            <a:off x="916939" y="1890267"/>
            <a:ext cx="10358120" cy="360680"/>
          </a:xfrm>
          <a:prstGeom prst="rect">
            <a:avLst/>
          </a:prstGeom>
        </p:spPr>
        <p:txBody>
          <a:bodyPr vert="horz" wrap="square" lIns="0" tIns="12700" rIns="0" bIns="0" rtlCol="0">
            <a:spAutoFit/>
          </a:bodyPr>
          <a:lstStyle/>
          <a:p>
            <a:pPr marL="240665" indent="-227965">
              <a:lnSpc>
                <a:spcPct val="100000"/>
              </a:lnSpc>
              <a:spcBef>
                <a:spcPts val="100"/>
              </a:spcBef>
              <a:buFont typeface="Arial MT"/>
              <a:buChar char="•"/>
              <a:tabLst>
                <a:tab pos="240665" algn="l"/>
              </a:tabLst>
            </a:pPr>
            <a:r>
              <a:rPr sz="2200" b="1" dirty="0">
                <a:solidFill>
                  <a:srgbClr val="C00000"/>
                </a:solidFill>
                <a:latin typeface="Calibri"/>
                <a:cs typeface="Calibri"/>
              </a:rPr>
              <a:t>Activity</a:t>
            </a:r>
            <a:r>
              <a:rPr sz="2200" b="1" dirty="0">
                <a:latin typeface="Calibri"/>
                <a:cs typeface="Calibri"/>
              </a:rPr>
              <a:t>:</a:t>
            </a:r>
            <a:r>
              <a:rPr sz="2200" b="1" spc="-40" dirty="0">
                <a:latin typeface="Calibri"/>
                <a:cs typeface="Calibri"/>
              </a:rPr>
              <a:t> </a:t>
            </a:r>
            <a:r>
              <a:rPr sz="2200" dirty="0">
                <a:latin typeface="Calibri"/>
                <a:cs typeface="Calibri"/>
              </a:rPr>
              <a:t>For</a:t>
            </a:r>
            <a:r>
              <a:rPr sz="2200" spc="-45" dirty="0">
                <a:latin typeface="Calibri"/>
                <a:cs typeface="Calibri"/>
              </a:rPr>
              <a:t> </a:t>
            </a:r>
            <a:r>
              <a:rPr sz="2200" dirty="0">
                <a:latin typeface="Calibri"/>
                <a:cs typeface="Calibri"/>
              </a:rPr>
              <a:t>project</a:t>
            </a:r>
            <a:r>
              <a:rPr sz="2200" spc="-45" dirty="0">
                <a:latin typeface="Calibri"/>
                <a:cs typeface="Calibri"/>
              </a:rPr>
              <a:t> </a:t>
            </a:r>
            <a:r>
              <a:rPr sz="2200" spc="-10" dirty="0">
                <a:latin typeface="Calibri"/>
                <a:cs typeface="Calibri"/>
              </a:rPr>
              <a:t>managers,</a:t>
            </a:r>
            <a:r>
              <a:rPr sz="2200" spc="-40" dirty="0">
                <a:latin typeface="Calibri"/>
                <a:cs typeface="Calibri"/>
              </a:rPr>
              <a:t> </a:t>
            </a:r>
            <a:r>
              <a:rPr sz="2200" dirty="0">
                <a:latin typeface="Calibri"/>
                <a:cs typeface="Calibri"/>
              </a:rPr>
              <a:t>an</a:t>
            </a:r>
            <a:r>
              <a:rPr sz="2200" spc="-45" dirty="0">
                <a:latin typeface="Calibri"/>
                <a:cs typeface="Calibri"/>
              </a:rPr>
              <a:t> </a:t>
            </a:r>
            <a:r>
              <a:rPr sz="2200" i="1" dirty="0">
                <a:latin typeface="Calibri"/>
                <a:cs typeface="Calibri"/>
              </a:rPr>
              <a:t>activity</a:t>
            </a:r>
            <a:r>
              <a:rPr sz="2200" i="1" spc="-45" dirty="0">
                <a:latin typeface="Calibri"/>
                <a:cs typeface="Calibri"/>
              </a:rPr>
              <a:t> </a:t>
            </a:r>
            <a:r>
              <a:rPr sz="2200" dirty="0">
                <a:latin typeface="Calibri"/>
                <a:cs typeface="Calibri"/>
              </a:rPr>
              <a:t>is</a:t>
            </a:r>
            <a:r>
              <a:rPr sz="2200" spc="-40" dirty="0">
                <a:latin typeface="Calibri"/>
                <a:cs typeface="Calibri"/>
              </a:rPr>
              <a:t> </a:t>
            </a:r>
            <a:r>
              <a:rPr sz="2200" dirty="0">
                <a:latin typeface="Calibri"/>
                <a:cs typeface="Calibri"/>
              </a:rPr>
              <a:t>an</a:t>
            </a:r>
            <a:r>
              <a:rPr sz="2200" spc="-45" dirty="0">
                <a:latin typeface="Calibri"/>
                <a:cs typeface="Calibri"/>
              </a:rPr>
              <a:t> </a:t>
            </a:r>
            <a:r>
              <a:rPr sz="2200" dirty="0">
                <a:latin typeface="Calibri"/>
                <a:cs typeface="Calibri"/>
              </a:rPr>
              <a:t>element</a:t>
            </a:r>
            <a:r>
              <a:rPr sz="2200" spc="-30" dirty="0">
                <a:latin typeface="Calibri"/>
                <a:cs typeface="Calibri"/>
              </a:rPr>
              <a:t> </a:t>
            </a:r>
            <a:r>
              <a:rPr sz="2200" dirty="0">
                <a:latin typeface="Calibri"/>
                <a:cs typeface="Calibri"/>
              </a:rPr>
              <a:t>of</a:t>
            </a:r>
            <a:r>
              <a:rPr sz="2200" spc="-40" dirty="0">
                <a:latin typeface="Calibri"/>
                <a:cs typeface="Calibri"/>
              </a:rPr>
              <a:t> </a:t>
            </a:r>
            <a:r>
              <a:rPr sz="2200" dirty="0">
                <a:latin typeface="Calibri"/>
                <a:cs typeface="Calibri"/>
              </a:rPr>
              <a:t>the</a:t>
            </a:r>
            <a:r>
              <a:rPr sz="2200" spc="-40" dirty="0">
                <a:latin typeface="Calibri"/>
                <a:cs typeface="Calibri"/>
              </a:rPr>
              <a:t> </a:t>
            </a:r>
            <a:r>
              <a:rPr sz="2200" dirty="0">
                <a:latin typeface="Calibri"/>
                <a:cs typeface="Calibri"/>
              </a:rPr>
              <a:t>project</a:t>
            </a:r>
            <a:r>
              <a:rPr sz="2200" spc="-45" dirty="0">
                <a:latin typeface="Calibri"/>
                <a:cs typeface="Calibri"/>
              </a:rPr>
              <a:t> </a:t>
            </a:r>
            <a:r>
              <a:rPr sz="2200" dirty="0">
                <a:latin typeface="Calibri"/>
                <a:cs typeface="Calibri"/>
              </a:rPr>
              <a:t>that</a:t>
            </a:r>
            <a:r>
              <a:rPr sz="2200" spc="-40" dirty="0">
                <a:latin typeface="Calibri"/>
                <a:cs typeface="Calibri"/>
              </a:rPr>
              <a:t> </a:t>
            </a:r>
            <a:r>
              <a:rPr sz="2200" spc="-10" dirty="0">
                <a:latin typeface="Calibri"/>
                <a:cs typeface="Calibri"/>
              </a:rPr>
              <a:t>requires</a:t>
            </a:r>
            <a:r>
              <a:rPr sz="2200" spc="-40" dirty="0">
                <a:latin typeface="Calibri"/>
                <a:cs typeface="Calibri"/>
              </a:rPr>
              <a:t> </a:t>
            </a:r>
            <a:r>
              <a:rPr sz="2200" spc="-10" dirty="0">
                <a:latin typeface="Calibri"/>
                <a:cs typeface="Calibri"/>
              </a:rPr>
              <a:t>time.</a:t>
            </a:r>
            <a:endParaRPr sz="2200" dirty="0">
              <a:latin typeface="Calibri"/>
              <a:cs typeface="Calibri"/>
            </a:endParaRPr>
          </a:p>
        </p:txBody>
      </p:sp>
      <p:sp>
        <p:nvSpPr>
          <p:cNvPr id="5" name="object 5"/>
          <p:cNvSpPr txBox="1"/>
          <p:nvPr/>
        </p:nvSpPr>
        <p:spPr>
          <a:xfrm>
            <a:off x="1145539" y="2118867"/>
            <a:ext cx="10127615" cy="360680"/>
          </a:xfrm>
          <a:prstGeom prst="rect">
            <a:avLst/>
          </a:prstGeom>
        </p:spPr>
        <p:txBody>
          <a:bodyPr vert="horz" wrap="square" lIns="0" tIns="12700" rIns="0" bIns="0" rtlCol="0">
            <a:spAutoFit/>
          </a:bodyPr>
          <a:lstStyle/>
          <a:p>
            <a:pPr marL="12700">
              <a:lnSpc>
                <a:spcPct val="100000"/>
              </a:lnSpc>
              <a:spcBef>
                <a:spcPts val="100"/>
              </a:spcBef>
            </a:pPr>
            <a:r>
              <a:rPr sz="2200" dirty="0">
                <a:latin typeface="Calibri"/>
                <a:cs typeface="Calibri"/>
              </a:rPr>
              <a:t>It</a:t>
            </a:r>
            <a:r>
              <a:rPr sz="2200" spc="170" dirty="0">
                <a:latin typeface="Calibri"/>
                <a:cs typeface="Calibri"/>
              </a:rPr>
              <a:t> </a:t>
            </a:r>
            <a:r>
              <a:rPr sz="2200" dirty="0">
                <a:latin typeface="Calibri"/>
                <a:cs typeface="Calibri"/>
              </a:rPr>
              <a:t>may</a:t>
            </a:r>
            <a:r>
              <a:rPr sz="2200" spc="175" dirty="0">
                <a:latin typeface="Calibri"/>
                <a:cs typeface="Calibri"/>
              </a:rPr>
              <a:t> </a:t>
            </a:r>
            <a:r>
              <a:rPr sz="2200" dirty="0">
                <a:latin typeface="Calibri"/>
                <a:cs typeface="Calibri"/>
              </a:rPr>
              <a:t>or</a:t>
            </a:r>
            <a:r>
              <a:rPr sz="2200" spc="170" dirty="0">
                <a:latin typeface="Calibri"/>
                <a:cs typeface="Calibri"/>
              </a:rPr>
              <a:t> </a:t>
            </a:r>
            <a:r>
              <a:rPr sz="2200" dirty="0">
                <a:latin typeface="Calibri"/>
                <a:cs typeface="Calibri"/>
              </a:rPr>
              <a:t>may</a:t>
            </a:r>
            <a:r>
              <a:rPr sz="2200" spc="175" dirty="0">
                <a:latin typeface="Calibri"/>
                <a:cs typeface="Calibri"/>
              </a:rPr>
              <a:t> </a:t>
            </a:r>
            <a:r>
              <a:rPr sz="2200" dirty="0">
                <a:latin typeface="Calibri"/>
                <a:cs typeface="Calibri"/>
              </a:rPr>
              <a:t>not</a:t>
            </a:r>
            <a:r>
              <a:rPr sz="2200" spc="175" dirty="0">
                <a:latin typeface="Calibri"/>
                <a:cs typeface="Calibri"/>
              </a:rPr>
              <a:t> </a:t>
            </a:r>
            <a:r>
              <a:rPr sz="2200" dirty="0">
                <a:latin typeface="Calibri"/>
                <a:cs typeface="Calibri"/>
              </a:rPr>
              <a:t>require</a:t>
            </a:r>
            <a:r>
              <a:rPr sz="2200" spc="175" dirty="0">
                <a:latin typeface="Calibri"/>
                <a:cs typeface="Calibri"/>
              </a:rPr>
              <a:t> </a:t>
            </a:r>
            <a:r>
              <a:rPr sz="2200" dirty="0">
                <a:latin typeface="Calibri"/>
                <a:cs typeface="Calibri"/>
              </a:rPr>
              <a:t>resources.</a:t>
            </a:r>
            <a:r>
              <a:rPr sz="2200" spc="170" dirty="0">
                <a:latin typeface="Calibri"/>
                <a:cs typeface="Calibri"/>
              </a:rPr>
              <a:t> </a:t>
            </a:r>
            <a:r>
              <a:rPr sz="2200" spc="-10" dirty="0">
                <a:latin typeface="Calibri"/>
                <a:cs typeface="Calibri"/>
              </a:rPr>
              <a:t>Typically,</a:t>
            </a:r>
            <a:r>
              <a:rPr sz="2200" spc="170" dirty="0">
                <a:latin typeface="Calibri"/>
                <a:cs typeface="Calibri"/>
              </a:rPr>
              <a:t> </a:t>
            </a:r>
            <a:r>
              <a:rPr sz="2200" dirty="0">
                <a:latin typeface="Calibri"/>
                <a:cs typeface="Calibri"/>
              </a:rPr>
              <a:t>an</a:t>
            </a:r>
            <a:r>
              <a:rPr sz="2200" spc="170" dirty="0">
                <a:latin typeface="Calibri"/>
                <a:cs typeface="Calibri"/>
              </a:rPr>
              <a:t> </a:t>
            </a:r>
            <a:r>
              <a:rPr sz="2200" dirty="0">
                <a:latin typeface="Calibri"/>
                <a:cs typeface="Calibri"/>
              </a:rPr>
              <a:t>activity</a:t>
            </a:r>
            <a:r>
              <a:rPr sz="2200" spc="170" dirty="0">
                <a:latin typeface="Calibri"/>
                <a:cs typeface="Calibri"/>
              </a:rPr>
              <a:t> </a:t>
            </a:r>
            <a:r>
              <a:rPr sz="2200" dirty="0">
                <a:latin typeface="Calibri"/>
                <a:cs typeface="Calibri"/>
              </a:rPr>
              <a:t>consumes</a:t>
            </a:r>
            <a:r>
              <a:rPr sz="2200" spc="180" dirty="0">
                <a:latin typeface="Calibri"/>
                <a:cs typeface="Calibri"/>
              </a:rPr>
              <a:t> </a:t>
            </a:r>
            <a:r>
              <a:rPr sz="2200" dirty="0">
                <a:latin typeface="Calibri"/>
                <a:cs typeface="Calibri"/>
              </a:rPr>
              <a:t>time;</a:t>
            </a:r>
            <a:r>
              <a:rPr sz="2200" spc="170" dirty="0">
                <a:latin typeface="Calibri"/>
                <a:cs typeface="Calibri"/>
              </a:rPr>
              <a:t> </a:t>
            </a:r>
            <a:r>
              <a:rPr sz="2200" dirty="0">
                <a:latin typeface="Calibri"/>
                <a:cs typeface="Calibri"/>
              </a:rPr>
              <a:t>either</a:t>
            </a:r>
            <a:r>
              <a:rPr sz="2200" spc="170" dirty="0">
                <a:latin typeface="Calibri"/>
                <a:cs typeface="Calibri"/>
              </a:rPr>
              <a:t> </a:t>
            </a:r>
            <a:r>
              <a:rPr sz="2200" spc="-10" dirty="0">
                <a:latin typeface="Calibri"/>
                <a:cs typeface="Calibri"/>
              </a:rPr>
              <a:t>while</a:t>
            </a:r>
            <a:endParaRPr sz="2200" dirty="0">
              <a:latin typeface="Calibri"/>
              <a:cs typeface="Calibri"/>
            </a:endParaRPr>
          </a:p>
        </p:txBody>
      </p:sp>
      <p:sp>
        <p:nvSpPr>
          <p:cNvPr id="6" name="object 6"/>
          <p:cNvSpPr txBox="1"/>
          <p:nvPr/>
        </p:nvSpPr>
        <p:spPr>
          <a:xfrm>
            <a:off x="1145539" y="2359659"/>
            <a:ext cx="10127615" cy="360680"/>
          </a:xfrm>
          <a:prstGeom prst="rect">
            <a:avLst/>
          </a:prstGeom>
        </p:spPr>
        <p:txBody>
          <a:bodyPr vert="horz" wrap="square" lIns="0" tIns="12700" rIns="0" bIns="0" rtlCol="0">
            <a:spAutoFit/>
          </a:bodyPr>
          <a:lstStyle/>
          <a:p>
            <a:pPr marL="12700">
              <a:lnSpc>
                <a:spcPct val="100000"/>
              </a:lnSpc>
              <a:spcBef>
                <a:spcPts val="100"/>
              </a:spcBef>
            </a:pPr>
            <a:r>
              <a:rPr sz="2200" dirty="0">
                <a:latin typeface="Calibri"/>
                <a:cs typeface="Calibri"/>
              </a:rPr>
              <a:t>people</a:t>
            </a:r>
            <a:r>
              <a:rPr sz="2200" spc="110" dirty="0">
                <a:latin typeface="Calibri"/>
                <a:cs typeface="Calibri"/>
              </a:rPr>
              <a:t> </a:t>
            </a:r>
            <a:r>
              <a:rPr sz="2200" dirty="0">
                <a:latin typeface="Calibri"/>
                <a:cs typeface="Calibri"/>
              </a:rPr>
              <a:t>work</a:t>
            </a:r>
            <a:r>
              <a:rPr sz="2200" spc="114" dirty="0">
                <a:latin typeface="Calibri"/>
                <a:cs typeface="Calibri"/>
              </a:rPr>
              <a:t> </a:t>
            </a:r>
            <a:r>
              <a:rPr sz="2200" dirty="0">
                <a:latin typeface="Calibri"/>
                <a:cs typeface="Calibri"/>
              </a:rPr>
              <a:t>or</a:t>
            </a:r>
            <a:r>
              <a:rPr sz="2200" spc="110" dirty="0">
                <a:latin typeface="Calibri"/>
                <a:cs typeface="Calibri"/>
              </a:rPr>
              <a:t> </a:t>
            </a:r>
            <a:r>
              <a:rPr sz="2200" dirty="0">
                <a:latin typeface="Calibri"/>
                <a:cs typeface="Calibri"/>
              </a:rPr>
              <a:t>while</a:t>
            </a:r>
            <a:r>
              <a:rPr sz="2200" spc="120" dirty="0">
                <a:latin typeface="Calibri"/>
                <a:cs typeface="Calibri"/>
              </a:rPr>
              <a:t> </a:t>
            </a:r>
            <a:r>
              <a:rPr sz="2200" dirty="0">
                <a:latin typeface="Calibri"/>
                <a:cs typeface="Calibri"/>
              </a:rPr>
              <a:t>people</a:t>
            </a:r>
            <a:r>
              <a:rPr sz="2200" spc="110" dirty="0">
                <a:latin typeface="Calibri"/>
                <a:cs typeface="Calibri"/>
              </a:rPr>
              <a:t> </a:t>
            </a:r>
            <a:r>
              <a:rPr sz="2200" dirty="0">
                <a:latin typeface="Calibri"/>
                <a:cs typeface="Calibri"/>
              </a:rPr>
              <a:t>wait.</a:t>
            </a:r>
            <a:r>
              <a:rPr sz="2200" spc="110" dirty="0">
                <a:latin typeface="Calibri"/>
                <a:cs typeface="Calibri"/>
              </a:rPr>
              <a:t> </a:t>
            </a:r>
            <a:r>
              <a:rPr sz="2200" dirty="0">
                <a:latin typeface="Calibri"/>
                <a:cs typeface="Calibri"/>
              </a:rPr>
              <a:t>Examples</a:t>
            </a:r>
            <a:r>
              <a:rPr sz="2200" spc="114" dirty="0">
                <a:latin typeface="Calibri"/>
                <a:cs typeface="Calibri"/>
              </a:rPr>
              <a:t> </a:t>
            </a:r>
            <a:r>
              <a:rPr sz="2200" dirty="0">
                <a:latin typeface="Calibri"/>
                <a:cs typeface="Calibri"/>
              </a:rPr>
              <a:t>of</a:t>
            </a:r>
            <a:r>
              <a:rPr sz="2200" spc="114" dirty="0">
                <a:latin typeface="Calibri"/>
                <a:cs typeface="Calibri"/>
              </a:rPr>
              <a:t> </a:t>
            </a:r>
            <a:r>
              <a:rPr sz="2200" dirty="0">
                <a:latin typeface="Calibri"/>
                <a:cs typeface="Calibri"/>
              </a:rPr>
              <a:t>the</a:t>
            </a:r>
            <a:r>
              <a:rPr sz="2200" spc="114" dirty="0">
                <a:latin typeface="Calibri"/>
                <a:cs typeface="Calibri"/>
              </a:rPr>
              <a:t> </a:t>
            </a:r>
            <a:r>
              <a:rPr sz="2200" dirty="0">
                <a:latin typeface="Calibri"/>
                <a:cs typeface="Calibri"/>
              </a:rPr>
              <a:t>latter</a:t>
            </a:r>
            <a:r>
              <a:rPr sz="2200" spc="110" dirty="0">
                <a:latin typeface="Calibri"/>
                <a:cs typeface="Calibri"/>
              </a:rPr>
              <a:t> </a:t>
            </a:r>
            <a:r>
              <a:rPr sz="2200" dirty="0">
                <a:latin typeface="Calibri"/>
                <a:cs typeface="Calibri"/>
              </a:rPr>
              <a:t>are</a:t>
            </a:r>
            <a:r>
              <a:rPr sz="2200" spc="114" dirty="0">
                <a:latin typeface="Calibri"/>
                <a:cs typeface="Calibri"/>
              </a:rPr>
              <a:t> </a:t>
            </a:r>
            <a:r>
              <a:rPr sz="2200" dirty="0">
                <a:latin typeface="Calibri"/>
                <a:cs typeface="Calibri"/>
              </a:rPr>
              <a:t>time</a:t>
            </a:r>
            <a:r>
              <a:rPr sz="2200" spc="114" dirty="0">
                <a:latin typeface="Calibri"/>
                <a:cs typeface="Calibri"/>
              </a:rPr>
              <a:t> </a:t>
            </a:r>
            <a:r>
              <a:rPr sz="2200" dirty="0">
                <a:latin typeface="Calibri"/>
                <a:cs typeface="Calibri"/>
              </a:rPr>
              <a:t>waiting</a:t>
            </a:r>
            <a:r>
              <a:rPr sz="2200" spc="114" dirty="0">
                <a:latin typeface="Calibri"/>
                <a:cs typeface="Calibri"/>
              </a:rPr>
              <a:t> </a:t>
            </a:r>
            <a:r>
              <a:rPr sz="2200" dirty="0">
                <a:latin typeface="Calibri"/>
                <a:cs typeface="Calibri"/>
              </a:rPr>
              <a:t>for</a:t>
            </a:r>
            <a:r>
              <a:rPr sz="2200" spc="105" dirty="0">
                <a:latin typeface="Calibri"/>
                <a:cs typeface="Calibri"/>
              </a:rPr>
              <a:t> </a:t>
            </a:r>
            <a:r>
              <a:rPr sz="2200" spc="-10" dirty="0">
                <a:latin typeface="Calibri"/>
                <a:cs typeface="Calibri"/>
              </a:rPr>
              <a:t>contracts</a:t>
            </a:r>
            <a:endParaRPr sz="2200" dirty="0">
              <a:latin typeface="Calibri"/>
              <a:cs typeface="Calibri"/>
            </a:endParaRPr>
          </a:p>
        </p:txBody>
      </p:sp>
      <p:sp>
        <p:nvSpPr>
          <p:cNvPr id="7" name="object 7"/>
          <p:cNvSpPr txBox="1"/>
          <p:nvPr/>
        </p:nvSpPr>
        <p:spPr>
          <a:xfrm>
            <a:off x="1145539" y="2588259"/>
            <a:ext cx="10128885" cy="360680"/>
          </a:xfrm>
          <a:prstGeom prst="rect">
            <a:avLst/>
          </a:prstGeom>
        </p:spPr>
        <p:txBody>
          <a:bodyPr vert="horz" wrap="square" lIns="0" tIns="12700" rIns="0" bIns="0" rtlCol="0">
            <a:spAutoFit/>
          </a:bodyPr>
          <a:lstStyle/>
          <a:p>
            <a:pPr marL="12700">
              <a:lnSpc>
                <a:spcPct val="100000"/>
              </a:lnSpc>
              <a:spcBef>
                <a:spcPts val="100"/>
              </a:spcBef>
            </a:pPr>
            <a:r>
              <a:rPr sz="2200" dirty="0">
                <a:latin typeface="Calibri"/>
                <a:cs typeface="Calibri"/>
              </a:rPr>
              <a:t>to</a:t>
            </a:r>
            <a:r>
              <a:rPr sz="2200" spc="225" dirty="0">
                <a:latin typeface="Calibri"/>
                <a:cs typeface="Calibri"/>
              </a:rPr>
              <a:t> </a:t>
            </a:r>
            <a:r>
              <a:rPr sz="2200" dirty="0">
                <a:latin typeface="Calibri"/>
                <a:cs typeface="Calibri"/>
              </a:rPr>
              <a:t>be</a:t>
            </a:r>
            <a:r>
              <a:rPr sz="2200" spc="229" dirty="0">
                <a:latin typeface="Calibri"/>
                <a:cs typeface="Calibri"/>
              </a:rPr>
              <a:t> </a:t>
            </a:r>
            <a:r>
              <a:rPr sz="2200" dirty="0">
                <a:latin typeface="Calibri"/>
                <a:cs typeface="Calibri"/>
              </a:rPr>
              <a:t>signed,</a:t>
            </a:r>
            <a:r>
              <a:rPr sz="2200" spc="229" dirty="0">
                <a:latin typeface="Calibri"/>
                <a:cs typeface="Calibri"/>
              </a:rPr>
              <a:t> </a:t>
            </a:r>
            <a:r>
              <a:rPr sz="2200" dirty="0">
                <a:latin typeface="Calibri"/>
                <a:cs typeface="Calibri"/>
              </a:rPr>
              <a:t>materials</a:t>
            </a:r>
            <a:r>
              <a:rPr sz="2200" spc="229" dirty="0">
                <a:latin typeface="Calibri"/>
                <a:cs typeface="Calibri"/>
              </a:rPr>
              <a:t> </a:t>
            </a:r>
            <a:r>
              <a:rPr sz="2200" dirty="0">
                <a:latin typeface="Calibri"/>
                <a:cs typeface="Calibri"/>
              </a:rPr>
              <a:t>to</a:t>
            </a:r>
            <a:r>
              <a:rPr sz="2200" spc="229" dirty="0">
                <a:latin typeface="Calibri"/>
                <a:cs typeface="Calibri"/>
              </a:rPr>
              <a:t> </a:t>
            </a:r>
            <a:r>
              <a:rPr sz="2200" dirty="0">
                <a:latin typeface="Calibri"/>
                <a:cs typeface="Calibri"/>
              </a:rPr>
              <a:t>arrive,</a:t>
            </a:r>
            <a:r>
              <a:rPr sz="2200" spc="225" dirty="0">
                <a:latin typeface="Calibri"/>
                <a:cs typeface="Calibri"/>
              </a:rPr>
              <a:t> </a:t>
            </a:r>
            <a:r>
              <a:rPr sz="2200" dirty="0">
                <a:latin typeface="Calibri"/>
                <a:cs typeface="Calibri"/>
              </a:rPr>
              <a:t>drug</a:t>
            </a:r>
            <a:r>
              <a:rPr sz="2200" spc="225" dirty="0">
                <a:latin typeface="Calibri"/>
                <a:cs typeface="Calibri"/>
              </a:rPr>
              <a:t> </a:t>
            </a:r>
            <a:r>
              <a:rPr sz="2200" dirty="0">
                <a:latin typeface="Calibri"/>
                <a:cs typeface="Calibri"/>
              </a:rPr>
              <a:t>approval</a:t>
            </a:r>
            <a:r>
              <a:rPr sz="2200" spc="225" dirty="0">
                <a:latin typeface="Calibri"/>
                <a:cs typeface="Calibri"/>
              </a:rPr>
              <a:t> </a:t>
            </a:r>
            <a:r>
              <a:rPr sz="2200" dirty="0">
                <a:latin typeface="Calibri"/>
                <a:cs typeface="Calibri"/>
              </a:rPr>
              <a:t>by</a:t>
            </a:r>
            <a:r>
              <a:rPr sz="2200" spc="229" dirty="0">
                <a:latin typeface="Calibri"/>
                <a:cs typeface="Calibri"/>
              </a:rPr>
              <a:t> </a:t>
            </a:r>
            <a:r>
              <a:rPr sz="2200" dirty="0">
                <a:latin typeface="Calibri"/>
                <a:cs typeface="Calibri"/>
              </a:rPr>
              <a:t>the</a:t>
            </a:r>
            <a:r>
              <a:rPr sz="2200" spc="235" dirty="0">
                <a:latin typeface="Calibri"/>
                <a:cs typeface="Calibri"/>
              </a:rPr>
              <a:t> </a:t>
            </a:r>
            <a:r>
              <a:rPr sz="2200" dirty="0">
                <a:latin typeface="Calibri"/>
                <a:cs typeface="Calibri"/>
              </a:rPr>
              <a:t>government,</a:t>
            </a:r>
            <a:r>
              <a:rPr sz="2200" spc="229" dirty="0">
                <a:latin typeface="Calibri"/>
                <a:cs typeface="Calibri"/>
              </a:rPr>
              <a:t> </a:t>
            </a:r>
            <a:r>
              <a:rPr sz="2200" dirty="0">
                <a:latin typeface="Calibri"/>
                <a:cs typeface="Calibri"/>
              </a:rPr>
              <a:t>budget</a:t>
            </a:r>
            <a:r>
              <a:rPr sz="2200" spc="225" dirty="0">
                <a:latin typeface="Calibri"/>
                <a:cs typeface="Calibri"/>
              </a:rPr>
              <a:t> </a:t>
            </a:r>
            <a:r>
              <a:rPr sz="2200" spc="-10" dirty="0">
                <a:latin typeface="Calibri"/>
                <a:cs typeface="Calibri"/>
              </a:rPr>
              <a:t>clearance,</a:t>
            </a:r>
            <a:endParaRPr sz="2200">
              <a:latin typeface="Calibri"/>
              <a:cs typeface="Calibri"/>
            </a:endParaRPr>
          </a:p>
        </p:txBody>
      </p:sp>
      <p:sp>
        <p:nvSpPr>
          <p:cNvPr id="8" name="object 8"/>
          <p:cNvSpPr txBox="1"/>
          <p:nvPr/>
        </p:nvSpPr>
        <p:spPr>
          <a:xfrm>
            <a:off x="1145539" y="2829052"/>
            <a:ext cx="10128250" cy="360680"/>
          </a:xfrm>
          <a:prstGeom prst="rect">
            <a:avLst/>
          </a:prstGeom>
        </p:spPr>
        <p:txBody>
          <a:bodyPr vert="horz" wrap="square" lIns="0" tIns="12700" rIns="0" bIns="0" rtlCol="0">
            <a:spAutoFit/>
          </a:bodyPr>
          <a:lstStyle/>
          <a:p>
            <a:pPr marL="12700">
              <a:lnSpc>
                <a:spcPct val="100000"/>
              </a:lnSpc>
              <a:spcBef>
                <a:spcPts val="100"/>
              </a:spcBef>
            </a:pPr>
            <a:r>
              <a:rPr sz="2200" dirty="0">
                <a:latin typeface="Calibri"/>
                <a:cs typeface="Calibri"/>
              </a:rPr>
              <a:t>etc.</a:t>
            </a:r>
            <a:r>
              <a:rPr sz="2200" spc="60" dirty="0">
                <a:latin typeface="Calibri"/>
                <a:cs typeface="Calibri"/>
              </a:rPr>
              <a:t> </a:t>
            </a:r>
            <a:r>
              <a:rPr sz="2200" dirty="0">
                <a:latin typeface="Calibri"/>
                <a:cs typeface="Calibri"/>
              </a:rPr>
              <a:t>Activities</a:t>
            </a:r>
            <a:r>
              <a:rPr sz="2200" spc="65" dirty="0">
                <a:latin typeface="Calibri"/>
                <a:cs typeface="Calibri"/>
              </a:rPr>
              <a:t> </a:t>
            </a:r>
            <a:r>
              <a:rPr sz="2200" dirty="0">
                <a:latin typeface="Calibri"/>
                <a:cs typeface="Calibri"/>
              </a:rPr>
              <a:t>usually</a:t>
            </a:r>
            <a:r>
              <a:rPr sz="2200" spc="70" dirty="0">
                <a:latin typeface="Calibri"/>
                <a:cs typeface="Calibri"/>
              </a:rPr>
              <a:t> </a:t>
            </a:r>
            <a:r>
              <a:rPr sz="2200" dirty="0">
                <a:latin typeface="Calibri"/>
                <a:cs typeface="Calibri"/>
              </a:rPr>
              <a:t>represent</a:t>
            </a:r>
            <a:r>
              <a:rPr sz="2200" spc="60" dirty="0">
                <a:latin typeface="Calibri"/>
                <a:cs typeface="Calibri"/>
              </a:rPr>
              <a:t> </a:t>
            </a:r>
            <a:r>
              <a:rPr sz="2200" dirty="0">
                <a:latin typeface="Calibri"/>
                <a:cs typeface="Calibri"/>
              </a:rPr>
              <a:t>one</a:t>
            </a:r>
            <a:r>
              <a:rPr sz="2200" spc="75" dirty="0">
                <a:latin typeface="Calibri"/>
                <a:cs typeface="Calibri"/>
              </a:rPr>
              <a:t> </a:t>
            </a:r>
            <a:r>
              <a:rPr sz="2200" dirty="0">
                <a:latin typeface="Calibri"/>
                <a:cs typeface="Calibri"/>
              </a:rPr>
              <a:t>or</a:t>
            </a:r>
            <a:r>
              <a:rPr sz="2200" spc="60" dirty="0">
                <a:latin typeface="Calibri"/>
                <a:cs typeface="Calibri"/>
              </a:rPr>
              <a:t> </a:t>
            </a:r>
            <a:r>
              <a:rPr sz="2200" dirty="0">
                <a:latin typeface="Calibri"/>
                <a:cs typeface="Calibri"/>
              </a:rPr>
              <a:t>more</a:t>
            </a:r>
            <a:r>
              <a:rPr sz="2200" spc="70" dirty="0">
                <a:latin typeface="Calibri"/>
                <a:cs typeface="Calibri"/>
              </a:rPr>
              <a:t> </a:t>
            </a:r>
            <a:r>
              <a:rPr sz="2200" dirty="0">
                <a:latin typeface="Calibri"/>
                <a:cs typeface="Calibri"/>
              </a:rPr>
              <a:t>tasks</a:t>
            </a:r>
            <a:r>
              <a:rPr sz="2200" spc="70" dirty="0">
                <a:latin typeface="Calibri"/>
                <a:cs typeface="Calibri"/>
              </a:rPr>
              <a:t> </a:t>
            </a:r>
            <a:r>
              <a:rPr sz="2200" dirty="0">
                <a:latin typeface="Calibri"/>
                <a:cs typeface="Calibri"/>
              </a:rPr>
              <a:t>from</a:t>
            </a:r>
            <a:r>
              <a:rPr sz="2200" spc="65" dirty="0">
                <a:latin typeface="Calibri"/>
                <a:cs typeface="Calibri"/>
              </a:rPr>
              <a:t> </a:t>
            </a:r>
            <a:r>
              <a:rPr sz="2200" dirty="0">
                <a:latin typeface="Calibri"/>
                <a:cs typeface="Calibri"/>
              </a:rPr>
              <a:t>a</a:t>
            </a:r>
            <a:r>
              <a:rPr sz="2200" spc="65" dirty="0">
                <a:latin typeface="Calibri"/>
                <a:cs typeface="Calibri"/>
              </a:rPr>
              <a:t> </a:t>
            </a:r>
            <a:r>
              <a:rPr sz="2200" dirty="0">
                <a:latin typeface="Calibri"/>
                <a:cs typeface="Calibri"/>
              </a:rPr>
              <a:t>work</a:t>
            </a:r>
            <a:r>
              <a:rPr sz="2200" spc="65" dirty="0">
                <a:latin typeface="Calibri"/>
                <a:cs typeface="Calibri"/>
              </a:rPr>
              <a:t> </a:t>
            </a:r>
            <a:r>
              <a:rPr sz="2200" dirty="0">
                <a:latin typeface="Calibri"/>
                <a:cs typeface="Calibri"/>
              </a:rPr>
              <a:t>package.</a:t>
            </a:r>
            <a:r>
              <a:rPr sz="2200" spc="65" dirty="0">
                <a:latin typeface="Calibri"/>
                <a:cs typeface="Calibri"/>
              </a:rPr>
              <a:t> </a:t>
            </a:r>
            <a:r>
              <a:rPr sz="2200" dirty="0">
                <a:latin typeface="Calibri"/>
                <a:cs typeface="Calibri"/>
              </a:rPr>
              <a:t>Descriptions</a:t>
            </a:r>
            <a:r>
              <a:rPr sz="2200" spc="65" dirty="0">
                <a:latin typeface="Calibri"/>
                <a:cs typeface="Calibri"/>
              </a:rPr>
              <a:t> </a:t>
            </a:r>
            <a:r>
              <a:rPr sz="2200" spc="-25" dirty="0">
                <a:latin typeface="Calibri"/>
                <a:cs typeface="Calibri"/>
              </a:rPr>
              <a:t>of</a:t>
            </a:r>
            <a:endParaRPr sz="2200">
              <a:latin typeface="Calibri"/>
              <a:cs typeface="Calibri"/>
            </a:endParaRPr>
          </a:p>
        </p:txBody>
      </p:sp>
      <p:sp>
        <p:nvSpPr>
          <p:cNvPr id="9" name="object 9"/>
          <p:cNvSpPr txBox="1"/>
          <p:nvPr/>
        </p:nvSpPr>
        <p:spPr>
          <a:xfrm>
            <a:off x="1145539" y="3057652"/>
            <a:ext cx="9744710" cy="360680"/>
          </a:xfrm>
          <a:prstGeom prst="rect">
            <a:avLst/>
          </a:prstGeom>
        </p:spPr>
        <p:txBody>
          <a:bodyPr vert="horz" wrap="square" lIns="0" tIns="12700" rIns="0" bIns="0" rtlCol="0">
            <a:spAutoFit/>
          </a:bodyPr>
          <a:lstStyle/>
          <a:p>
            <a:pPr marL="12700">
              <a:lnSpc>
                <a:spcPct val="100000"/>
              </a:lnSpc>
              <a:spcBef>
                <a:spcPts val="100"/>
              </a:spcBef>
            </a:pPr>
            <a:r>
              <a:rPr sz="2200" dirty="0">
                <a:latin typeface="Calibri"/>
                <a:cs typeface="Calibri"/>
              </a:rPr>
              <a:t>activities</a:t>
            </a:r>
            <a:r>
              <a:rPr sz="2200" spc="-65" dirty="0">
                <a:latin typeface="Calibri"/>
                <a:cs typeface="Calibri"/>
              </a:rPr>
              <a:t> </a:t>
            </a:r>
            <a:r>
              <a:rPr sz="2200" dirty="0">
                <a:latin typeface="Calibri"/>
                <a:cs typeface="Calibri"/>
              </a:rPr>
              <a:t>should</a:t>
            </a:r>
            <a:r>
              <a:rPr sz="2200" spc="-65" dirty="0">
                <a:latin typeface="Calibri"/>
                <a:cs typeface="Calibri"/>
              </a:rPr>
              <a:t> </a:t>
            </a:r>
            <a:r>
              <a:rPr sz="2200" dirty="0">
                <a:latin typeface="Calibri"/>
                <a:cs typeface="Calibri"/>
              </a:rPr>
              <a:t>use</a:t>
            </a:r>
            <a:r>
              <a:rPr sz="2200" spc="-55" dirty="0">
                <a:latin typeface="Calibri"/>
                <a:cs typeface="Calibri"/>
              </a:rPr>
              <a:t> </a:t>
            </a:r>
            <a:r>
              <a:rPr sz="2200" dirty="0">
                <a:latin typeface="Calibri"/>
                <a:cs typeface="Calibri"/>
              </a:rPr>
              <a:t>a</a:t>
            </a:r>
            <a:r>
              <a:rPr sz="2200" spc="-65" dirty="0">
                <a:latin typeface="Calibri"/>
                <a:cs typeface="Calibri"/>
              </a:rPr>
              <a:t> </a:t>
            </a:r>
            <a:r>
              <a:rPr sz="2200" dirty="0">
                <a:latin typeface="Calibri"/>
                <a:cs typeface="Calibri"/>
              </a:rPr>
              <a:t>verb/noun</a:t>
            </a:r>
            <a:r>
              <a:rPr sz="2200" spc="-65" dirty="0">
                <a:latin typeface="Calibri"/>
                <a:cs typeface="Calibri"/>
              </a:rPr>
              <a:t> </a:t>
            </a:r>
            <a:r>
              <a:rPr sz="2200" dirty="0">
                <a:latin typeface="Calibri"/>
                <a:cs typeface="Calibri"/>
              </a:rPr>
              <a:t>format:</a:t>
            </a:r>
            <a:r>
              <a:rPr sz="2200" spc="-60" dirty="0">
                <a:latin typeface="Calibri"/>
                <a:cs typeface="Calibri"/>
              </a:rPr>
              <a:t> </a:t>
            </a:r>
            <a:r>
              <a:rPr sz="2200" dirty="0">
                <a:latin typeface="Calibri"/>
                <a:cs typeface="Calibri"/>
              </a:rPr>
              <a:t>for</a:t>
            </a:r>
            <a:r>
              <a:rPr sz="2200" spc="-65" dirty="0">
                <a:latin typeface="Calibri"/>
                <a:cs typeface="Calibri"/>
              </a:rPr>
              <a:t> </a:t>
            </a:r>
            <a:r>
              <a:rPr sz="2200" spc="-10" dirty="0">
                <a:latin typeface="Calibri"/>
                <a:cs typeface="Calibri"/>
              </a:rPr>
              <a:t>example,</a:t>
            </a:r>
            <a:r>
              <a:rPr sz="2200" spc="-60" dirty="0">
                <a:latin typeface="Calibri"/>
                <a:cs typeface="Calibri"/>
              </a:rPr>
              <a:t> </a:t>
            </a:r>
            <a:r>
              <a:rPr sz="2200" dirty="0">
                <a:latin typeface="Calibri"/>
                <a:cs typeface="Calibri"/>
              </a:rPr>
              <a:t>develop</a:t>
            </a:r>
            <a:r>
              <a:rPr sz="2200" spc="-65" dirty="0">
                <a:latin typeface="Calibri"/>
                <a:cs typeface="Calibri"/>
              </a:rPr>
              <a:t> </a:t>
            </a:r>
            <a:r>
              <a:rPr sz="2200" dirty="0">
                <a:latin typeface="Calibri"/>
                <a:cs typeface="Calibri"/>
              </a:rPr>
              <a:t>product</a:t>
            </a:r>
            <a:r>
              <a:rPr sz="2200" spc="-60" dirty="0">
                <a:latin typeface="Calibri"/>
                <a:cs typeface="Calibri"/>
              </a:rPr>
              <a:t> </a:t>
            </a:r>
            <a:r>
              <a:rPr sz="2200" spc="-10" dirty="0">
                <a:latin typeface="Calibri"/>
                <a:cs typeface="Calibri"/>
              </a:rPr>
              <a:t>specifications.</a:t>
            </a:r>
            <a:endParaRPr sz="2200">
              <a:latin typeface="Calibri"/>
              <a:cs typeface="Calibri"/>
            </a:endParaRPr>
          </a:p>
        </p:txBody>
      </p:sp>
      <p:sp>
        <p:nvSpPr>
          <p:cNvPr id="10" name="object 10"/>
          <p:cNvSpPr txBox="1"/>
          <p:nvPr/>
        </p:nvSpPr>
        <p:spPr>
          <a:xfrm>
            <a:off x="916939" y="3426460"/>
            <a:ext cx="10356850" cy="360680"/>
          </a:xfrm>
          <a:prstGeom prst="rect">
            <a:avLst/>
          </a:prstGeom>
        </p:spPr>
        <p:txBody>
          <a:bodyPr vert="horz" wrap="square" lIns="0" tIns="12700" rIns="0" bIns="0" rtlCol="0">
            <a:spAutoFit/>
          </a:bodyPr>
          <a:lstStyle/>
          <a:p>
            <a:pPr marL="240665" indent="-227965">
              <a:lnSpc>
                <a:spcPct val="100000"/>
              </a:lnSpc>
              <a:spcBef>
                <a:spcPts val="100"/>
              </a:spcBef>
              <a:buFont typeface="Arial MT"/>
              <a:buChar char="•"/>
              <a:tabLst>
                <a:tab pos="240665" algn="l"/>
              </a:tabLst>
            </a:pPr>
            <a:r>
              <a:rPr sz="2200" b="1" dirty="0">
                <a:solidFill>
                  <a:srgbClr val="C00000"/>
                </a:solidFill>
                <a:latin typeface="Calibri"/>
                <a:cs typeface="Calibri"/>
              </a:rPr>
              <a:t>Merge</a:t>
            </a:r>
            <a:r>
              <a:rPr sz="2200" b="1" spc="5" dirty="0">
                <a:solidFill>
                  <a:srgbClr val="C00000"/>
                </a:solidFill>
                <a:latin typeface="Calibri"/>
                <a:cs typeface="Calibri"/>
              </a:rPr>
              <a:t> </a:t>
            </a:r>
            <a:r>
              <a:rPr sz="2200" b="1" dirty="0">
                <a:solidFill>
                  <a:srgbClr val="C00000"/>
                </a:solidFill>
                <a:latin typeface="Calibri"/>
                <a:cs typeface="Calibri"/>
              </a:rPr>
              <a:t>Activity</a:t>
            </a:r>
            <a:r>
              <a:rPr sz="2200" b="1" dirty="0">
                <a:latin typeface="Calibri"/>
                <a:cs typeface="Calibri"/>
              </a:rPr>
              <a:t>:</a:t>
            </a:r>
            <a:r>
              <a:rPr sz="2200" b="1" spc="5" dirty="0">
                <a:latin typeface="Calibri"/>
                <a:cs typeface="Calibri"/>
              </a:rPr>
              <a:t> </a:t>
            </a:r>
            <a:r>
              <a:rPr sz="2200" dirty="0">
                <a:latin typeface="Calibri"/>
                <a:cs typeface="Calibri"/>
              </a:rPr>
              <a:t>This</a:t>
            </a:r>
            <a:r>
              <a:rPr sz="2200" spc="5" dirty="0">
                <a:latin typeface="Calibri"/>
                <a:cs typeface="Calibri"/>
              </a:rPr>
              <a:t> </a:t>
            </a:r>
            <a:r>
              <a:rPr sz="2200" dirty="0">
                <a:latin typeface="Calibri"/>
                <a:cs typeface="Calibri"/>
              </a:rPr>
              <a:t>is</a:t>
            </a:r>
            <a:r>
              <a:rPr sz="2200" spc="5" dirty="0">
                <a:latin typeface="Calibri"/>
                <a:cs typeface="Calibri"/>
              </a:rPr>
              <a:t> </a:t>
            </a:r>
            <a:r>
              <a:rPr sz="2200" dirty="0">
                <a:latin typeface="Calibri"/>
                <a:cs typeface="Calibri"/>
              </a:rPr>
              <a:t>an</a:t>
            </a:r>
            <a:r>
              <a:rPr sz="2200" spc="-5" dirty="0">
                <a:latin typeface="Calibri"/>
                <a:cs typeface="Calibri"/>
              </a:rPr>
              <a:t> </a:t>
            </a:r>
            <a:r>
              <a:rPr sz="2200" dirty="0">
                <a:latin typeface="Calibri"/>
                <a:cs typeface="Calibri"/>
              </a:rPr>
              <a:t>activity that</a:t>
            </a:r>
            <a:r>
              <a:rPr sz="2200" spc="10" dirty="0">
                <a:latin typeface="Calibri"/>
                <a:cs typeface="Calibri"/>
              </a:rPr>
              <a:t> </a:t>
            </a:r>
            <a:r>
              <a:rPr sz="2200" dirty="0">
                <a:latin typeface="Calibri"/>
                <a:cs typeface="Calibri"/>
              </a:rPr>
              <a:t>has</a:t>
            </a:r>
            <a:r>
              <a:rPr sz="2200" spc="5" dirty="0">
                <a:latin typeface="Calibri"/>
                <a:cs typeface="Calibri"/>
              </a:rPr>
              <a:t> </a:t>
            </a:r>
            <a:r>
              <a:rPr sz="2200" dirty="0">
                <a:latin typeface="Calibri"/>
                <a:cs typeface="Calibri"/>
              </a:rPr>
              <a:t>more</a:t>
            </a:r>
            <a:r>
              <a:rPr sz="2200" spc="10" dirty="0">
                <a:latin typeface="Calibri"/>
                <a:cs typeface="Calibri"/>
              </a:rPr>
              <a:t> </a:t>
            </a:r>
            <a:r>
              <a:rPr sz="2200" dirty="0">
                <a:latin typeface="Calibri"/>
                <a:cs typeface="Calibri"/>
              </a:rPr>
              <a:t>than one</a:t>
            </a:r>
            <a:r>
              <a:rPr sz="2200" spc="10" dirty="0">
                <a:latin typeface="Calibri"/>
                <a:cs typeface="Calibri"/>
              </a:rPr>
              <a:t> </a:t>
            </a:r>
            <a:r>
              <a:rPr sz="2200" dirty="0">
                <a:latin typeface="Calibri"/>
                <a:cs typeface="Calibri"/>
              </a:rPr>
              <a:t>activity immediately </a:t>
            </a:r>
            <a:r>
              <a:rPr sz="2200" spc="-10" dirty="0">
                <a:latin typeface="Calibri"/>
                <a:cs typeface="Calibri"/>
              </a:rPr>
              <a:t>preceding</a:t>
            </a:r>
            <a:endParaRPr sz="2200">
              <a:latin typeface="Calibri"/>
              <a:cs typeface="Calibri"/>
            </a:endParaRPr>
          </a:p>
        </p:txBody>
      </p:sp>
      <p:sp>
        <p:nvSpPr>
          <p:cNvPr id="11" name="object 11"/>
          <p:cNvSpPr txBox="1"/>
          <p:nvPr/>
        </p:nvSpPr>
        <p:spPr>
          <a:xfrm>
            <a:off x="1145539" y="3655060"/>
            <a:ext cx="5782310" cy="360680"/>
          </a:xfrm>
          <a:prstGeom prst="rect">
            <a:avLst/>
          </a:prstGeom>
        </p:spPr>
        <p:txBody>
          <a:bodyPr vert="horz" wrap="square" lIns="0" tIns="12700" rIns="0" bIns="0" rtlCol="0">
            <a:spAutoFit/>
          </a:bodyPr>
          <a:lstStyle/>
          <a:p>
            <a:pPr marL="12700">
              <a:lnSpc>
                <a:spcPct val="100000"/>
              </a:lnSpc>
              <a:spcBef>
                <a:spcPts val="100"/>
              </a:spcBef>
            </a:pPr>
            <a:r>
              <a:rPr sz="2200" dirty="0">
                <a:latin typeface="Calibri"/>
                <a:cs typeface="Calibri"/>
              </a:rPr>
              <a:t>it</a:t>
            </a:r>
            <a:r>
              <a:rPr sz="2200" spc="-50" dirty="0">
                <a:latin typeface="Calibri"/>
                <a:cs typeface="Calibri"/>
              </a:rPr>
              <a:t> </a:t>
            </a:r>
            <a:r>
              <a:rPr sz="2200" dirty="0">
                <a:latin typeface="Calibri"/>
                <a:cs typeface="Calibri"/>
              </a:rPr>
              <a:t>(more</a:t>
            </a:r>
            <a:r>
              <a:rPr sz="2200" spc="-40" dirty="0">
                <a:latin typeface="Calibri"/>
                <a:cs typeface="Calibri"/>
              </a:rPr>
              <a:t> </a:t>
            </a:r>
            <a:r>
              <a:rPr sz="2200" dirty="0">
                <a:latin typeface="Calibri"/>
                <a:cs typeface="Calibri"/>
              </a:rPr>
              <a:t>than</a:t>
            </a:r>
            <a:r>
              <a:rPr sz="2200" spc="-55" dirty="0">
                <a:latin typeface="Calibri"/>
                <a:cs typeface="Calibri"/>
              </a:rPr>
              <a:t> </a:t>
            </a:r>
            <a:r>
              <a:rPr sz="2200" dirty="0">
                <a:latin typeface="Calibri"/>
                <a:cs typeface="Calibri"/>
              </a:rPr>
              <a:t>one</a:t>
            </a:r>
            <a:r>
              <a:rPr sz="2200" spc="-40" dirty="0">
                <a:latin typeface="Calibri"/>
                <a:cs typeface="Calibri"/>
              </a:rPr>
              <a:t> </a:t>
            </a:r>
            <a:r>
              <a:rPr sz="2200" dirty="0">
                <a:latin typeface="Calibri"/>
                <a:cs typeface="Calibri"/>
              </a:rPr>
              <a:t>dependency</a:t>
            </a:r>
            <a:r>
              <a:rPr sz="2200" spc="-50" dirty="0">
                <a:latin typeface="Calibri"/>
                <a:cs typeface="Calibri"/>
              </a:rPr>
              <a:t> </a:t>
            </a:r>
            <a:r>
              <a:rPr sz="2200" dirty="0">
                <a:latin typeface="Calibri"/>
                <a:cs typeface="Calibri"/>
              </a:rPr>
              <a:t>arrow</a:t>
            </a:r>
            <a:r>
              <a:rPr sz="2200" spc="-45" dirty="0">
                <a:latin typeface="Calibri"/>
                <a:cs typeface="Calibri"/>
              </a:rPr>
              <a:t> </a:t>
            </a:r>
            <a:r>
              <a:rPr sz="2200" dirty="0">
                <a:latin typeface="Calibri"/>
                <a:cs typeface="Calibri"/>
              </a:rPr>
              <a:t>flowing</a:t>
            </a:r>
            <a:r>
              <a:rPr sz="2200" spc="-40" dirty="0">
                <a:latin typeface="Calibri"/>
                <a:cs typeface="Calibri"/>
              </a:rPr>
              <a:t> </a:t>
            </a:r>
            <a:r>
              <a:rPr sz="2200" dirty="0">
                <a:latin typeface="Calibri"/>
                <a:cs typeface="Calibri"/>
              </a:rPr>
              <a:t>to</a:t>
            </a:r>
            <a:r>
              <a:rPr sz="2200" spc="-45" dirty="0">
                <a:latin typeface="Calibri"/>
                <a:cs typeface="Calibri"/>
              </a:rPr>
              <a:t> </a:t>
            </a:r>
            <a:r>
              <a:rPr sz="2200" spc="-20" dirty="0">
                <a:latin typeface="Calibri"/>
                <a:cs typeface="Calibri"/>
              </a:rPr>
              <a:t>it).</a:t>
            </a:r>
            <a:endParaRPr sz="2200" dirty="0">
              <a:latin typeface="Calibri"/>
              <a:cs typeface="Calibri"/>
            </a:endParaRPr>
          </a:p>
        </p:txBody>
      </p:sp>
      <p:sp>
        <p:nvSpPr>
          <p:cNvPr id="12" name="object 12"/>
          <p:cNvSpPr txBox="1"/>
          <p:nvPr/>
        </p:nvSpPr>
        <p:spPr>
          <a:xfrm>
            <a:off x="916939" y="4023867"/>
            <a:ext cx="10356215" cy="360680"/>
          </a:xfrm>
          <a:prstGeom prst="rect">
            <a:avLst/>
          </a:prstGeom>
        </p:spPr>
        <p:txBody>
          <a:bodyPr vert="horz" wrap="square" lIns="0" tIns="12700" rIns="0" bIns="0" rtlCol="0">
            <a:spAutoFit/>
          </a:bodyPr>
          <a:lstStyle/>
          <a:p>
            <a:pPr marL="240665" indent="-227965">
              <a:lnSpc>
                <a:spcPct val="100000"/>
              </a:lnSpc>
              <a:spcBef>
                <a:spcPts val="100"/>
              </a:spcBef>
              <a:buFont typeface="Arial MT"/>
              <a:buChar char="•"/>
              <a:tabLst>
                <a:tab pos="240665" algn="l"/>
                <a:tab pos="2503805" algn="l"/>
                <a:tab pos="3302635" algn="l"/>
                <a:tab pos="3796029" algn="l"/>
                <a:tab pos="5518150" algn="l"/>
                <a:tab pos="6649084" algn="l"/>
                <a:tab pos="7376795" algn="l"/>
                <a:tab pos="7728584" algn="l"/>
                <a:tab pos="8235950" algn="l"/>
                <a:tab pos="8969375" algn="l"/>
                <a:tab pos="9687560" algn="l"/>
                <a:tab pos="9964420" algn="l"/>
              </a:tabLst>
            </a:pPr>
            <a:r>
              <a:rPr sz="2200" b="1" dirty="0">
                <a:solidFill>
                  <a:srgbClr val="C00000"/>
                </a:solidFill>
                <a:latin typeface="Calibri"/>
                <a:cs typeface="Calibri"/>
              </a:rPr>
              <a:t>Parallel</a:t>
            </a:r>
            <a:r>
              <a:rPr sz="2200" b="1" spc="350" dirty="0">
                <a:solidFill>
                  <a:srgbClr val="C00000"/>
                </a:solidFill>
                <a:latin typeface="Calibri"/>
                <a:cs typeface="Calibri"/>
              </a:rPr>
              <a:t> </a:t>
            </a:r>
            <a:r>
              <a:rPr sz="2200" b="1" spc="-10" dirty="0">
                <a:solidFill>
                  <a:srgbClr val="C00000"/>
                </a:solidFill>
                <a:latin typeface="Calibri"/>
                <a:cs typeface="Calibri"/>
              </a:rPr>
              <a:t>Activities</a:t>
            </a:r>
            <a:r>
              <a:rPr sz="2200" b="1" spc="-10" dirty="0">
                <a:latin typeface="Calibri"/>
                <a:cs typeface="Calibri"/>
              </a:rPr>
              <a:t>:</a:t>
            </a:r>
            <a:r>
              <a:rPr sz="2200" b="1" dirty="0">
                <a:latin typeface="Calibri"/>
                <a:cs typeface="Calibri"/>
              </a:rPr>
              <a:t>	</a:t>
            </a:r>
            <a:r>
              <a:rPr sz="2200" spc="-20" dirty="0">
                <a:latin typeface="Calibri"/>
                <a:cs typeface="Calibri"/>
              </a:rPr>
              <a:t>These</a:t>
            </a:r>
            <a:r>
              <a:rPr sz="2200" dirty="0">
                <a:latin typeface="Calibri"/>
                <a:cs typeface="Calibri"/>
              </a:rPr>
              <a:t>	</a:t>
            </a:r>
            <a:r>
              <a:rPr sz="2200" spc="-25" dirty="0">
                <a:latin typeface="Calibri"/>
                <a:cs typeface="Calibri"/>
              </a:rPr>
              <a:t>are</a:t>
            </a:r>
            <a:r>
              <a:rPr sz="2200" dirty="0">
                <a:latin typeface="Calibri"/>
                <a:cs typeface="Calibri"/>
              </a:rPr>
              <a:t>	activities</a:t>
            </a:r>
            <a:r>
              <a:rPr sz="2200" spc="430" dirty="0">
                <a:latin typeface="Calibri"/>
                <a:cs typeface="Calibri"/>
              </a:rPr>
              <a:t> </a:t>
            </a:r>
            <a:r>
              <a:rPr sz="2200" spc="-20" dirty="0">
                <a:latin typeface="Calibri"/>
                <a:cs typeface="Calibri"/>
              </a:rPr>
              <a:t>that</a:t>
            </a:r>
            <a:r>
              <a:rPr sz="2200" dirty="0">
                <a:latin typeface="Calibri"/>
                <a:cs typeface="Calibri"/>
              </a:rPr>
              <a:t>	can</a:t>
            </a:r>
            <a:r>
              <a:rPr sz="2200" spc="470" dirty="0">
                <a:latin typeface="Calibri"/>
                <a:cs typeface="Calibri"/>
              </a:rPr>
              <a:t> </a:t>
            </a:r>
            <a:r>
              <a:rPr sz="2200" spc="-20" dirty="0">
                <a:latin typeface="Calibri"/>
                <a:cs typeface="Calibri"/>
              </a:rPr>
              <a:t>take</a:t>
            </a:r>
            <a:r>
              <a:rPr sz="2200" dirty="0">
                <a:latin typeface="Calibri"/>
                <a:cs typeface="Calibri"/>
              </a:rPr>
              <a:t>	</a:t>
            </a:r>
            <a:r>
              <a:rPr sz="2200" spc="-10" dirty="0">
                <a:latin typeface="Calibri"/>
                <a:cs typeface="Calibri"/>
              </a:rPr>
              <a:t>place</a:t>
            </a:r>
            <a:r>
              <a:rPr sz="2200" dirty="0">
                <a:latin typeface="Calibri"/>
                <a:cs typeface="Calibri"/>
              </a:rPr>
              <a:t>	</a:t>
            </a:r>
            <a:r>
              <a:rPr sz="2200" spc="-25" dirty="0">
                <a:latin typeface="Calibri"/>
                <a:cs typeface="Calibri"/>
              </a:rPr>
              <a:t>at</a:t>
            </a:r>
            <a:r>
              <a:rPr sz="2200" dirty="0">
                <a:latin typeface="Calibri"/>
                <a:cs typeface="Calibri"/>
              </a:rPr>
              <a:t>	</a:t>
            </a:r>
            <a:r>
              <a:rPr sz="2200" spc="-25" dirty="0">
                <a:latin typeface="Calibri"/>
                <a:cs typeface="Calibri"/>
              </a:rPr>
              <a:t>the</a:t>
            </a:r>
            <a:r>
              <a:rPr sz="2200" dirty="0">
                <a:latin typeface="Calibri"/>
                <a:cs typeface="Calibri"/>
              </a:rPr>
              <a:t>	</a:t>
            </a:r>
            <a:r>
              <a:rPr sz="2200" spc="-20" dirty="0">
                <a:latin typeface="Calibri"/>
                <a:cs typeface="Calibri"/>
              </a:rPr>
              <a:t>same</a:t>
            </a:r>
            <a:r>
              <a:rPr sz="2200" dirty="0">
                <a:latin typeface="Calibri"/>
                <a:cs typeface="Calibri"/>
              </a:rPr>
              <a:t>	</a:t>
            </a:r>
            <a:r>
              <a:rPr sz="2200" spc="-10" dirty="0">
                <a:latin typeface="Calibri"/>
                <a:cs typeface="Calibri"/>
              </a:rPr>
              <a:t>time,</a:t>
            </a:r>
            <a:r>
              <a:rPr sz="2200" dirty="0">
                <a:latin typeface="Calibri"/>
                <a:cs typeface="Calibri"/>
              </a:rPr>
              <a:t>	</a:t>
            </a:r>
            <a:r>
              <a:rPr sz="2200" spc="-25" dirty="0">
                <a:latin typeface="Calibri"/>
                <a:cs typeface="Calibri"/>
              </a:rPr>
              <a:t>if</a:t>
            </a:r>
            <a:r>
              <a:rPr sz="2200" dirty="0">
                <a:latin typeface="Calibri"/>
                <a:cs typeface="Calibri"/>
              </a:rPr>
              <a:t>	</a:t>
            </a:r>
            <a:r>
              <a:rPr sz="2200" spc="-25" dirty="0">
                <a:latin typeface="Calibri"/>
                <a:cs typeface="Calibri"/>
              </a:rPr>
              <a:t>the</a:t>
            </a:r>
            <a:endParaRPr sz="2200">
              <a:latin typeface="Calibri"/>
              <a:cs typeface="Calibri"/>
            </a:endParaRPr>
          </a:p>
        </p:txBody>
      </p:sp>
      <p:sp>
        <p:nvSpPr>
          <p:cNvPr id="13" name="object 13"/>
          <p:cNvSpPr txBox="1"/>
          <p:nvPr/>
        </p:nvSpPr>
        <p:spPr>
          <a:xfrm>
            <a:off x="1145539" y="4252467"/>
            <a:ext cx="10128885" cy="601980"/>
          </a:xfrm>
          <a:prstGeom prst="rect">
            <a:avLst/>
          </a:prstGeom>
        </p:spPr>
        <p:txBody>
          <a:bodyPr vert="horz" wrap="square" lIns="0" tIns="107315" rIns="0" bIns="0" rtlCol="0">
            <a:spAutoFit/>
          </a:bodyPr>
          <a:lstStyle/>
          <a:p>
            <a:pPr marL="12700" marR="5080">
              <a:lnSpc>
                <a:spcPct val="71800"/>
              </a:lnSpc>
              <a:spcBef>
                <a:spcPts val="845"/>
              </a:spcBef>
            </a:pPr>
            <a:r>
              <a:rPr sz="2200" dirty="0">
                <a:latin typeface="Calibri"/>
                <a:cs typeface="Calibri"/>
              </a:rPr>
              <a:t>manager</a:t>
            </a:r>
            <a:r>
              <a:rPr sz="2200" spc="20" dirty="0">
                <a:latin typeface="Calibri"/>
                <a:cs typeface="Calibri"/>
              </a:rPr>
              <a:t> </a:t>
            </a:r>
            <a:r>
              <a:rPr sz="2200" dirty="0">
                <a:latin typeface="Calibri"/>
                <a:cs typeface="Calibri"/>
              </a:rPr>
              <a:t>wishes.</a:t>
            </a:r>
            <a:r>
              <a:rPr sz="2200" spc="25" dirty="0">
                <a:latin typeface="Calibri"/>
                <a:cs typeface="Calibri"/>
              </a:rPr>
              <a:t> </a:t>
            </a:r>
            <a:r>
              <a:rPr sz="2200" spc="-20" dirty="0">
                <a:latin typeface="Calibri"/>
                <a:cs typeface="Calibri"/>
              </a:rPr>
              <a:t>However,</a:t>
            </a:r>
            <a:r>
              <a:rPr sz="2200" spc="30" dirty="0">
                <a:latin typeface="Calibri"/>
                <a:cs typeface="Calibri"/>
              </a:rPr>
              <a:t> </a:t>
            </a:r>
            <a:r>
              <a:rPr sz="2200" dirty="0">
                <a:latin typeface="Calibri"/>
                <a:cs typeface="Calibri"/>
              </a:rPr>
              <a:t>the</a:t>
            </a:r>
            <a:r>
              <a:rPr sz="2200" spc="30" dirty="0">
                <a:latin typeface="Calibri"/>
                <a:cs typeface="Calibri"/>
              </a:rPr>
              <a:t> </a:t>
            </a:r>
            <a:r>
              <a:rPr sz="2200" dirty="0">
                <a:latin typeface="Calibri"/>
                <a:cs typeface="Calibri"/>
              </a:rPr>
              <a:t>manager</a:t>
            </a:r>
            <a:r>
              <a:rPr sz="2200" spc="25" dirty="0">
                <a:latin typeface="Calibri"/>
                <a:cs typeface="Calibri"/>
              </a:rPr>
              <a:t> </a:t>
            </a:r>
            <a:r>
              <a:rPr sz="2200" dirty="0">
                <a:latin typeface="Calibri"/>
                <a:cs typeface="Calibri"/>
              </a:rPr>
              <a:t>may</a:t>
            </a:r>
            <a:r>
              <a:rPr sz="2200" spc="30" dirty="0">
                <a:latin typeface="Calibri"/>
                <a:cs typeface="Calibri"/>
              </a:rPr>
              <a:t> </a:t>
            </a:r>
            <a:r>
              <a:rPr sz="2200" dirty="0">
                <a:latin typeface="Calibri"/>
                <a:cs typeface="Calibri"/>
              </a:rPr>
              <a:t>choose</a:t>
            </a:r>
            <a:r>
              <a:rPr sz="2200" spc="35" dirty="0">
                <a:latin typeface="Calibri"/>
                <a:cs typeface="Calibri"/>
              </a:rPr>
              <a:t> </a:t>
            </a:r>
            <a:r>
              <a:rPr sz="2200" dirty="0">
                <a:latin typeface="Calibri"/>
                <a:cs typeface="Calibri"/>
              </a:rPr>
              <a:t>to</a:t>
            </a:r>
            <a:r>
              <a:rPr sz="2200" spc="25" dirty="0">
                <a:latin typeface="Calibri"/>
                <a:cs typeface="Calibri"/>
              </a:rPr>
              <a:t> </a:t>
            </a:r>
            <a:r>
              <a:rPr sz="2200" dirty="0">
                <a:latin typeface="Calibri"/>
                <a:cs typeface="Calibri"/>
              </a:rPr>
              <a:t>have</a:t>
            </a:r>
            <a:r>
              <a:rPr sz="2200" spc="35" dirty="0">
                <a:latin typeface="Calibri"/>
                <a:cs typeface="Calibri"/>
              </a:rPr>
              <a:t> </a:t>
            </a:r>
            <a:r>
              <a:rPr sz="2200" dirty="0">
                <a:latin typeface="Calibri"/>
                <a:cs typeface="Calibri"/>
              </a:rPr>
              <a:t>parallel</a:t>
            </a:r>
            <a:r>
              <a:rPr sz="2200" spc="20" dirty="0">
                <a:latin typeface="Calibri"/>
                <a:cs typeface="Calibri"/>
              </a:rPr>
              <a:t> </a:t>
            </a:r>
            <a:r>
              <a:rPr sz="2200" dirty="0">
                <a:latin typeface="Calibri"/>
                <a:cs typeface="Calibri"/>
              </a:rPr>
              <a:t>activities</a:t>
            </a:r>
            <a:r>
              <a:rPr sz="2200" spc="20" dirty="0">
                <a:latin typeface="Calibri"/>
                <a:cs typeface="Calibri"/>
              </a:rPr>
              <a:t> </a:t>
            </a:r>
            <a:r>
              <a:rPr sz="2200" i="1" dirty="0">
                <a:latin typeface="Calibri"/>
                <a:cs typeface="Calibri"/>
              </a:rPr>
              <a:t>not</a:t>
            </a:r>
            <a:r>
              <a:rPr sz="2200" i="1" spc="30" dirty="0">
                <a:latin typeface="Calibri"/>
                <a:cs typeface="Calibri"/>
              </a:rPr>
              <a:t> </a:t>
            </a:r>
            <a:r>
              <a:rPr sz="2200" spc="-10" dirty="0">
                <a:latin typeface="Calibri"/>
                <a:cs typeface="Calibri"/>
              </a:rPr>
              <a:t>occur simultaneously.</a:t>
            </a:r>
            <a:endParaRPr sz="2200">
              <a:latin typeface="Calibri"/>
              <a:cs typeface="Calibri"/>
            </a:endParaRPr>
          </a:p>
        </p:txBody>
      </p:sp>
      <p:sp>
        <p:nvSpPr>
          <p:cNvPr id="14" name="object 14"/>
          <p:cNvSpPr txBox="1"/>
          <p:nvPr/>
        </p:nvSpPr>
        <p:spPr>
          <a:xfrm>
            <a:off x="916939" y="4849876"/>
            <a:ext cx="9921240" cy="360680"/>
          </a:xfrm>
          <a:prstGeom prst="rect">
            <a:avLst/>
          </a:prstGeom>
        </p:spPr>
        <p:txBody>
          <a:bodyPr vert="horz" wrap="square" lIns="0" tIns="12700" rIns="0" bIns="0" rtlCol="0">
            <a:spAutoFit/>
          </a:bodyPr>
          <a:lstStyle/>
          <a:p>
            <a:pPr marL="240665" indent="-227965">
              <a:lnSpc>
                <a:spcPct val="100000"/>
              </a:lnSpc>
              <a:spcBef>
                <a:spcPts val="100"/>
              </a:spcBef>
              <a:buFont typeface="Arial MT"/>
              <a:buChar char="•"/>
              <a:tabLst>
                <a:tab pos="240665" algn="l"/>
              </a:tabLst>
            </a:pPr>
            <a:r>
              <a:rPr sz="2200" b="1" dirty="0">
                <a:solidFill>
                  <a:srgbClr val="C00000"/>
                </a:solidFill>
                <a:latin typeface="Calibri"/>
                <a:cs typeface="Calibri"/>
              </a:rPr>
              <a:t>Burst</a:t>
            </a:r>
            <a:r>
              <a:rPr sz="2200" b="1" spc="-50" dirty="0">
                <a:solidFill>
                  <a:srgbClr val="C00000"/>
                </a:solidFill>
                <a:latin typeface="Calibri"/>
                <a:cs typeface="Calibri"/>
              </a:rPr>
              <a:t> </a:t>
            </a:r>
            <a:r>
              <a:rPr sz="2200" b="1" dirty="0">
                <a:solidFill>
                  <a:srgbClr val="C00000"/>
                </a:solidFill>
                <a:latin typeface="Calibri"/>
                <a:cs typeface="Calibri"/>
              </a:rPr>
              <a:t>Activity</a:t>
            </a:r>
            <a:r>
              <a:rPr sz="2200" b="1" dirty="0">
                <a:latin typeface="Calibri"/>
                <a:cs typeface="Calibri"/>
              </a:rPr>
              <a:t>:</a:t>
            </a:r>
            <a:r>
              <a:rPr sz="2200" b="1" spc="-40" dirty="0">
                <a:latin typeface="Calibri"/>
                <a:cs typeface="Calibri"/>
              </a:rPr>
              <a:t> </a:t>
            </a:r>
            <a:r>
              <a:rPr sz="2200" dirty="0">
                <a:latin typeface="Calibri"/>
                <a:cs typeface="Calibri"/>
              </a:rPr>
              <a:t>This</a:t>
            </a:r>
            <a:r>
              <a:rPr sz="2200" spc="-45" dirty="0">
                <a:latin typeface="Calibri"/>
                <a:cs typeface="Calibri"/>
              </a:rPr>
              <a:t> </a:t>
            </a:r>
            <a:r>
              <a:rPr sz="2200" dirty="0">
                <a:latin typeface="Calibri"/>
                <a:cs typeface="Calibri"/>
              </a:rPr>
              <a:t>activity</a:t>
            </a:r>
            <a:r>
              <a:rPr sz="2200" spc="-40" dirty="0">
                <a:latin typeface="Calibri"/>
                <a:cs typeface="Calibri"/>
              </a:rPr>
              <a:t> </a:t>
            </a:r>
            <a:r>
              <a:rPr sz="2200" dirty="0">
                <a:latin typeface="Calibri"/>
                <a:cs typeface="Calibri"/>
              </a:rPr>
              <a:t>has</a:t>
            </a:r>
            <a:r>
              <a:rPr sz="2200" spc="-45" dirty="0">
                <a:latin typeface="Calibri"/>
                <a:cs typeface="Calibri"/>
              </a:rPr>
              <a:t> </a:t>
            </a:r>
            <a:r>
              <a:rPr sz="2200" dirty="0">
                <a:latin typeface="Calibri"/>
                <a:cs typeface="Calibri"/>
              </a:rPr>
              <a:t>more</a:t>
            </a:r>
            <a:r>
              <a:rPr sz="2200" spc="-45" dirty="0">
                <a:latin typeface="Calibri"/>
                <a:cs typeface="Calibri"/>
              </a:rPr>
              <a:t> </a:t>
            </a:r>
            <a:r>
              <a:rPr sz="2200" dirty="0">
                <a:latin typeface="Calibri"/>
                <a:cs typeface="Calibri"/>
              </a:rPr>
              <a:t>than</a:t>
            </a:r>
            <a:r>
              <a:rPr sz="2200" spc="-50" dirty="0">
                <a:latin typeface="Calibri"/>
                <a:cs typeface="Calibri"/>
              </a:rPr>
              <a:t> </a:t>
            </a:r>
            <a:r>
              <a:rPr sz="2200" dirty="0">
                <a:latin typeface="Calibri"/>
                <a:cs typeface="Calibri"/>
              </a:rPr>
              <a:t>one</a:t>
            </a:r>
            <a:r>
              <a:rPr sz="2200" spc="-40" dirty="0">
                <a:latin typeface="Calibri"/>
                <a:cs typeface="Calibri"/>
              </a:rPr>
              <a:t> </a:t>
            </a:r>
            <a:r>
              <a:rPr sz="2200" dirty="0">
                <a:latin typeface="Calibri"/>
                <a:cs typeface="Calibri"/>
              </a:rPr>
              <a:t>activity</a:t>
            </a:r>
            <a:r>
              <a:rPr sz="2200" spc="-40" dirty="0">
                <a:latin typeface="Calibri"/>
                <a:cs typeface="Calibri"/>
              </a:rPr>
              <a:t> </a:t>
            </a:r>
            <a:r>
              <a:rPr sz="2200" spc="-10" dirty="0">
                <a:latin typeface="Calibri"/>
                <a:cs typeface="Calibri"/>
              </a:rPr>
              <a:t>immediately</a:t>
            </a:r>
            <a:r>
              <a:rPr sz="2200" spc="-40" dirty="0">
                <a:latin typeface="Calibri"/>
                <a:cs typeface="Calibri"/>
              </a:rPr>
              <a:t> </a:t>
            </a:r>
            <a:r>
              <a:rPr sz="2200" dirty="0">
                <a:latin typeface="Calibri"/>
                <a:cs typeface="Calibri"/>
              </a:rPr>
              <a:t>following</a:t>
            </a:r>
            <a:r>
              <a:rPr sz="2200" spc="-45" dirty="0">
                <a:latin typeface="Calibri"/>
                <a:cs typeface="Calibri"/>
              </a:rPr>
              <a:t> </a:t>
            </a:r>
            <a:r>
              <a:rPr sz="2200" dirty="0">
                <a:latin typeface="Calibri"/>
                <a:cs typeface="Calibri"/>
              </a:rPr>
              <a:t>it</a:t>
            </a:r>
            <a:r>
              <a:rPr sz="2200" spc="-45" dirty="0">
                <a:latin typeface="Calibri"/>
                <a:cs typeface="Calibri"/>
              </a:rPr>
              <a:t> </a:t>
            </a:r>
            <a:r>
              <a:rPr sz="2200" spc="-10" dirty="0">
                <a:latin typeface="Calibri"/>
                <a:cs typeface="Calibri"/>
              </a:rPr>
              <a:t>(more</a:t>
            </a:r>
            <a:endParaRPr sz="2200">
              <a:latin typeface="Calibri"/>
              <a:cs typeface="Calibri"/>
            </a:endParaRPr>
          </a:p>
        </p:txBody>
      </p:sp>
      <p:sp>
        <p:nvSpPr>
          <p:cNvPr id="15" name="object 15"/>
          <p:cNvSpPr txBox="1"/>
          <p:nvPr/>
        </p:nvSpPr>
        <p:spPr>
          <a:xfrm>
            <a:off x="916939" y="5044947"/>
            <a:ext cx="10358755" cy="1116965"/>
          </a:xfrm>
          <a:prstGeom prst="rect">
            <a:avLst/>
          </a:prstGeom>
        </p:spPr>
        <p:txBody>
          <a:bodyPr vert="horz" wrap="square" lIns="0" tIns="46355" rIns="0" bIns="0" rtlCol="0">
            <a:spAutoFit/>
          </a:bodyPr>
          <a:lstStyle/>
          <a:p>
            <a:pPr marL="241300">
              <a:lnSpc>
                <a:spcPct val="100000"/>
              </a:lnSpc>
              <a:spcBef>
                <a:spcPts val="365"/>
              </a:spcBef>
            </a:pPr>
            <a:r>
              <a:rPr sz="2200" dirty="0">
                <a:latin typeface="Calibri"/>
                <a:cs typeface="Calibri"/>
              </a:rPr>
              <a:t>than</a:t>
            </a:r>
            <a:r>
              <a:rPr sz="2200" spc="-70" dirty="0">
                <a:latin typeface="Calibri"/>
                <a:cs typeface="Calibri"/>
              </a:rPr>
              <a:t> </a:t>
            </a:r>
            <a:r>
              <a:rPr sz="2200" dirty="0">
                <a:latin typeface="Calibri"/>
                <a:cs typeface="Calibri"/>
              </a:rPr>
              <a:t>one</a:t>
            </a:r>
            <a:r>
              <a:rPr sz="2200" spc="-65" dirty="0">
                <a:latin typeface="Calibri"/>
                <a:cs typeface="Calibri"/>
              </a:rPr>
              <a:t> </a:t>
            </a:r>
            <a:r>
              <a:rPr sz="2200" dirty="0">
                <a:latin typeface="Calibri"/>
                <a:cs typeface="Calibri"/>
              </a:rPr>
              <a:t>dependency</a:t>
            </a:r>
            <a:r>
              <a:rPr sz="2200" spc="-60" dirty="0">
                <a:latin typeface="Calibri"/>
                <a:cs typeface="Calibri"/>
              </a:rPr>
              <a:t> </a:t>
            </a:r>
            <a:r>
              <a:rPr sz="2200" dirty="0">
                <a:latin typeface="Calibri"/>
                <a:cs typeface="Calibri"/>
              </a:rPr>
              <a:t>arrow</a:t>
            </a:r>
            <a:r>
              <a:rPr sz="2200" spc="-60" dirty="0">
                <a:latin typeface="Calibri"/>
                <a:cs typeface="Calibri"/>
              </a:rPr>
              <a:t> </a:t>
            </a:r>
            <a:r>
              <a:rPr sz="2200" dirty="0">
                <a:latin typeface="Calibri"/>
                <a:cs typeface="Calibri"/>
              </a:rPr>
              <a:t>flowing</a:t>
            </a:r>
            <a:r>
              <a:rPr sz="2200" spc="-65" dirty="0">
                <a:latin typeface="Calibri"/>
                <a:cs typeface="Calibri"/>
              </a:rPr>
              <a:t> </a:t>
            </a:r>
            <a:r>
              <a:rPr sz="2200" dirty="0">
                <a:latin typeface="Calibri"/>
                <a:cs typeface="Calibri"/>
              </a:rPr>
              <a:t>from</a:t>
            </a:r>
            <a:r>
              <a:rPr sz="2200" spc="-60" dirty="0">
                <a:latin typeface="Calibri"/>
                <a:cs typeface="Calibri"/>
              </a:rPr>
              <a:t> </a:t>
            </a:r>
            <a:r>
              <a:rPr sz="2200" spc="-20" dirty="0">
                <a:latin typeface="Calibri"/>
                <a:cs typeface="Calibri"/>
              </a:rPr>
              <a:t>it).</a:t>
            </a:r>
            <a:endParaRPr sz="2200">
              <a:latin typeface="Calibri"/>
              <a:cs typeface="Calibri"/>
            </a:endParaRPr>
          </a:p>
          <a:p>
            <a:pPr marL="240665" indent="-227965">
              <a:lnSpc>
                <a:spcPct val="100000"/>
              </a:lnSpc>
              <a:spcBef>
                <a:spcPts val="260"/>
              </a:spcBef>
              <a:buFont typeface="Arial MT"/>
              <a:buChar char="•"/>
              <a:tabLst>
                <a:tab pos="240665" algn="l"/>
              </a:tabLst>
            </a:pPr>
            <a:r>
              <a:rPr sz="2200" b="1" dirty="0">
                <a:latin typeface="Calibri"/>
                <a:cs typeface="Calibri"/>
              </a:rPr>
              <a:t>Path:</a:t>
            </a:r>
            <a:r>
              <a:rPr sz="2200" b="1" spc="-50" dirty="0">
                <a:latin typeface="Calibri"/>
                <a:cs typeface="Calibri"/>
              </a:rPr>
              <a:t> </a:t>
            </a:r>
            <a:r>
              <a:rPr sz="2200" dirty="0">
                <a:latin typeface="Calibri"/>
                <a:cs typeface="Calibri"/>
              </a:rPr>
              <a:t>A</a:t>
            </a:r>
            <a:r>
              <a:rPr sz="2200" spc="-55" dirty="0">
                <a:latin typeface="Calibri"/>
                <a:cs typeface="Calibri"/>
              </a:rPr>
              <a:t> </a:t>
            </a:r>
            <a:r>
              <a:rPr sz="2200" dirty="0">
                <a:latin typeface="Calibri"/>
                <a:cs typeface="Calibri"/>
              </a:rPr>
              <a:t>sequence</a:t>
            </a:r>
            <a:r>
              <a:rPr sz="2200" spc="-50" dirty="0">
                <a:latin typeface="Calibri"/>
                <a:cs typeface="Calibri"/>
              </a:rPr>
              <a:t> </a:t>
            </a:r>
            <a:r>
              <a:rPr sz="2200" dirty="0">
                <a:latin typeface="Calibri"/>
                <a:cs typeface="Calibri"/>
              </a:rPr>
              <a:t>of</a:t>
            </a:r>
            <a:r>
              <a:rPr sz="2200" spc="-50" dirty="0">
                <a:latin typeface="Calibri"/>
                <a:cs typeface="Calibri"/>
              </a:rPr>
              <a:t> </a:t>
            </a:r>
            <a:r>
              <a:rPr sz="2200" spc="-10" dirty="0">
                <a:latin typeface="Calibri"/>
                <a:cs typeface="Calibri"/>
              </a:rPr>
              <a:t>connected,</a:t>
            </a:r>
            <a:r>
              <a:rPr sz="2200" spc="-50" dirty="0">
                <a:latin typeface="Calibri"/>
                <a:cs typeface="Calibri"/>
              </a:rPr>
              <a:t> </a:t>
            </a:r>
            <a:r>
              <a:rPr sz="2200" dirty="0">
                <a:latin typeface="Calibri"/>
                <a:cs typeface="Calibri"/>
              </a:rPr>
              <a:t>dependent</a:t>
            </a:r>
            <a:r>
              <a:rPr sz="2200" spc="-55" dirty="0">
                <a:latin typeface="Calibri"/>
                <a:cs typeface="Calibri"/>
              </a:rPr>
              <a:t> </a:t>
            </a:r>
            <a:r>
              <a:rPr sz="2200" spc="-10" dirty="0">
                <a:latin typeface="Calibri"/>
                <a:cs typeface="Calibri"/>
              </a:rPr>
              <a:t>activities.</a:t>
            </a:r>
            <a:endParaRPr sz="2200">
              <a:latin typeface="Calibri"/>
              <a:cs typeface="Calibri"/>
            </a:endParaRPr>
          </a:p>
          <a:p>
            <a:pPr marL="240665" indent="-227965">
              <a:lnSpc>
                <a:spcPct val="100000"/>
              </a:lnSpc>
              <a:spcBef>
                <a:spcPts val="145"/>
              </a:spcBef>
              <a:buFont typeface="Arial MT"/>
              <a:buChar char="•"/>
              <a:tabLst>
                <a:tab pos="240665" algn="l"/>
              </a:tabLst>
            </a:pPr>
            <a:r>
              <a:rPr sz="2200" b="1" dirty="0">
                <a:solidFill>
                  <a:srgbClr val="C00000"/>
                </a:solidFill>
                <a:latin typeface="Calibri"/>
                <a:cs typeface="Calibri"/>
              </a:rPr>
              <a:t>Critical</a:t>
            </a:r>
            <a:r>
              <a:rPr sz="2200" b="1" spc="305" dirty="0">
                <a:solidFill>
                  <a:srgbClr val="C00000"/>
                </a:solidFill>
                <a:latin typeface="Calibri"/>
                <a:cs typeface="Calibri"/>
              </a:rPr>
              <a:t> </a:t>
            </a:r>
            <a:r>
              <a:rPr sz="2200" b="1" dirty="0">
                <a:solidFill>
                  <a:srgbClr val="C00000"/>
                </a:solidFill>
                <a:latin typeface="Calibri"/>
                <a:cs typeface="Calibri"/>
              </a:rPr>
              <a:t>Path</a:t>
            </a:r>
            <a:r>
              <a:rPr sz="2200" b="1" dirty="0">
                <a:latin typeface="Calibri"/>
                <a:cs typeface="Calibri"/>
              </a:rPr>
              <a:t>:</a:t>
            </a:r>
            <a:r>
              <a:rPr sz="2200" b="1" spc="315" dirty="0">
                <a:latin typeface="Calibri"/>
                <a:cs typeface="Calibri"/>
              </a:rPr>
              <a:t> </a:t>
            </a:r>
            <a:r>
              <a:rPr sz="2200" dirty="0">
                <a:latin typeface="Calibri"/>
                <a:cs typeface="Calibri"/>
              </a:rPr>
              <a:t>When</a:t>
            </a:r>
            <a:r>
              <a:rPr sz="2200" spc="305" dirty="0">
                <a:latin typeface="Calibri"/>
                <a:cs typeface="Calibri"/>
              </a:rPr>
              <a:t> </a:t>
            </a:r>
            <a:r>
              <a:rPr sz="2200" dirty="0">
                <a:latin typeface="Calibri"/>
                <a:cs typeface="Calibri"/>
              </a:rPr>
              <a:t>this</a:t>
            </a:r>
            <a:r>
              <a:rPr sz="2200" spc="315" dirty="0">
                <a:latin typeface="Calibri"/>
                <a:cs typeface="Calibri"/>
              </a:rPr>
              <a:t> </a:t>
            </a:r>
            <a:r>
              <a:rPr sz="2200" dirty="0">
                <a:latin typeface="Calibri"/>
                <a:cs typeface="Calibri"/>
              </a:rPr>
              <a:t>term</a:t>
            </a:r>
            <a:r>
              <a:rPr sz="2200" spc="310" dirty="0">
                <a:latin typeface="Calibri"/>
                <a:cs typeface="Calibri"/>
              </a:rPr>
              <a:t> </a:t>
            </a:r>
            <a:r>
              <a:rPr sz="2200" dirty="0">
                <a:latin typeface="Calibri"/>
                <a:cs typeface="Calibri"/>
              </a:rPr>
              <a:t>is</a:t>
            </a:r>
            <a:r>
              <a:rPr sz="2200" spc="315" dirty="0">
                <a:latin typeface="Calibri"/>
                <a:cs typeface="Calibri"/>
              </a:rPr>
              <a:t> </a:t>
            </a:r>
            <a:r>
              <a:rPr sz="2200" dirty="0">
                <a:latin typeface="Calibri"/>
                <a:cs typeface="Calibri"/>
              </a:rPr>
              <a:t>used,</a:t>
            </a:r>
            <a:r>
              <a:rPr sz="2200" spc="305" dirty="0">
                <a:latin typeface="Calibri"/>
                <a:cs typeface="Calibri"/>
              </a:rPr>
              <a:t> </a:t>
            </a:r>
            <a:r>
              <a:rPr sz="2200" dirty="0">
                <a:latin typeface="Calibri"/>
                <a:cs typeface="Calibri"/>
              </a:rPr>
              <a:t>it</a:t>
            </a:r>
            <a:r>
              <a:rPr sz="2200" spc="310" dirty="0">
                <a:latin typeface="Calibri"/>
                <a:cs typeface="Calibri"/>
              </a:rPr>
              <a:t> </a:t>
            </a:r>
            <a:r>
              <a:rPr sz="2200" dirty="0">
                <a:latin typeface="Calibri"/>
                <a:cs typeface="Calibri"/>
              </a:rPr>
              <a:t>means</a:t>
            </a:r>
            <a:r>
              <a:rPr sz="2200" spc="315" dirty="0">
                <a:latin typeface="Calibri"/>
                <a:cs typeface="Calibri"/>
              </a:rPr>
              <a:t> </a:t>
            </a:r>
            <a:r>
              <a:rPr sz="2200" dirty="0">
                <a:latin typeface="Calibri"/>
                <a:cs typeface="Calibri"/>
              </a:rPr>
              <a:t>the</a:t>
            </a:r>
            <a:r>
              <a:rPr sz="2200" spc="315" dirty="0">
                <a:latin typeface="Calibri"/>
                <a:cs typeface="Calibri"/>
              </a:rPr>
              <a:t> </a:t>
            </a:r>
            <a:r>
              <a:rPr sz="2200" dirty="0">
                <a:latin typeface="Calibri"/>
                <a:cs typeface="Calibri"/>
              </a:rPr>
              <a:t>path(s)</a:t>
            </a:r>
            <a:r>
              <a:rPr sz="2200" spc="305" dirty="0">
                <a:latin typeface="Calibri"/>
                <a:cs typeface="Calibri"/>
              </a:rPr>
              <a:t> </a:t>
            </a:r>
            <a:r>
              <a:rPr sz="2200" dirty="0">
                <a:latin typeface="Calibri"/>
                <a:cs typeface="Calibri"/>
              </a:rPr>
              <a:t>with</a:t>
            </a:r>
            <a:r>
              <a:rPr sz="2200" spc="305" dirty="0">
                <a:latin typeface="Calibri"/>
                <a:cs typeface="Calibri"/>
              </a:rPr>
              <a:t> </a:t>
            </a:r>
            <a:r>
              <a:rPr sz="2200" dirty="0">
                <a:latin typeface="Calibri"/>
                <a:cs typeface="Calibri"/>
              </a:rPr>
              <a:t>the</a:t>
            </a:r>
            <a:r>
              <a:rPr sz="2200" spc="320" dirty="0">
                <a:latin typeface="Calibri"/>
                <a:cs typeface="Calibri"/>
              </a:rPr>
              <a:t> </a:t>
            </a:r>
            <a:r>
              <a:rPr sz="2200" dirty="0">
                <a:latin typeface="Calibri"/>
                <a:cs typeface="Calibri"/>
              </a:rPr>
              <a:t>longest</a:t>
            </a:r>
            <a:r>
              <a:rPr sz="2200" spc="305" dirty="0">
                <a:latin typeface="Calibri"/>
                <a:cs typeface="Calibri"/>
              </a:rPr>
              <a:t> </a:t>
            </a:r>
            <a:r>
              <a:rPr sz="2200" spc="-10" dirty="0">
                <a:latin typeface="Calibri"/>
                <a:cs typeface="Calibri"/>
              </a:rPr>
              <a:t>duration</a:t>
            </a:r>
            <a:endParaRPr sz="2200">
              <a:latin typeface="Calibri"/>
              <a:cs typeface="Calibri"/>
            </a:endParaRPr>
          </a:p>
        </p:txBody>
      </p:sp>
      <p:sp>
        <p:nvSpPr>
          <p:cNvPr id="16" name="object 16"/>
          <p:cNvSpPr txBox="1"/>
          <p:nvPr/>
        </p:nvSpPr>
        <p:spPr>
          <a:xfrm>
            <a:off x="1145539" y="6044691"/>
            <a:ext cx="10127615" cy="360680"/>
          </a:xfrm>
          <a:prstGeom prst="rect">
            <a:avLst/>
          </a:prstGeom>
        </p:spPr>
        <p:txBody>
          <a:bodyPr vert="horz" wrap="square" lIns="0" tIns="12700" rIns="0" bIns="0" rtlCol="0">
            <a:spAutoFit/>
          </a:bodyPr>
          <a:lstStyle/>
          <a:p>
            <a:pPr marL="12700">
              <a:lnSpc>
                <a:spcPct val="100000"/>
              </a:lnSpc>
              <a:spcBef>
                <a:spcPts val="100"/>
              </a:spcBef>
            </a:pPr>
            <a:r>
              <a:rPr sz="2200" dirty="0">
                <a:latin typeface="Calibri"/>
                <a:cs typeface="Calibri"/>
              </a:rPr>
              <a:t>through</a:t>
            </a:r>
            <a:r>
              <a:rPr sz="2200" spc="305" dirty="0">
                <a:latin typeface="Calibri"/>
                <a:cs typeface="Calibri"/>
              </a:rPr>
              <a:t> </a:t>
            </a:r>
            <a:r>
              <a:rPr sz="2200" dirty="0">
                <a:latin typeface="Calibri"/>
                <a:cs typeface="Calibri"/>
              </a:rPr>
              <a:t>the</a:t>
            </a:r>
            <a:r>
              <a:rPr sz="2200" spc="310" dirty="0">
                <a:latin typeface="Calibri"/>
                <a:cs typeface="Calibri"/>
              </a:rPr>
              <a:t> </a:t>
            </a:r>
            <a:r>
              <a:rPr sz="2200" dirty="0">
                <a:latin typeface="Calibri"/>
                <a:cs typeface="Calibri"/>
              </a:rPr>
              <a:t>network;</a:t>
            </a:r>
            <a:r>
              <a:rPr sz="2200" spc="305" dirty="0">
                <a:latin typeface="Calibri"/>
                <a:cs typeface="Calibri"/>
              </a:rPr>
              <a:t> </a:t>
            </a:r>
            <a:r>
              <a:rPr sz="2200" dirty="0">
                <a:latin typeface="Calibri"/>
                <a:cs typeface="Calibri"/>
              </a:rPr>
              <a:t>if</a:t>
            </a:r>
            <a:r>
              <a:rPr sz="2200" spc="305" dirty="0">
                <a:latin typeface="Calibri"/>
                <a:cs typeface="Calibri"/>
              </a:rPr>
              <a:t> </a:t>
            </a:r>
            <a:r>
              <a:rPr sz="2200" dirty="0">
                <a:latin typeface="Calibri"/>
                <a:cs typeface="Calibri"/>
              </a:rPr>
              <a:t>an</a:t>
            </a:r>
            <a:r>
              <a:rPr sz="2200" spc="305" dirty="0">
                <a:latin typeface="Calibri"/>
                <a:cs typeface="Calibri"/>
              </a:rPr>
              <a:t> </a:t>
            </a:r>
            <a:r>
              <a:rPr sz="2200" dirty="0">
                <a:latin typeface="Calibri"/>
                <a:cs typeface="Calibri"/>
              </a:rPr>
              <a:t>activity</a:t>
            </a:r>
            <a:r>
              <a:rPr sz="2200" spc="305" dirty="0">
                <a:latin typeface="Calibri"/>
                <a:cs typeface="Calibri"/>
              </a:rPr>
              <a:t> </a:t>
            </a:r>
            <a:r>
              <a:rPr sz="2200" dirty="0">
                <a:latin typeface="Calibri"/>
                <a:cs typeface="Calibri"/>
              </a:rPr>
              <a:t>on</a:t>
            </a:r>
            <a:r>
              <a:rPr sz="2200" spc="300" dirty="0">
                <a:latin typeface="Calibri"/>
                <a:cs typeface="Calibri"/>
              </a:rPr>
              <a:t> </a:t>
            </a:r>
            <a:r>
              <a:rPr sz="2200" dirty="0">
                <a:latin typeface="Calibri"/>
                <a:cs typeface="Calibri"/>
              </a:rPr>
              <a:t>the</a:t>
            </a:r>
            <a:r>
              <a:rPr sz="2200" spc="315" dirty="0">
                <a:latin typeface="Calibri"/>
                <a:cs typeface="Calibri"/>
              </a:rPr>
              <a:t> </a:t>
            </a:r>
            <a:r>
              <a:rPr sz="2200" dirty="0">
                <a:latin typeface="Calibri"/>
                <a:cs typeface="Calibri"/>
              </a:rPr>
              <a:t>path</a:t>
            </a:r>
            <a:r>
              <a:rPr sz="2200" spc="295" dirty="0">
                <a:latin typeface="Calibri"/>
                <a:cs typeface="Calibri"/>
              </a:rPr>
              <a:t> </a:t>
            </a:r>
            <a:r>
              <a:rPr sz="2200" dirty="0">
                <a:latin typeface="Calibri"/>
                <a:cs typeface="Calibri"/>
              </a:rPr>
              <a:t>is</a:t>
            </a:r>
            <a:r>
              <a:rPr sz="2200" spc="310" dirty="0">
                <a:latin typeface="Calibri"/>
                <a:cs typeface="Calibri"/>
              </a:rPr>
              <a:t> </a:t>
            </a:r>
            <a:r>
              <a:rPr sz="2200" dirty="0">
                <a:latin typeface="Calibri"/>
                <a:cs typeface="Calibri"/>
              </a:rPr>
              <a:t>delayed,</a:t>
            </a:r>
            <a:r>
              <a:rPr sz="2200" spc="300" dirty="0">
                <a:latin typeface="Calibri"/>
                <a:cs typeface="Calibri"/>
              </a:rPr>
              <a:t> </a:t>
            </a:r>
            <a:r>
              <a:rPr sz="2200" dirty="0">
                <a:latin typeface="Calibri"/>
                <a:cs typeface="Calibri"/>
              </a:rPr>
              <a:t>the</a:t>
            </a:r>
            <a:r>
              <a:rPr sz="2200" spc="310" dirty="0">
                <a:latin typeface="Calibri"/>
                <a:cs typeface="Calibri"/>
              </a:rPr>
              <a:t> </a:t>
            </a:r>
            <a:r>
              <a:rPr sz="2200" dirty="0">
                <a:latin typeface="Calibri"/>
                <a:cs typeface="Calibri"/>
              </a:rPr>
              <a:t>project</a:t>
            </a:r>
            <a:r>
              <a:rPr sz="2200" spc="305" dirty="0">
                <a:latin typeface="Calibri"/>
                <a:cs typeface="Calibri"/>
              </a:rPr>
              <a:t> </a:t>
            </a:r>
            <a:r>
              <a:rPr sz="2200" dirty="0">
                <a:latin typeface="Calibri"/>
                <a:cs typeface="Calibri"/>
              </a:rPr>
              <a:t>is</a:t>
            </a:r>
            <a:r>
              <a:rPr sz="2200" spc="305" dirty="0">
                <a:latin typeface="Calibri"/>
                <a:cs typeface="Calibri"/>
              </a:rPr>
              <a:t> </a:t>
            </a:r>
            <a:r>
              <a:rPr sz="2200" dirty="0">
                <a:latin typeface="Calibri"/>
                <a:cs typeface="Calibri"/>
              </a:rPr>
              <a:t>delayed</a:t>
            </a:r>
            <a:r>
              <a:rPr sz="2200" spc="300" dirty="0">
                <a:latin typeface="Calibri"/>
                <a:cs typeface="Calibri"/>
              </a:rPr>
              <a:t> </a:t>
            </a:r>
            <a:r>
              <a:rPr sz="2200" spc="-25" dirty="0">
                <a:latin typeface="Calibri"/>
                <a:cs typeface="Calibri"/>
              </a:rPr>
              <a:t>the</a:t>
            </a:r>
            <a:endParaRPr sz="2200" dirty="0">
              <a:latin typeface="Calibri"/>
              <a:cs typeface="Calibri"/>
            </a:endParaRPr>
          </a:p>
        </p:txBody>
      </p:sp>
      <p:sp>
        <p:nvSpPr>
          <p:cNvPr id="17" name="object 17"/>
          <p:cNvSpPr txBox="1"/>
          <p:nvPr/>
        </p:nvSpPr>
        <p:spPr>
          <a:xfrm>
            <a:off x="1145539" y="6273291"/>
            <a:ext cx="2534920" cy="360680"/>
          </a:xfrm>
          <a:prstGeom prst="rect">
            <a:avLst/>
          </a:prstGeom>
        </p:spPr>
        <p:txBody>
          <a:bodyPr vert="horz" wrap="square" lIns="0" tIns="12700" rIns="0" bIns="0" rtlCol="0">
            <a:spAutoFit/>
          </a:bodyPr>
          <a:lstStyle/>
          <a:p>
            <a:pPr marL="12700">
              <a:lnSpc>
                <a:spcPct val="100000"/>
              </a:lnSpc>
              <a:spcBef>
                <a:spcPts val="100"/>
              </a:spcBef>
            </a:pPr>
            <a:r>
              <a:rPr sz="2200" dirty="0">
                <a:latin typeface="Calibri"/>
                <a:cs typeface="Calibri"/>
              </a:rPr>
              <a:t>same</a:t>
            </a:r>
            <a:r>
              <a:rPr sz="2200" spc="-45" dirty="0">
                <a:latin typeface="Calibri"/>
                <a:cs typeface="Calibri"/>
              </a:rPr>
              <a:t> </a:t>
            </a:r>
            <a:r>
              <a:rPr sz="2200" dirty="0">
                <a:latin typeface="Calibri"/>
                <a:cs typeface="Calibri"/>
              </a:rPr>
              <a:t>amount</a:t>
            </a:r>
            <a:r>
              <a:rPr sz="2200" spc="-45" dirty="0">
                <a:latin typeface="Calibri"/>
                <a:cs typeface="Calibri"/>
              </a:rPr>
              <a:t> </a:t>
            </a:r>
            <a:r>
              <a:rPr sz="2200" dirty="0">
                <a:latin typeface="Calibri"/>
                <a:cs typeface="Calibri"/>
              </a:rPr>
              <a:t>of</a:t>
            </a:r>
            <a:r>
              <a:rPr sz="2200" spc="-40" dirty="0">
                <a:latin typeface="Calibri"/>
                <a:cs typeface="Calibri"/>
              </a:rPr>
              <a:t> </a:t>
            </a:r>
            <a:r>
              <a:rPr sz="2200" spc="-20" dirty="0">
                <a:latin typeface="Calibri"/>
                <a:cs typeface="Calibri"/>
              </a:rPr>
              <a:t>time.</a:t>
            </a:r>
            <a:endParaRPr sz="2200">
              <a:latin typeface="Calibri"/>
              <a:cs typeface="Calibri"/>
            </a:endParaRPr>
          </a:p>
        </p:txBody>
      </p:sp>
      <p:sp>
        <p:nvSpPr>
          <p:cNvPr id="18" name="object 18"/>
          <p:cNvSpPr txBox="1"/>
          <p:nvPr/>
        </p:nvSpPr>
        <p:spPr>
          <a:xfrm>
            <a:off x="11816993" y="6421628"/>
            <a:ext cx="102870" cy="208279"/>
          </a:xfrm>
          <a:prstGeom prst="rect">
            <a:avLst/>
          </a:prstGeom>
        </p:spPr>
        <p:txBody>
          <a:bodyPr vert="horz" wrap="square" lIns="0" tIns="12700" rIns="0" bIns="0" rtlCol="0">
            <a:spAutoFit/>
          </a:bodyPr>
          <a:lstStyle/>
          <a:p>
            <a:pPr marL="12700">
              <a:lnSpc>
                <a:spcPct val="100000"/>
              </a:lnSpc>
              <a:spcBef>
                <a:spcPts val="100"/>
              </a:spcBef>
            </a:pPr>
            <a:r>
              <a:rPr sz="1200" b="1" spc="-50" dirty="0">
                <a:solidFill>
                  <a:srgbClr val="898989"/>
                </a:solidFill>
                <a:latin typeface="Calibri"/>
                <a:cs typeface="Calibri"/>
              </a:rPr>
              <a:t>6</a:t>
            </a:r>
            <a:endParaRPr sz="1200">
              <a:latin typeface="Calibri"/>
              <a:cs typeface="Calibri"/>
            </a:endParaRPr>
          </a:p>
        </p:txBody>
      </p:sp>
      <p:pic>
        <p:nvPicPr>
          <p:cNvPr id="19" name="Picture 18">
            <a:extLst>
              <a:ext uri="{FF2B5EF4-FFF2-40B4-BE49-F238E27FC236}">
                <a16:creationId xmlns:a16="http://schemas.microsoft.com/office/drawing/2014/main" id="{DCEC726B-C643-99B9-812B-914DBBB405E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16063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79348" y="1923962"/>
            <a:ext cx="11984355" cy="4361180"/>
            <a:chOff x="179348" y="1923962"/>
            <a:chExt cx="11984355" cy="4361180"/>
          </a:xfrm>
        </p:grpSpPr>
        <p:pic>
          <p:nvPicPr>
            <p:cNvPr id="3" name="object 3"/>
            <p:cNvPicPr/>
            <p:nvPr/>
          </p:nvPicPr>
          <p:blipFill>
            <a:blip r:embed="rId2" cstate="print"/>
            <a:stretch>
              <a:fillRect/>
            </a:stretch>
          </p:blipFill>
          <p:spPr>
            <a:xfrm>
              <a:off x="179348" y="2220147"/>
              <a:ext cx="5807231" cy="3652468"/>
            </a:xfrm>
            <a:prstGeom prst="rect">
              <a:avLst/>
            </a:prstGeom>
          </p:spPr>
        </p:pic>
        <p:pic>
          <p:nvPicPr>
            <p:cNvPr id="4" name="object 4"/>
            <p:cNvPicPr/>
            <p:nvPr/>
          </p:nvPicPr>
          <p:blipFill>
            <a:blip r:embed="rId3" cstate="print"/>
            <a:stretch>
              <a:fillRect/>
            </a:stretch>
          </p:blipFill>
          <p:spPr>
            <a:xfrm>
              <a:off x="5951623" y="1923962"/>
              <a:ext cx="6211713" cy="4360998"/>
            </a:xfrm>
            <a:prstGeom prst="rect">
              <a:avLst/>
            </a:prstGeom>
          </p:spPr>
        </p:pic>
      </p:grpSp>
      <p:sp>
        <p:nvSpPr>
          <p:cNvPr id="5" name="object 5"/>
          <p:cNvSpPr txBox="1"/>
          <p:nvPr/>
        </p:nvSpPr>
        <p:spPr>
          <a:xfrm>
            <a:off x="11816993" y="6421628"/>
            <a:ext cx="102870" cy="208279"/>
          </a:xfrm>
          <a:prstGeom prst="rect">
            <a:avLst/>
          </a:prstGeom>
        </p:spPr>
        <p:txBody>
          <a:bodyPr vert="horz" wrap="square" lIns="0" tIns="12700" rIns="0" bIns="0" rtlCol="0">
            <a:spAutoFit/>
          </a:bodyPr>
          <a:lstStyle/>
          <a:p>
            <a:pPr marL="12700">
              <a:lnSpc>
                <a:spcPct val="100000"/>
              </a:lnSpc>
              <a:spcBef>
                <a:spcPts val="100"/>
              </a:spcBef>
            </a:pPr>
            <a:r>
              <a:rPr sz="1200" b="1" spc="-50" dirty="0">
                <a:solidFill>
                  <a:srgbClr val="898989"/>
                </a:solidFill>
                <a:latin typeface="Calibri"/>
                <a:cs typeface="Calibri"/>
              </a:rPr>
              <a:t>5</a:t>
            </a:r>
            <a:endParaRPr sz="1200">
              <a:latin typeface="Calibri"/>
              <a:cs typeface="Calibri"/>
            </a:endParaRPr>
          </a:p>
        </p:txBody>
      </p:sp>
      <p:sp>
        <p:nvSpPr>
          <p:cNvPr id="6" name="object 6"/>
          <p:cNvSpPr txBox="1"/>
          <p:nvPr/>
        </p:nvSpPr>
        <p:spPr>
          <a:xfrm>
            <a:off x="2200683" y="6315963"/>
            <a:ext cx="7341234" cy="452120"/>
          </a:xfrm>
          <a:prstGeom prst="rect">
            <a:avLst/>
          </a:prstGeom>
        </p:spPr>
        <p:txBody>
          <a:bodyPr vert="horz" wrap="square" lIns="0" tIns="12700" rIns="0" bIns="0" rtlCol="0">
            <a:spAutoFit/>
          </a:bodyPr>
          <a:lstStyle/>
          <a:p>
            <a:pPr marL="12700">
              <a:lnSpc>
                <a:spcPct val="100000"/>
              </a:lnSpc>
              <a:spcBef>
                <a:spcPts val="100"/>
              </a:spcBef>
            </a:pPr>
            <a:r>
              <a:rPr sz="2800" dirty="0">
                <a:latin typeface="Calibri"/>
                <a:cs typeface="Calibri"/>
              </a:rPr>
              <a:t>Segment</a:t>
            </a:r>
            <a:r>
              <a:rPr sz="2800" spc="-85" dirty="0">
                <a:latin typeface="Calibri"/>
                <a:cs typeface="Calibri"/>
              </a:rPr>
              <a:t> </a:t>
            </a:r>
            <a:r>
              <a:rPr sz="2800" dirty="0">
                <a:latin typeface="Calibri"/>
                <a:cs typeface="Calibri"/>
              </a:rPr>
              <a:t>showing</a:t>
            </a:r>
            <a:r>
              <a:rPr sz="2800" spc="-85" dirty="0">
                <a:latin typeface="Calibri"/>
                <a:cs typeface="Calibri"/>
              </a:rPr>
              <a:t> </a:t>
            </a:r>
            <a:r>
              <a:rPr sz="2800" spc="-10" dirty="0">
                <a:latin typeface="Calibri"/>
                <a:cs typeface="Calibri"/>
              </a:rPr>
              <a:t>WBS/Work</a:t>
            </a:r>
            <a:r>
              <a:rPr sz="2800" spc="-80" dirty="0">
                <a:latin typeface="Calibri"/>
                <a:cs typeface="Calibri"/>
              </a:rPr>
              <a:t> </a:t>
            </a:r>
            <a:r>
              <a:rPr sz="2800" spc="-10" dirty="0">
                <a:latin typeface="Calibri"/>
                <a:cs typeface="Calibri"/>
              </a:rPr>
              <a:t>Packages</a:t>
            </a:r>
            <a:r>
              <a:rPr sz="2800" spc="-75" dirty="0">
                <a:latin typeface="Calibri"/>
                <a:cs typeface="Calibri"/>
              </a:rPr>
              <a:t> </a:t>
            </a:r>
            <a:r>
              <a:rPr sz="2800" dirty="0">
                <a:latin typeface="Calibri"/>
                <a:cs typeface="Calibri"/>
              </a:rPr>
              <a:t>to</a:t>
            </a:r>
            <a:r>
              <a:rPr sz="2800" spc="-80" dirty="0">
                <a:latin typeface="Calibri"/>
                <a:cs typeface="Calibri"/>
              </a:rPr>
              <a:t> </a:t>
            </a:r>
            <a:r>
              <a:rPr sz="2800" spc="-10" dirty="0">
                <a:latin typeface="Calibri"/>
                <a:cs typeface="Calibri"/>
              </a:rPr>
              <a:t>Network</a:t>
            </a:r>
            <a:endParaRPr sz="2800">
              <a:latin typeface="Calibri"/>
              <a:cs typeface="Calibri"/>
            </a:endParaRPr>
          </a:p>
        </p:txBody>
      </p:sp>
      <p:sp>
        <p:nvSpPr>
          <p:cNvPr id="7" name="object 7"/>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spc="85" dirty="0"/>
              <a:t>From</a:t>
            </a:r>
            <a:r>
              <a:rPr spc="120" dirty="0"/>
              <a:t> </a:t>
            </a:r>
            <a:r>
              <a:rPr spc="55" dirty="0"/>
              <a:t>Work</a:t>
            </a:r>
            <a:r>
              <a:rPr spc="125" dirty="0"/>
              <a:t> </a:t>
            </a:r>
            <a:r>
              <a:rPr spc="80" dirty="0"/>
              <a:t>Package</a:t>
            </a:r>
            <a:r>
              <a:rPr spc="125" dirty="0"/>
              <a:t> </a:t>
            </a:r>
            <a:r>
              <a:rPr spc="60" dirty="0"/>
              <a:t>to</a:t>
            </a:r>
            <a:r>
              <a:rPr spc="135" dirty="0"/>
              <a:t> </a:t>
            </a:r>
            <a:r>
              <a:rPr spc="105" dirty="0"/>
              <a:t>Network</a:t>
            </a:r>
            <a:r>
              <a:rPr spc="125" dirty="0"/>
              <a:t> </a:t>
            </a:r>
            <a:r>
              <a:rPr sz="1950" spc="-10" dirty="0"/>
              <a:t>(2/2)</a:t>
            </a:r>
            <a:endParaRPr sz="1950" dirty="0"/>
          </a:p>
        </p:txBody>
      </p:sp>
      <p:sp>
        <p:nvSpPr>
          <p:cNvPr id="8" name="object 8"/>
          <p:cNvSpPr txBox="1"/>
          <p:nvPr/>
        </p:nvSpPr>
        <p:spPr>
          <a:xfrm>
            <a:off x="9187849" y="5456428"/>
            <a:ext cx="641350" cy="510540"/>
          </a:xfrm>
          <a:prstGeom prst="rect">
            <a:avLst/>
          </a:prstGeom>
        </p:spPr>
        <p:txBody>
          <a:bodyPr vert="horz" wrap="square" lIns="0" tIns="22860" rIns="0" bIns="0" rtlCol="0">
            <a:spAutoFit/>
          </a:bodyPr>
          <a:lstStyle/>
          <a:p>
            <a:pPr marL="12700" marR="5080" indent="38735">
              <a:lnSpc>
                <a:spcPts val="1900"/>
              </a:lnSpc>
              <a:spcBef>
                <a:spcPts val="180"/>
              </a:spcBef>
            </a:pPr>
            <a:r>
              <a:rPr sz="1600" spc="-10" dirty="0">
                <a:solidFill>
                  <a:srgbClr val="C00000"/>
                </a:solidFill>
                <a:latin typeface="Calibri"/>
                <a:cs typeface="Calibri"/>
              </a:rPr>
              <a:t>Merge Activity</a:t>
            </a:r>
            <a:endParaRPr sz="1600">
              <a:latin typeface="Calibri"/>
              <a:cs typeface="Calibri"/>
            </a:endParaRPr>
          </a:p>
        </p:txBody>
      </p:sp>
      <p:sp>
        <p:nvSpPr>
          <p:cNvPr id="9" name="object 9"/>
          <p:cNvSpPr txBox="1"/>
          <p:nvPr/>
        </p:nvSpPr>
        <p:spPr>
          <a:xfrm>
            <a:off x="6761011" y="5425947"/>
            <a:ext cx="641350" cy="510540"/>
          </a:xfrm>
          <a:prstGeom prst="rect">
            <a:avLst/>
          </a:prstGeom>
        </p:spPr>
        <p:txBody>
          <a:bodyPr vert="horz" wrap="square" lIns="0" tIns="22860" rIns="0" bIns="0" rtlCol="0">
            <a:spAutoFit/>
          </a:bodyPr>
          <a:lstStyle/>
          <a:p>
            <a:pPr marL="12700" marR="5080" indent="92075">
              <a:lnSpc>
                <a:spcPts val="1900"/>
              </a:lnSpc>
              <a:spcBef>
                <a:spcPts val="180"/>
              </a:spcBef>
            </a:pPr>
            <a:r>
              <a:rPr sz="1600" spc="-10" dirty="0">
                <a:solidFill>
                  <a:srgbClr val="C00000"/>
                </a:solidFill>
                <a:latin typeface="Calibri"/>
                <a:cs typeface="Calibri"/>
              </a:rPr>
              <a:t>Burst Activity</a:t>
            </a:r>
            <a:endParaRPr sz="1600">
              <a:latin typeface="Calibri"/>
              <a:cs typeface="Calibri"/>
            </a:endParaRPr>
          </a:p>
        </p:txBody>
      </p:sp>
      <p:sp>
        <p:nvSpPr>
          <p:cNvPr id="10" name="object 10"/>
          <p:cNvSpPr txBox="1"/>
          <p:nvPr/>
        </p:nvSpPr>
        <p:spPr>
          <a:xfrm>
            <a:off x="8189180" y="5924803"/>
            <a:ext cx="703580" cy="299720"/>
          </a:xfrm>
          <a:prstGeom prst="rect">
            <a:avLst/>
          </a:prstGeom>
        </p:spPr>
        <p:txBody>
          <a:bodyPr vert="horz" wrap="square" lIns="0" tIns="12700" rIns="0" bIns="0" rtlCol="0">
            <a:spAutoFit/>
          </a:bodyPr>
          <a:lstStyle/>
          <a:p>
            <a:pPr marL="12700">
              <a:lnSpc>
                <a:spcPct val="100000"/>
              </a:lnSpc>
              <a:spcBef>
                <a:spcPts val="100"/>
              </a:spcBef>
            </a:pPr>
            <a:r>
              <a:rPr sz="1800" spc="-10" dirty="0">
                <a:solidFill>
                  <a:srgbClr val="C00000"/>
                </a:solidFill>
                <a:latin typeface="Calibri"/>
                <a:cs typeface="Calibri"/>
              </a:rPr>
              <a:t>Parallel</a:t>
            </a:r>
            <a:endParaRPr sz="1800">
              <a:latin typeface="Calibri"/>
              <a:cs typeface="Calibri"/>
            </a:endParaRPr>
          </a:p>
        </p:txBody>
      </p:sp>
      <p:sp>
        <p:nvSpPr>
          <p:cNvPr id="11" name="object 11"/>
          <p:cNvSpPr txBox="1"/>
          <p:nvPr/>
        </p:nvSpPr>
        <p:spPr>
          <a:xfrm>
            <a:off x="8105805" y="6193028"/>
            <a:ext cx="871219" cy="299720"/>
          </a:xfrm>
          <a:prstGeom prst="rect">
            <a:avLst/>
          </a:prstGeom>
        </p:spPr>
        <p:txBody>
          <a:bodyPr vert="horz" wrap="square" lIns="0" tIns="12700" rIns="0" bIns="0" rtlCol="0">
            <a:spAutoFit/>
          </a:bodyPr>
          <a:lstStyle/>
          <a:p>
            <a:pPr marL="12700">
              <a:lnSpc>
                <a:spcPct val="100000"/>
              </a:lnSpc>
              <a:spcBef>
                <a:spcPts val="100"/>
              </a:spcBef>
            </a:pPr>
            <a:r>
              <a:rPr sz="1800" spc="-10" dirty="0">
                <a:solidFill>
                  <a:srgbClr val="C00000"/>
                </a:solidFill>
                <a:latin typeface="Calibri"/>
                <a:cs typeface="Calibri"/>
              </a:rPr>
              <a:t>Activities</a:t>
            </a:r>
            <a:endParaRPr sz="1800">
              <a:latin typeface="Calibri"/>
              <a:cs typeface="Calibri"/>
            </a:endParaRPr>
          </a:p>
        </p:txBody>
      </p:sp>
      <p:pic>
        <p:nvPicPr>
          <p:cNvPr id="12" name="object 12"/>
          <p:cNvPicPr/>
          <p:nvPr/>
        </p:nvPicPr>
        <p:blipFill>
          <a:blip r:embed="rId4" cstate="print"/>
          <a:stretch>
            <a:fillRect/>
          </a:stretch>
        </p:blipFill>
        <p:spPr>
          <a:xfrm>
            <a:off x="6445135" y="4036086"/>
            <a:ext cx="5216782" cy="411480"/>
          </a:xfrm>
          <a:prstGeom prst="rect">
            <a:avLst/>
          </a:prstGeom>
        </p:spPr>
      </p:pic>
      <p:sp>
        <p:nvSpPr>
          <p:cNvPr id="13" name="object 13"/>
          <p:cNvSpPr txBox="1"/>
          <p:nvPr/>
        </p:nvSpPr>
        <p:spPr>
          <a:xfrm>
            <a:off x="9686923" y="4048252"/>
            <a:ext cx="1179830" cy="269240"/>
          </a:xfrm>
          <a:prstGeom prst="rect">
            <a:avLst/>
          </a:prstGeom>
        </p:spPr>
        <p:txBody>
          <a:bodyPr vert="horz" wrap="square" lIns="0" tIns="12700" rIns="0" bIns="0" rtlCol="0">
            <a:spAutoFit/>
          </a:bodyPr>
          <a:lstStyle/>
          <a:p>
            <a:pPr marL="12700">
              <a:lnSpc>
                <a:spcPct val="100000"/>
              </a:lnSpc>
              <a:spcBef>
                <a:spcPts val="100"/>
              </a:spcBef>
            </a:pPr>
            <a:r>
              <a:rPr sz="1600" dirty="0">
                <a:solidFill>
                  <a:srgbClr val="C00000"/>
                </a:solidFill>
                <a:latin typeface="Calibri"/>
                <a:cs typeface="Calibri"/>
              </a:rPr>
              <a:t>Path</a:t>
            </a:r>
            <a:r>
              <a:rPr sz="1600" spc="-25" dirty="0">
                <a:solidFill>
                  <a:srgbClr val="C00000"/>
                </a:solidFill>
                <a:latin typeface="Calibri"/>
                <a:cs typeface="Calibri"/>
              </a:rPr>
              <a:t> </a:t>
            </a:r>
            <a:r>
              <a:rPr sz="1600" dirty="0">
                <a:solidFill>
                  <a:srgbClr val="C00000"/>
                </a:solidFill>
                <a:latin typeface="Calibri"/>
                <a:cs typeface="Calibri"/>
              </a:rPr>
              <a:t>A</a:t>
            </a:r>
            <a:r>
              <a:rPr sz="1600" spc="-20" dirty="0">
                <a:solidFill>
                  <a:srgbClr val="C00000"/>
                </a:solidFill>
                <a:latin typeface="Calibri"/>
                <a:cs typeface="Calibri"/>
              </a:rPr>
              <a:t> </a:t>
            </a:r>
            <a:r>
              <a:rPr sz="1600" dirty="0">
                <a:solidFill>
                  <a:srgbClr val="C00000"/>
                </a:solidFill>
                <a:latin typeface="Calibri"/>
                <a:cs typeface="Calibri"/>
              </a:rPr>
              <a:t>B</a:t>
            </a:r>
            <a:r>
              <a:rPr sz="1600" spc="-10" dirty="0">
                <a:solidFill>
                  <a:srgbClr val="C00000"/>
                </a:solidFill>
                <a:latin typeface="Calibri"/>
                <a:cs typeface="Calibri"/>
              </a:rPr>
              <a:t> </a:t>
            </a:r>
            <a:r>
              <a:rPr sz="1600" dirty="0">
                <a:solidFill>
                  <a:srgbClr val="C00000"/>
                </a:solidFill>
                <a:latin typeface="Calibri"/>
                <a:cs typeface="Calibri"/>
              </a:rPr>
              <a:t>D</a:t>
            </a:r>
            <a:r>
              <a:rPr sz="1600" spc="-20" dirty="0">
                <a:solidFill>
                  <a:srgbClr val="C00000"/>
                </a:solidFill>
                <a:latin typeface="Calibri"/>
                <a:cs typeface="Calibri"/>
              </a:rPr>
              <a:t> </a:t>
            </a:r>
            <a:r>
              <a:rPr sz="1600" dirty="0">
                <a:solidFill>
                  <a:srgbClr val="C00000"/>
                </a:solidFill>
                <a:latin typeface="Calibri"/>
                <a:cs typeface="Calibri"/>
              </a:rPr>
              <a:t>F</a:t>
            </a:r>
            <a:r>
              <a:rPr sz="1600" spc="-20" dirty="0">
                <a:solidFill>
                  <a:srgbClr val="C00000"/>
                </a:solidFill>
                <a:latin typeface="Calibri"/>
                <a:cs typeface="Calibri"/>
              </a:rPr>
              <a:t> </a:t>
            </a:r>
            <a:r>
              <a:rPr sz="1600" spc="-50" dirty="0">
                <a:solidFill>
                  <a:srgbClr val="C00000"/>
                </a:solidFill>
                <a:latin typeface="Calibri"/>
                <a:cs typeface="Calibri"/>
              </a:rPr>
              <a:t>K</a:t>
            </a:r>
            <a:endParaRPr sz="1600">
              <a:latin typeface="Calibri"/>
              <a:cs typeface="Calibri"/>
            </a:endParaRPr>
          </a:p>
        </p:txBody>
      </p:sp>
      <p:pic>
        <p:nvPicPr>
          <p:cNvPr id="14" name="Picture 13">
            <a:extLst>
              <a:ext uri="{FF2B5EF4-FFF2-40B4-BE49-F238E27FC236}">
                <a16:creationId xmlns:a16="http://schemas.microsoft.com/office/drawing/2014/main" id="{BF2ED4B9-D76E-4CC3-EE5C-2D1AD3754B04}"/>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16063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8600" y="777859"/>
            <a:ext cx="11207115" cy="686247"/>
          </a:xfrm>
          <a:prstGeom prst="rect">
            <a:avLst/>
          </a:prstGeom>
        </p:spPr>
        <p:txBody>
          <a:bodyPr vert="horz" wrap="square" lIns="0" tIns="56396" rIns="0" bIns="0" rtlCol="0">
            <a:spAutoFit/>
          </a:bodyPr>
          <a:lstStyle/>
          <a:p>
            <a:pPr marL="12700">
              <a:lnSpc>
                <a:spcPct val="100000"/>
              </a:lnSpc>
              <a:spcBef>
                <a:spcPts val="120"/>
              </a:spcBef>
            </a:pPr>
            <a:r>
              <a:rPr sz="3900" spc="90" dirty="0"/>
              <a:t>Basic</a:t>
            </a:r>
            <a:r>
              <a:rPr sz="3900" spc="120" dirty="0"/>
              <a:t> </a:t>
            </a:r>
            <a:r>
              <a:rPr sz="3900" spc="95" dirty="0"/>
              <a:t>Rules</a:t>
            </a:r>
            <a:r>
              <a:rPr sz="3900" spc="110" dirty="0"/>
              <a:t> </a:t>
            </a:r>
            <a:r>
              <a:rPr sz="3900" spc="55" dirty="0"/>
              <a:t>to</a:t>
            </a:r>
            <a:r>
              <a:rPr sz="3900" spc="110" dirty="0"/>
              <a:t> </a:t>
            </a:r>
            <a:r>
              <a:rPr sz="3900" spc="85" dirty="0"/>
              <a:t>Follow</a:t>
            </a:r>
            <a:r>
              <a:rPr sz="3900" spc="110" dirty="0"/>
              <a:t> </a:t>
            </a:r>
            <a:r>
              <a:rPr sz="3900" spc="65" dirty="0"/>
              <a:t>in</a:t>
            </a:r>
            <a:r>
              <a:rPr sz="3900" spc="114" dirty="0"/>
              <a:t> </a:t>
            </a:r>
            <a:r>
              <a:rPr sz="3900" spc="95" dirty="0"/>
              <a:t>Developing</a:t>
            </a:r>
            <a:r>
              <a:rPr sz="3900" spc="110" dirty="0"/>
              <a:t> </a:t>
            </a:r>
            <a:r>
              <a:rPr sz="3900" spc="80" dirty="0"/>
              <a:t>Project</a:t>
            </a:r>
            <a:r>
              <a:rPr sz="3900" spc="120" dirty="0"/>
              <a:t> </a:t>
            </a:r>
            <a:r>
              <a:rPr sz="3900" spc="85" dirty="0"/>
              <a:t>Networks</a:t>
            </a:r>
            <a:endParaRPr sz="3900" dirty="0"/>
          </a:p>
        </p:txBody>
      </p:sp>
      <p:sp>
        <p:nvSpPr>
          <p:cNvPr id="4" name="object 4"/>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11</a:t>
            </a:fld>
            <a:endParaRPr spc="-25" dirty="0"/>
          </a:p>
        </p:txBody>
      </p:sp>
      <p:sp>
        <p:nvSpPr>
          <p:cNvPr id="3" name="object 3"/>
          <p:cNvSpPr txBox="1"/>
          <p:nvPr/>
        </p:nvSpPr>
        <p:spPr>
          <a:xfrm>
            <a:off x="1028064" y="1472692"/>
            <a:ext cx="10246360" cy="4966335"/>
          </a:xfrm>
          <a:prstGeom prst="rect">
            <a:avLst/>
          </a:prstGeom>
        </p:spPr>
        <p:txBody>
          <a:bodyPr vert="horz" wrap="square" lIns="0" tIns="109855" rIns="0" bIns="0" rtlCol="0">
            <a:spAutoFit/>
          </a:bodyPr>
          <a:lstStyle/>
          <a:p>
            <a:pPr marL="311150" indent="-298450">
              <a:lnSpc>
                <a:spcPct val="100000"/>
              </a:lnSpc>
              <a:spcBef>
                <a:spcPts val="865"/>
              </a:spcBef>
              <a:buAutoNum type="arabicPeriod"/>
              <a:tabLst>
                <a:tab pos="311150" algn="l"/>
              </a:tabLst>
            </a:pPr>
            <a:r>
              <a:rPr sz="2200" dirty="0">
                <a:latin typeface="Calibri"/>
                <a:cs typeface="Calibri"/>
              </a:rPr>
              <a:t>Networks</a:t>
            </a:r>
            <a:r>
              <a:rPr sz="2200" spc="-70" dirty="0">
                <a:latin typeface="Calibri"/>
                <a:cs typeface="Calibri"/>
              </a:rPr>
              <a:t> </a:t>
            </a:r>
            <a:r>
              <a:rPr sz="2200" dirty="0">
                <a:latin typeface="Calibri"/>
                <a:cs typeface="Calibri"/>
              </a:rPr>
              <a:t>flow</a:t>
            </a:r>
            <a:r>
              <a:rPr sz="2200" spc="-65" dirty="0">
                <a:latin typeface="Calibri"/>
                <a:cs typeface="Calibri"/>
              </a:rPr>
              <a:t> </a:t>
            </a:r>
            <a:r>
              <a:rPr sz="2200" dirty="0">
                <a:latin typeface="Calibri"/>
                <a:cs typeface="Calibri"/>
              </a:rPr>
              <a:t>typically</a:t>
            </a:r>
            <a:r>
              <a:rPr sz="2200" spc="-65" dirty="0">
                <a:latin typeface="Calibri"/>
                <a:cs typeface="Calibri"/>
              </a:rPr>
              <a:t> </a:t>
            </a:r>
            <a:r>
              <a:rPr sz="2200" dirty="0">
                <a:latin typeface="Calibri"/>
                <a:cs typeface="Calibri"/>
              </a:rPr>
              <a:t>from</a:t>
            </a:r>
            <a:r>
              <a:rPr sz="2200" spc="-70" dirty="0">
                <a:latin typeface="Calibri"/>
                <a:cs typeface="Calibri"/>
              </a:rPr>
              <a:t> </a:t>
            </a:r>
            <a:r>
              <a:rPr sz="2200" dirty="0">
                <a:latin typeface="Calibri"/>
                <a:cs typeface="Calibri"/>
              </a:rPr>
              <a:t>left</a:t>
            </a:r>
            <a:r>
              <a:rPr sz="2200" spc="-75" dirty="0">
                <a:latin typeface="Calibri"/>
                <a:cs typeface="Calibri"/>
              </a:rPr>
              <a:t> </a:t>
            </a:r>
            <a:r>
              <a:rPr sz="2200" dirty="0">
                <a:latin typeface="Calibri"/>
                <a:cs typeface="Calibri"/>
              </a:rPr>
              <a:t>to</a:t>
            </a:r>
            <a:r>
              <a:rPr sz="2200" spc="-65" dirty="0">
                <a:latin typeface="Calibri"/>
                <a:cs typeface="Calibri"/>
              </a:rPr>
              <a:t> </a:t>
            </a:r>
            <a:r>
              <a:rPr sz="2200" spc="-10" dirty="0">
                <a:latin typeface="Calibri"/>
                <a:cs typeface="Calibri"/>
              </a:rPr>
              <a:t>right.</a:t>
            </a:r>
            <a:endParaRPr sz="2200" dirty="0">
              <a:latin typeface="Calibri"/>
              <a:cs typeface="Calibri"/>
            </a:endParaRPr>
          </a:p>
          <a:p>
            <a:pPr marL="311150" indent="-298450">
              <a:lnSpc>
                <a:spcPct val="100000"/>
              </a:lnSpc>
              <a:spcBef>
                <a:spcPts val="770"/>
              </a:spcBef>
              <a:buAutoNum type="arabicPeriod"/>
              <a:tabLst>
                <a:tab pos="311150" algn="l"/>
              </a:tabLst>
            </a:pPr>
            <a:r>
              <a:rPr sz="2200" dirty="0">
                <a:solidFill>
                  <a:srgbClr val="262EA4"/>
                </a:solidFill>
                <a:latin typeface="Calibri"/>
                <a:cs typeface="Calibri"/>
              </a:rPr>
              <a:t>An</a:t>
            </a:r>
            <a:r>
              <a:rPr sz="2200" spc="-60" dirty="0">
                <a:solidFill>
                  <a:srgbClr val="262EA4"/>
                </a:solidFill>
                <a:latin typeface="Calibri"/>
                <a:cs typeface="Calibri"/>
              </a:rPr>
              <a:t> </a:t>
            </a:r>
            <a:r>
              <a:rPr sz="2200" dirty="0">
                <a:solidFill>
                  <a:srgbClr val="262EA4"/>
                </a:solidFill>
                <a:latin typeface="Calibri"/>
                <a:cs typeface="Calibri"/>
              </a:rPr>
              <a:t>activity</a:t>
            </a:r>
            <a:r>
              <a:rPr sz="2200" spc="-50" dirty="0">
                <a:solidFill>
                  <a:srgbClr val="262EA4"/>
                </a:solidFill>
                <a:latin typeface="Calibri"/>
                <a:cs typeface="Calibri"/>
              </a:rPr>
              <a:t> </a:t>
            </a:r>
            <a:r>
              <a:rPr sz="2200" dirty="0">
                <a:solidFill>
                  <a:srgbClr val="262EA4"/>
                </a:solidFill>
                <a:latin typeface="Calibri"/>
                <a:cs typeface="Calibri"/>
              </a:rPr>
              <a:t>cannot</a:t>
            </a:r>
            <a:r>
              <a:rPr sz="2200" spc="-55" dirty="0">
                <a:solidFill>
                  <a:srgbClr val="262EA4"/>
                </a:solidFill>
                <a:latin typeface="Calibri"/>
                <a:cs typeface="Calibri"/>
              </a:rPr>
              <a:t> </a:t>
            </a:r>
            <a:r>
              <a:rPr sz="2200" dirty="0">
                <a:solidFill>
                  <a:srgbClr val="262EA4"/>
                </a:solidFill>
                <a:latin typeface="Calibri"/>
                <a:cs typeface="Calibri"/>
              </a:rPr>
              <a:t>begin</a:t>
            </a:r>
            <a:r>
              <a:rPr sz="2200" spc="-60" dirty="0">
                <a:solidFill>
                  <a:srgbClr val="262EA4"/>
                </a:solidFill>
                <a:latin typeface="Calibri"/>
                <a:cs typeface="Calibri"/>
              </a:rPr>
              <a:t> </a:t>
            </a:r>
            <a:r>
              <a:rPr sz="2200" dirty="0">
                <a:solidFill>
                  <a:srgbClr val="262EA4"/>
                </a:solidFill>
                <a:latin typeface="Calibri"/>
                <a:cs typeface="Calibri"/>
              </a:rPr>
              <a:t>until</a:t>
            </a:r>
            <a:r>
              <a:rPr sz="2200" spc="-60" dirty="0">
                <a:solidFill>
                  <a:srgbClr val="262EA4"/>
                </a:solidFill>
                <a:latin typeface="Calibri"/>
                <a:cs typeface="Calibri"/>
              </a:rPr>
              <a:t> </a:t>
            </a:r>
            <a:r>
              <a:rPr sz="2200" dirty="0">
                <a:solidFill>
                  <a:srgbClr val="262EA4"/>
                </a:solidFill>
                <a:latin typeface="Calibri"/>
                <a:cs typeface="Calibri"/>
              </a:rPr>
              <a:t>all</a:t>
            </a:r>
            <a:r>
              <a:rPr sz="2200" spc="-55" dirty="0">
                <a:solidFill>
                  <a:srgbClr val="262EA4"/>
                </a:solidFill>
                <a:latin typeface="Calibri"/>
                <a:cs typeface="Calibri"/>
              </a:rPr>
              <a:t> </a:t>
            </a:r>
            <a:r>
              <a:rPr sz="2200" dirty="0">
                <a:solidFill>
                  <a:srgbClr val="262EA4"/>
                </a:solidFill>
                <a:latin typeface="Calibri"/>
                <a:cs typeface="Calibri"/>
              </a:rPr>
              <a:t>preceding</a:t>
            </a:r>
            <a:r>
              <a:rPr sz="2200" spc="-50" dirty="0">
                <a:solidFill>
                  <a:srgbClr val="262EA4"/>
                </a:solidFill>
                <a:latin typeface="Calibri"/>
                <a:cs typeface="Calibri"/>
              </a:rPr>
              <a:t> </a:t>
            </a:r>
            <a:r>
              <a:rPr sz="2200" dirty="0">
                <a:solidFill>
                  <a:srgbClr val="262EA4"/>
                </a:solidFill>
                <a:latin typeface="Calibri"/>
                <a:cs typeface="Calibri"/>
              </a:rPr>
              <a:t>connected</a:t>
            </a:r>
            <a:r>
              <a:rPr sz="2200" spc="-60" dirty="0">
                <a:solidFill>
                  <a:srgbClr val="262EA4"/>
                </a:solidFill>
                <a:latin typeface="Calibri"/>
                <a:cs typeface="Calibri"/>
              </a:rPr>
              <a:t> </a:t>
            </a:r>
            <a:r>
              <a:rPr sz="2200" dirty="0">
                <a:solidFill>
                  <a:srgbClr val="262EA4"/>
                </a:solidFill>
                <a:latin typeface="Calibri"/>
                <a:cs typeface="Calibri"/>
              </a:rPr>
              <a:t>activities</a:t>
            </a:r>
            <a:r>
              <a:rPr sz="2200" spc="-55" dirty="0">
                <a:solidFill>
                  <a:srgbClr val="262EA4"/>
                </a:solidFill>
                <a:latin typeface="Calibri"/>
                <a:cs typeface="Calibri"/>
              </a:rPr>
              <a:t> </a:t>
            </a:r>
            <a:r>
              <a:rPr sz="2200" dirty="0">
                <a:solidFill>
                  <a:srgbClr val="262EA4"/>
                </a:solidFill>
                <a:latin typeface="Calibri"/>
                <a:cs typeface="Calibri"/>
              </a:rPr>
              <a:t>have</a:t>
            </a:r>
            <a:r>
              <a:rPr sz="2200" spc="-50" dirty="0">
                <a:solidFill>
                  <a:srgbClr val="262EA4"/>
                </a:solidFill>
                <a:latin typeface="Calibri"/>
                <a:cs typeface="Calibri"/>
              </a:rPr>
              <a:t> </a:t>
            </a:r>
            <a:r>
              <a:rPr sz="2200" dirty="0">
                <a:solidFill>
                  <a:srgbClr val="262EA4"/>
                </a:solidFill>
                <a:latin typeface="Calibri"/>
                <a:cs typeface="Calibri"/>
              </a:rPr>
              <a:t>been</a:t>
            </a:r>
            <a:r>
              <a:rPr sz="2200" spc="-55" dirty="0">
                <a:solidFill>
                  <a:srgbClr val="262EA4"/>
                </a:solidFill>
                <a:latin typeface="Calibri"/>
                <a:cs typeface="Calibri"/>
              </a:rPr>
              <a:t> </a:t>
            </a:r>
            <a:r>
              <a:rPr sz="2200" spc="-10" dirty="0">
                <a:solidFill>
                  <a:srgbClr val="262EA4"/>
                </a:solidFill>
                <a:latin typeface="Calibri"/>
                <a:cs typeface="Calibri"/>
              </a:rPr>
              <a:t>completed.</a:t>
            </a:r>
            <a:endParaRPr sz="2200" dirty="0">
              <a:latin typeface="Calibri"/>
              <a:cs typeface="Calibri"/>
            </a:endParaRPr>
          </a:p>
          <a:p>
            <a:pPr marL="311150" indent="-298450">
              <a:lnSpc>
                <a:spcPct val="100000"/>
              </a:lnSpc>
              <a:spcBef>
                <a:spcPts val="645"/>
              </a:spcBef>
              <a:buAutoNum type="arabicPeriod"/>
              <a:tabLst>
                <a:tab pos="311150" algn="l"/>
              </a:tabLst>
            </a:pPr>
            <a:r>
              <a:rPr sz="2200" dirty="0">
                <a:latin typeface="Calibri"/>
                <a:cs typeface="Calibri"/>
              </a:rPr>
              <a:t>Arrows</a:t>
            </a:r>
            <a:r>
              <a:rPr sz="2200" spc="-70" dirty="0">
                <a:latin typeface="Calibri"/>
                <a:cs typeface="Calibri"/>
              </a:rPr>
              <a:t> </a:t>
            </a:r>
            <a:r>
              <a:rPr sz="2200" dirty="0">
                <a:latin typeface="Calibri"/>
                <a:cs typeface="Calibri"/>
              </a:rPr>
              <a:t>on</a:t>
            </a:r>
            <a:r>
              <a:rPr sz="2200" spc="-70" dirty="0">
                <a:latin typeface="Calibri"/>
                <a:cs typeface="Calibri"/>
              </a:rPr>
              <a:t> </a:t>
            </a:r>
            <a:r>
              <a:rPr sz="2200" dirty="0">
                <a:latin typeface="Calibri"/>
                <a:cs typeface="Calibri"/>
              </a:rPr>
              <a:t>networks</a:t>
            </a:r>
            <a:r>
              <a:rPr sz="2200" spc="-70" dirty="0">
                <a:latin typeface="Calibri"/>
                <a:cs typeface="Calibri"/>
              </a:rPr>
              <a:t> </a:t>
            </a:r>
            <a:r>
              <a:rPr sz="2200" dirty="0">
                <a:latin typeface="Calibri"/>
                <a:cs typeface="Calibri"/>
              </a:rPr>
              <a:t>indicate</a:t>
            </a:r>
            <a:r>
              <a:rPr sz="2200" spc="-65" dirty="0">
                <a:latin typeface="Calibri"/>
                <a:cs typeface="Calibri"/>
              </a:rPr>
              <a:t> </a:t>
            </a:r>
            <a:r>
              <a:rPr sz="2200" dirty="0">
                <a:latin typeface="Calibri"/>
                <a:cs typeface="Calibri"/>
              </a:rPr>
              <a:t>precedence</a:t>
            </a:r>
            <a:r>
              <a:rPr sz="2200" spc="-70" dirty="0">
                <a:latin typeface="Calibri"/>
                <a:cs typeface="Calibri"/>
              </a:rPr>
              <a:t> </a:t>
            </a:r>
            <a:r>
              <a:rPr sz="2200" dirty="0">
                <a:latin typeface="Calibri"/>
                <a:cs typeface="Calibri"/>
              </a:rPr>
              <a:t>and</a:t>
            </a:r>
            <a:r>
              <a:rPr sz="2200" spc="-75" dirty="0">
                <a:latin typeface="Calibri"/>
                <a:cs typeface="Calibri"/>
              </a:rPr>
              <a:t> </a:t>
            </a:r>
            <a:r>
              <a:rPr sz="2200" spc="-20" dirty="0">
                <a:latin typeface="Calibri"/>
                <a:cs typeface="Calibri"/>
              </a:rPr>
              <a:t>flow.</a:t>
            </a:r>
            <a:r>
              <a:rPr sz="2200" spc="-75" dirty="0">
                <a:latin typeface="Calibri"/>
                <a:cs typeface="Calibri"/>
              </a:rPr>
              <a:t> </a:t>
            </a:r>
            <a:r>
              <a:rPr sz="2200" dirty="0">
                <a:latin typeface="Calibri"/>
                <a:cs typeface="Calibri"/>
              </a:rPr>
              <a:t>Arrows</a:t>
            </a:r>
            <a:r>
              <a:rPr sz="2200" spc="-65" dirty="0">
                <a:latin typeface="Calibri"/>
                <a:cs typeface="Calibri"/>
              </a:rPr>
              <a:t> </a:t>
            </a:r>
            <a:r>
              <a:rPr sz="2200" dirty="0">
                <a:latin typeface="Calibri"/>
                <a:cs typeface="Calibri"/>
              </a:rPr>
              <a:t>can</a:t>
            </a:r>
            <a:r>
              <a:rPr sz="2200" spc="-75" dirty="0">
                <a:latin typeface="Calibri"/>
                <a:cs typeface="Calibri"/>
              </a:rPr>
              <a:t> </a:t>
            </a:r>
            <a:r>
              <a:rPr sz="2200" dirty="0">
                <a:latin typeface="Calibri"/>
                <a:cs typeface="Calibri"/>
              </a:rPr>
              <a:t>cross</a:t>
            </a:r>
            <a:r>
              <a:rPr sz="2200" spc="-70" dirty="0">
                <a:latin typeface="Calibri"/>
                <a:cs typeface="Calibri"/>
              </a:rPr>
              <a:t> </a:t>
            </a:r>
            <a:r>
              <a:rPr sz="2200" dirty="0">
                <a:latin typeface="Calibri"/>
                <a:cs typeface="Calibri"/>
              </a:rPr>
              <a:t>over</a:t>
            </a:r>
            <a:r>
              <a:rPr sz="2200" spc="-70" dirty="0">
                <a:latin typeface="Calibri"/>
                <a:cs typeface="Calibri"/>
              </a:rPr>
              <a:t> </a:t>
            </a:r>
            <a:r>
              <a:rPr sz="2200" dirty="0">
                <a:latin typeface="Calibri"/>
                <a:cs typeface="Calibri"/>
              </a:rPr>
              <a:t>each</a:t>
            </a:r>
            <a:r>
              <a:rPr sz="2200" spc="-75" dirty="0">
                <a:latin typeface="Calibri"/>
                <a:cs typeface="Calibri"/>
              </a:rPr>
              <a:t> </a:t>
            </a:r>
            <a:r>
              <a:rPr sz="2200" spc="-10" dirty="0">
                <a:latin typeface="Calibri"/>
                <a:cs typeface="Calibri"/>
              </a:rPr>
              <a:t>other.</a:t>
            </a:r>
            <a:endParaRPr sz="2200" dirty="0">
              <a:latin typeface="Calibri"/>
              <a:cs typeface="Calibri"/>
            </a:endParaRPr>
          </a:p>
          <a:p>
            <a:pPr marL="311150" indent="-298450">
              <a:lnSpc>
                <a:spcPct val="100000"/>
              </a:lnSpc>
              <a:spcBef>
                <a:spcPts val="770"/>
              </a:spcBef>
              <a:buAutoNum type="arabicPeriod"/>
              <a:tabLst>
                <a:tab pos="311150" algn="l"/>
              </a:tabLst>
            </a:pPr>
            <a:r>
              <a:rPr sz="2200" dirty="0">
                <a:solidFill>
                  <a:srgbClr val="262EA4"/>
                </a:solidFill>
                <a:latin typeface="Calibri"/>
                <a:cs typeface="Calibri"/>
              </a:rPr>
              <a:t>Each</a:t>
            </a:r>
            <a:r>
              <a:rPr sz="2200" spc="-45" dirty="0">
                <a:solidFill>
                  <a:srgbClr val="262EA4"/>
                </a:solidFill>
                <a:latin typeface="Calibri"/>
                <a:cs typeface="Calibri"/>
              </a:rPr>
              <a:t> </a:t>
            </a:r>
            <a:r>
              <a:rPr sz="2200" dirty="0">
                <a:solidFill>
                  <a:srgbClr val="262EA4"/>
                </a:solidFill>
                <a:latin typeface="Calibri"/>
                <a:cs typeface="Calibri"/>
              </a:rPr>
              <a:t>activity</a:t>
            </a:r>
            <a:r>
              <a:rPr sz="2200" spc="-35" dirty="0">
                <a:solidFill>
                  <a:srgbClr val="262EA4"/>
                </a:solidFill>
                <a:latin typeface="Calibri"/>
                <a:cs typeface="Calibri"/>
              </a:rPr>
              <a:t> </a:t>
            </a:r>
            <a:r>
              <a:rPr sz="2200" dirty="0">
                <a:solidFill>
                  <a:srgbClr val="262EA4"/>
                </a:solidFill>
                <a:latin typeface="Calibri"/>
                <a:cs typeface="Calibri"/>
              </a:rPr>
              <a:t>should</a:t>
            </a:r>
            <a:r>
              <a:rPr sz="2200" spc="-40" dirty="0">
                <a:solidFill>
                  <a:srgbClr val="262EA4"/>
                </a:solidFill>
                <a:latin typeface="Calibri"/>
                <a:cs typeface="Calibri"/>
              </a:rPr>
              <a:t> </a:t>
            </a:r>
            <a:r>
              <a:rPr sz="2200" dirty="0">
                <a:solidFill>
                  <a:srgbClr val="262EA4"/>
                </a:solidFill>
                <a:latin typeface="Calibri"/>
                <a:cs typeface="Calibri"/>
              </a:rPr>
              <a:t>have</a:t>
            </a:r>
            <a:r>
              <a:rPr sz="2200" spc="-35" dirty="0">
                <a:solidFill>
                  <a:srgbClr val="262EA4"/>
                </a:solidFill>
                <a:latin typeface="Calibri"/>
                <a:cs typeface="Calibri"/>
              </a:rPr>
              <a:t> </a:t>
            </a:r>
            <a:r>
              <a:rPr sz="2200" dirty="0">
                <a:solidFill>
                  <a:srgbClr val="262EA4"/>
                </a:solidFill>
                <a:latin typeface="Calibri"/>
                <a:cs typeface="Calibri"/>
              </a:rPr>
              <a:t>a</a:t>
            </a:r>
            <a:r>
              <a:rPr sz="2200" spc="-40" dirty="0">
                <a:solidFill>
                  <a:srgbClr val="262EA4"/>
                </a:solidFill>
                <a:latin typeface="Calibri"/>
                <a:cs typeface="Calibri"/>
              </a:rPr>
              <a:t> </a:t>
            </a:r>
            <a:r>
              <a:rPr sz="2200" dirty="0">
                <a:solidFill>
                  <a:srgbClr val="262EA4"/>
                </a:solidFill>
                <a:latin typeface="Calibri"/>
                <a:cs typeface="Calibri"/>
              </a:rPr>
              <a:t>unique</a:t>
            </a:r>
            <a:r>
              <a:rPr sz="2200" spc="-35" dirty="0">
                <a:solidFill>
                  <a:srgbClr val="262EA4"/>
                </a:solidFill>
                <a:latin typeface="Calibri"/>
                <a:cs typeface="Calibri"/>
              </a:rPr>
              <a:t> </a:t>
            </a:r>
            <a:r>
              <a:rPr sz="2200" spc="-10" dirty="0">
                <a:solidFill>
                  <a:srgbClr val="262EA4"/>
                </a:solidFill>
                <a:latin typeface="Calibri"/>
                <a:cs typeface="Calibri"/>
              </a:rPr>
              <a:t>identification</a:t>
            </a:r>
            <a:r>
              <a:rPr sz="2200" spc="-45" dirty="0">
                <a:solidFill>
                  <a:srgbClr val="262EA4"/>
                </a:solidFill>
                <a:latin typeface="Calibri"/>
                <a:cs typeface="Calibri"/>
              </a:rPr>
              <a:t> </a:t>
            </a:r>
            <a:r>
              <a:rPr sz="2200" spc="-10" dirty="0">
                <a:solidFill>
                  <a:srgbClr val="262EA4"/>
                </a:solidFill>
                <a:latin typeface="Calibri"/>
                <a:cs typeface="Calibri"/>
              </a:rPr>
              <a:t>number.</a:t>
            </a:r>
            <a:endParaRPr sz="2200" dirty="0">
              <a:latin typeface="Calibri"/>
              <a:cs typeface="Calibri"/>
            </a:endParaRPr>
          </a:p>
          <a:p>
            <a:pPr marL="311150" marR="6350" indent="-298450" algn="just">
              <a:lnSpc>
                <a:spcPts val="2400"/>
              </a:lnSpc>
              <a:spcBef>
                <a:spcPts val="1025"/>
              </a:spcBef>
              <a:buAutoNum type="arabicPeriod"/>
              <a:tabLst>
                <a:tab pos="311150" algn="l"/>
              </a:tabLst>
            </a:pPr>
            <a:r>
              <a:rPr sz="2200" dirty="0">
                <a:latin typeface="Calibri"/>
                <a:cs typeface="Calibri"/>
              </a:rPr>
              <a:t>An</a:t>
            </a:r>
            <a:r>
              <a:rPr sz="2200" spc="-20" dirty="0">
                <a:latin typeface="Calibri"/>
                <a:cs typeface="Calibri"/>
              </a:rPr>
              <a:t> </a:t>
            </a:r>
            <a:r>
              <a:rPr sz="2200" dirty="0">
                <a:latin typeface="Calibri"/>
                <a:cs typeface="Calibri"/>
              </a:rPr>
              <a:t>activity</a:t>
            </a:r>
            <a:r>
              <a:rPr sz="2200" spc="-10" dirty="0">
                <a:latin typeface="Calibri"/>
                <a:cs typeface="Calibri"/>
              </a:rPr>
              <a:t> </a:t>
            </a:r>
            <a:r>
              <a:rPr sz="2200" dirty="0">
                <a:latin typeface="Calibri"/>
                <a:cs typeface="Calibri"/>
              </a:rPr>
              <a:t>identification</a:t>
            </a:r>
            <a:r>
              <a:rPr sz="2200" spc="-20" dirty="0">
                <a:latin typeface="Calibri"/>
                <a:cs typeface="Calibri"/>
              </a:rPr>
              <a:t> </a:t>
            </a:r>
            <a:r>
              <a:rPr sz="2200" dirty="0">
                <a:latin typeface="Calibri"/>
                <a:cs typeface="Calibri"/>
              </a:rPr>
              <a:t>number</a:t>
            </a:r>
            <a:r>
              <a:rPr sz="2200" spc="-15" dirty="0">
                <a:latin typeface="Calibri"/>
                <a:cs typeface="Calibri"/>
              </a:rPr>
              <a:t> </a:t>
            </a:r>
            <a:r>
              <a:rPr sz="2200" dirty="0">
                <a:latin typeface="Calibri"/>
                <a:cs typeface="Calibri"/>
              </a:rPr>
              <a:t>must</a:t>
            </a:r>
            <a:r>
              <a:rPr sz="2200" spc="-10" dirty="0">
                <a:latin typeface="Calibri"/>
                <a:cs typeface="Calibri"/>
              </a:rPr>
              <a:t> </a:t>
            </a:r>
            <a:r>
              <a:rPr sz="2200" dirty="0">
                <a:latin typeface="Calibri"/>
                <a:cs typeface="Calibri"/>
              </a:rPr>
              <a:t>be</a:t>
            </a:r>
            <a:r>
              <a:rPr sz="2200" spc="-5" dirty="0">
                <a:latin typeface="Calibri"/>
                <a:cs typeface="Calibri"/>
              </a:rPr>
              <a:t> </a:t>
            </a:r>
            <a:r>
              <a:rPr sz="2200" dirty="0">
                <a:latin typeface="Calibri"/>
                <a:cs typeface="Calibri"/>
              </a:rPr>
              <a:t>larger</a:t>
            </a:r>
            <a:r>
              <a:rPr sz="2200" spc="-20" dirty="0">
                <a:latin typeface="Calibri"/>
                <a:cs typeface="Calibri"/>
              </a:rPr>
              <a:t> </a:t>
            </a:r>
            <a:r>
              <a:rPr sz="2200" dirty="0">
                <a:latin typeface="Calibri"/>
                <a:cs typeface="Calibri"/>
              </a:rPr>
              <a:t>than</a:t>
            </a:r>
            <a:r>
              <a:rPr sz="2200" spc="-15" dirty="0">
                <a:latin typeface="Calibri"/>
                <a:cs typeface="Calibri"/>
              </a:rPr>
              <a:t> </a:t>
            </a:r>
            <a:r>
              <a:rPr sz="2200" dirty="0">
                <a:latin typeface="Calibri"/>
                <a:cs typeface="Calibri"/>
              </a:rPr>
              <a:t>that</a:t>
            </a:r>
            <a:r>
              <a:rPr sz="2200" spc="-15" dirty="0">
                <a:latin typeface="Calibri"/>
                <a:cs typeface="Calibri"/>
              </a:rPr>
              <a:t> </a:t>
            </a:r>
            <a:r>
              <a:rPr sz="2200" dirty="0">
                <a:latin typeface="Calibri"/>
                <a:cs typeface="Calibri"/>
              </a:rPr>
              <a:t>of</a:t>
            </a:r>
            <a:r>
              <a:rPr sz="2200" spc="-5" dirty="0">
                <a:latin typeface="Calibri"/>
                <a:cs typeface="Calibri"/>
              </a:rPr>
              <a:t> </a:t>
            </a:r>
            <a:r>
              <a:rPr sz="2200" dirty="0">
                <a:latin typeface="Calibri"/>
                <a:cs typeface="Calibri"/>
              </a:rPr>
              <a:t>any</a:t>
            </a:r>
            <a:r>
              <a:rPr sz="2200" spc="-5" dirty="0">
                <a:latin typeface="Calibri"/>
                <a:cs typeface="Calibri"/>
              </a:rPr>
              <a:t> </a:t>
            </a:r>
            <a:r>
              <a:rPr sz="2200" dirty="0">
                <a:latin typeface="Calibri"/>
                <a:cs typeface="Calibri"/>
              </a:rPr>
              <a:t>activities</a:t>
            </a:r>
            <a:r>
              <a:rPr sz="2200" spc="-15" dirty="0">
                <a:latin typeface="Calibri"/>
                <a:cs typeface="Calibri"/>
              </a:rPr>
              <a:t> </a:t>
            </a:r>
            <a:r>
              <a:rPr sz="2200" dirty="0">
                <a:latin typeface="Calibri"/>
                <a:cs typeface="Calibri"/>
              </a:rPr>
              <a:t>that</a:t>
            </a:r>
            <a:r>
              <a:rPr sz="2200" spc="-10" dirty="0">
                <a:latin typeface="Calibri"/>
                <a:cs typeface="Calibri"/>
              </a:rPr>
              <a:t> precede </a:t>
            </a:r>
            <a:r>
              <a:rPr sz="2200" spc="-25" dirty="0">
                <a:latin typeface="Calibri"/>
                <a:cs typeface="Calibri"/>
              </a:rPr>
              <a:t>it.</a:t>
            </a:r>
            <a:endParaRPr sz="2200" dirty="0">
              <a:latin typeface="Calibri"/>
              <a:cs typeface="Calibri"/>
            </a:endParaRPr>
          </a:p>
          <a:p>
            <a:pPr marL="311150" marR="6350" indent="-298450" algn="just">
              <a:lnSpc>
                <a:spcPts val="2300"/>
              </a:lnSpc>
              <a:spcBef>
                <a:spcPts val="1085"/>
              </a:spcBef>
              <a:buAutoNum type="arabicPeriod"/>
              <a:tabLst>
                <a:tab pos="311150" algn="l"/>
              </a:tabLst>
            </a:pPr>
            <a:r>
              <a:rPr sz="2200" dirty="0">
                <a:solidFill>
                  <a:srgbClr val="262EA4"/>
                </a:solidFill>
                <a:latin typeface="Calibri"/>
                <a:cs typeface="Calibri"/>
              </a:rPr>
              <a:t>Looping</a:t>
            </a:r>
            <a:r>
              <a:rPr sz="2200" spc="20" dirty="0">
                <a:solidFill>
                  <a:srgbClr val="262EA4"/>
                </a:solidFill>
                <a:latin typeface="Calibri"/>
                <a:cs typeface="Calibri"/>
              </a:rPr>
              <a:t> </a:t>
            </a:r>
            <a:r>
              <a:rPr sz="2200" dirty="0">
                <a:solidFill>
                  <a:srgbClr val="262EA4"/>
                </a:solidFill>
                <a:latin typeface="Calibri"/>
                <a:cs typeface="Calibri"/>
              </a:rPr>
              <a:t>is</a:t>
            </a:r>
            <a:r>
              <a:rPr sz="2200" spc="20" dirty="0">
                <a:solidFill>
                  <a:srgbClr val="262EA4"/>
                </a:solidFill>
                <a:latin typeface="Calibri"/>
                <a:cs typeface="Calibri"/>
              </a:rPr>
              <a:t> </a:t>
            </a:r>
            <a:r>
              <a:rPr sz="2200" dirty="0">
                <a:solidFill>
                  <a:srgbClr val="262EA4"/>
                </a:solidFill>
                <a:latin typeface="Calibri"/>
                <a:cs typeface="Calibri"/>
              </a:rPr>
              <a:t>not</a:t>
            </a:r>
            <a:r>
              <a:rPr sz="2200" spc="15" dirty="0">
                <a:solidFill>
                  <a:srgbClr val="262EA4"/>
                </a:solidFill>
                <a:latin typeface="Calibri"/>
                <a:cs typeface="Calibri"/>
              </a:rPr>
              <a:t> </a:t>
            </a:r>
            <a:r>
              <a:rPr sz="2200" dirty="0">
                <a:solidFill>
                  <a:srgbClr val="262EA4"/>
                </a:solidFill>
                <a:latin typeface="Calibri"/>
                <a:cs typeface="Calibri"/>
              </a:rPr>
              <a:t>allowed</a:t>
            </a:r>
            <a:r>
              <a:rPr sz="2200" spc="15" dirty="0">
                <a:solidFill>
                  <a:srgbClr val="262EA4"/>
                </a:solidFill>
                <a:latin typeface="Calibri"/>
                <a:cs typeface="Calibri"/>
              </a:rPr>
              <a:t> </a:t>
            </a:r>
            <a:r>
              <a:rPr sz="2200" dirty="0">
                <a:solidFill>
                  <a:srgbClr val="262EA4"/>
                </a:solidFill>
                <a:latin typeface="Calibri"/>
                <a:cs typeface="Calibri"/>
              </a:rPr>
              <a:t>(in</a:t>
            </a:r>
            <a:r>
              <a:rPr sz="2200" spc="15" dirty="0">
                <a:solidFill>
                  <a:srgbClr val="262EA4"/>
                </a:solidFill>
                <a:latin typeface="Calibri"/>
                <a:cs typeface="Calibri"/>
              </a:rPr>
              <a:t> </a:t>
            </a:r>
            <a:r>
              <a:rPr sz="2200" dirty="0">
                <a:solidFill>
                  <a:srgbClr val="262EA4"/>
                </a:solidFill>
                <a:latin typeface="Calibri"/>
                <a:cs typeface="Calibri"/>
              </a:rPr>
              <a:t>other</a:t>
            </a:r>
            <a:r>
              <a:rPr sz="2200" spc="15" dirty="0">
                <a:solidFill>
                  <a:srgbClr val="262EA4"/>
                </a:solidFill>
                <a:latin typeface="Calibri"/>
                <a:cs typeface="Calibri"/>
              </a:rPr>
              <a:t> </a:t>
            </a:r>
            <a:r>
              <a:rPr sz="2200" dirty="0">
                <a:solidFill>
                  <a:srgbClr val="262EA4"/>
                </a:solidFill>
                <a:latin typeface="Calibri"/>
                <a:cs typeface="Calibri"/>
              </a:rPr>
              <a:t>words,</a:t>
            </a:r>
            <a:r>
              <a:rPr sz="2200" spc="20" dirty="0">
                <a:solidFill>
                  <a:srgbClr val="262EA4"/>
                </a:solidFill>
                <a:latin typeface="Calibri"/>
                <a:cs typeface="Calibri"/>
              </a:rPr>
              <a:t> </a:t>
            </a:r>
            <a:r>
              <a:rPr sz="2200" dirty="0">
                <a:solidFill>
                  <a:srgbClr val="262EA4"/>
                </a:solidFill>
                <a:latin typeface="Calibri"/>
                <a:cs typeface="Calibri"/>
              </a:rPr>
              <a:t>recycling</a:t>
            </a:r>
            <a:r>
              <a:rPr sz="2200" spc="25" dirty="0">
                <a:solidFill>
                  <a:srgbClr val="262EA4"/>
                </a:solidFill>
                <a:latin typeface="Calibri"/>
                <a:cs typeface="Calibri"/>
              </a:rPr>
              <a:t> </a:t>
            </a:r>
            <a:r>
              <a:rPr sz="2200" dirty="0">
                <a:solidFill>
                  <a:srgbClr val="262EA4"/>
                </a:solidFill>
                <a:latin typeface="Calibri"/>
                <a:cs typeface="Calibri"/>
              </a:rPr>
              <a:t>through</a:t>
            </a:r>
            <a:r>
              <a:rPr sz="2200" spc="20" dirty="0">
                <a:solidFill>
                  <a:srgbClr val="262EA4"/>
                </a:solidFill>
                <a:latin typeface="Calibri"/>
                <a:cs typeface="Calibri"/>
              </a:rPr>
              <a:t> </a:t>
            </a:r>
            <a:r>
              <a:rPr sz="2200" dirty="0">
                <a:solidFill>
                  <a:srgbClr val="262EA4"/>
                </a:solidFill>
                <a:latin typeface="Calibri"/>
                <a:cs typeface="Calibri"/>
              </a:rPr>
              <a:t>a</a:t>
            </a:r>
            <a:r>
              <a:rPr sz="2200" spc="20" dirty="0">
                <a:solidFill>
                  <a:srgbClr val="262EA4"/>
                </a:solidFill>
                <a:latin typeface="Calibri"/>
                <a:cs typeface="Calibri"/>
              </a:rPr>
              <a:t> </a:t>
            </a:r>
            <a:r>
              <a:rPr sz="2200" dirty="0">
                <a:solidFill>
                  <a:srgbClr val="262EA4"/>
                </a:solidFill>
                <a:latin typeface="Calibri"/>
                <a:cs typeface="Calibri"/>
              </a:rPr>
              <a:t>set</a:t>
            </a:r>
            <a:r>
              <a:rPr sz="2200" spc="20" dirty="0">
                <a:solidFill>
                  <a:srgbClr val="262EA4"/>
                </a:solidFill>
                <a:latin typeface="Calibri"/>
                <a:cs typeface="Calibri"/>
              </a:rPr>
              <a:t> </a:t>
            </a:r>
            <a:r>
              <a:rPr sz="2200" dirty="0">
                <a:solidFill>
                  <a:srgbClr val="262EA4"/>
                </a:solidFill>
                <a:latin typeface="Calibri"/>
                <a:cs typeface="Calibri"/>
              </a:rPr>
              <a:t>of</a:t>
            </a:r>
            <a:r>
              <a:rPr sz="2200" spc="20" dirty="0">
                <a:solidFill>
                  <a:srgbClr val="262EA4"/>
                </a:solidFill>
                <a:latin typeface="Calibri"/>
                <a:cs typeface="Calibri"/>
              </a:rPr>
              <a:t> </a:t>
            </a:r>
            <a:r>
              <a:rPr sz="2200" dirty="0">
                <a:solidFill>
                  <a:srgbClr val="262EA4"/>
                </a:solidFill>
                <a:latin typeface="Calibri"/>
                <a:cs typeface="Calibri"/>
              </a:rPr>
              <a:t>activities</a:t>
            </a:r>
            <a:r>
              <a:rPr sz="2200" spc="15" dirty="0">
                <a:solidFill>
                  <a:srgbClr val="262EA4"/>
                </a:solidFill>
                <a:latin typeface="Calibri"/>
                <a:cs typeface="Calibri"/>
              </a:rPr>
              <a:t> </a:t>
            </a:r>
            <a:r>
              <a:rPr sz="2200" dirty="0">
                <a:solidFill>
                  <a:srgbClr val="262EA4"/>
                </a:solidFill>
                <a:latin typeface="Calibri"/>
                <a:cs typeface="Calibri"/>
              </a:rPr>
              <a:t>cannot</a:t>
            </a:r>
            <a:r>
              <a:rPr sz="2200" spc="20" dirty="0">
                <a:solidFill>
                  <a:srgbClr val="262EA4"/>
                </a:solidFill>
                <a:latin typeface="Calibri"/>
                <a:cs typeface="Calibri"/>
              </a:rPr>
              <a:t> </a:t>
            </a:r>
            <a:r>
              <a:rPr sz="2200" spc="-20" dirty="0">
                <a:solidFill>
                  <a:srgbClr val="262EA4"/>
                </a:solidFill>
                <a:latin typeface="Calibri"/>
                <a:cs typeface="Calibri"/>
              </a:rPr>
              <a:t>take </a:t>
            </a:r>
            <a:r>
              <a:rPr sz="2200" spc="-10" dirty="0">
                <a:solidFill>
                  <a:srgbClr val="262EA4"/>
                </a:solidFill>
                <a:latin typeface="Calibri"/>
                <a:cs typeface="Calibri"/>
              </a:rPr>
              <a:t>place).</a:t>
            </a:r>
            <a:endParaRPr sz="2200" dirty="0">
              <a:latin typeface="Calibri"/>
              <a:cs typeface="Calibri"/>
            </a:endParaRPr>
          </a:p>
          <a:p>
            <a:pPr marL="311150" marR="5080" indent="-298450" algn="just">
              <a:lnSpc>
                <a:spcPts val="2400"/>
              </a:lnSpc>
              <a:spcBef>
                <a:spcPts val="1035"/>
              </a:spcBef>
              <a:buAutoNum type="arabicPeriod"/>
              <a:tabLst>
                <a:tab pos="311150" algn="l"/>
              </a:tabLst>
            </a:pPr>
            <a:r>
              <a:rPr sz="2200" dirty="0">
                <a:latin typeface="Calibri"/>
                <a:cs typeface="Calibri"/>
              </a:rPr>
              <a:t>Conditional</a:t>
            </a:r>
            <a:r>
              <a:rPr sz="2200" spc="395" dirty="0">
                <a:latin typeface="Calibri"/>
                <a:cs typeface="Calibri"/>
              </a:rPr>
              <a:t> </a:t>
            </a:r>
            <a:r>
              <a:rPr sz="2200" dirty="0">
                <a:latin typeface="Calibri"/>
                <a:cs typeface="Calibri"/>
              </a:rPr>
              <a:t>statements</a:t>
            </a:r>
            <a:r>
              <a:rPr sz="2200" spc="400" dirty="0">
                <a:latin typeface="Calibri"/>
                <a:cs typeface="Calibri"/>
              </a:rPr>
              <a:t> </a:t>
            </a:r>
            <a:r>
              <a:rPr sz="2200" dirty="0">
                <a:latin typeface="Calibri"/>
                <a:cs typeface="Calibri"/>
              </a:rPr>
              <a:t>are</a:t>
            </a:r>
            <a:r>
              <a:rPr sz="2200" spc="405" dirty="0">
                <a:latin typeface="Calibri"/>
                <a:cs typeface="Calibri"/>
              </a:rPr>
              <a:t> </a:t>
            </a:r>
            <a:r>
              <a:rPr sz="2200" dirty="0">
                <a:latin typeface="Calibri"/>
                <a:cs typeface="Calibri"/>
              </a:rPr>
              <a:t>not</a:t>
            </a:r>
            <a:r>
              <a:rPr sz="2200" spc="395" dirty="0">
                <a:latin typeface="Calibri"/>
                <a:cs typeface="Calibri"/>
              </a:rPr>
              <a:t> </a:t>
            </a:r>
            <a:r>
              <a:rPr sz="2200" dirty="0">
                <a:latin typeface="Calibri"/>
                <a:cs typeface="Calibri"/>
              </a:rPr>
              <a:t>allowed</a:t>
            </a:r>
            <a:r>
              <a:rPr sz="2200" spc="395" dirty="0">
                <a:latin typeface="Calibri"/>
                <a:cs typeface="Calibri"/>
              </a:rPr>
              <a:t> </a:t>
            </a:r>
            <a:r>
              <a:rPr sz="2200" dirty="0">
                <a:latin typeface="Calibri"/>
                <a:cs typeface="Calibri"/>
              </a:rPr>
              <a:t>(that</a:t>
            </a:r>
            <a:r>
              <a:rPr sz="2200" spc="395" dirty="0">
                <a:latin typeface="Calibri"/>
                <a:cs typeface="Calibri"/>
              </a:rPr>
              <a:t> </a:t>
            </a:r>
            <a:r>
              <a:rPr sz="2200" dirty="0">
                <a:latin typeface="Calibri"/>
                <a:cs typeface="Calibri"/>
              </a:rPr>
              <a:t>is,</a:t>
            </a:r>
            <a:r>
              <a:rPr sz="2200" spc="400" dirty="0">
                <a:latin typeface="Calibri"/>
                <a:cs typeface="Calibri"/>
              </a:rPr>
              <a:t> </a:t>
            </a:r>
            <a:r>
              <a:rPr sz="2200" dirty="0">
                <a:latin typeface="Calibri"/>
                <a:cs typeface="Calibri"/>
              </a:rPr>
              <a:t>this</a:t>
            </a:r>
            <a:r>
              <a:rPr sz="2200" spc="400" dirty="0">
                <a:latin typeface="Calibri"/>
                <a:cs typeface="Calibri"/>
              </a:rPr>
              <a:t> </a:t>
            </a:r>
            <a:r>
              <a:rPr sz="2200" dirty="0">
                <a:latin typeface="Calibri"/>
                <a:cs typeface="Calibri"/>
              </a:rPr>
              <a:t>type</a:t>
            </a:r>
            <a:r>
              <a:rPr sz="2200" spc="405" dirty="0">
                <a:latin typeface="Calibri"/>
                <a:cs typeface="Calibri"/>
              </a:rPr>
              <a:t> </a:t>
            </a:r>
            <a:r>
              <a:rPr sz="2200" dirty="0">
                <a:latin typeface="Calibri"/>
                <a:cs typeface="Calibri"/>
              </a:rPr>
              <a:t>of</a:t>
            </a:r>
            <a:r>
              <a:rPr sz="2200" spc="405" dirty="0">
                <a:latin typeface="Calibri"/>
                <a:cs typeface="Calibri"/>
              </a:rPr>
              <a:t> </a:t>
            </a:r>
            <a:r>
              <a:rPr sz="2200" dirty="0">
                <a:latin typeface="Calibri"/>
                <a:cs typeface="Calibri"/>
              </a:rPr>
              <a:t>statement</a:t>
            </a:r>
            <a:r>
              <a:rPr sz="2200" spc="400" dirty="0">
                <a:latin typeface="Calibri"/>
                <a:cs typeface="Calibri"/>
              </a:rPr>
              <a:t> </a:t>
            </a:r>
            <a:r>
              <a:rPr sz="2200" dirty="0">
                <a:latin typeface="Calibri"/>
                <a:cs typeface="Calibri"/>
              </a:rPr>
              <a:t>should</a:t>
            </a:r>
            <a:r>
              <a:rPr sz="2200" spc="395" dirty="0">
                <a:latin typeface="Calibri"/>
                <a:cs typeface="Calibri"/>
              </a:rPr>
              <a:t> </a:t>
            </a:r>
            <a:r>
              <a:rPr sz="2200" spc="-25" dirty="0">
                <a:latin typeface="Calibri"/>
                <a:cs typeface="Calibri"/>
              </a:rPr>
              <a:t>not </a:t>
            </a:r>
            <a:r>
              <a:rPr sz="2200" dirty="0">
                <a:latin typeface="Calibri"/>
                <a:cs typeface="Calibri"/>
              </a:rPr>
              <a:t>appear:</a:t>
            </a:r>
            <a:r>
              <a:rPr sz="2200" spc="-40" dirty="0">
                <a:latin typeface="Calibri"/>
                <a:cs typeface="Calibri"/>
              </a:rPr>
              <a:t> </a:t>
            </a:r>
            <a:r>
              <a:rPr sz="2200" dirty="0">
                <a:latin typeface="Calibri"/>
                <a:cs typeface="Calibri"/>
              </a:rPr>
              <a:t>If</a:t>
            </a:r>
            <a:r>
              <a:rPr sz="2200" spc="-35" dirty="0">
                <a:latin typeface="Calibri"/>
                <a:cs typeface="Calibri"/>
              </a:rPr>
              <a:t> </a:t>
            </a:r>
            <a:r>
              <a:rPr sz="2200" dirty="0">
                <a:latin typeface="Calibri"/>
                <a:cs typeface="Calibri"/>
              </a:rPr>
              <a:t>successful,</a:t>
            </a:r>
            <a:r>
              <a:rPr sz="2200" spc="-35" dirty="0">
                <a:latin typeface="Calibri"/>
                <a:cs typeface="Calibri"/>
              </a:rPr>
              <a:t> </a:t>
            </a:r>
            <a:r>
              <a:rPr sz="2200" dirty="0">
                <a:latin typeface="Calibri"/>
                <a:cs typeface="Calibri"/>
              </a:rPr>
              <a:t>do</a:t>
            </a:r>
            <a:r>
              <a:rPr sz="2200" spc="-40" dirty="0">
                <a:latin typeface="Calibri"/>
                <a:cs typeface="Calibri"/>
              </a:rPr>
              <a:t> </a:t>
            </a:r>
            <a:r>
              <a:rPr sz="2200" dirty="0">
                <a:latin typeface="Calibri"/>
                <a:cs typeface="Calibri"/>
              </a:rPr>
              <a:t>something;</a:t>
            </a:r>
            <a:r>
              <a:rPr sz="2200" spc="-40" dirty="0">
                <a:latin typeface="Calibri"/>
                <a:cs typeface="Calibri"/>
              </a:rPr>
              <a:t> </a:t>
            </a:r>
            <a:r>
              <a:rPr sz="2200" dirty="0">
                <a:latin typeface="Calibri"/>
                <a:cs typeface="Calibri"/>
              </a:rPr>
              <a:t>if</a:t>
            </a:r>
            <a:r>
              <a:rPr sz="2200" spc="-30" dirty="0">
                <a:latin typeface="Calibri"/>
                <a:cs typeface="Calibri"/>
              </a:rPr>
              <a:t> </a:t>
            </a:r>
            <a:r>
              <a:rPr sz="2200" dirty="0">
                <a:latin typeface="Calibri"/>
                <a:cs typeface="Calibri"/>
              </a:rPr>
              <a:t>not,</a:t>
            </a:r>
            <a:r>
              <a:rPr sz="2200" spc="-40" dirty="0">
                <a:latin typeface="Calibri"/>
                <a:cs typeface="Calibri"/>
              </a:rPr>
              <a:t> </a:t>
            </a:r>
            <a:r>
              <a:rPr sz="2200" dirty="0">
                <a:latin typeface="Calibri"/>
                <a:cs typeface="Calibri"/>
              </a:rPr>
              <a:t>do</a:t>
            </a:r>
            <a:r>
              <a:rPr sz="2200" spc="-40" dirty="0">
                <a:latin typeface="Calibri"/>
                <a:cs typeface="Calibri"/>
              </a:rPr>
              <a:t> </a:t>
            </a:r>
            <a:r>
              <a:rPr sz="2200" spc="-10" dirty="0">
                <a:latin typeface="Calibri"/>
                <a:cs typeface="Calibri"/>
              </a:rPr>
              <a:t>nothing).</a:t>
            </a:r>
            <a:endParaRPr sz="2200" dirty="0">
              <a:latin typeface="Calibri"/>
              <a:cs typeface="Calibri"/>
            </a:endParaRPr>
          </a:p>
          <a:p>
            <a:pPr marL="311150" marR="5080" indent="-298450" algn="just">
              <a:lnSpc>
                <a:spcPct val="89100"/>
              </a:lnSpc>
              <a:spcBef>
                <a:spcPts val="990"/>
              </a:spcBef>
              <a:buAutoNum type="arabicPeriod"/>
              <a:tabLst>
                <a:tab pos="311150" algn="l"/>
              </a:tabLst>
            </a:pPr>
            <a:r>
              <a:rPr sz="2200" dirty="0">
                <a:solidFill>
                  <a:srgbClr val="262EA4"/>
                </a:solidFill>
                <a:latin typeface="Calibri"/>
                <a:cs typeface="Calibri"/>
              </a:rPr>
              <a:t>Experience</a:t>
            </a:r>
            <a:r>
              <a:rPr sz="2200" spc="100" dirty="0">
                <a:solidFill>
                  <a:srgbClr val="262EA4"/>
                </a:solidFill>
                <a:latin typeface="Calibri"/>
                <a:cs typeface="Calibri"/>
              </a:rPr>
              <a:t> </a:t>
            </a:r>
            <a:r>
              <a:rPr sz="2200" dirty="0">
                <a:solidFill>
                  <a:srgbClr val="262EA4"/>
                </a:solidFill>
                <a:latin typeface="Calibri"/>
                <a:cs typeface="Calibri"/>
              </a:rPr>
              <a:t>suggests</a:t>
            </a:r>
            <a:r>
              <a:rPr sz="2200" spc="100" dirty="0">
                <a:solidFill>
                  <a:srgbClr val="262EA4"/>
                </a:solidFill>
                <a:latin typeface="Calibri"/>
                <a:cs typeface="Calibri"/>
              </a:rPr>
              <a:t> </a:t>
            </a:r>
            <a:r>
              <a:rPr sz="2200" dirty="0">
                <a:solidFill>
                  <a:srgbClr val="262EA4"/>
                </a:solidFill>
                <a:latin typeface="Calibri"/>
                <a:cs typeface="Calibri"/>
              </a:rPr>
              <a:t>that</a:t>
            </a:r>
            <a:r>
              <a:rPr sz="2200" spc="100" dirty="0">
                <a:solidFill>
                  <a:srgbClr val="262EA4"/>
                </a:solidFill>
                <a:latin typeface="Calibri"/>
                <a:cs typeface="Calibri"/>
              </a:rPr>
              <a:t> </a:t>
            </a:r>
            <a:r>
              <a:rPr sz="2200" dirty="0">
                <a:solidFill>
                  <a:srgbClr val="262EA4"/>
                </a:solidFill>
                <a:latin typeface="Calibri"/>
                <a:cs typeface="Calibri"/>
              </a:rPr>
              <a:t>when</a:t>
            </a:r>
            <a:r>
              <a:rPr sz="2200" spc="95" dirty="0">
                <a:solidFill>
                  <a:srgbClr val="262EA4"/>
                </a:solidFill>
                <a:latin typeface="Calibri"/>
                <a:cs typeface="Calibri"/>
              </a:rPr>
              <a:t> </a:t>
            </a:r>
            <a:r>
              <a:rPr sz="2200" dirty="0">
                <a:solidFill>
                  <a:srgbClr val="262EA4"/>
                </a:solidFill>
                <a:latin typeface="Calibri"/>
                <a:cs typeface="Calibri"/>
              </a:rPr>
              <a:t>there</a:t>
            </a:r>
            <a:r>
              <a:rPr sz="2200" spc="105" dirty="0">
                <a:solidFill>
                  <a:srgbClr val="262EA4"/>
                </a:solidFill>
                <a:latin typeface="Calibri"/>
                <a:cs typeface="Calibri"/>
              </a:rPr>
              <a:t> </a:t>
            </a:r>
            <a:r>
              <a:rPr sz="2200" dirty="0">
                <a:solidFill>
                  <a:srgbClr val="262EA4"/>
                </a:solidFill>
                <a:latin typeface="Calibri"/>
                <a:cs typeface="Calibri"/>
              </a:rPr>
              <a:t>are</a:t>
            </a:r>
            <a:r>
              <a:rPr sz="2200" spc="100" dirty="0">
                <a:solidFill>
                  <a:srgbClr val="262EA4"/>
                </a:solidFill>
                <a:latin typeface="Calibri"/>
                <a:cs typeface="Calibri"/>
              </a:rPr>
              <a:t> </a:t>
            </a:r>
            <a:r>
              <a:rPr sz="2200" dirty="0">
                <a:solidFill>
                  <a:srgbClr val="262EA4"/>
                </a:solidFill>
                <a:latin typeface="Calibri"/>
                <a:cs typeface="Calibri"/>
              </a:rPr>
              <a:t>multiple</a:t>
            </a:r>
            <a:r>
              <a:rPr sz="2200" spc="105" dirty="0">
                <a:solidFill>
                  <a:srgbClr val="262EA4"/>
                </a:solidFill>
                <a:latin typeface="Calibri"/>
                <a:cs typeface="Calibri"/>
              </a:rPr>
              <a:t> </a:t>
            </a:r>
            <a:r>
              <a:rPr sz="2200" dirty="0">
                <a:solidFill>
                  <a:srgbClr val="262EA4"/>
                </a:solidFill>
                <a:latin typeface="Calibri"/>
                <a:cs typeface="Calibri"/>
              </a:rPr>
              <a:t>starts,</a:t>
            </a:r>
            <a:r>
              <a:rPr sz="2200" spc="100" dirty="0">
                <a:solidFill>
                  <a:srgbClr val="262EA4"/>
                </a:solidFill>
                <a:latin typeface="Calibri"/>
                <a:cs typeface="Calibri"/>
              </a:rPr>
              <a:t> </a:t>
            </a:r>
            <a:r>
              <a:rPr sz="2200" dirty="0">
                <a:solidFill>
                  <a:srgbClr val="262EA4"/>
                </a:solidFill>
                <a:latin typeface="Calibri"/>
                <a:cs typeface="Calibri"/>
              </a:rPr>
              <a:t>a</a:t>
            </a:r>
            <a:r>
              <a:rPr sz="2200" spc="95" dirty="0">
                <a:solidFill>
                  <a:srgbClr val="262EA4"/>
                </a:solidFill>
                <a:latin typeface="Calibri"/>
                <a:cs typeface="Calibri"/>
              </a:rPr>
              <a:t> </a:t>
            </a:r>
            <a:r>
              <a:rPr sz="2200" dirty="0">
                <a:solidFill>
                  <a:srgbClr val="262EA4"/>
                </a:solidFill>
                <a:latin typeface="Calibri"/>
                <a:cs typeface="Calibri"/>
              </a:rPr>
              <a:t>common</a:t>
            </a:r>
            <a:r>
              <a:rPr sz="2200" spc="95" dirty="0">
                <a:solidFill>
                  <a:srgbClr val="262EA4"/>
                </a:solidFill>
                <a:latin typeface="Calibri"/>
                <a:cs typeface="Calibri"/>
              </a:rPr>
              <a:t> </a:t>
            </a:r>
            <a:r>
              <a:rPr sz="2200" dirty="0">
                <a:solidFill>
                  <a:srgbClr val="262EA4"/>
                </a:solidFill>
                <a:latin typeface="Calibri"/>
                <a:cs typeface="Calibri"/>
              </a:rPr>
              <a:t>start</a:t>
            </a:r>
            <a:r>
              <a:rPr sz="2200" spc="95" dirty="0">
                <a:solidFill>
                  <a:srgbClr val="262EA4"/>
                </a:solidFill>
                <a:latin typeface="Calibri"/>
                <a:cs typeface="Calibri"/>
              </a:rPr>
              <a:t> </a:t>
            </a:r>
            <a:r>
              <a:rPr sz="2200" dirty="0">
                <a:solidFill>
                  <a:srgbClr val="262EA4"/>
                </a:solidFill>
                <a:latin typeface="Calibri"/>
                <a:cs typeface="Calibri"/>
              </a:rPr>
              <a:t>node</a:t>
            </a:r>
            <a:r>
              <a:rPr sz="2200" spc="100" dirty="0">
                <a:solidFill>
                  <a:srgbClr val="262EA4"/>
                </a:solidFill>
                <a:latin typeface="Calibri"/>
                <a:cs typeface="Calibri"/>
              </a:rPr>
              <a:t> </a:t>
            </a:r>
            <a:r>
              <a:rPr sz="2200" dirty="0">
                <a:solidFill>
                  <a:srgbClr val="262EA4"/>
                </a:solidFill>
                <a:latin typeface="Calibri"/>
                <a:cs typeface="Calibri"/>
              </a:rPr>
              <a:t>can</a:t>
            </a:r>
            <a:r>
              <a:rPr sz="2200" spc="90" dirty="0">
                <a:solidFill>
                  <a:srgbClr val="262EA4"/>
                </a:solidFill>
                <a:latin typeface="Calibri"/>
                <a:cs typeface="Calibri"/>
              </a:rPr>
              <a:t> </a:t>
            </a:r>
            <a:r>
              <a:rPr sz="2200" spc="-25" dirty="0">
                <a:solidFill>
                  <a:srgbClr val="262EA4"/>
                </a:solidFill>
                <a:latin typeface="Calibri"/>
                <a:cs typeface="Calibri"/>
              </a:rPr>
              <a:t>be </a:t>
            </a:r>
            <a:r>
              <a:rPr sz="2200" dirty="0">
                <a:solidFill>
                  <a:srgbClr val="262EA4"/>
                </a:solidFill>
                <a:latin typeface="Calibri"/>
                <a:cs typeface="Calibri"/>
              </a:rPr>
              <a:t>used</a:t>
            </a:r>
            <a:r>
              <a:rPr sz="2200" spc="-40" dirty="0">
                <a:solidFill>
                  <a:srgbClr val="262EA4"/>
                </a:solidFill>
                <a:latin typeface="Calibri"/>
                <a:cs typeface="Calibri"/>
              </a:rPr>
              <a:t> </a:t>
            </a:r>
            <a:r>
              <a:rPr sz="2200" dirty="0">
                <a:solidFill>
                  <a:srgbClr val="262EA4"/>
                </a:solidFill>
                <a:latin typeface="Calibri"/>
                <a:cs typeface="Calibri"/>
              </a:rPr>
              <a:t>to</a:t>
            </a:r>
            <a:r>
              <a:rPr sz="2200" spc="-30" dirty="0">
                <a:solidFill>
                  <a:srgbClr val="262EA4"/>
                </a:solidFill>
                <a:latin typeface="Calibri"/>
                <a:cs typeface="Calibri"/>
              </a:rPr>
              <a:t> </a:t>
            </a:r>
            <a:r>
              <a:rPr sz="2200" dirty="0">
                <a:solidFill>
                  <a:srgbClr val="262EA4"/>
                </a:solidFill>
                <a:latin typeface="Calibri"/>
                <a:cs typeface="Calibri"/>
              </a:rPr>
              <a:t>indicate</a:t>
            </a:r>
            <a:r>
              <a:rPr sz="2200" spc="-30" dirty="0">
                <a:solidFill>
                  <a:srgbClr val="262EA4"/>
                </a:solidFill>
                <a:latin typeface="Calibri"/>
                <a:cs typeface="Calibri"/>
              </a:rPr>
              <a:t> </a:t>
            </a:r>
            <a:r>
              <a:rPr sz="2200" dirty="0">
                <a:solidFill>
                  <a:srgbClr val="262EA4"/>
                </a:solidFill>
                <a:latin typeface="Calibri"/>
                <a:cs typeface="Calibri"/>
              </a:rPr>
              <a:t>a</a:t>
            </a:r>
            <a:r>
              <a:rPr sz="2200" spc="-35" dirty="0">
                <a:solidFill>
                  <a:srgbClr val="262EA4"/>
                </a:solidFill>
                <a:latin typeface="Calibri"/>
                <a:cs typeface="Calibri"/>
              </a:rPr>
              <a:t> </a:t>
            </a:r>
            <a:r>
              <a:rPr sz="2200" dirty="0">
                <a:solidFill>
                  <a:srgbClr val="262EA4"/>
                </a:solidFill>
                <a:latin typeface="Calibri"/>
                <a:cs typeface="Calibri"/>
              </a:rPr>
              <a:t>clear</a:t>
            </a:r>
            <a:r>
              <a:rPr sz="2200" spc="-35" dirty="0">
                <a:solidFill>
                  <a:srgbClr val="262EA4"/>
                </a:solidFill>
                <a:latin typeface="Calibri"/>
                <a:cs typeface="Calibri"/>
              </a:rPr>
              <a:t> </a:t>
            </a:r>
            <a:r>
              <a:rPr sz="2200" dirty="0">
                <a:solidFill>
                  <a:srgbClr val="262EA4"/>
                </a:solidFill>
                <a:latin typeface="Calibri"/>
                <a:cs typeface="Calibri"/>
              </a:rPr>
              <a:t>project</a:t>
            </a:r>
            <a:r>
              <a:rPr sz="2200" spc="-35" dirty="0">
                <a:solidFill>
                  <a:srgbClr val="262EA4"/>
                </a:solidFill>
                <a:latin typeface="Calibri"/>
                <a:cs typeface="Calibri"/>
              </a:rPr>
              <a:t> </a:t>
            </a:r>
            <a:r>
              <a:rPr sz="2200" dirty="0">
                <a:solidFill>
                  <a:srgbClr val="262EA4"/>
                </a:solidFill>
                <a:latin typeface="Calibri"/>
                <a:cs typeface="Calibri"/>
              </a:rPr>
              <a:t>beginning</a:t>
            </a:r>
            <a:r>
              <a:rPr sz="2200" spc="-35" dirty="0">
                <a:solidFill>
                  <a:srgbClr val="262EA4"/>
                </a:solidFill>
                <a:latin typeface="Calibri"/>
                <a:cs typeface="Calibri"/>
              </a:rPr>
              <a:t> </a:t>
            </a:r>
            <a:r>
              <a:rPr sz="2200" dirty="0">
                <a:solidFill>
                  <a:srgbClr val="262EA4"/>
                </a:solidFill>
                <a:latin typeface="Calibri"/>
                <a:cs typeface="Calibri"/>
              </a:rPr>
              <a:t>on</a:t>
            </a:r>
            <a:r>
              <a:rPr sz="2200" spc="-40" dirty="0">
                <a:solidFill>
                  <a:srgbClr val="262EA4"/>
                </a:solidFill>
                <a:latin typeface="Calibri"/>
                <a:cs typeface="Calibri"/>
              </a:rPr>
              <a:t> </a:t>
            </a:r>
            <a:r>
              <a:rPr sz="2200" dirty="0">
                <a:solidFill>
                  <a:srgbClr val="262EA4"/>
                </a:solidFill>
                <a:latin typeface="Calibri"/>
                <a:cs typeface="Calibri"/>
              </a:rPr>
              <a:t>the</a:t>
            </a:r>
            <a:r>
              <a:rPr sz="2200" spc="-20" dirty="0">
                <a:solidFill>
                  <a:srgbClr val="262EA4"/>
                </a:solidFill>
                <a:latin typeface="Calibri"/>
                <a:cs typeface="Calibri"/>
              </a:rPr>
              <a:t> </a:t>
            </a:r>
            <a:r>
              <a:rPr sz="2200" dirty="0">
                <a:solidFill>
                  <a:srgbClr val="262EA4"/>
                </a:solidFill>
                <a:latin typeface="Calibri"/>
                <a:cs typeface="Calibri"/>
              </a:rPr>
              <a:t>network.</a:t>
            </a:r>
            <a:r>
              <a:rPr sz="2200" spc="-40" dirty="0">
                <a:solidFill>
                  <a:srgbClr val="262EA4"/>
                </a:solidFill>
                <a:latin typeface="Calibri"/>
                <a:cs typeface="Calibri"/>
              </a:rPr>
              <a:t> </a:t>
            </a:r>
            <a:r>
              <a:rPr sz="2200" spc="-10" dirty="0">
                <a:solidFill>
                  <a:srgbClr val="262EA4"/>
                </a:solidFill>
                <a:latin typeface="Calibri"/>
                <a:cs typeface="Calibri"/>
              </a:rPr>
              <a:t>Similarly,</a:t>
            </a:r>
            <a:r>
              <a:rPr sz="2200" spc="-30" dirty="0">
                <a:solidFill>
                  <a:srgbClr val="262EA4"/>
                </a:solidFill>
                <a:latin typeface="Calibri"/>
                <a:cs typeface="Calibri"/>
              </a:rPr>
              <a:t> </a:t>
            </a:r>
            <a:r>
              <a:rPr sz="2200" dirty="0">
                <a:solidFill>
                  <a:srgbClr val="262EA4"/>
                </a:solidFill>
                <a:latin typeface="Calibri"/>
                <a:cs typeface="Calibri"/>
              </a:rPr>
              <a:t>a</a:t>
            </a:r>
            <a:r>
              <a:rPr sz="2200" spc="-35" dirty="0">
                <a:solidFill>
                  <a:srgbClr val="262EA4"/>
                </a:solidFill>
                <a:latin typeface="Calibri"/>
                <a:cs typeface="Calibri"/>
              </a:rPr>
              <a:t> </a:t>
            </a:r>
            <a:r>
              <a:rPr sz="2200" dirty="0">
                <a:solidFill>
                  <a:srgbClr val="262EA4"/>
                </a:solidFill>
                <a:latin typeface="Calibri"/>
                <a:cs typeface="Calibri"/>
              </a:rPr>
              <a:t>single</a:t>
            </a:r>
            <a:r>
              <a:rPr sz="2200" spc="-25" dirty="0">
                <a:solidFill>
                  <a:srgbClr val="262EA4"/>
                </a:solidFill>
                <a:latin typeface="Calibri"/>
                <a:cs typeface="Calibri"/>
              </a:rPr>
              <a:t> </a:t>
            </a:r>
            <a:r>
              <a:rPr sz="2200" dirty="0">
                <a:solidFill>
                  <a:srgbClr val="262EA4"/>
                </a:solidFill>
                <a:latin typeface="Calibri"/>
                <a:cs typeface="Calibri"/>
              </a:rPr>
              <a:t>project</a:t>
            </a:r>
            <a:r>
              <a:rPr sz="2200" spc="-30" dirty="0">
                <a:solidFill>
                  <a:srgbClr val="262EA4"/>
                </a:solidFill>
                <a:latin typeface="Calibri"/>
                <a:cs typeface="Calibri"/>
              </a:rPr>
              <a:t> </a:t>
            </a:r>
            <a:r>
              <a:rPr sz="2200" spc="-25" dirty="0">
                <a:solidFill>
                  <a:srgbClr val="262EA4"/>
                </a:solidFill>
                <a:latin typeface="Calibri"/>
                <a:cs typeface="Calibri"/>
              </a:rPr>
              <a:t>end </a:t>
            </a:r>
            <a:r>
              <a:rPr sz="2200" dirty="0">
                <a:solidFill>
                  <a:srgbClr val="262EA4"/>
                </a:solidFill>
                <a:latin typeface="Calibri"/>
                <a:cs typeface="Calibri"/>
              </a:rPr>
              <a:t>node</a:t>
            </a:r>
            <a:r>
              <a:rPr sz="2200" spc="-30" dirty="0">
                <a:solidFill>
                  <a:srgbClr val="262EA4"/>
                </a:solidFill>
                <a:latin typeface="Calibri"/>
                <a:cs typeface="Calibri"/>
              </a:rPr>
              <a:t> </a:t>
            </a:r>
            <a:r>
              <a:rPr sz="2200" dirty="0">
                <a:solidFill>
                  <a:srgbClr val="262EA4"/>
                </a:solidFill>
                <a:latin typeface="Calibri"/>
                <a:cs typeface="Calibri"/>
              </a:rPr>
              <a:t>can</a:t>
            </a:r>
            <a:r>
              <a:rPr sz="2200" spc="-40" dirty="0">
                <a:solidFill>
                  <a:srgbClr val="262EA4"/>
                </a:solidFill>
                <a:latin typeface="Calibri"/>
                <a:cs typeface="Calibri"/>
              </a:rPr>
              <a:t> </a:t>
            </a:r>
            <a:r>
              <a:rPr sz="2200" dirty="0">
                <a:solidFill>
                  <a:srgbClr val="262EA4"/>
                </a:solidFill>
                <a:latin typeface="Calibri"/>
                <a:cs typeface="Calibri"/>
              </a:rPr>
              <a:t>be</a:t>
            </a:r>
            <a:r>
              <a:rPr sz="2200" spc="-25" dirty="0">
                <a:solidFill>
                  <a:srgbClr val="262EA4"/>
                </a:solidFill>
                <a:latin typeface="Calibri"/>
                <a:cs typeface="Calibri"/>
              </a:rPr>
              <a:t> </a:t>
            </a:r>
            <a:r>
              <a:rPr sz="2200" dirty="0">
                <a:solidFill>
                  <a:srgbClr val="262EA4"/>
                </a:solidFill>
                <a:latin typeface="Calibri"/>
                <a:cs typeface="Calibri"/>
              </a:rPr>
              <a:t>used</a:t>
            </a:r>
            <a:r>
              <a:rPr sz="2200" spc="-40" dirty="0">
                <a:solidFill>
                  <a:srgbClr val="262EA4"/>
                </a:solidFill>
                <a:latin typeface="Calibri"/>
                <a:cs typeface="Calibri"/>
              </a:rPr>
              <a:t> </a:t>
            </a:r>
            <a:r>
              <a:rPr sz="2200" dirty="0">
                <a:solidFill>
                  <a:srgbClr val="262EA4"/>
                </a:solidFill>
                <a:latin typeface="Calibri"/>
                <a:cs typeface="Calibri"/>
              </a:rPr>
              <a:t>to</a:t>
            </a:r>
            <a:r>
              <a:rPr sz="2200" spc="-30" dirty="0">
                <a:solidFill>
                  <a:srgbClr val="262EA4"/>
                </a:solidFill>
                <a:latin typeface="Calibri"/>
                <a:cs typeface="Calibri"/>
              </a:rPr>
              <a:t> </a:t>
            </a:r>
            <a:r>
              <a:rPr sz="2200" dirty="0">
                <a:solidFill>
                  <a:srgbClr val="262EA4"/>
                </a:solidFill>
                <a:latin typeface="Calibri"/>
                <a:cs typeface="Calibri"/>
              </a:rPr>
              <a:t>indicate</a:t>
            </a:r>
            <a:r>
              <a:rPr sz="2200" spc="-25" dirty="0">
                <a:solidFill>
                  <a:srgbClr val="262EA4"/>
                </a:solidFill>
                <a:latin typeface="Calibri"/>
                <a:cs typeface="Calibri"/>
              </a:rPr>
              <a:t> </a:t>
            </a:r>
            <a:r>
              <a:rPr sz="2200" dirty="0">
                <a:solidFill>
                  <a:srgbClr val="262EA4"/>
                </a:solidFill>
                <a:latin typeface="Calibri"/>
                <a:cs typeface="Calibri"/>
              </a:rPr>
              <a:t>a</a:t>
            </a:r>
            <a:r>
              <a:rPr sz="2200" spc="-40" dirty="0">
                <a:solidFill>
                  <a:srgbClr val="262EA4"/>
                </a:solidFill>
                <a:latin typeface="Calibri"/>
                <a:cs typeface="Calibri"/>
              </a:rPr>
              <a:t> </a:t>
            </a:r>
            <a:r>
              <a:rPr sz="2200" dirty="0">
                <a:solidFill>
                  <a:srgbClr val="262EA4"/>
                </a:solidFill>
                <a:latin typeface="Calibri"/>
                <a:cs typeface="Calibri"/>
              </a:rPr>
              <a:t>clear</a:t>
            </a:r>
            <a:r>
              <a:rPr sz="2200" spc="-35" dirty="0">
                <a:solidFill>
                  <a:srgbClr val="262EA4"/>
                </a:solidFill>
                <a:latin typeface="Calibri"/>
                <a:cs typeface="Calibri"/>
              </a:rPr>
              <a:t> </a:t>
            </a:r>
            <a:r>
              <a:rPr sz="2200" spc="-10" dirty="0">
                <a:solidFill>
                  <a:srgbClr val="262EA4"/>
                </a:solidFill>
                <a:latin typeface="Calibri"/>
                <a:cs typeface="Calibri"/>
              </a:rPr>
              <a:t>ending.</a:t>
            </a:r>
            <a:endParaRPr sz="2200" dirty="0">
              <a:latin typeface="Calibri"/>
              <a:cs typeface="Calibri"/>
            </a:endParaRPr>
          </a:p>
        </p:txBody>
      </p:sp>
      <p:pic>
        <p:nvPicPr>
          <p:cNvPr id="5" name="Picture 4">
            <a:extLst>
              <a:ext uri="{FF2B5EF4-FFF2-40B4-BE49-F238E27FC236}">
                <a16:creationId xmlns:a16="http://schemas.microsoft.com/office/drawing/2014/main" id="{25759E0B-5842-8BA8-5A42-5FB849C9EF5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363200" y="-9956"/>
            <a:ext cx="1828800" cy="1016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spc="105" dirty="0"/>
              <a:t>Activity-</a:t>
            </a:r>
            <a:r>
              <a:rPr spc="125" dirty="0"/>
              <a:t>on-</a:t>
            </a:r>
            <a:r>
              <a:rPr spc="114" dirty="0"/>
              <a:t>Node</a:t>
            </a:r>
            <a:r>
              <a:rPr spc="130" dirty="0"/>
              <a:t> </a:t>
            </a:r>
            <a:r>
              <a:rPr spc="95" dirty="0"/>
              <a:t>(AON)</a:t>
            </a:r>
            <a:r>
              <a:rPr spc="130" dirty="0"/>
              <a:t> </a:t>
            </a:r>
            <a:r>
              <a:rPr spc="110" dirty="0"/>
              <a:t>Fundamentals</a:t>
            </a:r>
            <a:r>
              <a:rPr spc="135" dirty="0"/>
              <a:t> </a:t>
            </a:r>
            <a:r>
              <a:rPr sz="1950" spc="-10" dirty="0"/>
              <a:t>(1/2)</a:t>
            </a:r>
            <a:endParaRPr sz="1950" dirty="0"/>
          </a:p>
        </p:txBody>
      </p:sp>
      <p:pic>
        <p:nvPicPr>
          <p:cNvPr id="3" name="object 3"/>
          <p:cNvPicPr/>
          <p:nvPr/>
        </p:nvPicPr>
        <p:blipFill>
          <a:blip r:embed="rId2" cstate="print"/>
          <a:stretch>
            <a:fillRect/>
          </a:stretch>
        </p:blipFill>
        <p:spPr>
          <a:xfrm>
            <a:off x="6025838" y="3359858"/>
            <a:ext cx="5736071" cy="3027027"/>
          </a:xfrm>
          <a:prstGeom prst="rect">
            <a:avLst/>
          </a:prstGeom>
        </p:spPr>
      </p:pic>
      <p:pic>
        <p:nvPicPr>
          <p:cNvPr id="4" name="object 4"/>
          <p:cNvPicPr/>
          <p:nvPr/>
        </p:nvPicPr>
        <p:blipFill>
          <a:blip r:embed="rId3" cstate="print"/>
          <a:stretch>
            <a:fillRect/>
          </a:stretch>
        </p:blipFill>
        <p:spPr>
          <a:xfrm>
            <a:off x="426304" y="2928585"/>
            <a:ext cx="5203789" cy="3746239"/>
          </a:xfrm>
          <a:prstGeom prst="rect">
            <a:avLst/>
          </a:prstGeom>
        </p:spPr>
      </p:pic>
      <p:sp>
        <p:nvSpPr>
          <p:cNvPr id="5" name="object 5"/>
          <p:cNvSpPr txBox="1"/>
          <p:nvPr/>
        </p:nvSpPr>
        <p:spPr>
          <a:xfrm>
            <a:off x="916939" y="1607820"/>
            <a:ext cx="11004550" cy="1244600"/>
          </a:xfrm>
          <a:prstGeom prst="rect">
            <a:avLst/>
          </a:prstGeom>
        </p:spPr>
        <p:txBody>
          <a:bodyPr vert="horz" wrap="square" lIns="0" tIns="12700" rIns="0" bIns="0" rtlCol="0">
            <a:spAutoFit/>
          </a:bodyPr>
          <a:lstStyle/>
          <a:p>
            <a:pPr marL="12700" marR="5080" algn="just">
              <a:lnSpc>
                <a:spcPct val="100000"/>
              </a:lnSpc>
              <a:spcBef>
                <a:spcPts val="100"/>
              </a:spcBef>
            </a:pPr>
            <a:r>
              <a:rPr sz="2000" dirty="0">
                <a:latin typeface="Calibri"/>
                <a:cs typeface="Calibri"/>
              </a:rPr>
              <a:t>Historically,</a:t>
            </a:r>
            <a:r>
              <a:rPr sz="2000" spc="295" dirty="0">
                <a:latin typeface="Calibri"/>
                <a:cs typeface="Calibri"/>
              </a:rPr>
              <a:t> </a:t>
            </a:r>
            <a:r>
              <a:rPr sz="2000" dirty="0">
                <a:latin typeface="Calibri"/>
                <a:cs typeface="Calibri"/>
              </a:rPr>
              <a:t>two</a:t>
            </a:r>
            <a:r>
              <a:rPr sz="2000" spc="290" dirty="0">
                <a:latin typeface="Calibri"/>
                <a:cs typeface="Calibri"/>
              </a:rPr>
              <a:t> </a:t>
            </a:r>
            <a:r>
              <a:rPr sz="2000" dirty="0">
                <a:latin typeface="Calibri"/>
                <a:cs typeface="Calibri"/>
              </a:rPr>
              <a:t>methods</a:t>
            </a:r>
            <a:r>
              <a:rPr sz="2000" spc="300" dirty="0">
                <a:latin typeface="Calibri"/>
                <a:cs typeface="Calibri"/>
              </a:rPr>
              <a:t> </a:t>
            </a:r>
            <a:r>
              <a:rPr sz="2000" dirty="0">
                <a:latin typeface="Calibri"/>
                <a:cs typeface="Calibri"/>
              </a:rPr>
              <a:t>have</a:t>
            </a:r>
            <a:r>
              <a:rPr sz="2000" spc="300" dirty="0">
                <a:latin typeface="Calibri"/>
                <a:cs typeface="Calibri"/>
              </a:rPr>
              <a:t> </a:t>
            </a:r>
            <a:r>
              <a:rPr sz="2000" dirty="0">
                <a:latin typeface="Calibri"/>
                <a:cs typeface="Calibri"/>
              </a:rPr>
              <a:t>been</a:t>
            </a:r>
            <a:r>
              <a:rPr sz="2000" spc="295" dirty="0">
                <a:latin typeface="Calibri"/>
                <a:cs typeface="Calibri"/>
              </a:rPr>
              <a:t> </a:t>
            </a:r>
            <a:r>
              <a:rPr sz="2000" dirty="0">
                <a:latin typeface="Calibri"/>
                <a:cs typeface="Calibri"/>
              </a:rPr>
              <a:t>used</a:t>
            </a:r>
            <a:r>
              <a:rPr sz="2000" spc="295" dirty="0">
                <a:latin typeface="Calibri"/>
                <a:cs typeface="Calibri"/>
              </a:rPr>
              <a:t> </a:t>
            </a:r>
            <a:r>
              <a:rPr sz="2000" dirty="0">
                <a:latin typeface="Calibri"/>
                <a:cs typeface="Calibri"/>
              </a:rPr>
              <a:t>to</a:t>
            </a:r>
            <a:r>
              <a:rPr sz="2000" spc="295" dirty="0">
                <a:latin typeface="Calibri"/>
                <a:cs typeface="Calibri"/>
              </a:rPr>
              <a:t> </a:t>
            </a:r>
            <a:r>
              <a:rPr sz="2000" dirty="0">
                <a:latin typeface="Calibri"/>
                <a:cs typeface="Calibri"/>
              </a:rPr>
              <a:t>develop</a:t>
            </a:r>
            <a:r>
              <a:rPr sz="2000" spc="295" dirty="0">
                <a:latin typeface="Calibri"/>
                <a:cs typeface="Calibri"/>
              </a:rPr>
              <a:t> </a:t>
            </a:r>
            <a:r>
              <a:rPr sz="2000" dirty="0">
                <a:latin typeface="Calibri"/>
                <a:cs typeface="Calibri"/>
              </a:rPr>
              <a:t>project</a:t>
            </a:r>
            <a:r>
              <a:rPr sz="2000" spc="300" dirty="0">
                <a:latin typeface="Calibri"/>
                <a:cs typeface="Calibri"/>
              </a:rPr>
              <a:t> </a:t>
            </a:r>
            <a:r>
              <a:rPr sz="2000" dirty="0">
                <a:latin typeface="Calibri"/>
                <a:cs typeface="Calibri"/>
              </a:rPr>
              <a:t>networks:</a:t>
            </a:r>
            <a:r>
              <a:rPr sz="2000" spc="300" dirty="0">
                <a:latin typeface="Calibri"/>
                <a:cs typeface="Calibri"/>
              </a:rPr>
              <a:t> </a:t>
            </a:r>
            <a:r>
              <a:rPr sz="2000" b="1" dirty="0">
                <a:latin typeface="Calibri"/>
                <a:cs typeface="Calibri"/>
              </a:rPr>
              <a:t>Activity-</a:t>
            </a:r>
            <a:r>
              <a:rPr sz="2000" b="1" spc="300" dirty="0">
                <a:latin typeface="Calibri"/>
                <a:cs typeface="Calibri"/>
              </a:rPr>
              <a:t> </a:t>
            </a:r>
            <a:r>
              <a:rPr sz="2000" b="1" spc="-20" dirty="0">
                <a:latin typeface="Calibri"/>
                <a:cs typeface="Calibri"/>
              </a:rPr>
              <a:t>on-</a:t>
            </a:r>
            <a:r>
              <a:rPr sz="2000" b="1" dirty="0">
                <a:latin typeface="Calibri"/>
                <a:cs typeface="Calibri"/>
              </a:rPr>
              <a:t>node</a:t>
            </a:r>
            <a:r>
              <a:rPr sz="2000" b="1" spc="305" dirty="0">
                <a:latin typeface="Calibri"/>
                <a:cs typeface="Calibri"/>
              </a:rPr>
              <a:t> </a:t>
            </a:r>
            <a:r>
              <a:rPr sz="2000" b="1" dirty="0">
                <a:latin typeface="Calibri"/>
                <a:cs typeface="Calibri"/>
              </a:rPr>
              <a:t>(AON)</a:t>
            </a:r>
            <a:r>
              <a:rPr sz="2000" b="1" spc="300" dirty="0">
                <a:latin typeface="Calibri"/>
                <a:cs typeface="Calibri"/>
              </a:rPr>
              <a:t> </a:t>
            </a:r>
            <a:r>
              <a:rPr sz="2000" spc="-25" dirty="0">
                <a:latin typeface="Calibri"/>
                <a:cs typeface="Calibri"/>
              </a:rPr>
              <a:t>and </a:t>
            </a:r>
            <a:r>
              <a:rPr sz="2000" b="1" spc="-20" dirty="0">
                <a:latin typeface="Calibri"/>
                <a:cs typeface="Calibri"/>
              </a:rPr>
              <a:t>Activity-on-</a:t>
            </a:r>
            <a:r>
              <a:rPr sz="2000" b="1" dirty="0">
                <a:latin typeface="Calibri"/>
                <a:cs typeface="Calibri"/>
              </a:rPr>
              <a:t>arrow</a:t>
            </a:r>
            <a:r>
              <a:rPr sz="2000" b="1" spc="120" dirty="0">
                <a:latin typeface="Calibri"/>
                <a:cs typeface="Calibri"/>
              </a:rPr>
              <a:t> </a:t>
            </a:r>
            <a:r>
              <a:rPr sz="2000" b="1" dirty="0">
                <a:latin typeface="Calibri"/>
                <a:cs typeface="Calibri"/>
              </a:rPr>
              <a:t>(AOA).</a:t>
            </a:r>
            <a:r>
              <a:rPr sz="2000" b="1" spc="130" dirty="0">
                <a:latin typeface="Calibri"/>
                <a:cs typeface="Calibri"/>
              </a:rPr>
              <a:t> </a:t>
            </a:r>
            <a:r>
              <a:rPr sz="2000" dirty="0">
                <a:latin typeface="Calibri"/>
                <a:cs typeface="Calibri"/>
              </a:rPr>
              <a:t>Over</a:t>
            </a:r>
            <a:r>
              <a:rPr sz="2000" spc="125" dirty="0">
                <a:latin typeface="Calibri"/>
                <a:cs typeface="Calibri"/>
              </a:rPr>
              <a:t> </a:t>
            </a:r>
            <a:r>
              <a:rPr sz="2000" dirty="0">
                <a:latin typeface="Calibri"/>
                <a:cs typeface="Calibri"/>
              </a:rPr>
              <a:t>time</a:t>
            </a:r>
            <a:r>
              <a:rPr sz="2000" spc="125" dirty="0">
                <a:latin typeface="Calibri"/>
                <a:cs typeface="Calibri"/>
              </a:rPr>
              <a:t> </a:t>
            </a:r>
            <a:r>
              <a:rPr sz="2000" dirty="0">
                <a:latin typeface="Calibri"/>
                <a:cs typeface="Calibri"/>
              </a:rPr>
              <a:t>the</a:t>
            </a:r>
            <a:r>
              <a:rPr sz="2000" spc="130" dirty="0">
                <a:latin typeface="Calibri"/>
                <a:cs typeface="Calibri"/>
              </a:rPr>
              <a:t> </a:t>
            </a:r>
            <a:r>
              <a:rPr sz="2000" dirty="0">
                <a:latin typeface="Calibri"/>
                <a:cs typeface="Calibri"/>
              </a:rPr>
              <a:t>availability</a:t>
            </a:r>
            <a:r>
              <a:rPr sz="2000" spc="120" dirty="0">
                <a:latin typeface="Calibri"/>
                <a:cs typeface="Calibri"/>
              </a:rPr>
              <a:t> </a:t>
            </a:r>
            <a:r>
              <a:rPr sz="2000" dirty="0">
                <a:latin typeface="Calibri"/>
                <a:cs typeface="Calibri"/>
              </a:rPr>
              <a:t>of</a:t>
            </a:r>
            <a:r>
              <a:rPr sz="2000" spc="120" dirty="0">
                <a:latin typeface="Calibri"/>
                <a:cs typeface="Calibri"/>
              </a:rPr>
              <a:t> </a:t>
            </a:r>
            <a:r>
              <a:rPr sz="2000" dirty="0">
                <a:latin typeface="Calibri"/>
                <a:cs typeface="Calibri"/>
              </a:rPr>
              <a:t>advanced</a:t>
            </a:r>
            <a:r>
              <a:rPr sz="2000" spc="120" dirty="0">
                <a:latin typeface="Calibri"/>
                <a:cs typeface="Calibri"/>
              </a:rPr>
              <a:t> </a:t>
            </a:r>
            <a:r>
              <a:rPr sz="2000" dirty="0">
                <a:latin typeface="Calibri"/>
                <a:cs typeface="Calibri"/>
              </a:rPr>
              <a:t>computer</a:t>
            </a:r>
            <a:r>
              <a:rPr sz="2000" spc="125" dirty="0">
                <a:latin typeface="Calibri"/>
                <a:cs typeface="Calibri"/>
              </a:rPr>
              <a:t> </a:t>
            </a:r>
            <a:r>
              <a:rPr sz="2000" dirty="0">
                <a:latin typeface="Calibri"/>
                <a:cs typeface="Calibri"/>
              </a:rPr>
              <a:t>graphics</a:t>
            </a:r>
            <a:r>
              <a:rPr sz="2000" spc="130" dirty="0">
                <a:latin typeface="Calibri"/>
                <a:cs typeface="Calibri"/>
              </a:rPr>
              <a:t> </a:t>
            </a:r>
            <a:r>
              <a:rPr sz="2000" dirty="0">
                <a:latin typeface="Calibri"/>
                <a:cs typeface="Calibri"/>
              </a:rPr>
              <a:t>improved</a:t>
            </a:r>
            <a:r>
              <a:rPr sz="2000" spc="114" dirty="0">
                <a:latin typeface="Calibri"/>
                <a:cs typeface="Calibri"/>
              </a:rPr>
              <a:t> </a:t>
            </a:r>
            <a:r>
              <a:rPr sz="2000" dirty="0">
                <a:latin typeface="Calibri"/>
                <a:cs typeface="Calibri"/>
              </a:rPr>
              <a:t>the</a:t>
            </a:r>
            <a:r>
              <a:rPr sz="2000" spc="130" dirty="0">
                <a:latin typeface="Calibri"/>
                <a:cs typeface="Calibri"/>
              </a:rPr>
              <a:t> </a:t>
            </a:r>
            <a:r>
              <a:rPr sz="2000" spc="-10" dirty="0">
                <a:latin typeface="Calibri"/>
                <a:cs typeface="Calibri"/>
              </a:rPr>
              <a:t>clarity </a:t>
            </a:r>
            <a:r>
              <a:rPr sz="2000" dirty="0">
                <a:latin typeface="Calibri"/>
                <a:cs typeface="Calibri"/>
              </a:rPr>
              <a:t>and</a:t>
            </a:r>
            <a:r>
              <a:rPr sz="2000" spc="85" dirty="0">
                <a:latin typeface="Calibri"/>
                <a:cs typeface="Calibri"/>
              </a:rPr>
              <a:t> </a:t>
            </a:r>
            <a:r>
              <a:rPr sz="2000" dirty="0">
                <a:latin typeface="Calibri"/>
                <a:cs typeface="Calibri"/>
              </a:rPr>
              <a:t>visual</a:t>
            </a:r>
            <a:r>
              <a:rPr sz="2000" spc="90" dirty="0">
                <a:latin typeface="Calibri"/>
                <a:cs typeface="Calibri"/>
              </a:rPr>
              <a:t> </a:t>
            </a:r>
            <a:r>
              <a:rPr sz="2000" dirty="0">
                <a:latin typeface="Calibri"/>
                <a:cs typeface="Calibri"/>
              </a:rPr>
              <a:t>appeal</a:t>
            </a:r>
            <a:r>
              <a:rPr sz="2000" spc="90" dirty="0">
                <a:latin typeface="Calibri"/>
                <a:cs typeface="Calibri"/>
              </a:rPr>
              <a:t> </a:t>
            </a:r>
            <a:r>
              <a:rPr sz="2000" dirty="0">
                <a:latin typeface="Calibri"/>
                <a:cs typeface="Calibri"/>
              </a:rPr>
              <a:t>of</a:t>
            </a:r>
            <a:r>
              <a:rPr sz="2000" spc="90" dirty="0">
                <a:latin typeface="Calibri"/>
                <a:cs typeface="Calibri"/>
              </a:rPr>
              <a:t> </a:t>
            </a:r>
            <a:r>
              <a:rPr sz="2000" dirty="0">
                <a:latin typeface="Calibri"/>
                <a:cs typeface="Calibri"/>
              </a:rPr>
              <a:t>the</a:t>
            </a:r>
            <a:r>
              <a:rPr sz="2000" spc="90" dirty="0">
                <a:latin typeface="Calibri"/>
                <a:cs typeface="Calibri"/>
              </a:rPr>
              <a:t> </a:t>
            </a:r>
            <a:r>
              <a:rPr sz="2000" dirty="0">
                <a:latin typeface="Calibri"/>
                <a:cs typeface="Calibri"/>
              </a:rPr>
              <a:t>AON</a:t>
            </a:r>
            <a:r>
              <a:rPr sz="2000" spc="90" dirty="0">
                <a:latin typeface="Calibri"/>
                <a:cs typeface="Calibri"/>
              </a:rPr>
              <a:t> </a:t>
            </a:r>
            <a:r>
              <a:rPr sz="2000" dirty="0">
                <a:latin typeface="Calibri"/>
                <a:cs typeface="Calibri"/>
              </a:rPr>
              <a:t>method.</a:t>
            </a:r>
            <a:r>
              <a:rPr sz="2000" spc="80" dirty="0">
                <a:latin typeface="Calibri"/>
                <a:cs typeface="Calibri"/>
              </a:rPr>
              <a:t> </a:t>
            </a:r>
            <a:r>
              <a:rPr sz="2000" spc="-35" dirty="0">
                <a:latin typeface="Calibri"/>
                <a:cs typeface="Calibri"/>
              </a:rPr>
              <a:t>Today,</a:t>
            </a:r>
            <a:r>
              <a:rPr sz="2000" spc="90" dirty="0">
                <a:latin typeface="Calibri"/>
                <a:cs typeface="Calibri"/>
              </a:rPr>
              <a:t> </a:t>
            </a:r>
            <a:r>
              <a:rPr sz="2000" dirty="0">
                <a:latin typeface="Calibri"/>
                <a:cs typeface="Calibri"/>
              </a:rPr>
              <a:t>the</a:t>
            </a:r>
            <a:r>
              <a:rPr sz="2000" spc="90" dirty="0">
                <a:latin typeface="Calibri"/>
                <a:cs typeface="Calibri"/>
              </a:rPr>
              <a:t> </a:t>
            </a:r>
            <a:r>
              <a:rPr sz="2000" spc="-20" dirty="0">
                <a:latin typeface="Calibri"/>
                <a:cs typeface="Calibri"/>
              </a:rPr>
              <a:t>activity-</a:t>
            </a:r>
            <a:r>
              <a:rPr sz="2000" spc="-10" dirty="0">
                <a:latin typeface="Calibri"/>
                <a:cs typeface="Calibri"/>
              </a:rPr>
              <a:t>on-</a:t>
            </a:r>
            <a:r>
              <a:rPr sz="2000" dirty="0">
                <a:latin typeface="Calibri"/>
                <a:cs typeface="Calibri"/>
              </a:rPr>
              <a:t>node</a:t>
            </a:r>
            <a:r>
              <a:rPr sz="2000" spc="90" dirty="0">
                <a:latin typeface="Calibri"/>
                <a:cs typeface="Calibri"/>
              </a:rPr>
              <a:t> </a:t>
            </a:r>
            <a:r>
              <a:rPr sz="2000" dirty="0">
                <a:latin typeface="Calibri"/>
                <a:cs typeface="Calibri"/>
              </a:rPr>
              <a:t>method</a:t>
            </a:r>
            <a:r>
              <a:rPr sz="2000" spc="90" dirty="0">
                <a:latin typeface="Calibri"/>
                <a:cs typeface="Calibri"/>
              </a:rPr>
              <a:t> </a:t>
            </a:r>
            <a:r>
              <a:rPr sz="2000" dirty="0">
                <a:latin typeface="Calibri"/>
                <a:cs typeface="Calibri"/>
              </a:rPr>
              <a:t>has</a:t>
            </a:r>
            <a:r>
              <a:rPr sz="2000" spc="90" dirty="0">
                <a:latin typeface="Calibri"/>
                <a:cs typeface="Calibri"/>
              </a:rPr>
              <a:t> </a:t>
            </a:r>
            <a:r>
              <a:rPr sz="2000" dirty="0">
                <a:latin typeface="Calibri"/>
                <a:cs typeface="Calibri"/>
              </a:rPr>
              <a:t>come</a:t>
            </a:r>
            <a:r>
              <a:rPr sz="2000" spc="95" dirty="0">
                <a:latin typeface="Calibri"/>
                <a:cs typeface="Calibri"/>
              </a:rPr>
              <a:t> </a:t>
            </a:r>
            <a:r>
              <a:rPr sz="2000" dirty="0">
                <a:latin typeface="Calibri"/>
                <a:cs typeface="Calibri"/>
              </a:rPr>
              <a:t>to</a:t>
            </a:r>
            <a:r>
              <a:rPr sz="2000" spc="90" dirty="0">
                <a:latin typeface="Calibri"/>
                <a:cs typeface="Calibri"/>
              </a:rPr>
              <a:t> </a:t>
            </a:r>
            <a:r>
              <a:rPr sz="2000" dirty="0">
                <a:latin typeface="Calibri"/>
                <a:cs typeface="Calibri"/>
              </a:rPr>
              <a:t>dominate</a:t>
            </a:r>
            <a:r>
              <a:rPr sz="2000" spc="90" dirty="0">
                <a:latin typeface="Calibri"/>
                <a:cs typeface="Calibri"/>
              </a:rPr>
              <a:t> </a:t>
            </a:r>
            <a:r>
              <a:rPr sz="2000" spc="-10" dirty="0">
                <a:latin typeface="Calibri"/>
                <a:cs typeface="Calibri"/>
              </a:rPr>
              <a:t>nearly </a:t>
            </a:r>
            <a:r>
              <a:rPr sz="2000" dirty="0">
                <a:latin typeface="Calibri"/>
                <a:cs typeface="Calibri"/>
              </a:rPr>
              <a:t>all</a:t>
            </a:r>
            <a:r>
              <a:rPr sz="2000" spc="-65" dirty="0">
                <a:latin typeface="Calibri"/>
                <a:cs typeface="Calibri"/>
              </a:rPr>
              <a:t> </a:t>
            </a:r>
            <a:r>
              <a:rPr sz="2000" dirty="0">
                <a:latin typeface="Calibri"/>
                <a:cs typeface="Calibri"/>
              </a:rPr>
              <a:t>project</a:t>
            </a:r>
            <a:r>
              <a:rPr sz="2000" spc="-60" dirty="0">
                <a:latin typeface="Calibri"/>
                <a:cs typeface="Calibri"/>
              </a:rPr>
              <a:t> </a:t>
            </a:r>
            <a:r>
              <a:rPr sz="2000" dirty="0">
                <a:latin typeface="Calibri"/>
                <a:cs typeface="Calibri"/>
              </a:rPr>
              <a:t>network</a:t>
            </a:r>
            <a:r>
              <a:rPr sz="2000" spc="-60" dirty="0">
                <a:latin typeface="Calibri"/>
                <a:cs typeface="Calibri"/>
              </a:rPr>
              <a:t> </a:t>
            </a:r>
            <a:r>
              <a:rPr sz="2000" spc="-10" dirty="0">
                <a:latin typeface="Calibri"/>
                <a:cs typeface="Calibri"/>
              </a:rPr>
              <a:t>plans.</a:t>
            </a:r>
            <a:endParaRPr sz="2000" dirty="0">
              <a:latin typeface="Calibri"/>
              <a:cs typeface="Calibri"/>
            </a:endParaRPr>
          </a:p>
        </p:txBody>
      </p:sp>
      <p:sp>
        <p:nvSpPr>
          <p:cNvPr id="6" name="object 6"/>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12</a:t>
            </a:fld>
            <a:endParaRPr spc="-25" dirty="0"/>
          </a:p>
        </p:txBody>
      </p:sp>
      <p:pic>
        <p:nvPicPr>
          <p:cNvPr id="7" name="Picture 6">
            <a:extLst>
              <a:ext uri="{FF2B5EF4-FFF2-40B4-BE49-F238E27FC236}">
                <a16:creationId xmlns:a16="http://schemas.microsoft.com/office/drawing/2014/main" id="{F42B6362-3D9D-2053-B71D-723A45E523DC}"/>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16063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16939" y="1440179"/>
            <a:ext cx="10703560" cy="4708525"/>
          </a:xfrm>
          <a:prstGeom prst="rect">
            <a:avLst/>
          </a:prstGeom>
        </p:spPr>
        <p:txBody>
          <a:bodyPr vert="horz" wrap="square" lIns="0" tIns="116205" rIns="0" bIns="0" rtlCol="0">
            <a:spAutoFit/>
          </a:bodyPr>
          <a:lstStyle/>
          <a:p>
            <a:pPr marL="239395" indent="-226695" algn="just">
              <a:lnSpc>
                <a:spcPct val="100000"/>
              </a:lnSpc>
              <a:spcBef>
                <a:spcPts val="915"/>
              </a:spcBef>
              <a:buFont typeface="Arial MT"/>
              <a:buChar char="•"/>
              <a:tabLst>
                <a:tab pos="239395" algn="l"/>
              </a:tabLst>
            </a:pPr>
            <a:r>
              <a:rPr sz="2000" dirty="0">
                <a:latin typeface="Calibri"/>
                <a:cs typeface="Calibri"/>
              </a:rPr>
              <a:t>An</a:t>
            </a:r>
            <a:r>
              <a:rPr sz="2000" spc="-35" dirty="0">
                <a:latin typeface="Calibri"/>
                <a:cs typeface="Calibri"/>
              </a:rPr>
              <a:t> </a:t>
            </a:r>
            <a:r>
              <a:rPr sz="2000" b="1" dirty="0">
                <a:latin typeface="Calibri"/>
                <a:cs typeface="Calibri"/>
              </a:rPr>
              <a:t>activity</a:t>
            </a:r>
            <a:r>
              <a:rPr sz="2000" b="1" spc="-30" dirty="0">
                <a:latin typeface="Calibri"/>
                <a:cs typeface="Calibri"/>
              </a:rPr>
              <a:t> </a:t>
            </a:r>
            <a:r>
              <a:rPr sz="2000" dirty="0">
                <a:latin typeface="Calibri"/>
                <a:cs typeface="Calibri"/>
              </a:rPr>
              <a:t>is</a:t>
            </a:r>
            <a:r>
              <a:rPr sz="2000" spc="-25" dirty="0">
                <a:latin typeface="Calibri"/>
                <a:cs typeface="Calibri"/>
              </a:rPr>
              <a:t> </a:t>
            </a:r>
            <a:r>
              <a:rPr sz="2000" spc="-10" dirty="0">
                <a:latin typeface="Calibri"/>
                <a:cs typeface="Calibri"/>
              </a:rPr>
              <a:t>represented</a:t>
            </a:r>
            <a:r>
              <a:rPr sz="2000" spc="-35" dirty="0">
                <a:latin typeface="Calibri"/>
                <a:cs typeface="Calibri"/>
              </a:rPr>
              <a:t> </a:t>
            </a:r>
            <a:r>
              <a:rPr sz="2000" dirty="0">
                <a:latin typeface="Calibri"/>
                <a:cs typeface="Calibri"/>
              </a:rPr>
              <a:t>by</a:t>
            </a:r>
            <a:r>
              <a:rPr sz="2000" spc="-35" dirty="0">
                <a:latin typeface="Calibri"/>
                <a:cs typeface="Calibri"/>
              </a:rPr>
              <a:t> </a:t>
            </a:r>
            <a:r>
              <a:rPr sz="2000" dirty="0">
                <a:latin typeface="Calibri"/>
                <a:cs typeface="Calibri"/>
              </a:rPr>
              <a:t>a</a:t>
            </a:r>
            <a:r>
              <a:rPr sz="2000" spc="-30" dirty="0">
                <a:latin typeface="Calibri"/>
                <a:cs typeface="Calibri"/>
              </a:rPr>
              <a:t> </a:t>
            </a:r>
            <a:r>
              <a:rPr sz="2000" i="1" dirty="0">
                <a:latin typeface="Calibri"/>
                <a:cs typeface="Calibri"/>
              </a:rPr>
              <a:t>node</a:t>
            </a:r>
            <a:r>
              <a:rPr sz="2000" i="1" spc="-40" dirty="0">
                <a:latin typeface="Calibri"/>
                <a:cs typeface="Calibri"/>
              </a:rPr>
              <a:t> </a:t>
            </a:r>
            <a:r>
              <a:rPr sz="2000" spc="-10" dirty="0">
                <a:latin typeface="Calibri"/>
                <a:cs typeface="Calibri"/>
              </a:rPr>
              <a:t>(box).</a:t>
            </a:r>
            <a:endParaRPr sz="2000">
              <a:latin typeface="Calibri"/>
              <a:cs typeface="Calibri"/>
            </a:endParaRPr>
          </a:p>
          <a:p>
            <a:pPr marL="239395" marR="5715" indent="-226695" algn="just">
              <a:lnSpc>
                <a:spcPct val="90000"/>
              </a:lnSpc>
              <a:spcBef>
                <a:spcPts val="1055"/>
              </a:spcBef>
              <a:buFont typeface="Arial MT"/>
              <a:buChar char="•"/>
              <a:tabLst>
                <a:tab pos="241300" algn="l"/>
              </a:tabLst>
            </a:pPr>
            <a:r>
              <a:rPr sz="2000" dirty="0">
                <a:latin typeface="Calibri"/>
                <a:cs typeface="Calibri"/>
              </a:rPr>
              <a:t>The</a:t>
            </a:r>
            <a:r>
              <a:rPr sz="2000" spc="60" dirty="0">
                <a:latin typeface="Calibri"/>
                <a:cs typeface="Calibri"/>
              </a:rPr>
              <a:t> </a:t>
            </a:r>
            <a:r>
              <a:rPr sz="2000" dirty="0">
                <a:latin typeface="Calibri"/>
                <a:cs typeface="Calibri"/>
              </a:rPr>
              <a:t>dependencies</a:t>
            </a:r>
            <a:r>
              <a:rPr sz="2000" spc="60" dirty="0">
                <a:latin typeface="Calibri"/>
                <a:cs typeface="Calibri"/>
              </a:rPr>
              <a:t> </a:t>
            </a:r>
            <a:r>
              <a:rPr sz="2000" dirty="0">
                <a:latin typeface="Calibri"/>
                <a:cs typeface="Calibri"/>
              </a:rPr>
              <a:t>among</a:t>
            </a:r>
            <a:r>
              <a:rPr sz="2000" spc="60" dirty="0">
                <a:latin typeface="Calibri"/>
                <a:cs typeface="Calibri"/>
              </a:rPr>
              <a:t> </a:t>
            </a:r>
            <a:r>
              <a:rPr sz="2000" dirty="0">
                <a:latin typeface="Calibri"/>
                <a:cs typeface="Calibri"/>
              </a:rPr>
              <a:t>activities</a:t>
            </a:r>
            <a:r>
              <a:rPr sz="2000" spc="65" dirty="0">
                <a:latin typeface="Calibri"/>
                <a:cs typeface="Calibri"/>
              </a:rPr>
              <a:t> </a:t>
            </a:r>
            <a:r>
              <a:rPr sz="2000" dirty="0">
                <a:latin typeface="Calibri"/>
                <a:cs typeface="Calibri"/>
              </a:rPr>
              <a:t>are</a:t>
            </a:r>
            <a:r>
              <a:rPr sz="2000" spc="65" dirty="0">
                <a:latin typeface="Calibri"/>
                <a:cs typeface="Calibri"/>
              </a:rPr>
              <a:t> </a:t>
            </a:r>
            <a:r>
              <a:rPr sz="2000" dirty="0">
                <a:latin typeface="Calibri"/>
                <a:cs typeface="Calibri"/>
              </a:rPr>
              <a:t>illustrated</a:t>
            </a:r>
            <a:r>
              <a:rPr sz="2000" spc="60" dirty="0">
                <a:latin typeface="Calibri"/>
                <a:cs typeface="Calibri"/>
              </a:rPr>
              <a:t> </a:t>
            </a:r>
            <a:r>
              <a:rPr sz="2000" dirty="0">
                <a:latin typeface="Calibri"/>
                <a:cs typeface="Calibri"/>
              </a:rPr>
              <a:t>by</a:t>
            </a:r>
            <a:r>
              <a:rPr sz="2000" spc="55" dirty="0">
                <a:latin typeface="Calibri"/>
                <a:cs typeface="Calibri"/>
              </a:rPr>
              <a:t> </a:t>
            </a:r>
            <a:r>
              <a:rPr sz="2000" b="1" i="1" dirty="0">
                <a:latin typeface="Calibri"/>
                <a:cs typeface="Calibri"/>
              </a:rPr>
              <a:t>arrows</a:t>
            </a:r>
            <a:r>
              <a:rPr sz="2000" b="1" i="1" spc="60" dirty="0">
                <a:latin typeface="Calibri"/>
                <a:cs typeface="Calibri"/>
              </a:rPr>
              <a:t> </a:t>
            </a:r>
            <a:r>
              <a:rPr sz="2000" dirty="0">
                <a:latin typeface="Calibri"/>
                <a:cs typeface="Calibri"/>
              </a:rPr>
              <a:t>between</a:t>
            </a:r>
            <a:r>
              <a:rPr sz="2000" spc="60" dirty="0">
                <a:latin typeface="Calibri"/>
                <a:cs typeface="Calibri"/>
              </a:rPr>
              <a:t> </a:t>
            </a:r>
            <a:r>
              <a:rPr sz="2000" dirty="0">
                <a:latin typeface="Calibri"/>
                <a:cs typeface="Calibri"/>
              </a:rPr>
              <a:t>the</a:t>
            </a:r>
            <a:r>
              <a:rPr sz="2000" spc="65" dirty="0">
                <a:latin typeface="Calibri"/>
                <a:cs typeface="Calibri"/>
              </a:rPr>
              <a:t> </a:t>
            </a:r>
            <a:r>
              <a:rPr sz="2000" dirty="0">
                <a:latin typeface="Calibri"/>
                <a:cs typeface="Calibri"/>
              </a:rPr>
              <a:t>rectangles</a:t>
            </a:r>
            <a:r>
              <a:rPr sz="2000" spc="65" dirty="0">
                <a:latin typeface="Calibri"/>
                <a:cs typeface="Calibri"/>
              </a:rPr>
              <a:t> </a:t>
            </a:r>
            <a:r>
              <a:rPr sz="2000" dirty="0">
                <a:latin typeface="Calibri"/>
                <a:cs typeface="Calibri"/>
              </a:rPr>
              <a:t>(boxes)</a:t>
            </a:r>
            <a:r>
              <a:rPr sz="2000" spc="70" dirty="0">
                <a:latin typeface="Calibri"/>
                <a:cs typeface="Calibri"/>
              </a:rPr>
              <a:t> </a:t>
            </a:r>
            <a:r>
              <a:rPr sz="2000" dirty="0">
                <a:latin typeface="Calibri"/>
                <a:cs typeface="Calibri"/>
              </a:rPr>
              <a:t>on</a:t>
            </a:r>
            <a:r>
              <a:rPr sz="2000" spc="60" dirty="0">
                <a:latin typeface="Calibri"/>
                <a:cs typeface="Calibri"/>
              </a:rPr>
              <a:t> </a:t>
            </a:r>
            <a:r>
              <a:rPr sz="2000" spc="-25" dirty="0">
                <a:latin typeface="Calibri"/>
                <a:cs typeface="Calibri"/>
              </a:rPr>
              <a:t>the 	</a:t>
            </a:r>
            <a:r>
              <a:rPr sz="2000" dirty="0">
                <a:latin typeface="Calibri"/>
                <a:cs typeface="Calibri"/>
              </a:rPr>
              <a:t>AON</a:t>
            </a:r>
            <a:r>
              <a:rPr sz="2000" spc="114" dirty="0">
                <a:latin typeface="Calibri"/>
                <a:cs typeface="Calibri"/>
              </a:rPr>
              <a:t> </a:t>
            </a:r>
            <a:r>
              <a:rPr sz="2000" dirty="0">
                <a:latin typeface="Calibri"/>
                <a:cs typeface="Calibri"/>
              </a:rPr>
              <a:t>network.</a:t>
            </a:r>
            <a:r>
              <a:rPr sz="2000" spc="114" dirty="0">
                <a:latin typeface="Calibri"/>
                <a:cs typeface="Calibri"/>
              </a:rPr>
              <a:t> </a:t>
            </a:r>
            <a:r>
              <a:rPr sz="2000" dirty="0">
                <a:latin typeface="Calibri"/>
                <a:cs typeface="Calibri"/>
              </a:rPr>
              <a:t>The</a:t>
            </a:r>
            <a:r>
              <a:rPr sz="2000" spc="120" dirty="0">
                <a:latin typeface="Calibri"/>
                <a:cs typeface="Calibri"/>
              </a:rPr>
              <a:t> </a:t>
            </a:r>
            <a:r>
              <a:rPr sz="2000" dirty="0">
                <a:latin typeface="Calibri"/>
                <a:cs typeface="Calibri"/>
              </a:rPr>
              <a:t>arrows</a:t>
            </a:r>
            <a:r>
              <a:rPr sz="2000" spc="125" dirty="0">
                <a:latin typeface="Calibri"/>
                <a:cs typeface="Calibri"/>
              </a:rPr>
              <a:t> </a:t>
            </a:r>
            <a:r>
              <a:rPr sz="2000" dirty="0">
                <a:latin typeface="Calibri"/>
                <a:cs typeface="Calibri"/>
              </a:rPr>
              <a:t>indicate</a:t>
            </a:r>
            <a:r>
              <a:rPr sz="2000" spc="125" dirty="0">
                <a:latin typeface="Calibri"/>
                <a:cs typeface="Calibri"/>
              </a:rPr>
              <a:t> </a:t>
            </a:r>
            <a:r>
              <a:rPr sz="2000" dirty="0">
                <a:latin typeface="Calibri"/>
                <a:cs typeface="Calibri"/>
              </a:rPr>
              <a:t>how</a:t>
            </a:r>
            <a:r>
              <a:rPr sz="2000" spc="120" dirty="0">
                <a:latin typeface="Calibri"/>
                <a:cs typeface="Calibri"/>
              </a:rPr>
              <a:t> </a:t>
            </a:r>
            <a:r>
              <a:rPr sz="2000" dirty="0">
                <a:latin typeface="Calibri"/>
                <a:cs typeface="Calibri"/>
              </a:rPr>
              <a:t>the</a:t>
            </a:r>
            <a:r>
              <a:rPr sz="2000" spc="120" dirty="0">
                <a:latin typeface="Calibri"/>
                <a:cs typeface="Calibri"/>
              </a:rPr>
              <a:t> </a:t>
            </a:r>
            <a:r>
              <a:rPr sz="2000" dirty="0">
                <a:latin typeface="Calibri"/>
                <a:cs typeface="Calibri"/>
              </a:rPr>
              <a:t>activities</a:t>
            </a:r>
            <a:r>
              <a:rPr sz="2000" spc="120" dirty="0">
                <a:latin typeface="Calibri"/>
                <a:cs typeface="Calibri"/>
              </a:rPr>
              <a:t> </a:t>
            </a:r>
            <a:r>
              <a:rPr sz="2000" dirty="0">
                <a:latin typeface="Calibri"/>
                <a:cs typeface="Calibri"/>
              </a:rPr>
              <a:t>are</a:t>
            </a:r>
            <a:r>
              <a:rPr sz="2000" spc="125" dirty="0">
                <a:latin typeface="Calibri"/>
                <a:cs typeface="Calibri"/>
              </a:rPr>
              <a:t> </a:t>
            </a:r>
            <a:r>
              <a:rPr sz="2000" dirty="0">
                <a:latin typeface="Calibri"/>
                <a:cs typeface="Calibri"/>
              </a:rPr>
              <a:t>related</a:t>
            </a:r>
            <a:r>
              <a:rPr sz="2000" spc="120" dirty="0">
                <a:latin typeface="Calibri"/>
                <a:cs typeface="Calibri"/>
              </a:rPr>
              <a:t> </a:t>
            </a:r>
            <a:r>
              <a:rPr sz="2000" dirty="0">
                <a:latin typeface="Calibri"/>
                <a:cs typeface="Calibri"/>
              </a:rPr>
              <a:t>and</a:t>
            </a:r>
            <a:r>
              <a:rPr sz="2000" spc="120" dirty="0">
                <a:latin typeface="Calibri"/>
                <a:cs typeface="Calibri"/>
              </a:rPr>
              <a:t> </a:t>
            </a:r>
            <a:r>
              <a:rPr sz="2000" dirty="0">
                <a:latin typeface="Calibri"/>
                <a:cs typeface="Calibri"/>
              </a:rPr>
              <a:t>the</a:t>
            </a:r>
            <a:r>
              <a:rPr sz="2000" spc="120" dirty="0">
                <a:latin typeface="Calibri"/>
                <a:cs typeface="Calibri"/>
              </a:rPr>
              <a:t> </a:t>
            </a:r>
            <a:r>
              <a:rPr sz="2000" dirty="0">
                <a:latin typeface="Calibri"/>
                <a:cs typeface="Calibri"/>
              </a:rPr>
              <a:t>sequence</a:t>
            </a:r>
            <a:r>
              <a:rPr sz="2000" spc="125" dirty="0">
                <a:latin typeface="Calibri"/>
                <a:cs typeface="Calibri"/>
              </a:rPr>
              <a:t> </a:t>
            </a:r>
            <a:r>
              <a:rPr sz="2000" dirty="0">
                <a:latin typeface="Calibri"/>
                <a:cs typeface="Calibri"/>
              </a:rPr>
              <a:t>in</a:t>
            </a:r>
            <a:r>
              <a:rPr sz="2000" spc="114" dirty="0">
                <a:latin typeface="Calibri"/>
                <a:cs typeface="Calibri"/>
              </a:rPr>
              <a:t> </a:t>
            </a:r>
            <a:r>
              <a:rPr sz="2000" dirty="0">
                <a:latin typeface="Calibri"/>
                <a:cs typeface="Calibri"/>
              </a:rPr>
              <a:t>which</a:t>
            </a:r>
            <a:r>
              <a:rPr sz="2000" spc="120" dirty="0">
                <a:latin typeface="Calibri"/>
                <a:cs typeface="Calibri"/>
              </a:rPr>
              <a:t> </a:t>
            </a:r>
            <a:r>
              <a:rPr sz="2000" spc="-10" dirty="0">
                <a:latin typeface="Calibri"/>
                <a:cs typeface="Calibri"/>
              </a:rPr>
              <a:t>things 	</a:t>
            </a:r>
            <a:r>
              <a:rPr sz="2000" dirty="0">
                <a:latin typeface="Calibri"/>
                <a:cs typeface="Calibri"/>
              </a:rPr>
              <a:t>must</a:t>
            </a:r>
            <a:r>
              <a:rPr sz="2000" spc="140" dirty="0">
                <a:latin typeface="Calibri"/>
                <a:cs typeface="Calibri"/>
              </a:rPr>
              <a:t> </a:t>
            </a:r>
            <a:r>
              <a:rPr sz="2000" dirty="0">
                <a:latin typeface="Calibri"/>
                <a:cs typeface="Calibri"/>
              </a:rPr>
              <a:t>be</a:t>
            </a:r>
            <a:r>
              <a:rPr sz="2000" spc="140" dirty="0">
                <a:latin typeface="Calibri"/>
                <a:cs typeface="Calibri"/>
              </a:rPr>
              <a:t> </a:t>
            </a:r>
            <a:r>
              <a:rPr sz="2000" dirty="0">
                <a:latin typeface="Calibri"/>
                <a:cs typeface="Calibri"/>
              </a:rPr>
              <a:t>accomplished.</a:t>
            </a:r>
            <a:r>
              <a:rPr sz="2000" spc="135" dirty="0">
                <a:latin typeface="Calibri"/>
                <a:cs typeface="Calibri"/>
              </a:rPr>
              <a:t> </a:t>
            </a:r>
            <a:r>
              <a:rPr sz="2000" dirty="0">
                <a:latin typeface="Calibri"/>
                <a:cs typeface="Calibri"/>
              </a:rPr>
              <a:t>The</a:t>
            </a:r>
            <a:r>
              <a:rPr sz="2000" spc="140" dirty="0">
                <a:latin typeface="Calibri"/>
                <a:cs typeface="Calibri"/>
              </a:rPr>
              <a:t> </a:t>
            </a:r>
            <a:r>
              <a:rPr sz="2000" dirty="0">
                <a:latin typeface="Calibri"/>
                <a:cs typeface="Calibri"/>
              </a:rPr>
              <a:t>length</a:t>
            </a:r>
            <a:r>
              <a:rPr sz="2000" spc="130" dirty="0">
                <a:latin typeface="Calibri"/>
                <a:cs typeface="Calibri"/>
              </a:rPr>
              <a:t> </a:t>
            </a:r>
            <a:r>
              <a:rPr sz="2000" dirty="0">
                <a:latin typeface="Calibri"/>
                <a:cs typeface="Calibri"/>
              </a:rPr>
              <a:t>and</a:t>
            </a:r>
            <a:r>
              <a:rPr sz="2000" spc="140" dirty="0">
                <a:latin typeface="Calibri"/>
                <a:cs typeface="Calibri"/>
              </a:rPr>
              <a:t> </a:t>
            </a:r>
            <a:r>
              <a:rPr sz="2000" dirty="0">
                <a:latin typeface="Calibri"/>
                <a:cs typeface="Calibri"/>
              </a:rPr>
              <a:t>slope</a:t>
            </a:r>
            <a:r>
              <a:rPr sz="2000" spc="145" dirty="0">
                <a:latin typeface="Calibri"/>
                <a:cs typeface="Calibri"/>
              </a:rPr>
              <a:t> </a:t>
            </a:r>
            <a:r>
              <a:rPr sz="2000" dirty="0">
                <a:latin typeface="Calibri"/>
                <a:cs typeface="Calibri"/>
              </a:rPr>
              <a:t>of</a:t>
            </a:r>
            <a:r>
              <a:rPr sz="2000" spc="140" dirty="0">
                <a:latin typeface="Calibri"/>
                <a:cs typeface="Calibri"/>
              </a:rPr>
              <a:t> </a:t>
            </a:r>
            <a:r>
              <a:rPr sz="2000" dirty="0">
                <a:latin typeface="Calibri"/>
                <a:cs typeface="Calibri"/>
              </a:rPr>
              <a:t>the</a:t>
            </a:r>
            <a:r>
              <a:rPr sz="2000" spc="140" dirty="0">
                <a:latin typeface="Calibri"/>
                <a:cs typeface="Calibri"/>
              </a:rPr>
              <a:t> </a:t>
            </a:r>
            <a:r>
              <a:rPr sz="2000" dirty="0">
                <a:latin typeface="Calibri"/>
                <a:cs typeface="Calibri"/>
              </a:rPr>
              <a:t>arrow</a:t>
            </a:r>
            <a:r>
              <a:rPr sz="2000" spc="135" dirty="0">
                <a:latin typeface="Calibri"/>
                <a:cs typeface="Calibri"/>
              </a:rPr>
              <a:t> </a:t>
            </a:r>
            <a:r>
              <a:rPr sz="2000" dirty="0">
                <a:latin typeface="Calibri"/>
                <a:cs typeface="Calibri"/>
              </a:rPr>
              <a:t>are</a:t>
            </a:r>
            <a:r>
              <a:rPr sz="2000" spc="145" dirty="0">
                <a:latin typeface="Calibri"/>
                <a:cs typeface="Calibri"/>
              </a:rPr>
              <a:t> </a:t>
            </a:r>
            <a:r>
              <a:rPr sz="2000" dirty="0">
                <a:latin typeface="Calibri"/>
                <a:cs typeface="Calibri"/>
              </a:rPr>
              <a:t>arbitrary</a:t>
            </a:r>
            <a:r>
              <a:rPr sz="2000" spc="135" dirty="0">
                <a:latin typeface="Calibri"/>
                <a:cs typeface="Calibri"/>
              </a:rPr>
              <a:t> </a:t>
            </a:r>
            <a:r>
              <a:rPr sz="2000" dirty="0">
                <a:latin typeface="Calibri"/>
                <a:cs typeface="Calibri"/>
              </a:rPr>
              <a:t>and</a:t>
            </a:r>
            <a:r>
              <a:rPr sz="2000" spc="135" dirty="0">
                <a:latin typeface="Calibri"/>
                <a:cs typeface="Calibri"/>
              </a:rPr>
              <a:t> </a:t>
            </a:r>
            <a:r>
              <a:rPr sz="2000" dirty="0">
                <a:latin typeface="Calibri"/>
                <a:cs typeface="Calibri"/>
              </a:rPr>
              <a:t>set</a:t>
            </a:r>
            <a:r>
              <a:rPr sz="2000" spc="145" dirty="0">
                <a:latin typeface="Calibri"/>
                <a:cs typeface="Calibri"/>
              </a:rPr>
              <a:t> </a:t>
            </a:r>
            <a:r>
              <a:rPr sz="2000" dirty="0">
                <a:latin typeface="Calibri"/>
                <a:cs typeface="Calibri"/>
              </a:rPr>
              <a:t>for</a:t>
            </a:r>
            <a:r>
              <a:rPr sz="2000" spc="140" dirty="0">
                <a:latin typeface="Calibri"/>
                <a:cs typeface="Calibri"/>
              </a:rPr>
              <a:t> </a:t>
            </a:r>
            <a:r>
              <a:rPr sz="2000" dirty="0">
                <a:latin typeface="Calibri"/>
                <a:cs typeface="Calibri"/>
              </a:rPr>
              <a:t>convenience</a:t>
            </a:r>
            <a:r>
              <a:rPr sz="2000" spc="140" dirty="0">
                <a:latin typeface="Calibri"/>
                <a:cs typeface="Calibri"/>
              </a:rPr>
              <a:t> </a:t>
            </a:r>
            <a:r>
              <a:rPr sz="2000" spc="-25" dirty="0">
                <a:latin typeface="Calibri"/>
                <a:cs typeface="Calibri"/>
              </a:rPr>
              <a:t>of 	</a:t>
            </a:r>
            <a:r>
              <a:rPr sz="2000" dirty="0">
                <a:latin typeface="Calibri"/>
                <a:cs typeface="Calibri"/>
              </a:rPr>
              <a:t>drawing</a:t>
            </a:r>
            <a:r>
              <a:rPr sz="2000" spc="-65" dirty="0">
                <a:latin typeface="Calibri"/>
                <a:cs typeface="Calibri"/>
              </a:rPr>
              <a:t> </a:t>
            </a:r>
            <a:r>
              <a:rPr sz="2000" dirty="0">
                <a:latin typeface="Calibri"/>
                <a:cs typeface="Calibri"/>
              </a:rPr>
              <a:t>the</a:t>
            </a:r>
            <a:r>
              <a:rPr sz="2000" spc="-55" dirty="0">
                <a:latin typeface="Calibri"/>
                <a:cs typeface="Calibri"/>
              </a:rPr>
              <a:t> </a:t>
            </a:r>
            <a:r>
              <a:rPr sz="2000" spc="-10" dirty="0">
                <a:latin typeface="Calibri"/>
                <a:cs typeface="Calibri"/>
              </a:rPr>
              <a:t>network.</a:t>
            </a:r>
            <a:endParaRPr sz="2000">
              <a:latin typeface="Calibri"/>
              <a:cs typeface="Calibri"/>
            </a:endParaRPr>
          </a:p>
          <a:p>
            <a:pPr marL="239395" marR="5715" indent="-226695" algn="just">
              <a:lnSpc>
                <a:spcPct val="91500"/>
              </a:lnSpc>
              <a:spcBef>
                <a:spcPts val="925"/>
              </a:spcBef>
              <a:buFont typeface="Arial MT"/>
              <a:buChar char="•"/>
              <a:tabLst>
                <a:tab pos="241300" algn="l"/>
              </a:tabLst>
            </a:pPr>
            <a:r>
              <a:rPr sz="2000" dirty="0">
                <a:latin typeface="Calibri"/>
                <a:cs typeface="Calibri"/>
              </a:rPr>
              <a:t>The</a:t>
            </a:r>
            <a:r>
              <a:rPr sz="2000" spc="240" dirty="0">
                <a:latin typeface="Calibri"/>
                <a:cs typeface="Calibri"/>
              </a:rPr>
              <a:t> </a:t>
            </a:r>
            <a:r>
              <a:rPr sz="2000" dirty="0">
                <a:latin typeface="Calibri"/>
                <a:cs typeface="Calibri"/>
              </a:rPr>
              <a:t>letters</a:t>
            </a:r>
            <a:r>
              <a:rPr sz="2000" spc="245" dirty="0">
                <a:latin typeface="Calibri"/>
                <a:cs typeface="Calibri"/>
              </a:rPr>
              <a:t> </a:t>
            </a:r>
            <a:r>
              <a:rPr sz="2000" dirty="0">
                <a:latin typeface="Calibri"/>
                <a:cs typeface="Calibri"/>
              </a:rPr>
              <a:t>in</a:t>
            </a:r>
            <a:r>
              <a:rPr sz="2000" spc="245" dirty="0">
                <a:latin typeface="Calibri"/>
                <a:cs typeface="Calibri"/>
              </a:rPr>
              <a:t> </a:t>
            </a:r>
            <a:r>
              <a:rPr sz="2000" dirty="0">
                <a:latin typeface="Calibri"/>
                <a:cs typeface="Calibri"/>
              </a:rPr>
              <a:t>the</a:t>
            </a:r>
            <a:r>
              <a:rPr sz="2000" spc="240" dirty="0">
                <a:latin typeface="Calibri"/>
                <a:cs typeface="Calibri"/>
              </a:rPr>
              <a:t> </a:t>
            </a:r>
            <a:r>
              <a:rPr sz="2000" dirty="0">
                <a:latin typeface="Calibri"/>
                <a:cs typeface="Calibri"/>
              </a:rPr>
              <a:t>boxes</a:t>
            </a:r>
            <a:r>
              <a:rPr sz="2000" spc="245" dirty="0">
                <a:latin typeface="Calibri"/>
                <a:cs typeface="Calibri"/>
              </a:rPr>
              <a:t> </a:t>
            </a:r>
            <a:r>
              <a:rPr sz="2000" dirty="0">
                <a:latin typeface="Calibri"/>
                <a:cs typeface="Calibri"/>
              </a:rPr>
              <a:t>serve</a:t>
            </a:r>
            <a:r>
              <a:rPr sz="2000" spc="245" dirty="0">
                <a:latin typeface="Calibri"/>
                <a:cs typeface="Calibri"/>
              </a:rPr>
              <a:t> </a:t>
            </a:r>
            <a:r>
              <a:rPr sz="2000" dirty="0">
                <a:latin typeface="Calibri"/>
                <a:cs typeface="Calibri"/>
              </a:rPr>
              <a:t>here</a:t>
            </a:r>
            <a:r>
              <a:rPr sz="2000" spc="245" dirty="0">
                <a:latin typeface="Calibri"/>
                <a:cs typeface="Calibri"/>
              </a:rPr>
              <a:t> </a:t>
            </a:r>
            <a:r>
              <a:rPr sz="2000" dirty="0">
                <a:latin typeface="Calibri"/>
                <a:cs typeface="Calibri"/>
              </a:rPr>
              <a:t>to</a:t>
            </a:r>
            <a:r>
              <a:rPr sz="2000" spc="235" dirty="0">
                <a:latin typeface="Calibri"/>
                <a:cs typeface="Calibri"/>
              </a:rPr>
              <a:t> </a:t>
            </a:r>
            <a:r>
              <a:rPr sz="2000" dirty="0">
                <a:latin typeface="Calibri"/>
                <a:cs typeface="Calibri"/>
              </a:rPr>
              <a:t>identify</a:t>
            </a:r>
            <a:r>
              <a:rPr sz="2000" spc="235" dirty="0">
                <a:latin typeface="Calibri"/>
                <a:cs typeface="Calibri"/>
              </a:rPr>
              <a:t> </a:t>
            </a:r>
            <a:r>
              <a:rPr sz="2000" dirty="0">
                <a:latin typeface="Calibri"/>
                <a:cs typeface="Calibri"/>
              </a:rPr>
              <a:t>the</a:t>
            </a:r>
            <a:r>
              <a:rPr sz="2000" spc="240" dirty="0">
                <a:latin typeface="Calibri"/>
                <a:cs typeface="Calibri"/>
              </a:rPr>
              <a:t> </a:t>
            </a:r>
            <a:r>
              <a:rPr sz="2000" dirty="0">
                <a:latin typeface="Calibri"/>
                <a:cs typeface="Calibri"/>
              </a:rPr>
              <a:t>activities</a:t>
            </a:r>
            <a:r>
              <a:rPr sz="2000" spc="245" dirty="0">
                <a:latin typeface="Calibri"/>
                <a:cs typeface="Calibri"/>
              </a:rPr>
              <a:t> </a:t>
            </a:r>
            <a:r>
              <a:rPr sz="2000" dirty="0">
                <a:latin typeface="Calibri"/>
                <a:cs typeface="Calibri"/>
              </a:rPr>
              <a:t>while</a:t>
            </a:r>
            <a:r>
              <a:rPr sz="2000" spc="245" dirty="0">
                <a:latin typeface="Calibri"/>
                <a:cs typeface="Calibri"/>
              </a:rPr>
              <a:t> </a:t>
            </a:r>
            <a:r>
              <a:rPr sz="2000" dirty="0">
                <a:latin typeface="Calibri"/>
                <a:cs typeface="Calibri"/>
              </a:rPr>
              <a:t>you</a:t>
            </a:r>
            <a:r>
              <a:rPr sz="2000" spc="240" dirty="0">
                <a:latin typeface="Calibri"/>
                <a:cs typeface="Calibri"/>
              </a:rPr>
              <a:t> </a:t>
            </a:r>
            <a:r>
              <a:rPr sz="2000" dirty="0">
                <a:latin typeface="Calibri"/>
                <a:cs typeface="Calibri"/>
              </a:rPr>
              <a:t>learn</a:t>
            </a:r>
            <a:r>
              <a:rPr sz="2000" spc="240" dirty="0">
                <a:latin typeface="Calibri"/>
                <a:cs typeface="Calibri"/>
              </a:rPr>
              <a:t> </a:t>
            </a:r>
            <a:r>
              <a:rPr sz="2000" dirty="0">
                <a:latin typeface="Calibri"/>
                <a:cs typeface="Calibri"/>
              </a:rPr>
              <a:t>the</a:t>
            </a:r>
            <a:r>
              <a:rPr sz="2000" spc="240" dirty="0">
                <a:latin typeface="Calibri"/>
                <a:cs typeface="Calibri"/>
              </a:rPr>
              <a:t> </a:t>
            </a:r>
            <a:r>
              <a:rPr sz="2000" dirty="0">
                <a:latin typeface="Calibri"/>
                <a:cs typeface="Calibri"/>
              </a:rPr>
              <a:t>fundamentals</a:t>
            </a:r>
            <a:r>
              <a:rPr sz="2000" spc="240" dirty="0">
                <a:latin typeface="Calibri"/>
                <a:cs typeface="Calibri"/>
              </a:rPr>
              <a:t> </a:t>
            </a:r>
            <a:r>
              <a:rPr sz="2000" spc="-25" dirty="0">
                <a:latin typeface="Calibri"/>
                <a:cs typeface="Calibri"/>
              </a:rPr>
              <a:t>of 	</a:t>
            </a:r>
            <a:r>
              <a:rPr sz="2000" dirty="0">
                <a:latin typeface="Calibri"/>
                <a:cs typeface="Calibri"/>
              </a:rPr>
              <a:t>network</a:t>
            </a:r>
            <a:r>
              <a:rPr sz="2000" spc="190" dirty="0">
                <a:latin typeface="Calibri"/>
                <a:cs typeface="Calibri"/>
              </a:rPr>
              <a:t>  </a:t>
            </a:r>
            <a:r>
              <a:rPr sz="2000" dirty="0">
                <a:latin typeface="Calibri"/>
                <a:cs typeface="Calibri"/>
              </a:rPr>
              <a:t>construction</a:t>
            </a:r>
            <a:r>
              <a:rPr sz="2000" spc="190" dirty="0">
                <a:latin typeface="Calibri"/>
                <a:cs typeface="Calibri"/>
              </a:rPr>
              <a:t>  </a:t>
            </a:r>
            <a:r>
              <a:rPr sz="2000" dirty="0">
                <a:latin typeface="Calibri"/>
                <a:cs typeface="Calibri"/>
              </a:rPr>
              <a:t>and</a:t>
            </a:r>
            <a:r>
              <a:rPr sz="2000" spc="185" dirty="0">
                <a:latin typeface="Calibri"/>
                <a:cs typeface="Calibri"/>
              </a:rPr>
              <a:t>  </a:t>
            </a:r>
            <a:r>
              <a:rPr sz="2000" dirty="0">
                <a:latin typeface="Calibri"/>
                <a:cs typeface="Calibri"/>
              </a:rPr>
              <a:t>analysis.</a:t>
            </a:r>
            <a:r>
              <a:rPr sz="2000" spc="190" dirty="0">
                <a:latin typeface="Calibri"/>
                <a:cs typeface="Calibri"/>
              </a:rPr>
              <a:t>  </a:t>
            </a:r>
            <a:r>
              <a:rPr sz="2000" b="1" u="sng" dirty="0">
                <a:solidFill>
                  <a:srgbClr val="C00000"/>
                </a:solidFill>
                <a:uFill>
                  <a:solidFill>
                    <a:srgbClr val="C00000"/>
                  </a:solidFill>
                </a:uFill>
                <a:latin typeface="Calibri"/>
                <a:cs typeface="Calibri"/>
              </a:rPr>
              <a:t>In</a:t>
            </a:r>
            <a:r>
              <a:rPr sz="2000" b="1" u="sng" spc="190" dirty="0">
                <a:solidFill>
                  <a:srgbClr val="C00000"/>
                </a:solidFill>
                <a:uFill>
                  <a:solidFill>
                    <a:srgbClr val="C00000"/>
                  </a:solidFill>
                </a:uFill>
                <a:latin typeface="Calibri"/>
                <a:cs typeface="Calibri"/>
              </a:rPr>
              <a:t>  </a:t>
            </a:r>
            <a:r>
              <a:rPr sz="2000" b="1" u="sng" dirty="0">
                <a:solidFill>
                  <a:srgbClr val="C00000"/>
                </a:solidFill>
                <a:uFill>
                  <a:solidFill>
                    <a:srgbClr val="C00000"/>
                  </a:solidFill>
                </a:uFill>
                <a:latin typeface="Calibri"/>
                <a:cs typeface="Calibri"/>
              </a:rPr>
              <a:t>practice,</a:t>
            </a:r>
            <a:r>
              <a:rPr sz="2000" b="1" u="sng" spc="190" dirty="0">
                <a:solidFill>
                  <a:srgbClr val="C00000"/>
                </a:solidFill>
                <a:uFill>
                  <a:solidFill>
                    <a:srgbClr val="C00000"/>
                  </a:solidFill>
                </a:uFill>
                <a:latin typeface="Calibri"/>
                <a:cs typeface="Calibri"/>
              </a:rPr>
              <a:t>  </a:t>
            </a:r>
            <a:r>
              <a:rPr sz="2000" b="1" u="sng" dirty="0">
                <a:solidFill>
                  <a:srgbClr val="C00000"/>
                </a:solidFill>
                <a:uFill>
                  <a:solidFill>
                    <a:srgbClr val="C00000"/>
                  </a:solidFill>
                </a:uFill>
                <a:latin typeface="Calibri"/>
                <a:cs typeface="Calibri"/>
              </a:rPr>
              <a:t>activities</a:t>
            </a:r>
            <a:r>
              <a:rPr sz="2000" b="1" u="sng" spc="190" dirty="0">
                <a:solidFill>
                  <a:srgbClr val="C00000"/>
                </a:solidFill>
                <a:uFill>
                  <a:solidFill>
                    <a:srgbClr val="C00000"/>
                  </a:solidFill>
                </a:uFill>
                <a:latin typeface="Calibri"/>
                <a:cs typeface="Calibri"/>
              </a:rPr>
              <a:t>  </a:t>
            </a:r>
            <a:r>
              <a:rPr sz="2000" b="1" u="sng" dirty="0">
                <a:solidFill>
                  <a:srgbClr val="C00000"/>
                </a:solidFill>
                <a:uFill>
                  <a:solidFill>
                    <a:srgbClr val="C00000"/>
                  </a:solidFill>
                </a:uFill>
                <a:latin typeface="Calibri"/>
                <a:cs typeface="Calibri"/>
              </a:rPr>
              <a:t>have</a:t>
            </a:r>
            <a:r>
              <a:rPr sz="2000" b="1" u="sng" spc="190" dirty="0">
                <a:solidFill>
                  <a:srgbClr val="C00000"/>
                </a:solidFill>
                <a:uFill>
                  <a:solidFill>
                    <a:srgbClr val="C00000"/>
                  </a:solidFill>
                </a:uFill>
                <a:latin typeface="Calibri"/>
                <a:cs typeface="Calibri"/>
              </a:rPr>
              <a:t>  </a:t>
            </a:r>
            <a:r>
              <a:rPr sz="2000" b="1" u="sng" dirty="0">
                <a:solidFill>
                  <a:srgbClr val="C00000"/>
                </a:solidFill>
                <a:uFill>
                  <a:solidFill>
                    <a:srgbClr val="C00000"/>
                  </a:solidFill>
                </a:uFill>
                <a:latin typeface="Calibri"/>
                <a:cs typeface="Calibri"/>
              </a:rPr>
              <a:t>identification</a:t>
            </a:r>
            <a:r>
              <a:rPr sz="2000" b="1" u="sng" spc="190" dirty="0">
                <a:solidFill>
                  <a:srgbClr val="C00000"/>
                </a:solidFill>
                <a:uFill>
                  <a:solidFill>
                    <a:srgbClr val="C00000"/>
                  </a:solidFill>
                </a:uFill>
                <a:latin typeface="Calibri"/>
                <a:cs typeface="Calibri"/>
              </a:rPr>
              <a:t>  </a:t>
            </a:r>
            <a:r>
              <a:rPr sz="2000" b="1" u="sng" dirty="0">
                <a:solidFill>
                  <a:srgbClr val="C00000"/>
                </a:solidFill>
                <a:uFill>
                  <a:solidFill>
                    <a:srgbClr val="C00000"/>
                  </a:solidFill>
                </a:uFill>
                <a:latin typeface="Calibri"/>
                <a:cs typeface="Calibri"/>
              </a:rPr>
              <a:t>numbers</a:t>
            </a:r>
            <a:r>
              <a:rPr sz="2000" b="1" u="sng" spc="195" dirty="0">
                <a:solidFill>
                  <a:srgbClr val="C00000"/>
                </a:solidFill>
                <a:uFill>
                  <a:solidFill>
                    <a:srgbClr val="C00000"/>
                  </a:solidFill>
                </a:uFill>
                <a:latin typeface="Calibri"/>
                <a:cs typeface="Calibri"/>
              </a:rPr>
              <a:t>  </a:t>
            </a:r>
            <a:r>
              <a:rPr sz="2000" b="1" u="sng" spc="-25" dirty="0">
                <a:solidFill>
                  <a:srgbClr val="C00000"/>
                </a:solidFill>
                <a:uFill>
                  <a:solidFill>
                    <a:srgbClr val="C00000"/>
                  </a:solidFill>
                </a:uFill>
                <a:latin typeface="Calibri"/>
                <a:cs typeface="Calibri"/>
              </a:rPr>
              <a:t>and</a:t>
            </a:r>
            <a:r>
              <a:rPr sz="2000" b="1" spc="-25" dirty="0">
                <a:solidFill>
                  <a:srgbClr val="C00000"/>
                </a:solidFill>
                <a:latin typeface="Calibri"/>
                <a:cs typeface="Calibri"/>
              </a:rPr>
              <a:t> 	</a:t>
            </a:r>
            <a:r>
              <a:rPr sz="2000" b="1" u="sng" spc="-10" dirty="0">
                <a:solidFill>
                  <a:srgbClr val="C00000"/>
                </a:solidFill>
                <a:uFill>
                  <a:solidFill>
                    <a:srgbClr val="C00000"/>
                  </a:solidFill>
                </a:uFill>
                <a:latin typeface="Calibri"/>
                <a:cs typeface="Calibri"/>
              </a:rPr>
              <a:t>descriptions.</a:t>
            </a:r>
            <a:endParaRPr sz="2000">
              <a:latin typeface="Calibri"/>
              <a:cs typeface="Calibri"/>
            </a:endParaRPr>
          </a:p>
          <a:p>
            <a:pPr marL="239395" marR="5080" indent="-226695" algn="just">
              <a:lnSpc>
                <a:spcPts val="2210"/>
              </a:lnSpc>
              <a:spcBef>
                <a:spcPts val="930"/>
              </a:spcBef>
              <a:buFont typeface="Arial MT"/>
              <a:buChar char="•"/>
              <a:tabLst>
                <a:tab pos="241300" algn="l"/>
              </a:tabLst>
            </a:pPr>
            <a:r>
              <a:rPr sz="2000" dirty="0">
                <a:latin typeface="Calibri"/>
                <a:cs typeface="Calibri"/>
              </a:rPr>
              <a:t>There</a:t>
            </a:r>
            <a:r>
              <a:rPr sz="2000" spc="-30" dirty="0">
                <a:latin typeface="Calibri"/>
                <a:cs typeface="Calibri"/>
              </a:rPr>
              <a:t> </a:t>
            </a:r>
            <a:r>
              <a:rPr sz="2000" dirty="0">
                <a:latin typeface="Calibri"/>
                <a:cs typeface="Calibri"/>
              </a:rPr>
              <a:t>are</a:t>
            </a:r>
            <a:r>
              <a:rPr sz="2000" spc="-15" dirty="0">
                <a:latin typeface="Calibri"/>
                <a:cs typeface="Calibri"/>
              </a:rPr>
              <a:t> </a:t>
            </a:r>
            <a:r>
              <a:rPr sz="2000" dirty="0">
                <a:latin typeface="Calibri"/>
                <a:cs typeface="Calibri"/>
              </a:rPr>
              <a:t>(3)</a:t>
            </a:r>
            <a:r>
              <a:rPr sz="2000" spc="-15" dirty="0">
                <a:latin typeface="Calibri"/>
                <a:cs typeface="Calibri"/>
              </a:rPr>
              <a:t> </a:t>
            </a:r>
            <a:r>
              <a:rPr sz="2000" dirty="0">
                <a:latin typeface="Calibri"/>
                <a:cs typeface="Calibri"/>
              </a:rPr>
              <a:t>basic</a:t>
            </a:r>
            <a:r>
              <a:rPr sz="2000" spc="-20" dirty="0">
                <a:latin typeface="Calibri"/>
                <a:cs typeface="Calibri"/>
              </a:rPr>
              <a:t> </a:t>
            </a:r>
            <a:r>
              <a:rPr sz="2000" dirty="0">
                <a:latin typeface="Calibri"/>
                <a:cs typeface="Calibri"/>
              </a:rPr>
              <a:t>relationships</a:t>
            </a:r>
            <a:r>
              <a:rPr sz="2000" spc="-15" dirty="0">
                <a:latin typeface="Calibri"/>
                <a:cs typeface="Calibri"/>
              </a:rPr>
              <a:t> </a:t>
            </a:r>
            <a:r>
              <a:rPr sz="2000" dirty="0">
                <a:latin typeface="Calibri"/>
                <a:cs typeface="Calibri"/>
              </a:rPr>
              <a:t>that</a:t>
            </a:r>
            <a:r>
              <a:rPr sz="2000" spc="-15" dirty="0">
                <a:latin typeface="Calibri"/>
                <a:cs typeface="Calibri"/>
              </a:rPr>
              <a:t> </a:t>
            </a:r>
            <a:r>
              <a:rPr sz="2000" dirty="0">
                <a:latin typeface="Calibri"/>
                <a:cs typeface="Calibri"/>
              </a:rPr>
              <a:t>must</a:t>
            </a:r>
            <a:r>
              <a:rPr sz="2000" spc="-20" dirty="0">
                <a:latin typeface="Calibri"/>
                <a:cs typeface="Calibri"/>
              </a:rPr>
              <a:t> </a:t>
            </a:r>
            <a:r>
              <a:rPr sz="2000" dirty="0">
                <a:latin typeface="Calibri"/>
                <a:cs typeface="Calibri"/>
              </a:rPr>
              <a:t>be</a:t>
            </a:r>
            <a:r>
              <a:rPr sz="2000" spc="-15" dirty="0">
                <a:latin typeface="Calibri"/>
                <a:cs typeface="Calibri"/>
              </a:rPr>
              <a:t> </a:t>
            </a:r>
            <a:r>
              <a:rPr sz="2000" dirty="0">
                <a:latin typeface="Calibri"/>
                <a:cs typeface="Calibri"/>
              </a:rPr>
              <a:t>established</a:t>
            </a:r>
            <a:r>
              <a:rPr sz="2000" spc="-20" dirty="0">
                <a:latin typeface="Calibri"/>
                <a:cs typeface="Calibri"/>
              </a:rPr>
              <a:t> </a:t>
            </a:r>
            <a:r>
              <a:rPr sz="2000" dirty="0">
                <a:latin typeface="Calibri"/>
                <a:cs typeface="Calibri"/>
              </a:rPr>
              <a:t>for</a:t>
            </a:r>
            <a:r>
              <a:rPr sz="2000" spc="-15" dirty="0">
                <a:latin typeface="Calibri"/>
                <a:cs typeface="Calibri"/>
              </a:rPr>
              <a:t> </a:t>
            </a:r>
            <a:r>
              <a:rPr sz="2000" dirty="0">
                <a:latin typeface="Calibri"/>
                <a:cs typeface="Calibri"/>
              </a:rPr>
              <a:t>activities</a:t>
            </a:r>
            <a:r>
              <a:rPr sz="2000" spc="-20" dirty="0">
                <a:latin typeface="Calibri"/>
                <a:cs typeface="Calibri"/>
              </a:rPr>
              <a:t> </a:t>
            </a:r>
            <a:r>
              <a:rPr sz="2000" dirty="0">
                <a:latin typeface="Calibri"/>
                <a:cs typeface="Calibri"/>
              </a:rPr>
              <a:t>included</a:t>
            </a:r>
            <a:r>
              <a:rPr sz="2000" spc="-25" dirty="0">
                <a:latin typeface="Calibri"/>
                <a:cs typeface="Calibri"/>
              </a:rPr>
              <a:t> </a:t>
            </a:r>
            <a:r>
              <a:rPr sz="2000" dirty="0">
                <a:latin typeface="Calibri"/>
                <a:cs typeface="Calibri"/>
              </a:rPr>
              <a:t>in</a:t>
            </a:r>
            <a:r>
              <a:rPr sz="2000" spc="-20" dirty="0">
                <a:latin typeface="Calibri"/>
                <a:cs typeface="Calibri"/>
              </a:rPr>
              <a:t> </a:t>
            </a:r>
            <a:r>
              <a:rPr sz="2000" dirty="0">
                <a:latin typeface="Calibri"/>
                <a:cs typeface="Calibri"/>
              </a:rPr>
              <a:t>a</a:t>
            </a:r>
            <a:r>
              <a:rPr sz="2000" spc="-15" dirty="0">
                <a:latin typeface="Calibri"/>
                <a:cs typeface="Calibri"/>
              </a:rPr>
              <a:t> </a:t>
            </a:r>
            <a:r>
              <a:rPr sz="2000" dirty="0">
                <a:latin typeface="Calibri"/>
                <a:cs typeface="Calibri"/>
              </a:rPr>
              <a:t>project</a:t>
            </a:r>
            <a:r>
              <a:rPr sz="2000" spc="-15" dirty="0">
                <a:latin typeface="Calibri"/>
                <a:cs typeface="Calibri"/>
              </a:rPr>
              <a:t> </a:t>
            </a:r>
            <a:r>
              <a:rPr sz="2000" spc="-10" dirty="0">
                <a:latin typeface="Calibri"/>
                <a:cs typeface="Calibri"/>
              </a:rPr>
              <a:t>network. 	</a:t>
            </a:r>
            <a:r>
              <a:rPr sz="2000" dirty="0">
                <a:latin typeface="Calibri"/>
                <a:cs typeface="Calibri"/>
              </a:rPr>
              <a:t>The</a:t>
            </a:r>
            <a:r>
              <a:rPr sz="2000" spc="-45" dirty="0">
                <a:latin typeface="Calibri"/>
                <a:cs typeface="Calibri"/>
              </a:rPr>
              <a:t> </a:t>
            </a:r>
            <a:r>
              <a:rPr sz="2000" spc="-10" dirty="0">
                <a:latin typeface="Calibri"/>
                <a:cs typeface="Calibri"/>
              </a:rPr>
              <a:t>relationships</a:t>
            </a:r>
            <a:r>
              <a:rPr sz="2000" spc="-45" dirty="0">
                <a:latin typeface="Calibri"/>
                <a:cs typeface="Calibri"/>
              </a:rPr>
              <a:t> </a:t>
            </a:r>
            <a:r>
              <a:rPr sz="2000" dirty="0">
                <a:latin typeface="Calibri"/>
                <a:cs typeface="Calibri"/>
              </a:rPr>
              <a:t>can</a:t>
            </a:r>
            <a:r>
              <a:rPr sz="2000" spc="-45" dirty="0">
                <a:latin typeface="Calibri"/>
                <a:cs typeface="Calibri"/>
              </a:rPr>
              <a:t> </a:t>
            </a:r>
            <a:r>
              <a:rPr sz="2000" dirty="0">
                <a:latin typeface="Calibri"/>
                <a:cs typeface="Calibri"/>
              </a:rPr>
              <a:t>be</a:t>
            </a:r>
            <a:r>
              <a:rPr sz="2000" spc="-45" dirty="0">
                <a:latin typeface="Calibri"/>
                <a:cs typeface="Calibri"/>
              </a:rPr>
              <a:t> </a:t>
            </a:r>
            <a:r>
              <a:rPr sz="2000" dirty="0">
                <a:latin typeface="Calibri"/>
                <a:cs typeface="Calibri"/>
              </a:rPr>
              <a:t>found</a:t>
            </a:r>
            <a:r>
              <a:rPr sz="2000" spc="-50" dirty="0">
                <a:latin typeface="Calibri"/>
                <a:cs typeface="Calibri"/>
              </a:rPr>
              <a:t> </a:t>
            </a:r>
            <a:r>
              <a:rPr sz="2000" dirty="0">
                <a:latin typeface="Calibri"/>
                <a:cs typeface="Calibri"/>
              </a:rPr>
              <a:t>by</a:t>
            </a:r>
            <a:r>
              <a:rPr sz="2000" spc="-50" dirty="0">
                <a:latin typeface="Calibri"/>
                <a:cs typeface="Calibri"/>
              </a:rPr>
              <a:t> </a:t>
            </a:r>
            <a:r>
              <a:rPr sz="2000" dirty="0">
                <a:latin typeface="Calibri"/>
                <a:cs typeface="Calibri"/>
              </a:rPr>
              <a:t>answering</a:t>
            </a:r>
            <a:r>
              <a:rPr sz="2000" spc="-50" dirty="0">
                <a:latin typeface="Calibri"/>
                <a:cs typeface="Calibri"/>
              </a:rPr>
              <a:t> </a:t>
            </a:r>
            <a:r>
              <a:rPr sz="2000" dirty="0">
                <a:latin typeface="Calibri"/>
                <a:cs typeface="Calibri"/>
              </a:rPr>
              <a:t>the</a:t>
            </a:r>
            <a:r>
              <a:rPr sz="2000" spc="-45" dirty="0">
                <a:latin typeface="Calibri"/>
                <a:cs typeface="Calibri"/>
              </a:rPr>
              <a:t> </a:t>
            </a:r>
            <a:r>
              <a:rPr sz="2000" dirty="0">
                <a:latin typeface="Calibri"/>
                <a:cs typeface="Calibri"/>
              </a:rPr>
              <a:t>following</a:t>
            </a:r>
            <a:r>
              <a:rPr sz="2000" spc="-50" dirty="0">
                <a:latin typeface="Calibri"/>
                <a:cs typeface="Calibri"/>
              </a:rPr>
              <a:t> </a:t>
            </a:r>
            <a:r>
              <a:rPr sz="2000" dirty="0">
                <a:latin typeface="Calibri"/>
                <a:cs typeface="Calibri"/>
              </a:rPr>
              <a:t>(3)</a:t>
            </a:r>
            <a:r>
              <a:rPr sz="2000" spc="-45" dirty="0">
                <a:latin typeface="Calibri"/>
                <a:cs typeface="Calibri"/>
              </a:rPr>
              <a:t> </a:t>
            </a:r>
            <a:r>
              <a:rPr sz="2000" dirty="0">
                <a:latin typeface="Calibri"/>
                <a:cs typeface="Calibri"/>
              </a:rPr>
              <a:t>questions</a:t>
            </a:r>
            <a:r>
              <a:rPr sz="2000" spc="-50" dirty="0">
                <a:latin typeface="Calibri"/>
                <a:cs typeface="Calibri"/>
              </a:rPr>
              <a:t> </a:t>
            </a:r>
            <a:r>
              <a:rPr sz="2000" dirty="0">
                <a:latin typeface="Calibri"/>
                <a:cs typeface="Calibri"/>
              </a:rPr>
              <a:t>for</a:t>
            </a:r>
            <a:r>
              <a:rPr sz="2000" spc="-40" dirty="0">
                <a:latin typeface="Calibri"/>
                <a:cs typeface="Calibri"/>
              </a:rPr>
              <a:t> </a:t>
            </a:r>
            <a:r>
              <a:rPr sz="2000" dirty="0">
                <a:latin typeface="Calibri"/>
                <a:cs typeface="Calibri"/>
              </a:rPr>
              <a:t>each</a:t>
            </a:r>
            <a:r>
              <a:rPr sz="2000" spc="-45" dirty="0">
                <a:latin typeface="Calibri"/>
                <a:cs typeface="Calibri"/>
              </a:rPr>
              <a:t> </a:t>
            </a:r>
            <a:r>
              <a:rPr sz="2000" spc="-10" dirty="0">
                <a:latin typeface="Calibri"/>
                <a:cs typeface="Calibri"/>
              </a:rPr>
              <a:t>activity:</a:t>
            </a:r>
            <a:endParaRPr sz="2000">
              <a:latin typeface="Calibri"/>
              <a:cs typeface="Calibri"/>
            </a:endParaRPr>
          </a:p>
          <a:p>
            <a:pPr marL="635000" lvl="1" indent="-300990" algn="just">
              <a:lnSpc>
                <a:spcPts val="2030"/>
              </a:lnSpc>
              <a:spcBef>
                <a:spcPts val="250"/>
              </a:spcBef>
              <a:buAutoNum type="arabicPeriod"/>
              <a:tabLst>
                <a:tab pos="635000" algn="l"/>
              </a:tabLst>
            </a:pPr>
            <a:r>
              <a:rPr sz="1800" dirty="0">
                <a:latin typeface="Calibri"/>
                <a:cs typeface="Calibri"/>
              </a:rPr>
              <a:t>Which activities</a:t>
            </a:r>
            <a:r>
              <a:rPr sz="1800" spc="-10" dirty="0">
                <a:latin typeface="Calibri"/>
                <a:cs typeface="Calibri"/>
              </a:rPr>
              <a:t> </a:t>
            </a:r>
            <a:r>
              <a:rPr sz="1800" dirty="0">
                <a:latin typeface="Calibri"/>
                <a:cs typeface="Calibri"/>
              </a:rPr>
              <a:t>must</a:t>
            </a:r>
            <a:r>
              <a:rPr sz="1800" spc="-5" dirty="0">
                <a:latin typeface="Calibri"/>
                <a:cs typeface="Calibri"/>
              </a:rPr>
              <a:t> </a:t>
            </a:r>
            <a:r>
              <a:rPr sz="1800" dirty="0">
                <a:latin typeface="Calibri"/>
                <a:cs typeface="Calibri"/>
              </a:rPr>
              <a:t>be completed immediately</a:t>
            </a:r>
            <a:r>
              <a:rPr sz="1800" spc="-10" dirty="0">
                <a:latin typeface="Calibri"/>
                <a:cs typeface="Calibri"/>
              </a:rPr>
              <a:t> </a:t>
            </a:r>
            <a:r>
              <a:rPr sz="1800" i="1" dirty="0">
                <a:latin typeface="Calibri"/>
                <a:cs typeface="Calibri"/>
              </a:rPr>
              <a:t>before </a:t>
            </a:r>
            <a:r>
              <a:rPr sz="1800" dirty="0">
                <a:latin typeface="Calibri"/>
                <a:cs typeface="Calibri"/>
              </a:rPr>
              <a:t>this</a:t>
            </a:r>
            <a:r>
              <a:rPr sz="1800" spc="-5" dirty="0">
                <a:latin typeface="Calibri"/>
                <a:cs typeface="Calibri"/>
              </a:rPr>
              <a:t> </a:t>
            </a:r>
            <a:r>
              <a:rPr sz="1800" dirty="0">
                <a:latin typeface="Calibri"/>
                <a:cs typeface="Calibri"/>
              </a:rPr>
              <a:t>activity? These activities</a:t>
            </a:r>
            <a:r>
              <a:rPr sz="1800" spc="-10" dirty="0">
                <a:latin typeface="Calibri"/>
                <a:cs typeface="Calibri"/>
              </a:rPr>
              <a:t> </a:t>
            </a:r>
            <a:r>
              <a:rPr sz="1800" dirty="0">
                <a:latin typeface="Calibri"/>
                <a:cs typeface="Calibri"/>
              </a:rPr>
              <a:t>are called </a:t>
            </a:r>
            <a:r>
              <a:rPr sz="1800" i="1" spc="-10" dirty="0">
                <a:latin typeface="Calibri"/>
                <a:cs typeface="Calibri"/>
              </a:rPr>
              <a:t>predecessor</a:t>
            </a:r>
            <a:endParaRPr sz="1800">
              <a:latin typeface="Calibri"/>
              <a:cs typeface="Calibri"/>
            </a:endParaRPr>
          </a:p>
          <a:p>
            <a:pPr marL="635000">
              <a:lnSpc>
                <a:spcPts val="2030"/>
              </a:lnSpc>
            </a:pPr>
            <a:r>
              <a:rPr sz="1800" spc="-10" dirty="0">
                <a:latin typeface="Calibri"/>
                <a:cs typeface="Calibri"/>
              </a:rPr>
              <a:t>activities.</a:t>
            </a:r>
            <a:endParaRPr sz="1800">
              <a:latin typeface="Calibri"/>
              <a:cs typeface="Calibri"/>
            </a:endParaRPr>
          </a:p>
          <a:p>
            <a:pPr marL="635000" lvl="1" indent="-300990">
              <a:lnSpc>
                <a:spcPct val="100000"/>
              </a:lnSpc>
              <a:spcBef>
                <a:spcPts val="335"/>
              </a:spcBef>
              <a:buAutoNum type="arabicPeriod" startAt="2"/>
              <a:tabLst>
                <a:tab pos="635000" algn="l"/>
              </a:tabLst>
            </a:pPr>
            <a:r>
              <a:rPr sz="1800" dirty="0">
                <a:latin typeface="Calibri"/>
                <a:cs typeface="Calibri"/>
              </a:rPr>
              <a:t>Which</a:t>
            </a:r>
            <a:r>
              <a:rPr sz="1800" spc="-45" dirty="0">
                <a:latin typeface="Calibri"/>
                <a:cs typeface="Calibri"/>
              </a:rPr>
              <a:t> </a:t>
            </a:r>
            <a:r>
              <a:rPr sz="1800" dirty="0">
                <a:latin typeface="Calibri"/>
                <a:cs typeface="Calibri"/>
              </a:rPr>
              <a:t>activities</a:t>
            </a:r>
            <a:r>
              <a:rPr sz="1800" spc="-55" dirty="0">
                <a:latin typeface="Calibri"/>
                <a:cs typeface="Calibri"/>
              </a:rPr>
              <a:t> </a:t>
            </a:r>
            <a:r>
              <a:rPr sz="1800" dirty="0">
                <a:latin typeface="Calibri"/>
                <a:cs typeface="Calibri"/>
              </a:rPr>
              <a:t>must</a:t>
            </a:r>
            <a:r>
              <a:rPr sz="1800" spc="-50" dirty="0">
                <a:latin typeface="Calibri"/>
                <a:cs typeface="Calibri"/>
              </a:rPr>
              <a:t> </a:t>
            </a:r>
            <a:r>
              <a:rPr sz="1800" dirty="0">
                <a:latin typeface="Calibri"/>
                <a:cs typeface="Calibri"/>
              </a:rPr>
              <a:t>immediately</a:t>
            </a:r>
            <a:r>
              <a:rPr sz="1800" spc="-55" dirty="0">
                <a:latin typeface="Calibri"/>
                <a:cs typeface="Calibri"/>
              </a:rPr>
              <a:t> </a:t>
            </a:r>
            <a:r>
              <a:rPr sz="1800" i="1" dirty="0">
                <a:latin typeface="Calibri"/>
                <a:cs typeface="Calibri"/>
              </a:rPr>
              <a:t>follow</a:t>
            </a:r>
            <a:r>
              <a:rPr sz="1800" i="1" spc="-50" dirty="0">
                <a:latin typeface="Calibri"/>
                <a:cs typeface="Calibri"/>
              </a:rPr>
              <a:t> </a:t>
            </a:r>
            <a:r>
              <a:rPr sz="1800" dirty="0">
                <a:latin typeface="Calibri"/>
                <a:cs typeface="Calibri"/>
              </a:rPr>
              <a:t>this</a:t>
            </a:r>
            <a:r>
              <a:rPr sz="1800" spc="-50" dirty="0">
                <a:latin typeface="Calibri"/>
                <a:cs typeface="Calibri"/>
              </a:rPr>
              <a:t> </a:t>
            </a:r>
            <a:r>
              <a:rPr sz="1800" dirty="0">
                <a:latin typeface="Calibri"/>
                <a:cs typeface="Calibri"/>
              </a:rPr>
              <a:t>activity?</a:t>
            </a:r>
            <a:r>
              <a:rPr sz="1800" spc="-45" dirty="0">
                <a:latin typeface="Calibri"/>
                <a:cs typeface="Calibri"/>
              </a:rPr>
              <a:t> </a:t>
            </a:r>
            <a:r>
              <a:rPr sz="1800" dirty="0">
                <a:latin typeface="Calibri"/>
                <a:cs typeface="Calibri"/>
              </a:rPr>
              <a:t>These</a:t>
            </a:r>
            <a:r>
              <a:rPr sz="1800" spc="-45" dirty="0">
                <a:latin typeface="Calibri"/>
                <a:cs typeface="Calibri"/>
              </a:rPr>
              <a:t> </a:t>
            </a:r>
            <a:r>
              <a:rPr sz="1800" dirty="0">
                <a:latin typeface="Calibri"/>
                <a:cs typeface="Calibri"/>
              </a:rPr>
              <a:t>activities</a:t>
            </a:r>
            <a:r>
              <a:rPr sz="1800" spc="-55" dirty="0">
                <a:latin typeface="Calibri"/>
                <a:cs typeface="Calibri"/>
              </a:rPr>
              <a:t> </a:t>
            </a:r>
            <a:r>
              <a:rPr sz="1800" dirty="0">
                <a:latin typeface="Calibri"/>
                <a:cs typeface="Calibri"/>
              </a:rPr>
              <a:t>are</a:t>
            </a:r>
            <a:r>
              <a:rPr sz="1800" spc="-45" dirty="0">
                <a:latin typeface="Calibri"/>
                <a:cs typeface="Calibri"/>
              </a:rPr>
              <a:t> </a:t>
            </a:r>
            <a:r>
              <a:rPr sz="1800" dirty="0">
                <a:latin typeface="Calibri"/>
                <a:cs typeface="Calibri"/>
              </a:rPr>
              <a:t>called</a:t>
            </a:r>
            <a:r>
              <a:rPr sz="1800" spc="-50" dirty="0">
                <a:latin typeface="Calibri"/>
                <a:cs typeface="Calibri"/>
              </a:rPr>
              <a:t> </a:t>
            </a:r>
            <a:r>
              <a:rPr sz="1800" i="1" dirty="0">
                <a:latin typeface="Calibri"/>
                <a:cs typeface="Calibri"/>
              </a:rPr>
              <a:t>successor</a:t>
            </a:r>
            <a:r>
              <a:rPr sz="1800" i="1" spc="-50" dirty="0">
                <a:latin typeface="Calibri"/>
                <a:cs typeface="Calibri"/>
              </a:rPr>
              <a:t> </a:t>
            </a:r>
            <a:r>
              <a:rPr sz="1800" spc="-10" dirty="0">
                <a:latin typeface="Calibri"/>
                <a:cs typeface="Calibri"/>
              </a:rPr>
              <a:t>activities.</a:t>
            </a:r>
            <a:endParaRPr sz="1800">
              <a:latin typeface="Calibri"/>
              <a:cs typeface="Calibri"/>
            </a:endParaRPr>
          </a:p>
          <a:p>
            <a:pPr marL="635000" lvl="1" indent="-300990">
              <a:lnSpc>
                <a:spcPts val="2030"/>
              </a:lnSpc>
              <a:spcBef>
                <a:spcPts val="240"/>
              </a:spcBef>
              <a:buAutoNum type="arabicPeriod" startAt="2"/>
              <a:tabLst>
                <a:tab pos="635000" algn="l"/>
              </a:tabLst>
            </a:pPr>
            <a:r>
              <a:rPr sz="1800" dirty="0">
                <a:latin typeface="Calibri"/>
                <a:cs typeface="Calibri"/>
              </a:rPr>
              <a:t>Which</a:t>
            </a:r>
            <a:r>
              <a:rPr sz="1800" spc="325" dirty="0">
                <a:latin typeface="Calibri"/>
                <a:cs typeface="Calibri"/>
              </a:rPr>
              <a:t> </a:t>
            </a:r>
            <a:r>
              <a:rPr sz="1800" dirty="0">
                <a:latin typeface="Calibri"/>
                <a:cs typeface="Calibri"/>
              </a:rPr>
              <a:t>activities</a:t>
            </a:r>
            <a:r>
              <a:rPr sz="1800" spc="320" dirty="0">
                <a:latin typeface="Calibri"/>
                <a:cs typeface="Calibri"/>
              </a:rPr>
              <a:t> </a:t>
            </a:r>
            <a:r>
              <a:rPr sz="1800" dirty="0">
                <a:latin typeface="Calibri"/>
                <a:cs typeface="Calibri"/>
              </a:rPr>
              <a:t>can</a:t>
            </a:r>
            <a:r>
              <a:rPr sz="1800" spc="330" dirty="0">
                <a:latin typeface="Calibri"/>
                <a:cs typeface="Calibri"/>
              </a:rPr>
              <a:t> </a:t>
            </a:r>
            <a:r>
              <a:rPr sz="1800" dirty="0">
                <a:latin typeface="Calibri"/>
                <a:cs typeface="Calibri"/>
              </a:rPr>
              <a:t>occur</a:t>
            </a:r>
            <a:r>
              <a:rPr sz="1800" spc="325" dirty="0">
                <a:latin typeface="Calibri"/>
                <a:cs typeface="Calibri"/>
              </a:rPr>
              <a:t> </a:t>
            </a:r>
            <a:r>
              <a:rPr sz="1800" i="1" dirty="0">
                <a:latin typeface="Calibri"/>
                <a:cs typeface="Calibri"/>
              </a:rPr>
              <a:t>while</a:t>
            </a:r>
            <a:r>
              <a:rPr sz="1800" i="1" spc="320" dirty="0">
                <a:latin typeface="Calibri"/>
                <a:cs typeface="Calibri"/>
              </a:rPr>
              <a:t> </a:t>
            </a:r>
            <a:r>
              <a:rPr sz="1800" dirty="0">
                <a:latin typeface="Calibri"/>
                <a:cs typeface="Calibri"/>
              </a:rPr>
              <a:t>this</a:t>
            </a:r>
            <a:r>
              <a:rPr sz="1800" spc="320" dirty="0">
                <a:latin typeface="Calibri"/>
                <a:cs typeface="Calibri"/>
              </a:rPr>
              <a:t> </a:t>
            </a:r>
            <a:r>
              <a:rPr sz="1800" dirty="0">
                <a:latin typeface="Calibri"/>
                <a:cs typeface="Calibri"/>
              </a:rPr>
              <a:t>activity</a:t>
            </a:r>
            <a:r>
              <a:rPr sz="1800" spc="320" dirty="0">
                <a:latin typeface="Calibri"/>
                <a:cs typeface="Calibri"/>
              </a:rPr>
              <a:t> </a:t>
            </a:r>
            <a:r>
              <a:rPr sz="1800" dirty="0">
                <a:latin typeface="Calibri"/>
                <a:cs typeface="Calibri"/>
              </a:rPr>
              <a:t>is</a:t>
            </a:r>
            <a:r>
              <a:rPr sz="1800" spc="320" dirty="0">
                <a:latin typeface="Calibri"/>
                <a:cs typeface="Calibri"/>
              </a:rPr>
              <a:t> </a:t>
            </a:r>
            <a:r>
              <a:rPr sz="1800" dirty="0">
                <a:latin typeface="Calibri"/>
                <a:cs typeface="Calibri"/>
              </a:rPr>
              <a:t>taking</a:t>
            </a:r>
            <a:r>
              <a:rPr sz="1800" spc="330" dirty="0">
                <a:latin typeface="Calibri"/>
                <a:cs typeface="Calibri"/>
              </a:rPr>
              <a:t> </a:t>
            </a:r>
            <a:r>
              <a:rPr sz="1800" dirty="0">
                <a:latin typeface="Calibri"/>
                <a:cs typeface="Calibri"/>
              </a:rPr>
              <a:t>place?</a:t>
            </a:r>
            <a:r>
              <a:rPr sz="1800" spc="330" dirty="0">
                <a:latin typeface="Calibri"/>
                <a:cs typeface="Calibri"/>
              </a:rPr>
              <a:t> </a:t>
            </a:r>
            <a:r>
              <a:rPr sz="1800" dirty="0">
                <a:latin typeface="Calibri"/>
                <a:cs typeface="Calibri"/>
              </a:rPr>
              <a:t>This</a:t>
            </a:r>
            <a:r>
              <a:rPr sz="1800" spc="320" dirty="0">
                <a:latin typeface="Calibri"/>
                <a:cs typeface="Calibri"/>
              </a:rPr>
              <a:t> </a:t>
            </a:r>
            <a:r>
              <a:rPr sz="1800" dirty="0">
                <a:latin typeface="Calibri"/>
                <a:cs typeface="Calibri"/>
              </a:rPr>
              <a:t>is</a:t>
            </a:r>
            <a:r>
              <a:rPr sz="1800" spc="320" dirty="0">
                <a:latin typeface="Calibri"/>
                <a:cs typeface="Calibri"/>
              </a:rPr>
              <a:t> </a:t>
            </a:r>
            <a:r>
              <a:rPr sz="1800" dirty="0">
                <a:latin typeface="Calibri"/>
                <a:cs typeface="Calibri"/>
              </a:rPr>
              <a:t>known</a:t>
            </a:r>
            <a:r>
              <a:rPr sz="1800" spc="330" dirty="0">
                <a:latin typeface="Calibri"/>
                <a:cs typeface="Calibri"/>
              </a:rPr>
              <a:t> </a:t>
            </a:r>
            <a:r>
              <a:rPr sz="1800" dirty="0">
                <a:latin typeface="Calibri"/>
                <a:cs typeface="Calibri"/>
              </a:rPr>
              <a:t>as</a:t>
            </a:r>
            <a:r>
              <a:rPr sz="1800" spc="320" dirty="0">
                <a:latin typeface="Calibri"/>
                <a:cs typeface="Calibri"/>
              </a:rPr>
              <a:t> </a:t>
            </a:r>
            <a:r>
              <a:rPr sz="1800" dirty="0">
                <a:latin typeface="Calibri"/>
                <a:cs typeface="Calibri"/>
              </a:rPr>
              <a:t>a</a:t>
            </a:r>
            <a:r>
              <a:rPr sz="1800" spc="325" dirty="0">
                <a:latin typeface="Calibri"/>
                <a:cs typeface="Calibri"/>
              </a:rPr>
              <a:t> </a:t>
            </a:r>
            <a:r>
              <a:rPr sz="1800" i="1" dirty="0">
                <a:latin typeface="Calibri"/>
                <a:cs typeface="Calibri"/>
              </a:rPr>
              <a:t>concurrent</a:t>
            </a:r>
            <a:r>
              <a:rPr sz="1800" i="1" spc="320" dirty="0">
                <a:latin typeface="Calibri"/>
                <a:cs typeface="Calibri"/>
              </a:rPr>
              <a:t> </a:t>
            </a:r>
            <a:r>
              <a:rPr sz="1800" dirty="0">
                <a:latin typeface="Calibri"/>
                <a:cs typeface="Calibri"/>
              </a:rPr>
              <a:t>or</a:t>
            </a:r>
            <a:r>
              <a:rPr sz="1800" spc="320" dirty="0">
                <a:latin typeface="Calibri"/>
                <a:cs typeface="Calibri"/>
              </a:rPr>
              <a:t> </a:t>
            </a:r>
            <a:r>
              <a:rPr sz="1800" i="1" spc="-10" dirty="0">
                <a:latin typeface="Calibri"/>
                <a:cs typeface="Calibri"/>
              </a:rPr>
              <a:t>parallel</a:t>
            </a:r>
            <a:endParaRPr sz="1800">
              <a:latin typeface="Calibri"/>
              <a:cs typeface="Calibri"/>
            </a:endParaRPr>
          </a:p>
          <a:p>
            <a:pPr marL="635000">
              <a:lnSpc>
                <a:spcPts val="2030"/>
              </a:lnSpc>
            </a:pPr>
            <a:r>
              <a:rPr sz="1800" spc="-10" dirty="0">
                <a:latin typeface="Calibri"/>
                <a:cs typeface="Calibri"/>
              </a:rPr>
              <a:t>relationship.</a:t>
            </a:r>
            <a:endParaRPr sz="1800">
              <a:latin typeface="Calibri"/>
              <a:cs typeface="Calibri"/>
            </a:endParaRPr>
          </a:p>
        </p:txBody>
      </p:sp>
      <p:sp>
        <p:nvSpPr>
          <p:cNvPr id="4" name="object 4"/>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13</a:t>
            </a:fld>
            <a:endParaRPr spc="-25" dirty="0"/>
          </a:p>
        </p:txBody>
      </p:sp>
      <p:sp>
        <p:nvSpPr>
          <p:cNvPr id="3" name="object 3"/>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spc="105" dirty="0"/>
              <a:t>Activity-</a:t>
            </a:r>
            <a:r>
              <a:rPr spc="125" dirty="0"/>
              <a:t>on-</a:t>
            </a:r>
            <a:r>
              <a:rPr spc="114" dirty="0"/>
              <a:t>Node</a:t>
            </a:r>
            <a:r>
              <a:rPr spc="130" dirty="0"/>
              <a:t> </a:t>
            </a:r>
            <a:r>
              <a:rPr spc="95" dirty="0"/>
              <a:t>(AON)</a:t>
            </a:r>
            <a:r>
              <a:rPr spc="130" dirty="0"/>
              <a:t> </a:t>
            </a:r>
            <a:r>
              <a:rPr spc="110" dirty="0"/>
              <a:t>Fundamentals</a:t>
            </a:r>
            <a:r>
              <a:rPr spc="135" dirty="0"/>
              <a:t> </a:t>
            </a:r>
            <a:r>
              <a:rPr sz="1950" spc="-10" dirty="0"/>
              <a:t>(2/2)</a:t>
            </a:r>
            <a:endParaRPr sz="1950"/>
          </a:p>
        </p:txBody>
      </p:sp>
      <p:pic>
        <p:nvPicPr>
          <p:cNvPr id="5" name="Picture 4">
            <a:extLst>
              <a:ext uri="{FF2B5EF4-FFF2-40B4-BE49-F238E27FC236}">
                <a16:creationId xmlns:a16="http://schemas.microsoft.com/office/drawing/2014/main" id="{A22C1A6A-DA20-24B6-4389-F56AB23D265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16063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spc="100" dirty="0"/>
              <a:t>Example</a:t>
            </a:r>
            <a:r>
              <a:rPr spc="135" dirty="0"/>
              <a:t> </a:t>
            </a:r>
            <a:r>
              <a:rPr spc="-50" dirty="0"/>
              <a:t>1</a:t>
            </a:r>
          </a:p>
        </p:txBody>
      </p:sp>
      <p:pic>
        <p:nvPicPr>
          <p:cNvPr id="3" name="object 3"/>
          <p:cNvPicPr/>
          <p:nvPr/>
        </p:nvPicPr>
        <p:blipFill>
          <a:blip r:embed="rId2" cstate="print"/>
          <a:stretch>
            <a:fillRect/>
          </a:stretch>
        </p:blipFill>
        <p:spPr>
          <a:xfrm>
            <a:off x="1380624" y="2079971"/>
            <a:ext cx="9158693" cy="3485163"/>
          </a:xfrm>
          <a:prstGeom prst="rect">
            <a:avLst/>
          </a:prstGeom>
        </p:spPr>
      </p:pic>
      <p:sp>
        <p:nvSpPr>
          <p:cNvPr id="4" name="object 4"/>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14</a:t>
            </a:fld>
            <a:endParaRPr spc="-25" dirty="0"/>
          </a:p>
        </p:txBody>
      </p:sp>
      <p:pic>
        <p:nvPicPr>
          <p:cNvPr id="5" name="Picture 4">
            <a:extLst>
              <a:ext uri="{FF2B5EF4-FFF2-40B4-BE49-F238E27FC236}">
                <a16:creationId xmlns:a16="http://schemas.microsoft.com/office/drawing/2014/main" id="{9EB3C3F1-14F0-0846-4FD7-2F6AAA84D46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6063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spc="110" dirty="0"/>
              <a:t>Solution</a:t>
            </a:r>
            <a:r>
              <a:rPr spc="125" dirty="0"/>
              <a:t> </a:t>
            </a:r>
            <a:r>
              <a:rPr spc="-50" dirty="0"/>
              <a:t>1</a:t>
            </a:r>
          </a:p>
        </p:txBody>
      </p:sp>
      <p:grpSp>
        <p:nvGrpSpPr>
          <p:cNvPr id="3" name="object 3"/>
          <p:cNvGrpSpPr/>
          <p:nvPr/>
        </p:nvGrpSpPr>
        <p:grpSpPr>
          <a:xfrm>
            <a:off x="238168" y="1534318"/>
            <a:ext cx="11918950" cy="4782820"/>
            <a:chOff x="238168" y="1534318"/>
            <a:chExt cx="11918950" cy="4782820"/>
          </a:xfrm>
        </p:grpSpPr>
        <p:pic>
          <p:nvPicPr>
            <p:cNvPr id="4" name="object 4"/>
            <p:cNvPicPr/>
            <p:nvPr/>
          </p:nvPicPr>
          <p:blipFill>
            <a:blip r:embed="rId2" cstate="print"/>
            <a:stretch>
              <a:fillRect/>
            </a:stretch>
          </p:blipFill>
          <p:spPr>
            <a:xfrm>
              <a:off x="9755601" y="1534318"/>
              <a:ext cx="2401408" cy="1894681"/>
            </a:xfrm>
            <a:prstGeom prst="rect">
              <a:avLst/>
            </a:prstGeom>
          </p:spPr>
        </p:pic>
        <p:pic>
          <p:nvPicPr>
            <p:cNvPr id="5" name="object 5"/>
            <p:cNvPicPr/>
            <p:nvPr/>
          </p:nvPicPr>
          <p:blipFill>
            <a:blip r:embed="rId3" cstate="print"/>
            <a:stretch>
              <a:fillRect/>
            </a:stretch>
          </p:blipFill>
          <p:spPr>
            <a:xfrm>
              <a:off x="238168" y="3333141"/>
              <a:ext cx="1244600" cy="1219198"/>
            </a:xfrm>
            <a:prstGeom prst="rect">
              <a:avLst/>
            </a:prstGeom>
          </p:spPr>
        </p:pic>
        <p:pic>
          <p:nvPicPr>
            <p:cNvPr id="6" name="object 6"/>
            <p:cNvPicPr/>
            <p:nvPr/>
          </p:nvPicPr>
          <p:blipFill>
            <a:blip r:embed="rId4" cstate="print"/>
            <a:stretch>
              <a:fillRect/>
            </a:stretch>
          </p:blipFill>
          <p:spPr>
            <a:xfrm>
              <a:off x="1470243" y="3142640"/>
              <a:ext cx="2095500" cy="1574800"/>
            </a:xfrm>
            <a:prstGeom prst="rect">
              <a:avLst/>
            </a:prstGeom>
          </p:spPr>
        </p:pic>
        <p:pic>
          <p:nvPicPr>
            <p:cNvPr id="7" name="object 7"/>
            <p:cNvPicPr/>
            <p:nvPr/>
          </p:nvPicPr>
          <p:blipFill>
            <a:blip r:embed="rId5" cstate="print"/>
            <a:stretch>
              <a:fillRect/>
            </a:stretch>
          </p:blipFill>
          <p:spPr>
            <a:xfrm>
              <a:off x="3540691" y="3130115"/>
              <a:ext cx="2064167" cy="1663698"/>
            </a:xfrm>
            <a:prstGeom prst="rect">
              <a:avLst/>
            </a:prstGeom>
          </p:spPr>
        </p:pic>
        <p:pic>
          <p:nvPicPr>
            <p:cNvPr id="8" name="object 8"/>
            <p:cNvPicPr/>
            <p:nvPr/>
          </p:nvPicPr>
          <p:blipFill>
            <a:blip r:embed="rId6" cstate="print"/>
            <a:stretch>
              <a:fillRect/>
            </a:stretch>
          </p:blipFill>
          <p:spPr>
            <a:xfrm>
              <a:off x="5604859" y="1769996"/>
              <a:ext cx="2133600" cy="4546599"/>
            </a:xfrm>
            <a:prstGeom prst="rect">
              <a:avLst/>
            </a:prstGeom>
          </p:spPr>
        </p:pic>
        <p:pic>
          <p:nvPicPr>
            <p:cNvPr id="9" name="object 9"/>
            <p:cNvPicPr/>
            <p:nvPr/>
          </p:nvPicPr>
          <p:blipFill>
            <a:blip r:embed="rId7" cstate="print"/>
            <a:stretch>
              <a:fillRect/>
            </a:stretch>
          </p:blipFill>
          <p:spPr>
            <a:xfrm>
              <a:off x="7726470" y="2307681"/>
              <a:ext cx="2273300" cy="3594100"/>
            </a:xfrm>
            <a:prstGeom prst="rect">
              <a:avLst/>
            </a:prstGeom>
          </p:spPr>
        </p:pic>
      </p:grpSp>
      <p:sp>
        <p:nvSpPr>
          <p:cNvPr id="10" name="object 10"/>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15</a:t>
            </a:fld>
            <a:endParaRPr spc="-25" dirty="0"/>
          </a:p>
        </p:txBody>
      </p:sp>
      <p:pic>
        <p:nvPicPr>
          <p:cNvPr id="11" name="Picture 10">
            <a:extLst>
              <a:ext uri="{FF2B5EF4-FFF2-40B4-BE49-F238E27FC236}">
                <a16:creationId xmlns:a16="http://schemas.microsoft.com/office/drawing/2014/main" id="{A3FF623C-258F-7930-EE04-8233DC767ED4}"/>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016063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spc="100" dirty="0"/>
              <a:t>Example</a:t>
            </a:r>
            <a:r>
              <a:rPr spc="135" dirty="0"/>
              <a:t> </a:t>
            </a:r>
            <a:r>
              <a:rPr spc="-50" dirty="0"/>
              <a:t>2</a:t>
            </a:r>
          </a:p>
        </p:txBody>
      </p:sp>
      <p:sp>
        <p:nvSpPr>
          <p:cNvPr id="3" name="object 3"/>
          <p:cNvSpPr/>
          <p:nvPr/>
        </p:nvSpPr>
        <p:spPr>
          <a:xfrm>
            <a:off x="1225296" y="3310286"/>
            <a:ext cx="822960" cy="868680"/>
          </a:xfrm>
          <a:custGeom>
            <a:avLst/>
            <a:gdLst/>
            <a:ahLst/>
            <a:cxnLst/>
            <a:rect l="l" t="t" r="r" b="b"/>
            <a:pathLst>
              <a:path w="822960" h="868679">
                <a:moveTo>
                  <a:pt x="0" y="434260"/>
                </a:moveTo>
                <a:lnTo>
                  <a:pt x="2768" y="383616"/>
                </a:lnTo>
                <a:lnTo>
                  <a:pt x="10867" y="334688"/>
                </a:lnTo>
                <a:lnTo>
                  <a:pt x="23988" y="287802"/>
                </a:lnTo>
                <a:lnTo>
                  <a:pt x="41823" y="243283"/>
                </a:lnTo>
                <a:lnTo>
                  <a:pt x="64062" y="201458"/>
                </a:lnTo>
                <a:lnTo>
                  <a:pt x="90397" y="162652"/>
                </a:lnTo>
                <a:lnTo>
                  <a:pt x="120519" y="127191"/>
                </a:lnTo>
                <a:lnTo>
                  <a:pt x="154120" y="95402"/>
                </a:lnTo>
                <a:lnTo>
                  <a:pt x="190890" y="67609"/>
                </a:lnTo>
                <a:lnTo>
                  <a:pt x="230521" y="44138"/>
                </a:lnTo>
                <a:lnTo>
                  <a:pt x="272704" y="25316"/>
                </a:lnTo>
                <a:lnTo>
                  <a:pt x="317131" y="11469"/>
                </a:lnTo>
                <a:lnTo>
                  <a:pt x="363492" y="2921"/>
                </a:lnTo>
                <a:lnTo>
                  <a:pt x="411480" y="0"/>
                </a:lnTo>
                <a:lnTo>
                  <a:pt x="459467" y="2921"/>
                </a:lnTo>
                <a:lnTo>
                  <a:pt x="505828" y="11469"/>
                </a:lnTo>
                <a:lnTo>
                  <a:pt x="550255" y="25316"/>
                </a:lnTo>
                <a:lnTo>
                  <a:pt x="592438" y="44138"/>
                </a:lnTo>
                <a:lnTo>
                  <a:pt x="632069" y="67609"/>
                </a:lnTo>
                <a:lnTo>
                  <a:pt x="668839" y="95402"/>
                </a:lnTo>
                <a:lnTo>
                  <a:pt x="702440" y="127191"/>
                </a:lnTo>
                <a:lnTo>
                  <a:pt x="732562" y="162652"/>
                </a:lnTo>
                <a:lnTo>
                  <a:pt x="758897" y="201458"/>
                </a:lnTo>
                <a:lnTo>
                  <a:pt x="781136" y="243283"/>
                </a:lnTo>
                <a:lnTo>
                  <a:pt x="798971" y="287802"/>
                </a:lnTo>
                <a:lnTo>
                  <a:pt x="812092" y="334688"/>
                </a:lnTo>
                <a:lnTo>
                  <a:pt x="820191" y="383616"/>
                </a:lnTo>
                <a:lnTo>
                  <a:pt x="822960" y="434260"/>
                </a:lnTo>
                <a:lnTo>
                  <a:pt x="820191" y="484904"/>
                </a:lnTo>
                <a:lnTo>
                  <a:pt x="812092" y="533832"/>
                </a:lnTo>
                <a:lnTo>
                  <a:pt x="798971" y="580718"/>
                </a:lnTo>
                <a:lnTo>
                  <a:pt x="781136" y="625237"/>
                </a:lnTo>
                <a:lnTo>
                  <a:pt x="758897" y="667062"/>
                </a:lnTo>
                <a:lnTo>
                  <a:pt x="732562" y="705868"/>
                </a:lnTo>
                <a:lnTo>
                  <a:pt x="702440" y="741329"/>
                </a:lnTo>
                <a:lnTo>
                  <a:pt x="668839" y="773118"/>
                </a:lnTo>
                <a:lnTo>
                  <a:pt x="632069" y="800911"/>
                </a:lnTo>
                <a:lnTo>
                  <a:pt x="592438" y="824382"/>
                </a:lnTo>
                <a:lnTo>
                  <a:pt x="550255" y="843204"/>
                </a:lnTo>
                <a:lnTo>
                  <a:pt x="505828" y="857051"/>
                </a:lnTo>
                <a:lnTo>
                  <a:pt x="459467" y="865599"/>
                </a:lnTo>
                <a:lnTo>
                  <a:pt x="411480" y="868521"/>
                </a:lnTo>
                <a:lnTo>
                  <a:pt x="363492" y="865599"/>
                </a:lnTo>
                <a:lnTo>
                  <a:pt x="317131" y="857051"/>
                </a:lnTo>
                <a:lnTo>
                  <a:pt x="272704" y="843204"/>
                </a:lnTo>
                <a:lnTo>
                  <a:pt x="230521" y="824382"/>
                </a:lnTo>
                <a:lnTo>
                  <a:pt x="190890" y="800911"/>
                </a:lnTo>
                <a:lnTo>
                  <a:pt x="154120" y="773118"/>
                </a:lnTo>
                <a:lnTo>
                  <a:pt x="120519" y="741329"/>
                </a:lnTo>
                <a:lnTo>
                  <a:pt x="90397" y="705868"/>
                </a:lnTo>
                <a:lnTo>
                  <a:pt x="64062" y="667062"/>
                </a:lnTo>
                <a:lnTo>
                  <a:pt x="41823" y="625237"/>
                </a:lnTo>
                <a:lnTo>
                  <a:pt x="23988" y="580718"/>
                </a:lnTo>
                <a:lnTo>
                  <a:pt x="10867" y="533832"/>
                </a:lnTo>
                <a:lnTo>
                  <a:pt x="2768" y="484904"/>
                </a:lnTo>
                <a:lnTo>
                  <a:pt x="0" y="434260"/>
                </a:lnTo>
                <a:close/>
              </a:path>
            </a:pathLst>
          </a:custGeom>
          <a:ln w="57150">
            <a:solidFill>
              <a:srgbClr val="2F528F"/>
            </a:solidFill>
          </a:ln>
        </p:spPr>
        <p:txBody>
          <a:bodyPr wrap="square" lIns="0" tIns="0" rIns="0" bIns="0" rtlCol="0"/>
          <a:lstStyle/>
          <a:p>
            <a:endParaRPr/>
          </a:p>
        </p:txBody>
      </p:sp>
      <p:sp>
        <p:nvSpPr>
          <p:cNvPr id="4" name="object 4"/>
          <p:cNvSpPr txBox="1"/>
          <p:nvPr/>
        </p:nvSpPr>
        <p:spPr>
          <a:xfrm>
            <a:off x="1525399" y="3461004"/>
            <a:ext cx="219710" cy="513080"/>
          </a:xfrm>
          <a:prstGeom prst="rect">
            <a:avLst/>
          </a:prstGeom>
        </p:spPr>
        <p:txBody>
          <a:bodyPr vert="horz" wrap="square" lIns="0" tIns="12700" rIns="0" bIns="0" rtlCol="0">
            <a:spAutoFit/>
          </a:bodyPr>
          <a:lstStyle/>
          <a:p>
            <a:pPr marL="12700">
              <a:lnSpc>
                <a:spcPct val="100000"/>
              </a:lnSpc>
              <a:spcBef>
                <a:spcPts val="100"/>
              </a:spcBef>
            </a:pPr>
            <a:r>
              <a:rPr sz="3200" b="1" spc="-50" dirty="0">
                <a:latin typeface="Calibri"/>
                <a:cs typeface="Calibri"/>
              </a:rPr>
              <a:t>Z</a:t>
            </a:r>
            <a:endParaRPr sz="3200">
              <a:latin typeface="Calibri"/>
              <a:cs typeface="Calibri"/>
            </a:endParaRPr>
          </a:p>
        </p:txBody>
      </p:sp>
      <p:sp>
        <p:nvSpPr>
          <p:cNvPr id="5" name="object 5"/>
          <p:cNvSpPr/>
          <p:nvPr/>
        </p:nvSpPr>
        <p:spPr>
          <a:xfrm>
            <a:off x="3128878" y="2492198"/>
            <a:ext cx="822960" cy="868680"/>
          </a:xfrm>
          <a:custGeom>
            <a:avLst/>
            <a:gdLst/>
            <a:ahLst/>
            <a:cxnLst/>
            <a:rect l="l" t="t" r="r" b="b"/>
            <a:pathLst>
              <a:path w="822960" h="868679">
                <a:moveTo>
                  <a:pt x="0" y="434260"/>
                </a:moveTo>
                <a:lnTo>
                  <a:pt x="2768" y="383616"/>
                </a:lnTo>
                <a:lnTo>
                  <a:pt x="10867" y="334688"/>
                </a:lnTo>
                <a:lnTo>
                  <a:pt x="23988" y="287802"/>
                </a:lnTo>
                <a:lnTo>
                  <a:pt x="41823" y="243283"/>
                </a:lnTo>
                <a:lnTo>
                  <a:pt x="64062" y="201458"/>
                </a:lnTo>
                <a:lnTo>
                  <a:pt x="90397" y="162652"/>
                </a:lnTo>
                <a:lnTo>
                  <a:pt x="120519" y="127191"/>
                </a:lnTo>
                <a:lnTo>
                  <a:pt x="154120" y="95402"/>
                </a:lnTo>
                <a:lnTo>
                  <a:pt x="190890" y="67609"/>
                </a:lnTo>
                <a:lnTo>
                  <a:pt x="230521" y="44138"/>
                </a:lnTo>
                <a:lnTo>
                  <a:pt x="272704" y="25316"/>
                </a:lnTo>
                <a:lnTo>
                  <a:pt x="317131" y="11469"/>
                </a:lnTo>
                <a:lnTo>
                  <a:pt x="363492" y="2921"/>
                </a:lnTo>
                <a:lnTo>
                  <a:pt x="411480" y="0"/>
                </a:lnTo>
                <a:lnTo>
                  <a:pt x="459467" y="2921"/>
                </a:lnTo>
                <a:lnTo>
                  <a:pt x="505828" y="11469"/>
                </a:lnTo>
                <a:lnTo>
                  <a:pt x="550255" y="25316"/>
                </a:lnTo>
                <a:lnTo>
                  <a:pt x="592438" y="44138"/>
                </a:lnTo>
                <a:lnTo>
                  <a:pt x="632069" y="67609"/>
                </a:lnTo>
                <a:lnTo>
                  <a:pt x="668839" y="95402"/>
                </a:lnTo>
                <a:lnTo>
                  <a:pt x="702440" y="127191"/>
                </a:lnTo>
                <a:lnTo>
                  <a:pt x="732562" y="162652"/>
                </a:lnTo>
                <a:lnTo>
                  <a:pt x="758897" y="201458"/>
                </a:lnTo>
                <a:lnTo>
                  <a:pt x="781136" y="243283"/>
                </a:lnTo>
                <a:lnTo>
                  <a:pt x="798971" y="287802"/>
                </a:lnTo>
                <a:lnTo>
                  <a:pt x="812092" y="334688"/>
                </a:lnTo>
                <a:lnTo>
                  <a:pt x="820191" y="383616"/>
                </a:lnTo>
                <a:lnTo>
                  <a:pt x="822960" y="434260"/>
                </a:lnTo>
                <a:lnTo>
                  <a:pt x="820191" y="484904"/>
                </a:lnTo>
                <a:lnTo>
                  <a:pt x="812092" y="533832"/>
                </a:lnTo>
                <a:lnTo>
                  <a:pt x="798971" y="580718"/>
                </a:lnTo>
                <a:lnTo>
                  <a:pt x="781136" y="625237"/>
                </a:lnTo>
                <a:lnTo>
                  <a:pt x="758897" y="667062"/>
                </a:lnTo>
                <a:lnTo>
                  <a:pt x="732562" y="705868"/>
                </a:lnTo>
                <a:lnTo>
                  <a:pt x="702440" y="741329"/>
                </a:lnTo>
                <a:lnTo>
                  <a:pt x="668839" y="773118"/>
                </a:lnTo>
                <a:lnTo>
                  <a:pt x="632069" y="800911"/>
                </a:lnTo>
                <a:lnTo>
                  <a:pt x="592438" y="824382"/>
                </a:lnTo>
                <a:lnTo>
                  <a:pt x="550255" y="843204"/>
                </a:lnTo>
                <a:lnTo>
                  <a:pt x="505828" y="857051"/>
                </a:lnTo>
                <a:lnTo>
                  <a:pt x="459467" y="865599"/>
                </a:lnTo>
                <a:lnTo>
                  <a:pt x="411480" y="868521"/>
                </a:lnTo>
                <a:lnTo>
                  <a:pt x="363492" y="865599"/>
                </a:lnTo>
                <a:lnTo>
                  <a:pt x="317131" y="857051"/>
                </a:lnTo>
                <a:lnTo>
                  <a:pt x="272704" y="843204"/>
                </a:lnTo>
                <a:lnTo>
                  <a:pt x="230521" y="824382"/>
                </a:lnTo>
                <a:lnTo>
                  <a:pt x="190890" y="800911"/>
                </a:lnTo>
                <a:lnTo>
                  <a:pt x="154120" y="773118"/>
                </a:lnTo>
                <a:lnTo>
                  <a:pt x="120519" y="741329"/>
                </a:lnTo>
                <a:lnTo>
                  <a:pt x="90397" y="705868"/>
                </a:lnTo>
                <a:lnTo>
                  <a:pt x="64062" y="667062"/>
                </a:lnTo>
                <a:lnTo>
                  <a:pt x="41823" y="625237"/>
                </a:lnTo>
                <a:lnTo>
                  <a:pt x="23988" y="580718"/>
                </a:lnTo>
                <a:lnTo>
                  <a:pt x="10867" y="533832"/>
                </a:lnTo>
                <a:lnTo>
                  <a:pt x="2768" y="484904"/>
                </a:lnTo>
                <a:lnTo>
                  <a:pt x="0" y="434260"/>
                </a:lnTo>
                <a:close/>
              </a:path>
            </a:pathLst>
          </a:custGeom>
          <a:ln w="57150">
            <a:solidFill>
              <a:srgbClr val="2F528F"/>
            </a:solidFill>
          </a:ln>
        </p:spPr>
        <p:txBody>
          <a:bodyPr wrap="square" lIns="0" tIns="0" rIns="0" bIns="0" rtlCol="0"/>
          <a:lstStyle/>
          <a:p>
            <a:endParaRPr/>
          </a:p>
        </p:txBody>
      </p:sp>
      <p:sp>
        <p:nvSpPr>
          <p:cNvPr id="6" name="object 6"/>
          <p:cNvSpPr txBox="1"/>
          <p:nvPr/>
        </p:nvSpPr>
        <p:spPr>
          <a:xfrm>
            <a:off x="3428983" y="2641092"/>
            <a:ext cx="290830" cy="513080"/>
          </a:xfrm>
          <a:prstGeom prst="rect">
            <a:avLst/>
          </a:prstGeom>
        </p:spPr>
        <p:txBody>
          <a:bodyPr vert="horz" wrap="square" lIns="0" tIns="12700" rIns="0" bIns="0" rtlCol="0">
            <a:spAutoFit/>
          </a:bodyPr>
          <a:lstStyle/>
          <a:p>
            <a:pPr marL="12700">
              <a:lnSpc>
                <a:spcPct val="100000"/>
              </a:lnSpc>
              <a:spcBef>
                <a:spcPts val="100"/>
              </a:spcBef>
            </a:pPr>
            <a:r>
              <a:rPr sz="3200" b="1" spc="-50" dirty="0">
                <a:latin typeface="Calibri"/>
                <a:cs typeface="Calibri"/>
              </a:rPr>
              <a:t>U</a:t>
            </a:r>
            <a:endParaRPr sz="3200">
              <a:latin typeface="Calibri"/>
              <a:cs typeface="Calibri"/>
            </a:endParaRPr>
          </a:p>
        </p:txBody>
      </p:sp>
      <p:sp>
        <p:nvSpPr>
          <p:cNvPr id="7" name="object 7"/>
          <p:cNvSpPr/>
          <p:nvPr/>
        </p:nvSpPr>
        <p:spPr>
          <a:xfrm>
            <a:off x="3128878" y="4379756"/>
            <a:ext cx="822960" cy="868680"/>
          </a:xfrm>
          <a:custGeom>
            <a:avLst/>
            <a:gdLst/>
            <a:ahLst/>
            <a:cxnLst/>
            <a:rect l="l" t="t" r="r" b="b"/>
            <a:pathLst>
              <a:path w="822960" h="868679">
                <a:moveTo>
                  <a:pt x="0" y="434260"/>
                </a:moveTo>
                <a:lnTo>
                  <a:pt x="2768" y="383616"/>
                </a:lnTo>
                <a:lnTo>
                  <a:pt x="10867" y="334688"/>
                </a:lnTo>
                <a:lnTo>
                  <a:pt x="23988" y="287802"/>
                </a:lnTo>
                <a:lnTo>
                  <a:pt x="41823" y="243283"/>
                </a:lnTo>
                <a:lnTo>
                  <a:pt x="64062" y="201458"/>
                </a:lnTo>
                <a:lnTo>
                  <a:pt x="90397" y="162652"/>
                </a:lnTo>
                <a:lnTo>
                  <a:pt x="120519" y="127191"/>
                </a:lnTo>
                <a:lnTo>
                  <a:pt x="154120" y="95402"/>
                </a:lnTo>
                <a:lnTo>
                  <a:pt x="190890" y="67609"/>
                </a:lnTo>
                <a:lnTo>
                  <a:pt x="230521" y="44138"/>
                </a:lnTo>
                <a:lnTo>
                  <a:pt x="272704" y="25316"/>
                </a:lnTo>
                <a:lnTo>
                  <a:pt x="317131" y="11469"/>
                </a:lnTo>
                <a:lnTo>
                  <a:pt x="363492" y="2921"/>
                </a:lnTo>
                <a:lnTo>
                  <a:pt x="411480" y="0"/>
                </a:lnTo>
                <a:lnTo>
                  <a:pt x="459467" y="2921"/>
                </a:lnTo>
                <a:lnTo>
                  <a:pt x="505828" y="11469"/>
                </a:lnTo>
                <a:lnTo>
                  <a:pt x="550255" y="25316"/>
                </a:lnTo>
                <a:lnTo>
                  <a:pt x="592438" y="44138"/>
                </a:lnTo>
                <a:lnTo>
                  <a:pt x="632069" y="67609"/>
                </a:lnTo>
                <a:lnTo>
                  <a:pt x="668839" y="95402"/>
                </a:lnTo>
                <a:lnTo>
                  <a:pt x="702440" y="127191"/>
                </a:lnTo>
                <a:lnTo>
                  <a:pt x="732562" y="162652"/>
                </a:lnTo>
                <a:lnTo>
                  <a:pt x="758897" y="201458"/>
                </a:lnTo>
                <a:lnTo>
                  <a:pt x="781136" y="243283"/>
                </a:lnTo>
                <a:lnTo>
                  <a:pt x="798971" y="287802"/>
                </a:lnTo>
                <a:lnTo>
                  <a:pt x="812092" y="334688"/>
                </a:lnTo>
                <a:lnTo>
                  <a:pt x="820191" y="383616"/>
                </a:lnTo>
                <a:lnTo>
                  <a:pt x="822960" y="434260"/>
                </a:lnTo>
                <a:lnTo>
                  <a:pt x="820191" y="484904"/>
                </a:lnTo>
                <a:lnTo>
                  <a:pt x="812092" y="533832"/>
                </a:lnTo>
                <a:lnTo>
                  <a:pt x="798971" y="580718"/>
                </a:lnTo>
                <a:lnTo>
                  <a:pt x="781136" y="625237"/>
                </a:lnTo>
                <a:lnTo>
                  <a:pt x="758897" y="667062"/>
                </a:lnTo>
                <a:lnTo>
                  <a:pt x="732562" y="705868"/>
                </a:lnTo>
                <a:lnTo>
                  <a:pt x="702440" y="741329"/>
                </a:lnTo>
                <a:lnTo>
                  <a:pt x="668839" y="773118"/>
                </a:lnTo>
                <a:lnTo>
                  <a:pt x="632069" y="800911"/>
                </a:lnTo>
                <a:lnTo>
                  <a:pt x="592438" y="824382"/>
                </a:lnTo>
                <a:lnTo>
                  <a:pt x="550255" y="843204"/>
                </a:lnTo>
                <a:lnTo>
                  <a:pt x="505828" y="857051"/>
                </a:lnTo>
                <a:lnTo>
                  <a:pt x="459467" y="865599"/>
                </a:lnTo>
                <a:lnTo>
                  <a:pt x="411480" y="868521"/>
                </a:lnTo>
                <a:lnTo>
                  <a:pt x="363492" y="865599"/>
                </a:lnTo>
                <a:lnTo>
                  <a:pt x="317131" y="857051"/>
                </a:lnTo>
                <a:lnTo>
                  <a:pt x="272704" y="843204"/>
                </a:lnTo>
                <a:lnTo>
                  <a:pt x="230521" y="824382"/>
                </a:lnTo>
                <a:lnTo>
                  <a:pt x="190890" y="800911"/>
                </a:lnTo>
                <a:lnTo>
                  <a:pt x="154120" y="773118"/>
                </a:lnTo>
                <a:lnTo>
                  <a:pt x="120519" y="741329"/>
                </a:lnTo>
                <a:lnTo>
                  <a:pt x="90397" y="705868"/>
                </a:lnTo>
                <a:lnTo>
                  <a:pt x="64062" y="667062"/>
                </a:lnTo>
                <a:lnTo>
                  <a:pt x="41823" y="625237"/>
                </a:lnTo>
                <a:lnTo>
                  <a:pt x="23988" y="580718"/>
                </a:lnTo>
                <a:lnTo>
                  <a:pt x="10867" y="533832"/>
                </a:lnTo>
                <a:lnTo>
                  <a:pt x="2768" y="484904"/>
                </a:lnTo>
                <a:lnTo>
                  <a:pt x="0" y="434260"/>
                </a:lnTo>
                <a:close/>
              </a:path>
            </a:pathLst>
          </a:custGeom>
          <a:ln w="57150">
            <a:solidFill>
              <a:srgbClr val="2F528F"/>
            </a:solidFill>
          </a:ln>
        </p:spPr>
        <p:txBody>
          <a:bodyPr wrap="square" lIns="0" tIns="0" rIns="0" bIns="0" rtlCol="0"/>
          <a:lstStyle/>
          <a:p>
            <a:endParaRPr/>
          </a:p>
        </p:txBody>
      </p:sp>
      <p:sp>
        <p:nvSpPr>
          <p:cNvPr id="8" name="object 8"/>
          <p:cNvSpPr txBox="1"/>
          <p:nvPr/>
        </p:nvSpPr>
        <p:spPr>
          <a:xfrm>
            <a:off x="3428983" y="4527804"/>
            <a:ext cx="254635" cy="513080"/>
          </a:xfrm>
          <a:prstGeom prst="rect">
            <a:avLst/>
          </a:prstGeom>
        </p:spPr>
        <p:txBody>
          <a:bodyPr vert="horz" wrap="square" lIns="0" tIns="12700" rIns="0" bIns="0" rtlCol="0">
            <a:spAutoFit/>
          </a:bodyPr>
          <a:lstStyle/>
          <a:p>
            <a:pPr marL="12700">
              <a:lnSpc>
                <a:spcPct val="100000"/>
              </a:lnSpc>
              <a:spcBef>
                <a:spcPts val="100"/>
              </a:spcBef>
            </a:pPr>
            <a:r>
              <a:rPr sz="3200" b="1" spc="-50" dirty="0">
                <a:latin typeface="Calibri"/>
                <a:cs typeface="Calibri"/>
              </a:rPr>
              <a:t>R</a:t>
            </a:r>
            <a:endParaRPr sz="3200">
              <a:latin typeface="Calibri"/>
              <a:cs typeface="Calibri"/>
            </a:endParaRPr>
          </a:p>
        </p:txBody>
      </p:sp>
      <p:sp>
        <p:nvSpPr>
          <p:cNvPr id="9" name="object 9"/>
          <p:cNvSpPr/>
          <p:nvPr/>
        </p:nvSpPr>
        <p:spPr>
          <a:xfrm>
            <a:off x="5671449" y="2495885"/>
            <a:ext cx="822960" cy="868680"/>
          </a:xfrm>
          <a:custGeom>
            <a:avLst/>
            <a:gdLst/>
            <a:ahLst/>
            <a:cxnLst/>
            <a:rect l="l" t="t" r="r" b="b"/>
            <a:pathLst>
              <a:path w="822960" h="868679">
                <a:moveTo>
                  <a:pt x="0" y="434260"/>
                </a:moveTo>
                <a:lnTo>
                  <a:pt x="2768" y="383616"/>
                </a:lnTo>
                <a:lnTo>
                  <a:pt x="10867" y="334688"/>
                </a:lnTo>
                <a:lnTo>
                  <a:pt x="23988" y="287802"/>
                </a:lnTo>
                <a:lnTo>
                  <a:pt x="41823" y="243283"/>
                </a:lnTo>
                <a:lnTo>
                  <a:pt x="64062" y="201458"/>
                </a:lnTo>
                <a:lnTo>
                  <a:pt x="90397" y="162652"/>
                </a:lnTo>
                <a:lnTo>
                  <a:pt x="120519" y="127191"/>
                </a:lnTo>
                <a:lnTo>
                  <a:pt x="154120" y="95402"/>
                </a:lnTo>
                <a:lnTo>
                  <a:pt x="190890" y="67609"/>
                </a:lnTo>
                <a:lnTo>
                  <a:pt x="230521" y="44138"/>
                </a:lnTo>
                <a:lnTo>
                  <a:pt x="272704" y="25316"/>
                </a:lnTo>
                <a:lnTo>
                  <a:pt x="317131" y="11469"/>
                </a:lnTo>
                <a:lnTo>
                  <a:pt x="363492" y="2921"/>
                </a:lnTo>
                <a:lnTo>
                  <a:pt x="411480" y="0"/>
                </a:lnTo>
                <a:lnTo>
                  <a:pt x="459467" y="2921"/>
                </a:lnTo>
                <a:lnTo>
                  <a:pt x="505828" y="11469"/>
                </a:lnTo>
                <a:lnTo>
                  <a:pt x="550255" y="25316"/>
                </a:lnTo>
                <a:lnTo>
                  <a:pt x="592438" y="44138"/>
                </a:lnTo>
                <a:lnTo>
                  <a:pt x="632069" y="67609"/>
                </a:lnTo>
                <a:lnTo>
                  <a:pt x="668839" y="95402"/>
                </a:lnTo>
                <a:lnTo>
                  <a:pt x="702440" y="127191"/>
                </a:lnTo>
                <a:lnTo>
                  <a:pt x="732562" y="162652"/>
                </a:lnTo>
                <a:lnTo>
                  <a:pt x="758897" y="201458"/>
                </a:lnTo>
                <a:lnTo>
                  <a:pt x="781136" y="243283"/>
                </a:lnTo>
                <a:lnTo>
                  <a:pt x="798971" y="287802"/>
                </a:lnTo>
                <a:lnTo>
                  <a:pt x="812092" y="334688"/>
                </a:lnTo>
                <a:lnTo>
                  <a:pt x="820191" y="383616"/>
                </a:lnTo>
                <a:lnTo>
                  <a:pt x="822960" y="434260"/>
                </a:lnTo>
                <a:lnTo>
                  <a:pt x="820191" y="484904"/>
                </a:lnTo>
                <a:lnTo>
                  <a:pt x="812092" y="533832"/>
                </a:lnTo>
                <a:lnTo>
                  <a:pt x="798971" y="580718"/>
                </a:lnTo>
                <a:lnTo>
                  <a:pt x="781136" y="625237"/>
                </a:lnTo>
                <a:lnTo>
                  <a:pt x="758897" y="667062"/>
                </a:lnTo>
                <a:lnTo>
                  <a:pt x="732562" y="705868"/>
                </a:lnTo>
                <a:lnTo>
                  <a:pt x="702440" y="741329"/>
                </a:lnTo>
                <a:lnTo>
                  <a:pt x="668839" y="773118"/>
                </a:lnTo>
                <a:lnTo>
                  <a:pt x="632069" y="800911"/>
                </a:lnTo>
                <a:lnTo>
                  <a:pt x="592438" y="824382"/>
                </a:lnTo>
                <a:lnTo>
                  <a:pt x="550255" y="843204"/>
                </a:lnTo>
                <a:lnTo>
                  <a:pt x="505828" y="857051"/>
                </a:lnTo>
                <a:lnTo>
                  <a:pt x="459467" y="865599"/>
                </a:lnTo>
                <a:lnTo>
                  <a:pt x="411480" y="868521"/>
                </a:lnTo>
                <a:lnTo>
                  <a:pt x="363492" y="865599"/>
                </a:lnTo>
                <a:lnTo>
                  <a:pt x="317131" y="857051"/>
                </a:lnTo>
                <a:lnTo>
                  <a:pt x="272704" y="843204"/>
                </a:lnTo>
                <a:lnTo>
                  <a:pt x="230521" y="824382"/>
                </a:lnTo>
                <a:lnTo>
                  <a:pt x="190890" y="800911"/>
                </a:lnTo>
                <a:lnTo>
                  <a:pt x="154120" y="773118"/>
                </a:lnTo>
                <a:lnTo>
                  <a:pt x="120519" y="741329"/>
                </a:lnTo>
                <a:lnTo>
                  <a:pt x="90397" y="705868"/>
                </a:lnTo>
                <a:lnTo>
                  <a:pt x="64062" y="667062"/>
                </a:lnTo>
                <a:lnTo>
                  <a:pt x="41823" y="625237"/>
                </a:lnTo>
                <a:lnTo>
                  <a:pt x="23988" y="580718"/>
                </a:lnTo>
                <a:lnTo>
                  <a:pt x="10867" y="533832"/>
                </a:lnTo>
                <a:lnTo>
                  <a:pt x="2768" y="484904"/>
                </a:lnTo>
                <a:lnTo>
                  <a:pt x="0" y="434260"/>
                </a:lnTo>
                <a:close/>
              </a:path>
            </a:pathLst>
          </a:custGeom>
          <a:ln w="57150">
            <a:solidFill>
              <a:srgbClr val="2F528F"/>
            </a:solidFill>
          </a:ln>
        </p:spPr>
        <p:txBody>
          <a:bodyPr wrap="square" lIns="0" tIns="0" rIns="0" bIns="0" rtlCol="0"/>
          <a:lstStyle/>
          <a:p>
            <a:endParaRPr/>
          </a:p>
        </p:txBody>
      </p:sp>
      <p:sp>
        <p:nvSpPr>
          <p:cNvPr id="10" name="object 10"/>
          <p:cNvSpPr txBox="1"/>
          <p:nvPr/>
        </p:nvSpPr>
        <p:spPr>
          <a:xfrm>
            <a:off x="5971552" y="2644140"/>
            <a:ext cx="249554" cy="513080"/>
          </a:xfrm>
          <a:prstGeom prst="rect">
            <a:avLst/>
          </a:prstGeom>
        </p:spPr>
        <p:txBody>
          <a:bodyPr vert="horz" wrap="square" lIns="0" tIns="12700" rIns="0" bIns="0" rtlCol="0">
            <a:spAutoFit/>
          </a:bodyPr>
          <a:lstStyle/>
          <a:p>
            <a:pPr marL="12700">
              <a:lnSpc>
                <a:spcPct val="100000"/>
              </a:lnSpc>
              <a:spcBef>
                <a:spcPts val="100"/>
              </a:spcBef>
            </a:pPr>
            <a:r>
              <a:rPr sz="3200" b="1" spc="-50" dirty="0">
                <a:latin typeface="Calibri"/>
                <a:cs typeface="Calibri"/>
              </a:rPr>
              <a:t>X</a:t>
            </a:r>
            <a:endParaRPr sz="3200">
              <a:latin typeface="Calibri"/>
              <a:cs typeface="Calibri"/>
            </a:endParaRPr>
          </a:p>
        </p:txBody>
      </p:sp>
      <p:sp>
        <p:nvSpPr>
          <p:cNvPr id="11" name="object 11"/>
          <p:cNvSpPr/>
          <p:nvPr/>
        </p:nvSpPr>
        <p:spPr>
          <a:xfrm>
            <a:off x="5671449" y="4376069"/>
            <a:ext cx="822960" cy="868680"/>
          </a:xfrm>
          <a:custGeom>
            <a:avLst/>
            <a:gdLst/>
            <a:ahLst/>
            <a:cxnLst/>
            <a:rect l="l" t="t" r="r" b="b"/>
            <a:pathLst>
              <a:path w="822960" h="868679">
                <a:moveTo>
                  <a:pt x="0" y="434260"/>
                </a:moveTo>
                <a:lnTo>
                  <a:pt x="2768" y="383616"/>
                </a:lnTo>
                <a:lnTo>
                  <a:pt x="10867" y="334688"/>
                </a:lnTo>
                <a:lnTo>
                  <a:pt x="23988" y="287802"/>
                </a:lnTo>
                <a:lnTo>
                  <a:pt x="41823" y="243283"/>
                </a:lnTo>
                <a:lnTo>
                  <a:pt x="64062" y="201458"/>
                </a:lnTo>
                <a:lnTo>
                  <a:pt x="90397" y="162652"/>
                </a:lnTo>
                <a:lnTo>
                  <a:pt x="120519" y="127191"/>
                </a:lnTo>
                <a:lnTo>
                  <a:pt x="154120" y="95402"/>
                </a:lnTo>
                <a:lnTo>
                  <a:pt x="190890" y="67609"/>
                </a:lnTo>
                <a:lnTo>
                  <a:pt x="230521" y="44138"/>
                </a:lnTo>
                <a:lnTo>
                  <a:pt x="272704" y="25316"/>
                </a:lnTo>
                <a:lnTo>
                  <a:pt x="317131" y="11469"/>
                </a:lnTo>
                <a:lnTo>
                  <a:pt x="363492" y="2921"/>
                </a:lnTo>
                <a:lnTo>
                  <a:pt x="411480" y="0"/>
                </a:lnTo>
                <a:lnTo>
                  <a:pt x="459467" y="2921"/>
                </a:lnTo>
                <a:lnTo>
                  <a:pt x="505828" y="11469"/>
                </a:lnTo>
                <a:lnTo>
                  <a:pt x="550255" y="25316"/>
                </a:lnTo>
                <a:lnTo>
                  <a:pt x="592438" y="44138"/>
                </a:lnTo>
                <a:lnTo>
                  <a:pt x="632069" y="67609"/>
                </a:lnTo>
                <a:lnTo>
                  <a:pt x="668839" y="95402"/>
                </a:lnTo>
                <a:lnTo>
                  <a:pt x="702440" y="127191"/>
                </a:lnTo>
                <a:lnTo>
                  <a:pt x="732562" y="162652"/>
                </a:lnTo>
                <a:lnTo>
                  <a:pt x="758897" y="201458"/>
                </a:lnTo>
                <a:lnTo>
                  <a:pt x="781136" y="243283"/>
                </a:lnTo>
                <a:lnTo>
                  <a:pt x="798971" y="287802"/>
                </a:lnTo>
                <a:lnTo>
                  <a:pt x="812092" y="334688"/>
                </a:lnTo>
                <a:lnTo>
                  <a:pt x="820191" y="383616"/>
                </a:lnTo>
                <a:lnTo>
                  <a:pt x="822960" y="434260"/>
                </a:lnTo>
                <a:lnTo>
                  <a:pt x="820191" y="484904"/>
                </a:lnTo>
                <a:lnTo>
                  <a:pt x="812092" y="533832"/>
                </a:lnTo>
                <a:lnTo>
                  <a:pt x="798971" y="580718"/>
                </a:lnTo>
                <a:lnTo>
                  <a:pt x="781136" y="625237"/>
                </a:lnTo>
                <a:lnTo>
                  <a:pt x="758897" y="667062"/>
                </a:lnTo>
                <a:lnTo>
                  <a:pt x="732562" y="705868"/>
                </a:lnTo>
                <a:lnTo>
                  <a:pt x="702440" y="741329"/>
                </a:lnTo>
                <a:lnTo>
                  <a:pt x="668839" y="773118"/>
                </a:lnTo>
                <a:lnTo>
                  <a:pt x="632069" y="800911"/>
                </a:lnTo>
                <a:lnTo>
                  <a:pt x="592438" y="824382"/>
                </a:lnTo>
                <a:lnTo>
                  <a:pt x="550255" y="843204"/>
                </a:lnTo>
                <a:lnTo>
                  <a:pt x="505828" y="857051"/>
                </a:lnTo>
                <a:lnTo>
                  <a:pt x="459467" y="865599"/>
                </a:lnTo>
                <a:lnTo>
                  <a:pt x="411480" y="868521"/>
                </a:lnTo>
                <a:lnTo>
                  <a:pt x="363492" y="865599"/>
                </a:lnTo>
                <a:lnTo>
                  <a:pt x="317131" y="857051"/>
                </a:lnTo>
                <a:lnTo>
                  <a:pt x="272704" y="843204"/>
                </a:lnTo>
                <a:lnTo>
                  <a:pt x="230521" y="824382"/>
                </a:lnTo>
                <a:lnTo>
                  <a:pt x="190890" y="800911"/>
                </a:lnTo>
                <a:lnTo>
                  <a:pt x="154120" y="773118"/>
                </a:lnTo>
                <a:lnTo>
                  <a:pt x="120519" y="741329"/>
                </a:lnTo>
                <a:lnTo>
                  <a:pt x="90397" y="705868"/>
                </a:lnTo>
                <a:lnTo>
                  <a:pt x="64062" y="667062"/>
                </a:lnTo>
                <a:lnTo>
                  <a:pt x="41823" y="625237"/>
                </a:lnTo>
                <a:lnTo>
                  <a:pt x="23988" y="580718"/>
                </a:lnTo>
                <a:lnTo>
                  <a:pt x="10867" y="533832"/>
                </a:lnTo>
                <a:lnTo>
                  <a:pt x="2768" y="484904"/>
                </a:lnTo>
                <a:lnTo>
                  <a:pt x="0" y="434260"/>
                </a:lnTo>
                <a:close/>
              </a:path>
            </a:pathLst>
          </a:custGeom>
          <a:ln w="57150">
            <a:solidFill>
              <a:srgbClr val="2F528F"/>
            </a:solidFill>
          </a:ln>
        </p:spPr>
        <p:txBody>
          <a:bodyPr wrap="square" lIns="0" tIns="0" rIns="0" bIns="0" rtlCol="0"/>
          <a:lstStyle/>
          <a:p>
            <a:endParaRPr/>
          </a:p>
        </p:txBody>
      </p:sp>
      <p:sp>
        <p:nvSpPr>
          <p:cNvPr id="12" name="object 12"/>
          <p:cNvSpPr txBox="1"/>
          <p:nvPr/>
        </p:nvSpPr>
        <p:spPr>
          <a:xfrm>
            <a:off x="5971552" y="4524755"/>
            <a:ext cx="236854" cy="513080"/>
          </a:xfrm>
          <a:prstGeom prst="rect">
            <a:avLst/>
          </a:prstGeom>
        </p:spPr>
        <p:txBody>
          <a:bodyPr vert="horz" wrap="square" lIns="0" tIns="12700" rIns="0" bIns="0" rtlCol="0">
            <a:spAutoFit/>
          </a:bodyPr>
          <a:lstStyle/>
          <a:p>
            <a:pPr marL="12700">
              <a:lnSpc>
                <a:spcPct val="100000"/>
              </a:lnSpc>
              <a:spcBef>
                <a:spcPts val="100"/>
              </a:spcBef>
            </a:pPr>
            <a:r>
              <a:rPr sz="3200" b="1" spc="-50" dirty="0">
                <a:latin typeface="Calibri"/>
                <a:cs typeface="Calibri"/>
              </a:rPr>
              <a:t>Y</a:t>
            </a:r>
            <a:endParaRPr sz="3200">
              <a:latin typeface="Calibri"/>
              <a:cs typeface="Calibri"/>
            </a:endParaRPr>
          </a:p>
        </p:txBody>
      </p:sp>
      <p:sp>
        <p:nvSpPr>
          <p:cNvPr id="13" name="object 13"/>
          <p:cNvSpPr/>
          <p:nvPr/>
        </p:nvSpPr>
        <p:spPr>
          <a:xfrm>
            <a:off x="7557558" y="3310286"/>
            <a:ext cx="822960" cy="868680"/>
          </a:xfrm>
          <a:custGeom>
            <a:avLst/>
            <a:gdLst/>
            <a:ahLst/>
            <a:cxnLst/>
            <a:rect l="l" t="t" r="r" b="b"/>
            <a:pathLst>
              <a:path w="822959" h="868679">
                <a:moveTo>
                  <a:pt x="0" y="434260"/>
                </a:moveTo>
                <a:lnTo>
                  <a:pt x="2768" y="383616"/>
                </a:lnTo>
                <a:lnTo>
                  <a:pt x="10867" y="334688"/>
                </a:lnTo>
                <a:lnTo>
                  <a:pt x="23988" y="287802"/>
                </a:lnTo>
                <a:lnTo>
                  <a:pt x="41823" y="243283"/>
                </a:lnTo>
                <a:lnTo>
                  <a:pt x="64062" y="201458"/>
                </a:lnTo>
                <a:lnTo>
                  <a:pt x="90397" y="162652"/>
                </a:lnTo>
                <a:lnTo>
                  <a:pt x="120519" y="127191"/>
                </a:lnTo>
                <a:lnTo>
                  <a:pt x="154120" y="95402"/>
                </a:lnTo>
                <a:lnTo>
                  <a:pt x="190890" y="67609"/>
                </a:lnTo>
                <a:lnTo>
                  <a:pt x="230521" y="44138"/>
                </a:lnTo>
                <a:lnTo>
                  <a:pt x="272704" y="25316"/>
                </a:lnTo>
                <a:lnTo>
                  <a:pt x="317131" y="11469"/>
                </a:lnTo>
                <a:lnTo>
                  <a:pt x="363492" y="2921"/>
                </a:lnTo>
                <a:lnTo>
                  <a:pt x="411480" y="0"/>
                </a:lnTo>
                <a:lnTo>
                  <a:pt x="459467" y="2921"/>
                </a:lnTo>
                <a:lnTo>
                  <a:pt x="505828" y="11469"/>
                </a:lnTo>
                <a:lnTo>
                  <a:pt x="550255" y="25316"/>
                </a:lnTo>
                <a:lnTo>
                  <a:pt x="592438" y="44138"/>
                </a:lnTo>
                <a:lnTo>
                  <a:pt x="632069" y="67609"/>
                </a:lnTo>
                <a:lnTo>
                  <a:pt x="668839" y="95402"/>
                </a:lnTo>
                <a:lnTo>
                  <a:pt x="702440" y="127191"/>
                </a:lnTo>
                <a:lnTo>
                  <a:pt x="732562" y="162652"/>
                </a:lnTo>
                <a:lnTo>
                  <a:pt x="758897" y="201458"/>
                </a:lnTo>
                <a:lnTo>
                  <a:pt x="781136" y="243283"/>
                </a:lnTo>
                <a:lnTo>
                  <a:pt x="798971" y="287802"/>
                </a:lnTo>
                <a:lnTo>
                  <a:pt x="812092" y="334688"/>
                </a:lnTo>
                <a:lnTo>
                  <a:pt x="820191" y="383616"/>
                </a:lnTo>
                <a:lnTo>
                  <a:pt x="822960" y="434260"/>
                </a:lnTo>
                <a:lnTo>
                  <a:pt x="820191" y="484904"/>
                </a:lnTo>
                <a:lnTo>
                  <a:pt x="812092" y="533832"/>
                </a:lnTo>
                <a:lnTo>
                  <a:pt x="798971" y="580718"/>
                </a:lnTo>
                <a:lnTo>
                  <a:pt x="781136" y="625237"/>
                </a:lnTo>
                <a:lnTo>
                  <a:pt x="758897" y="667062"/>
                </a:lnTo>
                <a:lnTo>
                  <a:pt x="732562" y="705868"/>
                </a:lnTo>
                <a:lnTo>
                  <a:pt x="702440" y="741329"/>
                </a:lnTo>
                <a:lnTo>
                  <a:pt x="668839" y="773118"/>
                </a:lnTo>
                <a:lnTo>
                  <a:pt x="632069" y="800911"/>
                </a:lnTo>
                <a:lnTo>
                  <a:pt x="592438" y="824382"/>
                </a:lnTo>
                <a:lnTo>
                  <a:pt x="550255" y="843204"/>
                </a:lnTo>
                <a:lnTo>
                  <a:pt x="505828" y="857051"/>
                </a:lnTo>
                <a:lnTo>
                  <a:pt x="459467" y="865599"/>
                </a:lnTo>
                <a:lnTo>
                  <a:pt x="411480" y="868521"/>
                </a:lnTo>
                <a:lnTo>
                  <a:pt x="363492" y="865599"/>
                </a:lnTo>
                <a:lnTo>
                  <a:pt x="317131" y="857051"/>
                </a:lnTo>
                <a:lnTo>
                  <a:pt x="272704" y="843204"/>
                </a:lnTo>
                <a:lnTo>
                  <a:pt x="230521" y="824382"/>
                </a:lnTo>
                <a:lnTo>
                  <a:pt x="190890" y="800911"/>
                </a:lnTo>
                <a:lnTo>
                  <a:pt x="154120" y="773118"/>
                </a:lnTo>
                <a:lnTo>
                  <a:pt x="120519" y="741329"/>
                </a:lnTo>
                <a:lnTo>
                  <a:pt x="90397" y="705868"/>
                </a:lnTo>
                <a:lnTo>
                  <a:pt x="64062" y="667062"/>
                </a:lnTo>
                <a:lnTo>
                  <a:pt x="41823" y="625237"/>
                </a:lnTo>
                <a:lnTo>
                  <a:pt x="23988" y="580718"/>
                </a:lnTo>
                <a:lnTo>
                  <a:pt x="10867" y="533832"/>
                </a:lnTo>
                <a:lnTo>
                  <a:pt x="2768" y="484904"/>
                </a:lnTo>
                <a:lnTo>
                  <a:pt x="0" y="434260"/>
                </a:lnTo>
                <a:close/>
              </a:path>
            </a:pathLst>
          </a:custGeom>
          <a:ln w="57150">
            <a:solidFill>
              <a:srgbClr val="2F528F"/>
            </a:solidFill>
          </a:ln>
        </p:spPr>
        <p:txBody>
          <a:bodyPr wrap="square" lIns="0" tIns="0" rIns="0" bIns="0" rtlCol="0"/>
          <a:lstStyle/>
          <a:p>
            <a:endParaRPr/>
          </a:p>
        </p:txBody>
      </p:sp>
      <p:sp>
        <p:nvSpPr>
          <p:cNvPr id="14" name="object 14"/>
          <p:cNvSpPr txBox="1"/>
          <p:nvPr/>
        </p:nvSpPr>
        <p:spPr>
          <a:xfrm>
            <a:off x="7857663" y="3461004"/>
            <a:ext cx="271780" cy="513080"/>
          </a:xfrm>
          <a:prstGeom prst="rect">
            <a:avLst/>
          </a:prstGeom>
        </p:spPr>
        <p:txBody>
          <a:bodyPr vert="horz" wrap="square" lIns="0" tIns="12700" rIns="0" bIns="0" rtlCol="0">
            <a:spAutoFit/>
          </a:bodyPr>
          <a:lstStyle/>
          <a:p>
            <a:pPr marL="12700">
              <a:lnSpc>
                <a:spcPct val="100000"/>
              </a:lnSpc>
              <a:spcBef>
                <a:spcPts val="100"/>
              </a:spcBef>
            </a:pPr>
            <a:r>
              <a:rPr sz="3200" b="1" spc="-50" dirty="0">
                <a:latin typeface="Calibri"/>
                <a:cs typeface="Calibri"/>
              </a:rPr>
              <a:t>A</a:t>
            </a:r>
            <a:endParaRPr sz="3200">
              <a:latin typeface="Calibri"/>
              <a:cs typeface="Calibri"/>
            </a:endParaRPr>
          </a:p>
        </p:txBody>
      </p:sp>
      <p:sp>
        <p:nvSpPr>
          <p:cNvPr id="15" name="object 15"/>
          <p:cNvSpPr/>
          <p:nvPr/>
        </p:nvSpPr>
        <p:spPr>
          <a:xfrm>
            <a:off x="1809483" y="2820149"/>
            <a:ext cx="5868670" cy="2112645"/>
          </a:xfrm>
          <a:custGeom>
            <a:avLst/>
            <a:gdLst/>
            <a:ahLst/>
            <a:cxnLst/>
            <a:rect l="l" t="t" r="r" b="b"/>
            <a:pathLst>
              <a:path w="5868670" h="2112645">
                <a:moveTo>
                  <a:pt x="1319390" y="1993874"/>
                </a:moveTo>
                <a:lnTo>
                  <a:pt x="1293139" y="1956346"/>
                </a:lnTo>
                <a:lnTo>
                  <a:pt x="1179042" y="1793138"/>
                </a:lnTo>
                <a:lnTo>
                  <a:pt x="1187018" y="1880539"/>
                </a:lnTo>
                <a:lnTo>
                  <a:pt x="34810" y="1255636"/>
                </a:lnTo>
                <a:lnTo>
                  <a:pt x="0" y="1319822"/>
                </a:lnTo>
                <a:lnTo>
                  <a:pt x="1152194" y="1944738"/>
                </a:lnTo>
                <a:lnTo>
                  <a:pt x="1074597" y="1985721"/>
                </a:lnTo>
                <a:lnTo>
                  <a:pt x="1319390" y="1993874"/>
                </a:lnTo>
                <a:close/>
              </a:path>
              <a:path w="5868670" h="2112645">
                <a:moveTo>
                  <a:pt x="1319390" y="106311"/>
                </a:moveTo>
                <a:lnTo>
                  <a:pt x="1074915" y="91287"/>
                </a:lnTo>
                <a:lnTo>
                  <a:pt x="1148308" y="139420"/>
                </a:lnTo>
                <a:lnTo>
                  <a:pt x="103949" y="583742"/>
                </a:lnTo>
                <a:lnTo>
                  <a:pt x="132537" y="650938"/>
                </a:lnTo>
                <a:lnTo>
                  <a:pt x="1176896" y="206616"/>
                </a:lnTo>
                <a:lnTo>
                  <a:pt x="1160678" y="292874"/>
                </a:lnTo>
                <a:lnTo>
                  <a:pt x="1299324" y="129895"/>
                </a:lnTo>
                <a:lnTo>
                  <a:pt x="1319390" y="106311"/>
                </a:lnTo>
                <a:close/>
              </a:path>
              <a:path w="5868670" h="2112645">
                <a:moveTo>
                  <a:pt x="3826916" y="2003234"/>
                </a:moveTo>
                <a:lnTo>
                  <a:pt x="3753662" y="1966417"/>
                </a:lnTo>
                <a:lnTo>
                  <a:pt x="3608070" y="1893227"/>
                </a:lnTo>
                <a:lnTo>
                  <a:pt x="3656596" y="1966366"/>
                </a:lnTo>
                <a:lnTo>
                  <a:pt x="2104745" y="1963039"/>
                </a:lnTo>
                <a:lnTo>
                  <a:pt x="2104656" y="2002929"/>
                </a:lnTo>
                <a:lnTo>
                  <a:pt x="2104580" y="2036064"/>
                </a:lnTo>
                <a:lnTo>
                  <a:pt x="3656431" y="2039391"/>
                </a:lnTo>
                <a:lnTo>
                  <a:pt x="3680790" y="2039442"/>
                </a:lnTo>
                <a:lnTo>
                  <a:pt x="3656406" y="2039442"/>
                </a:lnTo>
                <a:lnTo>
                  <a:pt x="3607612" y="2112302"/>
                </a:lnTo>
                <a:lnTo>
                  <a:pt x="3754120" y="2039442"/>
                </a:lnTo>
                <a:lnTo>
                  <a:pt x="3826916" y="2003234"/>
                </a:lnTo>
                <a:close/>
              </a:path>
              <a:path w="5868670" h="2112645">
                <a:moveTo>
                  <a:pt x="3861955" y="110007"/>
                </a:moveTo>
                <a:lnTo>
                  <a:pt x="3788702" y="73177"/>
                </a:lnTo>
                <a:lnTo>
                  <a:pt x="3643122" y="0"/>
                </a:lnTo>
                <a:lnTo>
                  <a:pt x="3691636" y="73126"/>
                </a:lnTo>
                <a:lnTo>
                  <a:pt x="2139785" y="69799"/>
                </a:lnTo>
                <a:lnTo>
                  <a:pt x="2139696" y="109689"/>
                </a:lnTo>
                <a:lnTo>
                  <a:pt x="2139632" y="142824"/>
                </a:lnTo>
                <a:lnTo>
                  <a:pt x="3691483" y="146151"/>
                </a:lnTo>
                <a:lnTo>
                  <a:pt x="3715829" y="146202"/>
                </a:lnTo>
                <a:lnTo>
                  <a:pt x="3691458" y="146202"/>
                </a:lnTo>
                <a:lnTo>
                  <a:pt x="3642652" y="219075"/>
                </a:lnTo>
                <a:lnTo>
                  <a:pt x="3789172" y="146202"/>
                </a:lnTo>
                <a:lnTo>
                  <a:pt x="3861955" y="110007"/>
                </a:lnTo>
                <a:close/>
              </a:path>
              <a:path w="5868670" h="2112645">
                <a:moveTo>
                  <a:pt x="3982478" y="417068"/>
                </a:moveTo>
                <a:lnTo>
                  <a:pt x="3738892" y="442722"/>
                </a:lnTo>
                <a:lnTo>
                  <a:pt x="3819233" y="478053"/>
                </a:lnTo>
                <a:lnTo>
                  <a:pt x="2983255" y="1012215"/>
                </a:lnTo>
                <a:lnTo>
                  <a:pt x="1998065" y="393217"/>
                </a:lnTo>
                <a:lnTo>
                  <a:pt x="1959216" y="455053"/>
                </a:lnTo>
                <a:lnTo>
                  <a:pt x="2915208" y="1055700"/>
                </a:lnTo>
                <a:lnTo>
                  <a:pt x="1980018" y="1653247"/>
                </a:lnTo>
                <a:lnTo>
                  <a:pt x="2019338" y="1714792"/>
                </a:lnTo>
                <a:lnTo>
                  <a:pt x="2983585" y="1098664"/>
                </a:lnTo>
                <a:lnTo>
                  <a:pt x="3818775" y="1623390"/>
                </a:lnTo>
                <a:lnTo>
                  <a:pt x="3858806" y="1605419"/>
                </a:lnTo>
                <a:lnTo>
                  <a:pt x="3818775" y="1623390"/>
                </a:lnTo>
                <a:lnTo>
                  <a:pt x="3738702" y="1659318"/>
                </a:lnTo>
                <a:lnTo>
                  <a:pt x="3982478" y="1683118"/>
                </a:lnTo>
                <a:lnTo>
                  <a:pt x="3954043" y="1636331"/>
                </a:lnTo>
                <a:lnTo>
                  <a:pt x="3855250" y="1473822"/>
                </a:lnTo>
                <a:lnTo>
                  <a:pt x="3857625" y="1561553"/>
                </a:lnTo>
                <a:lnTo>
                  <a:pt x="3051645" y="1055179"/>
                </a:lnTo>
                <a:lnTo>
                  <a:pt x="3858552" y="539584"/>
                </a:lnTo>
                <a:lnTo>
                  <a:pt x="3856850" y="627329"/>
                </a:lnTo>
                <a:lnTo>
                  <a:pt x="3953878" y="464947"/>
                </a:lnTo>
                <a:lnTo>
                  <a:pt x="3982478" y="417068"/>
                </a:lnTo>
                <a:close/>
              </a:path>
              <a:path w="5868670" h="2112645">
                <a:moveTo>
                  <a:pt x="5868594" y="1231468"/>
                </a:moveTo>
                <a:lnTo>
                  <a:pt x="5625135" y="1258303"/>
                </a:lnTo>
                <a:lnTo>
                  <a:pt x="5705640" y="1293241"/>
                </a:lnTo>
                <a:lnTo>
                  <a:pt x="4665116" y="1965185"/>
                </a:lnTo>
                <a:lnTo>
                  <a:pt x="4704727" y="2026539"/>
                </a:lnTo>
                <a:lnTo>
                  <a:pt x="5745264" y="1354582"/>
                </a:lnTo>
                <a:lnTo>
                  <a:pt x="5743981" y="1442339"/>
                </a:lnTo>
                <a:lnTo>
                  <a:pt x="5839892" y="1280033"/>
                </a:lnTo>
                <a:lnTo>
                  <a:pt x="5868594" y="1231468"/>
                </a:lnTo>
                <a:close/>
              </a:path>
              <a:path w="5868670" h="2112645">
                <a:moveTo>
                  <a:pt x="5868594" y="617334"/>
                </a:moveTo>
                <a:lnTo>
                  <a:pt x="5849798" y="595871"/>
                </a:lnTo>
                <a:lnTo>
                  <a:pt x="5707240" y="433057"/>
                </a:lnTo>
                <a:lnTo>
                  <a:pt x="5724677" y="519074"/>
                </a:lnTo>
                <a:lnTo>
                  <a:pt x="4698733" y="99720"/>
                </a:lnTo>
                <a:lnTo>
                  <a:pt x="4671111" y="167309"/>
                </a:lnTo>
                <a:lnTo>
                  <a:pt x="5697055" y="586663"/>
                </a:lnTo>
                <a:lnTo>
                  <a:pt x="5624360" y="635838"/>
                </a:lnTo>
                <a:lnTo>
                  <a:pt x="5868594" y="617334"/>
                </a:lnTo>
                <a:close/>
              </a:path>
            </a:pathLst>
          </a:custGeom>
          <a:solidFill>
            <a:srgbClr val="4472C4"/>
          </a:solidFill>
        </p:spPr>
        <p:txBody>
          <a:bodyPr wrap="square" lIns="0" tIns="0" rIns="0" bIns="0" rtlCol="0"/>
          <a:lstStyle/>
          <a:p>
            <a:endParaRPr/>
          </a:p>
        </p:txBody>
      </p:sp>
      <p:grpSp>
        <p:nvGrpSpPr>
          <p:cNvPr id="16" name="object 16"/>
          <p:cNvGrpSpPr/>
          <p:nvPr/>
        </p:nvGrpSpPr>
        <p:grpSpPr>
          <a:xfrm>
            <a:off x="9181438" y="2268090"/>
            <a:ext cx="2413635" cy="3370579"/>
            <a:chOff x="9181438" y="2268090"/>
            <a:chExt cx="2413635" cy="3370579"/>
          </a:xfrm>
        </p:grpSpPr>
        <p:pic>
          <p:nvPicPr>
            <p:cNvPr id="17" name="object 17"/>
            <p:cNvPicPr/>
            <p:nvPr/>
          </p:nvPicPr>
          <p:blipFill>
            <a:blip r:embed="rId2" cstate="print"/>
            <a:stretch>
              <a:fillRect/>
            </a:stretch>
          </p:blipFill>
          <p:spPr>
            <a:xfrm>
              <a:off x="10068514" y="2430512"/>
              <a:ext cx="1526294" cy="3207860"/>
            </a:xfrm>
            <a:prstGeom prst="rect">
              <a:avLst/>
            </a:prstGeom>
          </p:spPr>
        </p:pic>
        <p:pic>
          <p:nvPicPr>
            <p:cNvPr id="18" name="object 18"/>
            <p:cNvPicPr/>
            <p:nvPr/>
          </p:nvPicPr>
          <p:blipFill>
            <a:blip r:embed="rId3" cstate="print"/>
            <a:stretch>
              <a:fillRect/>
            </a:stretch>
          </p:blipFill>
          <p:spPr>
            <a:xfrm>
              <a:off x="9181438" y="2268090"/>
              <a:ext cx="1183669" cy="3369329"/>
            </a:xfrm>
            <a:prstGeom prst="rect">
              <a:avLst/>
            </a:prstGeom>
          </p:spPr>
        </p:pic>
      </p:grpSp>
      <p:sp>
        <p:nvSpPr>
          <p:cNvPr id="19" name="object 19"/>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16</a:t>
            </a:fld>
            <a:endParaRPr spc="-25" dirty="0"/>
          </a:p>
        </p:txBody>
      </p:sp>
      <p:pic>
        <p:nvPicPr>
          <p:cNvPr id="20" name="Picture 19">
            <a:extLst>
              <a:ext uri="{FF2B5EF4-FFF2-40B4-BE49-F238E27FC236}">
                <a16:creationId xmlns:a16="http://schemas.microsoft.com/office/drawing/2014/main" id="{CD106727-F12E-9224-F8D6-F3A4E84FBF38}"/>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16063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prstGeom prst="rect">
            <a:avLst/>
          </a:prstGeom>
        </p:spPr>
        <p:txBody>
          <a:bodyPr vert="horz" wrap="square" lIns="0" tIns="13970" rIns="0" bIns="0" rtlCol="0">
            <a:spAutoFit/>
          </a:bodyPr>
          <a:lstStyle/>
          <a:p>
            <a:pPr marL="12700">
              <a:lnSpc>
                <a:spcPct val="100000"/>
              </a:lnSpc>
              <a:spcBef>
                <a:spcPts val="110"/>
              </a:spcBef>
            </a:pPr>
            <a:r>
              <a:rPr spc="100" dirty="0"/>
              <a:t>Example</a:t>
            </a:r>
            <a:r>
              <a:rPr spc="135" dirty="0"/>
              <a:t> </a:t>
            </a:r>
            <a:r>
              <a:rPr spc="-50" dirty="0"/>
              <a:t>3</a:t>
            </a:r>
          </a:p>
        </p:txBody>
      </p:sp>
      <p:pic>
        <p:nvPicPr>
          <p:cNvPr id="3" name="object 3"/>
          <p:cNvPicPr/>
          <p:nvPr/>
        </p:nvPicPr>
        <p:blipFill>
          <a:blip r:embed="rId2" cstate="print"/>
          <a:stretch>
            <a:fillRect/>
          </a:stretch>
        </p:blipFill>
        <p:spPr>
          <a:xfrm>
            <a:off x="526599" y="2414764"/>
            <a:ext cx="11165028" cy="4355769"/>
          </a:xfrm>
          <a:prstGeom prst="rect">
            <a:avLst/>
          </a:prstGeom>
        </p:spPr>
      </p:pic>
      <p:sp>
        <p:nvSpPr>
          <p:cNvPr id="4" name="object 4"/>
          <p:cNvSpPr txBox="1"/>
          <p:nvPr/>
        </p:nvSpPr>
        <p:spPr>
          <a:xfrm>
            <a:off x="572954" y="1503171"/>
            <a:ext cx="11096625" cy="882015"/>
          </a:xfrm>
          <a:prstGeom prst="rect">
            <a:avLst/>
          </a:prstGeom>
        </p:spPr>
        <p:txBody>
          <a:bodyPr vert="horz" wrap="square" lIns="0" tIns="9525" rIns="0" bIns="0" rtlCol="0">
            <a:spAutoFit/>
          </a:bodyPr>
          <a:lstStyle/>
          <a:p>
            <a:pPr marL="12700" marR="5080">
              <a:lnSpc>
                <a:spcPct val="100699"/>
              </a:lnSpc>
              <a:spcBef>
                <a:spcPts val="75"/>
              </a:spcBef>
            </a:pPr>
            <a:r>
              <a:rPr sz="2800" dirty="0">
                <a:latin typeface="Calibri"/>
                <a:cs typeface="Calibri"/>
              </a:rPr>
              <a:t>New</a:t>
            </a:r>
            <a:r>
              <a:rPr sz="2800" spc="245" dirty="0">
                <a:latin typeface="Calibri"/>
                <a:cs typeface="Calibri"/>
              </a:rPr>
              <a:t> </a:t>
            </a:r>
            <a:r>
              <a:rPr sz="2800" dirty="0">
                <a:latin typeface="Calibri"/>
                <a:cs typeface="Calibri"/>
              </a:rPr>
              <a:t>automated</a:t>
            </a:r>
            <a:r>
              <a:rPr sz="2800" spc="254" dirty="0">
                <a:latin typeface="Calibri"/>
                <a:cs typeface="Calibri"/>
              </a:rPr>
              <a:t> </a:t>
            </a:r>
            <a:r>
              <a:rPr sz="2800" dirty="0">
                <a:latin typeface="Calibri"/>
                <a:cs typeface="Calibri"/>
              </a:rPr>
              <a:t>warehouse</a:t>
            </a:r>
            <a:r>
              <a:rPr sz="2800" spc="240" dirty="0">
                <a:latin typeface="Calibri"/>
                <a:cs typeface="Calibri"/>
              </a:rPr>
              <a:t> </a:t>
            </a:r>
            <a:r>
              <a:rPr sz="2800" dirty="0">
                <a:latin typeface="Calibri"/>
                <a:cs typeface="Calibri"/>
              </a:rPr>
              <a:t>system</a:t>
            </a:r>
            <a:r>
              <a:rPr sz="2800" spc="245" dirty="0">
                <a:latin typeface="Calibri"/>
                <a:cs typeface="Calibri"/>
              </a:rPr>
              <a:t> </a:t>
            </a:r>
            <a:r>
              <a:rPr sz="2800" dirty="0">
                <a:latin typeface="Calibri"/>
                <a:cs typeface="Calibri"/>
              </a:rPr>
              <a:t>for</a:t>
            </a:r>
            <a:r>
              <a:rPr sz="2800" spc="250" dirty="0">
                <a:latin typeface="Calibri"/>
                <a:cs typeface="Calibri"/>
              </a:rPr>
              <a:t> </a:t>
            </a:r>
            <a:r>
              <a:rPr sz="2800" dirty="0">
                <a:latin typeface="Calibri"/>
                <a:cs typeface="Calibri"/>
              </a:rPr>
              <a:t>picking</a:t>
            </a:r>
            <a:r>
              <a:rPr sz="2800" spc="245" dirty="0">
                <a:latin typeface="Calibri"/>
                <a:cs typeface="Calibri"/>
              </a:rPr>
              <a:t> </a:t>
            </a:r>
            <a:r>
              <a:rPr sz="2800" dirty="0">
                <a:latin typeface="Calibri"/>
                <a:cs typeface="Calibri"/>
              </a:rPr>
              <a:t>frozen</a:t>
            </a:r>
            <a:r>
              <a:rPr sz="2800" spc="250" dirty="0">
                <a:latin typeface="Calibri"/>
                <a:cs typeface="Calibri"/>
              </a:rPr>
              <a:t> </a:t>
            </a:r>
            <a:r>
              <a:rPr sz="2800" dirty="0">
                <a:latin typeface="Calibri"/>
                <a:cs typeface="Calibri"/>
              </a:rPr>
              <a:t>food</a:t>
            </a:r>
            <a:r>
              <a:rPr sz="2800" spc="254" dirty="0">
                <a:latin typeface="Calibri"/>
                <a:cs typeface="Calibri"/>
              </a:rPr>
              <a:t> </a:t>
            </a:r>
            <a:r>
              <a:rPr sz="2800" dirty="0">
                <a:latin typeface="Calibri"/>
                <a:cs typeface="Calibri"/>
              </a:rPr>
              <a:t>package</a:t>
            </a:r>
            <a:r>
              <a:rPr sz="2800" spc="240" dirty="0">
                <a:latin typeface="Calibri"/>
                <a:cs typeface="Calibri"/>
              </a:rPr>
              <a:t> </a:t>
            </a:r>
            <a:r>
              <a:rPr sz="2800" spc="-10" dirty="0">
                <a:latin typeface="Calibri"/>
                <a:cs typeface="Calibri"/>
              </a:rPr>
              <a:t>orders </a:t>
            </a:r>
            <a:r>
              <a:rPr sz="2800" dirty="0">
                <a:latin typeface="Calibri"/>
                <a:cs typeface="Calibri"/>
              </a:rPr>
              <a:t>and</a:t>
            </a:r>
            <a:r>
              <a:rPr sz="2800" spc="-50" dirty="0">
                <a:latin typeface="Calibri"/>
                <a:cs typeface="Calibri"/>
              </a:rPr>
              <a:t> </a:t>
            </a:r>
            <a:r>
              <a:rPr sz="2800" dirty="0">
                <a:latin typeface="Calibri"/>
                <a:cs typeface="Calibri"/>
              </a:rPr>
              <a:t>moving</a:t>
            </a:r>
            <a:r>
              <a:rPr sz="2800" spc="-50" dirty="0">
                <a:latin typeface="Calibri"/>
                <a:cs typeface="Calibri"/>
              </a:rPr>
              <a:t> </a:t>
            </a:r>
            <a:r>
              <a:rPr sz="2800" dirty="0">
                <a:latin typeface="Calibri"/>
                <a:cs typeface="Calibri"/>
              </a:rPr>
              <a:t>them</a:t>
            </a:r>
            <a:r>
              <a:rPr sz="2800" spc="-50" dirty="0">
                <a:latin typeface="Calibri"/>
                <a:cs typeface="Calibri"/>
              </a:rPr>
              <a:t> </a:t>
            </a:r>
            <a:r>
              <a:rPr sz="2800" dirty="0">
                <a:latin typeface="Calibri"/>
                <a:cs typeface="Calibri"/>
              </a:rPr>
              <a:t>to</a:t>
            </a:r>
            <a:r>
              <a:rPr sz="2800" spc="-50" dirty="0">
                <a:latin typeface="Calibri"/>
                <a:cs typeface="Calibri"/>
              </a:rPr>
              <a:t> </a:t>
            </a:r>
            <a:r>
              <a:rPr sz="2800" dirty="0">
                <a:latin typeface="Calibri"/>
                <a:cs typeface="Calibri"/>
              </a:rPr>
              <a:t>a</a:t>
            </a:r>
            <a:r>
              <a:rPr sz="2800" spc="-45" dirty="0">
                <a:latin typeface="Calibri"/>
                <a:cs typeface="Calibri"/>
              </a:rPr>
              <a:t> </a:t>
            </a:r>
            <a:r>
              <a:rPr sz="2800" dirty="0">
                <a:latin typeface="Calibri"/>
                <a:cs typeface="Calibri"/>
              </a:rPr>
              <a:t>staging</a:t>
            </a:r>
            <a:r>
              <a:rPr sz="2800" spc="-50" dirty="0">
                <a:latin typeface="Calibri"/>
                <a:cs typeface="Calibri"/>
              </a:rPr>
              <a:t> </a:t>
            </a:r>
            <a:r>
              <a:rPr sz="2800" dirty="0">
                <a:latin typeface="Calibri"/>
                <a:cs typeface="Calibri"/>
              </a:rPr>
              <a:t>area</a:t>
            </a:r>
            <a:r>
              <a:rPr sz="2800" spc="-50" dirty="0">
                <a:latin typeface="Calibri"/>
                <a:cs typeface="Calibri"/>
              </a:rPr>
              <a:t> </a:t>
            </a:r>
            <a:r>
              <a:rPr sz="2800" dirty="0">
                <a:latin typeface="Calibri"/>
                <a:cs typeface="Calibri"/>
              </a:rPr>
              <a:t>for</a:t>
            </a:r>
            <a:r>
              <a:rPr sz="2800" spc="-50" dirty="0">
                <a:latin typeface="Calibri"/>
                <a:cs typeface="Calibri"/>
              </a:rPr>
              <a:t> </a:t>
            </a:r>
            <a:r>
              <a:rPr sz="2800" dirty="0">
                <a:latin typeface="Calibri"/>
                <a:cs typeface="Calibri"/>
              </a:rPr>
              <a:t>delivery</a:t>
            </a:r>
            <a:r>
              <a:rPr sz="2800" spc="-55" dirty="0">
                <a:latin typeface="Calibri"/>
                <a:cs typeface="Calibri"/>
              </a:rPr>
              <a:t> </a:t>
            </a:r>
            <a:r>
              <a:rPr sz="2800" dirty="0">
                <a:latin typeface="Calibri"/>
                <a:cs typeface="Calibri"/>
              </a:rPr>
              <a:t>to</a:t>
            </a:r>
            <a:r>
              <a:rPr sz="2800" spc="-50" dirty="0">
                <a:latin typeface="Calibri"/>
                <a:cs typeface="Calibri"/>
              </a:rPr>
              <a:t> </a:t>
            </a:r>
            <a:r>
              <a:rPr sz="2800" spc="-10" dirty="0">
                <a:latin typeface="Calibri"/>
                <a:cs typeface="Calibri"/>
              </a:rPr>
              <a:t>stores</a:t>
            </a:r>
            <a:endParaRPr sz="2800">
              <a:latin typeface="Calibri"/>
              <a:cs typeface="Calibri"/>
            </a:endParaRPr>
          </a:p>
        </p:txBody>
      </p:sp>
      <p:sp>
        <p:nvSpPr>
          <p:cNvPr id="5" name="object 5"/>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17</a:t>
            </a:fld>
            <a:endParaRPr spc="-25" dirty="0"/>
          </a:p>
        </p:txBody>
      </p:sp>
      <p:pic>
        <p:nvPicPr>
          <p:cNvPr id="6" name="Picture 5">
            <a:extLst>
              <a:ext uri="{FF2B5EF4-FFF2-40B4-BE49-F238E27FC236}">
                <a16:creationId xmlns:a16="http://schemas.microsoft.com/office/drawing/2014/main" id="{F5D7AA65-553A-B0CF-B8B9-A2735DCEE24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6063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335098" y="58331"/>
            <a:ext cx="11824335" cy="6699884"/>
            <a:chOff x="335098" y="58331"/>
            <a:chExt cx="11824335" cy="6699884"/>
          </a:xfrm>
        </p:grpSpPr>
        <p:pic>
          <p:nvPicPr>
            <p:cNvPr id="3" name="object 3"/>
            <p:cNvPicPr/>
            <p:nvPr/>
          </p:nvPicPr>
          <p:blipFill>
            <a:blip r:embed="rId2" cstate="print"/>
            <a:stretch>
              <a:fillRect/>
            </a:stretch>
          </p:blipFill>
          <p:spPr>
            <a:xfrm>
              <a:off x="9089135" y="1727263"/>
              <a:ext cx="2672467" cy="5030786"/>
            </a:xfrm>
            <a:prstGeom prst="rect">
              <a:avLst/>
            </a:prstGeom>
          </p:spPr>
        </p:pic>
        <p:pic>
          <p:nvPicPr>
            <p:cNvPr id="4" name="object 4"/>
            <p:cNvPicPr/>
            <p:nvPr/>
          </p:nvPicPr>
          <p:blipFill>
            <a:blip r:embed="rId3" cstate="print"/>
            <a:stretch>
              <a:fillRect/>
            </a:stretch>
          </p:blipFill>
          <p:spPr>
            <a:xfrm>
              <a:off x="335098" y="1715080"/>
              <a:ext cx="4108885" cy="5030778"/>
            </a:xfrm>
            <a:prstGeom prst="rect">
              <a:avLst/>
            </a:prstGeom>
          </p:spPr>
        </p:pic>
        <p:pic>
          <p:nvPicPr>
            <p:cNvPr id="5" name="object 5"/>
            <p:cNvPicPr/>
            <p:nvPr/>
          </p:nvPicPr>
          <p:blipFill>
            <a:blip r:embed="rId4" cstate="print"/>
            <a:stretch>
              <a:fillRect/>
            </a:stretch>
          </p:blipFill>
          <p:spPr>
            <a:xfrm>
              <a:off x="4443984" y="1877749"/>
              <a:ext cx="2322575" cy="4591597"/>
            </a:xfrm>
            <a:prstGeom prst="rect">
              <a:avLst/>
            </a:prstGeom>
          </p:spPr>
        </p:pic>
        <p:pic>
          <p:nvPicPr>
            <p:cNvPr id="6" name="object 6"/>
            <p:cNvPicPr/>
            <p:nvPr/>
          </p:nvPicPr>
          <p:blipFill>
            <a:blip r:embed="rId5" cstate="print"/>
            <a:stretch>
              <a:fillRect/>
            </a:stretch>
          </p:blipFill>
          <p:spPr>
            <a:xfrm>
              <a:off x="6766560" y="1861315"/>
              <a:ext cx="2322574" cy="4592054"/>
            </a:xfrm>
            <a:prstGeom prst="rect">
              <a:avLst/>
            </a:prstGeom>
          </p:spPr>
        </p:pic>
        <p:pic>
          <p:nvPicPr>
            <p:cNvPr id="7" name="object 7"/>
            <p:cNvPicPr/>
            <p:nvPr/>
          </p:nvPicPr>
          <p:blipFill>
            <a:blip r:embed="rId6" cstate="print"/>
            <a:stretch>
              <a:fillRect/>
            </a:stretch>
          </p:blipFill>
          <p:spPr>
            <a:xfrm>
              <a:off x="9871029" y="601218"/>
              <a:ext cx="2288288" cy="2716719"/>
            </a:xfrm>
            <a:prstGeom prst="rect">
              <a:avLst/>
            </a:prstGeom>
          </p:spPr>
        </p:pic>
      </p:grpSp>
      <p:sp>
        <p:nvSpPr>
          <p:cNvPr id="8" name="object 8"/>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spc="110" dirty="0"/>
              <a:t>Solution</a:t>
            </a:r>
            <a:r>
              <a:rPr spc="125" dirty="0"/>
              <a:t> </a:t>
            </a:r>
            <a:r>
              <a:rPr spc="-50" dirty="0"/>
              <a:t>3</a:t>
            </a:r>
          </a:p>
        </p:txBody>
      </p:sp>
      <p:sp>
        <p:nvSpPr>
          <p:cNvPr id="9" name="object 9"/>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18</a:t>
            </a:fld>
            <a:endParaRPr spc="-25" dirty="0"/>
          </a:p>
        </p:txBody>
      </p:sp>
      <p:pic>
        <p:nvPicPr>
          <p:cNvPr id="10" name="Picture 9">
            <a:extLst>
              <a:ext uri="{FF2B5EF4-FFF2-40B4-BE49-F238E27FC236}">
                <a16:creationId xmlns:a16="http://schemas.microsoft.com/office/drawing/2014/main" id="{CC41C548-BE1F-1CA9-1DFA-39E54B346A7D}"/>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016063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448587-481B-9C5F-0C9D-3052992145C8}"/>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902B730F-921C-29BE-22F9-7670EA1630D9}"/>
              </a:ext>
            </a:extLst>
          </p:cNvPr>
          <p:cNvSpPr>
            <a:spLocks noGrp="1"/>
          </p:cNvSpPr>
          <p:nvPr>
            <p:ph type="body" idx="1"/>
          </p:nvPr>
        </p:nvSpPr>
        <p:spPr/>
        <p:txBody>
          <a:bodyPr/>
          <a:lstStyle/>
          <a:p>
            <a:endParaRPr lang="en-US" dirty="0"/>
          </a:p>
        </p:txBody>
      </p:sp>
      <p:pic>
        <p:nvPicPr>
          <p:cNvPr id="5" name="Picture 4">
            <a:extLst>
              <a:ext uri="{FF2B5EF4-FFF2-40B4-BE49-F238E27FC236}">
                <a16:creationId xmlns:a16="http://schemas.microsoft.com/office/drawing/2014/main" id="{8CB55D84-ED76-A9A0-722B-99B973210392}"/>
              </a:ext>
            </a:extLst>
          </p:cNvPr>
          <p:cNvPicPr>
            <a:picLocks noChangeAspect="1"/>
          </p:cNvPicPr>
          <p:nvPr/>
        </p:nvPicPr>
        <p:blipFill>
          <a:blip r:embed="rId2"/>
          <a:stretch>
            <a:fillRect/>
          </a:stretch>
        </p:blipFill>
        <p:spPr>
          <a:xfrm>
            <a:off x="1600200" y="1828800"/>
            <a:ext cx="9388411" cy="4810318"/>
          </a:xfrm>
          <a:prstGeom prst="rect">
            <a:avLst/>
          </a:prstGeom>
        </p:spPr>
      </p:pic>
    </p:spTree>
    <p:extLst>
      <p:ext uri="{BB962C8B-B14F-4D97-AF65-F5344CB8AC3E}">
        <p14:creationId xmlns:p14="http://schemas.microsoft.com/office/powerpoint/2010/main" val="14823048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spc="105" dirty="0"/>
              <a:t>Network</a:t>
            </a:r>
            <a:r>
              <a:rPr spc="125" dirty="0"/>
              <a:t> </a:t>
            </a:r>
            <a:r>
              <a:rPr spc="110" dirty="0"/>
              <a:t>Computation</a:t>
            </a:r>
            <a:r>
              <a:rPr spc="130" dirty="0"/>
              <a:t> </a:t>
            </a:r>
            <a:r>
              <a:rPr spc="90" dirty="0"/>
              <a:t>Process</a:t>
            </a:r>
            <a:r>
              <a:rPr spc="225" dirty="0"/>
              <a:t> </a:t>
            </a:r>
            <a:r>
              <a:rPr sz="1950" spc="-10" dirty="0"/>
              <a:t>(1/2)</a:t>
            </a:r>
            <a:endParaRPr sz="1950"/>
          </a:p>
        </p:txBody>
      </p:sp>
      <p:sp>
        <p:nvSpPr>
          <p:cNvPr id="4" name="object 4"/>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20</a:t>
            </a:fld>
            <a:endParaRPr spc="-25" dirty="0"/>
          </a:p>
        </p:txBody>
      </p:sp>
      <p:sp>
        <p:nvSpPr>
          <p:cNvPr id="3" name="object 3"/>
          <p:cNvSpPr txBox="1"/>
          <p:nvPr/>
        </p:nvSpPr>
        <p:spPr>
          <a:xfrm>
            <a:off x="633476" y="1697228"/>
            <a:ext cx="10924540" cy="4411980"/>
          </a:xfrm>
          <a:prstGeom prst="rect">
            <a:avLst/>
          </a:prstGeom>
        </p:spPr>
        <p:txBody>
          <a:bodyPr vert="horz" wrap="square" lIns="0" tIns="13970" rIns="0" bIns="0" rtlCol="0">
            <a:spAutoFit/>
          </a:bodyPr>
          <a:lstStyle/>
          <a:p>
            <a:pPr marL="469265" marR="5080" indent="-457200" algn="just">
              <a:lnSpc>
                <a:spcPct val="99700"/>
              </a:lnSpc>
              <a:spcBef>
                <a:spcPts val="110"/>
              </a:spcBef>
              <a:buFont typeface="Arial MT"/>
              <a:buChar char="•"/>
              <a:tabLst>
                <a:tab pos="469265" algn="l"/>
              </a:tabLst>
            </a:pPr>
            <a:r>
              <a:rPr sz="3600" dirty="0">
                <a:latin typeface="Calibri"/>
                <a:cs typeface="Calibri"/>
              </a:rPr>
              <a:t>Drawing</a:t>
            </a:r>
            <a:r>
              <a:rPr sz="3600" spc="125" dirty="0">
                <a:latin typeface="Calibri"/>
                <a:cs typeface="Calibri"/>
              </a:rPr>
              <a:t> </a:t>
            </a:r>
            <a:r>
              <a:rPr sz="3600" dirty="0">
                <a:latin typeface="Calibri"/>
                <a:cs typeface="Calibri"/>
              </a:rPr>
              <a:t>the</a:t>
            </a:r>
            <a:r>
              <a:rPr sz="3600" spc="125" dirty="0">
                <a:latin typeface="Calibri"/>
                <a:cs typeface="Calibri"/>
              </a:rPr>
              <a:t> </a:t>
            </a:r>
            <a:r>
              <a:rPr sz="3600" dirty="0">
                <a:latin typeface="Calibri"/>
                <a:cs typeface="Calibri"/>
              </a:rPr>
              <a:t>project</a:t>
            </a:r>
            <a:r>
              <a:rPr sz="3600" spc="120" dirty="0">
                <a:latin typeface="Calibri"/>
                <a:cs typeface="Calibri"/>
              </a:rPr>
              <a:t> </a:t>
            </a:r>
            <a:r>
              <a:rPr sz="3600" dirty="0">
                <a:latin typeface="Calibri"/>
                <a:cs typeface="Calibri"/>
              </a:rPr>
              <a:t>network</a:t>
            </a:r>
            <a:r>
              <a:rPr sz="3600" spc="120" dirty="0">
                <a:latin typeface="Calibri"/>
                <a:cs typeface="Calibri"/>
              </a:rPr>
              <a:t> </a:t>
            </a:r>
            <a:r>
              <a:rPr sz="3600" dirty="0">
                <a:latin typeface="Calibri"/>
                <a:cs typeface="Calibri"/>
              </a:rPr>
              <a:t>places</a:t>
            </a:r>
            <a:r>
              <a:rPr sz="3600" spc="135" dirty="0">
                <a:latin typeface="Calibri"/>
                <a:cs typeface="Calibri"/>
              </a:rPr>
              <a:t> </a:t>
            </a:r>
            <a:r>
              <a:rPr sz="3600" dirty="0">
                <a:latin typeface="Calibri"/>
                <a:cs typeface="Calibri"/>
              </a:rPr>
              <a:t>the</a:t>
            </a:r>
            <a:r>
              <a:rPr sz="3600" spc="125" dirty="0">
                <a:latin typeface="Calibri"/>
                <a:cs typeface="Calibri"/>
              </a:rPr>
              <a:t> </a:t>
            </a:r>
            <a:r>
              <a:rPr sz="3600" dirty="0">
                <a:latin typeface="Calibri"/>
                <a:cs typeface="Calibri"/>
              </a:rPr>
              <a:t>activities</a:t>
            </a:r>
            <a:r>
              <a:rPr sz="3600" spc="130" dirty="0">
                <a:latin typeface="Calibri"/>
                <a:cs typeface="Calibri"/>
              </a:rPr>
              <a:t> </a:t>
            </a:r>
            <a:r>
              <a:rPr sz="3600" dirty="0">
                <a:latin typeface="Calibri"/>
                <a:cs typeface="Calibri"/>
              </a:rPr>
              <a:t>in</a:t>
            </a:r>
            <a:r>
              <a:rPr sz="3600" spc="125" dirty="0">
                <a:latin typeface="Calibri"/>
                <a:cs typeface="Calibri"/>
              </a:rPr>
              <a:t> </a:t>
            </a:r>
            <a:r>
              <a:rPr sz="3600" spc="-25" dirty="0">
                <a:latin typeface="Calibri"/>
                <a:cs typeface="Calibri"/>
              </a:rPr>
              <a:t>the </a:t>
            </a:r>
            <a:r>
              <a:rPr sz="3600" dirty="0">
                <a:latin typeface="Calibri"/>
                <a:cs typeface="Calibri"/>
              </a:rPr>
              <a:t>right</a:t>
            </a:r>
            <a:r>
              <a:rPr sz="3600" spc="395" dirty="0">
                <a:latin typeface="Calibri"/>
                <a:cs typeface="Calibri"/>
              </a:rPr>
              <a:t> </a:t>
            </a:r>
            <a:r>
              <a:rPr sz="3600" dirty="0">
                <a:latin typeface="Calibri"/>
                <a:cs typeface="Calibri"/>
              </a:rPr>
              <a:t>sequence</a:t>
            </a:r>
            <a:r>
              <a:rPr sz="3600" spc="400" dirty="0">
                <a:latin typeface="Calibri"/>
                <a:cs typeface="Calibri"/>
              </a:rPr>
              <a:t> </a:t>
            </a:r>
            <a:r>
              <a:rPr sz="3600" dirty="0">
                <a:latin typeface="Calibri"/>
                <a:cs typeface="Calibri"/>
              </a:rPr>
              <a:t>for</a:t>
            </a:r>
            <a:r>
              <a:rPr sz="3600" spc="400" dirty="0">
                <a:latin typeface="Calibri"/>
                <a:cs typeface="Calibri"/>
              </a:rPr>
              <a:t> </a:t>
            </a:r>
            <a:r>
              <a:rPr sz="3600" dirty="0">
                <a:latin typeface="Calibri"/>
                <a:cs typeface="Calibri"/>
              </a:rPr>
              <a:t>computing</a:t>
            </a:r>
            <a:r>
              <a:rPr sz="3600" spc="409" dirty="0">
                <a:latin typeface="Calibri"/>
                <a:cs typeface="Calibri"/>
              </a:rPr>
              <a:t> </a:t>
            </a:r>
            <a:r>
              <a:rPr sz="3600" dirty="0">
                <a:latin typeface="Calibri"/>
                <a:cs typeface="Calibri"/>
              </a:rPr>
              <a:t>start</a:t>
            </a:r>
            <a:r>
              <a:rPr sz="3600" spc="400" dirty="0">
                <a:latin typeface="Calibri"/>
                <a:cs typeface="Calibri"/>
              </a:rPr>
              <a:t> </a:t>
            </a:r>
            <a:r>
              <a:rPr sz="3600" dirty="0">
                <a:latin typeface="Calibri"/>
                <a:cs typeface="Calibri"/>
              </a:rPr>
              <a:t>and</a:t>
            </a:r>
            <a:r>
              <a:rPr sz="3600" spc="395" dirty="0">
                <a:latin typeface="Calibri"/>
                <a:cs typeface="Calibri"/>
              </a:rPr>
              <a:t> </a:t>
            </a:r>
            <a:r>
              <a:rPr sz="3600" dirty="0">
                <a:latin typeface="Calibri"/>
                <a:cs typeface="Calibri"/>
              </a:rPr>
              <a:t>finish</a:t>
            </a:r>
            <a:r>
              <a:rPr sz="3600" spc="395" dirty="0">
                <a:latin typeface="Calibri"/>
                <a:cs typeface="Calibri"/>
              </a:rPr>
              <a:t> </a:t>
            </a:r>
            <a:r>
              <a:rPr sz="3600" dirty="0">
                <a:latin typeface="Calibri"/>
                <a:cs typeface="Calibri"/>
              </a:rPr>
              <a:t>times</a:t>
            </a:r>
            <a:r>
              <a:rPr sz="3600" spc="415" dirty="0">
                <a:latin typeface="Calibri"/>
                <a:cs typeface="Calibri"/>
              </a:rPr>
              <a:t> </a:t>
            </a:r>
            <a:r>
              <a:rPr sz="3600" spc="-25" dirty="0">
                <a:latin typeface="Calibri"/>
                <a:cs typeface="Calibri"/>
              </a:rPr>
              <a:t>of </a:t>
            </a:r>
            <a:r>
              <a:rPr sz="3600" spc="-10" dirty="0">
                <a:latin typeface="Calibri"/>
                <a:cs typeface="Calibri"/>
              </a:rPr>
              <a:t>activities.</a:t>
            </a:r>
            <a:endParaRPr sz="3600">
              <a:latin typeface="Calibri"/>
              <a:cs typeface="Calibri"/>
            </a:endParaRPr>
          </a:p>
          <a:p>
            <a:pPr marL="469265" marR="5080" indent="-457200" algn="just">
              <a:lnSpc>
                <a:spcPts val="4300"/>
              </a:lnSpc>
              <a:spcBef>
                <a:spcPts val="135"/>
              </a:spcBef>
              <a:buFont typeface="Arial MT"/>
              <a:buChar char="•"/>
              <a:tabLst>
                <a:tab pos="469265" algn="l"/>
              </a:tabLst>
            </a:pPr>
            <a:r>
              <a:rPr sz="3600" dirty="0">
                <a:solidFill>
                  <a:srgbClr val="C00000"/>
                </a:solidFill>
                <a:latin typeface="Calibri"/>
                <a:cs typeface="Calibri"/>
              </a:rPr>
              <a:t>Activity</a:t>
            </a:r>
            <a:r>
              <a:rPr sz="3600" spc="90" dirty="0">
                <a:solidFill>
                  <a:srgbClr val="C00000"/>
                </a:solidFill>
                <a:latin typeface="Calibri"/>
                <a:cs typeface="Calibri"/>
              </a:rPr>
              <a:t> </a:t>
            </a:r>
            <a:r>
              <a:rPr sz="3600" dirty="0">
                <a:solidFill>
                  <a:srgbClr val="C00000"/>
                </a:solidFill>
                <a:latin typeface="Calibri"/>
                <a:cs typeface="Calibri"/>
              </a:rPr>
              <a:t>time</a:t>
            </a:r>
            <a:r>
              <a:rPr sz="3600" spc="90" dirty="0">
                <a:solidFill>
                  <a:srgbClr val="C00000"/>
                </a:solidFill>
                <a:latin typeface="Calibri"/>
                <a:cs typeface="Calibri"/>
              </a:rPr>
              <a:t> </a:t>
            </a:r>
            <a:r>
              <a:rPr sz="3600" dirty="0">
                <a:solidFill>
                  <a:srgbClr val="C00000"/>
                </a:solidFill>
                <a:latin typeface="Calibri"/>
                <a:cs typeface="Calibri"/>
              </a:rPr>
              <a:t>estimates</a:t>
            </a:r>
            <a:r>
              <a:rPr sz="3600" spc="100" dirty="0">
                <a:solidFill>
                  <a:srgbClr val="C00000"/>
                </a:solidFill>
                <a:latin typeface="Calibri"/>
                <a:cs typeface="Calibri"/>
              </a:rPr>
              <a:t> </a:t>
            </a:r>
            <a:r>
              <a:rPr sz="3600" dirty="0">
                <a:solidFill>
                  <a:srgbClr val="C00000"/>
                </a:solidFill>
                <a:latin typeface="Calibri"/>
                <a:cs typeface="Calibri"/>
              </a:rPr>
              <a:t>are</a:t>
            </a:r>
            <a:r>
              <a:rPr sz="3600" spc="85" dirty="0">
                <a:solidFill>
                  <a:srgbClr val="C00000"/>
                </a:solidFill>
                <a:latin typeface="Calibri"/>
                <a:cs typeface="Calibri"/>
              </a:rPr>
              <a:t> </a:t>
            </a:r>
            <a:r>
              <a:rPr sz="3600" dirty="0">
                <a:solidFill>
                  <a:srgbClr val="C00000"/>
                </a:solidFill>
                <a:latin typeface="Calibri"/>
                <a:cs typeface="Calibri"/>
              </a:rPr>
              <a:t>taken</a:t>
            </a:r>
            <a:r>
              <a:rPr sz="3600" spc="85" dirty="0">
                <a:solidFill>
                  <a:srgbClr val="C00000"/>
                </a:solidFill>
                <a:latin typeface="Calibri"/>
                <a:cs typeface="Calibri"/>
              </a:rPr>
              <a:t> </a:t>
            </a:r>
            <a:r>
              <a:rPr sz="3600" dirty="0">
                <a:solidFill>
                  <a:srgbClr val="C00000"/>
                </a:solidFill>
                <a:latin typeface="Calibri"/>
                <a:cs typeface="Calibri"/>
              </a:rPr>
              <a:t>from</a:t>
            </a:r>
            <a:r>
              <a:rPr sz="3600" spc="90" dirty="0">
                <a:solidFill>
                  <a:srgbClr val="C00000"/>
                </a:solidFill>
                <a:latin typeface="Calibri"/>
                <a:cs typeface="Calibri"/>
              </a:rPr>
              <a:t> </a:t>
            </a:r>
            <a:r>
              <a:rPr sz="3600" dirty="0">
                <a:solidFill>
                  <a:srgbClr val="C00000"/>
                </a:solidFill>
                <a:latin typeface="Calibri"/>
                <a:cs typeface="Calibri"/>
              </a:rPr>
              <a:t>the</a:t>
            </a:r>
            <a:r>
              <a:rPr sz="3600" spc="90" dirty="0">
                <a:solidFill>
                  <a:srgbClr val="C00000"/>
                </a:solidFill>
                <a:latin typeface="Calibri"/>
                <a:cs typeface="Calibri"/>
              </a:rPr>
              <a:t> </a:t>
            </a:r>
            <a:r>
              <a:rPr sz="3600" dirty="0">
                <a:solidFill>
                  <a:srgbClr val="C00000"/>
                </a:solidFill>
                <a:latin typeface="Calibri"/>
                <a:cs typeface="Calibri"/>
              </a:rPr>
              <a:t>task</a:t>
            </a:r>
            <a:r>
              <a:rPr sz="3600" spc="95" dirty="0">
                <a:solidFill>
                  <a:srgbClr val="C00000"/>
                </a:solidFill>
                <a:latin typeface="Calibri"/>
                <a:cs typeface="Calibri"/>
              </a:rPr>
              <a:t> </a:t>
            </a:r>
            <a:r>
              <a:rPr sz="3600" dirty="0">
                <a:solidFill>
                  <a:srgbClr val="C00000"/>
                </a:solidFill>
                <a:latin typeface="Calibri"/>
                <a:cs typeface="Calibri"/>
              </a:rPr>
              <a:t>times</a:t>
            </a:r>
            <a:r>
              <a:rPr sz="3600" spc="95" dirty="0">
                <a:solidFill>
                  <a:srgbClr val="C00000"/>
                </a:solidFill>
                <a:latin typeface="Calibri"/>
                <a:cs typeface="Calibri"/>
              </a:rPr>
              <a:t> </a:t>
            </a:r>
            <a:r>
              <a:rPr sz="3600" spc="-25" dirty="0">
                <a:solidFill>
                  <a:srgbClr val="C00000"/>
                </a:solidFill>
                <a:latin typeface="Calibri"/>
                <a:cs typeface="Calibri"/>
              </a:rPr>
              <a:t>in </a:t>
            </a:r>
            <a:r>
              <a:rPr sz="3600" dirty="0">
                <a:solidFill>
                  <a:srgbClr val="C00000"/>
                </a:solidFill>
                <a:latin typeface="Calibri"/>
                <a:cs typeface="Calibri"/>
              </a:rPr>
              <a:t>the</a:t>
            </a:r>
            <a:r>
              <a:rPr sz="3600" spc="-60" dirty="0">
                <a:solidFill>
                  <a:srgbClr val="C00000"/>
                </a:solidFill>
                <a:latin typeface="Calibri"/>
                <a:cs typeface="Calibri"/>
              </a:rPr>
              <a:t> </a:t>
            </a:r>
            <a:r>
              <a:rPr sz="3600" dirty="0">
                <a:solidFill>
                  <a:srgbClr val="C00000"/>
                </a:solidFill>
                <a:latin typeface="Calibri"/>
                <a:cs typeface="Calibri"/>
              </a:rPr>
              <a:t>work</a:t>
            </a:r>
            <a:r>
              <a:rPr sz="3600" spc="-55" dirty="0">
                <a:solidFill>
                  <a:srgbClr val="C00000"/>
                </a:solidFill>
                <a:latin typeface="Calibri"/>
                <a:cs typeface="Calibri"/>
              </a:rPr>
              <a:t> </a:t>
            </a:r>
            <a:r>
              <a:rPr sz="3600" dirty="0">
                <a:solidFill>
                  <a:srgbClr val="C00000"/>
                </a:solidFill>
                <a:latin typeface="Calibri"/>
                <a:cs typeface="Calibri"/>
              </a:rPr>
              <a:t>package</a:t>
            </a:r>
            <a:r>
              <a:rPr sz="3600" spc="-60" dirty="0">
                <a:solidFill>
                  <a:srgbClr val="C00000"/>
                </a:solidFill>
                <a:latin typeface="Calibri"/>
                <a:cs typeface="Calibri"/>
              </a:rPr>
              <a:t> </a:t>
            </a:r>
            <a:r>
              <a:rPr sz="3600" dirty="0">
                <a:solidFill>
                  <a:srgbClr val="C00000"/>
                </a:solidFill>
                <a:latin typeface="Calibri"/>
                <a:cs typeface="Calibri"/>
              </a:rPr>
              <a:t>and</a:t>
            </a:r>
            <a:r>
              <a:rPr sz="3600" spc="-60" dirty="0">
                <a:solidFill>
                  <a:srgbClr val="C00000"/>
                </a:solidFill>
                <a:latin typeface="Calibri"/>
                <a:cs typeface="Calibri"/>
              </a:rPr>
              <a:t> </a:t>
            </a:r>
            <a:r>
              <a:rPr sz="3600" dirty="0">
                <a:solidFill>
                  <a:srgbClr val="C00000"/>
                </a:solidFill>
                <a:latin typeface="Calibri"/>
                <a:cs typeface="Calibri"/>
              </a:rPr>
              <a:t>added</a:t>
            </a:r>
            <a:r>
              <a:rPr sz="3600" spc="-60" dirty="0">
                <a:solidFill>
                  <a:srgbClr val="C00000"/>
                </a:solidFill>
                <a:latin typeface="Calibri"/>
                <a:cs typeface="Calibri"/>
              </a:rPr>
              <a:t> </a:t>
            </a:r>
            <a:r>
              <a:rPr sz="3600" dirty="0">
                <a:solidFill>
                  <a:srgbClr val="C00000"/>
                </a:solidFill>
                <a:latin typeface="Calibri"/>
                <a:cs typeface="Calibri"/>
              </a:rPr>
              <a:t>to</a:t>
            </a:r>
            <a:r>
              <a:rPr sz="3600" spc="-50" dirty="0">
                <a:solidFill>
                  <a:srgbClr val="C00000"/>
                </a:solidFill>
                <a:latin typeface="Calibri"/>
                <a:cs typeface="Calibri"/>
              </a:rPr>
              <a:t> </a:t>
            </a:r>
            <a:r>
              <a:rPr sz="3600" dirty="0">
                <a:solidFill>
                  <a:srgbClr val="C00000"/>
                </a:solidFill>
                <a:latin typeface="Calibri"/>
                <a:cs typeface="Calibri"/>
              </a:rPr>
              <a:t>the</a:t>
            </a:r>
            <a:r>
              <a:rPr sz="3600" spc="-60" dirty="0">
                <a:solidFill>
                  <a:srgbClr val="C00000"/>
                </a:solidFill>
                <a:latin typeface="Calibri"/>
                <a:cs typeface="Calibri"/>
              </a:rPr>
              <a:t> </a:t>
            </a:r>
            <a:r>
              <a:rPr sz="3600" spc="-10" dirty="0">
                <a:solidFill>
                  <a:srgbClr val="C00000"/>
                </a:solidFill>
                <a:latin typeface="Calibri"/>
                <a:cs typeface="Calibri"/>
              </a:rPr>
              <a:t>network.</a:t>
            </a:r>
            <a:endParaRPr sz="3600">
              <a:latin typeface="Calibri"/>
              <a:cs typeface="Calibri"/>
            </a:endParaRPr>
          </a:p>
          <a:p>
            <a:pPr marL="469265" indent="-457200" algn="just">
              <a:lnSpc>
                <a:spcPts val="4250"/>
              </a:lnSpc>
              <a:buFont typeface="Arial MT"/>
              <a:buChar char="•"/>
              <a:tabLst>
                <a:tab pos="469265" algn="l"/>
              </a:tabLst>
            </a:pPr>
            <a:r>
              <a:rPr sz="3600" dirty="0">
                <a:latin typeface="Calibri"/>
                <a:cs typeface="Calibri"/>
              </a:rPr>
              <a:t>Performing</a:t>
            </a:r>
            <a:r>
              <a:rPr sz="3600" spc="375" dirty="0">
                <a:latin typeface="Calibri"/>
                <a:cs typeface="Calibri"/>
              </a:rPr>
              <a:t>  </a:t>
            </a:r>
            <a:r>
              <a:rPr sz="3600" dirty="0">
                <a:latin typeface="Calibri"/>
                <a:cs typeface="Calibri"/>
              </a:rPr>
              <a:t>a</a:t>
            </a:r>
            <a:r>
              <a:rPr sz="3600" spc="370" dirty="0">
                <a:latin typeface="Calibri"/>
                <a:cs typeface="Calibri"/>
              </a:rPr>
              <a:t>  </a:t>
            </a:r>
            <a:r>
              <a:rPr sz="3600" dirty="0">
                <a:latin typeface="Calibri"/>
                <a:cs typeface="Calibri"/>
              </a:rPr>
              <a:t>few</a:t>
            </a:r>
            <a:r>
              <a:rPr sz="3600" spc="375" dirty="0">
                <a:latin typeface="Calibri"/>
                <a:cs typeface="Calibri"/>
              </a:rPr>
              <a:t>  </a:t>
            </a:r>
            <a:r>
              <a:rPr sz="3600" dirty="0">
                <a:latin typeface="Calibri"/>
                <a:cs typeface="Calibri"/>
              </a:rPr>
              <a:t>simple</a:t>
            </a:r>
            <a:r>
              <a:rPr sz="3600" spc="370" dirty="0">
                <a:latin typeface="Calibri"/>
                <a:cs typeface="Calibri"/>
              </a:rPr>
              <a:t>  </a:t>
            </a:r>
            <a:r>
              <a:rPr sz="3600" dirty="0">
                <a:latin typeface="Calibri"/>
                <a:cs typeface="Calibri"/>
              </a:rPr>
              <a:t>computations</a:t>
            </a:r>
            <a:r>
              <a:rPr sz="3600" spc="370" dirty="0">
                <a:latin typeface="Calibri"/>
                <a:cs typeface="Calibri"/>
              </a:rPr>
              <a:t>  </a:t>
            </a:r>
            <a:r>
              <a:rPr sz="3600" dirty="0">
                <a:latin typeface="Calibri"/>
                <a:cs typeface="Calibri"/>
              </a:rPr>
              <a:t>allows</a:t>
            </a:r>
            <a:r>
              <a:rPr sz="3600" spc="375" dirty="0">
                <a:latin typeface="Calibri"/>
                <a:cs typeface="Calibri"/>
              </a:rPr>
              <a:t>  </a:t>
            </a:r>
            <a:r>
              <a:rPr sz="3600" spc="-25" dirty="0">
                <a:latin typeface="Calibri"/>
                <a:cs typeface="Calibri"/>
              </a:rPr>
              <a:t>the</a:t>
            </a:r>
            <a:endParaRPr sz="3600">
              <a:latin typeface="Calibri"/>
              <a:cs typeface="Calibri"/>
            </a:endParaRPr>
          </a:p>
          <a:p>
            <a:pPr marL="469265" marR="5080" algn="just">
              <a:lnSpc>
                <a:spcPts val="4300"/>
              </a:lnSpc>
              <a:spcBef>
                <a:spcPts val="120"/>
              </a:spcBef>
            </a:pPr>
            <a:r>
              <a:rPr sz="3600" dirty="0">
                <a:latin typeface="Calibri"/>
                <a:cs typeface="Calibri"/>
              </a:rPr>
              <a:t>project</a:t>
            </a:r>
            <a:r>
              <a:rPr sz="3600" spc="520" dirty="0">
                <a:latin typeface="Calibri"/>
                <a:cs typeface="Calibri"/>
              </a:rPr>
              <a:t> </a:t>
            </a:r>
            <a:r>
              <a:rPr sz="3600" dirty="0">
                <a:latin typeface="Calibri"/>
                <a:cs typeface="Calibri"/>
              </a:rPr>
              <a:t>manager</a:t>
            </a:r>
            <a:r>
              <a:rPr sz="3600" spc="525" dirty="0">
                <a:latin typeface="Calibri"/>
                <a:cs typeface="Calibri"/>
              </a:rPr>
              <a:t> </a:t>
            </a:r>
            <a:r>
              <a:rPr sz="3600" dirty="0">
                <a:latin typeface="Calibri"/>
                <a:cs typeface="Calibri"/>
              </a:rPr>
              <a:t>to</a:t>
            </a:r>
            <a:r>
              <a:rPr sz="3600" spc="535" dirty="0">
                <a:latin typeface="Calibri"/>
                <a:cs typeface="Calibri"/>
              </a:rPr>
              <a:t> </a:t>
            </a:r>
            <a:r>
              <a:rPr sz="3600" dirty="0">
                <a:latin typeface="Calibri"/>
                <a:cs typeface="Calibri"/>
              </a:rPr>
              <a:t>complete</a:t>
            </a:r>
            <a:r>
              <a:rPr sz="3600" spc="535" dirty="0">
                <a:latin typeface="Calibri"/>
                <a:cs typeface="Calibri"/>
              </a:rPr>
              <a:t> </a:t>
            </a:r>
            <a:r>
              <a:rPr sz="3600" dirty="0">
                <a:latin typeface="Calibri"/>
                <a:cs typeface="Calibri"/>
              </a:rPr>
              <a:t>a</a:t>
            </a:r>
            <a:r>
              <a:rPr sz="3600" spc="530" dirty="0">
                <a:latin typeface="Calibri"/>
                <a:cs typeface="Calibri"/>
              </a:rPr>
              <a:t> </a:t>
            </a:r>
            <a:r>
              <a:rPr sz="3600" dirty="0">
                <a:latin typeface="Calibri"/>
                <a:cs typeface="Calibri"/>
              </a:rPr>
              <a:t>process</a:t>
            </a:r>
            <a:r>
              <a:rPr sz="3600" spc="535" dirty="0">
                <a:latin typeface="Calibri"/>
                <a:cs typeface="Calibri"/>
              </a:rPr>
              <a:t> </a:t>
            </a:r>
            <a:r>
              <a:rPr sz="3600" dirty="0">
                <a:latin typeface="Calibri"/>
                <a:cs typeface="Calibri"/>
              </a:rPr>
              <a:t>known</a:t>
            </a:r>
            <a:r>
              <a:rPr sz="3600" spc="535" dirty="0">
                <a:latin typeface="Calibri"/>
                <a:cs typeface="Calibri"/>
              </a:rPr>
              <a:t> </a:t>
            </a:r>
            <a:r>
              <a:rPr sz="3600" dirty="0">
                <a:latin typeface="Calibri"/>
                <a:cs typeface="Calibri"/>
              </a:rPr>
              <a:t>as</a:t>
            </a:r>
            <a:r>
              <a:rPr sz="3600" spc="540" dirty="0">
                <a:latin typeface="Calibri"/>
                <a:cs typeface="Calibri"/>
              </a:rPr>
              <a:t> </a:t>
            </a:r>
            <a:r>
              <a:rPr sz="3600" spc="-25" dirty="0">
                <a:latin typeface="Calibri"/>
                <a:cs typeface="Calibri"/>
              </a:rPr>
              <a:t>the </a:t>
            </a:r>
            <a:r>
              <a:rPr sz="3600" spc="-10" dirty="0">
                <a:latin typeface="Calibri"/>
                <a:cs typeface="Calibri"/>
              </a:rPr>
              <a:t>forward</a:t>
            </a:r>
            <a:r>
              <a:rPr sz="3600" spc="-125" dirty="0">
                <a:latin typeface="Calibri"/>
                <a:cs typeface="Calibri"/>
              </a:rPr>
              <a:t> </a:t>
            </a:r>
            <a:r>
              <a:rPr sz="3600" dirty="0">
                <a:latin typeface="Calibri"/>
                <a:cs typeface="Calibri"/>
              </a:rPr>
              <a:t>and</a:t>
            </a:r>
            <a:r>
              <a:rPr sz="3600" spc="-125" dirty="0">
                <a:latin typeface="Calibri"/>
                <a:cs typeface="Calibri"/>
              </a:rPr>
              <a:t> </a:t>
            </a:r>
            <a:r>
              <a:rPr sz="3600" dirty="0">
                <a:latin typeface="Calibri"/>
                <a:cs typeface="Calibri"/>
              </a:rPr>
              <a:t>backward</a:t>
            </a:r>
            <a:r>
              <a:rPr sz="3600" spc="-130" dirty="0">
                <a:latin typeface="Calibri"/>
                <a:cs typeface="Calibri"/>
              </a:rPr>
              <a:t> </a:t>
            </a:r>
            <a:r>
              <a:rPr sz="3600" spc="-10" dirty="0">
                <a:latin typeface="Calibri"/>
                <a:cs typeface="Calibri"/>
              </a:rPr>
              <a:t>pass.</a:t>
            </a:r>
            <a:endParaRPr sz="3600">
              <a:latin typeface="Calibri"/>
              <a:cs typeface="Calibri"/>
            </a:endParaRPr>
          </a:p>
        </p:txBody>
      </p:sp>
      <p:pic>
        <p:nvPicPr>
          <p:cNvPr id="5" name="Picture 4">
            <a:extLst>
              <a:ext uri="{FF2B5EF4-FFF2-40B4-BE49-F238E27FC236}">
                <a16:creationId xmlns:a16="http://schemas.microsoft.com/office/drawing/2014/main" id="{6CED1A24-5A78-9CA6-C56D-11A63E5A4E9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16063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spc="105" dirty="0"/>
              <a:t>Network</a:t>
            </a:r>
            <a:r>
              <a:rPr spc="125" dirty="0"/>
              <a:t> </a:t>
            </a:r>
            <a:r>
              <a:rPr spc="110" dirty="0"/>
              <a:t>Computation</a:t>
            </a:r>
            <a:r>
              <a:rPr spc="130" dirty="0"/>
              <a:t> </a:t>
            </a:r>
            <a:r>
              <a:rPr spc="90" dirty="0"/>
              <a:t>Process</a:t>
            </a:r>
            <a:r>
              <a:rPr spc="125" dirty="0"/>
              <a:t> </a:t>
            </a:r>
            <a:r>
              <a:rPr sz="1950" spc="-10" dirty="0"/>
              <a:t>(2/2)</a:t>
            </a:r>
            <a:endParaRPr sz="1950"/>
          </a:p>
        </p:txBody>
      </p:sp>
      <p:sp>
        <p:nvSpPr>
          <p:cNvPr id="3" name="object 3"/>
          <p:cNvSpPr txBox="1"/>
          <p:nvPr/>
        </p:nvSpPr>
        <p:spPr>
          <a:xfrm>
            <a:off x="11739204" y="6421628"/>
            <a:ext cx="180975" cy="208279"/>
          </a:xfrm>
          <a:prstGeom prst="rect">
            <a:avLst/>
          </a:prstGeom>
        </p:spPr>
        <p:txBody>
          <a:bodyPr vert="horz" wrap="square" lIns="0" tIns="12700" rIns="0" bIns="0" rtlCol="0">
            <a:spAutoFit/>
          </a:bodyPr>
          <a:lstStyle/>
          <a:p>
            <a:pPr marL="12700">
              <a:lnSpc>
                <a:spcPct val="100000"/>
              </a:lnSpc>
              <a:spcBef>
                <a:spcPts val="100"/>
              </a:spcBef>
            </a:pPr>
            <a:r>
              <a:rPr sz="1200" b="1" spc="-25" dirty="0">
                <a:solidFill>
                  <a:srgbClr val="898989"/>
                </a:solidFill>
                <a:latin typeface="Calibri"/>
                <a:cs typeface="Calibri"/>
              </a:rPr>
              <a:t>16</a:t>
            </a:r>
            <a:endParaRPr sz="1200">
              <a:latin typeface="Calibri"/>
              <a:cs typeface="Calibri"/>
            </a:endParaRPr>
          </a:p>
        </p:txBody>
      </p:sp>
      <p:sp>
        <p:nvSpPr>
          <p:cNvPr id="4" name="object 4"/>
          <p:cNvSpPr txBox="1"/>
          <p:nvPr/>
        </p:nvSpPr>
        <p:spPr>
          <a:xfrm>
            <a:off x="633476" y="1516380"/>
            <a:ext cx="10923905" cy="5264150"/>
          </a:xfrm>
          <a:prstGeom prst="rect">
            <a:avLst/>
          </a:prstGeom>
        </p:spPr>
        <p:txBody>
          <a:bodyPr vert="horz" wrap="square" lIns="0" tIns="33655" rIns="0" bIns="0" rtlCol="0">
            <a:spAutoFit/>
          </a:bodyPr>
          <a:lstStyle/>
          <a:p>
            <a:pPr marL="469265" marR="5080" indent="-457200">
              <a:lnSpc>
                <a:spcPts val="3790"/>
              </a:lnSpc>
              <a:spcBef>
                <a:spcPts val="265"/>
              </a:spcBef>
              <a:buFont typeface="Arial MT"/>
              <a:buChar char="•"/>
              <a:tabLst>
                <a:tab pos="469265" algn="l"/>
              </a:tabLst>
            </a:pPr>
            <a:r>
              <a:rPr sz="3200" dirty="0">
                <a:latin typeface="Calibri"/>
                <a:cs typeface="Calibri"/>
              </a:rPr>
              <a:t>Completion</a:t>
            </a:r>
            <a:r>
              <a:rPr sz="3200" spc="90" dirty="0">
                <a:latin typeface="Calibri"/>
                <a:cs typeface="Calibri"/>
              </a:rPr>
              <a:t> </a:t>
            </a:r>
            <a:r>
              <a:rPr sz="3200" dirty="0">
                <a:latin typeface="Calibri"/>
                <a:cs typeface="Calibri"/>
              </a:rPr>
              <a:t>of</a:t>
            </a:r>
            <a:r>
              <a:rPr sz="3200" spc="85" dirty="0">
                <a:latin typeface="Calibri"/>
                <a:cs typeface="Calibri"/>
              </a:rPr>
              <a:t> </a:t>
            </a:r>
            <a:r>
              <a:rPr sz="3200" dirty="0">
                <a:latin typeface="Calibri"/>
                <a:cs typeface="Calibri"/>
              </a:rPr>
              <a:t>the</a:t>
            </a:r>
            <a:r>
              <a:rPr sz="3200" spc="80" dirty="0">
                <a:latin typeface="Calibri"/>
                <a:cs typeface="Calibri"/>
              </a:rPr>
              <a:t> </a:t>
            </a:r>
            <a:r>
              <a:rPr sz="3200" i="1" u="heavy" dirty="0">
                <a:uFill>
                  <a:solidFill>
                    <a:srgbClr val="000000"/>
                  </a:solidFill>
                </a:uFill>
                <a:latin typeface="Calibri"/>
                <a:cs typeface="Calibri"/>
              </a:rPr>
              <a:t>forward</a:t>
            </a:r>
            <a:r>
              <a:rPr sz="3200" i="1" u="heavy" spc="95" dirty="0">
                <a:uFill>
                  <a:solidFill>
                    <a:srgbClr val="000000"/>
                  </a:solidFill>
                </a:uFill>
                <a:latin typeface="Calibri"/>
                <a:cs typeface="Calibri"/>
              </a:rPr>
              <a:t> </a:t>
            </a:r>
            <a:r>
              <a:rPr sz="3200" i="1" u="heavy" dirty="0">
                <a:uFill>
                  <a:solidFill>
                    <a:srgbClr val="000000"/>
                  </a:solidFill>
                </a:uFill>
                <a:latin typeface="Calibri"/>
                <a:cs typeface="Calibri"/>
              </a:rPr>
              <a:t>and</a:t>
            </a:r>
            <a:r>
              <a:rPr sz="3200" i="1" u="heavy" spc="85" dirty="0">
                <a:uFill>
                  <a:solidFill>
                    <a:srgbClr val="000000"/>
                  </a:solidFill>
                </a:uFill>
                <a:latin typeface="Calibri"/>
                <a:cs typeface="Calibri"/>
              </a:rPr>
              <a:t> </a:t>
            </a:r>
            <a:r>
              <a:rPr sz="3200" i="1" u="heavy" dirty="0">
                <a:uFill>
                  <a:solidFill>
                    <a:srgbClr val="000000"/>
                  </a:solidFill>
                </a:uFill>
                <a:latin typeface="Calibri"/>
                <a:cs typeface="Calibri"/>
              </a:rPr>
              <a:t>backward</a:t>
            </a:r>
            <a:r>
              <a:rPr sz="3200" i="1" u="heavy" spc="90" dirty="0">
                <a:uFill>
                  <a:solidFill>
                    <a:srgbClr val="000000"/>
                  </a:solidFill>
                </a:uFill>
                <a:latin typeface="Calibri"/>
                <a:cs typeface="Calibri"/>
              </a:rPr>
              <a:t> </a:t>
            </a:r>
            <a:r>
              <a:rPr sz="3200" i="1" u="heavy" dirty="0">
                <a:uFill>
                  <a:solidFill>
                    <a:srgbClr val="000000"/>
                  </a:solidFill>
                </a:uFill>
                <a:latin typeface="Calibri"/>
                <a:cs typeface="Calibri"/>
              </a:rPr>
              <a:t>pass</a:t>
            </a:r>
            <a:r>
              <a:rPr sz="3200" i="1" spc="80" dirty="0">
                <a:latin typeface="Calibri"/>
                <a:cs typeface="Calibri"/>
              </a:rPr>
              <a:t> </a:t>
            </a:r>
            <a:r>
              <a:rPr sz="3200" dirty="0">
                <a:latin typeface="Calibri"/>
                <a:cs typeface="Calibri"/>
              </a:rPr>
              <a:t>will</a:t>
            </a:r>
            <a:r>
              <a:rPr sz="3200" spc="90" dirty="0">
                <a:latin typeface="Calibri"/>
                <a:cs typeface="Calibri"/>
              </a:rPr>
              <a:t> </a:t>
            </a:r>
            <a:r>
              <a:rPr sz="3200" dirty="0">
                <a:latin typeface="Calibri"/>
                <a:cs typeface="Calibri"/>
              </a:rPr>
              <a:t>answer</a:t>
            </a:r>
            <a:r>
              <a:rPr sz="3200" spc="75" dirty="0">
                <a:latin typeface="Calibri"/>
                <a:cs typeface="Calibri"/>
              </a:rPr>
              <a:t> </a:t>
            </a:r>
            <a:r>
              <a:rPr sz="3200" spc="-25" dirty="0">
                <a:latin typeface="Calibri"/>
                <a:cs typeface="Calibri"/>
              </a:rPr>
              <a:t>the </a:t>
            </a:r>
            <a:r>
              <a:rPr sz="3200" dirty="0">
                <a:latin typeface="Calibri"/>
                <a:cs typeface="Calibri"/>
              </a:rPr>
              <a:t>following</a:t>
            </a:r>
            <a:r>
              <a:rPr sz="3200" spc="-140" dirty="0">
                <a:latin typeface="Calibri"/>
                <a:cs typeface="Calibri"/>
              </a:rPr>
              <a:t> </a:t>
            </a:r>
            <a:r>
              <a:rPr sz="3200" spc="-10" dirty="0">
                <a:latin typeface="Calibri"/>
                <a:cs typeface="Calibri"/>
              </a:rPr>
              <a:t>questions:</a:t>
            </a:r>
            <a:endParaRPr sz="3200" dirty="0">
              <a:latin typeface="Calibri"/>
              <a:cs typeface="Calibri"/>
            </a:endParaRPr>
          </a:p>
          <a:p>
            <a:pPr marL="465455">
              <a:lnSpc>
                <a:spcPts val="3310"/>
              </a:lnSpc>
            </a:pPr>
            <a:r>
              <a:rPr sz="2800" b="1" i="1" dirty="0">
                <a:solidFill>
                  <a:srgbClr val="C00000"/>
                </a:solidFill>
                <a:latin typeface="Calibri"/>
                <a:cs typeface="Calibri"/>
              </a:rPr>
              <a:t>Forward</a:t>
            </a:r>
            <a:r>
              <a:rPr sz="2800" b="1" i="1" spc="-100" dirty="0">
                <a:solidFill>
                  <a:srgbClr val="C00000"/>
                </a:solidFill>
                <a:latin typeface="Calibri"/>
                <a:cs typeface="Calibri"/>
              </a:rPr>
              <a:t> </a:t>
            </a:r>
            <a:r>
              <a:rPr sz="2800" b="1" i="1" spc="-25" dirty="0">
                <a:solidFill>
                  <a:srgbClr val="C00000"/>
                </a:solidFill>
                <a:latin typeface="Calibri"/>
                <a:cs typeface="Calibri"/>
              </a:rPr>
              <a:t>Pass—</a:t>
            </a:r>
            <a:r>
              <a:rPr sz="2800" b="1" i="1" dirty="0">
                <a:solidFill>
                  <a:srgbClr val="C00000"/>
                </a:solidFill>
                <a:latin typeface="Calibri"/>
                <a:cs typeface="Calibri"/>
              </a:rPr>
              <a:t>Earliest</a:t>
            </a:r>
            <a:r>
              <a:rPr sz="2800" b="1" i="1" spc="-90" dirty="0">
                <a:solidFill>
                  <a:srgbClr val="C00000"/>
                </a:solidFill>
                <a:latin typeface="Calibri"/>
                <a:cs typeface="Calibri"/>
              </a:rPr>
              <a:t> </a:t>
            </a:r>
            <a:r>
              <a:rPr sz="2800" b="1" i="1" spc="-10" dirty="0">
                <a:solidFill>
                  <a:srgbClr val="C00000"/>
                </a:solidFill>
                <a:latin typeface="Calibri"/>
                <a:cs typeface="Calibri"/>
              </a:rPr>
              <a:t>Times</a:t>
            </a:r>
            <a:endParaRPr sz="2800" dirty="0">
              <a:latin typeface="Calibri"/>
              <a:cs typeface="Calibri"/>
            </a:endParaRPr>
          </a:p>
          <a:p>
            <a:pPr marL="922019" lvl="1" indent="-329565">
              <a:lnSpc>
                <a:spcPts val="3325"/>
              </a:lnSpc>
              <a:spcBef>
                <a:spcPts val="50"/>
              </a:spcBef>
              <a:buAutoNum type="arabicPeriod"/>
              <a:tabLst>
                <a:tab pos="922019" algn="l"/>
              </a:tabLst>
            </a:pPr>
            <a:r>
              <a:rPr sz="2800" dirty="0">
                <a:latin typeface="Calibri"/>
                <a:cs typeface="Calibri"/>
              </a:rPr>
              <a:t>How</a:t>
            </a:r>
            <a:r>
              <a:rPr sz="2800" spc="-40" dirty="0">
                <a:latin typeface="Calibri"/>
                <a:cs typeface="Calibri"/>
              </a:rPr>
              <a:t> </a:t>
            </a:r>
            <a:r>
              <a:rPr sz="2800" dirty="0">
                <a:latin typeface="Calibri"/>
                <a:cs typeface="Calibri"/>
              </a:rPr>
              <a:t>soon</a:t>
            </a:r>
            <a:r>
              <a:rPr sz="2800" spc="-35" dirty="0">
                <a:latin typeface="Calibri"/>
                <a:cs typeface="Calibri"/>
              </a:rPr>
              <a:t> </a:t>
            </a:r>
            <a:r>
              <a:rPr sz="2800" dirty="0">
                <a:latin typeface="Calibri"/>
                <a:cs typeface="Calibri"/>
              </a:rPr>
              <a:t>can</a:t>
            </a:r>
            <a:r>
              <a:rPr sz="2800" spc="-30" dirty="0">
                <a:latin typeface="Calibri"/>
                <a:cs typeface="Calibri"/>
              </a:rPr>
              <a:t> </a:t>
            </a:r>
            <a:r>
              <a:rPr sz="2800" dirty="0">
                <a:latin typeface="Calibri"/>
                <a:cs typeface="Calibri"/>
              </a:rPr>
              <a:t>the</a:t>
            </a:r>
            <a:r>
              <a:rPr sz="2800" spc="-45" dirty="0">
                <a:latin typeface="Calibri"/>
                <a:cs typeface="Calibri"/>
              </a:rPr>
              <a:t> </a:t>
            </a:r>
            <a:r>
              <a:rPr sz="2800" dirty="0">
                <a:latin typeface="Calibri"/>
                <a:cs typeface="Calibri"/>
              </a:rPr>
              <a:t>activity</a:t>
            </a:r>
            <a:r>
              <a:rPr sz="2800" spc="-35" dirty="0">
                <a:latin typeface="Calibri"/>
                <a:cs typeface="Calibri"/>
              </a:rPr>
              <a:t> </a:t>
            </a:r>
            <a:r>
              <a:rPr sz="2800" dirty="0">
                <a:latin typeface="Calibri"/>
                <a:cs typeface="Calibri"/>
              </a:rPr>
              <a:t>start?</a:t>
            </a:r>
            <a:r>
              <a:rPr sz="2800" spc="-35" dirty="0">
                <a:latin typeface="Calibri"/>
                <a:cs typeface="Calibri"/>
              </a:rPr>
              <a:t> </a:t>
            </a:r>
            <a:r>
              <a:rPr sz="2800" dirty="0">
                <a:latin typeface="Calibri"/>
                <a:cs typeface="Calibri"/>
              </a:rPr>
              <a:t>(early</a:t>
            </a:r>
            <a:r>
              <a:rPr sz="2800" spc="-40" dirty="0">
                <a:latin typeface="Calibri"/>
                <a:cs typeface="Calibri"/>
              </a:rPr>
              <a:t> </a:t>
            </a:r>
            <a:r>
              <a:rPr sz="2800" spc="-30" dirty="0">
                <a:latin typeface="Calibri"/>
                <a:cs typeface="Calibri"/>
              </a:rPr>
              <a:t>start—</a:t>
            </a:r>
            <a:r>
              <a:rPr sz="2800" spc="-25" dirty="0">
                <a:latin typeface="Calibri"/>
                <a:cs typeface="Calibri"/>
              </a:rPr>
              <a:t>ES)</a:t>
            </a:r>
            <a:endParaRPr sz="2800" dirty="0">
              <a:latin typeface="Calibri"/>
              <a:cs typeface="Calibri"/>
            </a:endParaRPr>
          </a:p>
          <a:p>
            <a:pPr marL="922019" lvl="1" indent="-329565">
              <a:lnSpc>
                <a:spcPts val="3325"/>
              </a:lnSpc>
              <a:buAutoNum type="arabicPeriod"/>
              <a:tabLst>
                <a:tab pos="922019" algn="l"/>
              </a:tabLst>
            </a:pPr>
            <a:r>
              <a:rPr sz="2800" dirty="0">
                <a:latin typeface="Calibri"/>
                <a:cs typeface="Calibri"/>
              </a:rPr>
              <a:t>How</a:t>
            </a:r>
            <a:r>
              <a:rPr sz="2800" spc="-30" dirty="0">
                <a:latin typeface="Calibri"/>
                <a:cs typeface="Calibri"/>
              </a:rPr>
              <a:t> </a:t>
            </a:r>
            <a:r>
              <a:rPr sz="2800" dirty="0">
                <a:latin typeface="Calibri"/>
                <a:cs typeface="Calibri"/>
              </a:rPr>
              <a:t>soon</a:t>
            </a:r>
            <a:r>
              <a:rPr sz="2800" spc="-25" dirty="0">
                <a:latin typeface="Calibri"/>
                <a:cs typeface="Calibri"/>
              </a:rPr>
              <a:t> </a:t>
            </a:r>
            <a:r>
              <a:rPr sz="2800" dirty="0">
                <a:latin typeface="Calibri"/>
                <a:cs typeface="Calibri"/>
              </a:rPr>
              <a:t>can</a:t>
            </a:r>
            <a:r>
              <a:rPr sz="2800" spc="-30" dirty="0">
                <a:latin typeface="Calibri"/>
                <a:cs typeface="Calibri"/>
              </a:rPr>
              <a:t> </a:t>
            </a:r>
            <a:r>
              <a:rPr sz="2800" dirty="0">
                <a:latin typeface="Calibri"/>
                <a:cs typeface="Calibri"/>
              </a:rPr>
              <a:t>the</a:t>
            </a:r>
            <a:r>
              <a:rPr sz="2800" spc="-30" dirty="0">
                <a:latin typeface="Calibri"/>
                <a:cs typeface="Calibri"/>
              </a:rPr>
              <a:t> </a:t>
            </a:r>
            <a:r>
              <a:rPr sz="2800" dirty="0">
                <a:latin typeface="Calibri"/>
                <a:cs typeface="Calibri"/>
              </a:rPr>
              <a:t>activity</a:t>
            </a:r>
            <a:r>
              <a:rPr sz="2800" spc="-30" dirty="0">
                <a:latin typeface="Calibri"/>
                <a:cs typeface="Calibri"/>
              </a:rPr>
              <a:t> </a:t>
            </a:r>
            <a:r>
              <a:rPr sz="2800" dirty="0">
                <a:latin typeface="Calibri"/>
                <a:cs typeface="Calibri"/>
              </a:rPr>
              <a:t>finish?</a:t>
            </a:r>
            <a:r>
              <a:rPr sz="2800" spc="-25" dirty="0">
                <a:latin typeface="Calibri"/>
                <a:cs typeface="Calibri"/>
              </a:rPr>
              <a:t> </a:t>
            </a:r>
            <a:r>
              <a:rPr sz="2800" dirty="0">
                <a:latin typeface="Calibri"/>
                <a:cs typeface="Calibri"/>
              </a:rPr>
              <a:t>(early</a:t>
            </a:r>
            <a:r>
              <a:rPr sz="2800" spc="-30" dirty="0">
                <a:latin typeface="Calibri"/>
                <a:cs typeface="Calibri"/>
              </a:rPr>
              <a:t> </a:t>
            </a:r>
            <a:r>
              <a:rPr sz="2800" spc="-20" dirty="0">
                <a:latin typeface="Calibri"/>
                <a:cs typeface="Calibri"/>
              </a:rPr>
              <a:t>finish—</a:t>
            </a:r>
            <a:r>
              <a:rPr sz="2800" spc="-25" dirty="0">
                <a:latin typeface="Calibri"/>
                <a:cs typeface="Calibri"/>
              </a:rPr>
              <a:t>EF)</a:t>
            </a:r>
            <a:endParaRPr sz="2800" dirty="0">
              <a:latin typeface="Calibri"/>
              <a:cs typeface="Calibri"/>
            </a:endParaRPr>
          </a:p>
          <a:p>
            <a:pPr marL="922019" lvl="1" indent="-329565">
              <a:lnSpc>
                <a:spcPts val="3325"/>
              </a:lnSpc>
              <a:spcBef>
                <a:spcPts val="45"/>
              </a:spcBef>
              <a:buAutoNum type="arabicPeriod"/>
              <a:tabLst>
                <a:tab pos="922019" algn="l"/>
              </a:tabLst>
            </a:pPr>
            <a:r>
              <a:rPr sz="2800" dirty="0">
                <a:latin typeface="Calibri"/>
                <a:cs typeface="Calibri"/>
              </a:rPr>
              <a:t>How</a:t>
            </a:r>
            <a:r>
              <a:rPr sz="2800" spc="-50" dirty="0">
                <a:latin typeface="Calibri"/>
                <a:cs typeface="Calibri"/>
              </a:rPr>
              <a:t> </a:t>
            </a:r>
            <a:r>
              <a:rPr sz="2800" dirty="0">
                <a:latin typeface="Calibri"/>
                <a:cs typeface="Calibri"/>
              </a:rPr>
              <a:t>soon</a:t>
            </a:r>
            <a:r>
              <a:rPr sz="2800" spc="-40" dirty="0">
                <a:latin typeface="Calibri"/>
                <a:cs typeface="Calibri"/>
              </a:rPr>
              <a:t> </a:t>
            </a:r>
            <a:r>
              <a:rPr sz="2800" dirty="0">
                <a:latin typeface="Calibri"/>
                <a:cs typeface="Calibri"/>
              </a:rPr>
              <a:t>can</a:t>
            </a:r>
            <a:r>
              <a:rPr sz="2800" spc="-45" dirty="0">
                <a:latin typeface="Calibri"/>
                <a:cs typeface="Calibri"/>
              </a:rPr>
              <a:t> </a:t>
            </a:r>
            <a:r>
              <a:rPr sz="2800" dirty="0">
                <a:latin typeface="Calibri"/>
                <a:cs typeface="Calibri"/>
              </a:rPr>
              <a:t>the</a:t>
            </a:r>
            <a:r>
              <a:rPr sz="2800" spc="-50" dirty="0">
                <a:latin typeface="Calibri"/>
                <a:cs typeface="Calibri"/>
              </a:rPr>
              <a:t> </a:t>
            </a:r>
            <a:r>
              <a:rPr sz="2800" dirty="0">
                <a:latin typeface="Calibri"/>
                <a:cs typeface="Calibri"/>
              </a:rPr>
              <a:t>project</a:t>
            </a:r>
            <a:r>
              <a:rPr sz="2800" spc="-45" dirty="0">
                <a:latin typeface="Calibri"/>
                <a:cs typeface="Calibri"/>
              </a:rPr>
              <a:t> </a:t>
            </a:r>
            <a:r>
              <a:rPr sz="2800" dirty="0">
                <a:latin typeface="Calibri"/>
                <a:cs typeface="Calibri"/>
              </a:rPr>
              <a:t>be</a:t>
            </a:r>
            <a:r>
              <a:rPr sz="2800" spc="-55" dirty="0">
                <a:latin typeface="Calibri"/>
                <a:cs typeface="Calibri"/>
              </a:rPr>
              <a:t> </a:t>
            </a:r>
            <a:r>
              <a:rPr sz="2800" dirty="0">
                <a:latin typeface="Calibri"/>
                <a:cs typeface="Calibri"/>
              </a:rPr>
              <a:t>finished?</a:t>
            </a:r>
            <a:r>
              <a:rPr sz="2800" spc="-40" dirty="0">
                <a:latin typeface="Calibri"/>
                <a:cs typeface="Calibri"/>
              </a:rPr>
              <a:t> </a:t>
            </a:r>
            <a:r>
              <a:rPr sz="2800" spc="-10" dirty="0">
                <a:latin typeface="Calibri"/>
                <a:cs typeface="Calibri"/>
              </a:rPr>
              <a:t>(expected</a:t>
            </a:r>
            <a:r>
              <a:rPr sz="2800" spc="-45" dirty="0">
                <a:latin typeface="Calibri"/>
                <a:cs typeface="Calibri"/>
              </a:rPr>
              <a:t> </a:t>
            </a:r>
            <a:r>
              <a:rPr sz="2800" spc="-20" dirty="0">
                <a:latin typeface="Calibri"/>
                <a:cs typeface="Calibri"/>
              </a:rPr>
              <a:t>time—</a:t>
            </a:r>
            <a:r>
              <a:rPr sz="2800" spc="-25" dirty="0">
                <a:latin typeface="Calibri"/>
                <a:cs typeface="Calibri"/>
              </a:rPr>
              <a:t>TE)</a:t>
            </a:r>
            <a:endParaRPr sz="2800" dirty="0">
              <a:latin typeface="Calibri"/>
              <a:cs typeface="Calibri"/>
            </a:endParaRPr>
          </a:p>
          <a:p>
            <a:pPr marL="465455">
              <a:lnSpc>
                <a:spcPts val="3325"/>
              </a:lnSpc>
            </a:pPr>
            <a:r>
              <a:rPr sz="2800" b="1" i="1" dirty="0">
                <a:solidFill>
                  <a:srgbClr val="C00000"/>
                </a:solidFill>
                <a:latin typeface="Calibri"/>
                <a:cs typeface="Calibri"/>
              </a:rPr>
              <a:t>Backward</a:t>
            </a:r>
            <a:r>
              <a:rPr sz="2800" b="1" i="1" spc="-85" dirty="0">
                <a:solidFill>
                  <a:srgbClr val="C00000"/>
                </a:solidFill>
                <a:latin typeface="Calibri"/>
                <a:cs typeface="Calibri"/>
              </a:rPr>
              <a:t> </a:t>
            </a:r>
            <a:r>
              <a:rPr sz="2800" b="1" i="1" spc="-25" dirty="0">
                <a:solidFill>
                  <a:srgbClr val="C00000"/>
                </a:solidFill>
                <a:latin typeface="Calibri"/>
                <a:cs typeface="Calibri"/>
              </a:rPr>
              <a:t>Pass—</a:t>
            </a:r>
            <a:r>
              <a:rPr sz="2800" b="1" i="1" dirty="0">
                <a:solidFill>
                  <a:srgbClr val="C00000"/>
                </a:solidFill>
                <a:latin typeface="Calibri"/>
                <a:cs typeface="Calibri"/>
              </a:rPr>
              <a:t>Latest</a:t>
            </a:r>
            <a:r>
              <a:rPr sz="2800" b="1" i="1" spc="-75" dirty="0">
                <a:solidFill>
                  <a:srgbClr val="C00000"/>
                </a:solidFill>
                <a:latin typeface="Calibri"/>
                <a:cs typeface="Calibri"/>
              </a:rPr>
              <a:t> </a:t>
            </a:r>
            <a:r>
              <a:rPr sz="2800" b="1" i="1" spc="-10" dirty="0">
                <a:solidFill>
                  <a:srgbClr val="C00000"/>
                </a:solidFill>
                <a:latin typeface="Calibri"/>
                <a:cs typeface="Calibri"/>
              </a:rPr>
              <a:t>Times</a:t>
            </a:r>
            <a:endParaRPr sz="2800" dirty="0">
              <a:latin typeface="Calibri"/>
              <a:cs typeface="Calibri"/>
            </a:endParaRPr>
          </a:p>
          <a:p>
            <a:pPr marL="922019" indent="-329565">
              <a:lnSpc>
                <a:spcPct val="100000"/>
              </a:lnSpc>
              <a:spcBef>
                <a:spcPts val="50"/>
              </a:spcBef>
              <a:buAutoNum type="arabicPeriod"/>
              <a:tabLst>
                <a:tab pos="922019" algn="l"/>
              </a:tabLst>
            </a:pPr>
            <a:r>
              <a:rPr sz="2800" dirty="0">
                <a:latin typeface="Calibri"/>
                <a:cs typeface="Calibri"/>
              </a:rPr>
              <a:t>How</a:t>
            </a:r>
            <a:r>
              <a:rPr sz="2800" spc="-50" dirty="0">
                <a:latin typeface="Calibri"/>
                <a:cs typeface="Calibri"/>
              </a:rPr>
              <a:t> </a:t>
            </a:r>
            <a:r>
              <a:rPr sz="2800" dirty="0">
                <a:latin typeface="Calibri"/>
                <a:cs typeface="Calibri"/>
              </a:rPr>
              <a:t>late</a:t>
            </a:r>
            <a:r>
              <a:rPr sz="2800" spc="-50" dirty="0">
                <a:latin typeface="Calibri"/>
                <a:cs typeface="Calibri"/>
              </a:rPr>
              <a:t> </a:t>
            </a:r>
            <a:r>
              <a:rPr sz="2800" dirty="0">
                <a:latin typeface="Calibri"/>
                <a:cs typeface="Calibri"/>
              </a:rPr>
              <a:t>can</a:t>
            </a:r>
            <a:r>
              <a:rPr sz="2800" spc="-45" dirty="0">
                <a:latin typeface="Calibri"/>
                <a:cs typeface="Calibri"/>
              </a:rPr>
              <a:t> </a:t>
            </a:r>
            <a:r>
              <a:rPr sz="2800" dirty="0">
                <a:latin typeface="Calibri"/>
                <a:cs typeface="Calibri"/>
              </a:rPr>
              <a:t>the</a:t>
            </a:r>
            <a:r>
              <a:rPr sz="2800" spc="-50" dirty="0">
                <a:latin typeface="Calibri"/>
                <a:cs typeface="Calibri"/>
              </a:rPr>
              <a:t> </a:t>
            </a:r>
            <a:r>
              <a:rPr sz="2800" dirty="0">
                <a:latin typeface="Calibri"/>
                <a:cs typeface="Calibri"/>
              </a:rPr>
              <a:t>activity</a:t>
            </a:r>
            <a:r>
              <a:rPr sz="2800" spc="-50" dirty="0">
                <a:latin typeface="Calibri"/>
                <a:cs typeface="Calibri"/>
              </a:rPr>
              <a:t> </a:t>
            </a:r>
            <a:r>
              <a:rPr sz="2800" dirty="0">
                <a:latin typeface="Calibri"/>
                <a:cs typeface="Calibri"/>
              </a:rPr>
              <a:t>start?</a:t>
            </a:r>
            <a:r>
              <a:rPr sz="2800" spc="-40" dirty="0">
                <a:latin typeface="Calibri"/>
                <a:cs typeface="Calibri"/>
              </a:rPr>
              <a:t> </a:t>
            </a:r>
            <a:r>
              <a:rPr sz="2800" dirty="0">
                <a:latin typeface="Calibri"/>
                <a:cs typeface="Calibri"/>
              </a:rPr>
              <a:t>(late</a:t>
            </a:r>
            <a:r>
              <a:rPr sz="2800" spc="-50" dirty="0">
                <a:latin typeface="Calibri"/>
                <a:cs typeface="Calibri"/>
              </a:rPr>
              <a:t> </a:t>
            </a:r>
            <a:r>
              <a:rPr sz="2800" spc="-30" dirty="0">
                <a:latin typeface="Calibri"/>
                <a:cs typeface="Calibri"/>
              </a:rPr>
              <a:t>start—</a:t>
            </a:r>
            <a:r>
              <a:rPr sz="2800" spc="-25" dirty="0">
                <a:latin typeface="Calibri"/>
                <a:cs typeface="Calibri"/>
              </a:rPr>
              <a:t>LS)</a:t>
            </a:r>
            <a:endParaRPr sz="2800" dirty="0">
              <a:latin typeface="Calibri"/>
              <a:cs typeface="Calibri"/>
            </a:endParaRPr>
          </a:p>
          <a:p>
            <a:pPr marL="922019" indent="-329565">
              <a:lnSpc>
                <a:spcPts val="3325"/>
              </a:lnSpc>
              <a:spcBef>
                <a:spcPts val="50"/>
              </a:spcBef>
              <a:buAutoNum type="arabicPeriod"/>
              <a:tabLst>
                <a:tab pos="922019" algn="l"/>
              </a:tabLst>
            </a:pPr>
            <a:r>
              <a:rPr sz="2800" dirty="0">
                <a:latin typeface="Calibri"/>
                <a:cs typeface="Calibri"/>
              </a:rPr>
              <a:t>How</a:t>
            </a:r>
            <a:r>
              <a:rPr sz="2800" spc="-40" dirty="0">
                <a:latin typeface="Calibri"/>
                <a:cs typeface="Calibri"/>
              </a:rPr>
              <a:t> </a:t>
            </a:r>
            <a:r>
              <a:rPr sz="2800" dirty="0">
                <a:latin typeface="Calibri"/>
                <a:cs typeface="Calibri"/>
              </a:rPr>
              <a:t>late</a:t>
            </a:r>
            <a:r>
              <a:rPr sz="2800" spc="-45" dirty="0">
                <a:latin typeface="Calibri"/>
                <a:cs typeface="Calibri"/>
              </a:rPr>
              <a:t> </a:t>
            </a:r>
            <a:r>
              <a:rPr sz="2800" dirty="0">
                <a:latin typeface="Calibri"/>
                <a:cs typeface="Calibri"/>
              </a:rPr>
              <a:t>can</a:t>
            </a:r>
            <a:r>
              <a:rPr sz="2800" spc="-35" dirty="0">
                <a:latin typeface="Calibri"/>
                <a:cs typeface="Calibri"/>
              </a:rPr>
              <a:t> </a:t>
            </a:r>
            <a:r>
              <a:rPr sz="2800" dirty="0">
                <a:latin typeface="Calibri"/>
                <a:cs typeface="Calibri"/>
              </a:rPr>
              <a:t>the</a:t>
            </a:r>
            <a:r>
              <a:rPr sz="2800" spc="-45" dirty="0">
                <a:latin typeface="Calibri"/>
                <a:cs typeface="Calibri"/>
              </a:rPr>
              <a:t> </a:t>
            </a:r>
            <a:r>
              <a:rPr sz="2800" dirty="0">
                <a:latin typeface="Calibri"/>
                <a:cs typeface="Calibri"/>
              </a:rPr>
              <a:t>activity</a:t>
            </a:r>
            <a:r>
              <a:rPr sz="2800" spc="-40" dirty="0">
                <a:latin typeface="Calibri"/>
                <a:cs typeface="Calibri"/>
              </a:rPr>
              <a:t> </a:t>
            </a:r>
            <a:r>
              <a:rPr sz="2800" dirty="0">
                <a:latin typeface="Calibri"/>
                <a:cs typeface="Calibri"/>
              </a:rPr>
              <a:t>finish?</a:t>
            </a:r>
            <a:r>
              <a:rPr sz="2800" spc="-35" dirty="0">
                <a:latin typeface="Calibri"/>
                <a:cs typeface="Calibri"/>
              </a:rPr>
              <a:t> </a:t>
            </a:r>
            <a:r>
              <a:rPr sz="2800" dirty="0">
                <a:latin typeface="Calibri"/>
                <a:cs typeface="Calibri"/>
              </a:rPr>
              <a:t>(late</a:t>
            </a:r>
            <a:r>
              <a:rPr sz="2800" spc="-45" dirty="0">
                <a:latin typeface="Calibri"/>
                <a:cs typeface="Calibri"/>
              </a:rPr>
              <a:t> </a:t>
            </a:r>
            <a:r>
              <a:rPr sz="2800" spc="-20" dirty="0">
                <a:latin typeface="Calibri"/>
                <a:cs typeface="Calibri"/>
              </a:rPr>
              <a:t>finish—</a:t>
            </a:r>
            <a:r>
              <a:rPr sz="2800" spc="-25" dirty="0">
                <a:latin typeface="Calibri"/>
                <a:cs typeface="Calibri"/>
              </a:rPr>
              <a:t>LF)</a:t>
            </a:r>
            <a:endParaRPr sz="2800" dirty="0">
              <a:latin typeface="Calibri"/>
              <a:cs typeface="Calibri"/>
            </a:endParaRPr>
          </a:p>
          <a:p>
            <a:pPr marL="922655" marR="5080" indent="-330200">
              <a:lnSpc>
                <a:spcPts val="3410"/>
              </a:lnSpc>
              <a:spcBef>
                <a:spcPts val="35"/>
              </a:spcBef>
              <a:buAutoNum type="arabicPeriod"/>
              <a:tabLst>
                <a:tab pos="922655" algn="l"/>
              </a:tabLst>
            </a:pPr>
            <a:r>
              <a:rPr sz="2800" dirty="0">
                <a:latin typeface="Calibri"/>
                <a:cs typeface="Calibri"/>
              </a:rPr>
              <a:t>Which</a:t>
            </a:r>
            <a:r>
              <a:rPr sz="2800" spc="265" dirty="0">
                <a:latin typeface="Calibri"/>
                <a:cs typeface="Calibri"/>
              </a:rPr>
              <a:t> </a:t>
            </a:r>
            <a:r>
              <a:rPr sz="2800" dirty="0">
                <a:latin typeface="Calibri"/>
                <a:cs typeface="Calibri"/>
              </a:rPr>
              <a:t>activities</a:t>
            </a:r>
            <a:r>
              <a:rPr sz="2800" spc="265" dirty="0">
                <a:latin typeface="Calibri"/>
                <a:cs typeface="Calibri"/>
              </a:rPr>
              <a:t> </a:t>
            </a:r>
            <a:r>
              <a:rPr sz="2800" dirty="0">
                <a:latin typeface="Calibri"/>
                <a:cs typeface="Calibri"/>
              </a:rPr>
              <a:t>represent</a:t>
            </a:r>
            <a:r>
              <a:rPr sz="2800" spc="250" dirty="0">
                <a:latin typeface="Calibri"/>
                <a:cs typeface="Calibri"/>
              </a:rPr>
              <a:t> </a:t>
            </a:r>
            <a:r>
              <a:rPr sz="2800" dirty="0">
                <a:latin typeface="Calibri"/>
                <a:cs typeface="Calibri"/>
              </a:rPr>
              <a:t>the</a:t>
            </a:r>
            <a:r>
              <a:rPr sz="2800" spc="260" dirty="0">
                <a:latin typeface="Calibri"/>
                <a:cs typeface="Calibri"/>
              </a:rPr>
              <a:t> </a:t>
            </a:r>
            <a:r>
              <a:rPr sz="2800" dirty="0">
                <a:latin typeface="Calibri"/>
                <a:cs typeface="Calibri"/>
              </a:rPr>
              <a:t>critical</a:t>
            </a:r>
            <a:r>
              <a:rPr sz="2800" spc="254" dirty="0">
                <a:latin typeface="Calibri"/>
                <a:cs typeface="Calibri"/>
              </a:rPr>
              <a:t> </a:t>
            </a:r>
            <a:r>
              <a:rPr sz="2800" dirty="0">
                <a:latin typeface="Calibri"/>
                <a:cs typeface="Calibri"/>
              </a:rPr>
              <a:t>path</a:t>
            </a:r>
            <a:r>
              <a:rPr sz="2800" spc="260" dirty="0">
                <a:latin typeface="Calibri"/>
                <a:cs typeface="Calibri"/>
              </a:rPr>
              <a:t> </a:t>
            </a:r>
            <a:r>
              <a:rPr sz="2800" dirty="0">
                <a:latin typeface="Calibri"/>
                <a:cs typeface="Calibri"/>
              </a:rPr>
              <a:t>(CP)?</a:t>
            </a:r>
            <a:r>
              <a:rPr sz="2800" spc="270" dirty="0">
                <a:latin typeface="Calibri"/>
                <a:cs typeface="Calibri"/>
              </a:rPr>
              <a:t> </a:t>
            </a:r>
            <a:r>
              <a:rPr sz="2800" dirty="0">
                <a:latin typeface="Calibri"/>
                <a:cs typeface="Calibri"/>
              </a:rPr>
              <a:t>This</a:t>
            </a:r>
            <a:r>
              <a:rPr sz="2800" spc="270" dirty="0">
                <a:latin typeface="Calibri"/>
                <a:cs typeface="Calibri"/>
              </a:rPr>
              <a:t> </a:t>
            </a:r>
            <a:r>
              <a:rPr sz="2800" dirty="0">
                <a:latin typeface="Calibri"/>
                <a:cs typeface="Calibri"/>
              </a:rPr>
              <a:t>is</a:t>
            </a:r>
            <a:r>
              <a:rPr sz="2800" spc="265" dirty="0">
                <a:latin typeface="Calibri"/>
                <a:cs typeface="Calibri"/>
              </a:rPr>
              <a:t> </a:t>
            </a:r>
            <a:r>
              <a:rPr sz="2800" dirty="0">
                <a:latin typeface="Calibri"/>
                <a:cs typeface="Calibri"/>
              </a:rPr>
              <a:t>the</a:t>
            </a:r>
            <a:r>
              <a:rPr sz="2800" spc="260" dirty="0">
                <a:latin typeface="Calibri"/>
                <a:cs typeface="Calibri"/>
              </a:rPr>
              <a:t> </a:t>
            </a:r>
            <a:r>
              <a:rPr sz="2800" spc="-10" dirty="0">
                <a:latin typeface="Calibri"/>
                <a:cs typeface="Calibri"/>
              </a:rPr>
              <a:t>longest </a:t>
            </a:r>
            <a:r>
              <a:rPr sz="2800" dirty="0">
                <a:latin typeface="Calibri"/>
                <a:cs typeface="Calibri"/>
              </a:rPr>
              <a:t>path</a:t>
            </a:r>
            <a:r>
              <a:rPr sz="2800" spc="-55" dirty="0">
                <a:latin typeface="Calibri"/>
                <a:cs typeface="Calibri"/>
              </a:rPr>
              <a:t> </a:t>
            </a:r>
            <a:r>
              <a:rPr sz="2800" dirty="0">
                <a:latin typeface="Calibri"/>
                <a:cs typeface="Calibri"/>
              </a:rPr>
              <a:t>in</a:t>
            </a:r>
            <a:r>
              <a:rPr sz="2800" spc="-50" dirty="0">
                <a:latin typeface="Calibri"/>
                <a:cs typeface="Calibri"/>
              </a:rPr>
              <a:t> </a:t>
            </a:r>
            <a:r>
              <a:rPr sz="2800" dirty="0">
                <a:latin typeface="Calibri"/>
                <a:cs typeface="Calibri"/>
              </a:rPr>
              <a:t>the</a:t>
            </a:r>
            <a:r>
              <a:rPr sz="2800" spc="-55" dirty="0">
                <a:latin typeface="Calibri"/>
                <a:cs typeface="Calibri"/>
              </a:rPr>
              <a:t> </a:t>
            </a:r>
            <a:r>
              <a:rPr sz="2800" dirty="0">
                <a:latin typeface="Calibri"/>
                <a:cs typeface="Calibri"/>
              </a:rPr>
              <a:t>network</a:t>
            </a:r>
            <a:r>
              <a:rPr sz="2800" spc="-55" dirty="0">
                <a:latin typeface="Calibri"/>
                <a:cs typeface="Calibri"/>
              </a:rPr>
              <a:t> </a:t>
            </a:r>
            <a:r>
              <a:rPr sz="2800" dirty="0">
                <a:latin typeface="Calibri"/>
                <a:cs typeface="Calibri"/>
              </a:rPr>
              <a:t>which,</a:t>
            </a:r>
            <a:r>
              <a:rPr sz="2800" spc="-50" dirty="0">
                <a:latin typeface="Calibri"/>
                <a:cs typeface="Calibri"/>
              </a:rPr>
              <a:t> </a:t>
            </a:r>
            <a:r>
              <a:rPr sz="2800" dirty="0">
                <a:latin typeface="Calibri"/>
                <a:cs typeface="Calibri"/>
              </a:rPr>
              <a:t>when</a:t>
            </a:r>
            <a:r>
              <a:rPr sz="2800" spc="-50" dirty="0">
                <a:latin typeface="Calibri"/>
                <a:cs typeface="Calibri"/>
              </a:rPr>
              <a:t> </a:t>
            </a:r>
            <a:r>
              <a:rPr sz="2800" dirty="0">
                <a:latin typeface="Calibri"/>
                <a:cs typeface="Calibri"/>
              </a:rPr>
              <a:t>delayed,</a:t>
            </a:r>
            <a:r>
              <a:rPr sz="2800" spc="-65" dirty="0">
                <a:latin typeface="Calibri"/>
                <a:cs typeface="Calibri"/>
              </a:rPr>
              <a:t> </a:t>
            </a:r>
            <a:r>
              <a:rPr sz="2800" dirty="0">
                <a:latin typeface="Calibri"/>
                <a:cs typeface="Calibri"/>
              </a:rPr>
              <a:t>will</a:t>
            </a:r>
            <a:r>
              <a:rPr sz="2800" spc="-55" dirty="0">
                <a:latin typeface="Calibri"/>
                <a:cs typeface="Calibri"/>
              </a:rPr>
              <a:t> </a:t>
            </a:r>
            <a:r>
              <a:rPr sz="2800" dirty="0">
                <a:latin typeface="Calibri"/>
                <a:cs typeface="Calibri"/>
              </a:rPr>
              <a:t>delay</a:t>
            </a:r>
            <a:r>
              <a:rPr sz="2800" spc="-60" dirty="0">
                <a:latin typeface="Calibri"/>
                <a:cs typeface="Calibri"/>
              </a:rPr>
              <a:t> </a:t>
            </a:r>
            <a:r>
              <a:rPr sz="2800" dirty="0">
                <a:latin typeface="Calibri"/>
                <a:cs typeface="Calibri"/>
              </a:rPr>
              <a:t>the</a:t>
            </a:r>
            <a:r>
              <a:rPr sz="2800" spc="-55" dirty="0">
                <a:latin typeface="Calibri"/>
                <a:cs typeface="Calibri"/>
              </a:rPr>
              <a:t> </a:t>
            </a:r>
            <a:r>
              <a:rPr sz="2800" spc="-10" dirty="0">
                <a:latin typeface="Calibri"/>
                <a:cs typeface="Calibri"/>
              </a:rPr>
              <a:t>project.</a:t>
            </a:r>
            <a:endParaRPr sz="2800" dirty="0">
              <a:latin typeface="Calibri"/>
              <a:cs typeface="Calibri"/>
            </a:endParaRPr>
          </a:p>
          <a:p>
            <a:pPr marL="922019" indent="-329565">
              <a:lnSpc>
                <a:spcPts val="3165"/>
              </a:lnSpc>
              <a:buAutoNum type="arabicPeriod"/>
              <a:tabLst>
                <a:tab pos="922019" algn="l"/>
              </a:tabLst>
            </a:pPr>
            <a:r>
              <a:rPr sz="2800" dirty="0">
                <a:latin typeface="Calibri"/>
                <a:cs typeface="Calibri"/>
              </a:rPr>
              <a:t>How</a:t>
            </a:r>
            <a:r>
              <a:rPr sz="2800" spc="-35" dirty="0">
                <a:latin typeface="Calibri"/>
                <a:cs typeface="Calibri"/>
              </a:rPr>
              <a:t> </a:t>
            </a:r>
            <a:r>
              <a:rPr sz="2800" dirty="0">
                <a:latin typeface="Calibri"/>
                <a:cs typeface="Calibri"/>
              </a:rPr>
              <a:t>long</a:t>
            </a:r>
            <a:r>
              <a:rPr sz="2800" spc="-30" dirty="0">
                <a:latin typeface="Calibri"/>
                <a:cs typeface="Calibri"/>
              </a:rPr>
              <a:t> </a:t>
            </a:r>
            <a:r>
              <a:rPr sz="2800" dirty="0">
                <a:latin typeface="Calibri"/>
                <a:cs typeface="Calibri"/>
              </a:rPr>
              <a:t>can</a:t>
            </a:r>
            <a:r>
              <a:rPr sz="2800" spc="-25" dirty="0">
                <a:latin typeface="Calibri"/>
                <a:cs typeface="Calibri"/>
              </a:rPr>
              <a:t> </a:t>
            </a:r>
            <a:r>
              <a:rPr sz="2800" dirty="0">
                <a:latin typeface="Calibri"/>
                <a:cs typeface="Calibri"/>
              </a:rPr>
              <a:t>the</a:t>
            </a:r>
            <a:r>
              <a:rPr sz="2800" spc="-35" dirty="0">
                <a:latin typeface="Calibri"/>
                <a:cs typeface="Calibri"/>
              </a:rPr>
              <a:t> </a:t>
            </a:r>
            <a:r>
              <a:rPr sz="2800" dirty="0">
                <a:latin typeface="Calibri"/>
                <a:cs typeface="Calibri"/>
              </a:rPr>
              <a:t>activity</a:t>
            </a:r>
            <a:r>
              <a:rPr sz="2800" spc="-30" dirty="0">
                <a:latin typeface="Calibri"/>
                <a:cs typeface="Calibri"/>
              </a:rPr>
              <a:t> </a:t>
            </a:r>
            <a:r>
              <a:rPr sz="2800" dirty="0">
                <a:latin typeface="Calibri"/>
                <a:cs typeface="Calibri"/>
              </a:rPr>
              <a:t>be</a:t>
            </a:r>
            <a:r>
              <a:rPr sz="2800" spc="-35" dirty="0">
                <a:latin typeface="Calibri"/>
                <a:cs typeface="Calibri"/>
              </a:rPr>
              <a:t> </a:t>
            </a:r>
            <a:r>
              <a:rPr sz="2800" dirty="0">
                <a:latin typeface="Calibri"/>
                <a:cs typeface="Calibri"/>
              </a:rPr>
              <a:t>delayed?</a:t>
            </a:r>
            <a:r>
              <a:rPr sz="2800" spc="-25" dirty="0">
                <a:latin typeface="Calibri"/>
                <a:cs typeface="Calibri"/>
              </a:rPr>
              <a:t> </a:t>
            </a:r>
            <a:r>
              <a:rPr sz="2800" dirty="0">
                <a:latin typeface="Calibri"/>
                <a:cs typeface="Calibri"/>
              </a:rPr>
              <a:t>(slack</a:t>
            </a:r>
            <a:r>
              <a:rPr sz="2800" spc="-25" dirty="0">
                <a:latin typeface="Calibri"/>
                <a:cs typeface="Calibri"/>
              </a:rPr>
              <a:t> </a:t>
            </a:r>
            <a:r>
              <a:rPr sz="2800" dirty="0">
                <a:latin typeface="Calibri"/>
                <a:cs typeface="Calibri"/>
              </a:rPr>
              <a:t>or</a:t>
            </a:r>
            <a:r>
              <a:rPr sz="2800" spc="-30" dirty="0">
                <a:latin typeface="Calibri"/>
                <a:cs typeface="Calibri"/>
              </a:rPr>
              <a:t> </a:t>
            </a:r>
            <a:r>
              <a:rPr sz="2800" spc="-25" dirty="0">
                <a:latin typeface="Calibri"/>
                <a:cs typeface="Calibri"/>
              </a:rPr>
              <a:t>float—SL)</a:t>
            </a:r>
            <a:endParaRPr sz="2800" dirty="0">
              <a:latin typeface="Calibri"/>
              <a:cs typeface="Calibri"/>
            </a:endParaRPr>
          </a:p>
        </p:txBody>
      </p:sp>
      <p:pic>
        <p:nvPicPr>
          <p:cNvPr id="5" name="Picture 4">
            <a:extLst>
              <a:ext uri="{FF2B5EF4-FFF2-40B4-BE49-F238E27FC236}">
                <a16:creationId xmlns:a16="http://schemas.microsoft.com/office/drawing/2014/main" id="{A542A34A-F283-6960-4460-15C99290DA0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16063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70F2D6-FE8B-FA40-ECAA-4156C5322562}"/>
              </a:ext>
            </a:extLst>
          </p:cNvPr>
          <p:cNvSpPr>
            <a:spLocks noGrp="1"/>
          </p:cNvSpPr>
          <p:nvPr>
            <p:ph type="title"/>
          </p:nvPr>
        </p:nvSpPr>
        <p:spPr>
          <a:xfrm>
            <a:off x="87245" y="615856"/>
            <a:ext cx="12036809" cy="1846659"/>
          </a:xfrm>
        </p:spPr>
        <p:txBody>
          <a:bodyPr/>
          <a:lstStyle/>
          <a:p>
            <a:r>
              <a:rPr lang="en-US" sz="4000" b="1" dirty="0"/>
              <a:t>Key Differences Between Forward Pass and Backward Pass</a:t>
            </a:r>
            <a:br>
              <a:rPr lang="en-US" sz="4000" b="1" dirty="0"/>
            </a:br>
            <a:br>
              <a:rPr lang="en-US" sz="4000" b="1" dirty="0"/>
            </a:br>
            <a:endParaRPr lang="en-US" sz="4000" dirty="0"/>
          </a:p>
        </p:txBody>
      </p:sp>
      <p:sp>
        <p:nvSpPr>
          <p:cNvPr id="3" name="Text Placeholder 2">
            <a:extLst>
              <a:ext uri="{FF2B5EF4-FFF2-40B4-BE49-F238E27FC236}">
                <a16:creationId xmlns:a16="http://schemas.microsoft.com/office/drawing/2014/main" id="{118EFD15-CA65-3792-236F-BD6991551CDE}"/>
              </a:ext>
            </a:extLst>
          </p:cNvPr>
          <p:cNvSpPr>
            <a:spLocks noGrp="1"/>
          </p:cNvSpPr>
          <p:nvPr>
            <p:ph type="body" idx="1"/>
          </p:nvPr>
        </p:nvSpPr>
        <p:spPr/>
        <p:txBody>
          <a:bodyPr/>
          <a:lstStyle/>
          <a:p>
            <a:endParaRPr lang="en-US"/>
          </a:p>
        </p:txBody>
      </p:sp>
      <p:pic>
        <p:nvPicPr>
          <p:cNvPr id="4" name="Picture 3">
            <a:extLst>
              <a:ext uri="{FF2B5EF4-FFF2-40B4-BE49-F238E27FC236}">
                <a16:creationId xmlns:a16="http://schemas.microsoft.com/office/drawing/2014/main" id="{C116105C-AAE8-6245-C68C-E93D94CAD1C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744200" y="1"/>
            <a:ext cx="1447800" cy="80433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6858B6B1-28E6-7C4C-8916-B31BE0F21F9E}"/>
              </a:ext>
            </a:extLst>
          </p:cNvPr>
          <p:cNvPicPr>
            <a:picLocks noChangeAspect="1"/>
          </p:cNvPicPr>
          <p:nvPr/>
        </p:nvPicPr>
        <p:blipFill>
          <a:blip r:embed="rId4"/>
          <a:stretch>
            <a:fillRect/>
          </a:stretch>
        </p:blipFill>
        <p:spPr>
          <a:xfrm>
            <a:off x="87245" y="2167199"/>
            <a:ext cx="12076570" cy="2862001"/>
          </a:xfrm>
          <a:prstGeom prst="rect">
            <a:avLst/>
          </a:prstGeom>
        </p:spPr>
      </p:pic>
    </p:spTree>
    <p:extLst>
      <p:ext uri="{BB962C8B-B14F-4D97-AF65-F5344CB8AC3E}">
        <p14:creationId xmlns:p14="http://schemas.microsoft.com/office/powerpoint/2010/main" val="13813172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spc="85" dirty="0"/>
              <a:t>Forward</a:t>
            </a:r>
            <a:r>
              <a:rPr spc="135" dirty="0"/>
              <a:t> </a:t>
            </a:r>
            <a:r>
              <a:rPr spc="110" dirty="0"/>
              <a:t>Pass—</a:t>
            </a:r>
            <a:r>
              <a:rPr spc="85" dirty="0"/>
              <a:t>Earliest</a:t>
            </a:r>
            <a:r>
              <a:rPr spc="140" dirty="0"/>
              <a:t> </a:t>
            </a:r>
            <a:r>
              <a:rPr spc="105" dirty="0"/>
              <a:t>Times</a:t>
            </a:r>
            <a:r>
              <a:rPr spc="135" dirty="0"/>
              <a:t> </a:t>
            </a:r>
            <a:r>
              <a:rPr sz="1950" spc="-10" dirty="0"/>
              <a:t>(1/3)</a:t>
            </a:r>
            <a:endParaRPr sz="1950"/>
          </a:p>
        </p:txBody>
      </p:sp>
      <p:sp>
        <p:nvSpPr>
          <p:cNvPr id="3" name="object 3"/>
          <p:cNvSpPr txBox="1">
            <a:spLocks noGrp="1"/>
          </p:cNvSpPr>
          <p:nvPr>
            <p:ph type="body" idx="1"/>
          </p:nvPr>
        </p:nvSpPr>
        <p:spPr>
          <a:prstGeom prst="rect">
            <a:avLst/>
          </a:prstGeom>
        </p:spPr>
        <p:txBody>
          <a:bodyPr vert="horz" wrap="square" lIns="0" tIns="55244" rIns="0" bIns="0" rtlCol="0">
            <a:spAutoFit/>
          </a:bodyPr>
          <a:lstStyle/>
          <a:p>
            <a:pPr marL="240029" marR="5080" indent="-227329" algn="just">
              <a:lnSpc>
                <a:spcPct val="88300"/>
              </a:lnSpc>
              <a:spcBef>
                <a:spcPts val="434"/>
              </a:spcBef>
              <a:buFont typeface="Arial MT"/>
              <a:buChar char="•"/>
              <a:tabLst>
                <a:tab pos="241300" algn="l"/>
              </a:tabLst>
            </a:pPr>
            <a:r>
              <a:rPr dirty="0"/>
              <a:t>The</a:t>
            </a:r>
            <a:r>
              <a:rPr spc="254" dirty="0"/>
              <a:t> </a:t>
            </a:r>
            <a:r>
              <a:rPr dirty="0"/>
              <a:t>forward</a:t>
            </a:r>
            <a:r>
              <a:rPr spc="250" dirty="0"/>
              <a:t> </a:t>
            </a:r>
            <a:r>
              <a:rPr dirty="0"/>
              <a:t>pass</a:t>
            </a:r>
            <a:r>
              <a:rPr spc="250" dirty="0"/>
              <a:t> </a:t>
            </a:r>
            <a:r>
              <a:rPr dirty="0"/>
              <a:t>starts</a:t>
            </a:r>
            <a:r>
              <a:rPr spc="250" dirty="0"/>
              <a:t> </a:t>
            </a:r>
            <a:r>
              <a:rPr dirty="0"/>
              <a:t>with</a:t>
            </a:r>
            <a:r>
              <a:rPr spc="254" dirty="0"/>
              <a:t> </a:t>
            </a:r>
            <a:r>
              <a:rPr dirty="0"/>
              <a:t>the</a:t>
            </a:r>
            <a:r>
              <a:rPr spc="254" dirty="0"/>
              <a:t> </a:t>
            </a:r>
            <a:r>
              <a:rPr dirty="0"/>
              <a:t>first</a:t>
            </a:r>
            <a:r>
              <a:rPr spc="250" dirty="0"/>
              <a:t> </a:t>
            </a:r>
            <a:r>
              <a:rPr dirty="0"/>
              <a:t>project</a:t>
            </a:r>
            <a:r>
              <a:rPr spc="240" dirty="0"/>
              <a:t> </a:t>
            </a:r>
            <a:r>
              <a:rPr dirty="0"/>
              <a:t>activity(ies)</a:t>
            </a:r>
            <a:r>
              <a:rPr spc="250" dirty="0"/>
              <a:t> </a:t>
            </a:r>
            <a:r>
              <a:rPr dirty="0"/>
              <a:t>and</a:t>
            </a:r>
            <a:r>
              <a:rPr spc="254" dirty="0"/>
              <a:t> </a:t>
            </a:r>
            <a:r>
              <a:rPr dirty="0"/>
              <a:t>traces</a:t>
            </a:r>
            <a:r>
              <a:rPr spc="245" dirty="0"/>
              <a:t> </a:t>
            </a:r>
            <a:r>
              <a:rPr dirty="0"/>
              <a:t>each</a:t>
            </a:r>
            <a:r>
              <a:rPr spc="254" dirty="0"/>
              <a:t> </a:t>
            </a:r>
            <a:r>
              <a:rPr spc="-20" dirty="0"/>
              <a:t>path 	</a:t>
            </a:r>
            <a:r>
              <a:rPr dirty="0"/>
              <a:t>(chain</a:t>
            </a:r>
            <a:r>
              <a:rPr spc="290" dirty="0"/>
              <a:t>  </a:t>
            </a:r>
            <a:r>
              <a:rPr dirty="0"/>
              <a:t>of</a:t>
            </a:r>
            <a:r>
              <a:rPr spc="300" dirty="0"/>
              <a:t>  </a:t>
            </a:r>
            <a:r>
              <a:rPr dirty="0"/>
              <a:t>sequential</a:t>
            </a:r>
            <a:r>
              <a:rPr spc="295" dirty="0"/>
              <a:t>  </a:t>
            </a:r>
            <a:r>
              <a:rPr dirty="0"/>
              <a:t>activities)</a:t>
            </a:r>
            <a:r>
              <a:rPr spc="285" dirty="0"/>
              <a:t>  </a:t>
            </a:r>
            <a:r>
              <a:rPr dirty="0"/>
              <a:t>through</a:t>
            </a:r>
            <a:r>
              <a:rPr spc="295" dirty="0"/>
              <a:t>  </a:t>
            </a:r>
            <a:r>
              <a:rPr dirty="0"/>
              <a:t>the</a:t>
            </a:r>
            <a:r>
              <a:rPr spc="300" dirty="0"/>
              <a:t>  </a:t>
            </a:r>
            <a:r>
              <a:rPr dirty="0"/>
              <a:t>network</a:t>
            </a:r>
            <a:r>
              <a:rPr spc="290" dirty="0"/>
              <a:t>  </a:t>
            </a:r>
            <a:r>
              <a:rPr dirty="0"/>
              <a:t>to</a:t>
            </a:r>
            <a:r>
              <a:rPr spc="290" dirty="0"/>
              <a:t>  </a:t>
            </a:r>
            <a:r>
              <a:rPr dirty="0"/>
              <a:t>the</a:t>
            </a:r>
            <a:r>
              <a:rPr spc="300" dirty="0"/>
              <a:t>  </a:t>
            </a:r>
            <a:r>
              <a:rPr dirty="0"/>
              <a:t>last</a:t>
            </a:r>
            <a:r>
              <a:rPr spc="290" dirty="0"/>
              <a:t>  </a:t>
            </a:r>
            <a:r>
              <a:rPr spc="-10" dirty="0"/>
              <a:t>project 	activity(ies).</a:t>
            </a:r>
          </a:p>
          <a:p>
            <a:pPr marL="240029" marR="5715" indent="-227329" algn="just">
              <a:lnSpc>
                <a:spcPts val="2620"/>
              </a:lnSpc>
              <a:spcBef>
                <a:spcPts val="1025"/>
              </a:spcBef>
              <a:buFont typeface="Arial MT"/>
              <a:buChar char="•"/>
              <a:tabLst>
                <a:tab pos="241300" algn="l"/>
              </a:tabLst>
            </a:pPr>
            <a:r>
              <a:rPr dirty="0"/>
              <a:t>As you</a:t>
            </a:r>
            <a:r>
              <a:rPr spc="10" dirty="0"/>
              <a:t> </a:t>
            </a:r>
            <a:r>
              <a:rPr dirty="0"/>
              <a:t>trace</a:t>
            </a:r>
            <a:r>
              <a:rPr spc="10" dirty="0"/>
              <a:t> </a:t>
            </a:r>
            <a:r>
              <a:rPr dirty="0"/>
              <a:t>along the</a:t>
            </a:r>
            <a:r>
              <a:rPr spc="10" dirty="0"/>
              <a:t> </a:t>
            </a:r>
            <a:r>
              <a:rPr dirty="0"/>
              <a:t>path,</a:t>
            </a:r>
            <a:r>
              <a:rPr spc="5" dirty="0"/>
              <a:t> </a:t>
            </a:r>
            <a:r>
              <a:rPr dirty="0"/>
              <a:t>you</a:t>
            </a:r>
            <a:r>
              <a:rPr spc="10" dirty="0"/>
              <a:t> </a:t>
            </a:r>
            <a:r>
              <a:rPr i="1" dirty="0">
                <a:latin typeface="Calibri"/>
                <a:cs typeface="Calibri"/>
              </a:rPr>
              <a:t>add</a:t>
            </a:r>
            <a:r>
              <a:rPr i="1" spc="10" dirty="0">
                <a:latin typeface="Calibri"/>
                <a:cs typeface="Calibri"/>
              </a:rPr>
              <a:t> </a:t>
            </a:r>
            <a:r>
              <a:rPr dirty="0"/>
              <a:t>the</a:t>
            </a:r>
            <a:r>
              <a:rPr spc="15" dirty="0"/>
              <a:t> </a:t>
            </a:r>
            <a:r>
              <a:rPr dirty="0"/>
              <a:t>activity</a:t>
            </a:r>
            <a:r>
              <a:rPr spc="5" dirty="0"/>
              <a:t> </a:t>
            </a:r>
            <a:r>
              <a:rPr dirty="0"/>
              <a:t>times. The</a:t>
            </a:r>
            <a:r>
              <a:rPr spc="10" dirty="0"/>
              <a:t> </a:t>
            </a:r>
            <a:r>
              <a:rPr dirty="0"/>
              <a:t>longest path</a:t>
            </a:r>
            <a:r>
              <a:rPr spc="10" dirty="0"/>
              <a:t> </a:t>
            </a:r>
            <a:r>
              <a:rPr spc="-10" dirty="0"/>
              <a:t>denotes 	</a:t>
            </a:r>
            <a:r>
              <a:rPr dirty="0"/>
              <a:t>the</a:t>
            </a:r>
            <a:r>
              <a:rPr spc="-50" dirty="0"/>
              <a:t> </a:t>
            </a:r>
            <a:r>
              <a:rPr dirty="0"/>
              <a:t>project</a:t>
            </a:r>
            <a:r>
              <a:rPr spc="-65" dirty="0"/>
              <a:t> </a:t>
            </a:r>
            <a:r>
              <a:rPr dirty="0"/>
              <a:t>completion</a:t>
            </a:r>
            <a:r>
              <a:rPr spc="-55" dirty="0"/>
              <a:t> </a:t>
            </a:r>
            <a:r>
              <a:rPr dirty="0"/>
              <a:t>time</a:t>
            </a:r>
            <a:r>
              <a:rPr spc="-50" dirty="0"/>
              <a:t> </a:t>
            </a:r>
            <a:r>
              <a:rPr dirty="0"/>
              <a:t>for</a:t>
            </a:r>
            <a:r>
              <a:rPr spc="-55" dirty="0"/>
              <a:t> </a:t>
            </a:r>
            <a:r>
              <a:rPr dirty="0"/>
              <a:t>the</a:t>
            </a:r>
            <a:r>
              <a:rPr spc="-50" dirty="0"/>
              <a:t> </a:t>
            </a:r>
            <a:r>
              <a:rPr dirty="0"/>
              <a:t>plan</a:t>
            </a:r>
            <a:r>
              <a:rPr spc="-50" dirty="0"/>
              <a:t> </a:t>
            </a:r>
            <a:r>
              <a:rPr dirty="0"/>
              <a:t>and</a:t>
            </a:r>
            <a:r>
              <a:rPr spc="-55" dirty="0"/>
              <a:t> </a:t>
            </a:r>
            <a:r>
              <a:rPr dirty="0"/>
              <a:t>is</a:t>
            </a:r>
            <a:r>
              <a:rPr spc="-55" dirty="0"/>
              <a:t> </a:t>
            </a:r>
            <a:r>
              <a:rPr dirty="0"/>
              <a:t>called</a:t>
            </a:r>
            <a:r>
              <a:rPr spc="-60" dirty="0"/>
              <a:t> </a:t>
            </a:r>
            <a:r>
              <a:rPr dirty="0"/>
              <a:t>the</a:t>
            </a:r>
            <a:r>
              <a:rPr spc="-50" dirty="0"/>
              <a:t> </a:t>
            </a:r>
            <a:r>
              <a:rPr dirty="0"/>
              <a:t>critical</a:t>
            </a:r>
            <a:r>
              <a:rPr spc="-50" dirty="0"/>
              <a:t> </a:t>
            </a:r>
            <a:r>
              <a:rPr dirty="0"/>
              <a:t>path</a:t>
            </a:r>
            <a:r>
              <a:rPr spc="-55" dirty="0"/>
              <a:t> </a:t>
            </a:r>
            <a:r>
              <a:rPr spc="-20" dirty="0"/>
              <a:t>(CP)</a:t>
            </a:r>
          </a:p>
        </p:txBody>
      </p:sp>
      <p:pic>
        <p:nvPicPr>
          <p:cNvPr id="4" name="object 4"/>
          <p:cNvPicPr/>
          <p:nvPr/>
        </p:nvPicPr>
        <p:blipFill>
          <a:blip r:embed="rId2" cstate="print"/>
          <a:stretch>
            <a:fillRect/>
          </a:stretch>
        </p:blipFill>
        <p:spPr>
          <a:xfrm>
            <a:off x="1918917" y="3536242"/>
            <a:ext cx="8115300" cy="3149599"/>
          </a:xfrm>
          <a:prstGeom prst="rect">
            <a:avLst/>
          </a:prstGeom>
        </p:spPr>
      </p:pic>
      <p:sp>
        <p:nvSpPr>
          <p:cNvPr id="5" name="object 5"/>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23</a:t>
            </a:fld>
            <a:endParaRPr spc="-25" dirty="0"/>
          </a:p>
        </p:txBody>
      </p:sp>
      <p:pic>
        <p:nvPicPr>
          <p:cNvPr id="6" name="Picture 5">
            <a:extLst>
              <a:ext uri="{FF2B5EF4-FFF2-40B4-BE49-F238E27FC236}">
                <a16:creationId xmlns:a16="http://schemas.microsoft.com/office/drawing/2014/main" id="{C5D12460-79FB-7C2F-78CA-B9EE45813C6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6063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35419" y="1374340"/>
            <a:ext cx="12056745" cy="5483860"/>
            <a:chOff x="135419" y="1374340"/>
            <a:chExt cx="12056745" cy="5483860"/>
          </a:xfrm>
        </p:grpSpPr>
        <p:pic>
          <p:nvPicPr>
            <p:cNvPr id="3" name="object 3"/>
            <p:cNvPicPr/>
            <p:nvPr/>
          </p:nvPicPr>
          <p:blipFill>
            <a:blip r:embed="rId2" cstate="print"/>
            <a:stretch>
              <a:fillRect/>
            </a:stretch>
          </p:blipFill>
          <p:spPr>
            <a:xfrm>
              <a:off x="135419" y="1746370"/>
              <a:ext cx="9007364" cy="5111629"/>
            </a:xfrm>
            <a:prstGeom prst="rect">
              <a:avLst/>
            </a:prstGeom>
          </p:spPr>
        </p:pic>
        <p:pic>
          <p:nvPicPr>
            <p:cNvPr id="4" name="object 4"/>
            <p:cNvPicPr/>
            <p:nvPr/>
          </p:nvPicPr>
          <p:blipFill>
            <a:blip r:embed="rId3" cstate="print"/>
            <a:stretch>
              <a:fillRect/>
            </a:stretch>
          </p:blipFill>
          <p:spPr>
            <a:xfrm>
              <a:off x="7315198" y="1374340"/>
              <a:ext cx="4876801" cy="2054659"/>
            </a:xfrm>
            <a:prstGeom prst="rect">
              <a:avLst/>
            </a:prstGeom>
          </p:spPr>
        </p:pic>
        <p:sp>
          <p:nvSpPr>
            <p:cNvPr id="5" name="object 5"/>
            <p:cNvSpPr/>
            <p:nvPr/>
          </p:nvSpPr>
          <p:spPr>
            <a:xfrm>
              <a:off x="9828145" y="5651793"/>
              <a:ext cx="1710055" cy="400685"/>
            </a:xfrm>
            <a:custGeom>
              <a:avLst/>
              <a:gdLst/>
              <a:ahLst/>
              <a:cxnLst/>
              <a:rect l="l" t="t" r="r" b="b"/>
              <a:pathLst>
                <a:path w="1710054" h="400685">
                  <a:moveTo>
                    <a:pt x="0" y="0"/>
                  </a:moveTo>
                  <a:lnTo>
                    <a:pt x="1709993" y="0"/>
                  </a:lnTo>
                  <a:lnTo>
                    <a:pt x="1709993" y="400110"/>
                  </a:lnTo>
                  <a:lnTo>
                    <a:pt x="0" y="400110"/>
                  </a:lnTo>
                  <a:lnTo>
                    <a:pt x="0" y="0"/>
                  </a:lnTo>
                  <a:close/>
                </a:path>
              </a:pathLst>
            </a:custGeom>
            <a:ln w="82550">
              <a:solidFill>
                <a:srgbClr val="C00000"/>
              </a:solidFill>
            </a:ln>
          </p:spPr>
          <p:txBody>
            <a:bodyPr wrap="square" lIns="0" tIns="0" rIns="0" bIns="0" rtlCol="0"/>
            <a:lstStyle/>
            <a:p>
              <a:endParaRPr/>
            </a:p>
          </p:txBody>
        </p:sp>
      </p:grpSp>
      <p:sp>
        <p:nvSpPr>
          <p:cNvPr id="6" name="object 6"/>
          <p:cNvSpPr txBox="1"/>
          <p:nvPr/>
        </p:nvSpPr>
        <p:spPr>
          <a:xfrm>
            <a:off x="9185161" y="3753611"/>
            <a:ext cx="2903855" cy="2247900"/>
          </a:xfrm>
          <a:prstGeom prst="rect">
            <a:avLst/>
          </a:prstGeom>
        </p:spPr>
        <p:txBody>
          <a:bodyPr vert="horz" wrap="square" lIns="0" tIns="12700" rIns="0" bIns="0" rtlCol="0">
            <a:spAutoFit/>
          </a:bodyPr>
          <a:lstStyle/>
          <a:p>
            <a:pPr marL="172720" indent="-160020">
              <a:lnSpc>
                <a:spcPct val="100000"/>
              </a:lnSpc>
              <a:spcBef>
                <a:spcPts val="100"/>
              </a:spcBef>
              <a:buFont typeface="Arial MT"/>
              <a:buChar char="•"/>
              <a:tabLst>
                <a:tab pos="172720" algn="l"/>
              </a:tabLst>
            </a:pPr>
            <a:r>
              <a:rPr sz="1400" dirty="0">
                <a:latin typeface="Calibri"/>
                <a:cs typeface="Calibri"/>
              </a:rPr>
              <a:t>Early</a:t>
            </a:r>
            <a:r>
              <a:rPr sz="1400" spc="-40" dirty="0">
                <a:latin typeface="Calibri"/>
                <a:cs typeface="Calibri"/>
              </a:rPr>
              <a:t> </a:t>
            </a:r>
            <a:r>
              <a:rPr sz="1400" dirty="0">
                <a:latin typeface="Calibri"/>
                <a:cs typeface="Calibri"/>
              </a:rPr>
              <a:t>start</a:t>
            </a:r>
            <a:r>
              <a:rPr sz="1400" spc="-35" dirty="0">
                <a:latin typeface="Calibri"/>
                <a:cs typeface="Calibri"/>
              </a:rPr>
              <a:t> </a:t>
            </a:r>
            <a:r>
              <a:rPr sz="1400" dirty="0">
                <a:latin typeface="Calibri"/>
                <a:cs typeface="Calibri"/>
              </a:rPr>
              <a:t>time</a:t>
            </a:r>
            <a:r>
              <a:rPr sz="1400" spc="-35" dirty="0">
                <a:latin typeface="Calibri"/>
                <a:cs typeface="Calibri"/>
              </a:rPr>
              <a:t> </a:t>
            </a:r>
            <a:r>
              <a:rPr sz="1400" dirty="0">
                <a:latin typeface="Calibri"/>
                <a:cs typeface="Calibri"/>
              </a:rPr>
              <a:t>(activity</a:t>
            </a:r>
            <a:r>
              <a:rPr sz="1400" spc="-40" dirty="0">
                <a:latin typeface="Calibri"/>
                <a:cs typeface="Calibri"/>
              </a:rPr>
              <a:t> </a:t>
            </a:r>
            <a:r>
              <a:rPr sz="1400" dirty="0">
                <a:latin typeface="Calibri"/>
                <a:cs typeface="Calibri"/>
              </a:rPr>
              <a:t>A)</a:t>
            </a:r>
            <a:r>
              <a:rPr sz="1400" spc="-35" dirty="0">
                <a:latin typeface="Calibri"/>
                <a:cs typeface="Calibri"/>
              </a:rPr>
              <a:t> </a:t>
            </a:r>
            <a:r>
              <a:rPr sz="1400" dirty="0">
                <a:latin typeface="Calibri"/>
                <a:cs typeface="Calibri"/>
              </a:rPr>
              <a:t>=</a:t>
            </a:r>
            <a:r>
              <a:rPr sz="1400" spc="-40" dirty="0">
                <a:latin typeface="Calibri"/>
                <a:cs typeface="Calibri"/>
              </a:rPr>
              <a:t> </a:t>
            </a:r>
            <a:r>
              <a:rPr sz="1400" spc="-20" dirty="0">
                <a:latin typeface="Calibri"/>
                <a:cs typeface="Calibri"/>
              </a:rPr>
              <a:t>zero.</a:t>
            </a:r>
            <a:endParaRPr sz="1400">
              <a:latin typeface="Calibri"/>
              <a:cs typeface="Calibri"/>
            </a:endParaRPr>
          </a:p>
          <a:p>
            <a:pPr marL="173355" marR="5080" indent="-160655">
              <a:lnSpc>
                <a:spcPct val="101400"/>
              </a:lnSpc>
              <a:buFont typeface="Arial MT"/>
              <a:buChar char="•"/>
              <a:tabLst>
                <a:tab pos="173355" algn="l"/>
              </a:tabLst>
            </a:pPr>
            <a:r>
              <a:rPr sz="1400" dirty="0">
                <a:latin typeface="Calibri"/>
                <a:cs typeface="Calibri"/>
              </a:rPr>
              <a:t>The</a:t>
            </a:r>
            <a:r>
              <a:rPr sz="1400" spc="160" dirty="0">
                <a:latin typeface="Calibri"/>
                <a:cs typeface="Calibri"/>
              </a:rPr>
              <a:t> </a:t>
            </a:r>
            <a:r>
              <a:rPr sz="1400" dirty="0">
                <a:latin typeface="Calibri"/>
                <a:cs typeface="Calibri"/>
              </a:rPr>
              <a:t>early</a:t>
            </a:r>
            <a:r>
              <a:rPr sz="1400" spc="160" dirty="0">
                <a:latin typeface="Calibri"/>
                <a:cs typeface="Calibri"/>
              </a:rPr>
              <a:t> </a:t>
            </a:r>
            <a:r>
              <a:rPr sz="1400" dirty="0">
                <a:latin typeface="Calibri"/>
                <a:cs typeface="Calibri"/>
              </a:rPr>
              <a:t>finish</a:t>
            </a:r>
            <a:r>
              <a:rPr sz="1400" spc="160" dirty="0">
                <a:latin typeface="Calibri"/>
                <a:cs typeface="Calibri"/>
              </a:rPr>
              <a:t> </a:t>
            </a:r>
            <a:r>
              <a:rPr sz="1400" dirty="0">
                <a:latin typeface="Calibri"/>
                <a:cs typeface="Calibri"/>
              </a:rPr>
              <a:t>for</a:t>
            </a:r>
            <a:r>
              <a:rPr sz="1400" spc="155" dirty="0">
                <a:latin typeface="Calibri"/>
                <a:cs typeface="Calibri"/>
              </a:rPr>
              <a:t> </a:t>
            </a:r>
            <a:r>
              <a:rPr sz="1400" dirty="0">
                <a:latin typeface="Calibri"/>
                <a:cs typeface="Calibri"/>
              </a:rPr>
              <a:t>activity</a:t>
            </a:r>
            <a:r>
              <a:rPr sz="1400" spc="160" dirty="0">
                <a:latin typeface="Calibri"/>
                <a:cs typeface="Calibri"/>
              </a:rPr>
              <a:t> </a:t>
            </a:r>
            <a:r>
              <a:rPr sz="1400" dirty="0">
                <a:latin typeface="Calibri"/>
                <a:cs typeface="Calibri"/>
              </a:rPr>
              <a:t>A</a:t>
            </a:r>
            <a:r>
              <a:rPr sz="1400" spc="160" dirty="0">
                <a:latin typeface="Calibri"/>
                <a:cs typeface="Calibri"/>
              </a:rPr>
              <a:t> </a:t>
            </a:r>
            <a:r>
              <a:rPr sz="1400" dirty="0">
                <a:latin typeface="Calibri"/>
                <a:cs typeface="Calibri"/>
              </a:rPr>
              <a:t>=</a:t>
            </a:r>
            <a:r>
              <a:rPr sz="1400" spc="165" dirty="0">
                <a:latin typeface="Calibri"/>
                <a:cs typeface="Calibri"/>
              </a:rPr>
              <a:t> </a:t>
            </a:r>
            <a:r>
              <a:rPr sz="1400" dirty="0">
                <a:latin typeface="Calibri"/>
                <a:cs typeface="Calibri"/>
              </a:rPr>
              <a:t>EF</a:t>
            </a:r>
            <a:r>
              <a:rPr sz="1400" spc="150" dirty="0">
                <a:latin typeface="Calibri"/>
                <a:cs typeface="Calibri"/>
              </a:rPr>
              <a:t> </a:t>
            </a:r>
            <a:r>
              <a:rPr sz="1400" spc="-50" dirty="0">
                <a:latin typeface="Calibri"/>
                <a:cs typeface="Calibri"/>
              </a:rPr>
              <a:t>= </a:t>
            </a:r>
            <a:r>
              <a:rPr sz="1400" dirty="0">
                <a:latin typeface="Calibri"/>
                <a:cs typeface="Calibri"/>
              </a:rPr>
              <a:t>ES</a:t>
            </a:r>
            <a:r>
              <a:rPr sz="1400" spc="-20" dirty="0">
                <a:latin typeface="Calibri"/>
                <a:cs typeface="Calibri"/>
              </a:rPr>
              <a:t> </a:t>
            </a:r>
            <a:r>
              <a:rPr sz="1400" dirty="0">
                <a:latin typeface="Calibri"/>
                <a:cs typeface="Calibri"/>
              </a:rPr>
              <a:t>+</a:t>
            </a:r>
            <a:r>
              <a:rPr sz="1400" spc="-15" dirty="0">
                <a:latin typeface="Calibri"/>
                <a:cs typeface="Calibri"/>
              </a:rPr>
              <a:t> </a:t>
            </a:r>
            <a:r>
              <a:rPr sz="1400" dirty="0">
                <a:latin typeface="Calibri"/>
                <a:cs typeface="Calibri"/>
              </a:rPr>
              <a:t>DUR</a:t>
            </a:r>
            <a:r>
              <a:rPr sz="1400" spc="-15" dirty="0">
                <a:latin typeface="Calibri"/>
                <a:cs typeface="Calibri"/>
              </a:rPr>
              <a:t> </a:t>
            </a:r>
            <a:r>
              <a:rPr sz="1400" dirty="0">
                <a:latin typeface="Calibri"/>
                <a:cs typeface="Calibri"/>
              </a:rPr>
              <a:t>or</a:t>
            </a:r>
            <a:r>
              <a:rPr sz="1400" spc="-20" dirty="0">
                <a:latin typeface="Calibri"/>
                <a:cs typeface="Calibri"/>
              </a:rPr>
              <a:t> </a:t>
            </a:r>
            <a:r>
              <a:rPr sz="1400" dirty="0">
                <a:latin typeface="Calibri"/>
                <a:cs typeface="Calibri"/>
              </a:rPr>
              <a:t>0</a:t>
            </a:r>
            <a:r>
              <a:rPr sz="1400" spc="-15" dirty="0">
                <a:latin typeface="Calibri"/>
                <a:cs typeface="Calibri"/>
              </a:rPr>
              <a:t> </a:t>
            </a:r>
            <a:r>
              <a:rPr sz="1400" dirty="0">
                <a:latin typeface="Calibri"/>
                <a:cs typeface="Calibri"/>
              </a:rPr>
              <a:t>+</a:t>
            </a:r>
            <a:r>
              <a:rPr sz="1400" spc="-15" dirty="0">
                <a:latin typeface="Calibri"/>
                <a:cs typeface="Calibri"/>
              </a:rPr>
              <a:t> </a:t>
            </a:r>
            <a:r>
              <a:rPr sz="1400" dirty="0">
                <a:latin typeface="Calibri"/>
                <a:cs typeface="Calibri"/>
              </a:rPr>
              <a:t>10</a:t>
            </a:r>
            <a:r>
              <a:rPr sz="1400" spc="-15" dirty="0">
                <a:latin typeface="Calibri"/>
                <a:cs typeface="Calibri"/>
              </a:rPr>
              <a:t> </a:t>
            </a:r>
            <a:r>
              <a:rPr sz="1400" dirty="0">
                <a:latin typeface="Calibri"/>
                <a:cs typeface="Calibri"/>
              </a:rPr>
              <a:t>=</a:t>
            </a:r>
            <a:r>
              <a:rPr sz="1400" spc="-15" dirty="0">
                <a:latin typeface="Calibri"/>
                <a:cs typeface="Calibri"/>
              </a:rPr>
              <a:t> </a:t>
            </a:r>
            <a:r>
              <a:rPr sz="1400" spc="-25" dirty="0">
                <a:latin typeface="Calibri"/>
                <a:cs typeface="Calibri"/>
              </a:rPr>
              <a:t>10.</a:t>
            </a:r>
            <a:endParaRPr sz="1400">
              <a:latin typeface="Calibri"/>
              <a:cs typeface="Calibri"/>
            </a:endParaRPr>
          </a:p>
          <a:p>
            <a:pPr marL="173355" marR="5080" indent="-160655">
              <a:lnSpc>
                <a:spcPts val="1610"/>
              </a:lnSpc>
              <a:spcBef>
                <a:spcPts val="110"/>
              </a:spcBef>
              <a:buFont typeface="Arial MT"/>
              <a:buChar char="•"/>
              <a:tabLst>
                <a:tab pos="173355" algn="l"/>
              </a:tabLst>
            </a:pPr>
            <a:r>
              <a:rPr sz="1400" dirty="0">
                <a:latin typeface="Calibri"/>
                <a:cs typeface="Calibri"/>
              </a:rPr>
              <a:t>Earliest</a:t>
            </a:r>
            <a:r>
              <a:rPr sz="1400" spc="195" dirty="0">
                <a:latin typeface="Calibri"/>
                <a:cs typeface="Calibri"/>
              </a:rPr>
              <a:t> </a:t>
            </a:r>
            <a:r>
              <a:rPr sz="1400" dirty="0">
                <a:latin typeface="Calibri"/>
                <a:cs typeface="Calibri"/>
              </a:rPr>
              <a:t>activities</a:t>
            </a:r>
            <a:r>
              <a:rPr sz="1400" spc="195" dirty="0">
                <a:latin typeface="Calibri"/>
                <a:cs typeface="Calibri"/>
              </a:rPr>
              <a:t> </a:t>
            </a:r>
            <a:r>
              <a:rPr sz="1400" dirty="0">
                <a:latin typeface="Calibri"/>
                <a:cs typeface="Calibri"/>
              </a:rPr>
              <a:t>B</a:t>
            </a:r>
            <a:r>
              <a:rPr sz="1400" spc="200" dirty="0">
                <a:latin typeface="Calibri"/>
                <a:cs typeface="Calibri"/>
              </a:rPr>
              <a:t> </a:t>
            </a:r>
            <a:r>
              <a:rPr sz="1400" dirty="0">
                <a:latin typeface="Calibri"/>
                <a:cs typeface="Calibri"/>
              </a:rPr>
              <a:t>and</a:t>
            </a:r>
            <a:r>
              <a:rPr sz="1400" spc="195" dirty="0">
                <a:latin typeface="Calibri"/>
                <a:cs typeface="Calibri"/>
              </a:rPr>
              <a:t> </a:t>
            </a:r>
            <a:r>
              <a:rPr sz="1400" dirty="0">
                <a:latin typeface="Calibri"/>
                <a:cs typeface="Calibri"/>
              </a:rPr>
              <a:t>C</a:t>
            </a:r>
            <a:r>
              <a:rPr sz="1400" spc="200" dirty="0">
                <a:latin typeface="Calibri"/>
                <a:cs typeface="Calibri"/>
              </a:rPr>
              <a:t> </a:t>
            </a:r>
            <a:r>
              <a:rPr sz="1400" dirty="0">
                <a:latin typeface="Calibri"/>
                <a:cs typeface="Calibri"/>
              </a:rPr>
              <a:t>can</a:t>
            </a:r>
            <a:r>
              <a:rPr sz="1400" spc="195" dirty="0">
                <a:latin typeface="Calibri"/>
                <a:cs typeface="Calibri"/>
              </a:rPr>
              <a:t> </a:t>
            </a:r>
            <a:r>
              <a:rPr sz="1400" spc="-10" dirty="0">
                <a:latin typeface="Calibri"/>
                <a:cs typeface="Calibri"/>
              </a:rPr>
              <a:t>begin </a:t>
            </a:r>
            <a:r>
              <a:rPr sz="1400" dirty="0">
                <a:latin typeface="Calibri"/>
                <a:cs typeface="Calibri"/>
              </a:rPr>
              <a:t>as</a:t>
            </a:r>
            <a:r>
              <a:rPr sz="1400" spc="-30" dirty="0">
                <a:latin typeface="Calibri"/>
                <a:cs typeface="Calibri"/>
              </a:rPr>
              <a:t> </a:t>
            </a:r>
            <a:r>
              <a:rPr sz="1400" dirty="0">
                <a:latin typeface="Calibri"/>
                <a:cs typeface="Calibri"/>
              </a:rPr>
              <a:t>soon</a:t>
            </a:r>
            <a:r>
              <a:rPr sz="1400" spc="-25" dirty="0">
                <a:latin typeface="Calibri"/>
                <a:cs typeface="Calibri"/>
              </a:rPr>
              <a:t> </a:t>
            </a:r>
            <a:r>
              <a:rPr sz="1400" dirty="0">
                <a:latin typeface="Calibri"/>
                <a:cs typeface="Calibri"/>
              </a:rPr>
              <a:t>as</a:t>
            </a:r>
            <a:r>
              <a:rPr sz="1400" spc="-25" dirty="0">
                <a:latin typeface="Calibri"/>
                <a:cs typeface="Calibri"/>
              </a:rPr>
              <a:t> </a:t>
            </a:r>
            <a:r>
              <a:rPr sz="1400" dirty="0">
                <a:latin typeface="Calibri"/>
                <a:cs typeface="Calibri"/>
              </a:rPr>
              <a:t>activity</a:t>
            </a:r>
            <a:r>
              <a:rPr sz="1400" spc="-20" dirty="0">
                <a:latin typeface="Calibri"/>
                <a:cs typeface="Calibri"/>
              </a:rPr>
              <a:t> </a:t>
            </a:r>
            <a:r>
              <a:rPr sz="1400" dirty="0">
                <a:latin typeface="Calibri"/>
                <a:cs typeface="Calibri"/>
              </a:rPr>
              <a:t>A</a:t>
            </a:r>
            <a:r>
              <a:rPr sz="1400" spc="-25" dirty="0">
                <a:latin typeface="Calibri"/>
                <a:cs typeface="Calibri"/>
              </a:rPr>
              <a:t> </a:t>
            </a:r>
            <a:r>
              <a:rPr sz="1400" dirty="0">
                <a:latin typeface="Calibri"/>
                <a:cs typeface="Calibri"/>
              </a:rPr>
              <a:t>is</a:t>
            </a:r>
            <a:r>
              <a:rPr sz="1400" spc="-25" dirty="0">
                <a:latin typeface="Calibri"/>
                <a:cs typeface="Calibri"/>
              </a:rPr>
              <a:t> </a:t>
            </a:r>
            <a:r>
              <a:rPr sz="1400" spc="-10" dirty="0">
                <a:latin typeface="Calibri"/>
                <a:cs typeface="Calibri"/>
              </a:rPr>
              <a:t>completed</a:t>
            </a:r>
            <a:endParaRPr sz="1400">
              <a:latin typeface="Calibri"/>
              <a:cs typeface="Calibri"/>
            </a:endParaRPr>
          </a:p>
          <a:p>
            <a:pPr marL="173355" marR="5080" indent="-160655">
              <a:lnSpc>
                <a:spcPts val="1700"/>
              </a:lnSpc>
              <a:spcBef>
                <a:spcPts val="20"/>
              </a:spcBef>
              <a:buChar char="•"/>
              <a:tabLst>
                <a:tab pos="173355" algn="l"/>
                <a:tab pos="212725" algn="l"/>
              </a:tabLst>
            </a:pPr>
            <a:r>
              <a:rPr sz="1400" dirty="0">
                <a:latin typeface="Arial MT"/>
                <a:cs typeface="Arial MT"/>
              </a:rPr>
              <a:t>	</a:t>
            </a:r>
            <a:r>
              <a:rPr sz="1400" dirty="0">
                <a:latin typeface="Calibri"/>
                <a:cs typeface="Calibri"/>
              </a:rPr>
              <a:t>Early</a:t>
            </a:r>
            <a:r>
              <a:rPr sz="1400" spc="40" dirty="0">
                <a:latin typeface="Calibri"/>
                <a:cs typeface="Calibri"/>
              </a:rPr>
              <a:t> </a:t>
            </a:r>
            <a:r>
              <a:rPr sz="1400" dirty="0">
                <a:latin typeface="Calibri"/>
                <a:cs typeface="Calibri"/>
              </a:rPr>
              <a:t>finish</a:t>
            </a:r>
            <a:r>
              <a:rPr sz="1400" spc="45" dirty="0">
                <a:latin typeface="Calibri"/>
                <a:cs typeface="Calibri"/>
              </a:rPr>
              <a:t> </a:t>
            </a:r>
            <a:r>
              <a:rPr sz="1400" dirty="0">
                <a:latin typeface="Calibri"/>
                <a:cs typeface="Calibri"/>
              </a:rPr>
              <a:t>(EF)</a:t>
            </a:r>
            <a:r>
              <a:rPr sz="1400" spc="40" dirty="0">
                <a:latin typeface="Calibri"/>
                <a:cs typeface="Calibri"/>
              </a:rPr>
              <a:t> </a:t>
            </a:r>
            <a:r>
              <a:rPr sz="1400" dirty="0">
                <a:latin typeface="Calibri"/>
                <a:cs typeface="Calibri"/>
              </a:rPr>
              <a:t>times</a:t>
            </a:r>
            <a:r>
              <a:rPr sz="1400" spc="45" dirty="0">
                <a:latin typeface="Calibri"/>
                <a:cs typeface="Calibri"/>
              </a:rPr>
              <a:t> </a:t>
            </a:r>
            <a:r>
              <a:rPr sz="1400" dirty="0">
                <a:latin typeface="Calibri"/>
                <a:cs typeface="Calibri"/>
              </a:rPr>
              <a:t>for</a:t>
            </a:r>
            <a:r>
              <a:rPr sz="1400" spc="35" dirty="0">
                <a:latin typeface="Calibri"/>
                <a:cs typeface="Calibri"/>
              </a:rPr>
              <a:t> </a:t>
            </a:r>
            <a:r>
              <a:rPr sz="1400" dirty="0">
                <a:latin typeface="Calibri"/>
                <a:cs typeface="Calibri"/>
              </a:rPr>
              <a:t>activities</a:t>
            </a:r>
            <a:r>
              <a:rPr sz="1400" spc="45" dirty="0">
                <a:latin typeface="Calibri"/>
                <a:cs typeface="Calibri"/>
              </a:rPr>
              <a:t> </a:t>
            </a:r>
            <a:r>
              <a:rPr sz="1400" spc="-50" dirty="0">
                <a:latin typeface="Calibri"/>
                <a:cs typeface="Calibri"/>
              </a:rPr>
              <a:t>B </a:t>
            </a:r>
            <a:r>
              <a:rPr sz="1400" dirty="0">
                <a:latin typeface="Calibri"/>
                <a:cs typeface="Calibri"/>
              </a:rPr>
              <a:t>and</a:t>
            </a:r>
            <a:r>
              <a:rPr sz="1400" spc="-25" dirty="0">
                <a:latin typeface="Calibri"/>
                <a:cs typeface="Calibri"/>
              </a:rPr>
              <a:t> </a:t>
            </a:r>
            <a:r>
              <a:rPr sz="1400" dirty="0">
                <a:latin typeface="Calibri"/>
                <a:cs typeface="Calibri"/>
              </a:rPr>
              <a:t>C</a:t>
            </a:r>
            <a:r>
              <a:rPr sz="1400" spc="-25" dirty="0">
                <a:latin typeface="Calibri"/>
                <a:cs typeface="Calibri"/>
              </a:rPr>
              <a:t> </a:t>
            </a:r>
            <a:r>
              <a:rPr sz="1400" dirty="0">
                <a:latin typeface="Calibri"/>
                <a:cs typeface="Calibri"/>
              </a:rPr>
              <a:t>are</a:t>
            </a:r>
            <a:r>
              <a:rPr sz="1400" spc="-25" dirty="0">
                <a:latin typeface="Calibri"/>
                <a:cs typeface="Calibri"/>
              </a:rPr>
              <a:t> </a:t>
            </a:r>
            <a:r>
              <a:rPr sz="1400" dirty="0">
                <a:latin typeface="Calibri"/>
                <a:cs typeface="Calibri"/>
              </a:rPr>
              <a:t>15</a:t>
            </a:r>
            <a:r>
              <a:rPr sz="1400" spc="-25" dirty="0">
                <a:latin typeface="Calibri"/>
                <a:cs typeface="Calibri"/>
              </a:rPr>
              <a:t> </a:t>
            </a:r>
            <a:r>
              <a:rPr sz="1400" dirty="0">
                <a:latin typeface="Calibri"/>
                <a:cs typeface="Calibri"/>
              </a:rPr>
              <a:t>and</a:t>
            </a:r>
            <a:r>
              <a:rPr sz="1400" spc="-25" dirty="0">
                <a:latin typeface="Calibri"/>
                <a:cs typeface="Calibri"/>
              </a:rPr>
              <a:t> </a:t>
            </a:r>
            <a:r>
              <a:rPr sz="1400" dirty="0">
                <a:latin typeface="Calibri"/>
                <a:cs typeface="Calibri"/>
              </a:rPr>
              <a:t>35</a:t>
            </a:r>
            <a:r>
              <a:rPr sz="1400" spc="-25" dirty="0">
                <a:latin typeface="Calibri"/>
                <a:cs typeface="Calibri"/>
              </a:rPr>
              <a:t> </a:t>
            </a:r>
            <a:r>
              <a:rPr sz="1400" spc="-20" dirty="0">
                <a:latin typeface="Calibri"/>
                <a:cs typeface="Calibri"/>
              </a:rPr>
              <a:t>days.</a:t>
            </a:r>
            <a:endParaRPr sz="1400">
              <a:latin typeface="Calibri"/>
              <a:cs typeface="Calibri"/>
            </a:endParaRPr>
          </a:p>
          <a:p>
            <a:pPr>
              <a:lnSpc>
                <a:spcPct val="100000"/>
              </a:lnSpc>
              <a:spcBef>
                <a:spcPts val="1545"/>
              </a:spcBef>
            </a:pPr>
            <a:endParaRPr sz="1400">
              <a:latin typeface="Calibri"/>
              <a:cs typeface="Calibri"/>
            </a:endParaRPr>
          </a:p>
          <a:p>
            <a:pPr marL="781050">
              <a:lnSpc>
                <a:spcPct val="100000"/>
              </a:lnSpc>
              <a:spcBef>
                <a:spcPts val="5"/>
              </a:spcBef>
            </a:pPr>
            <a:r>
              <a:rPr sz="2000" b="1" dirty="0">
                <a:solidFill>
                  <a:srgbClr val="262EA4"/>
                </a:solidFill>
                <a:latin typeface="Calibri"/>
                <a:cs typeface="Calibri"/>
              </a:rPr>
              <a:t>EF</a:t>
            </a:r>
            <a:r>
              <a:rPr sz="2000" b="1" spc="-25" dirty="0">
                <a:solidFill>
                  <a:srgbClr val="262EA4"/>
                </a:solidFill>
                <a:latin typeface="Calibri"/>
                <a:cs typeface="Calibri"/>
              </a:rPr>
              <a:t> </a:t>
            </a:r>
            <a:r>
              <a:rPr sz="2000" b="1" dirty="0">
                <a:solidFill>
                  <a:srgbClr val="262EA4"/>
                </a:solidFill>
                <a:latin typeface="Calibri"/>
                <a:cs typeface="Calibri"/>
              </a:rPr>
              <a:t>=</a:t>
            </a:r>
            <a:r>
              <a:rPr sz="2000" b="1" spc="-15" dirty="0">
                <a:solidFill>
                  <a:srgbClr val="262EA4"/>
                </a:solidFill>
                <a:latin typeface="Calibri"/>
                <a:cs typeface="Calibri"/>
              </a:rPr>
              <a:t> </a:t>
            </a:r>
            <a:r>
              <a:rPr sz="2000" b="1" dirty="0">
                <a:solidFill>
                  <a:srgbClr val="262EA4"/>
                </a:solidFill>
                <a:latin typeface="Calibri"/>
                <a:cs typeface="Calibri"/>
              </a:rPr>
              <a:t>ES</a:t>
            </a:r>
            <a:r>
              <a:rPr sz="2000" b="1" spc="-15" dirty="0">
                <a:solidFill>
                  <a:srgbClr val="262EA4"/>
                </a:solidFill>
                <a:latin typeface="Calibri"/>
                <a:cs typeface="Calibri"/>
              </a:rPr>
              <a:t> </a:t>
            </a:r>
            <a:r>
              <a:rPr sz="2000" b="1" dirty="0">
                <a:solidFill>
                  <a:srgbClr val="262EA4"/>
                </a:solidFill>
                <a:latin typeface="Calibri"/>
                <a:cs typeface="Calibri"/>
              </a:rPr>
              <a:t>+</a:t>
            </a:r>
            <a:r>
              <a:rPr sz="2000" b="1" spc="-15" dirty="0">
                <a:solidFill>
                  <a:srgbClr val="262EA4"/>
                </a:solidFill>
                <a:latin typeface="Calibri"/>
                <a:cs typeface="Calibri"/>
              </a:rPr>
              <a:t> </a:t>
            </a:r>
            <a:r>
              <a:rPr sz="2000" b="1" spc="-25" dirty="0">
                <a:solidFill>
                  <a:srgbClr val="262EA4"/>
                </a:solidFill>
                <a:latin typeface="Calibri"/>
                <a:cs typeface="Calibri"/>
              </a:rPr>
              <a:t>DUR</a:t>
            </a:r>
            <a:endParaRPr sz="2000">
              <a:latin typeface="Calibri"/>
              <a:cs typeface="Calibri"/>
            </a:endParaRPr>
          </a:p>
        </p:txBody>
      </p:sp>
      <p:sp>
        <p:nvSpPr>
          <p:cNvPr id="8" name="object 8"/>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24</a:t>
            </a:fld>
            <a:endParaRPr spc="-25" dirty="0"/>
          </a:p>
        </p:txBody>
      </p:sp>
      <p:sp>
        <p:nvSpPr>
          <p:cNvPr id="7" name="object 7"/>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spc="85" dirty="0"/>
              <a:t>Forward</a:t>
            </a:r>
            <a:r>
              <a:rPr spc="135" dirty="0"/>
              <a:t> </a:t>
            </a:r>
            <a:r>
              <a:rPr spc="110" dirty="0"/>
              <a:t>Pass—</a:t>
            </a:r>
            <a:r>
              <a:rPr spc="85" dirty="0"/>
              <a:t>Earliest</a:t>
            </a:r>
            <a:r>
              <a:rPr spc="140" dirty="0"/>
              <a:t> </a:t>
            </a:r>
            <a:r>
              <a:rPr spc="105" dirty="0"/>
              <a:t>Times</a:t>
            </a:r>
            <a:r>
              <a:rPr spc="135" dirty="0"/>
              <a:t> </a:t>
            </a:r>
            <a:r>
              <a:rPr sz="1950" spc="-10" dirty="0"/>
              <a:t>(2/3)</a:t>
            </a:r>
            <a:endParaRPr sz="1950"/>
          </a:p>
        </p:txBody>
      </p:sp>
      <p:pic>
        <p:nvPicPr>
          <p:cNvPr id="9" name="Picture 8">
            <a:extLst>
              <a:ext uri="{FF2B5EF4-FFF2-40B4-BE49-F238E27FC236}">
                <a16:creationId xmlns:a16="http://schemas.microsoft.com/office/drawing/2014/main" id="{F4A2E037-56CF-9BB1-A5D6-4CF5CFD6369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16063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03547" y="1073716"/>
            <a:ext cx="12088495" cy="5784850"/>
            <a:chOff x="103547" y="1073716"/>
            <a:chExt cx="12088495" cy="5784850"/>
          </a:xfrm>
        </p:grpSpPr>
        <p:pic>
          <p:nvPicPr>
            <p:cNvPr id="3" name="object 3"/>
            <p:cNvPicPr/>
            <p:nvPr/>
          </p:nvPicPr>
          <p:blipFill>
            <a:blip r:embed="rId2" cstate="print"/>
            <a:stretch>
              <a:fillRect/>
            </a:stretch>
          </p:blipFill>
          <p:spPr>
            <a:xfrm>
              <a:off x="103547" y="1809015"/>
              <a:ext cx="8817881" cy="5048984"/>
            </a:xfrm>
            <a:prstGeom prst="rect">
              <a:avLst/>
            </a:prstGeom>
          </p:spPr>
        </p:pic>
        <p:pic>
          <p:nvPicPr>
            <p:cNvPr id="4" name="object 4"/>
            <p:cNvPicPr/>
            <p:nvPr/>
          </p:nvPicPr>
          <p:blipFill>
            <a:blip r:embed="rId3" cstate="print"/>
            <a:stretch>
              <a:fillRect/>
            </a:stretch>
          </p:blipFill>
          <p:spPr>
            <a:xfrm>
              <a:off x="7315198" y="1073716"/>
              <a:ext cx="4876801" cy="2054659"/>
            </a:xfrm>
            <a:prstGeom prst="rect">
              <a:avLst/>
            </a:prstGeom>
          </p:spPr>
        </p:pic>
      </p:grpSp>
      <p:sp>
        <p:nvSpPr>
          <p:cNvPr id="5" name="object 5"/>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spc="85" dirty="0"/>
              <a:t>Forward</a:t>
            </a:r>
            <a:r>
              <a:rPr spc="135" dirty="0"/>
              <a:t> </a:t>
            </a:r>
            <a:r>
              <a:rPr spc="110" dirty="0"/>
              <a:t>Pass—</a:t>
            </a:r>
            <a:r>
              <a:rPr spc="85" dirty="0"/>
              <a:t>Earliest</a:t>
            </a:r>
            <a:r>
              <a:rPr spc="140" dirty="0"/>
              <a:t> </a:t>
            </a:r>
            <a:r>
              <a:rPr spc="105" dirty="0"/>
              <a:t>Times</a:t>
            </a:r>
            <a:r>
              <a:rPr spc="135" dirty="0"/>
              <a:t> </a:t>
            </a:r>
            <a:r>
              <a:rPr sz="1950" spc="-10" dirty="0"/>
              <a:t>(3/3)</a:t>
            </a:r>
            <a:endParaRPr sz="1950"/>
          </a:p>
        </p:txBody>
      </p:sp>
      <p:pic>
        <p:nvPicPr>
          <p:cNvPr id="6" name="object 6"/>
          <p:cNvPicPr/>
          <p:nvPr/>
        </p:nvPicPr>
        <p:blipFill>
          <a:blip r:embed="rId4" cstate="print"/>
          <a:stretch>
            <a:fillRect/>
          </a:stretch>
        </p:blipFill>
        <p:spPr>
          <a:xfrm>
            <a:off x="8436482" y="3087193"/>
            <a:ext cx="3704860" cy="381000"/>
          </a:xfrm>
          <a:prstGeom prst="rect">
            <a:avLst/>
          </a:prstGeom>
        </p:spPr>
      </p:pic>
      <p:sp>
        <p:nvSpPr>
          <p:cNvPr id="7" name="object 7"/>
          <p:cNvSpPr txBox="1"/>
          <p:nvPr/>
        </p:nvSpPr>
        <p:spPr>
          <a:xfrm>
            <a:off x="8515225" y="3097784"/>
            <a:ext cx="1656080" cy="302895"/>
          </a:xfrm>
          <a:prstGeom prst="rect">
            <a:avLst/>
          </a:prstGeom>
        </p:spPr>
        <p:txBody>
          <a:bodyPr vert="horz" wrap="square" lIns="0" tIns="12700" rIns="0" bIns="0" rtlCol="0">
            <a:spAutoFit/>
          </a:bodyPr>
          <a:lstStyle/>
          <a:p>
            <a:pPr marL="12700">
              <a:lnSpc>
                <a:spcPct val="100000"/>
              </a:lnSpc>
              <a:spcBef>
                <a:spcPts val="100"/>
              </a:spcBef>
            </a:pPr>
            <a:r>
              <a:rPr sz="900" dirty="0">
                <a:latin typeface="Calibri"/>
                <a:cs typeface="Calibri"/>
              </a:rPr>
              <a:t>Activity</a:t>
            </a:r>
            <a:r>
              <a:rPr sz="900" spc="-10" dirty="0">
                <a:latin typeface="Calibri"/>
                <a:cs typeface="Calibri"/>
              </a:rPr>
              <a:t> </a:t>
            </a:r>
            <a:r>
              <a:rPr sz="900" dirty="0">
                <a:latin typeface="Calibri"/>
                <a:cs typeface="Calibri"/>
              </a:rPr>
              <a:t>D:</a:t>
            </a:r>
            <a:r>
              <a:rPr sz="900" spc="-15" dirty="0">
                <a:latin typeface="Calibri"/>
                <a:cs typeface="Calibri"/>
              </a:rPr>
              <a:t> </a:t>
            </a:r>
            <a:r>
              <a:rPr sz="900" dirty="0">
                <a:latin typeface="Calibri"/>
                <a:cs typeface="Calibri"/>
              </a:rPr>
              <a:t>ES</a:t>
            </a:r>
            <a:r>
              <a:rPr sz="900" spc="-10" dirty="0">
                <a:latin typeface="Calibri"/>
                <a:cs typeface="Calibri"/>
              </a:rPr>
              <a:t> </a:t>
            </a:r>
            <a:r>
              <a:rPr sz="900" dirty="0">
                <a:latin typeface="Calibri"/>
                <a:cs typeface="Calibri"/>
              </a:rPr>
              <a:t>=</a:t>
            </a:r>
            <a:r>
              <a:rPr sz="900" spc="-10" dirty="0">
                <a:latin typeface="Calibri"/>
                <a:cs typeface="Calibri"/>
              </a:rPr>
              <a:t> </a:t>
            </a:r>
            <a:r>
              <a:rPr sz="900" dirty="0">
                <a:latin typeface="Calibri"/>
                <a:cs typeface="Calibri"/>
              </a:rPr>
              <a:t>15</a:t>
            </a:r>
            <a:r>
              <a:rPr sz="900" spc="-20" dirty="0">
                <a:latin typeface="Calibri"/>
                <a:cs typeface="Calibri"/>
              </a:rPr>
              <a:t> </a:t>
            </a:r>
            <a:r>
              <a:rPr sz="900" dirty="0">
                <a:latin typeface="Calibri"/>
                <a:cs typeface="Calibri"/>
              </a:rPr>
              <a:t>EF</a:t>
            </a:r>
            <a:r>
              <a:rPr sz="900" spc="-10" dirty="0">
                <a:latin typeface="Calibri"/>
                <a:cs typeface="Calibri"/>
              </a:rPr>
              <a:t> </a:t>
            </a:r>
            <a:r>
              <a:rPr sz="900" dirty="0">
                <a:latin typeface="Calibri"/>
                <a:cs typeface="Calibri"/>
              </a:rPr>
              <a:t>=</a:t>
            </a:r>
            <a:r>
              <a:rPr sz="900" spc="-10" dirty="0">
                <a:latin typeface="Calibri"/>
                <a:cs typeface="Calibri"/>
              </a:rPr>
              <a:t> </a:t>
            </a:r>
            <a:r>
              <a:rPr sz="900" dirty="0">
                <a:latin typeface="Calibri"/>
                <a:cs typeface="Calibri"/>
              </a:rPr>
              <a:t>15</a:t>
            </a:r>
            <a:r>
              <a:rPr sz="900" spc="-15" dirty="0">
                <a:latin typeface="Calibri"/>
                <a:cs typeface="Calibri"/>
              </a:rPr>
              <a:t> </a:t>
            </a:r>
            <a:r>
              <a:rPr sz="900" dirty="0">
                <a:latin typeface="Calibri"/>
                <a:cs typeface="Calibri"/>
              </a:rPr>
              <a:t>+</a:t>
            </a:r>
            <a:r>
              <a:rPr sz="900" spc="-15" dirty="0">
                <a:latin typeface="Calibri"/>
                <a:cs typeface="Calibri"/>
              </a:rPr>
              <a:t> </a:t>
            </a:r>
            <a:r>
              <a:rPr sz="900" dirty="0">
                <a:latin typeface="Calibri"/>
                <a:cs typeface="Calibri"/>
              </a:rPr>
              <a:t>20</a:t>
            </a:r>
            <a:r>
              <a:rPr sz="900" spc="-15" dirty="0">
                <a:latin typeface="Calibri"/>
                <a:cs typeface="Calibri"/>
              </a:rPr>
              <a:t> </a:t>
            </a:r>
            <a:r>
              <a:rPr sz="900" dirty="0">
                <a:latin typeface="Calibri"/>
                <a:cs typeface="Calibri"/>
              </a:rPr>
              <a:t>=</a:t>
            </a:r>
            <a:r>
              <a:rPr sz="900" spc="-10" dirty="0">
                <a:latin typeface="Calibri"/>
                <a:cs typeface="Calibri"/>
              </a:rPr>
              <a:t> </a:t>
            </a:r>
            <a:r>
              <a:rPr sz="900" spc="-35" dirty="0">
                <a:latin typeface="Calibri"/>
                <a:cs typeface="Calibri"/>
              </a:rPr>
              <a:t>35</a:t>
            </a:r>
            <a:endParaRPr sz="900">
              <a:latin typeface="Calibri"/>
              <a:cs typeface="Calibri"/>
            </a:endParaRPr>
          </a:p>
          <a:p>
            <a:pPr marL="12700">
              <a:lnSpc>
                <a:spcPct val="100000"/>
              </a:lnSpc>
              <a:spcBef>
                <a:spcPts val="20"/>
              </a:spcBef>
            </a:pPr>
            <a:r>
              <a:rPr sz="900" dirty="0">
                <a:latin typeface="Calibri"/>
                <a:cs typeface="Calibri"/>
              </a:rPr>
              <a:t>Activity</a:t>
            </a:r>
            <a:r>
              <a:rPr sz="900" spc="-10" dirty="0">
                <a:latin typeface="Calibri"/>
                <a:cs typeface="Calibri"/>
              </a:rPr>
              <a:t> </a:t>
            </a:r>
            <a:r>
              <a:rPr sz="900" dirty="0">
                <a:latin typeface="Calibri"/>
                <a:cs typeface="Calibri"/>
              </a:rPr>
              <a:t>E:</a:t>
            </a:r>
            <a:r>
              <a:rPr sz="900" spc="-15" dirty="0">
                <a:latin typeface="Calibri"/>
                <a:cs typeface="Calibri"/>
              </a:rPr>
              <a:t> </a:t>
            </a:r>
            <a:r>
              <a:rPr sz="900" dirty="0">
                <a:latin typeface="Calibri"/>
                <a:cs typeface="Calibri"/>
              </a:rPr>
              <a:t>ES</a:t>
            </a:r>
            <a:r>
              <a:rPr sz="900" spc="-10" dirty="0">
                <a:latin typeface="Calibri"/>
                <a:cs typeface="Calibri"/>
              </a:rPr>
              <a:t> </a:t>
            </a:r>
            <a:r>
              <a:rPr sz="900" dirty="0">
                <a:latin typeface="Calibri"/>
                <a:cs typeface="Calibri"/>
              </a:rPr>
              <a:t>=</a:t>
            </a:r>
            <a:r>
              <a:rPr sz="900" spc="-10" dirty="0">
                <a:latin typeface="Calibri"/>
                <a:cs typeface="Calibri"/>
              </a:rPr>
              <a:t> </a:t>
            </a:r>
            <a:r>
              <a:rPr sz="900" dirty="0">
                <a:latin typeface="Calibri"/>
                <a:cs typeface="Calibri"/>
              </a:rPr>
              <a:t>35</a:t>
            </a:r>
            <a:r>
              <a:rPr sz="900" spc="-20" dirty="0">
                <a:latin typeface="Calibri"/>
                <a:cs typeface="Calibri"/>
              </a:rPr>
              <a:t> </a:t>
            </a:r>
            <a:r>
              <a:rPr sz="900" dirty="0">
                <a:latin typeface="Calibri"/>
                <a:cs typeface="Calibri"/>
              </a:rPr>
              <a:t>EF</a:t>
            </a:r>
            <a:r>
              <a:rPr sz="900" spc="-10" dirty="0">
                <a:latin typeface="Calibri"/>
                <a:cs typeface="Calibri"/>
              </a:rPr>
              <a:t> </a:t>
            </a:r>
            <a:r>
              <a:rPr sz="900" dirty="0">
                <a:latin typeface="Calibri"/>
                <a:cs typeface="Calibri"/>
              </a:rPr>
              <a:t>=</a:t>
            </a:r>
            <a:r>
              <a:rPr sz="900" spc="-10" dirty="0">
                <a:latin typeface="Calibri"/>
                <a:cs typeface="Calibri"/>
              </a:rPr>
              <a:t> </a:t>
            </a:r>
            <a:r>
              <a:rPr sz="900" dirty="0">
                <a:latin typeface="Calibri"/>
                <a:cs typeface="Calibri"/>
              </a:rPr>
              <a:t>35</a:t>
            </a:r>
            <a:r>
              <a:rPr sz="900" spc="-15" dirty="0">
                <a:latin typeface="Calibri"/>
                <a:cs typeface="Calibri"/>
              </a:rPr>
              <a:t> </a:t>
            </a:r>
            <a:r>
              <a:rPr sz="900" dirty="0">
                <a:latin typeface="Calibri"/>
                <a:cs typeface="Calibri"/>
              </a:rPr>
              <a:t>+</a:t>
            </a:r>
            <a:r>
              <a:rPr sz="900" spc="-15" dirty="0">
                <a:latin typeface="Calibri"/>
                <a:cs typeface="Calibri"/>
              </a:rPr>
              <a:t> </a:t>
            </a:r>
            <a:r>
              <a:rPr sz="900" dirty="0">
                <a:latin typeface="Calibri"/>
                <a:cs typeface="Calibri"/>
              </a:rPr>
              <a:t>50</a:t>
            </a:r>
            <a:r>
              <a:rPr sz="900" spc="-15" dirty="0">
                <a:latin typeface="Calibri"/>
                <a:cs typeface="Calibri"/>
              </a:rPr>
              <a:t> </a:t>
            </a:r>
            <a:r>
              <a:rPr sz="900" dirty="0">
                <a:latin typeface="Calibri"/>
                <a:cs typeface="Calibri"/>
              </a:rPr>
              <a:t>=</a:t>
            </a:r>
            <a:r>
              <a:rPr sz="900" spc="-10" dirty="0">
                <a:latin typeface="Calibri"/>
                <a:cs typeface="Calibri"/>
              </a:rPr>
              <a:t> </a:t>
            </a:r>
            <a:r>
              <a:rPr sz="900" spc="-25" dirty="0">
                <a:latin typeface="Calibri"/>
                <a:cs typeface="Calibri"/>
              </a:rPr>
              <a:t>85</a:t>
            </a:r>
            <a:endParaRPr sz="900">
              <a:latin typeface="Calibri"/>
              <a:cs typeface="Calibri"/>
            </a:endParaRPr>
          </a:p>
        </p:txBody>
      </p:sp>
      <p:sp>
        <p:nvSpPr>
          <p:cNvPr id="8" name="object 8"/>
          <p:cNvSpPr txBox="1"/>
          <p:nvPr/>
        </p:nvSpPr>
        <p:spPr>
          <a:xfrm>
            <a:off x="10344025" y="3097784"/>
            <a:ext cx="1657350" cy="302895"/>
          </a:xfrm>
          <a:prstGeom prst="rect">
            <a:avLst/>
          </a:prstGeom>
        </p:spPr>
        <p:txBody>
          <a:bodyPr vert="horz" wrap="square" lIns="0" tIns="12700" rIns="0" bIns="0" rtlCol="0">
            <a:spAutoFit/>
          </a:bodyPr>
          <a:lstStyle/>
          <a:p>
            <a:pPr marL="12700">
              <a:lnSpc>
                <a:spcPct val="100000"/>
              </a:lnSpc>
              <a:spcBef>
                <a:spcPts val="100"/>
              </a:spcBef>
            </a:pPr>
            <a:r>
              <a:rPr sz="900" dirty="0">
                <a:latin typeface="Calibri"/>
                <a:cs typeface="Calibri"/>
              </a:rPr>
              <a:t>Activity</a:t>
            </a:r>
            <a:r>
              <a:rPr sz="900" spc="-10" dirty="0">
                <a:latin typeface="Calibri"/>
                <a:cs typeface="Calibri"/>
              </a:rPr>
              <a:t> </a:t>
            </a:r>
            <a:r>
              <a:rPr sz="900" dirty="0">
                <a:latin typeface="Calibri"/>
                <a:cs typeface="Calibri"/>
              </a:rPr>
              <a:t>F:</a:t>
            </a:r>
            <a:r>
              <a:rPr sz="900" spc="-15" dirty="0">
                <a:latin typeface="Calibri"/>
                <a:cs typeface="Calibri"/>
              </a:rPr>
              <a:t> </a:t>
            </a:r>
            <a:r>
              <a:rPr sz="900" dirty="0">
                <a:latin typeface="Calibri"/>
                <a:cs typeface="Calibri"/>
              </a:rPr>
              <a:t>ES</a:t>
            </a:r>
            <a:r>
              <a:rPr sz="900" spc="-10" dirty="0">
                <a:latin typeface="Calibri"/>
                <a:cs typeface="Calibri"/>
              </a:rPr>
              <a:t> </a:t>
            </a:r>
            <a:r>
              <a:rPr sz="900" dirty="0">
                <a:latin typeface="Calibri"/>
                <a:cs typeface="Calibri"/>
              </a:rPr>
              <a:t>=</a:t>
            </a:r>
            <a:r>
              <a:rPr sz="900" spc="-10" dirty="0">
                <a:latin typeface="Calibri"/>
                <a:cs typeface="Calibri"/>
              </a:rPr>
              <a:t> </a:t>
            </a:r>
            <a:r>
              <a:rPr sz="900" dirty="0">
                <a:latin typeface="Calibri"/>
                <a:cs typeface="Calibri"/>
              </a:rPr>
              <a:t>35</a:t>
            </a:r>
            <a:r>
              <a:rPr sz="900" spc="-20" dirty="0">
                <a:latin typeface="Calibri"/>
                <a:cs typeface="Calibri"/>
              </a:rPr>
              <a:t> </a:t>
            </a:r>
            <a:r>
              <a:rPr sz="900" dirty="0">
                <a:latin typeface="Calibri"/>
                <a:cs typeface="Calibri"/>
              </a:rPr>
              <a:t>EF</a:t>
            </a:r>
            <a:r>
              <a:rPr sz="900" spc="-10" dirty="0">
                <a:latin typeface="Calibri"/>
                <a:cs typeface="Calibri"/>
              </a:rPr>
              <a:t> </a:t>
            </a:r>
            <a:r>
              <a:rPr sz="900" dirty="0">
                <a:latin typeface="Calibri"/>
                <a:cs typeface="Calibri"/>
              </a:rPr>
              <a:t>=</a:t>
            </a:r>
            <a:r>
              <a:rPr sz="900" spc="-10" dirty="0">
                <a:latin typeface="Calibri"/>
                <a:cs typeface="Calibri"/>
              </a:rPr>
              <a:t> </a:t>
            </a:r>
            <a:r>
              <a:rPr sz="900" dirty="0">
                <a:latin typeface="Calibri"/>
                <a:cs typeface="Calibri"/>
              </a:rPr>
              <a:t>35</a:t>
            </a:r>
            <a:r>
              <a:rPr sz="900" spc="-15" dirty="0">
                <a:latin typeface="Calibri"/>
                <a:cs typeface="Calibri"/>
              </a:rPr>
              <a:t> </a:t>
            </a:r>
            <a:r>
              <a:rPr sz="900" dirty="0">
                <a:latin typeface="Calibri"/>
                <a:cs typeface="Calibri"/>
              </a:rPr>
              <a:t>+</a:t>
            </a:r>
            <a:r>
              <a:rPr sz="900" spc="-15" dirty="0">
                <a:latin typeface="Calibri"/>
                <a:cs typeface="Calibri"/>
              </a:rPr>
              <a:t> </a:t>
            </a:r>
            <a:r>
              <a:rPr sz="900" dirty="0">
                <a:latin typeface="Calibri"/>
                <a:cs typeface="Calibri"/>
              </a:rPr>
              <a:t>15</a:t>
            </a:r>
            <a:r>
              <a:rPr sz="900" spc="-15" dirty="0">
                <a:latin typeface="Calibri"/>
                <a:cs typeface="Calibri"/>
              </a:rPr>
              <a:t> </a:t>
            </a:r>
            <a:r>
              <a:rPr sz="900" dirty="0">
                <a:latin typeface="Calibri"/>
                <a:cs typeface="Calibri"/>
              </a:rPr>
              <a:t>=</a:t>
            </a:r>
            <a:r>
              <a:rPr sz="900" spc="-10" dirty="0">
                <a:latin typeface="Calibri"/>
                <a:cs typeface="Calibri"/>
              </a:rPr>
              <a:t> </a:t>
            </a:r>
            <a:r>
              <a:rPr sz="900" spc="-25" dirty="0">
                <a:latin typeface="Calibri"/>
                <a:cs typeface="Calibri"/>
              </a:rPr>
              <a:t>50</a:t>
            </a:r>
            <a:endParaRPr sz="900">
              <a:latin typeface="Calibri"/>
              <a:cs typeface="Calibri"/>
            </a:endParaRPr>
          </a:p>
          <a:p>
            <a:pPr marL="12700">
              <a:lnSpc>
                <a:spcPct val="100000"/>
              </a:lnSpc>
              <a:spcBef>
                <a:spcPts val="20"/>
              </a:spcBef>
            </a:pPr>
            <a:r>
              <a:rPr sz="900" dirty="0">
                <a:latin typeface="Calibri"/>
                <a:cs typeface="Calibri"/>
              </a:rPr>
              <a:t>Activity</a:t>
            </a:r>
            <a:r>
              <a:rPr sz="900" spc="-10" dirty="0">
                <a:latin typeface="Calibri"/>
                <a:cs typeface="Calibri"/>
              </a:rPr>
              <a:t> </a:t>
            </a:r>
            <a:r>
              <a:rPr sz="900" dirty="0">
                <a:latin typeface="Calibri"/>
                <a:cs typeface="Calibri"/>
              </a:rPr>
              <a:t>G:</a:t>
            </a:r>
            <a:r>
              <a:rPr sz="900" spc="-15" dirty="0">
                <a:latin typeface="Calibri"/>
                <a:cs typeface="Calibri"/>
              </a:rPr>
              <a:t> </a:t>
            </a:r>
            <a:r>
              <a:rPr sz="900" dirty="0">
                <a:latin typeface="Calibri"/>
                <a:cs typeface="Calibri"/>
              </a:rPr>
              <a:t>ES</a:t>
            </a:r>
            <a:r>
              <a:rPr sz="900" spc="-15" dirty="0">
                <a:latin typeface="Calibri"/>
                <a:cs typeface="Calibri"/>
              </a:rPr>
              <a:t> </a:t>
            </a:r>
            <a:r>
              <a:rPr sz="900" dirty="0">
                <a:latin typeface="Calibri"/>
                <a:cs typeface="Calibri"/>
              </a:rPr>
              <a:t>=</a:t>
            </a:r>
            <a:r>
              <a:rPr sz="900" spc="-10" dirty="0">
                <a:latin typeface="Calibri"/>
                <a:cs typeface="Calibri"/>
              </a:rPr>
              <a:t> </a:t>
            </a:r>
            <a:r>
              <a:rPr sz="900" dirty="0">
                <a:latin typeface="Calibri"/>
                <a:cs typeface="Calibri"/>
              </a:rPr>
              <a:t>35</a:t>
            </a:r>
            <a:r>
              <a:rPr sz="900" spc="-20" dirty="0">
                <a:latin typeface="Calibri"/>
                <a:cs typeface="Calibri"/>
              </a:rPr>
              <a:t> </a:t>
            </a:r>
            <a:r>
              <a:rPr sz="900" dirty="0">
                <a:latin typeface="Calibri"/>
                <a:cs typeface="Calibri"/>
              </a:rPr>
              <a:t>EF</a:t>
            </a:r>
            <a:r>
              <a:rPr sz="900" spc="-10" dirty="0">
                <a:latin typeface="Calibri"/>
                <a:cs typeface="Calibri"/>
              </a:rPr>
              <a:t> </a:t>
            </a:r>
            <a:r>
              <a:rPr sz="900" dirty="0">
                <a:latin typeface="Calibri"/>
                <a:cs typeface="Calibri"/>
              </a:rPr>
              <a:t>=</a:t>
            </a:r>
            <a:r>
              <a:rPr sz="900" spc="-10" dirty="0">
                <a:latin typeface="Calibri"/>
                <a:cs typeface="Calibri"/>
              </a:rPr>
              <a:t> </a:t>
            </a:r>
            <a:r>
              <a:rPr sz="900" dirty="0">
                <a:latin typeface="Calibri"/>
                <a:cs typeface="Calibri"/>
              </a:rPr>
              <a:t>35</a:t>
            </a:r>
            <a:r>
              <a:rPr sz="900" spc="-15" dirty="0">
                <a:latin typeface="Calibri"/>
                <a:cs typeface="Calibri"/>
              </a:rPr>
              <a:t> </a:t>
            </a:r>
            <a:r>
              <a:rPr sz="900" dirty="0">
                <a:latin typeface="Calibri"/>
                <a:cs typeface="Calibri"/>
              </a:rPr>
              <a:t>+</a:t>
            </a:r>
            <a:r>
              <a:rPr sz="900" spc="-15" dirty="0">
                <a:latin typeface="Calibri"/>
                <a:cs typeface="Calibri"/>
              </a:rPr>
              <a:t> </a:t>
            </a:r>
            <a:r>
              <a:rPr sz="900" dirty="0">
                <a:latin typeface="Calibri"/>
                <a:cs typeface="Calibri"/>
              </a:rPr>
              <a:t>35</a:t>
            </a:r>
            <a:r>
              <a:rPr sz="900" spc="-15" dirty="0">
                <a:latin typeface="Calibri"/>
                <a:cs typeface="Calibri"/>
              </a:rPr>
              <a:t> </a:t>
            </a:r>
            <a:r>
              <a:rPr sz="900" dirty="0">
                <a:latin typeface="Calibri"/>
                <a:cs typeface="Calibri"/>
              </a:rPr>
              <a:t>=</a:t>
            </a:r>
            <a:r>
              <a:rPr sz="900" spc="-10" dirty="0">
                <a:latin typeface="Calibri"/>
                <a:cs typeface="Calibri"/>
              </a:rPr>
              <a:t> </a:t>
            </a:r>
            <a:r>
              <a:rPr sz="900" spc="-35" dirty="0">
                <a:latin typeface="Calibri"/>
                <a:cs typeface="Calibri"/>
              </a:rPr>
              <a:t>70</a:t>
            </a:r>
            <a:endParaRPr sz="900">
              <a:latin typeface="Calibri"/>
              <a:cs typeface="Calibri"/>
            </a:endParaRPr>
          </a:p>
        </p:txBody>
      </p:sp>
      <p:sp>
        <p:nvSpPr>
          <p:cNvPr id="9" name="object 9"/>
          <p:cNvSpPr txBox="1"/>
          <p:nvPr/>
        </p:nvSpPr>
        <p:spPr>
          <a:xfrm>
            <a:off x="9059902" y="3498595"/>
            <a:ext cx="3002915" cy="3042920"/>
          </a:xfrm>
          <a:prstGeom prst="rect">
            <a:avLst/>
          </a:prstGeom>
        </p:spPr>
        <p:txBody>
          <a:bodyPr vert="horz" wrap="square" lIns="0" tIns="28575" rIns="0" bIns="0" rtlCol="0">
            <a:spAutoFit/>
          </a:bodyPr>
          <a:lstStyle/>
          <a:p>
            <a:pPr marL="236220" marR="5080" indent="-224154" algn="just">
              <a:lnSpc>
                <a:spcPts val="2090"/>
              </a:lnSpc>
              <a:spcBef>
                <a:spcPts val="225"/>
              </a:spcBef>
              <a:buAutoNum type="arabicPeriod"/>
              <a:tabLst>
                <a:tab pos="236220" algn="l"/>
              </a:tabLst>
            </a:pPr>
            <a:r>
              <a:rPr sz="1800" dirty="0">
                <a:latin typeface="Calibri"/>
                <a:cs typeface="Calibri"/>
              </a:rPr>
              <a:t>You</a:t>
            </a:r>
            <a:r>
              <a:rPr sz="1800" spc="275" dirty="0">
                <a:latin typeface="Calibri"/>
                <a:cs typeface="Calibri"/>
              </a:rPr>
              <a:t> </a:t>
            </a:r>
            <a:r>
              <a:rPr sz="1800" i="1" dirty="0">
                <a:latin typeface="Calibri"/>
                <a:cs typeface="Calibri"/>
              </a:rPr>
              <a:t>add</a:t>
            </a:r>
            <a:r>
              <a:rPr sz="1800" i="1" spc="270" dirty="0">
                <a:latin typeface="Calibri"/>
                <a:cs typeface="Calibri"/>
              </a:rPr>
              <a:t> </a:t>
            </a:r>
            <a:r>
              <a:rPr sz="1800" dirty="0">
                <a:latin typeface="Calibri"/>
                <a:cs typeface="Calibri"/>
              </a:rPr>
              <a:t>activity</a:t>
            </a:r>
            <a:r>
              <a:rPr sz="1800" spc="265" dirty="0">
                <a:latin typeface="Calibri"/>
                <a:cs typeface="Calibri"/>
              </a:rPr>
              <a:t> </a:t>
            </a:r>
            <a:r>
              <a:rPr sz="1800" dirty="0">
                <a:latin typeface="Calibri"/>
                <a:cs typeface="Calibri"/>
              </a:rPr>
              <a:t>times</a:t>
            </a:r>
            <a:r>
              <a:rPr sz="1800" spc="265" dirty="0">
                <a:latin typeface="Calibri"/>
                <a:cs typeface="Calibri"/>
              </a:rPr>
              <a:t> </a:t>
            </a:r>
            <a:r>
              <a:rPr sz="1800" spc="-20" dirty="0">
                <a:latin typeface="Calibri"/>
                <a:cs typeface="Calibri"/>
              </a:rPr>
              <a:t>along </a:t>
            </a:r>
            <a:r>
              <a:rPr sz="1800" dirty="0">
                <a:latin typeface="Calibri"/>
                <a:cs typeface="Calibri"/>
              </a:rPr>
              <a:t>each</a:t>
            </a:r>
            <a:r>
              <a:rPr sz="1800" spc="95" dirty="0">
                <a:latin typeface="Calibri"/>
                <a:cs typeface="Calibri"/>
              </a:rPr>
              <a:t> </a:t>
            </a:r>
            <a:r>
              <a:rPr sz="1800" dirty="0">
                <a:latin typeface="Calibri"/>
                <a:cs typeface="Calibri"/>
              </a:rPr>
              <a:t>path</a:t>
            </a:r>
            <a:r>
              <a:rPr sz="1800" spc="95" dirty="0">
                <a:latin typeface="Calibri"/>
                <a:cs typeface="Calibri"/>
              </a:rPr>
              <a:t> </a:t>
            </a:r>
            <a:r>
              <a:rPr sz="1800" dirty="0">
                <a:latin typeface="Calibri"/>
                <a:cs typeface="Calibri"/>
              </a:rPr>
              <a:t>in</a:t>
            </a:r>
            <a:r>
              <a:rPr sz="1800" spc="95" dirty="0">
                <a:latin typeface="Calibri"/>
                <a:cs typeface="Calibri"/>
              </a:rPr>
              <a:t> </a:t>
            </a:r>
            <a:r>
              <a:rPr sz="1800" dirty="0">
                <a:latin typeface="Calibri"/>
                <a:cs typeface="Calibri"/>
              </a:rPr>
              <a:t>the</a:t>
            </a:r>
            <a:r>
              <a:rPr sz="1800" spc="95" dirty="0">
                <a:latin typeface="Calibri"/>
                <a:cs typeface="Calibri"/>
              </a:rPr>
              <a:t> </a:t>
            </a:r>
            <a:r>
              <a:rPr sz="1800" dirty="0">
                <a:latin typeface="Calibri"/>
                <a:cs typeface="Calibri"/>
              </a:rPr>
              <a:t>network</a:t>
            </a:r>
            <a:r>
              <a:rPr sz="1800" spc="85" dirty="0">
                <a:latin typeface="Calibri"/>
                <a:cs typeface="Calibri"/>
              </a:rPr>
              <a:t> </a:t>
            </a:r>
            <a:r>
              <a:rPr sz="1800" spc="-25" dirty="0">
                <a:latin typeface="Calibri"/>
                <a:cs typeface="Calibri"/>
              </a:rPr>
              <a:t>(ES</a:t>
            </a:r>
            <a:endParaRPr sz="1800">
              <a:latin typeface="Calibri"/>
              <a:cs typeface="Calibri"/>
            </a:endParaRPr>
          </a:p>
          <a:p>
            <a:pPr marL="236220">
              <a:lnSpc>
                <a:spcPts val="2150"/>
              </a:lnSpc>
            </a:pPr>
            <a:r>
              <a:rPr sz="1800" dirty="0">
                <a:latin typeface="Calibri"/>
                <a:cs typeface="Calibri"/>
              </a:rPr>
              <a:t>+</a:t>
            </a:r>
            <a:r>
              <a:rPr sz="1800" spc="-5" dirty="0">
                <a:latin typeface="Calibri"/>
                <a:cs typeface="Calibri"/>
              </a:rPr>
              <a:t> </a:t>
            </a:r>
            <a:r>
              <a:rPr sz="1800" dirty="0">
                <a:latin typeface="Calibri"/>
                <a:cs typeface="Calibri"/>
              </a:rPr>
              <a:t>DUR</a:t>
            </a:r>
            <a:r>
              <a:rPr sz="1800" spc="-5" dirty="0">
                <a:latin typeface="Calibri"/>
                <a:cs typeface="Calibri"/>
              </a:rPr>
              <a:t> </a:t>
            </a:r>
            <a:r>
              <a:rPr sz="1800" dirty="0">
                <a:latin typeface="Calibri"/>
                <a:cs typeface="Calibri"/>
              </a:rPr>
              <a:t>= </a:t>
            </a:r>
            <a:r>
              <a:rPr sz="1800" spc="-20" dirty="0">
                <a:latin typeface="Calibri"/>
                <a:cs typeface="Calibri"/>
              </a:rPr>
              <a:t>EF).</a:t>
            </a:r>
            <a:endParaRPr sz="1800">
              <a:latin typeface="Calibri"/>
              <a:cs typeface="Calibri"/>
            </a:endParaRPr>
          </a:p>
          <a:p>
            <a:pPr marL="236220" marR="5080" indent="-224154" algn="just">
              <a:lnSpc>
                <a:spcPct val="99800"/>
              </a:lnSpc>
              <a:spcBef>
                <a:spcPts val="55"/>
              </a:spcBef>
              <a:buAutoNum type="arabicPeriod" startAt="2"/>
              <a:tabLst>
                <a:tab pos="236220" algn="l"/>
              </a:tabLst>
            </a:pPr>
            <a:r>
              <a:rPr sz="1800" dirty="0">
                <a:latin typeface="Calibri"/>
                <a:cs typeface="Calibri"/>
              </a:rPr>
              <a:t>You</a:t>
            </a:r>
            <a:r>
              <a:rPr sz="1800" spc="45" dirty="0">
                <a:latin typeface="Calibri"/>
                <a:cs typeface="Calibri"/>
              </a:rPr>
              <a:t> </a:t>
            </a:r>
            <a:r>
              <a:rPr sz="1800" dirty="0">
                <a:latin typeface="Calibri"/>
                <a:cs typeface="Calibri"/>
              </a:rPr>
              <a:t>carry</a:t>
            </a:r>
            <a:r>
              <a:rPr sz="1800" spc="35" dirty="0">
                <a:latin typeface="Calibri"/>
                <a:cs typeface="Calibri"/>
              </a:rPr>
              <a:t> </a:t>
            </a:r>
            <a:r>
              <a:rPr sz="1800" dirty="0">
                <a:latin typeface="Calibri"/>
                <a:cs typeface="Calibri"/>
              </a:rPr>
              <a:t>the</a:t>
            </a:r>
            <a:r>
              <a:rPr sz="1800" spc="45" dirty="0">
                <a:latin typeface="Calibri"/>
                <a:cs typeface="Calibri"/>
              </a:rPr>
              <a:t> </a:t>
            </a:r>
            <a:r>
              <a:rPr sz="1800" dirty="0">
                <a:latin typeface="Calibri"/>
                <a:cs typeface="Calibri"/>
              </a:rPr>
              <a:t>early</a:t>
            </a:r>
            <a:r>
              <a:rPr sz="1800" spc="40" dirty="0">
                <a:latin typeface="Calibri"/>
                <a:cs typeface="Calibri"/>
              </a:rPr>
              <a:t> </a:t>
            </a:r>
            <a:r>
              <a:rPr sz="1800" dirty="0">
                <a:latin typeface="Calibri"/>
                <a:cs typeface="Calibri"/>
              </a:rPr>
              <a:t>finish</a:t>
            </a:r>
            <a:r>
              <a:rPr sz="1800" spc="40" dirty="0">
                <a:latin typeface="Calibri"/>
                <a:cs typeface="Calibri"/>
              </a:rPr>
              <a:t> </a:t>
            </a:r>
            <a:r>
              <a:rPr sz="1800" spc="-20" dirty="0">
                <a:latin typeface="Calibri"/>
                <a:cs typeface="Calibri"/>
              </a:rPr>
              <a:t>(EF) </a:t>
            </a:r>
            <a:r>
              <a:rPr sz="1800" dirty="0">
                <a:latin typeface="Calibri"/>
                <a:cs typeface="Calibri"/>
              </a:rPr>
              <a:t>to</a:t>
            </a:r>
            <a:r>
              <a:rPr sz="1800" spc="270" dirty="0">
                <a:latin typeface="Calibri"/>
                <a:cs typeface="Calibri"/>
              </a:rPr>
              <a:t> </a:t>
            </a:r>
            <a:r>
              <a:rPr sz="1800" dirty="0">
                <a:latin typeface="Calibri"/>
                <a:cs typeface="Calibri"/>
              </a:rPr>
              <a:t>the</a:t>
            </a:r>
            <a:r>
              <a:rPr sz="1800" spc="275" dirty="0">
                <a:latin typeface="Calibri"/>
                <a:cs typeface="Calibri"/>
              </a:rPr>
              <a:t> </a:t>
            </a:r>
            <a:r>
              <a:rPr sz="1800" dirty="0">
                <a:latin typeface="Calibri"/>
                <a:cs typeface="Calibri"/>
              </a:rPr>
              <a:t>next</a:t>
            </a:r>
            <a:r>
              <a:rPr sz="1800" spc="265" dirty="0">
                <a:latin typeface="Calibri"/>
                <a:cs typeface="Calibri"/>
              </a:rPr>
              <a:t> </a:t>
            </a:r>
            <a:r>
              <a:rPr sz="1800" dirty="0">
                <a:latin typeface="Calibri"/>
                <a:cs typeface="Calibri"/>
              </a:rPr>
              <a:t>activity</a:t>
            </a:r>
            <a:r>
              <a:rPr sz="1800" spc="265" dirty="0">
                <a:latin typeface="Calibri"/>
                <a:cs typeface="Calibri"/>
              </a:rPr>
              <a:t> </a:t>
            </a:r>
            <a:r>
              <a:rPr sz="1800" dirty="0">
                <a:latin typeface="Calibri"/>
                <a:cs typeface="Calibri"/>
              </a:rPr>
              <a:t>where</a:t>
            </a:r>
            <a:r>
              <a:rPr sz="1800" spc="275" dirty="0">
                <a:latin typeface="Calibri"/>
                <a:cs typeface="Calibri"/>
              </a:rPr>
              <a:t> </a:t>
            </a:r>
            <a:r>
              <a:rPr sz="1800" spc="-25" dirty="0">
                <a:latin typeface="Calibri"/>
                <a:cs typeface="Calibri"/>
              </a:rPr>
              <a:t>it </a:t>
            </a:r>
            <a:r>
              <a:rPr sz="1800" dirty="0">
                <a:latin typeface="Calibri"/>
                <a:cs typeface="Calibri"/>
              </a:rPr>
              <a:t>becomes</a:t>
            </a:r>
            <a:r>
              <a:rPr sz="1800" spc="340" dirty="0">
                <a:latin typeface="Calibri"/>
                <a:cs typeface="Calibri"/>
              </a:rPr>
              <a:t> </a:t>
            </a:r>
            <a:r>
              <a:rPr sz="1800" dirty="0">
                <a:latin typeface="Calibri"/>
                <a:cs typeface="Calibri"/>
              </a:rPr>
              <a:t>its</a:t>
            </a:r>
            <a:r>
              <a:rPr sz="1800" spc="345" dirty="0">
                <a:latin typeface="Calibri"/>
                <a:cs typeface="Calibri"/>
              </a:rPr>
              <a:t> </a:t>
            </a:r>
            <a:r>
              <a:rPr sz="1800" dirty="0">
                <a:latin typeface="Calibri"/>
                <a:cs typeface="Calibri"/>
              </a:rPr>
              <a:t>early</a:t>
            </a:r>
            <a:r>
              <a:rPr sz="1800" spc="350" dirty="0">
                <a:latin typeface="Calibri"/>
                <a:cs typeface="Calibri"/>
              </a:rPr>
              <a:t> </a:t>
            </a:r>
            <a:r>
              <a:rPr sz="1800" dirty="0">
                <a:latin typeface="Calibri"/>
                <a:cs typeface="Calibri"/>
              </a:rPr>
              <a:t>start</a:t>
            </a:r>
            <a:r>
              <a:rPr sz="1800" spc="345" dirty="0">
                <a:latin typeface="Calibri"/>
                <a:cs typeface="Calibri"/>
              </a:rPr>
              <a:t> </a:t>
            </a:r>
            <a:r>
              <a:rPr sz="1800" spc="-20" dirty="0">
                <a:latin typeface="Calibri"/>
                <a:cs typeface="Calibri"/>
              </a:rPr>
              <a:t>(ES), </a:t>
            </a:r>
            <a:r>
              <a:rPr sz="1800" i="1" dirty="0">
                <a:latin typeface="Calibri"/>
                <a:cs typeface="Calibri"/>
              </a:rPr>
              <a:t>or</a:t>
            </a:r>
            <a:r>
              <a:rPr sz="1800" i="1" spc="250" dirty="0">
                <a:latin typeface="Calibri"/>
                <a:cs typeface="Calibri"/>
              </a:rPr>
              <a:t>  </a:t>
            </a:r>
            <a:r>
              <a:rPr sz="1800" dirty="0">
                <a:latin typeface="Calibri"/>
                <a:cs typeface="Calibri"/>
              </a:rPr>
              <a:t>If</a:t>
            </a:r>
            <a:r>
              <a:rPr sz="1800" spc="254" dirty="0">
                <a:latin typeface="Calibri"/>
                <a:cs typeface="Calibri"/>
              </a:rPr>
              <a:t>  </a:t>
            </a:r>
            <a:r>
              <a:rPr sz="1800" dirty="0">
                <a:latin typeface="Calibri"/>
                <a:cs typeface="Calibri"/>
              </a:rPr>
              <a:t>the</a:t>
            </a:r>
            <a:r>
              <a:rPr sz="1800" spc="254" dirty="0">
                <a:latin typeface="Calibri"/>
                <a:cs typeface="Calibri"/>
              </a:rPr>
              <a:t>  </a:t>
            </a:r>
            <a:r>
              <a:rPr sz="1800" dirty="0">
                <a:latin typeface="Calibri"/>
                <a:cs typeface="Calibri"/>
              </a:rPr>
              <a:t>next</a:t>
            </a:r>
            <a:r>
              <a:rPr sz="1800" spc="250" dirty="0">
                <a:latin typeface="Calibri"/>
                <a:cs typeface="Calibri"/>
              </a:rPr>
              <a:t>  </a:t>
            </a:r>
            <a:r>
              <a:rPr sz="1800" spc="-10" dirty="0">
                <a:latin typeface="Calibri"/>
                <a:cs typeface="Calibri"/>
              </a:rPr>
              <a:t>succeeding </a:t>
            </a:r>
            <a:r>
              <a:rPr sz="1800" dirty="0">
                <a:latin typeface="Calibri"/>
                <a:cs typeface="Calibri"/>
              </a:rPr>
              <a:t>activity</a:t>
            </a:r>
            <a:r>
              <a:rPr sz="1800" spc="100" dirty="0">
                <a:latin typeface="Calibri"/>
                <a:cs typeface="Calibri"/>
              </a:rPr>
              <a:t>  </a:t>
            </a:r>
            <a:r>
              <a:rPr sz="1800" dirty="0">
                <a:latin typeface="Calibri"/>
                <a:cs typeface="Calibri"/>
              </a:rPr>
              <a:t>is</a:t>
            </a:r>
            <a:r>
              <a:rPr sz="1800" spc="100" dirty="0">
                <a:latin typeface="Calibri"/>
                <a:cs typeface="Calibri"/>
              </a:rPr>
              <a:t>  </a:t>
            </a:r>
            <a:r>
              <a:rPr sz="1800" dirty="0">
                <a:latin typeface="Calibri"/>
                <a:cs typeface="Calibri"/>
              </a:rPr>
              <a:t>a</a:t>
            </a:r>
            <a:r>
              <a:rPr sz="1800" spc="105" dirty="0">
                <a:latin typeface="Calibri"/>
                <a:cs typeface="Calibri"/>
              </a:rPr>
              <a:t>  </a:t>
            </a:r>
            <a:r>
              <a:rPr sz="1800" i="1" dirty="0">
                <a:latin typeface="Calibri"/>
                <a:cs typeface="Calibri"/>
              </a:rPr>
              <a:t>merge</a:t>
            </a:r>
            <a:r>
              <a:rPr sz="1800" i="1" spc="100" dirty="0">
                <a:latin typeface="Calibri"/>
                <a:cs typeface="Calibri"/>
              </a:rPr>
              <a:t>  </a:t>
            </a:r>
            <a:r>
              <a:rPr sz="1800" spc="-25" dirty="0">
                <a:latin typeface="Calibri"/>
                <a:cs typeface="Calibri"/>
              </a:rPr>
              <a:t>activity, </a:t>
            </a:r>
            <a:r>
              <a:rPr sz="1800" dirty="0">
                <a:latin typeface="Calibri"/>
                <a:cs typeface="Calibri"/>
              </a:rPr>
              <a:t>you</a:t>
            </a:r>
            <a:r>
              <a:rPr sz="1800" spc="465" dirty="0">
                <a:latin typeface="Calibri"/>
                <a:cs typeface="Calibri"/>
              </a:rPr>
              <a:t> </a:t>
            </a:r>
            <a:r>
              <a:rPr sz="1800" dirty="0">
                <a:latin typeface="Calibri"/>
                <a:cs typeface="Calibri"/>
              </a:rPr>
              <a:t>select</a:t>
            </a:r>
            <a:r>
              <a:rPr sz="1800" spc="459" dirty="0">
                <a:latin typeface="Calibri"/>
                <a:cs typeface="Calibri"/>
              </a:rPr>
              <a:t> </a:t>
            </a:r>
            <a:r>
              <a:rPr sz="1800" dirty="0">
                <a:latin typeface="Calibri"/>
                <a:cs typeface="Calibri"/>
              </a:rPr>
              <a:t>the</a:t>
            </a:r>
            <a:r>
              <a:rPr sz="1800" spc="470" dirty="0">
                <a:latin typeface="Calibri"/>
                <a:cs typeface="Calibri"/>
              </a:rPr>
              <a:t> </a:t>
            </a:r>
            <a:r>
              <a:rPr sz="1800" i="1" dirty="0">
                <a:latin typeface="Calibri"/>
                <a:cs typeface="Calibri"/>
              </a:rPr>
              <a:t>largest</a:t>
            </a:r>
            <a:r>
              <a:rPr sz="1800" i="1" spc="455" dirty="0">
                <a:latin typeface="Calibri"/>
                <a:cs typeface="Calibri"/>
              </a:rPr>
              <a:t> </a:t>
            </a:r>
            <a:r>
              <a:rPr sz="1800" spc="-20" dirty="0">
                <a:latin typeface="Calibri"/>
                <a:cs typeface="Calibri"/>
              </a:rPr>
              <a:t>early </a:t>
            </a:r>
            <a:r>
              <a:rPr sz="1800" dirty="0">
                <a:latin typeface="Calibri"/>
                <a:cs typeface="Calibri"/>
              </a:rPr>
              <a:t>finish</a:t>
            </a:r>
            <a:r>
              <a:rPr sz="1800" spc="390" dirty="0">
                <a:latin typeface="Calibri"/>
                <a:cs typeface="Calibri"/>
              </a:rPr>
              <a:t> </a:t>
            </a:r>
            <a:r>
              <a:rPr sz="1800" dirty="0">
                <a:latin typeface="Calibri"/>
                <a:cs typeface="Calibri"/>
              </a:rPr>
              <a:t>number</a:t>
            </a:r>
            <a:r>
              <a:rPr sz="1800" spc="390" dirty="0">
                <a:latin typeface="Calibri"/>
                <a:cs typeface="Calibri"/>
              </a:rPr>
              <a:t> </a:t>
            </a:r>
            <a:r>
              <a:rPr sz="1800" dirty="0">
                <a:latin typeface="Calibri"/>
                <a:cs typeface="Calibri"/>
              </a:rPr>
              <a:t>(EF)</a:t>
            </a:r>
            <a:r>
              <a:rPr sz="1800" spc="395" dirty="0">
                <a:latin typeface="Calibri"/>
                <a:cs typeface="Calibri"/>
              </a:rPr>
              <a:t> </a:t>
            </a:r>
            <a:r>
              <a:rPr sz="1800" dirty="0">
                <a:latin typeface="Calibri"/>
                <a:cs typeface="Calibri"/>
              </a:rPr>
              <a:t>of</a:t>
            </a:r>
            <a:r>
              <a:rPr sz="1800" spc="395" dirty="0">
                <a:latin typeface="Calibri"/>
                <a:cs typeface="Calibri"/>
              </a:rPr>
              <a:t> </a:t>
            </a:r>
            <a:r>
              <a:rPr sz="1800" i="1" dirty="0">
                <a:latin typeface="Calibri"/>
                <a:cs typeface="Calibri"/>
              </a:rPr>
              <a:t>all</a:t>
            </a:r>
            <a:r>
              <a:rPr sz="1800" i="1" spc="395" dirty="0">
                <a:latin typeface="Calibri"/>
                <a:cs typeface="Calibri"/>
              </a:rPr>
              <a:t> </a:t>
            </a:r>
            <a:r>
              <a:rPr sz="1800" spc="-25" dirty="0">
                <a:latin typeface="Calibri"/>
                <a:cs typeface="Calibri"/>
              </a:rPr>
              <a:t>its </a:t>
            </a:r>
            <a:r>
              <a:rPr sz="1800" spc="-10" dirty="0">
                <a:latin typeface="Calibri"/>
                <a:cs typeface="Calibri"/>
              </a:rPr>
              <a:t>immediate</a:t>
            </a:r>
            <a:endParaRPr sz="1800">
              <a:latin typeface="Calibri"/>
              <a:cs typeface="Calibri"/>
            </a:endParaRPr>
          </a:p>
        </p:txBody>
      </p:sp>
      <p:sp>
        <p:nvSpPr>
          <p:cNvPr id="10" name="object 10"/>
          <p:cNvSpPr txBox="1"/>
          <p:nvPr/>
        </p:nvSpPr>
        <p:spPr>
          <a:xfrm>
            <a:off x="10875811" y="6241796"/>
            <a:ext cx="1212215" cy="299720"/>
          </a:xfrm>
          <a:prstGeom prst="rect">
            <a:avLst/>
          </a:prstGeom>
        </p:spPr>
        <p:txBody>
          <a:bodyPr vert="horz" wrap="square" lIns="0" tIns="12700" rIns="0" bIns="0" rtlCol="0">
            <a:spAutoFit/>
          </a:bodyPr>
          <a:lstStyle/>
          <a:p>
            <a:pPr marL="38100">
              <a:lnSpc>
                <a:spcPct val="100000"/>
              </a:lnSpc>
              <a:spcBef>
                <a:spcPts val="100"/>
              </a:spcBef>
            </a:pPr>
            <a:r>
              <a:rPr sz="1800" spc="20" dirty="0">
                <a:latin typeface="Calibri"/>
                <a:cs typeface="Calibri"/>
              </a:rPr>
              <a:t>p</a:t>
            </a:r>
            <a:r>
              <a:rPr sz="1800" spc="-20" dirty="0">
                <a:latin typeface="Calibri"/>
                <a:cs typeface="Calibri"/>
              </a:rPr>
              <a:t>r</a:t>
            </a:r>
            <a:r>
              <a:rPr sz="1800" spc="15" dirty="0">
                <a:latin typeface="Calibri"/>
                <a:cs typeface="Calibri"/>
              </a:rPr>
              <a:t>e</a:t>
            </a:r>
            <a:r>
              <a:rPr sz="1800" spc="20" dirty="0">
                <a:latin typeface="Calibri"/>
                <a:cs typeface="Calibri"/>
              </a:rPr>
              <a:t>d</a:t>
            </a:r>
            <a:r>
              <a:rPr sz="1800" spc="15" dirty="0">
                <a:latin typeface="Calibri"/>
                <a:cs typeface="Calibri"/>
              </a:rPr>
              <a:t>ece</a:t>
            </a:r>
            <a:r>
              <a:rPr sz="1800" spc="-60" dirty="0">
                <a:latin typeface="Calibri"/>
                <a:cs typeface="Calibri"/>
              </a:rPr>
              <a:t>s</a:t>
            </a:r>
            <a:r>
              <a:rPr sz="1800" b="1" spc="-810" baseline="-37037" dirty="0">
                <a:solidFill>
                  <a:srgbClr val="898989"/>
                </a:solidFill>
                <a:latin typeface="Calibri"/>
                <a:cs typeface="Calibri"/>
              </a:rPr>
              <a:t>1</a:t>
            </a:r>
            <a:r>
              <a:rPr sz="1800" spc="-145" dirty="0">
                <a:latin typeface="Calibri"/>
                <a:cs typeface="Calibri"/>
              </a:rPr>
              <a:t>s</a:t>
            </a:r>
            <a:r>
              <a:rPr sz="1800" b="1" spc="-667" baseline="-37037" dirty="0">
                <a:solidFill>
                  <a:srgbClr val="898989"/>
                </a:solidFill>
                <a:latin typeface="Calibri"/>
                <a:cs typeface="Calibri"/>
              </a:rPr>
              <a:t>9</a:t>
            </a:r>
            <a:r>
              <a:rPr sz="1800" spc="15" dirty="0">
                <a:latin typeface="Calibri"/>
                <a:cs typeface="Calibri"/>
              </a:rPr>
              <a:t>or</a:t>
            </a:r>
            <a:endParaRPr sz="1800">
              <a:latin typeface="Calibri"/>
              <a:cs typeface="Calibri"/>
            </a:endParaRPr>
          </a:p>
        </p:txBody>
      </p:sp>
      <p:sp>
        <p:nvSpPr>
          <p:cNvPr id="11" name="object 11"/>
          <p:cNvSpPr txBox="1"/>
          <p:nvPr/>
        </p:nvSpPr>
        <p:spPr>
          <a:xfrm>
            <a:off x="9284056" y="6506971"/>
            <a:ext cx="905510" cy="299720"/>
          </a:xfrm>
          <a:prstGeom prst="rect">
            <a:avLst/>
          </a:prstGeom>
        </p:spPr>
        <p:txBody>
          <a:bodyPr vert="horz" wrap="square" lIns="0" tIns="12700" rIns="0" bIns="0" rtlCol="0">
            <a:spAutoFit/>
          </a:bodyPr>
          <a:lstStyle/>
          <a:p>
            <a:pPr marL="12700">
              <a:lnSpc>
                <a:spcPct val="100000"/>
              </a:lnSpc>
              <a:spcBef>
                <a:spcPts val="100"/>
              </a:spcBef>
            </a:pPr>
            <a:r>
              <a:rPr sz="1800" spc="-10" dirty="0">
                <a:latin typeface="Calibri"/>
                <a:cs typeface="Calibri"/>
              </a:rPr>
              <a:t>activities.</a:t>
            </a:r>
            <a:endParaRPr sz="1800">
              <a:latin typeface="Calibri"/>
              <a:cs typeface="Calibri"/>
            </a:endParaRPr>
          </a:p>
        </p:txBody>
      </p:sp>
      <p:pic>
        <p:nvPicPr>
          <p:cNvPr id="12" name="Picture 11">
            <a:extLst>
              <a:ext uri="{FF2B5EF4-FFF2-40B4-BE49-F238E27FC236}">
                <a16:creationId xmlns:a16="http://schemas.microsoft.com/office/drawing/2014/main" id="{1D062F52-DAFC-4E50-60C4-9FB4B5C40363}"/>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16063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D80A93-7DC9-B6DD-6FC3-1A879BEAFA3B}"/>
              </a:ext>
            </a:extLst>
          </p:cNvPr>
          <p:cNvSpPr>
            <a:spLocks noGrp="1"/>
          </p:cNvSpPr>
          <p:nvPr>
            <p:ph type="title"/>
          </p:nvPr>
        </p:nvSpPr>
        <p:spPr>
          <a:xfrm>
            <a:off x="916939" y="615856"/>
            <a:ext cx="11207115" cy="1323439"/>
          </a:xfrm>
        </p:spPr>
        <p:txBody>
          <a:bodyPr/>
          <a:lstStyle/>
          <a:p>
            <a:r>
              <a:rPr lang="en-US" b="1" dirty="0"/>
              <a:t>Example Project 2</a:t>
            </a:r>
            <a:br>
              <a:rPr lang="en-US" b="1" dirty="0"/>
            </a:br>
            <a:endParaRPr lang="en-US" dirty="0"/>
          </a:p>
        </p:txBody>
      </p:sp>
      <p:sp>
        <p:nvSpPr>
          <p:cNvPr id="3" name="Text Placeholder 2">
            <a:extLst>
              <a:ext uri="{FF2B5EF4-FFF2-40B4-BE49-F238E27FC236}">
                <a16:creationId xmlns:a16="http://schemas.microsoft.com/office/drawing/2014/main" id="{EC04732F-6943-5146-ED74-B00665B34DC6}"/>
              </a:ext>
            </a:extLst>
          </p:cNvPr>
          <p:cNvSpPr>
            <a:spLocks noGrp="1"/>
          </p:cNvSpPr>
          <p:nvPr>
            <p:ph type="body" idx="1"/>
          </p:nvPr>
        </p:nvSpPr>
        <p:spPr>
          <a:xfrm>
            <a:off x="457200" y="1697346"/>
            <a:ext cx="5483862" cy="5170646"/>
          </a:xfrm>
        </p:spPr>
        <p:txBody>
          <a:bodyPr/>
          <a:lstStyle/>
          <a:p>
            <a:r>
              <a:rPr lang="en-US" b="1" dirty="0"/>
              <a:t>Activities:</a:t>
            </a:r>
            <a:endParaRPr lang="en-US" dirty="0"/>
          </a:p>
          <a:p>
            <a:r>
              <a:rPr lang="en-US" b="1" dirty="0"/>
              <a:t>A:</a:t>
            </a:r>
            <a:r>
              <a:rPr lang="en-US" dirty="0"/>
              <a:t> Duration = 4 days                                                       </a:t>
            </a:r>
          </a:p>
          <a:p>
            <a:r>
              <a:rPr lang="en-US" b="1" dirty="0"/>
              <a:t>B:</a:t>
            </a:r>
            <a:r>
              <a:rPr lang="en-US" dirty="0"/>
              <a:t> Duration = 3 days (depends on A)</a:t>
            </a:r>
          </a:p>
          <a:p>
            <a:r>
              <a:rPr lang="en-US" b="1" dirty="0"/>
              <a:t>C:</a:t>
            </a:r>
            <a:r>
              <a:rPr lang="en-US" dirty="0"/>
              <a:t> Duration = 2 days (depends on A)</a:t>
            </a:r>
          </a:p>
          <a:p>
            <a:r>
              <a:rPr lang="en-US" b="1" dirty="0"/>
              <a:t>D:</a:t>
            </a:r>
            <a:r>
              <a:rPr lang="en-US" dirty="0"/>
              <a:t> Duration = 5 days (depends on B and C)</a:t>
            </a:r>
          </a:p>
          <a:p>
            <a:r>
              <a:rPr lang="en-US" b="1" dirty="0"/>
              <a:t>E:</a:t>
            </a:r>
            <a:r>
              <a:rPr lang="en-US" dirty="0"/>
              <a:t> Duration = 1 day (depends on D)</a:t>
            </a:r>
          </a:p>
          <a:p>
            <a:r>
              <a:rPr lang="en-US" b="1" dirty="0"/>
              <a:t>Forward Pass Calculation</a:t>
            </a:r>
          </a:p>
          <a:p>
            <a:endParaRPr lang="en-US" b="1" dirty="0"/>
          </a:p>
          <a:p>
            <a:r>
              <a:rPr lang="en-US" b="1" dirty="0">
                <a:solidFill>
                  <a:srgbClr val="FF0000"/>
                </a:solidFill>
              </a:rPr>
              <a:t>Activity A:                                                              </a:t>
            </a:r>
            <a:endParaRPr lang="en-US" dirty="0">
              <a:solidFill>
                <a:srgbClr val="FF0000"/>
              </a:solidFill>
            </a:endParaRPr>
          </a:p>
          <a:p>
            <a:pPr lvl="1"/>
            <a:r>
              <a:rPr lang="en-US" dirty="0"/>
              <a:t>ES = 0 (starts at the beginning)</a:t>
            </a:r>
          </a:p>
          <a:p>
            <a:pPr lvl="1"/>
            <a:r>
              <a:rPr lang="en-US" dirty="0"/>
              <a:t>EF = ES + Duration = 0 + 4 = 4</a:t>
            </a:r>
          </a:p>
          <a:p>
            <a:r>
              <a:rPr lang="en-US" b="1" dirty="0">
                <a:solidFill>
                  <a:srgbClr val="FF0000"/>
                </a:solidFill>
              </a:rPr>
              <a:t>Activity B:</a:t>
            </a:r>
            <a:r>
              <a:rPr lang="en-US" dirty="0">
                <a:solidFill>
                  <a:srgbClr val="FF0000"/>
                </a:solidFill>
              </a:rPr>
              <a:t> (depends on A)</a:t>
            </a:r>
          </a:p>
          <a:p>
            <a:pPr lvl="1"/>
            <a:r>
              <a:rPr lang="en-US" dirty="0"/>
              <a:t>ES = EF of A = 4</a:t>
            </a:r>
          </a:p>
          <a:p>
            <a:pPr lvl="1"/>
            <a:r>
              <a:rPr lang="en-US" dirty="0"/>
              <a:t>EF = ES + Duration = 4 + 3 = 7</a:t>
            </a:r>
          </a:p>
          <a:p>
            <a:endParaRPr lang="en-US" dirty="0"/>
          </a:p>
        </p:txBody>
      </p:sp>
      <p:sp>
        <p:nvSpPr>
          <p:cNvPr id="5" name="TextBox 4">
            <a:extLst>
              <a:ext uri="{FF2B5EF4-FFF2-40B4-BE49-F238E27FC236}">
                <a16:creationId xmlns:a16="http://schemas.microsoft.com/office/drawing/2014/main" id="{99A63121-6A7D-4879-FC35-E21E700EBA0E}"/>
              </a:ext>
            </a:extLst>
          </p:cNvPr>
          <p:cNvSpPr txBox="1"/>
          <p:nvPr/>
        </p:nvSpPr>
        <p:spPr>
          <a:xfrm>
            <a:off x="6378316" y="4272677"/>
            <a:ext cx="6093500" cy="2585323"/>
          </a:xfrm>
          <a:prstGeom prst="rect">
            <a:avLst/>
          </a:prstGeom>
          <a:noFill/>
        </p:spPr>
        <p:txBody>
          <a:bodyPr wrap="square">
            <a:spAutoFit/>
          </a:bodyPr>
          <a:lstStyle/>
          <a:p>
            <a:r>
              <a:rPr lang="en-US" b="1" dirty="0">
                <a:solidFill>
                  <a:srgbClr val="FF0000"/>
                </a:solidFill>
              </a:rPr>
              <a:t>Activity C:</a:t>
            </a:r>
            <a:r>
              <a:rPr lang="en-US" dirty="0">
                <a:solidFill>
                  <a:srgbClr val="FF0000"/>
                </a:solidFill>
              </a:rPr>
              <a:t> (depends on A)</a:t>
            </a:r>
          </a:p>
          <a:p>
            <a:pPr lvl="1"/>
            <a:r>
              <a:rPr lang="en-US" dirty="0"/>
              <a:t>ES = EF of A = 4</a:t>
            </a:r>
          </a:p>
          <a:p>
            <a:pPr lvl="1"/>
            <a:r>
              <a:rPr lang="en-US" dirty="0"/>
              <a:t>EF = ES + Duration = 4 + 2 = 6</a:t>
            </a:r>
          </a:p>
          <a:p>
            <a:r>
              <a:rPr lang="en-US" b="1" dirty="0">
                <a:solidFill>
                  <a:srgbClr val="FF0000"/>
                </a:solidFill>
              </a:rPr>
              <a:t>Activity D:</a:t>
            </a:r>
            <a:r>
              <a:rPr lang="en-US" dirty="0">
                <a:solidFill>
                  <a:srgbClr val="FF0000"/>
                </a:solidFill>
              </a:rPr>
              <a:t> (depends on B and C)</a:t>
            </a:r>
          </a:p>
          <a:p>
            <a:pPr lvl="1"/>
            <a:r>
              <a:rPr lang="en-US" dirty="0"/>
              <a:t>ES = max(EF of B, EF of C) = max(7, 6) = 7</a:t>
            </a:r>
          </a:p>
          <a:p>
            <a:pPr lvl="1"/>
            <a:r>
              <a:rPr lang="en-US" dirty="0"/>
              <a:t>EF = ES + Duration = 7 + 5 = 12</a:t>
            </a:r>
          </a:p>
          <a:p>
            <a:r>
              <a:rPr lang="en-US" b="1" dirty="0">
                <a:solidFill>
                  <a:srgbClr val="FF0000"/>
                </a:solidFill>
              </a:rPr>
              <a:t>Activity E:</a:t>
            </a:r>
            <a:r>
              <a:rPr lang="en-US" dirty="0">
                <a:solidFill>
                  <a:srgbClr val="FF0000"/>
                </a:solidFill>
              </a:rPr>
              <a:t> (depends on D)</a:t>
            </a:r>
          </a:p>
          <a:p>
            <a:pPr lvl="1"/>
            <a:r>
              <a:rPr lang="en-US" dirty="0"/>
              <a:t>ES = EF of D = 12</a:t>
            </a:r>
          </a:p>
          <a:p>
            <a:pPr lvl="1"/>
            <a:r>
              <a:rPr lang="en-US" dirty="0"/>
              <a:t>EF = ES + Duration = 12 + 1 = 13</a:t>
            </a:r>
          </a:p>
        </p:txBody>
      </p:sp>
      <p:pic>
        <p:nvPicPr>
          <p:cNvPr id="6" name="Picture 5">
            <a:extLst>
              <a:ext uri="{FF2B5EF4-FFF2-40B4-BE49-F238E27FC236}">
                <a16:creationId xmlns:a16="http://schemas.microsoft.com/office/drawing/2014/main" id="{C9B2E5E4-4AD1-CCDC-6F7B-6D2F9ED864E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16063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42846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B0B97C-D93D-2E58-6936-C1216760BF9F}"/>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957C9971-9E32-DC09-B430-B0C5E0F61C7C}"/>
              </a:ext>
            </a:extLst>
          </p:cNvPr>
          <p:cNvSpPr>
            <a:spLocks noGrp="1"/>
          </p:cNvSpPr>
          <p:nvPr>
            <p:ph type="body" idx="1"/>
          </p:nvPr>
        </p:nvSpPr>
        <p:spPr/>
        <p:txBody>
          <a:bodyPr/>
          <a:lstStyle/>
          <a:p>
            <a:endParaRPr lang="en-US" dirty="0"/>
          </a:p>
        </p:txBody>
      </p:sp>
      <p:pic>
        <p:nvPicPr>
          <p:cNvPr id="5" name="Picture 4">
            <a:extLst>
              <a:ext uri="{FF2B5EF4-FFF2-40B4-BE49-F238E27FC236}">
                <a16:creationId xmlns:a16="http://schemas.microsoft.com/office/drawing/2014/main" id="{72A15C4D-CE9C-0548-A89A-A9418D37FF45}"/>
              </a:ext>
            </a:extLst>
          </p:cNvPr>
          <p:cNvPicPr>
            <a:picLocks noChangeAspect="1"/>
          </p:cNvPicPr>
          <p:nvPr/>
        </p:nvPicPr>
        <p:blipFill>
          <a:blip r:embed="rId2"/>
          <a:stretch>
            <a:fillRect/>
          </a:stretch>
        </p:blipFill>
        <p:spPr>
          <a:xfrm>
            <a:off x="600990" y="1981200"/>
            <a:ext cx="10990017" cy="4170646"/>
          </a:xfrm>
          <a:prstGeom prst="rect">
            <a:avLst/>
          </a:prstGeom>
        </p:spPr>
      </p:pic>
      <p:pic>
        <p:nvPicPr>
          <p:cNvPr id="6" name="Picture 5">
            <a:extLst>
              <a:ext uri="{FF2B5EF4-FFF2-40B4-BE49-F238E27FC236}">
                <a16:creationId xmlns:a16="http://schemas.microsoft.com/office/drawing/2014/main" id="{BAC32768-6753-37DB-EE7E-E2B1C77F8B6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6063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62815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spc="100" dirty="0"/>
              <a:t>Backward</a:t>
            </a:r>
            <a:r>
              <a:rPr spc="130" dirty="0"/>
              <a:t> </a:t>
            </a:r>
            <a:r>
              <a:rPr spc="110" dirty="0"/>
              <a:t>Pass—</a:t>
            </a:r>
            <a:r>
              <a:rPr spc="80" dirty="0"/>
              <a:t>Latest</a:t>
            </a:r>
            <a:r>
              <a:rPr spc="130" dirty="0"/>
              <a:t> </a:t>
            </a:r>
            <a:r>
              <a:rPr spc="105" dirty="0"/>
              <a:t>Times</a:t>
            </a:r>
            <a:r>
              <a:rPr spc="130" dirty="0"/>
              <a:t> </a:t>
            </a:r>
            <a:r>
              <a:rPr sz="1950" spc="-10" dirty="0"/>
              <a:t>(1/2)</a:t>
            </a:r>
            <a:endParaRPr sz="1950"/>
          </a:p>
        </p:txBody>
      </p:sp>
      <p:sp>
        <p:nvSpPr>
          <p:cNvPr id="4" name="object 4"/>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28</a:t>
            </a:fld>
            <a:endParaRPr spc="-25" dirty="0"/>
          </a:p>
        </p:txBody>
      </p:sp>
      <p:sp>
        <p:nvSpPr>
          <p:cNvPr id="3" name="object 3"/>
          <p:cNvSpPr txBox="1"/>
          <p:nvPr/>
        </p:nvSpPr>
        <p:spPr>
          <a:xfrm>
            <a:off x="916939" y="1795779"/>
            <a:ext cx="10357485" cy="3777615"/>
          </a:xfrm>
          <a:prstGeom prst="rect">
            <a:avLst/>
          </a:prstGeom>
        </p:spPr>
        <p:txBody>
          <a:bodyPr vert="horz" wrap="square" lIns="0" tIns="63500" rIns="0" bIns="0" rtlCol="0">
            <a:spAutoFit/>
          </a:bodyPr>
          <a:lstStyle/>
          <a:p>
            <a:pPr marL="241300" marR="5080" indent="-228600" algn="just">
              <a:lnSpc>
                <a:spcPts val="3000"/>
              </a:lnSpc>
              <a:spcBef>
                <a:spcPts val="500"/>
              </a:spcBef>
              <a:buFont typeface="Arial MT"/>
              <a:buChar char="•"/>
              <a:tabLst>
                <a:tab pos="241300" algn="l"/>
              </a:tabLst>
            </a:pPr>
            <a:r>
              <a:rPr sz="2800" dirty="0">
                <a:latin typeface="Calibri"/>
                <a:cs typeface="Calibri"/>
              </a:rPr>
              <a:t>The</a:t>
            </a:r>
            <a:r>
              <a:rPr sz="2800" spc="530" dirty="0">
                <a:latin typeface="Calibri"/>
                <a:cs typeface="Calibri"/>
              </a:rPr>
              <a:t> </a:t>
            </a:r>
            <a:r>
              <a:rPr sz="2800" dirty="0">
                <a:latin typeface="Calibri"/>
                <a:cs typeface="Calibri"/>
              </a:rPr>
              <a:t>backward</a:t>
            </a:r>
            <a:r>
              <a:rPr sz="2800" spc="540" dirty="0">
                <a:latin typeface="Calibri"/>
                <a:cs typeface="Calibri"/>
              </a:rPr>
              <a:t> </a:t>
            </a:r>
            <a:r>
              <a:rPr sz="2800" dirty="0">
                <a:latin typeface="Calibri"/>
                <a:cs typeface="Calibri"/>
              </a:rPr>
              <a:t>pass</a:t>
            </a:r>
            <a:r>
              <a:rPr sz="2800" spc="545" dirty="0">
                <a:latin typeface="Calibri"/>
                <a:cs typeface="Calibri"/>
              </a:rPr>
              <a:t> </a:t>
            </a:r>
            <a:r>
              <a:rPr sz="2800" dirty="0">
                <a:latin typeface="Calibri"/>
                <a:cs typeface="Calibri"/>
              </a:rPr>
              <a:t>starts</a:t>
            </a:r>
            <a:r>
              <a:rPr sz="2800" spc="545" dirty="0">
                <a:latin typeface="Calibri"/>
                <a:cs typeface="Calibri"/>
              </a:rPr>
              <a:t> </a:t>
            </a:r>
            <a:r>
              <a:rPr sz="2800" dirty="0">
                <a:latin typeface="Calibri"/>
                <a:cs typeface="Calibri"/>
              </a:rPr>
              <a:t>with</a:t>
            </a:r>
            <a:r>
              <a:rPr sz="2800" spc="550" dirty="0">
                <a:latin typeface="Calibri"/>
                <a:cs typeface="Calibri"/>
              </a:rPr>
              <a:t> </a:t>
            </a:r>
            <a:r>
              <a:rPr sz="2800" dirty="0">
                <a:latin typeface="Calibri"/>
                <a:cs typeface="Calibri"/>
              </a:rPr>
              <a:t>the</a:t>
            </a:r>
            <a:r>
              <a:rPr sz="2800" spc="535" dirty="0">
                <a:latin typeface="Calibri"/>
                <a:cs typeface="Calibri"/>
              </a:rPr>
              <a:t> </a:t>
            </a:r>
            <a:r>
              <a:rPr sz="2800" dirty="0">
                <a:latin typeface="Calibri"/>
                <a:cs typeface="Calibri"/>
              </a:rPr>
              <a:t>last</a:t>
            </a:r>
            <a:r>
              <a:rPr sz="2800" spc="535" dirty="0">
                <a:latin typeface="Calibri"/>
                <a:cs typeface="Calibri"/>
              </a:rPr>
              <a:t> </a:t>
            </a:r>
            <a:r>
              <a:rPr sz="2800" dirty="0">
                <a:latin typeface="Calibri"/>
                <a:cs typeface="Calibri"/>
              </a:rPr>
              <a:t>project</a:t>
            </a:r>
            <a:r>
              <a:rPr sz="2800" spc="535" dirty="0">
                <a:latin typeface="Calibri"/>
                <a:cs typeface="Calibri"/>
              </a:rPr>
              <a:t> </a:t>
            </a:r>
            <a:r>
              <a:rPr sz="2800" dirty="0">
                <a:latin typeface="Calibri"/>
                <a:cs typeface="Calibri"/>
              </a:rPr>
              <a:t>activity(ies)</a:t>
            </a:r>
            <a:r>
              <a:rPr sz="2800" spc="540" dirty="0">
                <a:latin typeface="Calibri"/>
                <a:cs typeface="Calibri"/>
              </a:rPr>
              <a:t> </a:t>
            </a:r>
            <a:r>
              <a:rPr sz="2800" dirty="0">
                <a:latin typeface="Calibri"/>
                <a:cs typeface="Calibri"/>
              </a:rPr>
              <a:t>on</a:t>
            </a:r>
            <a:r>
              <a:rPr sz="2800" spc="545" dirty="0">
                <a:latin typeface="Calibri"/>
                <a:cs typeface="Calibri"/>
              </a:rPr>
              <a:t> </a:t>
            </a:r>
            <a:r>
              <a:rPr sz="2800" spc="-25" dirty="0">
                <a:latin typeface="Calibri"/>
                <a:cs typeface="Calibri"/>
              </a:rPr>
              <a:t>the </a:t>
            </a:r>
            <a:r>
              <a:rPr sz="2800" dirty="0">
                <a:latin typeface="Calibri"/>
                <a:cs typeface="Calibri"/>
              </a:rPr>
              <a:t>network.</a:t>
            </a:r>
            <a:r>
              <a:rPr sz="2800" spc="125" dirty="0">
                <a:latin typeface="Calibri"/>
                <a:cs typeface="Calibri"/>
              </a:rPr>
              <a:t> </a:t>
            </a:r>
            <a:r>
              <a:rPr sz="2800" dirty="0">
                <a:latin typeface="Calibri"/>
                <a:cs typeface="Calibri"/>
              </a:rPr>
              <a:t>You</a:t>
            </a:r>
            <a:r>
              <a:rPr sz="2800" spc="120" dirty="0">
                <a:latin typeface="Calibri"/>
                <a:cs typeface="Calibri"/>
              </a:rPr>
              <a:t> </a:t>
            </a:r>
            <a:r>
              <a:rPr sz="2800" dirty="0">
                <a:latin typeface="Calibri"/>
                <a:cs typeface="Calibri"/>
              </a:rPr>
              <a:t>trace</a:t>
            </a:r>
            <a:r>
              <a:rPr sz="2800" spc="114" dirty="0">
                <a:latin typeface="Calibri"/>
                <a:cs typeface="Calibri"/>
              </a:rPr>
              <a:t> </a:t>
            </a:r>
            <a:r>
              <a:rPr sz="2800" dirty="0">
                <a:latin typeface="Calibri"/>
                <a:cs typeface="Calibri"/>
              </a:rPr>
              <a:t>backward</a:t>
            </a:r>
            <a:r>
              <a:rPr sz="2800" spc="120" dirty="0">
                <a:latin typeface="Calibri"/>
                <a:cs typeface="Calibri"/>
              </a:rPr>
              <a:t> </a:t>
            </a:r>
            <a:r>
              <a:rPr sz="2800" dirty="0">
                <a:latin typeface="Calibri"/>
                <a:cs typeface="Calibri"/>
              </a:rPr>
              <a:t>on</a:t>
            </a:r>
            <a:r>
              <a:rPr sz="2800" spc="125" dirty="0">
                <a:latin typeface="Calibri"/>
                <a:cs typeface="Calibri"/>
              </a:rPr>
              <a:t> </a:t>
            </a:r>
            <a:r>
              <a:rPr sz="2800" dirty="0">
                <a:latin typeface="Calibri"/>
                <a:cs typeface="Calibri"/>
              </a:rPr>
              <a:t>each</a:t>
            </a:r>
            <a:r>
              <a:rPr sz="2800" spc="125" dirty="0">
                <a:latin typeface="Calibri"/>
                <a:cs typeface="Calibri"/>
              </a:rPr>
              <a:t> </a:t>
            </a:r>
            <a:r>
              <a:rPr sz="2800" dirty="0">
                <a:latin typeface="Calibri"/>
                <a:cs typeface="Calibri"/>
              </a:rPr>
              <a:t>path</a:t>
            </a:r>
            <a:r>
              <a:rPr sz="2800" spc="125" dirty="0">
                <a:latin typeface="Calibri"/>
                <a:cs typeface="Calibri"/>
              </a:rPr>
              <a:t> </a:t>
            </a:r>
            <a:r>
              <a:rPr sz="2800" i="1" dirty="0">
                <a:latin typeface="Calibri"/>
                <a:cs typeface="Calibri"/>
              </a:rPr>
              <a:t>subtracting</a:t>
            </a:r>
            <a:r>
              <a:rPr sz="2800" i="1" spc="125" dirty="0">
                <a:latin typeface="Calibri"/>
                <a:cs typeface="Calibri"/>
              </a:rPr>
              <a:t> </a:t>
            </a:r>
            <a:r>
              <a:rPr sz="2800" dirty="0">
                <a:latin typeface="Calibri"/>
                <a:cs typeface="Calibri"/>
              </a:rPr>
              <a:t>activity</a:t>
            </a:r>
            <a:r>
              <a:rPr sz="2800" spc="114" dirty="0">
                <a:latin typeface="Calibri"/>
                <a:cs typeface="Calibri"/>
              </a:rPr>
              <a:t> </a:t>
            </a:r>
            <a:r>
              <a:rPr sz="2800" spc="-10" dirty="0">
                <a:latin typeface="Calibri"/>
                <a:cs typeface="Calibri"/>
              </a:rPr>
              <a:t>times </a:t>
            </a:r>
            <a:r>
              <a:rPr sz="2800" dirty="0">
                <a:latin typeface="Calibri"/>
                <a:cs typeface="Calibri"/>
              </a:rPr>
              <a:t>to</a:t>
            </a:r>
            <a:r>
              <a:rPr sz="2800" spc="-45" dirty="0">
                <a:latin typeface="Calibri"/>
                <a:cs typeface="Calibri"/>
              </a:rPr>
              <a:t> </a:t>
            </a:r>
            <a:r>
              <a:rPr sz="2800" dirty="0">
                <a:latin typeface="Calibri"/>
                <a:cs typeface="Calibri"/>
              </a:rPr>
              <a:t>find</a:t>
            </a:r>
            <a:r>
              <a:rPr sz="2800" spc="-40" dirty="0">
                <a:latin typeface="Calibri"/>
                <a:cs typeface="Calibri"/>
              </a:rPr>
              <a:t> </a:t>
            </a:r>
            <a:r>
              <a:rPr sz="2800" dirty="0">
                <a:latin typeface="Calibri"/>
                <a:cs typeface="Calibri"/>
              </a:rPr>
              <a:t>the</a:t>
            </a:r>
            <a:r>
              <a:rPr sz="2800" spc="-40" dirty="0">
                <a:latin typeface="Calibri"/>
                <a:cs typeface="Calibri"/>
              </a:rPr>
              <a:t> </a:t>
            </a:r>
            <a:r>
              <a:rPr sz="2800" dirty="0">
                <a:latin typeface="Calibri"/>
                <a:cs typeface="Calibri"/>
              </a:rPr>
              <a:t>late</a:t>
            </a:r>
            <a:r>
              <a:rPr sz="2800" spc="-50" dirty="0">
                <a:latin typeface="Calibri"/>
                <a:cs typeface="Calibri"/>
              </a:rPr>
              <a:t> </a:t>
            </a:r>
            <a:r>
              <a:rPr sz="2800" dirty="0">
                <a:latin typeface="Calibri"/>
                <a:cs typeface="Calibri"/>
              </a:rPr>
              <a:t>start</a:t>
            </a:r>
            <a:r>
              <a:rPr sz="2800" spc="-40" dirty="0">
                <a:latin typeface="Calibri"/>
                <a:cs typeface="Calibri"/>
              </a:rPr>
              <a:t> </a:t>
            </a:r>
            <a:r>
              <a:rPr sz="2800" dirty="0">
                <a:latin typeface="Calibri"/>
                <a:cs typeface="Calibri"/>
              </a:rPr>
              <a:t>(LS)</a:t>
            </a:r>
            <a:r>
              <a:rPr sz="2800" spc="-40" dirty="0">
                <a:latin typeface="Calibri"/>
                <a:cs typeface="Calibri"/>
              </a:rPr>
              <a:t> </a:t>
            </a:r>
            <a:r>
              <a:rPr sz="2800" dirty="0">
                <a:latin typeface="Calibri"/>
                <a:cs typeface="Calibri"/>
              </a:rPr>
              <a:t>and</a:t>
            </a:r>
            <a:r>
              <a:rPr sz="2800" spc="-40" dirty="0">
                <a:latin typeface="Calibri"/>
                <a:cs typeface="Calibri"/>
              </a:rPr>
              <a:t> </a:t>
            </a:r>
            <a:r>
              <a:rPr sz="2800" dirty="0">
                <a:latin typeface="Calibri"/>
                <a:cs typeface="Calibri"/>
              </a:rPr>
              <a:t>late</a:t>
            </a:r>
            <a:r>
              <a:rPr sz="2800" spc="-45" dirty="0">
                <a:latin typeface="Calibri"/>
                <a:cs typeface="Calibri"/>
              </a:rPr>
              <a:t> </a:t>
            </a:r>
            <a:r>
              <a:rPr sz="2800" dirty="0">
                <a:latin typeface="Calibri"/>
                <a:cs typeface="Calibri"/>
              </a:rPr>
              <a:t>finish</a:t>
            </a:r>
            <a:r>
              <a:rPr sz="2800" spc="-40" dirty="0">
                <a:latin typeface="Calibri"/>
                <a:cs typeface="Calibri"/>
              </a:rPr>
              <a:t> </a:t>
            </a:r>
            <a:r>
              <a:rPr sz="2800" dirty="0">
                <a:latin typeface="Calibri"/>
                <a:cs typeface="Calibri"/>
              </a:rPr>
              <a:t>(LF)</a:t>
            </a:r>
            <a:r>
              <a:rPr sz="2800" spc="-35" dirty="0">
                <a:latin typeface="Calibri"/>
                <a:cs typeface="Calibri"/>
              </a:rPr>
              <a:t> </a:t>
            </a:r>
            <a:r>
              <a:rPr sz="2800" dirty="0">
                <a:latin typeface="Calibri"/>
                <a:cs typeface="Calibri"/>
              </a:rPr>
              <a:t>times</a:t>
            </a:r>
            <a:r>
              <a:rPr sz="2800" spc="-40" dirty="0">
                <a:latin typeface="Calibri"/>
                <a:cs typeface="Calibri"/>
              </a:rPr>
              <a:t> </a:t>
            </a:r>
            <a:r>
              <a:rPr sz="2800" dirty="0">
                <a:latin typeface="Calibri"/>
                <a:cs typeface="Calibri"/>
              </a:rPr>
              <a:t>for</a:t>
            </a:r>
            <a:r>
              <a:rPr sz="2800" spc="-45" dirty="0">
                <a:latin typeface="Calibri"/>
                <a:cs typeface="Calibri"/>
              </a:rPr>
              <a:t> </a:t>
            </a:r>
            <a:r>
              <a:rPr sz="2800" dirty="0">
                <a:latin typeface="Calibri"/>
                <a:cs typeface="Calibri"/>
              </a:rPr>
              <a:t>each</a:t>
            </a:r>
            <a:r>
              <a:rPr sz="2800" spc="-35" dirty="0">
                <a:latin typeface="Calibri"/>
                <a:cs typeface="Calibri"/>
              </a:rPr>
              <a:t> </a:t>
            </a:r>
            <a:r>
              <a:rPr sz="2800" spc="-10" dirty="0">
                <a:latin typeface="Calibri"/>
                <a:cs typeface="Calibri"/>
              </a:rPr>
              <a:t>activity.</a:t>
            </a:r>
            <a:endParaRPr sz="2800">
              <a:latin typeface="Calibri"/>
              <a:cs typeface="Calibri"/>
            </a:endParaRPr>
          </a:p>
          <a:p>
            <a:pPr marL="241300" marR="5080" indent="-228600" algn="just">
              <a:lnSpc>
                <a:spcPts val="3000"/>
              </a:lnSpc>
              <a:spcBef>
                <a:spcPts val="1105"/>
              </a:spcBef>
              <a:buFont typeface="Arial MT"/>
              <a:buChar char="•"/>
              <a:tabLst>
                <a:tab pos="241300" algn="l"/>
              </a:tabLst>
            </a:pPr>
            <a:r>
              <a:rPr sz="2800" dirty="0">
                <a:solidFill>
                  <a:srgbClr val="262EA4"/>
                </a:solidFill>
                <a:latin typeface="Calibri"/>
                <a:cs typeface="Calibri"/>
              </a:rPr>
              <a:t>Before</a:t>
            </a:r>
            <a:r>
              <a:rPr sz="2800" spc="-50" dirty="0">
                <a:solidFill>
                  <a:srgbClr val="262EA4"/>
                </a:solidFill>
                <a:latin typeface="Calibri"/>
                <a:cs typeface="Calibri"/>
              </a:rPr>
              <a:t> </a:t>
            </a:r>
            <a:r>
              <a:rPr sz="2800" dirty="0">
                <a:solidFill>
                  <a:srgbClr val="262EA4"/>
                </a:solidFill>
                <a:latin typeface="Calibri"/>
                <a:cs typeface="Calibri"/>
              </a:rPr>
              <a:t>the</a:t>
            </a:r>
            <a:r>
              <a:rPr sz="2800" spc="-45" dirty="0">
                <a:solidFill>
                  <a:srgbClr val="262EA4"/>
                </a:solidFill>
                <a:latin typeface="Calibri"/>
                <a:cs typeface="Calibri"/>
              </a:rPr>
              <a:t> </a:t>
            </a:r>
            <a:r>
              <a:rPr sz="2800" dirty="0">
                <a:solidFill>
                  <a:srgbClr val="262EA4"/>
                </a:solidFill>
                <a:latin typeface="Calibri"/>
                <a:cs typeface="Calibri"/>
              </a:rPr>
              <a:t>backward</a:t>
            </a:r>
            <a:r>
              <a:rPr sz="2800" spc="-40" dirty="0">
                <a:solidFill>
                  <a:srgbClr val="262EA4"/>
                </a:solidFill>
                <a:latin typeface="Calibri"/>
                <a:cs typeface="Calibri"/>
              </a:rPr>
              <a:t> </a:t>
            </a:r>
            <a:r>
              <a:rPr sz="2800" dirty="0">
                <a:solidFill>
                  <a:srgbClr val="262EA4"/>
                </a:solidFill>
                <a:latin typeface="Calibri"/>
                <a:cs typeface="Calibri"/>
              </a:rPr>
              <a:t>pass</a:t>
            </a:r>
            <a:r>
              <a:rPr sz="2800" spc="-35" dirty="0">
                <a:solidFill>
                  <a:srgbClr val="262EA4"/>
                </a:solidFill>
                <a:latin typeface="Calibri"/>
                <a:cs typeface="Calibri"/>
              </a:rPr>
              <a:t> </a:t>
            </a:r>
            <a:r>
              <a:rPr sz="2800" dirty="0">
                <a:solidFill>
                  <a:srgbClr val="262EA4"/>
                </a:solidFill>
                <a:latin typeface="Calibri"/>
                <a:cs typeface="Calibri"/>
              </a:rPr>
              <a:t>can</a:t>
            </a:r>
            <a:r>
              <a:rPr sz="2800" spc="-40" dirty="0">
                <a:solidFill>
                  <a:srgbClr val="262EA4"/>
                </a:solidFill>
                <a:latin typeface="Calibri"/>
                <a:cs typeface="Calibri"/>
              </a:rPr>
              <a:t> </a:t>
            </a:r>
            <a:r>
              <a:rPr sz="2800" dirty="0">
                <a:solidFill>
                  <a:srgbClr val="262EA4"/>
                </a:solidFill>
                <a:latin typeface="Calibri"/>
                <a:cs typeface="Calibri"/>
              </a:rPr>
              <a:t>be</a:t>
            </a:r>
            <a:r>
              <a:rPr sz="2800" spc="-45" dirty="0">
                <a:solidFill>
                  <a:srgbClr val="262EA4"/>
                </a:solidFill>
                <a:latin typeface="Calibri"/>
                <a:cs typeface="Calibri"/>
              </a:rPr>
              <a:t> </a:t>
            </a:r>
            <a:r>
              <a:rPr sz="2800" dirty="0">
                <a:solidFill>
                  <a:srgbClr val="262EA4"/>
                </a:solidFill>
                <a:latin typeface="Calibri"/>
                <a:cs typeface="Calibri"/>
              </a:rPr>
              <a:t>computed,</a:t>
            </a:r>
            <a:r>
              <a:rPr sz="2800" spc="-40" dirty="0">
                <a:solidFill>
                  <a:srgbClr val="262EA4"/>
                </a:solidFill>
                <a:latin typeface="Calibri"/>
                <a:cs typeface="Calibri"/>
              </a:rPr>
              <a:t> </a:t>
            </a:r>
            <a:r>
              <a:rPr sz="2800" dirty="0">
                <a:solidFill>
                  <a:srgbClr val="262EA4"/>
                </a:solidFill>
                <a:latin typeface="Calibri"/>
                <a:cs typeface="Calibri"/>
              </a:rPr>
              <a:t>the</a:t>
            </a:r>
            <a:r>
              <a:rPr sz="2800" spc="-40" dirty="0">
                <a:solidFill>
                  <a:srgbClr val="262EA4"/>
                </a:solidFill>
                <a:latin typeface="Calibri"/>
                <a:cs typeface="Calibri"/>
              </a:rPr>
              <a:t> </a:t>
            </a:r>
            <a:r>
              <a:rPr sz="2800" dirty="0">
                <a:solidFill>
                  <a:srgbClr val="262EA4"/>
                </a:solidFill>
                <a:latin typeface="Calibri"/>
                <a:cs typeface="Calibri"/>
              </a:rPr>
              <a:t>late</a:t>
            </a:r>
            <a:r>
              <a:rPr sz="2800" spc="-50" dirty="0">
                <a:solidFill>
                  <a:srgbClr val="262EA4"/>
                </a:solidFill>
                <a:latin typeface="Calibri"/>
                <a:cs typeface="Calibri"/>
              </a:rPr>
              <a:t> </a:t>
            </a:r>
            <a:r>
              <a:rPr sz="2800" dirty="0">
                <a:solidFill>
                  <a:srgbClr val="262EA4"/>
                </a:solidFill>
                <a:latin typeface="Calibri"/>
                <a:cs typeface="Calibri"/>
              </a:rPr>
              <a:t>finish</a:t>
            </a:r>
            <a:r>
              <a:rPr sz="2800" spc="-35" dirty="0">
                <a:solidFill>
                  <a:srgbClr val="262EA4"/>
                </a:solidFill>
                <a:latin typeface="Calibri"/>
                <a:cs typeface="Calibri"/>
              </a:rPr>
              <a:t> </a:t>
            </a:r>
            <a:r>
              <a:rPr sz="2800" dirty="0">
                <a:solidFill>
                  <a:srgbClr val="262EA4"/>
                </a:solidFill>
                <a:latin typeface="Calibri"/>
                <a:cs typeface="Calibri"/>
              </a:rPr>
              <a:t>for</a:t>
            </a:r>
            <a:r>
              <a:rPr sz="2800" spc="-45" dirty="0">
                <a:solidFill>
                  <a:srgbClr val="262EA4"/>
                </a:solidFill>
                <a:latin typeface="Calibri"/>
                <a:cs typeface="Calibri"/>
              </a:rPr>
              <a:t> </a:t>
            </a:r>
            <a:r>
              <a:rPr sz="2800" dirty="0">
                <a:solidFill>
                  <a:srgbClr val="262EA4"/>
                </a:solidFill>
                <a:latin typeface="Calibri"/>
                <a:cs typeface="Calibri"/>
              </a:rPr>
              <a:t>the</a:t>
            </a:r>
            <a:r>
              <a:rPr sz="2800" spc="-40" dirty="0">
                <a:solidFill>
                  <a:srgbClr val="262EA4"/>
                </a:solidFill>
                <a:latin typeface="Calibri"/>
                <a:cs typeface="Calibri"/>
              </a:rPr>
              <a:t> </a:t>
            </a:r>
            <a:r>
              <a:rPr sz="2800" spc="-20" dirty="0">
                <a:solidFill>
                  <a:srgbClr val="262EA4"/>
                </a:solidFill>
                <a:latin typeface="Calibri"/>
                <a:cs typeface="Calibri"/>
              </a:rPr>
              <a:t>last </a:t>
            </a:r>
            <a:r>
              <a:rPr sz="2800" dirty="0">
                <a:solidFill>
                  <a:srgbClr val="262EA4"/>
                </a:solidFill>
                <a:latin typeface="Calibri"/>
                <a:cs typeface="Calibri"/>
              </a:rPr>
              <a:t>project</a:t>
            </a:r>
            <a:r>
              <a:rPr sz="2800" spc="-65" dirty="0">
                <a:solidFill>
                  <a:srgbClr val="262EA4"/>
                </a:solidFill>
                <a:latin typeface="Calibri"/>
                <a:cs typeface="Calibri"/>
              </a:rPr>
              <a:t> </a:t>
            </a:r>
            <a:r>
              <a:rPr sz="2800" dirty="0">
                <a:solidFill>
                  <a:srgbClr val="262EA4"/>
                </a:solidFill>
                <a:latin typeface="Calibri"/>
                <a:cs typeface="Calibri"/>
              </a:rPr>
              <a:t>activity(ies)</a:t>
            </a:r>
            <a:r>
              <a:rPr sz="2800" spc="-55" dirty="0">
                <a:solidFill>
                  <a:srgbClr val="262EA4"/>
                </a:solidFill>
                <a:latin typeface="Calibri"/>
                <a:cs typeface="Calibri"/>
              </a:rPr>
              <a:t> </a:t>
            </a:r>
            <a:r>
              <a:rPr sz="2800" dirty="0">
                <a:solidFill>
                  <a:srgbClr val="262EA4"/>
                </a:solidFill>
                <a:latin typeface="Calibri"/>
                <a:cs typeface="Calibri"/>
              </a:rPr>
              <a:t>must</a:t>
            </a:r>
            <a:r>
              <a:rPr sz="2800" spc="-60" dirty="0">
                <a:solidFill>
                  <a:srgbClr val="262EA4"/>
                </a:solidFill>
                <a:latin typeface="Calibri"/>
                <a:cs typeface="Calibri"/>
              </a:rPr>
              <a:t> </a:t>
            </a:r>
            <a:r>
              <a:rPr sz="2800" dirty="0">
                <a:solidFill>
                  <a:srgbClr val="262EA4"/>
                </a:solidFill>
                <a:latin typeface="Calibri"/>
                <a:cs typeface="Calibri"/>
              </a:rPr>
              <a:t>be</a:t>
            </a:r>
            <a:r>
              <a:rPr sz="2800" spc="-65" dirty="0">
                <a:solidFill>
                  <a:srgbClr val="262EA4"/>
                </a:solidFill>
                <a:latin typeface="Calibri"/>
                <a:cs typeface="Calibri"/>
              </a:rPr>
              <a:t> </a:t>
            </a:r>
            <a:r>
              <a:rPr sz="2800" spc="-10" dirty="0">
                <a:solidFill>
                  <a:srgbClr val="262EA4"/>
                </a:solidFill>
                <a:latin typeface="Calibri"/>
                <a:cs typeface="Calibri"/>
              </a:rPr>
              <a:t>selected.</a:t>
            </a:r>
            <a:endParaRPr sz="2800">
              <a:latin typeface="Calibri"/>
              <a:cs typeface="Calibri"/>
            </a:endParaRPr>
          </a:p>
          <a:p>
            <a:pPr marL="241300" marR="5080" indent="-228600" algn="just">
              <a:lnSpc>
                <a:spcPct val="90200"/>
              </a:lnSpc>
              <a:spcBef>
                <a:spcPts val="910"/>
              </a:spcBef>
              <a:buFont typeface="Arial MT"/>
              <a:buChar char="•"/>
              <a:tabLst>
                <a:tab pos="241300" algn="l"/>
              </a:tabLst>
            </a:pPr>
            <a:r>
              <a:rPr sz="2800" dirty="0">
                <a:latin typeface="Calibri"/>
                <a:cs typeface="Calibri"/>
              </a:rPr>
              <a:t>In</a:t>
            </a:r>
            <a:r>
              <a:rPr sz="2800" spc="470" dirty="0">
                <a:latin typeface="Calibri"/>
                <a:cs typeface="Calibri"/>
              </a:rPr>
              <a:t> </a:t>
            </a:r>
            <a:r>
              <a:rPr sz="2800" dirty="0">
                <a:latin typeface="Calibri"/>
                <a:cs typeface="Calibri"/>
              </a:rPr>
              <a:t>early</a:t>
            </a:r>
            <a:r>
              <a:rPr sz="2800" spc="459" dirty="0">
                <a:latin typeface="Calibri"/>
                <a:cs typeface="Calibri"/>
              </a:rPr>
              <a:t> </a:t>
            </a:r>
            <a:r>
              <a:rPr sz="2800" dirty="0">
                <a:latin typeface="Calibri"/>
                <a:cs typeface="Calibri"/>
              </a:rPr>
              <a:t>planning</a:t>
            </a:r>
            <a:r>
              <a:rPr sz="2800" spc="459" dirty="0">
                <a:latin typeface="Calibri"/>
                <a:cs typeface="Calibri"/>
              </a:rPr>
              <a:t> </a:t>
            </a:r>
            <a:r>
              <a:rPr sz="2800" dirty="0">
                <a:latin typeface="Calibri"/>
                <a:cs typeface="Calibri"/>
              </a:rPr>
              <a:t>stages,</a:t>
            </a:r>
            <a:r>
              <a:rPr sz="2800" spc="465" dirty="0">
                <a:latin typeface="Calibri"/>
                <a:cs typeface="Calibri"/>
              </a:rPr>
              <a:t> </a:t>
            </a:r>
            <a:r>
              <a:rPr sz="2800" dirty="0">
                <a:latin typeface="Calibri"/>
                <a:cs typeface="Calibri"/>
              </a:rPr>
              <a:t>this</a:t>
            </a:r>
            <a:r>
              <a:rPr sz="2800" spc="470" dirty="0">
                <a:latin typeface="Calibri"/>
                <a:cs typeface="Calibri"/>
              </a:rPr>
              <a:t> </a:t>
            </a:r>
            <a:r>
              <a:rPr sz="2800" dirty="0">
                <a:latin typeface="Calibri"/>
                <a:cs typeface="Calibri"/>
              </a:rPr>
              <a:t>time</a:t>
            </a:r>
            <a:r>
              <a:rPr sz="2800" spc="465" dirty="0">
                <a:latin typeface="Calibri"/>
                <a:cs typeface="Calibri"/>
              </a:rPr>
              <a:t> </a:t>
            </a:r>
            <a:r>
              <a:rPr sz="2800" dirty="0">
                <a:latin typeface="Calibri"/>
                <a:cs typeface="Calibri"/>
              </a:rPr>
              <a:t>is</a:t>
            </a:r>
            <a:r>
              <a:rPr sz="2800" spc="465" dirty="0">
                <a:latin typeface="Calibri"/>
                <a:cs typeface="Calibri"/>
              </a:rPr>
              <a:t> </a:t>
            </a:r>
            <a:r>
              <a:rPr sz="2800" dirty="0">
                <a:latin typeface="Calibri"/>
                <a:cs typeface="Calibri"/>
              </a:rPr>
              <a:t>usually</a:t>
            </a:r>
            <a:r>
              <a:rPr sz="2800" spc="459" dirty="0">
                <a:latin typeface="Calibri"/>
                <a:cs typeface="Calibri"/>
              </a:rPr>
              <a:t> </a:t>
            </a:r>
            <a:r>
              <a:rPr sz="2800" dirty="0">
                <a:latin typeface="Calibri"/>
                <a:cs typeface="Calibri"/>
              </a:rPr>
              <a:t>set</a:t>
            </a:r>
            <a:r>
              <a:rPr sz="2800" spc="459" dirty="0">
                <a:latin typeface="Calibri"/>
                <a:cs typeface="Calibri"/>
              </a:rPr>
              <a:t> </a:t>
            </a:r>
            <a:r>
              <a:rPr sz="2800" dirty="0">
                <a:latin typeface="Calibri"/>
                <a:cs typeface="Calibri"/>
              </a:rPr>
              <a:t>equal</a:t>
            </a:r>
            <a:r>
              <a:rPr sz="2800" spc="465" dirty="0">
                <a:latin typeface="Calibri"/>
                <a:cs typeface="Calibri"/>
              </a:rPr>
              <a:t> </a:t>
            </a:r>
            <a:r>
              <a:rPr sz="2800" dirty="0">
                <a:latin typeface="Calibri"/>
                <a:cs typeface="Calibri"/>
              </a:rPr>
              <a:t>to</a:t>
            </a:r>
            <a:r>
              <a:rPr sz="2800" spc="470" dirty="0">
                <a:latin typeface="Calibri"/>
                <a:cs typeface="Calibri"/>
              </a:rPr>
              <a:t> </a:t>
            </a:r>
            <a:r>
              <a:rPr sz="2800" dirty="0">
                <a:latin typeface="Calibri"/>
                <a:cs typeface="Calibri"/>
              </a:rPr>
              <a:t>the</a:t>
            </a:r>
            <a:r>
              <a:rPr sz="2800" spc="459" dirty="0">
                <a:latin typeface="Calibri"/>
                <a:cs typeface="Calibri"/>
              </a:rPr>
              <a:t> </a:t>
            </a:r>
            <a:r>
              <a:rPr sz="2800" spc="-10" dirty="0">
                <a:latin typeface="Calibri"/>
                <a:cs typeface="Calibri"/>
              </a:rPr>
              <a:t>early </a:t>
            </a:r>
            <a:r>
              <a:rPr sz="2800" dirty="0">
                <a:latin typeface="Calibri"/>
                <a:cs typeface="Calibri"/>
              </a:rPr>
              <a:t>finish</a:t>
            </a:r>
            <a:r>
              <a:rPr sz="2800" spc="145" dirty="0">
                <a:latin typeface="Calibri"/>
                <a:cs typeface="Calibri"/>
              </a:rPr>
              <a:t> </a:t>
            </a:r>
            <a:r>
              <a:rPr sz="2800" dirty="0">
                <a:latin typeface="Calibri"/>
                <a:cs typeface="Calibri"/>
              </a:rPr>
              <a:t>(EF)</a:t>
            </a:r>
            <a:r>
              <a:rPr sz="2800" spc="145" dirty="0">
                <a:latin typeface="Calibri"/>
                <a:cs typeface="Calibri"/>
              </a:rPr>
              <a:t> </a:t>
            </a:r>
            <a:r>
              <a:rPr sz="2800" dirty="0">
                <a:latin typeface="Calibri"/>
                <a:cs typeface="Calibri"/>
              </a:rPr>
              <a:t>of</a:t>
            </a:r>
            <a:r>
              <a:rPr sz="2800" spc="140" dirty="0">
                <a:latin typeface="Calibri"/>
                <a:cs typeface="Calibri"/>
              </a:rPr>
              <a:t> </a:t>
            </a:r>
            <a:r>
              <a:rPr sz="2800" dirty="0">
                <a:latin typeface="Calibri"/>
                <a:cs typeface="Calibri"/>
              </a:rPr>
              <a:t>the</a:t>
            </a:r>
            <a:r>
              <a:rPr sz="2800" spc="140" dirty="0">
                <a:latin typeface="Calibri"/>
                <a:cs typeface="Calibri"/>
              </a:rPr>
              <a:t> </a:t>
            </a:r>
            <a:r>
              <a:rPr sz="2800" dirty="0">
                <a:latin typeface="Calibri"/>
                <a:cs typeface="Calibri"/>
              </a:rPr>
              <a:t>last</a:t>
            </a:r>
            <a:r>
              <a:rPr sz="2800" spc="145" dirty="0">
                <a:latin typeface="Calibri"/>
                <a:cs typeface="Calibri"/>
              </a:rPr>
              <a:t> </a:t>
            </a:r>
            <a:r>
              <a:rPr sz="2800" dirty="0">
                <a:latin typeface="Calibri"/>
                <a:cs typeface="Calibri"/>
              </a:rPr>
              <a:t>project</a:t>
            </a:r>
            <a:r>
              <a:rPr sz="2800" spc="140" dirty="0">
                <a:latin typeface="Calibri"/>
                <a:cs typeface="Calibri"/>
              </a:rPr>
              <a:t> </a:t>
            </a:r>
            <a:r>
              <a:rPr sz="2800" dirty="0">
                <a:latin typeface="Calibri"/>
                <a:cs typeface="Calibri"/>
              </a:rPr>
              <a:t>activity</a:t>
            </a:r>
            <a:r>
              <a:rPr sz="2800" spc="140" dirty="0">
                <a:latin typeface="Calibri"/>
                <a:cs typeface="Calibri"/>
              </a:rPr>
              <a:t> </a:t>
            </a:r>
            <a:r>
              <a:rPr sz="2800" dirty="0">
                <a:latin typeface="Calibri"/>
                <a:cs typeface="Calibri"/>
              </a:rPr>
              <a:t>(or</a:t>
            </a:r>
            <a:r>
              <a:rPr sz="2800" spc="140" dirty="0">
                <a:latin typeface="Calibri"/>
                <a:cs typeface="Calibri"/>
              </a:rPr>
              <a:t> </a:t>
            </a:r>
            <a:r>
              <a:rPr sz="2800" dirty="0">
                <a:latin typeface="Calibri"/>
                <a:cs typeface="Calibri"/>
              </a:rPr>
              <a:t>in</a:t>
            </a:r>
            <a:r>
              <a:rPr sz="2800" spc="150" dirty="0">
                <a:latin typeface="Calibri"/>
                <a:cs typeface="Calibri"/>
              </a:rPr>
              <a:t> </a:t>
            </a:r>
            <a:r>
              <a:rPr sz="2800" dirty="0">
                <a:latin typeface="Calibri"/>
                <a:cs typeface="Calibri"/>
              </a:rPr>
              <a:t>the</a:t>
            </a:r>
            <a:r>
              <a:rPr sz="2800" spc="140" dirty="0">
                <a:latin typeface="Calibri"/>
                <a:cs typeface="Calibri"/>
              </a:rPr>
              <a:t> </a:t>
            </a:r>
            <a:r>
              <a:rPr sz="2800" dirty="0">
                <a:latin typeface="Calibri"/>
                <a:cs typeface="Calibri"/>
              </a:rPr>
              <a:t>case</a:t>
            </a:r>
            <a:r>
              <a:rPr sz="2800" spc="140" dirty="0">
                <a:latin typeface="Calibri"/>
                <a:cs typeface="Calibri"/>
              </a:rPr>
              <a:t> </a:t>
            </a:r>
            <a:r>
              <a:rPr sz="2800" dirty="0">
                <a:latin typeface="Calibri"/>
                <a:cs typeface="Calibri"/>
              </a:rPr>
              <a:t>of</a:t>
            </a:r>
            <a:r>
              <a:rPr sz="2800" spc="140" dirty="0">
                <a:latin typeface="Calibri"/>
                <a:cs typeface="Calibri"/>
              </a:rPr>
              <a:t> </a:t>
            </a:r>
            <a:r>
              <a:rPr sz="2800" dirty="0">
                <a:latin typeface="Calibri"/>
                <a:cs typeface="Calibri"/>
              </a:rPr>
              <a:t>multiple</a:t>
            </a:r>
            <a:r>
              <a:rPr sz="2800" spc="135" dirty="0">
                <a:latin typeface="Calibri"/>
                <a:cs typeface="Calibri"/>
              </a:rPr>
              <a:t> </a:t>
            </a:r>
            <a:r>
              <a:rPr sz="2800" spc="-10" dirty="0">
                <a:latin typeface="Calibri"/>
                <a:cs typeface="Calibri"/>
              </a:rPr>
              <a:t>finish </a:t>
            </a:r>
            <a:r>
              <a:rPr sz="2800" dirty="0">
                <a:latin typeface="Calibri"/>
                <a:cs typeface="Calibri"/>
              </a:rPr>
              <a:t>activities,</a:t>
            </a:r>
            <a:r>
              <a:rPr sz="2800" spc="80" dirty="0">
                <a:latin typeface="Calibri"/>
                <a:cs typeface="Calibri"/>
              </a:rPr>
              <a:t> </a:t>
            </a:r>
            <a:r>
              <a:rPr sz="2800" dirty="0">
                <a:latin typeface="Calibri"/>
                <a:cs typeface="Calibri"/>
              </a:rPr>
              <a:t>the</a:t>
            </a:r>
            <a:r>
              <a:rPr sz="2800" spc="80" dirty="0">
                <a:latin typeface="Calibri"/>
                <a:cs typeface="Calibri"/>
              </a:rPr>
              <a:t> </a:t>
            </a:r>
            <a:r>
              <a:rPr sz="2800" dirty="0">
                <a:latin typeface="Calibri"/>
                <a:cs typeface="Calibri"/>
              </a:rPr>
              <a:t>activity</a:t>
            </a:r>
            <a:r>
              <a:rPr sz="2800" spc="75" dirty="0">
                <a:latin typeface="Calibri"/>
                <a:cs typeface="Calibri"/>
              </a:rPr>
              <a:t> </a:t>
            </a:r>
            <a:r>
              <a:rPr sz="2800" dirty="0">
                <a:latin typeface="Calibri"/>
                <a:cs typeface="Calibri"/>
              </a:rPr>
              <a:t>with</a:t>
            </a:r>
            <a:r>
              <a:rPr sz="2800" spc="90" dirty="0">
                <a:latin typeface="Calibri"/>
                <a:cs typeface="Calibri"/>
              </a:rPr>
              <a:t> </a:t>
            </a:r>
            <a:r>
              <a:rPr sz="2800" dirty="0">
                <a:latin typeface="Calibri"/>
                <a:cs typeface="Calibri"/>
              </a:rPr>
              <a:t>the</a:t>
            </a:r>
            <a:r>
              <a:rPr sz="2800" spc="80" dirty="0">
                <a:latin typeface="Calibri"/>
                <a:cs typeface="Calibri"/>
              </a:rPr>
              <a:t> </a:t>
            </a:r>
            <a:r>
              <a:rPr sz="2800" dirty="0">
                <a:latin typeface="Calibri"/>
                <a:cs typeface="Calibri"/>
              </a:rPr>
              <a:t>largest</a:t>
            </a:r>
            <a:r>
              <a:rPr sz="2800" spc="75" dirty="0">
                <a:latin typeface="Calibri"/>
                <a:cs typeface="Calibri"/>
              </a:rPr>
              <a:t> </a:t>
            </a:r>
            <a:r>
              <a:rPr sz="2800" dirty="0">
                <a:latin typeface="Calibri"/>
                <a:cs typeface="Calibri"/>
              </a:rPr>
              <a:t>EF).</a:t>
            </a:r>
            <a:r>
              <a:rPr sz="2800" spc="90" dirty="0">
                <a:latin typeface="Calibri"/>
                <a:cs typeface="Calibri"/>
              </a:rPr>
              <a:t> </a:t>
            </a:r>
            <a:r>
              <a:rPr sz="2800" dirty="0">
                <a:latin typeface="Calibri"/>
                <a:cs typeface="Calibri"/>
              </a:rPr>
              <a:t>In</a:t>
            </a:r>
            <a:r>
              <a:rPr sz="2800" spc="85" dirty="0">
                <a:latin typeface="Calibri"/>
                <a:cs typeface="Calibri"/>
              </a:rPr>
              <a:t> </a:t>
            </a:r>
            <a:r>
              <a:rPr sz="2800" dirty="0">
                <a:latin typeface="Calibri"/>
                <a:cs typeface="Calibri"/>
              </a:rPr>
              <a:t>some</a:t>
            </a:r>
            <a:r>
              <a:rPr sz="2800" spc="80" dirty="0">
                <a:latin typeface="Calibri"/>
                <a:cs typeface="Calibri"/>
              </a:rPr>
              <a:t> </a:t>
            </a:r>
            <a:r>
              <a:rPr sz="2800" dirty="0">
                <a:latin typeface="Calibri"/>
                <a:cs typeface="Calibri"/>
              </a:rPr>
              <a:t>cases,</a:t>
            </a:r>
            <a:r>
              <a:rPr sz="2800" spc="80" dirty="0">
                <a:latin typeface="Calibri"/>
                <a:cs typeface="Calibri"/>
              </a:rPr>
              <a:t> </a:t>
            </a:r>
            <a:r>
              <a:rPr sz="2800" dirty="0">
                <a:latin typeface="Calibri"/>
                <a:cs typeface="Calibri"/>
              </a:rPr>
              <a:t>an</a:t>
            </a:r>
            <a:r>
              <a:rPr sz="2800" spc="90" dirty="0">
                <a:latin typeface="Calibri"/>
                <a:cs typeface="Calibri"/>
              </a:rPr>
              <a:t> </a:t>
            </a:r>
            <a:r>
              <a:rPr sz="2800" spc="-10" dirty="0">
                <a:latin typeface="Calibri"/>
                <a:cs typeface="Calibri"/>
              </a:rPr>
              <a:t>imposed </a:t>
            </a:r>
            <a:r>
              <a:rPr sz="2800" dirty="0">
                <a:latin typeface="Calibri"/>
                <a:cs typeface="Calibri"/>
              </a:rPr>
              <a:t>project</a:t>
            </a:r>
            <a:r>
              <a:rPr sz="2800" spc="-60" dirty="0">
                <a:latin typeface="Calibri"/>
                <a:cs typeface="Calibri"/>
              </a:rPr>
              <a:t> </a:t>
            </a:r>
            <a:r>
              <a:rPr sz="2800" dirty="0">
                <a:latin typeface="Calibri"/>
                <a:cs typeface="Calibri"/>
              </a:rPr>
              <a:t>duration</a:t>
            </a:r>
            <a:r>
              <a:rPr sz="2800" spc="-55" dirty="0">
                <a:latin typeface="Calibri"/>
                <a:cs typeface="Calibri"/>
              </a:rPr>
              <a:t> </a:t>
            </a:r>
            <a:r>
              <a:rPr sz="2800" dirty="0">
                <a:latin typeface="Calibri"/>
                <a:cs typeface="Calibri"/>
              </a:rPr>
              <a:t>deadline</a:t>
            </a:r>
            <a:r>
              <a:rPr sz="2800" spc="-65" dirty="0">
                <a:latin typeface="Calibri"/>
                <a:cs typeface="Calibri"/>
              </a:rPr>
              <a:t> </a:t>
            </a:r>
            <a:r>
              <a:rPr sz="2800" dirty="0">
                <a:latin typeface="Calibri"/>
                <a:cs typeface="Calibri"/>
              </a:rPr>
              <a:t>exists,</a:t>
            </a:r>
            <a:r>
              <a:rPr sz="2800" spc="-55" dirty="0">
                <a:latin typeface="Calibri"/>
                <a:cs typeface="Calibri"/>
              </a:rPr>
              <a:t> </a:t>
            </a:r>
            <a:r>
              <a:rPr sz="2800" dirty="0">
                <a:latin typeface="Calibri"/>
                <a:cs typeface="Calibri"/>
              </a:rPr>
              <a:t>and</a:t>
            </a:r>
            <a:r>
              <a:rPr sz="2800" spc="-50" dirty="0">
                <a:latin typeface="Calibri"/>
                <a:cs typeface="Calibri"/>
              </a:rPr>
              <a:t> </a:t>
            </a:r>
            <a:r>
              <a:rPr sz="2800" dirty="0">
                <a:latin typeface="Calibri"/>
                <a:cs typeface="Calibri"/>
              </a:rPr>
              <a:t>this</a:t>
            </a:r>
            <a:r>
              <a:rPr sz="2800" spc="-50" dirty="0">
                <a:latin typeface="Calibri"/>
                <a:cs typeface="Calibri"/>
              </a:rPr>
              <a:t> </a:t>
            </a:r>
            <a:r>
              <a:rPr sz="2800" dirty="0">
                <a:latin typeface="Calibri"/>
                <a:cs typeface="Calibri"/>
              </a:rPr>
              <a:t>date</a:t>
            </a:r>
            <a:r>
              <a:rPr sz="2800" spc="-60" dirty="0">
                <a:latin typeface="Calibri"/>
                <a:cs typeface="Calibri"/>
              </a:rPr>
              <a:t> </a:t>
            </a:r>
            <a:r>
              <a:rPr sz="2800" dirty="0">
                <a:latin typeface="Calibri"/>
                <a:cs typeface="Calibri"/>
              </a:rPr>
              <a:t>will</a:t>
            </a:r>
            <a:r>
              <a:rPr sz="2800" spc="-55" dirty="0">
                <a:latin typeface="Calibri"/>
                <a:cs typeface="Calibri"/>
              </a:rPr>
              <a:t> </a:t>
            </a:r>
            <a:r>
              <a:rPr sz="2800" dirty="0">
                <a:latin typeface="Calibri"/>
                <a:cs typeface="Calibri"/>
              </a:rPr>
              <a:t>be</a:t>
            </a:r>
            <a:r>
              <a:rPr sz="2800" spc="-60" dirty="0">
                <a:latin typeface="Calibri"/>
                <a:cs typeface="Calibri"/>
              </a:rPr>
              <a:t> </a:t>
            </a:r>
            <a:r>
              <a:rPr sz="2800" spc="-20" dirty="0">
                <a:latin typeface="Calibri"/>
                <a:cs typeface="Calibri"/>
              </a:rPr>
              <a:t>used</a:t>
            </a:r>
            <a:endParaRPr sz="2800">
              <a:latin typeface="Calibri"/>
              <a:cs typeface="Calibri"/>
            </a:endParaRPr>
          </a:p>
        </p:txBody>
      </p:sp>
      <p:pic>
        <p:nvPicPr>
          <p:cNvPr id="5" name="Picture 4">
            <a:extLst>
              <a:ext uri="{FF2B5EF4-FFF2-40B4-BE49-F238E27FC236}">
                <a16:creationId xmlns:a16="http://schemas.microsoft.com/office/drawing/2014/main" id="{E0D0815A-1D30-4ED2-215F-2D302ED43E1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16063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37553" y="1361814"/>
            <a:ext cx="12054840" cy="5327015"/>
            <a:chOff x="137553" y="1361814"/>
            <a:chExt cx="12054840" cy="5327015"/>
          </a:xfrm>
        </p:grpSpPr>
        <p:pic>
          <p:nvPicPr>
            <p:cNvPr id="3" name="object 3"/>
            <p:cNvPicPr/>
            <p:nvPr/>
          </p:nvPicPr>
          <p:blipFill>
            <a:blip r:embed="rId2" cstate="print"/>
            <a:stretch>
              <a:fillRect/>
            </a:stretch>
          </p:blipFill>
          <p:spPr>
            <a:xfrm>
              <a:off x="137553" y="1716904"/>
              <a:ext cx="7943742" cy="4971594"/>
            </a:xfrm>
            <a:prstGeom prst="rect">
              <a:avLst/>
            </a:prstGeom>
          </p:spPr>
        </p:pic>
        <p:pic>
          <p:nvPicPr>
            <p:cNvPr id="4" name="object 4"/>
            <p:cNvPicPr/>
            <p:nvPr/>
          </p:nvPicPr>
          <p:blipFill>
            <a:blip r:embed="rId3" cstate="print"/>
            <a:stretch>
              <a:fillRect/>
            </a:stretch>
          </p:blipFill>
          <p:spPr>
            <a:xfrm>
              <a:off x="7315198" y="1361814"/>
              <a:ext cx="4876801" cy="2054659"/>
            </a:xfrm>
            <a:prstGeom prst="rect">
              <a:avLst/>
            </a:prstGeom>
          </p:spPr>
        </p:pic>
        <p:pic>
          <p:nvPicPr>
            <p:cNvPr id="5" name="object 5"/>
            <p:cNvPicPr/>
            <p:nvPr/>
          </p:nvPicPr>
          <p:blipFill>
            <a:blip r:embed="rId4" cstate="print"/>
            <a:stretch>
              <a:fillRect/>
            </a:stretch>
          </p:blipFill>
          <p:spPr>
            <a:xfrm>
              <a:off x="8481636" y="6115048"/>
              <a:ext cx="3217928" cy="381000"/>
            </a:xfrm>
            <a:prstGeom prst="rect">
              <a:avLst/>
            </a:prstGeom>
          </p:spPr>
        </p:pic>
      </p:grpSp>
      <p:sp>
        <p:nvSpPr>
          <p:cNvPr id="6" name="object 6"/>
          <p:cNvSpPr txBox="1"/>
          <p:nvPr/>
        </p:nvSpPr>
        <p:spPr>
          <a:xfrm>
            <a:off x="8217351" y="3422395"/>
            <a:ext cx="3956685" cy="3074670"/>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a:cs typeface="Calibri"/>
              </a:rPr>
              <a:t>Assume</a:t>
            </a:r>
            <a:r>
              <a:rPr sz="1800" spc="-30" dirty="0">
                <a:latin typeface="Calibri"/>
                <a:cs typeface="Calibri"/>
              </a:rPr>
              <a:t> </a:t>
            </a:r>
            <a:r>
              <a:rPr sz="1800" dirty="0">
                <a:latin typeface="Calibri"/>
                <a:cs typeface="Calibri"/>
              </a:rPr>
              <a:t>for</a:t>
            </a:r>
            <a:r>
              <a:rPr sz="1800" spc="-40" dirty="0">
                <a:latin typeface="Calibri"/>
                <a:cs typeface="Calibri"/>
              </a:rPr>
              <a:t> </a:t>
            </a:r>
            <a:r>
              <a:rPr sz="1800" dirty="0">
                <a:latin typeface="Calibri"/>
                <a:cs typeface="Calibri"/>
              </a:rPr>
              <a:t>planning</a:t>
            </a:r>
            <a:r>
              <a:rPr sz="1800" spc="-35" dirty="0">
                <a:latin typeface="Calibri"/>
                <a:cs typeface="Calibri"/>
              </a:rPr>
              <a:t> </a:t>
            </a:r>
            <a:r>
              <a:rPr sz="1800" dirty="0">
                <a:latin typeface="Calibri"/>
                <a:cs typeface="Calibri"/>
              </a:rPr>
              <a:t>purposes</a:t>
            </a:r>
            <a:r>
              <a:rPr sz="1800" spc="-35" dirty="0">
                <a:latin typeface="Calibri"/>
                <a:cs typeface="Calibri"/>
              </a:rPr>
              <a:t> </a:t>
            </a:r>
            <a:r>
              <a:rPr sz="1800" dirty="0">
                <a:latin typeface="Calibri"/>
                <a:cs typeface="Calibri"/>
              </a:rPr>
              <a:t>that</a:t>
            </a:r>
            <a:r>
              <a:rPr sz="1800" spc="-40" dirty="0">
                <a:latin typeface="Calibri"/>
                <a:cs typeface="Calibri"/>
              </a:rPr>
              <a:t> </a:t>
            </a:r>
            <a:r>
              <a:rPr sz="1800" dirty="0">
                <a:latin typeface="Calibri"/>
                <a:cs typeface="Calibri"/>
              </a:rPr>
              <a:t>EF</a:t>
            </a:r>
            <a:r>
              <a:rPr sz="1800" spc="-35" dirty="0">
                <a:latin typeface="Calibri"/>
                <a:cs typeface="Calibri"/>
              </a:rPr>
              <a:t> </a:t>
            </a:r>
            <a:r>
              <a:rPr sz="1800" dirty="0">
                <a:latin typeface="Calibri"/>
                <a:cs typeface="Calibri"/>
              </a:rPr>
              <a:t>=</a:t>
            </a:r>
            <a:r>
              <a:rPr sz="1800" spc="-30" dirty="0">
                <a:latin typeface="Calibri"/>
                <a:cs typeface="Calibri"/>
              </a:rPr>
              <a:t> </a:t>
            </a:r>
            <a:r>
              <a:rPr sz="1800" spc="-25" dirty="0">
                <a:latin typeface="Calibri"/>
                <a:cs typeface="Calibri"/>
              </a:rPr>
              <a:t>LF</a:t>
            </a:r>
            <a:endParaRPr sz="1800">
              <a:latin typeface="Calibri"/>
              <a:cs typeface="Calibri"/>
            </a:endParaRPr>
          </a:p>
          <a:p>
            <a:pPr marL="302260" marR="66040" indent="-224154" algn="just">
              <a:lnSpc>
                <a:spcPts val="2090"/>
              </a:lnSpc>
              <a:spcBef>
                <a:spcPts val="1495"/>
              </a:spcBef>
              <a:buAutoNum type="arabicPeriod"/>
              <a:tabLst>
                <a:tab pos="302260" algn="l"/>
              </a:tabLst>
            </a:pPr>
            <a:r>
              <a:rPr sz="1800" dirty="0">
                <a:latin typeface="Calibri"/>
                <a:cs typeface="Calibri"/>
              </a:rPr>
              <a:t>Starting</a:t>
            </a:r>
            <a:r>
              <a:rPr sz="1800" spc="190" dirty="0">
                <a:latin typeface="Calibri"/>
                <a:cs typeface="Calibri"/>
              </a:rPr>
              <a:t> </a:t>
            </a:r>
            <a:r>
              <a:rPr sz="1800" dirty="0">
                <a:latin typeface="Calibri"/>
                <a:cs typeface="Calibri"/>
              </a:rPr>
              <a:t>with</a:t>
            </a:r>
            <a:r>
              <a:rPr sz="1800" spc="200" dirty="0">
                <a:latin typeface="Calibri"/>
                <a:cs typeface="Calibri"/>
              </a:rPr>
              <a:t> </a:t>
            </a:r>
            <a:r>
              <a:rPr sz="1800" dirty="0">
                <a:latin typeface="Calibri"/>
                <a:cs typeface="Calibri"/>
              </a:rPr>
              <a:t>the</a:t>
            </a:r>
            <a:r>
              <a:rPr sz="1800" spc="200" dirty="0">
                <a:latin typeface="Calibri"/>
                <a:cs typeface="Calibri"/>
              </a:rPr>
              <a:t> </a:t>
            </a:r>
            <a:r>
              <a:rPr sz="1800" dirty="0">
                <a:latin typeface="Calibri"/>
                <a:cs typeface="Calibri"/>
              </a:rPr>
              <a:t>project</a:t>
            </a:r>
            <a:r>
              <a:rPr sz="1800" spc="185" dirty="0">
                <a:latin typeface="Calibri"/>
                <a:cs typeface="Calibri"/>
              </a:rPr>
              <a:t> </a:t>
            </a:r>
            <a:r>
              <a:rPr sz="1800" dirty="0">
                <a:latin typeface="Calibri"/>
                <a:cs typeface="Calibri"/>
              </a:rPr>
              <a:t>end</a:t>
            </a:r>
            <a:r>
              <a:rPr sz="1800" spc="200" dirty="0">
                <a:latin typeface="Calibri"/>
                <a:cs typeface="Calibri"/>
              </a:rPr>
              <a:t> </a:t>
            </a:r>
            <a:r>
              <a:rPr sz="1800" spc="-10" dirty="0">
                <a:latin typeface="Calibri"/>
                <a:cs typeface="Calibri"/>
              </a:rPr>
              <a:t>activity, </a:t>
            </a:r>
            <a:r>
              <a:rPr sz="1800" dirty="0">
                <a:latin typeface="Calibri"/>
                <a:cs typeface="Calibri"/>
              </a:rPr>
              <a:t>LF</a:t>
            </a:r>
            <a:r>
              <a:rPr sz="1800" spc="-10" dirty="0">
                <a:latin typeface="Calibri"/>
                <a:cs typeface="Calibri"/>
              </a:rPr>
              <a:t> </a:t>
            </a:r>
            <a:r>
              <a:rPr sz="1800" dirty="0">
                <a:latin typeface="Calibri"/>
                <a:cs typeface="Calibri"/>
              </a:rPr>
              <a:t>− DUR</a:t>
            </a:r>
            <a:r>
              <a:rPr sz="1800" spc="-10" dirty="0">
                <a:latin typeface="Calibri"/>
                <a:cs typeface="Calibri"/>
              </a:rPr>
              <a:t> </a:t>
            </a:r>
            <a:r>
              <a:rPr sz="1800" dirty="0">
                <a:latin typeface="Calibri"/>
                <a:cs typeface="Calibri"/>
              </a:rPr>
              <a:t>= </a:t>
            </a:r>
            <a:r>
              <a:rPr sz="1800" spc="-25" dirty="0">
                <a:latin typeface="Calibri"/>
                <a:cs typeface="Calibri"/>
              </a:rPr>
              <a:t>LS.</a:t>
            </a:r>
            <a:endParaRPr sz="1800">
              <a:latin typeface="Calibri"/>
              <a:cs typeface="Calibri"/>
            </a:endParaRPr>
          </a:p>
          <a:p>
            <a:pPr marL="302260" marR="66040" indent="-224154" algn="just">
              <a:lnSpc>
                <a:spcPct val="99400"/>
              </a:lnSpc>
              <a:buAutoNum type="arabicPeriod"/>
              <a:tabLst>
                <a:tab pos="302260" algn="l"/>
              </a:tabLst>
            </a:pPr>
            <a:r>
              <a:rPr sz="1800" dirty="0">
                <a:latin typeface="Calibri"/>
                <a:cs typeface="Calibri"/>
              </a:rPr>
              <a:t>Carry</a:t>
            </a:r>
            <a:r>
              <a:rPr sz="1800" spc="175" dirty="0">
                <a:latin typeface="Calibri"/>
                <a:cs typeface="Calibri"/>
              </a:rPr>
              <a:t> </a:t>
            </a:r>
            <a:r>
              <a:rPr sz="1800" dirty="0">
                <a:latin typeface="Calibri"/>
                <a:cs typeface="Calibri"/>
              </a:rPr>
              <a:t>the</a:t>
            </a:r>
            <a:r>
              <a:rPr sz="1800" spc="185" dirty="0">
                <a:latin typeface="Calibri"/>
                <a:cs typeface="Calibri"/>
              </a:rPr>
              <a:t> </a:t>
            </a:r>
            <a:r>
              <a:rPr sz="1800" dirty="0">
                <a:latin typeface="Calibri"/>
                <a:cs typeface="Calibri"/>
              </a:rPr>
              <a:t>LS</a:t>
            </a:r>
            <a:r>
              <a:rPr sz="1800" spc="175" dirty="0">
                <a:latin typeface="Calibri"/>
                <a:cs typeface="Calibri"/>
              </a:rPr>
              <a:t> </a:t>
            </a:r>
            <a:r>
              <a:rPr sz="1800" dirty="0">
                <a:latin typeface="Calibri"/>
                <a:cs typeface="Calibri"/>
              </a:rPr>
              <a:t>to</a:t>
            </a:r>
            <a:r>
              <a:rPr sz="1800" spc="185" dirty="0">
                <a:latin typeface="Calibri"/>
                <a:cs typeface="Calibri"/>
              </a:rPr>
              <a:t> </a:t>
            </a:r>
            <a:r>
              <a:rPr sz="1800" dirty="0">
                <a:latin typeface="Calibri"/>
                <a:cs typeface="Calibri"/>
              </a:rPr>
              <a:t>the</a:t>
            </a:r>
            <a:r>
              <a:rPr sz="1800" spc="180" dirty="0">
                <a:latin typeface="Calibri"/>
                <a:cs typeface="Calibri"/>
              </a:rPr>
              <a:t> </a:t>
            </a:r>
            <a:r>
              <a:rPr sz="1800" dirty="0">
                <a:latin typeface="Calibri"/>
                <a:cs typeface="Calibri"/>
              </a:rPr>
              <a:t>preceding</a:t>
            </a:r>
            <a:r>
              <a:rPr sz="1800" spc="185" dirty="0">
                <a:latin typeface="Calibri"/>
                <a:cs typeface="Calibri"/>
              </a:rPr>
              <a:t> </a:t>
            </a:r>
            <a:r>
              <a:rPr sz="1800" spc="-10" dirty="0">
                <a:latin typeface="Calibri"/>
                <a:cs typeface="Calibri"/>
              </a:rPr>
              <a:t>activity </a:t>
            </a:r>
            <a:r>
              <a:rPr sz="1800" dirty="0">
                <a:latin typeface="Calibri"/>
                <a:cs typeface="Calibri"/>
              </a:rPr>
              <a:t>to</a:t>
            </a:r>
            <a:r>
              <a:rPr sz="1800" spc="170" dirty="0">
                <a:latin typeface="Calibri"/>
                <a:cs typeface="Calibri"/>
              </a:rPr>
              <a:t>  </a:t>
            </a:r>
            <a:r>
              <a:rPr sz="1800" dirty="0">
                <a:latin typeface="Calibri"/>
                <a:cs typeface="Calibri"/>
              </a:rPr>
              <a:t>establish</a:t>
            </a:r>
            <a:r>
              <a:rPr sz="1800" spc="175" dirty="0">
                <a:latin typeface="Calibri"/>
                <a:cs typeface="Calibri"/>
              </a:rPr>
              <a:t>  </a:t>
            </a:r>
            <a:r>
              <a:rPr sz="1800" dirty="0">
                <a:latin typeface="Calibri"/>
                <a:cs typeface="Calibri"/>
              </a:rPr>
              <a:t>its</a:t>
            </a:r>
            <a:r>
              <a:rPr sz="1800" spc="170" dirty="0">
                <a:latin typeface="Calibri"/>
                <a:cs typeface="Calibri"/>
              </a:rPr>
              <a:t>  </a:t>
            </a:r>
            <a:r>
              <a:rPr sz="1800" dirty="0">
                <a:latin typeface="Calibri"/>
                <a:cs typeface="Calibri"/>
              </a:rPr>
              <a:t>LF,</a:t>
            </a:r>
            <a:r>
              <a:rPr sz="1800" spc="175" dirty="0">
                <a:latin typeface="Calibri"/>
                <a:cs typeface="Calibri"/>
              </a:rPr>
              <a:t>  </a:t>
            </a:r>
            <a:r>
              <a:rPr sz="1800" i="1" dirty="0">
                <a:latin typeface="Calibri"/>
                <a:cs typeface="Calibri"/>
              </a:rPr>
              <a:t>or</a:t>
            </a:r>
            <a:r>
              <a:rPr sz="1800" i="1" spc="170" dirty="0">
                <a:latin typeface="Calibri"/>
                <a:cs typeface="Calibri"/>
              </a:rPr>
              <a:t>  </a:t>
            </a:r>
            <a:r>
              <a:rPr sz="1800" dirty="0">
                <a:latin typeface="Calibri"/>
                <a:cs typeface="Calibri"/>
              </a:rPr>
              <a:t>If</a:t>
            </a:r>
            <a:r>
              <a:rPr sz="1800" spc="170" dirty="0">
                <a:latin typeface="Calibri"/>
                <a:cs typeface="Calibri"/>
              </a:rPr>
              <a:t>  </a:t>
            </a:r>
            <a:r>
              <a:rPr sz="1800" dirty="0">
                <a:latin typeface="Calibri"/>
                <a:cs typeface="Calibri"/>
              </a:rPr>
              <a:t>the</a:t>
            </a:r>
            <a:r>
              <a:rPr sz="1800" spc="175" dirty="0">
                <a:latin typeface="Calibri"/>
                <a:cs typeface="Calibri"/>
              </a:rPr>
              <a:t>  </a:t>
            </a:r>
            <a:r>
              <a:rPr sz="1800" spc="-20" dirty="0">
                <a:latin typeface="Calibri"/>
                <a:cs typeface="Calibri"/>
              </a:rPr>
              <a:t>next </a:t>
            </a:r>
            <a:r>
              <a:rPr sz="1800" dirty="0">
                <a:latin typeface="Calibri"/>
                <a:cs typeface="Calibri"/>
              </a:rPr>
              <a:t>preceding</a:t>
            </a:r>
            <a:r>
              <a:rPr sz="1800" spc="390" dirty="0">
                <a:latin typeface="Calibri"/>
                <a:cs typeface="Calibri"/>
              </a:rPr>
              <a:t> </a:t>
            </a:r>
            <a:r>
              <a:rPr sz="1800" dirty="0">
                <a:latin typeface="Calibri"/>
                <a:cs typeface="Calibri"/>
              </a:rPr>
              <a:t>activity</a:t>
            </a:r>
            <a:r>
              <a:rPr sz="1800" spc="390" dirty="0">
                <a:latin typeface="Calibri"/>
                <a:cs typeface="Calibri"/>
              </a:rPr>
              <a:t> </a:t>
            </a:r>
            <a:r>
              <a:rPr sz="1800" dirty="0">
                <a:latin typeface="Calibri"/>
                <a:cs typeface="Calibri"/>
              </a:rPr>
              <a:t>is</a:t>
            </a:r>
            <a:r>
              <a:rPr sz="1800" spc="390" dirty="0">
                <a:latin typeface="Calibri"/>
                <a:cs typeface="Calibri"/>
              </a:rPr>
              <a:t> </a:t>
            </a:r>
            <a:r>
              <a:rPr sz="1800" dirty="0">
                <a:latin typeface="Calibri"/>
                <a:cs typeface="Calibri"/>
              </a:rPr>
              <a:t>a</a:t>
            </a:r>
            <a:r>
              <a:rPr sz="1800" spc="390" dirty="0">
                <a:latin typeface="Calibri"/>
                <a:cs typeface="Calibri"/>
              </a:rPr>
              <a:t> </a:t>
            </a:r>
            <a:r>
              <a:rPr sz="1800" i="1" dirty="0">
                <a:latin typeface="Calibri"/>
                <a:cs typeface="Calibri"/>
              </a:rPr>
              <a:t>burst</a:t>
            </a:r>
            <a:r>
              <a:rPr sz="1800" i="1" spc="390" dirty="0">
                <a:latin typeface="Calibri"/>
                <a:cs typeface="Calibri"/>
              </a:rPr>
              <a:t> </a:t>
            </a:r>
            <a:r>
              <a:rPr sz="1800" spc="-10" dirty="0">
                <a:latin typeface="Calibri"/>
                <a:cs typeface="Calibri"/>
              </a:rPr>
              <a:t>activity;</a:t>
            </a:r>
            <a:endParaRPr sz="1800">
              <a:latin typeface="Calibri"/>
              <a:cs typeface="Calibri"/>
            </a:endParaRPr>
          </a:p>
          <a:p>
            <a:pPr marL="302260" marR="66040" algn="just">
              <a:lnSpc>
                <a:spcPct val="99400"/>
              </a:lnSpc>
              <a:spcBef>
                <a:spcPts val="60"/>
              </a:spcBef>
            </a:pPr>
            <a:r>
              <a:rPr sz="1800" dirty="0">
                <a:latin typeface="Calibri"/>
                <a:cs typeface="Calibri"/>
              </a:rPr>
              <a:t>you</a:t>
            </a:r>
            <a:r>
              <a:rPr sz="1800" spc="459" dirty="0">
                <a:latin typeface="Calibri"/>
                <a:cs typeface="Calibri"/>
              </a:rPr>
              <a:t> </a:t>
            </a:r>
            <a:r>
              <a:rPr sz="1800" dirty="0">
                <a:latin typeface="Calibri"/>
                <a:cs typeface="Calibri"/>
              </a:rPr>
              <a:t>select</a:t>
            </a:r>
            <a:r>
              <a:rPr sz="1800" spc="455" dirty="0">
                <a:latin typeface="Calibri"/>
                <a:cs typeface="Calibri"/>
              </a:rPr>
              <a:t> </a:t>
            </a:r>
            <a:r>
              <a:rPr sz="1800" dirty="0">
                <a:latin typeface="Calibri"/>
                <a:cs typeface="Calibri"/>
              </a:rPr>
              <a:t>the</a:t>
            </a:r>
            <a:r>
              <a:rPr sz="1800" spc="459" dirty="0">
                <a:latin typeface="Calibri"/>
                <a:cs typeface="Calibri"/>
              </a:rPr>
              <a:t> </a:t>
            </a:r>
            <a:r>
              <a:rPr sz="1800" i="1" dirty="0">
                <a:latin typeface="Calibri"/>
                <a:cs typeface="Calibri"/>
              </a:rPr>
              <a:t>smallest</a:t>
            </a:r>
            <a:r>
              <a:rPr sz="1800" i="1" spc="450" dirty="0">
                <a:latin typeface="Calibri"/>
                <a:cs typeface="Calibri"/>
              </a:rPr>
              <a:t> </a:t>
            </a:r>
            <a:r>
              <a:rPr sz="1800" dirty="0">
                <a:latin typeface="Calibri"/>
                <a:cs typeface="Calibri"/>
              </a:rPr>
              <a:t>LS</a:t>
            </a:r>
            <a:r>
              <a:rPr sz="1800" spc="455" dirty="0">
                <a:latin typeface="Calibri"/>
                <a:cs typeface="Calibri"/>
              </a:rPr>
              <a:t> </a:t>
            </a:r>
            <a:r>
              <a:rPr sz="1800" dirty="0">
                <a:latin typeface="Calibri"/>
                <a:cs typeface="Calibri"/>
              </a:rPr>
              <a:t>of</a:t>
            </a:r>
            <a:r>
              <a:rPr sz="1800" spc="459" dirty="0">
                <a:latin typeface="Calibri"/>
                <a:cs typeface="Calibri"/>
              </a:rPr>
              <a:t> </a:t>
            </a:r>
            <a:r>
              <a:rPr sz="1800" dirty="0">
                <a:latin typeface="Calibri"/>
                <a:cs typeface="Calibri"/>
              </a:rPr>
              <a:t>all</a:t>
            </a:r>
            <a:r>
              <a:rPr sz="1800" spc="459" dirty="0">
                <a:latin typeface="Calibri"/>
                <a:cs typeface="Calibri"/>
              </a:rPr>
              <a:t> </a:t>
            </a:r>
            <a:r>
              <a:rPr sz="1800" spc="-25" dirty="0">
                <a:latin typeface="Calibri"/>
                <a:cs typeface="Calibri"/>
              </a:rPr>
              <a:t>its </a:t>
            </a:r>
            <a:r>
              <a:rPr sz="1800" dirty="0">
                <a:latin typeface="Calibri"/>
                <a:cs typeface="Calibri"/>
              </a:rPr>
              <a:t>immediate</a:t>
            </a:r>
            <a:r>
              <a:rPr sz="1800" spc="445" dirty="0">
                <a:latin typeface="Calibri"/>
                <a:cs typeface="Calibri"/>
              </a:rPr>
              <a:t>  </a:t>
            </a:r>
            <a:r>
              <a:rPr sz="1800" dirty="0">
                <a:latin typeface="Calibri"/>
                <a:cs typeface="Calibri"/>
              </a:rPr>
              <a:t>successor</a:t>
            </a:r>
            <a:r>
              <a:rPr sz="1800" spc="445" dirty="0">
                <a:latin typeface="Calibri"/>
                <a:cs typeface="Calibri"/>
              </a:rPr>
              <a:t>  </a:t>
            </a:r>
            <a:r>
              <a:rPr sz="1800" dirty="0">
                <a:latin typeface="Calibri"/>
                <a:cs typeface="Calibri"/>
              </a:rPr>
              <a:t>activities</a:t>
            </a:r>
            <a:r>
              <a:rPr sz="1800" spc="440" dirty="0">
                <a:latin typeface="Calibri"/>
                <a:cs typeface="Calibri"/>
              </a:rPr>
              <a:t>  </a:t>
            </a:r>
            <a:r>
              <a:rPr sz="1800" spc="-25" dirty="0">
                <a:latin typeface="Calibri"/>
                <a:cs typeface="Calibri"/>
              </a:rPr>
              <a:t>to </a:t>
            </a:r>
            <a:r>
              <a:rPr sz="1800" spc="-10" dirty="0">
                <a:latin typeface="Calibri"/>
                <a:cs typeface="Calibri"/>
              </a:rPr>
              <a:t>establish</a:t>
            </a:r>
            <a:r>
              <a:rPr sz="1800" spc="-5" dirty="0">
                <a:latin typeface="Calibri"/>
                <a:cs typeface="Calibri"/>
              </a:rPr>
              <a:t> </a:t>
            </a:r>
            <a:r>
              <a:rPr sz="1800" dirty="0">
                <a:latin typeface="Calibri"/>
                <a:cs typeface="Calibri"/>
              </a:rPr>
              <a:t>its</a:t>
            </a:r>
            <a:r>
              <a:rPr sz="1800" spc="-15" dirty="0">
                <a:latin typeface="Calibri"/>
                <a:cs typeface="Calibri"/>
              </a:rPr>
              <a:t> </a:t>
            </a:r>
            <a:r>
              <a:rPr sz="1800" spc="-25" dirty="0">
                <a:latin typeface="Calibri"/>
                <a:cs typeface="Calibri"/>
              </a:rPr>
              <a:t>LF.</a:t>
            </a:r>
            <a:endParaRPr sz="1800">
              <a:latin typeface="Calibri"/>
              <a:cs typeface="Calibri"/>
            </a:endParaRPr>
          </a:p>
          <a:p>
            <a:pPr marL="355600" algn="just">
              <a:lnSpc>
                <a:spcPct val="100000"/>
              </a:lnSpc>
              <a:spcBef>
                <a:spcPts val="825"/>
              </a:spcBef>
              <a:tabLst>
                <a:tab pos="2184400" algn="l"/>
              </a:tabLst>
            </a:pPr>
            <a:r>
              <a:rPr sz="1000" dirty="0">
                <a:latin typeface="Calibri"/>
                <a:cs typeface="Calibri"/>
              </a:rPr>
              <a:t>Activity</a:t>
            </a:r>
            <a:r>
              <a:rPr sz="1000" spc="-20" dirty="0">
                <a:latin typeface="Calibri"/>
                <a:cs typeface="Calibri"/>
              </a:rPr>
              <a:t> </a:t>
            </a:r>
            <a:r>
              <a:rPr sz="1000" dirty="0">
                <a:latin typeface="Calibri"/>
                <a:cs typeface="Calibri"/>
              </a:rPr>
              <a:t>E:</a:t>
            </a:r>
            <a:r>
              <a:rPr sz="1000" spc="-20" dirty="0">
                <a:latin typeface="Calibri"/>
                <a:cs typeface="Calibri"/>
              </a:rPr>
              <a:t> </a:t>
            </a:r>
            <a:r>
              <a:rPr sz="1000" dirty="0">
                <a:latin typeface="Calibri"/>
                <a:cs typeface="Calibri"/>
              </a:rPr>
              <a:t>LS</a:t>
            </a:r>
            <a:r>
              <a:rPr sz="1000" spc="-15" dirty="0">
                <a:latin typeface="Calibri"/>
                <a:cs typeface="Calibri"/>
              </a:rPr>
              <a:t> </a:t>
            </a:r>
            <a:r>
              <a:rPr sz="1000" dirty="0">
                <a:latin typeface="Calibri"/>
                <a:cs typeface="Calibri"/>
              </a:rPr>
              <a:t>=</a:t>
            </a:r>
            <a:r>
              <a:rPr sz="1000" spc="-10" dirty="0">
                <a:latin typeface="Calibri"/>
                <a:cs typeface="Calibri"/>
              </a:rPr>
              <a:t> </a:t>
            </a:r>
            <a:r>
              <a:rPr sz="1000" dirty="0">
                <a:latin typeface="Calibri"/>
                <a:cs typeface="Calibri"/>
              </a:rPr>
              <a:t>85</a:t>
            </a:r>
            <a:r>
              <a:rPr sz="1000" spc="-10" dirty="0">
                <a:latin typeface="Calibri"/>
                <a:cs typeface="Calibri"/>
              </a:rPr>
              <a:t> </a:t>
            </a:r>
            <a:r>
              <a:rPr sz="1000" dirty="0">
                <a:latin typeface="Calibri"/>
                <a:cs typeface="Calibri"/>
              </a:rPr>
              <a:t>−</a:t>
            </a:r>
            <a:r>
              <a:rPr sz="1000" spc="-10" dirty="0">
                <a:latin typeface="Calibri"/>
                <a:cs typeface="Calibri"/>
              </a:rPr>
              <a:t> </a:t>
            </a:r>
            <a:r>
              <a:rPr sz="1000" dirty="0">
                <a:latin typeface="Calibri"/>
                <a:cs typeface="Calibri"/>
              </a:rPr>
              <a:t>50</a:t>
            </a:r>
            <a:r>
              <a:rPr sz="1000" spc="-10" dirty="0">
                <a:latin typeface="Calibri"/>
                <a:cs typeface="Calibri"/>
              </a:rPr>
              <a:t> </a:t>
            </a:r>
            <a:r>
              <a:rPr sz="1000" dirty="0">
                <a:latin typeface="Calibri"/>
                <a:cs typeface="Calibri"/>
              </a:rPr>
              <a:t>=</a:t>
            </a:r>
            <a:r>
              <a:rPr sz="1000" spc="-10" dirty="0">
                <a:latin typeface="Calibri"/>
                <a:cs typeface="Calibri"/>
              </a:rPr>
              <a:t> </a:t>
            </a:r>
            <a:r>
              <a:rPr sz="1000" spc="-25" dirty="0">
                <a:latin typeface="Calibri"/>
                <a:cs typeface="Calibri"/>
              </a:rPr>
              <a:t>35</a:t>
            </a:r>
            <a:r>
              <a:rPr sz="1000" dirty="0">
                <a:latin typeface="Calibri"/>
                <a:cs typeface="Calibri"/>
              </a:rPr>
              <a:t>	Activity</a:t>
            </a:r>
            <a:r>
              <a:rPr sz="1000" spc="-20" dirty="0">
                <a:latin typeface="Calibri"/>
                <a:cs typeface="Calibri"/>
              </a:rPr>
              <a:t> </a:t>
            </a:r>
            <a:r>
              <a:rPr sz="1000" dirty="0">
                <a:latin typeface="Calibri"/>
                <a:cs typeface="Calibri"/>
              </a:rPr>
              <a:t>G:</a:t>
            </a:r>
            <a:r>
              <a:rPr sz="1000" spc="-20" dirty="0">
                <a:latin typeface="Calibri"/>
                <a:cs typeface="Calibri"/>
              </a:rPr>
              <a:t> </a:t>
            </a:r>
            <a:r>
              <a:rPr sz="1000" dirty="0">
                <a:latin typeface="Calibri"/>
                <a:cs typeface="Calibri"/>
              </a:rPr>
              <a:t>85</a:t>
            </a:r>
            <a:r>
              <a:rPr sz="1000" spc="-15" dirty="0">
                <a:latin typeface="Calibri"/>
                <a:cs typeface="Calibri"/>
              </a:rPr>
              <a:t> </a:t>
            </a:r>
            <a:r>
              <a:rPr sz="1000" dirty="0">
                <a:latin typeface="Calibri"/>
                <a:cs typeface="Calibri"/>
              </a:rPr>
              <a:t>−</a:t>
            </a:r>
            <a:r>
              <a:rPr sz="1000" spc="-10" dirty="0">
                <a:latin typeface="Calibri"/>
                <a:cs typeface="Calibri"/>
              </a:rPr>
              <a:t> </a:t>
            </a:r>
            <a:r>
              <a:rPr sz="1000" dirty="0">
                <a:latin typeface="Calibri"/>
                <a:cs typeface="Calibri"/>
              </a:rPr>
              <a:t>35</a:t>
            </a:r>
            <a:r>
              <a:rPr sz="1000" spc="-10" dirty="0">
                <a:latin typeface="Calibri"/>
                <a:cs typeface="Calibri"/>
              </a:rPr>
              <a:t> </a:t>
            </a:r>
            <a:r>
              <a:rPr sz="1000" dirty="0">
                <a:latin typeface="Calibri"/>
                <a:cs typeface="Calibri"/>
              </a:rPr>
              <a:t>=</a:t>
            </a:r>
            <a:r>
              <a:rPr sz="1000" spc="-15" dirty="0">
                <a:latin typeface="Calibri"/>
                <a:cs typeface="Calibri"/>
              </a:rPr>
              <a:t> </a:t>
            </a:r>
            <a:r>
              <a:rPr sz="1000" spc="-25" dirty="0">
                <a:latin typeface="Calibri"/>
                <a:cs typeface="Calibri"/>
              </a:rPr>
              <a:t>50</a:t>
            </a:r>
            <a:endParaRPr sz="1000">
              <a:latin typeface="Calibri"/>
              <a:cs typeface="Calibri"/>
            </a:endParaRPr>
          </a:p>
          <a:p>
            <a:pPr marL="355600" algn="just">
              <a:lnSpc>
                <a:spcPct val="100000"/>
              </a:lnSpc>
            </a:pPr>
            <a:r>
              <a:rPr sz="1000" dirty="0">
                <a:latin typeface="Calibri"/>
                <a:cs typeface="Calibri"/>
              </a:rPr>
              <a:t>Activity</a:t>
            </a:r>
            <a:r>
              <a:rPr sz="1000" spc="-20" dirty="0">
                <a:latin typeface="Calibri"/>
                <a:cs typeface="Calibri"/>
              </a:rPr>
              <a:t> </a:t>
            </a:r>
            <a:r>
              <a:rPr sz="1000" dirty="0">
                <a:latin typeface="Calibri"/>
                <a:cs typeface="Calibri"/>
              </a:rPr>
              <a:t>F:</a:t>
            </a:r>
            <a:r>
              <a:rPr sz="1000" spc="-20" dirty="0">
                <a:latin typeface="Calibri"/>
                <a:cs typeface="Calibri"/>
              </a:rPr>
              <a:t> </a:t>
            </a:r>
            <a:r>
              <a:rPr sz="1000" dirty="0">
                <a:latin typeface="Calibri"/>
                <a:cs typeface="Calibri"/>
              </a:rPr>
              <a:t>LS</a:t>
            </a:r>
            <a:r>
              <a:rPr sz="1000" spc="-15" dirty="0">
                <a:latin typeface="Calibri"/>
                <a:cs typeface="Calibri"/>
              </a:rPr>
              <a:t> </a:t>
            </a:r>
            <a:r>
              <a:rPr sz="1000" dirty="0">
                <a:latin typeface="Calibri"/>
                <a:cs typeface="Calibri"/>
              </a:rPr>
              <a:t>=</a:t>
            </a:r>
            <a:r>
              <a:rPr sz="1000" spc="-10" dirty="0">
                <a:latin typeface="Calibri"/>
                <a:cs typeface="Calibri"/>
              </a:rPr>
              <a:t> </a:t>
            </a:r>
            <a:r>
              <a:rPr sz="1000" dirty="0">
                <a:latin typeface="Calibri"/>
                <a:cs typeface="Calibri"/>
              </a:rPr>
              <a:t>85</a:t>
            </a:r>
            <a:r>
              <a:rPr sz="1000" spc="-10" dirty="0">
                <a:latin typeface="Calibri"/>
                <a:cs typeface="Calibri"/>
              </a:rPr>
              <a:t> </a:t>
            </a:r>
            <a:r>
              <a:rPr sz="1000" dirty="0">
                <a:latin typeface="Calibri"/>
                <a:cs typeface="Calibri"/>
              </a:rPr>
              <a:t>−</a:t>
            </a:r>
            <a:r>
              <a:rPr sz="1000" spc="-10" dirty="0">
                <a:latin typeface="Calibri"/>
                <a:cs typeface="Calibri"/>
              </a:rPr>
              <a:t> </a:t>
            </a:r>
            <a:r>
              <a:rPr sz="1000" dirty="0">
                <a:latin typeface="Calibri"/>
                <a:cs typeface="Calibri"/>
              </a:rPr>
              <a:t>15</a:t>
            </a:r>
            <a:r>
              <a:rPr sz="1000" spc="-10" dirty="0">
                <a:latin typeface="Calibri"/>
                <a:cs typeface="Calibri"/>
              </a:rPr>
              <a:t> </a:t>
            </a:r>
            <a:r>
              <a:rPr sz="1000" dirty="0">
                <a:latin typeface="Calibri"/>
                <a:cs typeface="Calibri"/>
              </a:rPr>
              <a:t>=</a:t>
            </a:r>
            <a:r>
              <a:rPr sz="1000" spc="-10" dirty="0">
                <a:latin typeface="Calibri"/>
                <a:cs typeface="Calibri"/>
              </a:rPr>
              <a:t> </a:t>
            </a:r>
            <a:r>
              <a:rPr sz="1000" spc="-25" dirty="0">
                <a:latin typeface="Calibri"/>
                <a:cs typeface="Calibri"/>
              </a:rPr>
              <a:t>70</a:t>
            </a:r>
            <a:endParaRPr sz="1000">
              <a:latin typeface="Calibri"/>
              <a:cs typeface="Calibri"/>
            </a:endParaRPr>
          </a:p>
        </p:txBody>
      </p:sp>
      <p:sp>
        <p:nvSpPr>
          <p:cNvPr id="8" name="object 8"/>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29</a:t>
            </a:fld>
            <a:endParaRPr spc="-25" dirty="0"/>
          </a:p>
        </p:txBody>
      </p:sp>
      <p:sp>
        <p:nvSpPr>
          <p:cNvPr id="7" name="object 7"/>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spc="100" dirty="0"/>
              <a:t>Backward</a:t>
            </a:r>
            <a:r>
              <a:rPr spc="130" dirty="0"/>
              <a:t> </a:t>
            </a:r>
            <a:r>
              <a:rPr spc="110" dirty="0"/>
              <a:t>Pass—</a:t>
            </a:r>
            <a:r>
              <a:rPr spc="80" dirty="0"/>
              <a:t>Latest</a:t>
            </a:r>
            <a:r>
              <a:rPr spc="130" dirty="0"/>
              <a:t> </a:t>
            </a:r>
            <a:r>
              <a:rPr spc="105" dirty="0"/>
              <a:t>Times</a:t>
            </a:r>
            <a:r>
              <a:rPr spc="130" dirty="0"/>
              <a:t> </a:t>
            </a:r>
            <a:r>
              <a:rPr sz="1950" spc="-10" dirty="0"/>
              <a:t>(2/2)</a:t>
            </a:r>
            <a:endParaRPr sz="1950"/>
          </a:p>
        </p:txBody>
      </p:sp>
      <p:pic>
        <p:nvPicPr>
          <p:cNvPr id="9" name="Picture 8">
            <a:extLst>
              <a:ext uri="{FF2B5EF4-FFF2-40B4-BE49-F238E27FC236}">
                <a16:creationId xmlns:a16="http://schemas.microsoft.com/office/drawing/2014/main" id="{577C420D-FA4A-25DA-34E0-F55B780262F8}"/>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16063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885D37-ACB7-14E1-D168-A120B936D695}"/>
              </a:ext>
            </a:extLst>
          </p:cNvPr>
          <p:cNvSpPr>
            <a:spLocks noGrp="1"/>
          </p:cNvSpPr>
          <p:nvPr>
            <p:ph type="title"/>
          </p:nvPr>
        </p:nvSpPr>
        <p:spPr/>
        <p:txBody>
          <a:bodyPr/>
          <a:lstStyle/>
          <a:p>
            <a:r>
              <a:rPr lang="en-US" b="1" dirty="0"/>
              <a:t>Example Project 2</a:t>
            </a:r>
            <a:endParaRPr lang="en-US" dirty="0"/>
          </a:p>
        </p:txBody>
      </p:sp>
      <p:pic>
        <p:nvPicPr>
          <p:cNvPr id="4" name="Picture 3">
            <a:extLst>
              <a:ext uri="{FF2B5EF4-FFF2-40B4-BE49-F238E27FC236}">
                <a16:creationId xmlns:a16="http://schemas.microsoft.com/office/drawing/2014/main" id="{EBFC0B7A-96A8-7956-CE58-FB511830473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160634" y="0"/>
            <a:ext cx="2031366" cy="1128537"/>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3">
            <a:extLst>
              <a:ext uri="{FF2B5EF4-FFF2-40B4-BE49-F238E27FC236}">
                <a16:creationId xmlns:a16="http://schemas.microsoft.com/office/drawing/2014/main" id="{814E31D1-4668-7A95-DBB6-2C0AE8A3C017}"/>
              </a:ext>
            </a:extLst>
          </p:cNvPr>
          <p:cNvSpPr>
            <a:spLocks noGrp="1" noChangeArrowheads="1"/>
          </p:cNvSpPr>
          <p:nvPr>
            <p:ph type="body" idx="1"/>
          </p:nvPr>
        </p:nvSpPr>
        <p:spPr bwMode="auto">
          <a:xfrm>
            <a:off x="901949" y="1600200"/>
            <a:ext cx="4605748"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rgbClr val="FF0000"/>
                </a:solidFill>
                <a:effectLst/>
                <a:latin typeface="Arial" panose="020B0604020202020204" pitchFamily="34" charset="0"/>
              </a:rPr>
              <a:t>Activity E:</a:t>
            </a:r>
            <a:r>
              <a:rPr kumimoji="0" lang="en-US" altLang="en-US" sz="1800" b="0" i="0" u="none" strike="noStrike" cap="none" normalizeH="0" baseline="0" dirty="0">
                <a:ln>
                  <a:noFill/>
                </a:ln>
                <a:solidFill>
                  <a:srgbClr val="FF0000"/>
                </a:solidFill>
                <a:effectLst/>
                <a:latin typeface="Arial" panose="020B0604020202020204" pitchFamily="34" charset="0"/>
              </a:rPr>
              <a:t> (last activity)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LF = EF of E = 13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LS = LF - Duration = 13 - 1 = 12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rgbClr val="FF0000"/>
                </a:solidFill>
                <a:effectLst/>
                <a:latin typeface="Arial" panose="020B0604020202020204" pitchFamily="34" charset="0"/>
              </a:rPr>
              <a:t>Activity D:</a:t>
            </a:r>
            <a:endParaRPr kumimoji="0" lang="en-US" altLang="en-US" sz="1800" b="0" i="0" u="none" strike="noStrike" cap="none" normalizeH="0" baseline="0" dirty="0">
              <a:ln>
                <a:noFill/>
              </a:ln>
              <a:solidFill>
                <a:srgbClr val="FF0000"/>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LF = LS of E = 12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LS = LF - Duration = 12 - 5 = 7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rgbClr val="FF0000"/>
                </a:solidFill>
                <a:effectLst/>
                <a:latin typeface="Arial" panose="020B0604020202020204" pitchFamily="34" charset="0"/>
              </a:rPr>
              <a:t>Activity C:</a:t>
            </a:r>
            <a:endParaRPr kumimoji="0" lang="en-US" altLang="en-US" sz="1800" b="0" i="0" u="none" strike="noStrike" cap="none" normalizeH="0" baseline="0" dirty="0">
              <a:ln>
                <a:noFill/>
              </a:ln>
              <a:solidFill>
                <a:srgbClr val="FF0000"/>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LF = min(LS of D) = 7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LS = LF - Duration = 7 - 2 = 5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rgbClr val="FF0000"/>
                </a:solidFill>
                <a:effectLst/>
                <a:latin typeface="Arial" panose="020B0604020202020204" pitchFamily="34" charset="0"/>
              </a:rPr>
              <a:t>Activity B:</a:t>
            </a:r>
            <a:endParaRPr kumimoji="0" lang="en-US" altLang="en-US" sz="1800" b="0" i="0" u="none" strike="noStrike" cap="none" normalizeH="0" baseline="0" dirty="0">
              <a:ln>
                <a:noFill/>
              </a:ln>
              <a:solidFill>
                <a:srgbClr val="FF0000"/>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LF = min(LS of D) = 7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LS = LF - Duration = 7 - 3 = 4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rgbClr val="FF0000"/>
                </a:solidFill>
                <a:effectLst/>
                <a:latin typeface="Arial" panose="020B0604020202020204" pitchFamily="34" charset="0"/>
              </a:rPr>
              <a:t>Activity A:</a:t>
            </a:r>
            <a:endParaRPr kumimoji="0" lang="en-US" altLang="en-US" sz="1800" b="0" i="0" u="none" strike="noStrike" cap="none" normalizeH="0" baseline="0" dirty="0">
              <a:ln>
                <a:noFill/>
              </a:ln>
              <a:solidFill>
                <a:srgbClr val="FF0000"/>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LF = min(LS of B, LS of C) = min(4, 5) = 4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LS = LF - Duration = 4 - 4 = 0</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0" name="Picture 9">
            <a:extLst>
              <a:ext uri="{FF2B5EF4-FFF2-40B4-BE49-F238E27FC236}">
                <a16:creationId xmlns:a16="http://schemas.microsoft.com/office/drawing/2014/main" id="{F5C209ED-CD02-6462-3726-D94BA71C736C}"/>
              </a:ext>
            </a:extLst>
          </p:cNvPr>
          <p:cNvPicPr>
            <a:picLocks noChangeAspect="1"/>
          </p:cNvPicPr>
          <p:nvPr/>
        </p:nvPicPr>
        <p:blipFill>
          <a:blip r:embed="rId3"/>
          <a:stretch>
            <a:fillRect/>
          </a:stretch>
        </p:blipFill>
        <p:spPr>
          <a:xfrm>
            <a:off x="4800600" y="2209800"/>
            <a:ext cx="6944694" cy="2734057"/>
          </a:xfrm>
          <a:prstGeom prst="rect">
            <a:avLst/>
          </a:prstGeom>
        </p:spPr>
      </p:pic>
    </p:spTree>
    <p:extLst>
      <p:ext uri="{BB962C8B-B14F-4D97-AF65-F5344CB8AC3E}">
        <p14:creationId xmlns:p14="http://schemas.microsoft.com/office/powerpoint/2010/main" val="31467624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spc="105" dirty="0"/>
              <a:t>Determining</a:t>
            </a:r>
            <a:r>
              <a:rPr spc="135" dirty="0"/>
              <a:t> </a:t>
            </a:r>
            <a:r>
              <a:rPr spc="100" dirty="0"/>
              <a:t>Slack</a:t>
            </a:r>
            <a:r>
              <a:rPr spc="130" dirty="0"/>
              <a:t> </a:t>
            </a:r>
            <a:r>
              <a:rPr spc="95" dirty="0"/>
              <a:t>(SL)</a:t>
            </a:r>
            <a:r>
              <a:rPr spc="135" dirty="0"/>
              <a:t> </a:t>
            </a:r>
            <a:r>
              <a:rPr sz="1950" spc="-10" dirty="0"/>
              <a:t>(1/2)</a:t>
            </a:r>
            <a:endParaRPr sz="1950"/>
          </a:p>
        </p:txBody>
      </p:sp>
      <p:sp>
        <p:nvSpPr>
          <p:cNvPr id="4" name="object 4"/>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31</a:t>
            </a:fld>
            <a:endParaRPr spc="-25" dirty="0"/>
          </a:p>
        </p:txBody>
      </p:sp>
      <p:sp>
        <p:nvSpPr>
          <p:cNvPr id="3" name="object 3"/>
          <p:cNvSpPr txBox="1"/>
          <p:nvPr/>
        </p:nvSpPr>
        <p:spPr>
          <a:xfrm>
            <a:off x="904413" y="1667763"/>
            <a:ext cx="10357485" cy="4290060"/>
          </a:xfrm>
          <a:prstGeom prst="rect">
            <a:avLst/>
          </a:prstGeom>
        </p:spPr>
        <p:txBody>
          <a:bodyPr vert="horz" wrap="square" lIns="0" tIns="63500" rIns="0" bIns="0" rtlCol="0">
            <a:spAutoFit/>
          </a:bodyPr>
          <a:lstStyle/>
          <a:p>
            <a:pPr marL="241300" marR="5715" indent="-228600" algn="just">
              <a:lnSpc>
                <a:spcPts val="3000"/>
              </a:lnSpc>
              <a:spcBef>
                <a:spcPts val="500"/>
              </a:spcBef>
              <a:buFont typeface="Arial MT"/>
              <a:buChar char="•"/>
              <a:tabLst>
                <a:tab pos="241300" algn="l"/>
              </a:tabLst>
            </a:pPr>
            <a:r>
              <a:rPr sz="2800" dirty="0">
                <a:latin typeface="Calibri"/>
                <a:cs typeface="Calibri"/>
              </a:rPr>
              <a:t>Total</a:t>
            </a:r>
            <a:r>
              <a:rPr sz="2800" spc="195" dirty="0">
                <a:latin typeface="Calibri"/>
                <a:cs typeface="Calibri"/>
              </a:rPr>
              <a:t> </a:t>
            </a:r>
            <a:r>
              <a:rPr sz="2800" dirty="0">
                <a:latin typeface="Calibri"/>
                <a:cs typeface="Calibri"/>
              </a:rPr>
              <a:t>slack</a:t>
            </a:r>
            <a:r>
              <a:rPr sz="2800" spc="200" dirty="0">
                <a:latin typeface="Calibri"/>
                <a:cs typeface="Calibri"/>
              </a:rPr>
              <a:t> </a:t>
            </a:r>
            <a:r>
              <a:rPr sz="2800" dirty="0">
                <a:latin typeface="Calibri"/>
                <a:cs typeface="Calibri"/>
              </a:rPr>
              <a:t>(or</a:t>
            </a:r>
            <a:r>
              <a:rPr sz="2800" spc="200" dirty="0">
                <a:latin typeface="Calibri"/>
                <a:cs typeface="Calibri"/>
              </a:rPr>
              <a:t> </a:t>
            </a:r>
            <a:r>
              <a:rPr sz="2800" u="heavy" dirty="0">
                <a:uFill>
                  <a:solidFill>
                    <a:srgbClr val="000000"/>
                  </a:solidFill>
                </a:uFill>
                <a:latin typeface="Calibri"/>
                <a:cs typeface="Calibri"/>
              </a:rPr>
              <a:t>float</a:t>
            </a:r>
            <a:r>
              <a:rPr sz="2800" dirty="0">
                <a:latin typeface="Calibri"/>
                <a:cs typeface="Calibri"/>
              </a:rPr>
              <a:t>)</a:t>
            </a:r>
            <a:r>
              <a:rPr sz="2800" spc="200" dirty="0">
                <a:latin typeface="Calibri"/>
                <a:cs typeface="Calibri"/>
              </a:rPr>
              <a:t> </a:t>
            </a:r>
            <a:r>
              <a:rPr sz="2800" dirty="0">
                <a:latin typeface="Calibri"/>
                <a:cs typeface="Calibri"/>
              </a:rPr>
              <a:t>is</a:t>
            </a:r>
            <a:r>
              <a:rPr sz="2800" spc="204" dirty="0">
                <a:latin typeface="Calibri"/>
                <a:cs typeface="Calibri"/>
              </a:rPr>
              <a:t> </a:t>
            </a:r>
            <a:r>
              <a:rPr sz="2800" dirty="0">
                <a:latin typeface="Calibri"/>
                <a:cs typeface="Calibri"/>
              </a:rPr>
              <a:t>the</a:t>
            </a:r>
            <a:r>
              <a:rPr sz="2800" spc="195" dirty="0">
                <a:latin typeface="Calibri"/>
                <a:cs typeface="Calibri"/>
              </a:rPr>
              <a:t> </a:t>
            </a:r>
            <a:r>
              <a:rPr sz="2800" dirty="0">
                <a:latin typeface="Calibri"/>
                <a:cs typeface="Calibri"/>
              </a:rPr>
              <a:t>amount</a:t>
            </a:r>
            <a:r>
              <a:rPr sz="2800" spc="200" dirty="0">
                <a:latin typeface="Calibri"/>
                <a:cs typeface="Calibri"/>
              </a:rPr>
              <a:t> </a:t>
            </a:r>
            <a:r>
              <a:rPr sz="2800" dirty="0">
                <a:latin typeface="Calibri"/>
                <a:cs typeface="Calibri"/>
              </a:rPr>
              <a:t>of</a:t>
            </a:r>
            <a:r>
              <a:rPr sz="2800" spc="200" dirty="0">
                <a:latin typeface="Calibri"/>
                <a:cs typeface="Calibri"/>
              </a:rPr>
              <a:t> </a:t>
            </a:r>
            <a:r>
              <a:rPr sz="2800" dirty="0">
                <a:latin typeface="Calibri"/>
                <a:cs typeface="Calibri"/>
              </a:rPr>
              <a:t>time</a:t>
            </a:r>
            <a:r>
              <a:rPr sz="2800" spc="195" dirty="0">
                <a:latin typeface="Calibri"/>
                <a:cs typeface="Calibri"/>
              </a:rPr>
              <a:t> </a:t>
            </a:r>
            <a:r>
              <a:rPr sz="2800" dirty="0">
                <a:latin typeface="Calibri"/>
                <a:cs typeface="Calibri"/>
              </a:rPr>
              <a:t>an</a:t>
            </a:r>
            <a:r>
              <a:rPr sz="2800" spc="210" dirty="0">
                <a:latin typeface="Calibri"/>
                <a:cs typeface="Calibri"/>
              </a:rPr>
              <a:t> </a:t>
            </a:r>
            <a:r>
              <a:rPr sz="2800" dirty="0">
                <a:latin typeface="Calibri"/>
                <a:cs typeface="Calibri"/>
              </a:rPr>
              <a:t>activity</a:t>
            </a:r>
            <a:r>
              <a:rPr sz="2800" spc="195" dirty="0">
                <a:latin typeface="Calibri"/>
                <a:cs typeface="Calibri"/>
              </a:rPr>
              <a:t> </a:t>
            </a:r>
            <a:r>
              <a:rPr sz="2800" dirty="0">
                <a:latin typeface="Calibri"/>
                <a:cs typeface="Calibri"/>
              </a:rPr>
              <a:t>can</a:t>
            </a:r>
            <a:r>
              <a:rPr sz="2800" spc="204" dirty="0">
                <a:latin typeface="Calibri"/>
                <a:cs typeface="Calibri"/>
              </a:rPr>
              <a:t> </a:t>
            </a:r>
            <a:r>
              <a:rPr sz="2800" dirty="0">
                <a:latin typeface="Calibri"/>
                <a:cs typeface="Calibri"/>
              </a:rPr>
              <a:t>exceed</a:t>
            </a:r>
            <a:r>
              <a:rPr sz="2800" spc="204" dirty="0">
                <a:latin typeface="Calibri"/>
                <a:cs typeface="Calibri"/>
              </a:rPr>
              <a:t> </a:t>
            </a:r>
            <a:r>
              <a:rPr sz="2800" spc="-25" dirty="0">
                <a:latin typeface="Calibri"/>
                <a:cs typeface="Calibri"/>
              </a:rPr>
              <a:t>its </a:t>
            </a:r>
            <a:r>
              <a:rPr sz="2800" dirty="0">
                <a:latin typeface="Calibri"/>
                <a:cs typeface="Calibri"/>
              </a:rPr>
              <a:t>early</a:t>
            </a:r>
            <a:r>
              <a:rPr sz="2800" spc="-55" dirty="0">
                <a:latin typeface="Calibri"/>
                <a:cs typeface="Calibri"/>
              </a:rPr>
              <a:t> </a:t>
            </a:r>
            <a:r>
              <a:rPr sz="2800" dirty="0">
                <a:latin typeface="Calibri"/>
                <a:cs typeface="Calibri"/>
              </a:rPr>
              <a:t>finish</a:t>
            </a:r>
            <a:r>
              <a:rPr sz="2800" spc="-45" dirty="0">
                <a:latin typeface="Calibri"/>
                <a:cs typeface="Calibri"/>
              </a:rPr>
              <a:t> </a:t>
            </a:r>
            <a:r>
              <a:rPr sz="2800" dirty="0">
                <a:latin typeface="Calibri"/>
                <a:cs typeface="Calibri"/>
              </a:rPr>
              <a:t>date</a:t>
            </a:r>
            <a:r>
              <a:rPr sz="2800" spc="-60" dirty="0">
                <a:latin typeface="Calibri"/>
                <a:cs typeface="Calibri"/>
              </a:rPr>
              <a:t> </a:t>
            </a:r>
            <a:r>
              <a:rPr sz="2800" dirty="0">
                <a:latin typeface="Calibri"/>
                <a:cs typeface="Calibri"/>
              </a:rPr>
              <a:t>without</a:t>
            </a:r>
            <a:r>
              <a:rPr sz="2800" spc="-45" dirty="0">
                <a:latin typeface="Calibri"/>
                <a:cs typeface="Calibri"/>
              </a:rPr>
              <a:t> </a:t>
            </a:r>
            <a:r>
              <a:rPr sz="2800" spc="-10" dirty="0">
                <a:latin typeface="Calibri"/>
                <a:cs typeface="Calibri"/>
              </a:rPr>
              <a:t>affecting</a:t>
            </a:r>
            <a:r>
              <a:rPr sz="2800" spc="-55" dirty="0">
                <a:latin typeface="Calibri"/>
                <a:cs typeface="Calibri"/>
              </a:rPr>
              <a:t> </a:t>
            </a:r>
            <a:r>
              <a:rPr sz="2800" dirty="0">
                <a:latin typeface="Calibri"/>
                <a:cs typeface="Calibri"/>
              </a:rPr>
              <a:t>the</a:t>
            </a:r>
            <a:r>
              <a:rPr sz="2800" spc="-55" dirty="0">
                <a:latin typeface="Calibri"/>
                <a:cs typeface="Calibri"/>
              </a:rPr>
              <a:t> </a:t>
            </a:r>
            <a:r>
              <a:rPr sz="2800" dirty="0">
                <a:latin typeface="Calibri"/>
                <a:cs typeface="Calibri"/>
              </a:rPr>
              <a:t>project</a:t>
            </a:r>
            <a:r>
              <a:rPr sz="2800" spc="-50" dirty="0">
                <a:latin typeface="Calibri"/>
                <a:cs typeface="Calibri"/>
              </a:rPr>
              <a:t> </a:t>
            </a:r>
            <a:r>
              <a:rPr sz="2800" dirty="0">
                <a:latin typeface="Calibri"/>
                <a:cs typeface="Calibri"/>
              </a:rPr>
              <a:t>end</a:t>
            </a:r>
            <a:r>
              <a:rPr sz="2800" spc="-45" dirty="0">
                <a:latin typeface="Calibri"/>
                <a:cs typeface="Calibri"/>
              </a:rPr>
              <a:t> </a:t>
            </a:r>
            <a:r>
              <a:rPr sz="2800" spc="-10" dirty="0">
                <a:latin typeface="Calibri"/>
                <a:cs typeface="Calibri"/>
              </a:rPr>
              <a:t>date.</a:t>
            </a:r>
            <a:endParaRPr sz="2800">
              <a:latin typeface="Calibri"/>
              <a:cs typeface="Calibri"/>
            </a:endParaRPr>
          </a:p>
          <a:p>
            <a:pPr marL="241300" marR="5715" indent="-228600" algn="just">
              <a:lnSpc>
                <a:spcPts val="3100"/>
              </a:lnSpc>
              <a:spcBef>
                <a:spcPts val="925"/>
              </a:spcBef>
              <a:buFont typeface="Arial MT"/>
              <a:buChar char="•"/>
              <a:tabLst>
                <a:tab pos="241300" algn="l"/>
              </a:tabLst>
            </a:pPr>
            <a:r>
              <a:rPr sz="2800" dirty="0">
                <a:solidFill>
                  <a:srgbClr val="C00000"/>
                </a:solidFill>
                <a:latin typeface="Calibri"/>
                <a:cs typeface="Calibri"/>
              </a:rPr>
              <a:t>For</a:t>
            </a:r>
            <a:r>
              <a:rPr sz="2800" spc="55" dirty="0">
                <a:solidFill>
                  <a:srgbClr val="C00000"/>
                </a:solidFill>
                <a:latin typeface="Calibri"/>
                <a:cs typeface="Calibri"/>
              </a:rPr>
              <a:t> </a:t>
            </a:r>
            <a:r>
              <a:rPr sz="2800" dirty="0">
                <a:solidFill>
                  <a:srgbClr val="C00000"/>
                </a:solidFill>
                <a:latin typeface="Calibri"/>
                <a:cs typeface="Calibri"/>
              </a:rPr>
              <a:t>each</a:t>
            </a:r>
            <a:r>
              <a:rPr sz="2800" spc="65" dirty="0">
                <a:solidFill>
                  <a:srgbClr val="C00000"/>
                </a:solidFill>
                <a:latin typeface="Calibri"/>
                <a:cs typeface="Calibri"/>
              </a:rPr>
              <a:t> </a:t>
            </a:r>
            <a:r>
              <a:rPr sz="2800" dirty="0">
                <a:solidFill>
                  <a:srgbClr val="C00000"/>
                </a:solidFill>
                <a:latin typeface="Calibri"/>
                <a:cs typeface="Calibri"/>
              </a:rPr>
              <a:t>activity,</a:t>
            </a:r>
            <a:r>
              <a:rPr sz="2800" spc="65" dirty="0">
                <a:solidFill>
                  <a:srgbClr val="C00000"/>
                </a:solidFill>
                <a:latin typeface="Calibri"/>
                <a:cs typeface="Calibri"/>
              </a:rPr>
              <a:t> </a:t>
            </a:r>
            <a:r>
              <a:rPr sz="2800" dirty="0">
                <a:solidFill>
                  <a:srgbClr val="C00000"/>
                </a:solidFill>
                <a:latin typeface="Calibri"/>
                <a:cs typeface="Calibri"/>
              </a:rPr>
              <a:t>it</a:t>
            </a:r>
            <a:r>
              <a:rPr sz="2800" spc="60" dirty="0">
                <a:solidFill>
                  <a:srgbClr val="C00000"/>
                </a:solidFill>
                <a:latin typeface="Calibri"/>
                <a:cs typeface="Calibri"/>
              </a:rPr>
              <a:t> </a:t>
            </a:r>
            <a:r>
              <a:rPr sz="2800" dirty="0">
                <a:solidFill>
                  <a:srgbClr val="C00000"/>
                </a:solidFill>
                <a:latin typeface="Calibri"/>
                <a:cs typeface="Calibri"/>
              </a:rPr>
              <a:t>is</a:t>
            </a:r>
            <a:r>
              <a:rPr sz="2800" spc="70" dirty="0">
                <a:solidFill>
                  <a:srgbClr val="C00000"/>
                </a:solidFill>
                <a:latin typeface="Calibri"/>
                <a:cs typeface="Calibri"/>
              </a:rPr>
              <a:t> </a:t>
            </a:r>
            <a:r>
              <a:rPr sz="2800" dirty="0">
                <a:solidFill>
                  <a:srgbClr val="C00000"/>
                </a:solidFill>
                <a:latin typeface="Calibri"/>
                <a:cs typeface="Calibri"/>
              </a:rPr>
              <a:t>the</a:t>
            </a:r>
            <a:r>
              <a:rPr sz="2800" spc="55" dirty="0">
                <a:solidFill>
                  <a:srgbClr val="C00000"/>
                </a:solidFill>
                <a:latin typeface="Calibri"/>
                <a:cs typeface="Calibri"/>
              </a:rPr>
              <a:t> </a:t>
            </a:r>
            <a:r>
              <a:rPr sz="2800" dirty="0">
                <a:solidFill>
                  <a:srgbClr val="C00000"/>
                </a:solidFill>
                <a:latin typeface="Calibri"/>
                <a:cs typeface="Calibri"/>
              </a:rPr>
              <a:t>difference</a:t>
            </a:r>
            <a:r>
              <a:rPr sz="2800" spc="55" dirty="0">
                <a:solidFill>
                  <a:srgbClr val="C00000"/>
                </a:solidFill>
                <a:latin typeface="Calibri"/>
                <a:cs typeface="Calibri"/>
              </a:rPr>
              <a:t> </a:t>
            </a:r>
            <a:r>
              <a:rPr sz="2800" dirty="0">
                <a:solidFill>
                  <a:srgbClr val="C00000"/>
                </a:solidFill>
                <a:latin typeface="Calibri"/>
                <a:cs typeface="Calibri"/>
              </a:rPr>
              <a:t>between</a:t>
            </a:r>
            <a:r>
              <a:rPr sz="2800" spc="60" dirty="0">
                <a:solidFill>
                  <a:srgbClr val="C00000"/>
                </a:solidFill>
                <a:latin typeface="Calibri"/>
                <a:cs typeface="Calibri"/>
              </a:rPr>
              <a:t> </a:t>
            </a:r>
            <a:r>
              <a:rPr sz="2800" dirty="0">
                <a:solidFill>
                  <a:srgbClr val="C00000"/>
                </a:solidFill>
                <a:latin typeface="Calibri"/>
                <a:cs typeface="Calibri"/>
              </a:rPr>
              <a:t>the</a:t>
            </a:r>
            <a:r>
              <a:rPr sz="2800" spc="60" dirty="0">
                <a:solidFill>
                  <a:srgbClr val="C00000"/>
                </a:solidFill>
                <a:latin typeface="Calibri"/>
                <a:cs typeface="Calibri"/>
              </a:rPr>
              <a:t> </a:t>
            </a:r>
            <a:r>
              <a:rPr sz="2800" dirty="0">
                <a:solidFill>
                  <a:srgbClr val="C00000"/>
                </a:solidFill>
                <a:latin typeface="Calibri"/>
                <a:cs typeface="Calibri"/>
              </a:rPr>
              <a:t>LS</a:t>
            </a:r>
            <a:r>
              <a:rPr sz="2800" spc="60" dirty="0">
                <a:solidFill>
                  <a:srgbClr val="C00000"/>
                </a:solidFill>
                <a:latin typeface="Calibri"/>
                <a:cs typeface="Calibri"/>
              </a:rPr>
              <a:t> </a:t>
            </a:r>
            <a:r>
              <a:rPr sz="2800" dirty="0">
                <a:solidFill>
                  <a:srgbClr val="C00000"/>
                </a:solidFill>
                <a:latin typeface="Calibri"/>
                <a:cs typeface="Calibri"/>
              </a:rPr>
              <a:t>and</a:t>
            </a:r>
            <a:r>
              <a:rPr sz="2800" spc="70" dirty="0">
                <a:solidFill>
                  <a:srgbClr val="C00000"/>
                </a:solidFill>
                <a:latin typeface="Calibri"/>
                <a:cs typeface="Calibri"/>
              </a:rPr>
              <a:t> </a:t>
            </a:r>
            <a:r>
              <a:rPr sz="2800" dirty="0">
                <a:solidFill>
                  <a:srgbClr val="C00000"/>
                </a:solidFill>
                <a:latin typeface="Calibri"/>
                <a:cs typeface="Calibri"/>
              </a:rPr>
              <a:t>ES</a:t>
            </a:r>
            <a:r>
              <a:rPr sz="2800" spc="60" dirty="0">
                <a:solidFill>
                  <a:srgbClr val="C00000"/>
                </a:solidFill>
                <a:latin typeface="Calibri"/>
                <a:cs typeface="Calibri"/>
              </a:rPr>
              <a:t> </a:t>
            </a:r>
            <a:r>
              <a:rPr sz="2800" dirty="0">
                <a:solidFill>
                  <a:srgbClr val="C00000"/>
                </a:solidFill>
                <a:latin typeface="Calibri"/>
                <a:cs typeface="Calibri"/>
              </a:rPr>
              <a:t>(LS</a:t>
            </a:r>
            <a:r>
              <a:rPr sz="2800" spc="65" dirty="0">
                <a:solidFill>
                  <a:srgbClr val="C00000"/>
                </a:solidFill>
                <a:latin typeface="Calibri"/>
                <a:cs typeface="Calibri"/>
              </a:rPr>
              <a:t> </a:t>
            </a:r>
            <a:r>
              <a:rPr sz="2800" dirty="0">
                <a:solidFill>
                  <a:srgbClr val="C00000"/>
                </a:solidFill>
                <a:latin typeface="Calibri"/>
                <a:cs typeface="Calibri"/>
              </a:rPr>
              <a:t>−</a:t>
            </a:r>
            <a:r>
              <a:rPr sz="2800" spc="65" dirty="0">
                <a:solidFill>
                  <a:srgbClr val="C00000"/>
                </a:solidFill>
                <a:latin typeface="Calibri"/>
                <a:cs typeface="Calibri"/>
              </a:rPr>
              <a:t> </a:t>
            </a:r>
            <a:r>
              <a:rPr sz="2800" dirty="0">
                <a:solidFill>
                  <a:srgbClr val="C00000"/>
                </a:solidFill>
                <a:latin typeface="Calibri"/>
                <a:cs typeface="Calibri"/>
              </a:rPr>
              <a:t>ES</a:t>
            </a:r>
            <a:r>
              <a:rPr sz="2800" spc="65" dirty="0">
                <a:solidFill>
                  <a:srgbClr val="C00000"/>
                </a:solidFill>
                <a:latin typeface="Calibri"/>
                <a:cs typeface="Calibri"/>
              </a:rPr>
              <a:t> </a:t>
            </a:r>
            <a:r>
              <a:rPr sz="2800" spc="-50" dirty="0">
                <a:solidFill>
                  <a:srgbClr val="C00000"/>
                </a:solidFill>
                <a:latin typeface="Calibri"/>
                <a:cs typeface="Calibri"/>
              </a:rPr>
              <a:t>= </a:t>
            </a:r>
            <a:r>
              <a:rPr sz="2800" dirty="0">
                <a:solidFill>
                  <a:srgbClr val="C00000"/>
                </a:solidFill>
                <a:latin typeface="Calibri"/>
                <a:cs typeface="Calibri"/>
              </a:rPr>
              <a:t>SL)</a:t>
            </a:r>
            <a:r>
              <a:rPr sz="2800" spc="-20" dirty="0">
                <a:solidFill>
                  <a:srgbClr val="C00000"/>
                </a:solidFill>
                <a:latin typeface="Calibri"/>
                <a:cs typeface="Calibri"/>
              </a:rPr>
              <a:t> </a:t>
            </a:r>
            <a:r>
              <a:rPr sz="2800" dirty="0">
                <a:solidFill>
                  <a:srgbClr val="C00000"/>
                </a:solidFill>
                <a:latin typeface="Calibri"/>
                <a:cs typeface="Calibri"/>
              </a:rPr>
              <a:t>or</a:t>
            </a:r>
            <a:r>
              <a:rPr sz="2800" spc="-20" dirty="0">
                <a:solidFill>
                  <a:srgbClr val="C00000"/>
                </a:solidFill>
                <a:latin typeface="Calibri"/>
                <a:cs typeface="Calibri"/>
              </a:rPr>
              <a:t> </a:t>
            </a:r>
            <a:r>
              <a:rPr sz="2800" dirty="0">
                <a:solidFill>
                  <a:srgbClr val="C00000"/>
                </a:solidFill>
                <a:latin typeface="Calibri"/>
                <a:cs typeface="Calibri"/>
              </a:rPr>
              <a:t>between</a:t>
            </a:r>
            <a:r>
              <a:rPr sz="2800" spc="-15" dirty="0">
                <a:solidFill>
                  <a:srgbClr val="C00000"/>
                </a:solidFill>
                <a:latin typeface="Calibri"/>
                <a:cs typeface="Calibri"/>
              </a:rPr>
              <a:t> </a:t>
            </a:r>
            <a:r>
              <a:rPr sz="2800" dirty="0">
                <a:solidFill>
                  <a:srgbClr val="C00000"/>
                </a:solidFill>
                <a:latin typeface="Calibri"/>
                <a:cs typeface="Calibri"/>
              </a:rPr>
              <a:t>LF</a:t>
            </a:r>
            <a:r>
              <a:rPr sz="2800" spc="-15" dirty="0">
                <a:solidFill>
                  <a:srgbClr val="C00000"/>
                </a:solidFill>
                <a:latin typeface="Calibri"/>
                <a:cs typeface="Calibri"/>
              </a:rPr>
              <a:t> </a:t>
            </a:r>
            <a:r>
              <a:rPr sz="2800" dirty="0">
                <a:solidFill>
                  <a:srgbClr val="C00000"/>
                </a:solidFill>
                <a:latin typeface="Calibri"/>
                <a:cs typeface="Calibri"/>
              </a:rPr>
              <a:t>and</a:t>
            </a:r>
            <a:r>
              <a:rPr sz="2800" spc="-15" dirty="0">
                <a:solidFill>
                  <a:srgbClr val="C00000"/>
                </a:solidFill>
                <a:latin typeface="Calibri"/>
                <a:cs typeface="Calibri"/>
              </a:rPr>
              <a:t> </a:t>
            </a:r>
            <a:r>
              <a:rPr sz="2800" dirty="0">
                <a:solidFill>
                  <a:srgbClr val="C00000"/>
                </a:solidFill>
                <a:latin typeface="Calibri"/>
                <a:cs typeface="Calibri"/>
              </a:rPr>
              <a:t>EF</a:t>
            </a:r>
            <a:r>
              <a:rPr sz="2800" spc="-10" dirty="0">
                <a:solidFill>
                  <a:srgbClr val="C00000"/>
                </a:solidFill>
                <a:latin typeface="Calibri"/>
                <a:cs typeface="Calibri"/>
              </a:rPr>
              <a:t> </a:t>
            </a:r>
            <a:r>
              <a:rPr sz="2800" dirty="0">
                <a:solidFill>
                  <a:srgbClr val="C00000"/>
                </a:solidFill>
                <a:latin typeface="Calibri"/>
                <a:cs typeface="Calibri"/>
              </a:rPr>
              <a:t>(LF</a:t>
            </a:r>
            <a:r>
              <a:rPr sz="2800" spc="-15" dirty="0">
                <a:solidFill>
                  <a:srgbClr val="C00000"/>
                </a:solidFill>
                <a:latin typeface="Calibri"/>
                <a:cs typeface="Calibri"/>
              </a:rPr>
              <a:t> </a:t>
            </a:r>
            <a:r>
              <a:rPr sz="2800" dirty="0">
                <a:solidFill>
                  <a:srgbClr val="C00000"/>
                </a:solidFill>
                <a:latin typeface="Calibri"/>
                <a:cs typeface="Calibri"/>
              </a:rPr>
              <a:t>−</a:t>
            </a:r>
            <a:r>
              <a:rPr sz="2800" spc="-10" dirty="0">
                <a:solidFill>
                  <a:srgbClr val="C00000"/>
                </a:solidFill>
                <a:latin typeface="Calibri"/>
                <a:cs typeface="Calibri"/>
              </a:rPr>
              <a:t> </a:t>
            </a:r>
            <a:r>
              <a:rPr sz="2800" dirty="0">
                <a:solidFill>
                  <a:srgbClr val="C00000"/>
                </a:solidFill>
                <a:latin typeface="Calibri"/>
                <a:cs typeface="Calibri"/>
              </a:rPr>
              <a:t>EF</a:t>
            </a:r>
            <a:r>
              <a:rPr sz="2800" spc="-15" dirty="0">
                <a:solidFill>
                  <a:srgbClr val="C00000"/>
                </a:solidFill>
                <a:latin typeface="Calibri"/>
                <a:cs typeface="Calibri"/>
              </a:rPr>
              <a:t> </a:t>
            </a:r>
            <a:r>
              <a:rPr sz="2800" dirty="0">
                <a:solidFill>
                  <a:srgbClr val="C00000"/>
                </a:solidFill>
                <a:latin typeface="Calibri"/>
                <a:cs typeface="Calibri"/>
              </a:rPr>
              <a:t>=</a:t>
            </a:r>
            <a:r>
              <a:rPr sz="2800" spc="-5" dirty="0">
                <a:solidFill>
                  <a:srgbClr val="C00000"/>
                </a:solidFill>
                <a:latin typeface="Calibri"/>
                <a:cs typeface="Calibri"/>
              </a:rPr>
              <a:t> </a:t>
            </a:r>
            <a:r>
              <a:rPr sz="2800" spc="-25" dirty="0">
                <a:solidFill>
                  <a:srgbClr val="C00000"/>
                </a:solidFill>
                <a:latin typeface="Calibri"/>
                <a:cs typeface="Calibri"/>
              </a:rPr>
              <a:t>SL)</a:t>
            </a:r>
            <a:endParaRPr sz="2800">
              <a:latin typeface="Calibri"/>
              <a:cs typeface="Calibri"/>
            </a:endParaRPr>
          </a:p>
          <a:p>
            <a:pPr marL="241300" marR="5080" indent="-228600" algn="just">
              <a:lnSpc>
                <a:spcPct val="90200"/>
              </a:lnSpc>
              <a:spcBef>
                <a:spcPts val="915"/>
              </a:spcBef>
              <a:buFont typeface="Arial MT"/>
              <a:buChar char="•"/>
              <a:tabLst>
                <a:tab pos="241300" algn="l"/>
              </a:tabLst>
            </a:pPr>
            <a:r>
              <a:rPr sz="2800" dirty="0">
                <a:latin typeface="Calibri"/>
                <a:cs typeface="Calibri"/>
              </a:rPr>
              <a:t>After</a:t>
            </a:r>
            <a:r>
              <a:rPr sz="2800" spc="310" dirty="0">
                <a:latin typeface="Calibri"/>
                <a:cs typeface="Calibri"/>
              </a:rPr>
              <a:t> </a:t>
            </a:r>
            <a:r>
              <a:rPr sz="2800" dirty="0">
                <a:latin typeface="Calibri"/>
                <a:cs typeface="Calibri"/>
              </a:rPr>
              <a:t>slack</a:t>
            </a:r>
            <a:r>
              <a:rPr sz="2800" spc="315" dirty="0">
                <a:latin typeface="Calibri"/>
                <a:cs typeface="Calibri"/>
              </a:rPr>
              <a:t> </a:t>
            </a:r>
            <a:r>
              <a:rPr sz="2800" dirty="0">
                <a:latin typeface="Calibri"/>
                <a:cs typeface="Calibri"/>
              </a:rPr>
              <a:t>for</a:t>
            </a:r>
            <a:r>
              <a:rPr sz="2800" spc="310" dirty="0">
                <a:latin typeface="Calibri"/>
                <a:cs typeface="Calibri"/>
              </a:rPr>
              <a:t> </a:t>
            </a:r>
            <a:r>
              <a:rPr sz="2800" dirty="0">
                <a:latin typeface="Calibri"/>
                <a:cs typeface="Calibri"/>
              </a:rPr>
              <a:t>each</a:t>
            </a:r>
            <a:r>
              <a:rPr sz="2800" spc="315" dirty="0">
                <a:latin typeface="Calibri"/>
                <a:cs typeface="Calibri"/>
              </a:rPr>
              <a:t> </a:t>
            </a:r>
            <a:r>
              <a:rPr sz="2800" dirty="0">
                <a:latin typeface="Calibri"/>
                <a:cs typeface="Calibri"/>
              </a:rPr>
              <a:t>activity</a:t>
            </a:r>
            <a:r>
              <a:rPr sz="2800" spc="305" dirty="0">
                <a:latin typeface="Calibri"/>
                <a:cs typeface="Calibri"/>
              </a:rPr>
              <a:t> </a:t>
            </a:r>
            <a:r>
              <a:rPr sz="2800" dirty="0">
                <a:latin typeface="Calibri"/>
                <a:cs typeface="Calibri"/>
              </a:rPr>
              <a:t>is</a:t>
            </a:r>
            <a:r>
              <a:rPr sz="2800" spc="315" dirty="0">
                <a:latin typeface="Calibri"/>
                <a:cs typeface="Calibri"/>
              </a:rPr>
              <a:t> </a:t>
            </a:r>
            <a:r>
              <a:rPr sz="2800" dirty="0">
                <a:latin typeface="Calibri"/>
                <a:cs typeface="Calibri"/>
              </a:rPr>
              <a:t>computed,</a:t>
            </a:r>
            <a:r>
              <a:rPr sz="2800" spc="310" dirty="0">
                <a:latin typeface="Calibri"/>
                <a:cs typeface="Calibri"/>
              </a:rPr>
              <a:t> </a:t>
            </a:r>
            <a:r>
              <a:rPr sz="2800" dirty="0">
                <a:latin typeface="Calibri"/>
                <a:cs typeface="Calibri"/>
              </a:rPr>
              <a:t>the</a:t>
            </a:r>
            <a:r>
              <a:rPr sz="2800" spc="305" dirty="0">
                <a:latin typeface="Calibri"/>
                <a:cs typeface="Calibri"/>
              </a:rPr>
              <a:t> </a:t>
            </a:r>
            <a:r>
              <a:rPr sz="2800" dirty="0">
                <a:latin typeface="Calibri"/>
                <a:cs typeface="Calibri"/>
              </a:rPr>
              <a:t>critical</a:t>
            </a:r>
            <a:r>
              <a:rPr sz="2800" spc="300" dirty="0">
                <a:latin typeface="Calibri"/>
                <a:cs typeface="Calibri"/>
              </a:rPr>
              <a:t> </a:t>
            </a:r>
            <a:r>
              <a:rPr sz="2800" dirty="0">
                <a:latin typeface="Calibri"/>
                <a:cs typeface="Calibri"/>
              </a:rPr>
              <a:t>path(s)</a:t>
            </a:r>
            <a:r>
              <a:rPr sz="2800" spc="310" dirty="0">
                <a:latin typeface="Calibri"/>
                <a:cs typeface="Calibri"/>
              </a:rPr>
              <a:t> </a:t>
            </a:r>
            <a:r>
              <a:rPr sz="2800" dirty="0">
                <a:latin typeface="Calibri"/>
                <a:cs typeface="Calibri"/>
              </a:rPr>
              <a:t>is</a:t>
            </a:r>
            <a:r>
              <a:rPr sz="2800" spc="315" dirty="0">
                <a:latin typeface="Calibri"/>
                <a:cs typeface="Calibri"/>
              </a:rPr>
              <a:t> </a:t>
            </a:r>
            <a:r>
              <a:rPr sz="2800" spc="-10" dirty="0">
                <a:latin typeface="Calibri"/>
                <a:cs typeface="Calibri"/>
              </a:rPr>
              <a:t>(are) </a:t>
            </a:r>
            <a:r>
              <a:rPr sz="2800" dirty="0">
                <a:latin typeface="Calibri"/>
                <a:cs typeface="Calibri"/>
              </a:rPr>
              <a:t>easily</a:t>
            </a:r>
            <a:r>
              <a:rPr sz="2800" spc="350" dirty="0">
                <a:latin typeface="Calibri"/>
                <a:cs typeface="Calibri"/>
              </a:rPr>
              <a:t> </a:t>
            </a:r>
            <a:r>
              <a:rPr sz="2800" dirty="0">
                <a:latin typeface="Calibri"/>
                <a:cs typeface="Calibri"/>
              </a:rPr>
              <a:t>identified.</a:t>
            </a:r>
            <a:r>
              <a:rPr sz="2800" spc="355" dirty="0">
                <a:latin typeface="Calibri"/>
                <a:cs typeface="Calibri"/>
              </a:rPr>
              <a:t> </a:t>
            </a:r>
            <a:r>
              <a:rPr sz="2800" dirty="0">
                <a:latin typeface="Calibri"/>
                <a:cs typeface="Calibri"/>
              </a:rPr>
              <a:t>When</a:t>
            </a:r>
            <a:r>
              <a:rPr sz="2800" spc="355" dirty="0">
                <a:latin typeface="Calibri"/>
                <a:cs typeface="Calibri"/>
              </a:rPr>
              <a:t> </a:t>
            </a:r>
            <a:r>
              <a:rPr sz="2800" dirty="0">
                <a:latin typeface="Calibri"/>
                <a:cs typeface="Calibri"/>
              </a:rPr>
              <a:t>the</a:t>
            </a:r>
            <a:r>
              <a:rPr sz="2800" spc="350" dirty="0">
                <a:latin typeface="Calibri"/>
                <a:cs typeface="Calibri"/>
              </a:rPr>
              <a:t> </a:t>
            </a:r>
            <a:r>
              <a:rPr sz="2800" dirty="0">
                <a:latin typeface="Calibri"/>
                <a:cs typeface="Calibri"/>
              </a:rPr>
              <a:t>LF</a:t>
            </a:r>
            <a:r>
              <a:rPr sz="2800" spc="350" dirty="0">
                <a:latin typeface="Calibri"/>
                <a:cs typeface="Calibri"/>
              </a:rPr>
              <a:t> </a:t>
            </a:r>
            <a:r>
              <a:rPr sz="2800" dirty="0">
                <a:latin typeface="Calibri"/>
                <a:cs typeface="Calibri"/>
              </a:rPr>
              <a:t>=</a:t>
            </a:r>
            <a:r>
              <a:rPr sz="2800" spc="355" dirty="0">
                <a:latin typeface="Calibri"/>
                <a:cs typeface="Calibri"/>
              </a:rPr>
              <a:t> </a:t>
            </a:r>
            <a:r>
              <a:rPr sz="2800" dirty="0">
                <a:latin typeface="Calibri"/>
                <a:cs typeface="Calibri"/>
              </a:rPr>
              <a:t>EF</a:t>
            </a:r>
            <a:r>
              <a:rPr sz="2800" spc="350" dirty="0">
                <a:latin typeface="Calibri"/>
                <a:cs typeface="Calibri"/>
              </a:rPr>
              <a:t> </a:t>
            </a:r>
            <a:r>
              <a:rPr sz="2800" dirty="0">
                <a:latin typeface="Calibri"/>
                <a:cs typeface="Calibri"/>
              </a:rPr>
              <a:t>for</a:t>
            </a:r>
            <a:r>
              <a:rPr sz="2800" spc="355" dirty="0">
                <a:latin typeface="Calibri"/>
                <a:cs typeface="Calibri"/>
              </a:rPr>
              <a:t> </a:t>
            </a:r>
            <a:r>
              <a:rPr sz="2800" dirty="0">
                <a:latin typeface="Calibri"/>
                <a:cs typeface="Calibri"/>
              </a:rPr>
              <a:t>the</a:t>
            </a:r>
            <a:r>
              <a:rPr sz="2800" spc="345" dirty="0">
                <a:latin typeface="Calibri"/>
                <a:cs typeface="Calibri"/>
              </a:rPr>
              <a:t> </a:t>
            </a:r>
            <a:r>
              <a:rPr sz="2800" dirty="0">
                <a:latin typeface="Calibri"/>
                <a:cs typeface="Calibri"/>
              </a:rPr>
              <a:t>end</a:t>
            </a:r>
            <a:r>
              <a:rPr sz="2800" spc="355" dirty="0">
                <a:latin typeface="Calibri"/>
                <a:cs typeface="Calibri"/>
              </a:rPr>
              <a:t> </a:t>
            </a:r>
            <a:r>
              <a:rPr sz="2800" dirty="0">
                <a:latin typeface="Calibri"/>
                <a:cs typeface="Calibri"/>
              </a:rPr>
              <a:t>project</a:t>
            </a:r>
            <a:r>
              <a:rPr sz="2800" spc="350" dirty="0">
                <a:latin typeface="Calibri"/>
                <a:cs typeface="Calibri"/>
              </a:rPr>
              <a:t> </a:t>
            </a:r>
            <a:r>
              <a:rPr sz="2800" dirty="0">
                <a:latin typeface="Calibri"/>
                <a:cs typeface="Calibri"/>
              </a:rPr>
              <a:t>activity,</a:t>
            </a:r>
            <a:r>
              <a:rPr sz="2800" spc="350" dirty="0">
                <a:latin typeface="Calibri"/>
                <a:cs typeface="Calibri"/>
              </a:rPr>
              <a:t> </a:t>
            </a:r>
            <a:r>
              <a:rPr sz="2800" spc="-25" dirty="0">
                <a:latin typeface="Calibri"/>
                <a:cs typeface="Calibri"/>
              </a:rPr>
              <a:t>the </a:t>
            </a:r>
            <a:r>
              <a:rPr sz="2800" dirty="0">
                <a:latin typeface="Calibri"/>
                <a:cs typeface="Calibri"/>
              </a:rPr>
              <a:t>critical</a:t>
            </a:r>
            <a:r>
              <a:rPr sz="2800" spc="10" dirty="0">
                <a:latin typeface="Calibri"/>
                <a:cs typeface="Calibri"/>
              </a:rPr>
              <a:t> </a:t>
            </a:r>
            <a:r>
              <a:rPr sz="2800" dirty="0">
                <a:latin typeface="Calibri"/>
                <a:cs typeface="Calibri"/>
              </a:rPr>
              <a:t>path</a:t>
            </a:r>
            <a:r>
              <a:rPr sz="2800" spc="25" dirty="0">
                <a:latin typeface="Calibri"/>
                <a:cs typeface="Calibri"/>
              </a:rPr>
              <a:t> </a:t>
            </a:r>
            <a:r>
              <a:rPr sz="2800" dirty="0">
                <a:latin typeface="Calibri"/>
                <a:cs typeface="Calibri"/>
              </a:rPr>
              <a:t>can</a:t>
            </a:r>
            <a:r>
              <a:rPr sz="2800" spc="25" dirty="0">
                <a:latin typeface="Calibri"/>
                <a:cs typeface="Calibri"/>
              </a:rPr>
              <a:t> </a:t>
            </a:r>
            <a:r>
              <a:rPr sz="2800" dirty="0">
                <a:latin typeface="Calibri"/>
                <a:cs typeface="Calibri"/>
              </a:rPr>
              <a:t>be</a:t>
            </a:r>
            <a:r>
              <a:rPr sz="2800" spc="15" dirty="0">
                <a:latin typeface="Calibri"/>
                <a:cs typeface="Calibri"/>
              </a:rPr>
              <a:t> </a:t>
            </a:r>
            <a:r>
              <a:rPr sz="2800" dirty="0">
                <a:latin typeface="Calibri"/>
                <a:cs typeface="Calibri"/>
              </a:rPr>
              <a:t>identified</a:t>
            </a:r>
            <a:r>
              <a:rPr sz="2800" spc="20" dirty="0">
                <a:latin typeface="Calibri"/>
                <a:cs typeface="Calibri"/>
              </a:rPr>
              <a:t> </a:t>
            </a:r>
            <a:r>
              <a:rPr sz="2800" dirty="0">
                <a:latin typeface="Calibri"/>
                <a:cs typeface="Calibri"/>
              </a:rPr>
              <a:t>as</a:t>
            </a:r>
            <a:r>
              <a:rPr sz="2800" spc="25" dirty="0">
                <a:latin typeface="Calibri"/>
                <a:cs typeface="Calibri"/>
              </a:rPr>
              <a:t> </a:t>
            </a:r>
            <a:r>
              <a:rPr sz="2800" dirty="0">
                <a:latin typeface="Calibri"/>
                <a:cs typeface="Calibri"/>
              </a:rPr>
              <a:t>those</a:t>
            </a:r>
            <a:r>
              <a:rPr sz="2800" spc="15" dirty="0">
                <a:latin typeface="Calibri"/>
                <a:cs typeface="Calibri"/>
              </a:rPr>
              <a:t> </a:t>
            </a:r>
            <a:r>
              <a:rPr sz="2800" dirty="0">
                <a:latin typeface="Calibri"/>
                <a:cs typeface="Calibri"/>
              </a:rPr>
              <a:t>activities</a:t>
            </a:r>
            <a:r>
              <a:rPr sz="2800" spc="25" dirty="0">
                <a:latin typeface="Calibri"/>
                <a:cs typeface="Calibri"/>
              </a:rPr>
              <a:t> </a:t>
            </a:r>
            <a:r>
              <a:rPr sz="2800" dirty="0">
                <a:latin typeface="Calibri"/>
                <a:cs typeface="Calibri"/>
              </a:rPr>
              <a:t>that</a:t>
            </a:r>
            <a:r>
              <a:rPr sz="2800" spc="25" dirty="0">
                <a:latin typeface="Calibri"/>
                <a:cs typeface="Calibri"/>
              </a:rPr>
              <a:t> </a:t>
            </a:r>
            <a:r>
              <a:rPr sz="2800" dirty="0">
                <a:latin typeface="Calibri"/>
                <a:cs typeface="Calibri"/>
              </a:rPr>
              <a:t>also</a:t>
            </a:r>
            <a:r>
              <a:rPr sz="2800" spc="20" dirty="0">
                <a:latin typeface="Calibri"/>
                <a:cs typeface="Calibri"/>
              </a:rPr>
              <a:t> </a:t>
            </a:r>
            <a:r>
              <a:rPr sz="2800" dirty="0">
                <a:latin typeface="Calibri"/>
                <a:cs typeface="Calibri"/>
              </a:rPr>
              <a:t>have</a:t>
            </a:r>
            <a:r>
              <a:rPr sz="2800" spc="15" dirty="0">
                <a:latin typeface="Calibri"/>
                <a:cs typeface="Calibri"/>
              </a:rPr>
              <a:t> </a:t>
            </a:r>
            <a:r>
              <a:rPr sz="2800" dirty="0">
                <a:latin typeface="Calibri"/>
                <a:cs typeface="Calibri"/>
              </a:rPr>
              <a:t>LF</a:t>
            </a:r>
            <a:r>
              <a:rPr sz="2800" spc="25" dirty="0">
                <a:latin typeface="Calibri"/>
                <a:cs typeface="Calibri"/>
              </a:rPr>
              <a:t> </a:t>
            </a:r>
            <a:r>
              <a:rPr sz="2800" dirty="0">
                <a:latin typeface="Calibri"/>
                <a:cs typeface="Calibri"/>
              </a:rPr>
              <a:t>=</a:t>
            </a:r>
            <a:r>
              <a:rPr sz="2800" spc="30" dirty="0">
                <a:latin typeface="Calibri"/>
                <a:cs typeface="Calibri"/>
              </a:rPr>
              <a:t> </a:t>
            </a:r>
            <a:r>
              <a:rPr sz="2800" spc="-25" dirty="0">
                <a:latin typeface="Calibri"/>
                <a:cs typeface="Calibri"/>
              </a:rPr>
              <a:t>EF </a:t>
            </a:r>
            <a:r>
              <a:rPr sz="2800" dirty="0">
                <a:latin typeface="Calibri"/>
                <a:cs typeface="Calibri"/>
              </a:rPr>
              <a:t>or</a:t>
            </a:r>
            <a:r>
              <a:rPr sz="2800" spc="-25" dirty="0">
                <a:latin typeface="Calibri"/>
                <a:cs typeface="Calibri"/>
              </a:rPr>
              <a:t> </a:t>
            </a:r>
            <a:r>
              <a:rPr sz="2800" dirty="0">
                <a:latin typeface="Calibri"/>
                <a:cs typeface="Calibri"/>
              </a:rPr>
              <a:t>a</a:t>
            </a:r>
            <a:r>
              <a:rPr sz="2800" spc="-20" dirty="0">
                <a:latin typeface="Calibri"/>
                <a:cs typeface="Calibri"/>
              </a:rPr>
              <a:t> </a:t>
            </a:r>
            <a:r>
              <a:rPr sz="2800" dirty="0">
                <a:latin typeface="Calibri"/>
                <a:cs typeface="Calibri"/>
              </a:rPr>
              <a:t>slack</a:t>
            </a:r>
            <a:r>
              <a:rPr sz="2800" spc="-15" dirty="0">
                <a:latin typeface="Calibri"/>
                <a:cs typeface="Calibri"/>
              </a:rPr>
              <a:t> </a:t>
            </a:r>
            <a:r>
              <a:rPr sz="2800" dirty="0">
                <a:latin typeface="Calibri"/>
                <a:cs typeface="Calibri"/>
              </a:rPr>
              <a:t>of</a:t>
            </a:r>
            <a:r>
              <a:rPr sz="2800" spc="-25" dirty="0">
                <a:latin typeface="Calibri"/>
                <a:cs typeface="Calibri"/>
              </a:rPr>
              <a:t> </a:t>
            </a:r>
            <a:r>
              <a:rPr sz="2800" dirty="0">
                <a:latin typeface="Calibri"/>
                <a:cs typeface="Calibri"/>
              </a:rPr>
              <a:t>zero</a:t>
            </a:r>
            <a:r>
              <a:rPr sz="2800" spc="-20" dirty="0">
                <a:latin typeface="Calibri"/>
                <a:cs typeface="Calibri"/>
              </a:rPr>
              <a:t> </a:t>
            </a:r>
            <a:r>
              <a:rPr sz="2800" dirty="0">
                <a:latin typeface="Calibri"/>
                <a:cs typeface="Calibri"/>
              </a:rPr>
              <a:t>(LF</a:t>
            </a:r>
            <a:r>
              <a:rPr sz="2800" spc="-15" dirty="0">
                <a:latin typeface="Calibri"/>
                <a:cs typeface="Calibri"/>
              </a:rPr>
              <a:t> </a:t>
            </a:r>
            <a:r>
              <a:rPr sz="2800" dirty="0">
                <a:latin typeface="Calibri"/>
                <a:cs typeface="Calibri"/>
              </a:rPr>
              <a:t>−</a:t>
            </a:r>
            <a:r>
              <a:rPr sz="2800" spc="-10" dirty="0">
                <a:latin typeface="Calibri"/>
                <a:cs typeface="Calibri"/>
              </a:rPr>
              <a:t> </a:t>
            </a:r>
            <a:r>
              <a:rPr sz="2800" dirty="0">
                <a:latin typeface="Calibri"/>
                <a:cs typeface="Calibri"/>
              </a:rPr>
              <a:t>EF</a:t>
            </a:r>
            <a:r>
              <a:rPr sz="2800" spc="-15" dirty="0">
                <a:latin typeface="Calibri"/>
                <a:cs typeface="Calibri"/>
              </a:rPr>
              <a:t> </a:t>
            </a:r>
            <a:r>
              <a:rPr sz="2800" dirty="0">
                <a:latin typeface="Calibri"/>
                <a:cs typeface="Calibri"/>
              </a:rPr>
              <a:t>=</a:t>
            </a:r>
            <a:r>
              <a:rPr sz="2800" spc="-10" dirty="0">
                <a:latin typeface="Calibri"/>
                <a:cs typeface="Calibri"/>
              </a:rPr>
              <a:t> </a:t>
            </a:r>
            <a:r>
              <a:rPr sz="2800" dirty="0">
                <a:latin typeface="Calibri"/>
                <a:cs typeface="Calibri"/>
              </a:rPr>
              <a:t>0</a:t>
            </a:r>
            <a:r>
              <a:rPr sz="2800" spc="-10" dirty="0">
                <a:latin typeface="Calibri"/>
                <a:cs typeface="Calibri"/>
              </a:rPr>
              <a:t> </a:t>
            </a:r>
            <a:r>
              <a:rPr sz="2800" dirty="0">
                <a:latin typeface="Calibri"/>
                <a:cs typeface="Calibri"/>
              </a:rPr>
              <a:t>or</a:t>
            </a:r>
            <a:r>
              <a:rPr sz="2800" spc="-25" dirty="0">
                <a:latin typeface="Calibri"/>
                <a:cs typeface="Calibri"/>
              </a:rPr>
              <a:t> </a:t>
            </a:r>
            <a:r>
              <a:rPr sz="2800" dirty="0">
                <a:latin typeface="Calibri"/>
                <a:cs typeface="Calibri"/>
              </a:rPr>
              <a:t>LS</a:t>
            </a:r>
            <a:r>
              <a:rPr sz="2800" spc="-15" dirty="0">
                <a:latin typeface="Calibri"/>
                <a:cs typeface="Calibri"/>
              </a:rPr>
              <a:t> </a:t>
            </a:r>
            <a:r>
              <a:rPr sz="2800" dirty="0">
                <a:latin typeface="Calibri"/>
                <a:cs typeface="Calibri"/>
              </a:rPr>
              <a:t>−</a:t>
            </a:r>
            <a:r>
              <a:rPr sz="2800" spc="-10" dirty="0">
                <a:latin typeface="Calibri"/>
                <a:cs typeface="Calibri"/>
              </a:rPr>
              <a:t> </a:t>
            </a:r>
            <a:r>
              <a:rPr sz="2800" dirty="0">
                <a:latin typeface="Calibri"/>
                <a:cs typeface="Calibri"/>
              </a:rPr>
              <a:t>ES</a:t>
            </a:r>
            <a:r>
              <a:rPr sz="2800" spc="-15" dirty="0">
                <a:latin typeface="Calibri"/>
                <a:cs typeface="Calibri"/>
              </a:rPr>
              <a:t> </a:t>
            </a:r>
            <a:r>
              <a:rPr sz="2800" dirty="0">
                <a:latin typeface="Calibri"/>
                <a:cs typeface="Calibri"/>
              </a:rPr>
              <a:t>=</a:t>
            </a:r>
            <a:r>
              <a:rPr sz="2800" spc="-10" dirty="0">
                <a:latin typeface="Calibri"/>
                <a:cs typeface="Calibri"/>
              </a:rPr>
              <a:t> </a:t>
            </a:r>
            <a:r>
              <a:rPr sz="2800" spc="-25" dirty="0">
                <a:latin typeface="Calibri"/>
                <a:cs typeface="Calibri"/>
              </a:rPr>
              <a:t>0).</a:t>
            </a:r>
            <a:endParaRPr sz="2800">
              <a:latin typeface="Calibri"/>
              <a:cs typeface="Calibri"/>
            </a:endParaRPr>
          </a:p>
          <a:p>
            <a:pPr marL="241300" marR="5715" indent="-228600" algn="just">
              <a:lnSpc>
                <a:spcPts val="3000"/>
              </a:lnSpc>
              <a:spcBef>
                <a:spcPts val="1050"/>
              </a:spcBef>
              <a:buFont typeface="Arial MT"/>
              <a:buChar char="•"/>
              <a:tabLst>
                <a:tab pos="241300" algn="l"/>
              </a:tabLst>
            </a:pPr>
            <a:r>
              <a:rPr sz="2800" i="1" dirty="0">
                <a:solidFill>
                  <a:srgbClr val="C00000"/>
                </a:solidFill>
                <a:latin typeface="Calibri"/>
                <a:cs typeface="Calibri"/>
              </a:rPr>
              <a:t>The</a:t>
            </a:r>
            <a:r>
              <a:rPr sz="2800" i="1" spc="100" dirty="0">
                <a:solidFill>
                  <a:srgbClr val="C00000"/>
                </a:solidFill>
                <a:latin typeface="Calibri"/>
                <a:cs typeface="Calibri"/>
              </a:rPr>
              <a:t> </a:t>
            </a:r>
            <a:r>
              <a:rPr sz="2800" i="1" dirty="0">
                <a:solidFill>
                  <a:srgbClr val="C00000"/>
                </a:solidFill>
                <a:latin typeface="Calibri"/>
                <a:cs typeface="Calibri"/>
              </a:rPr>
              <a:t>critical</a:t>
            </a:r>
            <a:r>
              <a:rPr sz="2800" i="1" spc="100" dirty="0">
                <a:solidFill>
                  <a:srgbClr val="C00000"/>
                </a:solidFill>
                <a:latin typeface="Calibri"/>
                <a:cs typeface="Calibri"/>
              </a:rPr>
              <a:t> </a:t>
            </a:r>
            <a:r>
              <a:rPr sz="2800" i="1" dirty="0">
                <a:solidFill>
                  <a:srgbClr val="C00000"/>
                </a:solidFill>
                <a:latin typeface="Calibri"/>
                <a:cs typeface="Calibri"/>
              </a:rPr>
              <a:t>path</a:t>
            </a:r>
            <a:r>
              <a:rPr sz="2800" i="1" spc="105" dirty="0">
                <a:solidFill>
                  <a:srgbClr val="C00000"/>
                </a:solidFill>
                <a:latin typeface="Calibri"/>
                <a:cs typeface="Calibri"/>
              </a:rPr>
              <a:t> </a:t>
            </a:r>
            <a:r>
              <a:rPr sz="2800" i="1" dirty="0">
                <a:solidFill>
                  <a:srgbClr val="C00000"/>
                </a:solidFill>
                <a:latin typeface="Calibri"/>
                <a:cs typeface="Calibri"/>
              </a:rPr>
              <a:t>is</a:t>
            </a:r>
            <a:r>
              <a:rPr sz="2800" i="1" spc="105" dirty="0">
                <a:solidFill>
                  <a:srgbClr val="C00000"/>
                </a:solidFill>
                <a:latin typeface="Calibri"/>
                <a:cs typeface="Calibri"/>
              </a:rPr>
              <a:t> </a:t>
            </a:r>
            <a:r>
              <a:rPr sz="2800" i="1" dirty="0">
                <a:solidFill>
                  <a:srgbClr val="C00000"/>
                </a:solidFill>
                <a:latin typeface="Calibri"/>
                <a:cs typeface="Calibri"/>
              </a:rPr>
              <a:t>the</a:t>
            </a:r>
            <a:r>
              <a:rPr sz="2800" i="1" spc="100" dirty="0">
                <a:solidFill>
                  <a:srgbClr val="C00000"/>
                </a:solidFill>
                <a:latin typeface="Calibri"/>
                <a:cs typeface="Calibri"/>
              </a:rPr>
              <a:t> </a:t>
            </a:r>
            <a:r>
              <a:rPr sz="2800" i="1" dirty="0">
                <a:solidFill>
                  <a:srgbClr val="C00000"/>
                </a:solidFill>
                <a:latin typeface="Calibri"/>
                <a:cs typeface="Calibri"/>
              </a:rPr>
              <a:t>network</a:t>
            </a:r>
            <a:r>
              <a:rPr sz="2800" i="1" spc="105" dirty="0">
                <a:solidFill>
                  <a:srgbClr val="C00000"/>
                </a:solidFill>
                <a:latin typeface="Calibri"/>
                <a:cs typeface="Calibri"/>
              </a:rPr>
              <a:t> </a:t>
            </a:r>
            <a:r>
              <a:rPr sz="2800" i="1" dirty="0">
                <a:solidFill>
                  <a:srgbClr val="C00000"/>
                </a:solidFill>
                <a:latin typeface="Calibri"/>
                <a:cs typeface="Calibri"/>
              </a:rPr>
              <a:t>path(s)</a:t>
            </a:r>
            <a:r>
              <a:rPr sz="2800" i="1" spc="105" dirty="0">
                <a:solidFill>
                  <a:srgbClr val="C00000"/>
                </a:solidFill>
                <a:latin typeface="Calibri"/>
                <a:cs typeface="Calibri"/>
              </a:rPr>
              <a:t> </a:t>
            </a:r>
            <a:r>
              <a:rPr sz="2800" i="1" dirty="0">
                <a:solidFill>
                  <a:srgbClr val="C00000"/>
                </a:solidFill>
                <a:latin typeface="Calibri"/>
                <a:cs typeface="Calibri"/>
              </a:rPr>
              <a:t>that</a:t>
            </a:r>
            <a:r>
              <a:rPr sz="2800" i="1" spc="105" dirty="0">
                <a:solidFill>
                  <a:srgbClr val="C00000"/>
                </a:solidFill>
                <a:latin typeface="Calibri"/>
                <a:cs typeface="Calibri"/>
              </a:rPr>
              <a:t> </a:t>
            </a:r>
            <a:r>
              <a:rPr sz="2800" i="1" dirty="0">
                <a:solidFill>
                  <a:srgbClr val="C00000"/>
                </a:solidFill>
                <a:latin typeface="Calibri"/>
                <a:cs typeface="Calibri"/>
              </a:rPr>
              <a:t>has</a:t>
            </a:r>
            <a:r>
              <a:rPr sz="2800" i="1" spc="100" dirty="0">
                <a:solidFill>
                  <a:srgbClr val="C00000"/>
                </a:solidFill>
                <a:latin typeface="Calibri"/>
                <a:cs typeface="Calibri"/>
              </a:rPr>
              <a:t> </a:t>
            </a:r>
            <a:r>
              <a:rPr sz="2800" i="1" dirty="0">
                <a:solidFill>
                  <a:srgbClr val="C00000"/>
                </a:solidFill>
                <a:latin typeface="Calibri"/>
                <a:cs typeface="Calibri"/>
              </a:rPr>
              <a:t>(have)</a:t>
            </a:r>
            <a:r>
              <a:rPr sz="2800" i="1" spc="100" dirty="0">
                <a:solidFill>
                  <a:srgbClr val="C00000"/>
                </a:solidFill>
                <a:latin typeface="Calibri"/>
                <a:cs typeface="Calibri"/>
              </a:rPr>
              <a:t> </a:t>
            </a:r>
            <a:r>
              <a:rPr sz="2800" i="1" dirty="0">
                <a:solidFill>
                  <a:srgbClr val="C00000"/>
                </a:solidFill>
                <a:latin typeface="Calibri"/>
                <a:cs typeface="Calibri"/>
              </a:rPr>
              <a:t>the</a:t>
            </a:r>
            <a:r>
              <a:rPr sz="2800" i="1" spc="105" dirty="0">
                <a:solidFill>
                  <a:srgbClr val="C00000"/>
                </a:solidFill>
                <a:latin typeface="Calibri"/>
                <a:cs typeface="Calibri"/>
              </a:rPr>
              <a:t> </a:t>
            </a:r>
            <a:r>
              <a:rPr sz="2800" i="1" dirty="0">
                <a:solidFill>
                  <a:srgbClr val="C00000"/>
                </a:solidFill>
                <a:latin typeface="Calibri"/>
                <a:cs typeface="Calibri"/>
              </a:rPr>
              <a:t>least</a:t>
            </a:r>
            <a:r>
              <a:rPr sz="2800" i="1" spc="100" dirty="0">
                <a:solidFill>
                  <a:srgbClr val="C00000"/>
                </a:solidFill>
                <a:latin typeface="Calibri"/>
                <a:cs typeface="Calibri"/>
              </a:rPr>
              <a:t> </a:t>
            </a:r>
            <a:r>
              <a:rPr sz="2800" i="1" spc="-10" dirty="0">
                <a:solidFill>
                  <a:srgbClr val="C00000"/>
                </a:solidFill>
                <a:latin typeface="Calibri"/>
                <a:cs typeface="Calibri"/>
              </a:rPr>
              <a:t>slack </a:t>
            </a:r>
            <a:r>
              <a:rPr sz="2800" i="1" dirty="0">
                <a:solidFill>
                  <a:srgbClr val="C00000"/>
                </a:solidFill>
                <a:latin typeface="Calibri"/>
                <a:cs typeface="Calibri"/>
              </a:rPr>
              <a:t>in</a:t>
            </a:r>
            <a:r>
              <a:rPr sz="2800" i="1" spc="-5" dirty="0">
                <a:solidFill>
                  <a:srgbClr val="C00000"/>
                </a:solidFill>
                <a:latin typeface="Calibri"/>
                <a:cs typeface="Calibri"/>
              </a:rPr>
              <a:t> </a:t>
            </a:r>
            <a:r>
              <a:rPr sz="2800" i="1" spc="-10" dirty="0">
                <a:solidFill>
                  <a:srgbClr val="C00000"/>
                </a:solidFill>
                <a:latin typeface="Calibri"/>
                <a:cs typeface="Calibri"/>
              </a:rPr>
              <a:t>common.</a:t>
            </a:r>
            <a:endParaRPr sz="2800">
              <a:latin typeface="Calibri"/>
              <a:cs typeface="Calibri"/>
            </a:endParaRPr>
          </a:p>
        </p:txBody>
      </p:sp>
      <p:pic>
        <p:nvPicPr>
          <p:cNvPr id="5" name="Picture 4">
            <a:extLst>
              <a:ext uri="{FF2B5EF4-FFF2-40B4-BE49-F238E27FC236}">
                <a16:creationId xmlns:a16="http://schemas.microsoft.com/office/drawing/2014/main" id="{974B3C4D-2272-4D6C-DD18-2F430D31149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16063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051221" y="1767844"/>
            <a:ext cx="8205768" cy="5090155"/>
          </a:xfrm>
          <a:prstGeom prst="rect">
            <a:avLst/>
          </a:prstGeom>
        </p:spPr>
      </p:pic>
      <p:sp>
        <p:nvSpPr>
          <p:cNvPr id="3" name="object 3"/>
          <p:cNvSpPr txBox="1"/>
          <p:nvPr/>
        </p:nvSpPr>
        <p:spPr>
          <a:xfrm>
            <a:off x="9236029" y="1581403"/>
            <a:ext cx="2748915" cy="5237480"/>
          </a:xfrm>
          <a:prstGeom prst="rect">
            <a:avLst/>
          </a:prstGeom>
        </p:spPr>
        <p:txBody>
          <a:bodyPr vert="horz" wrap="square" lIns="0" tIns="12700" rIns="0" bIns="0" rtlCol="0">
            <a:spAutoFit/>
          </a:bodyPr>
          <a:lstStyle/>
          <a:p>
            <a:pPr marL="212725" marR="67945" indent="-174625" algn="just">
              <a:lnSpc>
                <a:spcPct val="100000"/>
              </a:lnSpc>
              <a:spcBef>
                <a:spcPts val="100"/>
              </a:spcBef>
              <a:buFont typeface="Arial MT"/>
              <a:buChar char="•"/>
              <a:tabLst>
                <a:tab pos="212725" algn="l"/>
              </a:tabLst>
            </a:pPr>
            <a:r>
              <a:rPr sz="1800" dirty="0">
                <a:latin typeface="Calibri"/>
                <a:cs typeface="Calibri"/>
              </a:rPr>
              <a:t>If</a:t>
            </a:r>
            <a:r>
              <a:rPr sz="1800" spc="470" dirty="0">
                <a:latin typeface="Calibri"/>
                <a:cs typeface="Calibri"/>
              </a:rPr>
              <a:t>  </a:t>
            </a:r>
            <a:r>
              <a:rPr sz="1800" dirty="0">
                <a:latin typeface="Calibri"/>
                <a:cs typeface="Calibri"/>
              </a:rPr>
              <a:t>total</a:t>
            </a:r>
            <a:r>
              <a:rPr sz="1800" spc="470" dirty="0">
                <a:latin typeface="Calibri"/>
                <a:cs typeface="Calibri"/>
              </a:rPr>
              <a:t>  </a:t>
            </a:r>
            <a:r>
              <a:rPr sz="1800" dirty="0">
                <a:latin typeface="Calibri"/>
                <a:cs typeface="Calibri"/>
              </a:rPr>
              <a:t>slack</a:t>
            </a:r>
            <a:r>
              <a:rPr sz="1800" spc="470" dirty="0">
                <a:latin typeface="Calibri"/>
                <a:cs typeface="Calibri"/>
              </a:rPr>
              <a:t>  </a:t>
            </a:r>
            <a:r>
              <a:rPr sz="1800" dirty="0">
                <a:latin typeface="Calibri"/>
                <a:cs typeface="Calibri"/>
              </a:rPr>
              <a:t>of</a:t>
            </a:r>
            <a:r>
              <a:rPr sz="1800" spc="475" dirty="0">
                <a:latin typeface="Calibri"/>
                <a:cs typeface="Calibri"/>
              </a:rPr>
              <a:t>  </a:t>
            </a:r>
            <a:r>
              <a:rPr sz="1800" spc="-25" dirty="0">
                <a:latin typeface="Calibri"/>
                <a:cs typeface="Calibri"/>
              </a:rPr>
              <a:t>one </a:t>
            </a:r>
            <a:r>
              <a:rPr sz="1800" dirty="0">
                <a:latin typeface="Calibri"/>
                <a:cs typeface="Calibri"/>
              </a:rPr>
              <a:t>activity</a:t>
            </a:r>
            <a:r>
              <a:rPr sz="1800" spc="260" dirty="0">
                <a:latin typeface="Calibri"/>
                <a:cs typeface="Calibri"/>
              </a:rPr>
              <a:t> </a:t>
            </a:r>
            <a:r>
              <a:rPr sz="1800" dirty="0">
                <a:latin typeface="Calibri"/>
                <a:cs typeface="Calibri"/>
              </a:rPr>
              <a:t>in</a:t>
            </a:r>
            <a:r>
              <a:rPr sz="1800" spc="270" dirty="0">
                <a:latin typeface="Calibri"/>
                <a:cs typeface="Calibri"/>
              </a:rPr>
              <a:t> </a:t>
            </a:r>
            <a:r>
              <a:rPr sz="1800" dirty="0">
                <a:latin typeface="Calibri"/>
                <a:cs typeface="Calibri"/>
              </a:rPr>
              <a:t>a</a:t>
            </a:r>
            <a:r>
              <a:rPr sz="1800" spc="270" dirty="0">
                <a:latin typeface="Calibri"/>
                <a:cs typeface="Calibri"/>
              </a:rPr>
              <a:t> </a:t>
            </a:r>
            <a:r>
              <a:rPr sz="1800" dirty="0">
                <a:latin typeface="Calibri"/>
                <a:cs typeface="Calibri"/>
              </a:rPr>
              <a:t>path</a:t>
            </a:r>
            <a:r>
              <a:rPr sz="1800" spc="270" dirty="0">
                <a:latin typeface="Calibri"/>
                <a:cs typeface="Calibri"/>
              </a:rPr>
              <a:t> </a:t>
            </a:r>
            <a:r>
              <a:rPr sz="1800" dirty="0">
                <a:latin typeface="Calibri"/>
                <a:cs typeface="Calibri"/>
              </a:rPr>
              <a:t>is</a:t>
            </a:r>
            <a:r>
              <a:rPr sz="1800" spc="265" dirty="0">
                <a:latin typeface="Calibri"/>
                <a:cs typeface="Calibri"/>
              </a:rPr>
              <a:t> </a:t>
            </a:r>
            <a:r>
              <a:rPr sz="1800" spc="-20" dirty="0">
                <a:latin typeface="Calibri"/>
                <a:cs typeface="Calibri"/>
              </a:rPr>
              <a:t>used, </a:t>
            </a:r>
            <a:r>
              <a:rPr sz="1800" dirty="0">
                <a:latin typeface="Calibri"/>
                <a:cs typeface="Calibri"/>
              </a:rPr>
              <a:t>the</a:t>
            </a:r>
            <a:r>
              <a:rPr sz="1800" spc="200" dirty="0">
                <a:latin typeface="Calibri"/>
                <a:cs typeface="Calibri"/>
              </a:rPr>
              <a:t>  </a:t>
            </a:r>
            <a:r>
              <a:rPr sz="1800" dirty="0">
                <a:latin typeface="Calibri"/>
                <a:cs typeface="Calibri"/>
              </a:rPr>
              <a:t>ES</a:t>
            </a:r>
            <a:r>
              <a:rPr sz="1800" spc="204" dirty="0">
                <a:latin typeface="Calibri"/>
                <a:cs typeface="Calibri"/>
              </a:rPr>
              <a:t>  </a:t>
            </a:r>
            <a:r>
              <a:rPr sz="1800" dirty="0">
                <a:latin typeface="Calibri"/>
                <a:cs typeface="Calibri"/>
              </a:rPr>
              <a:t>for</a:t>
            </a:r>
            <a:r>
              <a:rPr sz="1800" spc="200" dirty="0">
                <a:latin typeface="Calibri"/>
                <a:cs typeface="Calibri"/>
              </a:rPr>
              <a:t>  </a:t>
            </a:r>
            <a:r>
              <a:rPr sz="1800" dirty="0">
                <a:latin typeface="Calibri"/>
                <a:cs typeface="Calibri"/>
              </a:rPr>
              <a:t>all</a:t>
            </a:r>
            <a:r>
              <a:rPr sz="1800" spc="204" dirty="0">
                <a:latin typeface="Calibri"/>
                <a:cs typeface="Calibri"/>
              </a:rPr>
              <a:t>  </a:t>
            </a:r>
            <a:r>
              <a:rPr sz="1800" spc="-10" dirty="0">
                <a:latin typeface="Calibri"/>
                <a:cs typeface="Calibri"/>
              </a:rPr>
              <a:t>activities </a:t>
            </a:r>
            <a:r>
              <a:rPr sz="1800" dirty="0">
                <a:latin typeface="Calibri"/>
                <a:cs typeface="Calibri"/>
              </a:rPr>
              <a:t>that</a:t>
            </a:r>
            <a:r>
              <a:rPr sz="1800" spc="80" dirty="0">
                <a:latin typeface="Calibri"/>
                <a:cs typeface="Calibri"/>
              </a:rPr>
              <a:t>  </a:t>
            </a:r>
            <a:r>
              <a:rPr sz="1800" dirty="0">
                <a:latin typeface="Calibri"/>
                <a:cs typeface="Calibri"/>
              </a:rPr>
              <a:t>follow</a:t>
            </a:r>
            <a:r>
              <a:rPr sz="1800" spc="85" dirty="0">
                <a:latin typeface="Calibri"/>
                <a:cs typeface="Calibri"/>
              </a:rPr>
              <a:t>  </a:t>
            </a:r>
            <a:r>
              <a:rPr sz="1800" dirty="0">
                <a:latin typeface="Calibri"/>
                <a:cs typeface="Calibri"/>
              </a:rPr>
              <a:t>in</a:t>
            </a:r>
            <a:r>
              <a:rPr sz="1800" spc="85" dirty="0">
                <a:latin typeface="Calibri"/>
                <a:cs typeface="Calibri"/>
              </a:rPr>
              <a:t>  </a:t>
            </a:r>
            <a:r>
              <a:rPr sz="1800" dirty="0">
                <a:latin typeface="Calibri"/>
                <a:cs typeface="Calibri"/>
              </a:rPr>
              <a:t>the</a:t>
            </a:r>
            <a:r>
              <a:rPr sz="1800" spc="85" dirty="0">
                <a:latin typeface="Calibri"/>
                <a:cs typeface="Calibri"/>
              </a:rPr>
              <a:t>  </a:t>
            </a:r>
            <a:r>
              <a:rPr sz="1800" spc="-10" dirty="0">
                <a:latin typeface="Calibri"/>
                <a:cs typeface="Calibri"/>
              </a:rPr>
              <a:t>chain </a:t>
            </a:r>
            <a:r>
              <a:rPr sz="1800" dirty="0">
                <a:latin typeface="Calibri"/>
                <a:cs typeface="Calibri"/>
              </a:rPr>
              <a:t>will</a:t>
            </a:r>
            <a:r>
              <a:rPr sz="1800" spc="300" dirty="0">
                <a:latin typeface="Calibri"/>
                <a:cs typeface="Calibri"/>
              </a:rPr>
              <a:t> </a:t>
            </a:r>
            <a:r>
              <a:rPr sz="1800" dirty="0">
                <a:latin typeface="Calibri"/>
                <a:cs typeface="Calibri"/>
              </a:rPr>
              <a:t>be</a:t>
            </a:r>
            <a:r>
              <a:rPr sz="1800" spc="305" dirty="0">
                <a:latin typeface="Calibri"/>
                <a:cs typeface="Calibri"/>
              </a:rPr>
              <a:t> </a:t>
            </a:r>
            <a:r>
              <a:rPr sz="1800" dirty="0">
                <a:latin typeface="Calibri"/>
                <a:cs typeface="Calibri"/>
              </a:rPr>
              <a:t>delayed</a:t>
            </a:r>
            <a:r>
              <a:rPr sz="1800" spc="310" dirty="0">
                <a:latin typeface="Calibri"/>
                <a:cs typeface="Calibri"/>
              </a:rPr>
              <a:t> </a:t>
            </a:r>
            <a:r>
              <a:rPr sz="1800" dirty="0">
                <a:latin typeface="Calibri"/>
                <a:cs typeface="Calibri"/>
              </a:rPr>
              <a:t>and</a:t>
            </a:r>
            <a:r>
              <a:rPr sz="1800" spc="310" dirty="0">
                <a:latin typeface="Calibri"/>
                <a:cs typeface="Calibri"/>
              </a:rPr>
              <a:t> </a:t>
            </a:r>
            <a:r>
              <a:rPr sz="1800" spc="-20" dirty="0">
                <a:latin typeface="Calibri"/>
                <a:cs typeface="Calibri"/>
              </a:rPr>
              <a:t>their </a:t>
            </a:r>
            <a:r>
              <a:rPr sz="1800" dirty="0">
                <a:latin typeface="Calibri"/>
                <a:cs typeface="Calibri"/>
              </a:rPr>
              <a:t>slack</a:t>
            </a:r>
            <a:r>
              <a:rPr sz="1800" spc="-35" dirty="0">
                <a:latin typeface="Calibri"/>
                <a:cs typeface="Calibri"/>
              </a:rPr>
              <a:t> </a:t>
            </a:r>
            <a:r>
              <a:rPr sz="1800" spc="-10" dirty="0">
                <a:latin typeface="Calibri"/>
                <a:cs typeface="Calibri"/>
              </a:rPr>
              <a:t>reduced.</a:t>
            </a:r>
            <a:endParaRPr sz="1800">
              <a:latin typeface="Calibri"/>
              <a:cs typeface="Calibri"/>
            </a:endParaRPr>
          </a:p>
          <a:p>
            <a:pPr marL="212090" indent="-173990" algn="just">
              <a:lnSpc>
                <a:spcPts val="2090"/>
              </a:lnSpc>
              <a:buFont typeface="Arial MT"/>
              <a:buChar char="•"/>
              <a:tabLst>
                <a:tab pos="212090" algn="l"/>
              </a:tabLst>
            </a:pPr>
            <a:r>
              <a:rPr sz="1800" dirty="0">
                <a:latin typeface="Calibri"/>
                <a:cs typeface="Calibri"/>
              </a:rPr>
              <a:t>Use</a:t>
            </a:r>
            <a:r>
              <a:rPr sz="1800" spc="105" dirty="0">
                <a:latin typeface="Calibri"/>
                <a:cs typeface="Calibri"/>
              </a:rPr>
              <a:t> </a:t>
            </a:r>
            <a:r>
              <a:rPr sz="1800" dirty="0">
                <a:latin typeface="Calibri"/>
                <a:cs typeface="Calibri"/>
              </a:rPr>
              <a:t>of</a:t>
            </a:r>
            <a:r>
              <a:rPr sz="1800" spc="100" dirty="0">
                <a:latin typeface="Calibri"/>
                <a:cs typeface="Calibri"/>
              </a:rPr>
              <a:t> </a:t>
            </a:r>
            <a:r>
              <a:rPr sz="1800" dirty="0">
                <a:latin typeface="Calibri"/>
                <a:cs typeface="Calibri"/>
              </a:rPr>
              <a:t>total</a:t>
            </a:r>
            <a:r>
              <a:rPr sz="1800" spc="110" dirty="0">
                <a:latin typeface="Calibri"/>
                <a:cs typeface="Calibri"/>
              </a:rPr>
              <a:t> </a:t>
            </a:r>
            <a:r>
              <a:rPr sz="1800" dirty="0">
                <a:latin typeface="Calibri"/>
                <a:cs typeface="Calibri"/>
              </a:rPr>
              <a:t>slack</a:t>
            </a:r>
            <a:r>
              <a:rPr sz="1800" spc="100" dirty="0">
                <a:latin typeface="Calibri"/>
                <a:cs typeface="Calibri"/>
              </a:rPr>
              <a:t> </a:t>
            </a:r>
            <a:r>
              <a:rPr sz="1800" i="1" dirty="0">
                <a:latin typeface="Calibri"/>
                <a:cs typeface="Calibri"/>
              </a:rPr>
              <a:t>must</a:t>
            </a:r>
            <a:r>
              <a:rPr sz="1800" i="1" spc="100" dirty="0">
                <a:latin typeface="Calibri"/>
                <a:cs typeface="Calibri"/>
              </a:rPr>
              <a:t> </a:t>
            </a:r>
            <a:r>
              <a:rPr sz="1800" i="1" spc="-25" dirty="0">
                <a:latin typeface="Calibri"/>
                <a:cs typeface="Calibri"/>
              </a:rPr>
              <a:t>be</a:t>
            </a:r>
            <a:endParaRPr sz="1800">
              <a:latin typeface="Calibri"/>
              <a:cs typeface="Calibri"/>
            </a:endParaRPr>
          </a:p>
          <a:p>
            <a:pPr marL="212725" marR="69215" algn="just">
              <a:lnSpc>
                <a:spcPct val="100400"/>
              </a:lnSpc>
              <a:spcBef>
                <a:spcPts val="40"/>
              </a:spcBef>
            </a:pPr>
            <a:r>
              <a:rPr sz="1800" i="1" dirty="0">
                <a:latin typeface="Calibri"/>
                <a:cs typeface="Calibri"/>
              </a:rPr>
              <a:t>coordinated</a:t>
            </a:r>
            <a:r>
              <a:rPr sz="1800" i="1" spc="290" dirty="0">
                <a:latin typeface="Calibri"/>
                <a:cs typeface="Calibri"/>
              </a:rPr>
              <a:t>    </a:t>
            </a:r>
            <a:r>
              <a:rPr sz="1800" dirty="0">
                <a:latin typeface="Calibri"/>
                <a:cs typeface="Calibri"/>
              </a:rPr>
              <a:t>with</a:t>
            </a:r>
            <a:r>
              <a:rPr sz="1800" spc="295" dirty="0">
                <a:latin typeface="Calibri"/>
                <a:cs typeface="Calibri"/>
              </a:rPr>
              <a:t>    </a:t>
            </a:r>
            <a:r>
              <a:rPr sz="1800" spc="-25" dirty="0">
                <a:latin typeface="Calibri"/>
                <a:cs typeface="Calibri"/>
              </a:rPr>
              <a:t>all </a:t>
            </a:r>
            <a:r>
              <a:rPr sz="1800" dirty="0">
                <a:latin typeface="Calibri"/>
                <a:cs typeface="Calibri"/>
              </a:rPr>
              <a:t>participants</a:t>
            </a:r>
            <a:r>
              <a:rPr sz="1800" spc="440" dirty="0">
                <a:latin typeface="Calibri"/>
                <a:cs typeface="Calibri"/>
              </a:rPr>
              <a:t>    </a:t>
            </a:r>
            <a:r>
              <a:rPr sz="1800" dirty="0">
                <a:latin typeface="Calibri"/>
                <a:cs typeface="Calibri"/>
              </a:rPr>
              <a:t>in</a:t>
            </a:r>
            <a:r>
              <a:rPr sz="1800" spc="445" dirty="0">
                <a:latin typeface="Calibri"/>
                <a:cs typeface="Calibri"/>
              </a:rPr>
              <a:t>    </a:t>
            </a:r>
            <a:r>
              <a:rPr sz="1800" spc="-25" dirty="0">
                <a:latin typeface="Calibri"/>
                <a:cs typeface="Calibri"/>
              </a:rPr>
              <a:t>the </a:t>
            </a:r>
            <a:r>
              <a:rPr sz="1800" dirty="0">
                <a:latin typeface="Calibri"/>
                <a:cs typeface="Calibri"/>
              </a:rPr>
              <a:t>activities</a:t>
            </a:r>
            <a:r>
              <a:rPr sz="1800" spc="229" dirty="0">
                <a:latin typeface="Calibri"/>
                <a:cs typeface="Calibri"/>
              </a:rPr>
              <a:t>  </a:t>
            </a:r>
            <a:r>
              <a:rPr sz="1800" dirty="0">
                <a:latin typeface="Calibri"/>
                <a:cs typeface="Calibri"/>
              </a:rPr>
              <a:t>that</a:t>
            </a:r>
            <a:r>
              <a:rPr sz="1800" spc="229" dirty="0">
                <a:latin typeface="Calibri"/>
                <a:cs typeface="Calibri"/>
              </a:rPr>
              <a:t>  </a:t>
            </a:r>
            <a:r>
              <a:rPr sz="1800" dirty="0">
                <a:latin typeface="Calibri"/>
                <a:cs typeface="Calibri"/>
              </a:rPr>
              <a:t>follow</a:t>
            </a:r>
            <a:r>
              <a:rPr sz="1800" spc="235" dirty="0">
                <a:latin typeface="Calibri"/>
                <a:cs typeface="Calibri"/>
              </a:rPr>
              <a:t>  </a:t>
            </a:r>
            <a:r>
              <a:rPr sz="1800" spc="-25" dirty="0">
                <a:latin typeface="Calibri"/>
                <a:cs typeface="Calibri"/>
              </a:rPr>
              <a:t>in </a:t>
            </a:r>
            <a:r>
              <a:rPr sz="1800" dirty="0">
                <a:latin typeface="Calibri"/>
                <a:cs typeface="Calibri"/>
              </a:rPr>
              <a:t>the</a:t>
            </a:r>
            <a:r>
              <a:rPr sz="1800" spc="-20" dirty="0">
                <a:latin typeface="Calibri"/>
                <a:cs typeface="Calibri"/>
              </a:rPr>
              <a:t> </a:t>
            </a:r>
            <a:r>
              <a:rPr sz="1800" spc="-10" dirty="0">
                <a:latin typeface="Calibri"/>
                <a:cs typeface="Calibri"/>
              </a:rPr>
              <a:t>chain.</a:t>
            </a:r>
            <a:endParaRPr sz="1800">
              <a:latin typeface="Calibri"/>
              <a:cs typeface="Calibri"/>
            </a:endParaRPr>
          </a:p>
          <a:p>
            <a:pPr marL="212090" indent="-173990" algn="just">
              <a:lnSpc>
                <a:spcPts val="2090"/>
              </a:lnSpc>
              <a:buFont typeface="Arial MT"/>
              <a:buChar char="•"/>
              <a:tabLst>
                <a:tab pos="212090" algn="l"/>
              </a:tabLst>
            </a:pPr>
            <a:r>
              <a:rPr sz="1800" dirty="0">
                <a:latin typeface="Calibri"/>
                <a:cs typeface="Calibri"/>
              </a:rPr>
              <a:t>Critical</a:t>
            </a:r>
            <a:r>
              <a:rPr sz="1800" spc="455" dirty="0">
                <a:latin typeface="Calibri"/>
                <a:cs typeface="Calibri"/>
              </a:rPr>
              <a:t> </a:t>
            </a:r>
            <a:r>
              <a:rPr sz="1800" dirty="0">
                <a:latin typeface="Calibri"/>
                <a:cs typeface="Calibri"/>
              </a:rPr>
              <a:t>activities</a:t>
            </a:r>
            <a:r>
              <a:rPr sz="1800" spc="450" dirty="0">
                <a:latin typeface="Calibri"/>
                <a:cs typeface="Calibri"/>
              </a:rPr>
              <a:t> </a:t>
            </a:r>
            <a:r>
              <a:rPr sz="1800" spc="-10" dirty="0">
                <a:latin typeface="Calibri"/>
                <a:cs typeface="Calibri"/>
              </a:rPr>
              <a:t>typically</a:t>
            </a:r>
            <a:endParaRPr sz="1800">
              <a:latin typeface="Calibri"/>
              <a:cs typeface="Calibri"/>
            </a:endParaRPr>
          </a:p>
          <a:p>
            <a:pPr marL="212725" marR="68580" algn="just">
              <a:lnSpc>
                <a:spcPct val="100200"/>
              </a:lnSpc>
              <a:spcBef>
                <a:spcPts val="40"/>
              </a:spcBef>
            </a:pPr>
            <a:r>
              <a:rPr sz="1800" dirty="0">
                <a:latin typeface="Calibri"/>
                <a:cs typeface="Calibri"/>
              </a:rPr>
              <a:t>represent</a:t>
            </a:r>
            <a:r>
              <a:rPr sz="1800" spc="114" dirty="0">
                <a:latin typeface="Calibri"/>
                <a:cs typeface="Calibri"/>
              </a:rPr>
              <a:t>  </a:t>
            </a:r>
            <a:r>
              <a:rPr sz="1800" dirty="0">
                <a:latin typeface="Calibri"/>
                <a:cs typeface="Calibri"/>
              </a:rPr>
              <a:t>about</a:t>
            </a:r>
            <a:r>
              <a:rPr sz="1800" spc="120" dirty="0">
                <a:latin typeface="Calibri"/>
                <a:cs typeface="Calibri"/>
              </a:rPr>
              <a:t>  </a:t>
            </a:r>
            <a:r>
              <a:rPr sz="1800" dirty="0">
                <a:latin typeface="Calibri"/>
                <a:cs typeface="Calibri"/>
              </a:rPr>
              <a:t>10%</a:t>
            </a:r>
            <a:r>
              <a:rPr sz="1800" spc="120" dirty="0">
                <a:latin typeface="Calibri"/>
                <a:cs typeface="Calibri"/>
              </a:rPr>
              <a:t>  </a:t>
            </a:r>
            <a:r>
              <a:rPr sz="1800" spc="-25" dirty="0">
                <a:latin typeface="Calibri"/>
                <a:cs typeface="Calibri"/>
              </a:rPr>
              <a:t>of </a:t>
            </a:r>
            <a:r>
              <a:rPr sz="1800" dirty="0">
                <a:latin typeface="Calibri"/>
                <a:cs typeface="Calibri"/>
              </a:rPr>
              <a:t>the</a:t>
            </a:r>
            <a:r>
              <a:rPr sz="1800" spc="310" dirty="0">
                <a:latin typeface="Calibri"/>
                <a:cs typeface="Calibri"/>
              </a:rPr>
              <a:t>   </a:t>
            </a:r>
            <a:r>
              <a:rPr sz="1800" dirty="0">
                <a:latin typeface="Calibri"/>
                <a:cs typeface="Calibri"/>
              </a:rPr>
              <a:t>activities</a:t>
            </a:r>
            <a:r>
              <a:rPr sz="1800" spc="305" dirty="0">
                <a:latin typeface="Calibri"/>
                <a:cs typeface="Calibri"/>
              </a:rPr>
              <a:t>   </a:t>
            </a:r>
            <a:r>
              <a:rPr sz="1800" dirty="0">
                <a:latin typeface="Calibri"/>
                <a:cs typeface="Calibri"/>
              </a:rPr>
              <a:t>of</a:t>
            </a:r>
            <a:r>
              <a:rPr sz="1800" spc="310" dirty="0">
                <a:latin typeface="Calibri"/>
                <a:cs typeface="Calibri"/>
              </a:rPr>
              <a:t>   </a:t>
            </a:r>
            <a:r>
              <a:rPr sz="1800" spc="-25" dirty="0">
                <a:latin typeface="Calibri"/>
                <a:cs typeface="Calibri"/>
              </a:rPr>
              <a:t>the </a:t>
            </a:r>
            <a:r>
              <a:rPr sz="1800" dirty="0">
                <a:latin typeface="Calibri"/>
                <a:cs typeface="Calibri"/>
              </a:rPr>
              <a:t>project.</a:t>
            </a:r>
            <a:r>
              <a:rPr sz="1800" spc="-40" dirty="0">
                <a:latin typeface="Calibri"/>
                <a:cs typeface="Calibri"/>
              </a:rPr>
              <a:t> </a:t>
            </a:r>
            <a:r>
              <a:rPr sz="1800" spc="-10" dirty="0">
                <a:latin typeface="Calibri"/>
                <a:cs typeface="Calibri"/>
              </a:rPr>
              <a:t>Therefore,</a:t>
            </a:r>
            <a:r>
              <a:rPr sz="1800" spc="-35" dirty="0">
                <a:latin typeface="Calibri"/>
                <a:cs typeface="Calibri"/>
              </a:rPr>
              <a:t> </a:t>
            </a:r>
            <a:r>
              <a:rPr sz="1800" spc="-10" dirty="0">
                <a:latin typeface="Calibri"/>
                <a:cs typeface="Calibri"/>
              </a:rPr>
              <a:t>project </a:t>
            </a:r>
            <a:r>
              <a:rPr sz="1800" dirty="0">
                <a:latin typeface="Calibri"/>
                <a:cs typeface="Calibri"/>
              </a:rPr>
              <a:t>managers</a:t>
            </a:r>
            <a:r>
              <a:rPr sz="1800" spc="315" dirty="0">
                <a:latin typeface="Calibri"/>
                <a:cs typeface="Calibri"/>
              </a:rPr>
              <a:t>    </a:t>
            </a:r>
            <a:r>
              <a:rPr sz="1800" dirty="0">
                <a:latin typeface="Calibri"/>
                <a:cs typeface="Calibri"/>
              </a:rPr>
              <a:t>pay</a:t>
            </a:r>
            <a:r>
              <a:rPr sz="1800" spc="315" dirty="0">
                <a:latin typeface="Calibri"/>
                <a:cs typeface="Calibri"/>
              </a:rPr>
              <a:t>    </a:t>
            </a:r>
            <a:r>
              <a:rPr sz="1800" spc="-10" dirty="0">
                <a:latin typeface="Calibri"/>
                <a:cs typeface="Calibri"/>
              </a:rPr>
              <a:t>close </a:t>
            </a:r>
            <a:r>
              <a:rPr sz="1800" dirty="0">
                <a:latin typeface="Calibri"/>
                <a:cs typeface="Calibri"/>
              </a:rPr>
              <a:t>attention</a:t>
            </a:r>
            <a:r>
              <a:rPr sz="1800" spc="195" dirty="0">
                <a:latin typeface="Calibri"/>
                <a:cs typeface="Calibri"/>
              </a:rPr>
              <a:t>  </a:t>
            </a:r>
            <a:r>
              <a:rPr sz="1800" dirty="0">
                <a:latin typeface="Calibri"/>
                <a:cs typeface="Calibri"/>
              </a:rPr>
              <a:t>to</a:t>
            </a:r>
            <a:r>
              <a:rPr sz="1800" spc="200" dirty="0">
                <a:latin typeface="Calibri"/>
                <a:cs typeface="Calibri"/>
              </a:rPr>
              <a:t>  </a:t>
            </a:r>
            <a:r>
              <a:rPr sz="1800" dirty="0">
                <a:latin typeface="Calibri"/>
                <a:cs typeface="Calibri"/>
              </a:rPr>
              <a:t>the</a:t>
            </a:r>
            <a:r>
              <a:rPr sz="1800" spc="195" dirty="0">
                <a:latin typeface="Calibri"/>
                <a:cs typeface="Calibri"/>
              </a:rPr>
              <a:t>  </a:t>
            </a:r>
            <a:r>
              <a:rPr sz="1800" spc="-10" dirty="0">
                <a:latin typeface="Calibri"/>
                <a:cs typeface="Calibri"/>
              </a:rPr>
              <a:t>critical </a:t>
            </a:r>
            <a:r>
              <a:rPr sz="1800" dirty="0">
                <a:latin typeface="Calibri"/>
                <a:cs typeface="Calibri"/>
              </a:rPr>
              <a:t>path</a:t>
            </a:r>
            <a:r>
              <a:rPr sz="1800" spc="320" dirty="0">
                <a:latin typeface="Calibri"/>
                <a:cs typeface="Calibri"/>
              </a:rPr>
              <a:t> </a:t>
            </a:r>
            <a:r>
              <a:rPr sz="1800" dirty="0">
                <a:latin typeface="Calibri"/>
                <a:cs typeface="Calibri"/>
              </a:rPr>
              <a:t>activities</a:t>
            </a:r>
            <a:r>
              <a:rPr sz="1800" spc="310" dirty="0">
                <a:latin typeface="Calibri"/>
                <a:cs typeface="Calibri"/>
              </a:rPr>
              <a:t> </a:t>
            </a:r>
            <a:r>
              <a:rPr sz="1800" dirty="0">
                <a:latin typeface="Calibri"/>
                <a:cs typeface="Calibri"/>
              </a:rPr>
              <a:t>to</a:t>
            </a:r>
            <a:r>
              <a:rPr sz="1800" spc="315" dirty="0">
                <a:latin typeface="Calibri"/>
                <a:cs typeface="Calibri"/>
              </a:rPr>
              <a:t> </a:t>
            </a:r>
            <a:r>
              <a:rPr sz="1800" dirty="0">
                <a:latin typeface="Calibri"/>
                <a:cs typeface="Calibri"/>
              </a:rPr>
              <a:t>be</a:t>
            </a:r>
            <a:r>
              <a:rPr sz="1800" spc="325" dirty="0">
                <a:latin typeface="Calibri"/>
                <a:cs typeface="Calibri"/>
              </a:rPr>
              <a:t> </a:t>
            </a:r>
            <a:r>
              <a:rPr sz="1800" spc="-10" dirty="0">
                <a:latin typeface="Calibri"/>
                <a:cs typeface="Calibri"/>
              </a:rPr>
              <a:t>s</a:t>
            </a:r>
            <a:r>
              <a:rPr sz="1800" dirty="0">
                <a:latin typeface="Calibri"/>
                <a:cs typeface="Calibri"/>
              </a:rPr>
              <a:t>u</a:t>
            </a:r>
            <a:r>
              <a:rPr sz="1800" spc="-355" dirty="0">
                <a:latin typeface="Calibri"/>
                <a:cs typeface="Calibri"/>
              </a:rPr>
              <a:t>r</a:t>
            </a:r>
            <a:r>
              <a:rPr sz="1800" b="1" spc="-434" baseline="-37037" dirty="0">
                <a:solidFill>
                  <a:srgbClr val="898989"/>
                </a:solidFill>
                <a:latin typeface="Calibri"/>
                <a:cs typeface="Calibri"/>
              </a:rPr>
              <a:t>2</a:t>
            </a:r>
            <a:r>
              <a:rPr sz="1800" spc="-620" dirty="0">
                <a:latin typeface="Calibri"/>
                <a:cs typeface="Calibri"/>
              </a:rPr>
              <a:t>e</a:t>
            </a:r>
            <a:r>
              <a:rPr sz="1800" b="1" baseline="-37037" dirty="0">
                <a:solidFill>
                  <a:srgbClr val="898989"/>
                </a:solidFill>
                <a:latin typeface="Calibri"/>
                <a:cs typeface="Calibri"/>
              </a:rPr>
              <a:t>3 </a:t>
            </a:r>
            <a:r>
              <a:rPr sz="1800" dirty="0">
                <a:latin typeface="Calibri"/>
                <a:cs typeface="Calibri"/>
              </a:rPr>
              <a:t>they</a:t>
            </a:r>
            <a:r>
              <a:rPr sz="1800" spc="-35" dirty="0">
                <a:latin typeface="Calibri"/>
                <a:cs typeface="Calibri"/>
              </a:rPr>
              <a:t> </a:t>
            </a:r>
            <a:r>
              <a:rPr sz="1800" dirty="0">
                <a:latin typeface="Calibri"/>
                <a:cs typeface="Calibri"/>
              </a:rPr>
              <a:t>are</a:t>
            </a:r>
            <a:r>
              <a:rPr sz="1800" spc="-25" dirty="0">
                <a:latin typeface="Calibri"/>
                <a:cs typeface="Calibri"/>
              </a:rPr>
              <a:t> </a:t>
            </a:r>
            <a:r>
              <a:rPr sz="1800" dirty="0">
                <a:latin typeface="Calibri"/>
                <a:cs typeface="Calibri"/>
              </a:rPr>
              <a:t>not</a:t>
            </a:r>
            <a:r>
              <a:rPr sz="1800" spc="-30" dirty="0">
                <a:latin typeface="Calibri"/>
                <a:cs typeface="Calibri"/>
              </a:rPr>
              <a:t> </a:t>
            </a:r>
            <a:r>
              <a:rPr sz="1800" spc="-10" dirty="0">
                <a:latin typeface="Calibri"/>
                <a:cs typeface="Calibri"/>
              </a:rPr>
              <a:t>delayed</a:t>
            </a:r>
            <a:endParaRPr sz="1800">
              <a:latin typeface="Calibri"/>
              <a:cs typeface="Calibri"/>
            </a:endParaRPr>
          </a:p>
        </p:txBody>
      </p:sp>
      <p:sp>
        <p:nvSpPr>
          <p:cNvPr id="4" name="object 4"/>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spc="105" dirty="0"/>
              <a:t>Determining</a:t>
            </a:r>
            <a:r>
              <a:rPr spc="135" dirty="0"/>
              <a:t> </a:t>
            </a:r>
            <a:r>
              <a:rPr spc="100" dirty="0"/>
              <a:t>Slack</a:t>
            </a:r>
            <a:r>
              <a:rPr spc="130" dirty="0"/>
              <a:t> </a:t>
            </a:r>
            <a:r>
              <a:rPr spc="95" dirty="0"/>
              <a:t>(SL)</a:t>
            </a:r>
            <a:r>
              <a:rPr spc="135" dirty="0"/>
              <a:t> </a:t>
            </a:r>
            <a:r>
              <a:rPr sz="1950" spc="-10" dirty="0"/>
              <a:t>(2/2)</a:t>
            </a:r>
            <a:endParaRPr sz="1950"/>
          </a:p>
        </p:txBody>
      </p:sp>
      <p:pic>
        <p:nvPicPr>
          <p:cNvPr id="5" name="Picture 4">
            <a:extLst>
              <a:ext uri="{FF2B5EF4-FFF2-40B4-BE49-F238E27FC236}">
                <a16:creationId xmlns:a16="http://schemas.microsoft.com/office/drawing/2014/main" id="{5C7548A0-6894-31E2-779D-4DC2F9104F6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6063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05EB8D-1649-4558-F298-ECC4BC4801DA}"/>
              </a:ext>
            </a:extLst>
          </p:cNvPr>
          <p:cNvSpPr>
            <a:spLocks noGrp="1"/>
          </p:cNvSpPr>
          <p:nvPr>
            <p:ph type="title"/>
          </p:nvPr>
        </p:nvSpPr>
        <p:spPr/>
        <p:txBody>
          <a:bodyPr/>
          <a:lstStyle/>
          <a:p>
            <a:r>
              <a:rPr lang="en-US" b="1" dirty="0"/>
              <a:t>Example Project 2</a:t>
            </a:r>
            <a:endParaRPr lang="en-US" dirty="0"/>
          </a:p>
        </p:txBody>
      </p:sp>
      <p:pic>
        <p:nvPicPr>
          <p:cNvPr id="4" name="Picture 3">
            <a:extLst>
              <a:ext uri="{FF2B5EF4-FFF2-40B4-BE49-F238E27FC236}">
                <a16:creationId xmlns:a16="http://schemas.microsoft.com/office/drawing/2014/main" id="{1860975C-55DE-3668-C44E-5C60CCC1E2B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160634" y="0"/>
            <a:ext cx="2031366" cy="112853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1D9CFDE7-D5C8-BA61-862A-5BA1AFA170F3}"/>
              </a:ext>
            </a:extLst>
          </p:cNvPr>
          <p:cNvPicPr>
            <a:picLocks noChangeAspect="1"/>
          </p:cNvPicPr>
          <p:nvPr/>
        </p:nvPicPr>
        <p:blipFill>
          <a:blip r:embed="rId3"/>
          <a:stretch>
            <a:fillRect/>
          </a:stretch>
        </p:blipFill>
        <p:spPr>
          <a:xfrm>
            <a:off x="381000" y="1547876"/>
            <a:ext cx="9631906" cy="5224735"/>
          </a:xfrm>
          <a:prstGeom prst="rect">
            <a:avLst/>
          </a:prstGeom>
        </p:spPr>
      </p:pic>
      <p:sp>
        <p:nvSpPr>
          <p:cNvPr id="7" name="Rectangle 1">
            <a:extLst>
              <a:ext uri="{FF2B5EF4-FFF2-40B4-BE49-F238E27FC236}">
                <a16:creationId xmlns:a16="http://schemas.microsoft.com/office/drawing/2014/main" id="{ED32DF97-DA42-CFE3-FA90-5594F6346737}"/>
              </a:ext>
            </a:extLst>
          </p:cNvPr>
          <p:cNvSpPr>
            <a:spLocks noGrp="1" noChangeArrowheads="1"/>
          </p:cNvSpPr>
          <p:nvPr>
            <p:ph type="body" idx="1"/>
          </p:nvPr>
        </p:nvSpPr>
        <p:spPr bwMode="auto">
          <a:xfrm>
            <a:off x="5715000" y="5791200"/>
            <a:ext cx="391966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Total Project Duration:</a:t>
            </a:r>
            <a:r>
              <a:rPr kumimoji="0" lang="en-US" altLang="en-US" sz="1800" b="0" i="0" u="none" strike="noStrike" cap="none" normalizeH="0" baseline="0" dirty="0">
                <a:ln>
                  <a:noFill/>
                </a:ln>
                <a:solidFill>
                  <a:schemeClr val="tx1"/>
                </a:solidFill>
                <a:effectLst/>
                <a:latin typeface="Arial" panose="020B0604020202020204" pitchFamily="34" charset="0"/>
              </a:rPr>
              <a:t> 13 days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Critical Path Activities:</a:t>
            </a:r>
            <a:r>
              <a:rPr kumimoji="0" lang="en-US" altLang="en-US" sz="1800" b="0" i="0" u="none" strike="noStrike" cap="none" normalizeH="0" baseline="0" dirty="0">
                <a:ln>
                  <a:noFill/>
                </a:ln>
                <a:solidFill>
                  <a:schemeClr val="tx1"/>
                </a:solidFill>
                <a:effectLst/>
                <a:latin typeface="Arial" panose="020B0604020202020204" pitchFamily="34" charset="0"/>
              </a:rPr>
              <a:t> A, B, D, E </a:t>
            </a:r>
          </a:p>
        </p:txBody>
      </p:sp>
    </p:spTree>
    <p:extLst>
      <p:ext uri="{BB962C8B-B14F-4D97-AF65-F5344CB8AC3E}">
        <p14:creationId xmlns:p14="http://schemas.microsoft.com/office/powerpoint/2010/main" val="154343125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spc="90" dirty="0"/>
              <a:t>Practical</a:t>
            </a:r>
            <a:r>
              <a:rPr spc="140" dirty="0"/>
              <a:t> </a:t>
            </a:r>
            <a:r>
              <a:rPr spc="105" dirty="0"/>
              <a:t>Considerations</a:t>
            </a:r>
            <a:r>
              <a:rPr spc="130" dirty="0"/>
              <a:t> </a:t>
            </a:r>
            <a:r>
              <a:rPr sz="1950" spc="-10" dirty="0"/>
              <a:t>(1/3)</a:t>
            </a:r>
            <a:endParaRPr sz="1950"/>
          </a:p>
        </p:txBody>
      </p:sp>
      <p:pic>
        <p:nvPicPr>
          <p:cNvPr id="3" name="object 3"/>
          <p:cNvPicPr/>
          <p:nvPr/>
        </p:nvPicPr>
        <p:blipFill>
          <a:blip r:embed="rId2" cstate="print"/>
          <a:stretch>
            <a:fillRect/>
          </a:stretch>
        </p:blipFill>
        <p:spPr>
          <a:xfrm>
            <a:off x="9827490" y="2130704"/>
            <a:ext cx="1924050" cy="1530350"/>
          </a:xfrm>
          <a:prstGeom prst="rect">
            <a:avLst/>
          </a:prstGeom>
        </p:spPr>
      </p:pic>
      <p:sp>
        <p:nvSpPr>
          <p:cNvPr id="4" name="object 4"/>
          <p:cNvSpPr txBox="1"/>
          <p:nvPr/>
        </p:nvSpPr>
        <p:spPr>
          <a:xfrm>
            <a:off x="916938" y="1761404"/>
            <a:ext cx="10681335" cy="3829685"/>
          </a:xfrm>
          <a:prstGeom prst="rect">
            <a:avLst/>
          </a:prstGeom>
        </p:spPr>
        <p:txBody>
          <a:bodyPr vert="horz" wrap="square" lIns="0" tIns="46990" rIns="0" bIns="0" rtlCol="0">
            <a:spAutoFit/>
          </a:bodyPr>
          <a:lstStyle/>
          <a:p>
            <a:pPr marL="526415" indent="-513715">
              <a:lnSpc>
                <a:spcPct val="100000"/>
              </a:lnSpc>
              <a:spcBef>
                <a:spcPts val="370"/>
              </a:spcBef>
              <a:buAutoNum type="arabicPeriod"/>
              <a:tabLst>
                <a:tab pos="526415" algn="l"/>
              </a:tabLst>
            </a:pPr>
            <a:r>
              <a:rPr sz="2800" b="1" dirty="0">
                <a:latin typeface="Calibri"/>
                <a:cs typeface="Calibri"/>
              </a:rPr>
              <a:t>Network</a:t>
            </a:r>
            <a:r>
              <a:rPr sz="2800" b="1" spc="-75" dirty="0">
                <a:latin typeface="Calibri"/>
                <a:cs typeface="Calibri"/>
              </a:rPr>
              <a:t> </a:t>
            </a:r>
            <a:r>
              <a:rPr sz="2800" b="1" dirty="0">
                <a:latin typeface="Calibri"/>
                <a:cs typeface="Calibri"/>
              </a:rPr>
              <a:t>Logic</a:t>
            </a:r>
            <a:r>
              <a:rPr sz="2800" b="1" spc="-80" dirty="0">
                <a:latin typeface="Calibri"/>
                <a:cs typeface="Calibri"/>
              </a:rPr>
              <a:t> </a:t>
            </a:r>
            <a:r>
              <a:rPr sz="2800" b="1" spc="-10" dirty="0">
                <a:latin typeface="Calibri"/>
                <a:cs typeface="Calibri"/>
              </a:rPr>
              <a:t>Errors</a:t>
            </a:r>
            <a:endParaRPr sz="2800">
              <a:latin typeface="Calibri"/>
              <a:cs typeface="Calibri"/>
            </a:endParaRPr>
          </a:p>
          <a:p>
            <a:pPr marL="984250" marR="2011045" lvl="1" indent="-514350">
              <a:lnSpc>
                <a:spcPts val="2590"/>
              </a:lnSpc>
              <a:spcBef>
                <a:spcPts val="560"/>
              </a:spcBef>
              <a:buAutoNum type="alphaLcPeriod"/>
              <a:tabLst>
                <a:tab pos="984250" algn="l"/>
              </a:tabLst>
            </a:pPr>
            <a:r>
              <a:rPr sz="2400" u="heavy" dirty="0">
                <a:uFill>
                  <a:solidFill>
                    <a:srgbClr val="000000"/>
                  </a:solidFill>
                </a:uFill>
                <a:latin typeface="Calibri"/>
                <a:cs typeface="Calibri"/>
              </a:rPr>
              <a:t>Conditional</a:t>
            </a:r>
            <a:r>
              <a:rPr sz="2400" u="heavy" spc="360" dirty="0">
                <a:uFill>
                  <a:solidFill>
                    <a:srgbClr val="000000"/>
                  </a:solidFill>
                </a:uFill>
                <a:latin typeface="Calibri"/>
                <a:cs typeface="Calibri"/>
              </a:rPr>
              <a:t> </a:t>
            </a:r>
            <a:r>
              <a:rPr sz="2400" u="heavy" dirty="0">
                <a:uFill>
                  <a:solidFill>
                    <a:srgbClr val="000000"/>
                  </a:solidFill>
                </a:uFill>
                <a:latin typeface="Calibri"/>
                <a:cs typeface="Calibri"/>
              </a:rPr>
              <a:t>statements</a:t>
            </a:r>
            <a:r>
              <a:rPr sz="2400" spc="360" dirty="0">
                <a:latin typeface="Calibri"/>
                <a:cs typeface="Calibri"/>
              </a:rPr>
              <a:t> </a:t>
            </a:r>
            <a:r>
              <a:rPr sz="2400" dirty="0">
                <a:latin typeface="Calibri"/>
                <a:cs typeface="Calibri"/>
              </a:rPr>
              <a:t>such</a:t>
            </a:r>
            <a:r>
              <a:rPr sz="2400" spc="365" dirty="0">
                <a:latin typeface="Calibri"/>
                <a:cs typeface="Calibri"/>
              </a:rPr>
              <a:t> </a:t>
            </a:r>
            <a:r>
              <a:rPr sz="2400" dirty="0">
                <a:latin typeface="Calibri"/>
                <a:cs typeface="Calibri"/>
              </a:rPr>
              <a:t>as</a:t>
            </a:r>
            <a:r>
              <a:rPr sz="2400" spc="365" dirty="0">
                <a:latin typeface="Calibri"/>
                <a:cs typeface="Calibri"/>
              </a:rPr>
              <a:t> </a:t>
            </a:r>
            <a:r>
              <a:rPr sz="2400" dirty="0">
                <a:latin typeface="Calibri"/>
                <a:cs typeface="Calibri"/>
              </a:rPr>
              <a:t>“if</a:t>
            </a:r>
            <a:r>
              <a:rPr sz="2400" spc="370" dirty="0">
                <a:latin typeface="Calibri"/>
                <a:cs typeface="Calibri"/>
              </a:rPr>
              <a:t> </a:t>
            </a:r>
            <a:r>
              <a:rPr sz="2400" dirty="0">
                <a:latin typeface="Calibri"/>
                <a:cs typeface="Calibri"/>
              </a:rPr>
              <a:t>test</a:t>
            </a:r>
            <a:r>
              <a:rPr sz="2400" spc="355" dirty="0">
                <a:latin typeface="Calibri"/>
                <a:cs typeface="Calibri"/>
              </a:rPr>
              <a:t> </a:t>
            </a:r>
            <a:r>
              <a:rPr sz="2400" dirty="0">
                <a:latin typeface="Calibri"/>
                <a:cs typeface="Calibri"/>
              </a:rPr>
              <a:t>successful</a:t>
            </a:r>
            <a:r>
              <a:rPr sz="2400" spc="365" dirty="0">
                <a:latin typeface="Calibri"/>
                <a:cs typeface="Calibri"/>
              </a:rPr>
              <a:t> </a:t>
            </a:r>
            <a:r>
              <a:rPr sz="2400" dirty="0">
                <a:latin typeface="Calibri"/>
                <a:cs typeface="Calibri"/>
              </a:rPr>
              <a:t>build</a:t>
            </a:r>
            <a:r>
              <a:rPr sz="2400" spc="365" dirty="0">
                <a:latin typeface="Calibri"/>
                <a:cs typeface="Calibri"/>
              </a:rPr>
              <a:t> </a:t>
            </a:r>
            <a:r>
              <a:rPr sz="2400" spc="-25" dirty="0">
                <a:latin typeface="Calibri"/>
                <a:cs typeface="Calibri"/>
              </a:rPr>
              <a:t>the </a:t>
            </a:r>
            <a:r>
              <a:rPr sz="2400" spc="-10" dirty="0">
                <a:latin typeface="Calibri"/>
                <a:cs typeface="Calibri"/>
              </a:rPr>
              <a:t>prototype,</a:t>
            </a:r>
            <a:r>
              <a:rPr sz="2400" spc="-60" dirty="0">
                <a:latin typeface="Calibri"/>
                <a:cs typeface="Calibri"/>
              </a:rPr>
              <a:t> </a:t>
            </a:r>
            <a:r>
              <a:rPr sz="2400" dirty="0">
                <a:latin typeface="Calibri"/>
                <a:cs typeface="Calibri"/>
              </a:rPr>
              <a:t>if</a:t>
            </a:r>
            <a:r>
              <a:rPr sz="2400" spc="-50" dirty="0">
                <a:latin typeface="Calibri"/>
                <a:cs typeface="Calibri"/>
              </a:rPr>
              <a:t> </a:t>
            </a:r>
            <a:r>
              <a:rPr sz="2400" spc="-10" dirty="0">
                <a:latin typeface="Calibri"/>
                <a:cs typeface="Calibri"/>
              </a:rPr>
              <a:t>failure</a:t>
            </a:r>
            <a:r>
              <a:rPr sz="2400" spc="-55" dirty="0">
                <a:latin typeface="Calibri"/>
                <a:cs typeface="Calibri"/>
              </a:rPr>
              <a:t> </a:t>
            </a:r>
            <a:r>
              <a:rPr sz="2400" dirty="0">
                <a:latin typeface="Calibri"/>
                <a:cs typeface="Calibri"/>
              </a:rPr>
              <a:t>redesign”</a:t>
            </a:r>
            <a:r>
              <a:rPr sz="2400" spc="-55" dirty="0">
                <a:latin typeface="Calibri"/>
                <a:cs typeface="Calibri"/>
              </a:rPr>
              <a:t> </a:t>
            </a:r>
            <a:r>
              <a:rPr sz="2400" dirty="0">
                <a:latin typeface="Calibri"/>
                <a:cs typeface="Calibri"/>
              </a:rPr>
              <a:t>are</a:t>
            </a:r>
            <a:r>
              <a:rPr sz="2400" spc="-50" dirty="0">
                <a:latin typeface="Calibri"/>
                <a:cs typeface="Calibri"/>
              </a:rPr>
              <a:t> </a:t>
            </a:r>
            <a:r>
              <a:rPr sz="2400" dirty="0">
                <a:latin typeface="Calibri"/>
                <a:cs typeface="Calibri"/>
              </a:rPr>
              <a:t>not</a:t>
            </a:r>
            <a:r>
              <a:rPr sz="2400" spc="-60" dirty="0">
                <a:latin typeface="Calibri"/>
                <a:cs typeface="Calibri"/>
              </a:rPr>
              <a:t> </a:t>
            </a:r>
            <a:r>
              <a:rPr sz="2400" spc="-10" dirty="0">
                <a:latin typeface="Calibri"/>
                <a:cs typeface="Calibri"/>
              </a:rPr>
              <a:t>permitted.</a:t>
            </a:r>
            <a:endParaRPr sz="2400">
              <a:latin typeface="Calibri"/>
              <a:cs typeface="Calibri"/>
            </a:endParaRPr>
          </a:p>
          <a:p>
            <a:pPr marL="984250" marR="2010410" lvl="1" indent="-514350">
              <a:lnSpc>
                <a:spcPts val="2590"/>
              </a:lnSpc>
              <a:spcBef>
                <a:spcPts val="530"/>
              </a:spcBef>
              <a:buAutoNum type="alphaLcPeriod"/>
              <a:tabLst>
                <a:tab pos="984250" algn="l"/>
              </a:tabLst>
            </a:pPr>
            <a:r>
              <a:rPr sz="2400" dirty="0">
                <a:latin typeface="Calibri"/>
                <a:cs typeface="Calibri"/>
              </a:rPr>
              <a:t>Avoid</a:t>
            </a:r>
            <a:r>
              <a:rPr sz="2400" spc="30" dirty="0">
                <a:latin typeface="Calibri"/>
                <a:cs typeface="Calibri"/>
              </a:rPr>
              <a:t> </a:t>
            </a:r>
            <a:r>
              <a:rPr sz="2400" u="heavy" dirty="0">
                <a:uFill>
                  <a:solidFill>
                    <a:srgbClr val="000000"/>
                  </a:solidFill>
                </a:uFill>
                <a:latin typeface="Calibri"/>
                <a:cs typeface="Calibri"/>
              </a:rPr>
              <a:t>looping</a:t>
            </a:r>
            <a:r>
              <a:rPr sz="2400" dirty="0">
                <a:latin typeface="Calibri"/>
                <a:cs typeface="Calibri"/>
              </a:rPr>
              <a:t>.</a:t>
            </a:r>
            <a:r>
              <a:rPr sz="2400" spc="30" dirty="0">
                <a:latin typeface="Calibri"/>
                <a:cs typeface="Calibri"/>
              </a:rPr>
              <a:t> </a:t>
            </a:r>
            <a:r>
              <a:rPr sz="2400" dirty="0">
                <a:latin typeface="Calibri"/>
                <a:cs typeface="Calibri"/>
              </a:rPr>
              <a:t>Looping</a:t>
            </a:r>
            <a:r>
              <a:rPr sz="2400" spc="30" dirty="0">
                <a:latin typeface="Calibri"/>
                <a:cs typeface="Calibri"/>
              </a:rPr>
              <a:t> </a:t>
            </a:r>
            <a:r>
              <a:rPr sz="2400" dirty="0">
                <a:latin typeface="Calibri"/>
                <a:cs typeface="Calibri"/>
              </a:rPr>
              <a:t>is</a:t>
            </a:r>
            <a:r>
              <a:rPr sz="2400" spc="30" dirty="0">
                <a:latin typeface="Calibri"/>
                <a:cs typeface="Calibri"/>
              </a:rPr>
              <a:t> </a:t>
            </a:r>
            <a:r>
              <a:rPr sz="2400" dirty="0">
                <a:latin typeface="Calibri"/>
                <a:cs typeface="Calibri"/>
              </a:rPr>
              <a:t>an</a:t>
            </a:r>
            <a:r>
              <a:rPr sz="2400" spc="30" dirty="0">
                <a:latin typeface="Calibri"/>
                <a:cs typeface="Calibri"/>
              </a:rPr>
              <a:t> </a:t>
            </a:r>
            <a:r>
              <a:rPr sz="2400" dirty="0">
                <a:latin typeface="Calibri"/>
                <a:cs typeface="Calibri"/>
              </a:rPr>
              <a:t>attempt</a:t>
            </a:r>
            <a:r>
              <a:rPr sz="2400" spc="35" dirty="0">
                <a:latin typeface="Calibri"/>
                <a:cs typeface="Calibri"/>
              </a:rPr>
              <a:t> </a:t>
            </a:r>
            <a:r>
              <a:rPr sz="2400" dirty="0">
                <a:latin typeface="Calibri"/>
                <a:cs typeface="Calibri"/>
              </a:rPr>
              <a:t>by</a:t>
            </a:r>
            <a:r>
              <a:rPr sz="2400" spc="30" dirty="0">
                <a:latin typeface="Calibri"/>
                <a:cs typeface="Calibri"/>
              </a:rPr>
              <a:t> </a:t>
            </a:r>
            <a:r>
              <a:rPr sz="2400" dirty="0">
                <a:latin typeface="Calibri"/>
                <a:cs typeface="Calibri"/>
              </a:rPr>
              <a:t>the</a:t>
            </a:r>
            <a:r>
              <a:rPr sz="2400" spc="35" dirty="0">
                <a:latin typeface="Calibri"/>
                <a:cs typeface="Calibri"/>
              </a:rPr>
              <a:t> </a:t>
            </a:r>
            <a:r>
              <a:rPr sz="2400" dirty="0">
                <a:latin typeface="Calibri"/>
                <a:cs typeface="Calibri"/>
              </a:rPr>
              <a:t>planner</a:t>
            </a:r>
            <a:r>
              <a:rPr sz="2400" spc="30" dirty="0">
                <a:latin typeface="Calibri"/>
                <a:cs typeface="Calibri"/>
              </a:rPr>
              <a:t> </a:t>
            </a:r>
            <a:r>
              <a:rPr sz="2400" dirty="0">
                <a:latin typeface="Calibri"/>
                <a:cs typeface="Calibri"/>
              </a:rPr>
              <a:t>to</a:t>
            </a:r>
            <a:r>
              <a:rPr sz="2400" spc="30" dirty="0">
                <a:latin typeface="Calibri"/>
                <a:cs typeface="Calibri"/>
              </a:rPr>
              <a:t> </a:t>
            </a:r>
            <a:r>
              <a:rPr sz="2400" spc="-10" dirty="0">
                <a:latin typeface="Calibri"/>
                <a:cs typeface="Calibri"/>
              </a:rPr>
              <a:t>return </a:t>
            </a:r>
            <a:r>
              <a:rPr sz="2400" dirty="0">
                <a:latin typeface="Calibri"/>
                <a:cs typeface="Calibri"/>
              </a:rPr>
              <a:t>to</a:t>
            </a:r>
            <a:r>
              <a:rPr sz="2400" spc="-50" dirty="0">
                <a:latin typeface="Calibri"/>
                <a:cs typeface="Calibri"/>
              </a:rPr>
              <a:t> </a:t>
            </a:r>
            <a:r>
              <a:rPr sz="2400" dirty="0">
                <a:latin typeface="Calibri"/>
                <a:cs typeface="Calibri"/>
              </a:rPr>
              <a:t>an</a:t>
            </a:r>
            <a:r>
              <a:rPr sz="2400" spc="-40" dirty="0">
                <a:latin typeface="Calibri"/>
                <a:cs typeface="Calibri"/>
              </a:rPr>
              <a:t> </a:t>
            </a:r>
            <a:r>
              <a:rPr sz="2400" dirty="0">
                <a:latin typeface="Calibri"/>
                <a:cs typeface="Calibri"/>
              </a:rPr>
              <a:t>earlier</a:t>
            </a:r>
            <a:r>
              <a:rPr sz="2400" spc="-40" dirty="0">
                <a:latin typeface="Calibri"/>
                <a:cs typeface="Calibri"/>
              </a:rPr>
              <a:t> </a:t>
            </a:r>
            <a:r>
              <a:rPr sz="2400" spc="-10" dirty="0">
                <a:latin typeface="Calibri"/>
                <a:cs typeface="Calibri"/>
              </a:rPr>
              <a:t>activity.</a:t>
            </a:r>
            <a:endParaRPr sz="2400">
              <a:latin typeface="Calibri"/>
              <a:cs typeface="Calibri"/>
            </a:endParaRPr>
          </a:p>
          <a:p>
            <a:pPr marR="115570" algn="r">
              <a:lnSpc>
                <a:spcPts val="2125"/>
              </a:lnSpc>
            </a:pPr>
            <a:r>
              <a:rPr sz="1800" b="1" dirty="0">
                <a:latin typeface="Calibri"/>
                <a:cs typeface="Calibri"/>
              </a:rPr>
              <a:t>Illogical</a:t>
            </a:r>
            <a:r>
              <a:rPr sz="1800" b="1" spc="-75" dirty="0">
                <a:latin typeface="Calibri"/>
                <a:cs typeface="Calibri"/>
              </a:rPr>
              <a:t> </a:t>
            </a:r>
            <a:r>
              <a:rPr sz="1800" b="1" spc="-20" dirty="0">
                <a:latin typeface="Calibri"/>
                <a:cs typeface="Calibri"/>
              </a:rPr>
              <a:t>Loop</a:t>
            </a:r>
            <a:endParaRPr sz="1800">
              <a:latin typeface="Calibri"/>
              <a:cs typeface="Calibri"/>
            </a:endParaRPr>
          </a:p>
          <a:p>
            <a:pPr marL="526415" marR="5080" indent="-514350" algn="just">
              <a:lnSpc>
                <a:spcPct val="100699"/>
              </a:lnSpc>
              <a:spcBef>
                <a:spcPts val="660"/>
              </a:spcBef>
              <a:buAutoNum type="arabicPeriod" startAt="2"/>
              <a:tabLst>
                <a:tab pos="526415" algn="l"/>
              </a:tabLst>
            </a:pPr>
            <a:r>
              <a:rPr sz="2800" b="1" dirty="0">
                <a:latin typeface="Calibri"/>
                <a:cs typeface="Calibri"/>
              </a:rPr>
              <a:t>Activity</a:t>
            </a:r>
            <a:r>
              <a:rPr sz="2800" b="1" spc="210" dirty="0">
                <a:latin typeface="Calibri"/>
                <a:cs typeface="Calibri"/>
              </a:rPr>
              <a:t> </a:t>
            </a:r>
            <a:r>
              <a:rPr sz="2800" b="1" dirty="0">
                <a:latin typeface="Calibri"/>
                <a:cs typeface="Calibri"/>
              </a:rPr>
              <a:t>Numbering:</a:t>
            </a:r>
            <a:r>
              <a:rPr sz="2800" b="1" spc="215" dirty="0">
                <a:latin typeface="Calibri"/>
                <a:cs typeface="Calibri"/>
              </a:rPr>
              <a:t> </a:t>
            </a:r>
            <a:r>
              <a:rPr sz="2400" dirty="0">
                <a:latin typeface="Calibri"/>
                <a:cs typeface="Calibri"/>
              </a:rPr>
              <a:t>Activity</a:t>
            </a:r>
            <a:r>
              <a:rPr sz="2400" spc="120" dirty="0">
                <a:latin typeface="Calibri"/>
                <a:cs typeface="Calibri"/>
              </a:rPr>
              <a:t> </a:t>
            </a:r>
            <a:r>
              <a:rPr sz="2400" dirty="0">
                <a:latin typeface="Calibri"/>
                <a:cs typeface="Calibri"/>
              </a:rPr>
              <a:t>numbering</a:t>
            </a:r>
            <a:r>
              <a:rPr sz="2400" spc="120" dirty="0">
                <a:latin typeface="Calibri"/>
                <a:cs typeface="Calibri"/>
              </a:rPr>
              <a:t> </a:t>
            </a:r>
            <a:r>
              <a:rPr sz="2400" dirty="0">
                <a:latin typeface="Calibri"/>
                <a:cs typeface="Calibri"/>
              </a:rPr>
              <a:t>systems</a:t>
            </a:r>
            <a:r>
              <a:rPr sz="2400" spc="120" dirty="0">
                <a:latin typeface="Calibri"/>
                <a:cs typeface="Calibri"/>
              </a:rPr>
              <a:t> </a:t>
            </a:r>
            <a:r>
              <a:rPr sz="2400" dirty="0">
                <a:latin typeface="Calibri"/>
                <a:cs typeface="Calibri"/>
              </a:rPr>
              <a:t>should</a:t>
            </a:r>
            <a:r>
              <a:rPr sz="2400" spc="125" dirty="0">
                <a:latin typeface="Calibri"/>
                <a:cs typeface="Calibri"/>
              </a:rPr>
              <a:t> </a:t>
            </a:r>
            <a:r>
              <a:rPr sz="2400" dirty="0">
                <a:latin typeface="Calibri"/>
                <a:cs typeface="Calibri"/>
              </a:rPr>
              <a:t>be</a:t>
            </a:r>
            <a:r>
              <a:rPr sz="2400" spc="130" dirty="0">
                <a:latin typeface="Calibri"/>
                <a:cs typeface="Calibri"/>
              </a:rPr>
              <a:t> </a:t>
            </a:r>
            <a:r>
              <a:rPr sz="2400" dirty="0">
                <a:latin typeface="Calibri"/>
                <a:cs typeface="Calibri"/>
              </a:rPr>
              <a:t>ascending</a:t>
            </a:r>
            <a:r>
              <a:rPr sz="2400" spc="114" dirty="0">
                <a:latin typeface="Calibri"/>
                <a:cs typeface="Calibri"/>
              </a:rPr>
              <a:t> </a:t>
            </a:r>
            <a:r>
              <a:rPr sz="2400" dirty="0">
                <a:latin typeface="Calibri"/>
                <a:cs typeface="Calibri"/>
              </a:rPr>
              <a:t>and</a:t>
            </a:r>
            <a:r>
              <a:rPr sz="2400" spc="125" dirty="0">
                <a:latin typeface="Calibri"/>
                <a:cs typeface="Calibri"/>
              </a:rPr>
              <a:t> </a:t>
            </a:r>
            <a:r>
              <a:rPr sz="2400" spc="-25" dirty="0">
                <a:latin typeface="Calibri"/>
                <a:cs typeface="Calibri"/>
              </a:rPr>
              <a:t>as </a:t>
            </a:r>
            <a:r>
              <a:rPr sz="2400" dirty="0">
                <a:latin typeface="Calibri"/>
                <a:cs typeface="Calibri"/>
              </a:rPr>
              <a:t>simple</a:t>
            </a:r>
            <a:r>
              <a:rPr sz="2400" spc="165" dirty="0">
                <a:latin typeface="Calibri"/>
                <a:cs typeface="Calibri"/>
              </a:rPr>
              <a:t>  </a:t>
            </a:r>
            <a:r>
              <a:rPr sz="2400" dirty="0">
                <a:latin typeface="Calibri"/>
                <a:cs typeface="Calibri"/>
              </a:rPr>
              <a:t>as</a:t>
            </a:r>
            <a:r>
              <a:rPr sz="2400" spc="170" dirty="0">
                <a:latin typeface="Calibri"/>
                <a:cs typeface="Calibri"/>
              </a:rPr>
              <a:t>  </a:t>
            </a:r>
            <a:r>
              <a:rPr sz="2400" dirty="0">
                <a:latin typeface="Calibri"/>
                <a:cs typeface="Calibri"/>
              </a:rPr>
              <a:t>possible.</a:t>
            </a:r>
            <a:r>
              <a:rPr sz="2400" spc="165" dirty="0">
                <a:latin typeface="Calibri"/>
                <a:cs typeface="Calibri"/>
              </a:rPr>
              <a:t>  </a:t>
            </a:r>
            <a:r>
              <a:rPr sz="2400" dirty="0">
                <a:latin typeface="Calibri"/>
                <a:cs typeface="Calibri"/>
              </a:rPr>
              <a:t>Each</a:t>
            </a:r>
            <a:r>
              <a:rPr sz="2400" spc="165" dirty="0">
                <a:latin typeface="Calibri"/>
                <a:cs typeface="Calibri"/>
              </a:rPr>
              <a:t>  </a:t>
            </a:r>
            <a:r>
              <a:rPr sz="2400" dirty="0">
                <a:latin typeface="Calibri"/>
                <a:cs typeface="Calibri"/>
              </a:rPr>
              <a:t>activity</a:t>
            </a:r>
            <a:r>
              <a:rPr sz="2400" spc="165" dirty="0">
                <a:latin typeface="Calibri"/>
                <a:cs typeface="Calibri"/>
              </a:rPr>
              <a:t>  </a:t>
            </a:r>
            <a:r>
              <a:rPr sz="2400" dirty="0">
                <a:latin typeface="Calibri"/>
                <a:cs typeface="Calibri"/>
              </a:rPr>
              <a:t>needs</a:t>
            </a:r>
            <a:r>
              <a:rPr sz="2400" spc="165" dirty="0">
                <a:latin typeface="Calibri"/>
                <a:cs typeface="Calibri"/>
              </a:rPr>
              <a:t>  </a:t>
            </a:r>
            <a:r>
              <a:rPr sz="2400" dirty="0">
                <a:latin typeface="Calibri"/>
                <a:cs typeface="Calibri"/>
              </a:rPr>
              <a:t>a</a:t>
            </a:r>
            <a:r>
              <a:rPr sz="2400" spc="170" dirty="0">
                <a:latin typeface="Calibri"/>
                <a:cs typeface="Calibri"/>
              </a:rPr>
              <a:t>  </a:t>
            </a:r>
            <a:r>
              <a:rPr sz="2400" dirty="0">
                <a:latin typeface="Calibri"/>
                <a:cs typeface="Calibri"/>
              </a:rPr>
              <a:t>unique</a:t>
            </a:r>
            <a:r>
              <a:rPr sz="2400" spc="165" dirty="0">
                <a:latin typeface="Calibri"/>
                <a:cs typeface="Calibri"/>
              </a:rPr>
              <a:t>  </a:t>
            </a:r>
            <a:r>
              <a:rPr sz="2400" dirty="0">
                <a:latin typeface="Calibri"/>
                <a:cs typeface="Calibri"/>
              </a:rPr>
              <a:t>identification</a:t>
            </a:r>
            <a:r>
              <a:rPr sz="2400" spc="170" dirty="0">
                <a:latin typeface="Calibri"/>
                <a:cs typeface="Calibri"/>
              </a:rPr>
              <a:t>  </a:t>
            </a:r>
            <a:r>
              <a:rPr sz="2400" dirty="0">
                <a:latin typeface="Calibri"/>
                <a:cs typeface="Calibri"/>
              </a:rPr>
              <a:t>code.</a:t>
            </a:r>
            <a:r>
              <a:rPr sz="2400" spc="165" dirty="0">
                <a:latin typeface="Calibri"/>
                <a:cs typeface="Calibri"/>
              </a:rPr>
              <a:t>  </a:t>
            </a:r>
            <a:r>
              <a:rPr sz="2400" dirty="0">
                <a:latin typeface="Calibri"/>
                <a:cs typeface="Calibri"/>
              </a:rPr>
              <a:t>It</a:t>
            </a:r>
            <a:r>
              <a:rPr sz="2400" spc="165" dirty="0">
                <a:latin typeface="Calibri"/>
                <a:cs typeface="Calibri"/>
              </a:rPr>
              <a:t>  </a:t>
            </a:r>
            <a:r>
              <a:rPr sz="2400" spc="-25" dirty="0">
                <a:latin typeface="Calibri"/>
                <a:cs typeface="Calibri"/>
              </a:rPr>
              <a:t>is </a:t>
            </a:r>
            <a:r>
              <a:rPr sz="2400" dirty="0">
                <a:latin typeface="Calibri"/>
                <a:cs typeface="Calibri"/>
              </a:rPr>
              <a:t>customary</a:t>
            </a:r>
            <a:r>
              <a:rPr sz="2400" spc="-45" dirty="0">
                <a:latin typeface="Calibri"/>
                <a:cs typeface="Calibri"/>
              </a:rPr>
              <a:t> </a:t>
            </a:r>
            <a:r>
              <a:rPr sz="2400" dirty="0">
                <a:latin typeface="Calibri"/>
                <a:cs typeface="Calibri"/>
              </a:rPr>
              <a:t>to</a:t>
            </a:r>
            <a:r>
              <a:rPr sz="2400" spc="-50" dirty="0">
                <a:latin typeface="Calibri"/>
                <a:cs typeface="Calibri"/>
              </a:rPr>
              <a:t> </a:t>
            </a:r>
            <a:r>
              <a:rPr sz="2400" dirty="0">
                <a:latin typeface="Calibri"/>
                <a:cs typeface="Calibri"/>
              </a:rPr>
              <a:t>leave</a:t>
            </a:r>
            <a:r>
              <a:rPr sz="2400" spc="-45" dirty="0">
                <a:latin typeface="Calibri"/>
                <a:cs typeface="Calibri"/>
              </a:rPr>
              <a:t> </a:t>
            </a:r>
            <a:r>
              <a:rPr sz="2400" dirty="0">
                <a:latin typeface="Calibri"/>
                <a:cs typeface="Calibri"/>
              </a:rPr>
              <a:t>gaps</a:t>
            </a:r>
            <a:r>
              <a:rPr sz="2400" spc="-45" dirty="0">
                <a:latin typeface="Calibri"/>
                <a:cs typeface="Calibri"/>
              </a:rPr>
              <a:t> </a:t>
            </a:r>
            <a:r>
              <a:rPr sz="2400" dirty="0">
                <a:latin typeface="Calibri"/>
                <a:cs typeface="Calibri"/>
              </a:rPr>
              <a:t>between</a:t>
            </a:r>
            <a:r>
              <a:rPr sz="2400" spc="-45" dirty="0">
                <a:latin typeface="Calibri"/>
                <a:cs typeface="Calibri"/>
              </a:rPr>
              <a:t> </a:t>
            </a:r>
            <a:r>
              <a:rPr sz="2400" dirty="0">
                <a:latin typeface="Calibri"/>
                <a:cs typeface="Calibri"/>
              </a:rPr>
              <a:t>numbers</a:t>
            </a:r>
            <a:r>
              <a:rPr sz="2400" spc="-55" dirty="0">
                <a:latin typeface="Calibri"/>
                <a:cs typeface="Calibri"/>
              </a:rPr>
              <a:t> </a:t>
            </a:r>
            <a:r>
              <a:rPr sz="2400" dirty="0">
                <a:latin typeface="Calibri"/>
                <a:cs typeface="Calibri"/>
              </a:rPr>
              <a:t>(1,</a:t>
            </a:r>
            <a:r>
              <a:rPr sz="2400" spc="-45" dirty="0">
                <a:latin typeface="Calibri"/>
                <a:cs typeface="Calibri"/>
              </a:rPr>
              <a:t> </a:t>
            </a:r>
            <a:r>
              <a:rPr sz="2400" dirty="0">
                <a:latin typeface="Calibri"/>
                <a:cs typeface="Calibri"/>
              </a:rPr>
              <a:t>5,</a:t>
            </a:r>
            <a:r>
              <a:rPr sz="2400" spc="-45" dirty="0">
                <a:latin typeface="Calibri"/>
                <a:cs typeface="Calibri"/>
              </a:rPr>
              <a:t> </a:t>
            </a:r>
            <a:r>
              <a:rPr sz="2400" dirty="0">
                <a:latin typeface="Calibri"/>
                <a:cs typeface="Calibri"/>
              </a:rPr>
              <a:t>10,</a:t>
            </a:r>
            <a:r>
              <a:rPr sz="2400" spc="-40" dirty="0">
                <a:latin typeface="Calibri"/>
                <a:cs typeface="Calibri"/>
              </a:rPr>
              <a:t> </a:t>
            </a:r>
            <a:r>
              <a:rPr sz="2400" dirty="0">
                <a:latin typeface="Calibri"/>
                <a:cs typeface="Calibri"/>
              </a:rPr>
              <a:t>15</a:t>
            </a:r>
            <a:r>
              <a:rPr sz="2400" spc="-50" dirty="0">
                <a:latin typeface="Calibri"/>
                <a:cs typeface="Calibri"/>
              </a:rPr>
              <a:t> </a:t>
            </a:r>
            <a:r>
              <a:rPr sz="2400" dirty="0">
                <a:latin typeface="Calibri"/>
                <a:cs typeface="Calibri"/>
              </a:rPr>
              <a:t>.</a:t>
            </a:r>
            <a:r>
              <a:rPr sz="2400" spc="-50" dirty="0">
                <a:latin typeface="Calibri"/>
                <a:cs typeface="Calibri"/>
              </a:rPr>
              <a:t> </a:t>
            </a:r>
            <a:r>
              <a:rPr sz="2400" dirty="0">
                <a:latin typeface="Calibri"/>
                <a:cs typeface="Calibri"/>
              </a:rPr>
              <a:t>.</a:t>
            </a:r>
            <a:r>
              <a:rPr sz="2400" spc="-50" dirty="0">
                <a:latin typeface="Calibri"/>
                <a:cs typeface="Calibri"/>
              </a:rPr>
              <a:t> </a:t>
            </a:r>
            <a:r>
              <a:rPr sz="2400" dirty="0">
                <a:latin typeface="Calibri"/>
                <a:cs typeface="Calibri"/>
              </a:rPr>
              <a:t>.).</a:t>
            </a:r>
            <a:r>
              <a:rPr sz="2400" spc="-45" dirty="0">
                <a:latin typeface="Calibri"/>
                <a:cs typeface="Calibri"/>
              </a:rPr>
              <a:t> </a:t>
            </a:r>
            <a:r>
              <a:rPr sz="2400" dirty="0">
                <a:latin typeface="Calibri"/>
                <a:cs typeface="Calibri"/>
              </a:rPr>
              <a:t>Gaps</a:t>
            </a:r>
            <a:r>
              <a:rPr sz="2400" spc="-45" dirty="0">
                <a:latin typeface="Calibri"/>
                <a:cs typeface="Calibri"/>
              </a:rPr>
              <a:t> </a:t>
            </a:r>
            <a:r>
              <a:rPr sz="2400" dirty="0">
                <a:latin typeface="Calibri"/>
                <a:cs typeface="Calibri"/>
              </a:rPr>
              <a:t>are</a:t>
            </a:r>
            <a:r>
              <a:rPr sz="2400" spc="-45" dirty="0">
                <a:latin typeface="Calibri"/>
                <a:cs typeface="Calibri"/>
              </a:rPr>
              <a:t> </a:t>
            </a:r>
            <a:r>
              <a:rPr sz="2400" dirty="0">
                <a:latin typeface="Calibri"/>
                <a:cs typeface="Calibri"/>
              </a:rPr>
              <a:t>desirable</a:t>
            </a:r>
            <a:r>
              <a:rPr sz="2400" spc="-40" dirty="0">
                <a:latin typeface="Calibri"/>
                <a:cs typeface="Calibri"/>
              </a:rPr>
              <a:t> </a:t>
            </a:r>
            <a:r>
              <a:rPr sz="2400" spc="-25" dirty="0">
                <a:latin typeface="Calibri"/>
                <a:cs typeface="Calibri"/>
              </a:rPr>
              <a:t>so </a:t>
            </a:r>
            <a:r>
              <a:rPr sz="2400" dirty="0">
                <a:latin typeface="Calibri"/>
                <a:cs typeface="Calibri"/>
              </a:rPr>
              <a:t>you</a:t>
            </a:r>
            <a:r>
              <a:rPr sz="2400" spc="-45" dirty="0">
                <a:latin typeface="Calibri"/>
                <a:cs typeface="Calibri"/>
              </a:rPr>
              <a:t> </a:t>
            </a:r>
            <a:r>
              <a:rPr sz="2400" dirty="0">
                <a:latin typeface="Calibri"/>
                <a:cs typeface="Calibri"/>
              </a:rPr>
              <a:t>can</a:t>
            </a:r>
            <a:r>
              <a:rPr sz="2400" spc="-40" dirty="0">
                <a:latin typeface="Calibri"/>
                <a:cs typeface="Calibri"/>
              </a:rPr>
              <a:t> </a:t>
            </a:r>
            <a:r>
              <a:rPr sz="2400" dirty="0">
                <a:latin typeface="Calibri"/>
                <a:cs typeface="Calibri"/>
              </a:rPr>
              <a:t>add</a:t>
            </a:r>
            <a:r>
              <a:rPr sz="2400" spc="-40" dirty="0">
                <a:latin typeface="Calibri"/>
                <a:cs typeface="Calibri"/>
              </a:rPr>
              <a:t> </a:t>
            </a:r>
            <a:r>
              <a:rPr sz="2400" dirty="0">
                <a:latin typeface="Calibri"/>
                <a:cs typeface="Calibri"/>
              </a:rPr>
              <a:t>missing</a:t>
            </a:r>
            <a:r>
              <a:rPr sz="2400" spc="-50" dirty="0">
                <a:latin typeface="Calibri"/>
                <a:cs typeface="Calibri"/>
              </a:rPr>
              <a:t> </a:t>
            </a:r>
            <a:r>
              <a:rPr sz="2400" dirty="0">
                <a:latin typeface="Calibri"/>
                <a:cs typeface="Calibri"/>
              </a:rPr>
              <a:t>or</a:t>
            </a:r>
            <a:r>
              <a:rPr sz="2400" spc="-45" dirty="0">
                <a:latin typeface="Calibri"/>
                <a:cs typeface="Calibri"/>
              </a:rPr>
              <a:t> </a:t>
            </a:r>
            <a:r>
              <a:rPr sz="2400" dirty="0">
                <a:latin typeface="Calibri"/>
                <a:cs typeface="Calibri"/>
              </a:rPr>
              <a:t>new</a:t>
            </a:r>
            <a:r>
              <a:rPr sz="2400" spc="-45" dirty="0">
                <a:latin typeface="Calibri"/>
                <a:cs typeface="Calibri"/>
              </a:rPr>
              <a:t> </a:t>
            </a:r>
            <a:r>
              <a:rPr sz="2400" dirty="0">
                <a:latin typeface="Calibri"/>
                <a:cs typeface="Calibri"/>
              </a:rPr>
              <a:t>activities</a:t>
            </a:r>
            <a:r>
              <a:rPr sz="2400" spc="-50" dirty="0">
                <a:latin typeface="Calibri"/>
                <a:cs typeface="Calibri"/>
              </a:rPr>
              <a:t> </a:t>
            </a:r>
            <a:r>
              <a:rPr sz="2400" spc="-10" dirty="0">
                <a:latin typeface="Calibri"/>
                <a:cs typeface="Calibri"/>
              </a:rPr>
              <a:t>later.</a:t>
            </a:r>
            <a:endParaRPr sz="2400">
              <a:latin typeface="Calibri"/>
              <a:cs typeface="Calibri"/>
            </a:endParaRPr>
          </a:p>
        </p:txBody>
      </p:sp>
      <p:sp>
        <p:nvSpPr>
          <p:cNvPr id="5" name="object 5"/>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34</a:t>
            </a:fld>
            <a:endParaRPr spc="-25" dirty="0"/>
          </a:p>
        </p:txBody>
      </p:sp>
      <p:pic>
        <p:nvPicPr>
          <p:cNvPr id="6" name="Picture 5">
            <a:extLst>
              <a:ext uri="{FF2B5EF4-FFF2-40B4-BE49-F238E27FC236}">
                <a16:creationId xmlns:a16="http://schemas.microsoft.com/office/drawing/2014/main" id="{237AE5F1-B812-23D4-F984-BF36BBB2A12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6063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16938" y="1695195"/>
            <a:ext cx="6363335" cy="452120"/>
          </a:xfrm>
          <a:prstGeom prst="rect">
            <a:avLst/>
          </a:prstGeom>
        </p:spPr>
        <p:txBody>
          <a:bodyPr vert="horz" wrap="square" lIns="0" tIns="12700" rIns="0" bIns="0" rtlCol="0">
            <a:spAutoFit/>
          </a:bodyPr>
          <a:lstStyle/>
          <a:p>
            <a:pPr marL="12700">
              <a:lnSpc>
                <a:spcPct val="100000"/>
              </a:lnSpc>
              <a:spcBef>
                <a:spcPts val="100"/>
              </a:spcBef>
              <a:tabLst>
                <a:tab pos="526415" algn="l"/>
              </a:tabLst>
            </a:pPr>
            <a:r>
              <a:rPr sz="2800" b="1" spc="-25" dirty="0">
                <a:latin typeface="Calibri"/>
                <a:cs typeface="Calibri"/>
              </a:rPr>
              <a:t>3.</a:t>
            </a:r>
            <a:r>
              <a:rPr sz="2800" b="1" dirty="0">
                <a:latin typeface="Calibri"/>
                <a:cs typeface="Calibri"/>
              </a:rPr>
              <a:t>	Use</a:t>
            </a:r>
            <a:r>
              <a:rPr sz="2800" b="1" spc="-60" dirty="0">
                <a:latin typeface="Calibri"/>
                <a:cs typeface="Calibri"/>
              </a:rPr>
              <a:t> </a:t>
            </a:r>
            <a:r>
              <a:rPr sz="2800" b="1" dirty="0">
                <a:latin typeface="Calibri"/>
                <a:cs typeface="Calibri"/>
              </a:rPr>
              <a:t>of</a:t>
            </a:r>
            <a:r>
              <a:rPr sz="2800" b="1" spc="-55" dirty="0">
                <a:latin typeface="Calibri"/>
                <a:cs typeface="Calibri"/>
              </a:rPr>
              <a:t> </a:t>
            </a:r>
            <a:r>
              <a:rPr sz="2800" b="1" dirty="0">
                <a:latin typeface="Calibri"/>
                <a:cs typeface="Calibri"/>
              </a:rPr>
              <a:t>Computers</a:t>
            </a:r>
            <a:r>
              <a:rPr sz="2800" b="1" spc="-60" dirty="0">
                <a:latin typeface="Calibri"/>
                <a:cs typeface="Calibri"/>
              </a:rPr>
              <a:t> </a:t>
            </a:r>
            <a:r>
              <a:rPr sz="2800" b="1" dirty="0">
                <a:latin typeface="Calibri"/>
                <a:cs typeface="Calibri"/>
              </a:rPr>
              <a:t>to</a:t>
            </a:r>
            <a:r>
              <a:rPr sz="2800" b="1" spc="-65" dirty="0">
                <a:latin typeface="Calibri"/>
                <a:cs typeface="Calibri"/>
              </a:rPr>
              <a:t> </a:t>
            </a:r>
            <a:r>
              <a:rPr sz="2800" b="1" dirty="0">
                <a:latin typeface="Calibri"/>
                <a:cs typeface="Calibri"/>
              </a:rPr>
              <a:t>Develop</a:t>
            </a:r>
            <a:r>
              <a:rPr sz="2800" b="1" spc="-60" dirty="0">
                <a:latin typeface="Calibri"/>
                <a:cs typeface="Calibri"/>
              </a:rPr>
              <a:t> </a:t>
            </a:r>
            <a:r>
              <a:rPr sz="2800" b="1" spc="-10" dirty="0">
                <a:latin typeface="Calibri"/>
                <a:cs typeface="Calibri"/>
              </a:rPr>
              <a:t>Networks</a:t>
            </a:r>
            <a:endParaRPr sz="2800">
              <a:latin typeface="Calibri"/>
              <a:cs typeface="Calibri"/>
            </a:endParaRPr>
          </a:p>
        </p:txBody>
      </p:sp>
      <p:pic>
        <p:nvPicPr>
          <p:cNvPr id="3" name="object 3"/>
          <p:cNvPicPr/>
          <p:nvPr/>
        </p:nvPicPr>
        <p:blipFill>
          <a:blip r:embed="rId2" cstate="print"/>
          <a:stretch>
            <a:fillRect/>
          </a:stretch>
        </p:blipFill>
        <p:spPr>
          <a:xfrm>
            <a:off x="703804" y="2662121"/>
            <a:ext cx="10637858" cy="3381102"/>
          </a:xfrm>
          <a:prstGeom prst="rect">
            <a:avLst/>
          </a:prstGeom>
        </p:spPr>
      </p:pic>
      <p:sp>
        <p:nvSpPr>
          <p:cNvPr id="4" name="object 4"/>
          <p:cNvSpPr txBox="1">
            <a:spLocks noGrp="1"/>
          </p:cNvSpPr>
          <p:nvPr>
            <p:ph type="ctrTitle"/>
          </p:nvPr>
        </p:nvSpPr>
        <p:spPr>
          <a:prstGeom prst="rect">
            <a:avLst/>
          </a:prstGeom>
        </p:spPr>
        <p:txBody>
          <a:bodyPr vert="horz" wrap="square" lIns="0" tIns="13970" rIns="0" bIns="0" rtlCol="0">
            <a:spAutoFit/>
          </a:bodyPr>
          <a:lstStyle/>
          <a:p>
            <a:pPr marL="12700">
              <a:lnSpc>
                <a:spcPct val="100000"/>
              </a:lnSpc>
              <a:spcBef>
                <a:spcPts val="110"/>
              </a:spcBef>
            </a:pPr>
            <a:r>
              <a:rPr spc="90" dirty="0"/>
              <a:t>Practical</a:t>
            </a:r>
            <a:r>
              <a:rPr spc="140" dirty="0"/>
              <a:t> </a:t>
            </a:r>
            <a:r>
              <a:rPr spc="105" dirty="0"/>
              <a:t>Considerations</a:t>
            </a:r>
            <a:r>
              <a:rPr spc="130" dirty="0"/>
              <a:t> </a:t>
            </a:r>
            <a:r>
              <a:rPr sz="1950" spc="-10" dirty="0"/>
              <a:t>(2/3)</a:t>
            </a:r>
            <a:endParaRPr sz="1950"/>
          </a:p>
        </p:txBody>
      </p:sp>
      <p:sp>
        <p:nvSpPr>
          <p:cNvPr id="5" name="object 5"/>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35</a:t>
            </a:fld>
            <a:endParaRPr spc="-25" dirty="0"/>
          </a:p>
        </p:txBody>
      </p:sp>
      <p:pic>
        <p:nvPicPr>
          <p:cNvPr id="6" name="Picture 5">
            <a:extLst>
              <a:ext uri="{FF2B5EF4-FFF2-40B4-BE49-F238E27FC236}">
                <a16:creationId xmlns:a16="http://schemas.microsoft.com/office/drawing/2014/main" id="{E7DA0DCB-4019-5C0F-01CF-BE9C7E15669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6063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16938" y="1656588"/>
            <a:ext cx="10565765" cy="1665605"/>
          </a:xfrm>
          <a:prstGeom prst="rect">
            <a:avLst/>
          </a:prstGeom>
        </p:spPr>
        <p:txBody>
          <a:bodyPr vert="horz" wrap="square" lIns="0" tIns="12700" rIns="0" bIns="0" rtlCol="0">
            <a:spAutoFit/>
          </a:bodyPr>
          <a:lstStyle/>
          <a:p>
            <a:pPr marL="526415" indent="-513715">
              <a:lnSpc>
                <a:spcPts val="2665"/>
              </a:lnSpc>
              <a:spcBef>
                <a:spcPts val="100"/>
              </a:spcBef>
              <a:buAutoNum type="arabicPeriod" startAt="4"/>
              <a:tabLst>
                <a:tab pos="526415" algn="l"/>
              </a:tabLst>
            </a:pPr>
            <a:r>
              <a:rPr sz="2600" b="1" dirty="0">
                <a:latin typeface="Calibri"/>
                <a:cs typeface="Calibri"/>
              </a:rPr>
              <a:t>Calendar</a:t>
            </a:r>
            <a:r>
              <a:rPr sz="2600" b="1" spc="175" dirty="0">
                <a:latin typeface="Calibri"/>
                <a:cs typeface="Calibri"/>
              </a:rPr>
              <a:t> </a:t>
            </a:r>
            <a:r>
              <a:rPr sz="2600" b="1" dirty="0">
                <a:latin typeface="Calibri"/>
                <a:cs typeface="Calibri"/>
              </a:rPr>
              <a:t>Dates:</a:t>
            </a:r>
            <a:r>
              <a:rPr sz="2600" b="1" spc="175" dirty="0">
                <a:latin typeface="Calibri"/>
                <a:cs typeface="Calibri"/>
              </a:rPr>
              <a:t> </a:t>
            </a:r>
            <a:r>
              <a:rPr sz="2600" dirty="0">
                <a:latin typeface="Calibri"/>
                <a:cs typeface="Calibri"/>
              </a:rPr>
              <a:t>Assign</a:t>
            </a:r>
            <a:r>
              <a:rPr sz="2600" spc="170" dirty="0">
                <a:latin typeface="Calibri"/>
                <a:cs typeface="Calibri"/>
              </a:rPr>
              <a:t> </a:t>
            </a:r>
            <a:r>
              <a:rPr sz="2600" dirty="0">
                <a:latin typeface="Calibri"/>
                <a:cs typeface="Calibri"/>
              </a:rPr>
              <a:t>calendar</a:t>
            </a:r>
            <a:r>
              <a:rPr sz="2600" spc="185" dirty="0">
                <a:latin typeface="Calibri"/>
                <a:cs typeface="Calibri"/>
              </a:rPr>
              <a:t> </a:t>
            </a:r>
            <a:r>
              <a:rPr sz="2600" dirty="0">
                <a:latin typeface="Calibri"/>
                <a:cs typeface="Calibri"/>
              </a:rPr>
              <a:t>dates</a:t>
            </a:r>
            <a:r>
              <a:rPr sz="2600" spc="175" dirty="0">
                <a:latin typeface="Calibri"/>
                <a:cs typeface="Calibri"/>
              </a:rPr>
              <a:t> </a:t>
            </a:r>
            <a:r>
              <a:rPr sz="2600" dirty="0">
                <a:latin typeface="Calibri"/>
                <a:cs typeface="Calibri"/>
              </a:rPr>
              <a:t>to</a:t>
            </a:r>
            <a:r>
              <a:rPr sz="2600" spc="180" dirty="0">
                <a:latin typeface="Calibri"/>
                <a:cs typeface="Calibri"/>
              </a:rPr>
              <a:t> </a:t>
            </a:r>
            <a:r>
              <a:rPr sz="2600" dirty="0">
                <a:latin typeface="Calibri"/>
                <a:cs typeface="Calibri"/>
              </a:rPr>
              <a:t>your</a:t>
            </a:r>
            <a:r>
              <a:rPr sz="2600" spc="185" dirty="0">
                <a:latin typeface="Calibri"/>
                <a:cs typeface="Calibri"/>
              </a:rPr>
              <a:t> </a:t>
            </a:r>
            <a:r>
              <a:rPr sz="2600" dirty="0">
                <a:latin typeface="Calibri"/>
                <a:cs typeface="Calibri"/>
              </a:rPr>
              <a:t>project</a:t>
            </a:r>
            <a:r>
              <a:rPr sz="2600" spc="180" dirty="0">
                <a:latin typeface="Calibri"/>
                <a:cs typeface="Calibri"/>
              </a:rPr>
              <a:t> </a:t>
            </a:r>
            <a:r>
              <a:rPr sz="2600" dirty="0">
                <a:latin typeface="Calibri"/>
                <a:cs typeface="Calibri"/>
              </a:rPr>
              <a:t>activities.</a:t>
            </a:r>
            <a:r>
              <a:rPr sz="2600" spc="185" dirty="0">
                <a:latin typeface="Calibri"/>
                <a:cs typeface="Calibri"/>
              </a:rPr>
              <a:t> </a:t>
            </a:r>
            <a:r>
              <a:rPr sz="2600" dirty="0">
                <a:latin typeface="Calibri"/>
                <a:cs typeface="Calibri"/>
              </a:rPr>
              <a:t>This</a:t>
            </a:r>
            <a:r>
              <a:rPr sz="2600" spc="175" dirty="0">
                <a:latin typeface="Calibri"/>
                <a:cs typeface="Calibri"/>
              </a:rPr>
              <a:t> </a:t>
            </a:r>
            <a:r>
              <a:rPr sz="2600" spc="-25" dirty="0">
                <a:latin typeface="Calibri"/>
                <a:cs typeface="Calibri"/>
              </a:rPr>
              <a:t>can</a:t>
            </a:r>
            <a:endParaRPr sz="2600">
              <a:latin typeface="Calibri"/>
              <a:cs typeface="Calibri"/>
            </a:endParaRPr>
          </a:p>
          <a:p>
            <a:pPr marL="526415">
              <a:lnSpc>
                <a:spcPts val="2195"/>
              </a:lnSpc>
              <a:tabLst>
                <a:tab pos="1008380" algn="l"/>
                <a:tab pos="1838325" algn="l"/>
                <a:tab pos="3212465" algn="l"/>
                <a:tab pos="3533775" algn="l"/>
                <a:tab pos="3838575" algn="l"/>
                <a:tab pos="5292090" algn="l"/>
                <a:tab pos="6582409" algn="l"/>
                <a:tab pos="6932930" algn="l"/>
                <a:tab pos="7536815" algn="l"/>
                <a:tab pos="8404860" algn="l"/>
                <a:tab pos="9243695" algn="l"/>
              </a:tabLst>
            </a:pPr>
            <a:r>
              <a:rPr sz="2600" spc="-25" dirty="0">
                <a:latin typeface="Calibri"/>
                <a:cs typeface="Calibri"/>
              </a:rPr>
              <a:t>be</a:t>
            </a:r>
            <a:r>
              <a:rPr sz="2600" dirty="0">
                <a:latin typeface="Calibri"/>
                <a:cs typeface="Calibri"/>
              </a:rPr>
              <a:t>	</a:t>
            </a:r>
            <a:r>
              <a:rPr sz="2600" spc="-20" dirty="0">
                <a:latin typeface="Calibri"/>
                <a:cs typeface="Calibri"/>
              </a:rPr>
              <a:t>done</a:t>
            </a:r>
            <a:r>
              <a:rPr sz="2600" dirty="0">
                <a:latin typeface="Calibri"/>
                <a:cs typeface="Calibri"/>
              </a:rPr>
              <a:t>	</a:t>
            </a:r>
            <a:r>
              <a:rPr sz="2600" spc="-10" dirty="0">
                <a:latin typeface="Calibri"/>
                <a:cs typeface="Calibri"/>
              </a:rPr>
              <a:t>manually</a:t>
            </a:r>
            <a:r>
              <a:rPr sz="2600" dirty="0">
                <a:latin typeface="Calibri"/>
                <a:cs typeface="Calibri"/>
              </a:rPr>
              <a:t>	</a:t>
            </a:r>
            <a:r>
              <a:rPr sz="2600" spc="-25" dirty="0">
                <a:latin typeface="Calibri"/>
                <a:cs typeface="Calibri"/>
              </a:rPr>
              <a:t>if</a:t>
            </a:r>
            <a:r>
              <a:rPr sz="2600" dirty="0">
                <a:latin typeface="Calibri"/>
                <a:cs typeface="Calibri"/>
              </a:rPr>
              <a:t>	</a:t>
            </a:r>
            <a:r>
              <a:rPr sz="2600" spc="-50" dirty="0">
                <a:latin typeface="Calibri"/>
                <a:cs typeface="Calibri"/>
              </a:rPr>
              <a:t>a</a:t>
            </a:r>
            <a:r>
              <a:rPr sz="2600" dirty="0">
                <a:latin typeface="Calibri"/>
                <a:cs typeface="Calibri"/>
              </a:rPr>
              <a:t>	</a:t>
            </a:r>
            <a:r>
              <a:rPr sz="2600" spc="-10" dirty="0">
                <a:latin typeface="Calibri"/>
                <a:cs typeface="Calibri"/>
              </a:rPr>
              <a:t>computer</a:t>
            </a:r>
            <a:r>
              <a:rPr sz="2600" dirty="0">
                <a:latin typeface="Calibri"/>
                <a:cs typeface="Calibri"/>
              </a:rPr>
              <a:t>	</a:t>
            </a:r>
            <a:r>
              <a:rPr sz="2600" spc="-10" dirty="0">
                <a:latin typeface="Calibri"/>
                <a:cs typeface="Calibri"/>
              </a:rPr>
              <a:t>program</a:t>
            </a:r>
            <a:r>
              <a:rPr sz="2600" dirty="0">
                <a:latin typeface="Calibri"/>
                <a:cs typeface="Calibri"/>
              </a:rPr>
              <a:t>	</a:t>
            </a:r>
            <a:r>
              <a:rPr sz="2600" spc="-25" dirty="0">
                <a:latin typeface="Calibri"/>
                <a:cs typeface="Calibri"/>
              </a:rPr>
              <a:t>is</a:t>
            </a:r>
            <a:r>
              <a:rPr sz="2600" dirty="0">
                <a:latin typeface="Calibri"/>
                <a:cs typeface="Calibri"/>
              </a:rPr>
              <a:t>	</a:t>
            </a:r>
            <a:r>
              <a:rPr sz="2600" spc="-25" dirty="0">
                <a:latin typeface="Calibri"/>
                <a:cs typeface="Calibri"/>
              </a:rPr>
              <a:t>not</a:t>
            </a:r>
            <a:r>
              <a:rPr sz="2600" dirty="0">
                <a:latin typeface="Calibri"/>
                <a:cs typeface="Calibri"/>
              </a:rPr>
              <a:t>	</a:t>
            </a:r>
            <a:r>
              <a:rPr sz="2600" spc="-10" dirty="0">
                <a:latin typeface="Calibri"/>
                <a:cs typeface="Calibri"/>
              </a:rPr>
              <a:t>used.</a:t>
            </a:r>
            <a:r>
              <a:rPr sz="2600" dirty="0">
                <a:latin typeface="Calibri"/>
                <a:cs typeface="Calibri"/>
              </a:rPr>
              <a:t>	</a:t>
            </a:r>
            <a:r>
              <a:rPr sz="2600" spc="-20" dirty="0">
                <a:latin typeface="Calibri"/>
                <a:cs typeface="Calibri"/>
              </a:rPr>
              <a:t>Most</a:t>
            </a:r>
            <a:r>
              <a:rPr sz="2600" dirty="0">
                <a:latin typeface="Calibri"/>
                <a:cs typeface="Calibri"/>
              </a:rPr>
              <a:t>	</a:t>
            </a:r>
            <a:r>
              <a:rPr sz="2600" spc="-10" dirty="0">
                <a:latin typeface="Calibri"/>
                <a:cs typeface="Calibri"/>
              </a:rPr>
              <a:t>computer</a:t>
            </a:r>
            <a:endParaRPr sz="2600">
              <a:latin typeface="Calibri"/>
              <a:cs typeface="Calibri"/>
            </a:endParaRPr>
          </a:p>
          <a:p>
            <a:pPr marL="526415" marR="5080">
              <a:lnSpc>
                <a:spcPct val="70800"/>
              </a:lnSpc>
              <a:spcBef>
                <a:spcPts val="440"/>
              </a:spcBef>
            </a:pPr>
            <a:r>
              <a:rPr sz="2600" dirty="0">
                <a:latin typeface="Calibri"/>
                <a:cs typeface="Calibri"/>
              </a:rPr>
              <a:t>programs</a:t>
            </a:r>
            <a:r>
              <a:rPr sz="2600" spc="175" dirty="0">
                <a:latin typeface="Calibri"/>
                <a:cs typeface="Calibri"/>
              </a:rPr>
              <a:t> </a:t>
            </a:r>
            <a:r>
              <a:rPr sz="2600" dirty="0">
                <a:latin typeface="Calibri"/>
                <a:cs typeface="Calibri"/>
              </a:rPr>
              <a:t>will</a:t>
            </a:r>
            <a:r>
              <a:rPr sz="2600" spc="185" dirty="0">
                <a:latin typeface="Calibri"/>
                <a:cs typeface="Calibri"/>
              </a:rPr>
              <a:t> </a:t>
            </a:r>
            <a:r>
              <a:rPr sz="2600" dirty="0">
                <a:latin typeface="Calibri"/>
                <a:cs typeface="Calibri"/>
              </a:rPr>
              <a:t>assign</a:t>
            </a:r>
            <a:r>
              <a:rPr sz="2600" spc="175" dirty="0">
                <a:latin typeface="Calibri"/>
                <a:cs typeface="Calibri"/>
              </a:rPr>
              <a:t> </a:t>
            </a:r>
            <a:r>
              <a:rPr sz="2600" dirty="0">
                <a:latin typeface="Calibri"/>
                <a:cs typeface="Calibri"/>
              </a:rPr>
              <a:t>calendar</a:t>
            </a:r>
            <a:r>
              <a:rPr sz="2600" spc="190" dirty="0">
                <a:latin typeface="Calibri"/>
                <a:cs typeface="Calibri"/>
              </a:rPr>
              <a:t> </a:t>
            </a:r>
            <a:r>
              <a:rPr sz="2600" dirty="0">
                <a:latin typeface="Calibri"/>
                <a:cs typeface="Calibri"/>
              </a:rPr>
              <a:t>dates</a:t>
            </a:r>
            <a:r>
              <a:rPr sz="2600" spc="180" dirty="0">
                <a:latin typeface="Calibri"/>
                <a:cs typeface="Calibri"/>
              </a:rPr>
              <a:t> </a:t>
            </a:r>
            <a:r>
              <a:rPr sz="2600" dirty="0">
                <a:latin typeface="Calibri"/>
                <a:cs typeface="Calibri"/>
              </a:rPr>
              <a:t>automatically</a:t>
            </a:r>
            <a:r>
              <a:rPr sz="2600" spc="175" dirty="0">
                <a:latin typeface="Calibri"/>
                <a:cs typeface="Calibri"/>
              </a:rPr>
              <a:t> </a:t>
            </a:r>
            <a:r>
              <a:rPr sz="2600" dirty="0">
                <a:latin typeface="Calibri"/>
                <a:cs typeface="Calibri"/>
              </a:rPr>
              <a:t>after</a:t>
            </a:r>
            <a:r>
              <a:rPr sz="2600" spc="185" dirty="0">
                <a:latin typeface="Calibri"/>
                <a:cs typeface="Calibri"/>
              </a:rPr>
              <a:t> </a:t>
            </a:r>
            <a:r>
              <a:rPr sz="2600" dirty="0">
                <a:latin typeface="Calibri"/>
                <a:cs typeface="Calibri"/>
              </a:rPr>
              <a:t>you</a:t>
            </a:r>
            <a:r>
              <a:rPr sz="2600" spc="180" dirty="0">
                <a:latin typeface="Calibri"/>
                <a:cs typeface="Calibri"/>
              </a:rPr>
              <a:t> </a:t>
            </a:r>
            <a:r>
              <a:rPr sz="2600" dirty="0">
                <a:latin typeface="Calibri"/>
                <a:cs typeface="Calibri"/>
              </a:rPr>
              <a:t>identify</a:t>
            </a:r>
            <a:r>
              <a:rPr sz="2600" spc="180" dirty="0">
                <a:latin typeface="Calibri"/>
                <a:cs typeface="Calibri"/>
              </a:rPr>
              <a:t> </a:t>
            </a:r>
            <a:r>
              <a:rPr sz="2600" spc="-10" dirty="0">
                <a:latin typeface="Calibri"/>
                <a:cs typeface="Calibri"/>
              </a:rPr>
              <a:t>start </a:t>
            </a:r>
            <a:r>
              <a:rPr sz="2600" dirty="0">
                <a:latin typeface="Calibri"/>
                <a:cs typeface="Calibri"/>
              </a:rPr>
              <a:t>dates,</a:t>
            </a:r>
            <a:r>
              <a:rPr sz="2600" spc="-55" dirty="0">
                <a:latin typeface="Calibri"/>
                <a:cs typeface="Calibri"/>
              </a:rPr>
              <a:t> </a:t>
            </a:r>
            <a:r>
              <a:rPr sz="2600" dirty="0">
                <a:latin typeface="Calibri"/>
                <a:cs typeface="Calibri"/>
              </a:rPr>
              <a:t>time</a:t>
            </a:r>
            <a:r>
              <a:rPr sz="2600" spc="-60" dirty="0">
                <a:latin typeface="Calibri"/>
                <a:cs typeface="Calibri"/>
              </a:rPr>
              <a:t> </a:t>
            </a:r>
            <a:r>
              <a:rPr sz="2600" dirty="0">
                <a:latin typeface="Calibri"/>
                <a:cs typeface="Calibri"/>
              </a:rPr>
              <a:t>units,</a:t>
            </a:r>
            <a:r>
              <a:rPr sz="2600" spc="-55" dirty="0">
                <a:latin typeface="Calibri"/>
                <a:cs typeface="Calibri"/>
              </a:rPr>
              <a:t> </a:t>
            </a:r>
            <a:r>
              <a:rPr sz="2600" spc="-20" dirty="0">
                <a:latin typeface="Calibri"/>
                <a:cs typeface="Calibri"/>
              </a:rPr>
              <a:t>non-workdays,</a:t>
            </a:r>
            <a:r>
              <a:rPr sz="2600" spc="-50" dirty="0">
                <a:latin typeface="Calibri"/>
                <a:cs typeface="Calibri"/>
              </a:rPr>
              <a:t> </a:t>
            </a:r>
            <a:r>
              <a:rPr sz="2600" dirty="0">
                <a:latin typeface="Calibri"/>
                <a:cs typeface="Calibri"/>
              </a:rPr>
              <a:t>and</a:t>
            </a:r>
            <a:r>
              <a:rPr sz="2600" spc="-55" dirty="0">
                <a:latin typeface="Calibri"/>
                <a:cs typeface="Calibri"/>
              </a:rPr>
              <a:t> </a:t>
            </a:r>
            <a:r>
              <a:rPr sz="2600" dirty="0">
                <a:latin typeface="Calibri"/>
                <a:cs typeface="Calibri"/>
              </a:rPr>
              <a:t>other</a:t>
            </a:r>
            <a:r>
              <a:rPr sz="2600" spc="-50" dirty="0">
                <a:latin typeface="Calibri"/>
                <a:cs typeface="Calibri"/>
              </a:rPr>
              <a:t> </a:t>
            </a:r>
            <a:r>
              <a:rPr sz="2600" spc="-10" dirty="0">
                <a:latin typeface="Calibri"/>
                <a:cs typeface="Calibri"/>
              </a:rPr>
              <a:t>information.</a:t>
            </a:r>
            <a:endParaRPr sz="2600">
              <a:latin typeface="Calibri"/>
              <a:cs typeface="Calibri"/>
            </a:endParaRPr>
          </a:p>
          <a:p>
            <a:pPr marL="526415" indent="-513715">
              <a:lnSpc>
                <a:spcPct val="100000"/>
              </a:lnSpc>
              <a:spcBef>
                <a:spcPts val="75"/>
              </a:spcBef>
              <a:buAutoNum type="arabicPeriod" startAt="5"/>
              <a:tabLst>
                <a:tab pos="526415" algn="l"/>
              </a:tabLst>
            </a:pPr>
            <a:r>
              <a:rPr sz="2600" b="1" dirty="0">
                <a:latin typeface="Calibri"/>
                <a:cs typeface="Calibri"/>
              </a:rPr>
              <a:t>Multiple</a:t>
            </a:r>
            <a:r>
              <a:rPr sz="2600" b="1" spc="-55" dirty="0">
                <a:latin typeface="Calibri"/>
                <a:cs typeface="Calibri"/>
              </a:rPr>
              <a:t> </a:t>
            </a:r>
            <a:r>
              <a:rPr sz="2600" b="1" dirty="0">
                <a:latin typeface="Calibri"/>
                <a:cs typeface="Calibri"/>
              </a:rPr>
              <a:t>Starts</a:t>
            </a:r>
            <a:r>
              <a:rPr sz="2600" b="1" spc="-50" dirty="0">
                <a:latin typeface="Calibri"/>
                <a:cs typeface="Calibri"/>
              </a:rPr>
              <a:t> </a:t>
            </a:r>
            <a:r>
              <a:rPr sz="2600" b="1" dirty="0">
                <a:latin typeface="Calibri"/>
                <a:cs typeface="Calibri"/>
              </a:rPr>
              <a:t>and</a:t>
            </a:r>
            <a:r>
              <a:rPr sz="2600" b="1" spc="-45" dirty="0">
                <a:latin typeface="Calibri"/>
                <a:cs typeface="Calibri"/>
              </a:rPr>
              <a:t> </a:t>
            </a:r>
            <a:r>
              <a:rPr sz="2600" b="1" dirty="0">
                <a:latin typeface="Calibri"/>
                <a:cs typeface="Calibri"/>
              </a:rPr>
              <a:t>Multiple</a:t>
            </a:r>
            <a:r>
              <a:rPr sz="2600" b="1" spc="-50" dirty="0">
                <a:latin typeface="Calibri"/>
                <a:cs typeface="Calibri"/>
              </a:rPr>
              <a:t> </a:t>
            </a:r>
            <a:r>
              <a:rPr sz="2600" b="1" dirty="0">
                <a:latin typeface="Calibri"/>
                <a:cs typeface="Calibri"/>
              </a:rPr>
              <a:t>Projects:</a:t>
            </a:r>
            <a:r>
              <a:rPr sz="2600" b="1" spc="-55" dirty="0">
                <a:latin typeface="Calibri"/>
                <a:cs typeface="Calibri"/>
              </a:rPr>
              <a:t> </a:t>
            </a:r>
            <a:r>
              <a:rPr sz="2600" dirty="0">
                <a:latin typeface="Calibri"/>
                <a:cs typeface="Calibri"/>
              </a:rPr>
              <a:t>Some</a:t>
            </a:r>
            <a:r>
              <a:rPr sz="2600" spc="-55" dirty="0">
                <a:latin typeface="Calibri"/>
                <a:cs typeface="Calibri"/>
              </a:rPr>
              <a:t> </a:t>
            </a:r>
            <a:r>
              <a:rPr sz="2600" dirty="0">
                <a:latin typeface="Calibri"/>
                <a:cs typeface="Calibri"/>
              </a:rPr>
              <a:t>computer</a:t>
            </a:r>
            <a:r>
              <a:rPr sz="2600" spc="-40" dirty="0">
                <a:latin typeface="Calibri"/>
                <a:cs typeface="Calibri"/>
              </a:rPr>
              <a:t> </a:t>
            </a:r>
            <a:r>
              <a:rPr sz="2600" dirty="0">
                <a:latin typeface="Calibri"/>
                <a:cs typeface="Calibri"/>
              </a:rPr>
              <a:t>programs</a:t>
            </a:r>
            <a:r>
              <a:rPr sz="2600" spc="-55" dirty="0">
                <a:latin typeface="Calibri"/>
                <a:cs typeface="Calibri"/>
              </a:rPr>
              <a:t> </a:t>
            </a:r>
            <a:r>
              <a:rPr sz="2600" dirty="0">
                <a:latin typeface="Calibri"/>
                <a:cs typeface="Calibri"/>
              </a:rPr>
              <a:t>require</a:t>
            </a:r>
            <a:r>
              <a:rPr sz="2600" spc="-55" dirty="0">
                <a:latin typeface="Calibri"/>
                <a:cs typeface="Calibri"/>
              </a:rPr>
              <a:t> </a:t>
            </a:r>
            <a:r>
              <a:rPr sz="2600" spc="-50" dirty="0">
                <a:latin typeface="Calibri"/>
                <a:cs typeface="Calibri"/>
              </a:rPr>
              <a:t>a</a:t>
            </a:r>
            <a:endParaRPr sz="2600">
              <a:latin typeface="Calibri"/>
              <a:cs typeface="Calibri"/>
            </a:endParaRPr>
          </a:p>
        </p:txBody>
      </p:sp>
      <p:sp>
        <p:nvSpPr>
          <p:cNvPr id="7" name="object 7"/>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36</a:t>
            </a:fld>
            <a:endParaRPr spc="-25" dirty="0"/>
          </a:p>
        </p:txBody>
      </p:sp>
      <p:sp>
        <p:nvSpPr>
          <p:cNvPr id="3" name="object 3"/>
          <p:cNvSpPr txBox="1"/>
          <p:nvPr/>
        </p:nvSpPr>
        <p:spPr>
          <a:xfrm>
            <a:off x="1431288" y="3180588"/>
            <a:ext cx="10050145" cy="421640"/>
          </a:xfrm>
          <a:prstGeom prst="rect">
            <a:avLst/>
          </a:prstGeom>
        </p:spPr>
        <p:txBody>
          <a:bodyPr vert="horz" wrap="square" lIns="0" tIns="12700" rIns="0" bIns="0" rtlCol="0">
            <a:spAutoFit/>
          </a:bodyPr>
          <a:lstStyle/>
          <a:p>
            <a:pPr marL="12700">
              <a:lnSpc>
                <a:spcPct val="100000"/>
              </a:lnSpc>
              <a:spcBef>
                <a:spcPts val="100"/>
              </a:spcBef>
            </a:pPr>
            <a:r>
              <a:rPr sz="2600" dirty="0">
                <a:latin typeface="Calibri"/>
                <a:cs typeface="Calibri"/>
              </a:rPr>
              <a:t>common</a:t>
            </a:r>
            <a:r>
              <a:rPr sz="2600" spc="135" dirty="0">
                <a:latin typeface="Calibri"/>
                <a:cs typeface="Calibri"/>
              </a:rPr>
              <a:t> </a:t>
            </a:r>
            <a:r>
              <a:rPr sz="2600" dirty="0">
                <a:latin typeface="Calibri"/>
                <a:cs typeface="Calibri"/>
              </a:rPr>
              <a:t>start</a:t>
            </a:r>
            <a:r>
              <a:rPr sz="2600" spc="140" dirty="0">
                <a:latin typeface="Calibri"/>
                <a:cs typeface="Calibri"/>
              </a:rPr>
              <a:t> </a:t>
            </a:r>
            <a:r>
              <a:rPr sz="2600" dirty="0">
                <a:latin typeface="Calibri"/>
                <a:cs typeface="Calibri"/>
              </a:rPr>
              <a:t>and</a:t>
            </a:r>
            <a:r>
              <a:rPr sz="2600" spc="140" dirty="0">
                <a:latin typeface="Calibri"/>
                <a:cs typeface="Calibri"/>
              </a:rPr>
              <a:t> </a:t>
            </a:r>
            <a:r>
              <a:rPr sz="2600" dirty="0">
                <a:latin typeface="Calibri"/>
                <a:cs typeface="Calibri"/>
              </a:rPr>
              <a:t>finish</a:t>
            </a:r>
            <a:r>
              <a:rPr sz="2600" spc="130" dirty="0">
                <a:latin typeface="Calibri"/>
                <a:cs typeface="Calibri"/>
              </a:rPr>
              <a:t> </a:t>
            </a:r>
            <a:r>
              <a:rPr sz="2600" dirty="0">
                <a:latin typeface="Calibri"/>
                <a:cs typeface="Calibri"/>
              </a:rPr>
              <a:t>event</a:t>
            </a:r>
            <a:r>
              <a:rPr sz="2600" spc="145" dirty="0">
                <a:latin typeface="Calibri"/>
                <a:cs typeface="Calibri"/>
              </a:rPr>
              <a:t> </a:t>
            </a:r>
            <a:r>
              <a:rPr sz="2600" dirty="0">
                <a:latin typeface="Calibri"/>
                <a:cs typeface="Calibri"/>
              </a:rPr>
              <a:t>in</a:t>
            </a:r>
            <a:r>
              <a:rPr sz="2600" spc="135" dirty="0">
                <a:latin typeface="Calibri"/>
                <a:cs typeface="Calibri"/>
              </a:rPr>
              <a:t> </a:t>
            </a:r>
            <a:r>
              <a:rPr sz="2600" dirty="0">
                <a:latin typeface="Calibri"/>
                <a:cs typeface="Calibri"/>
              </a:rPr>
              <a:t>the</a:t>
            </a:r>
            <a:r>
              <a:rPr sz="2600" spc="135" dirty="0">
                <a:latin typeface="Calibri"/>
                <a:cs typeface="Calibri"/>
              </a:rPr>
              <a:t> </a:t>
            </a:r>
            <a:r>
              <a:rPr sz="2600" dirty="0">
                <a:latin typeface="Calibri"/>
                <a:cs typeface="Calibri"/>
              </a:rPr>
              <a:t>form</a:t>
            </a:r>
            <a:r>
              <a:rPr sz="2600" spc="135" dirty="0">
                <a:latin typeface="Calibri"/>
                <a:cs typeface="Calibri"/>
              </a:rPr>
              <a:t> </a:t>
            </a:r>
            <a:r>
              <a:rPr sz="2600" dirty="0">
                <a:latin typeface="Calibri"/>
                <a:cs typeface="Calibri"/>
              </a:rPr>
              <a:t>of</a:t>
            </a:r>
            <a:r>
              <a:rPr sz="2600" spc="135" dirty="0">
                <a:latin typeface="Calibri"/>
                <a:cs typeface="Calibri"/>
              </a:rPr>
              <a:t> </a:t>
            </a:r>
            <a:r>
              <a:rPr sz="2600" dirty="0">
                <a:latin typeface="Calibri"/>
                <a:cs typeface="Calibri"/>
              </a:rPr>
              <a:t>a</a:t>
            </a:r>
            <a:r>
              <a:rPr sz="2600" spc="145" dirty="0">
                <a:latin typeface="Calibri"/>
                <a:cs typeface="Calibri"/>
              </a:rPr>
              <a:t> </a:t>
            </a:r>
            <a:r>
              <a:rPr sz="2600" dirty="0">
                <a:latin typeface="Calibri"/>
                <a:cs typeface="Calibri"/>
              </a:rPr>
              <a:t>node.</a:t>
            </a:r>
            <a:r>
              <a:rPr sz="2600" spc="145" dirty="0">
                <a:latin typeface="Calibri"/>
                <a:cs typeface="Calibri"/>
              </a:rPr>
              <a:t> </a:t>
            </a:r>
            <a:r>
              <a:rPr sz="2600" dirty="0">
                <a:latin typeface="Calibri"/>
                <a:cs typeface="Calibri"/>
              </a:rPr>
              <a:t>Even</a:t>
            </a:r>
            <a:r>
              <a:rPr sz="2600" spc="130" dirty="0">
                <a:latin typeface="Calibri"/>
                <a:cs typeface="Calibri"/>
              </a:rPr>
              <a:t> </a:t>
            </a:r>
            <a:r>
              <a:rPr sz="2600" dirty="0">
                <a:latin typeface="Calibri"/>
                <a:cs typeface="Calibri"/>
              </a:rPr>
              <a:t>if</a:t>
            </a:r>
            <a:r>
              <a:rPr sz="2600" spc="135" dirty="0">
                <a:latin typeface="Calibri"/>
                <a:cs typeface="Calibri"/>
              </a:rPr>
              <a:t> </a:t>
            </a:r>
            <a:r>
              <a:rPr sz="2600" dirty="0">
                <a:latin typeface="Calibri"/>
                <a:cs typeface="Calibri"/>
              </a:rPr>
              <a:t>this</a:t>
            </a:r>
            <a:r>
              <a:rPr sz="2600" spc="140" dirty="0">
                <a:latin typeface="Calibri"/>
                <a:cs typeface="Calibri"/>
              </a:rPr>
              <a:t> </a:t>
            </a:r>
            <a:r>
              <a:rPr sz="2600" dirty="0">
                <a:latin typeface="Calibri"/>
                <a:cs typeface="Calibri"/>
              </a:rPr>
              <a:t>is</a:t>
            </a:r>
            <a:r>
              <a:rPr sz="2600" spc="135" dirty="0">
                <a:latin typeface="Calibri"/>
                <a:cs typeface="Calibri"/>
              </a:rPr>
              <a:t> </a:t>
            </a:r>
            <a:r>
              <a:rPr sz="2600" dirty="0">
                <a:latin typeface="Calibri"/>
                <a:cs typeface="Calibri"/>
              </a:rPr>
              <a:t>not</a:t>
            </a:r>
            <a:r>
              <a:rPr sz="2600" spc="140" dirty="0">
                <a:latin typeface="Calibri"/>
                <a:cs typeface="Calibri"/>
              </a:rPr>
              <a:t> </a:t>
            </a:r>
            <a:r>
              <a:rPr sz="2600" spc="-50" dirty="0">
                <a:latin typeface="Calibri"/>
                <a:cs typeface="Calibri"/>
              </a:rPr>
              <a:t>a</a:t>
            </a:r>
            <a:endParaRPr sz="2600">
              <a:latin typeface="Calibri"/>
              <a:cs typeface="Calibri"/>
            </a:endParaRPr>
          </a:p>
        </p:txBody>
      </p:sp>
      <p:sp>
        <p:nvSpPr>
          <p:cNvPr id="4" name="object 4"/>
          <p:cNvSpPr txBox="1"/>
          <p:nvPr/>
        </p:nvSpPr>
        <p:spPr>
          <a:xfrm>
            <a:off x="1431288" y="3445764"/>
            <a:ext cx="10050145" cy="421640"/>
          </a:xfrm>
          <a:prstGeom prst="rect">
            <a:avLst/>
          </a:prstGeom>
        </p:spPr>
        <p:txBody>
          <a:bodyPr vert="horz" wrap="square" lIns="0" tIns="12700" rIns="0" bIns="0" rtlCol="0">
            <a:spAutoFit/>
          </a:bodyPr>
          <a:lstStyle/>
          <a:p>
            <a:pPr marL="12700">
              <a:lnSpc>
                <a:spcPct val="100000"/>
              </a:lnSpc>
              <a:spcBef>
                <a:spcPts val="100"/>
              </a:spcBef>
            </a:pPr>
            <a:r>
              <a:rPr sz="2600" dirty="0">
                <a:latin typeface="Calibri"/>
                <a:cs typeface="Calibri"/>
              </a:rPr>
              <a:t>requirement,</a:t>
            </a:r>
            <a:r>
              <a:rPr sz="2600" spc="160" dirty="0">
                <a:latin typeface="Calibri"/>
                <a:cs typeface="Calibri"/>
              </a:rPr>
              <a:t> </a:t>
            </a:r>
            <a:r>
              <a:rPr sz="2600" dirty="0">
                <a:latin typeface="Calibri"/>
                <a:cs typeface="Calibri"/>
              </a:rPr>
              <a:t>it</a:t>
            </a:r>
            <a:r>
              <a:rPr sz="2600" spc="165" dirty="0">
                <a:latin typeface="Calibri"/>
                <a:cs typeface="Calibri"/>
              </a:rPr>
              <a:t> </a:t>
            </a:r>
            <a:r>
              <a:rPr sz="2600" dirty="0">
                <a:latin typeface="Calibri"/>
                <a:cs typeface="Calibri"/>
              </a:rPr>
              <a:t>is</a:t>
            </a:r>
            <a:r>
              <a:rPr sz="2600" spc="160" dirty="0">
                <a:latin typeface="Calibri"/>
                <a:cs typeface="Calibri"/>
              </a:rPr>
              <a:t> </a:t>
            </a:r>
            <a:r>
              <a:rPr sz="2600" dirty="0">
                <a:latin typeface="Calibri"/>
                <a:cs typeface="Calibri"/>
              </a:rPr>
              <a:t>a</a:t>
            </a:r>
            <a:r>
              <a:rPr sz="2600" spc="170" dirty="0">
                <a:latin typeface="Calibri"/>
                <a:cs typeface="Calibri"/>
              </a:rPr>
              <a:t> </a:t>
            </a:r>
            <a:r>
              <a:rPr sz="2600" dirty="0">
                <a:latin typeface="Calibri"/>
                <a:cs typeface="Calibri"/>
              </a:rPr>
              <a:t>good</a:t>
            </a:r>
            <a:r>
              <a:rPr sz="2600" spc="160" dirty="0">
                <a:latin typeface="Calibri"/>
                <a:cs typeface="Calibri"/>
              </a:rPr>
              <a:t> </a:t>
            </a:r>
            <a:r>
              <a:rPr sz="2600" dirty="0">
                <a:latin typeface="Calibri"/>
                <a:cs typeface="Calibri"/>
              </a:rPr>
              <a:t>idea</a:t>
            </a:r>
            <a:r>
              <a:rPr sz="2600" spc="170" dirty="0">
                <a:latin typeface="Calibri"/>
                <a:cs typeface="Calibri"/>
              </a:rPr>
              <a:t> </a:t>
            </a:r>
            <a:r>
              <a:rPr sz="2600" dirty="0">
                <a:latin typeface="Calibri"/>
                <a:cs typeface="Calibri"/>
              </a:rPr>
              <a:t>because</a:t>
            </a:r>
            <a:r>
              <a:rPr sz="2600" spc="155" dirty="0">
                <a:latin typeface="Calibri"/>
                <a:cs typeface="Calibri"/>
              </a:rPr>
              <a:t> </a:t>
            </a:r>
            <a:r>
              <a:rPr sz="2600" dirty="0">
                <a:latin typeface="Calibri"/>
                <a:cs typeface="Calibri"/>
              </a:rPr>
              <a:t>it</a:t>
            </a:r>
            <a:r>
              <a:rPr sz="2600" spc="165" dirty="0">
                <a:latin typeface="Calibri"/>
                <a:cs typeface="Calibri"/>
              </a:rPr>
              <a:t> </a:t>
            </a:r>
            <a:r>
              <a:rPr sz="2600" dirty="0">
                <a:latin typeface="Calibri"/>
                <a:cs typeface="Calibri"/>
              </a:rPr>
              <a:t>avoids</a:t>
            </a:r>
            <a:r>
              <a:rPr sz="2600" spc="155" dirty="0">
                <a:latin typeface="Calibri"/>
                <a:cs typeface="Calibri"/>
              </a:rPr>
              <a:t> </a:t>
            </a:r>
            <a:r>
              <a:rPr sz="2600" b="1" dirty="0">
                <a:solidFill>
                  <a:srgbClr val="C00000"/>
                </a:solidFill>
                <a:latin typeface="Calibri"/>
                <a:cs typeface="Calibri"/>
              </a:rPr>
              <a:t>“dangler”</a:t>
            </a:r>
            <a:r>
              <a:rPr sz="2600" b="1" spc="150" dirty="0">
                <a:solidFill>
                  <a:srgbClr val="C00000"/>
                </a:solidFill>
                <a:latin typeface="Calibri"/>
                <a:cs typeface="Calibri"/>
              </a:rPr>
              <a:t> </a:t>
            </a:r>
            <a:r>
              <a:rPr sz="2600" dirty="0">
                <a:latin typeface="Calibri"/>
                <a:cs typeface="Calibri"/>
              </a:rPr>
              <a:t>paths.</a:t>
            </a:r>
            <a:r>
              <a:rPr sz="2600" spc="170" dirty="0">
                <a:latin typeface="Calibri"/>
                <a:cs typeface="Calibri"/>
              </a:rPr>
              <a:t> </a:t>
            </a:r>
            <a:r>
              <a:rPr sz="2600" spc="-10" dirty="0">
                <a:latin typeface="Calibri"/>
                <a:cs typeface="Calibri"/>
              </a:rPr>
              <a:t>Dangler</a:t>
            </a:r>
            <a:endParaRPr sz="2600">
              <a:latin typeface="Calibri"/>
              <a:cs typeface="Calibri"/>
            </a:endParaRPr>
          </a:p>
        </p:txBody>
      </p:sp>
      <p:sp>
        <p:nvSpPr>
          <p:cNvPr id="5" name="object 5"/>
          <p:cNvSpPr txBox="1"/>
          <p:nvPr/>
        </p:nvSpPr>
        <p:spPr>
          <a:xfrm>
            <a:off x="1431288" y="3726179"/>
            <a:ext cx="10052050" cy="2771775"/>
          </a:xfrm>
          <a:prstGeom prst="rect">
            <a:avLst/>
          </a:prstGeom>
        </p:spPr>
        <p:txBody>
          <a:bodyPr vert="horz" wrap="square" lIns="0" tIns="12700" rIns="0" bIns="0" rtlCol="0">
            <a:spAutoFit/>
          </a:bodyPr>
          <a:lstStyle/>
          <a:p>
            <a:pPr marL="12700">
              <a:lnSpc>
                <a:spcPts val="2665"/>
              </a:lnSpc>
              <a:spcBef>
                <a:spcPts val="100"/>
              </a:spcBef>
            </a:pPr>
            <a:r>
              <a:rPr sz="2600" dirty="0">
                <a:latin typeface="Calibri"/>
                <a:cs typeface="Calibri"/>
              </a:rPr>
              <a:t>paths give</a:t>
            </a:r>
            <a:r>
              <a:rPr sz="2600" spc="5" dirty="0">
                <a:latin typeface="Calibri"/>
                <a:cs typeface="Calibri"/>
              </a:rPr>
              <a:t> </a:t>
            </a:r>
            <a:r>
              <a:rPr sz="2600" dirty="0">
                <a:latin typeface="Calibri"/>
                <a:cs typeface="Calibri"/>
              </a:rPr>
              <a:t>the</a:t>
            </a:r>
            <a:r>
              <a:rPr sz="2600" spc="5" dirty="0">
                <a:latin typeface="Calibri"/>
                <a:cs typeface="Calibri"/>
              </a:rPr>
              <a:t> </a:t>
            </a:r>
            <a:r>
              <a:rPr sz="2600" dirty="0">
                <a:latin typeface="Calibri"/>
                <a:cs typeface="Calibri"/>
              </a:rPr>
              <a:t>impression</a:t>
            </a:r>
            <a:r>
              <a:rPr sz="2600" spc="5" dirty="0">
                <a:latin typeface="Calibri"/>
                <a:cs typeface="Calibri"/>
              </a:rPr>
              <a:t> </a:t>
            </a:r>
            <a:r>
              <a:rPr sz="2600" dirty="0">
                <a:latin typeface="Calibri"/>
                <a:cs typeface="Calibri"/>
              </a:rPr>
              <a:t>that</a:t>
            </a:r>
            <a:r>
              <a:rPr sz="2600" spc="15" dirty="0">
                <a:latin typeface="Calibri"/>
                <a:cs typeface="Calibri"/>
              </a:rPr>
              <a:t> </a:t>
            </a:r>
            <a:r>
              <a:rPr sz="2600" dirty="0">
                <a:latin typeface="Calibri"/>
                <a:cs typeface="Calibri"/>
              </a:rPr>
              <a:t>the</a:t>
            </a:r>
            <a:r>
              <a:rPr sz="2600" spc="10" dirty="0">
                <a:latin typeface="Calibri"/>
                <a:cs typeface="Calibri"/>
              </a:rPr>
              <a:t> </a:t>
            </a:r>
            <a:r>
              <a:rPr sz="2600" dirty="0">
                <a:latin typeface="Calibri"/>
                <a:cs typeface="Calibri"/>
              </a:rPr>
              <a:t>project</a:t>
            </a:r>
            <a:r>
              <a:rPr sz="2600" spc="10" dirty="0">
                <a:latin typeface="Calibri"/>
                <a:cs typeface="Calibri"/>
              </a:rPr>
              <a:t> </a:t>
            </a:r>
            <a:r>
              <a:rPr sz="2600" dirty="0">
                <a:latin typeface="Calibri"/>
                <a:cs typeface="Calibri"/>
              </a:rPr>
              <a:t>does</a:t>
            </a:r>
            <a:r>
              <a:rPr sz="2600" spc="5" dirty="0">
                <a:latin typeface="Calibri"/>
                <a:cs typeface="Calibri"/>
              </a:rPr>
              <a:t> </a:t>
            </a:r>
            <a:r>
              <a:rPr sz="2600" dirty="0">
                <a:latin typeface="Calibri"/>
                <a:cs typeface="Calibri"/>
              </a:rPr>
              <a:t>not</a:t>
            </a:r>
            <a:r>
              <a:rPr sz="2600" spc="15" dirty="0">
                <a:latin typeface="Calibri"/>
                <a:cs typeface="Calibri"/>
              </a:rPr>
              <a:t> </a:t>
            </a:r>
            <a:r>
              <a:rPr sz="2600" dirty="0">
                <a:latin typeface="Calibri"/>
                <a:cs typeface="Calibri"/>
              </a:rPr>
              <a:t>have a</a:t>
            </a:r>
            <a:r>
              <a:rPr sz="2600" spc="15" dirty="0">
                <a:latin typeface="Calibri"/>
                <a:cs typeface="Calibri"/>
              </a:rPr>
              <a:t> </a:t>
            </a:r>
            <a:r>
              <a:rPr sz="2600" dirty="0">
                <a:latin typeface="Calibri"/>
                <a:cs typeface="Calibri"/>
              </a:rPr>
              <a:t>clear</a:t>
            </a:r>
            <a:r>
              <a:rPr sz="2600" spc="15" dirty="0">
                <a:latin typeface="Calibri"/>
                <a:cs typeface="Calibri"/>
              </a:rPr>
              <a:t> </a:t>
            </a:r>
            <a:r>
              <a:rPr sz="2600" spc="-10" dirty="0">
                <a:latin typeface="Calibri"/>
                <a:cs typeface="Calibri"/>
              </a:rPr>
              <a:t>beginning</a:t>
            </a:r>
            <a:endParaRPr sz="2600">
              <a:latin typeface="Calibri"/>
              <a:cs typeface="Calibri"/>
            </a:endParaRPr>
          </a:p>
          <a:p>
            <a:pPr marL="12700">
              <a:lnSpc>
                <a:spcPts val="2195"/>
              </a:lnSpc>
            </a:pPr>
            <a:r>
              <a:rPr sz="2600" dirty="0">
                <a:latin typeface="Calibri"/>
                <a:cs typeface="Calibri"/>
              </a:rPr>
              <a:t>or</a:t>
            </a:r>
            <a:r>
              <a:rPr sz="2600" spc="-15" dirty="0">
                <a:latin typeface="Calibri"/>
                <a:cs typeface="Calibri"/>
              </a:rPr>
              <a:t> </a:t>
            </a:r>
            <a:r>
              <a:rPr sz="2600" dirty="0">
                <a:latin typeface="Calibri"/>
                <a:cs typeface="Calibri"/>
              </a:rPr>
              <a:t>ending.</a:t>
            </a:r>
            <a:r>
              <a:rPr sz="2600" spc="-15" dirty="0">
                <a:latin typeface="Calibri"/>
                <a:cs typeface="Calibri"/>
              </a:rPr>
              <a:t> </a:t>
            </a:r>
            <a:r>
              <a:rPr sz="2600" dirty="0">
                <a:latin typeface="Calibri"/>
                <a:cs typeface="Calibri"/>
              </a:rPr>
              <a:t>If</a:t>
            </a:r>
            <a:r>
              <a:rPr sz="2600" spc="-20" dirty="0">
                <a:latin typeface="Calibri"/>
                <a:cs typeface="Calibri"/>
              </a:rPr>
              <a:t> </a:t>
            </a:r>
            <a:r>
              <a:rPr sz="2600" dirty="0">
                <a:latin typeface="Calibri"/>
                <a:cs typeface="Calibri"/>
              </a:rPr>
              <a:t>a</a:t>
            </a:r>
            <a:r>
              <a:rPr sz="2600" spc="-15" dirty="0">
                <a:latin typeface="Calibri"/>
                <a:cs typeface="Calibri"/>
              </a:rPr>
              <a:t> </a:t>
            </a:r>
            <a:r>
              <a:rPr sz="2600" dirty="0">
                <a:latin typeface="Calibri"/>
                <a:cs typeface="Calibri"/>
              </a:rPr>
              <a:t>project</a:t>
            </a:r>
            <a:r>
              <a:rPr sz="2600" spc="-10" dirty="0">
                <a:latin typeface="Calibri"/>
                <a:cs typeface="Calibri"/>
              </a:rPr>
              <a:t> </a:t>
            </a:r>
            <a:r>
              <a:rPr sz="2600" dirty="0">
                <a:latin typeface="Calibri"/>
                <a:cs typeface="Calibri"/>
              </a:rPr>
              <a:t>has</a:t>
            </a:r>
            <a:r>
              <a:rPr sz="2600" spc="-25" dirty="0">
                <a:latin typeface="Calibri"/>
                <a:cs typeface="Calibri"/>
              </a:rPr>
              <a:t> </a:t>
            </a:r>
            <a:r>
              <a:rPr sz="2600" dirty="0">
                <a:latin typeface="Calibri"/>
                <a:cs typeface="Calibri"/>
              </a:rPr>
              <a:t>more</a:t>
            </a:r>
            <a:r>
              <a:rPr sz="2600" spc="-20" dirty="0">
                <a:latin typeface="Calibri"/>
                <a:cs typeface="Calibri"/>
              </a:rPr>
              <a:t> </a:t>
            </a:r>
            <a:r>
              <a:rPr sz="2600" dirty="0">
                <a:latin typeface="Calibri"/>
                <a:cs typeface="Calibri"/>
              </a:rPr>
              <a:t>than</a:t>
            </a:r>
            <a:r>
              <a:rPr sz="2600" spc="-15" dirty="0">
                <a:latin typeface="Calibri"/>
                <a:cs typeface="Calibri"/>
              </a:rPr>
              <a:t> </a:t>
            </a:r>
            <a:r>
              <a:rPr sz="2600" dirty="0">
                <a:latin typeface="Calibri"/>
                <a:cs typeface="Calibri"/>
              </a:rPr>
              <a:t>one</a:t>
            </a:r>
            <a:r>
              <a:rPr sz="2600" spc="-25" dirty="0">
                <a:latin typeface="Calibri"/>
                <a:cs typeface="Calibri"/>
              </a:rPr>
              <a:t> </a:t>
            </a:r>
            <a:r>
              <a:rPr sz="2600" dirty="0">
                <a:latin typeface="Calibri"/>
                <a:cs typeface="Calibri"/>
              </a:rPr>
              <a:t>activity</a:t>
            </a:r>
            <a:r>
              <a:rPr sz="2600" spc="-25" dirty="0">
                <a:latin typeface="Calibri"/>
                <a:cs typeface="Calibri"/>
              </a:rPr>
              <a:t> </a:t>
            </a:r>
            <a:r>
              <a:rPr sz="2600" dirty="0">
                <a:latin typeface="Calibri"/>
                <a:cs typeface="Calibri"/>
              </a:rPr>
              <a:t>that</a:t>
            </a:r>
            <a:r>
              <a:rPr sz="2600" spc="-15" dirty="0">
                <a:latin typeface="Calibri"/>
                <a:cs typeface="Calibri"/>
              </a:rPr>
              <a:t> </a:t>
            </a:r>
            <a:r>
              <a:rPr sz="2600" dirty="0">
                <a:latin typeface="Calibri"/>
                <a:cs typeface="Calibri"/>
              </a:rPr>
              <a:t>can</a:t>
            </a:r>
            <a:r>
              <a:rPr sz="2600" spc="-20" dirty="0">
                <a:latin typeface="Calibri"/>
                <a:cs typeface="Calibri"/>
              </a:rPr>
              <a:t> </a:t>
            </a:r>
            <a:r>
              <a:rPr sz="2600" dirty="0">
                <a:latin typeface="Calibri"/>
                <a:cs typeface="Calibri"/>
              </a:rPr>
              <a:t>begin/end</a:t>
            </a:r>
            <a:r>
              <a:rPr sz="2600" spc="-25" dirty="0">
                <a:latin typeface="Calibri"/>
                <a:cs typeface="Calibri"/>
              </a:rPr>
              <a:t> </a:t>
            </a:r>
            <a:r>
              <a:rPr sz="2600" spc="-20" dirty="0">
                <a:latin typeface="Calibri"/>
                <a:cs typeface="Calibri"/>
              </a:rPr>
              <a:t>when</a:t>
            </a:r>
            <a:endParaRPr sz="2600">
              <a:latin typeface="Calibri"/>
              <a:cs typeface="Calibri"/>
            </a:endParaRPr>
          </a:p>
          <a:p>
            <a:pPr marL="12700">
              <a:lnSpc>
                <a:spcPts val="2195"/>
              </a:lnSpc>
            </a:pPr>
            <a:r>
              <a:rPr sz="2600" dirty="0">
                <a:latin typeface="Calibri"/>
                <a:cs typeface="Calibri"/>
              </a:rPr>
              <a:t>the</a:t>
            </a:r>
            <a:r>
              <a:rPr sz="2600" spc="130" dirty="0">
                <a:latin typeface="Calibri"/>
                <a:cs typeface="Calibri"/>
              </a:rPr>
              <a:t> </a:t>
            </a:r>
            <a:r>
              <a:rPr sz="2600" dirty="0">
                <a:latin typeface="Calibri"/>
                <a:cs typeface="Calibri"/>
              </a:rPr>
              <a:t>project</a:t>
            </a:r>
            <a:r>
              <a:rPr sz="2600" spc="135" dirty="0">
                <a:latin typeface="Calibri"/>
                <a:cs typeface="Calibri"/>
              </a:rPr>
              <a:t> </a:t>
            </a:r>
            <a:r>
              <a:rPr sz="2600" dirty="0">
                <a:latin typeface="Calibri"/>
                <a:cs typeface="Calibri"/>
              </a:rPr>
              <a:t>is</a:t>
            </a:r>
            <a:r>
              <a:rPr sz="2600" spc="125" dirty="0">
                <a:latin typeface="Calibri"/>
                <a:cs typeface="Calibri"/>
              </a:rPr>
              <a:t> </a:t>
            </a:r>
            <a:r>
              <a:rPr sz="2600" dirty="0">
                <a:latin typeface="Calibri"/>
                <a:cs typeface="Calibri"/>
              </a:rPr>
              <a:t>to</a:t>
            </a:r>
            <a:r>
              <a:rPr sz="2600" spc="140" dirty="0">
                <a:latin typeface="Calibri"/>
                <a:cs typeface="Calibri"/>
              </a:rPr>
              <a:t> </a:t>
            </a:r>
            <a:r>
              <a:rPr sz="2600" dirty="0">
                <a:latin typeface="Calibri"/>
                <a:cs typeface="Calibri"/>
              </a:rPr>
              <a:t>start/finish,</a:t>
            </a:r>
            <a:r>
              <a:rPr sz="2600" spc="135" dirty="0">
                <a:latin typeface="Calibri"/>
                <a:cs typeface="Calibri"/>
              </a:rPr>
              <a:t> </a:t>
            </a:r>
            <a:r>
              <a:rPr sz="2600" dirty="0">
                <a:latin typeface="Calibri"/>
                <a:cs typeface="Calibri"/>
              </a:rPr>
              <a:t>each</a:t>
            </a:r>
            <a:r>
              <a:rPr sz="2600" spc="130" dirty="0">
                <a:latin typeface="Calibri"/>
                <a:cs typeface="Calibri"/>
              </a:rPr>
              <a:t> </a:t>
            </a:r>
            <a:r>
              <a:rPr sz="2600" dirty="0">
                <a:latin typeface="Calibri"/>
                <a:cs typeface="Calibri"/>
              </a:rPr>
              <a:t>path</a:t>
            </a:r>
            <a:r>
              <a:rPr sz="2600" spc="130" dirty="0">
                <a:latin typeface="Calibri"/>
                <a:cs typeface="Calibri"/>
              </a:rPr>
              <a:t> </a:t>
            </a:r>
            <a:r>
              <a:rPr sz="2600" dirty="0">
                <a:latin typeface="Calibri"/>
                <a:cs typeface="Calibri"/>
              </a:rPr>
              <a:t>is</a:t>
            </a:r>
            <a:r>
              <a:rPr sz="2600" spc="130" dirty="0">
                <a:latin typeface="Calibri"/>
                <a:cs typeface="Calibri"/>
              </a:rPr>
              <a:t> </a:t>
            </a:r>
            <a:r>
              <a:rPr sz="2600" dirty="0">
                <a:latin typeface="Calibri"/>
                <a:cs typeface="Calibri"/>
              </a:rPr>
              <a:t>a</a:t>
            </a:r>
            <a:r>
              <a:rPr sz="2600" spc="140" dirty="0">
                <a:latin typeface="Calibri"/>
                <a:cs typeface="Calibri"/>
              </a:rPr>
              <a:t> </a:t>
            </a:r>
            <a:r>
              <a:rPr sz="2600" dirty="0">
                <a:latin typeface="Calibri"/>
                <a:cs typeface="Calibri"/>
              </a:rPr>
              <a:t>dangler</a:t>
            </a:r>
            <a:r>
              <a:rPr sz="2600" spc="140" dirty="0">
                <a:latin typeface="Calibri"/>
                <a:cs typeface="Calibri"/>
              </a:rPr>
              <a:t> </a:t>
            </a:r>
            <a:r>
              <a:rPr sz="2600" dirty="0">
                <a:latin typeface="Calibri"/>
                <a:cs typeface="Calibri"/>
              </a:rPr>
              <a:t>path.</a:t>
            </a:r>
            <a:r>
              <a:rPr sz="2600" spc="140" dirty="0">
                <a:latin typeface="Calibri"/>
                <a:cs typeface="Calibri"/>
              </a:rPr>
              <a:t> </a:t>
            </a:r>
            <a:r>
              <a:rPr sz="2600" dirty="0">
                <a:latin typeface="Calibri"/>
                <a:cs typeface="Calibri"/>
              </a:rPr>
              <a:t>Danglers</a:t>
            </a:r>
            <a:r>
              <a:rPr sz="2600" spc="130" dirty="0">
                <a:latin typeface="Calibri"/>
                <a:cs typeface="Calibri"/>
              </a:rPr>
              <a:t> </a:t>
            </a:r>
            <a:r>
              <a:rPr sz="2600" dirty="0">
                <a:latin typeface="Calibri"/>
                <a:cs typeface="Calibri"/>
              </a:rPr>
              <a:t>can</a:t>
            </a:r>
            <a:r>
              <a:rPr sz="2600" spc="130" dirty="0">
                <a:latin typeface="Calibri"/>
                <a:cs typeface="Calibri"/>
              </a:rPr>
              <a:t> </a:t>
            </a:r>
            <a:r>
              <a:rPr sz="2600" spc="-25" dirty="0">
                <a:latin typeface="Calibri"/>
                <a:cs typeface="Calibri"/>
              </a:rPr>
              <a:t>be</a:t>
            </a:r>
            <a:endParaRPr sz="2600">
              <a:latin typeface="Calibri"/>
              <a:cs typeface="Calibri"/>
            </a:endParaRPr>
          </a:p>
          <a:p>
            <a:pPr marL="12700" marR="5715">
              <a:lnSpc>
                <a:spcPct val="70800"/>
              </a:lnSpc>
              <a:spcBef>
                <a:spcPts val="455"/>
              </a:spcBef>
              <a:tabLst>
                <a:tab pos="1214120" algn="l"/>
                <a:tab pos="1676400" algn="l"/>
                <a:tab pos="2482850" algn="l"/>
                <a:tab pos="3640454" algn="l"/>
                <a:tab pos="4972685" algn="l"/>
                <a:tab pos="5396865" algn="l"/>
                <a:tab pos="5697220" algn="l"/>
                <a:tab pos="7025005" algn="l"/>
                <a:tab pos="8118475" algn="l"/>
                <a:tab pos="8877935" algn="l"/>
                <a:tab pos="9310370" algn="l"/>
              </a:tabLst>
            </a:pPr>
            <a:r>
              <a:rPr sz="2600" spc="-10" dirty="0">
                <a:latin typeface="Calibri"/>
                <a:cs typeface="Calibri"/>
              </a:rPr>
              <a:t>avoided</a:t>
            </a:r>
            <a:r>
              <a:rPr sz="2600" dirty="0">
                <a:latin typeface="Calibri"/>
                <a:cs typeface="Calibri"/>
              </a:rPr>
              <a:t>	</a:t>
            </a:r>
            <a:r>
              <a:rPr sz="2600" spc="-25" dirty="0">
                <a:latin typeface="Calibri"/>
                <a:cs typeface="Calibri"/>
              </a:rPr>
              <a:t>by</a:t>
            </a:r>
            <a:r>
              <a:rPr sz="2600" dirty="0">
                <a:latin typeface="Calibri"/>
                <a:cs typeface="Calibri"/>
              </a:rPr>
              <a:t>	</a:t>
            </a:r>
            <a:r>
              <a:rPr sz="2600" spc="-20" dirty="0">
                <a:latin typeface="Calibri"/>
                <a:cs typeface="Calibri"/>
              </a:rPr>
              <a:t>tying</a:t>
            </a:r>
            <a:r>
              <a:rPr sz="2600" dirty="0">
                <a:latin typeface="Calibri"/>
                <a:cs typeface="Calibri"/>
              </a:rPr>
              <a:t>	</a:t>
            </a:r>
            <a:r>
              <a:rPr sz="2600" spc="-10" dirty="0">
                <a:latin typeface="Calibri"/>
                <a:cs typeface="Calibri"/>
              </a:rPr>
              <a:t>dangler</a:t>
            </a:r>
            <a:r>
              <a:rPr sz="2600" dirty="0">
                <a:latin typeface="Calibri"/>
                <a:cs typeface="Calibri"/>
              </a:rPr>
              <a:t>	</a:t>
            </a:r>
            <a:r>
              <a:rPr sz="2600" spc="-10" dirty="0">
                <a:latin typeface="Calibri"/>
                <a:cs typeface="Calibri"/>
              </a:rPr>
              <a:t>activities</a:t>
            </a:r>
            <a:r>
              <a:rPr sz="2600" dirty="0">
                <a:latin typeface="Calibri"/>
                <a:cs typeface="Calibri"/>
              </a:rPr>
              <a:t>	</a:t>
            </a:r>
            <a:r>
              <a:rPr sz="2600" spc="-25" dirty="0">
                <a:latin typeface="Calibri"/>
                <a:cs typeface="Calibri"/>
              </a:rPr>
              <a:t>to</a:t>
            </a:r>
            <a:r>
              <a:rPr sz="2600" dirty="0">
                <a:latin typeface="Calibri"/>
                <a:cs typeface="Calibri"/>
              </a:rPr>
              <a:t>	</a:t>
            </a:r>
            <a:r>
              <a:rPr sz="2600" spc="-50" dirty="0">
                <a:latin typeface="Calibri"/>
                <a:cs typeface="Calibri"/>
              </a:rPr>
              <a:t>a</a:t>
            </a:r>
            <a:r>
              <a:rPr sz="2600" dirty="0">
                <a:latin typeface="Calibri"/>
                <a:cs typeface="Calibri"/>
              </a:rPr>
              <a:t>	</a:t>
            </a:r>
            <a:r>
              <a:rPr sz="2600" spc="-10" dirty="0">
                <a:latin typeface="Calibri"/>
                <a:cs typeface="Calibri"/>
              </a:rPr>
              <a:t>common</a:t>
            </a:r>
            <a:r>
              <a:rPr sz="2600" dirty="0">
                <a:latin typeface="Calibri"/>
                <a:cs typeface="Calibri"/>
              </a:rPr>
              <a:t>	</a:t>
            </a:r>
            <a:r>
              <a:rPr sz="2600" spc="-10" dirty="0">
                <a:latin typeface="Calibri"/>
                <a:cs typeface="Calibri"/>
              </a:rPr>
              <a:t>project</a:t>
            </a:r>
            <a:r>
              <a:rPr sz="2600" dirty="0">
                <a:latin typeface="Calibri"/>
                <a:cs typeface="Calibri"/>
              </a:rPr>
              <a:t>	</a:t>
            </a:r>
            <a:r>
              <a:rPr sz="2600" spc="-10" dirty="0">
                <a:latin typeface="Calibri"/>
                <a:cs typeface="Calibri"/>
              </a:rPr>
              <a:t>start</a:t>
            </a:r>
            <a:r>
              <a:rPr sz="2600" dirty="0">
                <a:latin typeface="Calibri"/>
                <a:cs typeface="Calibri"/>
              </a:rPr>
              <a:t>	</a:t>
            </a:r>
            <a:r>
              <a:rPr sz="2600" spc="-25" dirty="0">
                <a:latin typeface="Calibri"/>
                <a:cs typeface="Calibri"/>
              </a:rPr>
              <a:t>or</a:t>
            </a:r>
            <a:r>
              <a:rPr sz="2600" dirty="0">
                <a:latin typeface="Calibri"/>
                <a:cs typeface="Calibri"/>
              </a:rPr>
              <a:t>	</a:t>
            </a:r>
            <a:r>
              <a:rPr sz="2600" spc="-10" dirty="0">
                <a:latin typeface="Calibri"/>
                <a:cs typeface="Calibri"/>
              </a:rPr>
              <a:t>finish node.</a:t>
            </a:r>
            <a:endParaRPr sz="2600">
              <a:latin typeface="Calibri"/>
              <a:cs typeface="Calibri"/>
            </a:endParaRPr>
          </a:p>
          <a:p>
            <a:pPr marL="33655">
              <a:lnSpc>
                <a:spcPts val="2640"/>
              </a:lnSpc>
              <a:tabLst>
                <a:tab pos="1023619" algn="l"/>
                <a:tab pos="2154555" algn="l"/>
                <a:tab pos="3422650" algn="l"/>
                <a:tab pos="4043045" algn="l"/>
                <a:tab pos="4754245" algn="l"/>
                <a:tab pos="6101715" algn="l"/>
                <a:tab pos="6537959" algn="l"/>
                <a:tab pos="7056755" algn="l"/>
                <a:tab pos="8985250" algn="l"/>
                <a:tab pos="9878695" algn="l"/>
              </a:tabLst>
            </a:pPr>
            <a:r>
              <a:rPr sz="2600" spc="-20" dirty="0">
                <a:latin typeface="Calibri"/>
                <a:cs typeface="Calibri"/>
              </a:rPr>
              <a:t>When</a:t>
            </a:r>
            <a:r>
              <a:rPr sz="2600" dirty="0">
                <a:latin typeface="Calibri"/>
                <a:cs typeface="Calibri"/>
              </a:rPr>
              <a:t>	</a:t>
            </a:r>
            <a:r>
              <a:rPr sz="2600" spc="-10" dirty="0">
                <a:latin typeface="Calibri"/>
                <a:cs typeface="Calibri"/>
              </a:rPr>
              <a:t>several</a:t>
            </a:r>
            <a:r>
              <a:rPr sz="2600" dirty="0">
                <a:latin typeface="Calibri"/>
                <a:cs typeface="Calibri"/>
              </a:rPr>
              <a:t>	</a:t>
            </a:r>
            <a:r>
              <a:rPr sz="2600" spc="-10" dirty="0">
                <a:latin typeface="Calibri"/>
                <a:cs typeface="Calibri"/>
              </a:rPr>
              <a:t>projects</a:t>
            </a:r>
            <a:r>
              <a:rPr sz="2600" dirty="0">
                <a:latin typeface="Calibri"/>
                <a:cs typeface="Calibri"/>
              </a:rPr>
              <a:t>	</a:t>
            </a:r>
            <a:r>
              <a:rPr sz="2600" spc="-25" dirty="0">
                <a:latin typeface="Calibri"/>
                <a:cs typeface="Calibri"/>
              </a:rPr>
              <a:t>are</a:t>
            </a:r>
            <a:r>
              <a:rPr sz="2600" dirty="0">
                <a:latin typeface="Calibri"/>
                <a:cs typeface="Calibri"/>
              </a:rPr>
              <a:t>	</a:t>
            </a:r>
            <a:r>
              <a:rPr sz="2600" spc="-20" dirty="0">
                <a:latin typeface="Calibri"/>
                <a:cs typeface="Calibri"/>
              </a:rPr>
              <a:t>tied</a:t>
            </a:r>
            <a:r>
              <a:rPr sz="2600" dirty="0">
                <a:latin typeface="Calibri"/>
                <a:cs typeface="Calibri"/>
              </a:rPr>
              <a:t>	</a:t>
            </a:r>
            <a:r>
              <a:rPr sz="2600" spc="-10" dirty="0">
                <a:latin typeface="Calibri"/>
                <a:cs typeface="Calibri"/>
              </a:rPr>
              <a:t>together</a:t>
            </a:r>
            <a:r>
              <a:rPr sz="2600" dirty="0">
                <a:latin typeface="Calibri"/>
                <a:cs typeface="Calibri"/>
              </a:rPr>
              <a:t>	</a:t>
            </a:r>
            <a:r>
              <a:rPr sz="2600" spc="-25" dirty="0">
                <a:latin typeface="Calibri"/>
                <a:cs typeface="Calibri"/>
              </a:rPr>
              <a:t>in</a:t>
            </a:r>
            <a:r>
              <a:rPr sz="2600" dirty="0">
                <a:latin typeface="Calibri"/>
                <a:cs typeface="Calibri"/>
              </a:rPr>
              <a:t>	</a:t>
            </a:r>
            <a:r>
              <a:rPr sz="2600" spc="-35" dirty="0">
                <a:latin typeface="Calibri"/>
                <a:cs typeface="Calibri"/>
              </a:rPr>
              <a:t>an</a:t>
            </a:r>
            <a:r>
              <a:rPr sz="2600" dirty="0">
                <a:latin typeface="Calibri"/>
                <a:cs typeface="Calibri"/>
              </a:rPr>
              <a:t>	</a:t>
            </a:r>
            <a:r>
              <a:rPr sz="2600" spc="-10" dirty="0">
                <a:latin typeface="Calibri"/>
                <a:cs typeface="Calibri"/>
              </a:rPr>
              <a:t>organization,</a:t>
            </a:r>
            <a:r>
              <a:rPr sz="2600" dirty="0">
                <a:latin typeface="Calibri"/>
                <a:cs typeface="Calibri"/>
              </a:rPr>
              <a:t>	</a:t>
            </a:r>
            <a:r>
              <a:rPr sz="2600" spc="-10" dirty="0">
                <a:latin typeface="Calibri"/>
                <a:cs typeface="Calibri"/>
              </a:rPr>
              <a:t>using</a:t>
            </a:r>
            <a:r>
              <a:rPr sz="2600" dirty="0">
                <a:latin typeface="Calibri"/>
                <a:cs typeface="Calibri"/>
              </a:rPr>
              <a:t>	</a:t>
            </a:r>
            <a:r>
              <a:rPr sz="2600" spc="-50" dirty="0">
                <a:latin typeface="Calibri"/>
                <a:cs typeface="Calibri"/>
              </a:rPr>
              <a:t>a</a:t>
            </a:r>
            <a:endParaRPr sz="2600">
              <a:latin typeface="Calibri"/>
              <a:cs typeface="Calibri"/>
            </a:endParaRPr>
          </a:p>
          <a:p>
            <a:pPr marL="33655">
              <a:lnSpc>
                <a:spcPts val="2195"/>
              </a:lnSpc>
            </a:pPr>
            <a:r>
              <a:rPr sz="2600" dirty="0">
                <a:latin typeface="Calibri"/>
                <a:cs typeface="Calibri"/>
              </a:rPr>
              <a:t>common</a:t>
            </a:r>
            <a:r>
              <a:rPr sz="2600" spc="85" dirty="0">
                <a:latin typeface="Calibri"/>
                <a:cs typeface="Calibri"/>
              </a:rPr>
              <a:t> </a:t>
            </a:r>
            <a:r>
              <a:rPr sz="2600" dirty="0">
                <a:latin typeface="Calibri"/>
                <a:cs typeface="Calibri"/>
              </a:rPr>
              <a:t>start</a:t>
            </a:r>
            <a:r>
              <a:rPr sz="2600" spc="85" dirty="0">
                <a:latin typeface="Calibri"/>
                <a:cs typeface="Calibri"/>
              </a:rPr>
              <a:t> </a:t>
            </a:r>
            <a:r>
              <a:rPr sz="2600" dirty="0">
                <a:latin typeface="Calibri"/>
                <a:cs typeface="Calibri"/>
              </a:rPr>
              <a:t>and</a:t>
            </a:r>
            <a:r>
              <a:rPr sz="2600" spc="80" dirty="0">
                <a:latin typeface="Calibri"/>
                <a:cs typeface="Calibri"/>
              </a:rPr>
              <a:t> </a:t>
            </a:r>
            <a:r>
              <a:rPr sz="2600" dirty="0">
                <a:latin typeface="Calibri"/>
                <a:cs typeface="Calibri"/>
              </a:rPr>
              <a:t>end</a:t>
            </a:r>
            <a:r>
              <a:rPr sz="2600" spc="80" dirty="0">
                <a:latin typeface="Calibri"/>
                <a:cs typeface="Calibri"/>
              </a:rPr>
              <a:t> </a:t>
            </a:r>
            <a:r>
              <a:rPr sz="2600" dirty="0">
                <a:latin typeface="Calibri"/>
                <a:cs typeface="Calibri"/>
              </a:rPr>
              <a:t>node</a:t>
            </a:r>
            <a:r>
              <a:rPr sz="2600" spc="75" dirty="0">
                <a:latin typeface="Calibri"/>
                <a:cs typeface="Calibri"/>
              </a:rPr>
              <a:t> </a:t>
            </a:r>
            <a:r>
              <a:rPr sz="2600" dirty="0">
                <a:latin typeface="Calibri"/>
                <a:cs typeface="Calibri"/>
              </a:rPr>
              <a:t>helps</a:t>
            </a:r>
            <a:r>
              <a:rPr sz="2600" spc="80" dirty="0">
                <a:latin typeface="Calibri"/>
                <a:cs typeface="Calibri"/>
              </a:rPr>
              <a:t> </a:t>
            </a:r>
            <a:r>
              <a:rPr sz="2600" dirty="0">
                <a:latin typeface="Calibri"/>
                <a:cs typeface="Calibri"/>
              </a:rPr>
              <a:t>to</a:t>
            </a:r>
            <a:r>
              <a:rPr sz="2600" spc="90" dirty="0">
                <a:latin typeface="Calibri"/>
                <a:cs typeface="Calibri"/>
              </a:rPr>
              <a:t> </a:t>
            </a:r>
            <a:r>
              <a:rPr sz="2600" dirty="0">
                <a:latin typeface="Calibri"/>
                <a:cs typeface="Calibri"/>
              </a:rPr>
              <a:t>identify</a:t>
            </a:r>
            <a:r>
              <a:rPr sz="2600" spc="85" dirty="0">
                <a:latin typeface="Calibri"/>
                <a:cs typeface="Calibri"/>
              </a:rPr>
              <a:t> </a:t>
            </a:r>
            <a:r>
              <a:rPr sz="2600" dirty="0">
                <a:latin typeface="Calibri"/>
                <a:cs typeface="Calibri"/>
              </a:rPr>
              <a:t>the</a:t>
            </a:r>
            <a:r>
              <a:rPr sz="2600" spc="80" dirty="0">
                <a:latin typeface="Calibri"/>
                <a:cs typeface="Calibri"/>
              </a:rPr>
              <a:t> </a:t>
            </a:r>
            <a:r>
              <a:rPr sz="2600" dirty="0">
                <a:latin typeface="Calibri"/>
                <a:cs typeface="Calibri"/>
              </a:rPr>
              <a:t>total</a:t>
            </a:r>
            <a:r>
              <a:rPr sz="2600" spc="90" dirty="0">
                <a:latin typeface="Calibri"/>
                <a:cs typeface="Calibri"/>
              </a:rPr>
              <a:t> </a:t>
            </a:r>
            <a:r>
              <a:rPr sz="2600" dirty="0">
                <a:latin typeface="Calibri"/>
                <a:cs typeface="Calibri"/>
              </a:rPr>
              <a:t>planning</a:t>
            </a:r>
            <a:r>
              <a:rPr sz="2600" spc="85" dirty="0">
                <a:latin typeface="Calibri"/>
                <a:cs typeface="Calibri"/>
              </a:rPr>
              <a:t> </a:t>
            </a:r>
            <a:r>
              <a:rPr sz="2600" dirty="0">
                <a:latin typeface="Calibri"/>
                <a:cs typeface="Calibri"/>
              </a:rPr>
              <a:t>period</a:t>
            </a:r>
            <a:r>
              <a:rPr sz="2600" spc="80" dirty="0">
                <a:latin typeface="Calibri"/>
                <a:cs typeface="Calibri"/>
              </a:rPr>
              <a:t> </a:t>
            </a:r>
            <a:r>
              <a:rPr sz="2600" spc="-25" dirty="0">
                <a:latin typeface="Calibri"/>
                <a:cs typeface="Calibri"/>
              </a:rPr>
              <a:t>of</a:t>
            </a:r>
            <a:endParaRPr sz="2600">
              <a:latin typeface="Calibri"/>
              <a:cs typeface="Calibri"/>
            </a:endParaRPr>
          </a:p>
          <a:p>
            <a:pPr marL="33655" marR="5080">
              <a:lnSpc>
                <a:spcPct val="70800"/>
              </a:lnSpc>
              <a:spcBef>
                <a:spcPts val="440"/>
              </a:spcBef>
            </a:pPr>
            <a:r>
              <a:rPr sz="2600" dirty="0">
                <a:latin typeface="Calibri"/>
                <a:cs typeface="Calibri"/>
              </a:rPr>
              <a:t>all</a:t>
            </a:r>
            <a:r>
              <a:rPr sz="2600" spc="340" dirty="0">
                <a:latin typeface="Calibri"/>
                <a:cs typeface="Calibri"/>
              </a:rPr>
              <a:t> </a:t>
            </a:r>
            <a:r>
              <a:rPr sz="2600" dirty="0">
                <a:latin typeface="Calibri"/>
                <a:cs typeface="Calibri"/>
              </a:rPr>
              <a:t>projects.</a:t>
            </a:r>
            <a:r>
              <a:rPr sz="2600" spc="345" dirty="0">
                <a:latin typeface="Calibri"/>
                <a:cs typeface="Calibri"/>
              </a:rPr>
              <a:t> </a:t>
            </a:r>
            <a:r>
              <a:rPr sz="2600" dirty="0">
                <a:latin typeface="Calibri"/>
                <a:cs typeface="Calibri"/>
              </a:rPr>
              <a:t>Use</a:t>
            </a:r>
            <a:r>
              <a:rPr sz="2600" spc="335" dirty="0">
                <a:latin typeface="Calibri"/>
                <a:cs typeface="Calibri"/>
              </a:rPr>
              <a:t> </a:t>
            </a:r>
            <a:r>
              <a:rPr sz="2600" dirty="0">
                <a:latin typeface="Calibri"/>
                <a:cs typeface="Calibri"/>
              </a:rPr>
              <a:t>of</a:t>
            </a:r>
            <a:r>
              <a:rPr sz="2600" spc="330" dirty="0">
                <a:latin typeface="Calibri"/>
                <a:cs typeface="Calibri"/>
              </a:rPr>
              <a:t> </a:t>
            </a:r>
            <a:r>
              <a:rPr sz="2600" dirty="0">
                <a:latin typeface="Calibri"/>
                <a:cs typeface="Calibri"/>
              </a:rPr>
              <a:t>dummy</a:t>
            </a:r>
            <a:r>
              <a:rPr sz="2600" spc="335" dirty="0">
                <a:latin typeface="Calibri"/>
                <a:cs typeface="Calibri"/>
              </a:rPr>
              <a:t> </a:t>
            </a:r>
            <a:r>
              <a:rPr sz="2600" dirty="0">
                <a:latin typeface="Calibri"/>
                <a:cs typeface="Calibri"/>
              </a:rPr>
              <a:t>wait</a:t>
            </a:r>
            <a:r>
              <a:rPr sz="2600" spc="340" dirty="0">
                <a:latin typeface="Calibri"/>
                <a:cs typeface="Calibri"/>
              </a:rPr>
              <a:t> </a:t>
            </a:r>
            <a:r>
              <a:rPr sz="2600" dirty="0">
                <a:latin typeface="Calibri"/>
                <a:cs typeface="Calibri"/>
              </a:rPr>
              <a:t>activities</a:t>
            </a:r>
            <a:r>
              <a:rPr sz="2600" spc="325" dirty="0">
                <a:latin typeface="Calibri"/>
                <a:cs typeface="Calibri"/>
              </a:rPr>
              <a:t> </a:t>
            </a:r>
            <a:r>
              <a:rPr sz="2600" dirty="0">
                <a:latin typeface="Calibri"/>
                <a:cs typeface="Calibri"/>
              </a:rPr>
              <a:t>from</a:t>
            </a:r>
            <a:r>
              <a:rPr sz="2600" spc="335" dirty="0">
                <a:latin typeface="Calibri"/>
                <a:cs typeface="Calibri"/>
              </a:rPr>
              <a:t> </a:t>
            </a:r>
            <a:r>
              <a:rPr sz="2600" dirty="0">
                <a:latin typeface="Calibri"/>
                <a:cs typeface="Calibri"/>
              </a:rPr>
              <a:t>the</a:t>
            </a:r>
            <a:r>
              <a:rPr sz="2600" spc="330" dirty="0">
                <a:latin typeface="Calibri"/>
                <a:cs typeface="Calibri"/>
              </a:rPr>
              <a:t> </a:t>
            </a:r>
            <a:r>
              <a:rPr sz="2600" dirty="0">
                <a:latin typeface="Calibri"/>
                <a:cs typeface="Calibri"/>
              </a:rPr>
              <a:t>common</a:t>
            </a:r>
            <a:r>
              <a:rPr sz="2600" spc="340" dirty="0">
                <a:latin typeface="Calibri"/>
                <a:cs typeface="Calibri"/>
              </a:rPr>
              <a:t> </a:t>
            </a:r>
            <a:r>
              <a:rPr sz="2600" dirty="0">
                <a:latin typeface="Calibri"/>
                <a:cs typeface="Calibri"/>
              </a:rPr>
              <a:t>start</a:t>
            </a:r>
            <a:r>
              <a:rPr sz="2600" spc="340" dirty="0">
                <a:latin typeface="Calibri"/>
                <a:cs typeface="Calibri"/>
              </a:rPr>
              <a:t> </a:t>
            </a:r>
            <a:r>
              <a:rPr sz="2600" spc="-20" dirty="0">
                <a:latin typeface="Calibri"/>
                <a:cs typeface="Calibri"/>
              </a:rPr>
              <a:t>node </a:t>
            </a:r>
            <a:r>
              <a:rPr sz="2600" dirty="0">
                <a:latin typeface="Calibri"/>
                <a:cs typeface="Calibri"/>
              </a:rPr>
              <a:t>allows</a:t>
            </a:r>
            <a:r>
              <a:rPr sz="2600" spc="-90" dirty="0">
                <a:latin typeface="Calibri"/>
                <a:cs typeface="Calibri"/>
              </a:rPr>
              <a:t> </a:t>
            </a:r>
            <a:r>
              <a:rPr sz="2600" spc="-10" dirty="0">
                <a:latin typeface="Calibri"/>
                <a:cs typeface="Calibri"/>
              </a:rPr>
              <a:t>different</a:t>
            </a:r>
            <a:r>
              <a:rPr sz="2600" spc="-85" dirty="0">
                <a:latin typeface="Calibri"/>
                <a:cs typeface="Calibri"/>
              </a:rPr>
              <a:t> </a:t>
            </a:r>
            <a:r>
              <a:rPr sz="2600" dirty="0">
                <a:latin typeface="Calibri"/>
                <a:cs typeface="Calibri"/>
              </a:rPr>
              <a:t>start</a:t>
            </a:r>
            <a:r>
              <a:rPr sz="2600" spc="-80" dirty="0">
                <a:latin typeface="Calibri"/>
                <a:cs typeface="Calibri"/>
              </a:rPr>
              <a:t> </a:t>
            </a:r>
            <a:r>
              <a:rPr sz="2600" dirty="0">
                <a:latin typeface="Calibri"/>
                <a:cs typeface="Calibri"/>
              </a:rPr>
              <a:t>dates</a:t>
            </a:r>
            <a:r>
              <a:rPr sz="2600" spc="-85" dirty="0">
                <a:latin typeface="Calibri"/>
                <a:cs typeface="Calibri"/>
              </a:rPr>
              <a:t> </a:t>
            </a:r>
            <a:r>
              <a:rPr sz="2600" dirty="0">
                <a:latin typeface="Calibri"/>
                <a:cs typeface="Calibri"/>
              </a:rPr>
              <a:t>for</a:t>
            </a:r>
            <a:r>
              <a:rPr sz="2600" spc="-75" dirty="0">
                <a:latin typeface="Calibri"/>
                <a:cs typeface="Calibri"/>
              </a:rPr>
              <a:t> </a:t>
            </a:r>
            <a:r>
              <a:rPr sz="2600" dirty="0">
                <a:latin typeface="Calibri"/>
                <a:cs typeface="Calibri"/>
              </a:rPr>
              <a:t>each</a:t>
            </a:r>
            <a:r>
              <a:rPr sz="2600" spc="-90" dirty="0">
                <a:latin typeface="Calibri"/>
                <a:cs typeface="Calibri"/>
              </a:rPr>
              <a:t> </a:t>
            </a:r>
            <a:r>
              <a:rPr sz="2600" spc="-10" dirty="0">
                <a:latin typeface="Calibri"/>
                <a:cs typeface="Calibri"/>
              </a:rPr>
              <a:t>project.</a:t>
            </a:r>
            <a:endParaRPr sz="2600">
              <a:latin typeface="Calibri"/>
              <a:cs typeface="Calibri"/>
            </a:endParaRPr>
          </a:p>
        </p:txBody>
      </p:sp>
      <p:sp>
        <p:nvSpPr>
          <p:cNvPr id="6" name="object 6"/>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spc="90" dirty="0"/>
              <a:t>Practical</a:t>
            </a:r>
            <a:r>
              <a:rPr spc="140" dirty="0"/>
              <a:t> </a:t>
            </a:r>
            <a:r>
              <a:rPr spc="105" dirty="0"/>
              <a:t>Considerations</a:t>
            </a:r>
            <a:r>
              <a:rPr spc="130" dirty="0"/>
              <a:t> </a:t>
            </a:r>
            <a:r>
              <a:rPr sz="1950" spc="-10" dirty="0"/>
              <a:t>(3/3)</a:t>
            </a:r>
            <a:endParaRPr sz="1950"/>
          </a:p>
        </p:txBody>
      </p:sp>
      <p:pic>
        <p:nvPicPr>
          <p:cNvPr id="8" name="Picture 7">
            <a:extLst>
              <a:ext uri="{FF2B5EF4-FFF2-40B4-BE49-F238E27FC236}">
                <a16:creationId xmlns:a16="http://schemas.microsoft.com/office/drawing/2014/main" id="{BB75E498-3D21-29A3-DB50-26734A9D301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16063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spc="85" dirty="0"/>
              <a:t>Gantt</a:t>
            </a:r>
            <a:r>
              <a:rPr spc="140" dirty="0"/>
              <a:t> </a:t>
            </a:r>
            <a:r>
              <a:rPr spc="100" dirty="0"/>
              <a:t>Chart</a:t>
            </a:r>
            <a:r>
              <a:rPr spc="130" dirty="0"/>
              <a:t> </a:t>
            </a:r>
            <a:r>
              <a:rPr sz="1950" spc="-10" dirty="0"/>
              <a:t>(1/2)</a:t>
            </a:r>
            <a:endParaRPr sz="1950"/>
          </a:p>
        </p:txBody>
      </p:sp>
      <p:pic>
        <p:nvPicPr>
          <p:cNvPr id="3" name="object 3"/>
          <p:cNvPicPr/>
          <p:nvPr/>
        </p:nvPicPr>
        <p:blipFill>
          <a:blip r:embed="rId2" cstate="print"/>
          <a:stretch>
            <a:fillRect/>
          </a:stretch>
        </p:blipFill>
        <p:spPr>
          <a:xfrm>
            <a:off x="1057281" y="4572007"/>
            <a:ext cx="10744199" cy="2192339"/>
          </a:xfrm>
          <a:prstGeom prst="rect">
            <a:avLst/>
          </a:prstGeom>
        </p:spPr>
      </p:pic>
      <p:sp>
        <p:nvSpPr>
          <p:cNvPr id="4" name="object 4"/>
          <p:cNvSpPr txBox="1"/>
          <p:nvPr/>
        </p:nvSpPr>
        <p:spPr>
          <a:xfrm>
            <a:off x="11739204" y="6421628"/>
            <a:ext cx="180975" cy="208279"/>
          </a:xfrm>
          <a:prstGeom prst="rect">
            <a:avLst/>
          </a:prstGeom>
        </p:spPr>
        <p:txBody>
          <a:bodyPr vert="horz" wrap="square" lIns="0" tIns="12700" rIns="0" bIns="0" rtlCol="0">
            <a:spAutoFit/>
          </a:bodyPr>
          <a:lstStyle/>
          <a:p>
            <a:pPr marL="12700">
              <a:lnSpc>
                <a:spcPct val="100000"/>
              </a:lnSpc>
              <a:spcBef>
                <a:spcPts val="100"/>
              </a:spcBef>
            </a:pPr>
            <a:r>
              <a:rPr sz="1200" b="1" spc="-25" dirty="0">
                <a:solidFill>
                  <a:srgbClr val="898989"/>
                </a:solidFill>
                <a:latin typeface="Calibri"/>
                <a:cs typeface="Calibri"/>
              </a:rPr>
              <a:t>27</a:t>
            </a:r>
            <a:endParaRPr sz="1200">
              <a:latin typeface="Calibri"/>
              <a:cs typeface="Calibri"/>
            </a:endParaRPr>
          </a:p>
        </p:txBody>
      </p:sp>
      <p:sp>
        <p:nvSpPr>
          <p:cNvPr id="5" name="object 5"/>
          <p:cNvSpPr txBox="1"/>
          <p:nvPr/>
        </p:nvSpPr>
        <p:spPr>
          <a:xfrm>
            <a:off x="275833" y="6677659"/>
            <a:ext cx="412432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Calibri"/>
                <a:cs typeface="Calibri"/>
              </a:rPr>
              <a:t>*</a:t>
            </a:r>
            <a:r>
              <a:rPr sz="1200" spc="-20" dirty="0">
                <a:latin typeface="Calibri"/>
                <a:cs typeface="Calibri"/>
              </a:rPr>
              <a:t> </a:t>
            </a:r>
            <a:r>
              <a:rPr sz="1200" dirty="0">
                <a:latin typeface="Calibri"/>
                <a:cs typeface="Calibri"/>
              </a:rPr>
              <a:t>Gantt</a:t>
            </a:r>
            <a:r>
              <a:rPr sz="1200" spc="-25" dirty="0">
                <a:latin typeface="Calibri"/>
                <a:cs typeface="Calibri"/>
              </a:rPr>
              <a:t> </a:t>
            </a:r>
            <a:r>
              <a:rPr sz="1200" dirty="0">
                <a:latin typeface="Calibri"/>
                <a:cs typeface="Calibri"/>
              </a:rPr>
              <a:t>charts</a:t>
            </a:r>
            <a:r>
              <a:rPr sz="1200" spc="-20" dirty="0">
                <a:latin typeface="Calibri"/>
                <a:cs typeface="Calibri"/>
              </a:rPr>
              <a:t> </a:t>
            </a:r>
            <a:r>
              <a:rPr sz="1200" dirty="0">
                <a:latin typeface="Calibri"/>
                <a:cs typeface="Calibri"/>
              </a:rPr>
              <a:t>were</a:t>
            </a:r>
            <a:r>
              <a:rPr sz="1200" spc="-20" dirty="0">
                <a:latin typeface="Calibri"/>
                <a:cs typeface="Calibri"/>
              </a:rPr>
              <a:t> </a:t>
            </a:r>
            <a:r>
              <a:rPr sz="1200" spc="-10" dirty="0">
                <a:latin typeface="Calibri"/>
                <a:cs typeface="Calibri"/>
              </a:rPr>
              <a:t>introduced</a:t>
            </a:r>
            <a:r>
              <a:rPr sz="1200" spc="-30" dirty="0">
                <a:latin typeface="Calibri"/>
                <a:cs typeface="Calibri"/>
              </a:rPr>
              <a:t> </a:t>
            </a:r>
            <a:r>
              <a:rPr sz="1200" dirty="0">
                <a:latin typeface="Calibri"/>
                <a:cs typeface="Calibri"/>
              </a:rPr>
              <a:t>over</a:t>
            </a:r>
            <a:r>
              <a:rPr sz="1200" spc="-30" dirty="0">
                <a:latin typeface="Calibri"/>
                <a:cs typeface="Calibri"/>
              </a:rPr>
              <a:t> </a:t>
            </a:r>
            <a:r>
              <a:rPr sz="1200" dirty="0">
                <a:latin typeface="Calibri"/>
                <a:cs typeface="Calibri"/>
              </a:rPr>
              <a:t>100</a:t>
            </a:r>
            <a:r>
              <a:rPr sz="1200" spc="-20" dirty="0">
                <a:latin typeface="Calibri"/>
                <a:cs typeface="Calibri"/>
              </a:rPr>
              <a:t> </a:t>
            </a:r>
            <a:r>
              <a:rPr sz="1200" dirty="0">
                <a:latin typeface="Calibri"/>
                <a:cs typeface="Calibri"/>
              </a:rPr>
              <a:t>years</a:t>
            </a:r>
            <a:r>
              <a:rPr sz="1200" spc="-20" dirty="0">
                <a:latin typeface="Calibri"/>
                <a:cs typeface="Calibri"/>
              </a:rPr>
              <a:t> </a:t>
            </a:r>
            <a:r>
              <a:rPr sz="1200" dirty="0">
                <a:latin typeface="Calibri"/>
                <a:cs typeface="Calibri"/>
              </a:rPr>
              <a:t>ago</a:t>
            </a:r>
            <a:r>
              <a:rPr sz="1200" spc="-20" dirty="0">
                <a:latin typeface="Calibri"/>
                <a:cs typeface="Calibri"/>
              </a:rPr>
              <a:t> </a:t>
            </a:r>
            <a:r>
              <a:rPr sz="1200" dirty="0">
                <a:latin typeface="Calibri"/>
                <a:cs typeface="Calibri"/>
              </a:rPr>
              <a:t>by</a:t>
            </a:r>
            <a:r>
              <a:rPr sz="1200" spc="-30" dirty="0">
                <a:latin typeface="Calibri"/>
                <a:cs typeface="Calibri"/>
              </a:rPr>
              <a:t> </a:t>
            </a:r>
            <a:r>
              <a:rPr sz="1200" dirty="0">
                <a:latin typeface="Calibri"/>
                <a:cs typeface="Calibri"/>
              </a:rPr>
              <a:t>Henry</a:t>
            </a:r>
            <a:r>
              <a:rPr sz="1200" spc="-30" dirty="0">
                <a:latin typeface="Calibri"/>
                <a:cs typeface="Calibri"/>
              </a:rPr>
              <a:t> </a:t>
            </a:r>
            <a:r>
              <a:rPr sz="1200" spc="-10" dirty="0">
                <a:latin typeface="Calibri"/>
                <a:cs typeface="Calibri"/>
              </a:rPr>
              <a:t>Gantt</a:t>
            </a:r>
            <a:endParaRPr sz="1200">
              <a:latin typeface="Calibri"/>
              <a:cs typeface="Calibri"/>
            </a:endParaRPr>
          </a:p>
        </p:txBody>
      </p:sp>
      <p:sp>
        <p:nvSpPr>
          <p:cNvPr id="6" name="object 6"/>
          <p:cNvSpPr txBox="1"/>
          <p:nvPr/>
        </p:nvSpPr>
        <p:spPr>
          <a:xfrm>
            <a:off x="165725" y="1537715"/>
            <a:ext cx="11451590" cy="4180840"/>
          </a:xfrm>
          <a:prstGeom prst="rect">
            <a:avLst/>
          </a:prstGeom>
        </p:spPr>
        <p:txBody>
          <a:bodyPr vert="horz" wrap="square" lIns="0" tIns="12700" rIns="0" bIns="0" rtlCol="0">
            <a:spAutoFit/>
          </a:bodyPr>
          <a:lstStyle/>
          <a:p>
            <a:pPr marL="763905" marR="5080" algn="just">
              <a:lnSpc>
                <a:spcPct val="100000"/>
              </a:lnSpc>
              <a:spcBef>
                <a:spcPts val="100"/>
              </a:spcBef>
            </a:pPr>
            <a:r>
              <a:rPr sz="2000" b="1" dirty="0">
                <a:latin typeface="Calibri"/>
                <a:cs typeface="Calibri"/>
              </a:rPr>
              <a:t>Gantt*</a:t>
            </a:r>
            <a:r>
              <a:rPr sz="2000" b="1" spc="120" dirty="0">
                <a:latin typeface="Calibri"/>
                <a:cs typeface="Calibri"/>
              </a:rPr>
              <a:t> </a:t>
            </a:r>
            <a:r>
              <a:rPr sz="2000" b="1" dirty="0">
                <a:latin typeface="Calibri"/>
                <a:cs typeface="Calibri"/>
              </a:rPr>
              <a:t>chart:</a:t>
            </a:r>
            <a:r>
              <a:rPr sz="2000" b="1" spc="305" dirty="0">
                <a:latin typeface="Calibri"/>
                <a:cs typeface="Calibri"/>
              </a:rPr>
              <a:t> </a:t>
            </a:r>
            <a:r>
              <a:rPr sz="2000" dirty="0">
                <a:latin typeface="Calibri"/>
                <a:cs typeface="Calibri"/>
              </a:rPr>
              <a:t>Bar</a:t>
            </a:r>
            <a:r>
              <a:rPr sz="2000" spc="135" dirty="0">
                <a:latin typeface="Calibri"/>
                <a:cs typeface="Calibri"/>
              </a:rPr>
              <a:t> </a:t>
            </a:r>
            <a:r>
              <a:rPr sz="2000" dirty="0">
                <a:latin typeface="Calibri"/>
                <a:cs typeface="Calibri"/>
              </a:rPr>
              <a:t>charts</a:t>
            </a:r>
            <a:r>
              <a:rPr sz="2000" spc="130" dirty="0">
                <a:latin typeface="Calibri"/>
                <a:cs typeface="Calibri"/>
              </a:rPr>
              <a:t> </a:t>
            </a:r>
            <a:r>
              <a:rPr sz="2000" dirty="0">
                <a:latin typeface="Calibri"/>
                <a:cs typeface="Calibri"/>
              </a:rPr>
              <a:t>are</a:t>
            </a:r>
            <a:r>
              <a:rPr sz="2000" spc="135" dirty="0">
                <a:latin typeface="Calibri"/>
                <a:cs typeface="Calibri"/>
              </a:rPr>
              <a:t> </a:t>
            </a:r>
            <a:r>
              <a:rPr sz="2000" dirty="0">
                <a:latin typeface="Calibri"/>
                <a:cs typeface="Calibri"/>
              </a:rPr>
              <a:t>popular</a:t>
            </a:r>
            <a:r>
              <a:rPr sz="2000" spc="130" dirty="0">
                <a:latin typeface="Calibri"/>
                <a:cs typeface="Calibri"/>
              </a:rPr>
              <a:t> </a:t>
            </a:r>
            <a:r>
              <a:rPr sz="2000" dirty="0">
                <a:latin typeface="Calibri"/>
                <a:cs typeface="Calibri"/>
              </a:rPr>
              <a:t>because</a:t>
            </a:r>
            <a:r>
              <a:rPr sz="2000" spc="135" dirty="0">
                <a:latin typeface="Calibri"/>
                <a:cs typeface="Calibri"/>
              </a:rPr>
              <a:t> </a:t>
            </a:r>
            <a:r>
              <a:rPr sz="2000" dirty="0">
                <a:latin typeface="Calibri"/>
                <a:cs typeface="Calibri"/>
              </a:rPr>
              <a:t>they</a:t>
            </a:r>
            <a:r>
              <a:rPr sz="2000" spc="130" dirty="0">
                <a:latin typeface="Calibri"/>
                <a:cs typeface="Calibri"/>
              </a:rPr>
              <a:t> </a:t>
            </a:r>
            <a:r>
              <a:rPr sz="2000" dirty="0">
                <a:latin typeface="Calibri"/>
                <a:cs typeface="Calibri"/>
              </a:rPr>
              <a:t>present</a:t>
            </a:r>
            <a:r>
              <a:rPr sz="2000" spc="130" dirty="0">
                <a:latin typeface="Calibri"/>
                <a:cs typeface="Calibri"/>
              </a:rPr>
              <a:t> </a:t>
            </a:r>
            <a:r>
              <a:rPr sz="2000" dirty="0">
                <a:latin typeface="Calibri"/>
                <a:cs typeface="Calibri"/>
              </a:rPr>
              <a:t>an</a:t>
            </a:r>
            <a:r>
              <a:rPr sz="2000" spc="130" dirty="0">
                <a:latin typeface="Calibri"/>
                <a:cs typeface="Calibri"/>
              </a:rPr>
              <a:t> </a:t>
            </a:r>
            <a:r>
              <a:rPr sz="2000" spc="-30" dirty="0">
                <a:latin typeface="Calibri"/>
                <a:cs typeface="Calibri"/>
              </a:rPr>
              <a:t>easy-</a:t>
            </a:r>
            <a:r>
              <a:rPr sz="2000" spc="-25" dirty="0">
                <a:latin typeface="Calibri"/>
                <a:cs typeface="Calibri"/>
              </a:rPr>
              <a:t>to-</a:t>
            </a:r>
            <a:r>
              <a:rPr sz="2000" dirty="0">
                <a:latin typeface="Calibri"/>
                <a:cs typeface="Calibri"/>
              </a:rPr>
              <a:t>understand,</a:t>
            </a:r>
            <a:r>
              <a:rPr sz="2000" spc="125" dirty="0">
                <a:latin typeface="Calibri"/>
                <a:cs typeface="Calibri"/>
              </a:rPr>
              <a:t> </a:t>
            </a:r>
            <a:r>
              <a:rPr sz="2000" dirty="0">
                <a:latin typeface="Calibri"/>
                <a:cs typeface="Calibri"/>
              </a:rPr>
              <a:t>clear</a:t>
            </a:r>
            <a:r>
              <a:rPr sz="2000" spc="130" dirty="0">
                <a:latin typeface="Calibri"/>
                <a:cs typeface="Calibri"/>
              </a:rPr>
              <a:t> </a:t>
            </a:r>
            <a:r>
              <a:rPr sz="2000" dirty="0">
                <a:latin typeface="Calibri"/>
                <a:cs typeface="Calibri"/>
              </a:rPr>
              <a:t>picture</a:t>
            </a:r>
            <a:r>
              <a:rPr sz="2000" spc="135" dirty="0">
                <a:latin typeface="Calibri"/>
                <a:cs typeface="Calibri"/>
              </a:rPr>
              <a:t> </a:t>
            </a:r>
            <a:r>
              <a:rPr sz="2000" dirty="0">
                <a:latin typeface="Calibri"/>
                <a:cs typeface="Calibri"/>
              </a:rPr>
              <a:t>on</a:t>
            </a:r>
            <a:r>
              <a:rPr sz="2000" spc="130" dirty="0">
                <a:latin typeface="Calibri"/>
                <a:cs typeface="Calibri"/>
              </a:rPr>
              <a:t> </a:t>
            </a:r>
            <a:r>
              <a:rPr sz="2000" spc="-50" dirty="0">
                <a:latin typeface="Calibri"/>
                <a:cs typeface="Calibri"/>
              </a:rPr>
              <a:t>a </a:t>
            </a:r>
            <a:r>
              <a:rPr sz="2000" spc="-10" dirty="0">
                <a:latin typeface="Calibri"/>
                <a:cs typeface="Calibri"/>
              </a:rPr>
              <a:t>time-</a:t>
            </a:r>
            <a:r>
              <a:rPr sz="2000" dirty="0">
                <a:latin typeface="Calibri"/>
                <a:cs typeface="Calibri"/>
              </a:rPr>
              <a:t>scaled</a:t>
            </a:r>
            <a:r>
              <a:rPr sz="2000" spc="265" dirty="0">
                <a:latin typeface="Calibri"/>
                <a:cs typeface="Calibri"/>
              </a:rPr>
              <a:t> </a:t>
            </a:r>
            <a:r>
              <a:rPr sz="2000" dirty="0">
                <a:latin typeface="Calibri"/>
                <a:cs typeface="Calibri"/>
              </a:rPr>
              <a:t>horizon.</a:t>
            </a:r>
            <a:r>
              <a:rPr sz="2000" spc="265" dirty="0">
                <a:latin typeface="Calibri"/>
                <a:cs typeface="Calibri"/>
              </a:rPr>
              <a:t> </a:t>
            </a:r>
            <a:r>
              <a:rPr sz="2000" dirty="0">
                <a:latin typeface="Calibri"/>
                <a:cs typeface="Calibri"/>
              </a:rPr>
              <a:t>They</a:t>
            </a:r>
            <a:r>
              <a:rPr sz="2000" spc="260" dirty="0">
                <a:latin typeface="Calibri"/>
                <a:cs typeface="Calibri"/>
              </a:rPr>
              <a:t> </a:t>
            </a:r>
            <a:r>
              <a:rPr sz="2000" dirty="0">
                <a:latin typeface="Calibri"/>
                <a:cs typeface="Calibri"/>
              </a:rPr>
              <a:t>are</a:t>
            </a:r>
            <a:r>
              <a:rPr sz="2000" spc="270" dirty="0">
                <a:latin typeface="Calibri"/>
                <a:cs typeface="Calibri"/>
              </a:rPr>
              <a:t> </a:t>
            </a:r>
            <a:r>
              <a:rPr sz="2000" dirty="0">
                <a:latin typeface="Calibri"/>
                <a:cs typeface="Calibri"/>
              </a:rPr>
              <a:t>used</a:t>
            </a:r>
            <a:r>
              <a:rPr sz="2000" spc="270" dirty="0">
                <a:latin typeface="Calibri"/>
                <a:cs typeface="Calibri"/>
              </a:rPr>
              <a:t> </a:t>
            </a:r>
            <a:r>
              <a:rPr sz="2000" dirty="0">
                <a:latin typeface="Calibri"/>
                <a:cs typeface="Calibri"/>
              </a:rPr>
              <a:t>during</a:t>
            </a:r>
            <a:r>
              <a:rPr sz="2000" spc="260" dirty="0">
                <a:latin typeface="Calibri"/>
                <a:cs typeface="Calibri"/>
              </a:rPr>
              <a:t> </a:t>
            </a:r>
            <a:r>
              <a:rPr sz="2000" dirty="0">
                <a:latin typeface="Calibri"/>
                <a:cs typeface="Calibri"/>
              </a:rPr>
              <a:t>planning,</a:t>
            </a:r>
            <a:r>
              <a:rPr sz="2000" spc="270" dirty="0">
                <a:latin typeface="Calibri"/>
                <a:cs typeface="Calibri"/>
              </a:rPr>
              <a:t> </a:t>
            </a:r>
            <a:r>
              <a:rPr sz="2000" dirty="0">
                <a:latin typeface="Calibri"/>
                <a:cs typeface="Calibri"/>
              </a:rPr>
              <a:t>resource</a:t>
            </a:r>
            <a:r>
              <a:rPr sz="2000" spc="270" dirty="0">
                <a:latin typeface="Calibri"/>
                <a:cs typeface="Calibri"/>
              </a:rPr>
              <a:t> </a:t>
            </a:r>
            <a:r>
              <a:rPr sz="2000" dirty="0">
                <a:latin typeface="Calibri"/>
                <a:cs typeface="Calibri"/>
              </a:rPr>
              <a:t>scheduling,</a:t>
            </a:r>
            <a:r>
              <a:rPr sz="2000" spc="270" dirty="0">
                <a:latin typeface="Calibri"/>
                <a:cs typeface="Calibri"/>
              </a:rPr>
              <a:t> </a:t>
            </a:r>
            <a:r>
              <a:rPr sz="2000" dirty="0">
                <a:latin typeface="Calibri"/>
                <a:cs typeface="Calibri"/>
              </a:rPr>
              <a:t>and</a:t>
            </a:r>
            <a:r>
              <a:rPr sz="2000" spc="265" dirty="0">
                <a:latin typeface="Calibri"/>
                <a:cs typeface="Calibri"/>
              </a:rPr>
              <a:t> </a:t>
            </a:r>
            <a:r>
              <a:rPr sz="2000" dirty="0">
                <a:latin typeface="Calibri"/>
                <a:cs typeface="Calibri"/>
              </a:rPr>
              <a:t>status</a:t>
            </a:r>
            <a:r>
              <a:rPr sz="2000" spc="275" dirty="0">
                <a:latin typeface="Calibri"/>
                <a:cs typeface="Calibri"/>
              </a:rPr>
              <a:t> </a:t>
            </a:r>
            <a:r>
              <a:rPr sz="2000" dirty="0">
                <a:latin typeface="Calibri"/>
                <a:cs typeface="Calibri"/>
              </a:rPr>
              <a:t>reporting.</a:t>
            </a:r>
            <a:r>
              <a:rPr sz="2000" spc="260" dirty="0">
                <a:latin typeface="Calibri"/>
                <a:cs typeface="Calibri"/>
              </a:rPr>
              <a:t> </a:t>
            </a:r>
            <a:r>
              <a:rPr sz="2000" spc="-25" dirty="0">
                <a:latin typeface="Calibri"/>
                <a:cs typeface="Calibri"/>
              </a:rPr>
              <a:t>The </a:t>
            </a:r>
            <a:r>
              <a:rPr sz="2000" dirty="0">
                <a:latin typeface="Calibri"/>
                <a:cs typeface="Calibri"/>
              </a:rPr>
              <a:t>format</a:t>
            </a:r>
            <a:r>
              <a:rPr sz="2000" spc="30" dirty="0">
                <a:latin typeface="Calibri"/>
                <a:cs typeface="Calibri"/>
              </a:rPr>
              <a:t> </a:t>
            </a:r>
            <a:r>
              <a:rPr sz="2000" dirty="0">
                <a:latin typeface="Calibri"/>
                <a:cs typeface="Calibri"/>
              </a:rPr>
              <a:t>is</a:t>
            </a:r>
            <a:r>
              <a:rPr sz="2000" spc="35" dirty="0">
                <a:latin typeface="Calibri"/>
                <a:cs typeface="Calibri"/>
              </a:rPr>
              <a:t> </a:t>
            </a:r>
            <a:r>
              <a:rPr sz="2000" dirty="0">
                <a:latin typeface="Calibri"/>
                <a:cs typeface="Calibri"/>
              </a:rPr>
              <a:t>a</a:t>
            </a:r>
            <a:r>
              <a:rPr sz="2000" spc="35" dirty="0">
                <a:latin typeface="Calibri"/>
                <a:cs typeface="Calibri"/>
              </a:rPr>
              <a:t> </a:t>
            </a:r>
            <a:r>
              <a:rPr sz="2000" spc="-20" dirty="0">
                <a:latin typeface="Calibri"/>
                <a:cs typeface="Calibri"/>
              </a:rPr>
              <a:t>two-</a:t>
            </a:r>
            <a:r>
              <a:rPr sz="2000" dirty="0">
                <a:latin typeface="Calibri"/>
                <a:cs typeface="Calibri"/>
              </a:rPr>
              <a:t>dimensional</a:t>
            </a:r>
            <a:r>
              <a:rPr sz="2000" spc="30" dirty="0">
                <a:latin typeface="Calibri"/>
                <a:cs typeface="Calibri"/>
              </a:rPr>
              <a:t> </a:t>
            </a:r>
            <a:r>
              <a:rPr sz="2000" dirty="0">
                <a:latin typeface="Calibri"/>
                <a:cs typeface="Calibri"/>
              </a:rPr>
              <a:t>representation</a:t>
            </a:r>
            <a:r>
              <a:rPr sz="2000" spc="25" dirty="0">
                <a:latin typeface="Calibri"/>
                <a:cs typeface="Calibri"/>
              </a:rPr>
              <a:t> </a:t>
            </a:r>
            <a:r>
              <a:rPr sz="2000" dirty="0">
                <a:latin typeface="Calibri"/>
                <a:cs typeface="Calibri"/>
              </a:rPr>
              <a:t>of</a:t>
            </a:r>
            <a:r>
              <a:rPr sz="2000" spc="30" dirty="0">
                <a:latin typeface="Calibri"/>
                <a:cs typeface="Calibri"/>
              </a:rPr>
              <a:t> </a:t>
            </a:r>
            <a:r>
              <a:rPr sz="2000" dirty="0">
                <a:latin typeface="Calibri"/>
                <a:cs typeface="Calibri"/>
              </a:rPr>
              <a:t>the</a:t>
            </a:r>
            <a:r>
              <a:rPr sz="2000" spc="35" dirty="0">
                <a:latin typeface="Calibri"/>
                <a:cs typeface="Calibri"/>
              </a:rPr>
              <a:t> </a:t>
            </a:r>
            <a:r>
              <a:rPr sz="2000" dirty="0">
                <a:latin typeface="Calibri"/>
                <a:cs typeface="Calibri"/>
              </a:rPr>
              <a:t>project</a:t>
            </a:r>
            <a:r>
              <a:rPr sz="2000" spc="35" dirty="0">
                <a:latin typeface="Calibri"/>
                <a:cs typeface="Calibri"/>
              </a:rPr>
              <a:t> </a:t>
            </a:r>
            <a:r>
              <a:rPr sz="2000" dirty="0">
                <a:latin typeface="Calibri"/>
                <a:cs typeface="Calibri"/>
              </a:rPr>
              <a:t>schedule,</a:t>
            </a:r>
            <a:r>
              <a:rPr sz="2000" spc="30" dirty="0">
                <a:latin typeface="Calibri"/>
                <a:cs typeface="Calibri"/>
              </a:rPr>
              <a:t> </a:t>
            </a:r>
            <a:r>
              <a:rPr sz="2000" dirty="0">
                <a:latin typeface="Calibri"/>
                <a:cs typeface="Calibri"/>
              </a:rPr>
              <a:t>with</a:t>
            </a:r>
            <a:r>
              <a:rPr sz="2000" spc="25" dirty="0">
                <a:latin typeface="Calibri"/>
                <a:cs typeface="Calibri"/>
              </a:rPr>
              <a:t> </a:t>
            </a:r>
            <a:r>
              <a:rPr sz="2000" dirty="0">
                <a:latin typeface="Calibri"/>
                <a:cs typeface="Calibri"/>
              </a:rPr>
              <a:t>activities</a:t>
            </a:r>
            <a:r>
              <a:rPr sz="2000" spc="30" dirty="0">
                <a:latin typeface="Calibri"/>
                <a:cs typeface="Calibri"/>
              </a:rPr>
              <a:t> </a:t>
            </a:r>
            <a:r>
              <a:rPr sz="2000" dirty="0">
                <a:latin typeface="Calibri"/>
                <a:cs typeface="Calibri"/>
              </a:rPr>
              <a:t>down</a:t>
            </a:r>
            <a:r>
              <a:rPr sz="2000" spc="30" dirty="0">
                <a:latin typeface="Calibri"/>
                <a:cs typeface="Calibri"/>
              </a:rPr>
              <a:t> </a:t>
            </a:r>
            <a:r>
              <a:rPr sz="2000" dirty="0">
                <a:latin typeface="Calibri"/>
                <a:cs typeface="Calibri"/>
              </a:rPr>
              <a:t>the</a:t>
            </a:r>
            <a:r>
              <a:rPr sz="2000" spc="35" dirty="0">
                <a:latin typeface="Calibri"/>
                <a:cs typeface="Calibri"/>
              </a:rPr>
              <a:t> </a:t>
            </a:r>
            <a:r>
              <a:rPr sz="2000" dirty="0">
                <a:latin typeface="Calibri"/>
                <a:cs typeface="Calibri"/>
              </a:rPr>
              <a:t>rows</a:t>
            </a:r>
            <a:r>
              <a:rPr sz="2000" spc="35" dirty="0">
                <a:latin typeface="Calibri"/>
                <a:cs typeface="Calibri"/>
              </a:rPr>
              <a:t> </a:t>
            </a:r>
            <a:r>
              <a:rPr sz="2000" spc="-25" dirty="0">
                <a:latin typeface="Calibri"/>
                <a:cs typeface="Calibri"/>
              </a:rPr>
              <a:t>and </a:t>
            </a:r>
            <a:r>
              <a:rPr sz="2000" dirty="0">
                <a:latin typeface="Calibri"/>
                <a:cs typeface="Calibri"/>
              </a:rPr>
              <a:t>time</a:t>
            </a:r>
            <a:r>
              <a:rPr sz="2000" spc="-40" dirty="0">
                <a:latin typeface="Calibri"/>
                <a:cs typeface="Calibri"/>
              </a:rPr>
              <a:t> </a:t>
            </a:r>
            <a:r>
              <a:rPr sz="2000" dirty="0">
                <a:latin typeface="Calibri"/>
                <a:cs typeface="Calibri"/>
              </a:rPr>
              <a:t>across</a:t>
            </a:r>
            <a:r>
              <a:rPr sz="2000" spc="-40" dirty="0">
                <a:latin typeface="Calibri"/>
                <a:cs typeface="Calibri"/>
              </a:rPr>
              <a:t> </a:t>
            </a:r>
            <a:r>
              <a:rPr sz="2000" dirty="0">
                <a:latin typeface="Calibri"/>
                <a:cs typeface="Calibri"/>
              </a:rPr>
              <a:t>the</a:t>
            </a:r>
            <a:r>
              <a:rPr sz="2000" spc="-40" dirty="0">
                <a:latin typeface="Calibri"/>
                <a:cs typeface="Calibri"/>
              </a:rPr>
              <a:t> </a:t>
            </a:r>
            <a:r>
              <a:rPr sz="2000" spc="-10" dirty="0">
                <a:latin typeface="Calibri"/>
                <a:cs typeface="Calibri"/>
              </a:rPr>
              <a:t>horizontal</a:t>
            </a:r>
            <a:r>
              <a:rPr sz="2000" spc="-35" dirty="0">
                <a:latin typeface="Calibri"/>
                <a:cs typeface="Calibri"/>
              </a:rPr>
              <a:t> </a:t>
            </a:r>
            <a:r>
              <a:rPr sz="2000" spc="-20" dirty="0">
                <a:latin typeface="Calibri"/>
                <a:cs typeface="Calibri"/>
              </a:rPr>
              <a:t>axis.</a:t>
            </a:r>
            <a:endParaRPr sz="2000">
              <a:latin typeface="Calibri"/>
              <a:cs typeface="Calibri"/>
            </a:endParaRPr>
          </a:p>
          <a:p>
            <a:pPr marL="763905" marR="5080" algn="just">
              <a:lnSpc>
                <a:spcPct val="100000"/>
              </a:lnSpc>
            </a:pPr>
            <a:r>
              <a:rPr sz="2000" dirty="0">
                <a:latin typeface="Calibri"/>
                <a:cs typeface="Calibri"/>
              </a:rPr>
              <a:t>In</a:t>
            </a:r>
            <a:r>
              <a:rPr sz="2000" spc="25" dirty="0">
                <a:latin typeface="Calibri"/>
                <a:cs typeface="Calibri"/>
              </a:rPr>
              <a:t> </a:t>
            </a:r>
            <a:r>
              <a:rPr sz="2000" dirty="0">
                <a:latin typeface="Calibri"/>
                <a:cs typeface="Calibri"/>
              </a:rPr>
              <a:t>this</a:t>
            </a:r>
            <a:r>
              <a:rPr sz="2000" spc="35" dirty="0">
                <a:latin typeface="Calibri"/>
                <a:cs typeface="Calibri"/>
              </a:rPr>
              <a:t> </a:t>
            </a:r>
            <a:r>
              <a:rPr sz="2000" dirty="0">
                <a:latin typeface="Calibri"/>
                <a:cs typeface="Calibri"/>
              </a:rPr>
              <a:t>computer</a:t>
            </a:r>
            <a:r>
              <a:rPr sz="2000" spc="30" dirty="0">
                <a:latin typeface="Calibri"/>
                <a:cs typeface="Calibri"/>
              </a:rPr>
              <a:t> </a:t>
            </a:r>
            <a:r>
              <a:rPr sz="2000" dirty="0">
                <a:latin typeface="Calibri"/>
                <a:cs typeface="Calibri"/>
              </a:rPr>
              <a:t>output</a:t>
            </a:r>
            <a:r>
              <a:rPr sz="2000" spc="30" dirty="0">
                <a:latin typeface="Calibri"/>
                <a:cs typeface="Calibri"/>
              </a:rPr>
              <a:t> </a:t>
            </a:r>
            <a:r>
              <a:rPr sz="2000" dirty="0">
                <a:latin typeface="Calibri"/>
                <a:cs typeface="Calibri"/>
              </a:rPr>
              <a:t>the</a:t>
            </a:r>
            <a:r>
              <a:rPr sz="2000" spc="30" dirty="0">
                <a:latin typeface="Calibri"/>
                <a:cs typeface="Calibri"/>
              </a:rPr>
              <a:t> </a:t>
            </a:r>
            <a:r>
              <a:rPr sz="2000" dirty="0">
                <a:latin typeface="Calibri"/>
                <a:cs typeface="Calibri"/>
              </a:rPr>
              <a:t>shaded</a:t>
            </a:r>
            <a:r>
              <a:rPr sz="2000" spc="30" dirty="0">
                <a:latin typeface="Calibri"/>
                <a:cs typeface="Calibri"/>
              </a:rPr>
              <a:t> </a:t>
            </a:r>
            <a:r>
              <a:rPr sz="2000" dirty="0">
                <a:latin typeface="Calibri"/>
                <a:cs typeface="Calibri"/>
              </a:rPr>
              <a:t>bars</a:t>
            </a:r>
            <a:r>
              <a:rPr sz="2000" spc="30" dirty="0">
                <a:latin typeface="Calibri"/>
                <a:cs typeface="Calibri"/>
              </a:rPr>
              <a:t> </a:t>
            </a:r>
            <a:r>
              <a:rPr sz="2000" dirty="0">
                <a:latin typeface="Calibri"/>
                <a:cs typeface="Calibri"/>
              </a:rPr>
              <a:t>represent</a:t>
            </a:r>
            <a:r>
              <a:rPr sz="2000" spc="30" dirty="0">
                <a:latin typeface="Calibri"/>
                <a:cs typeface="Calibri"/>
              </a:rPr>
              <a:t> </a:t>
            </a:r>
            <a:r>
              <a:rPr sz="2000" dirty="0">
                <a:latin typeface="Calibri"/>
                <a:cs typeface="Calibri"/>
              </a:rPr>
              <a:t>the</a:t>
            </a:r>
            <a:r>
              <a:rPr sz="2000" spc="30" dirty="0">
                <a:latin typeface="Calibri"/>
                <a:cs typeface="Calibri"/>
              </a:rPr>
              <a:t> </a:t>
            </a:r>
            <a:r>
              <a:rPr sz="2000" dirty="0">
                <a:latin typeface="Calibri"/>
                <a:cs typeface="Calibri"/>
              </a:rPr>
              <a:t>activity</a:t>
            </a:r>
            <a:r>
              <a:rPr sz="2000" spc="20" dirty="0">
                <a:latin typeface="Calibri"/>
                <a:cs typeface="Calibri"/>
              </a:rPr>
              <a:t> </a:t>
            </a:r>
            <a:r>
              <a:rPr sz="2000" dirty="0">
                <a:latin typeface="Calibri"/>
                <a:cs typeface="Calibri"/>
              </a:rPr>
              <a:t>durations.</a:t>
            </a:r>
            <a:r>
              <a:rPr sz="2000" spc="25" dirty="0">
                <a:latin typeface="Calibri"/>
                <a:cs typeface="Calibri"/>
              </a:rPr>
              <a:t> </a:t>
            </a:r>
            <a:r>
              <a:rPr sz="2000" dirty="0">
                <a:latin typeface="Calibri"/>
                <a:cs typeface="Calibri"/>
              </a:rPr>
              <a:t>The</a:t>
            </a:r>
            <a:r>
              <a:rPr sz="2000" spc="30" dirty="0">
                <a:latin typeface="Calibri"/>
                <a:cs typeface="Calibri"/>
              </a:rPr>
              <a:t> </a:t>
            </a:r>
            <a:r>
              <a:rPr sz="2000" dirty="0">
                <a:latin typeface="Calibri"/>
                <a:cs typeface="Calibri"/>
              </a:rPr>
              <a:t>extended</a:t>
            </a:r>
            <a:r>
              <a:rPr sz="2000" spc="30" dirty="0">
                <a:latin typeface="Calibri"/>
                <a:cs typeface="Calibri"/>
              </a:rPr>
              <a:t> </a:t>
            </a:r>
            <a:r>
              <a:rPr sz="2000" dirty="0">
                <a:latin typeface="Calibri"/>
                <a:cs typeface="Calibri"/>
              </a:rPr>
              <a:t>lines</a:t>
            </a:r>
            <a:r>
              <a:rPr sz="2000" spc="30" dirty="0">
                <a:latin typeface="Calibri"/>
                <a:cs typeface="Calibri"/>
              </a:rPr>
              <a:t> </a:t>
            </a:r>
            <a:r>
              <a:rPr sz="2000" dirty="0">
                <a:latin typeface="Calibri"/>
                <a:cs typeface="Calibri"/>
              </a:rPr>
              <a:t>from</a:t>
            </a:r>
            <a:r>
              <a:rPr sz="2000" spc="30" dirty="0">
                <a:latin typeface="Calibri"/>
                <a:cs typeface="Calibri"/>
              </a:rPr>
              <a:t> </a:t>
            </a:r>
            <a:r>
              <a:rPr sz="2000" spc="-25" dirty="0">
                <a:latin typeface="Calibri"/>
                <a:cs typeface="Calibri"/>
              </a:rPr>
              <a:t>the </a:t>
            </a:r>
            <a:r>
              <a:rPr sz="2000" dirty="0">
                <a:latin typeface="Calibri"/>
                <a:cs typeface="Calibri"/>
              </a:rPr>
              <a:t>bars</a:t>
            </a:r>
            <a:r>
              <a:rPr sz="2000" spc="-35" dirty="0">
                <a:latin typeface="Calibri"/>
                <a:cs typeface="Calibri"/>
              </a:rPr>
              <a:t> </a:t>
            </a:r>
            <a:r>
              <a:rPr sz="2000" spc="-10" dirty="0">
                <a:latin typeface="Calibri"/>
                <a:cs typeface="Calibri"/>
              </a:rPr>
              <a:t>represent</a:t>
            </a:r>
            <a:r>
              <a:rPr sz="2000" spc="-30" dirty="0">
                <a:latin typeface="Calibri"/>
                <a:cs typeface="Calibri"/>
              </a:rPr>
              <a:t> </a:t>
            </a:r>
            <a:r>
              <a:rPr sz="2000" dirty="0">
                <a:latin typeface="Calibri"/>
                <a:cs typeface="Calibri"/>
              </a:rPr>
              <a:t>slack.</a:t>
            </a:r>
            <a:r>
              <a:rPr sz="2000" spc="-40" dirty="0">
                <a:latin typeface="Calibri"/>
                <a:cs typeface="Calibri"/>
              </a:rPr>
              <a:t> </a:t>
            </a:r>
            <a:r>
              <a:rPr sz="2000" dirty="0">
                <a:latin typeface="Calibri"/>
                <a:cs typeface="Calibri"/>
              </a:rPr>
              <a:t>For</a:t>
            </a:r>
            <a:r>
              <a:rPr sz="2000" spc="-30" dirty="0">
                <a:latin typeface="Calibri"/>
                <a:cs typeface="Calibri"/>
              </a:rPr>
              <a:t> </a:t>
            </a:r>
            <a:r>
              <a:rPr sz="2000" spc="-10" dirty="0">
                <a:latin typeface="Calibri"/>
                <a:cs typeface="Calibri"/>
              </a:rPr>
              <a:t>example,</a:t>
            </a:r>
            <a:r>
              <a:rPr sz="2000" spc="-30" dirty="0">
                <a:latin typeface="Calibri"/>
                <a:cs typeface="Calibri"/>
              </a:rPr>
              <a:t> </a:t>
            </a:r>
            <a:r>
              <a:rPr sz="2000" dirty="0">
                <a:latin typeface="Calibri"/>
                <a:cs typeface="Calibri"/>
              </a:rPr>
              <a:t>“test</a:t>
            </a:r>
            <a:r>
              <a:rPr sz="2000" spc="-35" dirty="0">
                <a:latin typeface="Calibri"/>
                <a:cs typeface="Calibri"/>
              </a:rPr>
              <a:t> </a:t>
            </a:r>
            <a:r>
              <a:rPr sz="2000" spc="-10" dirty="0">
                <a:latin typeface="Calibri"/>
                <a:cs typeface="Calibri"/>
              </a:rPr>
              <a:t>software”</a:t>
            </a:r>
            <a:r>
              <a:rPr sz="2000" spc="-30" dirty="0">
                <a:latin typeface="Calibri"/>
                <a:cs typeface="Calibri"/>
              </a:rPr>
              <a:t> </a:t>
            </a:r>
            <a:r>
              <a:rPr sz="2000" dirty="0">
                <a:latin typeface="Calibri"/>
                <a:cs typeface="Calibri"/>
              </a:rPr>
              <a:t>(ID</a:t>
            </a:r>
            <a:r>
              <a:rPr sz="2000" spc="-40" dirty="0">
                <a:latin typeface="Calibri"/>
                <a:cs typeface="Calibri"/>
              </a:rPr>
              <a:t> </a:t>
            </a:r>
            <a:r>
              <a:rPr sz="2000" dirty="0">
                <a:latin typeface="Calibri"/>
                <a:cs typeface="Calibri"/>
              </a:rPr>
              <a:t>#</a:t>
            </a:r>
            <a:r>
              <a:rPr sz="2000" spc="-30" dirty="0">
                <a:latin typeface="Calibri"/>
                <a:cs typeface="Calibri"/>
              </a:rPr>
              <a:t> </a:t>
            </a:r>
            <a:r>
              <a:rPr sz="2000" dirty="0">
                <a:latin typeface="Calibri"/>
                <a:cs typeface="Calibri"/>
              </a:rPr>
              <a:t>8)</a:t>
            </a:r>
            <a:r>
              <a:rPr sz="2000" spc="-30" dirty="0">
                <a:latin typeface="Calibri"/>
                <a:cs typeface="Calibri"/>
              </a:rPr>
              <a:t> </a:t>
            </a:r>
            <a:r>
              <a:rPr sz="2000" dirty="0">
                <a:latin typeface="Calibri"/>
                <a:cs typeface="Calibri"/>
              </a:rPr>
              <a:t>has</a:t>
            </a:r>
            <a:r>
              <a:rPr sz="2000" spc="-30" dirty="0">
                <a:latin typeface="Calibri"/>
                <a:cs typeface="Calibri"/>
              </a:rPr>
              <a:t> </a:t>
            </a:r>
            <a:r>
              <a:rPr sz="2000" dirty="0">
                <a:latin typeface="Calibri"/>
                <a:cs typeface="Calibri"/>
              </a:rPr>
              <a:t>a</a:t>
            </a:r>
            <a:r>
              <a:rPr sz="2000" spc="-30" dirty="0">
                <a:latin typeface="Calibri"/>
                <a:cs typeface="Calibri"/>
              </a:rPr>
              <a:t> </a:t>
            </a:r>
            <a:r>
              <a:rPr sz="2000" dirty="0">
                <a:latin typeface="Calibri"/>
                <a:cs typeface="Calibri"/>
              </a:rPr>
              <a:t>duration</a:t>
            </a:r>
            <a:r>
              <a:rPr sz="2000" spc="-35" dirty="0">
                <a:latin typeface="Calibri"/>
                <a:cs typeface="Calibri"/>
              </a:rPr>
              <a:t> </a:t>
            </a:r>
            <a:r>
              <a:rPr sz="2000" dirty="0">
                <a:latin typeface="Calibri"/>
                <a:cs typeface="Calibri"/>
              </a:rPr>
              <a:t>of</a:t>
            </a:r>
            <a:r>
              <a:rPr sz="2000" spc="-30" dirty="0">
                <a:latin typeface="Calibri"/>
                <a:cs typeface="Calibri"/>
              </a:rPr>
              <a:t> </a:t>
            </a:r>
            <a:r>
              <a:rPr sz="2000" dirty="0">
                <a:latin typeface="Calibri"/>
                <a:cs typeface="Calibri"/>
              </a:rPr>
              <a:t>35</a:t>
            </a:r>
            <a:r>
              <a:rPr sz="2000" spc="-40" dirty="0">
                <a:latin typeface="Calibri"/>
                <a:cs typeface="Calibri"/>
              </a:rPr>
              <a:t> </a:t>
            </a:r>
            <a:r>
              <a:rPr sz="2000" dirty="0">
                <a:latin typeface="Calibri"/>
                <a:cs typeface="Calibri"/>
              </a:rPr>
              <a:t>days</a:t>
            </a:r>
            <a:r>
              <a:rPr sz="2000" spc="-30" dirty="0">
                <a:latin typeface="Calibri"/>
                <a:cs typeface="Calibri"/>
              </a:rPr>
              <a:t> </a:t>
            </a:r>
            <a:r>
              <a:rPr sz="2000" dirty="0">
                <a:latin typeface="Calibri"/>
                <a:cs typeface="Calibri"/>
              </a:rPr>
              <a:t>(shaded</a:t>
            </a:r>
            <a:r>
              <a:rPr sz="2000" spc="-35" dirty="0">
                <a:latin typeface="Calibri"/>
                <a:cs typeface="Calibri"/>
              </a:rPr>
              <a:t> </a:t>
            </a:r>
            <a:r>
              <a:rPr sz="2000" dirty="0">
                <a:latin typeface="Calibri"/>
                <a:cs typeface="Calibri"/>
              </a:rPr>
              <a:t>area</a:t>
            </a:r>
            <a:r>
              <a:rPr sz="2000" spc="-30" dirty="0">
                <a:latin typeface="Calibri"/>
                <a:cs typeface="Calibri"/>
              </a:rPr>
              <a:t> </a:t>
            </a:r>
            <a:r>
              <a:rPr sz="2000" dirty="0">
                <a:latin typeface="Calibri"/>
                <a:cs typeface="Calibri"/>
              </a:rPr>
              <a:t>of</a:t>
            </a:r>
            <a:r>
              <a:rPr sz="2000" spc="-30" dirty="0">
                <a:latin typeface="Calibri"/>
                <a:cs typeface="Calibri"/>
              </a:rPr>
              <a:t> </a:t>
            </a:r>
            <a:r>
              <a:rPr sz="2000" spc="-25" dirty="0">
                <a:latin typeface="Calibri"/>
                <a:cs typeface="Calibri"/>
              </a:rPr>
              <a:t>the </a:t>
            </a:r>
            <a:r>
              <a:rPr sz="2000" dirty="0">
                <a:latin typeface="Calibri"/>
                <a:cs typeface="Calibri"/>
              </a:rPr>
              <a:t>bar)</a:t>
            </a:r>
            <a:r>
              <a:rPr sz="2000" spc="65" dirty="0">
                <a:latin typeface="Calibri"/>
                <a:cs typeface="Calibri"/>
              </a:rPr>
              <a:t> </a:t>
            </a:r>
            <a:r>
              <a:rPr sz="2000" dirty="0">
                <a:latin typeface="Calibri"/>
                <a:cs typeface="Calibri"/>
              </a:rPr>
              <a:t>and</a:t>
            </a:r>
            <a:r>
              <a:rPr sz="2000" spc="65" dirty="0">
                <a:latin typeface="Calibri"/>
                <a:cs typeface="Calibri"/>
              </a:rPr>
              <a:t> </a:t>
            </a:r>
            <a:r>
              <a:rPr sz="2000" dirty="0">
                <a:latin typeface="Calibri"/>
                <a:cs typeface="Calibri"/>
              </a:rPr>
              <a:t>15</a:t>
            </a:r>
            <a:r>
              <a:rPr sz="2000" spc="65" dirty="0">
                <a:latin typeface="Calibri"/>
                <a:cs typeface="Calibri"/>
              </a:rPr>
              <a:t> </a:t>
            </a:r>
            <a:r>
              <a:rPr sz="2000" dirty="0">
                <a:latin typeface="Calibri"/>
                <a:cs typeface="Calibri"/>
              </a:rPr>
              <a:t>days</a:t>
            </a:r>
            <a:r>
              <a:rPr sz="2000" spc="65" dirty="0">
                <a:latin typeface="Calibri"/>
                <a:cs typeface="Calibri"/>
              </a:rPr>
              <a:t> </a:t>
            </a:r>
            <a:r>
              <a:rPr sz="2000" dirty="0">
                <a:latin typeface="Calibri"/>
                <a:cs typeface="Calibri"/>
              </a:rPr>
              <a:t>slack</a:t>
            </a:r>
            <a:r>
              <a:rPr sz="2000" spc="70" dirty="0">
                <a:latin typeface="Calibri"/>
                <a:cs typeface="Calibri"/>
              </a:rPr>
              <a:t> </a:t>
            </a:r>
            <a:r>
              <a:rPr sz="2000" dirty="0">
                <a:latin typeface="Calibri"/>
                <a:cs typeface="Calibri"/>
              </a:rPr>
              <a:t>(represented</a:t>
            </a:r>
            <a:r>
              <a:rPr sz="2000" spc="65" dirty="0">
                <a:latin typeface="Calibri"/>
                <a:cs typeface="Calibri"/>
              </a:rPr>
              <a:t> </a:t>
            </a:r>
            <a:r>
              <a:rPr sz="2000" dirty="0">
                <a:latin typeface="Calibri"/>
                <a:cs typeface="Calibri"/>
              </a:rPr>
              <a:t>by</a:t>
            </a:r>
            <a:r>
              <a:rPr sz="2000" spc="55" dirty="0">
                <a:latin typeface="Calibri"/>
                <a:cs typeface="Calibri"/>
              </a:rPr>
              <a:t> </a:t>
            </a:r>
            <a:r>
              <a:rPr sz="2000" dirty="0">
                <a:latin typeface="Calibri"/>
                <a:cs typeface="Calibri"/>
              </a:rPr>
              <a:t>the</a:t>
            </a:r>
            <a:r>
              <a:rPr sz="2000" spc="70" dirty="0">
                <a:latin typeface="Calibri"/>
                <a:cs typeface="Calibri"/>
              </a:rPr>
              <a:t> </a:t>
            </a:r>
            <a:r>
              <a:rPr sz="2000" dirty="0">
                <a:latin typeface="Calibri"/>
                <a:cs typeface="Calibri"/>
              </a:rPr>
              <a:t>extended</a:t>
            </a:r>
            <a:r>
              <a:rPr sz="2000" spc="60" dirty="0">
                <a:latin typeface="Calibri"/>
                <a:cs typeface="Calibri"/>
              </a:rPr>
              <a:t> </a:t>
            </a:r>
            <a:r>
              <a:rPr sz="2000" dirty="0">
                <a:latin typeface="Calibri"/>
                <a:cs typeface="Calibri"/>
              </a:rPr>
              <a:t>line).</a:t>
            </a:r>
            <a:r>
              <a:rPr sz="2000" spc="60" dirty="0">
                <a:latin typeface="Calibri"/>
                <a:cs typeface="Calibri"/>
              </a:rPr>
              <a:t> </a:t>
            </a:r>
            <a:r>
              <a:rPr sz="2000" dirty="0">
                <a:latin typeface="Calibri"/>
                <a:cs typeface="Calibri"/>
              </a:rPr>
              <a:t>The</a:t>
            </a:r>
            <a:r>
              <a:rPr sz="2000" spc="65" dirty="0">
                <a:latin typeface="Calibri"/>
                <a:cs typeface="Calibri"/>
              </a:rPr>
              <a:t> </a:t>
            </a:r>
            <a:r>
              <a:rPr sz="2000" dirty="0">
                <a:latin typeface="Calibri"/>
                <a:cs typeface="Calibri"/>
              </a:rPr>
              <a:t>bar</a:t>
            </a:r>
            <a:r>
              <a:rPr sz="2000" spc="70" dirty="0">
                <a:latin typeface="Calibri"/>
                <a:cs typeface="Calibri"/>
              </a:rPr>
              <a:t> </a:t>
            </a:r>
            <a:r>
              <a:rPr sz="2000" dirty="0">
                <a:latin typeface="Calibri"/>
                <a:cs typeface="Calibri"/>
              </a:rPr>
              <a:t>also</a:t>
            </a:r>
            <a:r>
              <a:rPr sz="2000" spc="60" dirty="0">
                <a:latin typeface="Calibri"/>
                <a:cs typeface="Calibri"/>
              </a:rPr>
              <a:t> </a:t>
            </a:r>
            <a:r>
              <a:rPr sz="2000" dirty="0">
                <a:latin typeface="Calibri"/>
                <a:cs typeface="Calibri"/>
              </a:rPr>
              <a:t>indicates</a:t>
            </a:r>
            <a:r>
              <a:rPr sz="2000" spc="70" dirty="0">
                <a:latin typeface="Calibri"/>
                <a:cs typeface="Calibri"/>
              </a:rPr>
              <a:t> </a:t>
            </a:r>
            <a:r>
              <a:rPr sz="2000" dirty="0">
                <a:latin typeface="Calibri"/>
                <a:cs typeface="Calibri"/>
              </a:rPr>
              <a:t>test</a:t>
            </a:r>
            <a:r>
              <a:rPr sz="2000" spc="65" dirty="0">
                <a:latin typeface="Calibri"/>
                <a:cs typeface="Calibri"/>
              </a:rPr>
              <a:t> </a:t>
            </a:r>
            <a:r>
              <a:rPr sz="2000" dirty="0">
                <a:latin typeface="Calibri"/>
                <a:cs typeface="Calibri"/>
              </a:rPr>
              <a:t>software</a:t>
            </a:r>
            <a:r>
              <a:rPr sz="2000" spc="75" dirty="0">
                <a:latin typeface="Calibri"/>
                <a:cs typeface="Calibri"/>
              </a:rPr>
              <a:t> </a:t>
            </a:r>
            <a:r>
              <a:rPr sz="2000" dirty="0">
                <a:latin typeface="Calibri"/>
                <a:cs typeface="Calibri"/>
              </a:rPr>
              <a:t>has</a:t>
            </a:r>
            <a:r>
              <a:rPr sz="2000" spc="65" dirty="0">
                <a:latin typeface="Calibri"/>
                <a:cs typeface="Calibri"/>
              </a:rPr>
              <a:t> </a:t>
            </a:r>
            <a:r>
              <a:rPr sz="2000" spc="-25" dirty="0">
                <a:latin typeface="Calibri"/>
                <a:cs typeface="Calibri"/>
              </a:rPr>
              <a:t>an </a:t>
            </a:r>
            <a:r>
              <a:rPr sz="2000" dirty="0">
                <a:latin typeface="Calibri"/>
                <a:cs typeface="Calibri"/>
              </a:rPr>
              <a:t>early</a:t>
            </a:r>
            <a:r>
              <a:rPr sz="2000" spc="90" dirty="0">
                <a:latin typeface="Calibri"/>
                <a:cs typeface="Calibri"/>
              </a:rPr>
              <a:t> </a:t>
            </a:r>
            <a:r>
              <a:rPr sz="2000" dirty="0">
                <a:latin typeface="Calibri"/>
                <a:cs typeface="Calibri"/>
              </a:rPr>
              <a:t>start</a:t>
            </a:r>
            <a:r>
              <a:rPr sz="2000" spc="105" dirty="0">
                <a:latin typeface="Calibri"/>
                <a:cs typeface="Calibri"/>
              </a:rPr>
              <a:t> </a:t>
            </a:r>
            <a:r>
              <a:rPr sz="2000" dirty="0">
                <a:latin typeface="Calibri"/>
                <a:cs typeface="Calibri"/>
              </a:rPr>
              <a:t>of</a:t>
            </a:r>
            <a:r>
              <a:rPr sz="2000" spc="100" dirty="0">
                <a:latin typeface="Calibri"/>
                <a:cs typeface="Calibri"/>
              </a:rPr>
              <a:t> </a:t>
            </a:r>
            <a:r>
              <a:rPr sz="2000" dirty="0">
                <a:latin typeface="Calibri"/>
                <a:cs typeface="Calibri"/>
              </a:rPr>
              <a:t>February</a:t>
            </a:r>
            <a:r>
              <a:rPr sz="2000" spc="95" dirty="0">
                <a:latin typeface="Calibri"/>
                <a:cs typeface="Calibri"/>
              </a:rPr>
              <a:t> </a:t>
            </a:r>
            <a:r>
              <a:rPr sz="2000" dirty="0">
                <a:latin typeface="Calibri"/>
                <a:cs typeface="Calibri"/>
              </a:rPr>
              <a:t>19</a:t>
            </a:r>
            <a:r>
              <a:rPr sz="2000" spc="95" dirty="0">
                <a:latin typeface="Calibri"/>
                <a:cs typeface="Calibri"/>
              </a:rPr>
              <a:t> </a:t>
            </a:r>
            <a:r>
              <a:rPr sz="2000" dirty="0">
                <a:latin typeface="Calibri"/>
                <a:cs typeface="Calibri"/>
              </a:rPr>
              <a:t>and</a:t>
            </a:r>
            <a:r>
              <a:rPr sz="2000" spc="105" dirty="0">
                <a:latin typeface="Calibri"/>
                <a:cs typeface="Calibri"/>
              </a:rPr>
              <a:t> </a:t>
            </a:r>
            <a:r>
              <a:rPr sz="2000" dirty="0">
                <a:latin typeface="Calibri"/>
                <a:cs typeface="Calibri"/>
              </a:rPr>
              <a:t>would</a:t>
            </a:r>
            <a:r>
              <a:rPr sz="2000" spc="100" dirty="0">
                <a:latin typeface="Calibri"/>
                <a:cs typeface="Calibri"/>
              </a:rPr>
              <a:t> </a:t>
            </a:r>
            <a:r>
              <a:rPr sz="2000" dirty="0">
                <a:latin typeface="Calibri"/>
                <a:cs typeface="Calibri"/>
              </a:rPr>
              <a:t>finish</a:t>
            </a:r>
            <a:r>
              <a:rPr sz="2000" spc="105" dirty="0">
                <a:latin typeface="Calibri"/>
                <a:cs typeface="Calibri"/>
              </a:rPr>
              <a:t> </a:t>
            </a:r>
            <a:r>
              <a:rPr sz="2000" dirty="0">
                <a:latin typeface="Calibri"/>
                <a:cs typeface="Calibri"/>
              </a:rPr>
              <a:t>April</a:t>
            </a:r>
            <a:r>
              <a:rPr sz="2000" spc="100" dirty="0">
                <a:latin typeface="Calibri"/>
                <a:cs typeface="Calibri"/>
              </a:rPr>
              <a:t> </a:t>
            </a:r>
            <a:r>
              <a:rPr sz="2000" dirty="0">
                <a:latin typeface="Calibri"/>
                <a:cs typeface="Calibri"/>
              </a:rPr>
              <a:t>8,</a:t>
            </a:r>
            <a:r>
              <a:rPr sz="2000" spc="105" dirty="0">
                <a:latin typeface="Calibri"/>
                <a:cs typeface="Calibri"/>
              </a:rPr>
              <a:t> </a:t>
            </a:r>
            <a:r>
              <a:rPr sz="2000" dirty="0">
                <a:latin typeface="Calibri"/>
                <a:cs typeface="Calibri"/>
              </a:rPr>
              <a:t>but</a:t>
            </a:r>
            <a:r>
              <a:rPr sz="2000" spc="100" dirty="0">
                <a:latin typeface="Calibri"/>
                <a:cs typeface="Calibri"/>
              </a:rPr>
              <a:t> </a:t>
            </a:r>
            <a:r>
              <a:rPr sz="2000" dirty="0">
                <a:latin typeface="Calibri"/>
                <a:cs typeface="Calibri"/>
              </a:rPr>
              <a:t>can</a:t>
            </a:r>
            <a:r>
              <a:rPr sz="2000" spc="100" dirty="0">
                <a:latin typeface="Calibri"/>
                <a:cs typeface="Calibri"/>
              </a:rPr>
              <a:t> </a:t>
            </a:r>
            <a:r>
              <a:rPr sz="2000" dirty="0">
                <a:latin typeface="Calibri"/>
                <a:cs typeface="Calibri"/>
              </a:rPr>
              <a:t>finish</a:t>
            </a:r>
            <a:r>
              <a:rPr sz="2000" spc="100" dirty="0">
                <a:latin typeface="Calibri"/>
                <a:cs typeface="Calibri"/>
              </a:rPr>
              <a:t> </a:t>
            </a:r>
            <a:r>
              <a:rPr sz="2000" dirty="0">
                <a:latin typeface="Calibri"/>
                <a:cs typeface="Calibri"/>
              </a:rPr>
              <a:t>as</a:t>
            </a:r>
            <a:r>
              <a:rPr sz="2000" spc="110" dirty="0">
                <a:latin typeface="Calibri"/>
                <a:cs typeface="Calibri"/>
              </a:rPr>
              <a:t> </a:t>
            </a:r>
            <a:r>
              <a:rPr sz="2000" dirty="0">
                <a:latin typeface="Calibri"/>
                <a:cs typeface="Calibri"/>
              </a:rPr>
              <a:t>late</a:t>
            </a:r>
            <a:r>
              <a:rPr sz="2000" spc="100" dirty="0">
                <a:latin typeface="Calibri"/>
                <a:cs typeface="Calibri"/>
              </a:rPr>
              <a:t> </a:t>
            </a:r>
            <a:r>
              <a:rPr sz="2000" dirty="0">
                <a:latin typeface="Calibri"/>
                <a:cs typeface="Calibri"/>
              </a:rPr>
              <a:t>as</a:t>
            </a:r>
            <a:r>
              <a:rPr sz="2000" spc="110" dirty="0">
                <a:latin typeface="Calibri"/>
                <a:cs typeface="Calibri"/>
              </a:rPr>
              <a:t> </a:t>
            </a:r>
            <a:r>
              <a:rPr sz="2000" dirty="0">
                <a:latin typeface="Calibri"/>
                <a:cs typeface="Calibri"/>
              </a:rPr>
              <a:t>April</a:t>
            </a:r>
            <a:r>
              <a:rPr sz="2000" spc="100" dirty="0">
                <a:latin typeface="Calibri"/>
                <a:cs typeface="Calibri"/>
              </a:rPr>
              <a:t> </a:t>
            </a:r>
            <a:r>
              <a:rPr sz="2000" dirty="0">
                <a:latin typeface="Calibri"/>
                <a:cs typeface="Calibri"/>
              </a:rPr>
              <a:t>29</a:t>
            </a:r>
            <a:r>
              <a:rPr sz="2000" spc="100" dirty="0">
                <a:latin typeface="Calibri"/>
                <a:cs typeface="Calibri"/>
              </a:rPr>
              <a:t> </a:t>
            </a:r>
            <a:r>
              <a:rPr sz="2000" dirty="0">
                <a:latin typeface="Calibri"/>
                <a:cs typeface="Calibri"/>
              </a:rPr>
              <a:t>because</a:t>
            </a:r>
            <a:r>
              <a:rPr sz="2000" spc="100" dirty="0">
                <a:latin typeface="Calibri"/>
                <a:cs typeface="Calibri"/>
              </a:rPr>
              <a:t> </a:t>
            </a:r>
            <a:r>
              <a:rPr sz="2000" dirty="0">
                <a:latin typeface="Calibri"/>
                <a:cs typeface="Calibri"/>
              </a:rPr>
              <a:t>it</a:t>
            </a:r>
            <a:r>
              <a:rPr sz="2000" spc="110" dirty="0">
                <a:latin typeface="Calibri"/>
                <a:cs typeface="Calibri"/>
              </a:rPr>
              <a:t> </a:t>
            </a:r>
            <a:r>
              <a:rPr sz="2000" dirty="0">
                <a:latin typeface="Calibri"/>
                <a:cs typeface="Calibri"/>
              </a:rPr>
              <a:t>has</a:t>
            </a:r>
            <a:r>
              <a:rPr sz="2000" spc="105" dirty="0">
                <a:latin typeface="Calibri"/>
                <a:cs typeface="Calibri"/>
              </a:rPr>
              <a:t> </a:t>
            </a:r>
            <a:r>
              <a:rPr sz="2000" spc="-25" dirty="0">
                <a:latin typeface="Calibri"/>
                <a:cs typeface="Calibri"/>
              </a:rPr>
              <a:t>15 </a:t>
            </a:r>
            <a:r>
              <a:rPr sz="2000" dirty="0">
                <a:latin typeface="Calibri"/>
                <a:cs typeface="Calibri"/>
              </a:rPr>
              <a:t>days</a:t>
            </a:r>
            <a:r>
              <a:rPr sz="2000" spc="25" dirty="0">
                <a:latin typeface="Calibri"/>
                <a:cs typeface="Calibri"/>
              </a:rPr>
              <a:t> </a:t>
            </a:r>
            <a:r>
              <a:rPr sz="2000" dirty="0">
                <a:latin typeface="Calibri"/>
                <a:cs typeface="Calibri"/>
              </a:rPr>
              <a:t>of</a:t>
            </a:r>
            <a:r>
              <a:rPr sz="2000" spc="30" dirty="0">
                <a:latin typeface="Calibri"/>
                <a:cs typeface="Calibri"/>
              </a:rPr>
              <a:t> </a:t>
            </a:r>
            <a:r>
              <a:rPr sz="2000" dirty="0">
                <a:latin typeface="Calibri"/>
                <a:cs typeface="Calibri"/>
              </a:rPr>
              <a:t>slack.</a:t>
            </a:r>
            <a:r>
              <a:rPr sz="2000" spc="25" dirty="0">
                <a:latin typeface="Calibri"/>
                <a:cs typeface="Calibri"/>
              </a:rPr>
              <a:t> </a:t>
            </a:r>
            <a:r>
              <a:rPr sz="2000" dirty="0">
                <a:latin typeface="Calibri"/>
                <a:cs typeface="Calibri"/>
              </a:rPr>
              <a:t>When</a:t>
            </a:r>
            <a:r>
              <a:rPr sz="2000" spc="25" dirty="0">
                <a:latin typeface="Calibri"/>
                <a:cs typeface="Calibri"/>
              </a:rPr>
              <a:t> </a:t>
            </a:r>
            <a:r>
              <a:rPr sz="2000" dirty="0">
                <a:latin typeface="Calibri"/>
                <a:cs typeface="Calibri"/>
              </a:rPr>
              <a:t>calendar</a:t>
            </a:r>
            <a:r>
              <a:rPr sz="2000" spc="30" dirty="0">
                <a:latin typeface="Calibri"/>
                <a:cs typeface="Calibri"/>
              </a:rPr>
              <a:t> </a:t>
            </a:r>
            <a:r>
              <a:rPr sz="2000" dirty="0">
                <a:latin typeface="Calibri"/>
                <a:cs typeface="Calibri"/>
              </a:rPr>
              <a:t>dates</a:t>
            </a:r>
            <a:r>
              <a:rPr sz="2000" spc="30" dirty="0">
                <a:latin typeface="Calibri"/>
                <a:cs typeface="Calibri"/>
              </a:rPr>
              <a:t> </a:t>
            </a:r>
            <a:r>
              <a:rPr sz="2000" dirty="0">
                <a:latin typeface="Calibri"/>
                <a:cs typeface="Calibri"/>
              </a:rPr>
              <a:t>are</a:t>
            </a:r>
            <a:r>
              <a:rPr sz="2000" spc="30" dirty="0">
                <a:latin typeface="Calibri"/>
                <a:cs typeface="Calibri"/>
              </a:rPr>
              <a:t> </a:t>
            </a:r>
            <a:r>
              <a:rPr sz="2000" dirty="0">
                <a:latin typeface="Calibri"/>
                <a:cs typeface="Calibri"/>
              </a:rPr>
              <a:t>used</a:t>
            </a:r>
            <a:r>
              <a:rPr sz="2000" spc="25" dirty="0">
                <a:latin typeface="Calibri"/>
                <a:cs typeface="Calibri"/>
              </a:rPr>
              <a:t> </a:t>
            </a:r>
            <a:r>
              <a:rPr sz="2000" dirty="0">
                <a:latin typeface="Calibri"/>
                <a:cs typeface="Calibri"/>
              </a:rPr>
              <a:t>on</a:t>
            </a:r>
            <a:r>
              <a:rPr sz="2000" spc="30" dirty="0">
                <a:latin typeface="Calibri"/>
                <a:cs typeface="Calibri"/>
              </a:rPr>
              <a:t> </a:t>
            </a:r>
            <a:r>
              <a:rPr sz="2000" dirty="0">
                <a:latin typeface="Calibri"/>
                <a:cs typeface="Calibri"/>
              </a:rPr>
              <a:t>the</a:t>
            </a:r>
            <a:r>
              <a:rPr sz="2000" spc="30" dirty="0">
                <a:latin typeface="Calibri"/>
                <a:cs typeface="Calibri"/>
              </a:rPr>
              <a:t> </a:t>
            </a:r>
            <a:r>
              <a:rPr sz="2000" dirty="0">
                <a:latin typeface="Calibri"/>
                <a:cs typeface="Calibri"/>
              </a:rPr>
              <a:t>time</a:t>
            </a:r>
            <a:r>
              <a:rPr sz="2000" spc="25" dirty="0">
                <a:latin typeface="Calibri"/>
                <a:cs typeface="Calibri"/>
              </a:rPr>
              <a:t> </a:t>
            </a:r>
            <a:r>
              <a:rPr sz="2000" dirty="0">
                <a:latin typeface="Calibri"/>
                <a:cs typeface="Calibri"/>
              </a:rPr>
              <a:t>axis,</a:t>
            </a:r>
            <a:r>
              <a:rPr sz="2000" spc="30" dirty="0">
                <a:latin typeface="Calibri"/>
                <a:cs typeface="Calibri"/>
              </a:rPr>
              <a:t> </a:t>
            </a:r>
            <a:r>
              <a:rPr sz="2000" dirty="0">
                <a:latin typeface="Calibri"/>
                <a:cs typeface="Calibri"/>
              </a:rPr>
              <a:t>Gantt</a:t>
            </a:r>
            <a:r>
              <a:rPr sz="2000" spc="35" dirty="0">
                <a:latin typeface="Calibri"/>
                <a:cs typeface="Calibri"/>
              </a:rPr>
              <a:t> </a:t>
            </a:r>
            <a:r>
              <a:rPr sz="2000" dirty="0">
                <a:latin typeface="Calibri"/>
                <a:cs typeface="Calibri"/>
              </a:rPr>
              <a:t>charts</a:t>
            </a:r>
            <a:r>
              <a:rPr sz="2000" spc="35" dirty="0">
                <a:latin typeface="Calibri"/>
                <a:cs typeface="Calibri"/>
              </a:rPr>
              <a:t> </a:t>
            </a:r>
            <a:r>
              <a:rPr sz="2000" dirty="0">
                <a:latin typeface="Calibri"/>
                <a:cs typeface="Calibri"/>
              </a:rPr>
              <a:t>provide</a:t>
            </a:r>
            <a:r>
              <a:rPr sz="2000" spc="25" dirty="0">
                <a:latin typeface="Calibri"/>
                <a:cs typeface="Calibri"/>
              </a:rPr>
              <a:t> </a:t>
            </a:r>
            <a:r>
              <a:rPr sz="2000" dirty="0">
                <a:latin typeface="Calibri"/>
                <a:cs typeface="Calibri"/>
              </a:rPr>
              <a:t>a</a:t>
            </a:r>
            <a:r>
              <a:rPr sz="2000" spc="35" dirty="0">
                <a:latin typeface="Calibri"/>
                <a:cs typeface="Calibri"/>
              </a:rPr>
              <a:t> </a:t>
            </a:r>
            <a:r>
              <a:rPr sz="2000" dirty="0">
                <a:latin typeface="Calibri"/>
                <a:cs typeface="Calibri"/>
              </a:rPr>
              <a:t>clear</a:t>
            </a:r>
            <a:r>
              <a:rPr sz="2000" spc="30" dirty="0">
                <a:latin typeface="Calibri"/>
                <a:cs typeface="Calibri"/>
              </a:rPr>
              <a:t> </a:t>
            </a:r>
            <a:r>
              <a:rPr sz="2000" dirty="0">
                <a:latin typeface="Calibri"/>
                <a:cs typeface="Calibri"/>
              </a:rPr>
              <a:t>overview</a:t>
            </a:r>
            <a:r>
              <a:rPr sz="2000" spc="20" dirty="0">
                <a:latin typeface="Calibri"/>
                <a:cs typeface="Calibri"/>
              </a:rPr>
              <a:t> </a:t>
            </a:r>
            <a:r>
              <a:rPr sz="2000" spc="-25" dirty="0">
                <a:latin typeface="Calibri"/>
                <a:cs typeface="Calibri"/>
              </a:rPr>
              <a:t>of </a:t>
            </a:r>
            <a:r>
              <a:rPr sz="2000" dirty="0">
                <a:latin typeface="Calibri"/>
                <a:cs typeface="Calibri"/>
              </a:rPr>
              <a:t>the</a:t>
            </a:r>
            <a:r>
              <a:rPr sz="2000" spc="-45" dirty="0">
                <a:latin typeface="Calibri"/>
                <a:cs typeface="Calibri"/>
              </a:rPr>
              <a:t> </a:t>
            </a:r>
            <a:r>
              <a:rPr sz="2000" dirty="0">
                <a:latin typeface="Calibri"/>
                <a:cs typeface="Calibri"/>
              </a:rPr>
              <a:t>project</a:t>
            </a:r>
            <a:r>
              <a:rPr sz="2000" spc="-40" dirty="0">
                <a:latin typeface="Calibri"/>
                <a:cs typeface="Calibri"/>
              </a:rPr>
              <a:t> </a:t>
            </a:r>
            <a:r>
              <a:rPr sz="2000" dirty="0">
                <a:latin typeface="Calibri"/>
                <a:cs typeface="Calibri"/>
              </a:rPr>
              <a:t>schedule</a:t>
            </a:r>
            <a:r>
              <a:rPr sz="2000" spc="-45" dirty="0">
                <a:latin typeface="Calibri"/>
                <a:cs typeface="Calibri"/>
              </a:rPr>
              <a:t> </a:t>
            </a:r>
            <a:r>
              <a:rPr sz="2000" dirty="0">
                <a:latin typeface="Calibri"/>
                <a:cs typeface="Calibri"/>
              </a:rPr>
              <a:t>and</a:t>
            </a:r>
            <a:r>
              <a:rPr sz="2000" spc="-45" dirty="0">
                <a:latin typeface="Calibri"/>
                <a:cs typeface="Calibri"/>
              </a:rPr>
              <a:t> </a:t>
            </a:r>
            <a:r>
              <a:rPr sz="2000" dirty="0">
                <a:latin typeface="Calibri"/>
                <a:cs typeface="Calibri"/>
              </a:rPr>
              <a:t>can</a:t>
            </a:r>
            <a:r>
              <a:rPr sz="2000" spc="-45" dirty="0">
                <a:latin typeface="Calibri"/>
                <a:cs typeface="Calibri"/>
              </a:rPr>
              <a:t> </a:t>
            </a:r>
            <a:r>
              <a:rPr sz="2000" dirty="0">
                <a:latin typeface="Calibri"/>
                <a:cs typeface="Calibri"/>
              </a:rPr>
              <a:t>often</a:t>
            </a:r>
            <a:r>
              <a:rPr sz="2000" spc="-50" dirty="0">
                <a:latin typeface="Calibri"/>
                <a:cs typeface="Calibri"/>
              </a:rPr>
              <a:t> </a:t>
            </a:r>
            <a:r>
              <a:rPr sz="2000" dirty="0">
                <a:latin typeface="Calibri"/>
                <a:cs typeface="Calibri"/>
              </a:rPr>
              <a:t>be</a:t>
            </a:r>
            <a:r>
              <a:rPr sz="2000" spc="-40" dirty="0">
                <a:latin typeface="Calibri"/>
                <a:cs typeface="Calibri"/>
              </a:rPr>
              <a:t> </a:t>
            </a:r>
            <a:r>
              <a:rPr sz="2000" dirty="0">
                <a:latin typeface="Calibri"/>
                <a:cs typeface="Calibri"/>
              </a:rPr>
              <a:t>found</a:t>
            </a:r>
            <a:r>
              <a:rPr sz="2000" spc="-45" dirty="0">
                <a:latin typeface="Calibri"/>
                <a:cs typeface="Calibri"/>
              </a:rPr>
              <a:t> </a:t>
            </a:r>
            <a:r>
              <a:rPr sz="2000" dirty="0">
                <a:latin typeface="Calibri"/>
                <a:cs typeface="Calibri"/>
              </a:rPr>
              <a:t>posted</a:t>
            </a:r>
            <a:r>
              <a:rPr sz="2000" spc="-50" dirty="0">
                <a:latin typeface="Calibri"/>
                <a:cs typeface="Calibri"/>
              </a:rPr>
              <a:t> </a:t>
            </a:r>
            <a:r>
              <a:rPr sz="2000" dirty="0">
                <a:latin typeface="Calibri"/>
                <a:cs typeface="Calibri"/>
              </a:rPr>
              <a:t>on</a:t>
            </a:r>
            <a:r>
              <a:rPr sz="2000" spc="-45" dirty="0">
                <a:latin typeface="Calibri"/>
                <a:cs typeface="Calibri"/>
              </a:rPr>
              <a:t> </a:t>
            </a:r>
            <a:r>
              <a:rPr sz="2000" dirty="0">
                <a:latin typeface="Calibri"/>
                <a:cs typeface="Calibri"/>
              </a:rPr>
              <a:t>the</a:t>
            </a:r>
            <a:r>
              <a:rPr sz="2000" spc="-40" dirty="0">
                <a:latin typeface="Calibri"/>
                <a:cs typeface="Calibri"/>
              </a:rPr>
              <a:t> </a:t>
            </a:r>
            <a:r>
              <a:rPr sz="2000" dirty="0">
                <a:latin typeface="Calibri"/>
                <a:cs typeface="Calibri"/>
              </a:rPr>
              <a:t>walls</a:t>
            </a:r>
            <a:r>
              <a:rPr sz="2000" spc="-45" dirty="0">
                <a:latin typeface="Calibri"/>
                <a:cs typeface="Calibri"/>
              </a:rPr>
              <a:t> </a:t>
            </a:r>
            <a:r>
              <a:rPr sz="2000" dirty="0">
                <a:latin typeface="Calibri"/>
                <a:cs typeface="Calibri"/>
              </a:rPr>
              <a:t>of</a:t>
            </a:r>
            <a:r>
              <a:rPr sz="2000" spc="-45" dirty="0">
                <a:latin typeface="Calibri"/>
                <a:cs typeface="Calibri"/>
              </a:rPr>
              <a:t> </a:t>
            </a:r>
            <a:r>
              <a:rPr sz="2000" dirty="0">
                <a:latin typeface="Calibri"/>
                <a:cs typeface="Calibri"/>
              </a:rPr>
              <a:t>project</a:t>
            </a:r>
            <a:r>
              <a:rPr sz="2000" spc="-45" dirty="0">
                <a:latin typeface="Calibri"/>
                <a:cs typeface="Calibri"/>
              </a:rPr>
              <a:t> </a:t>
            </a:r>
            <a:r>
              <a:rPr sz="2000" spc="-10" dirty="0">
                <a:latin typeface="Calibri"/>
                <a:cs typeface="Calibri"/>
              </a:rPr>
              <a:t>offices.</a:t>
            </a:r>
            <a:endParaRPr sz="2000">
              <a:latin typeface="Calibri"/>
              <a:cs typeface="Calibri"/>
            </a:endParaRPr>
          </a:p>
          <a:p>
            <a:pPr>
              <a:lnSpc>
                <a:spcPct val="100000"/>
              </a:lnSpc>
              <a:spcBef>
                <a:spcPts val="2115"/>
              </a:spcBef>
            </a:pPr>
            <a:endParaRPr sz="2000">
              <a:latin typeface="Calibri"/>
              <a:cs typeface="Calibri"/>
            </a:endParaRPr>
          </a:p>
          <a:p>
            <a:pPr marL="133350" marR="10534015" indent="-120650">
              <a:lnSpc>
                <a:spcPts val="2110"/>
              </a:lnSpc>
            </a:pPr>
            <a:r>
              <a:rPr sz="1800" spc="-10" dirty="0">
                <a:latin typeface="Calibri"/>
                <a:cs typeface="Calibri"/>
              </a:rPr>
              <a:t>Microsoft Project</a:t>
            </a:r>
            <a:endParaRPr sz="1800">
              <a:latin typeface="Calibri"/>
              <a:cs typeface="Calibri"/>
            </a:endParaRPr>
          </a:p>
        </p:txBody>
      </p:sp>
      <p:grpSp>
        <p:nvGrpSpPr>
          <p:cNvPr id="7" name="object 7"/>
          <p:cNvGrpSpPr/>
          <p:nvPr/>
        </p:nvGrpSpPr>
        <p:grpSpPr>
          <a:xfrm>
            <a:off x="10347325" y="6124575"/>
            <a:ext cx="841375" cy="234950"/>
            <a:chOff x="10347325" y="6124575"/>
            <a:chExt cx="841375" cy="234950"/>
          </a:xfrm>
        </p:grpSpPr>
        <p:sp>
          <p:nvSpPr>
            <p:cNvPr id="8" name="object 8"/>
            <p:cNvSpPr/>
            <p:nvPr/>
          </p:nvSpPr>
          <p:spPr>
            <a:xfrm>
              <a:off x="10347325" y="6143625"/>
              <a:ext cx="841375" cy="0"/>
            </a:xfrm>
            <a:custGeom>
              <a:avLst/>
              <a:gdLst/>
              <a:ahLst/>
              <a:cxnLst/>
              <a:rect l="l" t="t" r="r" b="b"/>
              <a:pathLst>
                <a:path w="841375">
                  <a:moveTo>
                    <a:pt x="0" y="0"/>
                  </a:moveTo>
                  <a:lnTo>
                    <a:pt x="841375" y="1"/>
                  </a:lnTo>
                </a:path>
              </a:pathLst>
            </a:custGeom>
            <a:ln w="38100">
              <a:solidFill>
                <a:srgbClr val="C00000"/>
              </a:solidFill>
            </a:ln>
          </p:spPr>
          <p:txBody>
            <a:bodyPr wrap="square" lIns="0" tIns="0" rIns="0" bIns="0" rtlCol="0"/>
            <a:lstStyle/>
            <a:p>
              <a:endParaRPr/>
            </a:p>
          </p:txBody>
        </p:sp>
        <p:sp>
          <p:nvSpPr>
            <p:cNvPr id="9" name="object 9"/>
            <p:cNvSpPr/>
            <p:nvPr/>
          </p:nvSpPr>
          <p:spPr>
            <a:xfrm>
              <a:off x="10820400" y="6340474"/>
              <a:ext cx="352425" cy="0"/>
            </a:xfrm>
            <a:custGeom>
              <a:avLst/>
              <a:gdLst/>
              <a:ahLst/>
              <a:cxnLst/>
              <a:rect l="l" t="t" r="r" b="b"/>
              <a:pathLst>
                <a:path w="352425">
                  <a:moveTo>
                    <a:pt x="0" y="0"/>
                  </a:moveTo>
                  <a:lnTo>
                    <a:pt x="352425" y="1"/>
                  </a:lnTo>
                </a:path>
              </a:pathLst>
            </a:custGeom>
            <a:ln w="38100">
              <a:solidFill>
                <a:srgbClr val="C00000"/>
              </a:solidFill>
            </a:ln>
          </p:spPr>
          <p:txBody>
            <a:bodyPr wrap="square" lIns="0" tIns="0" rIns="0" bIns="0" rtlCol="0"/>
            <a:lstStyle/>
            <a:p>
              <a:endParaRPr/>
            </a:p>
          </p:txBody>
        </p:sp>
      </p:grpSp>
      <p:pic>
        <p:nvPicPr>
          <p:cNvPr id="10" name="Picture 9">
            <a:extLst>
              <a:ext uri="{FF2B5EF4-FFF2-40B4-BE49-F238E27FC236}">
                <a16:creationId xmlns:a16="http://schemas.microsoft.com/office/drawing/2014/main" id="{17133088-09C3-3421-32E8-CE90C8EDE38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6063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739204" y="6421628"/>
            <a:ext cx="180975" cy="208279"/>
          </a:xfrm>
          <a:prstGeom prst="rect">
            <a:avLst/>
          </a:prstGeom>
        </p:spPr>
        <p:txBody>
          <a:bodyPr vert="horz" wrap="square" lIns="0" tIns="12700" rIns="0" bIns="0" rtlCol="0">
            <a:spAutoFit/>
          </a:bodyPr>
          <a:lstStyle/>
          <a:p>
            <a:pPr marL="12700">
              <a:lnSpc>
                <a:spcPct val="100000"/>
              </a:lnSpc>
              <a:spcBef>
                <a:spcPts val="100"/>
              </a:spcBef>
            </a:pPr>
            <a:r>
              <a:rPr sz="1200" b="1" spc="-25" dirty="0">
                <a:solidFill>
                  <a:srgbClr val="898989"/>
                </a:solidFill>
                <a:latin typeface="Calibri"/>
                <a:cs typeface="Calibri"/>
              </a:rPr>
              <a:t>28</a:t>
            </a:r>
            <a:endParaRPr sz="1200">
              <a:latin typeface="Calibri"/>
              <a:cs typeface="Calibri"/>
            </a:endParaRPr>
          </a:p>
        </p:txBody>
      </p:sp>
      <p:pic>
        <p:nvPicPr>
          <p:cNvPr id="3" name="object 3"/>
          <p:cNvPicPr/>
          <p:nvPr/>
        </p:nvPicPr>
        <p:blipFill>
          <a:blip r:embed="rId3" cstate="print"/>
          <a:stretch>
            <a:fillRect/>
          </a:stretch>
        </p:blipFill>
        <p:spPr>
          <a:xfrm>
            <a:off x="246423" y="1791644"/>
            <a:ext cx="5354276" cy="3783261"/>
          </a:xfrm>
          <a:prstGeom prst="rect">
            <a:avLst/>
          </a:prstGeom>
        </p:spPr>
      </p:pic>
      <p:sp>
        <p:nvSpPr>
          <p:cNvPr id="4" name="object 4"/>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spc="85" dirty="0"/>
              <a:t>Gantt</a:t>
            </a:r>
            <a:r>
              <a:rPr spc="140" dirty="0"/>
              <a:t> </a:t>
            </a:r>
            <a:r>
              <a:rPr spc="100" dirty="0"/>
              <a:t>Chart</a:t>
            </a:r>
            <a:r>
              <a:rPr spc="130" dirty="0"/>
              <a:t> </a:t>
            </a:r>
            <a:r>
              <a:rPr sz="1950" spc="-10" dirty="0"/>
              <a:t>(2/2)</a:t>
            </a:r>
            <a:endParaRPr sz="1950"/>
          </a:p>
        </p:txBody>
      </p:sp>
      <p:sp>
        <p:nvSpPr>
          <p:cNvPr id="5" name="object 5"/>
          <p:cNvSpPr txBox="1"/>
          <p:nvPr/>
        </p:nvSpPr>
        <p:spPr>
          <a:xfrm>
            <a:off x="1068074" y="5719064"/>
            <a:ext cx="3408679" cy="868680"/>
          </a:xfrm>
          <a:prstGeom prst="rect">
            <a:avLst/>
          </a:prstGeom>
        </p:spPr>
        <p:txBody>
          <a:bodyPr vert="horz" wrap="square" lIns="0" tIns="99060" rIns="0" bIns="0" rtlCol="0">
            <a:spAutoFit/>
          </a:bodyPr>
          <a:lstStyle/>
          <a:p>
            <a:pPr marR="41910" algn="ctr">
              <a:lnSpc>
                <a:spcPct val="100000"/>
              </a:lnSpc>
              <a:spcBef>
                <a:spcPts val="780"/>
              </a:spcBef>
            </a:pPr>
            <a:r>
              <a:rPr sz="1800" dirty="0">
                <a:latin typeface="Calibri"/>
                <a:cs typeface="Calibri"/>
              </a:rPr>
              <a:t>Microsoft</a:t>
            </a:r>
            <a:r>
              <a:rPr sz="1800" spc="-85" dirty="0">
                <a:latin typeface="Calibri"/>
                <a:cs typeface="Calibri"/>
              </a:rPr>
              <a:t> </a:t>
            </a:r>
            <a:r>
              <a:rPr sz="1800" spc="-20" dirty="0">
                <a:latin typeface="Calibri"/>
                <a:cs typeface="Calibri"/>
              </a:rPr>
              <a:t>Excel</a:t>
            </a:r>
            <a:endParaRPr sz="1800">
              <a:latin typeface="Calibri"/>
              <a:cs typeface="Calibri"/>
            </a:endParaRPr>
          </a:p>
          <a:p>
            <a:pPr algn="ctr">
              <a:lnSpc>
                <a:spcPct val="100000"/>
              </a:lnSpc>
              <a:spcBef>
                <a:spcPts val="915"/>
              </a:spcBef>
            </a:pPr>
            <a:r>
              <a:rPr sz="2400" b="1" u="heavy" dirty="0">
                <a:solidFill>
                  <a:srgbClr val="C00000"/>
                </a:solidFill>
                <a:uFill>
                  <a:solidFill>
                    <a:srgbClr val="C00000"/>
                  </a:solidFill>
                </a:uFill>
                <a:latin typeface="Calibri"/>
                <a:cs typeface="Calibri"/>
              </a:rPr>
              <a:t>Not</a:t>
            </a:r>
            <a:r>
              <a:rPr sz="2400" b="1" u="heavy" spc="-40" dirty="0">
                <a:solidFill>
                  <a:srgbClr val="C00000"/>
                </a:solidFill>
                <a:uFill>
                  <a:solidFill>
                    <a:srgbClr val="C00000"/>
                  </a:solidFill>
                </a:uFill>
                <a:latin typeface="Calibri"/>
                <a:cs typeface="Calibri"/>
              </a:rPr>
              <a:t> </a:t>
            </a:r>
            <a:r>
              <a:rPr sz="2400" b="1" u="heavy" dirty="0">
                <a:solidFill>
                  <a:srgbClr val="C00000"/>
                </a:solidFill>
                <a:uFill>
                  <a:solidFill>
                    <a:srgbClr val="C00000"/>
                  </a:solidFill>
                </a:uFill>
                <a:latin typeface="Calibri"/>
                <a:cs typeface="Calibri"/>
              </a:rPr>
              <a:t>required</a:t>
            </a:r>
            <a:r>
              <a:rPr sz="2400" b="1" u="heavy" spc="-45" dirty="0">
                <a:solidFill>
                  <a:srgbClr val="C00000"/>
                </a:solidFill>
                <a:uFill>
                  <a:solidFill>
                    <a:srgbClr val="C00000"/>
                  </a:solidFill>
                </a:uFill>
                <a:latin typeface="Calibri"/>
                <a:cs typeface="Calibri"/>
              </a:rPr>
              <a:t> </a:t>
            </a:r>
            <a:r>
              <a:rPr sz="2400" b="1" u="heavy" dirty="0">
                <a:solidFill>
                  <a:srgbClr val="C00000"/>
                </a:solidFill>
                <a:uFill>
                  <a:solidFill>
                    <a:srgbClr val="C00000"/>
                  </a:solidFill>
                </a:uFill>
                <a:latin typeface="Calibri"/>
                <a:cs typeface="Calibri"/>
              </a:rPr>
              <a:t>in</a:t>
            </a:r>
            <a:r>
              <a:rPr sz="2400" b="1" u="heavy" spc="-50" dirty="0">
                <a:solidFill>
                  <a:srgbClr val="C00000"/>
                </a:solidFill>
                <a:uFill>
                  <a:solidFill>
                    <a:srgbClr val="C00000"/>
                  </a:solidFill>
                </a:uFill>
                <a:latin typeface="Calibri"/>
                <a:cs typeface="Calibri"/>
              </a:rPr>
              <a:t> </a:t>
            </a:r>
            <a:r>
              <a:rPr sz="2400" b="1" u="heavy" dirty="0">
                <a:solidFill>
                  <a:srgbClr val="C00000"/>
                </a:solidFill>
                <a:uFill>
                  <a:solidFill>
                    <a:srgbClr val="C00000"/>
                  </a:solidFill>
                </a:uFill>
                <a:latin typeface="Calibri"/>
                <a:cs typeface="Calibri"/>
              </a:rPr>
              <a:t>the</a:t>
            </a:r>
            <a:r>
              <a:rPr sz="2400" b="1" u="heavy" spc="-40" dirty="0">
                <a:solidFill>
                  <a:srgbClr val="C00000"/>
                </a:solidFill>
                <a:uFill>
                  <a:solidFill>
                    <a:srgbClr val="C00000"/>
                  </a:solidFill>
                </a:uFill>
                <a:latin typeface="Calibri"/>
                <a:cs typeface="Calibri"/>
              </a:rPr>
              <a:t> </a:t>
            </a:r>
            <a:r>
              <a:rPr sz="2400" b="1" u="heavy" spc="-10" dirty="0">
                <a:solidFill>
                  <a:srgbClr val="C00000"/>
                </a:solidFill>
                <a:uFill>
                  <a:solidFill>
                    <a:srgbClr val="C00000"/>
                  </a:solidFill>
                </a:uFill>
                <a:latin typeface="Calibri"/>
                <a:cs typeface="Calibri"/>
              </a:rPr>
              <a:t>project</a:t>
            </a:r>
            <a:endParaRPr sz="2400">
              <a:latin typeface="Calibri"/>
              <a:cs typeface="Calibri"/>
            </a:endParaRPr>
          </a:p>
        </p:txBody>
      </p:sp>
      <p:grpSp>
        <p:nvGrpSpPr>
          <p:cNvPr id="6" name="object 6"/>
          <p:cNvGrpSpPr/>
          <p:nvPr/>
        </p:nvGrpSpPr>
        <p:grpSpPr>
          <a:xfrm>
            <a:off x="5828629" y="1838321"/>
            <a:ext cx="6211570" cy="3719829"/>
            <a:chOff x="5828629" y="1838321"/>
            <a:chExt cx="6211570" cy="3719829"/>
          </a:xfrm>
        </p:grpSpPr>
        <p:pic>
          <p:nvPicPr>
            <p:cNvPr id="7" name="object 7"/>
            <p:cNvPicPr/>
            <p:nvPr/>
          </p:nvPicPr>
          <p:blipFill>
            <a:blip r:embed="rId4" cstate="print"/>
            <a:stretch>
              <a:fillRect/>
            </a:stretch>
          </p:blipFill>
          <p:spPr>
            <a:xfrm>
              <a:off x="5828629" y="1838321"/>
              <a:ext cx="6211409" cy="3719516"/>
            </a:xfrm>
            <a:prstGeom prst="rect">
              <a:avLst/>
            </a:prstGeom>
          </p:spPr>
        </p:pic>
        <p:sp>
          <p:nvSpPr>
            <p:cNvPr id="8" name="object 8"/>
            <p:cNvSpPr/>
            <p:nvPr/>
          </p:nvSpPr>
          <p:spPr>
            <a:xfrm>
              <a:off x="9472245" y="2234223"/>
              <a:ext cx="1066800" cy="127000"/>
            </a:xfrm>
            <a:custGeom>
              <a:avLst/>
              <a:gdLst/>
              <a:ahLst/>
              <a:cxnLst/>
              <a:rect l="l" t="t" r="r" b="b"/>
              <a:pathLst>
                <a:path w="1066800" h="127000">
                  <a:moveTo>
                    <a:pt x="88900" y="52387"/>
                  </a:moveTo>
                  <a:lnTo>
                    <a:pt x="0" y="52387"/>
                  </a:lnTo>
                  <a:lnTo>
                    <a:pt x="0" y="74612"/>
                  </a:lnTo>
                  <a:lnTo>
                    <a:pt x="88900" y="74612"/>
                  </a:lnTo>
                  <a:lnTo>
                    <a:pt x="88900" y="52387"/>
                  </a:lnTo>
                  <a:close/>
                </a:path>
                <a:path w="1066800" h="127000">
                  <a:moveTo>
                    <a:pt x="244475" y="52387"/>
                  </a:moveTo>
                  <a:lnTo>
                    <a:pt x="155575" y="52387"/>
                  </a:lnTo>
                  <a:lnTo>
                    <a:pt x="155575" y="74612"/>
                  </a:lnTo>
                  <a:lnTo>
                    <a:pt x="244475" y="74612"/>
                  </a:lnTo>
                  <a:lnTo>
                    <a:pt x="244475" y="52387"/>
                  </a:lnTo>
                  <a:close/>
                </a:path>
                <a:path w="1066800" h="127000">
                  <a:moveTo>
                    <a:pt x="400050" y="52387"/>
                  </a:moveTo>
                  <a:lnTo>
                    <a:pt x="311150" y="52387"/>
                  </a:lnTo>
                  <a:lnTo>
                    <a:pt x="311150" y="74612"/>
                  </a:lnTo>
                  <a:lnTo>
                    <a:pt x="400050" y="74612"/>
                  </a:lnTo>
                  <a:lnTo>
                    <a:pt x="400050" y="52387"/>
                  </a:lnTo>
                  <a:close/>
                </a:path>
                <a:path w="1066800" h="127000">
                  <a:moveTo>
                    <a:pt x="555625" y="52387"/>
                  </a:moveTo>
                  <a:lnTo>
                    <a:pt x="466725" y="52387"/>
                  </a:lnTo>
                  <a:lnTo>
                    <a:pt x="466725" y="74612"/>
                  </a:lnTo>
                  <a:lnTo>
                    <a:pt x="555625" y="74612"/>
                  </a:lnTo>
                  <a:lnTo>
                    <a:pt x="555625" y="52387"/>
                  </a:lnTo>
                  <a:close/>
                </a:path>
                <a:path w="1066800" h="127000">
                  <a:moveTo>
                    <a:pt x="711200" y="52387"/>
                  </a:moveTo>
                  <a:lnTo>
                    <a:pt x="622300" y="52387"/>
                  </a:lnTo>
                  <a:lnTo>
                    <a:pt x="622300" y="74612"/>
                  </a:lnTo>
                  <a:lnTo>
                    <a:pt x="711200" y="74612"/>
                  </a:lnTo>
                  <a:lnTo>
                    <a:pt x="711200" y="52387"/>
                  </a:lnTo>
                  <a:close/>
                </a:path>
                <a:path w="1066800" h="127000">
                  <a:moveTo>
                    <a:pt x="866775" y="52387"/>
                  </a:moveTo>
                  <a:lnTo>
                    <a:pt x="777875" y="52387"/>
                  </a:lnTo>
                  <a:lnTo>
                    <a:pt x="777875" y="74612"/>
                  </a:lnTo>
                  <a:lnTo>
                    <a:pt x="866775" y="74612"/>
                  </a:lnTo>
                  <a:lnTo>
                    <a:pt x="866775" y="52387"/>
                  </a:lnTo>
                  <a:close/>
                </a:path>
                <a:path w="1066800" h="127000">
                  <a:moveTo>
                    <a:pt x="990600" y="63500"/>
                  </a:moveTo>
                  <a:lnTo>
                    <a:pt x="939800" y="127000"/>
                  </a:lnTo>
                  <a:lnTo>
                    <a:pt x="1044575" y="74612"/>
                  </a:lnTo>
                  <a:lnTo>
                    <a:pt x="990600" y="74612"/>
                  </a:lnTo>
                  <a:lnTo>
                    <a:pt x="990600" y="63500"/>
                  </a:lnTo>
                  <a:close/>
                </a:path>
                <a:path w="1066800" h="127000">
                  <a:moveTo>
                    <a:pt x="981709" y="52387"/>
                  </a:moveTo>
                  <a:lnTo>
                    <a:pt x="933450" y="52387"/>
                  </a:lnTo>
                  <a:lnTo>
                    <a:pt x="933450" y="74612"/>
                  </a:lnTo>
                  <a:lnTo>
                    <a:pt x="981709" y="74612"/>
                  </a:lnTo>
                  <a:lnTo>
                    <a:pt x="990600" y="63500"/>
                  </a:lnTo>
                  <a:lnTo>
                    <a:pt x="981709" y="52387"/>
                  </a:lnTo>
                  <a:close/>
                </a:path>
                <a:path w="1066800" h="127000">
                  <a:moveTo>
                    <a:pt x="1044575" y="52387"/>
                  </a:moveTo>
                  <a:lnTo>
                    <a:pt x="990600" y="52387"/>
                  </a:lnTo>
                  <a:lnTo>
                    <a:pt x="990600" y="74612"/>
                  </a:lnTo>
                  <a:lnTo>
                    <a:pt x="1044575" y="74612"/>
                  </a:lnTo>
                  <a:lnTo>
                    <a:pt x="1066800" y="63500"/>
                  </a:lnTo>
                  <a:lnTo>
                    <a:pt x="1044575" y="52387"/>
                  </a:lnTo>
                  <a:close/>
                </a:path>
                <a:path w="1066800" h="127000">
                  <a:moveTo>
                    <a:pt x="939800" y="0"/>
                  </a:moveTo>
                  <a:lnTo>
                    <a:pt x="990600" y="63500"/>
                  </a:lnTo>
                  <a:lnTo>
                    <a:pt x="990600" y="52387"/>
                  </a:lnTo>
                  <a:lnTo>
                    <a:pt x="1044575" y="52387"/>
                  </a:lnTo>
                  <a:lnTo>
                    <a:pt x="939800" y="0"/>
                  </a:lnTo>
                  <a:close/>
                </a:path>
              </a:pathLst>
            </a:custGeom>
            <a:solidFill>
              <a:srgbClr val="4472C4"/>
            </a:solidFill>
          </p:spPr>
          <p:txBody>
            <a:bodyPr wrap="square" lIns="0" tIns="0" rIns="0" bIns="0" rtlCol="0"/>
            <a:lstStyle/>
            <a:p>
              <a:endParaRPr/>
            </a:p>
          </p:txBody>
        </p:sp>
      </p:grpSp>
      <p:sp>
        <p:nvSpPr>
          <p:cNvPr id="9" name="object 9"/>
          <p:cNvSpPr txBox="1"/>
          <p:nvPr/>
        </p:nvSpPr>
        <p:spPr>
          <a:xfrm>
            <a:off x="8674356" y="5754116"/>
            <a:ext cx="734060" cy="299720"/>
          </a:xfrm>
          <a:prstGeom prst="rect">
            <a:avLst/>
          </a:prstGeom>
        </p:spPr>
        <p:txBody>
          <a:bodyPr vert="horz" wrap="square" lIns="0" tIns="12700" rIns="0" bIns="0" rtlCol="0">
            <a:spAutoFit/>
          </a:bodyPr>
          <a:lstStyle/>
          <a:p>
            <a:pPr marL="12700">
              <a:lnSpc>
                <a:spcPct val="100000"/>
              </a:lnSpc>
              <a:spcBef>
                <a:spcPts val="100"/>
              </a:spcBef>
            </a:pPr>
            <a:r>
              <a:rPr sz="1800" spc="-10" dirty="0">
                <a:latin typeface="Calibri"/>
                <a:cs typeface="Calibri"/>
              </a:rPr>
              <a:t>Manual</a:t>
            </a:r>
            <a:endParaRPr sz="1800">
              <a:latin typeface="Calibri"/>
              <a:cs typeface="Calibri"/>
            </a:endParaRPr>
          </a:p>
        </p:txBody>
      </p:sp>
      <p:sp>
        <p:nvSpPr>
          <p:cNvPr id="10" name="object 10"/>
          <p:cNvSpPr txBox="1"/>
          <p:nvPr/>
        </p:nvSpPr>
        <p:spPr>
          <a:xfrm>
            <a:off x="7008428" y="6196076"/>
            <a:ext cx="4037329" cy="391160"/>
          </a:xfrm>
          <a:prstGeom prst="rect">
            <a:avLst/>
          </a:prstGeom>
        </p:spPr>
        <p:txBody>
          <a:bodyPr vert="horz" wrap="square" lIns="0" tIns="12700" rIns="0" bIns="0" rtlCol="0">
            <a:spAutoFit/>
          </a:bodyPr>
          <a:lstStyle/>
          <a:p>
            <a:pPr marL="12700">
              <a:lnSpc>
                <a:spcPct val="100000"/>
              </a:lnSpc>
              <a:spcBef>
                <a:spcPts val="100"/>
              </a:spcBef>
            </a:pPr>
            <a:r>
              <a:rPr sz="2400" b="1" u="heavy" dirty="0">
                <a:solidFill>
                  <a:srgbClr val="C00000"/>
                </a:solidFill>
                <a:uFill>
                  <a:solidFill>
                    <a:srgbClr val="C00000"/>
                  </a:solidFill>
                </a:uFill>
                <a:latin typeface="Calibri"/>
                <a:cs typeface="Calibri"/>
              </a:rPr>
              <a:t>On</a:t>
            </a:r>
            <a:r>
              <a:rPr sz="2400" b="1" u="heavy" spc="-40" dirty="0">
                <a:solidFill>
                  <a:srgbClr val="C00000"/>
                </a:solidFill>
                <a:uFill>
                  <a:solidFill>
                    <a:srgbClr val="C00000"/>
                  </a:solidFill>
                </a:uFill>
                <a:latin typeface="Calibri"/>
                <a:cs typeface="Calibri"/>
              </a:rPr>
              <a:t> </a:t>
            </a:r>
            <a:r>
              <a:rPr sz="2400" b="1" u="heavy" dirty="0">
                <a:solidFill>
                  <a:srgbClr val="C00000"/>
                </a:solidFill>
                <a:uFill>
                  <a:solidFill>
                    <a:srgbClr val="C00000"/>
                  </a:solidFill>
                </a:uFill>
                <a:latin typeface="Calibri"/>
                <a:cs typeface="Calibri"/>
              </a:rPr>
              <a:t>the</a:t>
            </a:r>
            <a:r>
              <a:rPr sz="2400" b="1" u="heavy" spc="-35" dirty="0">
                <a:solidFill>
                  <a:srgbClr val="C00000"/>
                </a:solidFill>
                <a:uFill>
                  <a:solidFill>
                    <a:srgbClr val="C00000"/>
                  </a:solidFill>
                </a:uFill>
                <a:latin typeface="Calibri"/>
                <a:cs typeface="Calibri"/>
              </a:rPr>
              <a:t> </a:t>
            </a:r>
            <a:r>
              <a:rPr sz="2400" b="1" u="heavy" dirty="0">
                <a:solidFill>
                  <a:srgbClr val="C00000"/>
                </a:solidFill>
                <a:uFill>
                  <a:solidFill>
                    <a:srgbClr val="C00000"/>
                  </a:solidFill>
                </a:uFill>
                <a:latin typeface="Calibri"/>
                <a:cs typeface="Calibri"/>
              </a:rPr>
              <a:t>graph</a:t>
            </a:r>
            <a:r>
              <a:rPr sz="2400" b="1" u="heavy" spc="-40" dirty="0">
                <a:solidFill>
                  <a:srgbClr val="C00000"/>
                </a:solidFill>
                <a:uFill>
                  <a:solidFill>
                    <a:srgbClr val="C00000"/>
                  </a:solidFill>
                </a:uFill>
                <a:latin typeface="Calibri"/>
                <a:cs typeface="Calibri"/>
              </a:rPr>
              <a:t> </a:t>
            </a:r>
            <a:r>
              <a:rPr sz="2400" b="1" u="heavy" dirty="0">
                <a:solidFill>
                  <a:srgbClr val="C00000"/>
                </a:solidFill>
                <a:uFill>
                  <a:solidFill>
                    <a:srgbClr val="C00000"/>
                  </a:solidFill>
                </a:uFill>
                <a:latin typeface="Calibri"/>
                <a:cs typeface="Calibri"/>
              </a:rPr>
              <a:t>paper</a:t>
            </a:r>
            <a:r>
              <a:rPr sz="2400" b="1" u="heavy" spc="-40" dirty="0">
                <a:solidFill>
                  <a:srgbClr val="C00000"/>
                </a:solidFill>
                <a:uFill>
                  <a:solidFill>
                    <a:srgbClr val="C00000"/>
                  </a:solidFill>
                </a:uFill>
                <a:latin typeface="Calibri"/>
                <a:cs typeface="Calibri"/>
              </a:rPr>
              <a:t> </a:t>
            </a:r>
            <a:r>
              <a:rPr sz="2400" b="1" u="heavy" dirty="0">
                <a:solidFill>
                  <a:srgbClr val="C00000"/>
                </a:solidFill>
                <a:uFill>
                  <a:solidFill>
                    <a:srgbClr val="C00000"/>
                  </a:solidFill>
                </a:uFill>
                <a:latin typeface="Calibri"/>
                <a:cs typeface="Calibri"/>
              </a:rPr>
              <a:t>in</a:t>
            </a:r>
            <a:r>
              <a:rPr sz="2400" b="1" u="heavy" spc="-40" dirty="0">
                <a:solidFill>
                  <a:srgbClr val="C00000"/>
                </a:solidFill>
                <a:uFill>
                  <a:solidFill>
                    <a:srgbClr val="C00000"/>
                  </a:solidFill>
                </a:uFill>
                <a:latin typeface="Calibri"/>
                <a:cs typeface="Calibri"/>
              </a:rPr>
              <a:t> </a:t>
            </a:r>
            <a:r>
              <a:rPr sz="2400" b="1" u="heavy" dirty="0">
                <a:solidFill>
                  <a:srgbClr val="C00000"/>
                </a:solidFill>
                <a:uFill>
                  <a:solidFill>
                    <a:srgbClr val="C00000"/>
                  </a:solidFill>
                </a:uFill>
                <a:latin typeface="Calibri"/>
                <a:cs typeface="Calibri"/>
              </a:rPr>
              <a:t>the</a:t>
            </a:r>
            <a:r>
              <a:rPr sz="2400" b="1" u="heavy" spc="-35" dirty="0">
                <a:solidFill>
                  <a:srgbClr val="C00000"/>
                </a:solidFill>
                <a:uFill>
                  <a:solidFill>
                    <a:srgbClr val="C00000"/>
                  </a:solidFill>
                </a:uFill>
                <a:latin typeface="Calibri"/>
                <a:cs typeface="Calibri"/>
              </a:rPr>
              <a:t> </a:t>
            </a:r>
            <a:r>
              <a:rPr sz="2400" b="1" u="heavy" spc="-20" dirty="0">
                <a:solidFill>
                  <a:srgbClr val="C00000"/>
                </a:solidFill>
                <a:uFill>
                  <a:solidFill>
                    <a:srgbClr val="C00000"/>
                  </a:solidFill>
                </a:uFill>
                <a:latin typeface="Calibri"/>
                <a:cs typeface="Calibri"/>
              </a:rPr>
              <a:t>exam</a:t>
            </a:r>
            <a:endParaRPr sz="2400">
              <a:latin typeface="Calibri"/>
              <a:cs typeface="Calibri"/>
            </a:endParaRPr>
          </a:p>
        </p:txBody>
      </p:sp>
      <p:sp>
        <p:nvSpPr>
          <p:cNvPr id="11" name="object 11"/>
          <p:cNvSpPr txBox="1"/>
          <p:nvPr/>
        </p:nvSpPr>
        <p:spPr>
          <a:xfrm>
            <a:off x="10576748" y="2133091"/>
            <a:ext cx="493395" cy="299720"/>
          </a:xfrm>
          <a:prstGeom prst="rect">
            <a:avLst/>
          </a:prstGeom>
        </p:spPr>
        <p:txBody>
          <a:bodyPr vert="horz" wrap="square" lIns="0" tIns="12700" rIns="0" bIns="0" rtlCol="0">
            <a:spAutoFit/>
          </a:bodyPr>
          <a:lstStyle/>
          <a:p>
            <a:pPr marL="12700">
              <a:lnSpc>
                <a:spcPct val="100000"/>
              </a:lnSpc>
              <a:spcBef>
                <a:spcPts val="100"/>
              </a:spcBef>
            </a:pPr>
            <a:r>
              <a:rPr sz="1800" spc="-10" dirty="0">
                <a:solidFill>
                  <a:srgbClr val="262EA4"/>
                </a:solidFill>
                <a:latin typeface="Calibri"/>
                <a:cs typeface="Calibri"/>
              </a:rPr>
              <a:t>Slack</a:t>
            </a:r>
            <a:endParaRPr sz="1800">
              <a:latin typeface="Calibri"/>
              <a:cs typeface="Calibri"/>
            </a:endParaRPr>
          </a:p>
        </p:txBody>
      </p:sp>
      <p:grpSp>
        <p:nvGrpSpPr>
          <p:cNvPr id="12" name="object 12"/>
          <p:cNvGrpSpPr/>
          <p:nvPr/>
        </p:nvGrpSpPr>
        <p:grpSpPr>
          <a:xfrm>
            <a:off x="5713581" y="2874256"/>
            <a:ext cx="5467985" cy="2389505"/>
            <a:chOff x="5713581" y="2874256"/>
            <a:chExt cx="5467985" cy="2389505"/>
          </a:xfrm>
        </p:grpSpPr>
        <p:pic>
          <p:nvPicPr>
            <p:cNvPr id="13" name="object 13"/>
            <p:cNvPicPr/>
            <p:nvPr/>
          </p:nvPicPr>
          <p:blipFill>
            <a:blip r:embed="rId5" cstate="print"/>
            <a:stretch>
              <a:fillRect/>
            </a:stretch>
          </p:blipFill>
          <p:spPr>
            <a:xfrm>
              <a:off x="9550280" y="3212123"/>
              <a:ext cx="76200" cy="216876"/>
            </a:xfrm>
            <a:prstGeom prst="rect">
              <a:avLst/>
            </a:prstGeom>
          </p:spPr>
        </p:pic>
        <p:sp>
          <p:nvSpPr>
            <p:cNvPr id="14" name="object 14"/>
            <p:cNvSpPr/>
            <p:nvPr/>
          </p:nvSpPr>
          <p:spPr>
            <a:xfrm>
              <a:off x="9608896" y="3212134"/>
              <a:ext cx="1572895" cy="1688464"/>
            </a:xfrm>
            <a:custGeom>
              <a:avLst/>
              <a:gdLst/>
              <a:ahLst/>
              <a:cxnLst/>
              <a:rect l="l" t="t" r="r" b="b"/>
              <a:pathLst>
                <a:path w="1572895" h="1688464">
                  <a:moveTo>
                    <a:pt x="76200" y="394944"/>
                  </a:moveTo>
                  <a:lnTo>
                    <a:pt x="44450" y="394944"/>
                  </a:lnTo>
                  <a:lnTo>
                    <a:pt x="44450" y="0"/>
                  </a:lnTo>
                  <a:lnTo>
                    <a:pt x="31750" y="0"/>
                  </a:lnTo>
                  <a:lnTo>
                    <a:pt x="31750" y="394944"/>
                  </a:lnTo>
                  <a:lnTo>
                    <a:pt x="0" y="394944"/>
                  </a:lnTo>
                  <a:lnTo>
                    <a:pt x="38100" y="471144"/>
                  </a:lnTo>
                  <a:lnTo>
                    <a:pt x="69850" y="407644"/>
                  </a:lnTo>
                  <a:lnTo>
                    <a:pt x="76200" y="394944"/>
                  </a:lnTo>
                  <a:close/>
                </a:path>
                <a:path w="1572895" h="1688464">
                  <a:moveTo>
                    <a:pt x="533400" y="887310"/>
                  </a:moveTo>
                  <a:lnTo>
                    <a:pt x="501637" y="887310"/>
                  </a:lnTo>
                  <a:lnTo>
                    <a:pt x="501637" y="492366"/>
                  </a:lnTo>
                  <a:lnTo>
                    <a:pt x="488937" y="492366"/>
                  </a:lnTo>
                  <a:lnTo>
                    <a:pt x="488937" y="887310"/>
                  </a:lnTo>
                  <a:lnTo>
                    <a:pt x="457200" y="887310"/>
                  </a:lnTo>
                  <a:lnTo>
                    <a:pt x="495300" y="963510"/>
                  </a:lnTo>
                  <a:lnTo>
                    <a:pt x="527050" y="900010"/>
                  </a:lnTo>
                  <a:lnTo>
                    <a:pt x="533400" y="887310"/>
                  </a:lnTo>
                  <a:close/>
                </a:path>
                <a:path w="1572895" h="1688464">
                  <a:moveTo>
                    <a:pt x="814743" y="1365732"/>
                  </a:moveTo>
                  <a:lnTo>
                    <a:pt x="782993" y="1365732"/>
                  </a:lnTo>
                  <a:lnTo>
                    <a:pt x="782993" y="252044"/>
                  </a:lnTo>
                  <a:lnTo>
                    <a:pt x="770293" y="252044"/>
                  </a:lnTo>
                  <a:lnTo>
                    <a:pt x="770293" y="623544"/>
                  </a:lnTo>
                  <a:lnTo>
                    <a:pt x="747826" y="623544"/>
                  </a:lnTo>
                  <a:lnTo>
                    <a:pt x="747826" y="228600"/>
                  </a:lnTo>
                  <a:lnTo>
                    <a:pt x="735126" y="228600"/>
                  </a:lnTo>
                  <a:lnTo>
                    <a:pt x="735126" y="623544"/>
                  </a:lnTo>
                  <a:lnTo>
                    <a:pt x="703376" y="623544"/>
                  </a:lnTo>
                  <a:lnTo>
                    <a:pt x="741476" y="699744"/>
                  </a:lnTo>
                  <a:lnTo>
                    <a:pt x="770293" y="642112"/>
                  </a:lnTo>
                  <a:lnTo>
                    <a:pt x="770293" y="1365732"/>
                  </a:lnTo>
                  <a:lnTo>
                    <a:pt x="738543" y="1365732"/>
                  </a:lnTo>
                  <a:lnTo>
                    <a:pt x="776643" y="1441932"/>
                  </a:lnTo>
                  <a:lnTo>
                    <a:pt x="808393" y="1378432"/>
                  </a:lnTo>
                  <a:lnTo>
                    <a:pt x="814743" y="1365732"/>
                  </a:lnTo>
                  <a:close/>
                </a:path>
                <a:path w="1572895" h="1688464">
                  <a:moveTo>
                    <a:pt x="1572564" y="1122883"/>
                  </a:moveTo>
                  <a:lnTo>
                    <a:pt x="1540814" y="1122883"/>
                  </a:lnTo>
                  <a:lnTo>
                    <a:pt x="1540814" y="727938"/>
                  </a:lnTo>
                  <a:lnTo>
                    <a:pt x="1528114" y="727938"/>
                  </a:lnTo>
                  <a:lnTo>
                    <a:pt x="1528114" y="1122883"/>
                  </a:lnTo>
                  <a:lnTo>
                    <a:pt x="1510665" y="1122883"/>
                  </a:lnTo>
                  <a:lnTo>
                    <a:pt x="1510665" y="727938"/>
                  </a:lnTo>
                  <a:lnTo>
                    <a:pt x="1497965" y="727938"/>
                  </a:lnTo>
                  <a:lnTo>
                    <a:pt x="1497965" y="1122883"/>
                  </a:lnTo>
                  <a:lnTo>
                    <a:pt x="1496364" y="1122883"/>
                  </a:lnTo>
                  <a:lnTo>
                    <a:pt x="1497965" y="1126083"/>
                  </a:lnTo>
                  <a:lnTo>
                    <a:pt x="1497965" y="1611922"/>
                  </a:lnTo>
                  <a:lnTo>
                    <a:pt x="1466215" y="1611922"/>
                  </a:lnTo>
                  <a:lnTo>
                    <a:pt x="1504315" y="1688122"/>
                  </a:lnTo>
                  <a:lnTo>
                    <a:pt x="1536065" y="1624622"/>
                  </a:lnTo>
                  <a:lnTo>
                    <a:pt x="1542415" y="1611922"/>
                  </a:lnTo>
                  <a:lnTo>
                    <a:pt x="1510665" y="1611922"/>
                  </a:lnTo>
                  <a:lnTo>
                    <a:pt x="1510665" y="1151483"/>
                  </a:lnTo>
                  <a:lnTo>
                    <a:pt x="1534464" y="1199083"/>
                  </a:lnTo>
                  <a:lnTo>
                    <a:pt x="1566214" y="1135583"/>
                  </a:lnTo>
                  <a:lnTo>
                    <a:pt x="1572564" y="1122883"/>
                  </a:lnTo>
                  <a:close/>
                </a:path>
              </a:pathLst>
            </a:custGeom>
            <a:solidFill>
              <a:srgbClr val="4472C4"/>
            </a:solidFill>
          </p:spPr>
          <p:txBody>
            <a:bodyPr wrap="square" lIns="0" tIns="0" rIns="0" bIns="0" rtlCol="0"/>
            <a:lstStyle/>
            <a:p>
              <a:endParaRPr/>
            </a:p>
          </p:txBody>
        </p:sp>
        <p:pic>
          <p:nvPicPr>
            <p:cNvPr id="15" name="object 15"/>
            <p:cNvPicPr/>
            <p:nvPr/>
          </p:nvPicPr>
          <p:blipFill>
            <a:blip r:embed="rId6" cstate="print"/>
            <a:stretch>
              <a:fillRect/>
            </a:stretch>
          </p:blipFill>
          <p:spPr>
            <a:xfrm>
              <a:off x="11050835" y="4654062"/>
              <a:ext cx="76200" cy="235573"/>
            </a:xfrm>
            <a:prstGeom prst="rect">
              <a:avLst/>
            </a:prstGeom>
          </p:spPr>
        </p:pic>
        <p:sp>
          <p:nvSpPr>
            <p:cNvPr id="16" name="object 16"/>
            <p:cNvSpPr/>
            <p:nvPr/>
          </p:nvSpPr>
          <p:spPr>
            <a:xfrm>
              <a:off x="10628590" y="4665784"/>
              <a:ext cx="460375" cy="0"/>
            </a:xfrm>
            <a:custGeom>
              <a:avLst/>
              <a:gdLst/>
              <a:ahLst/>
              <a:cxnLst/>
              <a:rect l="l" t="t" r="r" b="b"/>
              <a:pathLst>
                <a:path w="460375">
                  <a:moveTo>
                    <a:pt x="0" y="0"/>
                  </a:moveTo>
                  <a:lnTo>
                    <a:pt x="460344" y="1"/>
                  </a:lnTo>
                </a:path>
              </a:pathLst>
            </a:custGeom>
            <a:ln w="12700">
              <a:solidFill>
                <a:srgbClr val="4472C4"/>
              </a:solidFill>
            </a:ln>
          </p:spPr>
          <p:txBody>
            <a:bodyPr wrap="square" lIns="0" tIns="0" rIns="0" bIns="0" rtlCol="0"/>
            <a:lstStyle/>
            <a:p>
              <a:endParaRPr/>
            </a:p>
          </p:txBody>
        </p:sp>
        <p:pic>
          <p:nvPicPr>
            <p:cNvPr id="17" name="object 17"/>
            <p:cNvPicPr/>
            <p:nvPr/>
          </p:nvPicPr>
          <p:blipFill>
            <a:blip r:embed="rId7" cstate="print"/>
            <a:stretch>
              <a:fillRect/>
            </a:stretch>
          </p:blipFill>
          <p:spPr>
            <a:xfrm>
              <a:off x="10034957" y="5046781"/>
              <a:ext cx="562714" cy="216876"/>
            </a:xfrm>
            <a:prstGeom prst="rect">
              <a:avLst/>
            </a:prstGeom>
          </p:spPr>
        </p:pic>
        <p:pic>
          <p:nvPicPr>
            <p:cNvPr id="18" name="object 18"/>
            <p:cNvPicPr/>
            <p:nvPr/>
          </p:nvPicPr>
          <p:blipFill>
            <a:blip r:embed="rId8" cstate="print"/>
            <a:stretch>
              <a:fillRect/>
            </a:stretch>
          </p:blipFill>
          <p:spPr>
            <a:xfrm>
              <a:off x="8733264" y="5045669"/>
              <a:ext cx="328673" cy="216876"/>
            </a:xfrm>
            <a:prstGeom prst="rect">
              <a:avLst/>
            </a:prstGeom>
          </p:spPr>
        </p:pic>
        <p:pic>
          <p:nvPicPr>
            <p:cNvPr id="19" name="object 19"/>
            <p:cNvPicPr/>
            <p:nvPr/>
          </p:nvPicPr>
          <p:blipFill>
            <a:blip r:embed="rId9" cstate="print"/>
            <a:stretch>
              <a:fillRect/>
            </a:stretch>
          </p:blipFill>
          <p:spPr>
            <a:xfrm>
              <a:off x="5713581" y="3352096"/>
              <a:ext cx="2982309" cy="216876"/>
            </a:xfrm>
            <a:prstGeom prst="rect">
              <a:avLst/>
            </a:prstGeom>
          </p:spPr>
        </p:pic>
        <p:pic>
          <p:nvPicPr>
            <p:cNvPr id="20" name="object 20"/>
            <p:cNvPicPr/>
            <p:nvPr/>
          </p:nvPicPr>
          <p:blipFill>
            <a:blip r:embed="rId10" cstate="print"/>
            <a:stretch>
              <a:fillRect/>
            </a:stretch>
          </p:blipFill>
          <p:spPr>
            <a:xfrm>
              <a:off x="7038975" y="3196734"/>
              <a:ext cx="158403" cy="111615"/>
            </a:xfrm>
            <a:prstGeom prst="rect">
              <a:avLst/>
            </a:prstGeom>
          </p:spPr>
        </p:pic>
        <p:sp>
          <p:nvSpPr>
            <p:cNvPr id="21" name="object 21"/>
            <p:cNvSpPr/>
            <p:nvPr/>
          </p:nvSpPr>
          <p:spPr>
            <a:xfrm>
              <a:off x="6965950" y="3273424"/>
              <a:ext cx="44450" cy="0"/>
            </a:xfrm>
            <a:custGeom>
              <a:avLst/>
              <a:gdLst/>
              <a:ahLst/>
              <a:cxnLst/>
              <a:rect l="l" t="t" r="r" b="b"/>
              <a:pathLst>
                <a:path w="44450">
                  <a:moveTo>
                    <a:pt x="44450" y="0"/>
                  </a:moveTo>
                  <a:lnTo>
                    <a:pt x="0" y="1"/>
                  </a:lnTo>
                </a:path>
              </a:pathLst>
            </a:custGeom>
            <a:ln w="12700">
              <a:solidFill>
                <a:srgbClr val="7F7F7F"/>
              </a:solidFill>
            </a:ln>
          </p:spPr>
          <p:txBody>
            <a:bodyPr wrap="square" lIns="0" tIns="0" rIns="0" bIns="0" rtlCol="0"/>
            <a:lstStyle/>
            <a:p>
              <a:endParaRPr/>
            </a:p>
          </p:txBody>
        </p:sp>
        <p:pic>
          <p:nvPicPr>
            <p:cNvPr id="22" name="object 22"/>
            <p:cNvPicPr/>
            <p:nvPr/>
          </p:nvPicPr>
          <p:blipFill>
            <a:blip r:embed="rId11" cstate="print"/>
            <a:stretch>
              <a:fillRect/>
            </a:stretch>
          </p:blipFill>
          <p:spPr>
            <a:xfrm>
              <a:off x="11050835" y="4175640"/>
              <a:ext cx="76200" cy="235576"/>
            </a:xfrm>
            <a:prstGeom prst="rect">
              <a:avLst/>
            </a:prstGeom>
          </p:spPr>
        </p:pic>
        <p:pic>
          <p:nvPicPr>
            <p:cNvPr id="23" name="object 23"/>
            <p:cNvPicPr/>
            <p:nvPr/>
          </p:nvPicPr>
          <p:blipFill>
            <a:blip r:embed="rId12" cstate="print"/>
            <a:stretch>
              <a:fillRect/>
            </a:stretch>
          </p:blipFill>
          <p:spPr>
            <a:xfrm>
              <a:off x="7038975" y="2874256"/>
              <a:ext cx="120650" cy="111615"/>
            </a:xfrm>
            <a:prstGeom prst="rect">
              <a:avLst/>
            </a:prstGeom>
          </p:spPr>
        </p:pic>
        <p:sp>
          <p:nvSpPr>
            <p:cNvPr id="24" name="object 24"/>
            <p:cNvSpPr/>
            <p:nvPr/>
          </p:nvSpPr>
          <p:spPr>
            <a:xfrm>
              <a:off x="6959600" y="2949574"/>
              <a:ext cx="44450" cy="0"/>
            </a:xfrm>
            <a:custGeom>
              <a:avLst/>
              <a:gdLst/>
              <a:ahLst/>
              <a:cxnLst/>
              <a:rect l="l" t="t" r="r" b="b"/>
              <a:pathLst>
                <a:path w="44450">
                  <a:moveTo>
                    <a:pt x="44450" y="0"/>
                  </a:moveTo>
                  <a:lnTo>
                    <a:pt x="0" y="1"/>
                  </a:lnTo>
                </a:path>
              </a:pathLst>
            </a:custGeom>
            <a:ln w="12700">
              <a:solidFill>
                <a:srgbClr val="7F7F7F"/>
              </a:solidFill>
            </a:ln>
          </p:spPr>
          <p:txBody>
            <a:bodyPr wrap="square" lIns="0" tIns="0" rIns="0" bIns="0" rtlCol="0"/>
            <a:lstStyle/>
            <a:p>
              <a:endParaRPr/>
            </a:p>
          </p:txBody>
        </p:sp>
      </p:grpSp>
      <p:pic>
        <p:nvPicPr>
          <p:cNvPr id="25" name="Picture 24">
            <a:extLst>
              <a:ext uri="{FF2B5EF4-FFF2-40B4-BE49-F238E27FC236}">
                <a16:creationId xmlns:a16="http://schemas.microsoft.com/office/drawing/2014/main" id="{05A8FE8B-366F-1F34-2073-461D0280BC94}"/>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1016063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2867</TotalTime>
  <Words>6483</Words>
  <Application>Microsoft Office PowerPoint</Application>
  <PresentationFormat>Widescreen</PresentationFormat>
  <Paragraphs>436</Paragraphs>
  <Slides>38</Slides>
  <Notes>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38</vt:i4>
      </vt:variant>
    </vt:vector>
  </HeadingPairs>
  <TitlesOfParts>
    <vt:vector size="46" baseType="lpstr">
      <vt:lpstr>Arial</vt:lpstr>
      <vt:lpstr>Arial MT</vt:lpstr>
      <vt:lpstr>Calibri</vt:lpstr>
      <vt:lpstr>Calibri Light</vt:lpstr>
      <vt:lpstr>Georgia</vt:lpstr>
      <vt:lpstr>Roboto</vt:lpstr>
      <vt:lpstr>Trebuchet MS</vt:lpstr>
      <vt:lpstr>Office Theme</vt:lpstr>
      <vt:lpstr>Developing a Project Plan</vt:lpstr>
      <vt:lpstr>Developing the Project Network</vt:lpstr>
      <vt:lpstr>Importance of the Project Network</vt:lpstr>
      <vt:lpstr>From Work Package to Network</vt:lpstr>
      <vt:lpstr>From Work Package to Network</vt:lpstr>
      <vt:lpstr>From Work Package to Network (1/2)</vt:lpstr>
      <vt:lpstr>Key Elements of a Network Diagram </vt:lpstr>
      <vt:lpstr>PowerPoint Presentation</vt:lpstr>
      <vt:lpstr>Constructing a Project Network</vt:lpstr>
      <vt:lpstr>From Work Package to Network (2/2)</vt:lpstr>
      <vt:lpstr>Basic Rules to Follow in Developing Project Networks</vt:lpstr>
      <vt:lpstr>Activity-on-Node (AON) Fundamentals (1/2)</vt:lpstr>
      <vt:lpstr>Activity-on-Node (AON) Fundamentals (2/2)</vt:lpstr>
      <vt:lpstr>Example 1</vt:lpstr>
      <vt:lpstr>Solution 1</vt:lpstr>
      <vt:lpstr>Example 2</vt:lpstr>
      <vt:lpstr>Example 3</vt:lpstr>
      <vt:lpstr>Solution 3</vt:lpstr>
      <vt:lpstr>PowerPoint Presentation</vt:lpstr>
      <vt:lpstr>Network Computation Process (1/2)</vt:lpstr>
      <vt:lpstr>Network Computation Process (2/2)</vt:lpstr>
      <vt:lpstr>Key Differences Between Forward Pass and Backward Pass  </vt:lpstr>
      <vt:lpstr>Forward Pass—Earliest Times (1/3)</vt:lpstr>
      <vt:lpstr>Forward Pass—Earliest Times (2/3)</vt:lpstr>
      <vt:lpstr>Forward Pass—Earliest Times (3/3)</vt:lpstr>
      <vt:lpstr>Example Project 2 </vt:lpstr>
      <vt:lpstr>PowerPoint Presentation</vt:lpstr>
      <vt:lpstr>Backward Pass—Latest Times (1/2)</vt:lpstr>
      <vt:lpstr>Backward Pass—Latest Times (2/2)</vt:lpstr>
      <vt:lpstr>Example Project 2</vt:lpstr>
      <vt:lpstr>Determining Slack (SL) (1/2)</vt:lpstr>
      <vt:lpstr>Determining Slack (SL) (2/2)</vt:lpstr>
      <vt:lpstr>Example Project 2</vt:lpstr>
      <vt:lpstr>Practical Considerations (1/3)</vt:lpstr>
      <vt:lpstr>Practical Considerations (2/3)</vt:lpstr>
      <vt:lpstr>Practical Considerations (3/3)</vt:lpstr>
      <vt:lpstr>Gantt Chart (1/2)</vt:lpstr>
      <vt:lpstr>Gantt Chart (2/2)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Developing a Project Plan</dc:title>
  <dc:creator>BASHA</dc:creator>
  <cp:lastModifiedBy>Zahraa.Ismail</cp:lastModifiedBy>
  <cp:revision>65</cp:revision>
  <dcterms:created xsi:type="dcterms:W3CDTF">2025-07-31T07:56:27Z</dcterms:created>
  <dcterms:modified xsi:type="dcterms:W3CDTF">2025-10-30T10:25:56Z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2024-03-25T00:00:00Z</vt:filetime>
  </property>
  <property fmtid="{D5CDD505-2E9C-101B-9397-08002B2CF9AE}" pid="3" name="LastSaved">
    <vt:filetime>2025-07-31T00:00:00Z</vt:filetime>
  </property>
  <property fmtid="{D5CDD505-2E9C-101B-9397-08002B2CF9AE}" pid="4" name="Producer">
    <vt:lpwstr>macOS Version 12.2.1 (Build 21D62) Quartz PDFContext</vt:lpwstr>
  </property>
</Properties>
</file>