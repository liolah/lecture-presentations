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554" autoAdjust="0"/>
  </p:normalViewPr>
  <p:slideViewPr>
    <p:cSldViewPr>
      <p:cViewPr varScale="1">
        <p:scale>
          <a:sx n="67" d="100"/>
          <a:sy n="67" d="100"/>
        </p:scale>
        <p:origin x="1428"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68F9237-4312-4DDC-B369-349599C152F6}" type="datetimeFigureOut">
              <a:rPr lang="en-US" smtClean="0"/>
              <a:t>11/26/2025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8BCB89C-0F5E-41A1-9488-7892CB1C5C79}" type="slidenum">
              <a:rPr lang="en-US" smtClean="0"/>
              <a:t>‹#›</a:t>
            </a:fld>
            <a:endParaRPr lang="en-US"/>
          </a:p>
        </p:txBody>
      </p:sp>
    </p:spTree>
    <p:extLst>
      <p:ext uri="{BB962C8B-B14F-4D97-AF65-F5344CB8AC3E}">
        <p14:creationId xmlns:p14="http://schemas.microsoft.com/office/powerpoint/2010/main" val="812941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الإدارة تتعلق بالتعامل مع التعقيد، بينما القيادة تتعلق بالتعامل مع التغيير.</a:t>
            </a:r>
            <a:br>
              <a:rPr lang="ar-EG" dirty="0"/>
            </a:br>
            <a:br>
              <a:rPr lang="ar-EG" dirty="0"/>
            </a:br>
            <a:r>
              <a:rPr lang="ar-EG" sz="1200" b="0" i="0" kern="1200" dirty="0">
                <a:solidFill>
                  <a:schemeClr val="tx1"/>
                </a:solidFill>
                <a:effectLst/>
                <a:latin typeface="+mn-lt"/>
                <a:ea typeface="+mn-ea"/>
                <a:cs typeface="+mn-cs"/>
              </a:rPr>
              <a:t>على سبيل المثال، ستحتاج مشروع لتطوير البرمجيات إلى قيادة قوية، حيث أن المعايير تتغير دائمًا لمواكبة التطورات في الصناعة.</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2</a:t>
            </a:fld>
            <a:endParaRPr lang="en-US"/>
          </a:p>
        </p:txBody>
      </p:sp>
    </p:spTree>
    <p:extLst>
      <p:ext uri="{BB962C8B-B14F-4D97-AF65-F5344CB8AC3E}">
        <p14:creationId xmlns:p14="http://schemas.microsoft.com/office/powerpoint/2010/main" val="194925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نجاح المشروع  يتطلب تعاون مجموعة واسعة من الأفراد، العديد منهم لا يقدمون تقاريرهم مباشرة لهم.</a:t>
            </a:r>
            <a:br>
              <a:rPr lang="ar-EG" dirty="0"/>
            </a:br>
            <a:br>
              <a:rPr lang="ar-EG" dirty="0"/>
            </a:br>
            <a:r>
              <a:rPr lang="ar-EG" sz="1200" b="0" i="0" kern="1200" dirty="0">
                <a:solidFill>
                  <a:schemeClr val="tx1"/>
                </a:solidFill>
                <a:effectLst/>
                <a:latin typeface="+mn-lt"/>
                <a:ea typeface="+mn-ea"/>
                <a:cs typeface="+mn-cs"/>
              </a:rPr>
              <a:t>في كثير من الأحيان، عندما يجد مديرو المشاريع الجدد الوقت للعمل مباشرة على المشروع، يتبنون أسلوب "الإدارة الدقيقة".</a:t>
            </a:r>
            <a:br>
              <a:rPr lang="ar-EG" dirty="0"/>
            </a:br>
            <a:br>
              <a:rPr lang="ar-EG" dirty="0"/>
            </a:br>
            <a:r>
              <a:rPr lang="ar-EG" sz="1200" b="0" i="0" kern="1200" dirty="0">
                <a:solidFill>
                  <a:schemeClr val="tx1"/>
                </a:solidFill>
                <a:effectLst/>
                <a:latin typeface="+mn-lt"/>
                <a:ea typeface="+mn-ea"/>
                <a:cs typeface="+mn-cs"/>
              </a:rPr>
              <a:t>يدرك الآخرون قريبًا أن السلطة لا تعادل التأثير، وأن كونك مدير مشروع فعال يتطلب إدارة مجموعة أكثر تعقيدًا من العلاقات مما كانوا يتوقعونه سابقًا. حيث يواجهون شبكة من العلاقات التي تتطلب طيفًا أوسع بكثير من التأثير مما شعروا أنه ضروري أو ممكن حتى.</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4</a:t>
            </a:fld>
            <a:endParaRPr lang="en-US"/>
          </a:p>
        </p:txBody>
      </p:sp>
    </p:spTree>
    <p:extLst>
      <p:ext uri="{BB962C8B-B14F-4D97-AF65-F5344CB8AC3E}">
        <p14:creationId xmlns:p14="http://schemas.microsoft.com/office/powerpoint/2010/main" val="539949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لكي يكون المدير المشروع فعالًا، يجب أن يفهم كيف يمكن لأصحاب المصلحة أن يؤثروا على المشروع وأن يطور طرقًا لإدارة الاعتماد المتبادل. فريق المشروع يدير ويكمل أعمال المشروع. يرغب معظم المشاركين في أداء عمل جيد، لكنهم أيضًا يهتمون بالتزاماتهم الأخرى وكيفية مساهمة مشاركتهم في المشروع في تحقيق أهدافهم وطموحاتهم الشخصية. يتنافس مديرو المشاريع بطبيعتهم مع بعضهم البعض على الموارد ودعم الإدارة العليا. وفي الوقت نفسه، غالبًا ما يضطرون إلى مشاركة الموارد وتبادل المعلومات. توفر مجموعات الدعم الإداري، مثل الموارد البشرية، ونظم المعلومات، ووكلاء المشتريات، والصيانة، خدمات دعم قيمة. وفي الوقت نفسه، تفرض قيودًا ومتطلبات على المشروع مثل توثيق النفقات والتسليم الدقيق وفي الوقت المناسب للمعلومات.</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6</a:t>
            </a:fld>
            <a:endParaRPr lang="en-US"/>
          </a:p>
        </p:txBody>
      </p:sp>
    </p:spTree>
    <p:extLst>
      <p:ext uri="{BB962C8B-B14F-4D97-AF65-F5344CB8AC3E}">
        <p14:creationId xmlns:p14="http://schemas.microsoft.com/office/powerpoint/2010/main" val="4095202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يمكن للمديرين الوظيفيين، اعتمادًا على كيفية تنظيم المشروع، أن يلعبوا دورًا صغيرًا أو كبيرًا في نجاح المشروع. يرغب المديرون الوظيفيون في التعاون إلى حد ما، ولكن فقط إلى حد معين. وهم أيضًا مهتمون بالحفاظ على مكانتهم داخل المنظمة وتقليل الاضطرابات التي قد يسببها المشروع لعملياتهم الخاصة. الإدارة العليا توافق على تمويل المشروع وتحدد الأولويات داخل المنظمة. وتحدد مفاهيم النجاح والمكافآت على الإنجازات. التعديلات الكبيرة في الميزانية أو نطاق المشروع أو الجدول الزمني عادةً ما تحتاج إلى موافقتهم. لديهم مصلحة طبيعية في نجاح المشروع، ولكن في الوقت نفسه يجب أن يكونوا مستجيبين لما هو أفضل للمنظمة بأكملها. يدعم رعاة المشروع المشروع ويستخدمون نفوذهم من أجل الحصول على الموافقة عليه. ترتبط سمعتهم بنجاح المشروع، ويجب إبلاغهم بأية تطورات كبيرة.</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7</a:t>
            </a:fld>
            <a:endParaRPr lang="en-US"/>
          </a:p>
        </p:txBody>
      </p:sp>
    </p:spTree>
    <p:extLst>
      <p:ext uri="{BB962C8B-B14F-4D97-AF65-F5344CB8AC3E}">
        <p14:creationId xmlns:p14="http://schemas.microsoft.com/office/powerpoint/2010/main" val="1677728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قد يقوم المقاولون بكل العمل الفعلي، في بعض الحالات، مع قيام فريق المشروع فقط بتنسيق مساهماتهم. يمكن أن تؤثر الأعمال الرديئة وتأخيرات الجدول الزمني على عمل الفريق الأساسي للمشروع. بينما تعتمد سمعة المقاولين على إنجاز أعمال جيدة، يجب عليهم موازنة مساهماتهم مع هوامش أرباحهم الخاصة والتزاماتهم تجاه العملاء الآخرين. تضع الجهات الحكومية قيودًا على عمل المشروع. يجب الحصول على التصاريح اللازمة. يجب أن يتم بناء الأعمال الإنشائية وفقًا للكود. يجب أن تلتزم المنتجات الأخرى بمعايير السلامة، على سبيل المثال، معايير إدارة السلامة والصحة المهنية. قد تؤثر منظمات أخرى، اعتمادًا على طبيعة المشروع، بشكل مباشر أو غير مباشر على المشروع. على سبيل المثال، الموردون، ومجموعات المصلحة العامة، والاستشاريون والمدققون لحماية مصالحهم في المشروع. يحدد العملاء نطاق المشروع، ويكمن النجاح النهائي للمشروع في رضاهم.</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8</a:t>
            </a:fld>
            <a:endParaRPr lang="en-US"/>
          </a:p>
        </p:txBody>
      </p:sp>
    </p:spTree>
    <p:extLst>
      <p:ext uri="{BB962C8B-B14F-4D97-AF65-F5344CB8AC3E}">
        <p14:creationId xmlns:p14="http://schemas.microsoft.com/office/powerpoint/2010/main" val="2052905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كانت النظرة التقليدية لإدارة المشاريع تركز على التخطيط وتوجيه فريق المشروع؛ بينما المنظور الجديد يركز على إدارة أصحاب المصلحة في المشروع والتنبؤ بالتغيير باعتباره أهم المهام. يحتاج مديرو المشاريع إلى القدرة على تهدئة مخاوف العملاء، والحفاظ على دعم المشروع على مستويات عليا في المنظمة، والتعرف بسرعة على المشكلات التي تهدد عمل المشروع، وفي الوقت نفسه الدفاع عن نزاهة المشروع ومصالح المشاركين فيه.</a:t>
            </a:r>
            <a:br>
              <a:rPr lang="ar-EG" dirty="0"/>
            </a:br>
            <a:r>
              <a:rPr lang="ar-EG" sz="1200" b="0" i="0" kern="1200" dirty="0">
                <a:solidFill>
                  <a:schemeClr val="tx1"/>
                </a:solidFill>
                <a:effectLst/>
                <a:latin typeface="+mn-lt"/>
                <a:ea typeface="+mn-ea"/>
                <a:cs typeface="+mn-cs"/>
              </a:rPr>
              <a:t>ضمن هذا النسيج من العلاقات، يجب على مدير المشروع معرفة ما يجب القيام به لتحقيق أهداف المشروع وبناء شبكة تعاون لتحقيق ذلك. يجب على مديري المشاريع القيام بذلك دون السلطة اللازمة لتوقع أو المطالبة بالتعاون. يتطلب ذلك مهارات تواصل قوية وفطنة سياسية وقاعدة تأثير واسعة.</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9</a:t>
            </a:fld>
            <a:endParaRPr lang="en-US"/>
          </a:p>
        </p:txBody>
      </p:sp>
    </p:spTree>
    <p:extLst>
      <p:ext uri="{BB962C8B-B14F-4D97-AF65-F5344CB8AC3E}">
        <p14:creationId xmlns:p14="http://schemas.microsoft.com/office/powerpoint/2010/main" val="1591082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يُتأثر نجاح المشروع بشكل كبير بمدى دعم الإدارة العليا للمشروع. الدعم الملحوظ من الإدارة العليا يعد عاملاً رئيسياً في قدرة مدير المشروع على تحفيز فريق المشروع. العديد من التوترات التي تنشأ بين الإدارة العليا ومديري المشاريع هي نتيجة لاختلاف وجهات النظر. بمجرد أن يقبل مديرو المشاريع أن الخلافات مع الإدارة العليا تتعلق أكثر بالمنظور منها بالمضمون، يمكنهم توجيه مزيد من طاقتهم نحو فن إقناع الإدارة العليا. قبل أن يتمكنوا من إقناع الرؤساء، يجب عليهم أولاً إثبات الولاء؛ وهذا يعني إظهار أنهم يلتزمون باستمرار بالطلبات والالتزام بالمعايير التي تحددها الإدارة العليا دون الكثير من التذمر أو الضجة. بمجرد أن يثبت المديرون ولاءهم للإدارة العليا، تكون الإدارة العليا أكثر استعدادًا للاستماع لتحدياتهم وطلباتِهم.</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11</a:t>
            </a:fld>
            <a:endParaRPr lang="en-US"/>
          </a:p>
        </p:txBody>
      </p:sp>
    </p:spTree>
    <p:extLst>
      <p:ext uri="{BB962C8B-B14F-4D97-AF65-F5344CB8AC3E}">
        <p14:creationId xmlns:p14="http://schemas.microsoft.com/office/powerpoint/2010/main" val="1725234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يجب على مديري المشاريع الفعّالين أن يكونوا قادرين على التعامل مع الطبيعة المتناقضة لعملهم. بعض هذه المتناقضات موضحة هنا:</a:t>
            </a:r>
            <a:br>
              <a:rPr lang="ar-EG" dirty="0"/>
            </a:br>
            <a:r>
              <a:rPr lang="ar-EG" sz="1200" b="0" i="0" kern="1200" dirty="0">
                <a:solidFill>
                  <a:schemeClr val="tx1"/>
                </a:solidFill>
                <a:effectLst/>
                <a:latin typeface="+mn-lt"/>
                <a:ea typeface="+mn-ea"/>
                <a:cs typeface="+mn-cs"/>
              </a:rPr>
              <a:t>ابتكر وحافظ على الاستقرار.</a:t>
            </a:r>
            <a:br>
              <a:rPr lang="ar-EG" dirty="0"/>
            </a:br>
            <a:r>
              <a:rPr lang="ar-EG" sz="1200" b="0" i="0" kern="1200" dirty="0">
                <a:solidFill>
                  <a:schemeClr val="tx1"/>
                </a:solidFill>
                <a:effectLst/>
                <a:latin typeface="+mn-lt"/>
                <a:ea typeface="+mn-ea"/>
                <a:cs typeface="+mn-cs"/>
              </a:rPr>
              <a:t>انظر للصورة الكبيرة بينما تنخرط في التفاصيل.</a:t>
            </a:r>
            <a:br>
              <a:rPr lang="ar-EG" dirty="0"/>
            </a:br>
            <a:r>
              <a:rPr lang="ar-EG" sz="1200" b="0" i="0" kern="1200" dirty="0">
                <a:solidFill>
                  <a:schemeClr val="tx1"/>
                </a:solidFill>
                <a:effectLst/>
                <a:latin typeface="+mn-lt"/>
                <a:ea typeface="+mn-ea"/>
                <a:cs typeface="+mn-cs"/>
              </a:rPr>
              <a:t>شجع الأفراد لكن ركز على الفريق.</a:t>
            </a:r>
            <a:br>
              <a:rPr lang="ar-EG" dirty="0"/>
            </a:br>
            <a:r>
              <a:rPr lang="ar-EG" sz="1200" b="0" i="0" kern="1200" dirty="0">
                <a:solidFill>
                  <a:schemeClr val="tx1"/>
                </a:solidFill>
                <a:effectLst/>
                <a:latin typeface="+mn-lt"/>
                <a:ea typeface="+mn-ea"/>
                <a:cs typeface="+mn-cs"/>
              </a:rPr>
              <a:t>تدخل قليل/تدخل مباشر.</a:t>
            </a:r>
            <a:br>
              <a:rPr lang="ar-EG" dirty="0"/>
            </a:br>
            <a:r>
              <a:rPr lang="ar-EG" sz="1200" b="0" i="0" kern="1200" dirty="0">
                <a:solidFill>
                  <a:schemeClr val="tx1"/>
                </a:solidFill>
                <a:effectLst/>
                <a:latin typeface="+mn-lt"/>
                <a:ea typeface="+mn-ea"/>
                <a:cs typeface="+mn-cs"/>
              </a:rPr>
              <a:t>مرن لكن حازم.</a:t>
            </a:r>
            <a:br>
              <a:rPr lang="ar-EG" dirty="0"/>
            </a:br>
            <a:r>
              <a:rPr lang="ar-EG" sz="1200" b="0" i="0" kern="1200" dirty="0">
                <a:solidFill>
                  <a:schemeClr val="tx1"/>
                </a:solidFill>
                <a:effectLst/>
                <a:latin typeface="+mn-lt"/>
                <a:ea typeface="+mn-ea"/>
                <a:cs typeface="+mn-cs"/>
              </a:rPr>
              <a:t>الولاءات للفريق مقابل الولاءات للمنظمة.</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12</a:t>
            </a:fld>
            <a:endParaRPr lang="en-US"/>
          </a:p>
        </p:txBody>
      </p:sp>
    </p:spTree>
    <p:extLst>
      <p:ext uri="{BB962C8B-B14F-4D97-AF65-F5344CB8AC3E}">
        <p14:creationId xmlns:p14="http://schemas.microsoft.com/office/powerpoint/2010/main" val="750219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يشارك الفريق إحساسًا بالهدف المشترك، وكل عضو مستعد للعمل نحو تحقيق أهداف المشروع. يقوم الفريق بتحديد المواهب والخبرات الفردية ويستفيد منها حسب احتياجات المشروع في أي وقت. في هذه الأوقات، يقبل الفريق طواعية نفوذ وقيادة الأعضاء الذين تتعلق مهاراتهم بالمهمة الفورية. تُوزع الأدوار بشكل متوازن وتشترك لضمان تحقيق المهام وشعور الانسجام وروح الفريق.</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14</a:t>
            </a:fld>
            <a:endParaRPr lang="en-US"/>
          </a:p>
        </p:txBody>
      </p:sp>
    </p:spTree>
    <p:extLst>
      <p:ext uri="{BB962C8B-B14F-4D97-AF65-F5344CB8AC3E}">
        <p14:creationId xmlns:p14="http://schemas.microsoft.com/office/powerpoint/2010/main" val="1470822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يبذل الفريق الطاقة نحو حل المشكلات بدلاً من السماح لنفسه بأن يُستنزف بسبب المشاكل الشخصية أو الصراعات التنافسية. يتم تشجيع اختلاف وجهات النظر والتعبير عنها بحرية. لتعزيز المخاطرة والإبداع، يُنظر إلى الأخطاء كفرص للتعلم بدلاً من أسباب للعقاب. يضع الأعضاء معايير شخصية عالية للأداء ويشجعون بعضهم البعض على تحقيق أهداف المشروع.</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15</a:t>
            </a:fld>
            <a:endParaRPr lang="en-US"/>
          </a:p>
        </p:txBody>
      </p:sp>
    </p:spTree>
    <p:extLst>
      <p:ext uri="{BB962C8B-B14F-4D97-AF65-F5344CB8AC3E}">
        <p14:creationId xmlns:p14="http://schemas.microsoft.com/office/powerpoint/2010/main" val="41986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ar-EG" dirty="0"/>
            </a:br>
            <a:r>
              <a:rPr lang="ar-EG" sz="1200" b="0" i="0" kern="1200" dirty="0">
                <a:solidFill>
                  <a:schemeClr val="tx1"/>
                </a:solidFill>
                <a:effectLst/>
                <a:latin typeface="+mn-lt"/>
                <a:ea typeface="+mn-ea"/>
                <a:cs typeface="+mn-cs"/>
              </a:rPr>
              <a:t>التشكيل. يتعرف الأعضاء على بعضهم البعض ويفهمون نطاق المشروع. يكتمل هذا عندما يبدأ الأعضاء في التفكير بأنفسهم كجزء من مجموعة. العصف الذهني. يتميز بدرجة عالية من الصراع الداخلي. يقبل الأعضاء أنهم جزء من مجموعة المشروع لكنهم يقاومون القيود المفروضة على فرديتهم. يكتمل هذا بمجرد حل هذه الصراعات وتصبح قيادة مدير المشروع مقبولة. التقييم. تتطور العلاقات الوثيقة ويظهر الفريق تماسكًا. تتزايد مشاعر المسؤولية المشتركة عن المشروع. تكتمل هذه المرحلة عندما يحدد الفريق مجموعة مشتركة من التوقعات حول كيفية عمل الأعضاء معًا. الأداء. هيكل تشغيل الفريق في هذه المرحلة أصبح كامل الوظائف ومقبول. انتقلت طاقة المجموعة من التعرف على بعضهم البعض وكيفية عمل المجموعة معًا إلى تحقيق أهداف المشروع. الانهاء. بالنسبة لمجموعات العمل التقليدية، الأداء هو المرحلة الأخيرة من عملهم.</a:t>
            </a:r>
            <a:endParaRPr lang="en-US" dirty="0"/>
          </a:p>
        </p:txBody>
      </p:sp>
      <p:sp>
        <p:nvSpPr>
          <p:cNvPr id="4" name="Slide Number Placeholder 3"/>
          <p:cNvSpPr>
            <a:spLocks noGrp="1"/>
          </p:cNvSpPr>
          <p:nvPr>
            <p:ph type="sldNum" sz="quarter" idx="5"/>
          </p:nvPr>
        </p:nvSpPr>
        <p:spPr/>
        <p:txBody>
          <a:bodyPr/>
          <a:lstStyle/>
          <a:p>
            <a:fld id="{18BCB89C-0F5E-41A1-9488-7892CB1C5C79}" type="slidenum">
              <a:rPr lang="en-US" smtClean="0"/>
              <a:t>17</a:t>
            </a:fld>
            <a:endParaRPr lang="en-US"/>
          </a:p>
        </p:txBody>
      </p:sp>
    </p:spTree>
    <p:extLst>
      <p:ext uri="{BB962C8B-B14F-4D97-AF65-F5344CB8AC3E}">
        <p14:creationId xmlns:p14="http://schemas.microsoft.com/office/powerpoint/2010/main" val="953956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868811" y="615856"/>
            <a:ext cx="11210290"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585467"/>
            <a:ext cx="10358120" cy="479552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25886" y="2523774"/>
            <a:ext cx="3340735" cy="2028825"/>
          </a:xfrm>
          <a:prstGeom prst="rect">
            <a:avLst/>
          </a:prstGeom>
        </p:spPr>
        <p:txBody>
          <a:bodyPr vert="horz" wrap="square" lIns="0" tIns="167005" rIns="0" bIns="0" rtlCol="0">
            <a:spAutoFit/>
          </a:bodyPr>
          <a:lstStyle/>
          <a:p>
            <a:pPr marL="61594" algn="ctr">
              <a:lnSpc>
                <a:spcPct val="100000"/>
              </a:lnSpc>
              <a:spcBef>
                <a:spcPts val="1315"/>
              </a:spcBef>
            </a:pPr>
            <a:r>
              <a:rPr sz="2350" spc="50" dirty="0">
                <a:latin typeface="Calibri Light"/>
                <a:cs typeface="Calibri Light"/>
              </a:rPr>
              <a:t>(</a:t>
            </a:r>
            <a:r>
              <a:rPr lang="en-US" sz="2400" spc="65" dirty="0">
                <a:latin typeface="Calibri Light"/>
                <a:cs typeface="Calibri Light"/>
              </a:rPr>
              <a:t>25CPE4602</a:t>
            </a:r>
            <a:r>
              <a:rPr sz="2350" spc="50" dirty="0">
                <a:latin typeface="Calibri Light"/>
                <a:cs typeface="Calibri Light"/>
              </a:rPr>
              <a:t>)</a:t>
            </a:r>
            <a:endParaRPr sz="2350" dirty="0">
              <a:latin typeface="Calibri Light"/>
              <a:cs typeface="Calibri Light"/>
            </a:endParaRPr>
          </a:p>
          <a:p>
            <a:pPr marL="66675" algn="ctr">
              <a:lnSpc>
                <a:spcPct val="100000"/>
              </a:lnSpc>
              <a:spcBef>
                <a:spcPts val="2065"/>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25" dirty="0">
                <a:solidFill>
                  <a:srgbClr val="2F5597"/>
                </a:solidFill>
                <a:latin typeface="Calibri"/>
                <a:cs typeface="Calibri"/>
              </a:rPr>
              <a:t>10</a:t>
            </a:r>
            <a:endParaRPr sz="4000" dirty="0">
              <a:latin typeface="Calibri"/>
              <a:cs typeface="Calibri"/>
            </a:endParaRPr>
          </a:p>
          <a:p>
            <a:pPr algn="ctr">
              <a:lnSpc>
                <a:spcPct val="100000"/>
              </a:lnSpc>
              <a:spcBef>
                <a:spcPts val="1510"/>
              </a:spcBef>
            </a:pPr>
            <a:r>
              <a:rPr sz="2800" spc="150" dirty="0">
                <a:latin typeface="Georgia"/>
                <a:cs typeface="Georgia"/>
              </a:rPr>
              <a:t>Dr.</a:t>
            </a:r>
            <a:r>
              <a:rPr sz="2800" spc="254" dirty="0">
                <a:latin typeface="Georgia"/>
                <a:cs typeface="Georgia"/>
              </a:rPr>
              <a:t> </a:t>
            </a:r>
            <a:r>
              <a:rPr lang="en-US" sz="2800" spc="210" dirty="0">
                <a:latin typeface="Georgia"/>
                <a:cs typeface="Georgia"/>
              </a:rPr>
              <a:t>Zahraa Ismail</a:t>
            </a:r>
            <a:endParaRPr sz="2800" dirty="0">
              <a:latin typeface="Georgia"/>
              <a:cs typeface="Georgia"/>
            </a:endParaRPr>
          </a:p>
        </p:txBody>
      </p:sp>
      <p:sp>
        <p:nvSpPr>
          <p:cNvPr id="3" name="object 3"/>
          <p:cNvSpPr txBox="1">
            <a:spLocks noGrp="1"/>
          </p:cNvSpPr>
          <p:nvPr>
            <p:ph type="title"/>
          </p:nvPr>
        </p:nvSpPr>
        <p:spPr>
          <a:xfrm>
            <a:off x="2483763" y="749180"/>
            <a:ext cx="7276465" cy="1570355"/>
          </a:xfrm>
          <a:prstGeom prst="rect">
            <a:avLst/>
          </a:prstGeom>
        </p:spPr>
        <p:txBody>
          <a:bodyPr vert="horz" wrap="square" lIns="0" tIns="93980" rIns="0" bIns="0" rtlCol="0">
            <a:spAutoFit/>
          </a:bodyPr>
          <a:lstStyle/>
          <a:p>
            <a:pPr marL="2360930" marR="5080" indent="-2348865">
              <a:lnSpc>
                <a:spcPts val="5810"/>
              </a:lnSpc>
              <a:spcBef>
                <a:spcPts val="740"/>
              </a:spcBef>
            </a:pPr>
            <a:r>
              <a:rPr sz="5300" spc="110" dirty="0">
                <a:solidFill>
                  <a:srgbClr val="C00000"/>
                </a:solidFill>
              </a:rPr>
              <a:t>Being</a:t>
            </a:r>
            <a:r>
              <a:rPr sz="5300" spc="145" dirty="0">
                <a:solidFill>
                  <a:srgbClr val="C00000"/>
                </a:solidFill>
              </a:rPr>
              <a:t> </a:t>
            </a:r>
            <a:r>
              <a:rPr sz="5300" spc="90" dirty="0">
                <a:solidFill>
                  <a:srgbClr val="C00000"/>
                </a:solidFill>
              </a:rPr>
              <a:t>an</a:t>
            </a:r>
            <a:r>
              <a:rPr sz="5300" spc="150" dirty="0">
                <a:solidFill>
                  <a:srgbClr val="C00000"/>
                </a:solidFill>
              </a:rPr>
              <a:t> </a:t>
            </a:r>
            <a:r>
              <a:rPr sz="5300" spc="65" dirty="0">
                <a:solidFill>
                  <a:srgbClr val="C00000"/>
                </a:solidFill>
              </a:rPr>
              <a:t>Effective</a:t>
            </a:r>
            <a:r>
              <a:rPr sz="5300" spc="145" dirty="0">
                <a:solidFill>
                  <a:srgbClr val="C00000"/>
                </a:solidFill>
              </a:rPr>
              <a:t> </a:t>
            </a:r>
            <a:r>
              <a:rPr sz="5300" spc="90" dirty="0">
                <a:solidFill>
                  <a:srgbClr val="C00000"/>
                </a:solidFill>
              </a:rPr>
              <a:t>Project </a:t>
            </a:r>
            <a:r>
              <a:rPr sz="5300" spc="105" dirty="0">
                <a:solidFill>
                  <a:srgbClr val="C00000"/>
                </a:solidFill>
              </a:rPr>
              <a:t>Manager</a:t>
            </a:r>
            <a:endParaRPr sz="5300"/>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0CA401E4-B7CD-C1F9-A992-816333031A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11723"/>
            <a:ext cx="1690648" cy="9510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45" dirty="0"/>
              <a:t> </a:t>
            </a:r>
            <a:r>
              <a:rPr spc="80" dirty="0"/>
              <a:t>versus</a:t>
            </a:r>
            <a:r>
              <a:rPr spc="145" dirty="0"/>
              <a:t> </a:t>
            </a:r>
            <a:r>
              <a:rPr spc="110" dirty="0"/>
              <a:t>Leading</a:t>
            </a:r>
            <a:r>
              <a:rPr spc="145" dirty="0"/>
              <a:t> </a:t>
            </a:r>
            <a:r>
              <a:rPr dirty="0"/>
              <a:t>a</a:t>
            </a:r>
            <a:r>
              <a:rPr spc="150" dirty="0"/>
              <a:t> </a:t>
            </a:r>
            <a:r>
              <a:rPr spc="85" dirty="0"/>
              <a:t>Project</a:t>
            </a:r>
            <a:r>
              <a:rPr spc="140" dirty="0"/>
              <a:t> </a:t>
            </a:r>
            <a:r>
              <a:rPr sz="1950" spc="-10" dirty="0"/>
              <a:t>(1/2)</a:t>
            </a:r>
            <a:endParaRPr sz="1950"/>
          </a:p>
        </p:txBody>
      </p:sp>
      <p:sp>
        <p:nvSpPr>
          <p:cNvPr id="3" name="object 3"/>
          <p:cNvSpPr txBox="1">
            <a:spLocks noGrp="1"/>
          </p:cNvSpPr>
          <p:nvPr>
            <p:ph type="body" idx="1"/>
          </p:nvPr>
        </p:nvSpPr>
        <p:spPr>
          <a:prstGeom prst="rect">
            <a:avLst/>
          </a:prstGeom>
        </p:spPr>
        <p:txBody>
          <a:bodyPr vert="horz" wrap="square" lIns="0" tIns="792988" rIns="0" bIns="0" rtlCol="0">
            <a:spAutoFit/>
          </a:bodyPr>
          <a:lstStyle/>
          <a:p>
            <a:pPr marL="241300" marR="5080" indent="-228600" algn="just">
              <a:lnSpc>
                <a:spcPts val="3500"/>
              </a:lnSpc>
              <a:spcBef>
                <a:spcPts val="500"/>
              </a:spcBef>
              <a:buFont typeface="Arial MT"/>
              <a:buChar char="•"/>
              <a:tabLst>
                <a:tab pos="241300" algn="l"/>
              </a:tabLst>
            </a:pPr>
            <a:r>
              <a:rPr sz="3200" b="0" dirty="0">
                <a:latin typeface="Calibri"/>
                <a:cs typeface="Calibri"/>
              </a:rPr>
              <a:t>Management</a:t>
            </a:r>
            <a:r>
              <a:rPr sz="3200" b="0" spc="555" dirty="0">
                <a:latin typeface="Calibri"/>
                <a:cs typeface="Calibri"/>
              </a:rPr>
              <a:t>  </a:t>
            </a:r>
            <a:r>
              <a:rPr sz="3200" b="0" dirty="0">
                <a:latin typeface="Calibri"/>
                <a:cs typeface="Calibri"/>
              </a:rPr>
              <a:t>is</a:t>
            </a:r>
            <a:r>
              <a:rPr sz="3200" b="0" spc="560" dirty="0">
                <a:latin typeface="Calibri"/>
                <a:cs typeface="Calibri"/>
              </a:rPr>
              <a:t>  </a:t>
            </a:r>
            <a:r>
              <a:rPr sz="3200" b="0" dirty="0">
                <a:latin typeface="Calibri"/>
                <a:cs typeface="Calibri"/>
              </a:rPr>
              <a:t>about</a:t>
            </a:r>
            <a:r>
              <a:rPr sz="3200" b="0" spc="565" dirty="0">
                <a:latin typeface="Calibri"/>
                <a:cs typeface="Calibri"/>
              </a:rPr>
              <a:t>  </a:t>
            </a:r>
            <a:r>
              <a:rPr sz="3200" b="0" dirty="0">
                <a:latin typeface="Calibri"/>
                <a:cs typeface="Calibri"/>
              </a:rPr>
              <a:t>coping</a:t>
            </a:r>
            <a:r>
              <a:rPr sz="3200" b="0" spc="560" dirty="0">
                <a:latin typeface="Calibri"/>
                <a:cs typeface="Calibri"/>
              </a:rPr>
              <a:t>  </a:t>
            </a:r>
            <a:r>
              <a:rPr sz="3200" b="0" dirty="0">
                <a:latin typeface="Calibri"/>
                <a:cs typeface="Calibri"/>
              </a:rPr>
              <a:t>with</a:t>
            </a:r>
            <a:r>
              <a:rPr sz="3200" b="0" spc="565" dirty="0">
                <a:latin typeface="Calibri"/>
                <a:cs typeface="Calibri"/>
              </a:rPr>
              <a:t>  </a:t>
            </a:r>
            <a:r>
              <a:rPr sz="3200" b="0" dirty="0">
                <a:latin typeface="Calibri"/>
                <a:cs typeface="Calibri"/>
              </a:rPr>
              <a:t>complexity,</a:t>
            </a:r>
            <a:r>
              <a:rPr sz="3200" b="0" spc="560" dirty="0">
                <a:latin typeface="Calibri"/>
                <a:cs typeface="Calibri"/>
              </a:rPr>
              <a:t>  </a:t>
            </a:r>
            <a:r>
              <a:rPr sz="3200" b="0" spc="-10" dirty="0">
                <a:latin typeface="Calibri"/>
                <a:cs typeface="Calibri"/>
              </a:rPr>
              <a:t>while </a:t>
            </a:r>
            <a:r>
              <a:rPr sz="3200" b="0" dirty="0">
                <a:latin typeface="Calibri"/>
                <a:cs typeface="Calibri"/>
              </a:rPr>
              <a:t>leadership</a:t>
            </a:r>
            <a:r>
              <a:rPr sz="3200" b="0" spc="-70" dirty="0">
                <a:latin typeface="Calibri"/>
                <a:cs typeface="Calibri"/>
              </a:rPr>
              <a:t> </a:t>
            </a:r>
            <a:r>
              <a:rPr sz="3200" b="0" dirty="0">
                <a:latin typeface="Calibri"/>
                <a:cs typeface="Calibri"/>
              </a:rPr>
              <a:t>is</a:t>
            </a:r>
            <a:r>
              <a:rPr sz="3200" b="0" spc="-75" dirty="0">
                <a:latin typeface="Calibri"/>
                <a:cs typeface="Calibri"/>
              </a:rPr>
              <a:t> </a:t>
            </a:r>
            <a:r>
              <a:rPr sz="3200" b="0" dirty="0">
                <a:latin typeface="Calibri"/>
                <a:cs typeface="Calibri"/>
              </a:rPr>
              <a:t>about</a:t>
            </a:r>
            <a:r>
              <a:rPr sz="3200" b="0" spc="-70" dirty="0">
                <a:latin typeface="Calibri"/>
                <a:cs typeface="Calibri"/>
              </a:rPr>
              <a:t> </a:t>
            </a:r>
            <a:r>
              <a:rPr sz="3200" b="0" dirty="0">
                <a:latin typeface="Calibri"/>
                <a:cs typeface="Calibri"/>
              </a:rPr>
              <a:t>coping</a:t>
            </a:r>
            <a:r>
              <a:rPr sz="3200" b="0" spc="-65" dirty="0">
                <a:latin typeface="Calibri"/>
                <a:cs typeface="Calibri"/>
              </a:rPr>
              <a:t> </a:t>
            </a:r>
            <a:r>
              <a:rPr sz="3200" b="0" dirty="0">
                <a:latin typeface="Calibri"/>
                <a:cs typeface="Calibri"/>
              </a:rPr>
              <a:t>with</a:t>
            </a:r>
            <a:r>
              <a:rPr sz="3200" b="0" spc="-65" dirty="0">
                <a:latin typeface="Calibri"/>
                <a:cs typeface="Calibri"/>
              </a:rPr>
              <a:t> </a:t>
            </a:r>
            <a:r>
              <a:rPr sz="3200" b="0" spc="-10" dirty="0">
                <a:latin typeface="Calibri"/>
                <a:cs typeface="Calibri"/>
              </a:rPr>
              <a:t>change</a:t>
            </a:r>
            <a:endParaRPr sz="3200" dirty="0">
              <a:latin typeface="Calibri"/>
              <a:cs typeface="Calibri"/>
            </a:endParaRPr>
          </a:p>
          <a:p>
            <a:pPr>
              <a:lnSpc>
                <a:spcPct val="100000"/>
              </a:lnSpc>
              <a:spcBef>
                <a:spcPts val="1460"/>
              </a:spcBef>
              <a:buFont typeface="Arial MT"/>
              <a:buChar char="•"/>
            </a:pPr>
            <a:endParaRPr sz="3200" dirty="0">
              <a:latin typeface="Calibri"/>
              <a:cs typeface="Calibri"/>
            </a:endParaRPr>
          </a:p>
          <a:p>
            <a:pPr marL="241300" marR="5080" indent="-228600" algn="just">
              <a:lnSpc>
                <a:spcPct val="90000"/>
              </a:lnSpc>
              <a:buFont typeface="Arial MT"/>
              <a:buChar char="•"/>
              <a:tabLst>
                <a:tab pos="241300" algn="l"/>
              </a:tabLst>
            </a:pPr>
            <a:r>
              <a:rPr sz="3200" b="0" dirty="0">
                <a:latin typeface="Calibri"/>
                <a:cs typeface="Calibri"/>
              </a:rPr>
              <a:t>For</a:t>
            </a:r>
            <a:r>
              <a:rPr sz="3200" b="0" spc="150" dirty="0">
                <a:latin typeface="Calibri"/>
                <a:cs typeface="Calibri"/>
              </a:rPr>
              <a:t>  </a:t>
            </a:r>
            <a:r>
              <a:rPr sz="3200" b="0" dirty="0">
                <a:latin typeface="Calibri"/>
                <a:cs typeface="Calibri"/>
              </a:rPr>
              <a:t>example,</a:t>
            </a:r>
            <a:r>
              <a:rPr sz="3200" b="0" spc="155" dirty="0">
                <a:latin typeface="Calibri"/>
                <a:cs typeface="Calibri"/>
              </a:rPr>
              <a:t>  </a:t>
            </a:r>
            <a:r>
              <a:rPr sz="3200" u="heavy" dirty="0">
                <a:solidFill>
                  <a:srgbClr val="C00000"/>
                </a:solidFill>
                <a:uFill>
                  <a:solidFill>
                    <a:srgbClr val="C00000"/>
                  </a:solidFill>
                </a:uFill>
              </a:rPr>
              <a:t>strong</a:t>
            </a:r>
            <a:r>
              <a:rPr sz="3200" u="heavy" spc="155" dirty="0">
                <a:solidFill>
                  <a:srgbClr val="C00000"/>
                </a:solidFill>
                <a:uFill>
                  <a:solidFill>
                    <a:srgbClr val="C00000"/>
                  </a:solidFill>
                </a:uFill>
              </a:rPr>
              <a:t>  </a:t>
            </a:r>
            <a:r>
              <a:rPr sz="3200" u="heavy" dirty="0">
                <a:solidFill>
                  <a:srgbClr val="C00000"/>
                </a:solidFill>
                <a:uFill>
                  <a:solidFill>
                    <a:srgbClr val="C00000"/>
                  </a:solidFill>
                </a:uFill>
              </a:rPr>
              <a:t>leadership</a:t>
            </a:r>
            <a:r>
              <a:rPr sz="3200" spc="150" dirty="0">
                <a:solidFill>
                  <a:srgbClr val="C00000"/>
                </a:solidFill>
              </a:rPr>
              <a:t>  </a:t>
            </a:r>
            <a:r>
              <a:rPr sz="3200" b="0" dirty="0">
                <a:latin typeface="Calibri"/>
                <a:cs typeface="Calibri"/>
              </a:rPr>
              <a:t>would</a:t>
            </a:r>
            <a:r>
              <a:rPr sz="3200" b="0" spc="160" dirty="0">
                <a:latin typeface="Calibri"/>
                <a:cs typeface="Calibri"/>
              </a:rPr>
              <a:t>  </a:t>
            </a:r>
            <a:r>
              <a:rPr sz="3200" b="0" dirty="0">
                <a:latin typeface="Calibri"/>
                <a:cs typeface="Calibri"/>
              </a:rPr>
              <a:t>be</a:t>
            </a:r>
            <a:r>
              <a:rPr sz="3200" b="0" spc="150" dirty="0">
                <a:latin typeface="Calibri"/>
                <a:cs typeface="Calibri"/>
              </a:rPr>
              <a:t>  </a:t>
            </a:r>
            <a:r>
              <a:rPr sz="3200" b="0" dirty="0">
                <a:latin typeface="Calibri"/>
                <a:cs typeface="Calibri"/>
              </a:rPr>
              <a:t>needed</a:t>
            </a:r>
            <a:r>
              <a:rPr sz="3200" b="0" spc="155" dirty="0">
                <a:latin typeface="Calibri"/>
                <a:cs typeface="Calibri"/>
              </a:rPr>
              <a:t>  </a:t>
            </a:r>
            <a:r>
              <a:rPr sz="3200" b="0" dirty="0">
                <a:latin typeface="Calibri"/>
                <a:cs typeface="Calibri"/>
              </a:rPr>
              <a:t>for</a:t>
            </a:r>
            <a:r>
              <a:rPr sz="3200" b="0" spc="155" dirty="0">
                <a:latin typeface="Calibri"/>
                <a:cs typeface="Calibri"/>
              </a:rPr>
              <a:t>  </a:t>
            </a:r>
            <a:r>
              <a:rPr sz="3200" b="0" spc="-50" dirty="0">
                <a:latin typeface="Calibri"/>
                <a:cs typeface="Calibri"/>
              </a:rPr>
              <a:t>a </a:t>
            </a:r>
            <a:r>
              <a:rPr sz="3200" b="0" dirty="0">
                <a:latin typeface="Calibri"/>
                <a:cs typeface="Calibri"/>
              </a:rPr>
              <a:t>software</a:t>
            </a:r>
            <a:r>
              <a:rPr sz="3200" b="0" spc="295" dirty="0">
                <a:latin typeface="Calibri"/>
                <a:cs typeface="Calibri"/>
              </a:rPr>
              <a:t> </a:t>
            </a:r>
            <a:r>
              <a:rPr sz="3200" b="0" dirty="0">
                <a:latin typeface="Calibri"/>
                <a:cs typeface="Calibri"/>
              </a:rPr>
              <a:t>development</a:t>
            </a:r>
            <a:r>
              <a:rPr sz="3200" b="0" spc="295" dirty="0">
                <a:latin typeface="Calibri"/>
                <a:cs typeface="Calibri"/>
              </a:rPr>
              <a:t> </a:t>
            </a:r>
            <a:r>
              <a:rPr sz="3200" b="0" dirty="0">
                <a:latin typeface="Calibri"/>
                <a:cs typeface="Calibri"/>
              </a:rPr>
              <a:t>project</a:t>
            </a:r>
            <a:r>
              <a:rPr sz="3200" b="0" spc="305" dirty="0">
                <a:latin typeface="Calibri"/>
                <a:cs typeface="Calibri"/>
              </a:rPr>
              <a:t> </a:t>
            </a:r>
            <a:r>
              <a:rPr sz="3200" b="0" dirty="0">
                <a:latin typeface="Calibri"/>
                <a:cs typeface="Calibri"/>
              </a:rPr>
              <a:t>in</a:t>
            </a:r>
            <a:r>
              <a:rPr sz="3200" b="0" spc="305" dirty="0">
                <a:latin typeface="Calibri"/>
                <a:cs typeface="Calibri"/>
              </a:rPr>
              <a:t> </a:t>
            </a:r>
            <a:r>
              <a:rPr sz="3200" b="0" dirty="0">
                <a:latin typeface="Calibri"/>
                <a:cs typeface="Calibri"/>
              </a:rPr>
              <a:t>which</a:t>
            </a:r>
            <a:r>
              <a:rPr sz="3200" b="0" spc="305" dirty="0">
                <a:latin typeface="Calibri"/>
                <a:cs typeface="Calibri"/>
              </a:rPr>
              <a:t> </a:t>
            </a:r>
            <a:r>
              <a:rPr sz="3200" b="0" dirty="0">
                <a:latin typeface="Calibri"/>
                <a:cs typeface="Calibri"/>
              </a:rPr>
              <a:t>the</a:t>
            </a:r>
            <a:r>
              <a:rPr sz="3200" b="0" spc="305" dirty="0">
                <a:latin typeface="Calibri"/>
                <a:cs typeface="Calibri"/>
              </a:rPr>
              <a:t> </a:t>
            </a:r>
            <a:r>
              <a:rPr sz="3200" b="0" dirty="0">
                <a:latin typeface="Calibri"/>
                <a:cs typeface="Calibri"/>
              </a:rPr>
              <a:t>parameters</a:t>
            </a:r>
            <a:r>
              <a:rPr sz="3200" b="0" spc="295" dirty="0">
                <a:latin typeface="Calibri"/>
                <a:cs typeface="Calibri"/>
              </a:rPr>
              <a:t> </a:t>
            </a:r>
            <a:r>
              <a:rPr sz="3200" b="0" spc="-25" dirty="0">
                <a:latin typeface="Calibri"/>
                <a:cs typeface="Calibri"/>
              </a:rPr>
              <a:t>are </a:t>
            </a:r>
            <a:r>
              <a:rPr sz="3200" b="0" spc="-10" dirty="0">
                <a:latin typeface="Calibri"/>
                <a:cs typeface="Calibri"/>
              </a:rPr>
              <a:t>always</a:t>
            </a:r>
            <a:r>
              <a:rPr sz="3200" b="0" spc="-70" dirty="0">
                <a:latin typeface="Calibri"/>
                <a:cs typeface="Calibri"/>
              </a:rPr>
              <a:t> </a:t>
            </a:r>
            <a:r>
              <a:rPr sz="3200" u="heavy" dirty="0">
                <a:solidFill>
                  <a:srgbClr val="C00000"/>
                </a:solidFill>
                <a:uFill>
                  <a:solidFill>
                    <a:srgbClr val="C00000"/>
                  </a:solidFill>
                </a:uFill>
              </a:rPr>
              <a:t>changing</a:t>
            </a:r>
            <a:r>
              <a:rPr sz="3200" spc="-70" dirty="0">
                <a:solidFill>
                  <a:srgbClr val="C00000"/>
                </a:solidFill>
              </a:rPr>
              <a:t> </a:t>
            </a:r>
            <a:r>
              <a:rPr sz="3200" b="0" dirty="0">
                <a:latin typeface="Calibri"/>
                <a:cs typeface="Calibri"/>
              </a:rPr>
              <a:t>to</a:t>
            </a:r>
            <a:r>
              <a:rPr sz="3200" b="0" spc="-70" dirty="0">
                <a:latin typeface="Calibri"/>
                <a:cs typeface="Calibri"/>
              </a:rPr>
              <a:t> </a:t>
            </a:r>
            <a:r>
              <a:rPr sz="3200" b="0" dirty="0">
                <a:latin typeface="Calibri"/>
                <a:cs typeface="Calibri"/>
              </a:rPr>
              <a:t>meet</a:t>
            </a:r>
            <a:r>
              <a:rPr sz="3200" b="0" spc="-65" dirty="0">
                <a:latin typeface="Calibri"/>
                <a:cs typeface="Calibri"/>
              </a:rPr>
              <a:t> </a:t>
            </a:r>
            <a:r>
              <a:rPr sz="3200" b="0" spc="-10" dirty="0">
                <a:latin typeface="Calibri"/>
                <a:cs typeface="Calibri"/>
              </a:rPr>
              <a:t>developments</a:t>
            </a:r>
            <a:r>
              <a:rPr sz="3200" b="0" spc="-75" dirty="0">
                <a:latin typeface="Calibri"/>
                <a:cs typeface="Calibri"/>
              </a:rPr>
              <a:t> </a:t>
            </a:r>
            <a:r>
              <a:rPr sz="3200" b="0" dirty="0">
                <a:latin typeface="Calibri"/>
                <a:cs typeface="Calibri"/>
              </a:rPr>
              <a:t>in</a:t>
            </a:r>
            <a:r>
              <a:rPr sz="3200" b="0" spc="-65" dirty="0">
                <a:latin typeface="Calibri"/>
                <a:cs typeface="Calibri"/>
              </a:rPr>
              <a:t> </a:t>
            </a:r>
            <a:r>
              <a:rPr sz="3200" b="0" dirty="0">
                <a:latin typeface="Calibri"/>
                <a:cs typeface="Calibri"/>
              </a:rPr>
              <a:t>the</a:t>
            </a:r>
            <a:r>
              <a:rPr sz="3200" b="0" spc="-70" dirty="0">
                <a:latin typeface="Calibri"/>
                <a:cs typeface="Calibri"/>
              </a:rPr>
              <a:t> </a:t>
            </a:r>
            <a:r>
              <a:rPr sz="3200" b="0" spc="-10" dirty="0">
                <a:latin typeface="Calibri"/>
                <a:cs typeface="Calibri"/>
              </a:rPr>
              <a:t>industry</a:t>
            </a:r>
            <a:endParaRPr sz="32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2</a:t>
            </a:r>
            <a:endParaRPr sz="1200">
              <a:latin typeface="Calibri"/>
              <a:cs typeface="Calibri"/>
            </a:endParaRPr>
          </a:p>
        </p:txBody>
      </p:sp>
      <p:pic>
        <p:nvPicPr>
          <p:cNvPr id="5" name="Picture 4">
            <a:extLst>
              <a:ext uri="{FF2B5EF4-FFF2-40B4-BE49-F238E27FC236}">
                <a16:creationId xmlns:a16="http://schemas.microsoft.com/office/drawing/2014/main" id="{749B2E44-F353-9D2B-1334-EF4D93F680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0143" y="2211323"/>
            <a:ext cx="1045844"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libri"/>
                <a:cs typeface="Calibri"/>
              </a:rPr>
              <a:t>Definition</a:t>
            </a:r>
            <a:endParaRPr sz="2000">
              <a:latin typeface="Calibri"/>
              <a:cs typeface="Calibri"/>
            </a:endParaRPr>
          </a:p>
        </p:txBody>
      </p:sp>
      <p:sp>
        <p:nvSpPr>
          <p:cNvPr id="3" name="object 3"/>
          <p:cNvSpPr txBox="1"/>
          <p:nvPr/>
        </p:nvSpPr>
        <p:spPr>
          <a:xfrm>
            <a:off x="2547226" y="1483461"/>
            <a:ext cx="4053204" cy="1210945"/>
          </a:xfrm>
          <a:prstGeom prst="rect">
            <a:avLst/>
          </a:prstGeom>
        </p:spPr>
        <p:txBody>
          <a:bodyPr vert="horz" wrap="square" lIns="0" tIns="99060" rIns="0" bIns="0" rtlCol="0">
            <a:spAutoFit/>
          </a:bodyPr>
          <a:lstStyle/>
          <a:p>
            <a:pPr marL="864869">
              <a:lnSpc>
                <a:spcPct val="100000"/>
              </a:lnSpc>
              <a:spcBef>
                <a:spcPts val="780"/>
              </a:spcBef>
            </a:pPr>
            <a:r>
              <a:rPr sz="2800" b="1" u="heavy" spc="-10" dirty="0">
                <a:solidFill>
                  <a:srgbClr val="4472C4"/>
                </a:solidFill>
                <a:uFill>
                  <a:solidFill>
                    <a:srgbClr val="4472C4"/>
                  </a:solidFill>
                </a:uFill>
                <a:latin typeface="Calibri"/>
                <a:cs typeface="Calibri"/>
              </a:rPr>
              <a:t>Leader</a:t>
            </a:r>
            <a:r>
              <a:rPr sz="2800" b="1" u="heavy" spc="700" dirty="0">
                <a:solidFill>
                  <a:srgbClr val="4472C4"/>
                </a:solidFill>
                <a:uFill>
                  <a:solidFill>
                    <a:srgbClr val="4472C4"/>
                  </a:solidFill>
                </a:uFill>
                <a:latin typeface="Calibri"/>
                <a:cs typeface="Calibri"/>
              </a:rPr>
              <a:t> </a:t>
            </a:r>
            <a:endParaRPr sz="2800">
              <a:latin typeface="Calibri"/>
              <a:cs typeface="Calibri"/>
            </a:endParaRPr>
          </a:p>
          <a:p>
            <a:pPr marL="12700" marR="5080">
              <a:lnSpc>
                <a:spcPct val="100000"/>
              </a:lnSpc>
              <a:spcBef>
                <a:spcPts val="490"/>
              </a:spcBef>
            </a:pPr>
            <a:r>
              <a:rPr sz="2000" dirty="0">
                <a:latin typeface="Calibri"/>
                <a:cs typeface="Calibri"/>
              </a:rPr>
              <a:t>Guiding</a:t>
            </a:r>
            <a:r>
              <a:rPr sz="2000" spc="-55"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inspiring</a:t>
            </a:r>
            <a:r>
              <a:rPr sz="2000" spc="-5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team</a:t>
            </a:r>
            <a:r>
              <a:rPr sz="2000" spc="-45" dirty="0">
                <a:latin typeface="Calibri"/>
                <a:cs typeface="Calibri"/>
              </a:rPr>
              <a:t> </a:t>
            </a:r>
            <a:r>
              <a:rPr sz="2000" spc="-10" dirty="0">
                <a:latin typeface="Calibri"/>
                <a:cs typeface="Calibri"/>
              </a:rPr>
              <a:t>towards</a:t>
            </a:r>
            <a:r>
              <a:rPr sz="2000" spc="-45" dirty="0">
                <a:latin typeface="Calibri"/>
                <a:cs typeface="Calibri"/>
              </a:rPr>
              <a:t> </a:t>
            </a:r>
            <a:r>
              <a:rPr sz="2000" spc="-50" dirty="0">
                <a:latin typeface="Calibri"/>
                <a:cs typeface="Calibri"/>
              </a:rPr>
              <a:t>a </a:t>
            </a:r>
            <a:r>
              <a:rPr sz="2000" dirty="0">
                <a:latin typeface="Calibri"/>
                <a:cs typeface="Calibri"/>
              </a:rPr>
              <a:t>common</a:t>
            </a:r>
            <a:r>
              <a:rPr sz="2000" spc="-75" dirty="0">
                <a:latin typeface="Calibri"/>
                <a:cs typeface="Calibri"/>
              </a:rPr>
              <a:t> </a:t>
            </a:r>
            <a:r>
              <a:rPr sz="2000" spc="-20" dirty="0">
                <a:latin typeface="Calibri"/>
                <a:cs typeface="Calibri"/>
              </a:rPr>
              <a:t>goal</a:t>
            </a:r>
            <a:endParaRPr sz="2000">
              <a:latin typeface="Calibri"/>
              <a:cs typeface="Calibri"/>
            </a:endParaRPr>
          </a:p>
        </p:txBody>
      </p:sp>
      <p:sp>
        <p:nvSpPr>
          <p:cNvPr id="4" name="object 4"/>
          <p:cNvSpPr txBox="1"/>
          <p:nvPr/>
        </p:nvSpPr>
        <p:spPr>
          <a:xfrm>
            <a:off x="7131258" y="1483461"/>
            <a:ext cx="4291330" cy="5176520"/>
          </a:xfrm>
          <a:prstGeom prst="rect">
            <a:avLst/>
          </a:prstGeom>
        </p:spPr>
        <p:txBody>
          <a:bodyPr vert="horz" wrap="square" lIns="0" tIns="99060" rIns="0" bIns="0" rtlCol="0">
            <a:spAutoFit/>
          </a:bodyPr>
          <a:lstStyle/>
          <a:p>
            <a:pPr marR="131445" algn="ctr">
              <a:lnSpc>
                <a:spcPct val="100000"/>
              </a:lnSpc>
              <a:spcBef>
                <a:spcPts val="780"/>
              </a:spcBef>
            </a:pPr>
            <a:r>
              <a:rPr sz="2800" b="1" u="heavy" spc="-10" dirty="0">
                <a:solidFill>
                  <a:srgbClr val="4472C4"/>
                </a:solidFill>
                <a:uFill>
                  <a:solidFill>
                    <a:srgbClr val="4472C4"/>
                  </a:solidFill>
                </a:uFill>
                <a:latin typeface="Calibri"/>
                <a:cs typeface="Calibri"/>
              </a:rPr>
              <a:t>Manager</a:t>
            </a:r>
            <a:endParaRPr sz="2800">
              <a:latin typeface="Calibri"/>
              <a:cs typeface="Calibri"/>
            </a:endParaRPr>
          </a:p>
          <a:p>
            <a:pPr marL="12700" marR="261620">
              <a:lnSpc>
                <a:spcPct val="100000"/>
              </a:lnSpc>
              <a:spcBef>
                <a:spcPts val="490"/>
              </a:spcBef>
            </a:pPr>
            <a:r>
              <a:rPr sz="2000" dirty="0">
                <a:latin typeface="Calibri"/>
                <a:cs typeface="Calibri"/>
              </a:rPr>
              <a:t>Planning,</a:t>
            </a:r>
            <a:r>
              <a:rPr sz="2000" spc="-30" dirty="0">
                <a:latin typeface="Calibri"/>
                <a:cs typeface="Calibri"/>
              </a:rPr>
              <a:t> </a:t>
            </a:r>
            <a:r>
              <a:rPr sz="2000" spc="-10" dirty="0">
                <a:latin typeface="Calibri"/>
                <a:cs typeface="Calibri"/>
              </a:rPr>
              <a:t>organizing,</a:t>
            </a:r>
            <a:r>
              <a:rPr sz="2000" spc="-25" dirty="0">
                <a:latin typeface="Calibri"/>
                <a:cs typeface="Calibri"/>
              </a:rPr>
              <a:t> </a:t>
            </a:r>
            <a:r>
              <a:rPr sz="2000" dirty="0">
                <a:latin typeface="Calibri"/>
                <a:cs typeface="Calibri"/>
              </a:rPr>
              <a:t>and</a:t>
            </a:r>
            <a:r>
              <a:rPr sz="2000" spc="-30" dirty="0">
                <a:latin typeface="Calibri"/>
                <a:cs typeface="Calibri"/>
              </a:rPr>
              <a:t> </a:t>
            </a:r>
            <a:r>
              <a:rPr sz="2000" spc="-10" dirty="0">
                <a:latin typeface="Calibri"/>
                <a:cs typeface="Calibri"/>
              </a:rPr>
              <a:t>controlling resources</a:t>
            </a:r>
            <a:r>
              <a:rPr sz="2000" spc="-60" dirty="0">
                <a:latin typeface="Calibri"/>
                <a:cs typeface="Calibri"/>
              </a:rPr>
              <a:t> </a:t>
            </a:r>
            <a:r>
              <a:rPr sz="2000" dirty="0">
                <a:latin typeface="Calibri"/>
                <a:cs typeface="Calibri"/>
              </a:rPr>
              <a:t>to</a:t>
            </a:r>
            <a:r>
              <a:rPr sz="2000" spc="-70" dirty="0">
                <a:latin typeface="Calibri"/>
                <a:cs typeface="Calibri"/>
              </a:rPr>
              <a:t> </a:t>
            </a:r>
            <a:r>
              <a:rPr sz="2000" dirty="0">
                <a:latin typeface="Calibri"/>
                <a:cs typeface="Calibri"/>
              </a:rPr>
              <a:t>achieve</a:t>
            </a:r>
            <a:r>
              <a:rPr sz="2000" spc="-55" dirty="0">
                <a:latin typeface="Calibri"/>
                <a:cs typeface="Calibri"/>
              </a:rPr>
              <a:t> </a:t>
            </a:r>
            <a:r>
              <a:rPr sz="2000" dirty="0">
                <a:latin typeface="Calibri"/>
                <a:cs typeface="Calibri"/>
              </a:rPr>
              <a:t>project</a:t>
            </a:r>
            <a:r>
              <a:rPr sz="2000" spc="-60" dirty="0">
                <a:latin typeface="Calibri"/>
                <a:cs typeface="Calibri"/>
              </a:rPr>
              <a:t> </a:t>
            </a:r>
            <a:r>
              <a:rPr sz="2000" spc="-10" dirty="0">
                <a:latin typeface="Calibri"/>
                <a:cs typeface="Calibri"/>
              </a:rPr>
              <a:t>objectives</a:t>
            </a:r>
            <a:endParaRPr sz="2000">
              <a:latin typeface="Calibri"/>
              <a:cs typeface="Calibri"/>
            </a:endParaRPr>
          </a:p>
          <a:p>
            <a:pPr marL="12700" marR="311150">
              <a:lnSpc>
                <a:spcPct val="100000"/>
              </a:lnSpc>
              <a:spcBef>
                <a:spcPts val="1775"/>
              </a:spcBef>
            </a:pPr>
            <a:r>
              <a:rPr sz="2000" spc="-10" dirty="0">
                <a:solidFill>
                  <a:srgbClr val="C00000"/>
                </a:solidFill>
                <a:latin typeface="Calibri"/>
                <a:cs typeface="Calibri"/>
              </a:rPr>
              <a:t>Execution,</a:t>
            </a:r>
            <a:r>
              <a:rPr sz="2000" spc="-25" dirty="0">
                <a:solidFill>
                  <a:srgbClr val="C00000"/>
                </a:solidFill>
                <a:latin typeface="Calibri"/>
                <a:cs typeface="Calibri"/>
              </a:rPr>
              <a:t> </a:t>
            </a:r>
            <a:r>
              <a:rPr sz="2000" spc="-10" dirty="0">
                <a:solidFill>
                  <a:srgbClr val="C00000"/>
                </a:solidFill>
                <a:latin typeface="Calibri"/>
                <a:cs typeface="Calibri"/>
              </a:rPr>
              <a:t>coordination,</a:t>
            </a:r>
            <a:r>
              <a:rPr sz="2000" spc="-25" dirty="0">
                <a:solidFill>
                  <a:srgbClr val="C00000"/>
                </a:solidFill>
                <a:latin typeface="Calibri"/>
                <a:cs typeface="Calibri"/>
              </a:rPr>
              <a:t> </a:t>
            </a:r>
            <a:r>
              <a:rPr sz="2000" dirty="0">
                <a:solidFill>
                  <a:srgbClr val="C00000"/>
                </a:solidFill>
                <a:latin typeface="Calibri"/>
                <a:cs typeface="Calibri"/>
              </a:rPr>
              <a:t>and</a:t>
            </a:r>
            <a:r>
              <a:rPr sz="2000" spc="-20" dirty="0">
                <a:solidFill>
                  <a:srgbClr val="C00000"/>
                </a:solidFill>
                <a:latin typeface="Calibri"/>
                <a:cs typeface="Calibri"/>
              </a:rPr>
              <a:t> </a:t>
            </a:r>
            <a:r>
              <a:rPr sz="2000" spc="-10" dirty="0">
                <a:solidFill>
                  <a:srgbClr val="C00000"/>
                </a:solidFill>
                <a:latin typeface="Calibri"/>
                <a:cs typeface="Calibri"/>
              </a:rPr>
              <a:t>problem- solving</a:t>
            </a:r>
            <a:endParaRPr sz="2000">
              <a:latin typeface="Calibri"/>
              <a:cs typeface="Calibri"/>
            </a:endParaRPr>
          </a:p>
          <a:p>
            <a:pPr marL="12700" marR="54610">
              <a:lnSpc>
                <a:spcPct val="100000"/>
              </a:lnSpc>
              <a:spcBef>
                <a:spcPts val="505"/>
              </a:spcBef>
            </a:pPr>
            <a:r>
              <a:rPr sz="2000" dirty="0">
                <a:latin typeface="Calibri"/>
                <a:cs typeface="Calibri"/>
              </a:rPr>
              <a:t>Planning,</a:t>
            </a:r>
            <a:r>
              <a:rPr sz="2000" spc="-50" dirty="0">
                <a:latin typeface="Calibri"/>
                <a:cs typeface="Calibri"/>
              </a:rPr>
              <a:t> </a:t>
            </a:r>
            <a:r>
              <a:rPr sz="2000" dirty="0">
                <a:latin typeface="Calibri"/>
                <a:cs typeface="Calibri"/>
              </a:rPr>
              <a:t>budgeting,</a:t>
            </a:r>
            <a:r>
              <a:rPr sz="2000" spc="-45" dirty="0">
                <a:latin typeface="Calibri"/>
                <a:cs typeface="Calibri"/>
              </a:rPr>
              <a:t> </a:t>
            </a:r>
            <a:r>
              <a:rPr sz="2000" dirty="0">
                <a:latin typeface="Calibri"/>
                <a:cs typeface="Calibri"/>
              </a:rPr>
              <a:t>scheduling,</a:t>
            </a:r>
            <a:r>
              <a:rPr sz="2000" spc="-50" dirty="0">
                <a:latin typeface="Calibri"/>
                <a:cs typeface="Calibri"/>
              </a:rPr>
              <a:t> </a:t>
            </a:r>
            <a:r>
              <a:rPr sz="2000" dirty="0">
                <a:latin typeface="Calibri"/>
                <a:cs typeface="Calibri"/>
              </a:rPr>
              <a:t>and</a:t>
            </a:r>
            <a:r>
              <a:rPr sz="2000" spc="-45" dirty="0">
                <a:latin typeface="Calibri"/>
                <a:cs typeface="Calibri"/>
              </a:rPr>
              <a:t> </a:t>
            </a:r>
            <a:r>
              <a:rPr sz="2000" spc="-20" dirty="0">
                <a:latin typeface="Calibri"/>
                <a:cs typeface="Calibri"/>
              </a:rPr>
              <a:t>risk </a:t>
            </a:r>
            <a:r>
              <a:rPr sz="2000" spc="-10" dirty="0">
                <a:latin typeface="Calibri"/>
                <a:cs typeface="Calibri"/>
              </a:rPr>
              <a:t>management</a:t>
            </a:r>
            <a:endParaRPr sz="2000">
              <a:latin typeface="Calibri"/>
              <a:cs typeface="Calibri"/>
            </a:endParaRPr>
          </a:p>
          <a:p>
            <a:pPr marL="12700">
              <a:lnSpc>
                <a:spcPct val="100000"/>
              </a:lnSpc>
              <a:spcBef>
                <a:spcPts val="600"/>
              </a:spcBef>
            </a:pPr>
            <a:r>
              <a:rPr sz="2000" spc="-20" dirty="0">
                <a:solidFill>
                  <a:srgbClr val="C00000"/>
                </a:solidFill>
                <a:latin typeface="Calibri"/>
                <a:cs typeface="Calibri"/>
              </a:rPr>
              <a:t>Tactical</a:t>
            </a:r>
            <a:r>
              <a:rPr sz="2000" spc="-15" dirty="0">
                <a:solidFill>
                  <a:srgbClr val="C00000"/>
                </a:solidFill>
                <a:latin typeface="Calibri"/>
                <a:cs typeface="Calibri"/>
              </a:rPr>
              <a:t> </a:t>
            </a:r>
            <a:r>
              <a:rPr sz="2000" dirty="0">
                <a:solidFill>
                  <a:srgbClr val="C00000"/>
                </a:solidFill>
                <a:latin typeface="Calibri"/>
                <a:cs typeface="Calibri"/>
              </a:rPr>
              <a:t>and</a:t>
            </a:r>
            <a:r>
              <a:rPr sz="2000" spc="-20" dirty="0">
                <a:solidFill>
                  <a:srgbClr val="C00000"/>
                </a:solidFill>
                <a:latin typeface="Calibri"/>
                <a:cs typeface="Calibri"/>
              </a:rPr>
              <a:t> </a:t>
            </a:r>
            <a:r>
              <a:rPr sz="2000" spc="-25" dirty="0">
                <a:solidFill>
                  <a:srgbClr val="C00000"/>
                </a:solidFill>
                <a:latin typeface="Calibri"/>
                <a:cs typeface="Calibri"/>
              </a:rPr>
              <a:t>short-</a:t>
            </a:r>
            <a:r>
              <a:rPr sz="2000" spc="-20" dirty="0">
                <a:solidFill>
                  <a:srgbClr val="C00000"/>
                </a:solidFill>
                <a:latin typeface="Calibri"/>
                <a:cs typeface="Calibri"/>
              </a:rPr>
              <a:t>term</a:t>
            </a:r>
            <a:endParaRPr sz="2000">
              <a:latin typeface="Calibri"/>
              <a:cs typeface="Calibri"/>
            </a:endParaRPr>
          </a:p>
          <a:p>
            <a:pPr marL="12700" marR="351790">
              <a:lnSpc>
                <a:spcPct val="100000"/>
              </a:lnSpc>
              <a:spcBef>
                <a:spcPts val="625"/>
              </a:spcBef>
            </a:pPr>
            <a:r>
              <a:rPr sz="2000" dirty="0">
                <a:latin typeface="Calibri"/>
                <a:cs typeface="Calibri"/>
              </a:rPr>
              <a:t>Coordinating,</a:t>
            </a:r>
            <a:r>
              <a:rPr sz="2000" spc="-65" dirty="0">
                <a:latin typeface="Calibri"/>
                <a:cs typeface="Calibri"/>
              </a:rPr>
              <a:t> </a:t>
            </a:r>
            <a:r>
              <a:rPr sz="2000" dirty="0">
                <a:latin typeface="Calibri"/>
                <a:cs typeface="Calibri"/>
              </a:rPr>
              <a:t>reporting,</a:t>
            </a:r>
            <a:r>
              <a:rPr sz="2000" spc="-60" dirty="0">
                <a:latin typeface="Calibri"/>
                <a:cs typeface="Calibri"/>
              </a:rPr>
              <a:t> </a:t>
            </a:r>
            <a:r>
              <a:rPr sz="2000" dirty="0">
                <a:latin typeface="Calibri"/>
                <a:cs typeface="Calibri"/>
              </a:rPr>
              <a:t>and</a:t>
            </a:r>
            <a:r>
              <a:rPr sz="2000" spc="-60" dirty="0">
                <a:latin typeface="Calibri"/>
                <a:cs typeface="Calibri"/>
              </a:rPr>
              <a:t> </a:t>
            </a:r>
            <a:r>
              <a:rPr sz="2000" spc="-10" dirty="0">
                <a:latin typeface="Calibri"/>
                <a:cs typeface="Calibri"/>
              </a:rPr>
              <a:t>resolving conflicts</a:t>
            </a:r>
            <a:endParaRPr sz="2000">
              <a:latin typeface="Calibri"/>
              <a:cs typeface="Calibri"/>
            </a:endParaRPr>
          </a:p>
          <a:p>
            <a:pPr marL="12700" marR="210820">
              <a:lnSpc>
                <a:spcPct val="100000"/>
              </a:lnSpc>
              <a:spcBef>
                <a:spcPts val="645"/>
              </a:spcBef>
            </a:pPr>
            <a:r>
              <a:rPr sz="2000" spc="-10" dirty="0">
                <a:solidFill>
                  <a:srgbClr val="C00000"/>
                </a:solidFill>
                <a:latin typeface="Calibri"/>
                <a:cs typeface="Calibri"/>
              </a:rPr>
              <a:t>Organizational,</a:t>
            </a:r>
            <a:r>
              <a:rPr sz="2000" spc="-45" dirty="0">
                <a:solidFill>
                  <a:srgbClr val="C00000"/>
                </a:solidFill>
                <a:latin typeface="Calibri"/>
                <a:cs typeface="Calibri"/>
              </a:rPr>
              <a:t> </a:t>
            </a:r>
            <a:r>
              <a:rPr sz="2000" spc="-10" dirty="0">
                <a:solidFill>
                  <a:srgbClr val="C00000"/>
                </a:solidFill>
                <a:latin typeface="Calibri"/>
                <a:cs typeface="Calibri"/>
              </a:rPr>
              <a:t>technical,</a:t>
            </a:r>
            <a:r>
              <a:rPr sz="2000" spc="-45" dirty="0">
                <a:solidFill>
                  <a:srgbClr val="C00000"/>
                </a:solidFill>
                <a:latin typeface="Calibri"/>
                <a:cs typeface="Calibri"/>
              </a:rPr>
              <a:t> </a:t>
            </a:r>
            <a:r>
              <a:rPr sz="2000" dirty="0">
                <a:solidFill>
                  <a:srgbClr val="C00000"/>
                </a:solidFill>
                <a:latin typeface="Calibri"/>
                <a:cs typeface="Calibri"/>
              </a:rPr>
              <a:t>and</a:t>
            </a:r>
            <a:r>
              <a:rPr sz="2000" spc="-40" dirty="0">
                <a:solidFill>
                  <a:srgbClr val="C00000"/>
                </a:solidFill>
                <a:latin typeface="Calibri"/>
                <a:cs typeface="Calibri"/>
              </a:rPr>
              <a:t> </a:t>
            </a:r>
            <a:r>
              <a:rPr sz="2000" spc="-10" dirty="0">
                <a:solidFill>
                  <a:srgbClr val="C00000"/>
                </a:solidFill>
                <a:latin typeface="Calibri"/>
                <a:cs typeface="Calibri"/>
              </a:rPr>
              <a:t>problem- solving</a:t>
            </a:r>
            <a:endParaRPr sz="2000">
              <a:latin typeface="Calibri"/>
              <a:cs typeface="Calibri"/>
            </a:endParaRPr>
          </a:p>
          <a:p>
            <a:pPr marL="12700" marR="5080">
              <a:lnSpc>
                <a:spcPct val="100000"/>
              </a:lnSpc>
              <a:spcBef>
                <a:spcPts val="675"/>
              </a:spcBef>
            </a:pPr>
            <a:r>
              <a:rPr sz="2000" dirty="0">
                <a:latin typeface="Calibri"/>
                <a:cs typeface="Calibri"/>
              </a:rPr>
              <a:t>Completion</a:t>
            </a:r>
            <a:r>
              <a:rPr sz="2000" spc="-60"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project</a:t>
            </a:r>
            <a:r>
              <a:rPr sz="2000" spc="-50" dirty="0">
                <a:latin typeface="Calibri"/>
                <a:cs typeface="Calibri"/>
              </a:rPr>
              <a:t> </a:t>
            </a:r>
            <a:r>
              <a:rPr sz="2000" spc="-10" dirty="0">
                <a:latin typeface="Calibri"/>
                <a:cs typeface="Calibri"/>
              </a:rPr>
              <a:t>deliverables</a:t>
            </a:r>
            <a:r>
              <a:rPr sz="2000" spc="-55" dirty="0">
                <a:latin typeface="Calibri"/>
                <a:cs typeface="Calibri"/>
              </a:rPr>
              <a:t> </a:t>
            </a:r>
            <a:r>
              <a:rPr sz="2000" spc="-10" dirty="0">
                <a:latin typeface="Calibri"/>
                <a:cs typeface="Calibri"/>
              </a:rPr>
              <a:t>within constraints</a:t>
            </a:r>
            <a:endParaRPr sz="2000">
              <a:latin typeface="Calibri"/>
              <a:cs typeface="Calibri"/>
            </a:endParaRPr>
          </a:p>
        </p:txBody>
      </p:sp>
      <p:sp>
        <p:nvSpPr>
          <p:cNvPr id="5" name="object 5"/>
          <p:cNvSpPr txBox="1"/>
          <p:nvPr/>
        </p:nvSpPr>
        <p:spPr>
          <a:xfrm>
            <a:off x="610143" y="3046476"/>
            <a:ext cx="613410" cy="330200"/>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C00000"/>
                </a:solidFill>
                <a:latin typeface="Calibri"/>
                <a:cs typeface="Calibri"/>
              </a:rPr>
              <a:t>Focus</a:t>
            </a:r>
            <a:endParaRPr sz="2000">
              <a:latin typeface="Calibri"/>
              <a:cs typeface="Calibri"/>
            </a:endParaRPr>
          </a:p>
        </p:txBody>
      </p:sp>
      <p:sp>
        <p:nvSpPr>
          <p:cNvPr id="6" name="object 6"/>
          <p:cNvSpPr txBox="1"/>
          <p:nvPr/>
        </p:nvSpPr>
        <p:spPr>
          <a:xfrm>
            <a:off x="2547226" y="3046476"/>
            <a:ext cx="4112260" cy="361315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00000"/>
                </a:solidFill>
                <a:latin typeface="Calibri"/>
                <a:cs typeface="Calibri"/>
              </a:rPr>
              <a:t>Vision,</a:t>
            </a:r>
            <a:r>
              <a:rPr sz="2000" spc="-35" dirty="0">
                <a:solidFill>
                  <a:srgbClr val="C00000"/>
                </a:solidFill>
                <a:latin typeface="Calibri"/>
                <a:cs typeface="Calibri"/>
              </a:rPr>
              <a:t> </a:t>
            </a:r>
            <a:r>
              <a:rPr sz="2000" spc="-30" dirty="0">
                <a:solidFill>
                  <a:srgbClr val="C00000"/>
                </a:solidFill>
                <a:latin typeface="Calibri"/>
                <a:cs typeface="Calibri"/>
              </a:rPr>
              <a:t>strategy,</a:t>
            </a:r>
            <a:r>
              <a:rPr sz="2000" spc="-35" dirty="0">
                <a:solidFill>
                  <a:srgbClr val="C00000"/>
                </a:solidFill>
                <a:latin typeface="Calibri"/>
                <a:cs typeface="Calibri"/>
              </a:rPr>
              <a:t> </a:t>
            </a:r>
            <a:r>
              <a:rPr sz="2000" dirty="0">
                <a:solidFill>
                  <a:srgbClr val="C00000"/>
                </a:solidFill>
                <a:latin typeface="Calibri"/>
                <a:cs typeface="Calibri"/>
              </a:rPr>
              <a:t>and</a:t>
            </a:r>
            <a:r>
              <a:rPr sz="2000" spc="-35" dirty="0">
                <a:solidFill>
                  <a:srgbClr val="C00000"/>
                </a:solidFill>
                <a:latin typeface="Calibri"/>
                <a:cs typeface="Calibri"/>
              </a:rPr>
              <a:t> </a:t>
            </a:r>
            <a:r>
              <a:rPr sz="2000" spc="-10" dirty="0">
                <a:solidFill>
                  <a:srgbClr val="C00000"/>
                </a:solidFill>
                <a:latin typeface="Calibri"/>
                <a:cs typeface="Calibri"/>
              </a:rPr>
              <a:t>motivation</a:t>
            </a:r>
            <a:endParaRPr sz="2000">
              <a:latin typeface="Calibri"/>
              <a:cs typeface="Calibri"/>
            </a:endParaRPr>
          </a:p>
          <a:p>
            <a:pPr marL="12700" marR="452755">
              <a:lnSpc>
                <a:spcPct val="100000"/>
              </a:lnSpc>
              <a:spcBef>
                <a:spcPts val="1700"/>
              </a:spcBef>
            </a:pPr>
            <a:r>
              <a:rPr sz="2000" dirty="0">
                <a:latin typeface="Calibri"/>
                <a:cs typeface="Calibri"/>
              </a:rPr>
              <a:t>Setting</a:t>
            </a:r>
            <a:r>
              <a:rPr sz="2000" spc="-95" dirty="0">
                <a:latin typeface="Calibri"/>
                <a:cs typeface="Calibri"/>
              </a:rPr>
              <a:t> </a:t>
            </a:r>
            <a:r>
              <a:rPr sz="2000" dirty="0">
                <a:latin typeface="Calibri"/>
                <a:cs typeface="Calibri"/>
              </a:rPr>
              <a:t>direction,</a:t>
            </a:r>
            <a:r>
              <a:rPr sz="2000" spc="-85" dirty="0">
                <a:latin typeface="Calibri"/>
                <a:cs typeface="Calibri"/>
              </a:rPr>
              <a:t> </a:t>
            </a:r>
            <a:r>
              <a:rPr sz="2000" dirty="0">
                <a:latin typeface="Calibri"/>
                <a:cs typeface="Calibri"/>
              </a:rPr>
              <a:t>empowering,</a:t>
            </a:r>
            <a:r>
              <a:rPr sz="2000" spc="-85" dirty="0">
                <a:latin typeface="Calibri"/>
                <a:cs typeface="Calibri"/>
              </a:rPr>
              <a:t> </a:t>
            </a:r>
            <a:r>
              <a:rPr sz="2000" spc="-25" dirty="0">
                <a:latin typeface="Calibri"/>
                <a:cs typeface="Calibri"/>
              </a:rPr>
              <a:t>and </a:t>
            </a:r>
            <a:r>
              <a:rPr sz="2000" spc="-10" dirty="0">
                <a:latin typeface="Calibri"/>
                <a:cs typeface="Calibri"/>
              </a:rPr>
              <a:t>fostering</a:t>
            </a:r>
            <a:r>
              <a:rPr sz="2000" spc="-50" dirty="0">
                <a:latin typeface="Calibri"/>
                <a:cs typeface="Calibri"/>
              </a:rPr>
              <a:t> </a:t>
            </a:r>
            <a:r>
              <a:rPr sz="2000" spc="-10" dirty="0">
                <a:latin typeface="Calibri"/>
                <a:cs typeface="Calibri"/>
              </a:rPr>
              <a:t>innovation</a:t>
            </a:r>
            <a:endParaRPr sz="2000">
              <a:latin typeface="Calibri"/>
              <a:cs typeface="Calibri"/>
            </a:endParaRPr>
          </a:p>
          <a:p>
            <a:pPr marL="12700">
              <a:lnSpc>
                <a:spcPct val="100000"/>
              </a:lnSpc>
              <a:spcBef>
                <a:spcPts val="600"/>
              </a:spcBef>
            </a:pPr>
            <a:r>
              <a:rPr sz="2000" spc="-10" dirty="0">
                <a:solidFill>
                  <a:srgbClr val="C00000"/>
                </a:solidFill>
                <a:latin typeface="Calibri"/>
                <a:cs typeface="Calibri"/>
              </a:rPr>
              <a:t>Strategic</a:t>
            </a:r>
            <a:r>
              <a:rPr sz="2000" spc="-20" dirty="0">
                <a:solidFill>
                  <a:srgbClr val="C00000"/>
                </a:solidFill>
                <a:latin typeface="Calibri"/>
                <a:cs typeface="Calibri"/>
              </a:rPr>
              <a:t> </a:t>
            </a:r>
            <a:r>
              <a:rPr sz="2000" dirty="0">
                <a:solidFill>
                  <a:srgbClr val="C00000"/>
                </a:solidFill>
                <a:latin typeface="Calibri"/>
                <a:cs typeface="Calibri"/>
              </a:rPr>
              <a:t>and</a:t>
            </a:r>
            <a:r>
              <a:rPr sz="2000" spc="-20" dirty="0">
                <a:solidFill>
                  <a:srgbClr val="C00000"/>
                </a:solidFill>
                <a:latin typeface="Calibri"/>
                <a:cs typeface="Calibri"/>
              </a:rPr>
              <a:t> </a:t>
            </a:r>
            <a:r>
              <a:rPr sz="2000" spc="-10" dirty="0">
                <a:solidFill>
                  <a:srgbClr val="C00000"/>
                </a:solidFill>
                <a:latin typeface="Calibri"/>
                <a:cs typeface="Calibri"/>
              </a:rPr>
              <a:t>long-</a:t>
            </a:r>
            <a:r>
              <a:rPr sz="2000" spc="-20" dirty="0">
                <a:solidFill>
                  <a:srgbClr val="C00000"/>
                </a:solidFill>
                <a:latin typeface="Calibri"/>
                <a:cs typeface="Calibri"/>
              </a:rPr>
              <a:t>term</a:t>
            </a:r>
            <a:endParaRPr sz="2000">
              <a:latin typeface="Calibri"/>
              <a:cs typeface="Calibri"/>
            </a:endParaRPr>
          </a:p>
          <a:p>
            <a:pPr marL="12700" marR="5080">
              <a:lnSpc>
                <a:spcPct val="100000"/>
              </a:lnSpc>
              <a:spcBef>
                <a:spcPts val="625"/>
              </a:spcBef>
            </a:pPr>
            <a:r>
              <a:rPr sz="2000" dirty="0">
                <a:latin typeface="Calibri"/>
                <a:cs typeface="Calibri"/>
              </a:rPr>
              <a:t>Inspiring,</a:t>
            </a:r>
            <a:r>
              <a:rPr sz="2000" spc="-55" dirty="0">
                <a:latin typeface="Calibri"/>
                <a:cs typeface="Calibri"/>
              </a:rPr>
              <a:t> </a:t>
            </a:r>
            <a:r>
              <a:rPr sz="2000" dirty="0">
                <a:latin typeface="Calibri"/>
                <a:cs typeface="Calibri"/>
              </a:rPr>
              <a:t>motivating,</a:t>
            </a:r>
            <a:r>
              <a:rPr sz="2000" spc="-50"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aligning</a:t>
            </a:r>
            <a:r>
              <a:rPr sz="2000" spc="-55" dirty="0">
                <a:latin typeface="Calibri"/>
                <a:cs typeface="Calibri"/>
              </a:rPr>
              <a:t> </a:t>
            </a:r>
            <a:r>
              <a:rPr sz="2000" spc="-20" dirty="0">
                <a:latin typeface="Calibri"/>
                <a:cs typeface="Calibri"/>
              </a:rPr>
              <a:t>team </a:t>
            </a:r>
            <a:r>
              <a:rPr sz="2000" spc="-10" dirty="0">
                <a:latin typeface="Calibri"/>
                <a:cs typeface="Calibri"/>
              </a:rPr>
              <a:t>members</a:t>
            </a:r>
            <a:endParaRPr sz="2000">
              <a:latin typeface="Calibri"/>
              <a:cs typeface="Calibri"/>
            </a:endParaRPr>
          </a:p>
          <a:p>
            <a:pPr marL="12700" marR="564515">
              <a:lnSpc>
                <a:spcPct val="100000"/>
              </a:lnSpc>
              <a:spcBef>
                <a:spcPts val="650"/>
              </a:spcBef>
            </a:pPr>
            <a:r>
              <a:rPr sz="2000" dirty="0">
                <a:solidFill>
                  <a:srgbClr val="C00000"/>
                </a:solidFill>
                <a:latin typeface="Calibri"/>
                <a:cs typeface="Calibri"/>
              </a:rPr>
              <a:t>Emotional</a:t>
            </a:r>
            <a:r>
              <a:rPr sz="2000" spc="-40" dirty="0">
                <a:solidFill>
                  <a:srgbClr val="C00000"/>
                </a:solidFill>
                <a:latin typeface="Calibri"/>
                <a:cs typeface="Calibri"/>
              </a:rPr>
              <a:t> </a:t>
            </a:r>
            <a:r>
              <a:rPr sz="2000" spc="-10" dirty="0">
                <a:solidFill>
                  <a:srgbClr val="C00000"/>
                </a:solidFill>
                <a:latin typeface="Calibri"/>
                <a:cs typeface="Calibri"/>
              </a:rPr>
              <a:t>intelligence,</a:t>
            </a:r>
            <a:r>
              <a:rPr sz="2000" spc="-45" dirty="0">
                <a:solidFill>
                  <a:srgbClr val="C00000"/>
                </a:solidFill>
                <a:latin typeface="Calibri"/>
                <a:cs typeface="Calibri"/>
              </a:rPr>
              <a:t> </a:t>
            </a:r>
            <a:r>
              <a:rPr sz="2000" dirty="0">
                <a:solidFill>
                  <a:srgbClr val="C00000"/>
                </a:solidFill>
                <a:latin typeface="Calibri"/>
                <a:cs typeface="Calibri"/>
              </a:rPr>
              <a:t>vision,</a:t>
            </a:r>
            <a:r>
              <a:rPr sz="2000" spc="-40" dirty="0">
                <a:solidFill>
                  <a:srgbClr val="C00000"/>
                </a:solidFill>
                <a:latin typeface="Calibri"/>
                <a:cs typeface="Calibri"/>
              </a:rPr>
              <a:t> </a:t>
            </a:r>
            <a:r>
              <a:rPr sz="2000" spc="-25" dirty="0">
                <a:solidFill>
                  <a:srgbClr val="C00000"/>
                </a:solidFill>
                <a:latin typeface="Calibri"/>
                <a:cs typeface="Calibri"/>
              </a:rPr>
              <a:t>and </a:t>
            </a:r>
            <a:r>
              <a:rPr sz="2000" spc="-10" dirty="0">
                <a:solidFill>
                  <a:srgbClr val="C00000"/>
                </a:solidFill>
                <a:latin typeface="Calibri"/>
                <a:cs typeface="Calibri"/>
              </a:rPr>
              <a:t>communication</a:t>
            </a:r>
            <a:endParaRPr sz="2000">
              <a:latin typeface="Calibri"/>
              <a:cs typeface="Calibri"/>
            </a:endParaRPr>
          </a:p>
          <a:p>
            <a:pPr marL="12700" marR="22225">
              <a:lnSpc>
                <a:spcPct val="100000"/>
              </a:lnSpc>
              <a:spcBef>
                <a:spcPts val="670"/>
              </a:spcBef>
            </a:pPr>
            <a:r>
              <a:rPr sz="2000" dirty="0">
                <a:latin typeface="Calibri"/>
                <a:cs typeface="Calibri"/>
              </a:rPr>
              <a:t>Successful</a:t>
            </a:r>
            <a:r>
              <a:rPr sz="2000" spc="-45" dirty="0">
                <a:latin typeface="Calibri"/>
                <a:cs typeface="Calibri"/>
              </a:rPr>
              <a:t> </a:t>
            </a:r>
            <a:r>
              <a:rPr sz="2000" spc="-10" dirty="0">
                <a:latin typeface="Calibri"/>
                <a:cs typeface="Calibri"/>
              </a:rPr>
              <a:t>achievement</a:t>
            </a:r>
            <a:r>
              <a:rPr sz="2000" spc="-4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project's </a:t>
            </a:r>
            <a:r>
              <a:rPr sz="2000" dirty="0">
                <a:latin typeface="Calibri"/>
                <a:cs typeface="Calibri"/>
              </a:rPr>
              <a:t>vision</a:t>
            </a:r>
            <a:r>
              <a:rPr sz="2000" spc="-25" dirty="0">
                <a:latin typeface="Calibri"/>
                <a:cs typeface="Calibri"/>
              </a:rPr>
              <a:t> </a:t>
            </a:r>
            <a:r>
              <a:rPr sz="2000" dirty="0">
                <a:latin typeface="Calibri"/>
                <a:cs typeface="Calibri"/>
              </a:rPr>
              <a:t>and</a:t>
            </a:r>
            <a:r>
              <a:rPr sz="2000" spc="-25" dirty="0">
                <a:latin typeface="Calibri"/>
                <a:cs typeface="Calibri"/>
              </a:rPr>
              <a:t> </a:t>
            </a:r>
            <a:r>
              <a:rPr sz="2000" spc="-20" dirty="0">
                <a:latin typeface="Calibri"/>
                <a:cs typeface="Calibri"/>
              </a:rPr>
              <a:t>goals</a:t>
            </a:r>
            <a:endParaRPr sz="2000">
              <a:latin typeface="Calibri"/>
              <a:cs typeface="Calibri"/>
            </a:endParaRPr>
          </a:p>
        </p:txBody>
      </p:sp>
      <p:sp>
        <p:nvSpPr>
          <p:cNvPr id="7" name="object 7"/>
          <p:cNvSpPr txBox="1"/>
          <p:nvPr/>
        </p:nvSpPr>
        <p:spPr>
          <a:xfrm>
            <a:off x="610143" y="3720084"/>
            <a:ext cx="1731645" cy="140017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libri"/>
                <a:cs typeface="Calibri"/>
              </a:rPr>
              <a:t>Responsibilities</a:t>
            </a:r>
            <a:endParaRPr sz="2000">
              <a:latin typeface="Calibri"/>
              <a:cs typeface="Calibri"/>
            </a:endParaRPr>
          </a:p>
          <a:p>
            <a:pPr marL="12700" marR="5080">
              <a:lnSpc>
                <a:spcPts val="4220"/>
              </a:lnSpc>
              <a:spcBef>
                <a:spcPts val="220"/>
              </a:spcBef>
            </a:pPr>
            <a:r>
              <a:rPr sz="2000" spc="-10" dirty="0">
                <a:solidFill>
                  <a:srgbClr val="C00000"/>
                </a:solidFill>
                <a:latin typeface="Calibri"/>
                <a:cs typeface="Calibri"/>
              </a:rPr>
              <a:t>Decision-making </a:t>
            </a:r>
            <a:r>
              <a:rPr sz="2000" spc="-10" dirty="0">
                <a:latin typeface="Calibri"/>
                <a:cs typeface="Calibri"/>
              </a:rPr>
              <a:t>Communication</a:t>
            </a:r>
            <a:endParaRPr sz="2000">
              <a:latin typeface="Calibri"/>
              <a:cs typeface="Calibri"/>
            </a:endParaRPr>
          </a:p>
        </p:txBody>
      </p:sp>
      <p:sp>
        <p:nvSpPr>
          <p:cNvPr id="8" name="object 8"/>
          <p:cNvSpPr txBox="1"/>
          <p:nvPr/>
        </p:nvSpPr>
        <p:spPr>
          <a:xfrm>
            <a:off x="610143" y="5481828"/>
            <a:ext cx="535305" cy="330200"/>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C00000"/>
                </a:solidFill>
                <a:latin typeface="Calibri"/>
                <a:cs typeface="Calibri"/>
              </a:rPr>
              <a:t>Skills</a:t>
            </a:r>
            <a:endParaRPr sz="2000">
              <a:latin typeface="Calibri"/>
              <a:cs typeface="Calibri"/>
            </a:endParaRPr>
          </a:p>
        </p:txBody>
      </p:sp>
      <p:sp>
        <p:nvSpPr>
          <p:cNvPr id="9" name="object 9"/>
          <p:cNvSpPr txBox="1"/>
          <p:nvPr/>
        </p:nvSpPr>
        <p:spPr>
          <a:xfrm>
            <a:off x="610143" y="6176772"/>
            <a:ext cx="978535"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libri"/>
                <a:cs typeface="Calibri"/>
              </a:rPr>
              <a:t>Outcome</a:t>
            </a:r>
            <a:endParaRPr sz="2000">
              <a:latin typeface="Calibri"/>
              <a:cs typeface="Calibri"/>
            </a:endParaRPr>
          </a:p>
        </p:txBody>
      </p:sp>
      <p:sp>
        <p:nvSpPr>
          <p:cNvPr id="10" name="object 10"/>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3</a:t>
            </a:r>
            <a:endParaRPr sz="1200">
              <a:latin typeface="Calibri"/>
              <a:cs typeface="Calibri"/>
            </a:endParaRPr>
          </a:p>
        </p:txBody>
      </p:sp>
      <p:sp>
        <p:nvSpPr>
          <p:cNvPr id="11" name="object 11"/>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45" dirty="0"/>
              <a:t> </a:t>
            </a:r>
            <a:r>
              <a:rPr spc="80" dirty="0"/>
              <a:t>versus</a:t>
            </a:r>
            <a:r>
              <a:rPr spc="145" dirty="0"/>
              <a:t> </a:t>
            </a:r>
            <a:r>
              <a:rPr spc="110" dirty="0"/>
              <a:t>Leading</a:t>
            </a:r>
            <a:r>
              <a:rPr spc="145" dirty="0"/>
              <a:t> </a:t>
            </a:r>
            <a:r>
              <a:rPr dirty="0"/>
              <a:t>a</a:t>
            </a:r>
            <a:r>
              <a:rPr spc="150" dirty="0"/>
              <a:t> </a:t>
            </a:r>
            <a:r>
              <a:rPr spc="85" dirty="0"/>
              <a:t>Project</a:t>
            </a:r>
            <a:r>
              <a:rPr spc="140" dirty="0"/>
              <a:t> </a:t>
            </a:r>
            <a:r>
              <a:rPr sz="1950" spc="-10" dirty="0"/>
              <a:t>(2/2)</a:t>
            </a:r>
            <a:endParaRPr sz="1950"/>
          </a:p>
        </p:txBody>
      </p:sp>
      <p:pic>
        <p:nvPicPr>
          <p:cNvPr id="12" name="Picture 11">
            <a:extLst>
              <a:ext uri="{FF2B5EF4-FFF2-40B4-BE49-F238E27FC236}">
                <a16:creationId xmlns:a16="http://schemas.microsoft.com/office/drawing/2014/main" id="{939A6776-8F4C-C7CA-0FFA-A97599E2AB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(1/6)</a:t>
            </a:r>
            <a:endParaRPr sz="1950"/>
          </a:p>
        </p:txBody>
      </p:sp>
      <p:sp>
        <p:nvSpPr>
          <p:cNvPr id="3" name="object 3"/>
          <p:cNvSpPr txBox="1">
            <a:spLocks noGrp="1"/>
          </p:cNvSpPr>
          <p:nvPr>
            <p:ph type="body" idx="1"/>
          </p:nvPr>
        </p:nvSpPr>
        <p:spPr>
          <a:prstGeom prst="rect">
            <a:avLst/>
          </a:prstGeom>
        </p:spPr>
        <p:txBody>
          <a:bodyPr vert="horz" wrap="square" lIns="0" tIns="63500" rIns="0" bIns="0" rtlCol="0">
            <a:spAutoFit/>
          </a:bodyPr>
          <a:lstStyle/>
          <a:p>
            <a:pPr marL="241300" marR="5715" indent="-228600" algn="just">
              <a:lnSpc>
                <a:spcPts val="3000"/>
              </a:lnSpc>
              <a:spcBef>
                <a:spcPts val="500"/>
              </a:spcBef>
              <a:buFont typeface="Arial MT"/>
              <a:buChar char="•"/>
              <a:tabLst>
                <a:tab pos="241300" algn="l"/>
              </a:tabLst>
            </a:pPr>
            <a:r>
              <a:rPr sz="2800" b="0" dirty="0">
                <a:latin typeface="Calibri"/>
                <a:cs typeface="Calibri"/>
              </a:rPr>
              <a:t>Project</a:t>
            </a:r>
            <a:r>
              <a:rPr sz="2800" b="0" spc="-40" dirty="0">
                <a:latin typeface="Calibri"/>
                <a:cs typeface="Calibri"/>
              </a:rPr>
              <a:t> </a:t>
            </a:r>
            <a:r>
              <a:rPr sz="2800" b="0" dirty="0">
                <a:latin typeface="Calibri"/>
                <a:cs typeface="Calibri"/>
              </a:rPr>
              <a:t>success</a:t>
            </a:r>
            <a:r>
              <a:rPr sz="2800" b="0" spc="-30" dirty="0">
                <a:latin typeface="Calibri"/>
                <a:cs typeface="Calibri"/>
              </a:rPr>
              <a:t> </a:t>
            </a:r>
            <a:r>
              <a:rPr sz="2800" b="0" dirty="0">
                <a:latin typeface="Wingdings"/>
                <a:cs typeface="Wingdings"/>
              </a:rPr>
              <a:t></a:t>
            </a:r>
            <a:r>
              <a:rPr sz="2800" b="0" spc="-105" dirty="0">
                <a:latin typeface="Times New Roman"/>
                <a:cs typeface="Times New Roman"/>
              </a:rPr>
              <a:t> </a:t>
            </a:r>
            <a:r>
              <a:rPr sz="2800" b="0" spc="-10" dirty="0">
                <a:latin typeface="Calibri"/>
                <a:cs typeface="Calibri"/>
              </a:rPr>
              <a:t>cooperation</a:t>
            </a:r>
            <a:r>
              <a:rPr sz="2800" b="0" spc="-30" dirty="0">
                <a:latin typeface="Calibri"/>
                <a:cs typeface="Calibri"/>
              </a:rPr>
              <a:t> </a:t>
            </a:r>
            <a:r>
              <a:rPr sz="2800" b="0" dirty="0">
                <a:latin typeface="Calibri"/>
                <a:cs typeface="Calibri"/>
              </a:rPr>
              <a:t>of</a:t>
            </a:r>
            <a:r>
              <a:rPr sz="2800" b="0" spc="-40" dirty="0">
                <a:latin typeface="Calibri"/>
                <a:cs typeface="Calibri"/>
              </a:rPr>
              <a:t> </a:t>
            </a:r>
            <a:r>
              <a:rPr sz="2800" b="0" dirty="0">
                <a:latin typeface="Calibri"/>
                <a:cs typeface="Calibri"/>
              </a:rPr>
              <a:t>a</a:t>
            </a:r>
            <a:r>
              <a:rPr sz="2800" b="0" spc="-35" dirty="0">
                <a:latin typeface="Calibri"/>
                <a:cs typeface="Calibri"/>
              </a:rPr>
              <a:t> </a:t>
            </a:r>
            <a:r>
              <a:rPr sz="2800" b="0" dirty="0">
                <a:latin typeface="Calibri"/>
                <a:cs typeface="Calibri"/>
              </a:rPr>
              <a:t>wide</a:t>
            </a:r>
            <a:r>
              <a:rPr sz="2800" b="0" spc="-40" dirty="0">
                <a:latin typeface="Calibri"/>
                <a:cs typeface="Calibri"/>
              </a:rPr>
              <a:t> </a:t>
            </a:r>
            <a:r>
              <a:rPr sz="2800" b="0" dirty="0">
                <a:latin typeface="Calibri"/>
                <a:cs typeface="Calibri"/>
              </a:rPr>
              <a:t>range</a:t>
            </a:r>
            <a:r>
              <a:rPr sz="2800" b="0" spc="-40" dirty="0">
                <a:latin typeface="Calibri"/>
                <a:cs typeface="Calibri"/>
              </a:rPr>
              <a:t> </a:t>
            </a:r>
            <a:r>
              <a:rPr sz="2800" b="0" dirty="0">
                <a:latin typeface="Calibri"/>
                <a:cs typeface="Calibri"/>
              </a:rPr>
              <a:t>of</a:t>
            </a:r>
            <a:r>
              <a:rPr sz="2800" b="0" spc="-40" dirty="0">
                <a:latin typeface="Calibri"/>
                <a:cs typeface="Calibri"/>
              </a:rPr>
              <a:t> </a:t>
            </a:r>
            <a:r>
              <a:rPr sz="2800" b="0" dirty="0">
                <a:latin typeface="Calibri"/>
                <a:cs typeface="Calibri"/>
              </a:rPr>
              <a:t>individuals,</a:t>
            </a:r>
            <a:r>
              <a:rPr sz="2800" b="0" spc="-30" dirty="0">
                <a:latin typeface="Calibri"/>
                <a:cs typeface="Calibri"/>
              </a:rPr>
              <a:t> </a:t>
            </a:r>
            <a:r>
              <a:rPr sz="2800" b="0" dirty="0">
                <a:latin typeface="Calibri"/>
                <a:cs typeface="Calibri"/>
              </a:rPr>
              <a:t>many</a:t>
            </a:r>
            <a:r>
              <a:rPr sz="2800" b="0" spc="-40" dirty="0">
                <a:latin typeface="Calibri"/>
                <a:cs typeface="Calibri"/>
              </a:rPr>
              <a:t> </a:t>
            </a:r>
            <a:r>
              <a:rPr sz="2800" b="0" spc="-25" dirty="0">
                <a:latin typeface="Calibri"/>
                <a:cs typeface="Calibri"/>
              </a:rPr>
              <a:t>of </a:t>
            </a:r>
            <a:r>
              <a:rPr sz="2800" b="0" dirty="0">
                <a:latin typeface="Calibri"/>
                <a:cs typeface="Calibri"/>
              </a:rPr>
              <a:t>whom</a:t>
            </a:r>
            <a:r>
              <a:rPr sz="2800" b="0" spc="-40" dirty="0">
                <a:latin typeface="Calibri"/>
                <a:cs typeface="Calibri"/>
              </a:rPr>
              <a:t> </a:t>
            </a:r>
            <a:r>
              <a:rPr sz="2800" b="0" u="heavy" dirty="0">
                <a:uFill>
                  <a:solidFill>
                    <a:srgbClr val="000000"/>
                  </a:solidFill>
                </a:uFill>
                <a:latin typeface="Calibri"/>
                <a:cs typeface="Calibri"/>
              </a:rPr>
              <a:t>do</a:t>
            </a:r>
            <a:r>
              <a:rPr sz="2800" b="0" u="heavy" spc="-45" dirty="0">
                <a:uFill>
                  <a:solidFill>
                    <a:srgbClr val="000000"/>
                  </a:solidFill>
                </a:uFill>
                <a:latin typeface="Calibri"/>
                <a:cs typeface="Calibri"/>
              </a:rPr>
              <a:t> </a:t>
            </a:r>
            <a:r>
              <a:rPr sz="2800" b="0" u="heavy" dirty="0">
                <a:uFill>
                  <a:solidFill>
                    <a:srgbClr val="000000"/>
                  </a:solidFill>
                </a:uFill>
                <a:latin typeface="Calibri"/>
                <a:cs typeface="Calibri"/>
              </a:rPr>
              <a:t>not</a:t>
            </a:r>
            <a:r>
              <a:rPr sz="2800" b="0" u="heavy" spc="-45" dirty="0">
                <a:uFill>
                  <a:solidFill>
                    <a:srgbClr val="000000"/>
                  </a:solidFill>
                </a:uFill>
                <a:latin typeface="Calibri"/>
                <a:cs typeface="Calibri"/>
              </a:rPr>
              <a:t> </a:t>
            </a:r>
            <a:r>
              <a:rPr sz="2800" b="0" u="heavy" dirty="0">
                <a:uFill>
                  <a:solidFill>
                    <a:srgbClr val="000000"/>
                  </a:solidFill>
                </a:uFill>
                <a:latin typeface="Calibri"/>
                <a:cs typeface="Calibri"/>
              </a:rPr>
              <a:t>directly</a:t>
            </a:r>
            <a:r>
              <a:rPr sz="2800" b="0" u="heavy" spc="-45" dirty="0">
                <a:uFill>
                  <a:solidFill>
                    <a:srgbClr val="000000"/>
                  </a:solidFill>
                </a:uFill>
                <a:latin typeface="Calibri"/>
                <a:cs typeface="Calibri"/>
              </a:rPr>
              <a:t> </a:t>
            </a:r>
            <a:r>
              <a:rPr sz="2800" b="0" u="heavy" dirty="0">
                <a:uFill>
                  <a:solidFill>
                    <a:srgbClr val="000000"/>
                  </a:solidFill>
                </a:uFill>
                <a:latin typeface="Calibri"/>
                <a:cs typeface="Calibri"/>
              </a:rPr>
              <a:t>report</a:t>
            </a:r>
            <a:r>
              <a:rPr sz="2800" b="0" u="heavy" spc="-45" dirty="0">
                <a:uFill>
                  <a:solidFill>
                    <a:srgbClr val="000000"/>
                  </a:solidFill>
                </a:uFill>
                <a:latin typeface="Calibri"/>
                <a:cs typeface="Calibri"/>
              </a:rPr>
              <a:t> </a:t>
            </a:r>
            <a:r>
              <a:rPr sz="2800" b="0" u="heavy" dirty="0">
                <a:uFill>
                  <a:solidFill>
                    <a:srgbClr val="000000"/>
                  </a:solidFill>
                </a:uFill>
                <a:latin typeface="Calibri"/>
                <a:cs typeface="Calibri"/>
              </a:rPr>
              <a:t>to</a:t>
            </a:r>
            <a:r>
              <a:rPr sz="2800" b="0" u="heavy" spc="-45" dirty="0">
                <a:uFill>
                  <a:solidFill>
                    <a:srgbClr val="000000"/>
                  </a:solidFill>
                </a:uFill>
                <a:latin typeface="Calibri"/>
                <a:cs typeface="Calibri"/>
              </a:rPr>
              <a:t> </a:t>
            </a:r>
            <a:r>
              <a:rPr sz="2800" b="0" u="heavy" spc="-10" dirty="0">
                <a:uFill>
                  <a:solidFill>
                    <a:srgbClr val="000000"/>
                  </a:solidFill>
                </a:uFill>
                <a:latin typeface="Calibri"/>
                <a:cs typeface="Calibri"/>
              </a:rPr>
              <a:t>them</a:t>
            </a:r>
            <a:r>
              <a:rPr sz="2800" b="0" spc="-10" dirty="0">
                <a:latin typeface="Calibri"/>
                <a:cs typeface="Calibri"/>
              </a:rPr>
              <a:t>.</a:t>
            </a:r>
            <a:endParaRPr sz="2800" dirty="0">
              <a:latin typeface="Calibri"/>
              <a:cs typeface="Calibri"/>
            </a:endParaRPr>
          </a:p>
          <a:p>
            <a:pPr>
              <a:lnSpc>
                <a:spcPct val="100000"/>
              </a:lnSpc>
              <a:spcBef>
                <a:spcPts val="1689"/>
              </a:spcBef>
              <a:buFont typeface="Arial MT"/>
              <a:buChar char="•"/>
            </a:pPr>
            <a:endParaRPr sz="2800" dirty="0">
              <a:latin typeface="Calibri"/>
              <a:cs typeface="Calibri"/>
            </a:endParaRPr>
          </a:p>
          <a:p>
            <a:pPr marL="241300" marR="5080" indent="-228600" algn="just">
              <a:lnSpc>
                <a:spcPts val="3000"/>
              </a:lnSpc>
              <a:spcBef>
                <a:spcPts val="5"/>
              </a:spcBef>
              <a:buFont typeface="Arial MT"/>
              <a:buChar char="•"/>
              <a:tabLst>
                <a:tab pos="241300" algn="l"/>
              </a:tabLst>
            </a:pPr>
            <a:r>
              <a:rPr sz="2800" b="0" dirty="0">
                <a:latin typeface="Calibri"/>
                <a:cs typeface="Calibri"/>
              </a:rPr>
              <a:t>Too</a:t>
            </a:r>
            <a:r>
              <a:rPr sz="2800" b="0" spc="195" dirty="0">
                <a:latin typeface="Calibri"/>
                <a:cs typeface="Calibri"/>
              </a:rPr>
              <a:t> </a:t>
            </a:r>
            <a:r>
              <a:rPr sz="2800" b="0" dirty="0">
                <a:latin typeface="Calibri"/>
                <a:cs typeface="Calibri"/>
              </a:rPr>
              <a:t>often</a:t>
            </a:r>
            <a:r>
              <a:rPr sz="2800" b="0" spc="200" dirty="0">
                <a:latin typeface="Calibri"/>
                <a:cs typeface="Calibri"/>
              </a:rPr>
              <a:t> </a:t>
            </a:r>
            <a:r>
              <a:rPr sz="2800" b="0" dirty="0">
                <a:latin typeface="Calibri"/>
                <a:cs typeface="Calibri"/>
              </a:rPr>
              <a:t>when</a:t>
            </a:r>
            <a:r>
              <a:rPr sz="2800" b="0" spc="200" dirty="0">
                <a:latin typeface="Calibri"/>
                <a:cs typeface="Calibri"/>
              </a:rPr>
              <a:t> </a:t>
            </a:r>
            <a:r>
              <a:rPr sz="2800" b="0" dirty="0">
                <a:latin typeface="Calibri"/>
                <a:cs typeface="Calibri"/>
              </a:rPr>
              <a:t>new</a:t>
            </a:r>
            <a:r>
              <a:rPr sz="2800" b="0" spc="190" dirty="0">
                <a:latin typeface="Calibri"/>
                <a:cs typeface="Calibri"/>
              </a:rPr>
              <a:t> </a:t>
            </a:r>
            <a:r>
              <a:rPr sz="2800" b="0" dirty="0">
                <a:latin typeface="Calibri"/>
                <a:cs typeface="Calibri"/>
              </a:rPr>
              <a:t>project</a:t>
            </a:r>
            <a:r>
              <a:rPr sz="2800" b="0" spc="200" dirty="0">
                <a:latin typeface="Calibri"/>
                <a:cs typeface="Calibri"/>
              </a:rPr>
              <a:t> </a:t>
            </a:r>
            <a:r>
              <a:rPr sz="2800" b="0" dirty="0">
                <a:latin typeface="Calibri"/>
                <a:cs typeface="Calibri"/>
              </a:rPr>
              <a:t>managers</a:t>
            </a:r>
            <a:r>
              <a:rPr sz="2800" b="0" spc="200" dirty="0">
                <a:latin typeface="Calibri"/>
                <a:cs typeface="Calibri"/>
              </a:rPr>
              <a:t> </a:t>
            </a:r>
            <a:r>
              <a:rPr sz="2800" b="0" dirty="0">
                <a:latin typeface="Calibri"/>
                <a:cs typeface="Calibri"/>
              </a:rPr>
              <a:t>do</a:t>
            </a:r>
            <a:r>
              <a:rPr sz="2800" b="0" spc="195" dirty="0">
                <a:latin typeface="Calibri"/>
                <a:cs typeface="Calibri"/>
              </a:rPr>
              <a:t> </a:t>
            </a:r>
            <a:r>
              <a:rPr sz="2800" b="0" dirty="0">
                <a:latin typeface="Calibri"/>
                <a:cs typeface="Calibri"/>
              </a:rPr>
              <a:t>find</a:t>
            </a:r>
            <a:r>
              <a:rPr sz="2800" b="0" spc="200" dirty="0">
                <a:latin typeface="Calibri"/>
                <a:cs typeface="Calibri"/>
              </a:rPr>
              <a:t> </a:t>
            </a:r>
            <a:r>
              <a:rPr sz="2800" b="0" dirty="0">
                <a:latin typeface="Calibri"/>
                <a:cs typeface="Calibri"/>
              </a:rPr>
              <a:t>time</a:t>
            </a:r>
            <a:r>
              <a:rPr sz="2800" b="0" spc="190" dirty="0">
                <a:latin typeface="Calibri"/>
                <a:cs typeface="Calibri"/>
              </a:rPr>
              <a:t> </a:t>
            </a:r>
            <a:r>
              <a:rPr sz="2800" b="0" dirty="0">
                <a:latin typeface="Calibri"/>
                <a:cs typeface="Calibri"/>
              </a:rPr>
              <a:t>to</a:t>
            </a:r>
            <a:r>
              <a:rPr sz="2800" b="0" spc="200" dirty="0">
                <a:latin typeface="Calibri"/>
                <a:cs typeface="Calibri"/>
              </a:rPr>
              <a:t> </a:t>
            </a:r>
            <a:r>
              <a:rPr sz="2800" b="0" dirty="0">
                <a:latin typeface="Calibri"/>
                <a:cs typeface="Calibri"/>
              </a:rPr>
              <a:t>work</a:t>
            </a:r>
            <a:r>
              <a:rPr sz="2800" b="0" spc="200" dirty="0">
                <a:latin typeface="Calibri"/>
                <a:cs typeface="Calibri"/>
              </a:rPr>
              <a:t> </a:t>
            </a:r>
            <a:r>
              <a:rPr sz="2800" b="0" spc="-10" dirty="0">
                <a:latin typeface="Calibri"/>
                <a:cs typeface="Calibri"/>
              </a:rPr>
              <a:t>directly </a:t>
            </a:r>
            <a:r>
              <a:rPr sz="2800" b="0" dirty="0">
                <a:latin typeface="Calibri"/>
                <a:cs typeface="Calibri"/>
              </a:rPr>
              <a:t>on</a:t>
            </a:r>
            <a:r>
              <a:rPr sz="2800" b="0" spc="-30" dirty="0">
                <a:latin typeface="Calibri"/>
                <a:cs typeface="Calibri"/>
              </a:rPr>
              <a:t> </a:t>
            </a:r>
            <a:r>
              <a:rPr sz="2800" b="0" dirty="0">
                <a:latin typeface="Calibri"/>
                <a:cs typeface="Calibri"/>
              </a:rPr>
              <a:t>the</a:t>
            </a:r>
            <a:r>
              <a:rPr sz="2800" b="0" spc="-30" dirty="0">
                <a:latin typeface="Calibri"/>
                <a:cs typeface="Calibri"/>
              </a:rPr>
              <a:t> </a:t>
            </a:r>
            <a:r>
              <a:rPr sz="2800" b="0" dirty="0">
                <a:latin typeface="Calibri"/>
                <a:cs typeface="Calibri"/>
              </a:rPr>
              <a:t>project,</a:t>
            </a:r>
            <a:r>
              <a:rPr sz="2800" b="0" spc="-30" dirty="0">
                <a:latin typeface="Calibri"/>
                <a:cs typeface="Calibri"/>
              </a:rPr>
              <a:t> </a:t>
            </a:r>
            <a:r>
              <a:rPr sz="2800" b="0" dirty="0">
                <a:latin typeface="Calibri"/>
                <a:cs typeface="Calibri"/>
              </a:rPr>
              <a:t>they</a:t>
            </a:r>
            <a:r>
              <a:rPr sz="2800" b="0" spc="-30" dirty="0">
                <a:latin typeface="Calibri"/>
                <a:cs typeface="Calibri"/>
              </a:rPr>
              <a:t> </a:t>
            </a:r>
            <a:r>
              <a:rPr sz="2800" b="0" dirty="0">
                <a:latin typeface="Calibri"/>
                <a:cs typeface="Calibri"/>
              </a:rPr>
              <a:t>adopt</a:t>
            </a:r>
            <a:r>
              <a:rPr sz="2800" b="0" spc="-30" dirty="0">
                <a:latin typeface="Calibri"/>
                <a:cs typeface="Calibri"/>
              </a:rPr>
              <a:t> </a:t>
            </a:r>
            <a:r>
              <a:rPr sz="2800" b="0" dirty="0">
                <a:latin typeface="Calibri"/>
                <a:cs typeface="Calibri"/>
              </a:rPr>
              <a:t>a</a:t>
            </a:r>
            <a:r>
              <a:rPr sz="2800" b="0" spc="-30" dirty="0">
                <a:latin typeface="Calibri"/>
                <a:cs typeface="Calibri"/>
              </a:rPr>
              <a:t> </a:t>
            </a:r>
            <a:r>
              <a:rPr sz="2800" b="0" dirty="0">
                <a:latin typeface="Calibri"/>
                <a:cs typeface="Calibri"/>
              </a:rPr>
              <a:t>the</a:t>
            </a:r>
            <a:r>
              <a:rPr sz="2800" b="0" spc="-35" dirty="0">
                <a:latin typeface="Calibri"/>
                <a:cs typeface="Calibri"/>
              </a:rPr>
              <a:t> </a:t>
            </a:r>
            <a:r>
              <a:rPr sz="2800" b="0" spc="-25" dirty="0">
                <a:latin typeface="Calibri"/>
                <a:cs typeface="Calibri"/>
              </a:rPr>
              <a:t>“micro-</a:t>
            </a:r>
            <a:r>
              <a:rPr sz="2800" b="0" dirty="0">
                <a:latin typeface="Calibri"/>
                <a:cs typeface="Calibri"/>
              </a:rPr>
              <a:t>management”</a:t>
            </a:r>
            <a:r>
              <a:rPr sz="2800" b="0" spc="-20" dirty="0">
                <a:latin typeface="Calibri"/>
                <a:cs typeface="Calibri"/>
              </a:rPr>
              <a:t> </a:t>
            </a:r>
            <a:r>
              <a:rPr sz="2800" b="0" spc="-10" dirty="0">
                <a:latin typeface="Calibri"/>
                <a:cs typeface="Calibri"/>
              </a:rPr>
              <a:t>approach.</a:t>
            </a:r>
            <a:endParaRPr sz="2800" dirty="0">
              <a:latin typeface="Calibri"/>
              <a:cs typeface="Calibri"/>
            </a:endParaRPr>
          </a:p>
          <a:p>
            <a:pPr>
              <a:lnSpc>
                <a:spcPct val="100000"/>
              </a:lnSpc>
              <a:spcBef>
                <a:spcPts val="1505"/>
              </a:spcBef>
              <a:buFont typeface="Arial MT"/>
              <a:buChar char="•"/>
            </a:pPr>
            <a:endParaRPr sz="2800" dirty="0">
              <a:latin typeface="Calibri"/>
              <a:cs typeface="Calibri"/>
            </a:endParaRPr>
          </a:p>
          <a:p>
            <a:pPr marL="241300" marR="5080" indent="-228600" algn="just">
              <a:lnSpc>
                <a:spcPct val="90000"/>
              </a:lnSpc>
              <a:spcBef>
                <a:spcPts val="5"/>
              </a:spcBef>
              <a:buFont typeface="Arial MT"/>
              <a:buChar char="•"/>
              <a:tabLst>
                <a:tab pos="241300" algn="l"/>
                <a:tab pos="321310" algn="l"/>
              </a:tabLst>
            </a:pPr>
            <a:r>
              <a:rPr sz="2800" b="0" dirty="0">
                <a:latin typeface="Calibri"/>
                <a:cs typeface="Calibri"/>
              </a:rPr>
              <a:t>	Others</a:t>
            </a:r>
            <a:r>
              <a:rPr sz="2800" b="0" spc="120" dirty="0">
                <a:latin typeface="Calibri"/>
                <a:cs typeface="Calibri"/>
              </a:rPr>
              <a:t> </a:t>
            </a:r>
            <a:r>
              <a:rPr sz="2800" b="0" dirty="0">
                <a:latin typeface="Calibri"/>
                <a:cs typeface="Calibri"/>
              </a:rPr>
              <a:t>soon</a:t>
            </a:r>
            <a:r>
              <a:rPr sz="2800" b="0" spc="114" dirty="0">
                <a:latin typeface="Calibri"/>
                <a:cs typeface="Calibri"/>
              </a:rPr>
              <a:t> </a:t>
            </a:r>
            <a:r>
              <a:rPr sz="2800" b="0" dirty="0">
                <a:latin typeface="Calibri"/>
                <a:cs typeface="Calibri"/>
              </a:rPr>
              <a:t>realize</a:t>
            </a:r>
            <a:r>
              <a:rPr sz="2800" b="0" spc="105" dirty="0">
                <a:latin typeface="Calibri"/>
                <a:cs typeface="Calibri"/>
              </a:rPr>
              <a:t> </a:t>
            </a:r>
            <a:r>
              <a:rPr sz="2800" b="0" dirty="0">
                <a:latin typeface="Calibri"/>
                <a:cs typeface="Calibri"/>
              </a:rPr>
              <a:t>that</a:t>
            </a:r>
            <a:r>
              <a:rPr sz="2800" b="0" spc="120" dirty="0">
                <a:latin typeface="Calibri"/>
                <a:cs typeface="Calibri"/>
              </a:rPr>
              <a:t> </a:t>
            </a:r>
            <a:r>
              <a:rPr sz="2800" b="0" dirty="0">
                <a:solidFill>
                  <a:srgbClr val="FF0000"/>
                </a:solidFill>
                <a:latin typeface="Calibri"/>
                <a:cs typeface="Calibri"/>
              </a:rPr>
              <a:t>authority</a:t>
            </a:r>
            <a:r>
              <a:rPr sz="2800" b="0" spc="110" dirty="0">
                <a:solidFill>
                  <a:srgbClr val="FF0000"/>
                </a:solidFill>
                <a:latin typeface="Calibri"/>
                <a:cs typeface="Calibri"/>
              </a:rPr>
              <a:t> </a:t>
            </a:r>
            <a:r>
              <a:rPr sz="2800" b="0" dirty="0">
                <a:latin typeface="Calibri"/>
                <a:cs typeface="Calibri"/>
              </a:rPr>
              <a:t>does</a:t>
            </a:r>
            <a:r>
              <a:rPr sz="2800" b="0" spc="114" dirty="0">
                <a:latin typeface="Calibri"/>
                <a:cs typeface="Calibri"/>
              </a:rPr>
              <a:t> </a:t>
            </a:r>
            <a:r>
              <a:rPr sz="2800" b="0" dirty="0">
                <a:latin typeface="Calibri"/>
                <a:cs typeface="Calibri"/>
              </a:rPr>
              <a:t>not</a:t>
            </a:r>
            <a:r>
              <a:rPr sz="2800" b="0" spc="114" dirty="0">
                <a:latin typeface="Calibri"/>
                <a:cs typeface="Calibri"/>
              </a:rPr>
              <a:t> </a:t>
            </a:r>
            <a:r>
              <a:rPr sz="2800" b="0" dirty="0">
                <a:latin typeface="Calibri"/>
                <a:cs typeface="Calibri"/>
              </a:rPr>
              <a:t>equal</a:t>
            </a:r>
            <a:r>
              <a:rPr sz="2800" b="0" spc="120" dirty="0">
                <a:latin typeface="Calibri"/>
                <a:cs typeface="Calibri"/>
              </a:rPr>
              <a:t> </a:t>
            </a:r>
            <a:r>
              <a:rPr sz="2800" b="0" dirty="0">
                <a:solidFill>
                  <a:srgbClr val="FF0000"/>
                </a:solidFill>
                <a:latin typeface="Calibri"/>
                <a:cs typeface="Calibri"/>
              </a:rPr>
              <a:t>influence</a:t>
            </a:r>
            <a:r>
              <a:rPr sz="2800" b="0" spc="110" dirty="0">
                <a:solidFill>
                  <a:srgbClr val="FF0000"/>
                </a:solidFill>
                <a:latin typeface="Calibri"/>
                <a:cs typeface="Calibri"/>
              </a:rPr>
              <a:t> </a:t>
            </a:r>
            <a:r>
              <a:rPr sz="2800" b="0" dirty="0">
                <a:latin typeface="Calibri"/>
                <a:cs typeface="Calibri"/>
              </a:rPr>
              <a:t>and</a:t>
            </a:r>
            <a:r>
              <a:rPr sz="2800" b="0" spc="120" dirty="0">
                <a:latin typeface="Calibri"/>
                <a:cs typeface="Calibri"/>
              </a:rPr>
              <a:t> </a:t>
            </a:r>
            <a:r>
              <a:rPr sz="2800" b="0" spc="-20" dirty="0">
                <a:latin typeface="Calibri"/>
                <a:cs typeface="Calibri"/>
              </a:rPr>
              <a:t>that </a:t>
            </a:r>
            <a:r>
              <a:rPr sz="2800" b="0" dirty="0">
                <a:latin typeface="Calibri"/>
                <a:cs typeface="Calibri"/>
              </a:rPr>
              <a:t>being</a:t>
            </a:r>
            <a:r>
              <a:rPr sz="2800" b="0" spc="240" dirty="0">
                <a:latin typeface="Calibri"/>
                <a:cs typeface="Calibri"/>
              </a:rPr>
              <a:t> </a:t>
            </a:r>
            <a:r>
              <a:rPr sz="2800" b="0" dirty="0">
                <a:latin typeface="Calibri"/>
                <a:cs typeface="Calibri"/>
              </a:rPr>
              <a:t>an</a:t>
            </a:r>
            <a:r>
              <a:rPr sz="2800" b="0" spc="254" dirty="0">
                <a:latin typeface="Calibri"/>
                <a:cs typeface="Calibri"/>
              </a:rPr>
              <a:t> </a:t>
            </a:r>
            <a:r>
              <a:rPr sz="2800" b="0" dirty="0">
                <a:latin typeface="Calibri"/>
                <a:cs typeface="Calibri"/>
              </a:rPr>
              <a:t>effective</a:t>
            </a:r>
            <a:r>
              <a:rPr sz="2800" b="0" spc="245" dirty="0">
                <a:latin typeface="Calibri"/>
                <a:cs typeface="Calibri"/>
              </a:rPr>
              <a:t> </a:t>
            </a:r>
            <a:r>
              <a:rPr sz="2800" b="0" dirty="0">
                <a:latin typeface="Calibri"/>
                <a:cs typeface="Calibri"/>
              </a:rPr>
              <a:t>project</a:t>
            </a:r>
            <a:r>
              <a:rPr sz="2800" b="0" spc="250" dirty="0">
                <a:latin typeface="Calibri"/>
                <a:cs typeface="Calibri"/>
              </a:rPr>
              <a:t> </a:t>
            </a:r>
            <a:r>
              <a:rPr sz="2800" b="0" dirty="0">
                <a:latin typeface="Calibri"/>
                <a:cs typeface="Calibri"/>
              </a:rPr>
              <a:t>manager</a:t>
            </a:r>
            <a:r>
              <a:rPr sz="2800" b="0" spc="250" dirty="0">
                <a:latin typeface="Calibri"/>
                <a:cs typeface="Calibri"/>
              </a:rPr>
              <a:t> </a:t>
            </a:r>
            <a:r>
              <a:rPr sz="2800" b="0" dirty="0">
                <a:latin typeface="Calibri"/>
                <a:cs typeface="Calibri"/>
              </a:rPr>
              <a:t>involves</a:t>
            </a:r>
            <a:r>
              <a:rPr sz="2800" b="0" spc="254" dirty="0">
                <a:latin typeface="Calibri"/>
                <a:cs typeface="Calibri"/>
              </a:rPr>
              <a:t> </a:t>
            </a:r>
            <a:r>
              <a:rPr sz="2800" b="0" dirty="0">
                <a:latin typeface="Calibri"/>
                <a:cs typeface="Calibri"/>
              </a:rPr>
              <a:t>managing</a:t>
            </a:r>
            <a:r>
              <a:rPr sz="2800" b="0" spc="240" dirty="0">
                <a:latin typeface="Calibri"/>
                <a:cs typeface="Calibri"/>
              </a:rPr>
              <a:t> </a:t>
            </a:r>
            <a:r>
              <a:rPr sz="2800" b="0" dirty="0">
                <a:latin typeface="Calibri"/>
                <a:cs typeface="Calibri"/>
              </a:rPr>
              <a:t>a</a:t>
            </a:r>
            <a:r>
              <a:rPr sz="2800" b="0" spc="250" dirty="0">
                <a:latin typeface="Calibri"/>
                <a:cs typeface="Calibri"/>
              </a:rPr>
              <a:t> </a:t>
            </a:r>
            <a:r>
              <a:rPr sz="2800" b="0" dirty="0">
                <a:latin typeface="Calibri"/>
                <a:cs typeface="Calibri"/>
              </a:rPr>
              <a:t>much</a:t>
            </a:r>
            <a:r>
              <a:rPr sz="2800" b="0" spc="254" dirty="0">
                <a:latin typeface="Calibri"/>
                <a:cs typeface="Calibri"/>
              </a:rPr>
              <a:t> </a:t>
            </a:r>
            <a:r>
              <a:rPr sz="2800" b="0" spc="-20" dirty="0">
                <a:latin typeface="Calibri"/>
                <a:cs typeface="Calibri"/>
              </a:rPr>
              <a:t>more </a:t>
            </a:r>
            <a:r>
              <a:rPr sz="2800" b="0" dirty="0">
                <a:latin typeface="Calibri"/>
                <a:cs typeface="Calibri"/>
              </a:rPr>
              <a:t>complex</a:t>
            </a:r>
            <a:r>
              <a:rPr sz="2800" b="0" spc="170" dirty="0">
                <a:latin typeface="Calibri"/>
                <a:cs typeface="Calibri"/>
              </a:rPr>
              <a:t> </a:t>
            </a:r>
            <a:r>
              <a:rPr sz="2800" b="0" dirty="0">
                <a:latin typeface="Calibri"/>
                <a:cs typeface="Calibri"/>
              </a:rPr>
              <a:t>set</a:t>
            </a:r>
            <a:r>
              <a:rPr sz="2800" b="0" spc="170" dirty="0">
                <a:latin typeface="Calibri"/>
                <a:cs typeface="Calibri"/>
              </a:rPr>
              <a:t> </a:t>
            </a:r>
            <a:r>
              <a:rPr sz="2800" b="0" dirty="0">
                <a:latin typeface="Calibri"/>
                <a:cs typeface="Calibri"/>
              </a:rPr>
              <a:t>of</a:t>
            </a:r>
            <a:r>
              <a:rPr sz="2800" b="0" spc="165" dirty="0">
                <a:latin typeface="Calibri"/>
                <a:cs typeface="Calibri"/>
              </a:rPr>
              <a:t> </a:t>
            </a:r>
            <a:r>
              <a:rPr sz="2800" b="0" dirty="0">
                <a:latin typeface="Calibri"/>
                <a:cs typeface="Calibri"/>
              </a:rPr>
              <a:t>interfaces</a:t>
            </a:r>
            <a:r>
              <a:rPr sz="2800" b="0" spc="175" dirty="0">
                <a:latin typeface="Calibri"/>
                <a:cs typeface="Calibri"/>
              </a:rPr>
              <a:t> </a:t>
            </a:r>
            <a:r>
              <a:rPr sz="2800" b="0" dirty="0">
                <a:latin typeface="Calibri"/>
                <a:cs typeface="Calibri"/>
              </a:rPr>
              <a:t>than</a:t>
            </a:r>
            <a:r>
              <a:rPr sz="2800" b="0" spc="170" dirty="0">
                <a:latin typeface="Calibri"/>
                <a:cs typeface="Calibri"/>
              </a:rPr>
              <a:t> </a:t>
            </a:r>
            <a:r>
              <a:rPr sz="2800" b="0" dirty="0">
                <a:latin typeface="Calibri"/>
                <a:cs typeface="Calibri"/>
              </a:rPr>
              <a:t>they</a:t>
            </a:r>
            <a:r>
              <a:rPr sz="2800" b="0" spc="170" dirty="0">
                <a:latin typeface="Calibri"/>
                <a:cs typeface="Calibri"/>
              </a:rPr>
              <a:t> </a:t>
            </a:r>
            <a:r>
              <a:rPr sz="2800" b="0" dirty="0">
                <a:latin typeface="Calibri"/>
                <a:cs typeface="Calibri"/>
              </a:rPr>
              <a:t>had</a:t>
            </a:r>
            <a:r>
              <a:rPr sz="2800" b="0" spc="175" dirty="0">
                <a:latin typeface="Calibri"/>
                <a:cs typeface="Calibri"/>
              </a:rPr>
              <a:t> </a:t>
            </a:r>
            <a:r>
              <a:rPr sz="2800" b="0" dirty="0">
                <a:latin typeface="Calibri"/>
                <a:cs typeface="Calibri"/>
              </a:rPr>
              <a:t>previously</a:t>
            </a:r>
            <a:r>
              <a:rPr sz="2800" b="0" spc="165" dirty="0">
                <a:latin typeface="Calibri"/>
                <a:cs typeface="Calibri"/>
              </a:rPr>
              <a:t> </a:t>
            </a:r>
            <a:r>
              <a:rPr sz="2800" b="0" dirty="0">
                <a:latin typeface="Calibri"/>
                <a:cs typeface="Calibri"/>
              </a:rPr>
              <a:t>anticipated.</a:t>
            </a:r>
            <a:r>
              <a:rPr sz="2800" b="0" spc="175" dirty="0">
                <a:latin typeface="Calibri"/>
                <a:cs typeface="Calibri"/>
              </a:rPr>
              <a:t> </a:t>
            </a:r>
            <a:r>
              <a:rPr sz="2800" b="0" spc="-20" dirty="0">
                <a:latin typeface="Calibri"/>
                <a:cs typeface="Calibri"/>
              </a:rPr>
              <a:t>They </a:t>
            </a:r>
            <a:r>
              <a:rPr sz="2800" b="0" dirty="0">
                <a:latin typeface="Calibri"/>
                <a:cs typeface="Calibri"/>
              </a:rPr>
              <a:t>encounter</a:t>
            </a:r>
            <a:r>
              <a:rPr sz="2800" b="0" spc="105" dirty="0">
                <a:latin typeface="Calibri"/>
                <a:cs typeface="Calibri"/>
              </a:rPr>
              <a:t>  </a:t>
            </a:r>
            <a:r>
              <a:rPr sz="2800" b="0" dirty="0">
                <a:latin typeface="Calibri"/>
                <a:cs typeface="Calibri"/>
              </a:rPr>
              <a:t>a</a:t>
            </a:r>
            <a:r>
              <a:rPr sz="2800" b="0" spc="105" dirty="0">
                <a:latin typeface="Calibri"/>
                <a:cs typeface="Calibri"/>
              </a:rPr>
              <a:t>  </a:t>
            </a:r>
            <a:r>
              <a:rPr sz="2800" b="0" dirty="0">
                <a:solidFill>
                  <a:srgbClr val="FF0000"/>
                </a:solidFill>
                <a:latin typeface="Calibri"/>
                <a:cs typeface="Calibri"/>
              </a:rPr>
              <a:t>web</a:t>
            </a:r>
            <a:r>
              <a:rPr sz="2800" b="0" spc="110" dirty="0">
                <a:solidFill>
                  <a:srgbClr val="FF0000"/>
                </a:solidFill>
                <a:latin typeface="Calibri"/>
                <a:cs typeface="Calibri"/>
              </a:rPr>
              <a:t>  </a:t>
            </a:r>
            <a:r>
              <a:rPr sz="2800" b="0" dirty="0">
                <a:solidFill>
                  <a:srgbClr val="FF0000"/>
                </a:solidFill>
                <a:latin typeface="Calibri"/>
                <a:cs typeface="Calibri"/>
              </a:rPr>
              <a:t>of</a:t>
            </a:r>
            <a:r>
              <a:rPr sz="2800" b="0" spc="105" dirty="0">
                <a:solidFill>
                  <a:srgbClr val="FF0000"/>
                </a:solidFill>
                <a:latin typeface="Calibri"/>
                <a:cs typeface="Calibri"/>
              </a:rPr>
              <a:t>  </a:t>
            </a:r>
            <a:r>
              <a:rPr sz="2800" b="0" dirty="0">
                <a:solidFill>
                  <a:srgbClr val="FF0000"/>
                </a:solidFill>
                <a:latin typeface="Calibri"/>
                <a:cs typeface="Calibri"/>
              </a:rPr>
              <a:t>relationships</a:t>
            </a:r>
            <a:r>
              <a:rPr sz="2800" b="0" spc="110" dirty="0">
                <a:solidFill>
                  <a:srgbClr val="FF0000"/>
                </a:solidFill>
                <a:latin typeface="Calibri"/>
                <a:cs typeface="Calibri"/>
              </a:rPr>
              <a:t>  </a:t>
            </a:r>
            <a:r>
              <a:rPr sz="2800" b="0" dirty="0">
                <a:latin typeface="Calibri"/>
                <a:cs typeface="Calibri"/>
              </a:rPr>
              <a:t>that</a:t>
            </a:r>
            <a:r>
              <a:rPr sz="2800" b="0" spc="105" dirty="0">
                <a:latin typeface="Calibri"/>
                <a:cs typeface="Calibri"/>
              </a:rPr>
              <a:t>  </a:t>
            </a:r>
            <a:r>
              <a:rPr sz="2800" b="0" dirty="0">
                <a:latin typeface="Calibri"/>
                <a:cs typeface="Calibri"/>
              </a:rPr>
              <a:t>requires</a:t>
            </a:r>
            <a:r>
              <a:rPr sz="2800" b="0" spc="110" dirty="0">
                <a:latin typeface="Calibri"/>
                <a:cs typeface="Calibri"/>
              </a:rPr>
              <a:t>  </a:t>
            </a:r>
            <a:r>
              <a:rPr sz="2800" b="0" dirty="0">
                <a:latin typeface="Calibri"/>
                <a:cs typeface="Calibri"/>
              </a:rPr>
              <a:t>a</a:t>
            </a:r>
            <a:r>
              <a:rPr sz="2800" b="0" spc="105" dirty="0">
                <a:latin typeface="Calibri"/>
                <a:cs typeface="Calibri"/>
              </a:rPr>
              <a:t>  </a:t>
            </a:r>
            <a:r>
              <a:rPr sz="2800" b="0" dirty="0">
                <a:latin typeface="Calibri"/>
                <a:cs typeface="Calibri"/>
              </a:rPr>
              <a:t>much</a:t>
            </a:r>
            <a:r>
              <a:rPr sz="2800" b="0" spc="110" dirty="0">
                <a:latin typeface="Calibri"/>
                <a:cs typeface="Calibri"/>
              </a:rPr>
              <a:t>  </a:t>
            </a:r>
            <a:r>
              <a:rPr sz="2800" b="0" spc="-10" dirty="0">
                <a:latin typeface="Calibri"/>
                <a:cs typeface="Calibri"/>
              </a:rPr>
              <a:t>broader </a:t>
            </a:r>
            <a:r>
              <a:rPr sz="2800" b="0" dirty="0">
                <a:latin typeface="Calibri"/>
                <a:cs typeface="Calibri"/>
              </a:rPr>
              <a:t>spectrum</a:t>
            </a:r>
            <a:r>
              <a:rPr sz="2800" b="0" spc="-60" dirty="0">
                <a:latin typeface="Calibri"/>
                <a:cs typeface="Calibri"/>
              </a:rPr>
              <a:t> </a:t>
            </a:r>
            <a:r>
              <a:rPr sz="2800" b="0" dirty="0">
                <a:latin typeface="Calibri"/>
                <a:cs typeface="Calibri"/>
              </a:rPr>
              <a:t>of</a:t>
            </a:r>
            <a:r>
              <a:rPr sz="2800" b="0" spc="-55" dirty="0">
                <a:latin typeface="Calibri"/>
                <a:cs typeface="Calibri"/>
              </a:rPr>
              <a:t> </a:t>
            </a:r>
            <a:r>
              <a:rPr sz="2800" b="0" dirty="0">
                <a:latin typeface="Calibri"/>
                <a:cs typeface="Calibri"/>
              </a:rPr>
              <a:t>influence</a:t>
            </a:r>
            <a:r>
              <a:rPr sz="2800" b="0" spc="-55" dirty="0">
                <a:latin typeface="Calibri"/>
                <a:cs typeface="Calibri"/>
              </a:rPr>
              <a:t> </a:t>
            </a:r>
            <a:r>
              <a:rPr sz="2800" b="0" dirty="0">
                <a:latin typeface="Calibri"/>
                <a:cs typeface="Calibri"/>
              </a:rPr>
              <a:t>than</a:t>
            </a:r>
            <a:r>
              <a:rPr sz="2800" b="0" spc="-45" dirty="0">
                <a:latin typeface="Calibri"/>
                <a:cs typeface="Calibri"/>
              </a:rPr>
              <a:t> </a:t>
            </a:r>
            <a:r>
              <a:rPr sz="2800" b="0" dirty="0">
                <a:latin typeface="Calibri"/>
                <a:cs typeface="Calibri"/>
              </a:rPr>
              <a:t>they</a:t>
            </a:r>
            <a:r>
              <a:rPr sz="2800" b="0" spc="-55" dirty="0">
                <a:latin typeface="Calibri"/>
                <a:cs typeface="Calibri"/>
              </a:rPr>
              <a:t> </a:t>
            </a:r>
            <a:r>
              <a:rPr sz="2800" b="0" dirty="0">
                <a:latin typeface="Calibri"/>
                <a:cs typeface="Calibri"/>
              </a:rPr>
              <a:t>felt</a:t>
            </a:r>
            <a:r>
              <a:rPr sz="2800" b="0" spc="-50" dirty="0">
                <a:latin typeface="Calibri"/>
                <a:cs typeface="Calibri"/>
              </a:rPr>
              <a:t> </a:t>
            </a:r>
            <a:r>
              <a:rPr sz="2800" b="0" dirty="0">
                <a:latin typeface="Calibri"/>
                <a:cs typeface="Calibri"/>
              </a:rPr>
              <a:t>was</a:t>
            </a:r>
            <a:r>
              <a:rPr sz="2800" b="0" spc="-45" dirty="0">
                <a:latin typeface="Calibri"/>
                <a:cs typeface="Calibri"/>
              </a:rPr>
              <a:t> </a:t>
            </a:r>
            <a:r>
              <a:rPr sz="2800" b="0" dirty="0">
                <a:latin typeface="Calibri"/>
                <a:cs typeface="Calibri"/>
              </a:rPr>
              <a:t>necessary</a:t>
            </a:r>
            <a:r>
              <a:rPr sz="2800" b="0" spc="-60" dirty="0">
                <a:latin typeface="Calibri"/>
                <a:cs typeface="Calibri"/>
              </a:rPr>
              <a:t> </a:t>
            </a:r>
            <a:r>
              <a:rPr sz="2800" b="0" dirty="0">
                <a:latin typeface="Calibri"/>
                <a:cs typeface="Calibri"/>
              </a:rPr>
              <a:t>or</a:t>
            </a:r>
            <a:r>
              <a:rPr sz="2800" b="0" spc="-50" dirty="0">
                <a:latin typeface="Calibri"/>
                <a:cs typeface="Calibri"/>
              </a:rPr>
              <a:t> </a:t>
            </a:r>
            <a:r>
              <a:rPr sz="2800" b="0" dirty="0">
                <a:latin typeface="Calibri"/>
                <a:cs typeface="Calibri"/>
              </a:rPr>
              <a:t>even</a:t>
            </a:r>
            <a:r>
              <a:rPr sz="2800" b="0" spc="-50" dirty="0">
                <a:latin typeface="Calibri"/>
                <a:cs typeface="Calibri"/>
              </a:rPr>
              <a:t> </a:t>
            </a:r>
            <a:r>
              <a:rPr sz="2800" b="0" spc="-10" dirty="0">
                <a:latin typeface="Calibri"/>
                <a:cs typeface="Calibri"/>
              </a:rPr>
              <a:t>possible.</a:t>
            </a:r>
            <a:endParaRPr sz="28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4</a:t>
            </a:r>
            <a:endParaRPr sz="1200">
              <a:latin typeface="Calibri"/>
              <a:cs typeface="Calibri"/>
            </a:endParaRPr>
          </a:p>
        </p:txBody>
      </p:sp>
      <p:pic>
        <p:nvPicPr>
          <p:cNvPr id="5" name="Picture 4">
            <a:extLst>
              <a:ext uri="{FF2B5EF4-FFF2-40B4-BE49-F238E27FC236}">
                <a16:creationId xmlns:a16="http://schemas.microsoft.com/office/drawing/2014/main" id="{28B53CD5-0B5D-FF05-4991-EAEA914A7C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5</a:t>
            </a:r>
            <a:endParaRPr sz="1200">
              <a:latin typeface="Calibri"/>
              <a:cs typeface="Calibri"/>
            </a:endParaRPr>
          </a:p>
        </p:txBody>
      </p:sp>
      <p:pic>
        <p:nvPicPr>
          <p:cNvPr id="3" name="object 3"/>
          <p:cNvPicPr/>
          <p:nvPr/>
        </p:nvPicPr>
        <p:blipFill>
          <a:blip r:embed="rId2" cstate="print"/>
          <a:stretch>
            <a:fillRect/>
          </a:stretch>
        </p:blipFill>
        <p:spPr>
          <a:xfrm>
            <a:off x="3004165" y="1638098"/>
            <a:ext cx="5044137" cy="4774532"/>
          </a:xfrm>
          <a:prstGeom prst="rect">
            <a:avLst/>
          </a:prstGeom>
        </p:spPr>
      </p:pic>
      <p:sp>
        <p:nvSpPr>
          <p:cNvPr id="4" name="object 4"/>
          <p:cNvSpPr txBox="1"/>
          <p:nvPr/>
        </p:nvSpPr>
        <p:spPr>
          <a:xfrm>
            <a:off x="4213012" y="6510019"/>
            <a:ext cx="23133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Network</a:t>
            </a:r>
            <a:r>
              <a:rPr sz="1800" spc="-55" dirty="0">
                <a:latin typeface="Calibri"/>
                <a:cs typeface="Calibri"/>
              </a:rPr>
              <a:t> </a:t>
            </a:r>
            <a:r>
              <a:rPr sz="1800" dirty="0">
                <a:latin typeface="Calibri"/>
                <a:cs typeface="Calibri"/>
              </a:rPr>
              <a:t>of</a:t>
            </a:r>
            <a:r>
              <a:rPr sz="1800" spc="-40" dirty="0">
                <a:latin typeface="Calibri"/>
                <a:cs typeface="Calibri"/>
              </a:rPr>
              <a:t> </a:t>
            </a:r>
            <a:r>
              <a:rPr sz="1800" spc="-10" dirty="0">
                <a:latin typeface="Calibri"/>
                <a:cs typeface="Calibri"/>
              </a:rPr>
              <a:t>Stakeholders</a:t>
            </a:r>
            <a:endParaRPr sz="18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(2/6)</a:t>
            </a:r>
            <a:endParaRPr sz="1950"/>
          </a:p>
        </p:txBody>
      </p:sp>
      <p:pic>
        <p:nvPicPr>
          <p:cNvPr id="6" name="Picture 5">
            <a:extLst>
              <a:ext uri="{FF2B5EF4-FFF2-40B4-BE49-F238E27FC236}">
                <a16:creationId xmlns:a16="http://schemas.microsoft.com/office/drawing/2014/main" id="{8C162C64-F027-FC5A-8975-9958AB057A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515871"/>
            <a:ext cx="10358120" cy="5321300"/>
          </a:xfrm>
          <a:prstGeom prst="rect">
            <a:avLst/>
          </a:prstGeom>
        </p:spPr>
        <p:txBody>
          <a:bodyPr vert="horz" wrap="square" lIns="0" tIns="60960" rIns="0" bIns="0" rtlCol="0">
            <a:spAutoFit/>
          </a:bodyPr>
          <a:lstStyle/>
          <a:p>
            <a:pPr marL="241300" marR="5080" indent="-228600" algn="just">
              <a:lnSpc>
                <a:spcPts val="2900"/>
              </a:lnSpc>
              <a:spcBef>
                <a:spcPts val="480"/>
              </a:spcBef>
              <a:buFont typeface="Arial MT"/>
              <a:buChar char="•"/>
              <a:tabLst>
                <a:tab pos="241300" algn="l"/>
              </a:tabLst>
            </a:pPr>
            <a:r>
              <a:rPr sz="2700" dirty="0">
                <a:latin typeface="Calibri"/>
                <a:cs typeface="Calibri"/>
              </a:rPr>
              <a:t>To</a:t>
            </a:r>
            <a:r>
              <a:rPr sz="2700" spc="285" dirty="0">
                <a:latin typeface="Calibri"/>
                <a:cs typeface="Calibri"/>
              </a:rPr>
              <a:t> </a:t>
            </a:r>
            <a:r>
              <a:rPr sz="2700" dirty="0">
                <a:latin typeface="Calibri"/>
                <a:cs typeface="Calibri"/>
              </a:rPr>
              <a:t>be</a:t>
            </a:r>
            <a:r>
              <a:rPr sz="2700" spc="280" dirty="0">
                <a:latin typeface="Calibri"/>
                <a:cs typeface="Calibri"/>
              </a:rPr>
              <a:t> </a:t>
            </a:r>
            <a:r>
              <a:rPr sz="2700" dirty="0">
                <a:latin typeface="Calibri"/>
                <a:cs typeface="Calibri"/>
              </a:rPr>
              <a:t>effective,</a:t>
            </a:r>
            <a:r>
              <a:rPr sz="2700" spc="290" dirty="0">
                <a:latin typeface="Calibri"/>
                <a:cs typeface="Calibri"/>
              </a:rPr>
              <a:t> </a:t>
            </a:r>
            <a:r>
              <a:rPr sz="2700" dirty="0">
                <a:latin typeface="Calibri"/>
                <a:cs typeface="Calibri"/>
              </a:rPr>
              <a:t>a</a:t>
            </a:r>
            <a:r>
              <a:rPr sz="2700" spc="285" dirty="0">
                <a:latin typeface="Calibri"/>
                <a:cs typeface="Calibri"/>
              </a:rPr>
              <a:t> </a:t>
            </a:r>
            <a:r>
              <a:rPr sz="2700" dirty="0">
                <a:latin typeface="Calibri"/>
                <a:cs typeface="Calibri"/>
              </a:rPr>
              <a:t>project</a:t>
            </a:r>
            <a:r>
              <a:rPr sz="2700" spc="285" dirty="0">
                <a:latin typeface="Calibri"/>
                <a:cs typeface="Calibri"/>
              </a:rPr>
              <a:t> </a:t>
            </a:r>
            <a:r>
              <a:rPr sz="2700" dirty="0">
                <a:latin typeface="Calibri"/>
                <a:cs typeface="Calibri"/>
              </a:rPr>
              <a:t>manager</a:t>
            </a:r>
            <a:r>
              <a:rPr sz="2700" spc="290" dirty="0">
                <a:latin typeface="Calibri"/>
                <a:cs typeface="Calibri"/>
              </a:rPr>
              <a:t> </a:t>
            </a:r>
            <a:r>
              <a:rPr sz="2700" dirty="0">
                <a:latin typeface="Calibri"/>
                <a:cs typeface="Calibri"/>
              </a:rPr>
              <a:t>must</a:t>
            </a:r>
            <a:r>
              <a:rPr sz="2700" spc="285" dirty="0">
                <a:latin typeface="Calibri"/>
                <a:cs typeface="Calibri"/>
              </a:rPr>
              <a:t> </a:t>
            </a:r>
            <a:r>
              <a:rPr sz="2700" dirty="0">
                <a:latin typeface="Calibri"/>
                <a:cs typeface="Calibri"/>
              </a:rPr>
              <a:t>understand</a:t>
            </a:r>
            <a:r>
              <a:rPr sz="2700" spc="280" dirty="0">
                <a:latin typeface="Calibri"/>
                <a:cs typeface="Calibri"/>
              </a:rPr>
              <a:t> </a:t>
            </a:r>
            <a:r>
              <a:rPr sz="2700" dirty="0">
                <a:latin typeface="Calibri"/>
                <a:cs typeface="Calibri"/>
              </a:rPr>
              <a:t>how</a:t>
            </a:r>
            <a:r>
              <a:rPr sz="2700" spc="285" dirty="0">
                <a:latin typeface="Calibri"/>
                <a:cs typeface="Calibri"/>
              </a:rPr>
              <a:t> </a:t>
            </a:r>
            <a:r>
              <a:rPr sz="2700" spc="-10" dirty="0">
                <a:latin typeface="Calibri"/>
                <a:cs typeface="Calibri"/>
              </a:rPr>
              <a:t>stakeholders </a:t>
            </a:r>
            <a:r>
              <a:rPr sz="2700" dirty="0">
                <a:latin typeface="Calibri"/>
                <a:cs typeface="Calibri"/>
              </a:rPr>
              <a:t>can</a:t>
            </a:r>
            <a:r>
              <a:rPr sz="2700" spc="355" dirty="0">
                <a:latin typeface="Calibri"/>
                <a:cs typeface="Calibri"/>
              </a:rPr>
              <a:t>  </a:t>
            </a:r>
            <a:r>
              <a:rPr sz="2700" dirty="0">
                <a:latin typeface="Calibri"/>
                <a:cs typeface="Calibri"/>
              </a:rPr>
              <a:t>affect</a:t>
            </a:r>
            <a:r>
              <a:rPr sz="2700" spc="360" dirty="0">
                <a:latin typeface="Calibri"/>
                <a:cs typeface="Calibri"/>
              </a:rPr>
              <a:t>  </a:t>
            </a:r>
            <a:r>
              <a:rPr sz="2700" dirty="0">
                <a:latin typeface="Calibri"/>
                <a:cs typeface="Calibri"/>
              </a:rPr>
              <a:t>the</a:t>
            </a:r>
            <a:r>
              <a:rPr sz="2700" spc="355" dirty="0">
                <a:latin typeface="Calibri"/>
                <a:cs typeface="Calibri"/>
              </a:rPr>
              <a:t>  </a:t>
            </a:r>
            <a:r>
              <a:rPr sz="2700" dirty="0">
                <a:latin typeface="Calibri"/>
                <a:cs typeface="Calibri"/>
              </a:rPr>
              <a:t>project</a:t>
            </a:r>
            <a:r>
              <a:rPr sz="2700" spc="355" dirty="0">
                <a:latin typeface="Calibri"/>
                <a:cs typeface="Calibri"/>
              </a:rPr>
              <a:t>  </a:t>
            </a:r>
            <a:r>
              <a:rPr sz="2700" dirty="0">
                <a:latin typeface="Calibri"/>
                <a:cs typeface="Calibri"/>
              </a:rPr>
              <a:t>and</a:t>
            </a:r>
            <a:r>
              <a:rPr sz="2700" spc="360" dirty="0">
                <a:latin typeface="Calibri"/>
                <a:cs typeface="Calibri"/>
              </a:rPr>
              <a:t>  </a:t>
            </a:r>
            <a:r>
              <a:rPr sz="2700" dirty="0">
                <a:latin typeface="Calibri"/>
                <a:cs typeface="Calibri"/>
              </a:rPr>
              <a:t>develop</a:t>
            </a:r>
            <a:r>
              <a:rPr sz="2700" spc="355" dirty="0">
                <a:latin typeface="Calibri"/>
                <a:cs typeface="Calibri"/>
              </a:rPr>
              <a:t>  </a:t>
            </a:r>
            <a:r>
              <a:rPr sz="2700" dirty="0">
                <a:latin typeface="Calibri"/>
                <a:cs typeface="Calibri"/>
              </a:rPr>
              <a:t>methods</a:t>
            </a:r>
            <a:r>
              <a:rPr sz="2700" spc="360" dirty="0">
                <a:latin typeface="Calibri"/>
                <a:cs typeface="Calibri"/>
              </a:rPr>
              <a:t>  </a:t>
            </a:r>
            <a:r>
              <a:rPr sz="2700" dirty="0">
                <a:latin typeface="Calibri"/>
                <a:cs typeface="Calibri"/>
              </a:rPr>
              <a:t>for</a:t>
            </a:r>
            <a:r>
              <a:rPr sz="2700" spc="355" dirty="0">
                <a:latin typeface="Calibri"/>
                <a:cs typeface="Calibri"/>
              </a:rPr>
              <a:t>  </a:t>
            </a:r>
            <a:r>
              <a:rPr sz="2700" dirty="0">
                <a:latin typeface="Calibri"/>
                <a:cs typeface="Calibri"/>
              </a:rPr>
              <a:t>managing</a:t>
            </a:r>
            <a:r>
              <a:rPr sz="2700" spc="365" dirty="0">
                <a:latin typeface="Calibri"/>
                <a:cs typeface="Calibri"/>
              </a:rPr>
              <a:t>  </a:t>
            </a:r>
            <a:r>
              <a:rPr sz="2700" spc="-25" dirty="0">
                <a:latin typeface="Calibri"/>
                <a:cs typeface="Calibri"/>
              </a:rPr>
              <a:t>the </a:t>
            </a:r>
            <a:r>
              <a:rPr sz="2700" spc="-10" dirty="0">
                <a:latin typeface="Calibri"/>
                <a:cs typeface="Calibri"/>
              </a:rPr>
              <a:t>dependency.</a:t>
            </a:r>
            <a:endParaRPr sz="2700" dirty="0">
              <a:latin typeface="Calibri"/>
              <a:cs typeface="Calibri"/>
            </a:endParaRPr>
          </a:p>
          <a:p>
            <a:pPr marL="697230" marR="6350" lvl="1" indent="-227329" algn="just">
              <a:lnSpc>
                <a:spcPct val="90300"/>
              </a:lnSpc>
              <a:spcBef>
                <a:spcPts val="500"/>
              </a:spcBef>
              <a:buFont typeface="Courier New"/>
              <a:buChar char="o"/>
              <a:tabLst>
                <a:tab pos="698500" algn="l"/>
              </a:tabLst>
            </a:pPr>
            <a:r>
              <a:rPr sz="2400" b="1" dirty="0">
                <a:solidFill>
                  <a:srgbClr val="C00000"/>
                </a:solidFill>
                <a:latin typeface="Calibri"/>
                <a:cs typeface="Calibri"/>
              </a:rPr>
              <a:t>Project</a:t>
            </a:r>
            <a:r>
              <a:rPr sz="2400" b="1" spc="-75" dirty="0">
                <a:solidFill>
                  <a:srgbClr val="C00000"/>
                </a:solidFill>
                <a:latin typeface="Calibri"/>
                <a:cs typeface="Calibri"/>
              </a:rPr>
              <a:t> </a:t>
            </a:r>
            <a:r>
              <a:rPr sz="2400" b="1" dirty="0">
                <a:solidFill>
                  <a:srgbClr val="C00000"/>
                </a:solidFill>
                <a:latin typeface="Calibri"/>
                <a:cs typeface="Calibri"/>
              </a:rPr>
              <a:t>team</a:t>
            </a:r>
            <a:r>
              <a:rPr sz="2400" b="1" spc="-75" dirty="0">
                <a:solidFill>
                  <a:srgbClr val="C00000"/>
                </a:solidFill>
                <a:latin typeface="Calibri"/>
                <a:cs typeface="Calibri"/>
              </a:rPr>
              <a:t> </a:t>
            </a:r>
            <a:r>
              <a:rPr sz="2400" dirty="0">
                <a:latin typeface="Calibri"/>
                <a:cs typeface="Calibri"/>
              </a:rPr>
              <a:t>manages</a:t>
            </a:r>
            <a:r>
              <a:rPr sz="2400" spc="-80" dirty="0">
                <a:latin typeface="Calibri"/>
                <a:cs typeface="Calibri"/>
              </a:rPr>
              <a:t> </a:t>
            </a:r>
            <a:r>
              <a:rPr sz="2400" dirty="0">
                <a:latin typeface="Calibri"/>
                <a:cs typeface="Calibri"/>
              </a:rPr>
              <a:t>and</a:t>
            </a:r>
            <a:r>
              <a:rPr sz="2400" spc="-75" dirty="0">
                <a:latin typeface="Calibri"/>
                <a:cs typeface="Calibri"/>
              </a:rPr>
              <a:t> </a:t>
            </a:r>
            <a:r>
              <a:rPr sz="2400" dirty="0">
                <a:latin typeface="Calibri"/>
                <a:cs typeface="Calibri"/>
              </a:rPr>
              <a:t>completes</a:t>
            </a:r>
            <a:r>
              <a:rPr sz="2400" spc="-80" dirty="0">
                <a:latin typeface="Calibri"/>
                <a:cs typeface="Calibri"/>
              </a:rPr>
              <a:t> </a:t>
            </a:r>
            <a:r>
              <a:rPr sz="2400" dirty="0">
                <a:latin typeface="Calibri"/>
                <a:cs typeface="Calibri"/>
              </a:rPr>
              <a:t>project</a:t>
            </a:r>
            <a:r>
              <a:rPr sz="2400" spc="-85" dirty="0">
                <a:latin typeface="Calibri"/>
                <a:cs typeface="Calibri"/>
              </a:rPr>
              <a:t> </a:t>
            </a:r>
            <a:r>
              <a:rPr sz="2400" dirty="0">
                <a:latin typeface="Calibri"/>
                <a:cs typeface="Calibri"/>
              </a:rPr>
              <a:t>work.</a:t>
            </a:r>
            <a:r>
              <a:rPr sz="2400" spc="-85" dirty="0">
                <a:latin typeface="Calibri"/>
                <a:cs typeface="Calibri"/>
              </a:rPr>
              <a:t> </a:t>
            </a:r>
            <a:r>
              <a:rPr sz="2400" dirty="0">
                <a:latin typeface="Calibri"/>
                <a:cs typeface="Calibri"/>
              </a:rPr>
              <a:t>Most</a:t>
            </a:r>
            <a:r>
              <a:rPr sz="2400" spc="-80" dirty="0">
                <a:latin typeface="Calibri"/>
                <a:cs typeface="Calibri"/>
              </a:rPr>
              <a:t> </a:t>
            </a:r>
            <a:r>
              <a:rPr sz="2400" dirty="0">
                <a:latin typeface="Calibri"/>
                <a:cs typeface="Calibri"/>
              </a:rPr>
              <a:t>participants</a:t>
            </a:r>
            <a:r>
              <a:rPr sz="2400" spc="-75" dirty="0">
                <a:latin typeface="Calibri"/>
                <a:cs typeface="Calibri"/>
              </a:rPr>
              <a:t> </a:t>
            </a:r>
            <a:r>
              <a:rPr sz="2400" dirty="0">
                <a:latin typeface="Calibri"/>
                <a:cs typeface="Calibri"/>
              </a:rPr>
              <a:t>want</a:t>
            </a:r>
            <a:r>
              <a:rPr sz="2400" spc="-80" dirty="0">
                <a:latin typeface="Calibri"/>
                <a:cs typeface="Calibri"/>
              </a:rPr>
              <a:t> </a:t>
            </a:r>
            <a:r>
              <a:rPr sz="2400" spc="-25" dirty="0">
                <a:latin typeface="Calibri"/>
                <a:cs typeface="Calibri"/>
              </a:rPr>
              <a:t>to 	</a:t>
            </a:r>
            <a:r>
              <a:rPr sz="2400" dirty="0">
                <a:latin typeface="Calibri"/>
                <a:cs typeface="Calibri"/>
              </a:rPr>
              <a:t>do</a:t>
            </a:r>
            <a:r>
              <a:rPr sz="2400" spc="180" dirty="0">
                <a:latin typeface="Calibri"/>
                <a:cs typeface="Calibri"/>
              </a:rPr>
              <a:t> </a:t>
            </a:r>
            <a:r>
              <a:rPr sz="2400" dirty="0">
                <a:latin typeface="Calibri"/>
                <a:cs typeface="Calibri"/>
              </a:rPr>
              <a:t>a</a:t>
            </a:r>
            <a:r>
              <a:rPr sz="2400" spc="190" dirty="0">
                <a:latin typeface="Calibri"/>
                <a:cs typeface="Calibri"/>
              </a:rPr>
              <a:t> </a:t>
            </a:r>
            <a:r>
              <a:rPr sz="2400" dirty="0">
                <a:latin typeface="Calibri"/>
                <a:cs typeface="Calibri"/>
              </a:rPr>
              <a:t>good</a:t>
            </a:r>
            <a:r>
              <a:rPr sz="2400" spc="190" dirty="0">
                <a:latin typeface="Calibri"/>
                <a:cs typeface="Calibri"/>
              </a:rPr>
              <a:t> </a:t>
            </a:r>
            <a:r>
              <a:rPr sz="2400" dirty="0">
                <a:latin typeface="Calibri"/>
                <a:cs typeface="Calibri"/>
              </a:rPr>
              <a:t>job,</a:t>
            </a:r>
            <a:r>
              <a:rPr sz="2400" spc="190" dirty="0">
                <a:latin typeface="Calibri"/>
                <a:cs typeface="Calibri"/>
              </a:rPr>
              <a:t> </a:t>
            </a:r>
            <a:r>
              <a:rPr sz="2400" dirty="0">
                <a:latin typeface="Calibri"/>
                <a:cs typeface="Calibri"/>
              </a:rPr>
              <a:t>but</a:t>
            </a:r>
            <a:r>
              <a:rPr sz="2400" spc="180" dirty="0">
                <a:latin typeface="Calibri"/>
                <a:cs typeface="Calibri"/>
              </a:rPr>
              <a:t> </a:t>
            </a:r>
            <a:r>
              <a:rPr sz="2400" dirty="0">
                <a:latin typeface="Calibri"/>
                <a:cs typeface="Calibri"/>
              </a:rPr>
              <a:t>they</a:t>
            </a:r>
            <a:r>
              <a:rPr sz="2400" spc="195" dirty="0">
                <a:latin typeface="Calibri"/>
                <a:cs typeface="Calibri"/>
              </a:rPr>
              <a:t> </a:t>
            </a:r>
            <a:r>
              <a:rPr sz="2400" dirty="0">
                <a:latin typeface="Calibri"/>
                <a:cs typeface="Calibri"/>
              </a:rPr>
              <a:t>are</a:t>
            </a:r>
            <a:r>
              <a:rPr sz="2400" spc="195" dirty="0">
                <a:latin typeface="Calibri"/>
                <a:cs typeface="Calibri"/>
              </a:rPr>
              <a:t> </a:t>
            </a:r>
            <a:r>
              <a:rPr sz="2400" dirty="0">
                <a:latin typeface="Calibri"/>
                <a:cs typeface="Calibri"/>
              </a:rPr>
              <a:t>also</a:t>
            </a:r>
            <a:r>
              <a:rPr sz="2400" spc="180" dirty="0">
                <a:latin typeface="Calibri"/>
                <a:cs typeface="Calibri"/>
              </a:rPr>
              <a:t> </a:t>
            </a:r>
            <a:r>
              <a:rPr sz="2400" dirty="0">
                <a:latin typeface="Calibri"/>
                <a:cs typeface="Calibri"/>
              </a:rPr>
              <a:t>concerned</a:t>
            </a:r>
            <a:r>
              <a:rPr sz="2400" spc="195" dirty="0">
                <a:latin typeface="Calibri"/>
                <a:cs typeface="Calibri"/>
              </a:rPr>
              <a:t> </a:t>
            </a:r>
            <a:r>
              <a:rPr sz="2400" dirty="0">
                <a:latin typeface="Calibri"/>
                <a:cs typeface="Calibri"/>
              </a:rPr>
              <a:t>with</a:t>
            </a:r>
            <a:r>
              <a:rPr sz="2400" spc="190" dirty="0">
                <a:latin typeface="Calibri"/>
                <a:cs typeface="Calibri"/>
              </a:rPr>
              <a:t> </a:t>
            </a:r>
            <a:r>
              <a:rPr sz="2400" dirty="0">
                <a:latin typeface="Calibri"/>
                <a:cs typeface="Calibri"/>
              </a:rPr>
              <a:t>their</a:t>
            </a:r>
            <a:r>
              <a:rPr sz="2400" spc="190" dirty="0">
                <a:latin typeface="Calibri"/>
                <a:cs typeface="Calibri"/>
              </a:rPr>
              <a:t> </a:t>
            </a:r>
            <a:r>
              <a:rPr sz="2400" dirty="0">
                <a:latin typeface="Calibri"/>
                <a:cs typeface="Calibri"/>
              </a:rPr>
              <a:t>other</a:t>
            </a:r>
            <a:r>
              <a:rPr sz="2400" spc="185" dirty="0">
                <a:latin typeface="Calibri"/>
                <a:cs typeface="Calibri"/>
              </a:rPr>
              <a:t> </a:t>
            </a:r>
            <a:r>
              <a:rPr sz="2400" dirty="0">
                <a:latin typeface="Calibri"/>
                <a:cs typeface="Calibri"/>
              </a:rPr>
              <a:t>obligations</a:t>
            </a:r>
            <a:r>
              <a:rPr sz="2400" spc="190" dirty="0">
                <a:latin typeface="Calibri"/>
                <a:cs typeface="Calibri"/>
              </a:rPr>
              <a:t> </a:t>
            </a:r>
            <a:r>
              <a:rPr sz="2400" spc="-25" dirty="0">
                <a:latin typeface="Calibri"/>
                <a:cs typeface="Calibri"/>
              </a:rPr>
              <a:t>and 	</a:t>
            </a:r>
            <a:r>
              <a:rPr sz="2400" dirty="0">
                <a:latin typeface="Calibri"/>
                <a:cs typeface="Calibri"/>
              </a:rPr>
              <a:t>how</a:t>
            </a:r>
            <a:r>
              <a:rPr sz="2400" spc="175" dirty="0">
                <a:latin typeface="Calibri"/>
                <a:cs typeface="Calibri"/>
              </a:rPr>
              <a:t> </a:t>
            </a:r>
            <a:r>
              <a:rPr sz="2400" dirty="0">
                <a:latin typeface="Calibri"/>
                <a:cs typeface="Calibri"/>
              </a:rPr>
              <a:t>their</a:t>
            </a:r>
            <a:r>
              <a:rPr sz="2400" spc="180" dirty="0">
                <a:latin typeface="Calibri"/>
                <a:cs typeface="Calibri"/>
              </a:rPr>
              <a:t> </a:t>
            </a:r>
            <a:r>
              <a:rPr sz="2400" dirty="0">
                <a:latin typeface="Calibri"/>
                <a:cs typeface="Calibri"/>
              </a:rPr>
              <a:t>involvement</a:t>
            </a:r>
            <a:r>
              <a:rPr sz="2400" spc="180" dirty="0">
                <a:latin typeface="Calibri"/>
                <a:cs typeface="Calibri"/>
              </a:rPr>
              <a:t> </a:t>
            </a:r>
            <a:r>
              <a:rPr sz="2400" dirty="0">
                <a:latin typeface="Calibri"/>
                <a:cs typeface="Calibri"/>
              </a:rPr>
              <a:t>on</a:t>
            </a:r>
            <a:r>
              <a:rPr sz="2400" spc="180" dirty="0">
                <a:latin typeface="Calibri"/>
                <a:cs typeface="Calibri"/>
              </a:rPr>
              <a:t> </a:t>
            </a:r>
            <a:r>
              <a:rPr sz="2400" dirty="0">
                <a:latin typeface="Calibri"/>
                <a:cs typeface="Calibri"/>
              </a:rPr>
              <a:t>the</a:t>
            </a:r>
            <a:r>
              <a:rPr sz="2400" spc="180" dirty="0">
                <a:latin typeface="Calibri"/>
                <a:cs typeface="Calibri"/>
              </a:rPr>
              <a:t> </a:t>
            </a:r>
            <a:r>
              <a:rPr sz="2400" dirty="0">
                <a:latin typeface="Calibri"/>
                <a:cs typeface="Calibri"/>
              </a:rPr>
              <a:t>project</a:t>
            </a:r>
            <a:r>
              <a:rPr sz="2400" spc="175" dirty="0">
                <a:latin typeface="Calibri"/>
                <a:cs typeface="Calibri"/>
              </a:rPr>
              <a:t> </a:t>
            </a:r>
            <a:r>
              <a:rPr sz="2400" dirty="0">
                <a:latin typeface="Calibri"/>
                <a:cs typeface="Calibri"/>
              </a:rPr>
              <a:t>will</a:t>
            </a:r>
            <a:r>
              <a:rPr sz="2400" spc="180" dirty="0">
                <a:latin typeface="Calibri"/>
                <a:cs typeface="Calibri"/>
              </a:rPr>
              <a:t> </a:t>
            </a:r>
            <a:r>
              <a:rPr sz="2400" dirty="0">
                <a:latin typeface="Calibri"/>
                <a:cs typeface="Calibri"/>
              </a:rPr>
              <a:t>contribute</a:t>
            </a:r>
            <a:r>
              <a:rPr sz="2400" spc="185" dirty="0">
                <a:latin typeface="Calibri"/>
                <a:cs typeface="Calibri"/>
              </a:rPr>
              <a:t> </a:t>
            </a:r>
            <a:r>
              <a:rPr sz="2400" dirty="0">
                <a:latin typeface="Calibri"/>
                <a:cs typeface="Calibri"/>
              </a:rPr>
              <a:t>to</a:t>
            </a:r>
            <a:r>
              <a:rPr sz="2400" spc="180" dirty="0">
                <a:latin typeface="Calibri"/>
                <a:cs typeface="Calibri"/>
              </a:rPr>
              <a:t> </a:t>
            </a:r>
            <a:r>
              <a:rPr sz="2400" dirty="0">
                <a:latin typeface="Calibri"/>
                <a:cs typeface="Calibri"/>
              </a:rPr>
              <a:t>their</a:t>
            </a:r>
            <a:r>
              <a:rPr sz="2400" spc="180" dirty="0">
                <a:latin typeface="Calibri"/>
                <a:cs typeface="Calibri"/>
              </a:rPr>
              <a:t> </a:t>
            </a:r>
            <a:r>
              <a:rPr sz="2400" dirty="0">
                <a:latin typeface="Calibri"/>
                <a:cs typeface="Calibri"/>
              </a:rPr>
              <a:t>personal</a:t>
            </a:r>
            <a:r>
              <a:rPr sz="2400" spc="175" dirty="0">
                <a:latin typeface="Calibri"/>
                <a:cs typeface="Calibri"/>
              </a:rPr>
              <a:t> </a:t>
            </a:r>
            <a:r>
              <a:rPr sz="2400" spc="-10" dirty="0">
                <a:latin typeface="Calibri"/>
                <a:cs typeface="Calibri"/>
              </a:rPr>
              <a:t>goals 	</a:t>
            </a:r>
            <a:r>
              <a:rPr sz="2400" dirty="0">
                <a:latin typeface="Calibri"/>
                <a:cs typeface="Calibri"/>
              </a:rPr>
              <a:t>and</a:t>
            </a:r>
            <a:r>
              <a:rPr sz="2400" spc="-50" dirty="0">
                <a:latin typeface="Calibri"/>
                <a:cs typeface="Calibri"/>
              </a:rPr>
              <a:t> </a:t>
            </a:r>
            <a:r>
              <a:rPr sz="2400" spc="-10" dirty="0">
                <a:latin typeface="Calibri"/>
                <a:cs typeface="Calibri"/>
              </a:rPr>
              <a:t>aspirations.</a:t>
            </a:r>
            <a:endParaRPr sz="2400" dirty="0">
              <a:latin typeface="Calibri"/>
              <a:cs typeface="Calibri"/>
            </a:endParaRPr>
          </a:p>
          <a:p>
            <a:pPr marL="697230" marR="6985" lvl="1" indent="-227329" algn="just">
              <a:lnSpc>
                <a:spcPts val="2590"/>
              </a:lnSpc>
              <a:spcBef>
                <a:spcPts val="565"/>
              </a:spcBef>
              <a:buFont typeface="Courier New"/>
              <a:buChar char="o"/>
              <a:tabLst>
                <a:tab pos="698500" algn="l"/>
              </a:tabLst>
            </a:pPr>
            <a:r>
              <a:rPr sz="2400" b="1" dirty="0">
                <a:solidFill>
                  <a:srgbClr val="C00000"/>
                </a:solidFill>
                <a:latin typeface="Calibri"/>
                <a:cs typeface="Calibri"/>
              </a:rPr>
              <a:t>Project</a:t>
            </a:r>
            <a:r>
              <a:rPr sz="2400" b="1" spc="225" dirty="0">
                <a:solidFill>
                  <a:srgbClr val="C00000"/>
                </a:solidFill>
                <a:latin typeface="Calibri"/>
                <a:cs typeface="Calibri"/>
              </a:rPr>
              <a:t> </a:t>
            </a:r>
            <a:r>
              <a:rPr sz="2400" b="1" dirty="0">
                <a:solidFill>
                  <a:srgbClr val="C00000"/>
                </a:solidFill>
                <a:latin typeface="Calibri"/>
                <a:cs typeface="Calibri"/>
              </a:rPr>
              <a:t>managers</a:t>
            </a:r>
            <a:r>
              <a:rPr sz="2400" b="1" spc="220" dirty="0">
                <a:solidFill>
                  <a:srgbClr val="C00000"/>
                </a:solidFill>
                <a:latin typeface="Calibri"/>
                <a:cs typeface="Calibri"/>
              </a:rPr>
              <a:t> </a:t>
            </a:r>
            <a:r>
              <a:rPr sz="2400" dirty="0">
                <a:latin typeface="Calibri"/>
                <a:cs typeface="Calibri"/>
              </a:rPr>
              <a:t>naturally</a:t>
            </a:r>
            <a:r>
              <a:rPr sz="2400" spc="220" dirty="0">
                <a:latin typeface="Calibri"/>
                <a:cs typeface="Calibri"/>
              </a:rPr>
              <a:t> </a:t>
            </a:r>
            <a:r>
              <a:rPr sz="2400" dirty="0">
                <a:latin typeface="Calibri"/>
                <a:cs typeface="Calibri"/>
              </a:rPr>
              <a:t>compete</a:t>
            </a:r>
            <a:r>
              <a:rPr sz="2400" spc="225" dirty="0">
                <a:latin typeface="Calibri"/>
                <a:cs typeface="Calibri"/>
              </a:rPr>
              <a:t> </a:t>
            </a:r>
            <a:r>
              <a:rPr sz="2400" dirty="0">
                <a:latin typeface="Calibri"/>
                <a:cs typeface="Calibri"/>
              </a:rPr>
              <a:t>with</a:t>
            </a:r>
            <a:r>
              <a:rPr sz="2400" spc="220" dirty="0">
                <a:latin typeface="Calibri"/>
                <a:cs typeface="Calibri"/>
              </a:rPr>
              <a:t> </a:t>
            </a:r>
            <a:r>
              <a:rPr sz="2400" dirty="0">
                <a:latin typeface="Calibri"/>
                <a:cs typeface="Calibri"/>
              </a:rPr>
              <a:t>each</a:t>
            </a:r>
            <a:r>
              <a:rPr sz="2400" spc="220" dirty="0">
                <a:latin typeface="Calibri"/>
                <a:cs typeface="Calibri"/>
              </a:rPr>
              <a:t> </a:t>
            </a:r>
            <a:r>
              <a:rPr sz="2400" dirty="0">
                <a:latin typeface="Calibri"/>
                <a:cs typeface="Calibri"/>
              </a:rPr>
              <a:t>other</a:t>
            </a:r>
            <a:r>
              <a:rPr sz="2400" spc="220" dirty="0">
                <a:latin typeface="Calibri"/>
                <a:cs typeface="Calibri"/>
              </a:rPr>
              <a:t> </a:t>
            </a:r>
            <a:r>
              <a:rPr sz="2400" dirty="0">
                <a:latin typeface="Calibri"/>
                <a:cs typeface="Calibri"/>
              </a:rPr>
              <a:t>for</a:t>
            </a:r>
            <a:r>
              <a:rPr sz="2400" spc="220" dirty="0">
                <a:latin typeface="Calibri"/>
                <a:cs typeface="Calibri"/>
              </a:rPr>
              <a:t> </a:t>
            </a:r>
            <a:r>
              <a:rPr sz="2400" dirty="0">
                <a:latin typeface="Calibri"/>
                <a:cs typeface="Calibri"/>
              </a:rPr>
              <a:t>resources</a:t>
            </a:r>
            <a:r>
              <a:rPr sz="2400" spc="220" dirty="0">
                <a:latin typeface="Calibri"/>
                <a:cs typeface="Calibri"/>
              </a:rPr>
              <a:t> </a:t>
            </a:r>
            <a:r>
              <a:rPr sz="2400" dirty="0">
                <a:latin typeface="Calibri"/>
                <a:cs typeface="Calibri"/>
              </a:rPr>
              <a:t>and</a:t>
            </a:r>
            <a:r>
              <a:rPr sz="2400" spc="220" dirty="0">
                <a:latin typeface="Calibri"/>
                <a:cs typeface="Calibri"/>
              </a:rPr>
              <a:t> </a:t>
            </a:r>
            <a:r>
              <a:rPr sz="2400" spc="-25" dirty="0">
                <a:latin typeface="Calibri"/>
                <a:cs typeface="Calibri"/>
              </a:rPr>
              <a:t>the 	</a:t>
            </a:r>
            <a:r>
              <a:rPr sz="2400" dirty="0">
                <a:latin typeface="Calibri"/>
                <a:cs typeface="Calibri"/>
              </a:rPr>
              <a:t>support</a:t>
            </a:r>
            <a:r>
              <a:rPr sz="2400" spc="405" dirty="0">
                <a:latin typeface="Calibri"/>
                <a:cs typeface="Calibri"/>
              </a:rPr>
              <a:t> </a:t>
            </a:r>
            <a:r>
              <a:rPr sz="2400" dirty="0">
                <a:latin typeface="Calibri"/>
                <a:cs typeface="Calibri"/>
              </a:rPr>
              <a:t>of</a:t>
            </a:r>
            <a:r>
              <a:rPr sz="2400" spc="409" dirty="0">
                <a:latin typeface="Calibri"/>
                <a:cs typeface="Calibri"/>
              </a:rPr>
              <a:t> </a:t>
            </a:r>
            <a:r>
              <a:rPr sz="2400" dirty="0">
                <a:latin typeface="Calibri"/>
                <a:cs typeface="Calibri"/>
              </a:rPr>
              <a:t>top</a:t>
            </a:r>
            <a:r>
              <a:rPr sz="2400" spc="409" dirty="0">
                <a:latin typeface="Calibri"/>
                <a:cs typeface="Calibri"/>
              </a:rPr>
              <a:t> </a:t>
            </a:r>
            <a:r>
              <a:rPr sz="2400" dirty="0">
                <a:latin typeface="Calibri"/>
                <a:cs typeface="Calibri"/>
              </a:rPr>
              <a:t>management.</a:t>
            </a:r>
            <a:r>
              <a:rPr sz="2400" spc="405" dirty="0">
                <a:latin typeface="Calibri"/>
                <a:cs typeface="Calibri"/>
              </a:rPr>
              <a:t> </a:t>
            </a:r>
            <a:r>
              <a:rPr sz="2400" dirty="0">
                <a:latin typeface="Calibri"/>
                <a:cs typeface="Calibri"/>
              </a:rPr>
              <a:t>At</a:t>
            </a:r>
            <a:r>
              <a:rPr sz="2400" spc="405" dirty="0">
                <a:latin typeface="Calibri"/>
                <a:cs typeface="Calibri"/>
              </a:rPr>
              <a:t> </a:t>
            </a:r>
            <a:r>
              <a:rPr sz="2400" dirty="0">
                <a:latin typeface="Calibri"/>
                <a:cs typeface="Calibri"/>
              </a:rPr>
              <a:t>the</a:t>
            </a:r>
            <a:r>
              <a:rPr sz="2400" spc="415" dirty="0">
                <a:latin typeface="Calibri"/>
                <a:cs typeface="Calibri"/>
              </a:rPr>
              <a:t> </a:t>
            </a:r>
            <a:r>
              <a:rPr sz="2400" dirty="0">
                <a:latin typeface="Calibri"/>
                <a:cs typeface="Calibri"/>
              </a:rPr>
              <a:t>same</a:t>
            </a:r>
            <a:r>
              <a:rPr sz="2400" spc="415" dirty="0">
                <a:latin typeface="Calibri"/>
                <a:cs typeface="Calibri"/>
              </a:rPr>
              <a:t> </a:t>
            </a:r>
            <a:r>
              <a:rPr sz="2400" dirty="0">
                <a:latin typeface="Calibri"/>
                <a:cs typeface="Calibri"/>
              </a:rPr>
              <a:t>time,</a:t>
            </a:r>
            <a:r>
              <a:rPr sz="2400" spc="405" dirty="0">
                <a:latin typeface="Calibri"/>
                <a:cs typeface="Calibri"/>
              </a:rPr>
              <a:t> </a:t>
            </a:r>
            <a:r>
              <a:rPr sz="2400" dirty="0">
                <a:latin typeface="Calibri"/>
                <a:cs typeface="Calibri"/>
              </a:rPr>
              <a:t>they</a:t>
            </a:r>
            <a:r>
              <a:rPr sz="2400" spc="409" dirty="0">
                <a:latin typeface="Calibri"/>
                <a:cs typeface="Calibri"/>
              </a:rPr>
              <a:t> </a:t>
            </a:r>
            <a:r>
              <a:rPr sz="2400" dirty="0">
                <a:latin typeface="Calibri"/>
                <a:cs typeface="Calibri"/>
              </a:rPr>
              <a:t>often</a:t>
            </a:r>
            <a:r>
              <a:rPr sz="2400" spc="415" dirty="0">
                <a:latin typeface="Calibri"/>
                <a:cs typeface="Calibri"/>
              </a:rPr>
              <a:t> </a:t>
            </a:r>
            <a:r>
              <a:rPr sz="2400" dirty="0">
                <a:latin typeface="Calibri"/>
                <a:cs typeface="Calibri"/>
              </a:rPr>
              <a:t>have</a:t>
            </a:r>
            <a:r>
              <a:rPr sz="2400" spc="415" dirty="0">
                <a:latin typeface="Calibri"/>
                <a:cs typeface="Calibri"/>
              </a:rPr>
              <a:t> </a:t>
            </a:r>
            <a:r>
              <a:rPr sz="2400" dirty="0">
                <a:latin typeface="Calibri"/>
                <a:cs typeface="Calibri"/>
              </a:rPr>
              <a:t>to</a:t>
            </a:r>
            <a:r>
              <a:rPr sz="2400" spc="405" dirty="0">
                <a:latin typeface="Calibri"/>
                <a:cs typeface="Calibri"/>
              </a:rPr>
              <a:t> </a:t>
            </a:r>
            <a:r>
              <a:rPr sz="2400" spc="-10" dirty="0">
                <a:latin typeface="Calibri"/>
                <a:cs typeface="Calibri"/>
              </a:rPr>
              <a:t>share 	resources</a:t>
            </a:r>
            <a:r>
              <a:rPr sz="2400" spc="-80" dirty="0">
                <a:latin typeface="Calibri"/>
                <a:cs typeface="Calibri"/>
              </a:rPr>
              <a:t> </a:t>
            </a:r>
            <a:r>
              <a:rPr sz="2400" dirty="0">
                <a:latin typeface="Calibri"/>
                <a:cs typeface="Calibri"/>
              </a:rPr>
              <a:t>and</a:t>
            </a:r>
            <a:r>
              <a:rPr sz="2400" spc="-70" dirty="0">
                <a:latin typeface="Calibri"/>
                <a:cs typeface="Calibri"/>
              </a:rPr>
              <a:t> </a:t>
            </a:r>
            <a:r>
              <a:rPr sz="2400" spc="-10" dirty="0">
                <a:latin typeface="Calibri"/>
                <a:cs typeface="Calibri"/>
              </a:rPr>
              <a:t>exchange</a:t>
            </a:r>
            <a:r>
              <a:rPr sz="2400" spc="-70" dirty="0">
                <a:latin typeface="Calibri"/>
                <a:cs typeface="Calibri"/>
              </a:rPr>
              <a:t> </a:t>
            </a:r>
            <a:r>
              <a:rPr sz="2400" spc="-10" dirty="0">
                <a:latin typeface="Calibri"/>
                <a:cs typeface="Calibri"/>
              </a:rPr>
              <a:t>information.</a:t>
            </a:r>
            <a:endParaRPr sz="2400" dirty="0">
              <a:latin typeface="Calibri"/>
              <a:cs typeface="Calibri"/>
            </a:endParaRPr>
          </a:p>
          <a:p>
            <a:pPr marL="697230" marR="5715" lvl="1" indent="-227329" algn="just">
              <a:lnSpc>
                <a:spcPct val="89600"/>
              </a:lnSpc>
              <a:spcBef>
                <a:spcPts val="480"/>
              </a:spcBef>
              <a:buFont typeface="Courier New"/>
              <a:buChar char="o"/>
              <a:tabLst>
                <a:tab pos="698500" algn="l"/>
              </a:tabLst>
            </a:pPr>
            <a:r>
              <a:rPr sz="2400" b="1" dirty="0">
                <a:solidFill>
                  <a:srgbClr val="C00000"/>
                </a:solidFill>
                <a:latin typeface="Calibri"/>
                <a:cs typeface="Calibri"/>
              </a:rPr>
              <a:t>Administrative</a:t>
            </a:r>
            <a:r>
              <a:rPr sz="2400" b="1" spc="215" dirty="0">
                <a:solidFill>
                  <a:srgbClr val="C00000"/>
                </a:solidFill>
                <a:latin typeface="Calibri"/>
                <a:cs typeface="Calibri"/>
              </a:rPr>
              <a:t>  </a:t>
            </a:r>
            <a:r>
              <a:rPr sz="2400" b="1" dirty="0">
                <a:solidFill>
                  <a:srgbClr val="C00000"/>
                </a:solidFill>
                <a:latin typeface="Calibri"/>
                <a:cs typeface="Calibri"/>
              </a:rPr>
              <a:t>support</a:t>
            </a:r>
            <a:r>
              <a:rPr sz="2400" b="1" spc="215" dirty="0">
                <a:solidFill>
                  <a:srgbClr val="C00000"/>
                </a:solidFill>
                <a:latin typeface="Calibri"/>
                <a:cs typeface="Calibri"/>
              </a:rPr>
              <a:t>  </a:t>
            </a:r>
            <a:r>
              <a:rPr sz="2400" b="1" dirty="0">
                <a:solidFill>
                  <a:srgbClr val="C00000"/>
                </a:solidFill>
                <a:latin typeface="Calibri"/>
                <a:cs typeface="Calibri"/>
              </a:rPr>
              <a:t>groups</a:t>
            </a:r>
            <a:r>
              <a:rPr sz="2400" dirty="0">
                <a:latin typeface="Calibri"/>
                <a:cs typeface="Calibri"/>
              </a:rPr>
              <a:t>,</a:t>
            </a:r>
            <a:r>
              <a:rPr sz="2400" spc="215" dirty="0">
                <a:latin typeface="Calibri"/>
                <a:cs typeface="Calibri"/>
              </a:rPr>
              <a:t>  </a:t>
            </a:r>
            <a:r>
              <a:rPr sz="2400" dirty="0">
                <a:latin typeface="Calibri"/>
                <a:cs typeface="Calibri"/>
              </a:rPr>
              <a:t>such</a:t>
            </a:r>
            <a:r>
              <a:rPr sz="2400" spc="215" dirty="0">
                <a:latin typeface="Calibri"/>
                <a:cs typeface="Calibri"/>
              </a:rPr>
              <a:t>  </a:t>
            </a:r>
            <a:r>
              <a:rPr sz="2400" dirty="0">
                <a:latin typeface="Calibri"/>
                <a:cs typeface="Calibri"/>
              </a:rPr>
              <a:t>as</a:t>
            </a:r>
            <a:r>
              <a:rPr sz="2400" spc="215" dirty="0">
                <a:latin typeface="Calibri"/>
                <a:cs typeface="Calibri"/>
              </a:rPr>
              <a:t>  </a:t>
            </a:r>
            <a:r>
              <a:rPr sz="2400" dirty="0">
                <a:latin typeface="Calibri"/>
                <a:cs typeface="Calibri"/>
              </a:rPr>
              <a:t>human</a:t>
            </a:r>
            <a:r>
              <a:rPr sz="2400" spc="215" dirty="0">
                <a:latin typeface="Calibri"/>
                <a:cs typeface="Calibri"/>
              </a:rPr>
              <a:t>  </a:t>
            </a:r>
            <a:r>
              <a:rPr sz="2400" dirty="0">
                <a:latin typeface="Calibri"/>
                <a:cs typeface="Calibri"/>
              </a:rPr>
              <a:t>resources,</a:t>
            </a:r>
            <a:r>
              <a:rPr sz="2400" spc="215" dirty="0">
                <a:latin typeface="Calibri"/>
                <a:cs typeface="Calibri"/>
              </a:rPr>
              <a:t>  </a:t>
            </a:r>
            <a:r>
              <a:rPr sz="2400" spc="-10" dirty="0">
                <a:latin typeface="Calibri"/>
                <a:cs typeface="Calibri"/>
              </a:rPr>
              <a:t>information 	</a:t>
            </a:r>
            <a:r>
              <a:rPr sz="2400" dirty="0">
                <a:latin typeface="Calibri"/>
                <a:cs typeface="Calibri"/>
              </a:rPr>
              <a:t>systems,</a:t>
            </a:r>
            <a:r>
              <a:rPr sz="2400" spc="95" dirty="0">
                <a:latin typeface="Calibri"/>
                <a:cs typeface="Calibri"/>
              </a:rPr>
              <a:t>  </a:t>
            </a:r>
            <a:r>
              <a:rPr sz="2400" dirty="0">
                <a:latin typeface="Calibri"/>
                <a:cs typeface="Calibri"/>
              </a:rPr>
              <a:t>purchasing</a:t>
            </a:r>
            <a:r>
              <a:rPr sz="2400" spc="95" dirty="0">
                <a:latin typeface="Calibri"/>
                <a:cs typeface="Calibri"/>
              </a:rPr>
              <a:t>  </a:t>
            </a:r>
            <a:r>
              <a:rPr sz="2400" dirty="0">
                <a:latin typeface="Calibri"/>
                <a:cs typeface="Calibri"/>
              </a:rPr>
              <a:t>agents,</a:t>
            </a:r>
            <a:r>
              <a:rPr sz="2400" spc="95" dirty="0">
                <a:latin typeface="Calibri"/>
                <a:cs typeface="Calibri"/>
              </a:rPr>
              <a:t>  </a:t>
            </a:r>
            <a:r>
              <a:rPr sz="2400" dirty="0">
                <a:latin typeface="Calibri"/>
                <a:cs typeface="Calibri"/>
              </a:rPr>
              <a:t>and</a:t>
            </a:r>
            <a:r>
              <a:rPr sz="2400" spc="100" dirty="0">
                <a:latin typeface="Calibri"/>
                <a:cs typeface="Calibri"/>
              </a:rPr>
              <a:t>  </a:t>
            </a:r>
            <a:r>
              <a:rPr sz="2400" dirty="0">
                <a:latin typeface="Calibri"/>
                <a:cs typeface="Calibri"/>
              </a:rPr>
              <a:t>maintenance,</a:t>
            </a:r>
            <a:r>
              <a:rPr sz="2400" spc="100" dirty="0">
                <a:latin typeface="Calibri"/>
                <a:cs typeface="Calibri"/>
              </a:rPr>
              <a:t>  </a:t>
            </a:r>
            <a:r>
              <a:rPr sz="2400" dirty="0">
                <a:latin typeface="Calibri"/>
                <a:cs typeface="Calibri"/>
              </a:rPr>
              <a:t>provide</a:t>
            </a:r>
            <a:r>
              <a:rPr sz="2400" spc="95" dirty="0">
                <a:latin typeface="Calibri"/>
                <a:cs typeface="Calibri"/>
              </a:rPr>
              <a:t>  </a:t>
            </a:r>
            <a:r>
              <a:rPr sz="2400" dirty="0">
                <a:latin typeface="Calibri"/>
                <a:cs typeface="Calibri"/>
              </a:rPr>
              <a:t>valuable</a:t>
            </a:r>
            <a:r>
              <a:rPr sz="2400" spc="100" dirty="0">
                <a:latin typeface="Calibri"/>
                <a:cs typeface="Calibri"/>
              </a:rPr>
              <a:t>  </a:t>
            </a:r>
            <a:r>
              <a:rPr sz="2400" spc="-10" dirty="0">
                <a:latin typeface="Calibri"/>
                <a:cs typeface="Calibri"/>
              </a:rPr>
              <a:t>support 	</a:t>
            </a:r>
            <a:r>
              <a:rPr sz="2400" dirty="0">
                <a:latin typeface="Calibri"/>
                <a:cs typeface="Calibri"/>
              </a:rPr>
              <a:t>services.</a:t>
            </a:r>
            <a:r>
              <a:rPr sz="2400" spc="85" dirty="0">
                <a:latin typeface="Calibri"/>
                <a:cs typeface="Calibri"/>
              </a:rPr>
              <a:t> </a:t>
            </a:r>
            <a:r>
              <a:rPr sz="2400" dirty="0">
                <a:latin typeface="Calibri"/>
                <a:cs typeface="Calibri"/>
              </a:rPr>
              <a:t>At</a:t>
            </a:r>
            <a:r>
              <a:rPr sz="2400" spc="90" dirty="0">
                <a:latin typeface="Calibri"/>
                <a:cs typeface="Calibri"/>
              </a:rPr>
              <a:t> </a:t>
            </a:r>
            <a:r>
              <a:rPr sz="2400" dirty="0">
                <a:latin typeface="Calibri"/>
                <a:cs typeface="Calibri"/>
              </a:rPr>
              <a:t>the</a:t>
            </a:r>
            <a:r>
              <a:rPr sz="2400" spc="100" dirty="0">
                <a:latin typeface="Calibri"/>
                <a:cs typeface="Calibri"/>
              </a:rPr>
              <a:t> </a:t>
            </a:r>
            <a:r>
              <a:rPr sz="2400" dirty="0">
                <a:latin typeface="Calibri"/>
                <a:cs typeface="Calibri"/>
              </a:rPr>
              <a:t>same</a:t>
            </a:r>
            <a:r>
              <a:rPr sz="2400" spc="95" dirty="0">
                <a:latin typeface="Calibri"/>
                <a:cs typeface="Calibri"/>
              </a:rPr>
              <a:t> </a:t>
            </a:r>
            <a:r>
              <a:rPr sz="2400" dirty="0">
                <a:latin typeface="Calibri"/>
                <a:cs typeface="Calibri"/>
              </a:rPr>
              <a:t>time</a:t>
            </a:r>
            <a:r>
              <a:rPr sz="2400" spc="95" dirty="0">
                <a:latin typeface="Calibri"/>
                <a:cs typeface="Calibri"/>
              </a:rPr>
              <a:t> </a:t>
            </a:r>
            <a:r>
              <a:rPr sz="2400" dirty="0">
                <a:latin typeface="Calibri"/>
                <a:cs typeface="Calibri"/>
              </a:rPr>
              <a:t>they</a:t>
            </a:r>
            <a:r>
              <a:rPr sz="2400" spc="95" dirty="0">
                <a:latin typeface="Calibri"/>
                <a:cs typeface="Calibri"/>
              </a:rPr>
              <a:t> </a:t>
            </a:r>
            <a:r>
              <a:rPr sz="2400" dirty="0">
                <a:latin typeface="Calibri"/>
                <a:cs typeface="Calibri"/>
              </a:rPr>
              <a:t>impose</a:t>
            </a:r>
            <a:r>
              <a:rPr sz="2400" spc="95" dirty="0">
                <a:latin typeface="Calibri"/>
                <a:cs typeface="Calibri"/>
              </a:rPr>
              <a:t> </a:t>
            </a:r>
            <a:r>
              <a:rPr sz="2400" dirty="0">
                <a:latin typeface="Calibri"/>
                <a:cs typeface="Calibri"/>
              </a:rPr>
              <a:t>constraints</a:t>
            </a:r>
            <a:r>
              <a:rPr sz="2400" spc="95" dirty="0">
                <a:latin typeface="Calibri"/>
                <a:cs typeface="Calibri"/>
              </a:rPr>
              <a:t> </a:t>
            </a:r>
            <a:r>
              <a:rPr sz="2400" dirty="0">
                <a:latin typeface="Calibri"/>
                <a:cs typeface="Calibri"/>
              </a:rPr>
              <a:t>and</a:t>
            </a:r>
            <a:r>
              <a:rPr sz="2400" spc="95" dirty="0">
                <a:latin typeface="Calibri"/>
                <a:cs typeface="Calibri"/>
              </a:rPr>
              <a:t> </a:t>
            </a:r>
            <a:r>
              <a:rPr sz="2400" dirty="0">
                <a:latin typeface="Calibri"/>
                <a:cs typeface="Calibri"/>
              </a:rPr>
              <a:t>requirements</a:t>
            </a:r>
            <a:r>
              <a:rPr sz="2400" spc="95" dirty="0">
                <a:latin typeface="Calibri"/>
                <a:cs typeface="Calibri"/>
              </a:rPr>
              <a:t> </a:t>
            </a:r>
            <a:r>
              <a:rPr sz="2400" dirty="0">
                <a:latin typeface="Calibri"/>
                <a:cs typeface="Calibri"/>
              </a:rPr>
              <a:t>on</a:t>
            </a:r>
            <a:r>
              <a:rPr sz="2400" spc="95" dirty="0">
                <a:latin typeface="Calibri"/>
                <a:cs typeface="Calibri"/>
              </a:rPr>
              <a:t> </a:t>
            </a:r>
            <a:r>
              <a:rPr sz="2400" spc="-25" dirty="0">
                <a:latin typeface="Calibri"/>
                <a:cs typeface="Calibri"/>
              </a:rPr>
              <a:t>the 	</a:t>
            </a:r>
            <a:r>
              <a:rPr sz="2400" dirty="0">
                <a:latin typeface="Calibri"/>
                <a:cs typeface="Calibri"/>
              </a:rPr>
              <a:t>project</a:t>
            </a:r>
            <a:r>
              <a:rPr sz="2400" spc="60" dirty="0">
                <a:latin typeface="Calibri"/>
                <a:cs typeface="Calibri"/>
              </a:rPr>
              <a:t>  </a:t>
            </a:r>
            <a:r>
              <a:rPr sz="2400" dirty="0">
                <a:latin typeface="Calibri"/>
                <a:cs typeface="Calibri"/>
              </a:rPr>
              <a:t>such</a:t>
            </a:r>
            <a:r>
              <a:rPr sz="2400" spc="65" dirty="0">
                <a:latin typeface="Calibri"/>
                <a:cs typeface="Calibri"/>
              </a:rPr>
              <a:t>  </a:t>
            </a:r>
            <a:r>
              <a:rPr sz="2400" dirty="0">
                <a:latin typeface="Calibri"/>
                <a:cs typeface="Calibri"/>
              </a:rPr>
              <a:t>as</a:t>
            </a:r>
            <a:r>
              <a:rPr sz="2400" spc="65"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documentation</a:t>
            </a:r>
            <a:r>
              <a:rPr sz="2400" spc="65" dirty="0">
                <a:latin typeface="Calibri"/>
                <a:cs typeface="Calibri"/>
              </a:rPr>
              <a:t>  </a:t>
            </a:r>
            <a:r>
              <a:rPr sz="2400" dirty="0">
                <a:latin typeface="Calibri"/>
                <a:cs typeface="Calibri"/>
              </a:rPr>
              <a:t>of</a:t>
            </a:r>
            <a:r>
              <a:rPr sz="2400" spc="70" dirty="0">
                <a:latin typeface="Calibri"/>
                <a:cs typeface="Calibri"/>
              </a:rPr>
              <a:t>  </a:t>
            </a:r>
            <a:r>
              <a:rPr sz="2400" dirty="0">
                <a:latin typeface="Calibri"/>
                <a:cs typeface="Calibri"/>
              </a:rPr>
              <a:t>expenditures</a:t>
            </a:r>
            <a:r>
              <a:rPr sz="2400" spc="65"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timely</a:t>
            </a:r>
            <a:r>
              <a:rPr sz="2400" spc="65" dirty="0">
                <a:latin typeface="Calibri"/>
                <a:cs typeface="Calibri"/>
              </a:rPr>
              <a:t>  </a:t>
            </a:r>
            <a:r>
              <a:rPr sz="2400" spc="-25" dirty="0">
                <a:latin typeface="Calibri"/>
                <a:cs typeface="Calibri"/>
              </a:rPr>
              <a:t>and 	</a:t>
            </a:r>
            <a:r>
              <a:rPr sz="2400" spc="-10" dirty="0">
                <a:latin typeface="Calibri"/>
                <a:cs typeface="Calibri"/>
              </a:rPr>
              <a:t>accurate</a:t>
            </a:r>
            <a:r>
              <a:rPr sz="2400" spc="-70" dirty="0">
                <a:latin typeface="Calibri"/>
                <a:cs typeface="Calibri"/>
              </a:rPr>
              <a:t> </a:t>
            </a:r>
            <a:r>
              <a:rPr sz="2400" dirty="0">
                <a:latin typeface="Calibri"/>
                <a:cs typeface="Calibri"/>
              </a:rPr>
              <a:t>delivery</a:t>
            </a:r>
            <a:r>
              <a:rPr sz="2400" spc="-70" dirty="0">
                <a:latin typeface="Calibri"/>
                <a:cs typeface="Calibri"/>
              </a:rPr>
              <a:t> </a:t>
            </a:r>
            <a:r>
              <a:rPr sz="2400" dirty="0">
                <a:latin typeface="Calibri"/>
                <a:cs typeface="Calibri"/>
              </a:rPr>
              <a:t>of</a:t>
            </a:r>
            <a:r>
              <a:rPr sz="2400" spc="-70" dirty="0">
                <a:latin typeface="Calibri"/>
                <a:cs typeface="Calibri"/>
              </a:rPr>
              <a:t> </a:t>
            </a:r>
            <a:r>
              <a:rPr sz="2400" spc="-10" dirty="0">
                <a:latin typeface="Calibri"/>
                <a:cs typeface="Calibri"/>
              </a:rPr>
              <a:t>information.</a:t>
            </a:r>
            <a:endParaRPr sz="2400" dirty="0">
              <a:latin typeface="Calibri"/>
              <a:cs typeface="Calibri"/>
            </a:endParaRPr>
          </a:p>
        </p:txBody>
      </p:sp>
      <p:sp>
        <p:nvSpPr>
          <p:cNvPr id="3" name="object 3"/>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6</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(3/6)</a:t>
            </a:r>
            <a:endParaRPr sz="1950"/>
          </a:p>
        </p:txBody>
      </p:sp>
      <p:pic>
        <p:nvPicPr>
          <p:cNvPr id="5" name="Picture 4">
            <a:extLst>
              <a:ext uri="{FF2B5EF4-FFF2-40B4-BE49-F238E27FC236}">
                <a16:creationId xmlns:a16="http://schemas.microsoft.com/office/drawing/2014/main" id="{B6D1FB2A-C910-4147-A5E2-5407135701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97228"/>
            <a:ext cx="10358120" cy="4926965"/>
          </a:xfrm>
          <a:prstGeom prst="rect">
            <a:avLst/>
          </a:prstGeom>
        </p:spPr>
        <p:txBody>
          <a:bodyPr vert="horz" wrap="square" lIns="0" tIns="51435" rIns="0" bIns="0" rtlCol="0">
            <a:spAutoFit/>
          </a:bodyPr>
          <a:lstStyle/>
          <a:p>
            <a:pPr marL="240029" marR="5715" indent="-227329" algn="just">
              <a:lnSpc>
                <a:spcPct val="89400"/>
              </a:lnSpc>
              <a:spcBef>
                <a:spcPts val="405"/>
              </a:spcBef>
              <a:buFont typeface="Courier New"/>
              <a:buChar char="o"/>
              <a:tabLst>
                <a:tab pos="241300" algn="l"/>
              </a:tabLst>
            </a:pPr>
            <a:r>
              <a:rPr sz="2400" b="1" dirty="0">
                <a:solidFill>
                  <a:srgbClr val="C00000"/>
                </a:solidFill>
                <a:latin typeface="Calibri"/>
                <a:cs typeface="Calibri"/>
              </a:rPr>
              <a:t>Functional</a:t>
            </a:r>
            <a:r>
              <a:rPr sz="2400" b="1" spc="409" dirty="0">
                <a:solidFill>
                  <a:srgbClr val="C00000"/>
                </a:solidFill>
                <a:latin typeface="Calibri"/>
                <a:cs typeface="Calibri"/>
              </a:rPr>
              <a:t> </a:t>
            </a:r>
            <a:r>
              <a:rPr sz="2400" b="1" dirty="0">
                <a:solidFill>
                  <a:srgbClr val="C00000"/>
                </a:solidFill>
                <a:latin typeface="Calibri"/>
                <a:cs typeface="Calibri"/>
              </a:rPr>
              <a:t>managers</a:t>
            </a:r>
            <a:r>
              <a:rPr sz="2400" b="1" dirty="0">
                <a:latin typeface="Calibri"/>
                <a:cs typeface="Calibri"/>
              </a:rPr>
              <a:t>,</a:t>
            </a:r>
            <a:r>
              <a:rPr sz="2400" b="1" spc="415" dirty="0">
                <a:latin typeface="Calibri"/>
                <a:cs typeface="Calibri"/>
              </a:rPr>
              <a:t> </a:t>
            </a:r>
            <a:r>
              <a:rPr sz="2400" dirty="0">
                <a:latin typeface="Calibri"/>
                <a:cs typeface="Calibri"/>
              </a:rPr>
              <a:t>depending</a:t>
            </a:r>
            <a:r>
              <a:rPr sz="2400" spc="400" dirty="0">
                <a:latin typeface="Calibri"/>
                <a:cs typeface="Calibri"/>
              </a:rPr>
              <a:t> </a:t>
            </a:r>
            <a:r>
              <a:rPr sz="2400" dirty="0">
                <a:latin typeface="Calibri"/>
                <a:cs typeface="Calibri"/>
              </a:rPr>
              <a:t>on</a:t>
            </a:r>
            <a:r>
              <a:rPr sz="2400" spc="415" dirty="0">
                <a:latin typeface="Calibri"/>
                <a:cs typeface="Calibri"/>
              </a:rPr>
              <a:t> </a:t>
            </a:r>
            <a:r>
              <a:rPr sz="2400" dirty="0">
                <a:latin typeface="Calibri"/>
                <a:cs typeface="Calibri"/>
              </a:rPr>
              <a:t>how</a:t>
            </a:r>
            <a:r>
              <a:rPr sz="2400" spc="405" dirty="0">
                <a:latin typeface="Calibri"/>
                <a:cs typeface="Calibri"/>
              </a:rPr>
              <a:t> </a:t>
            </a:r>
            <a:r>
              <a:rPr sz="2400" dirty="0">
                <a:latin typeface="Calibri"/>
                <a:cs typeface="Calibri"/>
              </a:rPr>
              <a:t>the</a:t>
            </a:r>
            <a:r>
              <a:rPr sz="2400" spc="415" dirty="0">
                <a:latin typeface="Calibri"/>
                <a:cs typeface="Calibri"/>
              </a:rPr>
              <a:t> </a:t>
            </a:r>
            <a:r>
              <a:rPr sz="2400" dirty="0">
                <a:latin typeface="Calibri"/>
                <a:cs typeface="Calibri"/>
              </a:rPr>
              <a:t>project</a:t>
            </a:r>
            <a:r>
              <a:rPr sz="2400" spc="400" dirty="0">
                <a:latin typeface="Calibri"/>
                <a:cs typeface="Calibri"/>
              </a:rPr>
              <a:t> </a:t>
            </a:r>
            <a:r>
              <a:rPr sz="2400" dirty="0">
                <a:latin typeface="Calibri"/>
                <a:cs typeface="Calibri"/>
              </a:rPr>
              <a:t>is</a:t>
            </a:r>
            <a:r>
              <a:rPr sz="2400" spc="409" dirty="0">
                <a:latin typeface="Calibri"/>
                <a:cs typeface="Calibri"/>
              </a:rPr>
              <a:t> </a:t>
            </a:r>
            <a:r>
              <a:rPr sz="2400" dirty="0">
                <a:latin typeface="Calibri"/>
                <a:cs typeface="Calibri"/>
              </a:rPr>
              <a:t>organized,</a:t>
            </a:r>
            <a:r>
              <a:rPr sz="2400" spc="409" dirty="0">
                <a:latin typeface="Calibri"/>
                <a:cs typeface="Calibri"/>
              </a:rPr>
              <a:t> </a:t>
            </a:r>
            <a:r>
              <a:rPr sz="2400" dirty="0">
                <a:latin typeface="Calibri"/>
                <a:cs typeface="Calibri"/>
              </a:rPr>
              <a:t>can</a:t>
            </a:r>
            <a:r>
              <a:rPr sz="2400" spc="409" dirty="0">
                <a:latin typeface="Calibri"/>
                <a:cs typeface="Calibri"/>
              </a:rPr>
              <a:t> </a:t>
            </a:r>
            <a:r>
              <a:rPr sz="2400" dirty="0">
                <a:latin typeface="Calibri"/>
                <a:cs typeface="Calibri"/>
              </a:rPr>
              <a:t>play</a:t>
            </a:r>
            <a:r>
              <a:rPr sz="2400" spc="409" dirty="0">
                <a:latin typeface="Calibri"/>
                <a:cs typeface="Calibri"/>
              </a:rPr>
              <a:t> </a:t>
            </a:r>
            <a:r>
              <a:rPr sz="2400" spc="-50" dirty="0">
                <a:latin typeface="Calibri"/>
                <a:cs typeface="Calibri"/>
              </a:rPr>
              <a:t>a 	</a:t>
            </a:r>
            <a:r>
              <a:rPr sz="2400" dirty="0">
                <a:latin typeface="Calibri"/>
                <a:cs typeface="Calibri"/>
              </a:rPr>
              <a:t>minor</a:t>
            </a:r>
            <a:r>
              <a:rPr sz="2400" spc="105" dirty="0">
                <a:latin typeface="Calibri"/>
                <a:cs typeface="Calibri"/>
              </a:rPr>
              <a:t>  </a:t>
            </a:r>
            <a:r>
              <a:rPr sz="2400" dirty="0">
                <a:latin typeface="Calibri"/>
                <a:cs typeface="Calibri"/>
              </a:rPr>
              <a:t>or</a:t>
            </a:r>
            <a:r>
              <a:rPr sz="2400" spc="105" dirty="0">
                <a:latin typeface="Calibri"/>
                <a:cs typeface="Calibri"/>
              </a:rPr>
              <a:t>  </a:t>
            </a:r>
            <a:r>
              <a:rPr sz="2400" dirty="0">
                <a:latin typeface="Calibri"/>
                <a:cs typeface="Calibri"/>
              </a:rPr>
              <a:t>major</a:t>
            </a:r>
            <a:r>
              <a:rPr sz="2400" spc="105" dirty="0">
                <a:latin typeface="Calibri"/>
                <a:cs typeface="Calibri"/>
              </a:rPr>
              <a:t>  </a:t>
            </a:r>
            <a:r>
              <a:rPr sz="2400" dirty="0">
                <a:latin typeface="Calibri"/>
                <a:cs typeface="Calibri"/>
              </a:rPr>
              <a:t>role</a:t>
            </a:r>
            <a:r>
              <a:rPr sz="2400" spc="110" dirty="0">
                <a:latin typeface="Calibri"/>
                <a:cs typeface="Calibri"/>
              </a:rPr>
              <a:t>  </a:t>
            </a:r>
            <a:r>
              <a:rPr sz="2400" dirty="0">
                <a:latin typeface="Calibri"/>
                <a:cs typeface="Calibri"/>
              </a:rPr>
              <a:t>toward</a:t>
            </a:r>
            <a:r>
              <a:rPr sz="2400" spc="105" dirty="0">
                <a:latin typeface="Calibri"/>
                <a:cs typeface="Calibri"/>
              </a:rPr>
              <a:t>  </a:t>
            </a:r>
            <a:r>
              <a:rPr sz="2400" dirty="0">
                <a:latin typeface="Calibri"/>
                <a:cs typeface="Calibri"/>
              </a:rPr>
              <a:t>project</a:t>
            </a:r>
            <a:r>
              <a:rPr sz="2400" spc="100" dirty="0">
                <a:latin typeface="Calibri"/>
                <a:cs typeface="Calibri"/>
              </a:rPr>
              <a:t>  </a:t>
            </a:r>
            <a:r>
              <a:rPr sz="2400" dirty="0">
                <a:latin typeface="Calibri"/>
                <a:cs typeface="Calibri"/>
              </a:rPr>
              <a:t>success.</a:t>
            </a:r>
            <a:r>
              <a:rPr sz="2400" spc="100" dirty="0">
                <a:latin typeface="Calibri"/>
                <a:cs typeface="Calibri"/>
              </a:rPr>
              <a:t>  </a:t>
            </a:r>
            <a:r>
              <a:rPr sz="2400" dirty="0">
                <a:latin typeface="Calibri"/>
                <a:cs typeface="Calibri"/>
              </a:rPr>
              <a:t>Functional</a:t>
            </a:r>
            <a:r>
              <a:rPr sz="2400" spc="105" dirty="0">
                <a:latin typeface="Calibri"/>
                <a:cs typeface="Calibri"/>
              </a:rPr>
              <a:t>  </a:t>
            </a:r>
            <a:r>
              <a:rPr sz="2400" dirty="0">
                <a:latin typeface="Calibri"/>
                <a:cs typeface="Calibri"/>
              </a:rPr>
              <a:t>managers</a:t>
            </a:r>
            <a:r>
              <a:rPr sz="2400" spc="105" dirty="0">
                <a:latin typeface="Calibri"/>
                <a:cs typeface="Calibri"/>
              </a:rPr>
              <a:t>  </a:t>
            </a:r>
            <a:r>
              <a:rPr sz="2400" dirty="0">
                <a:latin typeface="Calibri"/>
                <a:cs typeface="Calibri"/>
              </a:rPr>
              <a:t>want</a:t>
            </a:r>
            <a:r>
              <a:rPr sz="2400" spc="105" dirty="0">
                <a:latin typeface="Calibri"/>
                <a:cs typeface="Calibri"/>
              </a:rPr>
              <a:t>  </a:t>
            </a:r>
            <a:r>
              <a:rPr sz="2400" spc="-25" dirty="0">
                <a:latin typeface="Calibri"/>
                <a:cs typeface="Calibri"/>
              </a:rPr>
              <a:t>to 	</a:t>
            </a:r>
            <a:r>
              <a:rPr sz="2400" dirty="0">
                <a:latin typeface="Calibri"/>
                <a:cs typeface="Calibri"/>
              </a:rPr>
              <a:t>cooperate</a:t>
            </a:r>
            <a:r>
              <a:rPr sz="2400" spc="114" dirty="0">
                <a:latin typeface="Calibri"/>
                <a:cs typeface="Calibri"/>
              </a:rPr>
              <a:t> </a:t>
            </a:r>
            <a:r>
              <a:rPr sz="2400" dirty="0">
                <a:latin typeface="Calibri"/>
                <a:cs typeface="Calibri"/>
              </a:rPr>
              <a:t>up</a:t>
            </a:r>
            <a:r>
              <a:rPr sz="2400" spc="110" dirty="0">
                <a:latin typeface="Calibri"/>
                <a:cs typeface="Calibri"/>
              </a:rPr>
              <a:t> </a:t>
            </a:r>
            <a:r>
              <a:rPr sz="2400" dirty="0">
                <a:latin typeface="Calibri"/>
                <a:cs typeface="Calibri"/>
              </a:rPr>
              <a:t>to</a:t>
            </a:r>
            <a:r>
              <a:rPr sz="2400" spc="110" dirty="0">
                <a:latin typeface="Calibri"/>
                <a:cs typeface="Calibri"/>
              </a:rPr>
              <a:t> </a:t>
            </a:r>
            <a:r>
              <a:rPr sz="2400" dirty="0">
                <a:latin typeface="Calibri"/>
                <a:cs typeface="Calibri"/>
              </a:rPr>
              <a:t>a</a:t>
            </a:r>
            <a:r>
              <a:rPr sz="2400" spc="110" dirty="0">
                <a:latin typeface="Calibri"/>
                <a:cs typeface="Calibri"/>
              </a:rPr>
              <a:t> </a:t>
            </a:r>
            <a:r>
              <a:rPr sz="2400" dirty="0">
                <a:latin typeface="Calibri"/>
                <a:cs typeface="Calibri"/>
              </a:rPr>
              <a:t>point,</a:t>
            </a:r>
            <a:r>
              <a:rPr sz="2400" spc="114" dirty="0">
                <a:latin typeface="Calibri"/>
                <a:cs typeface="Calibri"/>
              </a:rPr>
              <a:t> </a:t>
            </a:r>
            <a:r>
              <a:rPr sz="2400" dirty="0">
                <a:latin typeface="Calibri"/>
                <a:cs typeface="Calibri"/>
              </a:rPr>
              <a:t>but</a:t>
            </a:r>
            <a:r>
              <a:rPr sz="2400" spc="105" dirty="0">
                <a:latin typeface="Calibri"/>
                <a:cs typeface="Calibri"/>
              </a:rPr>
              <a:t> </a:t>
            </a:r>
            <a:r>
              <a:rPr sz="2400" dirty="0">
                <a:latin typeface="Calibri"/>
                <a:cs typeface="Calibri"/>
              </a:rPr>
              <a:t>only</a:t>
            </a:r>
            <a:r>
              <a:rPr sz="2400" spc="114" dirty="0">
                <a:latin typeface="Calibri"/>
                <a:cs typeface="Calibri"/>
              </a:rPr>
              <a:t> </a:t>
            </a:r>
            <a:r>
              <a:rPr sz="2400" dirty="0">
                <a:latin typeface="Calibri"/>
                <a:cs typeface="Calibri"/>
              </a:rPr>
              <a:t>up</a:t>
            </a:r>
            <a:r>
              <a:rPr sz="2400" spc="110" dirty="0">
                <a:latin typeface="Calibri"/>
                <a:cs typeface="Calibri"/>
              </a:rPr>
              <a:t> </a:t>
            </a:r>
            <a:r>
              <a:rPr sz="2400" dirty="0">
                <a:latin typeface="Calibri"/>
                <a:cs typeface="Calibri"/>
              </a:rPr>
              <a:t>to</a:t>
            </a:r>
            <a:r>
              <a:rPr sz="2400" spc="110" dirty="0">
                <a:latin typeface="Calibri"/>
                <a:cs typeface="Calibri"/>
              </a:rPr>
              <a:t> </a:t>
            </a:r>
            <a:r>
              <a:rPr sz="2400" dirty="0">
                <a:latin typeface="Calibri"/>
                <a:cs typeface="Calibri"/>
              </a:rPr>
              <a:t>a</a:t>
            </a:r>
            <a:r>
              <a:rPr sz="2400" spc="110" dirty="0">
                <a:latin typeface="Calibri"/>
                <a:cs typeface="Calibri"/>
              </a:rPr>
              <a:t> </a:t>
            </a:r>
            <a:r>
              <a:rPr sz="2400" dirty="0">
                <a:latin typeface="Calibri"/>
                <a:cs typeface="Calibri"/>
              </a:rPr>
              <a:t>certain</a:t>
            </a:r>
            <a:r>
              <a:rPr sz="2400" spc="114" dirty="0">
                <a:latin typeface="Calibri"/>
                <a:cs typeface="Calibri"/>
              </a:rPr>
              <a:t> </a:t>
            </a:r>
            <a:r>
              <a:rPr sz="2400" dirty="0">
                <a:latin typeface="Calibri"/>
                <a:cs typeface="Calibri"/>
              </a:rPr>
              <a:t>point.</a:t>
            </a:r>
            <a:r>
              <a:rPr sz="2400" spc="105" dirty="0">
                <a:latin typeface="Calibri"/>
                <a:cs typeface="Calibri"/>
              </a:rPr>
              <a:t> </a:t>
            </a:r>
            <a:r>
              <a:rPr sz="2400" dirty="0">
                <a:latin typeface="Calibri"/>
                <a:cs typeface="Calibri"/>
              </a:rPr>
              <a:t>They</a:t>
            </a:r>
            <a:r>
              <a:rPr sz="2400" spc="110" dirty="0">
                <a:latin typeface="Calibri"/>
                <a:cs typeface="Calibri"/>
              </a:rPr>
              <a:t> </a:t>
            </a:r>
            <a:r>
              <a:rPr sz="2400" dirty="0">
                <a:latin typeface="Calibri"/>
                <a:cs typeface="Calibri"/>
              </a:rPr>
              <a:t>are</a:t>
            </a:r>
            <a:r>
              <a:rPr sz="2400" spc="120" dirty="0">
                <a:latin typeface="Calibri"/>
                <a:cs typeface="Calibri"/>
              </a:rPr>
              <a:t> </a:t>
            </a:r>
            <a:r>
              <a:rPr sz="2400" dirty="0">
                <a:latin typeface="Calibri"/>
                <a:cs typeface="Calibri"/>
              </a:rPr>
              <a:t>also</a:t>
            </a:r>
            <a:r>
              <a:rPr sz="2400" spc="105" dirty="0">
                <a:latin typeface="Calibri"/>
                <a:cs typeface="Calibri"/>
              </a:rPr>
              <a:t> </a:t>
            </a:r>
            <a:r>
              <a:rPr sz="2400" spc="-10" dirty="0">
                <a:latin typeface="Calibri"/>
                <a:cs typeface="Calibri"/>
              </a:rPr>
              <a:t>concerned 	</a:t>
            </a:r>
            <a:r>
              <a:rPr sz="2400" dirty="0">
                <a:latin typeface="Calibri"/>
                <a:cs typeface="Calibri"/>
              </a:rPr>
              <a:t>with</a:t>
            </a:r>
            <a:r>
              <a:rPr sz="2400" spc="280" dirty="0">
                <a:latin typeface="Calibri"/>
                <a:cs typeface="Calibri"/>
              </a:rPr>
              <a:t>  </a:t>
            </a:r>
            <a:r>
              <a:rPr sz="2400" dirty="0">
                <a:latin typeface="Calibri"/>
                <a:cs typeface="Calibri"/>
              </a:rPr>
              <a:t>preserving</a:t>
            </a:r>
            <a:r>
              <a:rPr sz="2400" spc="275" dirty="0">
                <a:latin typeface="Calibri"/>
                <a:cs typeface="Calibri"/>
              </a:rPr>
              <a:t>  </a:t>
            </a:r>
            <a:r>
              <a:rPr sz="2400" dirty="0">
                <a:latin typeface="Calibri"/>
                <a:cs typeface="Calibri"/>
              </a:rPr>
              <a:t>their</a:t>
            </a:r>
            <a:r>
              <a:rPr sz="2400" spc="280" dirty="0">
                <a:latin typeface="Calibri"/>
                <a:cs typeface="Calibri"/>
              </a:rPr>
              <a:t>  </a:t>
            </a:r>
            <a:r>
              <a:rPr sz="2400" dirty="0">
                <a:latin typeface="Calibri"/>
                <a:cs typeface="Calibri"/>
              </a:rPr>
              <a:t>status</a:t>
            </a:r>
            <a:r>
              <a:rPr sz="2400" spc="280" dirty="0">
                <a:latin typeface="Calibri"/>
                <a:cs typeface="Calibri"/>
              </a:rPr>
              <a:t>  </a:t>
            </a:r>
            <a:r>
              <a:rPr sz="2400" dirty="0">
                <a:latin typeface="Calibri"/>
                <a:cs typeface="Calibri"/>
              </a:rPr>
              <a:t>within</a:t>
            </a:r>
            <a:r>
              <a:rPr sz="2400" spc="280" dirty="0">
                <a:latin typeface="Calibri"/>
                <a:cs typeface="Calibri"/>
              </a:rPr>
              <a:t>  </a:t>
            </a:r>
            <a:r>
              <a:rPr sz="2400" dirty="0">
                <a:latin typeface="Calibri"/>
                <a:cs typeface="Calibri"/>
              </a:rPr>
              <a:t>the</a:t>
            </a:r>
            <a:r>
              <a:rPr sz="2400" spc="280" dirty="0">
                <a:latin typeface="Calibri"/>
                <a:cs typeface="Calibri"/>
              </a:rPr>
              <a:t>  </a:t>
            </a:r>
            <a:r>
              <a:rPr sz="2400" dirty="0">
                <a:latin typeface="Calibri"/>
                <a:cs typeface="Calibri"/>
              </a:rPr>
              <a:t>organization</a:t>
            </a:r>
            <a:r>
              <a:rPr sz="2400" spc="285" dirty="0">
                <a:latin typeface="Calibri"/>
                <a:cs typeface="Calibri"/>
              </a:rPr>
              <a:t>  </a:t>
            </a:r>
            <a:r>
              <a:rPr sz="2400" dirty="0">
                <a:latin typeface="Calibri"/>
                <a:cs typeface="Calibri"/>
              </a:rPr>
              <a:t>and</a:t>
            </a:r>
            <a:r>
              <a:rPr sz="2400" spc="280" dirty="0">
                <a:latin typeface="Calibri"/>
                <a:cs typeface="Calibri"/>
              </a:rPr>
              <a:t>  </a:t>
            </a:r>
            <a:r>
              <a:rPr sz="2400" dirty="0">
                <a:latin typeface="Calibri"/>
                <a:cs typeface="Calibri"/>
              </a:rPr>
              <a:t>minimizing</a:t>
            </a:r>
            <a:r>
              <a:rPr sz="2400" spc="280" dirty="0">
                <a:latin typeface="Calibri"/>
                <a:cs typeface="Calibri"/>
              </a:rPr>
              <a:t>  </a:t>
            </a:r>
            <a:r>
              <a:rPr sz="2400" spc="-25" dirty="0">
                <a:latin typeface="Calibri"/>
                <a:cs typeface="Calibri"/>
              </a:rPr>
              <a:t>the 	</a:t>
            </a:r>
            <a:r>
              <a:rPr sz="2400" dirty="0">
                <a:latin typeface="Calibri"/>
                <a:cs typeface="Calibri"/>
              </a:rPr>
              <a:t>disruptions</a:t>
            </a:r>
            <a:r>
              <a:rPr sz="2400" spc="-65"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may</a:t>
            </a:r>
            <a:r>
              <a:rPr sz="2400" spc="-60" dirty="0">
                <a:latin typeface="Calibri"/>
                <a:cs typeface="Calibri"/>
              </a:rPr>
              <a:t> </a:t>
            </a:r>
            <a:r>
              <a:rPr sz="2400" dirty="0">
                <a:latin typeface="Calibri"/>
                <a:cs typeface="Calibri"/>
              </a:rPr>
              <a:t>have</a:t>
            </a:r>
            <a:r>
              <a:rPr sz="2400" spc="-60" dirty="0">
                <a:latin typeface="Calibri"/>
                <a:cs typeface="Calibri"/>
              </a:rPr>
              <a:t> </a:t>
            </a:r>
            <a:r>
              <a:rPr sz="2400" dirty="0">
                <a:latin typeface="Calibri"/>
                <a:cs typeface="Calibri"/>
              </a:rPr>
              <a:t>on</a:t>
            </a:r>
            <a:r>
              <a:rPr sz="2400" spc="-60" dirty="0">
                <a:latin typeface="Calibri"/>
                <a:cs typeface="Calibri"/>
              </a:rPr>
              <a:t> </a:t>
            </a:r>
            <a:r>
              <a:rPr sz="2400" dirty="0">
                <a:latin typeface="Calibri"/>
                <a:cs typeface="Calibri"/>
              </a:rPr>
              <a:t>their</a:t>
            </a:r>
            <a:r>
              <a:rPr sz="2400" spc="-60" dirty="0">
                <a:latin typeface="Calibri"/>
                <a:cs typeface="Calibri"/>
              </a:rPr>
              <a:t> </a:t>
            </a:r>
            <a:r>
              <a:rPr sz="2400" dirty="0">
                <a:latin typeface="Calibri"/>
                <a:cs typeface="Calibri"/>
              </a:rPr>
              <a:t>own</a:t>
            </a:r>
            <a:r>
              <a:rPr sz="2400" spc="-60" dirty="0">
                <a:latin typeface="Calibri"/>
                <a:cs typeface="Calibri"/>
              </a:rPr>
              <a:t> </a:t>
            </a:r>
            <a:r>
              <a:rPr sz="2400" spc="-10" dirty="0">
                <a:latin typeface="Calibri"/>
                <a:cs typeface="Calibri"/>
              </a:rPr>
              <a:t>operations.</a:t>
            </a:r>
            <a:endParaRPr sz="2400" dirty="0">
              <a:latin typeface="Calibri"/>
              <a:cs typeface="Calibri"/>
            </a:endParaRPr>
          </a:p>
          <a:p>
            <a:pPr marL="240029" marR="5080" indent="-227329" algn="just">
              <a:lnSpc>
                <a:spcPct val="90400"/>
              </a:lnSpc>
              <a:spcBef>
                <a:spcPts val="994"/>
              </a:spcBef>
              <a:buFont typeface="Courier New"/>
              <a:buChar char="o"/>
              <a:tabLst>
                <a:tab pos="241300" algn="l"/>
              </a:tabLst>
            </a:pPr>
            <a:r>
              <a:rPr sz="2400" b="1" dirty="0">
                <a:solidFill>
                  <a:srgbClr val="C00000"/>
                </a:solidFill>
                <a:latin typeface="Calibri"/>
                <a:cs typeface="Calibri"/>
              </a:rPr>
              <a:t>Top</a:t>
            </a:r>
            <a:r>
              <a:rPr sz="2400" b="1" spc="570" dirty="0">
                <a:solidFill>
                  <a:srgbClr val="C00000"/>
                </a:solidFill>
                <a:latin typeface="Calibri"/>
                <a:cs typeface="Calibri"/>
              </a:rPr>
              <a:t> </a:t>
            </a:r>
            <a:r>
              <a:rPr sz="2400" b="1" dirty="0">
                <a:solidFill>
                  <a:srgbClr val="C00000"/>
                </a:solidFill>
                <a:latin typeface="Calibri"/>
                <a:cs typeface="Calibri"/>
              </a:rPr>
              <a:t>management</a:t>
            </a:r>
            <a:r>
              <a:rPr sz="2400" b="1" spc="575" dirty="0">
                <a:solidFill>
                  <a:srgbClr val="C00000"/>
                </a:solidFill>
                <a:latin typeface="Calibri"/>
                <a:cs typeface="Calibri"/>
              </a:rPr>
              <a:t> </a:t>
            </a:r>
            <a:r>
              <a:rPr sz="2400" dirty="0">
                <a:latin typeface="Calibri"/>
                <a:cs typeface="Calibri"/>
              </a:rPr>
              <a:t>approves</a:t>
            </a:r>
            <a:r>
              <a:rPr sz="2400" spc="570" dirty="0">
                <a:latin typeface="Calibri"/>
                <a:cs typeface="Calibri"/>
              </a:rPr>
              <a:t> </a:t>
            </a:r>
            <a:r>
              <a:rPr sz="2400" dirty="0">
                <a:latin typeface="Calibri"/>
                <a:cs typeface="Calibri"/>
              </a:rPr>
              <a:t>funding</a:t>
            </a:r>
            <a:r>
              <a:rPr sz="2400" spc="565" dirty="0">
                <a:latin typeface="Calibri"/>
                <a:cs typeface="Calibri"/>
              </a:rPr>
              <a:t> </a:t>
            </a:r>
            <a:r>
              <a:rPr sz="2400" dirty="0">
                <a:latin typeface="Calibri"/>
                <a:cs typeface="Calibri"/>
              </a:rPr>
              <a:t>of</a:t>
            </a:r>
            <a:r>
              <a:rPr sz="2400" spc="575" dirty="0">
                <a:latin typeface="Calibri"/>
                <a:cs typeface="Calibri"/>
              </a:rPr>
              <a:t> </a:t>
            </a:r>
            <a:r>
              <a:rPr sz="2400" dirty="0">
                <a:latin typeface="Calibri"/>
                <a:cs typeface="Calibri"/>
              </a:rPr>
              <a:t>the</a:t>
            </a:r>
            <a:r>
              <a:rPr sz="2400" spc="580" dirty="0">
                <a:latin typeface="Calibri"/>
                <a:cs typeface="Calibri"/>
              </a:rPr>
              <a:t> </a:t>
            </a:r>
            <a:r>
              <a:rPr sz="2400" dirty="0">
                <a:latin typeface="Calibri"/>
                <a:cs typeface="Calibri"/>
              </a:rPr>
              <a:t>project</a:t>
            </a:r>
            <a:r>
              <a:rPr sz="2400" spc="560" dirty="0">
                <a:latin typeface="Calibri"/>
                <a:cs typeface="Calibri"/>
              </a:rPr>
              <a:t> </a:t>
            </a:r>
            <a:r>
              <a:rPr sz="2400" dirty="0">
                <a:latin typeface="Calibri"/>
                <a:cs typeface="Calibri"/>
              </a:rPr>
              <a:t>and</a:t>
            </a:r>
            <a:r>
              <a:rPr sz="2400" spc="575" dirty="0">
                <a:latin typeface="Calibri"/>
                <a:cs typeface="Calibri"/>
              </a:rPr>
              <a:t> </a:t>
            </a:r>
            <a:r>
              <a:rPr sz="2400" dirty="0">
                <a:latin typeface="Calibri"/>
                <a:cs typeface="Calibri"/>
              </a:rPr>
              <a:t>establishes</a:t>
            </a:r>
            <a:r>
              <a:rPr sz="2400" spc="570" dirty="0">
                <a:latin typeface="Calibri"/>
                <a:cs typeface="Calibri"/>
              </a:rPr>
              <a:t> </a:t>
            </a:r>
            <a:r>
              <a:rPr sz="2400" spc="-10" dirty="0">
                <a:latin typeface="Calibri"/>
                <a:cs typeface="Calibri"/>
              </a:rPr>
              <a:t>priorities 	</a:t>
            </a:r>
            <a:r>
              <a:rPr sz="2400" dirty="0">
                <a:latin typeface="Calibri"/>
                <a:cs typeface="Calibri"/>
              </a:rPr>
              <a:t>within</a:t>
            </a:r>
            <a:r>
              <a:rPr sz="2400" spc="190" dirty="0">
                <a:latin typeface="Calibri"/>
                <a:cs typeface="Calibri"/>
              </a:rPr>
              <a:t> </a:t>
            </a:r>
            <a:r>
              <a:rPr sz="2400" dirty="0">
                <a:latin typeface="Calibri"/>
                <a:cs typeface="Calibri"/>
              </a:rPr>
              <a:t>the</a:t>
            </a:r>
            <a:r>
              <a:rPr sz="2400" spc="200" dirty="0">
                <a:latin typeface="Calibri"/>
                <a:cs typeface="Calibri"/>
              </a:rPr>
              <a:t> </a:t>
            </a:r>
            <a:r>
              <a:rPr sz="2400" dirty="0">
                <a:latin typeface="Calibri"/>
                <a:cs typeface="Calibri"/>
              </a:rPr>
              <a:t>organization.</a:t>
            </a:r>
            <a:r>
              <a:rPr sz="2400" spc="185" dirty="0">
                <a:latin typeface="Calibri"/>
                <a:cs typeface="Calibri"/>
              </a:rPr>
              <a:t> </a:t>
            </a:r>
            <a:r>
              <a:rPr sz="2400" dirty="0">
                <a:latin typeface="Calibri"/>
                <a:cs typeface="Calibri"/>
              </a:rPr>
              <a:t>They</a:t>
            </a:r>
            <a:r>
              <a:rPr sz="2400" spc="200" dirty="0">
                <a:latin typeface="Calibri"/>
                <a:cs typeface="Calibri"/>
              </a:rPr>
              <a:t> </a:t>
            </a:r>
            <a:r>
              <a:rPr sz="2400" dirty="0">
                <a:latin typeface="Calibri"/>
                <a:cs typeface="Calibri"/>
              </a:rPr>
              <a:t>define</a:t>
            </a:r>
            <a:r>
              <a:rPr sz="2400" spc="195" dirty="0">
                <a:latin typeface="Calibri"/>
                <a:cs typeface="Calibri"/>
              </a:rPr>
              <a:t> </a:t>
            </a:r>
            <a:r>
              <a:rPr sz="2400" dirty="0">
                <a:latin typeface="Calibri"/>
                <a:cs typeface="Calibri"/>
              </a:rPr>
              <a:t>success</a:t>
            </a:r>
            <a:r>
              <a:rPr sz="2400" spc="200" dirty="0">
                <a:latin typeface="Calibri"/>
                <a:cs typeface="Calibri"/>
              </a:rPr>
              <a:t> </a:t>
            </a:r>
            <a:r>
              <a:rPr sz="2400" dirty="0">
                <a:latin typeface="Calibri"/>
                <a:cs typeface="Calibri"/>
              </a:rPr>
              <a:t>and</a:t>
            </a:r>
            <a:r>
              <a:rPr sz="2400" spc="190" dirty="0">
                <a:latin typeface="Calibri"/>
                <a:cs typeface="Calibri"/>
              </a:rPr>
              <a:t> </a:t>
            </a:r>
            <a:r>
              <a:rPr sz="2400" dirty="0">
                <a:latin typeface="Calibri"/>
                <a:cs typeface="Calibri"/>
              </a:rPr>
              <a:t>rewards</a:t>
            </a:r>
            <a:r>
              <a:rPr sz="2400" spc="195" dirty="0">
                <a:latin typeface="Calibri"/>
                <a:cs typeface="Calibri"/>
              </a:rPr>
              <a:t> </a:t>
            </a:r>
            <a:r>
              <a:rPr sz="2400" dirty="0">
                <a:latin typeface="Calibri"/>
                <a:cs typeface="Calibri"/>
              </a:rPr>
              <a:t>for</a:t>
            </a:r>
            <a:r>
              <a:rPr sz="2400" spc="190" dirty="0">
                <a:latin typeface="Calibri"/>
                <a:cs typeface="Calibri"/>
              </a:rPr>
              <a:t> </a:t>
            </a:r>
            <a:r>
              <a:rPr sz="2400" spc="-10" dirty="0">
                <a:latin typeface="Calibri"/>
                <a:cs typeface="Calibri"/>
              </a:rPr>
              <a:t>accomplishments. 	</a:t>
            </a:r>
            <a:r>
              <a:rPr sz="2400" dirty="0">
                <a:latin typeface="Calibri"/>
                <a:cs typeface="Calibri"/>
              </a:rPr>
              <a:t>Significant</a:t>
            </a:r>
            <a:r>
              <a:rPr sz="2400" spc="80" dirty="0">
                <a:latin typeface="Calibri"/>
                <a:cs typeface="Calibri"/>
              </a:rPr>
              <a:t>  </a:t>
            </a:r>
            <a:r>
              <a:rPr sz="2400" dirty="0">
                <a:latin typeface="Calibri"/>
                <a:cs typeface="Calibri"/>
              </a:rPr>
              <a:t>adjustments</a:t>
            </a:r>
            <a:r>
              <a:rPr sz="2400" spc="80" dirty="0">
                <a:latin typeface="Calibri"/>
                <a:cs typeface="Calibri"/>
              </a:rPr>
              <a:t>  </a:t>
            </a:r>
            <a:r>
              <a:rPr sz="2400" dirty="0">
                <a:latin typeface="Calibri"/>
                <a:cs typeface="Calibri"/>
              </a:rPr>
              <a:t>in</a:t>
            </a:r>
            <a:r>
              <a:rPr sz="2400" spc="85" dirty="0">
                <a:latin typeface="Calibri"/>
                <a:cs typeface="Calibri"/>
              </a:rPr>
              <a:t>  </a:t>
            </a:r>
            <a:r>
              <a:rPr sz="2400" dirty="0">
                <a:latin typeface="Calibri"/>
                <a:cs typeface="Calibri"/>
              </a:rPr>
              <a:t>budget,</a:t>
            </a:r>
            <a:r>
              <a:rPr sz="2400" spc="80" dirty="0">
                <a:latin typeface="Calibri"/>
                <a:cs typeface="Calibri"/>
              </a:rPr>
              <a:t>  </a:t>
            </a:r>
            <a:r>
              <a:rPr sz="2400" dirty="0">
                <a:latin typeface="Calibri"/>
                <a:cs typeface="Calibri"/>
              </a:rPr>
              <a:t>scope,</a:t>
            </a:r>
            <a:r>
              <a:rPr sz="2400" spc="80" dirty="0">
                <a:latin typeface="Calibri"/>
                <a:cs typeface="Calibri"/>
              </a:rPr>
              <a:t>  </a:t>
            </a:r>
            <a:r>
              <a:rPr sz="2400" dirty="0">
                <a:latin typeface="Calibri"/>
                <a:cs typeface="Calibri"/>
              </a:rPr>
              <a:t>and</a:t>
            </a:r>
            <a:r>
              <a:rPr sz="2400" spc="85" dirty="0">
                <a:latin typeface="Calibri"/>
                <a:cs typeface="Calibri"/>
              </a:rPr>
              <a:t>  </a:t>
            </a:r>
            <a:r>
              <a:rPr sz="2400" dirty="0">
                <a:latin typeface="Calibri"/>
                <a:cs typeface="Calibri"/>
              </a:rPr>
              <a:t>schedule</a:t>
            </a:r>
            <a:r>
              <a:rPr sz="2400" spc="85" dirty="0">
                <a:latin typeface="Calibri"/>
                <a:cs typeface="Calibri"/>
              </a:rPr>
              <a:t>  </a:t>
            </a:r>
            <a:r>
              <a:rPr sz="2400" dirty="0">
                <a:latin typeface="Calibri"/>
                <a:cs typeface="Calibri"/>
              </a:rPr>
              <a:t>typically</a:t>
            </a:r>
            <a:r>
              <a:rPr sz="2400" spc="80" dirty="0">
                <a:latin typeface="Calibri"/>
                <a:cs typeface="Calibri"/>
              </a:rPr>
              <a:t>  </a:t>
            </a:r>
            <a:r>
              <a:rPr sz="2400" dirty="0">
                <a:latin typeface="Calibri"/>
                <a:cs typeface="Calibri"/>
              </a:rPr>
              <a:t>need</a:t>
            </a:r>
            <a:r>
              <a:rPr sz="2400" spc="80" dirty="0">
                <a:latin typeface="Calibri"/>
                <a:cs typeface="Calibri"/>
              </a:rPr>
              <a:t>  </a:t>
            </a:r>
            <a:r>
              <a:rPr sz="2400" spc="-10" dirty="0">
                <a:latin typeface="Calibri"/>
                <a:cs typeface="Calibri"/>
              </a:rPr>
              <a:t>their 	</a:t>
            </a:r>
            <a:r>
              <a:rPr sz="2400" dirty="0">
                <a:latin typeface="Calibri"/>
                <a:cs typeface="Calibri"/>
              </a:rPr>
              <a:t>approval. They</a:t>
            </a:r>
            <a:r>
              <a:rPr sz="2400" spc="10" dirty="0">
                <a:latin typeface="Calibri"/>
                <a:cs typeface="Calibri"/>
              </a:rPr>
              <a:t> </a:t>
            </a:r>
            <a:r>
              <a:rPr sz="2400" dirty="0">
                <a:latin typeface="Calibri"/>
                <a:cs typeface="Calibri"/>
              </a:rPr>
              <a:t>have</a:t>
            </a:r>
            <a:r>
              <a:rPr sz="2400" spc="15"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natural</a:t>
            </a:r>
            <a:r>
              <a:rPr sz="2400" spc="10" dirty="0">
                <a:latin typeface="Calibri"/>
                <a:cs typeface="Calibri"/>
              </a:rPr>
              <a:t> </a:t>
            </a:r>
            <a:r>
              <a:rPr sz="2400" dirty="0">
                <a:latin typeface="Calibri"/>
                <a:cs typeface="Calibri"/>
              </a:rPr>
              <a:t>vested</a:t>
            </a:r>
            <a:r>
              <a:rPr sz="2400" spc="5" dirty="0">
                <a:latin typeface="Calibri"/>
                <a:cs typeface="Calibri"/>
              </a:rPr>
              <a:t> </a:t>
            </a:r>
            <a:r>
              <a:rPr sz="2400" dirty="0">
                <a:latin typeface="Calibri"/>
                <a:cs typeface="Calibri"/>
              </a:rPr>
              <a:t>interest</a:t>
            </a:r>
            <a:r>
              <a:rPr sz="2400" spc="5" dirty="0">
                <a:latin typeface="Calibri"/>
                <a:cs typeface="Calibri"/>
              </a:rPr>
              <a:t> </a:t>
            </a:r>
            <a:r>
              <a:rPr sz="2400" dirty="0">
                <a:latin typeface="Calibri"/>
                <a:cs typeface="Calibri"/>
              </a:rPr>
              <a:t>in</a:t>
            </a:r>
            <a:r>
              <a:rPr sz="2400" spc="10"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success</a:t>
            </a:r>
            <a:r>
              <a:rPr sz="2400" spc="10" dirty="0">
                <a:latin typeface="Calibri"/>
                <a:cs typeface="Calibri"/>
              </a:rPr>
              <a:t> </a:t>
            </a:r>
            <a:r>
              <a:rPr sz="2400" dirty="0">
                <a:latin typeface="Calibri"/>
                <a:cs typeface="Calibri"/>
              </a:rPr>
              <a:t>of</a:t>
            </a:r>
            <a:r>
              <a:rPr sz="2400" spc="10"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project,</a:t>
            </a:r>
            <a:r>
              <a:rPr sz="2400" spc="5" dirty="0">
                <a:latin typeface="Calibri"/>
                <a:cs typeface="Calibri"/>
              </a:rPr>
              <a:t> </a:t>
            </a:r>
            <a:r>
              <a:rPr sz="2400" dirty="0">
                <a:latin typeface="Calibri"/>
                <a:cs typeface="Calibri"/>
              </a:rPr>
              <a:t>but</a:t>
            </a:r>
            <a:r>
              <a:rPr sz="2400" spc="5" dirty="0">
                <a:latin typeface="Calibri"/>
                <a:cs typeface="Calibri"/>
              </a:rPr>
              <a:t> </a:t>
            </a:r>
            <a:r>
              <a:rPr sz="2400" spc="-25" dirty="0">
                <a:latin typeface="Calibri"/>
                <a:cs typeface="Calibri"/>
              </a:rPr>
              <a:t>at 	</a:t>
            </a:r>
            <a:r>
              <a:rPr sz="2400" dirty="0">
                <a:latin typeface="Calibri"/>
                <a:cs typeface="Calibri"/>
              </a:rPr>
              <a:t>the</a:t>
            </a:r>
            <a:r>
              <a:rPr sz="2400" spc="-50" dirty="0">
                <a:latin typeface="Calibri"/>
                <a:cs typeface="Calibri"/>
              </a:rPr>
              <a:t> </a:t>
            </a:r>
            <a:r>
              <a:rPr sz="2400" dirty="0">
                <a:latin typeface="Calibri"/>
                <a:cs typeface="Calibri"/>
              </a:rPr>
              <a:t>same</a:t>
            </a:r>
            <a:r>
              <a:rPr sz="2400" spc="-45" dirty="0">
                <a:latin typeface="Calibri"/>
                <a:cs typeface="Calibri"/>
              </a:rPr>
              <a:t> </a:t>
            </a:r>
            <a:r>
              <a:rPr sz="2400" dirty="0">
                <a:latin typeface="Calibri"/>
                <a:cs typeface="Calibri"/>
              </a:rPr>
              <a:t>time</a:t>
            </a:r>
            <a:r>
              <a:rPr sz="2400" spc="-45" dirty="0">
                <a:latin typeface="Calibri"/>
                <a:cs typeface="Calibri"/>
              </a:rPr>
              <a:t> </a:t>
            </a:r>
            <a:r>
              <a:rPr sz="2400" dirty="0">
                <a:latin typeface="Calibri"/>
                <a:cs typeface="Calibri"/>
              </a:rPr>
              <a:t>have</a:t>
            </a:r>
            <a:r>
              <a:rPr sz="2400" spc="-4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be</a:t>
            </a:r>
            <a:r>
              <a:rPr sz="2400" spc="-50" dirty="0">
                <a:latin typeface="Calibri"/>
                <a:cs typeface="Calibri"/>
              </a:rPr>
              <a:t> </a:t>
            </a:r>
            <a:r>
              <a:rPr sz="2400" spc="-10" dirty="0">
                <a:latin typeface="Calibri"/>
                <a:cs typeface="Calibri"/>
              </a:rPr>
              <a:t>responsive</a:t>
            </a:r>
            <a:r>
              <a:rPr sz="2400" spc="-45"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what</a:t>
            </a:r>
            <a:r>
              <a:rPr sz="2400" spc="-55"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best</a:t>
            </a:r>
            <a:r>
              <a:rPr sz="2400" spc="-5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entire</a:t>
            </a:r>
            <a:r>
              <a:rPr sz="2400" spc="-45" dirty="0">
                <a:latin typeface="Calibri"/>
                <a:cs typeface="Calibri"/>
              </a:rPr>
              <a:t> </a:t>
            </a:r>
            <a:r>
              <a:rPr sz="2400" spc="-10" dirty="0">
                <a:latin typeface="Calibri"/>
                <a:cs typeface="Calibri"/>
              </a:rPr>
              <a:t>organization.</a:t>
            </a:r>
            <a:endParaRPr sz="2400" dirty="0">
              <a:latin typeface="Calibri"/>
              <a:cs typeface="Calibri"/>
            </a:endParaRPr>
          </a:p>
          <a:p>
            <a:pPr marL="240029" marR="5080" indent="-227329" algn="just">
              <a:lnSpc>
                <a:spcPct val="90300"/>
              </a:lnSpc>
              <a:spcBef>
                <a:spcPts val="1000"/>
              </a:spcBef>
              <a:buFont typeface="Courier New"/>
              <a:buChar char="o"/>
              <a:tabLst>
                <a:tab pos="241300" algn="l"/>
              </a:tabLst>
            </a:pPr>
            <a:r>
              <a:rPr sz="2400" b="1" dirty="0">
                <a:solidFill>
                  <a:srgbClr val="C00000"/>
                </a:solidFill>
                <a:latin typeface="Calibri"/>
                <a:cs typeface="Calibri"/>
              </a:rPr>
              <a:t>Project</a:t>
            </a:r>
            <a:r>
              <a:rPr sz="2400" b="1" spc="-60" dirty="0">
                <a:solidFill>
                  <a:srgbClr val="C00000"/>
                </a:solidFill>
                <a:latin typeface="Calibri"/>
                <a:cs typeface="Calibri"/>
              </a:rPr>
              <a:t> </a:t>
            </a:r>
            <a:r>
              <a:rPr sz="2400" b="1" dirty="0">
                <a:solidFill>
                  <a:srgbClr val="C00000"/>
                </a:solidFill>
                <a:latin typeface="Calibri"/>
                <a:cs typeface="Calibri"/>
              </a:rPr>
              <a:t>sponsors</a:t>
            </a:r>
            <a:r>
              <a:rPr sz="2400" b="1" spc="-55" dirty="0">
                <a:solidFill>
                  <a:srgbClr val="C00000"/>
                </a:solidFill>
                <a:latin typeface="Calibri"/>
                <a:cs typeface="Calibri"/>
              </a:rPr>
              <a:t> </a:t>
            </a:r>
            <a:r>
              <a:rPr sz="2400" dirty="0">
                <a:latin typeface="Calibri"/>
                <a:cs typeface="Calibri"/>
              </a:rPr>
              <a:t>champion</a:t>
            </a:r>
            <a:r>
              <a:rPr sz="2400" spc="-6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project</a:t>
            </a:r>
            <a:r>
              <a:rPr sz="2400" spc="-7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use</a:t>
            </a:r>
            <a:r>
              <a:rPr sz="2400" spc="-60" dirty="0">
                <a:latin typeface="Calibri"/>
                <a:cs typeface="Calibri"/>
              </a:rPr>
              <a:t> </a:t>
            </a:r>
            <a:r>
              <a:rPr sz="2400" dirty="0">
                <a:latin typeface="Calibri"/>
                <a:cs typeface="Calibri"/>
              </a:rPr>
              <a:t>their</a:t>
            </a:r>
            <a:r>
              <a:rPr sz="2400" spc="-65" dirty="0">
                <a:latin typeface="Calibri"/>
                <a:cs typeface="Calibri"/>
              </a:rPr>
              <a:t> </a:t>
            </a:r>
            <a:r>
              <a:rPr sz="2400" dirty="0">
                <a:latin typeface="Calibri"/>
                <a:cs typeface="Calibri"/>
              </a:rPr>
              <a:t>influence</a:t>
            </a:r>
            <a:r>
              <a:rPr sz="2400" spc="-60"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gain</a:t>
            </a:r>
            <a:r>
              <a:rPr sz="2400" spc="-60" dirty="0">
                <a:latin typeface="Calibri"/>
                <a:cs typeface="Calibri"/>
              </a:rPr>
              <a:t> </a:t>
            </a:r>
            <a:r>
              <a:rPr sz="2400" spc="-10" dirty="0">
                <a:latin typeface="Calibri"/>
                <a:cs typeface="Calibri"/>
              </a:rPr>
              <a:t>approval</a:t>
            </a:r>
            <a:r>
              <a:rPr sz="2400" spc="-55" dirty="0">
                <a:latin typeface="Calibri"/>
                <a:cs typeface="Calibri"/>
              </a:rPr>
              <a:t> </a:t>
            </a:r>
            <a:r>
              <a:rPr sz="2400" spc="-25" dirty="0">
                <a:latin typeface="Calibri"/>
                <a:cs typeface="Calibri"/>
              </a:rPr>
              <a:t>of 	</a:t>
            </a:r>
            <a:r>
              <a:rPr sz="2400" dirty="0">
                <a:latin typeface="Calibri"/>
                <a:cs typeface="Calibri"/>
              </a:rPr>
              <a:t>the</a:t>
            </a:r>
            <a:r>
              <a:rPr sz="2400" spc="114" dirty="0">
                <a:latin typeface="Calibri"/>
                <a:cs typeface="Calibri"/>
              </a:rPr>
              <a:t> </a:t>
            </a:r>
            <a:r>
              <a:rPr sz="2400" dirty="0">
                <a:latin typeface="Calibri"/>
                <a:cs typeface="Calibri"/>
              </a:rPr>
              <a:t>project.</a:t>
            </a:r>
            <a:r>
              <a:rPr sz="2400" spc="100" dirty="0">
                <a:latin typeface="Calibri"/>
                <a:cs typeface="Calibri"/>
              </a:rPr>
              <a:t> </a:t>
            </a:r>
            <a:r>
              <a:rPr sz="2400" dirty="0">
                <a:latin typeface="Calibri"/>
                <a:cs typeface="Calibri"/>
              </a:rPr>
              <a:t>Their</a:t>
            </a:r>
            <a:r>
              <a:rPr sz="2400" spc="110" dirty="0">
                <a:latin typeface="Calibri"/>
                <a:cs typeface="Calibri"/>
              </a:rPr>
              <a:t> </a:t>
            </a:r>
            <a:r>
              <a:rPr sz="2400" dirty="0">
                <a:latin typeface="Calibri"/>
                <a:cs typeface="Calibri"/>
              </a:rPr>
              <a:t>reputation</a:t>
            </a:r>
            <a:r>
              <a:rPr sz="2400" spc="114" dirty="0">
                <a:latin typeface="Calibri"/>
                <a:cs typeface="Calibri"/>
              </a:rPr>
              <a:t> </a:t>
            </a:r>
            <a:r>
              <a:rPr sz="2400" dirty="0">
                <a:latin typeface="Calibri"/>
                <a:cs typeface="Calibri"/>
              </a:rPr>
              <a:t>is</a:t>
            </a:r>
            <a:r>
              <a:rPr sz="2400" spc="105" dirty="0">
                <a:latin typeface="Calibri"/>
                <a:cs typeface="Calibri"/>
              </a:rPr>
              <a:t> </a:t>
            </a:r>
            <a:r>
              <a:rPr sz="2400" dirty="0">
                <a:latin typeface="Calibri"/>
                <a:cs typeface="Calibri"/>
              </a:rPr>
              <a:t>tied</a:t>
            </a:r>
            <a:r>
              <a:rPr sz="2400" spc="110" dirty="0">
                <a:latin typeface="Calibri"/>
                <a:cs typeface="Calibri"/>
              </a:rPr>
              <a:t> </a:t>
            </a:r>
            <a:r>
              <a:rPr sz="2400" dirty="0">
                <a:latin typeface="Calibri"/>
                <a:cs typeface="Calibri"/>
              </a:rPr>
              <a:t>to</a:t>
            </a:r>
            <a:r>
              <a:rPr sz="2400" spc="105" dirty="0">
                <a:latin typeface="Calibri"/>
                <a:cs typeface="Calibri"/>
              </a:rPr>
              <a:t> </a:t>
            </a:r>
            <a:r>
              <a:rPr sz="2400" dirty="0">
                <a:latin typeface="Calibri"/>
                <a:cs typeface="Calibri"/>
              </a:rPr>
              <a:t>the</a:t>
            </a:r>
            <a:r>
              <a:rPr sz="2400" spc="120" dirty="0">
                <a:latin typeface="Calibri"/>
                <a:cs typeface="Calibri"/>
              </a:rPr>
              <a:t> </a:t>
            </a:r>
            <a:r>
              <a:rPr sz="2400" dirty="0">
                <a:latin typeface="Calibri"/>
                <a:cs typeface="Calibri"/>
              </a:rPr>
              <a:t>success</a:t>
            </a:r>
            <a:r>
              <a:rPr sz="2400" spc="110" dirty="0">
                <a:latin typeface="Calibri"/>
                <a:cs typeface="Calibri"/>
              </a:rPr>
              <a:t> </a:t>
            </a:r>
            <a:r>
              <a:rPr sz="2400" dirty="0">
                <a:latin typeface="Calibri"/>
                <a:cs typeface="Calibri"/>
              </a:rPr>
              <a:t>of</a:t>
            </a:r>
            <a:r>
              <a:rPr sz="2400" spc="110" dirty="0">
                <a:latin typeface="Calibri"/>
                <a:cs typeface="Calibri"/>
              </a:rPr>
              <a:t> </a:t>
            </a:r>
            <a:r>
              <a:rPr sz="2400" dirty="0">
                <a:latin typeface="Calibri"/>
                <a:cs typeface="Calibri"/>
              </a:rPr>
              <a:t>the</a:t>
            </a:r>
            <a:r>
              <a:rPr sz="2400" spc="114" dirty="0">
                <a:latin typeface="Calibri"/>
                <a:cs typeface="Calibri"/>
              </a:rPr>
              <a:t> </a:t>
            </a:r>
            <a:r>
              <a:rPr sz="2400" dirty="0">
                <a:latin typeface="Calibri"/>
                <a:cs typeface="Calibri"/>
              </a:rPr>
              <a:t>project,</a:t>
            </a:r>
            <a:r>
              <a:rPr sz="2400" spc="110" dirty="0">
                <a:latin typeface="Calibri"/>
                <a:cs typeface="Calibri"/>
              </a:rPr>
              <a:t> </a:t>
            </a:r>
            <a:r>
              <a:rPr sz="2400" dirty="0">
                <a:latin typeface="Calibri"/>
                <a:cs typeface="Calibri"/>
              </a:rPr>
              <a:t>and</a:t>
            </a:r>
            <a:r>
              <a:rPr sz="2400" spc="110" dirty="0">
                <a:latin typeface="Calibri"/>
                <a:cs typeface="Calibri"/>
              </a:rPr>
              <a:t> </a:t>
            </a:r>
            <a:r>
              <a:rPr sz="2400" dirty="0">
                <a:latin typeface="Calibri"/>
                <a:cs typeface="Calibri"/>
              </a:rPr>
              <a:t>they</a:t>
            </a:r>
            <a:r>
              <a:rPr sz="2400" spc="110" dirty="0">
                <a:latin typeface="Calibri"/>
                <a:cs typeface="Calibri"/>
              </a:rPr>
              <a:t> </a:t>
            </a:r>
            <a:r>
              <a:rPr sz="2400" spc="-20" dirty="0">
                <a:latin typeface="Calibri"/>
                <a:cs typeface="Calibri"/>
              </a:rPr>
              <a:t>need 	</a:t>
            </a:r>
            <a:r>
              <a:rPr sz="2400" dirty="0">
                <a:latin typeface="Calibri"/>
                <a:cs typeface="Calibri"/>
              </a:rPr>
              <a:t>to</a:t>
            </a:r>
            <a:r>
              <a:rPr sz="2400" spc="-30" dirty="0">
                <a:latin typeface="Calibri"/>
                <a:cs typeface="Calibri"/>
              </a:rPr>
              <a:t> </a:t>
            </a:r>
            <a:r>
              <a:rPr sz="2400" dirty="0">
                <a:latin typeface="Calibri"/>
                <a:cs typeface="Calibri"/>
              </a:rPr>
              <a:t>be</a:t>
            </a:r>
            <a:r>
              <a:rPr sz="2400" spc="-25" dirty="0">
                <a:latin typeface="Calibri"/>
                <a:cs typeface="Calibri"/>
              </a:rPr>
              <a:t> </a:t>
            </a:r>
            <a:r>
              <a:rPr sz="2400" dirty="0">
                <a:latin typeface="Calibri"/>
                <a:cs typeface="Calibri"/>
              </a:rPr>
              <a:t>kept</a:t>
            </a:r>
            <a:r>
              <a:rPr sz="2400" spc="-30" dirty="0">
                <a:latin typeface="Calibri"/>
                <a:cs typeface="Calibri"/>
              </a:rPr>
              <a:t> </a:t>
            </a:r>
            <a:r>
              <a:rPr sz="2400" dirty="0">
                <a:latin typeface="Calibri"/>
                <a:cs typeface="Calibri"/>
              </a:rPr>
              <a:t>informed</a:t>
            </a:r>
            <a:r>
              <a:rPr sz="2400" spc="-25" dirty="0">
                <a:latin typeface="Calibri"/>
                <a:cs typeface="Calibri"/>
              </a:rPr>
              <a:t> </a:t>
            </a:r>
            <a:r>
              <a:rPr sz="2400" dirty="0">
                <a:latin typeface="Calibri"/>
                <a:cs typeface="Calibri"/>
              </a:rPr>
              <a:t>of</a:t>
            </a:r>
            <a:r>
              <a:rPr sz="2400" spc="-25" dirty="0">
                <a:latin typeface="Calibri"/>
                <a:cs typeface="Calibri"/>
              </a:rPr>
              <a:t> </a:t>
            </a:r>
            <a:r>
              <a:rPr sz="2400" dirty="0">
                <a:latin typeface="Calibri"/>
                <a:cs typeface="Calibri"/>
              </a:rPr>
              <a:t>any</a:t>
            </a:r>
            <a:r>
              <a:rPr sz="2400" spc="-25" dirty="0">
                <a:latin typeface="Calibri"/>
                <a:cs typeface="Calibri"/>
              </a:rPr>
              <a:t> </a:t>
            </a:r>
            <a:r>
              <a:rPr sz="2400" dirty="0">
                <a:latin typeface="Calibri"/>
                <a:cs typeface="Calibri"/>
              </a:rPr>
              <a:t>major</a:t>
            </a:r>
            <a:r>
              <a:rPr sz="2400" spc="-25" dirty="0">
                <a:latin typeface="Calibri"/>
                <a:cs typeface="Calibri"/>
              </a:rPr>
              <a:t> </a:t>
            </a:r>
            <a:r>
              <a:rPr sz="2400" dirty="0">
                <a:latin typeface="Calibri"/>
                <a:cs typeface="Calibri"/>
              </a:rPr>
              <a:t>developments.</a:t>
            </a:r>
            <a:r>
              <a:rPr sz="2400" spc="-35" dirty="0">
                <a:latin typeface="Calibri"/>
                <a:cs typeface="Calibri"/>
              </a:rPr>
              <a:t> </a:t>
            </a:r>
            <a:r>
              <a:rPr sz="2400" dirty="0">
                <a:latin typeface="Calibri"/>
                <a:cs typeface="Calibri"/>
              </a:rPr>
              <a:t>They</a:t>
            </a:r>
            <a:r>
              <a:rPr sz="2400" spc="-25" dirty="0">
                <a:latin typeface="Calibri"/>
                <a:cs typeface="Calibri"/>
              </a:rPr>
              <a:t> </a:t>
            </a:r>
            <a:r>
              <a:rPr sz="2400" dirty="0">
                <a:latin typeface="Calibri"/>
                <a:cs typeface="Calibri"/>
              </a:rPr>
              <a:t>defend</a:t>
            </a:r>
            <a:r>
              <a:rPr sz="2400" spc="-25" dirty="0">
                <a:latin typeface="Calibri"/>
                <a:cs typeface="Calibri"/>
              </a:rPr>
              <a:t> </a:t>
            </a:r>
            <a:r>
              <a:rPr sz="2400" dirty="0">
                <a:latin typeface="Calibri"/>
                <a:cs typeface="Calibri"/>
              </a:rPr>
              <a:t>the</a:t>
            </a:r>
            <a:r>
              <a:rPr sz="2400" spc="-20" dirty="0">
                <a:latin typeface="Calibri"/>
                <a:cs typeface="Calibri"/>
              </a:rPr>
              <a:t> </a:t>
            </a:r>
            <a:r>
              <a:rPr sz="2400" dirty="0">
                <a:latin typeface="Calibri"/>
                <a:cs typeface="Calibri"/>
              </a:rPr>
              <a:t>project</a:t>
            </a:r>
            <a:r>
              <a:rPr sz="2400" spc="-35" dirty="0">
                <a:latin typeface="Calibri"/>
                <a:cs typeface="Calibri"/>
              </a:rPr>
              <a:t> </a:t>
            </a:r>
            <a:r>
              <a:rPr sz="2400" dirty="0">
                <a:latin typeface="Calibri"/>
                <a:cs typeface="Calibri"/>
              </a:rPr>
              <a:t>when</a:t>
            </a:r>
            <a:r>
              <a:rPr sz="2400" spc="-25" dirty="0">
                <a:latin typeface="Calibri"/>
                <a:cs typeface="Calibri"/>
              </a:rPr>
              <a:t> it 	</a:t>
            </a:r>
            <a:r>
              <a:rPr sz="2400" dirty="0">
                <a:latin typeface="Calibri"/>
                <a:cs typeface="Calibri"/>
              </a:rPr>
              <a:t>comes</a:t>
            </a:r>
            <a:r>
              <a:rPr sz="2400" spc="-80" dirty="0">
                <a:latin typeface="Calibri"/>
                <a:cs typeface="Calibri"/>
              </a:rPr>
              <a:t> </a:t>
            </a:r>
            <a:r>
              <a:rPr sz="2400" dirty="0">
                <a:latin typeface="Calibri"/>
                <a:cs typeface="Calibri"/>
              </a:rPr>
              <a:t>under</a:t>
            </a:r>
            <a:r>
              <a:rPr sz="2400" spc="-80" dirty="0">
                <a:latin typeface="Calibri"/>
                <a:cs typeface="Calibri"/>
              </a:rPr>
              <a:t> </a:t>
            </a:r>
            <a:r>
              <a:rPr sz="2400" dirty="0">
                <a:latin typeface="Calibri"/>
                <a:cs typeface="Calibri"/>
              </a:rPr>
              <a:t>attack</a:t>
            </a:r>
            <a:r>
              <a:rPr sz="2400" spc="-80" dirty="0">
                <a:latin typeface="Calibri"/>
                <a:cs typeface="Calibri"/>
              </a:rPr>
              <a:t> </a:t>
            </a:r>
            <a:r>
              <a:rPr sz="2400" dirty="0">
                <a:latin typeface="Calibri"/>
                <a:cs typeface="Calibri"/>
              </a:rPr>
              <a:t>and</a:t>
            </a:r>
            <a:r>
              <a:rPr sz="2400" spc="-70" dirty="0">
                <a:latin typeface="Calibri"/>
                <a:cs typeface="Calibri"/>
              </a:rPr>
              <a:t> </a:t>
            </a:r>
            <a:r>
              <a:rPr sz="2400" dirty="0">
                <a:latin typeface="Calibri"/>
                <a:cs typeface="Calibri"/>
              </a:rPr>
              <a:t>are</a:t>
            </a:r>
            <a:r>
              <a:rPr sz="2400" spc="-75" dirty="0">
                <a:latin typeface="Calibri"/>
                <a:cs typeface="Calibri"/>
              </a:rPr>
              <a:t> </a:t>
            </a:r>
            <a:r>
              <a:rPr sz="2400" dirty="0">
                <a:latin typeface="Calibri"/>
                <a:cs typeface="Calibri"/>
              </a:rPr>
              <a:t>a</a:t>
            </a:r>
            <a:r>
              <a:rPr sz="2400" spc="-75" dirty="0">
                <a:latin typeface="Calibri"/>
                <a:cs typeface="Calibri"/>
              </a:rPr>
              <a:t> </a:t>
            </a:r>
            <a:r>
              <a:rPr sz="2400" dirty="0">
                <a:latin typeface="Calibri"/>
                <a:cs typeface="Calibri"/>
              </a:rPr>
              <a:t>key</a:t>
            </a:r>
            <a:r>
              <a:rPr sz="2400" spc="-75" dirty="0">
                <a:latin typeface="Calibri"/>
                <a:cs typeface="Calibri"/>
              </a:rPr>
              <a:t> </a:t>
            </a:r>
            <a:r>
              <a:rPr sz="2400" dirty="0">
                <a:latin typeface="Calibri"/>
                <a:cs typeface="Calibri"/>
              </a:rPr>
              <a:t>project</a:t>
            </a:r>
            <a:r>
              <a:rPr sz="2400" spc="-80" dirty="0">
                <a:latin typeface="Calibri"/>
                <a:cs typeface="Calibri"/>
              </a:rPr>
              <a:t> </a:t>
            </a:r>
            <a:r>
              <a:rPr sz="2400" spc="-10" dirty="0">
                <a:latin typeface="Calibri"/>
                <a:cs typeface="Calibri"/>
              </a:rPr>
              <a:t>ally.</a:t>
            </a:r>
            <a:endParaRPr sz="2400" dirty="0">
              <a:latin typeface="Calibri"/>
              <a:cs typeface="Calibri"/>
            </a:endParaRPr>
          </a:p>
        </p:txBody>
      </p:sp>
      <p:sp>
        <p:nvSpPr>
          <p:cNvPr id="3" name="object 3"/>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7</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(4/6)</a:t>
            </a:r>
            <a:endParaRPr sz="1950"/>
          </a:p>
        </p:txBody>
      </p:sp>
      <p:pic>
        <p:nvPicPr>
          <p:cNvPr id="5" name="Picture 4">
            <a:extLst>
              <a:ext uri="{FF2B5EF4-FFF2-40B4-BE49-F238E27FC236}">
                <a16:creationId xmlns:a16="http://schemas.microsoft.com/office/drawing/2014/main" id="{EC9AEE12-CAD9-1B53-62CE-FE8BB65718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98244"/>
            <a:ext cx="10358120" cy="4969510"/>
          </a:xfrm>
          <a:prstGeom prst="rect">
            <a:avLst/>
          </a:prstGeom>
        </p:spPr>
        <p:txBody>
          <a:bodyPr vert="horz" wrap="square" lIns="0" tIns="45720" rIns="0" bIns="0" rtlCol="0">
            <a:spAutoFit/>
          </a:bodyPr>
          <a:lstStyle/>
          <a:p>
            <a:pPr marL="241300" marR="5715" indent="-228600" algn="just">
              <a:lnSpc>
                <a:spcPct val="90000"/>
              </a:lnSpc>
              <a:spcBef>
                <a:spcPts val="360"/>
              </a:spcBef>
              <a:buFont typeface="Courier New"/>
              <a:buChar char="o"/>
              <a:tabLst>
                <a:tab pos="241300" algn="l"/>
              </a:tabLst>
            </a:pPr>
            <a:r>
              <a:rPr sz="2200" b="1" dirty="0">
                <a:solidFill>
                  <a:srgbClr val="C00000"/>
                </a:solidFill>
                <a:latin typeface="Calibri"/>
                <a:cs typeface="Calibri"/>
              </a:rPr>
              <a:t>Contractors</a:t>
            </a:r>
            <a:r>
              <a:rPr sz="2200" b="1" spc="265" dirty="0">
                <a:solidFill>
                  <a:srgbClr val="C00000"/>
                </a:solidFill>
                <a:latin typeface="Calibri"/>
                <a:cs typeface="Calibri"/>
              </a:rPr>
              <a:t> </a:t>
            </a:r>
            <a:r>
              <a:rPr sz="2200" dirty="0">
                <a:latin typeface="Calibri"/>
                <a:cs typeface="Calibri"/>
              </a:rPr>
              <a:t>may</a:t>
            </a:r>
            <a:r>
              <a:rPr sz="2200" spc="270" dirty="0">
                <a:latin typeface="Calibri"/>
                <a:cs typeface="Calibri"/>
              </a:rPr>
              <a:t> </a:t>
            </a:r>
            <a:r>
              <a:rPr sz="2200" dirty="0">
                <a:latin typeface="Calibri"/>
                <a:cs typeface="Calibri"/>
              </a:rPr>
              <a:t>do</a:t>
            </a:r>
            <a:r>
              <a:rPr sz="2200" spc="270" dirty="0">
                <a:latin typeface="Calibri"/>
                <a:cs typeface="Calibri"/>
              </a:rPr>
              <a:t> </a:t>
            </a:r>
            <a:r>
              <a:rPr sz="2200" dirty="0">
                <a:latin typeface="Calibri"/>
                <a:cs typeface="Calibri"/>
              </a:rPr>
              <a:t>all</a:t>
            </a:r>
            <a:r>
              <a:rPr sz="2200" spc="260" dirty="0">
                <a:latin typeface="Calibri"/>
                <a:cs typeface="Calibri"/>
              </a:rPr>
              <a:t> </a:t>
            </a:r>
            <a:r>
              <a:rPr sz="2200" dirty="0">
                <a:latin typeface="Calibri"/>
                <a:cs typeface="Calibri"/>
              </a:rPr>
              <a:t>the</a:t>
            </a:r>
            <a:r>
              <a:rPr sz="2200" spc="270" dirty="0">
                <a:latin typeface="Calibri"/>
                <a:cs typeface="Calibri"/>
              </a:rPr>
              <a:t> </a:t>
            </a:r>
            <a:r>
              <a:rPr sz="2200" dirty="0">
                <a:latin typeface="Calibri"/>
                <a:cs typeface="Calibri"/>
              </a:rPr>
              <a:t>actual</a:t>
            </a:r>
            <a:r>
              <a:rPr sz="2200" spc="265" dirty="0">
                <a:latin typeface="Calibri"/>
                <a:cs typeface="Calibri"/>
              </a:rPr>
              <a:t> </a:t>
            </a:r>
            <a:r>
              <a:rPr sz="2200" dirty="0">
                <a:latin typeface="Calibri"/>
                <a:cs typeface="Calibri"/>
              </a:rPr>
              <a:t>work,</a:t>
            </a:r>
            <a:r>
              <a:rPr sz="2200" spc="265" dirty="0">
                <a:latin typeface="Calibri"/>
                <a:cs typeface="Calibri"/>
              </a:rPr>
              <a:t> </a:t>
            </a:r>
            <a:r>
              <a:rPr sz="2200" dirty="0">
                <a:latin typeface="Calibri"/>
                <a:cs typeface="Calibri"/>
              </a:rPr>
              <a:t>in</a:t>
            </a:r>
            <a:r>
              <a:rPr sz="2200" spc="265" dirty="0">
                <a:latin typeface="Calibri"/>
                <a:cs typeface="Calibri"/>
              </a:rPr>
              <a:t> </a:t>
            </a:r>
            <a:r>
              <a:rPr sz="2200" dirty="0">
                <a:latin typeface="Calibri"/>
                <a:cs typeface="Calibri"/>
              </a:rPr>
              <a:t>some</a:t>
            </a:r>
            <a:r>
              <a:rPr sz="2200" spc="270" dirty="0">
                <a:latin typeface="Calibri"/>
                <a:cs typeface="Calibri"/>
              </a:rPr>
              <a:t> </a:t>
            </a:r>
            <a:r>
              <a:rPr sz="2200" dirty="0">
                <a:latin typeface="Calibri"/>
                <a:cs typeface="Calibri"/>
              </a:rPr>
              <a:t>cases,</a:t>
            </a:r>
            <a:r>
              <a:rPr sz="2200" spc="265" dirty="0">
                <a:latin typeface="Calibri"/>
                <a:cs typeface="Calibri"/>
              </a:rPr>
              <a:t> </a:t>
            </a:r>
            <a:r>
              <a:rPr sz="2200" dirty="0">
                <a:latin typeface="Calibri"/>
                <a:cs typeface="Calibri"/>
              </a:rPr>
              <a:t>with</a:t>
            </a:r>
            <a:r>
              <a:rPr sz="2200" spc="265" dirty="0">
                <a:latin typeface="Calibri"/>
                <a:cs typeface="Calibri"/>
              </a:rPr>
              <a:t> </a:t>
            </a:r>
            <a:r>
              <a:rPr sz="2200" dirty="0">
                <a:latin typeface="Calibri"/>
                <a:cs typeface="Calibri"/>
              </a:rPr>
              <a:t>the</a:t>
            </a:r>
            <a:r>
              <a:rPr sz="2200" spc="270" dirty="0">
                <a:latin typeface="Calibri"/>
                <a:cs typeface="Calibri"/>
              </a:rPr>
              <a:t> </a:t>
            </a:r>
            <a:r>
              <a:rPr sz="2200" dirty="0">
                <a:latin typeface="Calibri"/>
                <a:cs typeface="Calibri"/>
              </a:rPr>
              <a:t>project</a:t>
            </a:r>
            <a:r>
              <a:rPr sz="2200" spc="270" dirty="0">
                <a:latin typeface="Calibri"/>
                <a:cs typeface="Calibri"/>
              </a:rPr>
              <a:t> </a:t>
            </a:r>
            <a:r>
              <a:rPr sz="2200" dirty="0">
                <a:latin typeface="Calibri"/>
                <a:cs typeface="Calibri"/>
              </a:rPr>
              <a:t>team</a:t>
            </a:r>
            <a:r>
              <a:rPr sz="2200" spc="270" dirty="0">
                <a:latin typeface="Calibri"/>
                <a:cs typeface="Calibri"/>
              </a:rPr>
              <a:t> </a:t>
            </a:r>
            <a:r>
              <a:rPr sz="2200" spc="-10" dirty="0">
                <a:latin typeface="Calibri"/>
                <a:cs typeface="Calibri"/>
              </a:rPr>
              <a:t>merely </a:t>
            </a:r>
            <a:r>
              <a:rPr sz="2200" dirty="0">
                <a:latin typeface="Calibri"/>
                <a:cs typeface="Calibri"/>
              </a:rPr>
              <a:t>coordinating</a:t>
            </a:r>
            <a:r>
              <a:rPr sz="2200" spc="295" dirty="0">
                <a:latin typeface="Calibri"/>
                <a:cs typeface="Calibri"/>
              </a:rPr>
              <a:t> </a:t>
            </a:r>
            <a:r>
              <a:rPr sz="2200" dirty="0">
                <a:latin typeface="Calibri"/>
                <a:cs typeface="Calibri"/>
              </a:rPr>
              <a:t>their</a:t>
            </a:r>
            <a:r>
              <a:rPr sz="2200" spc="290" dirty="0">
                <a:latin typeface="Calibri"/>
                <a:cs typeface="Calibri"/>
              </a:rPr>
              <a:t> </a:t>
            </a:r>
            <a:r>
              <a:rPr sz="2200" dirty="0">
                <a:latin typeface="Calibri"/>
                <a:cs typeface="Calibri"/>
              </a:rPr>
              <a:t>contributions.</a:t>
            </a:r>
            <a:r>
              <a:rPr sz="2200" spc="285" dirty="0">
                <a:latin typeface="Calibri"/>
                <a:cs typeface="Calibri"/>
              </a:rPr>
              <a:t> </a:t>
            </a:r>
            <a:r>
              <a:rPr sz="2200" dirty="0">
                <a:latin typeface="Calibri"/>
                <a:cs typeface="Calibri"/>
              </a:rPr>
              <a:t>Poor</a:t>
            </a:r>
            <a:r>
              <a:rPr sz="2200" spc="290" dirty="0">
                <a:latin typeface="Calibri"/>
                <a:cs typeface="Calibri"/>
              </a:rPr>
              <a:t> </a:t>
            </a:r>
            <a:r>
              <a:rPr sz="2200" dirty="0">
                <a:latin typeface="Calibri"/>
                <a:cs typeface="Calibri"/>
              </a:rPr>
              <a:t>work</a:t>
            </a:r>
            <a:r>
              <a:rPr sz="2200" spc="300" dirty="0">
                <a:latin typeface="Calibri"/>
                <a:cs typeface="Calibri"/>
              </a:rPr>
              <a:t> </a:t>
            </a:r>
            <a:r>
              <a:rPr sz="2200" dirty="0">
                <a:latin typeface="Calibri"/>
                <a:cs typeface="Calibri"/>
              </a:rPr>
              <a:t>and</a:t>
            </a:r>
            <a:r>
              <a:rPr sz="2200" spc="290" dirty="0">
                <a:latin typeface="Calibri"/>
                <a:cs typeface="Calibri"/>
              </a:rPr>
              <a:t> </a:t>
            </a:r>
            <a:r>
              <a:rPr sz="2200" dirty="0">
                <a:latin typeface="Calibri"/>
                <a:cs typeface="Calibri"/>
              </a:rPr>
              <a:t>schedule</a:t>
            </a:r>
            <a:r>
              <a:rPr sz="2200" spc="300" dirty="0">
                <a:latin typeface="Calibri"/>
                <a:cs typeface="Calibri"/>
              </a:rPr>
              <a:t> </a:t>
            </a:r>
            <a:r>
              <a:rPr sz="2200" dirty="0">
                <a:latin typeface="Calibri"/>
                <a:cs typeface="Calibri"/>
              </a:rPr>
              <a:t>slips</a:t>
            </a:r>
            <a:r>
              <a:rPr sz="2200" spc="295" dirty="0">
                <a:latin typeface="Calibri"/>
                <a:cs typeface="Calibri"/>
              </a:rPr>
              <a:t> </a:t>
            </a:r>
            <a:r>
              <a:rPr sz="2200" dirty="0">
                <a:latin typeface="Calibri"/>
                <a:cs typeface="Calibri"/>
              </a:rPr>
              <a:t>can</a:t>
            </a:r>
            <a:r>
              <a:rPr sz="2200" spc="290" dirty="0">
                <a:latin typeface="Calibri"/>
                <a:cs typeface="Calibri"/>
              </a:rPr>
              <a:t> </a:t>
            </a:r>
            <a:r>
              <a:rPr sz="2200" dirty="0">
                <a:latin typeface="Calibri"/>
                <a:cs typeface="Calibri"/>
              </a:rPr>
              <a:t>affect</a:t>
            </a:r>
            <a:r>
              <a:rPr sz="2200" spc="295" dirty="0">
                <a:latin typeface="Calibri"/>
                <a:cs typeface="Calibri"/>
              </a:rPr>
              <a:t> </a:t>
            </a:r>
            <a:r>
              <a:rPr sz="2200" dirty="0">
                <a:latin typeface="Calibri"/>
                <a:cs typeface="Calibri"/>
              </a:rPr>
              <a:t>work</a:t>
            </a:r>
            <a:r>
              <a:rPr sz="2200" spc="300" dirty="0">
                <a:latin typeface="Calibri"/>
                <a:cs typeface="Calibri"/>
              </a:rPr>
              <a:t> </a:t>
            </a:r>
            <a:r>
              <a:rPr sz="2200" dirty="0">
                <a:latin typeface="Calibri"/>
                <a:cs typeface="Calibri"/>
              </a:rPr>
              <a:t>of</a:t>
            </a:r>
            <a:r>
              <a:rPr sz="2200" spc="295" dirty="0">
                <a:latin typeface="Calibri"/>
                <a:cs typeface="Calibri"/>
              </a:rPr>
              <a:t> </a:t>
            </a:r>
            <a:r>
              <a:rPr sz="2200" spc="-25" dirty="0">
                <a:latin typeface="Calibri"/>
                <a:cs typeface="Calibri"/>
              </a:rPr>
              <a:t>the </a:t>
            </a:r>
            <a:r>
              <a:rPr sz="2200" dirty="0">
                <a:latin typeface="Calibri"/>
                <a:cs typeface="Calibri"/>
              </a:rPr>
              <a:t>core</a:t>
            </a:r>
            <a:r>
              <a:rPr sz="2200" spc="65" dirty="0">
                <a:latin typeface="Calibri"/>
                <a:cs typeface="Calibri"/>
              </a:rPr>
              <a:t> </a:t>
            </a:r>
            <a:r>
              <a:rPr sz="2200" dirty="0">
                <a:latin typeface="Calibri"/>
                <a:cs typeface="Calibri"/>
              </a:rPr>
              <a:t>project</a:t>
            </a:r>
            <a:r>
              <a:rPr sz="2200" spc="55" dirty="0">
                <a:latin typeface="Calibri"/>
                <a:cs typeface="Calibri"/>
              </a:rPr>
              <a:t> </a:t>
            </a:r>
            <a:r>
              <a:rPr sz="2200" dirty="0">
                <a:latin typeface="Calibri"/>
                <a:cs typeface="Calibri"/>
              </a:rPr>
              <a:t>team.</a:t>
            </a:r>
            <a:r>
              <a:rPr sz="2200" spc="55" dirty="0">
                <a:latin typeface="Calibri"/>
                <a:cs typeface="Calibri"/>
              </a:rPr>
              <a:t> </a:t>
            </a:r>
            <a:r>
              <a:rPr sz="2200" dirty="0">
                <a:latin typeface="Calibri"/>
                <a:cs typeface="Calibri"/>
              </a:rPr>
              <a:t>While</a:t>
            </a:r>
            <a:r>
              <a:rPr sz="2200" spc="65" dirty="0">
                <a:latin typeface="Calibri"/>
                <a:cs typeface="Calibri"/>
              </a:rPr>
              <a:t> </a:t>
            </a:r>
            <a:r>
              <a:rPr sz="2200" dirty="0">
                <a:latin typeface="Calibri"/>
                <a:cs typeface="Calibri"/>
              </a:rPr>
              <a:t>contractors’</a:t>
            </a:r>
            <a:r>
              <a:rPr sz="2200" spc="65" dirty="0">
                <a:latin typeface="Calibri"/>
                <a:cs typeface="Calibri"/>
              </a:rPr>
              <a:t> </a:t>
            </a:r>
            <a:r>
              <a:rPr sz="2200" dirty="0">
                <a:latin typeface="Calibri"/>
                <a:cs typeface="Calibri"/>
              </a:rPr>
              <a:t>reputations</a:t>
            </a:r>
            <a:r>
              <a:rPr sz="2200" spc="55" dirty="0">
                <a:latin typeface="Calibri"/>
                <a:cs typeface="Calibri"/>
              </a:rPr>
              <a:t> </a:t>
            </a:r>
            <a:r>
              <a:rPr sz="2200" dirty="0">
                <a:latin typeface="Calibri"/>
                <a:cs typeface="Calibri"/>
              </a:rPr>
              <a:t>rest</a:t>
            </a:r>
            <a:r>
              <a:rPr sz="2200" spc="60" dirty="0">
                <a:latin typeface="Calibri"/>
                <a:cs typeface="Calibri"/>
              </a:rPr>
              <a:t> </a:t>
            </a:r>
            <a:r>
              <a:rPr sz="2200" dirty="0">
                <a:latin typeface="Calibri"/>
                <a:cs typeface="Calibri"/>
              </a:rPr>
              <a:t>with</a:t>
            </a:r>
            <a:r>
              <a:rPr sz="2200" spc="60" dirty="0">
                <a:latin typeface="Calibri"/>
                <a:cs typeface="Calibri"/>
              </a:rPr>
              <a:t> </a:t>
            </a:r>
            <a:r>
              <a:rPr sz="2200" dirty="0">
                <a:latin typeface="Calibri"/>
                <a:cs typeface="Calibri"/>
              </a:rPr>
              <a:t>doing</a:t>
            </a:r>
            <a:r>
              <a:rPr sz="2200" spc="55" dirty="0">
                <a:latin typeface="Calibri"/>
                <a:cs typeface="Calibri"/>
              </a:rPr>
              <a:t> </a:t>
            </a:r>
            <a:r>
              <a:rPr sz="2200" dirty="0">
                <a:latin typeface="Calibri"/>
                <a:cs typeface="Calibri"/>
              </a:rPr>
              <a:t>good</a:t>
            </a:r>
            <a:r>
              <a:rPr sz="2200" spc="55" dirty="0">
                <a:latin typeface="Calibri"/>
                <a:cs typeface="Calibri"/>
              </a:rPr>
              <a:t> </a:t>
            </a:r>
            <a:r>
              <a:rPr sz="2200" dirty="0">
                <a:latin typeface="Calibri"/>
                <a:cs typeface="Calibri"/>
              </a:rPr>
              <a:t>work,</a:t>
            </a:r>
            <a:r>
              <a:rPr sz="2200" spc="60" dirty="0">
                <a:latin typeface="Calibri"/>
                <a:cs typeface="Calibri"/>
              </a:rPr>
              <a:t> </a:t>
            </a:r>
            <a:r>
              <a:rPr sz="2200" dirty="0">
                <a:latin typeface="Calibri"/>
                <a:cs typeface="Calibri"/>
              </a:rPr>
              <a:t>they</a:t>
            </a:r>
            <a:r>
              <a:rPr sz="2200" spc="70" dirty="0">
                <a:latin typeface="Calibri"/>
                <a:cs typeface="Calibri"/>
              </a:rPr>
              <a:t> </a:t>
            </a:r>
            <a:r>
              <a:rPr sz="2200" spc="-20" dirty="0">
                <a:latin typeface="Calibri"/>
                <a:cs typeface="Calibri"/>
              </a:rPr>
              <a:t>must </a:t>
            </a:r>
            <a:r>
              <a:rPr sz="2200" dirty="0">
                <a:latin typeface="Calibri"/>
                <a:cs typeface="Calibri"/>
              </a:rPr>
              <a:t>balance</a:t>
            </a:r>
            <a:r>
              <a:rPr sz="2200" spc="390" dirty="0">
                <a:latin typeface="Calibri"/>
                <a:cs typeface="Calibri"/>
              </a:rPr>
              <a:t> </a:t>
            </a:r>
            <a:r>
              <a:rPr sz="2200" dirty="0">
                <a:latin typeface="Calibri"/>
                <a:cs typeface="Calibri"/>
              </a:rPr>
              <a:t>their</a:t>
            </a:r>
            <a:r>
              <a:rPr sz="2200" spc="390" dirty="0">
                <a:latin typeface="Calibri"/>
                <a:cs typeface="Calibri"/>
              </a:rPr>
              <a:t> </a:t>
            </a:r>
            <a:r>
              <a:rPr sz="2200" dirty="0">
                <a:latin typeface="Calibri"/>
                <a:cs typeface="Calibri"/>
              </a:rPr>
              <a:t>contributions</a:t>
            </a:r>
            <a:r>
              <a:rPr sz="2200" spc="395" dirty="0">
                <a:latin typeface="Calibri"/>
                <a:cs typeface="Calibri"/>
              </a:rPr>
              <a:t> </a:t>
            </a:r>
            <a:r>
              <a:rPr sz="2200" dirty="0">
                <a:latin typeface="Calibri"/>
                <a:cs typeface="Calibri"/>
              </a:rPr>
              <a:t>with</a:t>
            </a:r>
            <a:r>
              <a:rPr sz="2200" spc="385" dirty="0">
                <a:latin typeface="Calibri"/>
                <a:cs typeface="Calibri"/>
              </a:rPr>
              <a:t> </a:t>
            </a:r>
            <a:r>
              <a:rPr sz="2200" dirty="0">
                <a:latin typeface="Calibri"/>
                <a:cs typeface="Calibri"/>
              </a:rPr>
              <a:t>their</a:t>
            </a:r>
            <a:r>
              <a:rPr sz="2200" spc="390" dirty="0">
                <a:latin typeface="Calibri"/>
                <a:cs typeface="Calibri"/>
              </a:rPr>
              <a:t> </a:t>
            </a:r>
            <a:r>
              <a:rPr sz="2200" dirty="0">
                <a:latin typeface="Calibri"/>
                <a:cs typeface="Calibri"/>
              </a:rPr>
              <a:t>own</a:t>
            </a:r>
            <a:r>
              <a:rPr sz="2200" spc="385" dirty="0">
                <a:latin typeface="Calibri"/>
                <a:cs typeface="Calibri"/>
              </a:rPr>
              <a:t> </a:t>
            </a:r>
            <a:r>
              <a:rPr sz="2200" dirty="0">
                <a:latin typeface="Calibri"/>
                <a:cs typeface="Calibri"/>
              </a:rPr>
              <a:t>profit</a:t>
            </a:r>
            <a:r>
              <a:rPr sz="2200" spc="385" dirty="0">
                <a:latin typeface="Calibri"/>
                <a:cs typeface="Calibri"/>
              </a:rPr>
              <a:t> </a:t>
            </a:r>
            <a:r>
              <a:rPr sz="2200" dirty="0">
                <a:latin typeface="Calibri"/>
                <a:cs typeface="Calibri"/>
              </a:rPr>
              <a:t>margins</a:t>
            </a:r>
            <a:r>
              <a:rPr sz="2200" spc="395" dirty="0">
                <a:latin typeface="Calibri"/>
                <a:cs typeface="Calibri"/>
              </a:rPr>
              <a:t> </a:t>
            </a:r>
            <a:r>
              <a:rPr sz="2200" dirty="0">
                <a:latin typeface="Calibri"/>
                <a:cs typeface="Calibri"/>
              </a:rPr>
              <a:t>and</a:t>
            </a:r>
            <a:r>
              <a:rPr sz="2200" spc="385" dirty="0">
                <a:latin typeface="Calibri"/>
                <a:cs typeface="Calibri"/>
              </a:rPr>
              <a:t> </a:t>
            </a:r>
            <a:r>
              <a:rPr sz="2200" dirty="0">
                <a:latin typeface="Calibri"/>
                <a:cs typeface="Calibri"/>
              </a:rPr>
              <a:t>their</a:t>
            </a:r>
            <a:r>
              <a:rPr sz="2200" spc="390" dirty="0">
                <a:latin typeface="Calibri"/>
                <a:cs typeface="Calibri"/>
              </a:rPr>
              <a:t> </a:t>
            </a:r>
            <a:r>
              <a:rPr sz="2200" dirty="0">
                <a:latin typeface="Calibri"/>
                <a:cs typeface="Calibri"/>
              </a:rPr>
              <a:t>commitments</a:t>
            </a:r>
            <a:r>
              <a:rPr sz="2200" spc="400" dirty="0">
                <a:latin typeface="Calibri"/>
                <a:cs typeface="Calibri"/>
              </a:rPr>
              <a:t> </a:t>
            </a:r>
            <a:r>
              <a:rPr sz="2200" spc="-25" dirty="0">
                <a:latin typeface="Calibri"/>
                <a:cs typeface="Calibri"/>
              </a:rPr>
              <a:t>to </a:t>
            </a:r>
            <a:r>
              <a:rPr sz="2200" dirty="0">
                <a:latin typeface="Calibri"/>
                <a:cs typeface="Calibri"/>
              </a:rPr>
              <a:t>other</a:t>
            </a:r>
            <a:r>
              <a:rPr sz="2200" spc="-40" dirty="0">
                <a:latin typeface="Calibri"/>
                <a:cs typeface="Calibri"/>
              </a:rPr>
              <a:t> </a:t>
            </a:r>
            <a:r>
              <a:rPr sz="2200" spc="-10" dirty="0">
                <a:latin typeface="Calibri"/>
                <a:cs typeface="Calibri"/>
              </a:rPr>
              <a:t>clients.</a:t>
            </a:r>
            <a:endParaRPr sz="2200" dirty="0">
              <a:latin typeface="Calibri"/>
              <a:cs typeface="Calibri"/>
            </a:endParaRPr>
          </a:p>
          <a:p>
            <a:pPr marL="241300" marR="5080" indent="-228600" algn="just">
              <a:lnSpc>
                <a:spcPct val="89100"/>
              </a:lnSpc>
              <a:spcBef>
                <a:spcPts val="1035"/>
              </a:spcBef>
              <a:buFont typeface="Courier New"/>
              <a:buChar char="o"/>
              <a:tabLst>
                <a:tab pos="241300" algn="l"/>
              </a:tabLst>
            </a:pPr>
            <a:r>
              <a:rPr sz="2200" b="1" dirty="0">
                <a:solidFill>
                  <a:srgbClr val="C00000"/>
                </a:solidFill>
                <a:latin typeface="Calibri"/>
                <a:cs typeface="Calibri"/>
              </a:rPr>
              <a:t>Government</a:t>
            </a:r>
            <a:r>
              <a:rPr sz="2200" b="1" spc="250" dirty="0">
                <a:solidFill>
                  <a:srgbClr val="C00000"/>
                </a:solidFill>
                <a:latin typeface="Calibri"/>
                <a:cs typeface="Calibri"/>
              </a:rPr>
              <a:t> </a:t>
            </a:r>
            <a:r>
              <a:rPr sz="2200" b="1" dirty="0">
                <a:solidFill>
                  <a:srgbClr val="C00000"/>
                </a:solidFill>
                <a:latin typeface="Calibri"/>
                <a:cs typeface="Calibri"/>
              </a:rPr>
              <a:t>agencies</a:t>
            </a:r>
            <a:r>
              <a:rPr sz="2200" b="1" spc="250" dirty="0">
                <a:solidFill>
                  <a:srgbClr val="C00000"/>
                </a:solidFill>
                <a:latin typeface="Calibri"/>
                <a:cs typeface="Calibri"/>
              </a:rPr>
              <a:t> </a:t>
            </a:r>
            <a:r>
              <a:rPr sz="2200" dirty="0">
                <a:latin typeface="Calibri"/>
                <a:cs typeface="Calibri"/>
              </a:rPr>
              <a:t>place</a:t>
            </a:r>
            <a:r>
              <a:rPr sz="2200" spc="245" dirty="0">
                <a:latin typeface="Calibri"/>
                <a:cs typeface="Calibri"/>
              </a:rPr>
              <a:t> </a:t>
            </a:r>
            <a:r>
              <a:rPr sz="2200" dirty="0">
                <a:latin typeface="Calibri"/>
                <a:cs typeface="Calibri"/>
              </a:rPr>
              <a:t>constraints</a:t>
            </a:r>
            <a:r>
              <a:rPr sz="2200" spc="260" dirty="0">
                <a:latin typeface="Calibri"/>
                <a:cs typeface="Calibri"/>
              </a:rPr>
              <a:t> </a:t>
            </a:r>
            <a:r>
              <a:rPr sz="2200" dirty="0">
                <a:latin typeface="Calibri"/>
                <a:cs typeface="Calibri"/>
              </a:rPr>
              <a:t>on</a:t>
            </a:r>
            <a:r>
              <a:rPr sz="2200" spc="250" dirty="0">
                <a:latin typeface="Calibri"/>
                <a:cs typeface="Calibri"/>
              </a:rPr>
              <a:t> </a:t>
            </a:r>
            <a:r>
              <a:rPr sz="2200" dirty="0">
                <a:latin typeface="Calibri"/>
                <a:cs typeface="Calibri"/>
              </a:rPr>
              <a:t>project</a:t>
            </a:r>
            <a:r>
              <a:rPr sz="2200" spc="250" dirty="0">
                <a:latin typeface="Calibri"/>
                <a:cs typeface="Calibri"/>
              </a:rPr>
              <a:t> </a:t>
            </a:r>
            <a:r>
              <a:rPr sz="2200" dirty="0">
                <a:latin typeface="Calibri"/>
                <a:cs typeface="Calibri"/>
              </a:rPr>
              <a:t>work.</a:t>
            </a:r>
            <a:r>
              <a:rPr sz="2200" spc="245" dirty="0">
                <a:latin typeface="Calibri"/>
                <a:cs typeface="Calibri"/>
              </a:rPr>
              <a:t> </a:t>
            </a:r>
            <a:r>
              <a:rPr sz="2200" dirty="0">
                <a:latin typeface="Calibri"/>
                <a:cs typeface="Calibri"/>
              </a:rPr>
              <a:t>Permits</a:t>
            </a:r>
            <a:r>
              <a:rPr sz="2200" spc="254" dirty="0">
                <a:latin typeface="Calibri"/>
                <a:cs typeface="Calibri"/>
              </a:rPr>
              <a:t> </a:t>
            </a:r>
            <a:r>
              <a:rPr sz="2200" dirty="0">
                <a:latin typeface="Calibri"/>
                <a:cs typeface="Calibri"/>
              </a:rPr>
              <a:t>need</a:t>
            </a:r>
            <a:r>
              <a:rPr sz="2200" spc="250" dirty="0">
                <a:latin typeface="Calibri"/>
                <a:cs typeface="Calibri"/>
              </a:rPr>
              <a:t> </a:t>
            </a:r>
            <a:r>
              <a:rPr sz="2200" dirty="0">
                <a:latin typeface="Calibri"/>
                <a:cs typeface="Calibri"/>
              </a:rPr>
              <a:t>to</a:t>
            </a:r>
            <a:r>
              <a:rPr sz="2200" spc="254" dirty="0">
                <a:latin typeface="Calibri"/>
                <a:cs typeface="Calibri"/>
              </a:rPr>
              <a:t> </a:t>
            </a:r>
            <a:r>
              <a:rPr sz="2200" dirty="0">
                <a:latin typeface="Calibri"/>
                <a:cs typeface="Calibri"/>
              </a:rPr>
              <a:t>be</a:t>
            </a:r>
            <a:r>
              <a:rPr sz="2200" spc="254" dirty="0">
                <a:latin typeface="Calibri"/>
                <a:cs typeface="Calibri"/>
              </a:rPr>
              <a:t> </a:t>
            </a:r>
            <a:r>
              <a:rPr sz="2200" spc="-10" dirty="0">
                <a:latin typeface="Calibri"/>
                <a:cs typeface="Calibri"/>
              </a:rPr>
              <a:t>secured. </a:t>
            </a:r>
            <a:r>
              <a:rPr sz="2200" dirty="0">
                <a:latin typeface="Calibri"/>
                <a:cs typeface="Calibri"/>
              </a:rPr>
              <a:t>Construction</a:t>
            </a:r>
            <a:r>
              <a:rPr sz="2200" spc="-45" dirty="0">
                <a:latin typeface="Calibri"/>
                <a:cs typeface="Calibri"/>
              </a:rPr>
              <a:t> </a:t>
            </a:r>
            <a:r>
              <a:rPr sz="2200" dirty="0">
                <a:latin typeface="Calibri"/>
                <a:cs typeface="Calibri"/>
              </a:rPr>
              <a:t>work</a:t>
            </a:r>
            <a:r>
              <a:rPr sz="2200" spc="-40" dirty="0">
                <a:latin typeface="Calibri"/>
                <a:cs typeface="Calibri"/>
              </a:rPr>
              <a:t> </a:t>
            </a:r>
            <a:r>
              <a:rPr sz="2200" dirty="0">
                <a:latin typeface="Calibri"/>
                <a:cs typeface="Calibri"/>
              </a:rPr>
              <a:t>has</a:t>
            </a:r>
            <a:r>
              <a:rPr sz="2200" spc="-40"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be</a:t>
            </a:r>
            <a:r>
              <a:rPr sz="2200" spc="-40" dirty="0">
                <a:latin typeface="Calibri"/>
                <a:cs typeface="Calibri"/>
              </a:rPr>
              <a:t> </a:t>
            </a:r>
            <a:r>
              <a:rPr sz="2200" dirty="0">
                <a:latin typeface="Calibri"/>
                <a:cs typeface="Calibri"/>
              </a:rPr>
              <a:t>built</a:t>
            </a:r>
            <a:r>
              <a:rPr sz="2200" spc="-45"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code.</a:t>
            </a:r>
            <a:r>
              <a:rPr sz="2200" spc="-45" dirty="0">
                <a:latin typeface="Calibri"/>
                <a:cs typeface="Calibri"/>
              </a:rPr>
              <a:t> </a:t>
            </a:r>
            <a:r>
              <a:rPr sz="2200" dirty="0">
                <a:latin typeface="Calibri"/>
                <a:cs typeface="Calibri"/>
              </a:rPr>
              <a:t>Other</a:t>
            </a:r>
            <a:r>
              <a:rPr sz="2200" spc="-45" dirty="0">
                <a:latin typeface="Calibri"/>
                <a:cs typeface="Calibri"/>
              </a:rPr>
              <a:t> </a:t>
            </a:r>
            <a:r>
              <a:rPr sz="2200" dirty="0">
                <a:latin typeface="Calibri"/>
                <a:cs typeface="Calibri"/>
              </a:rPr>
              <a:t>products</a:t>
            </a:r>
            <a:r>
              <a:rPr sz="2200" spc="-45" dirty="0">
                <a:latin typeface="Calibri"/>
                <a:cs typeface="Calibri"/>
              </a:rPr>
              <a:t> </a:t>
            </a:r>
            <a:r>
              <a:rPr sz="2200" dirty="0">
                <a:latin typeface="Calibri"/>
                <a:cs typeface="Calibri"/>
              </a:rPr>
              <a:t>have</a:t>
            </a:r>
            <a:r>
              <a:rPr sz="2200" spc="-35"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meet</a:t>
            </a:r>
            <a:r>
              <a:rPr sz="2200" spc="-40" dirty="0">
                <a:latin typeface="Calibri"/>
                <a:cs typeface="Calibri"/>
              </a:rPr>
              <a:t> </a:t>
            </a:r>
            <a:r>
              <a:rPr sz="2200" dirty="0">
                <a:latin typeface="Calibri"/>
                <a:cs typeface="Calibri"/>
              </a:rPr>
              <a:t>safety</a:t>
            </a:r>
            <a:r>
              <a:rPr sz="2200" spc="-35" dirty="0">
                <a:latin typeface="Calibri"/>
                <a:cs typeface="Calibri"/>
              </a:rPr>
              <a:t> </a:t>
            </a:r>
            <a:r>
              <a:rPr sz="2200" spc="-10" dirty="0">
                <a:latin typeface="Calibri"/>
                <a:cs typeface="Calibri"/>
              </a:rPr>
              <a:t>standards, </a:t>
            </a:r>
            <a:r>
              <a:rPr sz="2200" dirty="0">
                <a:latin typeface="Calibri"/>
                <a:cs typeface="Calibri"/>
              </a:rPr>
              <a:t>for</a:t>
            </a:r>
            <a:r>
              <a:rPr sz="2200" spc="-60" dirty="0">
                <a:latin typeface="Calibri"/>
                <a:cs typeface="Calibri"/>
              </a:rPr>
              <a:t> </a:t>
            </a:r>
            <a:r>
              <a:rPr sz="2200" spc="-10" dirty="0">
                <a:latin typeface="Calibri"/>
                <a:cs typeface="Calibri"/>
              </a:rPr>
              <a:t>example,</a:t>
            </a:r>
            <a:r>
              <a:rPr sz="2200" spc="-50" dirty="0">
                <a:latin typeface="Calibri"/>
                <a:cs typeface="Calibri"/>
              </a:rPr>
              <a:t> </a:t>
            </a:r>
            <a:r>
              <a:rPr sz="2200" spc="-10" dirty="0">
                <a:latin typeface="Calibri"/>
                <a:cs typeface="Calibri"/>
              </a:rPr>
              <a:t>Occupational</a:t>
            </a:r>
            <a:r>
              <a:rPr sz="2200" spc="-55" dirty="0">
                <a:latin typeface="Calibri"/>
                <a:cs typeface="Calibri"/>
              </a:rPr>
              <a:t> </a:t>
            </a:r>
            <a:r>
              <a:rPr sz="2200" dirty="0">
                <a:latin typeface="Calibri"/>
                <a:cs typeface="Calibri"/>
              </a:rPr>
              <a:t>Safety</a:t>
            </a:r>
            <a:r>
              <a:rPr sz="2200" spc="-50" dirty="0">
                <a:latin typeface="Calibri"/>
                <a:cs typeface="Calibri"/>
              </a:rPr>
              <a:t> </a:t>
            </a:r>
            <a:r>
              <a:rPr sz="2200" dirty="0">
                <a:latin typeface="Calibri"/>
                <a:cs typeface="Calibri"/>
              </a:rPr>
              <a:t>and</a:t>
            </a:r>
            <a:r>
              <a:rPr sz="2200" spc="-55" dirty="0">
                <a:latin typeface="Calibri"/>
                <a:cs typeface="Calibri"/>
              </a:rPr>
              <a:t> </a:t>
            </a:r>
            <a:r>
              <a:rPr sz="2200" dirty="0">
                <a:latin typeface="Calibri"/>
                <a:cs typeface="Calibri"/>
              </a:rPr>
              <a:t>Health</a:t>
            </a:r>
            <a:r>
              <a:rPr sz="2200" spc="-60" dirty="0">
                <a:latin typeface="Calibri"/>
                <a:cs typeface="Calibri"/>
              </a:rPr>
              <a:t> </a:t>
            </a:r>
            <a:r>
              <a:rPr sz="2200" spc="-10" dirty="0">
                <a:latin typeface="Calibri"/>
                <a:cs typeface="Calibri"/>
              </a:rPr>
              <a:t>Administration</a:t>
            </a:r>
            <a:r>
              <a:rPr sz="2200" spc="-55" dirty="0">
                <a:latin typeface="Calibri"/>
                <a:cs typeface="Calibri"/>
              </a:rPr>
              <a:t> </a:t>
            </a:r>
            <a:r>
              <a:rPr sz="2200" spc="-10" dirty="0">
                <a:latin typeface="Calibri"/>
                <a:cs typeface="Calibri"/>
              </a:rPr>
              <a:t>standards.</a:t>
            </a:r>
            <a:endParaRPr sz="2200" dirty="0">
              <a:latin typeface="Calibri"/>
              <a:cs typeface="Calibri"/>
            </a:endParaRPr>
          </a:p>
          <a:p>
            <a:pPr marL="241300" marR="5080" indent="-228600" algn="just">
              <a:lnSpc>
                <a:spcPts val="2400"/>
              </a:lnSpc>
              <a:spcBef>
                <a:spcPts val="1045"/>
              </a:spcBef>
              <a:buFont typeface="Courier New"/>
              <a:buChar char="o"/>
              <a:tabLst>
                <a:tab pos="241300" algn="l"/>
              </a:tabLst>
            </a:pPr>
            <a:r>
              <a:rPr sz="2200" b="1" dirty="0">
                <a:solidFill>
                  <a:srgbClr val="C00000"/>
                </a:solidFill>
                <a:latin typeface="Calibri"/>
                <a:cs typeface="Calibri"/>
              </a:rPr>
              <a:t>Other</a:t>
            </a:r>
            <a:r>
              <a:rPr sz="2200" b="1" spc="145" dirty="0">
                <a:solidFill>
                  <a:srgbClr val="C00000"/>
                </a:solidFill>
                <a:latin typeface="Calibri"/>
                <a:cs typeface="Calibri"/>
              </a:rPr>
              <a:t> </a:t>
            </a:r>
            <a:r>
              <a:rPr sz="2200" b="1" dirty="0">
                <a:solidFill>
                  <a:srgbClr val="C00000"/>
                </a:solidFill>
                <a:latin typeface="Calibri"/>
                <a:cs typeface="Calibri"/>
              </a:rPr>
              <a:t>organizations,</a:t>
            </a:r>
            <a:r>
              <a:rPr sz="2200" b="1" spc="145" dirty="0">
                <a:solidFill>
                  <a:srgbClr val="C00000"/>
                </a:solidFill>
                <a:latin typeface="Calibri"/>
                <a:cs typeface="Calibri"/>
              </a:rPr>
              <a:t> </a:t>
            </a:r>
            <a:r>
              <a:rPr sz="2200" dirty="0">
                <a:latin typeface="Calibri"/>
                <a:cs typeface="Calibri"/>
              </a:rPr>
              <a:t>depending</a:t>
            </a:r>
            <a:r>
              <a:rPr sz="2200" spc="145" dirty="0">
                <a:latin typeface="Calibri"/>
                <a:cs typeface="Calibri"/>
              </a:rPr>
              <a:t> </a:t>
            </a:r>
            <a:r>
              <a:rPr sz="2200" dirty="0">
                <a:latin typeface="Calibri"/>
                <a:cs typeface="Calibri"/>
              </a:rPr>
              <a:t>on</a:t>
            </a:r>
            <a:r>
              <a:rPr sz="2200" spc="140" dirty="0">
                <a:latin typeface="Calibri"/>
                <a:cs typeface="Calibri"/>
              </a:rPr>
              <a:t> </a:t>
            </a:r>
            <a:r>
              <a:rPr sz="2200" dirty="0">
                <a:latin typeface="Calibri"/>
                <a:cs typeface="Calibri"/>
              </a:rPr>
              <a:t>the</a:t>
            </a:r>
            <a:r>
              <a:rPr sz="2200" spc="150" dirty="0">
                <a:latin typeface="Calibri"/>
                <a:cs typeface="Calibri"/>
              </a:rPr>
              <a:t> </a:t>
            </a:r>
            <a:r>
              <a:rPr sz="2200" dirty="0">
                <a:latin typeface="Calibri"/>
                <a:cs typeface="Calibri"/>
              </a:rPr>
              <a:t>nature</a:t>
            </a:r>
            <a:r>
              <a:rPr sz="2200" spc="150" dirty="0">
                <a:latin typeface="Calibri"/>
                <a:cs typeface="Calibri"/>
              </a:rPr>
              <a:t> </a:t>
            </a:r>
            <a:r>
              <a:rPr sz="2200" dirty="0">
                <a:latin typeface="Calibri"/>
                <a:cs typeface="Calibri"/>
              </a:rPr>
              <a:t>of</a:t>
            </a:r>
            <a:r>
              <a:rPr sz="2200" spc="145" dirty="0">
                <a:latin typeface="Calibri"/>
                <a:cs typeface="Calibri"/>
              </a:rPr>
              <a:t> </a:t>
            </a:r>
            <a:r>
              <a:rPr sz="2200" dirty="0">
                <a:latin typeface="Calibri"/>
                <a:cs typeface="Calibri"/>
              </a:rPr>
              <a:t>the</a:t>
            </a:r>
            <a:r>
              <a:rPr sz="2200" spc="150" dirty="0">
                <a:latin typeface="Calibri"/>
                <a:cs typeface="Calibri"/>
              </a:rPr>
              <a:t> </a:t>
            </a:r>
            <a:r>
              <a:rPr sz="2200" dirty="0">
                <a:latin typeface="Calibri"/>
                <a:cs typeface="Calibri"/>
              </a:rPr>
              <a:t>project,</a:t>
            </a:r>
            <a:r>
              <a:rPr sz="2200" spc="145" dirty="0">
                <a:latin typeface="Calibri"/>
                <a:cs typeface="Calibri"/>
              </a:rPr>
              <a:t> </a:t>
            </a:r>
            <a:r>
              <a:rPr sz="2200" dirty="0">
                <a:latin typeface="Calibri"/>
                <a:cs typeface="Calibri"/>
              </a:rPr>
              <a:t>may</a:t>
            </a:r>
            <a:r>
              <a:rPr sz="2200" spc="150" dirty="0">
                <a:latin typeface="Calibri"/>
                <a:cs typeface="Calibri"/>
              </a:rPr>
              <a:t> </a:t>
            </a:r>
            <a:r>
              <a:rPr sz="2200" dirty="0">
                <a:latin typeface="Calibri"/>
                <a:cs typeface="Calibri"/>
              </a:rPr>
              <a:t>directly</a:t>
            </a:r>
            <a:r>
              <a:rPr sz="2200" spc="150" dirty="0">
                <a:latin typeface="Calibri"/>
                <a:cs typeface="Calibri"/>
              </a:rPr>
              <a:t> </a:t>
            </a:r>
            <a:r>
              <a:rPr sz="2200" dirty="0">
                <a:latin typeface="Calibri"/>
                <a:cs typeface="Calibri"/>
              </a:rPr>
              <a:t>or</a:t>
            </a:r>
            <a:r>
              <a:rPr sz="2200" spc="135" dirty="0">
                <a:latin typeface="Calibri"/>
                <a:cs typeface="Calibri"/>
              </a:rPr>
              <a:t> </a:t>
            </a:r>
            <a:r>
              <a:rPr sz="2200" spc="-10" dirty="0">
                <a:latin typeface="Calibri"/>
                <a:cs typeface="Calibri"/>
              </a:rPr>
              <a:t>indirectly </a:t>
            </a:r>
            <a:r>
              <a:rPr sz="2200" dirty="0">
                <a:latin typeface="Calibri"/>
                <a:cs typeface="Calibri"/>
              </a:rPr>
              <a:t>affect</a:t>
            </a:r>
            <a:r>
              <a:rPr sz="2200" spc="25" dirty="0">
                <a:latin typeface="Calibri"/>
                <a:cs typeface="Calibri"/>
              </a:rPr>
              <a:t>  </a:t>
            </a:r>
            <a:r>
              <a:rPr sz="2200" dirty="0">
                <a:latin typeface="Calibri"/>
                <a:cs typeface="Calibri"/>
              </a:rPr>
              <a:t>the</a:t>
            </a:r>
            <a:r>
              <a:rPr sz="2200" spc="35" dirty="0">
                <a:latin typeface="Calibri"/>
                <a:cs typeface="Calibri"/>
              </a:rPr>
              <a:t>  </a:t>
            </a:r>
            <a:r>
              <a:rPr sz="2200" dirty="0">
                <a:latin typeface="Calibri"/>
                <a:cs typeface="Calibri"/>
              </a:rPr>
              <a:t>project.</a:t>
            </a:r>
            <a:r>
              <a:rPr sz="2200" spc="25" dirty="0">
                <a:latin typeface="Calibri"/>
                <a:cs typeface="Calibri"/>
              </a:rPr>
              <a:t>  </a:t>
            </a:r>
            <a:r>
              <a:rPr sz="2200" dirty="0">
                <a:latin typeface="Calibri"/>
                <a:cs typeface="Calibri"/>
              </a:rPr>
              <a:t>For</a:t>
            </a:r>
            <a:r>
              <a:rPr sz="2200" spc="30" dirty="0">
                <a:latin typeface="Calibri"/>
                <a:cs typeface="Calibri"/>
              </a:rPr>
              <a:t>  </a:t>
            </a:r>
            <a:r>
              <a:rPr sz="2200" dirty="0">
                <a:latin typeface="Calibri"/>
                <a:cs typeface="Calibri"/>
              </a:rPr>
              <a:t>example,</a:t>
            </a:r>
            <a:r>
              <a:rPr sz="2200" spc="30" dirty="0">
                <a:latin typeface="Calibri"/>
                <a:cs typeface="Calibri"/>
              </a:rPr>
              <a:t>  </a:t>
            </a:r>
            <a:r>
              <a:rPr sz="2200" dirty="0">
                <a:latin typeface="Calibri"/>
                <a:cs typeface="Calibri"/>
              </a:rPr>
              <a:t>suppliers</a:t>
            </a:r>
            <a:r>
              <a:rPr sz="2200" spc="30" dirty="0">
                <a:latin typeface="Calibri"/>
                <a:cs typeface="Calibri"/>
              </a:rPr>
              <a:t>  </a:t>
            </a:r>
            <a:r>
              <a:rPr sz="2200" dirty="0">
                <a:latin typeface="Calibri"/>
                <a:cs typeface="Calibri"/>
              </a:rPr>
              <a:t>,</a:t>
            </a:r>
            <a:r>
              <a:rPr sz="2200" spc="35" dirty="0">
                <a:latin typeface="Calibri"/>
                <a:cs typeface="Calibri"/>
              </a:rPr>
              <a:t>  </a:t>
            </a:r>
            <a:r>
              <a:rPr sz="2200" dirty="0">
                <a:latin typeface="Calibri"/>
                <a:cs typeface="Calibri"/>
              </a:rPr>
              <a:t>public</a:t>
            </a:r>
            <a:r>
              <a:rPr sz="2200" spc="25" dirty="0">
                <a:latin typeface="Calibri"/>
                <a:cs typeface="Calibri"/>
              </a:rPr>
              <a:t>  </a:t>
            </a:r>
            <a:r>
              <a:rPr sz="2200" dirty="0">
                <a:latin typeface="Calibri"/>
                <a:cs typeface="Calibri"/>
              </a:rPr>
              <a:t>interest</a:t>
            </a:r>
            <a:r>
              <a:rPr sz="2200" spc="30" dirty="0">
                <a:latin typeface="Calibri"/>
                <a:cs typeface="Calibri"/>
              </a:rPr>
              <a:t>  </a:t>
            </a:r>
            <a:r>
              <a:rPr sz="2200" dirty="0">
                <a:latin typeface="Calibri"/>
                <a:cs typeface="Calibri"/>
              </a:rPr>
              <a:t>groups,</a:t>
            </a:r>
            <a:r>
              <a:rPr sz="2200" spc="30" dirty="0">
                <a:latin typeface="Calibri"/>
                <a:cs typeface="Calibri"/>
              </a:rPr>
              <a:t>  </a:t>
            </a:r>
            <a:r>
              <a:rPr sz="2200" dirty="0">
                <a:latin typeface="Calibri"/>
                <a:cs typeface="Calibri"/>
              </a:rPr>
              <a:t>consultants</a:t>
            </a:r>
            <a:r>
              <a:rPr sz="2200" spc="30" dirty="0">
                <a:latin typeface="Calibri"/>
                <a:cs typeface="Calibri"/>
              </a:rPr>
              <a:t>  </a:t>
            </a:r>
            <a:r>
              <a:rPr sz="2200" spc="-25" dirty="0">
                <a:latin typeface="Calibri"/>
                <a:cs typeface="Calibri"/>
              </a:rPr>
              <a:t>and </a:t>
            </a:r>
            <a:r>
              <a:rPr sz="2200" dirty="0">
                <a:latin typeface="Calibri"/>
                <a:cs typeface="Calibri"/>
              </a:rPr>
              <a:t>auditors</a:t>
            </a:r>
            <a:r>
              <a:rPr sz="2200" spc="-50"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protect</a:t>
            </a:r>
            <a:r>
              <a:rPr sz="2200" spc="-50" dirty="0">
                <a:latin typeface="Calibri"/>
                <a:cs typeface="Calibri"/>
              </a:rPr>
              <a:t> </a:t>
            </a:r>
            <a:r>
              <a:rPr sz="2200" dirty="0">
                <a:latin typeface="Calibri"/>
                <a:cs typeface="Calibri"/>
              </a:rPr>
              <a:t>their</a:t>
            </a:r>
            <a:r>
              <a:rPr sz="2200" spc="-55" dirty="0">
                <a:latin typeface="Calibri"/>
                <a:cs typeface="Calibri"/>
              </a:rPr>
              <a:t> </a:t>
            </a:r>
            <a:r>
              <a:rPr sz="2200" spc="-10" dirty="0">
                <a:latin typeface="Calibri"/>
                <a:cs typeface="Calibri"/>
              </a:rPr>
              <a:t>interests</a:t>
            </a:r>
            <a:r>
              <a:rPr sz="2200" spc="-50" dirty="0">
                <a:latin typeface="Calibri"/>
                <a:cs typeface="Calibri"/>
              </a:rPr>
              <a:t> </a:t>
            </a:r>
            <a:r>
              <a:rPr sz="2200" dirty="0">
                <a:latin typeface="Calibri"/>
                <a:cs typeface="Calibri"/>
              </a:rPr>
              <a:t>on</a:t>
            </a:r>
            <a:r>
              <a:rPr sz="2200" spc="-60" dirty="0">
                <a:latin typeface="Calibri"/>
                <a:cs typeface="Calibri"/>
              </a:rPr>
              <a:t> </a:t>
            </a:r>
            <a:r>
              <a:rPr sz="2200" dirty="0">
                <a:latin typeface="Calibri"/>
                <a:cs typeface="Calibri"/>
              </a:rPr>
              <a:t>a</a:t>
            </a:r>
            <a:r>
              <a:rPr sz="2200" spc="-55" dirty="0">
                <a:latin typeface="Calibri"/>
                <a:cs typeface="Calibri"/>
              </a:rPr>
              <a:t> </a:t>
            </a:r>
            <a:r>
              <a:rPr sz="2200" spc="-10" dirty="0">
                <a:latin typeface="Calibri"/>
                <a:cs typeface="Calibri"/>
              </a:rPr>
              <a:t>project.</a:t>
            </a:r>
            <a:endParaRPr sz="2200" dirty="0">
              <a:latin typeface="Calibri"/>
              <a:cs typeface="Calibri"/>
            </a:endParaRPr>
          </a:p>
          <a:p>
            <a:pPr marL="241300" marR="5080" indent="-228600" algn="just">
              <a:lnSpc>
                <a:spcPts val="2400"/>
              </a:lnSpc>
              <a:spcBef>
                <a:spcPts val="890"/>
              </a:spcBef>
              <a:buFont typeface="Courier New"/>
              <a:buChar char="o"/>
              <a:tabLst>
                <a:tab pos="241300" algn="l"/>
              </a:tabLst>
            </a:pPr>
            <a:r>
              <a:rPr sz="2200" b="1" dirty="0">
                <a:solidFill>
                  <a:srgbClr val="C00000"/>
                </a:solidFill>
                <a:latin typeface="Calibri"/>
                <a:cs typeface="Calibri"/>
              </a:rPr>
              <a:t>Customers</a:t>
            </a:r>
            <a:r>
              <a:rPr sz="2200" b="1" spc="235" dirty="0">
                <a:solidFill>
                  <a:srgbClr val="C00000"/>
                </a:solidFill>
                <a:latin typeface="Calibri"/>
                <a:cs typeface="Calibri"/>
              </a:rPr>
              <a:t> </a:t>
            </a:r>
            <a:r>
              <a:rPr sz="2200" dirty="0">
                <a:latin typeface="Calibri"/>
                <a:cs typeface="Calibri"/>
              </a:rPr>
              <a:t>define</a:t>
            </a:r>
            <a:r>
              <a:rPr sz="2200" spc="245" dirty="0">
                <a:latin typeface="Calibri"/>
                <a:cs typeface="Calibri"/>
              </a:rPr>
              <a:t> </a:t>
            </a:r>
            <a:r>
              <a:rPr sz="2200" dirty="0">
                <a:latin typeface="Calibri"/>
                <a:cs typeface="Calibri"/>
              </a:rPr>
              <a:t>the</a:t>
            </a:r>
            <a:r>
              <a:rPr sz="2200" spc="245" dirty="0">
                <a:latin typeface="Calibri"/>
                <a:cs typeface="Calibri"/>
              </a:rPr>
              <a:t> </a:t>
            </a:r>
            <a:r>
              <a:rPr sz="2200" dirty="0">
                <a:latin typeface="Calibri"/>
                <a:cs typeface="Calibri"/>
              </a:rPr>
              <a:t>scope</a:t>
            </a:r>
            <a:r>
              <a:rPr sz="2200" spc="245" dirty="0">
                <a:latin typeface="Calibri"/>
                <a:cs typeface="Calibri"/>
              </a:rPr>
              <a:t> </a:t>
            </a:r>
            <a:r>
              <a:rPr sz="2200" dirty="0">
                <a:latin typeface="Calibri"/>
                <a:cs typeface="Calibri"/>
              </a:rPr>
              <a:t>of</a:t>
            </a:r>
            <a:r>
              <a:rPr sz="2200" spc="245" dirty="0">
                <a:latin typeface="Calibri"/>
                <a:cs typeface="Calibri"/>
              </a:rPr>
              <a:t> </a:t>
            </a:r>
            <a:r>
              <a:rPr sz="2200" dirty="0">
                <a:latin typeface="Calibri"/>
                <a:cs typeface="Calibri"/>
              </a:rPr>
              <a:t>the</a:t>
            </a:r>
            <a:r>
              <a:rPr sz="2200" spc="245" dirty="0">
                <a:latin typeface="Calibri"/>
                <a:cs typeface="Calibri"/>
              </a:rPr>
              <a:t> </a:t>
            </a:r>
            <a:r>
              <a:rPr sz="2200" dirty="0">
                <a:latin typeface="Calibri"/>
                <a:cs typeface="Calibri"/>
              </a:rPr>
              <a:t>project,</a:t>
            </a:r>
            <a:r>
              <a:rPr sz="2200" spc="240" dirty="0">
                <a:latin typeface="Calibri"/>
                <a:cs typeface="Calibri"/>
              </a:rPr>
              <a:t> </a:t>
            </a:r>
            <a:r>
              <a:rPr sz="2200" dirty="0">
                <a:latin typeface="Calibri"/>
                <a:cs typeface="Calibri"/>
              </a:rPr>
              <a:t>and</a:t>
            </a:r>
            <a:r>
              <a:rPr sz="2200" spc="235" dirty="0">
                <a:latin typeface="Calibri"/>
                <a:cs typeface="Calibri"/>
              </a:rPr>
              <a:t> </a:t>
            </a:r>
            <a:r>
              <a:rPr sz="2200" dirty="0">
                <a:latin typeface="Calibri"/>
                <a:cs typeface="Calibri"/>
              </a:rPr>
              <a:t>ultimate</a:t>
            </a:r>
            <a:r>
              <a:rPr sz="2200" spc="245" dirty="0">
                <a:latin typeface="Calibri"/>
                <a:cs typeface="Calibri"/>
              </a:rPr>
              <a:t> </a:t>
            </a:r>
            <a:r>
              <a:rPr sz="2200" dirty="0">
                <a:latin typeface="Calibri"/>
                <a:cs typeface="Calibri"/>
              </a:rPr>
              <a:t>project</a:t>
            </a:r>
            <a:r>
              <a:rPr sz="2200" spc="240" dirty="0">
                <a:latin typeface="Calibri"/>
                <a:cs typeface="Calibri"/>
              </a:rPr>
              <a:t> </a:t>
            </a:r>
            <a:r>
              <a:rPr sz="2200" dirty="0">
                <a:latin typeface="Calibri"/>
                <a:cs typeface="Calibri"/>
              </a:rPr>
              <a:t>success</a:t>
            </a:r>
            <a:r>
              <a:rPr sz="2200" spc="245" dirty="0">
                <a:latin typeface="Calibri"/>
                <a:cs typeface="Calibri"/>
              </a:rPr>
              <a:t> </a:t>
            </a:r>
            <a:r>
              <a:rPr sz="2200" dirty="0">
                <a:latin typeface="Calibri"/>
                <a:cs typeface="Calibri"/>
              </a:rPr>
              <a:t>rests</a:t>
            </a:r>
            <a:r>
              <a:rPr sz="2200" spc="240" dirty="0">
                <a:latin typeface="Calibri"/>
                <a:cs typeface="Calibri"/>
              </a:rPr>
              <a:t> </a:t>
            </a:r>
            <a:r>
              <a:rPr sz="2200" dirty="0">
                <a:latin typeface="Calibri"/>
                <a:cs typeface="Calibri"/>
              </a:rPr>
              <a:t>in</a:t>
            </a:r>
            <a:r>
              <a:rPr sz="2200" spc="240" dirty="0">
                <a:latin typeface="Calibri"/>
                <a:cs typeface="Calibri"/>
              </a:rPr>
              <a:t> </a:t>
            </a:r>
            <a:r>
              <a:rPr sz="2200" spc="-10" dirty="0">
                <a:latin typeface="Calibri"/>
                <a:cs typeface="Calibri"/>
              </a:rPr>
              <a:t>their </a:t>
            </a:r>
            <a:r>
              <a:rPr sz="2200" dirty="0">
                <a:latin typeface="Calibri"/>
                <a:cs typeface="Calibri"/>
              </a:rPr>
              <a:t>satisfaction.</a:t>
            </a:r>
            <a:r>
              <a:rPr sz="2200" spc="204" dirty="0">
                <a:latin typeface="Calibri"/>
                <a:cs typeface="Calibri"/>
              </a:rPr>
              <a:t> </a:t>
            </a:r>
            <a:r>
              <a:rPr sz="2200" dirty="0">
                <a:latin typeface="Calibri"/>
                <a:cs typeface="Calibri"/>
              </a:rPr>
              <a:t>Project</a:t>
            </a:r>
            <a:r>
              <a:rPr sz="2200" spc="210" dirty="0">
                <a:latin typeface="Calibri"/>
                <a:cs typeface="Calibri"/>
              </a:rPr>
              <a:t> </a:t>
            </a:r>
            <a:r>
              <a:rPr sz="2200" dirty="0">
                <a:latin typeface="Calibri"/>
                <a:cs typeface="Calibri"/>
              </a:rPr>
              <a:t>managers</a:t>
            </a:r>
            <a:r>
              <a:rPr sz="2200" spc="220" dirty="0">
                <a:latin typeface="Calibri"/>
                <a:cs typeface="Calibri"/>
              </a:rPr>
              <a:t> </a:t>
            </a:r>
            <a:r>
              <a:rPr sz="2200" dirty="0">
                <a:latin typeface="Calibri"/>
                <a:cs typeface="Calibri"/>
              </a:rPr>
              <a:t>need</a:t>
            </a:r>
            <a:r>
              <a:rPr sz="2200" spc="204" dirty="0">
                <a:latin typeface="Calibri"/>
                <a:cs typeface="Calibri"/>
              </a:rPr>
              <a:t> </a:t>
            </a:r>
            <a:r>
              <a:rPr sz="2200" dirty="0">
                <a:latin typeface="Calibri"/>
                <a:cs typeface="Calibri"/>
              </a:rPr>
              <a:t>to</a:t>
            </a:r>
            <a:r>
              <a:rPr sz="2200" spc="220" dirty="0">
                <a:latin typeface="Calibri"/>
                <a:cs typeface="Calibri"/>
              </a:rPr>
              <a:t> </a:t>
            </a:r>
            <a:r>
              <a:rPr sz="2200" dirty="0">
                <a:latin typeface="Calibri"/>
                <a:cs typeface="Calibri"/>
              </a:rPr>
              <a:t>be</a:t>
            </a:r>
            <a:r>
              <a:rPr sz="2200" spc="215" dirty="0">
                <a:latin typeface="Calibri"/>
                <a:cs typeface="Calibri"/>
              </a:rPr>
              <a:t> </a:t>
            </a:r>
            <a:r>
              <a:rPr sz="2200" dirty="0">
                <a:latin typeface="Calibri"/>
                <a:cs typeface="Calibri"/>
              </a:rPr>
              <a:t>responsive</a:t>
            </a:r>
            <a:r>
              <a:rPr sz="2200" spc="215" dirty="0">
                <a:latin typeface="Calibri"/>
                <a:cs typeface="Calibri"/>
              </a:rPr>
              <a:t> </a:t>
            </a:r>
            <a:r>
              <a:rPr sz="2200" dirty="0">
                <a:latin typeface="Calibri"/>
                <a:cs typeface="Calibri"/>
              </a:rPr>
              <a:t>to</a:t>
            </a:r>
            <a:r>
              <a:rPr sz="2200" spc="220" dirty="0">
                <a:latin typeface="Calibri"/>
                <a:cs typeface="Calibri"/>
              </a:rPr>
              <a:t> </a:t>
            </a:r>
            <a:r>
              <a:rPr sz="2200" dirty="0">
                <a:latin typeface="Calibri"/>
                <a:cs typeface="Calibri"/>
              </a:rPr>
              <a:t>changing</a:t>
            </a:r>
            <a:r>
              <a:rPr sz="2200" spc="210" dirty="0">
                <a:latin typeface="Calibri"/>
                <a:cs typeface="Calibri"/>
              </a:rPr>
              <a:t> </a:t>
            </a:r>
            <a:r>
              <a:rPr sz="2200" dirty="0">
                <a:latin typeface="Calibri"/>
                <a:cs typeface="Calibri"/>
              </a:rPr>
              <a:t>customer</a:t>
            </a:r>
            <a:r>
              <a:rPr sz="2200" spc="210" dirty="0">
                <a:latin typeface="Calibri"/>
                <a:cs typeface="Calibri"/>
              </a:rPr>
              <a:t> </a:t>
            </a:r>
            <a:r>
              <a:rPr sz="2200" dirty="0">
                <a:latin typeface="Calibri"/>
                <a:cs typeface="Calibri"/>
              </a:rPr>
              <a:t>needs</a:t>
            </a:r>
            <a:r>
              <a:rPr sz="2200" spc="210" dirty="0">
                <a:latin typeface="Calibri"/>
                <a:cs typeface="Calibri"/>
              </a:rPr>
              <a:t> </a:t>
            </a:r>
            <a:r>
              <a:rPr sz="2200" spc="-25" dirty="0">
                <a:latin typeface="Calibri"/>
                <a:cs typeface="Calibri"/>
              </a:rPr>
              <a:t>and </a:t>
            </a:r>
            <a:r>
              <a:rPr sz="2200" spc="-10" dirty="0">
                <a:latin typeface="Calibri"/>
                <a:cs typeface="Calibri"/>
              </a:rPr>
              <a:t>requirements</a:t>
            </a:r>
            <a:r>
              <a:rPr sz="2200" spc="-55" dirty="0">
                <a:latin typeface="Calibri"/>
                <a:cs typeface="Calibri"/>
              </a:rPr>
              <a:t> </a:t>
            </a:r>
            <a:r>
              <a:rPr sz="2200" dirty="0">
                <a:latin typeface="Calibri"/>
                <a:cs typeface="Calibri"/>
              </a:rPr>
              <a:t>and</a:t>
            </a:r>
            <a:r>
              <a:rPr sz="2200" spc="-60"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meeting</a:t>
            </a:r>
            <a:r>
              <a:rPr sz="2200" spc="-50" dirty="0">
                <a:latin typeface="Calibri"/>
                <a:cs typeface="Calibri"/>
              </a:rPr>
              <a:t> </a:t>
            </a:r>
            <a:r>
              <a:rPr sz="2200" dirty="0">
                <a:latin typeface="Calibri"/>
                <a:cs typeface="Calibri"/>
              </a:rPr>
              <a:t>their</a:t>
            </a:r>
            <a:r>
              <a:rPr sz="2200" spc="-55" dirty="0">
                <a:latin typeface="Calibri"/>
                <a:cs typeface="Calibri"/>
              </a:rPr>
              <a:t> </a:t>
            </a:r>
            <a:r>
              <a:rPr sz="2200" spc="-10" dirty="0">
                <a:latin typeface="Calibri"/>
                <a:cs typeface="Calibri"/>
              </a:rPr>
              <a:t>expectations.</a:t>
            </a:r>
            <a:r>
              <a:rPr sz="2200" spc="-60" dirty="0">
                <a:latin typeface="Calibri"/>
                <a:cs typeface="Calibri"/>
              </a:rPr>
              <a:t> </a:t>
            </a:r>
            <a:r>
              <a:rPr sz="2200" spc="-10" dirty="0">
                <a:latin typeface="Calibri"/>
                <a:cs typeface="Calibri"/>
              </a:rPr>
              <a:t>Customers</a:t>
            </a:r>
            <a:r>
              <a:rPr sz="2200" spc="-50" dirty="0">
                <a:latin typeface="Calibri"/>
                <a:cs typeface="Calibri"/>
              </a:rPr>
              <a:t> </a:t>
            </a:r>
            <a:r>
              <a:rPr sz="2200" dirty="0">
                <a:latin typeface="Calibri"/>
                <a:cs typeface="Calibri"/>
              </a:rPr>
              <a:t>are</a:t>
            </a:r>
            <a:r>
              <a:rPr sz="2200" spc="-50" dirty="0">
                <a:latin typeface="Calibri"/>
                <a:cs typeface="Calibri"/>
              </a:rPr>
              <a:t> </a:t>
            </a:r>
            <a:r>
              <a:rPr sz="2200" dirty="0">
                <a:latin typeface="Calibri"/>
                <a:cs typeface="Calibri"/>
              </a:rPr>
              <a:t>primarily</a:t>
            </a:r>
            <a:r>
              <a:rPr sz="2200" spc="-50" dirty="0">
                <a:latin typeface="Calibri"/>
                <a:cs typeface="Calibri"/>
              </a:rPr>
              <a:t> </a:t>
            </a:r>
            <a:r>
              <a:rPr sz="2200" dirty="0">
                <a:latin typeface="Calibri"/>
                <a:cs typeface="Calibri"/>
              </a:rPr>
              <a:t>concerned</a:t>
            </a:r>
            <a:r>
              <a:rPr sz="2200" spc="-60" dirty="0">
                <a:latin typeface="Calibri"/>
                <a:cs typeface="Calibri"/>
              </a:rPr>
              <a:t> </a:t>
            </a:r>
            <a:r>
              <a:rPr sz="2200" spc="-20" dirty="0">
                <a:latin typeface="Calibri"/>
                <a:cs typeface="Calibri"/>
              </a:rPr>
              <a:t>with </a:t>
            </a:r>
            <a:r>
              <a:rPr sz="2200" dirty="0">
                <a:latin typeface="Calibri"/>
                <a:cs typeface="Calibri"/>
              </a:rPr>
              <a:t>getting</a:t>
            </a:r>
            <a:r>
              <a:rPr sz="2200" spc="-50" dirty="0">
                <a:latin typeface="Calibri"/>
                <a:cs typeface="Calibri"/>
              </a:rPr>
              <a:t> </a:t>
            </a:r>
            <a:r>
              <a:rPr sz="2200" dirty="0">
                <a:latin typeface="Calibri"/>
                <a:cs typeface="Calibri"/>
              </a:rPr>
              <a:t>a</a:t>
            </a:r>
            <a:r>
              <a:rPr sz="2200" spc="-50" dirty="0">
                <a:latin typeface="Calibri"/>
                <a:cs typeface="Calibri"/>
              </a:rPr>
              <a:t> </a:t>
            </a:r>
            <a:r>
              <a:rPr sz="2200" i="1" dirty="0">
                <a:latin typeface="Calibri"/>
                <a:cs typeface="Calibri"/>
              </a:rPr>
              <a:t>good</a:t>
            </a:r>
            <a:r>
              <a:rPr sz="2200" i="1" spc="-55" dirty="0">
                <a:latin typeface="Calibri"/>
                <a:cs typeface="Calibri"/>
              </a:rPr>
              <a:t> </a:t>
            </a:r>
            <a:r>
              <a:rPr sz="2200" i="1" spc="-20" dirty="0">
                <a:latin typeface="Calibri"/>
                <a:cs typeface="Calibri"/>
              </a:rPr>
              <a:t>deal</a:t>
            </a:r>
            <a:endParaRPr sz="2200" dirty="0">
              <a:latin typeface="Calibri"/>
              <a:cs typeface="Calibri"/>
            </a:endParaRPr>
          </a:p>
        </p:txBody>
      </p:sp>
      <p:sp>
        <p:nvSpPr>
          <p:cNvPr id="3" name="object 3"/>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8</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(5/6)</a:t>
            </a:r>
            <a:endParaRPr sz="1950"/>
          </a:p>
        </p:txBody>
      </p:sp>
      <p:pic>
        <p:nvPicPr>
          <p:cNvPr id="5" name="Picture 4">
            <a:extLst>
              <a:ext uri="{FF2B5EF4-FFF2-40B4-BE49-F238E27FC236}">
                <a16:creationId xmlns:a16="http://schemas.microsoft.com/office/drawing/2014/main" id="{30849C9B-8574-641F-B7DE-C619B46BC1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271653" rIns="0" bIns="0" rtlCol="0">
            <a:spAutoFit/>
          </a:bodyPr>
          <a:lstStyle/>
          <a:p>
            <a:pPr marL="240029" marR="5080" indent="-227329" algn="just">
              <a:lnSpc>
                <a:spcPct val="89700"/>
              </a:lnSpc>
              <a:spcBef>
                <a:spcPts val="395"/>
              </a:spcBef>
              <a:buFont typeface="Arial MT"/>
              <a:buChar char="•"/>
              <a:tabLst>
                <a:tab pos="241300" algn="l"/>
              </a:tabLst>
            </a:pPr>
            <a:r>
              <a:rPr b="0" dirty="0">
                <a:latin typeface="Calibri"/>
                <a:cs typeface="Calibri"/>
              </a:rPr>
              <a:t>The</a:t>
            </a:r>
            <a:r>
              <a:rPr b="0" spc="95" dirty="0">
                <a:latin typeface="Calibri"/>
                <a:cs typeface="Calibri"/>
              </a:rPr>
              <a:t> </a:t>
            </a:r>
            <a:r>
              <a:rPr b="0" u="heavy" spc="-20" dirty="0">
                <a:uFill>
                  <a:solidFill>
                    <a:srgbClr val="000000"/>
                  </a:solidFill>
                </a:uFill>
                <a:latin typeface="Calibri"/>
                <a:cs typeface="Calibri"/>
              </a:rPr>
              <a:t>old-</a:t>
            </a:r>
            <a:r>
              <a:rPr b="0" u="heavy" dirty="0">
                <a:uFill>
                  <a:solidFill>
                    <a:srgbClr val="000000"/>
                  </a:solidFill>
                </a:uFill>
                <a:latin typeface="Calibri"/>
                <a:cs typeface="Calibri"/>
              </a:rPr>
              <a:t>fashioned</a:t>
            </a:r>
            <a:r>
              <a:rPr b="0" u="heavy" spc="90" dirty="0">
                <a:uFill>
                  <a:solidFill>
                    <a:srgbClr val="000000"/>
                  </a:solidFill>
                </a:uFill>
                <a:latin typeface="Calibri"/>
                <a:cs typeface="Calibri"/>
              </a:rPr>
              <a:t> </a:t>
            </a:r>
            <a:r>
              <a:rPr b="0" u="heavy" dirty="0">
                <a:uFill>
                  <a:solidFill>
                    <a:srgbClr val="000000"/>
                  </a:solidFill>
                </a:uFill>
                <a:latin typeface="Calibri"/>
                <a:cs typeface="Calibri"/>
              </a:rPr>
              <a:t>view</a:t>
            </a:r>
            <a:r>
              <a:rPr b="0" u="heavy" spc="85" dirty="0">
                <a:uFill>
                  <a:solidFill>
                    <a:srgbClr val="000000"/>
                  </a:solidFill>
                </a:uFill>
                <a:latin typeface="Calibri"/>
                <a:cs typeface="Calibri"/>
              </a:rPr>
              <a:t> </a:t>
            </a:r>
            <a:r>
              <a:rPr b="0" u="heavy" dirty="0">
                <a:uFill>
                  <a:solidFill>
                    <a:srgbClr val="000000"/>
                  </a:solidFill>
                </a:uFill>
                <a:latin typeface="Calibri"/>
                <a:cs typeface="Calibri"/>
              </a:rPr>
              <a:t>of</a:t>
            </a:r>
            <a:r>
              <a:rPr b="0" u="heavy" spc="95" dirty="0">
                <a:uFill>
                  <a:solidFill>
                    <a:srgbClr val="000000"/>
                  </a:solidFill>
                </a:uFill>
                <a:latin typeface="Calibri"/>
                <a:cs typeface="Calibri"/>
              </a:rPr>
              <a:t> </a:t>
            </a:r>
            <a:r>
              <a:rPr b="0" u="heavy" dirty="0">
                <a:uFill>
                  <a:solidFill>
                    <a:srgbClr val="000000"/>
                  </a:solidFill>
                </a:uFill>
                <a:latin typeface="Calibri"/>
                <a:cs typeface="Calibri"/>
              </a:rPr>
              <a:t>managing</a:t>
            </a:r>
            <a:r>
              <a:rPr b="0" u="heavy" spc="85" dirty="0">
                <a:uFill>
                  <a:solidFill>
                    <a:srgbClr val="000000"/>
                  </a:solidFill>
                </a:uFill>
                <a:latin typeface="Calibri"/>
                <a:cs typeface="Calibri"/>
              </a:rPr>
              <a:t> </a:t>
            </a:r>
            <a:r>
              <a:rPr b="0" u="heavy" dirty="0">
                <a:uFill>
                  <a:solidFill>
                    <a:srgbClr val="000000"/>
                  </a:solidFill>
                </a:uFill>
                <a:latin typeface="Calibri"/>
                <a:cs typeface="Calibri"/>
              </a:rPr>
              <a:t>projects</a:t>
            </a:r>
            <a:r>
              <a:rPr b="0" u="heavy" spc="45" dirty="0">
                <a:uFill>
                  <a:solidFill>
                    <a:srgbClr val="000000"/>
                  </a:solidFill>
                </a:uFill>
                <a:latin typeface="Calibri"/>
                <a:cs typeface="Calibri"/>
              </a:rPr>
              <a:t> </a:t>
            </a:r>
            <a:r>
              <a:rPr b="0" dirty="0">
                <a:latin typeface="Calibri"/>
                <a:cs typeface="Calibri"/>
              </a:rPr>
              <a:t>emphasized</a:t>
            </a:r>
            <a:r>
              <a:rPr b="0" spc="95" dirty="0">
                <a:latin typeface="Calibri"/>
                <a:cs typeface="Calibri"/>
              </a:rPr>
              <a:t> </a:t>
            </a:r>
            <a:r>
              <a:rPr b="0" dirty="0">
                <a:latin typeface="Calibri"/>
                <a:cs typeface="Calibri"/>
              </a:rPr>
              <a:t>planning</a:t>
            </a:r>
            <a:r>
              <a:rPr b="0" spc="85" dirty="0">
                <a:latin typeface="Calibri"/>
                <a:cs typeface="Calibri"/>
              </a:rPr>
              <a:t> </a:t>
            </a:r>
            <a:r>
              <a:rPr b="0" dirty="0">
                <a:latin typeface="Calibri"/>
                <a:cs typeface="Calibri"/>
              </a:rPr>
              <a:t>and</a:t>
            </a:r>
            <a:r>
              <a:rPr b="0" spc="90" dirty="0">
                <a:latin typeface="Calibri"/>
                <a:cs typeface="Calibri"/>
              </a:rPr>
              <a:t> </a:t>
            </a:r>
            <a:r>
              <a:rPr b="0" spc="-10" dirty="0">
                <a:latin typeface="Calibri"/>
                <a:cs typeface="Calibri"/>
              </a:rPr>
              <a:t>directing 	</a:t>
            </a:r>
            <a:r>
              <a:rPr b="0" dirty="0">
                <a:latin typeface="Calibri"/>
                <a:cs typeface="Calibri"/>
              </a:rPr>
              <a:t>the</a:t>
            </a:r>
            <a:r>
              <a:rPr b="0" spc="-45" dirty="0">
                <a:latin typeface="Calibri"/>
                <a:cs typeface="Calibri"/>
              </a:rPr>
              <a:t> </a:t>
            </a:r>
            <a:r>
              <a:rPr b="0" dirty="0">
                <a:latin typeface="Calibri"/>
                <a:cs typeface="Calibri"/>
              </a:rPr>
              <a:t>project</a:t>
            </a:r>
            <a:r>
              <a:rPr b="0" spc="-60" dirty="0">
                <a:latin typeface="Calibri"/>
                <a:cs typeface="Calibri"/>
              </a:rPr>
              <a:t> </a:t>
            </a:r>
            <a:r>
              <a:rPr b="0" dirty="0">
                <a:latin typeface="Calibri"/>
                <a:cs typeface="Calibri"/>
              </a:rPr>
              <a:t>team;</a:t>
            </a:r>
            <a:r>
              <a:rPr b="0" spc="-60" dirty="0">
                <a:latin typeface="Calibri"/>
                <a:cs typeface="Calibri"/>
              </a:rPr>
              <a:t> </a:t>
            </a:r>
            <a:r>
              <a:rPr b="0" u="heavy" dirty="0">
                <a:solidFill>
                  <a:srgbClr val="C00000"/>
                </a:solidFill>
                <a:uFill>
                  <a:solidFill>
                    <a:srgbClr val="C00000"/>
                  </a:solidFill>
                </a:uFill>
                <a:latin typeface="Calibri"/>
                <a:cs typeface="Calibri"/>
              </a:rPr>
              <a:t>the</a:t>
            </a:r>
            <a:r>
              <a:rPr b="0" u="heavy" spc="-40" dirty="0">
                <a:solidFill>
                  <a:srgbClr val="C00000"/>
                </a:solidFill>
                <a:uFill>
                  <a:solidFill>
                    <a:srgbClr val="C00000"/>
                  </a:solidFill>
                </a:uFill>
                <a:latin typeface="Calibri"/>
                <a:cs typeface="Calibri"/>
              </a:rPr>
              <a:t> </a:t>
            </a:r>
            <a:r>
              <a:rPr b="0" u="heavy" dirty="0">
                <a:solidFill>
                  <a:srgbClr val="C00000"/>
                </a:solidFill>
                <a:uFill>
                  <a:solidFill>
                    <a:srgbClr val="C00000"/>
                  </a:solidFill>
                </a:uFill>
                <a:latin typeface="Calibri"/>
                <a:cs typeface="Calibri"/>
              </a:rPr>
              <a:t>new</a:t>
            </a:r>
            <a:r>
              <a:rPr b="0" u="heavy" spc="-60" dirty="0">
                <a:solidFill>
                  <a:srgbClr val="C00000"/>
                </a:solidFill>
                <a:uFill>
                  <a:solidFill>
                    <a:srgbClr val="C00000"/>
                  </a:solidFill>
                </a:uFill>
                <a:latin typeface="Calibri"/>
                <a:cs typeface="Calibri"/>
              </a:rPr>
              <a:t> </a:t>
            </a:r>
            <a:r>
              <a:rPr b="0" u="heavy" spc="-10" dirty="0">
                <a:solidFill>
                  <a:srgbClr val="C00000"/>
                </a:solidFill>
                <a:uFill>
                  <a:solidFill>
                    <a:srgbClr val="C00000"/>
                  </a:solidFill>
                </a:uFill>
                <a:latin typeface="Calibri"/>
                <a:cs typeface="Calibri"/>
              </a:rPr>
              <a:t>perspective</a:t>
            </a:r>
            <a:r>
              <a:rPr b="0" u="heavy" spc="-85" dirty="0">
                <a:solidFill>
                  <a:srgbClr val="C00000"/>
                </a:solidFill>
                <a:uFill>
                  <a:solidFill>
                    <a:srgbClr val="C00000"/>
                  </a:solidFill>
                </a:uFill>
                <a:latin typeface="Calibri"/>
                <a:cs typeface="Calibri"/>
              </a:rPr>
              <a:t> </a:t>
            </a:r>
            <a:r>
              <a:rPr b="0" spc="-10" dirty="0">
                <a:latin typeface="Calibri"/>
                <a:cs typeface="Calibri"/>
              </a:rPr>
              <a:t>emphasizes</a:t>
            </a:r>
            <a:r>
              <a:rPr b="0" spc="-50" dirty="0">
                <a:latin typeface="Calibri"/>
                <a:cs typeface="Calibri"/>
              </a:rPr>
              <a:t> </a:t>
            </a:r>
            <a:r>
              <a:rPr b="0" dirty="0">
                <a:latin typeface="Calibri"/>
                <a:cs typeface="Calibri"/>
              </a:rPr>
              <a:t>managing</a:t>
            </a:r>
            <a:r>
              <a:rPr b="0" spc="-55" dirty="0">
                <a:latin typeface="Calibri"/>
                <a:cs typeface="Calibri"/>
              </a:rPr>
              <a:t> </a:t>
            </a:r>
            <a:r>
              <a:rPr b="0" dirty="0">
                <a:latin typeface="Calibri"/>
                <a:cs typeface="Calibri"/>
              </a:rPr>
              <a:t>project</a:t>
            </a:r>
            <a:r>
              <a:rPr b="0" spc="-55" dirty="0">
                <a:latin typeface="Calibri"/>
                <a:cs typeface="Calibri"/>
              </a:rPr>
              <a:t> </a:t>
            </a:r>
            <a:r>
              <a:rPr b="0" spc="-10" dirty="0">
                <a:latin typeface="Calibri"/>
                <a:cs typeface="Calibri"/>
              </a:rPr>
              <a:t>stakeholders 	</a:t>
            </a:r>
            <a:r>
              <a:rPr b="0" dirty="0">
                <a:latin typeface="Calibri"/>
                <a:cs typeface="Calibri"/>
              </a:rPr>
              <a:t>and</a:t>
            </a:r>
            <a:r>
              <a:rPr b="0" spc="-25" dirty="0">
                <a:latin typeface="Calibri"/>
                <a:cs typeface="Calibri"/>
              </a:rPr>
              <a:t> </a:t>
            </a:r>
            <a:r>
              <a:rPr b="0" dirty="0">
                <a:latin typeface="Calibri"/>
                <a:cs typeface="Calibri"/>
              </a:rPr>
              <a:t>anticipating</a:t>
            </a:r>
            <a:r>
              <a:rPr b="0" spc="-30" dirty="0">
                <a:latin typeface="Calibri"/>
                <a:cs typeface="Calibri"/>
              </a:rPr>
              <a:t> </a:t>
            </a:r>
            <a:r>
              <a:rPr b="0" dirty="0">
                <a:latin typeface="Calibri"/>
                <a:cs typeface="Calibri"/>
              </a:rPr>
              <a:t>change</a:t>
            </a:r>
            <a:r>
              <a:rPr b="0" spc="-20" dirty="0">
                <a:latin typeface="Calibri"/>
                <a:cs typeface="Calibri"/>
              </a:rPr>
              <a:t> </a:t>
            </a:r>
            <a:r>
              <a:rPr b="0" dirty="0">
                <a:latin typeface="Calibri"/>
                <a:cs typeface="Calibri"/>
              </a:rPr>
              <a:t>as</a:t>
            </a:r>
            <a:r>
              <a:rPr b="0" spc="-25" dirty="0">
                <a:latin typeface="Calibri"/>
                <a:cs typeface="Calibri"/>
              </a:rPr>
              <a:t> </a:t>
            </a:r>
            <a:r>
              <a:rPr b="0" dirty="0">
                <a:latin typeface="Calibri"/>
                <a:cs typeface="Calibri"/>
              </a:rPr>
              <a:t>the</a:t>
            </a:r>
            <a:r>
              <a:rPr b="0" spc="-20" dirty="0">
                <a:latin typeface="Calibri"/>
                <a:cs typeface="Calibri"/>
              </a:rPr>
              <a:t> </a:t>
            </a:r>
            <a:r>
              <a:rPr b="0" dirty="0">
                <a:latin typeface="Calibri"/>
                <a:cs typeface="Calibri"/>
              </a:rPr>
              <a:t>most</a:t>
            </a:r>
            <a:r>
              <a:rPr b="0" spc="-25" dirty="0">
                <a:latin typeface="Calibri"/>
                <a:cs typeface="Calibri"/>
              </a:rPr>
              <a:t> </a:t>
            </a:r>
            <a:r>
              <a:rPr b="0" dirty="0">
                <a:latin typeface="Calibri"/>
                <a:cs typeface="Calibri"/>
              </a:rPr>
              <a:t>important</a:t>
            </a:r>
            <a:r>
              <a:rPr b="0" spc="-25" dirty="0">
                <a:latin typeface="Calibri"/>
                <a:cs typeface="Calibri"/>
              </a:rPr>
              <a:t> </a:t>
            </a:r>
            <a:r>
              <a:rPr b="0" dirty="0">
                <a:latin typeface="Calibri"/>
                <a:cs typeface="Calibri"/>
              </a:rPr>
              <a:t>jobs.</a:t>
            </a:r>
            <a:r>
              <a:rPr b="0" spc="-30" dirty="0">
                <a:latin typeface="Calibri"/>
                <a:cs typeface="Calibri"/>
              </a:rPr>
              <a:t> </a:t>
            </a:r>
            <a:r>
              <a:rPr b="0" dirty="0">
                <a:latin typeface="Calibri"/>
                <a:cs typeface="Calibri"/>
              </a:rPr>
              <a:t>Project</a:t>
            </a:r>
            <a:r>
              <a:rPr b="0" spc="-30" dirty="0">
                <a:latin typeface="Calibri"/>
                <a:cs typeface="Calibri"/>
              </a:rPr>
              <a:t> </a:t>
            </a:r>
            <a:r>
              <a:rPr b="0" dirty="0">
                <a:latin typeface="Calibri"/>
                <a:cs typeface="Calibri"/>
              </a:rPr>
              <a:t>managers</a:t>
            </a:r>
            <a:r>
              <a:rPr b="0" spc="-20" dirty="0">
                <a:latin typeface="Calibri"/>
                <a:cs typeface="Calibri"/>
              </a:rPr>
              <a:t> </a:t>
            </a:r>
            <a:r>
              <a:rPr b="0" dirty="0">
                <a:latin typeface="Calibri"/>
                <a:cs typeface="Calibri"/>
              </a:rPr>
              <a:t>need</a:t>
            </a:r>
            <a:r>
              <a:rPr b="0" spc="-30" dirty="0">
                <a:latin typeface="Calibri"/>
                <a:cs typeface="Calibri"/>
              </a:rPr>
              <a:t> </a:t>
            </a:r>
            <a:r>
              <a:rPr b="0" dirty="0">
                <a:latin typeface="Calibri"/>
                <a:cs typeface="Calibri"/>
              </a:rPr>
              <a:t>to</a:t>
            </a:r>
            <a:r>
              <a:rPr b="0" spc="-25" dirty="0">
                <a:latin typeface="Calibri"/>
                <a:cs typeface="Calibri"/>
              </a:rPr>
              <a:t> be 	</a:t>
            </a:r>
            <a:r>
              <a:rPr b="0" dirty="0">
                <a:latin typeface="Calibri"/>
                <a:cs typeface="Calibri"/>
              </a:rPr>
              <a:t>able</a:t>
            </a:r>
            <a:r>
              <a:rPr b="0" spc="360" dirty="0">
                <a:latin typeface="Calibri"/>
                <a:cs typeface="Calibri"/>
              </a:rPr>
              <a:t> </a:t>
            </a:r>
            <a:r>
              <a:rPr b="0" dirty="0">
                <a:latin typeface="Calibri"/>
                <a:cs typeface="Calibri"/>
              </a:rPr>
              <a:t>to</a:t>
            </a:r>
            <a:r>
              <a:rPr b="0" spc="360" dirty="0">
                <a:latin typeface="Calibri"/>
                <a:cs typeface="Calibri"/>
              </a:rPr>
              <a:t> </a:t>
            </a:r>
            <a:r>
              <a:rPr b="0" dirty="0">
                <a:latin typeface="Calibri"/>
                <a:cs typeface="Calibri"/>
              </a:rPr>
              <a:t>calm</a:t>
            </a:r>
            <a:r>
              <a:rPr b="0" spc="355" dirty="0">
                <a:latin typeface="Calibri"/>
                <a:cs typeface="Calibri"/>
              </a:rPr>
              <a:t> </a:t>
            </a:r>
            <a:r>
              <a:rPr b="0" dirty="0">
                <a:latin typeface="Calibri"/>
                <a:cs typeface="Calibri"/>
              </a:rPr>
              <a:t>concerns</a:t>
            </a:r>
            <a:r>
              <a:rPr b="0" spc="365" dirty="0">
                <a:latin typeface="Calibri"/>
                <a:cs typeface="Calibri"/>
              </a:rPr>
              <a:t> </a:t>
            </a:r>
            <a:r>
              <a:rPr b="0" dirty="0">
                <a:latin typeface="Calibri"/>
                <a:cs typeface="Calibri"/>
              </a:rPr>
              <a:t>of</a:t>
            </a:r>
            <a:r>
              <a:rPr b="0" spc="370" dirty="0">
                <a:latin typeface="Calibri"/>
                <a:cs typeface="Calibri"/>
              </a:rPr>
              <a:t> </a:t>
            </a:r>
            <a:r>
              <a:rPr b="0" dirty="0">
                <a:latin typeface="Calibri"/>
                <a:cs typeface="Calibri"/>
              </a:rPr>
              <a:t>customers,</a:t>
            </a:r>
            <a:r>
              <a:rPr b="0" spc="365" dirty="0">
                <a:latin typeface="Calibri"/>
                <a:cs typeface="Calibri"/>
              </a:rPr>
              <a:t> </a:t>
            </a:r>
            <a:r>
              <a:rPr b="0" dirty="0">
                <a:latin typeface="Calibri"/>
                <a:cs typeface="Calibri"/>
              </a:rPr>
              <a:t>sustain</a:t>
            </a:r>
            <a:r>
              <a:rPr b="0" spc="365" dirty="0">
                <a:latin typeface="Calibri"/>
                <a:cs typeface="Calibri"/>
              </a:rPr>
              <a:t> </a:t>
            </a:r>
            <a:r>
              <a:rPr b="0" dirty="0">
                <a:latin typeface="Calibri"/>
                <a:cs typeface="Calibri"/>
              </a:rPr>
              <a:t>support</a:t>
            </a:r>
            <a:r>
              <a:rPr b="0" spc="360" dirty="0">
                <a:latin typeface="Calibri"/>
                <a:cs typeface="Calibri"/>
              </a:rPr>
              <a:t> </a:t>
            </a:r>
            <a:r>
              <a:rPr b="0" dirty="0">
                <a:latin typeface="Calibri"/>
                <a:cs typeface="Calibri"/>
              </a:rPr>
              <a:t>for</a:t>
            </a:r>
            <a:r>
              <a:rPr b="0" spc="360" dirty="0">
                <a:latin typeface="Calibri"/>
                <a:cs typeface="Calibri"/>
              </a:rPr>
              <a:t> </a:t>
            </a:r>
            <a:r>
              <a:rPr b="0" dirty="0">
                <a:latin typeface="Calibri"/>
                <a:cs typeface="Calibri"/>
              </a:rPr>
              <a:t>the</a:t>
            </a:r>
            <a:r>
              <a:rPr b="0" spc="370" dirty="0">
                <a:latin typeface="Calibri"/>
                <a:cs typeface="Calibri"/>
              </a:rPr>
              <a:t> </a:t>
            </a:r>
            <a:r>
              <a:rPr b="0" dirty="0">
                <a:latin typeface="Calibri"/>
                <a:cs typeface="Calibri"/>
              </a:rPr>
              <a:t>project</a:t>
            </a:r>
            <a:r>
              <a:rPr b="0" spc="355" dirty="0">
                <a:latin typeface="Calibri"/>
                <a:cs typeface="Calibri"/>
              </a:rPr>
              <a:t> </a:t>
            </a:r>
            <a:r>
              <a:rPr b="0" dirty="0">
                <a:latin typeface="Calibri"/>
                <a:cs typeface="Calibri"/>
              </a:rPr>
              <a:t>at</a:t>
            </a:r>
            <a:r>
              <a:rPr b="0" spc="360" dirty="0">
                <a:latin typeface="Calibri"/>
                <a:cs typeface="Calibri"/>
              </a:rPr>
              <a:t> </a:t>
            </a:r>
            <a:r>
              <a:rPr b="0" spc="-10" dirty="0">
                <a:latin typeface="Calibri"/>
                <a:cs typeface="Calibri"/>
              </a:rPr>
              <a:t>higher 	</a:t>
            </a:r>
            <a:r>
              <a:rPr b="0" dirty="0">
                <a:latin typeface="Calibri"/>
                <a:cs typeface="Calibri"/>
              </a:rPr>
              <a:t>levels</a:t>
            </a:r>
            <a:r>
              <a:rPr b="0" spc="155" dirty="0">
                <a:latin typeface="Calibri"/>
                <a:cs typeface="Calibri"/>
              </a:rPr>
              <a:t> </a:t>
            </a:r>
            <a:r>
              <a:rPr b="0" dirty="0">
                <a:latin typeface="Calibri"/>
                <a:cs typeface="Calibri"/>
              </a:rPr>
              <a:t>of</a:t>
            </a:r>
            <a:r>
              <a:rPr b="0" spc="165" dirty="0">
                <a:latin typeface="Calibri"/>
                <a:cs typeface="Calibri"/>
              </a:rPr>
              <a:t> </a:t>
            </a:r>
            <a:r>
              <a:rPr b="0" dirty="0">
                <a:latin typeface="Calibri"/>
                <a:cs typeface="Calibri"/>
              </a:rPr>
              <a:t>the</a:t>
            </a:r>
            <a:r>
              <a:rPr b="0" spc="170" dirty="0">
                <a:latin typeface="Calibri"/>
                <a:cs typeface="Calibri"/>
              </a:rPr>
              <a:t> </a:t>
            </a:r>
            <a:r>
              <a:rPr b="0" dirty="0">
                <a:latin typeface="Calibri"/>
                <a:cs typeface="Calibri"/>
              </a:rPr>
              <a:t>organization,</a:t>
            </a:r>
            <a:r>
              <a:rPr b="0" spc="165" dirty="0">
                <a:latin typeface="Calibri"/>
                <a:cs typeface="Calibri"/>
              </a:rPr>
              <a:t> </a:t>
            </a:r>
            <a:r>
              <a:rPr b="0" dirty="0">
                <a:latin typeface="Calibri"/>
                <a:cs typeface="Calibri"/>
              </a:rPr>
              <a:t>quickly</a:t>
            </a:r>
            <a:r>
              <a:rPr b="0" spc="165" dirty="0">
                <a:latin typeface="Calibri"/>
                <a:cs typeface="Calibri"/>
              </a:rPr>
              <a:t> </a:t>
            </a:r>
            <a:r>
              <a:rPr b="0" dirty="0">
                <a:latin typeface="Calibri"/>
                <a:cs typeface="Calibri"/>
              </a:rPr>
              <a:t>identify</a:t>
            </a:r>
            <a:r>
              <a:rPr b="0" spc="165" dirty="0">
                <a:latin typeface="Calibri"/>
                <a:cs typeface="Calibri"/>
              </a:rPr>
              <a:t> </a:t>
            </a:r>
            <a:r>
              <a:rPr b="0" dirty="0">
                <a:latin typeface="Calibri"/>
                <a:cs typeface="Calibri"/>
              </a:rPr>
              <a:t>problems</a:t>
            </a:r>
            <a:r>
              <a:rPr b="0" spc="160" dirty="0">
                <a:latin typeface="Calibri"/>
                <a:cs typeface="Calibri"/>
              </a:rPr>
              <a:t> </a:t>
            </a:r>
            <a:r>
              <a:rPr b="0" dirty="0">
                <a:latin typeface="Calibri"/>
                <a:cs typeface="Calibri"/>
              </a:rPr>
              <a:t>that</a:t>
            </a:r>
            <a:r>
              <a:rPr b="0" spc="160" dirty="0">
                <a:latin typeface="Calibri"/>
                <a:cs typeface="Calibri"/>
              </a:rPr>
              <a:t> </a:t>
            </a:r>
            <a:r>
              <a:rPr b="0" dirty="0">
                <a:latin typeface="Calibri"/>
                <a:cs typeface="Calibri"/>
              </a:rPr>
              <a:t>threaten</a:t>
            </a:r>
            <a:r>
              <a:rPr b="0" spc="165" dirty="0">
                <a:latin typeface="Calibri"/>
                <a:cs typeface="Calibri"/>
              </a:rPr>
              <a:t> </a:t>
            </a:r>
            <a:r>
              <a:rPr b="0" dirty="0">
                <a:latin typeface="Calibri"/>
                <a:cs typeface="Calibri"/>
              </a:rPr>
              <a:t>project</a:t>
            </a:r>
            <a:r>
              <a:rPr b="0" spc="155" dirty="0">
                <a:latin typeface="Calibri"/>
                <a:cs typeface="Calibri"/>
              </a:rPr>
              <a:t> </a:t>
            </a:r>
            <a:r>
              <a:rPr b="0" spc="-10" dirty="0">
                <a:latin typeface="Calibri"/>
                <a:cs typeface="Calibri"/>
              </a:rPr>
              <a:t>work, 	</a:t>
            </a:r>
            <a:r>
              <a:rPr b="0" dirty="0">
                <a:latin typeface="Calibri"/>
                <a:cs typeface="Calibri"/>
              </a:rPr>
              <a:t>while</a:t>
            </a:r>
            <a:r>
              <a:rPr b="0" spc="-35" dirty="0">
                <a:latin typeface="Calibri"/>
                <a:cs typeface="Calibri"/>
              </a:rPr>
              <a:t> </a:t>
            </a:r>
            <a:r>
              <a:rPr b="0" dirty="0">
                <a:latin typeface="Calibri"/>
                <a:cs typeface="Calibri"/>
              </a:rPr>
              <a:t>at</a:t>
            </a:r>
            <a:r>
              <a:rPr b="0" spc="-35" dirty="0">
                <a:latin typeface="Calibri"/>
                <a:cs typeface="Calibri"/>
              </a:rPr>
              <a:t> </a:t>
            </a:r>
            <a:r>
              <a:rPr b="0" dirty="0">
                <a:latin typeface="Calibri"/>
                <a:cs typeface="Calibri"/>
              </a:rPr>
              <a:t>the</a:t>
            </a:r>
            <a:r>
              <a:rPr b="0" spc="-25" dirty="0">
                <a:latin typeface="Calibri"/>
                <a:cs typeface="Calibri"/>
              </a:rPr>
              <a:t> </a:t>
            </a:r>
            <a:r>
              <a:rPr b="0" dirty="0">
                <a:latin typeface="Calibri"/>
                <a:cs typeface="Calibri"/>
              </a:rPr>
              <a:t>same</a:t>
            </a:r>
            <a:r>
              <a:rPr b="0" spc="-35" dirty="0">
                <a:latin typeface="Calibri"/>
                <a:cs typeface="Calibri"/>
              </a:rPr>
              <a:t> </a:t>
            </a:r>
            <a:r>
              <a:rPr b="0" dirty="0">
                <a:latin typeface="Calibri"/>
                <a:cs typeface="Calibri"/>
              </a:rPr>
              <a:t>time</a:t>
            </a:r>
            <a:r>
              <a:rPr b="0" spc="-30" dirty="0">
                <a:latin typeface="Calibri"/>
                <a:cs typeface="Calibri"/>
              </a:rPr>
              <a:t> </a:t>
            </a:r>
            <a:r>
              <a:rPr b="0" dirty="0">
                <a:latin typeface="Calibri"/>
                <a:cs typeface="Calibri"/>
              </a:rPr>
              <a:t>defend</a:t>
            </a:r>
            <a:r>
              <a:rPr b="0" spc="-30" dirty="0">
                <a:latin typeface="Calibri"/>
                <a:cs typeface="Calibri"/>
              </a:rPr>
              <a:t> </a:t>
            </a:r>
            <a:r>
              <a:rPr b="0" dirty="0">
                <a:latin typeface="Calibri"/>
                <a:cs typeface="Calibri"/>
              </a:rPr>
              <a:t>the</a:t>
            </a:r>
            <a:r>
              <a:rPr b="0" spc="-30" dirty="0">
                <a:latin typeface="Calibri"/>
                <a:cs typeface="Calibri"/>
              </a:rPr>
              <a:t> </a:t>
            </a:r>
            <a:r>
              <a:rPr b="0" dirty="0">
                <a:latin typeface="Calibri"/>
                <a:cs typeface="Calibri"/>
              </a:rPr>
              <a:t>integrity</a:t>
            </a:r>
            <a:r>
              <a:rPr b="0" spc="-30" dirty="0">
                <a:latin typeface="Calibri"/>
                <a:cs typeface="Calibri"/>
              </a:rPr>
              <a:t> </a:t>
            </a:r>
            <a:r>
              <a:rPr b="0" dirty="0">
                <a:latin typeface="Calibri"/>
                <a:cs typeface="Calibri"/>
              </a:rPr>
              <a:t>of</a:t>
            </a:r>
            <a:r>
              <a:rPr b="0" spc="-30" dirty="0">
                <a:latin typeface="Calibri"/>
                <a:cs typeface="Calibri"/>
              </a:rPr>
              <a:t> </a:t>
            </a:r>
            <a:r>
              <a:rPr b="0" dirty="0">
                <a:latin typeface="Calibri"/>
                <a:cs typeface="Calibri"/>
              </a:rPr>
              <a:t>the</a:t>
            </a:r>
            <a:r>
              <a:rPr b="0" spc="-30" dirty="0">
                <a:latin typeface="Calibri"/>
                <a:cs typeface="Calibri"/>
              </a:rPr>
              <a:t> </a:t>
            </a:r>
            <a:r>
              <a:rPr b="0" dirty="0">
                <a:latin typeface="Calibri"/>
                <a:cs typeface="Calibri"/>
              </a:rPr>
              <a:t>project</a:t>
            </a:r>
            <a:r>
              <a:rPr b="0" spc="-40" dirty="0">
                <a:latin typeface="Calibri"/>
                <a:cs typeface="Calibri"/>
              </a:rPr>
              <a:t> </a:t>
            </a:r>
            <a:r>
              <a:rPr b="0" dirty="0">
                <a:latin typeface="Calibri"/>
                <a:cs typeface="Calibri"/>
              </a:rPr>
              <a:t>and</a:t>
            </a:r>
            <a:r>
              <a:rPr b="0" spc="-30" dirty="0">
                <a:latin typeface="Calibri"/>
                <a:cs typeface="Calibri"/>
              </a:rPr>
              <a:t> </a:t>
            </a:r>
            <a:r>
              <a:rPr b="0" dirty="0">
                <a:latin typeface="Calibri"/>
                <a:cs typeface="Calibri"/>
              </a:rPr>
              <a:t>the</a:t>
            </a:r>
            <a:r>
              <a:rPr b="0" spc="-30" dirty="0">
                <a:latin typeface="Calibri"/>
                <a:cs typeface="Calibri"/>
              </a:rPr>
              <a:t> </a:t>
            </a:r>
            <a:r>
              <a:rPr b="0" spc="-10" dirty="0">
                <a:latin typeface="Calibri"/>
                <a:cs typeface="Calibri"/>
              </a:rPr>
              <a:t>interests</a:t>
            </a:r>
            <a:r>
              <a:rPr b="0" spc="-35" dirty="0">
                <a:latin typeface="Calibri"/>
                <a:cs typeface="Calibri"/>
              </a:rPr>
              <a:t> </a:t>
            </a:r>
            <a:r>
              <a:rPr b="0" dirty="0">
                <a:latin typeface="Calibri"/>
                <a:cs typeface="Calibri"/>
              </a:rPr>
              <a:t>of</a:t>
            </a:r>
            <a:r>
              <a:rPr b="0" spc="-30" dirty="0">
                <a:latin typeface="Calibri"/>
                <a:cs typeface="Calibri"/>
              </a:rPr>
              <a:t> </a:t>
            </a:r>
            <a:r>
              <a:rPr b="0" spc="-25" dirty="0">
                <a:latin typeface="Calibri"/>
                <a:cs typeface="Calibri"/>
              </a:rPr>
              <a:t>the 	</a:t>
            </a:r>
            <a:r>
              <a:rPr b="0" dirty="0">
                <a:latin typeface="Calibri"/>
                <a:cs typeface="Calibri"/>
              </a:rPr>
              <a:t>project</a:t>
            </a:r>
            <a:r>
              <a:rPr b="0" spc="-100" dirty="0">
                <a:latin typeface="Calibri"/>
                <a:cs typeface="Calibri"/>
              </a:rPr>
              <a:t> </a:t>
            </a:r>
            <a:r>
              <a:rPr b="0" spc="-10" dirty="0">
                <a:latin typeface="Calibri"/>
                <a:cs typeface="Calibri"/>
              </a:rPr>
              <a:t>participants.</a:t>
            </a:r>
          </a:p>
          <a:p>
            <a:pPr marL="240029" marR="5080" indent="-227329" algn="just">
              <a:lnSpc>
                <a:spcPct val="90200"/>
              </a:lnSpc>
              <a:spcBef>
                <a:spcPts val="1000"/>
              </a:spcBef>
              <a:buFont typeface="Arial MT"/>
              <a:buChar char="•"/>
              <a:tabLst>
                <a:tab pos="241300" algn="l"/>
              </a:tabLst>
            </a:pPr>
            <a:r>
              <a:rPr b="0" dirty="0">
                <a:latin typeface="Calibri"/>
                <a:cs typeface="Calibri"/>
              </a:rPr>
              <a:t>Within</a:t>
            </a:r>
            <a:r>
              <a:rPr b="0" spc="114" dirty="0">
                <a:latin typeface="Calibri"/>
                <a:cs typeface="Calibri"/>
              </a:rPr>
              <a:t> </a:t>
            </a:r>
            <a:r>
              <a:rPr b="0" dirty="0">
                <a:latin typeface="Calibri"/>
                <a:cs typeface="Calibri"/>
              </a:rPr>
              <a:t>this</a:t>
            </a:r>
            <a:r>
              <a:rPr b="0" spc="120" dirty="0">
                <a:latin typeface="Calibri"/>
                <a:cs typeface="Calibri"/>
              </a:rPr>
              <a:t> </a:t>
            </a:r>
            <a:r>
              <a:rPr b="0" u="heavy" dirty="0">
                <a:uFill>
                  <a:solidFill>
                    <a:srgbClr val="000000"/>
                  </a:solidFill>
                </a:uFill>
                <a:latin typeface="Calibri"/>
                <a:cs typeface="Calibri"/>
              </a:rPr>
              <a:t>web</a:t>
            </a:r>
            <a:r>
              <a:rPr b="0" u="heavy" spc="125" dirty="0">
                <a:uFill>
                  <a:solidFill>
                    <a:srgbClr val="000000"/>
                  </a:solidFill>
                </a:uFill>
                <a:latin typeface="Calibri"/>
                <a:cs typeface="Calibri"/>
              </a:rPr>
              <a:t> </a:t>
            </a:r>
            <a:r>
              <a:rPr b="0" u="heavy" dirty="0">
                <a:uFill>
                  <a:solidFill>
                    <a:srgbClr val="000000"/>
                  </a:solidFill>
                </a:uFill>
                <a:latin typeface="Calibri"/>
                <a:cs typeface="Calibri"/>
              </a:rPr>
              <a:t>of</a:t>
            </a:r>
            <a:r>
              <a:rPr b="0" u="heavy" spc="125" dirty="0">
                <a:uFill>
                  <a:solidFill>
                    <a:srgbClr val="000000"/>
                  </a:solidFill>
                </a:uFill>
                <a:latin typeface="Calibri"/>
                <a:cs typeface="Calibri"/>
              </a:rPr>
              <a:t> </a:t>
            </a:r>
            <a:r>
              <a:rPr b="0" u="heavy" dirty="0">
                <a:uFill>
                  <a:solidFill>
                    <a:srgbClr val="000000"/>
                  </a:solidFill>
                </a:uFill>
                <a:latin typeface="Calibri"/>
                <a:cs typeface="Calibri"/>
              </a:rPr>
              <a:t>relationships</a:t>
            </a:r>
            <a:r>
              <a:rPr b="0" dirty="0">
                <a:latin typeface="Calibri"/>
                <a:cs typeface="Calibri"/>
              </a:rPr>
              <a:t>,</a:t>
            </a:r>
            <a:r>
              <a:rPr b="0" spc="125" dirty="0">
                <a:latin typeface="Calibri"/>
                <a:cs typeface="Calibri"/>
              </a:rPr>
              <a:t> </a:t>
            </a:r>
            <a:r>
              <a:rPr b="0" dirty="0">
                <a:latin typeface="Calibri"/>
                <a:cs typeface="Calibri"/>
              </a:rPr>
              <a:t>the</a:t>
            </a:r>
            <a:r>
              <a:rPr b="0" spc="125" dirty="0">
                <a:latin typeface="Calibri"/>
                <a:cs typeface="Calibri"/>
              </a:rPr>
              <a:t> </a:t>
            </a:r>
            <a:r>
              <a:rPr b="0" dirty="0">
                <a:latin typeface="Calibri"/>
                <a:cs typeface="Calibri"/>
              </a:rPr>
              <a:t>project</a:t>
            </a:r>
            <a:r>
              <a:rPr b="0" spc="114" dirty="0">
                <a:latin typeface="Calibri"/>
                <a:cs typeface="Calibri"/>
              </a:rPr>
              <a:t> </a:t>
            </a:r>
            <a:r>
              <a:rPr b="0" dirty="0">
                <a:latin typeface="Calibri"/>
                <a:cs typeface="Calibri"/>
              </a:rPr>
              <a:t>manager</a:t>
            </a:r>
            <a:r>
              <a:rPr b="0" spc="125" dirty="0">
                <a:latin typeface="Calibri"/>
                <a:cs typeface="Calibri"/>
              </a:rPr>
              <a:t> </a:t>
            </a:r>
            <a:r>
              <a:rPr b="0" dirty="0">
                <a:latin typeface="Calibri"/>
                <a:cs typeface="Calibri"/>
              </a:rPr>
              <a:t>must</a:t>
            </a:r>
            <a:r>
              <a:rPr b="0" spc="120" dirty="0">
                <a:latin typeface="Calibri"/>
                <a:cs typeface="Calibri"/>
              </a:rPr>
              <a:t> </a:t>
            </a:r>
            <a:r>
              <a:rPr b="0" dirty="0">
                <a:latin typeface="Calibri"/>
                <a:cs typeface="Calibri"/>
              </a:rPr>
              <a:t>find</a:t>
            </a:r>
            <a:r>
              <a:rPr b="0" spc="125" dirty="0">
                <a:latin typeface="Calibri"/>
                <a:cs typeface="Calibri"/>
              </a:rPr>
              <a:t> </a:t>
            </a:r>
            <a:r>
              <a:rPr b="0" dirty="0">
                <a:latin typeface="Calibri"/>
                <a:cs typeface="Calibri"/>
              </a:rPr>
              <a:t>out</a:t>
            </a:r>
            <a:r>
              <a:rPr b="0" spc="120" dirty="0">
                <a:latin typeface="Calibri"/>
                <a:cs typeface="Calibri"/>
              </a:rPr>
              <a:t> </a:t>
            </a:r>
            <a:r>
              <a:rPr b="0" dirty="0">
                <a:latin typeface="Calibri"/>
                <a:cs typeface="Calibri"/>
              </a:rPr>
              <a:t>what</a:t>
            </a:r>
            <a:r>
              <a:rPr b="0" spc="114" dirty="0">
                <a:latin typeface="Calibri"/>
                <a:cs typeface="Calibri"/>
              </a:rPr>
              <a:t> </a:t>
            </a:r>
            <a:r>
              <a:rPr b="0" spc="-10" dirty="0">
                <a:latin typeface="Calibri"/>
                <a:cs typeface="Calibri"/>
              </a:rPr>
              <a:t>needs 	</a:t>
            </a:r>
            <a:r>
              <a:rPr b="0" dirty="0">
                <a:latin typeface="Calibri"/>
                <a:cs typeface="Calibri"/>
              </a:rPr>
              <a:t>to</a:t>
            </a:r>
            <a:r>
              <a:rPr b="0" spc="-10" dirty="0">
                <a:latin typeface="Calibri"/>
                <a:cs typeface="Calibri"/>
              </a:rPr>
              <a:t> </a:t>
            </a:r>
            <a:r>
              <a:rPr b="0" dirty="0">
                <a:latin typeface="Calibri"/>
                <a:cs typeface="Calibri"/>
              </a:rPr>
              <a:t>be done to</a:t>
            </a:r>
            <a:r>
              <a:rPr b="0" spc="-10" dirty="0">
                <a:latin typeface="Calibri"/>
                <a:cs typeface="Calibri"/>
              </a:rPr>
              <a:t> </a:t>
            </a:r>
            <a:r>
              <a:rPr b="0" dirty="0">
                <a:latin typeface="Calibri"/>
                <a:cs typeface="Calibri"/>
              </a:rPr>
              <a:t>achieve the goals</a:t>
            </a:r>
            <a:r>
              <a:rPr b="0" spc="-5" dirty="0">
                <a:latin typeface="Calibri"/>
                <a:cs typeface="Calibri"/>
              </a:rPr>
              <a:t> </a:t>
            </a:r>
            <a:r>
              <a:rPr b="0" dirty="0">
                <a:latin typeface="Calibri"/>
                <a:cs typeface="Calibri"/>
              </a:rPr>
              <a:t>of the project</a:t>
            </a:r>
            <a:r>
              <a:rPr b="0" spc="-10" dirty="0">
                <a:latin typeface="Calibri"/>
                <a:cs typeface="Calibri"/>
              </a:rPr>
              <a:t> </a:t>
            </a:r>
            <a:r>
              <a:rPr b="0" dirty="0">
                <a:latin typeface="Calibri"/>
                <a:cs typeface="Calibri"/>
              </a:rPr>
              <a:t>and</a:t>
            </a:r>
            <a:r>
              <a:rPr b="0" spc="-5" dirty="0">
                <a:latin typeface="Calibri"/>
                <a:cs typeface="Calibri"/>
              </a:rPr>
              <a:t> </a:t>
            </a:r>
            <a:r>
              <a:rPr b="0" dirty="0">
                <a:latin typeface="Calibri"/>
                <a:cs typeface="Calibri"/>
              </a:rPr>
              <a:t>build</a:t>
            </a:r>
            <a:r>
              <a:rPr b="0" spc="-5" dirty="0">
                <a:latin typeface="Calibri"/>
                <a:cs typeface="Calibri"/>
              </a:rPr>
              <a:t> </a:t>
            </a:r>
            <a:r>
              <a:rPr b="0" dirty="0">
                <a:latin typeface="Calibri"/>
                <a:cs typeface="Calibri"/>
              </a:rPr>
              <a:t>a</a:t>
            </a:r>
            <a:r>
              <a:rPr b="0" spc="-5" dirty="0">
                <a:latin typeface="Calibri"/>
                <a:cs typeface="Calibri"/>
              </a:rPr>
              <a:t> </a:t>
            </a:r>
            <a:r>
              <a:rPr b="0" spc="-10" dirty="0">
                <a:latin typeface="Calibri"/>
                <a:cs typeface="Calibri"/>
              </a:rPr>
              <a:t>cooperative</a:t>
            </a:r>
            <a:r>
              <a:rPr b="0" spc="-5" dirty="0">
                <a:latin typeface="Calibri"/>
                <a:cs typeface="Calibri"/>
              </a:rPr>
              <a:t> </a:t>
            </a:r>
            <a:r>
              <a:rPr b="0" dirty="0">
                <a:latin typeface="Calibri"/>
                <a:cs typeface="Calibri"/>
              </a:rPr>
              <a:t>network</a:t>
            </a:r>
            <a:r>
              <a:rPr b="0" spc="-5" dirty="0">
                <a:latin typeface="Calibri"/>
                <a:cs typeface="Calibri"/>
              </a:rPr>
              <a:t> </a:t>
            </a:r>
            <a:r>
              <a:rPr b="0" spc="-25" dirty="0">
                <a:latin typeface="Calibri"/>
                <a:cs typeface="Calibri"/>
              </a:rPr>
              <a:t>to 	</a:t>
            </a:r>
            <a:r>
              <a:rPr b="0" dirty="0">
                <a:latin typeface="Calibri"/>
                <a:cs typeface="Calibri"/>
              </a:rPr>
              <a:t>accomplish</a:t>
            </a:r>
            <a:r>
              <a:rPr b="0" spc="315" dirty="0">
                <a:latin typeface="Calibri"/>
                <a:cs typeface="Calibri"/>
              </a:rPr>
              <a:t> </a:t>
            </a:r>
            <a:r>
              <a:rPr b="0" dirty="0">
                <a:latin typeface="Calibri"/>
                <a:cs typeface="Calibri"/>
              </a:rPr>
              <a:t>it.</a:t>
            </a:r>
            <a:r>
              <a:rPr b="0" spc="320" dirty="0">
                <a:latin typeface="Calibri"/>
                <a:cs typeface="Calibri"/>
              </a:rPr>
              <a:t> </a:t>
            </a:r>
            <a:r>
              <a:rPr b="0" dirty="0">
                <a:latin typeface="Calibri"/>
                <a:cs typeface="Calibri"/>
              </a:rPr>
              <a:t>Project</a:t>
            </a:r>
            <a:r>
              <a:rPr b="0" spc="320" dirty="0">
                <a:latin typeface="Calibri"/>
                <a:cs typeface="Calibri"/>
              </a:rPr>
              <a:t> </a:t>
            </a:r>
            <a:r>
              <a:rPr b="0" dirty="0">
                <a:latin typeface="Calibri"/>
                <a:cs typeface="Calibri"/>
              </a:rPr>
              <a:t>managers</a:t>
            </a:r>
            <a:r>
              <a:rPr b="0" spc="325" dirty="0">
                <a:latin typeface="Calibri"/>
                <a:cs typeface="Calibri"/>
              </a:rPr>
              <a:t> </a:t>
            </a:r>
            <a:r>
              <a:rPr b="0" dirty="0">
                <a:latin typeface="Calibri"/>
                <a:cs typeface="Calibri"/>
              </a:rPr>
              <a:t>must</a:t>
            </a:r>
            <a:r>
              <a:rPr b="0" spc="325" dirty="0">
                <a:latin typeface="Calibri"/>
                <a:cs typeface="Calibri"/>
              </a:rPr>
              <a:t> </a:t>
            </a:r>
            <a:r>
              <a:rPr b="0" dirty="0">
                <a:latin typeface="Calibri"/>
                <a:cs typeface="Calibri"/>
              </a:rPr>
              <a:t>do</a:t>
            </a:r>
            <a:r>
              <a:rPr b="0" spc="315" dirty="0">
                <a:latin typeface="Calibri"/>
                <a:cs typeface="Calibri"/>
              </a:rPr>
              <a:t> </a:t>
            </a:r>
            <a:r>
              <a:rPr b="0" dirty="0">
                <a:latin typeface="Calibri"/>
                <a:cs typeface="Calibri"/>
              </a:rPr>
              <a:t>so</a:t>
            </a:r>
            <a:r>
              <a:rPr b="0" spc="320" dirty="0">
                <a:latin typeface="Calibri"/>
                <a:cs typeface="Calibri"/>
              </a:rPr>
              <a:t> </a:t>
            </a:r>
            <a:r>
              <a:rPr b="0" dirty="0">
                <a:latin typeface="Calibri"/>
                <a:cs typeface="Calibri"/>
              </a:rPr>
              <a:t>without</a:t>
            </a:r>
            <a:r>
              <a:rPr b="0" spc="320" dirty="0">
                <a:latin typeface="Calibri"/>
                <a:cs typeface="Calibri"/>
              </a:rPr>
              <a:t> </a:t>
            </a:r>
            <a:r>
              <a:rPr b="0" dirty="0">
                <a:latin typeface="Calibri"/>
                <a:cs typeface="Calibri"/>
              </a:rPr>
              <a:t>the</a:t>
            </a:r>
            <a:r>
              <a:rPr b="0" spc="325" dirty="0">
                <a:latin typeface="Calibri"/>
                <a:cs typeface="Calibri"/>
              </a:rPr>
              <a:t> </a:t>
            </a:r>
            <a:r>
              <a:rPr b="0" dirty="0">
                <a:latin typeface="Calibri"/>
                <a:cs typeface="Calibri"/>
              </a:rPr>
              <a:t>requisite</a:t>
            </a:r>
            <a:r>
              <a:rPr b="0" spc="330" dirty="0">
                <a:latin typeface="Calibri"/>
                <a:cs typeface="Calibri"/>
              </a:rPr>
              <a:t> </a:t>
            </a:r>
            <a:r>
              <a:rPr b="0" dirty="0">
                <a:latin typeface="Calibri"/>
                <a:cs typeface="Calibri"/>
              </a:rPr>
              <a:t>authority</a:t>
            </a:r>
            <a:r>
              <a:rPr b="0" spc="320" dirty="0">
                <a:latin typeface="Calibri"/>
                <a:cs typeface="Calibri"/>
              </a:rPr>
              <a:t> </a:t>
            </a:r>
            <a:r>
              <a:rPr b="0" spc="-25" dirty="0">
                <a:latin typeface="Calibri"/>
                <a:cs typeface="Calibri"/>
              </a:rPr>
              <a:t>to 	</a:t>
            </a:r>
            <a:r>
              <a:rPr b="0" dirty="0">
                <a:latin typeface="Calibri"/>
                <a:cs typeface="Calibri"/>
              </a:rPr>
              <a:t>expect</a:t>
            </a:r>
            <a:r>
              <a:rPr b="0" spc="290" dirty="0">
                <a:latin typeface="Calibri"/>
                <a:cs typeface="Calibri"/>
              </a:rPr>
              <a:t> </a:t>
            </a:r>
            <a:r>
              <a:rPr b="0" dirty="0">
                <a:latin typeface="Calibri"/>
                <a:cs typeface="Calibri"/>
              </a:rPr>
              <a:t>or</a:t>
            </a:r>
            <a:r>
              <a:rPr b="0" spc="295" dirty="0">
                <a:latin typeface="Calibri"/>
                <a:cs typeface="Calibri"/>
              </a:rPr>
              <a:t> </a:t>
            </a:r>
            <a:r>
              <a:rPr b="0" dirty="0">
                <a:latin typeface="Calibri"/>
                <a:cs typeface="Calibri"/>
              </a:rPr>
              <a:t>demand</a:t>
            </a:r>
            <a:r>
              <a:rPr b="0" spc="295" dirty="0">
                <a:latin typeface="Calibri"/>
                <a:cs typeface="Calibri"/>
              </a:rPr>
              <a:t> </a:t>
            </a:r>
            <a:r>
              <a:rPr b="0" dirty="0">
                <a:latin typeface="Calibri"/>
                <a:cs typeface="Calibri"/>
              </a:rPr>
              <a:t>cooperation.</a:t>
            </a:r>
            <a:r>
              <a:rPr b="0" spc="290" dirty="0">
                <a:latin typeface="Calibri"/>
                <a:cs typeface="Calibri"/>
              </a:rPr>
              <a:t> </a:t>
            </a:r>
            <a:r>
              <a:rPr b="0" dirty="0">
                <a:latin typeface="Calibri"/>
                <a:cs typeface="Calibri"/>
              </a:rPr>
              <a:t>Doing</a:t>
            </a:r>
            <a:r>
              <a:rPr b="0" spc="290" dirty="0">
                <a:latin typeface="Calibri"/>
                <a:cs typeface="Calibri"/>
              </a:rPr>
              <a:t> </a:t>
            </a:r>
            <a:r>
              <a:rPr b="0" dirty="0">
                <a:latin typeface="Calibri"/>
                <a:cs typeface="Calibri"/>
              </a:rPr>
              <a:t>so</a:t>
            </a:r>
            <a:r>
              <a:rPr b="0" spc="290" dirty="0">
                <a:latin typeface="Calibri"/>
                <a:cs typeface="Calibri"/>
              </a:rPr>
              <a:t> </a:t>
            </a:r>
            <a:r>
              <a:rPr b="0" dirty="0">
                <a:latin typeface="Calibri"/>
                <a:cs typeface="Calibri"/>
              </a:rPr>
              <a:t>requires</a:t>
            </a:r>
            <a:r>
              <a:rPr b="0" spc="295" dirty="0">
                <a:latin typeface="Calibri"/>
                <a:cs typeface="Calibri"/>
              </a:rPr>
              <a:t> </a:t>
            </a:r>
            <a:r>
              <a:rPr b="0" dirty="0">
                <a:latin typeface="Calibri"/>
                <a:cs typeface="Calibri"/>
              </a:rPr>
              <a:t>sound</a:t>
            </a:r>
            <a:r>
              <a:rPr b="0" spc="300" dirty="0">
                <a:latin typeface="Calibri"/>
                <a:cs typeface="Calibri"/>
              </a:rPr>
              <a:t> </a:t>
            </a:r>
            <a:r>
              <a:rPr b="0" dirty="0">
                <a:latin typeface="Calibri"/>
                <a:cs typeface="Calibri"/>
              </a:rPr>
              <a:t>communication</a:t>
            </a:r>
            <a:r>
              <a:rPr b="0" spc="295" dirty="0">
                <a:latin typeface="Calibri"/>
                <a:cs typeface="Calibri"/>
              </a:rPr>
              <a:t> </a:t>
            </a:r>
            <a:r>
              <a:rPr b="0" spc="-10" dirty="0">
                <a:latin typeface="Calibri"/>
                <a:cs typeface="Calibri"/>
              </a:rPr>
              <a:t>skills, 	</a:t>
            </a:r>
            <a:r>
              <a:rPr b="0" dirty="0">
                <a:latin typeface="Calibri"/>
                <a:cs typeface="Calibri"/>
              </a:rPr>
              <a:t>political</a:t>
            </a:r>
            <a:r>
              <a:rPr b="0" spc="-70" dirty="0">
                <a:latin typeface="Calibri"/>
                <a:cs typeface="Calibri"/>
              </a:rPr>
              <a:t> </a:t>
            </a:r>
            <a:r>
              <a:rPr b="0" spc="-25" dirty="0">
                <a:latin typeface="Calibri"/>
                <a:cs typeface="Calibri"/>
              </a:rPr>
              <a:t>savvy,</a:t>
            </a:r>
            <a:r>
              <a:rPr b="0" spc="-70" dirty="0">
                <a:latin typeface="Calibri"/>
                <a:cs typeface="Calibri"/>
              </a:rPr>
              <a:t> </a:t>
            </a:r>
            <a:r>
              <a:rPr b="0" dirty="0">
                <a:latin typeface="Calibri"/>
                <a:cs typeface="Calibri"/>
              </a:rPr>
              <a:t>and</a:t>
            </a:r>
            <a:r>
              <a:rPr b="0" spc="-70" dirty="0">
                <a:latin typeface="Calibri"/>
                <a:cs typeface="Calibri"/>
              </a:rPr>
              <a:t> </a:t>
            </a:r>
            <a:r>
              <a:rPr b="0" dirty="0">
                <a:latin typeface="Calibri"/>
                <a:cs typeface="Calibri"/>
              </a:rPr>
              <a:t>a</a:t>
            </a:r>
            <a:r>
              <a:rPr b="0" spc="-70" dirty="0">
                <a:latin typeface="Calibri"/>
                <a:cs typeface="Calibri"/>
              </a:rPr>
              <a:t> </a:t>
            </a:r>
            <a:r>
              <a:rPr b="0" dirty="0">
                <a:latin typeface="Calibri"/>
                <a:cs typeface="Calibri"/>
              </a:rPr>
              <a:t>broad</a:t>
            </a:r>
            <a:r>
              <a:rPr b="0" spc="-70" dirty="0">
                <a:latin typeface="Calibri"/>
                <a:cs typeface="Calibri"/>
              </a:rPr>
              <a:t> </a:t>
            </a:r>
            <a:r>
              <a:rPr b="0" dirty="0">
                <a:latin typeface="Calibri"/>
                <a:cs typeface="Calibri"/>
              </a:rPr>
              <a:t>influence</a:t>
            </a:r>
            <a:r>
              <a:rPr b="0" spc="-70" dirty="0">
                <a:latin typeface="Calibri"/>
                <a:cs typeface="Calibri"/>
              </a:rPr>
              <a:t> </a:t>
            </a:r>
            <a:r>
              <a:rPr b="0" spc="-10" dirty="0">
                <a:latin typeface="Calibri"/>
                <a:cs typeface="Calibri"/>
              </a:rPr>
              <a:t>base.</a:t>
            </a:r>
          </a:p>
        </p:txBody>
      </p:sp>
      <p:sp>
        <p:nvSpPr>
          <p:cNvPr id="3" name="object 3"/>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9</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4" dirty="0"/>
              <a:t>Managing</a:t>
            </a:r>
            <a:r>
              <a:rPr spc="130" dirty="0"/>
              <a:t> </a:t>
            </a:r>
            <a:r>
              <a:rPr spc="85" dirty="0"/>
              <a:t>Project</a:t>
            </a:r>
            <a:r>
              <a:rPr spc="140" dirty="0"/>
              <a:t> </a:t>
            </a:r>
            <a:r>
              <a:rPr spc="90" dirty="0"/>
              <a:t>Stakeholders</a:t>
            </a:r>
            <a:r>
              <a:rPr spc="135" dirty="0"/>
              <a:t> </a:t>
            </a:r>
            <a:r>
              <a:rPr sz="1950" spc="-10" dirty="0"/>
              <a:t>(6/6)</a:t>
            </a:r>
            <a:endParaRPr sz="1950"/>
          </a:p>
        </p:txBody>
      </p:sp>
      <p:pic>
        <p:nvPicPr>
          <p:cNvPr id="5" name="Picture 4">
            <a:extLst>
              <a:ext uri="{FF2B5EF4-FFF2-40B4-BE49-F238E27FC236}">
                <a16:creationId xmlns:a16="http://schemas.microsoft.com/office/drawing/2014/main" id="{67FFCC12-5BA5-AE9E-5B6F-3B77D4F83F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95779"/>
            <a:ext cx="5585460" cy="45212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800" b="1" dirty="0">
                <a:latin typeface="Calibri"/>
                <a:cs typeface="Calibri"/>
              </a:rPr>
              <a:t>Mapping</a:t>
            </a:r>
            <a:r>
              <a:rPr sz="2800" b="1" spc="-75" dirty="0">
                <a:latin typeface="Calibri"/>
                <a:cs typeface="Calibri"/>
              </a:rPr>
              <a:t> </a:t>
            </a:r>
            <a:r>
              <a:rPr sz="2800" b="1" spc="-10" dirty="0">
                <a:latin typeface="Calibri"/>
                <a:cs typeface="Calibri"/>
              </a:rPr>
              <a:t>Stakeholder</a:t>
            </a:r>
            <a:r>
              <a:rPr sz="2800" b="1" spc="-65" dirty="0">
                <a:latin typeface="Calibri"/>
                <a:cs typeface="Calibri"/>
              </a:rPr>
              <a:t> </a:t>
            </a:r>
            <a:r>
              <a:rPr sz="2800" b="1" spc="-10" dirty="0">
                <a:latin typeface="Calibri"/>
                <a:cs typeface="Calibri"/>
              </a:rPr>
              <a:t>Dependencies</a:t>
            </a:r>
            <a:endParaRPr sz="2800">
              <a:latin typeface="Calibri"/>
              <a:cs typeface="Calibri"/>
            </a:endParaRPr>
          </a:p>
        </p:txBody>
      </p:sp>
      <p:sp>
        <p:nvSpPr>
          <p:cNvPr id="3" name="object 3"/>
          <p:cNvSpPr txBox="1"/>
          <p:nvPr/>
        </p:nvSpPr>
        <p:spPr>
          <a:xfrm>
            <a:off x="1374139" y="2224532"/>
            <a:ext cx="9179560" cy="812165"/>
          </a:xfrm>
          <a:prstGeom prst="rect">
            <a:avLst/>
          </a:prstGeom>
        </p:spPr>
        <p:txBody>
          <a:bodyPr vert="horz" wrap="square" lIns="0" tIns="40005" rIns="0" bIns="0" rtlCol="0">
            <a:spAutoFit/>
          </a:bodyPr>
          <a:lstStyle/>
          <a:p>
            <a:pPr marL="526415" indent="-513715">
              <a:lnSpc>
                <a:spcPct val="100000"/>
              </a:lnSpc>
              <a:spcBef>
                <a:spcPts val="315"/>
              </a:spcBef>
              <a:buAutoNum type="arabicPeriod"/>
              <a:tabLst>
                <a:tab pos="526415" algn="l"/>
              </a:tabLst>
            </a:pPr>
            <a:r>
              <a:rPr sz="2400" dirty="0">
                <a:latin typeface="Calibri"/>
                <a:cs typeface="Calibri"/>
              </a:rPr>
              <a:t>Identify</a:t>
            </a:r>
            <a:r>
              <a:rPr sz="2400" spc="-55" dirty="0">
                <a:latin typeface="Calibri"/>
                <a:cs typeface="Calibri"/>
              </a:rPr>
              <a:t> </a:t>
            </a:r>
            <a:r>
              <a:rPr sz="2400" dirty="0">
                <a:latin typeface="Calibri"/>
                <a:cs typeface="Calibri"/>
              </a:rPr>
              <a:t>those</a:t>
            </a:r>
            <a:r>
              <a:rPr sz="2400" spc="-50" dirty="0">
                <a:latin typeface="Calibri"/>
                <a:cs typeface="Calibri"/>
              </a:rPr>
              <a:t> </a:t>
            </a:r>
            <a:r>
              <a:rPr sz="2400" spc="-20" dirty="0">
                <a:latin typeface="Calibri"/>
                <a:cs typeface="Calibri"/>
              </a:rPr>
              <a:t>stakeholders</a:t>
            </a:r>
            <a:r>
              <a:rPr sz="2400" spc="-55" dirty="0">
                <a:latin typeface="Calibri"/>
                <a:cs typeface="Calibri"/>
              </a:rPr>
              <a:t> </a:t>
            </a:r>
            <a:r>
              <a:rPr sz="2400" dirty="0">
                <a:latin typeface="Calibri"/>
                <a:cs typeface="Calibri"/>
              </a:rPr>
              <a:t>on</a:t>
            </a:r>
            <a:r>
              <a:rPr sz="2400" spc="-55" dirty="0">
                <a:latin typeface="Calibri"/>
                <a:cs typeface="Calibri"/>
              </a:rPr>
              <a:t> </a:t>
            </a:r>
            <a:r>
              <a:rPr sz="2400" dirty="0">
                <a:latin typeface="Calibri"/>
                <a:cs typeface="Calibri"/>
              </a:rPr>
              <a:t>whom</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depends</a:t>
            </a:r>
            <a:r>
              <a:rPr sz="2400" spc="-60" dirty="0">
                <a:latin typeface="Calibri"/>
                <a:cs typeface="Calibri"/>
              </a:rPr>
              <a:t> </a:t>
            </a:r>
            <a:r>
              <a:rPr sz="2400" dirty="0">
                <a:latin typeface="Calibri"/>
                <a:cs typeface="Calibri"/>
              </a:rPr>
              <a:t>for</a:t>
            </a:r>
            <a:r>
              <a:rPr sz="2400" spc="-50" dirty="0">
                <a:latin typeface="Calibri"/>
                <a:cs typeface="Calibri"/>
              </a:rPr>
              <a:t> </a:t>
            </a:r>
            <a:r>
              <a:rPr sz="2400" spc="-10" dirty="0">
                <a:latin typeface="Calibri"/>
                <a:cs typeface="Calibri"/>
              </a:rPr>
              <a:t>success.</a:t>
            </a:r>
            <a:endParaRPr sz="2400">
              <a:latin typeface="Calibri"/>
              <a:cs typeface="Calibri"/>
            </a:endParaRPr>
          </a:p>
          <a:p>
            <a:pPr marL="526415" indent="-513715">
              <a:lnSpc>
                <a:spcPct val="100000"/>
              </a:lnSpc>
              <a:spcBef>
                <a:spcPts val="215"/>
              </a:spcBef>
              <a:buAutoNum type="arabicPeriod"/>
              <a:tabLst>
                <a:tab pos="526415" algn="l"/>
              </a:tabLst>
            </a:pPr>
            <a:r>
              <a:rPr sz="2400" dirty="0">
                <a:latin typeface="Calibri"/>
                <a:cs typeface="Calibri"/>
              </a:rPr>
              <a:t>It</a:t>
            </a:r>
            <a:r>
              <a:rPr sz="2400" spc="-80" dirty="0">
                <a:latin typeface="Calibri"/>
                <a:cs typeface="Calibri"/>
              </a:rPr>
              <a:t> </a:t>
            </a:r>
            <a:r>
              <a:rPr sz="2400" dirty="0">
                <a:latin typeface="Calibri"/>
                <a:cs typeface="Calibri"/>
              </a:rPr>
              <a:t>is</a:t>
            </a:r>
            <a:r>
              <a:rPr sz="2400" spc="-75" dirty="0">
                <a:latin typeface="Calibri"/>
                <a:cs typeface="Calibri"/>
              </a:rPr>
              <a:t> </a:t>
            </a:r>
            <a:r>
              <a:rPr sz="2400" spc="-10" dirty="0">
                <a:latin typeface="Calibri"/>
                <a:cs typeface="Calibri"/>
              </a:rPr>
              <a:t>always</a:t>
            </a:r>
            <a:r>
              <a:rPr sz="2400" spc="-75" dirty="0">
                <a:latin typeface="Calibri"/>
                <a:cs typeface="Calibri"/>
              </a:rPr>
              <a:t> </a:t>
            </a:r>
            <a:r>
              <a:rPr sz="2400" dirty="0">
                <a:latin typeface="Calibri"/>
                <a:cs typeface="Calibri"/>
              </a:rPr>
              <a:t>better</a:t>
            </a:r>
            <a:r>
              <a:rPr sz="2400" spc="-70" dirty="0">
                <a:latin typeface="Calibri"/>
                <a:cs typeface="Calibri"/>
              </a:rPr>
              <a:t> </a:t>
            </a:r>
            <a:r>
              <a:rPr sz="2400" dirty="0">
                <a:latin typeface="Calibri"/>
                <a:cs typeface="Calibri"/>
              </a:rPr>
              <a:t>to</a:t>
            </a:r>
            <a:r>
              <a:rPr sz="2400" spc="-75" dirty="0">
                <a:latin typeface="Calibri"/>
                <a:cs typeface="Calibri"/>
              </a:rPr>
              <a:t> </a:t>
            </a:r>
            <a:r>
              <a:rPr sz="2400" spc="-10" dirty="0">
                <a:latin typeface="Calibri"/>
                <a:cs typeface="Calibri"/>
              </a:rPr>
              <a:t>overestimate</a:t>
            </a:r>
            <a:r>
              <a:rPr sz="2400" spc="-65" dirty="0">
                <a:latin typeface="Calibri"/>
                <a:cs typeface="Calibri"/>
              </a:rPr>
              <a:t> </a:t>
            </a:r>
            <a:r>
              <a:rPr sz="2400" dirty="0">
                <a:latin typeface="Calibri"/>
                <a:cs typeface="Calibri"/>
              </a:rPr>
              <a:t>rather</a:t>
            </a:r>
            <a:r>
              <a:rPr sz="2400" spc="-70" dirty="0">
                <a:latin typeface="Calibri"/>
                <a:cs typeface="Calibri"/>
              </a:rPr>
              <a:t> </a:t>
            </a:r>
            <a:r>
              <a:rPr sz="2400" dirty="0">
                <a:latin typeface="Calibri"/>
                <a:cs typeface="Calibri"/>
              </a:rPr>
              <a:t>than</a:t>
            </a:r>
            <a:r>
              <a:rPr sz="2400" spc="-75" dirty="0">
                <a:latin typeface="Calibri"/>
                <a:cs typeface="Calibri"/>
              </a:rPr>
              <a:t> </a:t>
            </a:r>
            <a:r>
              <a:rPr sz="2400" spc="-10" dirty="0">
                <a:latin typeface="Calibri"/>
                <a:cs typeface="Calibri"/>
              </a:rPr>
              <a:t>underestimate</a:t>
            </a:r>
            <a:endParaRPr sz="2400">
              <a:latin typeface="Calibri"/>
              <a:cs typeface="Calibri"/>
            </a:endParaRPr>
          </a:p>
        </p:txBody>
      </p:sp>
      <p:sp>
        <p:nvSpPr>
          <p:cNvPr id="4" name="object 4"/>
          <p:cNvSpPr txBox="1"/>
          <p:nvPr/>
        </p:nvSpPr>
        <p:spPr>
          <a:xfrm>
            <a:off x="11751904" y="6441620"/>
            <a:ext cx="155575" cy="186055"/>
          </a:xfrm>
          <a:prstGeom prst="rect">
            <a:avLst/>
          </a:prstGeom>
        </p:spPr>
        <p:txBody>
          <a:bodyPr vert="horz" wrap="square" lIns="0" tIns="0" rIns="0" bIns="0" rtlCol="0">
            <a:spAutoFit/>
          </a:bodyPr>
          <a:lstStyle/>
          <a:p>
            <a:pPr>
              <a:lnSpc>
                <a:spcPts val="1385"/>
              </a:lnSpc>
            </a:pPr>
            <a:r>
              <a:rPr sz="1200" b="1" spc="-25" dirty="0">
                <a:solidFill>
                  <a:srgbClr val="898989"/>
                </a:solidFill>
                <a:latin typeface="Calibri"/>
                <a:cs typeface="Calibri"/>
              </a:rPr>
              <a:t>10</a:t>
            </a:r>
            <a:endParaRPr sz="1200">
              <a:latin typeface="Calibri"/>
              <a:cs typeface="Calibri"/>
            </a:endParaRPr>
          </a:p>
        </p:txBody>
      </p:sp>
      <p:pic>
        <p:nvPicPr>
          <p:cNvPr id="5" name="object 5"/>
          <p:cNvPicPr/>
          <p:nvPr/>
        </p:nvPicPr>
        <p:blipFill>
          <a:blip r:embed="rId2" cstate="print"/>
          <a:stretch>
            <a:fillRect/>
          </a:stretch>
        </p:blipFill>
        <p:spPr>
          <a:xfrm>
            <a:off x="8318079" y="3776219"/>
            <a:ext cx="3688404" cy="3081780"/>
          </a:xfrm>
          <a:prstGeom prst="rect">
            <a:avLst/>
          </a:prstGeom>
        </p:spPr>
      </p:pic>
      <p:sp>
        <p:nvSpPr>
          <p:cNvPr id="6" name="object 6"/>
          <p:cNvSpPr txBox="1"/>
          <p:nvPr/>
        </p:nvSpPr>
        <p:spPr>
          <a:xfrm>
            <a:off x="9835602" y="2821940"/>
            <a:ext cx="1928495" cy="845819"/>
          </a:xfrm>
          <a:prstGeom prst="rect">
            <a:avLst/>
          </a:prstGeom>
        </p:spPr>
        <p:txBody>
          <a:bodyPr vert="horz" wrap="square" lIns="0" tIns="13970" rIns="0" bIns="0" rtlCol="0">
            <a:spAutoFit/>
          </a:bodyPr>
          <a:lstStyle/>
          <a:p>
            <a:pPr marL="12700" marR="5080">
              <a:lnSpc>
                <a:spcPct val="99400"/>
              </a:lnSpc>
              <a:spcBef>
                <a:spcPts val="110"/>
              </a:spcBef>
            </a:pPr>
            <a:r>
              <a:rPr sz="1800" spc="-10" dirty="0">
                <a:latin typeface="Calibri"/>
                <a:cs typeface="Calibri"/>
              </a:rPr>
              <a:t>Stakeholder</a:t>
            </a:r>
            <a:r>
              <a:rPr sz="1800" spc="-25" dirty="0">
                <a:latin typeface="Calibri"/>
                <a:cs typeface="Calibri"/>
              </a:rPr>
              <a:t> </a:t>
            </a:r>
            <a:r>
              <a:rPr sz="1800" dirty="0">
                <a:latin typeface="Calibri"/>
                <a:cs typeface="Calibri"/>
              </a:rPr>
              <a:t>Map</a:t>
            </a:r>
            <a:r>
              <a:rPr sz="1800" spc="-15" dirty="0">
                <a:latin typeface="Calibri"/>
                <a:cs typeface="Calibri"/>
              </a:rPr>
              <a:t> </a:t>
            </a:r>
            <a:r>
              <a:rPr sz="1800" spc="-25" dirty="0">
                <a:latin typeface="Calibri"/>
                <a:cs typeface="Calibri"/>
              </a:rPr>
              <a:t>for </a:t>
            </a:r>
            <a:r>
              <a:rPr sz="1800" dirty="0">
                <a:latin typeface="Calibri"/>
                <a:cs typeface="Calibri"/>
              </a:rPr>
              <a:t>Financial</a:t>
            </a:r>
            <a:r>
              <a:rPr sz="1800" spc="-45" dirty="0">
                <a:latin typeface="Calibri"/>
                <a:cs typeface="Calibri"/>
              </a:rPr>
              <a:t> </a:t>
            </a:r>
            <a:r>
              <a:rPr sz="1800" spc="-10" dirty="0">
                <a:latin typeface="Calibri"/>
                <a:cs typeface="Calibri"/>
              </a:rPr>
              <a:t>Software Installation</a:t>
            </a:r>
            <a:r>
              <a:rPr sz="1800" spc="-25" dirty="0">
                <a:latin typeface="Calibri"/>
                <a:cs typeface="Calibri"/>
              </a:rPr>
              <a:t> </a:t>
            </a:r>
            <a:r>
              <a:rPr sz="1800" spc="-10" dirty="0">
                <a:latin typeface="Calibri"/>
                <a:cs typeface="Calibri"/>
              </a:rPr>
              <a:t>Project</a:t>
            </a:r>
            <a:endParaRPr sz="1800">
              <a:latin typeface="Calibri"/>
              <a:cs typeface="Calibri"/>
            </a:endParaRPr>
          </a:p>
        </p:txBody>
      </p:sp>
      <p:sp>
        <p:nvSpPr>
          <p:cNvPr id="7" name="object 7"/>
          <p:cNvSpPr txBox="1"/>
          <p:nvPr/>
        </p:nvSpPr>
        <p:spPr>
          <a:xfrm>
            <a:off x="1374139" y="2949956"/>
            <a:ext cx="6619875" cy="2729230"/>
          </a:xfrm>
          <a:prstGeom prst="rect">
            <a:avLst/>
          </a:prstGeom>
        </p:spPr>
        <p:txBody>
          <a:bodyPr vert="horz" wrap="square" lIns="0" tIns="40005" rIns="0" bIns="0" rtlCol="0">
            <a:spAutoFit/>
          </a:bodyPr>
          <a:lstStyle/>
          <a:p>
            <a:pPr marL="526415">
              <a:lnSpc>
                <a:spcPct val="100000"/>
              </a:lnSpc>
              <a:spcBef>
                <a:spcPts val="315"/>
              </a:spcBef>
            </a:pPr>
            <a:r>
              <a:rPr sz="2400" spc="-10" dirty="0">
                <a:latin typeface="Calibri"/>
                <a:cs typeface="Calibri"/>
              </a:rPr>
              <a:t>dependencies.</a:t>
            </a:r>
            <a:endParaRPr sz="2400" dirty="0">
              <a:latin typeface="Calibri"/>
              <a:cs typeface="Calibri"/>
            </a:endParaRPr>
          </a:p>
          <a:p>
            <a:pPr marL="594995" indent="-582295">
              <a:lnSpc>
                <a:spcPct val="100000"/>
              </a:lnSpc>
              <a:spcBef>
                <a:spcPts val="215"/>
              </a:spcBef>
              <a:buAutoNum type="arabicPeriod" startAt="3"/>
              <a:tabLst>
                <a:tab pos="594995" algn="l"/>
              </a:tabLst>
            </a:pPr>
            <a:r>
              <a:rPr sz="2400" dirty="0">
                <a:latin typeface="Calibri"/>
                <a:cs typeface="Calibri"/>
              </a:rPr>
              <a:t>Assess</a:t>
            </a:r>
            <a:r>
              <a:rPr sz="2400" spc="-45" dirty="0">
                <a:latin typeface="Calibri"/>
                <a:cs typeface="Calibri"/>
              </a:rPr>
              <a:t> </a:t>
            </a:r>
            <a:r>
              <a:rPr sz="2400" dirty="0">
                <a:latin typeface="Calibri"/>
                <a:cs typeface="Calibri"/>
              </a:rPr>
              <a:t>their</a:t>
            </a:r>
            <a:r>
              <a:rPr sz="2400" spc="-35" dirty="0">
                <a:latin typeface="Calibri"/>
                <a:cs typeface="Calibri"/>
              </a:rPr>
              <a:t> </a:t>
            </a:r>
            <a:r>
              <a:rPr sz="2400" spc="-10" dirty="0">
                <a:latin typeface="Calibri"/>
                <a:cs typeface="Calibri"/>
              </a:rPr>
              <a:t>significance.</a:t>
            </a:r>
            <a:endParaRPr sz="2400" dirty="0">
              <a:latin typeface="Calibri"/>
              <a:cs typeface="Calibri"/>
            </a:endParaRPr>
          </a:p>
          <a:p>
            <a:pPr marL="529590" marR="5080" indent="-514350">
              <a:lnSpc>
                <a:spcPct val="100800"/>
              </a:lnSpc>
              <a:spcBef>
                <a:spcPts val="575"/>
              </a:spcBef>
              <a:buAutoNum type="arabicPeriod" startAt="3"/>
              <a:tabLst>
                <a:tab pos="529590" algn="l"/>
              </a:tabLst>
            </a:pPr>
            <a:r>
              <a:rPr sz="2400" dirty="0">
                <a:latin typeface="Calibri"/>
                <a:cs typeface="Calibri"/>
              </a:rPr>
              <a:t>Those</a:t>
            </a:r>
            <a:r>
              <a:rPr sz="2400" spc="-45" dirty="0">
                <a:latin typeface="Calibri"/>
                <a:cs typeface="Calibri"/>
              </a:rPr>
              <a:t> </a:t>
            </a:r>
            <a:r>
              <a:rPr sz="2400" dirty="0">
                <a:latin typeface="Calibri"/>
                <a:cs typeface="Calibri"/>
              </a:rPr>
              <a:t>with</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most</a:t>
            </a:r>
            <a:r>
              <a:rPr sz="2400" spc="-55" dirty="0">
                <a:latin typeface="Calibri"/>
                <a:cs typeface="Calibri"/>
              </a:rPr>
              <a:t> </a:t>
            </a:r>
            <a:r>
              <a:rPr sz="2400" dirty="0">
                <a:latin typeface="Calibri"/>
                <a:cs typeface="Calibri"/>
              </a:rPr>
              <a:t>power</a:t>
            </a:r>
            <a:r>
              <a:rPr sz="2400" spc="-45" dirty="0">
                <a:latin typeface="Calibri"/>
                <a:cs typeface="Calibri"/>
              </a:rPr>
              <a:t> </a:t>
            </a:r>
            <a:r>
              <a:rPr sz="2400" dirty="0">
                <a:latin typeface="Calibri"/>
                <a:cs typeface="Calibri"/>
              </a:rPr>
              <a:t>and</a:t>
            </a:r>
            <a:r>
              <a:rPr sz="2400" spc="-50" dirty="0">
                <a:latin typeface="Calibri"/>
                <a:cs typeface="Calibri"/>
              </a:rPr>
              <a:t> </a:t>
            </a:r>
            <a:r>
              <a:rPr sz="2400" spc="-10" dirty="0">
                <a:latin typeface="Calibri"/>
                <a:cs typeface="Calibri"/>
              </a:rPr>
              <a:t>interest</a:t>
            </a:r>
            <a:r>
              <a:rPr sz="2400" spc="-50" dirty="0">
                <a:latin typeface="Calibri"/>
                <a:cs typeface="Calibri"/>
              </a:rPr>
              <a:t> </a:t>
            </a:r>
            <a:r>
              <a:rPr sz="2400" dirty="0">
                <a:latin typeface="Calibri"/>
                <a:cs typeface="Calibri"/>
              </a:rPr>
              <a:t>in</a:t>
            </a:r>
            <a:r>
              <a:rPr sz="2400" spc="-50" dirty="0">
                <a:latin typeface="Calibri"/>
                <a:cs typeface="Calibri"/>
              </a:rPr>
              <a:t> </a:t>
            </a:r>
            <a:r>
              <a:rPr sz="2400" spc="-25" dirty="0">
                <a:latin typeface="Calibri"/>
                <a:cs typeface="Calibri"/>
              </a:rPr>
              <a:t>the </a:t>
            </a:r>
            <a:r>
              <a:rPr sz="2400" dirty="0">
                <a:latin typeface="Calibri"/>
                <a:cs typeface="Calibri"/>
              </a:rPr>
              <a:t>project</a:t>
            </a:r>
            <a:r>
              <a:rPr sz="2400" spc="-50" dirty="0">
                <a:latin typeface="Calibri"/>
                <a:cs typeface="Calibri"/>
              </a:rPr>
              <a:t> </a:t>
            </a:r>
            <a:r>
              <a:rPr sz="2400" dirty="0">
                <a:latin typeface="Calibri"/>
                <a:cs typeface="Calibri"/>
              </a:rPr>
              <a:t>are</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most</a:t>
            </a:r>
            <a:r>
              <a:rPr sz="2400" spc="-50" dirty="0">
                <a:latin typeface="Calibri"/>
                <a:cs typeface="Calibri"/>
              </a:rPr>
              <a:t> </a:t>
            </a:r>
            <a:r>
              <a:rPr sz="2400" spc="-10" dirty="0">
                <a:latin typeface="Calibri"/>
                <a:cs typeface="Calibri"/>
              </a:rPr>
              <a:t>significant</a:t>
            </a:r>
            <a:r>
              <a:rPr sz="2400" spc="-50" dirty="0">
                <a:latin typeface="Calibri"/>
                <a:cs typeface="Calibri"/>
              </a:rPr>
              <a:t> </a:t>
            </a:r>
            <a:r>
              <a:rPr sz="2400" spc="-20" dirty="0">
                <a:latin typeface="Calibri"/>
                <a:cs typeface="Calibri"/>
              </a:rPr>
              <a:t>stakeholders</a:t>
            </a:r>
            <a:r>
              <a:rPr sz="2400" spc="-50" dirty="0">
                <a:latin typeface="Calibri"/>
                <a:cs typeface="Calibri"/>
              </a:rPr>
              <a:t> </a:t>
            </a:r>
            <a:r>
              <a:rPr sz="2400" spc="-25" dirty="0">
                <a:latin typeface="Calibri"/>
                <a:cs typeface="Calibri"/>
              </a:rPr>
              <a:t>and </a:t>
            </a:r>
            <a:r>
              <a:rPr sz="2400" dirty="0">
                <a:latin typeface="Calibri"/>
                <a:cs typeface="Calibri"/>
              </a:rPr>
              <a:t>deserve</a:t>
            </a:r>
            <a:r>
              <a:rPr sz="2400" spc="-60"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greatest</a:t>
            </a:r>
            <a:r>
              <a:rPr sz="2400" spc="-65" dirty="0">
                <a:latin typeface="Calibri"/>
                <a:cs typeface="Calibri"/>
              </a:rPr>
              <a:t> </a:t>
            </a:r>
            <a:r>
              <a:rPr sz="2400" spc="-10" dirty="0">
                <a:latin typeface="Calibri"/>
                <a:cs typeface="Calibri"/>
              </a:rPr>
              <a:t>attention.</a:t>
            </a:r>
            <a:r>
              <a:rPr sz="2400" spc="-70" dirty="0">
                <a:latin typeface="Calibri"/>
                <a:cs typeface="Calibri"/>
              </a:rPr>
              <a:t> </a:t>
            </a:r>
            <a:r>
              <a:rPr sz="2400" spc="-45" dirty="0">
                <a:latin typeface="Calibri"/>
                <a:cs typeface="Calibri"/>
              </a:rPr>
              <a:t>You</a:t>
            </a:r>
            <a:r>
              <a:rPr sz="2400" spc="-60" dirty="0">
                <a:latin typeface="Calibri"/>
                <a:cs typeface="Calibri"/>
              </a:rPr>
              <a:t> </a:t>
            </a:r>
            <a:r>
              <a:rPr sz="2400" dirty="0">
                <a:latin typeface="Calibri"/>
                <a:cs typeface="Calibri"/>
              </a:rPr>
              <a:t>need</a:t>
            </a:r>
            <a:r>
              <a:rPr sz="2400" spc="-65" dirty="0">
                <a:latin typeface="Calibri"/>
                <a:cs typeface="Calibri"/>
              </a:rPr>
              <a:t> </a:t>
            </a:r>
            <a:r>
              <a:rPr sz="2400" dirty="0">
                <a:latin typeface="Calibri"/>
                <a:cs typeface="Calibri"/>
              </a:rPr>
              <a:t>to</a:t>
            </a:r>
            <a:r>
              <a:rPr sz="2400" spc="-65" dirty="0">
                <a:latin typeface="Calibri"/>
                <a:cs typeface="Calibri"/>
              </a:rPr>
              <a:t> </a:t>
            </a:r>
            <a:r>
              <a:rPr sz="2400" spc="-10" dirty="0">
                <a:latin typeface="Calibri"/>
                <a:cs typeface="Calibri"/>
              </a:rPr>
              <a:t>“step </a:t>
            </a:r>
            <a:r>
              <a:rPr sz="2400" dirty="0">
                <a:latin typeface="Calibri"/>
                <a:cs typeface="Calibri"/>
              </a:rPr>
              <a:t>into</a:t>
            </a:r>
            <a:r>
              <a:rPr sz="2400" spc="-60" dirty="0">
                <a:latin typeface="Calibri"/>
                <a:cs typeface="Calibri"/>
              </a:rPr>
              <a:t> </a:t>
            </a:r>
            <a:r>
              <a:rPr sz="2400" dirty="0">
                <a:latin typeface="Calibri"/>
                <a:cs typeface="Calibri"/>
              </a:rPr>
              <a:t>their</a:t>
            </a:r>
            <a:r>
              <a:rPr sz="2400" spc="-50" dirty="0">
                <a:latin typeface="Calibri"/>
                <a:cs typeface="Calibri"/>
              </a:rPr>
              <a:t> </a:t>
            </a:r>
            <a:r>
              <a:rPr sz="2400" dirty="0">
                <a:latin typeface="Calibri"/>
                <a:cs typeface="Calibri"/>
              </a:rPr>
              <a:t>shoes”</a:t>
            </a:r>
            <a:r>
              <a:rPr sz="2400" spc="-60"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see</a:t>
            </a:r>
            <a:r>
              <a:rPr sz="2400" spc="-4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from</a:t>
            </a:r>
            <a:r>
              <a:rPr sz="2400" spc="-60" dirty="0">
                <a:latin typeface="Calibri"/>
                <a:cs typeface="Calibri"/>
              </a:rPr>
              <a:t> </a:t>
            </a:r>
            <a:r>
              <a:rPr sz="2400" spc="-10" dirty="0">
                <a:latin typeface="Calibri"/>
                <a:cs typeface="Calibri"/>
              </a:rPr>
              <a:t>their perspective.</a:t>
            </a:r>
            <a:endParaRPr sz="2400" dirty="0">
              <a:latin typeface="Calibri"/>
              <a:cs typeface="Calibri"/>
            </a:endParaRPr>
          </a:p>
        </p:txBody>
      </p:sp>
      <p:sp>
        <p:nvSpPr>
          <p:cNvPr id="8" name="object 8"/>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00" dirty="0"/>
              <a:t>Social</a:t>
            </a:r>
            <a:r>
              <a:rPr spc="135" dirty="0"/>
              <a:t> </a:t>
            </a:r>
            <a:r>
              <a:rPr spc="105" dirty="0"/>
              <a:t>Network</a:t>
            </a:r>
            <a:r>
              <a:rPr spc="130" dirty="0"/>
              <a:t> </a:t>
            </a:r>
            <a:r>
              <a:rPr spc="110" dirty="0"/>
              <a:t>Building</a:t>
            </a:r>
            <a:r>
              <a:rPr spc="125" dirty="0"/>
              <a:t> </a:t>
            </a:r>
            <a:r>
              <a:rPr sz="1950" spc="-10" dirty="0"/>
              <a:t>(1/2)</a:t>
            </a:r>
            <a:endParaRPr sz="1950"/>
          </a:p>
        </p:txBody>
      </p:sp>
      <p:pic>
        <p:nvPicPr>
          <p:cNvPr id="9" name="Picture 8">
            <a:extLst>
              <a:ext uri="{FF2B5EF4-FFF2-40B4-BE49-F238E27FC236}">
                <a16:creationId xmlns:a16="http://schemas.microsoft.com/office/drawing/2014/main" id="{5696DBEA-A08A-99A7-491F-BB76414F85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243382" rIns="0" bIns="0" rtlCol="0">
            <a:spAutoFit/>
          </a:bodyPr>
          <a:lstStyle/>
          <a:p>
            <a:pPr marL="240029" indent="-227329">
              <a:lnSpc>
                <a:spcPct val="100000"/>
              </a:lnSpc>
              <a:spcBef>
                <a:spcPts val="350"/>
              </a:spcBef>
              <a:buFont typeface="Arial MT"/>
              <a:buChar char="•"/>
              <a:tabLst>
                <a:tab pos="240029" algn="l"/>
              </a:tabLst>
            </a:pPr>
            <a:r>
              <a:rPr dirty="0"/>
              <a:t>Managing</a:t>
            </a:r>
            <a:r>
              <a:rPr spc="-90" dirty="0"/>
              <a:t> </a:t>
            </a:r>
            <a:r>
              <a:rPr dirty="0"/>
              <a:t>Upward</a:t>
            </a:r>
            <a:r>
              <a:rPr spc="-90" dirty="0"/>
              <a:t> </a:t>
            </a:r>
            <a:r>
              <a:rPr spc="-10" dirty="0"/>
              <a:t>Relations</a:t>
            </a:r>
          </a:p>
          <a:p>
            <a:pPr marL="698500" marR="5715" lvl="1" indent="-228600">
              <a:lnSpc>
                <a:spcPts val="2210"/>
              </a:lnSpc>
              <a:spcBef>
                <a:spcPts val="439"/>
              </a:spcBef>
              <a:buFont typeface="Wingdings"/>
              <a:buChar char=""/>
              <a:tabLst>
                <a:tab pos="698500" algn="l"/>
              </a:tabLst>
            </a:pPr>
            <a:r>
              <a:rPr sz="2000" dirty="0">
                <a:latin typeface="Calibri"/>
                <a:cs typeface="Calibri"/>
              </a:rPr>
              <a:t>Project</a:t>
            </a:r>
            <a:r>
              <a:rPr sz="2000" spc="110" dirty="0">
                <a:latin typeface="Calibri"/>
                <a:cs typeface="Calibri"/>
              </a:rPr>
              <a:t> </a:t>
            </a:r>
            <a:r>
              <a:rPr sz="2000" dirty="0">
                <a:latin typeface="Calibri"/>
                <a:cs typeface="Calibri"/>
              </a:rPr>
              <a:t>success</a:t>
            </a:r>
            <a:r>
              <a:rPr sz="2000" spc="114" dirty="0">
                <a:latin typeface="Calibri"/>
                <a:cs typeface="Calibri"/>
              </a:rPr>
              <a:t> </a:t>
            </a:r>
            <a:r>
              <a:rPr sz="2000" dirty="0">
                <a:latin typeface="Calibri"/>
                <a:cs typeface="Calibri"/>
              </a:rPr>
              <a:t>is</a:t>
            </a:r>
            <a:r>
              <a:rPr sz="2000" spc="114" dirty="0">
                <a:latin typeface="Calibri"/>
                <a:cs typeface="Calibri"/>
              </a:rPr>
              <a:t> </a:t>
            </a:r>
            <a:r>
              <a:rPr sz="2000" dirty="0">
                <a:latin typeface="Calibri"/>
                <a:cs typeface="Calibri"/>
              </a:rPr>
              <a:t>strongly</a:t>
            </a:r>
            <a:r>
              <a:rPr sz="2000" spc="100" dirty="0">
                <a:latin typeface="Calibri"/>
                <a:cs typeface="Calibri"/>
              </a:rPr>
              <a:t> </a:t>
            </a:r>
            <a:r>
              <a:rPr sz="2000" dirty="0">
                <a:latin typeface="Calibri"/>
                <a:cs typeface="Calibri"/>
              </a:rPr>
              <a:t>affected</a:t>
            </a:r>
            <a:r>
              <a:rPr sz="2000" spc="105" dirty="0">
                <a:latin typeface="Calibri"/>
                <a:cs typeface="Calibri"/>
              </a:rPr>
              <a:t> </a:t>
            </a:r>
            <a:r>
              <a:rPr sz="2000" dirty="0">
                <a:latin typeface="Calibri"/>
                <a:cs typeface="Calibri"/>
              </a:rPr>
              <a:t>by</a:t>
            </a:r>
            <a:r>
              <a:rPr sz="2000" spc="105" dirty="0">
                <a:latin typeface="Calibri"/>
                <a:cs typeface="Calibri"/>
              </a:rPr>
              <a:t> </a:t>
            </a:r>
            <a:r>
              <a:rPr sz="2000" dirty="0">
                <a:latin typeface="Calibri"/>
                <a:cs typeface="Calibri"/>
              </a:rPr>
              <a:t>the</a:t>
            </a:r>
            <a:r>
              <a:rPr sz="2000" spc="114" dirty="0">
                <a:latin typeface="Calibri"/>
                <a:cs typeface="Calibri"/>
              </a:rPr>
              <a:t> </a:t>
            </a:r>
            <a:r>
              <a:rPr sz="2000" dirty="0">
                <a:latin typeface="Calibri"/>
                <a:cs typeface="Calibri"/>
              </a:rPr>
              <a:t>degree</a:t>
            </a:r>
            <a:r>
              <a:rPr sz="2000" spc="114" dirty="0">
                <a:latin typeface="Calibri"/>
                <a:cs typeface="Calibri"/>
              </a:rPr>
              <a:t> </a:t>
            </a:r>
            <a:r>
              <a:rPr sz="2000" dirty="0">
                <a:latin typeface="Calibri"/>
                <a:cs typeface="Calibri"/>
              </a:rPr>
              <a:t>to</a:t>
            </a:r>
            <a:r>
              <a:rPr sz="2000" spc="100" dirty="0">
                <a:latin typeface="Calibri"/>
                <a:cs typeface="Calibri"/>
              </a:rPr>
              <a:t> </a:t>
            </a:r>
            <a:r>
              <a:rPr sz="2000" dirty="0">
                <a:latin typeface="Calibri"/>
                <a:cs typeface="Calibri"/>
              </a:rPr>
              <a:t>which</a:t>
            </a:r>
            <a:r>
              <a:rPr sz="2000" spc="110" dirty="0">
                <a:latin typeface="Calibri"/>
                <a:cs typeface="Calibri"/>
              </a:rPr>
              <a:t> </a:t>
            </a:r>
            <a:r>
              <a:rPr sz="2000" dirty="0">
                <a:latin typeface="Calibri"/>
                <a:cs typeface="Calibri"/>
              </a:rPr>
              <a:t>a</a:t>
            </a:r>
            <a:r>
              <a:rPr sz="2000" spc="114" dirty="0">
                <a:latin typeface="Calibri"/>
                <a:cs typeface="Calibri"/>
              </a:rPr>
              <a:t> </a:t>
            </a:r>
            <a:r>
              <a:rPr sz="2000" dirty="0">
                <a:latin typeface="Calibri"/>
                <a:cs typeface="Calibri"/>
              </a:rPr>
              <a:t>project</a:t>
            </a:r>
            <a:r>
              <a:rPr sz="2000" spc="114" dirty="0">
                <a:latin typeface="Calibri"/>
                <a:cs typeface="Calibri"/>
              </a:rPr>
              <a:t> </a:t>
            </a:r>
            <a:r>
              <a:rPr sz="2000" dirty="0">
                <a:latin typeface="Calibri"/>
                <a:cs typeface="Calibri"/>
              </a:rPr>
              <a:t>has</a:t>
            </a:r>
            <a:r>
              <a:rPr sz="2000" spc="110" dirty="0">
                <a:latin typeface="Calibri"/>
                <a:cs typeface="Calibri"/>
              </a:rPr>
              <a:t> </a:t>
            </a:r>
            <a:r>
              <a:rPr sz="2000" dirty="0">
                <a:latin typeface="Calibri"/>
                <a:cs typeface="Calibri"/>
              </a:rPr>
              <a:t>the</a:t>
            </a:r>
            <a:r>
              <a:rPr sz="2000" spc="114" dirty="0">
                <a:latin typeface="Calibri"/>
                <a:cs typeface="Calibri"/>
              </a:rPr>
              <a:t> </a:t>
            </a:r>
            <a:r>
              <a:rPr sz="2000" dirty="0">
                <a:latin typeface="Calibri"/>
                <a:cs typeface="Calibri"/>
              </a:rPr>
              <a:t>support</a:t>
            </a:r>
            <a:r>
              <a:rPr sz="2000" spc="114" dirty="0">
                <a:latin typeface="Calibri"/>
                <a:cs typeface="Calibri"/>
              </a:rPr>
              <a:t> </a:t>
            </a:r>
            <a:r>
              <a:rPr sz="2000" dirty="0">
                <a:latin typeface="Calibri"/>
                <a:cs typeface="Calibri"/>
              </a:rPr>
              <a:t>of</a:t>
            </a:r>
            <a:r>
              <a:rPr sz="2000" spc="110" dirty="0">
                <a:latin typeface="Calibri"/>
                <a:cs typeface="Calibri"/>
              </a:rPr>
              <a:t> </a:t>
            </a:r>
            <a:r>
              <a:rPr sz="2000" spc="-25" dirty="0">
                <a:latin typeface="Calibri"/>
                <a:cs typeface="Calibri"/>
              </a:rPr>
              <a:t>top </a:t>
            </a:r>
            <a:r>
              <a:rPr sz="2000" spc="-10" dirty="0">
                <a:latin typeface="Calibri"/>
                <a:cs typeface="Calibri"/>
              </a:rPr>
              <a:t>management.</a:t>
            </a:r>
            <a:endParaRPr sz="2000" dirty="0">
              <a:latin typeface="Calibri"/>
              <a:cs typeface="Calibri"/>
            </a:endParaRPr>
          </a:p>
          <a:p>
            <a:pPr marL="698500" marR="6350" lvl="1" indent="-228600">
              <a:lnSpc>
                <a:spcPts val="2210"/>
              </a:lnSpc>
              <a:spcBef>
                <a:spcPts val="380"/>
              </a:spcBef>
              <a:buFont typeface="Wingdings"/>
              <a:buChar char=""/>
              <a:tabLst>
                <a:tab pos="698500" algn="l"/>
              </a:tabLst>
            </a:pPr>
            <a:r>
              <a:rPr sz="2000" dirty="0">
                <a:solidFill>
                  <a:srgbClr val="C00000"/>
                </a:solidFill>
                <a:latin typeface="Calibri"/>
                <a:cs typeface="Calibri"/>
              </a:rPr>
              <a:t>Visible</a:t>
            </a:r>
            <a:r>
              <a:rPr sz="2000" spc="100" dirty="0">
                <a:solidFill>
                  <a:srgbClr val="C00000"/>
                </a:solidFill>
                <a:latin typeface="Calibri"/>
                <a:cs typeface="Calibri"/>
              </a:rPr>
              <a:t> </a:t>
            </a:r>
            <a:r>
              <a:rPr sz="2000" dirty="0">
                <a:solidFill>
                  <a:srgbClr val="C00000"/>
                </a:solidFill>
                <a:latin typeface="Calibri"/>
                <a:cs typeface="Calibri"/>
              </a:rPr>
              <a:t>top</a:t>
            </a:r>
            <a:r>
              <a:rPr sz="2000" spc="95" dirty="0">
                <a:solidFill>
                  <a:srgbClr val="C00000"/>
                </a:solidFill>
                <a:latin typeface="Calibri"/>
                <a:cs typeface="Calibri"/>
              </a:rPr>
              <a:t> </a:t>
            </a:r>
            <a:r>
              <a:rPr sz="2000" dirty="0">
                <a:solidFill>
                  <a:srgbClr val="C00000"/>
                </a:solidFill>
                <a:latin typeface="Calibri"/>
                <a:cs typeface="Calibri"/>
              </a:rPr>
              <a:t>management</a:t>
            </a:r>
            <a:r>
              <a:rPr sz="2000" spc="100" dirty="0">
                <a:solidFill>
                  <a:srgbClr val="C00000"/>
                </a:solidFill>
                <a:latin typeface="Calibri"/>
                <a:cs typeface="Calibri"/>
              </a:rPr>
              <a:t> </a:t>
            </a:r>
            <a:r>
              <a:rPr sz="2000" dirty="0">
                <a:solidFill>
                  <a:srgbClr val="C00000"/>
                </a:solidFill>
                <a:latin typeface="Calibri"/>
                <a:cs typeface="Calibri"/>
              </a:rPr>
              <a:t>support</a:t>
            </a:r>
            <a:r>
              <a:rPr sz="2000" spc="105" dirty="0">
                <a:solidFill>
                  <a:srgbClr val="C00000"/>
                </a:solidFill>
                <a:latin typeface="Calibri"/>
                <a:cs typeface="Calibri"/>
              </a:rPr>
              <a:t> </a:t>
            </a:r>
            <a:r>
              <a:rPr sz="2000" dirty="0">
                <a:solidFill>
                  <a:srgbClr val="C00000"/>
                </a:solidFill>
                <a:latin typeface="Calibri"/>
                <a:cs typeface="Calibri"/>
              </a:rPr>
              <a:t>is</a:t>
            </a:r>
            <a:r>
              <a:rPr sz="2000" spc="100" dirty="0">
                <a:solidFill>
                  <a:srgbClr val="C00000"/>
                </a:solidFill>
                <a:latin typeface="Calibri"/>
                <a:cs typeface="Calibri"/>
              </a:rPr>
              <a:t> </a:t>
            </a:r>
            <a:r>
              <a:rPr sz="2000" dirty="0">
                <a:solidFill>
                  <a:srgbClr val="C00000"/>
                </a:solidFill>
                <a:latin typeface="Calibri"/>
                <a:cs typeface="Calibri"/>
              </a:rPr>
              <a:t>a</a:t>
            </a:r>
            <a:r>
              <a:rPr sz="2000" spc="100" dirty="0">
                <a:solidFill>
                  <a:srgbClr val="C00000"/>
                </a:solidFill>
                <a:latin typeface="Calibri"/>
                <a:cs typeface="Calibri"/>
              </a:rPr>
              <a:t> </a:t>
            </a:r>
            <a:r>
              <a:rPr sz="2000" dirty="0">
                <a:solidFill>
                  <a:srgbClr val="C00000"/>
                </a:solidFill>
                <a:latin typeface="Calibri"/>
                <a:cs typeface="Calibri"/>
              </a:rPr>
              <a:t>key</a:t>
            </a:r>
            <a:r>
              <a:rPr sz="2000" spc="95" dirty="0">
                <a:solidFill>
                  <a:srgbClr val="C00000"/>
                </a:solidFill>
                <a:latin typeface="Calibri"/>
                <a:cs typeface="Calibri"/>
              </a:rPr>
              <a:t> </a:t>
            </a:r>
            <a:r>
              <a:rPr sz="2000" dirty="0">
                <a:solidFill>
                  <a:srgbClr val="C00000"/>
                </a:solidFill>
                <a:latin typeface="Calibri"/>
                <a:cs typeface="Calibri"/>
              </a:rPr>
              <a:t>factor</a:t>
            </a:r>
            <a:r>
              <a:rPr sz="2000" spc="100" dirty="0">
                <a:solidFill>
                  <a:srgbClr val="C00000"/>
                </a:solidFill>
                <a:latin typeface="Calibri"/>
                <a:cs typeface="Calibri"/>
              </a:rPr>
              <a:t> </a:t>
            </a:r>
            <a:r>
              <a:rPr sz="2000" dirty="0">
                <a:solidFill>
                  <a:srgbClr val="C00000"/>
                </a:solidFill>
                <a:latin typeface="Calibri"/>
                <a:cs typeface="Calibri"/>
              </a:rPr>
              <a:t>in</a:t>
            </a:r>
            <a:r>
              <a:rPr sz="2000" spc="95" dirty="0">
                <a:solidFill>
                  <a:srgbClr val="C00000"/>
                </a:solidFill>
                <a:latin typeface="Calibri"/>
                <a:cs typeface="Calibri"/>
              </a:rPr>
              <a:t> </a:t>
            </a:r>
            <a:r>
              <a:rPr sz="2000" dirty="0">
                <a:solidFill>
                  <a:srgbClr val="C00000"/>
                </a:solidFill>
                <a:latin typeface="Calibri"/>
                <a:cs typeface="Calibri"/>
              </a:rPr>
              <a:t>the</a:t>
            </a:r>
            <a:r>
              <a:rPr sz="2000" spc="100" dirty="0">
                <a:solidFill>
                  <a:srgbClr val="C00000"/>
                </a:solidFill>
                <a:latin typeface="Calibri"/>
                <a:cs typeface="Calibri"/>
              </a:rPr>
              <a:t> </a:t>
            </a:r>
            <a:r>
              <a:rPr sz="2000" dirty="0">
                <a:solidFill>
                  <a:srgbClr val="C00000"/>
                </a:solidFill>
                <a:latin typeface="Calibri"/>
                <a:cs typeface="Calibri"/>
              </a:rPr>
              <a:t>project</a:t>
            </a:r>
            <a:r>
              <a:rPr sz="2000" spc="105" dirty="0">
                <a:solidFill>
                  <a:srgbClr val="C00000"/>
                </a:solidFill>
                <a:latin typeface="Calibri"/>
                <a:cs typeface="Calibri"/>
              </a:rPr>
              <a:t> </a:t>
            </a:r>
            <a:r>
              <a:rPr sz="2000" dirty="0">
                <a:solidFill>
                  <a:srgbClr val="C00000"/>
                </a:solidFill>
                <a:latin typeface="Calibri"/>
                <a:cs typeface="Calibri"/>
              </a:rPr>
              <a:t>manager’s</a:t>
            </a:r>
            <a:r>
              <a:rPr sz="2000" spc="100" dirty="0">
                <a:solidFill>
                  <a:srgbClr val="C00000"/>
                </a:solidFill>
                <a:latin typeface="Calibri"/>
                <a:cs typeface="Calibri"/>
              </a:rPr>
              <a:t> </a:t>
            </a:r>
            <a:r>
              <a:rPr sz="2000" dirty="0">
                <a:solidFill>
                  <a:srgbClr val="C00000"/>
                </a:solidFill>
                <a:latin typeface="Calibri"/>
                <a:cs typeface="Calibri"/>
              </a:rPr>
              <a:t>ability</a:t>
            </a:r>
            <a:r>
              <a:rPr sz="2000" spc="90" dirty="0">
                <a:solidFill>
                  <a:srgbClr val="C00000"/>
                </a:solidFill>
                <a:latin typeface="Calibri"/>
                <a:cs typeface="Calibri"/>
              </a:rPr>
              <a:t> </a:t>
            </a:r>
            <a:r>
              <a:rPr sz="2000" dirty="0">
                <a:solidFill>
                  <a:srgbClr val="C00000"/>
                </a:solidFill>
                <a:latin typeface="Calibri"/>
                <a:cs typeface="Calibri"/>
              </a:rPr>
              <a:t>to</a:t>
            </a:r>
            <a:r>
              <a:rPr sz="2000" spc="95" dirty="0">
                <a:solidFill>
                  <a:srgbClr val="C00000"/>
                </a:solidFill>
                <a:latin typeface="Calibri"/>
                <a:cs typeface="Calibri"/>
              </a:rPr>
              <a:t> </a:t>
            </a:r>
            <a:r>
              <a:rPr sz="2000" spc="-10" dirty="0">
                <a:solidFill>
                  <a:srgbClr val="C00000"/>
                </a:solidFill>
                <a:latin typeface="Calibri"/>
                <a:cs typeface="Calibri"/>
              </a:rPr>
              <a:t>motivate </a:t>
            </a:r>
            <a:r>
              <a:rPr sz="2000" dirty="0">
                <a:solidFill>
                  <a:srgbClr val="C00000"/>
                </a:solidFill>
                <a:latin typeface="Calibri"/>
                <a:cs typeface="Calibri"/>
              </a:rPr>
              <a:t>the</a:t>
            </a:r>
            <a:r>
              <a:rPr sz="2000" spc="-55" dirty="0">
                <a:solidFill>
                  <a:srgbClr val="C00000"/>
                </a:solidFill>
                <a:latin typeface="Calibri"/>
                <a:cs typeface="Calibri"/>
              </a:rPr>
              <a:t> </a:t>
            </a:r>
            <a:r>
              <a:rPr sz="2000" dirty="0">
                <a:solidFill>
                  <a:srgbClr val="C00000"/>
                </a:solidFill>
                <a:latin typeface="Calibri"/>
                <a:cs typeface="Calibri"/>
              </a:rPr>
              <a:t>project</a:t>
            </a:r>
            <a:r>
              <a:rPr sz="2000" spc="-50" dirty="0">
                <a:solidFill>
                  <a:srgbClr val="C00000"/>
                </a:solidFill>
                <a:latin typeface="Calibri"/>
                <a:cs typeface="Calibri"/>
              </a:rPr>
              <a:t> </a:t>
            </a:r>
            <a:r>
              <a:rPr sz="2000" spc="-20" dirty="0">
                <a:solidFill>
                  <a:srgbClr val="C00000"/>
                </a:solidFill>
                <a:latin typeface="Calibri"/>
                <a:cs typeface="Calibri"/>
              </a:rPr>
              <a:t>team.</a:t>
            </a:r>
            <a:endParaRPr sz="2000" dirty="0">
              <a:latin typeface="Calibri"/>
              <a:cs typeface="Calibri"/>
            </a:endParaRPr>
          </a:p>
          <a:p>
            <a:pPr marL="698500" marR="6350" lvl="1" indent="-228600">
              <a:lnSpc>
                <a:spcPts val="2090"/>
              </a:lnSpc>
              <a:spcBef>
                <a:spcPts val="595"/>
              </a:spcBef>
              <a:buFont typeface="Wingdings"/>
              <a:buChar char=""/>
              <a:tabLst>
                <a:tab pos="698500" algn="l"/>
              </a:tabLst>
            </a:pPr>
            <a:r>
              <a:rPr sz="2000" dirty="0">
                <a:latin typeface="Calibri"/>
                <a:cs typeface="Calibri"/>
              </a:rPr>
              <a:t>Many</a:t>
            </a:r>
            <a:r>
              <a:rPr sz="2000" spc="220" dirty="0">
                <a:latin typeface="Calibri"/>
                <a:cs typeface="Calibri"/>
              </a:rPr>
              <a:t> </a:t>
            </a:r>
            <a:r>
              <a:rPr sz="2000" dirty="0">
                <a:latin typeface="Calibri"/>
                <a:cs typeface="Calibri"/>
              </a:rPr>
              <a:t>of</a:t>
            </a:r>
            <a:r>
              <a:rPr sz="2000" spc="225" dirty="0">
                <a:latin typeface="Calibri"/>
                <a:cs typeface="Calibri"/>
              </a:rPr>
              <a:t> </a:t>
            </a:r>
            <a:r>
              <a:rPr sz="2000" dirty="0">
                <a:latin typeface="Calibri"/>
                <a:cs typeface="Calibri"/>
              </a:rPr>
              <a:t>the</a:t>
            </a:r>
            <a:r>
              <a:rPr sz="2000" spc="229" dirty="0">
                <a:latin typeface="Calibri"/>
                <a:cs typeface="Calibri"/>
              </a:rPr>
              <a:t> </a:t>
            </a:r>
            <a:r>
              <a:rPr sz="2000" dirty="0">
                <a:latin typeface="Calibri"/>
                <a:cs typeface="Calibri"/>
              </a:rPr>
              <a:t>tensions</a:t>
            </a:r>
            <a:r>
              <a:rPr sz="2000" spc="229" dirty="0">
                <a:latin typeface="Calibri"/>
                <a:cs typeface="Calibri"/>
              </a:rPr>
              <a:t> </a:t>
            </a:r>
            <a:r>
              <a:rPr sz="2000" dirty="0">
                <a:latin typeface="Calibri"/>
                <a:cs typeface="Calibri"/>
              </a:rPr>
              <a:t>that</a:t>
            </a:r>
            <a:r>
              <a:rPr sz="2000" spc="229" dirty="0">
                <a:latin typeface="Calibri"/>
                <a:cs typeface="Calibri"/>
              </a:rPr>
              <a:t> </a:t>
            </a:r>
            <a:r>
              <a:rPr sz="2000" dirty="0">
                <a:latin typeface="Calibri"/>
                <a:cs typeface="Calibri"/>
              </a:rPr>
              <a:t>arise</a:t>
            </a:r>
            <a:r>
              <a:rPr sz="2000" spc="229" dirty="0">
                <a:latin typeface="Calibri"/>
                <a:cs typeface="Calibri"/>
              </a:rPr>
              <a:t> </a:t>
            </a:r>
            <a:r>
              <a:rPr sz="2000" dirty="0">
                <a:latin typeface="Calibri"/>
                <a:cs typeface="Calibri"/>
              </a:rPr>
              <a:t>between</a:t>
            </a:r>
            <a:r>
              <a:rPr sz="2000" spc="225" dirty="0">
                <a:latin typeface="Calibri"/>
                <a:cs typeface="Calibri"/>
              </a:rPr>
              <a:t> </a:t>
            </a:r>
            <a:r>
              <a:rPr sz="2000" dirty="0">
                <a:latin typeface="Calibri"/>
                <a:cs typeface="Calibri"/>
              </a:rPr>
              <a:t>upper</a:t>
            </a:r>
            <a:r>
              <a:rPr sz="2000" spc="225" dirty="0">
                <a:latin typeface="Calibri"/>
                <a:cs typeface="Calibri"/>
              </a:rPr>
              <a:t> </a:t>
            </a:r>
            <a:r>
              <a:rPr sz="2000" dirty="0">
                <a:latin typeface="Calibri"/>
                <a:cs typeface="Calibri"/>
              </a:rPr>
              <a:t>management</a:t>
            </a:r>
            <a:r>
              <a:rPr sz="2000" spc="225" dirty="0">
                <a:latin typeface="Calibri"/>
                <a:cs typeface="Calibri"/>
              </a:rPr>
              <a:t> </a:t>
            </a:r>
            <a:r>
              <a:rPr sz="2000" dirty="0">
                <a:latin typeface="Calibri"/>
                <a:cs typeface="Calibri"/>
              </a:rPr>
              <a:t>and</a:t>
            </a:r>
            <a:r>
              <a:rPr sz="2000" spc="225" dirty="0">
                <a:latin typeface="Calibri"/>
                <a:cs typeface="Calibri"/>
              </a:rPr>
              <a:t> </a:t>
            </a:r>
            <a:r>
              <a:rPr sz="2000" dirty="0">
                <a:latin typeface="Calibri"/>
                <a:cs typeface="Calibri"/>
              </a:rPr>
              <a:t>project</a:t>
            </a:r>
            <a:r>
              <a:rPr sz="2000" spc="229" dirty="0">
                <a:latin typeface="Calibri"/>
                <a:cs typeface="Calibri"/>
              </a:rPr>
              <a:t> </a:t>
            </a:r>
            <a:r>
              <a:rPr sz="2000" dirty="0">
                <a:latin typeface="Calibri"/>
                <a:cs typeface="Calibri"/>
              </a:rPr>
              <a:t>managers</a:t>
            </a:r>
            <a:r>
              <a:rPr sz="2000" spc="229" dirty="0">
                <a:latin typeface="Calibri"/>
                <a:cs typeface="Calibri"/>
              </a:rPr>
              <a:t> </a:t>
            </a:r>
            <a:r>
              <a:rPr sz="2000" dirty="0">
                <a:latin typeface="Calibri"/>
                <a:cs typeface="Calibri"/>
              </a:rPr>
              <a:t>are</a:t>
            </a:r>
            <a:r>
              <a:rPr sz="2000" spc="229" dirty="0">
                <a:latin typeface="Calibri"/>
                <a:cs typeface="Calibri"/>
              </a:rPr>
              <a:t> </a:t>
            </a:r>
            <a:r>
              <a:rPr sz="2000" spc="-50" dirty="0">
                <a:latin typeface="Calibri"/>
                <a:cs typeface="Calibri"/>
              </a:rPr>
              <a:t>a </a:t>
            </a:r>
            <a:r>
              <a:rPr sz="2000" dirty="0">
                <a:latin typeface="Calibri"/>
                <a:cs typeface="Calibri"/>
              </a:rPr>
              <a:t>result</a:t>
            </a:r>
            <a:r>
              <a:rPr sz="2000" spc="-45" dirty="0">
                <a:latin typeface="Calibri"/>
                <a:cs typeface="Calibri"/>
              </a:rPr>
              <a:t> </a:t>
            </a:r>
            <a:r>
              <a:rPr sz="2000" dirty="0">
                <a:latin typeface="Calibri"/>
                <a:cs typeface="Calibri"/>
              </a:rPr>
              <a:t>of</a:t>
            </a:r>
            <a:r>
              <a:rPr sz="2000" spc="-50" dirty="0">
                <a:latin typeface="Calibri"/>
                <a:cs typeface="Calibri"/>
              </a:rPr>
              <a:t> </a:t>
            </a:r>
            <a:r>
              <a:rPr sz="2000" spc="-10" dirty="0">
                <a:latin typeface="Calibri"/>
                <a:cs typeface="Calibri"/>
              </a:rPr>
              <a:t>differences</a:t>
            </a:r>
            <a:r>
              <a:rPr sz="2000" spc="-45" dirty="0">
                <a:latin typeface="Calibri"/>
                <a:cs typeface="Calibri"/>
              </a:rPr>
              <a:t> </a:t>
            </a:r>
            <a:r>
              <a:rPr sz="2000" dirty="0">
                <a:latin typeface="Calibri"/>
                <a:cs typeface="Calibri"/>
              </a:rPr>
              <a:t>in</a:t>
            </a:r>
            <a:r>
              <a:rPr sz="2000" spc="-45" dirty="0">
                <a:latin typeface="Calibri"/>
                <a:cs typeface="Calibri"/>
              </a:rPr>
              <a:t> </a:t>
            </a:r>
            <a:r>
              <a:rPr sz="2000" spc="-10" dirty="0">
                <a:latin typeface="Calibri"/>
                <a:cs typeface="Calibri"/>
              </a:rPr>
              <a:t>perspective</a:t>
            </a:r>
            <a:endParaRPr sz="2000" dirty="0">
              <a:latin typeface="Calibri"/>
              <a:cs typeface="Calibri"/>
            </a:endParaRPr>
          </a:p>
          <a:p>
            <a:pPr marL="698500" marR="5080" lvl="1" indent="-228600" algn="just">
              <a:lnSpc>
                <a:spcPct val="89500"/>
              </a:lnSpc>
              <a:spcBef>
                <a:spcPts val="545"/>
              </a:spcBef>
              <a:buFont typeface="Wingdings"/>
              <a:buChar char=""/>
              <a:tabLst>
                <a:tab pos="698500" algn="l"/>
              </a:tabLst>
            </a:pPr>
            <a:r>
              <a:rPr sz="2000" dirty="0">
                <a:solidFill>
                  <a:srgbClr val="C00000"/>
                </a:solidFill>
                <a:latin typeface="Calibri"/>
                <a:cs typeface="Calibri"/>
              </a:rPr>
              <a:t>Once</a:t>
            </a:r>
            <a:r>
              <a:rPr sz="2000" spc="265" dirty="0">
                <a:solidFill>
                  <a:srgbClr val="C00000"/>
                </a:solidFill>
                <a:latin typeface="Calibri"/>
                <a:cs typeface="Calibri"/>
              </a:rPr>
              <a:t> </a:t>
            </a:r>
            <a:r>
              <a:rPr sz="2000" dirty="0">
                <a:solidFill>
                  <a:srgbClr val="C00000"/>
                </a:solidFill>
                <a:latin typeface="Calibri"/>
                <a:cs typeface="Calibri"/>
              </a:rPr>
              <a:t>project</a:t>
            </a:r>
            <a:r>
              <a:rPr sz="2000" spc="270" dirty="0">
                <a:solidFill>
                  <a:srgbClr val="C00000"/>
                </a:solidFill>
                <a:latin typeface="Calibri"/>
                <a:cs typeface="Calibri"/>
              </a:rPr>
              <a:t> </a:t>
            </a:r>
            <a:r>
              <a:rPr sz="2000" dirty="0">
                <a:solidFill>
                  <a:srgbClr val="C00000"/>
                </a:solidFill>
                <a:latin typeface="Calibri"/>
                <a:cs typeface="Calibri"/>
              </a:rPr>
              <a:t>managers</a:t>
            </a:r>
            <a:r>
              <a:rPr sz="2000" spc="270" dirty="0">
                <a:solidFill>
                  <a:srgbClr val="C00000"/>
                </a:solidFill>
                <a:latin typeface="Calibri"/>
                <a:cs typeface="Calibri"/>
              </a:rPr>
              <a:t> </a:t>
            </a:r>
            <a:r>
              <a:rPr sz="2000" dirty="0">
                <a:solidFill>
                  <a:srgbClr val="C00000"/>
                </a:solidFill>
                <a:latin typeface="Calibri"/>
                <a:cs typeface="Calibri"/>
              </a:rPr>
              <a:t>accept</a:t>
            </a:r>
            <a:r>
              <a:rPr sz="2000" spc="270" dirty="0">
                <a:solidFill>
                  <a:srgbClr val="C00000"/>
                </a:solidFill>
                <a:latin typeface="Calibri"/>
                <a:cs typeface="Calibri"/>
              </a:rPr>
              <a:t> </a:t>
            </a:r>
            <a:r>
              <a:rPr sz="2000" dirty="0">
                <a:solidFill>
                  <a:srgbClr val="C00000"/>
                </a:solidFill>
                <a:latin typeface="Calibri"/>
                <a:cs typeface="Calibri"/>
              </a:rPr>
              <a:t>that</a:t>
            </a:r>
            <a:r>
              <a:rPr sz="2000" spc="270" dirty="0">
                <a:solidFill>
                  <a:srgbClr val="C00000"/>
                </a:solidFill>
                <a:latin typeface="Calibri"/>
                <a:cs typeface="Calibri"/>
              </a:rPr>
              <a:t> </a:t>
            </a:r>
            <a:r>
              <a:rPr sz="2000" dirty="0">
                <a:solidFill>
                  <a:srgbClr val="C00000"/>
                </a:solidFill>
                <a:latin typeface="Calibri"/>
                <a:cs typeface="Calibri"/>
              </a:rPr>
              <a:t>disagreements</a:t>
            </a:r>
            <a:r>
              <a:rPr sz="2000" spc="270" dirty="0">
                <a:solidFill>
                  <a:srgbClr val="C00000"/>
                </a:solidFill>
                <a:latin typeface="Calibri"/>
                <a:cs typeface="Calibri"/>
              </a:rPr>
              <a:t> </a:t>
            </a:r>
            <a:r>
              <a:rPr sz="2000" dirty="0">
                <a:solidFill>
                  <a:srgbClr val="C00000"/>
                </a:solidFill>
                <a:latin typeface="Calibri"/>
                <a:cs typeface="Calibri"/>
              </a:rPr>
              <a:t>with</a:t>
            </a:r>
            <a:r>
              <a:rPr sz="2000" spc="260" dirty="0">
                <a:solidFill>
                  <a:srgbClr val="C00000"/>
                </a:solidFill>
                <a:latin typeface="Calibri"/>
                <a:cs typeface="Calibri"/>
              </a:rPr>
              <a:t> </a:t>
            </a:r>
            <a:r>
              <a:rPr sz="2000" dirty="0">
                <a:solidFill>
                  <a:srgbClr val="C00000"/>
                </a:solidFill>
                <a:latin typeface="Calibri"/>
                <a:cs typeface="Calibri"/>
              </a:rPr>
              <a:t>superiors</a:t>
            </a:r>
            <a:r>
              <a:rPr sz="2000" spc="270" dirty="0">
                <a:solidFill>
                  <a:srgbClr val="C00000"/>
                </a:solidFill>
                <a:latin typeface="Calibri"/>
                <a:cs typeface="Calibri"/>
              </a:rPr>
              <a:t> </a:t>
            </a:r>
            <a:r>
              <a:rPr sz="2000" dirty="0">
                <a:solidFill>
                  <a:srgbClr val="C00000"/>
                </a:solidFill>
                <a:latin typeface="Calibri"/>
                <a:cs typeface="Calibri"/>
              </a:rPr>
              <a:t>are</a:t>
            </a:r>
            <a:r>
              <a:rPr sz="2000" spc="270" dirty="0">
                <a:solidFill>
                  <a:srgbClr val="C00000"/>
                </a:solidFill>
                <a:latin typeface="Calibri"/>
                <a:cs typeface="Calibri"/>
              </a:rPr>
              <a:t> </a:t>
            </a:r>
            <a:r>
              <a:rPr sz="2000" dirty="0">
                <a:solidFill>
                  <a:srgbClr val="C00000"/>
                </a:solidFill>
                <a:latin typeface="Calibri"/>
                <a:cs typeface="Calibri"/>
              </a:rPr>
              <a:t>more</a:t>
            </a:r>
            <a:r>
              <a:rPr sz="2000" spc="270" dirty="0">
                <a:solidFill>
                  <a:srgbClr val="C00000"/>
                </a:solidFill>
                <a:latin typeface="Calibri"/>
                <a:cs typeface="Calibri"/>
              </a:rPr>
              <a:t> </a:t>
            </a:r>
            <a:r>
              <a:rPr sz="2000" dirty="0">
                <a:solidFill>
                  <a:srgbClr val="C00000"/>
                </a:solidFill>
                <a:latin typeface="Calibri"/>
                <a:cs typeface="Calibri"/>
              </a:rPr>
              <a:t>a</a:t>
            </a:r>
            <a:r>
              <a:rPr sz="2000" spc="270" dirty="0">
                <a:solidFill>
                  <a:srgbClr val="C00000"/>
                </a:solidFill>
                <a:latin typeface="Calibri"/>
                <a:cs typeface="Calibri"/>
              </a:rPr>
              <a:t> </a:t>
            </a:r>
            <a:r>
              <a:rPr sz="2000" dirty="0">
                <a:solidFill>
                  <a:srgbClr val="C00000"/>
                </a:solidFill>
                <a:latin typeface="Calibri"/>
                <a:cs typeface="Calibri"/>
              </a:rPr>
              <a:t>question</a:t>
            </a:r>
            <a:r>
              <a:rPr sz="2000" spc="265" dirty="0">
                <a:solidFill>
                  <a:srgbClr val="C00000"/>
                </a:solidFill>
                <a:latin typeface="Calibri"/>
                <a:cs typeface="Calibri"/>
              </a:rPr>
              <a:t> </a:t>
            </a:r>
            <a:r>
              <a:rPr sz="2000" spc="-25" dirty="0">
                <a:solidFill>
                  <a:srgbClr val="C00000"/>
                </a:solidFill>
                <a:latin typeface="Calibri"/>
                <a:cs typeface="Calibri"/>
              </a:rPr>
              <a:t>of </a:t>
            </a:r>
            <a:r>
              <a:rPr sz="2000" dirty="0">
                <a:solidFill>
                  <a:srgbClr val="C00000"/>
                </a:solidFill>
                <a:latin typeface="Calibri"/>
                <a:cs typeface="Calibri"/>
              </a:rPr>
              <a:t>perspective</a:t>
            </a:r>
            <a:r>
              <a:rPr sz="2000" spc="220" dirty="0">
                <a:solidFill>
                  <a:srgbClr val="C00000"/>
                </a:solidFill>
                <a:latin typeface="Calibri"/>
                <a:cs typeface="Calibri"/>
              </a:rPr>
              <a:t> </a:t>
            </a:r>
            <a:r>
              <a:rPr sz="2000" dirty="0">
                <a:solidFill>
                  <a:srgbClr val="C00000"/>
                </a:solidFill>
                <a:latin typeface="Calibri"/>
                <a:cs typeface="Calibri"/>
              </a:rPr>
              <a:t>than</a:t>
            </a:r>
            <a:r>
              <a:rPr sz="2000" spc="220" dirty="0">
                <a:solidFill>
                  <a:srgbClr val="C00000"/>
                </a:solidFill>
                <a:latin typeface="Calibri"/>
                <a:cs typeface="Calibri"/>
              </a:rPr>
              <a:t> </a:t>
            </a:r>
            <a:r>
              <a:rPr sz="2000" dirty="0">
                <a:solidFill>
                  <a:srgbClr val="C00000"/>
                </a:solidFill>
                <a:latin typeface="Calibri"/>
                <a:cs typeface="Calibri"/>
              </a:rPr>
              <a:t>substance,</a:t>
            </a:r>
            <a:r>
              <a:rPr sz="2000" spc="220" dirty="0">
                <a:solidFill>
                  <a:srgbClr val="C00000"/>
                </a:solidFill>
                <a:latin typeface="Calibri"/>
                <a:cs typeface="Calibri"/>
              </a:rPr>
              <a:t> </a:t>
            </a:r>
            <a:r>
              <a:rPr sz="2000" dirty="0">
                <a:solidFill>
                  <a:srgbClr val="C00000"/>
                </a:solidFill>
                <a:latin typeface="Calibri"/>
                <a:cs typeface="Calibri"/>
              </a:rPr>
              <a:t>they</a:t>
            </a:r>
            <a:r>
              <a:rPr sz="2000" spc="210" dirty="0">
                <a:solidFill>
                  <a:srgbClr val="C00000"/>
                </a:solidFill>
                <a:latin typeface="Calibri"/>
                <a:cs typeface="Calibri"/>
              </a:rPr>
              <a:t> </a:t>
            </a:r>
            <a:r>
              <a:rPr sz="2000" dirty="0">
                <a:solidFill>
                  <a:srgbClr val="C00000"/>
                </a:solidFill>
                <a:latin typeface="Calibri"/>
                <a:cs typeface="Calibri"/>
              </a:rPr>
              <a:t>can</a:t>
            </a:r>
            <a:r>
              <a:rPr sz="2000" spc="220" dirty="0">
                <a:solidFill>
                  <a:srgbClr val="C00000"/>
                </a:solidFill>
                <a:latin typeface="Calibri"/>
                <a:cs typeface="Calibri"/>
              </a:rPr>
              <a:t> </a:t>
            </a:r>
            <a:r>
              <a:rPr sz="2000" dirty="0">
                <a:solidFill>
                  <a:srgbClr val="C00000"/>
                </a:solidFill>
                <a:latin typeface="Calibri"/>
                <a:cs typeface="Calibri"/>
              </a:rPr>
              <a:t>focus</a:t>
            </a:r>
            <a:r>
              <a:rPr sz="2000" spc="225" dirty="0">
                <a:solidFill>
                  <a:srgbClr val="C00000"/>
                </a:solidFill>
                <a:latin typeface="Calibri"/>
                <a:cs typeface="Calibri"/>
              </a:rPr>
              <a:t> </a:t>
            </a:r>
            <a:r>
              <a:rPr sz="2000" dirty="0">
                <a:solidFill>
                  <a:srgbClr val="C00000"/>
                </a:solidFill>
                <a:latin typeface="Calibri"/>
                <a:cs typeface="Calibri"/>
              </a:rPr>
              <a:t>more</a:t>
            </a:r>
            <a:r>
              <a:rPr sz="2000" spc="225" dirty="0">
                <a:solidFill>
                  <a:srgbClr val="C00000"/>
                </a:solidFill>
                <a:latin typeface="Calibri"/>
                <a:cs typeface="Calibri"/>
              </a:rPr>
              <a:t> </a:t>
            </a:r>
            <a:r>
              <a:rPr sz="2000" dirty="0">
                <a:solidFill>
                  <a:srgbClr val="C00000"/>
                </a:solidFill>
                <a:latin typeface="Calibri"/>
                <a:cs typeface="Calibri"/>
              </a:rPr>
              <a:t>of</a:t>
            </a:r>
            <a:r>
              <a:rPr sz="2000" spc="220" dirty="0">
                <a:solidFill>
                  <a:srgbClr val="C00000"/>
                </a:solidFill>
                <a:latin typeface="Calibri"/>
                <a:cs typeface="Calibri"/>
              </a:rPr>
              <a:t> </a:t>
            </a:r>
            <a:r>
              <a:rPr sz="2000" dirty="0">
                <a:solidFill>
                  <a:srgbClr val="C00000"/>
                </a:solidFill>
                <a:latin typeface="Calibri"/>
                <a:cs typeface="Calibri"/>
              </a:rPr>
              <a:t>their</a:t>
            </a:r>
            <a:r>
              <a:rPr sz="2000" spc="220" dirty="0">
                <a:solidFill>
                  <a:srgbClr val="C00000"/>
                </a:solidFill>
                <a:latin typeface="Calibri"/>
                <a:cs typeface="Calibri"/>
              </a:rPr>
              <a:t> </a:t>
            </a:r>
            <a:r>
              <a:rPr sz="2000" dirty="0">
                <a:solidFill>
                  <a:srgbClr val="C00000"/>
                </a:solidFill>
                <a:latin typeface="Calibri"/>
                <a:cs typeface="Calibri"/>
              </a:rPr>
              <a:t>energy</a:t>
            </a:r>
            <a:r>
              <a:rPr sz="2000" spc="210" dirty="0">
                <a:solidFill>
                  <a:srgbClr val="C00000"/>
                </a:solidFill>
                <a:latin typeface="Calibri"/>
                <a:cs typeface="Calibri"/>
              </a:rPr>
              <a:t> </a:t>
            </a:r>
            <a:r>
              <a:rPr sz="2000" dirty="0">
                <a:solidFill>
                  <a:srgbClr val="C00000"/>
                </a:solidFill>
                <a:latin typeface="Calibri"/>
                <a:cs typeface="Calibri"/>
              </a:rPr>
              <a:t>on</a:t>
            </a:r>
            <a:r>
              <a:rPr sz="2000" spc="220" dirty="0">
                <a:solidFill>
                  <a:srgbClr val="C00000"/>
                </a:solidFill>
                <a:latin typeface="Calibri"/>
                <a:cs typeface="Calibri"/>
              </a:rPr>
              <a:t> </a:t>
            </a:r>
            <a:r>
              <a:rPr sz="2000" dirty="0">
                <a:solidFill>
                  <a:srgbClr val="C00000"/>
                </a:solidFill>
                <a:latin typeface="Calibri"/>
                <a:cs typeface="Calibri"/>
              </a:rPr>
              <a:t>the</a:t>
            </a:r>
            <a:r>
              <a:rPr sz="2000" spc="220" dirty="0">
                <a:solidFill>
                  <a:srgbClr val="C00000"/>
                </a:solidFill>
                <a:latin typeface="Calibri"/>
                <a:cs typeface="Calibri"/>
              </a:rPr>
              <a:t> </a:t>
            </a:r>
            <a:r>
              <a:rPr sz="2000" dirty="0">
                <a:solidFill>
                  <a:srgbClr val="C00000"/>
                </a:solidFill>
                <a:latin typeface="Calibri"/>
                <a:cs typeface="Calibri"/>
              </a:rPr>
              <a:t>art</a:t>
            </a:r>
            <a:r>
              <a:rPr sz="2000" spc="225" dirty="0">
                <a:solidFill>
                  <a:srgbClr val="C00000"/>
                </a:solidFill>
                <a:latin typeface="Calibri"/>
                <a:cs typeface="Calibri"/>
              </a:rPr>
              <a:t> </a:t>
            </a:r>
            <a:r>
              <a:rPr sz="2000" dirty="0">
                <a:solidFill>
                  <a:srgbClr val="C00000"/>
                </a:solidFill>
                <a:latin typeface="Calibri"/>
                <a:cs typeface="Calibri"/>
              </a:rPr>
              <a:t>of</a:t>
            </a:r>
            <a:r>
              <a:rPr sz="2000" spc="220" dirty="0">
                <a:solidFill>
                  <a:srgbClr val="C00000"/>
                </a:solidFill>
                <a:latin typeface="Calibri"/>
                <a:cs typeface="Calibri"/>
              </a:rPr>
              <a:t> </a:t>
            </a:r>
            <a:r>
              <a:rPr sz="2000" spc="-10" dirty="0">
                <a:solidFill>
                  <a:srgbClr val="C00000"/>
                </a:solidFill>
                <a:latin typeface="Calibri"/>
                <a:cs typeface="Calibri"/>
              </a:rPr>
              <a:t>persuading </a:t>
            </a:r>
            <a:r>
              <a:rPr sz="2000" dirty="0">
                <a:solidFill>
                  <a:srgbClr val="C00000"/>
                </a:solidFill>
                <a:latin typeface="Calibri"/>
                <a:cs typeface="Calibri"/>
              </a:rPr>
              <a:t>upper</a:t>
            </a:r>
            <a:r>
              <a:rPr sz="2000" spc="-55" dirty="0">
                <a:solidFill>
                  <a:srgbClr val="C00000"/>
                </a:solidFill>
                <a:latin typeface="Calibri"/>
                <a:cs typeface="Calibri"/>
              </a:rPr>
              <a:t> </a:t>
            </a:r>
            <a:r>
              <a:rPr sz="2000" spc="-10" dirty="0">
                <a:solidFill>
                  <a:srgbClr val="C00000"/>
                </a:solidFill>
                <a:latin typeface="Calibri"/>
                <a:cs typeface="Calibri"/>
              </a:rPr>
              <a:t>management.</a:t>
            </a:r>
            <a:endParaRPr sz="2000" dirty="0">
              <a:latin typeface="Calibri"/>
              <a:cs typeface="Calibri"/>
            </a:endParaRPr>
          </a:p>
          <a:p>
            <a:pPr marL="698500" marR="5715" lvl="1" indent="-228600" algn="just">
              <a:lnSpc>
                <a:spcPct val="89800"/>
              </a:lnSpc>
              <a:spcBef>
                <a:spcPts val="530"/>
              </a:spcBef>
              <a:buFont typeface="Wingdings"/>
              <a:buChar char=""/>
              <a:tabLst>
                <a:tab pos="698500" algn="l"/>
              </a:tabLst>
            </a:pPr>
            <a:r>
              <a:rPr sz="2000" dirty="0">
                <a:latin typeface="Calibri"/>
                <a:cs typeface="Calibri"/>
              </a:rPr>
              <a:t>Before</a:t>
            </a:r>
            <a:r>
              <a:rPr sz="2000" spc="-5" dirty="0">
                <a:latin typeface="Calibri"/>
                <a:cs typeface="Calibri"/>
              </a:rPr>
              <a:t> </a:t>
            </a:r>
            <a:r>
              <a:rPr sz="2000" dirty="0">
                <a:latin typeface="Calibri"/>
                <a:cs typeface="Calibri"/>
              </a:rPr>
              <a:t>they</a:t>
            </a:r>
            <a:r>
              <a:rPr sz="2000" spc="-10" dirty="0">
                <a:latin typeface="Calibri"/>
                <a:cs typeface="Calibri"/>
              </a:rPr>
              <a:t> </a:t>
            </a:r>
            <a:r>
              <a:rPr sz="2000" dirty="0">
                <a:latin typeface="Calibri"/>
                <a:cs typeface="Calibri"/>
              </a:rPr>
              <a:t>can</a:t>
            </a:r>
            <a:r>
              <a:rPr sz="2000" spc="-5" dirty="0">
                <a:latin typeface="Calibri"/>
                <a:cs typeface="Calibri"/>
              </a:rPr>
              <a:t> </a:t>
            </a:r>
            <a:r>
              <a:rPr sz="2000" dirty="0">
                <a:latin typeface="Calibri"/>
                <a:cs typeface="Calibri"/>
              </a:rPr>
              <a:t>persuade</a:t>
            </a:r>
            <a:r>
              <a:rPr sz="2000" spc="-5" dirty="0">
                <a:latin typeface="Calibri"/>
                <a:cs typeface="Calibri"/>
              </a:rPr>
              <a:t> </a:t>
            </a:r>
            <a:r>
              <a:rPr sz="2000" dirty="0">
                <a:latin typeface="Calibri"/>
                <a:cs typeface="Calibri"/>
              </a:rPr>
              <a:t>superiors,</a:t>
            </a:r>
            <a:r>
              <a:rPr sz="2000" spc="-10" dirty="0">
                <a:latin typeface="Calibri"/>
                <a:cs typeface="Calibri"/>
              </a:rPr>
              <a:t> </a:t>
            </a:r>
            <a:r>
              <a:rPr sz="2000" dirty="0">
                <a:latin typeface="Calibri"/>
                <a:cs typeface="Calibri"/>
              </a:rPr>
              <a:t>they</a:t>
            </a:r>
            <a:r>
              <a:rPr sz="2000" spc="-15" dirty="0">
                <a:latin typeface="Calibri"/>
                <a:cs typeface="Calibri"/>
              </a:rPr>
              <a:t> </a:t>
            </a:r>
            <a:r>
              <a:rPr sz="2000" dirty="0">
                <a:latin typeface="Calibri"/>
                <a:cs typeface="Calibri"/>
              </a:rPr>
              <a:t>must first prove</a:t>
            </a:r>
            <a:r>
              <a:rPr sz="2000" spc="-5" dirty="0">
                <a:latin typeface="Calibri"/>
                <a:cs typeface="Calibri"/>
              </a:rPr>
              <a:t> </a:t>
            </a:r>
            <a:r>
              <a:rPr sz="2000" dirty="0">
                <a:latin typeface="Calibri"/>
                <a:cs typeface="Calibri"/>
              </a:rPr>
              <a:t>loyalty;</a:t>
            </a:r>
            <a:r>
              <a:rPr sz="2000" spc="-5" dirty="0">
                <a:latin typeface="Calibri"/>
                <a:cs typeface="Calibri"/>
              </a:rPr>
              <a:t> </a:t>
            </a:r>
            <a:r>
              <a:rPr sz="2000" dirty="0">
                <a:latin typeface="Calibri"/>
                <a:cs typeface="Calibri"/>
              </a:rPr>
              <a:t>which</a:t>
            </a:r>
            <a:r>
              <a:rPr sz="2000" spc="-5" dirty="0">
                <a:latin typeface="Calibri"/>
                <a:cs typeface="Calibri"/>
              </a:rPr>
              <a:t> </a:t>
            </a:r>
            <a:r>
              <a:rPr sz="2000" dirty="0">
                <a:latin typeface="Calibri"/>
                <a:cs typeface="Calibri"/>
              </a:rPr>
              <a:t>means showing</a:t>
            </a:r>
            <a:r>
              <a:rPr sz="2000" spc="-5" dirty="0">
                <a:latin typeface="Calibri"/>
                <a:cs typeface="Calibri"/>
              </a:rPr>
              <a:t> </a:t>
            </a:r>
            <a:r>
              <a:rPr sz="2000" spc="-20" dirty="0">
                <a:latin typeface="Calibri"/>
                <a:cs typeface="Calibri"/>
              </a:rPr>
              <a:t>that </a:t>
            </a:r>
            <a:r>
              <a:rPr sz="2000" dirty="0">
                <a:latin typeface="Calibri"/>
                <a:cs typeface="Calibri"/>
              </a:rPr>
              <a:t>they</a:t>
            </a:r>
            <a:r>
              <a:rPr sz="2000" spc="155" dirty="0">
                <a:latin typeface="Calibri"/>
                <a:cs typeface="Calibri"/>
              </a:rPr>
              <a:t> </a:t>
            </a:r>
            <a:r>
              <a:rPr sz="2000" dirty="0">
                <a:latin typeface="Calibri"/>
                <a:cs typeface="Calibri"/>
              </a:rPr>
              <a:t>consistently</a:t>
            </a:r>
            <a:r>
              <a:rPr sz="2000" spc="155" dirty="0">
                <a:latin typeface="Calibri"/>
                <a:cs typeface="Calibri"/>
              </a:rPr>
              <a:t> </a:t>
            </a:r>
            <a:r>
              <a:rPr sz="2000" dirty="0">
                <a:latin typeface="Calibri"/>
                <a:cs typeface="Calibri"/>
              </a:rPr>
              <a:t>follow</a:t>
            </a:r>
            <a:r>
              <a:rPr sz="2000" spc="155" dirty="0">
                <a:latin typeface="Calibri"/>
                <a:cs typeface="Calibri"/>
              </a:rPr>
              <a:t> </a:t>
            </a:r>
            <a:r>
              <a:rPr sz="2000" dirty="0">
                <a:latin typeface="Calibri"/>
                <a:cs typeface="Calibri"/>
              </a:rPr>
              <a:t>through</a:t>
            </a:r>
            <a:r>
              <a:rPr sz="2000" spc="160" dirty="0">
                <a:latin typeface="Calibri"/>
                <a:cs typeface="Calibri"/>
              </a:rPr>
              <a:t> </a:t>
            </a:r>
            <a:r>
              <a:rPr sz="2000" dirty="0">
                <a:latin typeface="Calibri"/>
                <a:cs typeface="Calibri"/>
              </a:rPr>
              <a:t>on</a:t>
            </a:r>
            <a:r>
              <a:rPr sz="2000" spc="160" dirty="0">
                <a:latin typeface="Calibri"/>
                <a:cs typeface="Calibri"/>
              </a:rPr>
              <a:t> </a:t>
            </a:r>
            <a:r>
              <a:rPr sz="2000" dirty="0">
                <a:latin typeface="Calibri"/>
                <a:cs typeface="Calibri"/>
              </a:rPr>
              <a:t>requests</a:t>
            </a:r>
            <a:r>
              <a:rPr sz="2000" spc="165" dirty="0">
                <a:latin typeface="Calibri"/>
                <a:cs typeface="Calibri"/>
              </a:rPr>
              <a:t> </a:t>
            </a:r>
            <a:r>
              <a:rPr sz="2000" dirty="0">
                <a:latin typeface="Calibri"/>
                <a:cs typeface="Calibri"/>
              </a:rPr>
              <a:t>and</a:t>
            </a:r>
            <a:r>
              <a:rPr sz="2000" spc="160" dirty="0">
                <a:latin typeface="Calibri"/>
                <a:cs typeface="Calibri"/>
              </a:rPr>
              <a:t> </a:t>
            </a:r>
            <a:r>
              <a:rPr sz="2000" dirty="0">
                <a:latin typeface="Calibri"/>
                <a:cs typeface="Calibri"/>
              </a:rPr>
              <a:t>adhere</a:t>
            </a:r>
            <a:r>
              <a:rPr sz="2000" spc="160" dirty="0">
                <a:latin typeface="Calibri"/>
                <a:cs typeface="Calibri"/>
              </a:rPr>
              <a:t> </a:t>
            </a:r>
            <a:r>
              <a:rPr sz="2000" dirty="0">
                <a:latin typeface="Calibri"/>
                <a:cs typeface="Calibri"/>
              </a:rPr>
              <a:t>to</a:t>
            </a:r>
            <a:r>
              <a:rPr sz="2000" spc="160" dirty="0">
                <a:latin typeface="Calibri"/>
                <a:cs typeface="Calibri"/>
              </a:rPr>
              <a:t> </a:t>
            </a:r>
            <a:r>
              <a:rPr sz="2000" dirty="0">
                <a:latin typeface="Calibri"/>
                <a:cs typeface="Calibri"/>
              </a:rPr>
              <a:t>the</a:t>
            </a:r>
            <a:r>
              <a:rPr sz="2000" spc="165" dirty="0">
                <a:latin typeface="Calibri"/>
                <a:cs typeface="Calibri"/>
              </a:rPr>
              <a:t> </a:t>
            </a:r>
            <a:r>
              <a:rPr sz="2000" dirty="0">
                <a:latin typeface="Calibri"/>
                <a:cs typeface="Calibri"/>
              </a:rPr>
              <a:t>parameters</a:t>
            </a:r>
            <a:r>
              <a:rPr sz="2000" spc="170" dirty="0">
                <a:latin typeface="Calibri"/>
                <a:cs typeface="Calibri"/>
              </a:rPr>
              <a:t> </a:t>
            </a:r>
            <a:r>
              <a:rPr sz="2000" dirty="0">
                <a:latin typeface="Calibri"/>
                <a:cs typeface="Calibri"/>
              </a:rPr>
              <a:t>established</a:t>
            </a:r>
            <a:r>
              <a:rPr sz="2000" spc="160" dirty="0">
                <a:latin typeface="Calibri"/>
                <a:cs typeface="Calibri"/>
              </a:rPr>
              <a:t> </a:t>
            </a:r>
            <a:r>
              <a:rPr sz="2000" spc="-25" dirty="0">
                <a:latin typeface="Calibri"/>
                <a:cs typeface="Calibri"/>
              </a:rPr>
              <a:t>by </a:t>
            </a:r>
            <a:r>
              <a:rPr sz="2000" dirty="0">
                <a:latin typeface="Calibri"/>
                <a:cs typeface="Calibri"/>
              </a:rPr>
              <a:t>top</a:t>
            </a:r>
            <a:r>
              <a:rPr sz="2000" spc="275" dirty="0">
                <a:latin typeface="Calibri"/>
                <a:cs typeface="Calibri"/>
              </a:rPr>
              <a:t> </a:t>
            </a:r>
            <a:r>
              <a:rPr sz="2000" dirty="0">
                <a:latin typeface="Calibri"/>
                <a:cs typeface="Calibri"/>
              </a:rPr>
              <a:t>management</a:t>
            </a:r>
            <a:r>
              <a:rPr sz="2000" spc="280" dirty="0">
                <a:latin typeface="Calibri"/>
                <a:cs typeface="Calibri"/>
              </a:rPr>
              <a:t> </a:t>
            </a:r>
            <a:r>
              <a:rPr sz="2000" dirty="0">
                <a:latin typeface="Calibri"/>
                <a:cs typeface="Calibri"/>
              </a:rPr>
              <a:t>without</a:t>
            </a:r>
            <a:r>
              <a:rPr sz="2000" spc="280" dirty="0">
                <a:latin typeface="Calibri"/>
                <a:cs typeface="Calibri"/>
              </a:rPr>
              <a:t> </a:t>
            </a:r>
            <a:r>
              <a:rPr sz="2000" dirty="0">
                <a:latin typeface="Calibri"/>
                <a:cs typeface="Calibri"/>
              </a:rPr>
              <a:t>a</a:t>
            </a:r>
            <a:r>
              <a:rPr sz="2000" spc="280" dirty="0">
                <a:latin typeface="Calibri"/>
                <a:cs typeface="Calibri"/>
              </a:rPr>
              <a:t> </a:t>
            </a:r>
            <a:r>
              <a:rPr sz="2000" dirty="0">
                <a:latin typeface="Calibri"/>
                <a:cs typeface="Calibri"/>
              </a:rPr>
              <a:t>great</a:t>
            </a:r>
            <a:r>
              <a:rPr sz="2000" spc="285" dirty="0">
                <a:latin typeface="Calibri"/>
                <a:cs typeface="Calibri"/>
              </a:rPr>
              <a:t> </a:t>
            </a:r>
            <a:r>
              <a:rPr sz="2000" dirty="0">
                <a:latin typeface="Calibri"/>
                <a:cs typeface="Calibri"/>
              </a:rPr>
              <a:t>deal</a:t>
            </a:r>
            <a:r>
              <a:rPr sz="2000" spc="275" dirty="0">
                <a:latin typeface="Calibri"/>
                <a:cs typeface="Calibri"/>
              </a:rPr>
              <a:t> </a:t>
            </a:r>
            <a:r>
              <a:rPr sz="2000" dirty="0">
                <a:latin typeface="Calibri"/>
                <a:cs typeface="Calibri"/>
              </a:rPr>
              <a:t>of</a:t>
            </a:r>
            <a:r>
              <a:rPr sz="2000" spc="275" dirty="0">
                <a:latin typeface="Calibri"/>
                <a:cs typeface="Calibri"/>
              </a:rPr>
              <a:t> </a:t>
            </a:r>
            <a:r>
              <a:rPr sz="2000" dirty="0">
                <a:latin typeface="Calibri"/>
                <a:cs typeface="Calibri"/>
              </a:rPr>
              <a:t>grumbling</a:t>
            </a:r>
            <a:r>
              <a:rPr sz="2000" spc="270" dirty="0">
                <a:latin typeface="Calibri"/>
                <a:cs typeface="Calibri"/>
              </a:rPr>
              <a:t> </a:t>
            </a:r>
            <a:r>
              <a:rPr sz="2000" dirty="0">
                <a:latin typeface="Calibri"/>
                <a:cs typeface="Calibri"/>
              </a:rPr>
              <a:t>or</a:t>
            </a:r>
            <a:r>
              <a:rPr sz="2000" spc="275" dirty="0">
                <a:latin typeface="Calibri"/>
                <a:cs typeface="Calibri"/>
              </a:rPr>
              <a:t> </a:t>
            </a:r>
            <a:r>
              <a:rPr sz="2000" dirty="0">
                <a:latin typeface="Calibri"/>
                <a:cs typeface="Calibri"/>
              </a:rPr>
              <a:t>fuss.</a:t>
            </a:r>
            <a:r>
              <a:rPr sz="2000" spc="270" dirty="0">
                <a:latin typeface="Calibri"/>
                <a:cs typeface="Calibri"/>
              </a:rPr>
              <a:t> </a:t>
            </a:r>
            <a:r>
              <a:rPr sz="2000" dirty="0">
                <a:latin typeface="Calibri"/>
                <a:cs typeface="Calibri"/>
              </a:rPr>
              <a:t>Once</a:t>
            </a:r>
            <a:r>
              <a:rPr sz="2000" spc="280" dirty="0">
                <a:latin typeface="Calibri"/>
                <a:cs typeface="Calibri"/>
              </a:rPr>
              <a:t> </a:t>
            </a:r>
            <a:r>
              <a:rPr sz="2000" dirty="0">
                <a:latin typeface="Calibri"/>
                <a:cs typeface="Calibri"/>
              </a:rPr>
              <a:t>managers</a:t>
            </a:r>
            <a:r>
              <a:rPr sz="2000" spc="285" dirty="0">
                <a:latin typeface="Calibri"/>
                <a:cs typeface="Calibri"/>
              </a:rPr>
              <a:t> </a:t>
            </a:r>
            <a:r>
              <a:rPr sz="2000" dirty="0">
                <a:latin typeface="Calibri"/>
                <a:cs typeface="Calibri"/>
              </a:rPr>
              <a:t>have</a:t>
            </a:r>
            <a:r>
              <a:rPr sz="2000" spc="280" dirty="0">
                <a:latin typeface="Calibri"/>
                <a:cs typeface="Calibri"/>
              </a:rPr>
              <a:t> </a:t>
            </a:r>
            <a:r>
              <a:rPr sz="2000" spc="-10" dirty="0">
                <a:latin typeface="Calibri"/>
                <a:cs typeface="Calibri"/>
              </a:rPr>
              <a:t>proven </a:t>
            </a:r>
            <a:r>
              <a:rPr sz="2000" dirty="0">
                <a:latin typeface="Calibri"/>
                <a:cs typeface="Calibri"/>
              </a:rPr>
              <a:t>loyalty</a:t>
            </a:r>
            <a:r>
              <a:rPr sz="2000" spc="125" dirty="0">
                <a:latin typeface="Calibri"/>
                <a:cs typeface="Calibri"/>
              </a:rPr>
              <a:t>  </a:t>
            </a:r>
            <a:r>
              <a:rPr sz="2000" dirty="0">
                <a:latin typeface="Calibri"/>
                <a:cs typeface="Calibri"/>
              </a:rPr>
              <a:t>to</a:t>
            </a:r>
            <a:r>
              <a:rPr sz="2000" spc="130" dirty="0">
                <a:latin typeface="Calibri"/>
                <a:cs typeface="Calibri"/>
              </a:rPr>
              <a:t>  </a:t>
            </a:r>
            <a:r>
              <a:rPr sz="2000" dirty="0">
                <a:latin typeface="Calibri"/>
                <a:cs typeface="Calibri"/>
              </a:rPr>
              <a:t>upper</a:t>
            </a:r>
            <a:r>
              <a:rPr sz="2000" spc="125" dirty="0">
                <a:latin typeface="Calibri"/>
                <a:cs typeface="Calibri"/>
              </a:rPr>
              <a:t>  </a:t>
            </a:r>
            <a:r>
              <a:rPr sz="2000" dirty="0">
                <a:latin typeface="Calibri"/>
                <a:cs typeface="Calibri"/>
              </a:rPr>
              <a:t>management,</a:t>
            </a:r>
            <a:r>
              <a:rPr sz="2000" spc="130" dirty="0">
                <a:latin typeface="Calibri"/>
                <a:cs typeface="Calibri"/>
              </a:rPr>
              <a:t>  </a:t>
            </a:r>
            <a:r>
              <a:rPr sz="2000" dirty="0">
                <a:latin typeface="Calibri"/>
                <a:cs typeface="Calibri"/>
              </a:rPr>
              <a:t>senior</a:t>
            </a:r>
            <a:r>
              <a:rPr sz="2000" spc="130" dirty="0">
                <a:latin typeface="Calibri"/>
                <a:cs typeface="Calibri"/>
              </a:rPr>
              <a:t>  </a:t>
            </a:r>
            <a:r>
              <a:rPr sz="2000" dirty="0">
                <a:latin typeface="Calibri"/>
                <a:cs typeface="Calibri"/>
              </a:rPr>
              <a:t>management</a:t>
            </a:r>
            <a:r>
              <a:rPr sz="2000" spc="130" dirty="0">
                <a:latin typeface="Calibri"/>
                <a:cs typeface="Calibri"/>
              </a:rPr>
              <a:t>  </a:t>
            </a:r>
            <a:r>
              <a:rPr sz="2000" dirty="0">
                <a:latin typeface="Calibri"/>
                <a:cs typeface="Calibri"/>
              </a:rPr>
              <a:t>is</a:t>
            </a:r>
            <a:r>
              <a:rPr sz="2000" spc="135" dirty="0">
                <a:latin typeface="Calibri"/>
                <a:cs typeface="Calibri"/>
              </a:rPr>
              <a:t>  </a:t>
            </a:r>
            <a:r>
              <a:rPr sz="2000" dirty="0">
                <a:latin typeface="Calibri"/>
                <a:cs typeface="Calibri"/>
              </a:rPr>
              <a:t>much</a:t>
            </a:r>
            <a:r>
              <a:rPr sz="2000" spc="130" dirty="0">
                <a:latin typeface="Calibri"/>
                <a:cs typeface="Calibri"/>
              </a:rPr>
              <a:t>  </a:t>
            </a:r>
            <a:r>
              <a:rPr sz="2000" dirty="0">
                <a:latin typeface="Calibri"/>
                <a:cs typeface="Calibri"/>
              </a:rPr>
              <a:t>more</a:t>
            </a:r>
            <a:r>
              <a:rPr sz="2000" spc="130" dirty="0">
                <a:latin typeface="Calibri"/>
                <a:cs typeface="Calibri"/>
              </a:rPr>
              <a:t>  </a:t>
            </a:r>
            <a:r>
              <a:rPr sz="2000" dirty="0">
                <a:latin typeface="Calibri"/>
                <a:cs typeface="Calibri"/>
              </a:rPr>
              <a:t>receptive</a:t>
            </a:r>
            <a:r>
              <a:rPr sz="2000" spc="135" dirty="0">
                <a:latin typeface="Calibri"/>
                <a:cs typeface="Calibri"/>
              </a:rPr>
              <a:t>  </a:t>
            </a:r>
            <a:r>
              <a:rPr sz="2000" dirty="0">
                <a:latin typeface="Calibri"/>
                <a:cs typeface="Calibri"/>
              </a:rPr>
              <a:t>to</a:t>
            </a:r>
            <a:r>
              <a:rPr sz="2000" spc="125" dirty="0">
                <a:latin typeface="Calibri"/>
                <a:cs typeface="Calibri"/>
              </a:rPr>
              <a:t>  </a:t>
            </a:r>
            <a:r>
              <a:rPr sz="2000" spc="-10" dirty="0">
                <a:latin typeface="Calibri"/>
                <a:cs typeface="Calibri"/>
              </a:rPr>
              <a:t>their </a:t>
            </a:r>
            <a:r>
              <a:rPr sz="2000" dirty="0">
                <a:latin typeface="Calibri"/>
                <a:cs typeface="Calibri"/>
              </a:rPr>
              <a:t>challenges</a:t>
            </a:r>
            <a:r>
              <a:rPr sz="2000" spc="-55" dirty="0">
                <a:latin typeface="Calibri"/>
                <a:cs typeface="Calibri"/>
              </a:rPr>
              <a:t> </a:t>
            </a:r>
            <a:r>
              <a:rPr sz="2000" dirty="0">
                <a:latin typeface="Calibri"/>
                <a:cs typeface="Calibri"/>
              </a:rPr>
              <a:t>and</a:t>
            </a:r>
            <a:r>
              <a:rPr sz="2000" spc="-60" dirty="0">
                <a:latin typeface="Calibri"/>
                <a:cs typeface="Calibri"/>
              </a:rPr>
              <a:t> </a:t>
            </a:r>
            <a:r>
              <a:rPr sz="2000" spc="-10" dirty="0">
                <a:latin typeface="Calibri"/>
                <a:cs typeface="Calibri"/>
              </a:rPr>
              <a:t>requests</a:t>
            </a:r>
            <a:endParaRPr sz="20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11</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00" dirty="0"/>
              <a:t>Social</a:t>
            </a:r>
            <a:r>
              <a:rPr spc="135" dirty="0"/>
              <a:t> </a:t>
            </a:r>
            <a:r>
              <a:rPr spc="105" dirty="0"/>
              <a:t>Network</a:t>
            </a:r>
            <a:r>
              <a:rPr spc="130" dirty="0"/>
              <a:t> </a:t>
            </a:r>
            <a:r>
              <a:rPr spc="110" dirty="0"/>
              <a:t>Building</a:t>
            </a:r>
            <a:r>
              <a:rPr spc="125" dirty="0"/>
              <a:t> </a:t>
            </a:r>
            <a:r>
              <a:rPr sz="1950" spc="-10" dirty="0"/>
              <a:t>(2/2)</a:t>
            </a:r>
            <a:endParaRPr sz="1950"/>
          </a:p>
        </p:txBody>
      </p:sp>
      <p:pic>
        <p:nvPicPr>
          <p:cNvPr id="5" name="Picture 4">
            <a:extLst>
              <a:ext uri="{FF2B5EF4-FFF2-40B4-BE49-F238E27FC236}">
                <a16:creationId xmlns:a16="http://schemas.microsoft.com/office/drawing/2014/main" id="{C6C07F91-9BA0-9EFA-4860-2D7966A3AB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0" dirty="0"/>
              <a:t>Qualities</a:t>
            </a:r>
            <a:r>
              <a:rPr spc="130" dirty="0"/>
              <a:t> </a:t>
            </a:r>
            <a:r>
              <a:rPr spc="80" dirty="0"/>
              <a:t>of</a:t>
            </a:r>
            <a:r>
              <a:rPr spc="130" dirty="0"/>
              <a:t> </a:t>
            </a:r>
            <a:r>
              <a:rPr spc="85" dirty="0"/>
              <a:t>an</a:t>
            </a:r>
            <a:r>
              <a:rPr spc="130" dirty="0"/>
              <a:t> </a:t>
            </a:r>
            <a:r>
              <a:rPr spc="65" dirty="0"/>
              <a:t>Effective</a:t>
            </a:r>
            <a:r>
              <a:rPr spc="135" dirty="0"/>
              <a:t> </a:t>
            </a:r>
            <a:r>
              <a:rPr spc="85" dirty="0"/>
              <a:t>Project</a:t>
            </a:r>
            <a:r>
              <a:rPr spc="135" dirty="0"/>
              <a:t> </a:t>
            </a:r>
            <a:r>
              <a:rPr spc="110" dirty="0"/>
              <a:t>Manager</a:t>
            </a:r>
            <a:r>
              <a:rPr spc="85" dirty="0"/>
              <a:t> </a:t>
            </a:r>
            <a:r>
              <a:rPr sz="1950" spc="-10" dirty="0"/>
              <a:t>(1/2)</a:t>
            </a:r>
            <a:endParaRPr sz="1950"/>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12</a:t>
            </a:r>
            <a:endParaRPr sz="1200">
              <a:latin typeface="Calibri"/>
              <a:cs typeface="Calibri"/>
            </a:endParaRPr>
          </a:p>
        </p:txBody>
      </p:sp>
      <p:sp>
        <p:nvSpPr>
          <p:cNvPr id="4" name="object 4"/>
          <p:cNvSpPr txBox="1"/>
          <p:nvPr/>
        </p:nvSpPr>
        <p:spPr>
          <a:xfrm>
            <a:off x="916939" y="1624076"/>
            <a:ext cx="10358120" cy="4971415"/>
          </a:xfrm>
          <a:prstGeom prst="rect">
            <a:avLst/>
          </a:prstGeom>
        </p:spPr>
        <p:txBody>
          <a:bodyPr vert="horz" wrap="square" lIns="0" tIns="66040" rIns="0" bIns="0" rtlCol="0">
            <a:spAutoFit/>
          </a:bodyPr>
          <a:lstStyle/>
          <a:p>
            <a:pPr marL="12700" marR="5080" algn="just">
              <a:lnSpc>
                <a:spcPct val="90300"/>
              </a:lnSpc>
              <a:spcBef>
                <a:spcPts val="520"/>
              </a:spcBef>
            </a:pPr>
            <a:r>
              <a:rPr sz="3600" spc="-10" dirty="0">
                <a:latin typeface="Calibri"/>
                <a:cs typeface="Calibri"/>
              </a:rPr>
              <a:t>Effective</a:t>
            </a:r>
            <a:r>
              <a:rPr sz="3600" spc="50" dirty="0">
                <a:latin typeface="Calibri"/>
                <a:cs typeface="Calibri"/>
              </a:rPr>
              <a:t> </a:t>
            </a:r>
            <a:r>
              <a:rPr sz="3600" dirty="0">
                <a:latin typeface="Calibri"/>
                <a:cs typeface="Calibri"/>
              </a:rPr>
              <a:t>project</a:t>
            </a:r>
            <a:r>
              <a:rPr sz="3600" spc="50" dirty="0">
                <a:latin typeface="Calibri"/>
                <a:cs typeface="Calibri"/>
              </a:rPr>
              <a:t> </a:t>
            </a:r>
            <a:r>
              <a:rPr sz="3600" dirty="0">
                <a:latin typeface="Calibri"/>
                <a:cs typeface="Calibri"/>
              </a:rPr>
              <a:t>managers</a:t>
            </a:r>
            <a:r>
              <a:rPr sz="3600" spc="55" dirty="0">
                <a:latin typeface="Calibri"/>
                <a:cs typeface="Calibri"/>
              </a:rPr>
              <a:t> </a:t>
            </a:r>
            <a:r>
              <a:rPr sz="3600" dirty="0">
                <a:latin typeface="Calibri"/>
                <a:cs typeface="Calibri"/>
              </a:rPr>
              <a:t>have</a:t>
            </a:r>
            <a:r>
              <a:rPr sz="3600" spc="50" dirty="0">
                <a:latin typeface="Calibri"/>
                <a:cs typeface="Calibri"/>
              </a:rPr>
              <a:t> </a:t>
            </a:r>
            <a:r>
              <a:rPr sz="3600" dirty="0">
                <a:latin typeface="Calibri"/>
                <a:cs typeface="Calibri"/>
              </a:rPr>
              <a:t>to</a:t>
            </a:r>
            <a:r>
              <a:rPr sz="3600" spc="60" dirty="0">
                <a:latin typeface="Calibri"/>
                <a:cs typeface="Calibri"/>
              </a:rPr>
              <a:t> </a:t>
            </a:r>
            <a:r>
              <a:rPr sz="3600" dirty="0">
                <a:latin typeface="Calibri"/>
                <a:cs typeface="Calibri"/>
              </a:rPr>
              <a:t>be</a:t>
            </a:r>
            <a:r>
              <a:rPr sz="3600" spc="50" dirty="0">
                <a:latin typeface="Calibri"/>
                <a:cs typeface="Calibri"/>
              </a:rPr>
              <a:t> </a:t>
            </a:r>
            <a:r>
              <a:rPr sz="3600" dirty="0">
                <a:latin typeface="Calibri"/>
                <a:cs typeface="Calibri"/>
              </a:rPr>
              <a:t>able</a:t>
            </a:r>
            <a:r>
              <a:rPr sz="3600" spc="50" dirty="0">
                <a:latin typeface="Calibri"/>
                <a:cs typeface="Calibri"/>
              </a:rPr>
              <a:t> </a:t>
            </a:r>
            <a:r>
              <a:rPr sz="3600" dirty="0">
                <a:latin typeface="Calibri"/>
                <a:cs typeface="Calibri"/>
              </a:rPr>
              <a:t>to</a:t>
            </a:r>
            <a:r>
              <a:rPr sz="3600" spc="60" dirty="0">
                <a:latin typeface="Calibri"/>
                <a:cs typeface="Calibri"/>
              </a:rPr>
              <a:t> </a:t>
            </a:r>
            <a:r>
              <a:rPr sz="3600" dirty="0">
                <a:latin typeface="Calibri"/>
                <a:cs typeface="Calibri"/>
              </a:rPr>
              <a:t>deal</a:t>
            </a:r>
            <a:r>
              <a:rPr sz="3600" spc="50" dirty="0">
                <a:latin typeface="Calibri"/>
                <a:cs typeface="Calibri"/>
              </a:rPr>
              <a:t> </a:t>
            </a:r>
            <a:r>
              <a:rPr sz="3600" spc="-20" dirty="0">
                <a:latin typeface="Calibri"/>
                <a:cs typeface="Calibri"/>
              </a:rPr>
              <a:t>with </a:t>
            </a:r>
            <a:r>
              <a:rPr sz="3600" dirty="0">
                <a:latin typeface="Calibri"/>
                <a:cs typeface="Calibri"/>
              </a:rPr>
              <a:t>the</a:t>
            </a:r>
            <a:r>
              <a:rPr sz="3600" spc="310" dirty="0">
                <a:latin typeface="Calibri"/>
                <a:cs typeface="Calibri"/>
              </a:rPr>
              <a:t> </a:t>
            </a:r>
            <a:r>
              <a:rPr sz="3600" dirty="0">
                <a:latin typeface="Calibri"/>
                <a:cs typeface="Calibri"/>
              </a:rPr>
              <a:t>contradictory</a:t>
            </a:r>
            <a:r>
              <a:rPr sz="3600" spc="310" dirty="0">
                <a:latin typeface="Calibri"/>
                <a:cs typeface="Calibri"/>
              </a:rPr>
              <a:t> </a:t>
            </a:r>
            <a:r>
              <a:rPr sz="3600" dirty="0">
                <a:latin typeface="Calibri"/>
                <a:cs typeface="Calibri"/>
              </a:rPr>
              <a:t>nature</a:t>
            </a:r>
            <a:r>
              <a:rPr sz="3600" spc="305" dirty="0">
                <a:latin typeface="Calibri"/>
                <a:cs typeface="Calibri"/>
              </a:rPr>
              <a:t> </a:t>
            </a:r>
            <a:r>
              <a:rPr sz="3600" dirty="0">
                <a:latin typeface="Calibri"/>
                <a:cs typeface="Calibri"/>
              </a:rPr>
              <a:t>of</a:t>
            </a:r>
            <a:r>
              <a:rPr sz="3600" spc="315" dirty="0">
                <a:latin typeface="Calibri"/>
                <a:cs typeface="Calibri"/>
              </a:rPr>
              <a:t> </a:t>
            </a:r>
            <a:r>
              <a:rPr sz="3600" dirty="0">
                <a:latin typeface="Calibri"/>
                <a:cs typeface="Calibri"/>
              </a:rPr>
              <a:t>their</a:t>
            </a:r>
            <a:r>
              <a:rPr sz="3600" spc="315" dirty="0">
                <a:latin typeface="Calibri"/>
                <a:cs typeface="Calibri"/>
              </a:rPr>
              <a:t> </a:t>
            </a:r>
            <a:r>
              <a:rPr sz="3600" dirty="0">
                <a:latin typeface="Calibri"/>
                <a:cs typeface="Calibri"/>
              </a:rPr>
              <a:t>work.</a:t>
            </a:r>
            <a:r>
              <a:rPr sz="3600" spc="320" dirty="0">
                <a:latin typeface="Calibri"/>
                <a:cs typeface="Calibri"/>
              </a:rPr>
              <a:t> </a:t>
            </a:r>
            <a:r>
              <a:rPr sz="3600" dirty="0">
                <a:latin typeface="Calibri"/>
                <a:cs typeface="Calibri"/>
              </a:rPr>
              <a:t>Some</a:t>
            </a:r>
            <a:r>
              <a:rPr sz="3600" spc="310" dirty="0">
                <a:latin typeface="Calibri"/>
                <a:cs typeface="Calibri"/>
              </a:rPr>
              <a:t> </a:t>
            </a:r>
            <a:r>
              <a:rPr sz="3600" dirty="0">
                <a:latin typeface="Calibri"/>
                <a:cs typeface="Calibri"/>
              </a:rPr>
              <a:t>of</a:t>
            </a:r>
            <a:r>
              <a:rPr sz="3600" spc="315" dirty="0">
                <a:latin typeface="Calibri"/>
                <a:cs typeface="Calibri"/>
              </a:rPr>
              <a:t> </a:t>
            </a:r>
            <a:r>
              <a:rPr sz="3600" spc="-10" dirty="0">
                <a:latin typeface="Calibri"/>
                <a:cs typeface="Calibri"/>
              </a:rPr>
              <a:t>those contradictions</a:t>
            </a:r>
            <a:r>
              <a:rPr sz="3600" spc="-114" dirty="0">
                <a:latin typeface="Calibri"/>
                <a:cs typeface="Calibri"/>
              </a:rPr>
              <a:t> </a:t>
            </a:r>
            <a:r>
              <a:rPr sz="3600" dirty="0">
                <a:latin typeface="Calibri"/>
                <a:cs typeface="Calibri"/>
              </a:rPr>
              <a:t>are</a:t>
            </a:r>
            <a:r>
              <a:rPr sz="3600" spc="-120" dirty="0">
                <a:latin typeface="Calibri"/>
                <a:cs typeface="Calibri"/>
              </a:rPr>
              <a:t> </a:t>
            </a:r>
            <a:r>
              <a:rPr sz="3600" dirty="0">
                <a:latin typeface="Calibri"/>
                <a:cs typeface="Calibri"/>
              </a:rPr>
              <a:t>listed</a:t>
            </a:r>
            <a:r>
              <a:rPr sz="3600" spc="-125" dirty="0">
                <a:latin typeface="Calibri"/>
                <a:cs typeface="Calibri"/>
              </a:rPr>
              <a:t> </a:t>
            </a:r>
            <a:r>
              <a:rPr sz="3600" spc="-10" dirty="0">
                <a:latin typeface="Calibri"/>
                <a:cs typeface="Calibri"/>
              </a:rPr>
              <a:t>here:</a:t>
            </a:r>
            <a:endParaRPr sz="3600" dirty="0">
              <a:latin typeface="Calibri"/>
              <a:cs typeface="Calibri"/>
            </a:endParaRPr>
          </a:p>
          <a:p>
            <a:pPr marL="554355" indent="-217170">
              <a:lnSpc>
                <a:spcPct val="100000"/>
              </a:lnSpc>
              <a:spcBef>
                <a:spcPts val="660"/>
              </a:spcBef>
              <a:buFont typeface="Arial MT"/>
              <a:buChar char="•"/>
              <a:tabLst>
                <a:tab pos="554355" algn="l"/>
              </a:tabLst>
            </a:pPr>
            <a:r>
              <a:rPr sz="3200" spc="-10" dirty="0">
                <a:latin typeface="Calibri"/>
                <a:cs typeface="Calibri"/>
              </a:rPr>
              <a:t>Innovate</a:t>
            </a:r>
            <a:r>
              <a:rPr sz="3200" spc="-120" dirty="0">
                <a:latin typeface="Calibri"/>
                <a:cs typeface="Calibri"/>
              </a:rPr>
              <a:t> </a:t>
            </a:r>
            <a:r>
              <a:rPr sz="3200" dirty="0">
                <a:latin typeface="Calibri"/>
                <a:cs typeface="Calibri"/>
              </a:rPr>
              <a:t>and</a:t>
            </a:r>
            <a:r>
              <a:rPr sz="3200" spc="-114" dirty="0">
                <a:latin typeface="Calibri"/>
                <a:cs typeface="Calibri"/>
              </a:rPr>
              <a:t> </a:t>
            </a:r>
            <a:r>
              <a:rPr sz="3200" dirty="0">
                <a:latin typeface="Calibri"/>
                <a:cs typeface="Calibri"/>
              </a:rPr>
              <a:t>maintain</a:t>
            </a:r>
            <a:r>
              <a:rPr sz="3200" spc="-110" dirty="0">
                <a:latin typeface="Calibri"/>
                <a:cs typeface="Calibri"/>
              </a:rPr>
              <a:t> </a:t>
            </a:r>
            <a:r>
              <a:rPr sz="3200" spc="-10" dirty="0">
                <a:latin typeface="Calibri"/>
                <a:cs typeface="Calibri"/>
              </a:rPr>
              <a:t>stability.</a:t>
            </a:r>
            <a:endParaRPr sz="3200" dirty="0">
              <a:latin typeface="Calibri"/>
              <a:cs typeface="Calibri"/>
            </a:endParaRPr>
          </a:p>
          <a:p>
            <a:pPr marL="554355" indent="-217170">
              <a:lnSpc>
                <a:spcPct val="100000"/>
              </a:lnSpc>
              <a:spcBef>
                <a:spcPts val="580"/>
              </a:spcBef>
              <a:buFont typeface="Arial MT"/>
              <a:buChar char="•"/>
              <a:tabLst>
                <a:tab pos="554355" algn="l"/>
              </a:tabLst>
            </a:pPr>
            <a:r>
              <a:rPr sz="3200" dirty="0">
                <a:solidFill>
                  <a:srgbClr val="C00000"/>
                </a:solidFill>
                <a:latin typeface="Calibri"/>
                <a:cs typeface="Calibri"/>
              </a:rPr>
              <a:t>See</a:t>
            </a:r>
            <a:r>
              <a:rPr sz="3200" spc="-80" dirty="0">
                <a:solidFill>
                  <a:srgbClr val="C00000"/>
                </a:solidFill>
                <a:latin typeface="Calibri"/>
                <a:cs typeface="Calibri"/>
              </a:rPr>
              <a:t> </a:t>
            </a:r>
            <a:r>
              <a:rPr sz="3200" dirty="0">
                <a:solidFill>
                  <a:srgbClr val="C00000"/>
                </a:solidFill>
                <a:latin typeface="Calibri"/>
                <a:cs typeface="Calibri"/>
              </a:rPr>
              <a:t>the</a:t>
            </a:r>
            <a:r>
              <a:rPr sz="3200" spc="-75" dirty="0">
                <a:solidFill>
                  <a:srgbClr val="C00000"/>
                </a:solidFill>
                <a:latin typeface="Calibri"/>
                <a:cs typeface="Calibri"/>
              </a:rPr>
              <a:t> </a:t>
            </a:r>
            <a:r>
              <a:rPr sz="3200" dirty="0">
                <a:solidFill>
                  <a:srgbClr val="C00000"/>
                </a:solidFill>
                <a:latin typeface="Calibri"/>
                <a:cs typeface="Calibri"/>
              </a:rPr>
              <a:t>big</a:t>
            </a:r>
            <a:r>
              <a:rPr sz="3200" spc="-65" dirty="0">
                <a:solidFill>
                  <a:srgbClr val="C00000"/>
                </a:solidFill>
                <a:latin typeface="Calibri"/>
                <a:cs typeface="Calibri"/>
              </a:rPr>
              <a:t> </a:t>
            </a:r>
            <a:r>
              <a:rPr sz="3200" dirty="0">
                <a:solidFill>
                  <a:srgbClr val="C00000"/>
                </a:solidFill>
                <a:latin typeface="Calibri"/>
                <a:cs typeface="Calibri"/>
              </a:rPr>
              <a:t>picture</a:t>
            </a:r>
            <a:r>
              <a:rPr sz="3200" spc="-80" dirty="0">
                <a:solidFill>
                  <a:srgbClr val="C00000"/>
                </a:solidFill>
                <a:latin typeface="Calibri"/>
                <a:cs typeface="Calibri"/>
              </a:rPr>
              <a:t> </a:t>
            </a:r>
            <a:r>
              <a:rPr sz="3200" dirty="0">
                <a:solidFill>
                  <a:srgbClr val="C00000"/>
                </a:solidFill>
                <a:latin typeface="Calibri"/>
                <a:cs typeface="Calibri"/>
              </a:rPr>
              <a:t>while</a:t>
            </a:r>
            <a:r>
              <a:rPr sz="3200" spc="-70" dirty="0">
                <a:solidFill>
                  <a:srgbClr val="C00000"/>
                </a:solidFill>
                <a:latin typeface="Calibri"/>
                <a:cs typeface="Calibri"/>
              </a:rPr>
              <a:t> </a:t>
            </a:r>
            <a:r>
              <a:rPr sz="3200" dirty="0">
                <a:solidFill>
                  <a:srgbClr val="C00000"/>
                </a:solidFill>
                <a:latin typeface="Calibri"/>
                <a:cs typeface="Calibri"/>
              </a:rPr>
              <a:t>getting</a:t>
            </a:r>
            <a:r>
              <a:rPr sz="3200" spc="-65" dirty="0">
                <a:solidFill>
                  <a:srgbClr val="C00000"/>
                </a:solidFill>
                <a:latin typeface="Calibri"/>
                <a:cs typeface="Calibri"/>
              </a:rPr>
              <a:t> </a:t>
            </a:r>
            <a:r>
              <a:rPr sz="3200" dirty="0">
                <a:solidFill>
                  <a:srgbClr val="C00000"/>
                </a:solidFill>
                <a:latin typeface="Calibri"/>
                <a:cs typeface="Calibri"/>
              </a:rPr>
              <a:t>your</a:t>
            </a:r>
            <a:r>
              <a:rPr sz="3200" spc="-70" dirty="0">
                <a:solidFill>
                  <a:srgbClr val="C00000"/>
                </a:solidFill>
                <a:latin typeface="Calibri"/>
                <a:cs typeface="Calibri"/>
              </a:rPr>
              <a:t> </a:t>
            </a:r>
            <a:r>
              <a:rPr sz="3200" dirty="0">
                <a:solidFill>
                  <a:srgbClr val="C00000"/>
                </a:solidFill>
                <a:latin typeface="Calibri"/>
                <a:cs typeface="Calibri"/>
              </a:rPr>
              <a:t>hands</a:t>
            </a:r>
            <a:r>
              <a:rPr sz="3200" spc="-75" dirty="0">
                <a:solidFill>
                  <a:srgbClr val="C00000"/>
                </a:solidFill>
                <a:latin typeface="Calibri"/>
                <a:cs typeface="Calibri"/>
              </a:rPr>
              <a:t> </a:t>
            </a:r>
            <a:r>
              <a:rPr sz="3200" spc="-10" dirty="0">
                <a:solidFill>
                  <a:srgbClr val="C00000"/>
                </a:solidFill>
                <a:latin typeface="Calibri"/>
                <a:cs typeface="Calibri"/>
              </a:rPr>
              <a:t>dirty.</a:t>
            </a:r>
            <a:endParaRPr sz="3200" dirty="0">
              <a:latin typeface="Calibri"/>
              <a:cs typeface="Calibri"/>
            </a:endParaRPr>
          </a:p>
          <a:p>
            <a:pPr marL="554355" indent="-217170">
              <a:lnSpc>
                <a:spcPct val="100000"/>
              </a:lnSpc>
              <a:spcBef>
                <a:spcPts val="645"/>
              </a:spcBef>
              <a:buFont typeface="Arial MT"/>
              <a:buChar char="•"/>
              <a:tabLst>
                <a:tab pos="554355" algn="l"/>
              </a:tabLst>
            </a:pPr>
            <a:r>
              <a:rPr sz="3200" spc="-10" dirty="0">
                <a:latin typeface="Calibri"/>
                <a:cs typeface="Calibri"/>
              </a:rPr>
              <a:t>Encourage</a:t>
            </a:r>
            <a:r>
              <a:rPr sz="3200" spc="-95" dirty="0">
                <a:latin typeface="Calibri"/>
                <a:cs typeface="Calibri"/>
              </a:rPr>
              <a:t> </a:t>
            </a:r>
            <a:r>
              <a:rPr sz="3200" dirty="0">
                <a:latin typeface="Calibri"/>
                <a:cs typeface="Calibri"/>
              </a:rPr>
              <a:t>individuals</a:t>
            </a:r>
            <a:r>
              <a:rPr sz="3200" spc="-95" dirty="0">
                <a:latin typeface="Calibri"/>
                <a:cs typeface="Calibri"/>
              </a:rPr>
              <a:t> </a:t>
            </a:r>
            <a:r>
              <a:rPr sz="3200" dirty="0">
                <a:latin typeface="Calibri"/>
                <a:cs typeface="Calibri"/>
              </a:rPr>
              <a:t>but</a:t>
            </a:r>
            <a:r>
              <a:rPr sz="3200" spc="-90" dirty="0">
                <a:latin typeface="Calibri"/>
                <a:cs typeface="Calibri"/>
              </a:rPr>
              <a:t> </a:t>
            </a:r>
            <a:r>
              <a:rPr sz="3200" dirty="0">
                <a:latin typeface="Calibri"/>
                <a:cs typeface="Calibri"/>
              </a:rPr>
              <a:t>stress</a:t>
            </a:r>
            <a:r>
              <a:rPr sz="3200" spc="-90" dirty="0">
                <a:latin typeface="Calibri"/>
                <a:cs typeface="Calibri"/>
              </a:rPr>
              <a:t> </a:t>
            </a:r>
            <a:r>
              <a:rPr sz="3200" dirty="0">
                <a:latin typeface="Calibri"/>
                <a:cs typeface="Calibri"/>
              </a:rPr>
              <a:t>the</a:t>
            </a:r>
            <a:r>
              <a:rPr sz="3200" spc="-95" dirty="0">
                <a:latin typeface="Calibri"/>
                <a:cs typeface="Calibri"/>
              </a:rPr>
              <a:t> </a:t>
            </a:r>
            <a:r>
              <a:rPr sz="3200" spc="-10" dirty="0">
                <a:latin typeface="Calibri"/>
                <a:cs typeface="Calibri"/>
              </a:rPr>
              <a:t>team.</a:t>
            </a:r>
            <a:endParaRPr sz="3200" dirty="0">
              <a:latin typeface="Calibri"/>
              <a:cs typeface="Calibri"/>
            </a:endParaRPr>
          </a:p>
          <a:p>
            <a:pPr marL="554355" indent="-217170">
              <a:lnSpc>
                <a:spcPct val="100000"/>
              </a:lnSpc>
              <a:spcBef>
                <a:spcPts val="575"/>
              </a:spcBef>
              <a:buFont typeface="Arial MT"/>
              <a:buChar char="•"/>
              <a:tabLst>
                <a:tab pos="554355" algn="l"/>
              </a:tabLst>
            </a:pPr>
            <a:r>
              <a:rPr sz="3200" spc="-20" dirty="0">
                <a:solidFill>
                  <a:srgbClr val="C00000"/>
                </a:solidFill>
                <a:latin typeface="Calibri"/>
                <a:cs typeface="Calibri"/>
              </a:rPr>
              <a:t>Hands-off/Hands-</a:t>
            </a:r>
            <a:r>
              <a:rPr sz="3200" spc="-25" dirty="0">
                <a:solidFill>
                  <a:srgbClr val="C00000"/>
                </a:solidFill>
                <a:latin typeface="Calibri"/>
                <a:cs typeface="Calibri"/>
              </a:rPr>
              <a:t>on.</a:t>
            </a:r>
            <a:endParaRPr sz="3200" dirty="0">
              <a:latin typeface="Calibri"/>
              <a:cs typeface="Calibri"/>
            </a:endParaRPr>
          </a:p>
          <a:p>
            <a:pPr marL="554355" indent="-217170">
              <a:lnSpc>
                <a:spcPct val="100000"/>
              </a:lnSpc>
              <a:spcBef>
                <a:spcPts val="650"/>
              </a:spcBef>
              <a:buFont typeface="Arial MT"/>
              <a:buChar char="•"/>
              <a:tabLst>
                <a:tab pos="554355" algn="l"/>
              </a:tabLst>
            </a:pPr>
            <a:r>
              <a:rPr sz="3200" dirty="0">
                <a:latin typeface="Calibri"/>
                <a:cs typeface="Calibri"/>
              </a:rPr>
              <a:t>Flexible</a:t>
            </a:r>
            <a:r>
              <a:rPr sz="3200" spc="-110" dirty="0">
                <a:latin typeface="Calibri"/>
                <a:cs typeface="Calibri"/>
              </a:rPr>
              <a:t> </a:t>
            </a:r>
            <a:r>
              <a:rPr sz="3200" dirty="0">
                <a:latin typeface="Calibri"/>
                <a:cs typeface="Calibri"/>
              </a:rPr>
              <a:t>but</a:t>
            </a:r>
            <a:r>
              <a:rPr sz="3200" spc="-80" dirty="0">
                <a:latin typeface="Calibri"/>
                <a:cs typeface="Calibri"/>
              </a:rPr>
              <a:t> </a:t>
            </a:r>
            <a:r>
              <a:rPr sz="3200" spc="-20" dirty="0">
                <a:latin typeface="Calibri"/>
                <a:cs typeface="Calibri"/>
              </a:rPr>
              <a:t>firm.</a:t>
            </a:r>
            <a:endParaRPr sz="3200" dirty="0">
              <a:latin typeface="Calibri"/>
              <a:cs typeface="Calibri"/>
            </a:endParaRPr>
          </a:p>
          <a:p>
            <a:pPr marL="554355" indent="-217170">
              <a:lnSpc>
                <a:spcPct val="100000"/>
              </a:lnSpc>
              <a:spcBef>
                <a:spcPts val="670"/>
              </a:spcBef>
              <a:buFont typeface="Arial MT"/>
              <a:buChar char="•"/>
              <a:tabLst>
                <a:tab pos="554355" algn="l"/>
              </a:tabLst>
            </a:pPr>
            <a:r>
              <a:rPr sz="3200" spc="-55" dirty="0">
                <a:solidFill>
                  <a:srgbClr val="C00000"/>
                </a:solidFill>
                <a:latin typeface="Calibri"/>
                <a:cs typeface="Calibri"/>
              </a:rPr>
              <a:t>Team</a:t>
            </a:r>
            <a:r>
              <a:rPr sz="3200" spc="-90" dirty="0">
                <a:solidFill>
                  <a:srgbClr val="C00000"/>
                </a:solidFill>
                <a:latin typeface="Calibri"/>
                <a:cs typeface="Calibri"/>
              </a:rPr>
              <a:t> </a:t>
            </a:r>
            <a:r>
              <a:rPr sz="3200" dirty="0">
                <a:solidFill>
                  <a:srgbClr val="C00000"/>
                </a:solidFill>
                <a:latin typeface="Calibri"/>
                <a:cs typeface="Calibri"/>
              </a:rPr>
              <a:t>versus</a:t>
            </a:r>
            <a:r>
              <a:rPr sz="3200" spc="-90" dirty="0">
                <a:solidFill>
                  <a:srgbClr val="C00000"/>
                </a:solidFill>
                <a:latin typeface="Calibri"/>
                <a:cs typeface="Calibri"/>
              </a:rPr>
              <a:t> </a:t>
            </a:r>
            <a:r>
              <a:rPr sz="3200" spc="-20" dirty="0">
                <a:solidFill>
                  <a:srgbClr val="C00000"/>
                </a:solidFill>
                <a:latin typeface="Calibri"/>
                <a:cs typeface="Calibri"/>
              </a:rPr>
              <a:t>organizational</a:t>
            </a:r>
            <a:r>
              <a:rPr sz="3200" spc="-85" dirty="0">
                <a:solidFill>
                  <a:srgbClr val="C00000"/>
                </a:solidFill>
                <a:latin typeface="Calibri"/>
                <a:cs typeface="Calibri"/>
              </a:rPr>
              <a:t> </a:t>
            </a:r>
            <a:r>
              <a:rPr sz="3200" spc="-10" dirty="0">
                <a:solidFill>
                  <a:srgbClr val="C00000"/>
                </a:solidFill>
                <a:latin typeface="Calibri"/>
                <a:cs typeface="Calibri"/>
              </a:rPr>
              <a:t>loyalties.</a:t>
            </a:r>
            <a:endParaRPr sz="3200" dirty="0">
              <a:latin typeface="Calibri"/>
              <a:cs typeface="Calibri"/>
            </a:endParaRPr>
          </a:p>
        </p:txBody>
      </p:sp>
      <p:pic>
        <p:nvPicPr>
          <p:cNvPr id="5" name="Picture 4">
            <a:extLst>
              <a:ext uri="{FF2B5EF4-FFF2-40B4-BE49-F238E27FC236}">
                <a16:creationId xmlns:a16="http://schemas.microsoft.com/office/drawing/2014/main" id="{6040CEC4-F811-08AA-E35F-56ED5446ED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9400" y="0"/>
            <a:ext cx="17526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0" dirty="0"/>
              <a:t>Qualities</a:t>
            </a:r>
            <a:r>
              <a:rPr spc="130" dirty="0"/>
              <a:t> </a:t>
            </a:r>
            <a:r>
              <a:rPr spc="80" dirty="0"/>
              <a:t>of</a:t>
            </a:r>
            <a:r>
              <a:rPr spc="130" dirty="0"/>
              <a:t> </a:t>
            </a:r>
            <a:r>
              <a:rPr spc="85" dirty="0"/>
              <a:t>an</a:t>
            </a:r>
            <a:r>
              <a:rPr spc="130" dirty="0"/>
              <a:t> </a:t>
            </a:r>
            <a:r>
              <a:rPr spc="65" dirty="0"/>
              <a:t>Effective</a:t>
            </a:r>
            <a:r>
              <a:rPr spc="135" dirty="0"/>
              <a:t> </a:t>
            </a:r>
            <a:r>
              <a:rPr spc="85" dirty="0"/>
              <a:t>Project</a:t>
            </a:r>
            <a:r>
              <a:rPr spc="135" dirty="0"/>
              <a:t> </a:t>
            </a:r>
            <a:r>
              <a:rPr spc="110" dirty="0"/>
              <a:t>Manager</a:t>
            </a:r>
            <a:r>
              <a:rPr spc="85" dirty="0"/>
              <a:t> </a:t>
            </a:r>
            <a:r>
              <a:rPr sz="1950" spc="-10" dirty="0"/>
              <a:t>(2/2)</a:t>
            </a:r>
            <a:endParaRPr sz="1950"/>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13</a:t>
            </a:r>
            <a:endParaRPr sz="1200">
              <a:latin typeface="Calibri"/>
              <a:cs typeface="Calibri"/>
            </a:endParaRPr>
          </a:p>
        </p:txBody>
      </p:sp>
      <p:sp>
        <p:nvSpPr>
          <p:cNvPr id="4" name="object 4"/>
          <p:cNvSpPr txBox="1"/>
          <p:nvPr/>
        </p:nvSpPr>
        <p:spPr>
          <a:xfrm>
            <a:off x="916939" y="1649475"/>
            <a:ext cx="10358755" cy="4920615"/>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Lst>
            </a:pPr>
            <a:r>
              <a:rPr sz="2800" dirty="0">
                <a:latin typeface="Calibri"/>
                <a:cs typeface="Calibri"/>
              </a:rPr>
              <a:t>So,</a:t>
            </a:r>
            <a:r>
              <a:rPr sz="2800" spc="275" dirty="0">
                <a:latin typeface="Calibri"/>
                <a:cs typeface="Calibri"/>
              </a:rPr>
              <a:t> </a:t>
            </a:r>
            <a:r>
              <a:rPr sz="2800" dirty="0">
                <a:latin typeface="Calibri"/>
                <a:cs typeface="Calibri"/>
              </a:rPr>
              <a:t>there</a:t>
            </a:r>
            <a:r>
              <a:rPr sz="2800" spc="270" dirty="0">
                <a:latin typeface="Calibri"/>
                <a:cs typeface="Calibri"/>
              </a:rPr>
              <a:t> </a:t>
            </a:r>
            <a:r>
              <a:rPr sz="2800" dirty="0">
                <a:latin typeface="Calibri"/>
                <a:cs typeface="Calibri"/>
              </a:rPr>
              <a:t>are</a:t>
            </a:r>
            <a:r>
              <a:rPr sz="2800" spc="275" dirty="0">
                <a:latin typeface="Calibri"/>
                <a:cs typeface="Calibri"/>
              </a:rPr>
              <a:t> </a:t>
            </a:r>
            <a:r>
              <a:rPr sz="2800" dirty="0">
                <a:latin typeface="Calibri"/>
                <a:cs typeface="Calibri"/>
              </a:rPr>
              <a:t>some</a:t>
            </a:r>
            <a:r>
              <a:rPr sz="2800" spc="270" dirty="0">
                <a:latin typeface="Calibri"/>
                <a:cs typeface="Calibri"/>
              </a:rPr>
              <a:t> </a:t>
            </a:r>
            <a:r>
              <a:rPr sz="2800" dirty="0">
                <a:latin typeface="Calibri"/>
                <a:cs typeface="Calibri"/>
              </a:rPr>
              <a:t>core</a:t>
            </a:r>
            <a:r>
              <a:rPr sz="2800" spc="275" dirty="0">
                <a:latin typeface="Calibri"/>
                <a:cs typeface="Calibri"/>
              </a:rPr>
              <a:t> </a:t>
            </a:r>
            <a:r>
              <a:rPr sz="2800" dirty="0">
                <a:latin typeface="Calibri"/>
                <a:cs typeface="Calibri"/>
              </a:rPr>
              <a:t>skills</a:t>
            </a:r>
            <a:r>
              <a:rPr sz="2800" spc="280" dirty="0">
                <a:latin typeface="Calibri"/>
                <a:cs typeface="Calibri"/>
              </a:rPr>
              <a:t> </a:t>
            </a:r>
            <a:r>
              <a:rPr sz="2800" dirty="0">
                <a:latin typeface="Calibri"/>
                <a:cs typeface="Calibri"/>
              </a:rPr>
              <a:t>that</a:t>
            </a:r>
            <a:r>
              <a:rPr sz="2800" spc="280" dirty="0">
                <a:latin typeface="Calibri"/>
                <a:cs typeface="Calibri"/>
              </a:rPr>
              <a:t> </a:t>
            </a:r>
            <a:r>
              <a:rPr sz="2800" dirty="0">
                <a:latin typeface="Calibri"/>
                <a:cs typeface="Calibri"/>
              </a:rPr>
              <a:t>can</a:t>
            </a:r>
            <a:r>
              <a:rPr sz="2800" spc="280" dirty="0">
                <a:latin typeface="Calibri"/>
                <a:cs typeface="Calibri"/>
              </a:rPr>
              <a:t> </a:t>
            </a:r>
            <a:r>
              <a:rPr sz="2800" dirty="0">
                <a:latin typeface="Calibri"/>
                <a:cs typeface="Calibri"/>
              </a:rPr>
              <a:t>be</a:t>
            </a:r>
            <a:r>
              <a:rPr sz="2800" spc="275" dirty="0">
                <a:latin typeface="Calibri"/>
                <a:cs typeface="Calibri"/>
              </a:rPr>
              <a:t> </a:t>
            </a:r>
            <a:r>
              <a:rPr sz="2800" dirty="0">
                <a:latin typeface="Calibri"/>
                <a:cs typeface="Calibri"/>
              </a:rPr>
              <a:t>developed</a:t>
            </a:r>
            <a:r>
              <a:rPr sz="2800" spc="275" dirty="0">
                <a:latin typeface="Calibri"/>
                <a:cs typeface="Calibri"/>
              </a:rPr>
              <a:t> </a:t>
            </a:r>
            <a:r>
              <a:rPr sz="2800" dirty="0">
                <a:latin typeface="Calibri"/>
                <a:cs typeface="Calibri"/>
              </a:rPr>
              <a:t>to</a:t>
            </a:r>
            <a:r>
              <a:rPr sz="2800" spc="280" dirty="0">
                <a:latin typeface="Calibri"/>
                <a:cs typeface="Calibri"/>
              </a:rPr>
              <a:t> </a:t>
            </a:r>
            <a:r>
              <a:rPr sz="2800" spc="-10" dirty="0">
                <a:latin typeface="Calibri"/>
                <a:cs typeface="Calibri"/>
              </a:rPr>
              <a:t>successfully </a:t>
            </a:r>
            <a:r>
              <a:rPr sz="2800" dirty="0">
                <a:latin typeface="Calibri"/>
                <a:cs typeface="Calibri"/>
              </a:rPr>
              <a:t>perform</a:t>
            </a:r>
            <a:r>
              <a:rPr sz="2800" spc="-70" dirty="0">
                <a:latin typeface="Calibri"/>
                <a:cs typeface="Calibri"/>
              </a:rPr>
              <a:t> </a:t>
            </a:r>
            <a:r>
              <a:rPr sz="2800" dirty="0">
                <a:latin typeface="Calibri"/>
                <a:cs typeface="Calibri"/>
              </a:rPr>
              <a:t>the</a:t>
            </a:r>
            <a:r>
              <a:rPr sz="2800" spc="-65" dirty="0">
                <a:latin typeface="Calibri"/>
                <a:cs typeface="Calibri"/>
              </a:rPr>
              <a:t> </a:t>
            </a:r>
            <a:r>
              <a:rPr sz="2800" spc="-20" dirty="0">
                <a:latin typeface="Calibri"/>
                <a:cs typeface="Calibri"/>
              </a:rPr>
              <a:t>job:</a:t>
            </a:r>
            <a:endParaRPr sz="2800">
              <a:latin typeface="Calibri"/>
              <a:cs typeface="Calibri"/>
            </a:endParaRPr>
          </a:p>
          <a:p>
            <a:pPr marL="725170" lvl="1" indent="-337820">
              <a:lnSpc>
                <a:spcPct val="100000"/>
              </a:lnSpc>
              <a:spcBef>
                <a:spcPts val="585"/>
              </a:spcBef>
              <a:buAutoNum type="arabicPeriod"/>
              <a:tabLst>
                <a:tab pos="725170" algn="l"/>
              </a:tabLst>
            </a:pPr>
            <a:r>
              <a:rPr sz="2800" spc="-10" dirty="0">
                <a:latin typeface="Calibri"/>
                <a:cs typeface="Calibri"/>
              </a:rPr>
              <a:t>Systems</a:t>
            </a:r>
            <a:r>
              <a:rPr sz="2800" spc="-145" dirty="0">
                <a:latin typeface="Calibri"/>
                <a:cs typeface="Calibri"/>
              </a:rPr>
              <a:t> </a:t>
            </a:r>
            <a:r>
              <a:rPr sz="2800" spc="-10" dirty="0">
                <a:latin typeface="Calibri"/>
                <a:cs typeface="Calibri"/>
              </a:rPr>
              <a:t>thinking.</a:t>
            </a:r>
            <a:endParaRPr sz="2800">
              <a:latin typeface="Calibri"/>
              <a:cs typeface="Calibri"/>
            </a:endParaRPr>
          </a:p>
          <a:p>
            <a:pPr marL="725170" lvl="1" indent="-337820">
              <a:lnSpc>
                <a:spcPct val="100000"/>
              </a:lnSpc>
              <a:spcBef>
                <a:spcPts val="740"/>
              </a:spcBef>
              <a:buAutoNum type="arabicPeriod"/>
              <a:tabLst>
                <a:tab pos="725170" algn="l"/>
              </a:tabLst>
            </a:pPr>
            <a:r>
              <a:rPr sz="2800" dirty="0">
                <a:solidFill>
                  <a:srgbClr val="C00000"/>
                </a:solidFill>
                <a:latin typeface="Calibri"/>
                <a:cs typeface="Calibri"/>
              </a:rPr>
              <a:t>Personal</a:t>
            </a:r>
            <a:r>
              <a:rPr sz="2800" spc="-145" dirty="0">
                <a:solidFill>
                  <a:srgbClr val="C00000"/>
                </a:solidFill>
                <a:latin typeface="Calibri"/>
                <a:cs typeface="Calibri"/>
              </a:rPr>
              <a:t> </a:t>
            </a:r>
            <a:r>
              <a:rPr sz="2800" spc="-10" dirty="0">
                <a:solidFill>
                  <a:srgbClr val="C00000"/>
                </a:solidFill>
                <a:latin typeface="Calibri"/>
                <a:cs typeface="Calibri"/>
              </a:rPr>
              <a:t>integrity.</a:t>
            </a:r>
            <a:endParaRPr sz="2800">
              <a:latin typeface="Calibri"/>
              <a:cs typeface="Calibri"/>
            </a:endParaRPr>
          </a:p>
          <a:p>
            <a:pPr marL="725170" lvl="1" indent="-337820">
              <a:lnSpc>
                <a:spcPct val="100000"/>
              </a:lnSpc>
              <a:spcBef>
                <a:spcPts val="650"/>
              </a:spcBef>
              <a:buAutoNum type="arabicPeriod"/>
              <a:tabLst>
                <a:tab pos="725170" algn="l"/>
              </a:tabLst>
            </a:pPr>
            <a:r>
              <a:rPr sz="2800" spc="-10" dirty="0">
                <a:latin typeface="Calibri"/>
                <a:cs typeface="Calibri"/>
              </a:rPr>
              <a:t>Proactive.</a:t>
            </a:r>
            <a:endParaRPr sz="2800">
              <a:latin typeface="Calibri"/>
              <a:cs typeface="Calibri"/>
            </a:endParaRPr>
          </a:p>
          <a:p>
            <a:pPr marL="725170" lvl="1" indent="-337820">
              <a:lnSpc>
                <a:spcPct val="100000"/>
              </a:lnSpc>
              <a:spcBef>
                <a:spcPts val="650"/>
              </a:spcBef>
              <a:buAutoNum type="arabicPeriod"/>
              <a:tabLst>
                <a:tab pos="725170" algn="l"/>
              </a:tabLst>
            </a:pPr>
            <a:r>
              <a:rPr sz="2800" dirty="0">
                <a:solidFill>
                  <a:srgbClr val="C00000"/>
                </a:solidFill>
                <a:latin typeface="Calibri"/>
                <a:cs typeface="Calibri"/>
              </a:rPr>
              <a:t>High</a:t>
            </a:r>
            <a:r>
              <a:rPr sz="2800" spc="-55" dirty="0">
                <a:solidFill>
                  <a:srgbClr val="C00000"/>
                </a:solidFill>
                <a:latin typeface="Calibri"/>
                <a:cs typeface="Calibri"/>
              </a:rPr>
              <a:t> </a:t>
            </a:r>
            <a:r>
              <a:rPr sz="2800" dirty="0">
                <a:solidFill>
                  <a:srgbClr val="C00000"/>
                </a:solidFill>
                <a:latin typeface="Calibri"/>
                <a:cs typeface="Calibri"/>
              </a:rPr>
              <a:t>emotional</a:t>
            </a:r>
            <a:r>
              <a:rPr sz="2800" spc="-55" dirty="0">
                <a:solidFill>
                  <a:srgbClr val="C00000"/>
                </a:solidFill>
                <a:latin typeface="Calibri"/>
                <a:cs typeface="Calibri"/>
              </a:rPr>
              <a:t> </a:t>
            </a:r>
            <a:r>
              <a:rPr sz="2800" spc="-10" dirty="0">
                <a:solidFill>
                  <a:srgbClr val="C00000"/>
                </a:solidFill>
                <a:latin typeface="Calibri"/>
                <a:cs typeface="Calibri"/>
              </a:rPr>
              <a:t>intelligence</a:t>
            </a:r>
            <a:r>
              <a:rPr sz="2800" spc="-65" dirty="0">
                <a:solidFill>
                  <a:srgbClr val="C00000"/>
                </a:solidFill>
                <a:latin typeface="Calibri"/>
                <a:cs typeface="Calibri"/>
              </a:rPr>
              <a:t> </a:t>
            </a:r>
            <a:r>
              <a:rPr sz="2800" spc="-10" dirty="0">
                <a:solidFill>
                  <a:srgbClr val="C00000"/>
                </a:solidFill>
                <a:latin typeface="Calibri"/>
                <a:cs typeface="Calibri"/>
              </a:rPr>
              <a:t>(EQ).</a:t>
            </a:r>
            <a:endParaRPr sz="2800">
              <a:latin typeface="Calibri"/>
              <a:cs typeface="Calibri"/>
            </a:endParaRPr>
          </a:p>
          <a:p>
            <a:pPr marL="725170" lvl="1" indent="-337820">
              <a:lnSpc>
                <a:spcPct val="100000"/>
              </a:lnSpc>
              <a:spcBef>
                <a:spcPts val="620"/>
              </a:spcBef>
              <a:buAutoNum type="arabicPeriod"/>
              <a:tabLst>
                <a:tab pos="725170" algn="l"/>
              </a:tabLst>
            </a:pPr>
            <a:r>
              <a:rPr sz="2800" dirty="0">
                <a:latin typeface="Calibri"/>
                <a:cs typeface="Calibri"/>
              </a:rPr>
              <a:t>General</a:t>
            </a:r>
            <a:r>
              <a:rPr sz="2800" spc="-105" dirty="0">
                <a:latin typeface="Calibri"/>
                <a:cs typeface="Calibri"/>
              </a:rPr>
              <a:t> </a:t>
            </a:r>
            <a:r>
              <a:rPr sz="2800" dirty="0">
                <a:latin typeface="Calibri"/>
                <a:cs typeface="Calibri"/>
              </a:rPr>
              <a:t>business</a:t>
            </a:r>
            <a:r>
              <a:rPr sz="2800" spc="-90" dirty="0">
                <a:latin typeface="Calibri"/>
                <a:cs typeface="Calibri"/>
              </a:rPr>
              <a:t> </a:t>
            </a:r>
            <a:r>
              <a:rPr sz="2800" spc="-10" dirty="0">
                <a:latin typeface="Calibri"/>
                <a:cs typeface="Calibri"/>
              </a:rPr>
              <a:t>perspective.</a:t>
            </a:r>
            <a:endParaRPr sz="2800">
              <a:latin typeface="Calibri"/>
              <a:cs typeface="Calibri"/>
            </a:endParaRPr>
          </a:p>
          <a:p>
            <a:pPr marL="725170" lvl="1" indent="-337820">
              <a:lnSpc>
                <a:spcPct val="100000"/>
              </a:lnSpc>
              <a:spcBef>
                <a:spcPts val="745"/>
              </a:spcBef>
              <a:buAutoNum type="arabicPeriod"/>
              <a:tabLst>
                <a:tab pos="725170" algn="l"/>
              </a:tabLst>
            </a:pPr>
            <a:r>
              <a:rPr sz="2800" spc="-20" dirty="0">
                <a:solidFill>
                  <a:srgbClr val="C00000"/>
                </a:solidFill>
                <a:latin typeface="Calibri"/>
                <a:cs typeface="Calibri"/>
              </a:rPr>
              <a:t>Effective</a:t>
            </a:r>
            <a:r>
              <a:rPr sz="2800" spc="-70" dirty="0">
                <a:solidFill>
                  <a:srgbClr val="C00000"/>
                </a:solidFill>
                <a:latin typeface="Calibri"/>
                <a:cs typeface="Calibri"/>
              </a:rPr>
              <a:t> </a:t>
            </a:r>
            <a:r>
              <a:rPr sz="2800" dirty="0">
                <a:solidFill>
                  <a:srgbClr val="C00000"/>
                </a:solidFill>
                <a:latin typeface="Calibri"/>
                <a:cs typeface="Calibri"/>
              </a:rPr>
              <a:t>time</a:t>
            </a:r>
            <a:r>
              <a:rPr sz="2800" spc="-70" dirty="0">
                <a:solidFill>
                  <a:srgbClr val="C00000"/>
                </a:solidFill>
                <a:latin typeface="Calibri"/>
                <a:cs typeface="Calibri"/>
              </a:rPr>
              <a:t> </a:t>
            </a:r>
            <a:r>
              <a:rPr sz="2800" spc="-10" dirty="0">
                <a:solidFill>
                  <a:srgbClr val="C00000"/>
                </a:solidFill>
                <a:latin typeface="Calibri"/>
                <a:cs typeface="Calibri"/>
              </a:rPr>
              <a:t>management.</a:t>
            </a:r>
            <a:endParaRPr sz="2800">
              <a:latin typeface="Calibri"/>
              <a:cs typeface="Calibri"/>
            </a:endParaRPr>
          </a:p>
          <a:p>
            <a:pPr marL="725170" lvl="1" indent="-337820">
              <a:lnSpc>
                <a:spcPct val="100000"/>
              </a:lnSpc>
              <a:spcBef>
                <a:spcPts val="650"/>
              </a:spcBef>
              <a:buAutoNum type="arabicPeriod"/>
              <a:tabLst>
                <a:tab pos="725170" algn="l"/>
              </a:tabLst>
            </a:pPr>
            <a:r>
              <a:rPr sz="2800" dirty="0">
                <a:latin typeface="Calibri"/>
                <a:cs typeface="Calibri"/>
              </a:rPr>
              <a:t>Skillful</a:t>
            </a:r>
            <a:r>
              <a:rPr sz="2800" spc="-35" dirty="0">
                <a:latin typeface="Calibri"/>
                <a:cs typeface="Calibri"/>
              </a:rPr>
              <a:t> </a:t>
            </a:r>
            <a:r>
              <a:rPr sz="2800" spc="-10" dirty="0">
                <a:latin typeface="Calibri"/>
                <a:cs typeface="Calibri"/>
              </a:rPr>
              <a:t>politician.</a:t>
            </a:r>
            <a:endParaRPr sz="2800">
              <a:latin typeface="Calibri"/>
              <a:cs typeface="Calibri"/>
            </a:endParaRPr>
          </a:p>
          <a:p>
            <a:pPr marL="725170" lvl="1" indent="-337820">
              <a:lnSpc>
                <a:spcPct val="100000"/>
              </a:lnSpc>
              <a:spcBef>
                <a:spcPts val="625"/>
              </a:spcBef>
              <a:buAutoNum type="arabicPeriod"/>
              <a:tabLst>
                <a:tab pos="725170" algn="l"/>
              </a:tabLst>
            </a:pPr>
            <a:r>
              <a:rPr sz="2800" spc="-10" dirty="0">
                <a:solidFill>
                  <a:srgbClr val="C00000"/>
                </a:solidFill>
                <a:latin typeface="Calibri"/>
                <a:cs typeface="Calibri"/>
              </a:rPr>
              <a:t>Optimist.</a:t>
            </a:r>
            <a:endParaRPr sz="2800">
              <a:latin typeface="Calibri"/>
              <a:cs typeface="Calibri"/>
            </a:endParaRPr>
          </a:p>
        </p:txBody>
      </p:sp>
      <p:pic>
        <p:nvPicPr>
          <p:cNvPr id="5" name="Picture 4">
            <a:extLst>
              <a:ext uri="{FF2B5EF4-FFF2-40B4-BE49-F238E27FC236}">
                <a16:creationId xmlns:a16="http://schemas.microsoft.com/office/drawing/2014/main" id="{717D5E38-0952-E2C8-D50E-6D94E08BF6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5378" rIns="0" bIns="0" rtlCol="0">
            <a:spAutoFit/>
          </a:bodyPr>
          <a:lstStyle/>
          <a:p>
            <a:pPr marL="60325">
              <a:lnSpc>
                <a:spcPct val="100000"/>
              </a:lnSpc>
              <a:spcBef>
                <a:spcPts val="135"/>
              </a:spcBef>
            </a:pPr>
            <a:r>
              <a:rPr sz="3100" spc="80" dirty="0"/>
              <a:t>Characteristics</a:t>
            </a:r>
            <a:r>
              <a:rPr sz="3100" spc="105" dirty="0"/>
              <a:t> </a:t>
            </a:r>
            <a:r>
              <a:rPr sz="3100" spc="100" dirty="0"/>
              <a:t>commonly</a:t>
            </a:r>
            <a:r>
              <a:rPr sz="3100" spc="105" dirty="0"/>
              <a:t> </a:t>
            </a:r>
            <a:r>
              <a:rPr sz="3100" spc="85" dirty="0"/>
              <a:t>associated</a:t>
            </a:r>
            <a:r>
              <a:rPr sz="3100" spc="105" dirty="0"/>
              <a:t> </a:t>
            </a:r>
            <a:r>
              <a:rPr sz="3100" spc="85" dirty="0"/>
              <a:t>with</a:t>
            </a:r>
            <a:r>
              <a:rPr sz="3100" spc="105" dirty="0"/>
              <a:t> </a:t>
            </a:r>
            <a:r>
              <a:rPr sz="3100" spc="95" dirty="0"/>
              <a:t>high-</a:t>
            </a:r>
            <a:r>
              <a:rPr sz="3100" spc="85" dirty="0"/>
              <a:t>performing</a:t>
            </a:r>
            <a:r>
              <a:rPr sz="3100" spc="100" dirty="0"/>
              <a:t> </a:t>
            </a:r>
            <a:r>
              <a:rPr sz="3100" spc="75" dirty="0"/>
              <a:t>teams</a:t>
            </a:r>
            <a:endParaRPr sz="3100"/>
          </a:p>
        </p:txBody>
      </p:sp>
      <p:sp>
        <p:nvSpPr>
          <p:cNvPr id="3" name="object 3"/>
          <p:cNvSpPr txBox="1"/>
          <p:nvPr/>
        </p:nvSpPr>
        <p:spPr>
          <a:xfrm>
            <a:off x="1107439" y="2024379"/>
            <a:ext cx="10166985" cy="3780790"/>
          </a:xfrm>
          <a:prstGeom prst="rect">
            <a:avLst/>
          </a:prstGeom>
        </p:spPr>
        <p:txBody>
          <a:bodyPr vert="horz" wrap="square" lIns="0" tIns="63500" rIns="0" bIns="0" rtlCol="0">
            <a:spAutoFit/>
          </a:bodyPr>
          <a:lstStyle/>
          <a:p>
            <a:pPr marL="336550" marR="6350" indent="-323850" algn="just">
              <a:lnSpc>
                <a:spcPts val="3000"/>
              </a:lnSpc>
              <a:spcBef>
                <a:spcPts val="500"/>
              </a:spcBef>
              <a:buAutoNum type="arabicPeriod"/>
              <a:tabLst>
                <a:tab pos="336550" algn="l"/>
              </a:tabLst>
            </a:pPr>
            <a:r>
              <a:rPr sz="2800" dirty="0">
                <a:latin typeface="Calibri"/>
                <a:cs typeface="Calibri"/>
              </a:rPr>
              <a:t>The</a:t>
            </a:r>
            <a:r>
              <a:rPr sz="2800" spc="85" dirty="0">
                <a:latin typeface="Calibri"/>
                <a:cs typeface="Calibri"/>
              </a:rPr>
              <a:t> </a:t>
            </a:r>
            <a:r>
              <a:rPr sz="2800" dirty="0">
                <a:latin typeface="Calibri"/>
                <a:cs typeface="Calibri"/>
              </a:rPr>
              <a:t>team</a:t>
            </a:r>
            <a:r>
              <a:rPr sz="2800" spc="90" dirty="0">
                <a:latin typeface="Calibri"/>
                <a:cs typeface="Calibri"/>
              </a:rPr>
              <a:t> </a:t>
            </a:r>
            <a:r>
              <a:rPr sz="2800" dirty="0">
                <a:latin typeface="Calibri"/>
                <a:cs typeface="Calibri"/>
              </a:rPr>
              <a:t>shares</a:t>
            </a:r>
            <a:r>
              <a:rPr sz="2800" spc="90" dirty="0">
                <a:latin typeface="Calibri"/>
                <a:cs typeface="Calibri"/>
              </a:rPr>
              <a:t> </a:t>
            </a:r>
            <a:r>
              <a:rPr sz="2800" dirty="0">
                <a:latin typeface="Calibri"/>
                <a:cs typeface="Calibri"/>
              </a:rPr>
              <a:t>a</a:t>
            </a:r>
            <a:r>
              <a:rPr sz="2800" spc="85" dirty="0">
                <a:latin typeface="Calibri"/>
                <a:cs typeface="Calibri"/>
              </a:rPr>
              <a:t> </a:t>
            </a:r>
            <a:r>
              <a:rPr sz="2800" dirty="0">
                <a:latin typeface="Calibri"/>
                <a:cs typeface="Calibri"/>
              </a:rPr>
              <a:t>sense</a:t>
            </a:r>
            <a:r>
              <a:rPr sz="2800" spc="75" dirty="0">
                <a:latin typeface="Calibri"/>
                <a:cs typeface="Calibri"/>
              </a:rPr>
              <a:t> </a:t>
            </a:r>
            <a:r>
              <a:rPr sz="2800" dirty="0">
                <a:latin typeface="Calibri"/>
                <a:cs typeface="Calibri"/>
              </a:rPr>
              <a:t>of</a:t>
            </a:r>
            <a:r>
              <a:rPr sz="2800" spc="85" dirty="0">
                <a:latin typeface="Calibri"/>
                <a:cs typeface="Calibri"/>
              </a:rPr>
              <a:t> </a:t>
            </a:r>
            <a:r>
              <a:rPr sz="2800" dirty="0">
                <a:latin typeface="Calibri"/>
                <a:cs typeface="Calibri"/>
              </a:rPr>
              <a:t>common</a:t>
            </a:r>
            <a:r>
              <a:rPr sz="2800" spc="95" dirty="0">
                <a:latin typeface="Calibri"/>
                <a:cs typeface="Calibri"/>
              </a:rPr>
              <a:t> </a:t>
            </a:r>
            <a:r>
              <a:rPr sz="2800" dirty="0">
                <a:latin typeface="Calibri"/>
                <a:cs typeface="Calibri"/>
              </a:rPr>
              <a:t>purpose,</a:t>
            </a:r>
            <a:r>
              <a:rPr sz="2800" spc="85" dirty="0">
                <a:latin typeface="Calibri"/>
                <a:cs typeface="Calibri"/>
              </a:rPr>
              <a:t> </a:t>
            </a:r>
            <a:r>
              <a:rPr sz="2800" dirty="0">
                <a:latin typeface="Calibri"/>
                <a:cs typeface="Calibri"/>
              </a:rPr>
              <a:t>and</a:t>
            </a:r>
            <a:r>
              <a:rPr sz="2800" spc="95" dirty="0">
                <a:latin typeface="Calibri"/>
                <a:cs typeface="Calibri"/>
              </a:rPr>
              <a:t> </a:t>
            </a:r>
            <a:r>
              <a:rPr sz="2800" dirty="0">
                <a:latin typeface="Calibri"/>
                <a:cs typeface="Calibri"/>
              </a:rPr>
              <a:t>each</a:t>
            </a:r>
            <a:r>
              <a:rPr sz="2800" spc="95" dirty="0">
                <a:latin typeface="Calibri"/>
                <a:cs typeface="Calibri"/>
              </a:rPr>
              <a:t> </a:t>
            </a:r>
            <a:r>
              <a:rPr sz="2800" dirty="0">
                <a:latin typeface="Calibri"/>
                <a:cs typeface="Calibri"/>
              </a:rPr>
              <a:t>member</a:t>
            </a:r>
            <a:r>
              <a:rPr sz="2800" spc="90" dirty="0">
                <a:latin typeface="Calibri"/>
                <a:cs typeface="Calibri"/>
              </a:rPr>
              <a:t> </a:t>
            </a:r>
            <a:r>
              <a:rPr sz="2800" spc="-25" dirty="0">
                <a:latin typeface="Calibri"/>
                <a:cs typeface="Calibri"/>
              </a:rPr>
              <a:t>is </a:t>
            </a:r>
            <a:r>
              <a:rPr sz="2800" dirty="0">
                <a:latin typeface="Calibri"/>
                <a:cs typeface="Calibri"/>
              </a:rPr>
              <a:t>willing</a:t>
            </a:r>
            <a:r>
              <a:rPr sz="2800" spc="-7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work</a:t>
            </a:r>
            <a:r>
              <a:rPr sz="2800" spc="-65" dirty="0">
                <a:latin typeface="Calibri"/>
                <a:cs typeface="Calibri"/>
              </a:rPr>
              <a:t> </a:t>
            </a:r>
            <a:r>
              <a:rPr sz="2800" dirty="0">
                <a:latin typeface="Calibri"/>
                <a:cs typeface="Calibri"/>
              </a:rPr>
              <a:t>toward</a:t>
            </a:r>
            <a:r>
              <a:rPr sz="2800" spc="-65" dirty="0">
                <a:latin typeface="Calibri"/>
                <a:cs typeface="Calibri"/>
              </a:rPr>
              <a:t> </a:t>
            </a:r>
            <a:r>
              <a:rPr sz="2800" dirty="0">
                <a:latin typeface="Calibri"/>
                <a:cs typeface="Calibri"/>
              </a:rPr>
              <a:t>achieving</a:t>
            </a:r>
            <a:r>
              <a:rPr sz="2800" spc="-75" dirty="0">
                <a:latin typeface="Calibri"/>
                <a:cs typeface="Calibri"/>
              </a:rPr>
              <a:t> </a:t>
            </a:r>
            <a:r>
              <a:rPr sz="2800" dirty="0">
                <a:latin typeface="Calibri"/>
                <a:cs typeface="Calibri"/>
              </a:rPr>
              <a:t>project</a:t>
            </a:r>
            <a:r>
              <a:rPr sz="2800" spc="-70" dirty="0">
                <a:latin typeface="Calibri"/>
                <a:cs typeface="Calibri"/>
              </a:rPr>
              <a:t> </a:t>
            </a:r>
            <a:r>
              <a:rPr sz="2800" spc="-10" dirty="0">
                <a:latin typeface="Calibri"/>
                <a:cs typeface="Calibri"/>
              </a:rPr>
              <a:t>objectives.</a:t>
            </a:r>
            <a:endParaRPr sz="2800" dirty="0">
              <a:latin typeface="Calibri"/>
              <a:cs typeface="Calibri"/>
            </a:endParaRPr>
          </a:p>
          <a:p>
            <a:pPr marL="336550" marR="5080" indent="-323850" algn="just">
              <a:lnSpc>
                <a:spcPct val="90200"/>
              </a:lnSpc>
              <a:spcBef>
                <a:spcPts val="935"/>
              </a:spcBef>
              <a:buAutoNum type="arabicPeriod"/>
              <a:tabLst>
                <a:tab pos="336550" algn="l"/>
              </a:tabLst>
            </a:pPr>
            <a:r>
              <a:rPr sz="2800" dirty="0">
                <a:solidFill>
                  <a:srgbClr val="C00000"/>
                </a:solidFill>
                <a:latin typeface="Calibri"/>
                <a:cs typeface="Calibri"/>
              </a:rPr>
              <a:t>The</a:t>
            </a:r>
            <a:r>
              <a:rPr sz="2800" spc="80" dirty="0">
                <a:solidFill>
                  <a:srgbClr val="C00000"/>
                </a:solidFill>
                <a:latin typeface="Calibri"/>
                <a:cs typeface="Calibri"/>
              </a:rPr>
              <a:t> </a:t>
            </a:r>
            <a:r>
              <a:rPr sz="2800" dirty="0">
                <a:solidFill>
                  <a:srgbClr val="C00000"/>
                </a:solidFill>
                <a:latin typeface="Calibri"/>
                <a:cs typeface="Calibri"/>
              </a:rPr>
              <a:t>team</a:t>
            </a:r>
            <a:r>
              <a:rPr sz="2800" spc="90" dirty="0">
                <a:solidFill>
                  <a:srgbClr val="C00000"/>
                </a:solidFill>
                <a:latin typeface="Calibri"/>
                <a:cs typeface="Calibri"/>
              </a:rPr>
              <a:t> </a:t>
            </a:r>
            <a:r>
              <a:rPr sz="2800" dirty="0">
                <a:solidFill>
                  <a:srgbClr val="C00000"/>
                </a:solidFill>
                <a:latin typeface="Calibri"/>
                <a:cs typeface="Calibri"/>
              </a:rPr>
              <a:t>identifies</a:t>
            </a:r>
            <a:r>
              <a:rPr sz="2800" spc="80" dirty="0">
                <a:solidFill>
                  <a:srgbClr val="C00000"/>
                </a:solidFill>
                <a:latin typeface="Calibri"/>
                <a:cs typeface="Calibri"/>
              </a:rPr>
              <a:t> </a:t>
            </a:r>
            <a:r>
              <a:rPr sz="2800" dirty="0">
                <a:solidFill>
                  <a:srgbClr val="C00000"/>
                </a:solidFill>
                <a:latin typeface="Calibri"/>
                <a:cs typeface="Calibri"/>
              </a:rPr>
              <a:t>individual</a:t>
            </a:r>
            <a:r>
              <a:rPr sz="2800" spc="90" dirty="0">
                <a:solidFill>
                  <a:srgbClr val="C00000"/>
                </a:solidFill>
                <a:latin typeface="Calibri"/>
                <a:cs typeface="Calibri"/>
              </a:rPr>
              <a:t> </a:t>
            </a:r>
            <a:r>
              <a:rPr sz="2800" dirty="0">
                <a:solidFill>
                  <a:srgbClr val="C00000"/>
                </a:solidFill>
                <a:latin typeface="Calibri"/>
                <a:cs typeface="Calibri"/>
              </a:rPr>
              <a:t>talents</a:t>
            </a:r>
            <a:r>
              <a:rPr sz="2800" spc="90" dirty="0">
                <a:solidFill>
                  <a:srgbClr val="C00000"/>
                </a:solidFill>
                <a:latin typeface="Calibri"/>
                <a:cs typeface="Calibri"/>
              </a:rPr>
              <a:t> </a:t>
            </a:r>
            <a:r>
              <a:rPr sz="2800" dirty="0">
                <a:solidFill>
                  <a:srgbClr val="C00000"/>
                </a:solidFill>
                <a:latin typeface="Calibri"/>
                <a:cs typeface="Calibri"/>
              </a:rPr>
              <a:t>and</a:t>
            </a:r>
            <a:r>
              <a:rPr sz="2800" spc="95" dirty="0">
                <a:solidFill>
                  <a:srgbClr val="C00000"/>
                </a:solidFill>
                <a:latin typeface="Calibri"/>
                <a:cs typeface="Calibri"/>
              </a:rPr>
              <a:t> </a:t>
            </a:r>
            <a:r>
              <a:rPr sz="2800" dirty="0">
                <a:solidFill>
                  <a:srgbClr val="C00000"/>
                </a:solidFill>
                <a:latin typeface="Calibri"/>
                <a:cs typeface="Calibri"/>
              </a:rPr>
              <a:t>expertise</a:t>
            </a:r>
            <a:r>
              <a:rPr sz="2800" spc="85" dirty="0">
                <a:solidFill>
                  <a:srgbClr val="C00000"/>
                </a:solidFill>
                <a:latin typeface="Calibri"/>
                <a:cs typeface="Calibri"/>
              </a:rPr>
              <a:t> </a:t>
            </a:r>
            <a:r>
              <a:rPr sz="2800" dirty="0">
                <a:solidFill>
                  <a:srgbClr val="C00000"/>
                </a:solidFill>
                <a:latin typeface="Calibri"/>
                <a:cs typeface="Calibri"/>
              </a:rPr>
              <a:t>and</a:t>
            </a:r>
            <a:r>
              <a:rPr sz="2800" spc="90" dirty="0">
                <a:solidFill>
                  <a:srgbClr val="C00000"/>
                </a:solidFill>
                <a:latin typeface="Calibri"/>
                <a:cs typeface="Calibri"/>
              </a:rPr>
              <a:t> </a:t>
            </a:r>
            <a:r>
              <a:rPr sz="2800" dirty="0">
                <a:solidFill>
                  <a:srgbClr val="C00000"/>
                </a:solidFill>
                <a:latin typeface="Calibri"/>
                <a:cs typeface="Calibri"/>
              </a:rPr>
              <a:t>uses</a:t>
            </a:r>
            <a:r>
              <a:rPr sz="2800" spc="90" dirty="0">
                <a:solidFill>
                  <a:srgbClr val="C00000"/>
                </a:solidFill>
                <a:latin typeface="Calibri"/>
                <a:cs typeface="Calibri"/>
              </a:rPr>
              <a:t> </a:t>
            </a:r>
            <a:r>
              <a:rPr sz="2800" spc="-10" dirty="0">
                <a:solidFill>
                  <a:srgbClr val="C00000"/>
                </a:solidFill>
                <a:latin typeface="Calibri"/>
                <a:cs typeface="Calibri"/>
              </a:rPr>
              <a:t>them, </a:t>
            </a:r>
            <a:r>
              <a:rPr sz="2800" dirty="0">
                <a:solidFill>
                  <a:srgbClr val="C00000"/>
                </a:solidFill>
                <a:latin typeface="Calibri"/>
                <a:cs typeface="Calibri"/>
              </a:rPr>
              <a:t>depending</a:t>
            </a:r>
            <a:r>
              <a:rPr sz="2800" spc="5" dirty="0">
                <a:solidFill>
                  <a:srgbClr val="C00000"/>
                </a:solidFill>
                <a:latin typeface="Calibri"/>
                <a:cs typeface="Calibri"/>
              </a:rPr>
              <a:t> </a:t>
            </a:r>
            <a:r>
              <a:rPr sz="2800" dirty="0">
                <a:solidFill>
                  <a:srgbClr val="C00000"/>
                </a:solidFill>
                <a:latin typeface="Calibri"/>
                <a:cs typeface="Calibri"/>
              </a:rPr>
              <a:t>on</a:t>
            </a:r>
            <a:r>
              <a:rPr sz="2800" spc="20" dirty="0">
                <a:solidFill>
                  <a:srgbClr val="C00000"/>
                </a:solidFill>
                <a:latin typeface="Calibri"/>
                <a:cs typeface="Calibri"/>
              </a:rPr>
              <a:t> </a:t>
            </a:r>
            <a:r>
              <a:rPr sz="2800" dirty="0">
                <a:solidFill>
                  <a:srgbClr val="C00000"/>
                </a:solidFill>
                <a:latin typeface="Calibri"/>
                <a:cs typeface="Calibri"/>
              </a:rPr>
              <a:t>the</a:t>
            </a:r>
            <a:r>
              <a:rPr sz="2800" spc="15" dirty="0">
                <a:solidFill>
                  <a:srgbClr val="C00000"/>
                </a:solidFill>
                <a:latin typeface="Calibri"/>
                <a:cs typeface="Calibri"/>
              </a:rPr>
              <a:t> </a:t>
            </a:r>
            <a:r>
              <a:rPr sz="2800" dirty="0">
                <a:solidFill>
                  <a:srgbClr val="C00000"/>
                </a:solidFill>
                <a:latin typeface="Calibri"/>
                <a:cs typeface="Calibri"/>
              </a:rPr>
              <a:t>project’s</a:t>
            </a:r>
            <a:r>
              <a:rPr sz="2800" spc="25" dirty="0">
                <a:solidFill>
                  <a:srgbClr val="C00000"/>
                </a:solidFill>
                <a:latin typeface="Calibri"/>
                <a:cs typeface="Calibri"/>
              </a:rPr>
              <a:t> </a:t>
            </a:r>
            <a:r>
              <a:rPr sz="2800" dirty="0">
                <a:solidFill>
                  <a:srgbClr val="C00000"/>
                </a:solidFill>
                <a:latin typeface="Calibri"/>
                <a:cs typeface="Calibri"/>
              </a:rPr>
              <a:t>needs</a:t>
            </a:r>
            <a:r>
              <a:rPr sz="2800" spc="20" dirty="0">
                <a:solidFill>
                  <a:srgbClr val="C00000"/>
                </a:solidFill>
                <a:latin typeface="Calibri"/>
                <a:cs typeface="Calibri"/>
              </a:rPr>
              <a:t> </a:t>
            </a:r>
            <a:r>
              <a:rPr sz="2800" dirty="0">
                <a:solidFill>
                  <a:srgbClr val="C00000"/>
                </a:solidFill>
                <a:latin typeface="Calibri"/>
                <a:cs typeface="Calibri"/>
              </a:rPr>
              <a:t>at</a:t>
            </a:r>
            <a:r>
              <a:rPr sz="2800" spc="15" dirty="0">
                <a:solidFill>
                  <a:srgbClr val="C00000"/>
                </a:solidFill>
                <a:latin typeface="Calibri"/>
                <a:cs typeface="Calibri"/>
              </a:rPr>
              <a:t> </a:t>
            </a:r>
            <a:r>
              <a:rPr sz="2800" dirty="0">
                <a:solidFill>
                  <a:srgbClr val="C00000"/>
                </a:solidFill>
                <a:latin typeface="Calibri"/>
                <a:cs typeface="Calibri"/>
              </a:rPr>
              <a:t>any</a:t>
            </a:r>
            <a:r>
              <a:rPr sz="2800" spc="20" dirty="0">
                <a:solidFill>
                  <a:srgbClr val="C00000"/>
                </a:solidFill>
                <a:latin typeface="Calibri"/>
                <a:cs typeface="Calibri"/>
              </a:rPr>
              <a:t> </a:t>
            </a:r>
            <a:r>
              <a:rPr sz="2800" dirty="0">
                <a:solidFill>
                  <a:srgbClr val="C00000"/>
                </a:solidFill>
                <a:latin typeface="Calibri"/>
                <a:cs typeface="Calibri"/>
              </a:rPr>
              <a:t>given</a:t>
            </a:r>
            <a:r>
              <a:rPr sz="2800" spc="30" dirty="0">
                <a:solidFill>
                  <a:srgbClr val="C00000"/>
                </a:solidFill>
                <a:latin typeface="Calibri"/>
                <a:cs typeface="Calibri"/>
              </a:rPr>
              <a:t> </a:t>
            </a:r>
            <a:r>
              <a:rPr sz="2800" dirty="0">
                <a:solidFill>
                  <a:srgbClr val="C00000"/>
                </a:solidFill>
                <a:latin typeface="Calibri"/>
                <a:cs typeface="Calibri"/>
              </a:rPr>
              <a:t>time.</a:t>
            </a:r>
            <a:r>
              <a:rPr sz="2800" spc="20" dirty="0">
                <a:solidFill>
                  <a:srgbClr val="C00000"/>
                </a:solidFill>
                <a:latin typeface="Calibri"/>
                <a:cs typeface="Calibri"/>
              </a:rPr>
              <a:t> </a:t>
            </a:r>
            <a:r>
              <a:rPr sz="2800" dirty="0">
                <a:solidFill>
                  <a:srgbClr val="C00000"/>
                </a:solidFill>
                <a:latin typeface="Calibri"/>
                <a:cs typeface="Calibri"/>
              </a:rPr>
              <a:t>At</a:t>
            </a:r>
            <a:r>
              <a:rPr sz="2800" spc="20" dirty="0">
                <a:solidFill>
                  <a:srgbClr val="C00000"/>
                </a:solidFill>
                <a:latin typeface="Calibri"/>
                <a:cs typeface="Calibri"/>
              </a:rPr>
              <a:t> </a:t>
            </a:r>
            <a:r>
              <a:rPr sz="2800" dirty="0">
                <a:solidFill>
                  <a:srgbClr val="C00000"/>
                </a:solidFill>
                <a:latin typeface="Calibri"/>
                <a:cs typeface="Calibri"/>
              </a:rPr>
              <a:t>these</a:t>
            </a:r>
            <a:r>
              <a:rPr sz="2800" spc="15" dirty="0">
                <a:solidFill>
                  <a:srgbClr val="C00000"/>
                </a:solidFill>
                <a:latin typeface="Calibri"/>
                <a:cs typeface="Calibri"/>
              </a:rPr>
              <a:t> </a:t>
            </a:r>
            <a:r>
              <a:rPr sz="2800" spc="-10" dirty="0">
                <a:solidFill>
                  <a:srgbClr val="C00000"/>
                </a:solidFill>
                <a:latin typeface="Calibri"/>
                <a:cs typeface="Calibri"/>
              </a:rPr>
              <a:t>times, </a:t>
            </a:r>
            <a:r>
              <a:rPr sz="2800" dirty="0">
                <a:solidFill>
                  <a:srgbClr val="C00000"/>
                </a:solidFill>
                <a:latin typeface="Calibri"/>
                <a:cs typeface="Calibri"/>
              </a:rPr>
              <a:t>the</a:t>
            </a:r>
            <a:r>
              <a:rPr sz="2800" spc="70" dirty="0">
                <a:solidFill>
                  <a:srgbClr val="C00000"/>
                </a:solidFill>
                <a:latin typeface="Calibri"/>
                <a:cs typeface="Calibri"/>
              </a:rPr>
              <a:t>  </a:t>
            </a:r>
            <a:r>
              <a:rPr sz="2800" dirty="0">
                <a:solidFill>
                  <a:srgbClr val="C00000"/>
                </a:solidFill>
                <a:latin typeface="Calibri"/>
                <a:cs typeface="Calibri"/>
              </a:rPr>
              <a:t>team</a:t>
            </a:r>
            <a:r>
              <a:rPr sz="2800" spc="70" dirty="0">
                <a:solidFill>
                  <a:srgbClr val="C00000"/>
                </a:solidFill>
                <a:latin typeface="Calibri"/>
                <a:cs typeface="Calibri"/>
              </a:rPr>
              <a:t>  </a:t>
            </a:r>
            <a:r>
              <a:rPr sz="2800" dirty="0">
                <a:solidFill>
                  <a:srgbClr val="C00000"/>
                </a:solidFill>
                <a:latin typeface="Calibri"/>
                <a:cs typeface="Calibri"/>
              </a:rPr>
              <a:t>willingly</a:t>
            </a:r>
            <a:r>
              <a:rPr sz="2800" spc="75" dirty="0">
                <a:solidFill>
                  <a:srgbClr val="C00000"/>
                </a:solidFill>
                <a:latin typeface="Calibri"/>
                <a:cs typeface="Calibri"/>
              </a:rPr>
              <a:t>  </a:t>
            </a:r>
            <a:r>
              <a:rPr sz="2800" dirty="0">
                <a:solidFill>
                  <a:srgbClr val="C00000"/>
                </a:solidFill>
                <a:latin typeface="Calibri"/>
                <a:cs typeface="Calibri"/>
              </a:rPr>
              <a:t>accepts</a:t>
            </a:r>
            <a:r>
              <a:rPr sz="2800" spc="75" dirty="0">
                <a:solidFill>
                  <a:srgbClr val="C00000"/>
                </a:solidFill>
                <a:latin typeface="Calibri"/>
                <a:cs typeface="Calibri"/>
              </a:rPr>
              <a:t>  </a:t>
            </a:r>
            <a:r>
              <a:rPr sz="2800" dirty="0">
                <a:solidFill>
                  <a:srgbClr val="C00000"/>
                </a:solidFill>
                <a:latin typeface="Calibri"/>
                <a:cs typeface="Calibri"/>
              </a:rPr>
              <a:t>the</a:t>
            </a:r>
            <a:r>
              <a:rPr sz="2800" spc="70" dirty="0">
                <a:solidFill>
                  <a:srgbClr val="C00000"/>
                </a:solidFill>
                <a:latin typeface="Calibri"/>
                <a:cs typeface="Calibri"/>
              </a:rPr>
              <a:t>  </a:t>
            </a:r>
            <a:r>
              <a:rPr sz="2800" dirty="0">
                <a:solidFill>
                  <a:srgbClr val="C00000"/>
                </a:solidFill>
                <a:latin typeface="Calibri"/>
                <a:cs typeface="Calibri"/>
              </a:rPr>
              <a:t>influence</a:t>
            </a:r>
            <a:r>
              <a:rPr sz="2800" spc="70" dirty="0">
                <a:solidFill>
                  <a:srgbClr val="C00000"/>
                </a:solidFill>
                <a:latin typeface="Calibri"/>
                <a:cs typeface="Calibri"/>
              </a:rPr>
              <a:t>  </a:t>
            </a:r>
            <a:r>
              <a:rPr sz="2800" dirty="0">
                <a:solidFill>
                  <a:srgbClr val="C00000"/>
                </a:solidFill>
                <a:latin typeface="Calibri"/>
                <a:cs typeface="Calibri"/>
              </a:rPr>
              <a:t>and</a:t>
            </a:r>
            <a:r>
              <a:rPr sz="2800" spc="80" dirty="0">
                <a:solidFill>
                  <a:srgbClr val="C00000"/>
                </a:solidFill>
                <a:latin typeface="Calibri"/>
                <a:cs typeface="Calibri"/>
              </a:rPr>
              <a:t>  </a:t>
            </a:r>
            <a:r>
              <a:rPr sz="2800" dirty="0">
                <a:solidFill>
                  <a:srgbClr val="C00000"/>
                </a:solidFill>
                <a:latin typeface="Calibri"/>
                <a:cs typeface="Calibri"/>
              </a:rPr>
              <a:t>leadership</a:t>
            </a:r>
            <a:r>
              <a:rPr sz="2800" spc="70" dirty="0">
                <a:solidFill>
                  <a:srgbClr val="C00000"/>
                </a:solidFill>
                <a:latin typeface="Calibri"/>
                <a:cs typeface="Calibri"/>
              </a:rPr>
              <a:t>  </a:t>
            </a:r>
            <a:r>
              <a:rPr sz="2800" dirty="0">
                <a:solidFill>
                  <a:srgbClr val="C00000"/>
                </a:solidFill>
                <a:latin typeface="Calibri"/>
                <a:cs typeface="Calibri"/>
              </a:rPr>
              <a:t>of</a:t>
            </a:r>
            <a:r>
              <a:rPr sz="2800" spc="70" dirty="0">
                <a:solidFill>
                  <a:srgbClr val="C00000"/>
                </a:solidFill>
                <a:latin typeface="Calibri"/>
                <a:cs typeface="Calibri"/>
              </a:rPr>
              <a:t>  </a:t>
            </a:r>
            <a:r>
              <a:rPr sz="2800" spc="-25" dirty="0">
                <a:solidFill>
                  <a:srgbClr val="C00000"/>
                </a:solidFill>
                <a:latin typeface="Calibri"/>
                <a:cs typeface="Calibri"/>
              </a:rPr>
              <a:t>the </a:t>
            </a:r>
            <a:r>
              <a:rPr sz="2800" dirty="0">
                <a:solidFill>
                  <a:srgbClr val="C00000"/>
                </a:solidFill>
                <a:latin typeface="Calibri"/>
                <a:cs typeface="Calibri"/>
              </a:rPr>
              <a:t>members</a:t>
            </a:r>
            <a:r>
              <a:rPr sz="2800" spc="-60" dirty="0">
                <a:solidFill>
                  <a:srgbClr val="C00000"/>
                </a:solidFill>
                <a:latin typeface="Calibri"/>
                <a:cs typeface="Calibri"/>
              </a:rPr>
              <a:t> </a:t>
            </a:r>
            <a:r>
              <a:rPr sz="2800" dirty="0">
                <a:solidFill>
                  <a:srgbClr val="C00000"/>
                </a:solidFill>
                <a:latin typeface="Calibri"/>
                <a:cs typeface="Calibri"/>
              </a:rPr>
              <a:t>whose</a:t>
            </a:r>
            <a:r>
              <a:rPr sz="2800" spc="-75" dirty="0">
                <a:solidFill>
                  <a:srgbClr val="C00000"/>
                </a:solidFill>
                <a:latin typeface="Calibri"/>
                <a:cs typeface="Calibri"/>
              </a:rPr>
              <a:t> </a:t>
            </a:r>
            <a:r>
              <a:rPr sz="2800" dirty="0">
                <a:solidFill>
                  <a:srgbClr val="C00000"/>
                </a:solidFill>
                <a:latin typeface="Calibri"/>
                <a:cs typeface="Calibri"/>
              </a:rPr>
              <a:t>skills</a:t>
            </a:r>
            <a:r>
              <a:rPr sz="2800" spc="-65" dirty="0">
                <a:solidFill>
                  <a:srgbClr val="C00000"/>
                </a:solidFill>
                <a:latin typeface="Calibri"/>
                <a:cs typeface="Calibri"/>
              </a:rPr>
              <a:t> </a:t>
            </a:r>
            <a:r>
              <a:rPr sz="2800" dirty="0">
                <a:solidFill>
                  <a:srgbClr val="C00000"/>
                </a:solidFill>
                <a:latin typeface="Calibri"/>
                <a:cs typeface="Calibri"/>
              </a:rPr>
              <a:t>are</a:t>
            </a:r>
            <a:r>
              <a:rPr sz="2800" spc="-70" dirty="0">
                <a:solidFill>
                  <a:srgbClr val="C00000"/>
                </a:solidFill>
                <a:latin typeface="Calibri"/>
                <a:cs typeface="Calibri"/>
              </a:rPr>
              <a:t> </a:t>
            </a:r>
            <a:r>
              <a:rPr sz="2800" spc="-10" dirty="0">
                <a:solidFill>
                  <a:srgbClr val="C00000"/>
                </a:solidFill>
                <a:latin typeface="Calibri"/>
                <a:cs typeface="Calibri"/>
              </a:rPr>
              <a:t>relevant</a:t>
            </a:r>
            <a:r>
              <a:rPr sz="2800" spc="-75" dirty="0">
                <a:solidFill>
                  <a:srgbClr val="C00000"/>
                </a:solidFill>
                <a:latin typeface="Calibri"/>
                <a:cs typeface="Calibri"/>
              </a:rPr>
              <a:t> </a:t>
            </a:r>
            <a:r>
              <a:rPr sz="2800" dirty="0">
                <a:solidFill>
                  <a:srgbClr val="C00000"/>
                </a:solidFill>
                <a:latin typeface="Calibri"/>
                <a:cs typeface="Calibri"/>
              </a:rPr>
              <a:t>to</a:t>
            </a:r>
            <a:r>
              <a:rPr sz="2800" spc="-65" dirty="0">
                <a:solidFill>
                  <a:srgbClr val="C00000"/>
                </a:solidFill>
                <a:latin typeface="Calibri"/>
                <a:cs typeface="Calibri"/>
              </a:rPr>
              <a:t> </a:t>
            </a:r>
            <a:r>
              <a:rPr sz="2800" dirty="0">
                <a:solidFill>
                  <a:srgbClr val="C00000"/>
                </a:solidFill>
                <a:latin typeface="Calibri"/>
                <a:cs typeface="Calibri"/>
              </a:rPr>
              <a:t>the</a:t>
            </a:r>
            <a:r>
              <a:rPr sz="2800" spc="-70" dirty="0">
                <a:solidFill>
                  <a:srgbClr val="C00000"/>
                </a:solidFill>
                <a:latin typeface="Calibri"/>
                <a:cs typeface="Calibri"/>
              </a:rPr>
              <a:t> </a:t>
            </a:r>
            <a:r>
              <a:rPr sz="2800" dirty="0">
                <a:solidFill>
                  <a:srgbClr val="C00000"/>
                </a:solidFill>
                <a:latin typeface="Calibri"/>
                <a:cs typeface="Calibri"/>
              </a:rPr>
              <a:t>immediate</a:t>
            </a:r>
            <a:r>
              <a:rPr sz="2800" spc="-70" dirty="0">
                <a:solidFill>
                  <a:srgbClr val="C00000"/>
                </a:solidFill>
                <a:latin typeface="Calibri"/>
                <a:cs typeface="Calibri"/>
              </a:rPr>
              <a:t> </a:t>
            </a:r>
            <a:r>
              <a:rPr sz="2800" spc="-10" dirty="0">
                <a:solidFill>
                  <a:srgbClr val="C00000"/>
                </a:solidFill>
                <a:latin typeface="Calibri"/>
                <a:cs typeface="Calibri"/>
              </a:rPr>
              <a:t>task.</a:t>
            </a:r>
            <a:endParaRPr sz="2800" dirty="0">
              <a:latin typeface="Calibri"/>
              <a:cs typeface="Calibri"/>
            </a:endParaRPr>
          </a:p>
          <a:p>
            <a:pPr marL="336550" marR="5080" indent="-323850" algn="just">
              <a:lnSpc>
                <a:spcPct val="90700"/>
              </a:lnSpc>
              <a:spcBef>
                <a:spcPts val="960"/>
              </a:spcBef>
              <a:buAutoNum type="arabicPeriod"/>
              <a:tabLst>
                <a:tab pos="336550" algn="l"/>
              </a:tabLst>
            </a:pPr>
            <a:r>
              <a:rPr sz="2800" dirty="0">
                <a:latin typeface="Calibri"/>
                <a:cs typeface="Calibri"/>
              </a:rPr>
              <a:t>Roles</a:t>
            </a:r>
            <a:r>
              <a:rPr sz="2800" spc="340" dirty="0">
                <a:latin typeface="Calibri"/>
                <a:cs typeface="Calibri"/>
              </a:rPr>
              <a:t>   </a:t>
            </a:r>
            <a:r>
              <a:rPr sz="2800" dirty="0">
                <a:latin typeface="Calibri"/>
                <a:cs typeface="Calibri"/>
              </a:rPr>
              <a:t>are</a:t>
            </a:r>
            <a:r>
              <a:rPr sz="2800" spc="345" dirty="0">
                <a:latin typeface="Calibri"/>
                <a:cs typeface="Calibri"/>
              </a:rPr>
              <a:t>   </a:t>
            </a:r>
            <a:r>
              <a:rPr sz="2800" dirty="0">
                <a:latin typeface="Calibri"/>
                <a:cs typeface="Calibri"/>
              </a:rPr>
              <a:t>balanced</a:t>
            </a:r>
            <a:r>
              <a:rPr sz="2800" spc="340" dirty="0">
                <a:latin typeface="Calibri"/>
                <a:cs typeface="Calibri"/>
              </a:rPr>
              <a:t>   </a:t>
            </a:r>
            <a:r>
              <a:rPr sz="2800" dirty="0">
                <a:latin typeface="Calibri"/>
                <a:cs typeface="Calibri"/>
              </a:rPr>
              <a:t>and</a:t>
            </a:r>
            <a:r>
              <a:rPr sz="2800" spc="345" dirty="0">
                <a:latin typeface="Calibri"/>
                <a:cs typeface="Calibri"/>
              </a:rPr>
              <a:t>   </a:t>
            </a:r>
            <a:r>
              <a:rPr sz="2800" dirty="0">
                <a:latin typeface="Calibri"/>
                <a:cs typeface="Calibri"/>
              </a:rPr>
              <a:t>shared</a:t>
            </a:r>
            <a:r>
              <a:rPr sz="2800" spc="345" dirty="0">
                <a:latin typeface="Calibri"/>
                <a:cs typeface="Calibri"/>
              </a:rPr>
              <a:t>   </a:t>
            </a:r>
            <a:r>
              <a:rPr sz="2800" dirty="0">
                <a:latin typeface="Calibri"/>
                <a:cs typeface="Calibri"/>
              </a:rPr>
              <a:t>to</a:t>
            </a:r>
            <a:r>
              <a:rPr sz="2800" spc="340" dirty="0">
                <a:latin typeface="Calibri"/>
                <a:cs typeface="Calibri"/>
              </a:rPr>
              <a:t>   </a:t>
            </a:r>
            <a:r>
              <a:rPr sz="2800" dirty="0">
                <a:latin typeface="Calibri"/>
                <a:cs typeface="Calibri"/>
              </a:rPr>
              <a:t>facilitate</a:t>
            </a:r>
            <a:r>
              <a:rPr sz="2800" spc="340" dirty="0">
                <a:latin typeface="Calibri"/>
                <a:cs typeface="Calibri"/>
              </a:rPr>
              <a:t>   </a:t>
            </a:r>
            <a:r>
              <a:rPr sz="2800" dirty="0">
                <a:latin typeface="Calibri"/>
                <a:cs typeface="Calibri"/>
              </a:rPr>
              <a:t>both</a:t>
            </a:r>
            <a:r>
              <a:rPr sz="2800" spc="345" dirty="0">
                <a:latin typeface="Calibri"/>
                <a:cs typeface="Calibri"/>
              </a:rPr>
              <a:t>   </a:t>
            </a:r>
            <a:r>
              <a:rPr sz="2800" spc="-25" dirty="0">
                <a:latin typeface="Calibri"/>
                <a:cs typeface="Calibri"/>
              </a:rPr>
              <a:t>the </a:t>
            </a:r>
            <a:r>
              <a:rPr sz="2800" dirty="0">
                <a:latin typeface="Calibri"/>
                <a:cs typeface="Calibri"/>
              </a:rPr>
              <a:t>accomplishment</a:t>
            </a:r>
            <a:r>
              <a:rPr sz="2800" spc="204" dirty="0">
                <a:latin typeface="Calibri"/>
                <a:cs typeface="Calibri"/>
              </a:rPr>
              <a:t>  </a:t>
            </a:r>
            <a:r>
              <a:rPr sz="2800" dirty="0">
                <a:latin typeface="Calibri"/>
                <a:cs typeface="Calibri"/>
              </a:rPr>
              <a:t>of</a:t>
            </a:r>
            <a:r>
              <a:rPr sz="2800" spc="204" dirty="0">
                <a:latin typeface="Calibri"/>
                <a:cs typeface="Calibri"/>
              </a:rPr>
              <a:t>  </a:t>
            </a:r>
            <a:r>
              <a:rPr sz="2800" dirty="0">
                <a:latin typeface="Calibri"/>
                <a:cs typeface="Calibri"/>
              </a:rPr>
              <a:t>tasks</a:t>
            </a:r>
            <a:r>
              <a:rPr sz="2800" spc="210" dirty="0">
                <a:latin typeface="Calibri"/>
                <a:cs typeface="Calibri"/>
              </a:rPr>
              <a:t>  </a:t>
            </a:r>
            <a:r>
              <a:rPr sz="2800" dirty="0">
                <a:latin typeface="Calibri"/>
                <a:cs typeface="Calibri"/>
              </a:rPr>
              <a:t>and</a:t>
            </a:r>
            <a:r>
              <a:rPr sz="2800" spc="210" dirty="0">
                <a:latin typeface="Calibri"/>
                <a:cs typeface="Calibri"/>
              </a:rPr>
              <a:t>  </a:t>
            </a:r>
            <a:r>
              <a:rPr sz="2800" dirty="0">
                <a:latin typeface="Calibri"/>
                <a:cs typeface="Calibri"/>
              </a:rPr>
              <a:t>feelings</a:t>
            </a:r>
            <a:r>
              <a:rPr sz="2800" spc="210" dirty="0">
                <a:latin typeface="Calibri"/>
                <a:cs typeface="Calibri"/>
              </a:rPr>
              <a:t>  </a:t>
            </a:r>
            <a:r>
              <a:rPr sz="2800" dirty="0">
                <a:latin typeface="Calibri"/>
                <a:cs typeface="Calibri"/>
              </a:rPr>
              <a:t>of</a:t>
            </a:r>
            <a:r>
              <a:rPr sz="2800" spc="204" dirty="0">
                <a:latin typeface="Calibri"/>
                <a:cs typeface="Calibri"/>
              </a:rPr>
              <a:t>  </a:t>
            </a:r>
            <a:r>
              <a:rPr sz="2800" dirty="0">
                <a:latin typeface="Calibri"/>
                <a:cs typeface="Calibri"/>
              </a:rPr>
              <a:t>group</a:t>
            </a:r>
            <a:r>
              <a:rPr sz="2800" spc="210" dirty="0">
                <a:latin typeface="Calibri"/>
                <a:cs typeface="Calibri"/>
              </a:rPr>
              <a:t>  </a:t>
            </a:r>
            <a:r>
              <a:rPr sz="2800" dirty="0">
                <a:latin typeface="Calibri"/>
                <a:cs typeface="Calibri"/>
              </a:rPr>
              <a:t>cohesion</a:t>
            </a:r>
            <a:r>
              <a:rPr sz="2800" spc="204" dirty="0">
                <a:latin typeface="Calibri"/>
                <a:cs typeface="Calibri"/>
              </a:rPr>
              <a:t>  </a:t>
            </a:r>
            <a:r>
              <a:rPr sz="2800" spc="-25" dirty="0">
                <a:latin typeface="Calibri"/>
                <a:cs typeface="Calibri"/>
              </a:rPr>
              <a:t>and </a:t>
            </a:r>
            <a:r>
              <a:rPr sz="2800" spc="-10" dirty="0">
                <a:latin typeface="Calibri"/>
                <a:cs typeface="Calibri"/>
              </a:rPr>
              <a:t>morale.</a:t>
            </a:r>
            <a:endParaRPr sz="28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14</a:t>
            </a:r>
            <a:endParaRPr sz="1200">
              <a:latin typeface="Calibri"/>
              <a:cs typeface="Calibri"/>
            </a:endParaRPr>
          </a:p>
        </p:txBody>
      </p:sp>
      <p:pic>
        <p:nvPicPr>
          <p:cNvPr id="5" name="Picture 4">
            <a:extLst>
              <a:ext uri="{FF2B5EF4-FFF2-40B4-BE49-F238E27FC236}">
                <a16:creationId xmlns:a16="http://schemas.microsoft.com/office/drawing/2014/main" id="{E6D434C8-0C40-F6DB-EB88-9FFCD9797E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0"/>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5378" rIns="0" bIns="0" rtlCol="0">
            <a:spAutoFit/>
          </a:bodyPr>
          <a:lstStyle/>
          <a:p>
            <a:pPr marL="60325">
              <a:lnSpc>
                <a:spcPct val="100000"/>
              </a:lnSpc>
              <a:spcBef>
                <a:spcPts val="135"/>
              </a:spcBef>
            </a:pPr>
            <a:r>
              <a:rPr sz="3100" spc="80" dirty="0"/>
              <a:t>Characteristics</a:t>
            </a:r>
            <a:r>
              <a:rPr sz="3100" spc="105" dirty="0"/>
              <a:t> </a:t>
            </a:r>
            <a:r>
              <a:rPr sz="3100" spc="100" dirty="0"/>
              <a:t>commonly</a:t>
            </a:r>
            <a:r>
              <a:rPr sz="3100" spc="105" dirty="0"/>
              <a:t> </a:t>
            </a:r>
            <a:r>
              <a:rPr sz="3100" spc="85" dirty="0"/>
              <a:t>associated</a:t>
            </a:r>
            <a:r>
              <a:rPr sz="3100" spc="105" dirty="0"/>
              <a:t> </a:t>
            </a:r>
            <a:r>
              <a:rPr sz="3100" spc="85" dirty="0"/>
              <a:t>with</a:t>
            </a:r>
            <a:r>
              <a:rPr sz="3100" spc="105" dirty="0"/>
              <a:t> </a:t>
            </a:r>
            <a:r>
              <a:rPr sz="3100" spc="95" dirty="0"/>
              <a:t>high-</a:t>
            </a:r>
            <a:r>
              <a:rPr sz="3100" spc="85" dirty="0"/>
              <a:t>performing</a:t>
            </a:r>
            <a:r>
              <a:rPr sz="3100" spc="100" dirty="0"/>
              <a:t> </a:t>
            </a:r>
            <a:r>
              <a:rPr sz="3100" spc="75" dirty="0"/>
              <a:t>teams</a:t>
            </a:r>
            <a:endParaRPr sz="3100"/>
          </a:p>
        </p:txBody>
      </p:sp>
      <p:sp>
        <p:nvSpPr>
          <p:cNvPr id="3" name="object 3"/>
          <p:cNvSpPr txBox="1"/>
          <p:nvPr/>
        </p:nvSpPr>
        <p:spPr>
          <a:xfrm>
            <a:off x="1061085" y="2170683"/>
            <a:ext cx="10213340" cy="3528060"/>
          </a:xfrm>
          <a:prstGeom prst="rect">
            <a:avLst/>
          </a:prstGeom>
        </p:spPr>
        <p:txBody>
          <a:bodyPr vert="horz" wrap="square" lIns="0" tIns="63500" rIns="0" bIns="0" rtlCol="0">
            <a:spAutoFit/>
          </a:bodyPr>
          <a:lstStyle/>
          <a:p>
            <a:pPr marL="527050" marR="5080" indent="-514350" algn="just">
              <a:lnSpc>
                <a:spcPts val="3000"/>
              </a:lnSpc>
              <a:spcBef>
                <a:spcPts val="500"/>
              </a:spcBef>
              <a:buAutoNum type="arabicPeriod" startAt="4"/>
              <a:tabLst>
                <a:tab pos="527050" algn="l"/>
              </a:tabLst>
            </a:pPr>
            <a:r>
              <a:rPr sz="2800" dirty="0">
                <a:solidFill>
                  <a:srgbClr val="C00000"/>
                </a:solidFill>
                <a:latin typeface="Calibri"/>
                <a:cs typeface="Calibri"/>
              </a:rPr>
              <a:t>The</a:t>
            </a:r>
            <a:r>
              <a:rPr sz="2800" spc="165" dirty="0">
                <a:solidFill>
                  <a:srgbClr val="C00000"/>
                </a:solidFill>
                <a:latin typeface="Calibri"/>
                <a:cs typeface="Calibri"/>
              </a:rPr>
              <a:t>  </a:t>
            </a:r>
            <a:r>
              <a:rPr sz="2800" dirty="0">
                <a:solidFill>
                  <a:srgbClr val="C00000"/>
                </a:solidFill>
                <a:latin typeface="Calibri"/>
                <a:cs typeface="Calibri"/>
              </a:rPr>
              <a:t>team</a:t>
            </a:r>
            <a:r>
              <a:rPr sz="2800" spc="170" dirty="0">
                <a:solidFill>
                  <a:srgbClr val="C00000"/>
                </a:solidFill>
                <a:latin typeface="Calibri"/>
                <a:cs typeface="Calibri"/>
              </a:rPr>
              <a:t>  </a:t>
            </a:r>
            <a:r>
              <a:rPr sz="2800" dirty="0">
                <a:solidFill>
                  <a:srgbClr val="C00000"/>
                </a:solidFill>
                <a:latin typeface="Calibri"/>
                <a:cs typeface="Calibri"/>
              </a:rPr>
              <a:t>exerts</a:t>
            </a:r>
            <a:r>
              <a:rPr sz="2800" spc="175" dirty="0">
                <a:solidFill>
                  <a:srgbClr val="C00000"/>
                </a:solidFill>
                <a:latin typeface="Calibri"/>
                <a:cs typeface="Calibri"/>
              </a:rPr>
              <a:t>  </a:t>
            </a:r>
            <a:r>
              <a:rPr sz="2800" dirty="0">
                <a:solidFill>
                  <a:srgbClr val="C00000"/>
                </a:solidFill>
                <a:latin typeface="Calibri"/>
                <a:cs typeface="Calibri"/>
              </a:rPr>
              <a:t>energy</a:t>
            </a:r>
            <a:r>
              <a:rPr sz="2800" spc="170" dirty="0">
                <a:solidFill>
                  <a:srgbClr val="C00000"/>
                </a:solidFill>
                <a:latin typeface="Calibri"/>
                <a:cs typeface="Calibri"/>
              </a:rPr>
              <a:t>  </a:t>
            </a:r>
            <a:r>
              <a:rPr sz="2800" dirty="0">
                <a:solidFill>
                  <a:srgbClr val="C00000"/>
                </a:solidFill>
                <a:latin typeface="Calibri"/>
                <a:cs typeface="Calibri"/>
              </a:rPr>
              <a:t>toward</a:t>
            </a:r>
            <a:r>
              <a:rPr sz="2800" spc="175" dirty="0">
                <a:solidFill>
                  <a:srgbClr val="C00000"/>
                </a:solidFill>
                <a:latin typeface="Calibri"/>
                <a:cs typeface="Calibri"/>
              </a:rPr>
              <a:t>  </a:t>
            </a:r>
            <a:r>
              <a:rPr sz="2800" dirty="0">
                <a:solidFill>
                  <a:srgbClr val="C00000"/>
                </a:solidFill>
                <a:latin typeface="Calibri"/>
                <a:cs typeface="Calibri"/>
              </a:rPr>
              <a:t>problem</a:t>
            </a:r>
            <a:r>
              <a:rPr sz="2800" spc="170" dirty="0">
                <a:solidFill>
                  <a:srgbClr val="C00000"/>
                </a:solidFill>
                <a:latin typeface="Calibri"/>
                <a:cs typeface="Calibri"/>
              </a:rPr>
              <a:t>  </a:t>
            </a:r>
            <a:r>
              <a:rPr sz="2800" dirty="0">
                <a:solidFill>
                  <a:srgbClr val="C00000"/>
                </a:solidFill>
                <a:latin typeface="Calibri"/>
                <a:cs typeface="Calibri"/>
              </a:rPr>
              <a:t>solving</a:t>
            </a:r>
            <a:r>
              <a:rPr sz="2800" spc="165" dirty="0">
                <a:solidFill>
                  <a:srgbClr val="C00000"/>
                </a:solidFill>
                <a:latin typeface="Calibri"/>
                <a:cs typeface="Calibri"/>
              </a:rPr>
              <a:t>  </a:t>
            </a:r>
            <a:r>
              <a:rPr sz="2800" dirty="0">
                <a:solidFill>
                  <a:srgbClr val="C00000"/>
                </a:solidFill>
                <a:latin typeface="Calibri"/>
                <a:cs typeface="Calibri"/>
              </a:rPr>
              <a:t>rather</a:t>
            </a:r>
            <a:r>
              <a:rPr sz="2800" spc="170" dirty="0">
                <a:solidFill>
                  <a:srgbClr val="C00000"/>
                </a:solidFill>
                <a:latin typeface="Calibri"/>
                <a:cs typeface="Calibri"/>
              </a:rPr>
              <a:t>  </a:t>
            </a:r>
            <a:r>
              <a:rPr sz="2800" spc="-20" dirty="0">
                <a:solidFill>
                  <a:srgbClr val="C00000"/>
                </a:solidFill>
                <a:latin typeface="Calibri"/>
                <a:cs typeface="Calibri"/>
              </a:rPr>
              <a:t>than </a:t>
            </a:r>
            <a:r>
              <a:rPr sz="2800" dirty="0">
                <a:solidFill>
                  <a:srgbClr val="C00000"/>
                </a:solidFill>
                <a:latin typeface="Calibri"/>
                <a:cs typeface="Calibri"/>
              </a:rPr>
              <a:t>allowing</a:t>
            </a:r>
            <a:r>
              <a:rPr sz="2800" spc="25" dirty="0">
                <a:solidFill>
                  <a:srgbClr val="C00000"/>
                </a:solidFill>
                <a:latin typeface="Calibri"/>
                <a:cs typeface="Calibri"/>
              </a:rPr>
              <a:t> </a:t>
            </a:r>
            <a:r>
              <a:rPr sz="2800" dirty="0">
                <a:solidFill>
                  <a:srgbClr val="C00000"/>
                </a:solidFill>
                <a:latin typeface="Calibri"/>
                <a:cs typeface="Calibri"/>
              </a:rPr>
              <a:t>itself</a:t>
            </a:r>
            <a:r>
              <a:rPr sz="2800" spc="30" dirty="0">
                <a:solidFill>
                  <a:srgbClr val="C00000"/>
                </a:solidFill>
                <a:latin typeface="Calibri"/>
                <a:cs typeface="Calibri"/>
              </a:rPr>
              <a:t> </a:t>
            </a:r>
            <a:r>
              <a:rPr sz="2800" dirty="0">
                <a:solidFill>
                  <a:srgbClr val="C00000"/>
                </a:solidFill>
                <a:latin typeface="Calibri"/>
                <a:cs typeface="Calibri"/>
              </a:rPr>
              <a:t>to</a:t>
            </a:r>
            <a:r>
              <a:rPr sz="2800" spc="40" dirty="0">
                <a:solidFill>
                  <a:srgbClr val="C00000"/>
                </a:solidFill>
                <a:latin typeface="Calibri"/>
                <a:cs typeface="Calibri"/>
              </a:rPr>
              <a:t> </a:t>
            </a:r>
            <a:r>
              <a:rPr sz="2800" dirty="0">
                <a:solidFill>
                  <a:srgbClr val="C00000"/>
                </a:solidFill>
                <a:latin typeface="Calibri"/>
                <a:cs typeface="Calibri"/>
              </a:rPr>
              <a:t>be</a:t>
            </a:r>
            <a:r>
              <a:rPr sz="2800" spc="30" dirty="0">
                <a:solidFill>
                  <a:srgbClr val="C00000"/>
                </a:solidFill>
                <a:latin typeface="Calibri"/>
                <a:cs typeface="Calibri"/>
              </a:rPr>
              <a:t> </a:t>
            </a:r>
            <a:r>
              <a:rPr sz="2800" dirty="0">
                <a:solidFill>
                  <a:srgbClr val="C00000"/>
                </a:solidFill>
                <a:latin typeface="Calibri"/>
                <a:cs typeface="Calibri"/>
              </a:rPr>
              <a:t>drained</a:t>
            </a:r>
            <a:r>
              <a:rPr sz="2800" spc="35" dirty="0">
                <a:solidFill>
                  <a:srgbClr val="C00000"/>
                </a:solidFill>
                <a:latin typeface="Calibri"/>
                <a:cs typeface="Calibri"/>
              </a:rPr>
              <a:t> </a:t>
            </a:r>
            <a:r>
              <a:rPr sz="2800" dirty="0">
                <a:solidFill>
                  <a:srgbClr val="C00000"/>
                </a:solidFill>
                <a:latin typeface="Calibri"/>
                <a:cs typeface="Calibri"/>
              </a:rPr>
              <a:t>by</a:t>
            </a:r>
            <a:r>
              <a:rPr sz="2800" spc="30" dirty="0">
                <a:solidFill>
                  <a:srgbClr val="C00000"/>
                </a:solidFill>
                <a:latin typeface="Calibri"/>
                <a:cs typeface="Calibri"/>
              </a:rPr>
              <a:t> </a:t>
            </a:r>
            <a:r>
              <a:rPr sz="2800" dirty="0">
                <a:solidFill>
                  <a:srgbClr val="C00000"/>
                </a:solidFill>
                <a:latin typeface="Calibri"/>
                <a:cs typeface="Calibri"/>
              </a:rPr>
              <a:t>interpersonal</a:t>
            </a:r>
            <a:r>
              <a:rPr sz="2800" spc="30" dirty="0">
                <a:solidFill>
                  <a:srgbClr val="C00000"/>
                </a:solidFill>
                <a:latin typeface="Calibri"/>
                <a:cs typeface="Calibri"/>
              </a:rPr>
              <a:t> </a:t>
            </a:r>
            <a:r>
              <a:rPr sz="2800" dirty="0">
                <a:solidFill>
                  <a:srgbClr val="C00000"/>
                </a:solidFill>
                <a:latin typeface="Calibri"/>
                <a:cs typeface="Calibri"/>
              </a:rPr>
              <a:t>issues</a:t>
            </a:r>
            <a:r>
              <a:rPr sz="2800" spc="45" dirty="0">
                <a:solidFill>
                  <a:srgbClr val="C00000"/>
                </a:solidFill>
                <a:latin typeface="Calibri"/>
                <a:cs typeface="Calibri"/>
              </a:rPr>
              <a:t> </a:t>
            </a:r>
            <a:r>
              <a:rPr sz="2800" dirty="0">
                <a:solidFill>
                  <a:srgbClr val="C00000"/>
                </a:solidFill>
                <a:latin typeface="Calibri"/>
                <a:cs typeface="Calibri"/>
              </a:rPr>
              <a:t>or</a:t>
            </a:r>
            <a:r>
              <a:rPr sz="2800" spc="35" dirty="0">
                <a:solidFill>
                  <a:srgbClr val="C00000"/>
                </a:solidFill>
                <a:latin typeface="Calibri"/>
                <a:cs typeface="Calibri"/>
              </a:rPr>
              <a:t> </a:t>
            </a:r>
            <a:r>
              <a:rPr sz="2800" spc="-10" dirty="0">
                <a:solidFill>
                  <a:srgbClr val="C00000"/>
                </a:solidFill>
                <a:latin typeface="Calibri"/>
                <a:cs typeface="Calibri"/>
              </a:rPr>
              <a:t>competitive struggles.</a:t>
            </a:r>
            <a:endParaRPr sz="2800" dirty="0">
              <a:latin typeface="Calibri"/>
              <a:cs typeface="Calibri"/>
            </a:endParaRPr>
          </a:p>
          <a:p>
            <a:pPr marL="363220" indent="-350520" algn="just">
              <a:lnSpc>
                <a:spcPct val="100000"/>
              </a:lnSpc>
              <a:spcBef>
                <a:spcPts val="705"/>
              </a:spcBef>
              <a:buAutoNum type="arabicPeriod" startAt="4"/>
              <a:tabLst>
                <a:tab pos="363220" algn="l"/>
              </a:tabLst>
            </a:pPr>
            <a:r>
              <a:rPr sz="2800" spc="-10" dirty="0">
                <a:latin typeface="Calibri"/>
                <a:cs typeface="Calibri"/>
              </a:rPr>
              <a:t>Differences</a:t>
            </a:r>
            <a:r>
              <a:rPr sz="2800" spc="-70"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opinion</a:t>
            </a:r>
            <a:r>
              <a:rPr sz="2800" spc="-70" dirty="0">
                <a:latin typeface="Calibri"/>
                <a:cs typeface="Calibri"/>
              </a:rPr>
              <a:t> </a:t>
            </a:r>
            <a:r>
              <a:rPr sz="2800" dirty="0">
                <a:latin typeface="Calibri"/>
                <a:cs typeface="Calibri"/>
              </a:rPr>
              <a:t>are</a:t>
            </a:r>
            <a:r>
              <a:rPr sz="2800" spc="-75" dirty="0">
                <a:latin typeface="Calibri"/>
                <a:cs typeface="Calibri"/>
              </a:rPr>
              <a:t> </a:t>
            </a:r>
            <a:r>
              <a:rPr sz="2800" dirty="0">
                <a:latin typeface="Calibri"/>
                <a:cs typeface="Calibri"/>
              </a:rPr>
              <a:t>encouraged</a:t>
            </a:r>
            <a:r>
              <a:rPr sz="2800" spc="-60" dirty="0">
                <a:latin typeface="Calibri"/>
                <a:cs typeface="Calibri"/>
              </a:rPr>
              <a:t> </a:t>
            </a:r>
            <a:r>
              <a:rPr sz="2800" dirty="0">
                <a:latin typeface="Calibri"/>
                <a:cs typeface="Calibri"/>
              </a:rPr>
              <a:t>and</a:t>
            </a:r>
            <a:r>
              <a:rPr sz="2800" spc="-65" dirty="0">
                <a:latin typeface="Calibri"/>
                <a:cs typeface="Calibri"/>
              </a:rPr>
              <a:t> </a:t>
            </a:r>
            <a:r>
              <a:rPr sz="2800" dirty="0">
                <a:latin typeface="Calibri"/>
                <a:cs typeface="Calibri"/>
              </a:rPr>
              <a:t>freely</a:t>
            </a:r>
            <a:r>
              <a:rPr sz="2800" spc="-80" dirty="0">
                <a:latin typeface="Calibri"/>
                <a:cs typeface="Calibri"/>
              </a:rPr>
              <a:t> </a:t>
            </a:r>
            <a:r>
              <a:rPr sz="2800" spc="-10" dirty="0">
                <a:latin typeface="Calibri"/>
                <a:cs typeface="Calibri"/>
              </a:rPr>
              <a:t>expressed.</a:t>
            </a:r>
            <a:endParaRPr sz="2800" dirty="0">
              <a:latin typeface="Calibri"/>
              <a:cs typeface="Calibri"/>
            </a:endParaRPr>
          </a:p>
          <a:p>
            <a:pPr marL="382905" marR="6350" indent="-323850" algn="just">
              <a:lnSpc>
                <a:spcPts val="3000"/>
              </a:lnSpc>
              <a:spcBef>
                <a:spcPts val="1045"/>
              </a:spcBef>
              <a:buAutoNum type="arabicPeriod" startAt="4"/>
              <a:tabLst>
                <a:tab pos="382905" algn="l"/>
              </a:tabLst>
            </a:pPr>
            <a:r>
              <a:rPr sz="2800" dirty="0">
                <a:solidFill>
                  <a:srgbClr val="C00000"/>
                </a:solidFill>
                <a:latin typeface="Calibri"/>
                <a:cs typeface="Calibri"/>
              </a:rPr>
              <a:t>To</a:t>
            </a:r>
            <a:r>
              <a:rPr sz="2800" spc="585" dirty="0">
                <a:solidFill>
                  <a:srgbClr val="C00000"/>
                </a:solidFill>
                <a:latin typeface="Calibri"/>
                <a:cs typeface="Calibri"/>
              </a:rPr>
              <a:t> </a:t>
            </a:r>
            <a:r>
              <a:rPr sz="2800" dirty="0">
                <a:solidFill>
                  <a:srgbClr val="C00000"/>
                </a:solidFill>
                <a:latin typeface="Calibri"/>
                <a:cs typeface="Calibri"/>
              </a:rPr>
              <a:t>encourage</a:t>
            </a:r>
            <a:r>
              <a:rPr sz="2800" spc="595" dirty="0">
                <a:solidFill>
                  <a:srgbClr val="C00000"/>
                </a:solidFill>
                <a:latin typeface="Calibri"/>
                <a:cs typeface="Calibri"/>
              </a:rPr>
              <a:t> </a:t>
            </a:r>
            <a:r>
              <a:rPr sz="2800" dirty="0">
                <a:solidFill>
                  <a:srgbClr val="C00000"/>
                </a:solidFill>
                <a:latin typeface="Calibri"/>
                <a:cs typeface="Calibri"/>
              </a:rPr>
              <a:t>risk</a:t>
            </a:r>
            <a:r>
              <a:rPr sz="2800" spc="595" dirty="0">
                <a:solidFill>
                  <a:srgbClr val="C00000"/>
                </a:solidFill>
                <a:latin typeface="Calibri"/>
                <a:cs typeface="Calibri"/>
              </a:rPr>
              <a:t> </a:t>
            </a:r>
            <a:r>
              <a:rPr sz="2800" dirty="0">
                <a:solidFill>
                  <a:srgbClr val="C00000"/>
                </a:solidFill>
                <a:latin typeface="Calibri"/>
                <a:cs typeface="Calibri"/>
              </a:rPr>
              <a:t>taking</a:t>
            </a:r>
            <a:r>
              <a:rPr sz="2800" spc="585" dirty="0">
                <a:solidFill>
                  <a:srgbClr val="C00000"/>
                </a:solidFill>
                <a:latin typeface="Calibri"/>
                <a:cs typeface="Calibri"/>
              </a:rPr>
              <a:t> </a:t>
            </a:r>
            <a:r>
              <a:rPr sz="2800" dirty="0">
                <a:solidFill>
                  <a:srgbClr val="C00000"/>
                </a:solidFill>
                <a:latin typeface="Calibri"/>
                <a:cs typeface="Calibri"/>
              </a:rPr>
              <a:t>and</a:t>
            </a:r>
            <a:r>
              <a:rPr sz="2800" spc="590" dirty="0">
                <a:solidFill>
                  <a:srgbClr val="C00000"/>
                </a:solidFill>
                <a:latin typeface="Calibri"/>
                <a:cs typeface="Calibri"/>
              </a:rPr>
              <a:t> </a:t>
            </a:r>
            <a:r>
              <a:rPr sz="2800" dirty="0">
                <a:solidFill>
                  <a:srgbClr val="C00000"/>
                </a:solidFill>
                <a:latin typeface="Calibri"/>
                <a:cs typeface="Calibri"/>
              </a:rPr>
              <a:t>creativity,</a:t>
            </a:r>
            <a:r>
              <a:rPr sz="2800" spc="590" dirty="0">
                <a:solidFill>
                  <a:srgbClr val="C00000"/>
                </a:solidFill>
                <a:latin typeface="Calibri"/>
                <a:cs typeface="Calibri"/>
              </a:rPr>
              <a:t> </a:t>
            </a:r>
            <a:r>
              <a:rPr sz="2800" dirty="0">
                <a:solidFill>
                  <a:srgbClr val="C00000"/>
                </a:solidFill>
                <a:latin typeface="Calibri"/>
                <a:cs typeface="Calibri"/>
              </a:rPr>
              <a:t>mistakes</a:t>
            </a:r>
            <a:r>
              <a:rPr sz="2800" spc="600" dirty="0">
                <a:solidFill>
                  <a:srgbClr val="C00000"/>
                </a:solidFill>
                <a:latin typeface="Calibri"/>
                <a:cs typeface="Calibri"/>
              </a:rPr>
              <a:t> </a:t>
            </a:r>
            <a:r>
              <a:rPr sz="2800" dirty="0">
                <a:solidFill>
                  <a:srgbClr val="C00000"/>
                </a:solidFill>
                <a:latin typeface="Calibri"/>
                <a:cs typeface="Calibri"/>
              </a:rPr>
              <a:t>are</a:t>
            </a:r>
            <a:r>
              <a:rPr sz="2800" spc="585" dirty="0">
                <a:solidFill>
                  <a:srgbClr val="C00000"/>
                </a:solidFill>
                <a:latin typeface="Calibri"/>
                <a:cs typeface="Calibri"/>
              </a:rPr>
              <a:t> </a:t>
            </a:r>
            <a:r>
              <a:rPr sz="2800" dirty="0">
                <a:solidFill>
                  <a:srgbClr val="C00000"/>
                </a:solidFill>
                <a:latin typeface="Calibri"/>
                <a:cs typeface="Calibri"/>
              </a:rPr>
              <a:t>treated</a:t>
            </a:r>
            <a:r>
              <a:rPr sz="2800" spc="590" dirty="0">
                <a:solidFill>
                  <a:srgbClr val="C00000"/>
                </a:solidFill>
                <a:latin typeface="Calibri"/>
                <a:cs typeface="Calibri"/>
              </a:rPr>
              <a:t> </a:t>
            </a:r>
            <a:r>
              <a:rPr sz="2800" spc="-25" dirty="0">
                <a:solidFill>
                  <a:srgbClr val="C00000"/>
                </a:solidFill>
                <a:latin typeface="Calibri"/>
                <a:cs typeface="Calibri"/>
              </a:rPr>
              <a:t>as </a:t>
            </a:r>
            <a:r>
              <a:rPr sz="2800" dirty="0">
                <a:solidFill>
                  <a:srgbClr val="C00000"/>
                </a:solidFill>
                <a:latin typeface="Calibri"/>
                <a:cs typeface="Calibri"/>
              </a:rPr>
              <a:t>opportunities</a:t>
            </a:r>
            <a:r>
              <a:rPr sz="2800" spc="-80" dirty="0">
                <a:solidFill>
                  <a:srgbClr val="C00000"/>
                </a:solidFill>
                <a:latin typeface="Calibri"/>
                <a:cs typeface="Calibri"/>
              </a:rPr>
              <a:t> </a:t>
            </a:r>
            <a:r>
              <a:rPr sz="2800" dirty="0">
                <a:solidFill>
                  <a:srgbClr val="C00000"/>
                </a:solidFill>
                <a:latin typeface="Calibri"/>
                <a:cs typeface="Calibri"/>
              </a:rPr>
              <a:t>for</a:t>
            </a:r>
            <a:r>
              <a:rPr sz="2800" spc="-80" dirty="0">
                <a:solidFill>
                  <a:srgbClr val="C00000"/>
                </a:solidFill>
                <a:latin typeface="Calibri"/>
                <a:cs typeface="Calibri"/>
              </a:rPr>
              <a:t> </a:t>
            </a:r>
            <a:r>
              <a:rPr sz="2800" dirty="0">
                <a:solidFill>
                  <a:srgbClr val="C00000"/>
                </a:solidFill>
                <a:latin typeface="Calibri"/>
                <a:cs typeface="Calibri"/>
              </a:rPr>
              <a:t>learning</a:t>
            </a:r>
            <a:r>
              <a:rPr sz="2800" spc="-90" dirty="0">
                <a:solidFill>
                  <a:srgbClr val="C00000"/>
                </a:solidFill>
                <a:latin typeface="Calibri"/>
                <a:cs typeface="Calibri"/>
              </a:rPr>
              <a:t> </a:t>
            </a:r>
            <a:r>
              <a:rPr sz="2800" dirty="0">
                <a:solidFill>
                  <a:srgbClr val="C00000"/>
                </a:solidFill>
                <a:latin typeface="Calibri"/>
                <a:cs typeface="Calibri"/>
              </a:rPr>
              <a:t>rather</a:t>
            </a:r>
            <a:r>
              <a:rPr sz="2800" spc="-80" dirty="0">
                <a:solidFill>
                  <a:srgbClr val="C00000"/>
                </a:solidFill>
                <a:latin typeface="Calibri"/>
                <a:cs typeface="Calibri"/>
              </a:rPr>
              <a:t> </a:t>
            </a:r>
            <a:r>
              <a:rPr sz="2800" dirty="0">
                <a:solidFill>
                  <a:srgbClr val="C00000"/>
                </a:solidFill>
                <a:latin typeface="Calibri"/>
                <a:cs typeface="Calibri"/>
              </a:rPr>
              <a:t>than</a:t>
            </a:r>
            <a:r>
              <a:rPr sz="2800" spc="-75" dirty="0">
                <a:solidFill>
                  <a:srgbClr val="C00000"/>
                </a:solidFill>
                <a:latin typeface="Calibri"/>
                <a:cs typeface="Calibri"/>
              </a:rPr>
              <a:t> </a:t>
            </a:r>
            <a:r>
              <a:rPr sz="2800" dirty="0">
                <a:solidFill>
                  <a:srgbClr val="C00000"/>
                </a:solidFill>
                <a:latin typeface="Calibri"/>
                <a:cs typeface="Calibri"/>
              </a:rPr>
              <a:t>reasons</a:t>
            </a:r>
            <a:r>
              <a:rPr sz="2800" spc="-75" dirty="0">
                <a:solidFill>
                  <a:srgbClr val="C00000"/>
                </a:solidFill>
                <a:latin typeface="Calibri"/>
                <a:cs typeface="Calibri"/>
              </a:rPr>
              <a:t> </a:t>
            </a:r>
            <a:r>
              <a:rPr sz="2800" dirty="0">
                <a:solidFill>
                  <a:srgbClr val="C00000"/>
                </a:solidFill>
                <a:latin typeface="Calibri"/>
                <a:cs typeface="Calibri"/>
              </a:rPr>
              <a:t>for</a:t>
            </a:r>
            <a:r>
              <a:rPr sz="2800" spc="-80" dirty="0">
                <a:solidFill>
                  <a:srgbClr val="C00000"/>
                </a:solidFill>
                <a:latin typeface="Calibri"/>
                <a:cs typeface="Calibri"/>
              </a:rPr>
              <a:t> </a:t>
            </a:r>
            <a:r>
              <a:rPr sz="2800" spc="-10" dirty="0">
                <a:solidFill>
                  <a:srgbClr val="C00000"/>
                </a:solidFill>
                <a:latin typeface="Calibri"/>
                <a:cs typeface="Calibri"/>
              </a:rPr>
              <a:t>punishment.</a:t>
            </a:r>
            <a:endParaRPr sz="2800" dirty="0">
              <a:latin typeface="Calibri"/>
              <a:cs typeface="Calibri"/>
            </a:endParaRPr>
          </a:p>
          <a:p>
            <a:pPr marL="382905" marR="6985" indent="-323850" algn="just">
              <a:lnSpc>
                <a:spcPts val="3120"/>
              </a:lnSpc>
              <a:spcBef>
                <a:spcPts val="890"/>
              </a:spcBef>
              <a:buAutoNum type="arabicPeriod" startAt="4"/>
              <a:tabLst>
                <a:tab pos="382905" algn="l"/>
              </a:tabLst>
            </a:pPr>
            <a:r>
              <a:rPr sz="2800" dirty="0">
                <a:latin typeface="Calibri"/>
                <a:cs typeface="Calibri"/>
              </a:rPr>
              <a:t>Members</a:t>
            </a:r>
            <a:r>
              <a:rPr sz="2800" spc="455" dirty="0">
                <a:latin typeface="Calibri"/>
                <a:cs typeface="Calibri"/>
              </a:rPr>
              <a:t>  </a:t>
            </a:r>
            <a:r>
              <a:rPr sz="2800" dirty="0">
                <a:latin typeface="Calibri"/>
                <a:cs typeface="Calibri"/>
              </a:rPr>
              <a:t>set</a:t>
            </a:r>
            <a:r>
              <a:rPr sz="2800" spc="455" dirty="0">
                <a:latin typeface="Calibri"/>
                <a:cs typeface="Calibri"/>
              </a:rPr>
              <a:t>  </a:t>
            </a:r>
            <a:r>
              <a:rPr sz="2800" dirty="0">
                <a:latin typeface="Calibri"/>
                <a:cs typeface="Calibri"/>
              </a:rPr>
              <a:t>high</a:t>
            </a:r>
            <a:r>
              <a:rPr sz="2800" spc="455" dirty="0">
                <a:latin typeface="Calibri"/>
                <a:cs typeface="Calibri"/>
              </a:rPr>
              <a:t>  </a:t>
            </a:r>
            <a:r>
              <a:rPr sz="2800" dirty="0">
                <a:latin typeface="Calibri"/>
                <a:cs typeface="Calibri"/>
              </a:rPr>
              <a:t>personal</a:t>
            </a:r>
            <a:r>
              <a:rPr sz="2800" spc="455" dirty="0">
                <a:latin typeface="Calibri"/>
                <a:cs typeface="Calibri"/>
              </a:rPr>
              <a:t>  </a:t>
            </a:r>
            <a:r>
              <a:rPr sz="2800" dirty="0">
                <a:latin typeface="Calibri"/>
                <a:cs typeface="Calibri"/>
              </a:rPr>
              <a:t>standards</a:t>
            </a:r>
            <a:r>
              <a:rPr sz="2800" spc="455" dirty="0">
                <a:latin typeface="Calibri"/>
                <a:cs typeface="Calibri"/>
              </a:rPr>
              <a:t>  </a:t>
            </a:r>
            <a:r>
              <a:rPr sz="2800" dirty="0">
                <a:latin typeface="Calibri"/>
                <a:cs typeface="Calibri"/>
              </a:rPr>
              <a:t>of</a:t>
            </a:r>
            <a:r>
              <a:rPr sz="2800" spc="455" dirty="0">
                <a:latin typeface="Calibri"/>
                <a:cs typeface="Calibri"/>
              </a:rPr>
              <a:t>  </a:t>
            </a:r>
            <a:r>
              <a:rPr sz="2800" dirty="0">
                <a:latin typeface="Calibri"/>
                <a:cs typeface="Calibri"/>
              </a:rPr>
              <a:t>performance</a:t>
            </a:r>
            <a:r>
              <a:rPr sz="2800" spc="455" dirty="0">
                <a:latin typeface="Calibri"/>
                <a:cs typeface="Calibri"/>
              </a:rPr>
              <a:t>  </a:t>
            </a:r>
            <a:r>
              <a:rPr sz="2800" spc="-25" dirty="0">
                <a:latin typeface="Calibri"/>
                <a:cs typeface="Calibri"/>
              </a:rPr>
              <a:t>and </a:t>
            </a:r>
            <a:r>
              <a:rPr sz="2800" dirty="0">
                <a:latin typeface="Calibri"/>
                <a:cs typeface="Calibri"/>
              </a:rPr>
              <a:t>encourage</a:t>
            </a:r>
            <a:r>
              <a:rPr sz="2800" spc="-65" dirty="0">
                <a:latin typeface="Calibri"/>
                <a:cs typeface="Calibri"/>
              </a:rPr>
              <a:t> </a:t>
            </a:r>
            <a:r>
              <a:rPr sz="2800" dirty="0">
                <a:latin typeface="Calibri"/>
                <a:cs typeface="Calibri"/>
              </a:rPr>
              <a:t>each</a:t>
            </a:r>
            <a:r>
              <a:rPr sz="2800" spc="-65" dirty="0">
                <a:latin typeface="Calibri"/>
                <a:cs typeface="Calibri"/>
              </a:rPr>
              <a:t> </a:t>
            </a:r>
            <a:r>
              <a:rPr sz="2800" dirty="0">
                <a:latin typeface="Calibri"/>
                <a:cs typeface="Calibri"/>
              </a:rPr>
              <a:t>other</a:t>
            </a:r>
            <a:r>
              <a:rPr sz="2800" spc="-65" dirty="0">
                <a:latin typeface="Calibri"/>
                <a:cs typeface="Calibri"/>
              </a:rPr>
              <a:t> </a:t>
            </a:r>
            <a:r>
              <a:rPr sz="2800" dirty="0">
                <a:latin typeface="Calibri"/>
                <a:cs typeface="Calibri"/>
              </a:rPr>
              <a:t>to</a:t>
            </a:r>
            <a:r>
              <a:rPr sz="2800" spc="-65" dirty="0">
                <a:latin typeface="Calibri"/>
                <a:cs typeface="Calibri"/>
              </a:rPr>
              <a:t> </a:t>
            </a:r>
            <a:r>
              <a:rPr sz="2800" dirty="0">
                <a:latin typeface="Calibri"/>
                <a:cs typeface="Calibri"/>
              </a:rPr>
              <a:t>realize</a:t>
            </a:r>
            <a:r>
              <a:rPr sz="2800" spc="-75"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objectives</a:t>
            </a:r>
            <a:r>
              <a:rPr sz="2800" spc="-60" dirty="0">
                <a:latin typeface="Calibri"/>
                <a:cs typeface="Calibri"/>
              </a:rPr>
              <a:t> </a:t>
            </a:r>
            <a:r>
              <a:rPr sz="2800" dirty="0">
                <a:latin typeface="Calibri"/>
                <a:cs typeface="Calibri"/>
              </a:rPr>
              <a:t>of</a:t>
            </a:r>
            <a:r>
              <a:rPr sz="2800" spc="-70" dirty="0">
                <a:latin typeface="Calibri"/>
                <a:cs typeface="Calibri"/>
              </a:rPr>
              <a:t> </a:t>
            </a:r>
            <a:r>
              <a:rPr sz="2800" dirty="0">
                <a:latin typeface="Calibri"/>
                <a:cs typeface="Calibri"/>
              </a:rPr>
              <a:t>the</a:t>
            </a:r>
            <a:r>
              <a:rPr sz="2800" spc="-65" dirty="0">
                <a:latin typeface="Calibri"/>
                <a:cs typeface="Calibri"/>
              </a:rPr>
              <a:t> </a:t>
            </a:r>
            <a:r>
              <a:rPr sz="2800" spc="-10" dirty="0">
                <a:latin typeface="Calibri"/>
                <a:cs typeface="Calibri"/>
              </a:rPr>
              <a:t>project.</a:t>
            </a:r>
            <a:endParaRPr sz="28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15</a:t>
            </a:r>
            <a:endParaRPr sz="1200">
              <a:latin typeface="Calibri"/>
              <a:cs typeface="Calibri"/>
            </a:endParaRPr>
          </a:p>
        </p:txBody>
      </p:sp>
      <p:pic>
        <p:nvPicPr>
          <p:cNvPr id="5" name="Picture 4">
            <a:extLst>
              <a:ext uri="{FF2B5EF4-FFF2-40B4-BE49-F238E27FC236}">
                <a16:creationId xmlns:a16="http://schemas.microsoft.com/office/drawing/2014/main" id="{25BF4941-B422-DEF0-1E49-0A7FCD14E3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0" y="1"/>
            <a:ext cx="15240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0" dirty="0"/>
              <a:t>Building</a:t>
            </a:r>
            <a:r>
              <a:rPr spc="140" dirty="0"/>
              <a:t> </a:t>
            </a:r>
            <a:r>
              <a:rPr spc="120" dirty="0"/>
              <a:t>High-</a:t>
            </a:r>
            <a:r>
              <a:rPr spc="95" dirty="0"/>
              <a:t>Performance</a:t>
            </a:r>
            <a:r>
              <a:rPr spc="140" dirty="0"/>
              <a:t> </a:t>
            </a:r>
            <a:r>
              <a:rPr spc="85" dirty="0"/>
              <a:t>Project</a:t>
            </a:r>
            <a:r>
              <a:rPr spc="145" dirty="0"/>
              <a:t> </a:t>
            </a:r>
            <a:r>
              <a:rPr spc="-10" dirty="0"/>
              <a:t>Teams</a:t>
            </a:r>
          </a:p>
        </p:txBody>
      </p:sp>
      <p:grpSp>
        <p:nvGrpSpPr>
          <p:cNvPr id="3" name="object 3"/>
          <p:cNvGrpSpPr/>
          <p:nvPr/>
        </p:nvGrpSpPr>
        <p:grpSpPr>
          <a:xfrm>
            <a:off x="1514269" y="2199944"/>
            <a:ext cx="8844915" cy="3924935"/>
            <a:chOff x="1514269" y="2199944"/>
            <a:chExt cx="8844915" cy="3924935"/>
          </a:xfrm>
        </p:grpSpPr>
        <p:pic>
          <p:nvPicPr>
            <p:cNvPr id="4" name="object 4"/>
            <p:cNvPicPr/>
            <p:nvPr/>
          </p:nvPicPr>
          <p:blipFill>
            <a:blip r:embed="rId2" cstate="print"/>
            <a:stretch>
              <a:fillRect/>
            </a:stretch>
          </p:blipFill>
          <p:spPr>
            <a:xfrm>
              <a:off x="1514269" y="2199944"/>
              <a:ext cx="8844887" cy="3924918"/>
            </a:xfrm>
            <a:prstGeom prst="rect">
              <a:avLst/>
            </a:prstGeom>
          </p:spPr>
        </p:pic>
        <p:sp>
          <p:nvSpPr>
            <p:cNvPr id="5" name="object 5"/>
            <p:cNvSpPr/>
            <p:nvPr/>
          </p:nvSpPr>
          <p:spPr>
            <a:xfrm>
              <a:off x="4727954" y="4627561"/>
              <a:ext cx="2544445" cy="301625"/>
            </a:xfrm>
            <a:custGeom>
              <a:avLst/>
              <a:gdLst/>
              <a:ahLst/>
              <a:cxnLst/>
              <a:rect l="l" t="t" r="r" b="b"/>
              <a:pathLst>
                <a:path w="2544445" h="301625">
                  <a:moveTo>
                    <a:pt x="2544382" y="0"/>
                  </a:moveTo>
                  <a:lnTo>
                    <a:pt x="0" y="0"/>
                  </a:lnTo>
                  <a:lnTo>
                    <a:pt x="0" y="301624"/>
                  </a:lnTo>
                  <a:lnTo>
                    <a:pt x="2544382" y="301624"/>
                  </a:lnTo>
                  <a:lnTo>
                    <a:pt x="2544382" y="0"/>
                  </a:lnTo>
                  <a:close/>
                </a:path>
              </a:pathLst>
            </a:custGeom>
            <a:solidFill>
              <a:srgbClr val="FFFFFF"/>
            </a:solidFill>
          </p:spPr>
          <p:txBody>
            <a:bodyPr wrap="square" lIns="0" tIns="0" rIns="0" bIns="0" rtlCol="0"/>
            <a:lstStyle/>
            <a:p>
              <a:endParaRPr/>
            </a:p>
          </p:txBody>
        </p:sp>
      </p:grpSp>
      <p:sp>
        <p:nvSpPr>
          <p:cNvPr id="6" name="object 6"/>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pic>
        <p:nvPicPr>
          <p:cNvPr id="7" name="Picture 6">
            <a:extLst>
              <a:ext uri="{FF2B5EF4-FFF2-40B4-BE49-F238E27FC236}">
                <a16:creationId xmlns:a16="http://schemas.microsoft.com/office/drawing/2014/main" id="{A11D4A82-84DE-ED73-7F5C-8F64E30D82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0" dirty="0"/>
              <a:t>Five-</a:t>
            </a:r>
            <a:r>
              <a:rPr spc="85" dirty="0"/>
              <a:t>Stage</a:t>
            </a:r>
            <a:r>
              <a:rPr spc="145" dirty="0"/>
              <a:t> </a:t>
            </a:r>
            <a:r>
              <a:rPr dirty="0"/>
              <a:t>Team</a:t>
            </a:r>
            <a:r>
              <a:rPr spc="145" dirty="0"/>
              <a:t> </a:t>
            </a:r>
            <a:r>
              <a:rPr spc="110" dirty="0"/>
              <a:t>Development</a:t>
            </a:r>
            <a:r>
              <a:rPr spc="155" dirty="0"/>
              <a:t> </a:t>
            </a:r>
            <a:r>
              <a:rPr spc="100" dirty="0"/>
              <a:t>Model</a:t>
            </a:r>
          </a:p>
        </p:txBody>
      </p:sp>
      <p:pic>
        <p:nvPicPr>
          <p:cNvPr id="3" name="object 3"/>
          <p:cNvPicPr/>
          <p:nvPr/>
        </p:nvPicPr>
        <p:blipFill>
          <a:blip r:embed="rId3" cstate="print"/>
          <a:stretch>
            <a:fillRect/>
          </a:stretch>
        </p:blipFill>
        <p:spPr>
          <a:xfrm>
            <a:off x="7348057" y="1690688"/>
            <a:ext cx="4802731" cy="3236786"/>
          </a:xfrm>
          <a:prstGeom prst="rect">
            <a:avLst/>
          </a:prstGeom>
        </p:spPr>
      </p:pic>
      <p:sp>
        <p:nvSpPr>
          <p:cNvPr id="4" name="object 4"/>
          <p:cNvSpPr txBox="1"/>
          <p:nvPr/>
        </p:nvSpPr>
        <p:spPr>
          <a:xfrm>
            <a:off x="83185" y="1602740"/>
            <a:ext cx="12023090" cy="5228590"/>
          </a:xfrm>
          <a:prstGeom prst="rect">
            <a:avLst/>
          </a:prstGeom>
        </p:spPr>
        <p:txBody>
          <a:bodyPr vert="horz" wrap="square" lIns="0" tIns="13970" rIns="0" bIns="0" rtlCol="0">
            <a:spAutoFit/>
          </a:bodyPr>
          <a:lstStyle/>
          <a:p>
            <a:pPr marL="328295" marR="4789805" indent="-206375" algn="just">
              <a:lnSpc>
                <a:spcPct val="99400"/>
              </a:lnSpc>
              <a:spcBef>
                <a:spcPts val="110"/>
              </a:spcBef>
              <a:buAutoNum type="arabicPeriod"/>
              <a:tabLst>
                <a:tab pos="328295" algn="l"/>
              </a:tabLst>
            </a:pPr>
            <a:r>
              <a:rPr sz="1800" b="1" dirty="0">
                <a:solidFill>
                  <a:srgbClr val="C00000"/>
                </a:solidFill>
                <a:latin typeface="Calibri"/>
                <a:cs typeface="Calibri"/>
              </a:rPr>
              <a:t>Forming.</a:t>
            </a:r>
            <a:r>
              <a:rPr sz="1800" b="1" spc="170" dirty="0">
                <a:solidFill>
                  <a:srgbClr val="C00000"/>
                </a:solidFill>
                <a:latin typeface="Calibri"/>
                <a:cs typeface="Calibri"/>
              </a:rPr>
              <a:t> </a:t>
            </a:r>
            <a:r>
              <a:rPr sz="1800" dirty="0">
                <a:latin typeface="Calibri"/>
                <a:cs typeface="Calibri"/>
              </a:rPr>
              <a:t>The</a:t>
            </a:r>
            <a:r>
              <a:rPr sz="1800" spc="180" dirty="0">
                <a:latin typeface="Calibri"/>
                <a:cs typeface="Calibri"/>
              </a:rPr>
              <a:t> </a:t>
            </a:r>
            <a:r>
              <a:rPr sz="1800" dirty="0">
                <a:latin typeface="Calibri"/>
                <a:cs typeface="Calibri"/>
              </a:rPr>
              <a:t>members</a:t>
            </a:r>
            <a:r>
              <a:rPr sz="1800" spc="175" dirty="0">
                <a:latin typeface="Calibri"/>
                <a:cs typeface="Calibri"/>
              </a:rPr>
              <a:t> </a:t>
            </a:r>
            <a:r>
              <a:rPr sz="1800" dirty="0">
                <a:latin typeface="Calibri"/>
                <a:cs typeface="Calibri"/>
              </a:rPr>
              <a:t>get</a:t>
            </a:r>
            <a:r>
              <a:rPr sz="1800" spc="180" dirty="0">
                <a:latin typeface="Calibri"/>
                <a:cs typeface="Calibri"/>
              </a:rPr>
              <a:t> </a:t>
            </a:r>
            <a:r>
              <a:rPr sz="1800" dirty="0">
                <a:latin typeface="Calibri"/>
                <a:cs typeface="Calibri"/>
              </a:rPr>
              <a:t>acquainted</a:t>
            </a:r>
            <a:r>
              <a:rPr sz="1800" spc="185" dirty="0">
                <a:latin typeface="Calibri"/>
                <a:cs typeface="Calibri"/>
              </a:rPr>
              <a:t> </a:t>
            </a:r>
            <a:r>
              <a:rPr sz="1800" dirty="0">
                <a:latin typeface="Calibri"/>
                <a:cs typeface="Calibri"/>
              </a:rPr>
              <a:t>with</a:t>
            </a:r>
            <a:r>
              <a:rPr sz="1800" spc="180" dirty="0">
                <a:latin typeface="Calibri"/>
                <a:cs typeface="Calibri"/>
              </a:rPr>
              <a:t> </a:t>
            </a:r>
            <a:r>
              <a:rPr sz="1800" dirty="0">
                <a:latin typeface="Calibri"/>
                <a:cs typeface="Calibri"/>
              </a:rPr>
              <a:t>each</a:t>
            </a:r>
            <a:r>
              <a:rPr sz="1800" spc="180" dirty="0">
                <a:latin typeface="Calibri"/>
                <a:cs typeface="Calibri"/>
              </a:rPr>
              <a:t> </a:t>
            </a:r>
            <a:r>
              <a:rPr sz="1800" dirty="0">
                <a:latin typeface="Calibri"/>
                <a:cs typeface="Calibri"/>
              </a:rPr>
              <a:t>other</a:t>
            </a:r>
            <a:r>
              <a:rPr sz="1800" spc="180" dirty="0">
                <a:latin typeface="Calibri"/>
                <a:cs typeface="Calibri"/>
              </a:rPr>
              <a:t> </a:t>
            </a:r>
            <a:r>
              <a:rPr sz="1800" dirty="0">
                <a:latin typeface="Calibri"/>
                <a:cs typeface="Calibri"/>
              </a:rPr>
              <a:t>and</a:t>
            </a:r>
            <a:r>
              <a:rPr sz="1800" spc="180" dirty="0">
                <a:latin typeface="Calibri"/>
                <a:cs typeface="Calibri"/>
              </a:rPr>
              <a:t> </a:t>
            </a:r>
            <a:r>
              <a:rPr sz="1800" spc="-10" dirty="0">
                <a:latin typeface="Calibri"/>
                <a:cs typeface="Calibri"/>
              </a:rPr>
              <a:t>understand </a:t>
            </a:r>
            <a:r>
              <a:rPr sz="1800" dirty="0">
                <a:latin typeface="Calibri"/>
                <a:cs typeface="Calibri"/>
              </a:rPr>
              <a:t>the</a:t>
            </a:r>
            <a:r>
              <a:rPr sz="1800" spc="70" dirty="0">
                <a:latin typeface="Calibri"/>
                <a:cs typeface="Calibri"/>
              </a:rPr>
              <a:t> </a:t>
            </a:r>
            <a:r>
              <a:rPr sz="1800" dirty="0">
                <a:latin typeface="Calibri"/>
                <a:cs typeface="Calibri"/>
              </a:rPr>
              <a:t>scope</a:t>
            </a:r>
            <a:r>
              <a:rPr sz="1800" spc="75" dirty="0">
                <a:latin typeface="Calibri"/>
                <a:cs typeface="Calibri"/>
              </a:rPr>
              <a:t> </a:t>
            </a:r>
            <a:r>
              <a:rPr sz="1800" dirty="0">
                <a:latin typeface="Calibri"/>
                <a:cs typeface="Calibri"/>
              </a:rPr>
              <a:t>of</a:t>
            </a:r>
            <a:r>
              <a:rPr sz="1800" spc="70" dirty="0">
                <a:latin typeface="Calibri"/>
                <a:cs typeface="Calibri"/>
              </a:rPr>
              <a:t> </a:t>
            </a:r>
            <a:r>
              <a:rPr sz="1800" dirty="0">
                <a:latin typeface="Calibri"/>
                <a:cs typeface="Calibri"/>
              </a:rPr>
              <a:t>the</a:t>
            </a:r>
            <a:r>
              <a:rPr sz="1800" spc="75" dirty="0">
                <a:latin typeface="Calibri"/>
                <a:cs typeface="Calibri"/>
              </a:rPr>
              <a:t> </a:t>
            </a:r>
            <a:r>
              <a:rPr sz="1800" dirty="0">
                <a:latin typeface="Calibri"/>
                <a:cs typeface="Calibri"/>
              </a:rPr>
              <a:t>project.</a:t>
            </a:r>
            <a:r>
              <a:rPr sz="1800" spc="65" dirty="0">
                <a:latin typeface="Calibri"/>
                <a:cs typeface="Calibri"/>
              </a:rPr>
              <a:t> </a:t>
            </a:r>
            <a:r>
              <a:rPr sz="1800" dirty="0">
                <a:latin typeface="Calibri"/>
                <a:cs typeface="Calibri"/>
              </a:rPr>
              <a:t>It</a:t>
            </a:r>
            <a:r>
              <a:rPr sz="1800" spc="65" dirty="0">
                <a:latin typeface="Calibri"/>
                <a:cs typeface="Calibri"/>
              </a:rPr>
              <a:t> </a:t>
            </a:r>
            <a:r>
              <a:rPr sz="1800" dirty="0">
                <a:latin typeface="Calibri"/>
                <a:cs typeface="Calibri"/>
              </a:rPr>
              <a:t>is</a:t>
            </a:r>
            <a:r>
              <a:rPr sz="1800" spc="65" dirty="0">
                <a:latin typeface="Calibri"/>
                <a:cs typeface="Calibri"/>
              </a:rPr>
              <a:t> </a:t>
            </a:r>
            <a:r>
              <a:rPr sz="1800" dirty="0">
                <a:latin typeface="Calibri"/>
                <a:cs typeface="Calibri"/>
              </a:rPr>
              <a:t>completed</a:t>
            </a:r>
            <a:r>
              <a:rPr sz="1800" spc="75" dirty="0">
                <a:latin typeface="Calibri"/>
                <a:cs typeface="Calibri"/>
              </a:rPr>
              <a:t> </a:t>
            </a:r>
            <a:r>
              <a:rPr sz="1800" dirty="0">
                <a:latin typeface="Calibri"/>
                <a:cs typeface="Calibri"/>
              </a:rPr>
              <a:t>once</a:t>
            </a:r>
            <a:r>
              <a:rPr sz="1800" spc="70" dirty="0">
                <a:latin typeface="Calibri"/>
                <a:cs typeface="Calibri"/>
              </a:rPr>
              <a:t> </a:t>
            </a:r>
            <a:r>
              <a:rPr sz="1800" dirty="0">
                <a:latin typeface="Calibri"/>
                <a:cs typeface="Calibri"/>
              </a:rPr>
              <a:t>members</a:t>
            </a:r>
            <a:r>
              <a:rPr sz="1800" spc="70" dirty="0">
                <a:latin typeface="Calibri"/>
                <a:cs typeface="Calibri"/>
              </a:rPr>
              <a:t> </a:t>
            </a:r>
            <a:r>
              <a:rPr sz="1800" dirty="0">
                <a:latin typeface="Calibri"/>
                <a:cs typeface="Calibri"/>
              </a:rPr>
              <a:t>begin</a:t>
            </a:r>
            <a:r>
              <a:rPr sz="1800" spc="75" dirty="0">
                <a:latin typeface="Calibri"/>
                <a:cs typeface="Calibri"/>
              </a:rPr>
              <a:t> </a:t>
            </a:r>
            <a:r>
              <a:rPr sz="1800" dirty="0">
                <a:latin typeface="Calibri"/>
                <a:cs typeface="Calibri"/>
              </a:rPr>
              <a:t>to</a:t>
            </a:r>
            <a:r>
              <a:rPr sz="1800" spc="70" dirty="0">
                <a:latin typeface="Calibri"/>
                <a:cs typeface="Calibri"/>
              </a:rPr>
              <a:t> </a:t>
            </a:r>
            <a:r>
              <a:rPr sz="1800" dirty="0">
                <a:latin typeface="Calibri"/>
                <a:cs typeface="Calibri"/>
              </a:rPr>
              <a:t>think</a:t>
            </a:r>
            <a:r>
              <a:rPr sz="1800" spc="60" dirty="0">
                <a:latin typeface="Calibri"/>
                <a:cs typeface="Calibri"/>
              </a:rPr>
              <a:t> </a:t>
            </a:r>
            <a:r>
              <a:rPr sz="1800" spc="-25" dirty="0">
                <a:latin typeface="Calibri"/>
                <a:cs typeface="Calibri"/>
              </a:rPr>
              <a:t>of </a:t>
            </a:r>
            <a:r>
              <a:rPr sz="1800" dirty="0">
                <a:latin typeface="Calibri"/>
                <a:cs typeface="Calibri"/>
              </a:rPr>
              <a:t>themselves</a:t>
            </a:r>
            <a:r>
              <a:rPr sz="1800" spc="-35" dirty="0">
                <a:latin typeface="Calibri"/>
                <a:cs typeface="Calibri"/>
              </a:rPr>
              <a:t> </a:t>
            </a:r>
            <a:r>
              <a:rPr sz="1800" dirty="0">
                <a:latin typeface="Calibri"/>
                <a:cs typeface="Calibri"/>
              </a:rPr>
              <a:t>as</a:t>
            </a:r>
            <a:r>
              <a:rPr sz="1800" spc="-25" dirty="0">
                <a:latin typeface="Calibri"/>
                <a:cs typeface="Calibri"/>
              </a:rPr>
              <a:t> </a:t>
            </a:r>
            <a:r>
              <a:rPr sz="1800" dirty="0">
                <a:latin typeface="Calibri"/>
                <a:cs typeface="Calibri"/>
              </a:rPr>
              <a:t>part</a:t>
            </a:r>
            <a:r>
              <a:rPr sz="1800" spc="-25" dirty="0">
                <a:latin typeface="Calibri"/>
                <a:cs typeface="Calibri"/>
              </a:rPr>
              <a:t> </a:t>
            </a:r>
            <a:r>
              <a:rPr sz="1800" dirty="0">
                <a:latin typeface="Calibri"/>
                <a:cs typeface="Calibri"/>
              </a:rPr>
              <a:t>of</a:t>
            </a:r>
            <a:r>
              <a:rPr sz="1800" spc="-20" dirty="0">
                <a:latin typeface="Calibri"/>
                <a:cs typeface="Calibri"/>
              </a:rPr>
              <a:t> </a:t>
            </a:r>
            <a:r>
              <a:rPr sz="1800" dirty="0">
                <a:latin typeface="Calibri"/>
                <a:cs typeface="Calibri"/>
              </a:rPr>
              <a:t>a</a:t>
            </a:r>
            <a:r>
              <a:rPr sz="1800" spc="-25" dirty="0">
                <a:latin typeface="Calibri"/>
                <a:cs typeface="Calibri"/>
              </a:rPr>
              <a:t> </a:t>
            </a:r>
            <a:r>
              <a:rPr sz="1800" spc="-10" dirty="0">
                <a:latin typeface="Calibri"/>
                <a:cs typeface="Calibri"/>
              </a:rPr>
              <a:t>group.</a:t>
            </a:r>
            <a:endParaRPr sz="1800" dirty="0">
              <a:latin typeface="Calibri"/>
              <a:cs typeface="Calibri"/>
            </a:endParaRPr>
          </a:p>
          <a:p>
            <a:pPr marL="328295" marR="4789170" indent="-206375" algn="just">
              <a:lnSpc>
                <a:spcPct val="98900"/>
              </a:lnSpc>
              <a:spcBef>
                <a:spcPts val="50"/>
              </a:spcBef>
              <a:buAutoNum type="arabicPeriod"/>
              <a:tabLst>
                <a:tab pos="328295" algn="l"/>
              </a:tabLst>
            </a:pPr>
            <a:r>
              <a:rPr sz="1800" b="1" dirty="0">
                <a:solidFill>
                  <a:srgbClr val="C00000"/>
                </a:solidFill>
                <a:latin typeface="Calibri"/>
                <a:cs typeface="Calibri"/>
              </a:rPr>
              <a:t>Storming.</a:t>
            </a:r>
            <a:r>
              <a:rPr sz="1800" b="1" spc="310" dirty="0">
                <a:solidFill>
                  <a:srgbClr val="C00000"/>
                </a:solidFill>
                <a:latin typeface="Calibri"/>
                <a:cs typeface="Calibri"/>
              </a:rPr>
              <a:t> </a:t>
            </a:r>
            <a:r>
              <a:rPr sz="1800" dirty="0">
                <a:latin typeface="Calibri"/>
                <a:cs typeface="Calibri"/>
              </a:rPr>
              <a:t>It</a:t>
            </a:r>
            <a:r>
              <a:rPr sz="1800" spc="315" dirty="0">
                <a:latin typeface="Calibri"/>
                <a:cs typeface="Calibri"/>
              </a:rPr>
              <a:t> </a:t>
            </a:r>
            <a:r>
              <a:rPr sz="1800" dirty="0">
                <a:latin typeface="Calibri"/>
                <a:cs typeface="Calibri"/>
              </a:rPr>
              <a:t>is</a:t>
            </a:r>
            <a:r>
              <a:rPr sz="1800" spc="315" dirty="0">
                <a:latin typeface="Calibri"/>
                <a:cs typeface="Calibri"/>
              </a:rPr>
              <a:t> </a:t>
            </a:r>
            <a:r>
              <a:rPr sz="1800" dirty="0">
                <a:latin typeface="Calibri"/>
                <a:cs typeface="Calibri"/>
              </a:rPr>
              <a:t>marked</a:t>
            </a:r>
            <a:r>
              <a:rPr sz="1800" spc="320" dirty="0">
                <a:latin typeface="Calibri"/>
                <a:cs typeface="Calibri"/>
              </a:rPr>
              <a:t> </a:t>
            </a:r>
            <a:r>
              <a:rPr sz="1800" dirty="0">
                <a:latin typeface="Calibri"/>
                <a:cs typeface="Calibri"/>
              </a:rPr>
              <a:t>by</a:t>
            </a:r>
            <a:r>
              <a:rPr sz="1800" spc="315" dirty="0">
                <a:latin typeface="Calibri"/>
                <a:cs typeface="Calibri"/>
              </a:rPr>
              <a:t> </a:t>
            </a:r>
            <a:r>
              <a:rPr sz="1800" dirty="0">
                <a:latin typeface="Calibri"/>
                <a:cs typeface="Calibri"/>
              </a:rPr>
              <a:t>a</a:t>
            </a:r>
            <a:r>
              <a:rPr sz="1800" spc="320" dirty="0">
                <a:latin typeface="Calibri"/>
                <a:cs typeface="Calibri"/>
              </a:rPr>
              <a:t> </a:t>
            </a:r>
            <a:r>
              <a:rPr sz="1800" dirty="0">
                <a:latin typeface="Calibri"/>
                <a:cs typeface="Calibri"/>
              </a:rPr>
              <a:t>high</a:t>
            </a:r>
            <a:r>
              <a:rPr sz="1800" spc="325" dirty="0">
                <a:latin typeface="Calibri"/>
                <a:cs typeface="Calibri"/>
              </a:rPr>
              <a:t> </a:t>
            </a:r>
            <a:r>
              <a:rPr sz="1800" dirty="0">
                <a:latin typeface="Calibri"/>
                <a:cs typeface="Calibri"/>
              </a:rPr>
              <a:t>degree</a:t>
            </a:r>
            <a:r>
              <a:rPr sz="1800" spc="325" dirty="0">
                <a:latin typeface="Calibri"/>
                <a:cs typeface="Calibri"/>
              </a:rPr>
              <a:t> </a:t>
            </a:r>
            <a:r>
              <a:rPr sz="1800" dirty="0">
                <a:latin typeface="Calibri"/>
                <a:cs typeface="Calibri"/>
              </a:rPr>
              <a:t>of</a:t>
            </a:r>
            <a:r>
              <a:rPr sz="1800" spc="325" dirty="0">
                <a:latin typeface="Calibri"/>
                <a:cs typeface="Calibri"/>
              </a:rPr>
              <a:t> </a:t>
            </a:r>
            <a:r>
              <a:rPr sz="1800" dirty="0">
                <a:latin typeface="Calibri"/>
                <a:cs typeface="Calibri"/>
              </a:rPr>
              <a:t>internal</a:t>
            </a:r>
            <a:r>
              <a:rPr sz="1800" spc="320" dirty="0">
                <a:latin typeface="Calibri"/>
                <a:cs typeface="Calibri"/>
              </a:rPr>
              <a:t> </a:t>
            </a:r>
            <a:r>
              <a:rPr sz="1800" dirty="0">
                <a:latin typeface="Calibri"/>
                <a:cs typeface="Calibri"/>
              </a:rPr>
              <a:t>conflict.</a:t>
            </a:r>
            <a:r>
              <a:rPr sz="1800" spc="315" dirty="0">
                <a:latin typeface="Calibri"/>
                <a:cs typeface="Calibri"/>
              </a:rPr>
              <a:t> </a:t>
            </a:r>
            <a:r>
              <a:rPr sz="1800" spc="-10" dirty="0">
                <a:latin typeface="Calibri"/>
                <a:cs typeface="Calibri"/>
              </a:rPr>
              <a:t>Members </a:t>
            </a:r>
            <a:r>
              <a:rPr sz="1800" dirty="0">
                <a:latin typeface="Calibri"/>
                <a:cs typeface="Calibri"/>
              </a:rPr>
              <a:t>accept</a:t>
            </a:r>
            <a:r>
              <a:rPr sz="1800" spc="45" dirty="0">
                <a:latin typeface="Calibri"/>
                <a:cs typeface="Calibri"/>
              </a:rPr>
              <a:t> </a:t>
            </a:r>
            <a:r>
              <a:rPr sz="1800" dirty="0">
                <a:latin typeface="Calibri"/>
                <a:cs typeface="Calibri"/>
              </a:rPr>
              <a:t>that</a:t>
            </a:r>
            <a:r>
              <a:rPr sz="1800" spc="45" dirty="0">
                <a:latin typeface="Calibri"/>
                <a:cs typeface="Calibri"/>
              </a:rPr>
              <a:t> </a:t>
            </a:r>
            <a:r>
              <a:rPr sz="1800" dirty="0">
                <a:latin typeface="Calibri"/>
                <a:cs typeface="Calibri"/>
              </a:rPr>
              <a:t>they</a:t>
            </a:r>
            <a:r>
              <a:rPr sz="1800" spc="45" dirty="0">
                <a:latin typeface="Calibri"/>
                <a:cs typeface="Calibri"/>
              </a:rPr>
              <a:t> </a:t>
            </a:r>
            <a:r>
              <a:rPr sz="1800" dirty="0">
                <a:latin typeface="Calibri"/>
                <a:cs typeface="Calibri"/>
              </a:rPr>
              <a:t>are</a:t>
            </a:r>
            <a:r>
              <a:rPr sz="1800" spc="55" dirty="0">
                <a:latin typeface="Calibri"/>
                <a:cs typeface="Calibri"/>
              </a:rPr>
              <a:t> </a:t>
            </a:r>
            <a:r>
              <a:rPr sz="1800" dirty="0">
                <a:latin typeface="Calibri"/>
                <a:cs typeface="Calibri"/>
              </a:rPr>
              <a:t>part</a:t>
            </a:r>
            <a:r>
              <a:rPr sz="1800" spc="5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a</a:t>
            </a:r>
            <a:r>
              <a:rPr sz="1800" spc="50" dirty="0">
                <a:latin typeface="Calibri"/>
                <a:cs typeface="Calibri"/>
              </a:rPr>
              <a:t> </a:t>
            </a:r>
            <a:r>
              <a:rPr sz="1800" dirty="0">
                <a:latin typeface="Calibri"/>
                <a:cs typeface="Calibri"/>
              </a:rPr>
              <a:t>project</a:t>
            </a:r>
            <a:r>
              <a:rPr sz="1800" spc="45" dirty="0">
                <a:latin typeface="Calibri"/>
                <a:cs typeface="Calibri"/>
              </a:rPr>
              <a:t> </a:t>
            </a:r>
            <a:r>
              <a:rPr sz="1800" dirty="0">
                <a:latin typeface="Calibri"/>
                <a:cs typeface="Calibri"/>
              </a:rPr>
              <a:t>group</a:t>
            </a:r>
            <a:r>
              <a:rPr sz="1800" spc="50" dirty="0">
                <a:latin typeface="Calibri"/>
                <a:cs typeface="Calibri"/>
              </a:rPr>
              <a:t> </a:t>
            </a:r>
            <a:r>
              <a:rPr sz="1800" dirty="0">
                <a:latin typeface="Calibri"/>
                <a:cs typeface="Calibri"/>
              </a:rPr>
              <a:t>but</a:t>
            </a:r>
            <a:r>
              <a:rPr sz="1800" spc="50" dirty="0">
                <a:latin typeface="Calibri"/>
                <a:cs typeface="Calibri"/>
              </a:rPr>
              <a:t> </a:t>
            </a:r>
            <a:r>
              <a:rPr sz="1800" dirty="0">
                <a:latin typeface="Calibri"/>
                <a:cs typeface="Calibri"/>
              </a:rPr>
              <a:t>resist</a:t>
            </a:r>
            <a:r>
              <a:rPr sz="1800" spc="45"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constraints</a:t>
            </a:r>
            <a:r>
              <a:rPr sz="1800" spc="45" dirty="0">
                <a:latin typeface="Calibri"/>
                <a:cs typeface="Calibri"/>
              </a:rPr>
              <a:t> </a:t>
            </a:r>
            <a:r>
              <a:rPr sz="1800" spc="-25" dirty="0">
                <a:latin typeface="Calibri"/>
                <a:cs typeface="Calibri"/>
              </a:rPr>
              <a:t>put </a:t>
            </a:r>
            <a:r>
              <a:rPr sz="1800" dirty="0">
                <a:latin typeface="Calibri"/>
                <a:cs typeface="Calibri"/>
              </a:rPr>
              <a:t>on</a:t>
            </a:r>
            <a:r>
              <a:rPr sz="1800" spc="-35" dirty="0">
                <a:latin typeface="Calibri"/>
                <a:cs typeface="Calibri"/>
              </a:rPr>
              <a:t> </a:t>
            </a:r>
            <a:r>
              <a:rPr sz="1800" dirty="0">
                <a:latin typeface="Calibri"/>
                <a:cs typeface="Calibri"/>
              </a:rPr>
              <a:t>their</a:t>
            </a:r>
            <a:r>
              <a:rPr sz="1800" spc="-35" dirty="0">
                <a:latin typeface="Calibri"/>
                <a:cs typeface="Calibri"/>
              </a:rPr>
              <a:t> </a:t>
            </a:r>
            <a:r>
              <a:rPr sz="1800" spc="-10" dirty="0">
                <a:latin typeface="Calibri"/>
                <a:cs typeface="Calibri"/>
              </a:rPr>
              <a:t>individuality.</a:t>
            </a:r>
            <a:r>
              <a:rPr sz="1800" spc="-40" dirty="0">
                <a:latin typeface="Calibri"/>
                <a:cs typeface="Calibri"/>
              </a:rPr>
              <a:t> </a:t>
            </a:r>
            <a:r>
              <a:rPr sz="1800" dirty="0">
                <a:latin typeface="Calibri"/>
                <a:cs typeface="Calibri"/>
              </a:rPr>
              <a:t>It</a:t>
            </a:r>
            <a:r>
              <a:rPr sz="1800" spc="-35"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completed</a:t>
            </a:r>
            <a:r>
              <a:rPr sz="1800" spc="-30" dirty="0">
                <a:latin typeface="Calibri"/>
                <a:cs typeface="Calibri"/>
              </a:rPr>
              <a:t> </a:t>
            </a:r>
            <a:r>
              <a:rPr sz="1800" dirty="0">
                <a:latin typeface="Calibri"/>
                <a:cs typeface="Calibri"/>
              </a:rPr>
              <a:t>once</a:t>
            </a:r>
            <a:r>
              <a:rPr sz="1800" spc="-30" dirty="0">
                <a:latin typeface="Calibri"/>
                <a:cs typeface="Calibri"/>
              </a:rPr>
              <a:t> </a:t>
            </a:r>
            <a:r>
              <a:rPr sz="1800" dirty="0">
                <a:latin typeface="Calibri"/>
                <a:cs typeface="Calibri"/>
              </a:rPr>
              <a:t>these</a:t>
            </a:r>
            <a:r>
              <a:rPr sz="1800" spc="-30" dirty="0">
                <a:latin typeface="Calibri"/>
                <a:cs typeface="Calibri"/>
              </a:rPr>
              <a:t> </a:t>
            </a:r>
            <a:r>
              <a:rPr sz="1800" dirty="0">
                <a:latin typeface="Calibri"/>
                <a:cs typeface="Calibri"/>
              </a:rPr>
              <a:t>conflicts</a:t>
            </a:r>
            <a:r>
              <a:rPr sz="1800" spc="-40" dirty="0">
                <a:latin typeface="Calibri"/>
                <a:cs typeface="Calibri"/>
              </a:rPr>
              <a:t> </a:t>
            </a:r>
            <a:r>
              <a:rPr sz="1800" dirty="0">
                <a:latin typeface="Calibri"/>
                <a:cs typeface="Calibri"/>
              </a:rPr>
              <a:t>are</a:t>
            </a:r>
            <a:r>
              <a:rPr sz="1800" spc="-35" dirty="0">
                <a:latin typeface="Calibri"/>
                <a:cs typeface="Calibri"/>
              </a:rPr>
              <a:t> </a:t>
            </a:r>
            <a:r>
              <a:rPr sz="1800" dirty="0">
                <a:latin typeface="Calibri"/>
                <a:cs typeface="Calibri"/>
              </a:rPr>
              <a:t>resolved</a:t>
            </a:r>
            <a:r>
              <a:rPr sz="1800" spc="-30" dirty="0">
                <a:latin typeface="Calibri"/>
                <a:cs typeface="Calibri"/>
              </a:rPr>
              <a:t> </a:t>
            </a:r>
            <a:r>
              <a:rPr sz="1800" spc="-25" dirty="0">
                <a:latin typeface="Calibri"/>
                <a:cs typeface="Calibri"/>
              </a:rPr>
              <a:t>and </a:t>
            </a:r>
            <a:r>
              <a:rPr sz="1800" dirty="0">
                <a:latin typeface="Calibri"/>
                <a:cs typeface="Calibri"/>
              </a:rPr>
              <a:t>the</a:t>
            </a:r>
            <a:r>
              <a:rPr sz="1800" spc="-70" dirty="0">
                <a:latin typeface="Calibri"/>
                <a:cs typeface="Calibri"/>
              </a:rPr>
              <a:t> </a:t>
            </a:r>
            <a:r>
              <a:rPr sz="1800" dirty="0">
                <a:latin typeface="Calibri"/>
                <a:cs typeface="Calibri"/>
              </a:rPr>
              <a:t>project</a:t>
            </a:r>
            <a:r>
              <a:rPr sz="1800" spc="-70" dirty="0">
                <a:latin typeface="Calibri"/>
                <a:cs typeface="Calibri"/>
              </a:rPr>
              <a:t> </a:t>
            </a:r>
            <a:r>
              <a:rPr sz="1800" dirty="0">
                <a:latin typeface="Calibri"/>
                <a:cs typeface="Calibri"/>
              </a:rPr>
              <a:t>manager’s</a:t>
            </a:r>
            <a:r>
              <a:rPr sz="1800" spc="-75" dirty="0">
                <a:latin typeface="Calibri"/>
                <a:cs typeface="Calibri"/>
              </a:rPr>
              <a:t> </a:t>
            </a:r>
            <a:r>
              <a:rPr sz="1800" dirty="0">
                <a:latin typeface="Calibri"/>
                <a:cs typeface="Calibri"/>
              </a:rPr>
              <a:t>leadership</a:t>
            </a:r>
            <a:r>
              <a:rPr sz="1800" spc="-65" dirty="0">
                <a:latin typeface="Calibri"/>
                <a:cs typeface="Calibri"/>
              </a:rPr>
              <a:t> </a:t>
            </a:r>
            <a:r>
              <a:rPr sz="1800" dirty="0">
                <a:latin typeface="Calibri"/>
                <a:cs typeface="Calibri"/>
              </a:rPr>
              <a:t>becomes</a:t>
            </a:r>
            <a:r>
              <a:rPr sz="1800" spc="-75" dirty="0">
                <a:latin typeface="Calibri"/>
                <a:cs typeface="Calibri"/>
              </a:rPr>
              <a:t> </a:t>
            </a:r>
            <a:r>
              <a:rPr sz="1800" spc="-10" dirty="0">
                <a:latin typeface="Calibri"/>
                <a:cs typeface="Calibri"/>
              </a:rPr>
              <a:t>accepted</a:t>
            </a:r>
            <a:endParaRPr sz="1800" dirty="0">
              <a:latin typeface="Calibri"/>
              <a:cs typeface="Calibri"/>
            </a:endParaRPr>
          </a:p>
          <a:p>
            <a:pPr marL="328295" marR="4789805" indent="-206375" algn="just">
              <a:lnSpc>
                <a:spcPct val="100400"/>
              </a:lnSpc>
              <a:spcBef>
                <a:spcPts val="40"/>
              </a:spcBef>
              <a:buAutoNum type="arabicPeriod"/>
              <a:tabLst>
                <a:tab pos="328295" algn="l"/>
              </a:tabLst>
            </a:pPr>
            <a:r>
              <a:rPr sz="1800" b="1" dirty="0">
                <a:solidFill>
                  <a:srgbClr val="C00000"/>
                </a:solidFill>
                <a:latin typeface="Calibri"/>
                <a:cs typeface="Calibri"/>
              </a:rPr>
              <a:t>Norming.</a:t>
            </a:r>
            <a:r>
              <a:rPr sz="1800" b="1" spc="175" dirty="0">
                <a:solidFill>
                  <a:srgbClr val="C00000"/>
                </a:solidFill>
                <a:latin typeface="Calibri"/>
                <a:cs typeface="Calibri"/>
              </a:rPr>
              <a:t>  </a:t>
            </a:r>
            <a:r>
              <a:rPr sz="1800" dirty="0">
                <a:latin typeface="Calibri"/>
                <a:cs typeface="Calibri"/>
              </a:rPr>
              <a:t>Close</a:t>
            </a:r>
            <a:r>
              <a:rPr sz="1800" spc="180" dirty="0">
                <a:latin typeface="Calibri"/>
                <a:cs typeface="Calibri"/>
              </a:rPr>
              <a:t>  </a:t>
            </a:r>
            <a:r>
              <a:rPr sz="1800" dirty="0">
                <a:latin typeface="Calibri"/>
                <a:cs typeface="Calibri"/>
              </a:rPr>
              <a:t>relationships</a:t>
            </a:r>
            <a:r>
              <a:rPr sz="1800" spc="175" dirty="0">
                <a:latin typeface="Calibri"/>
                <a:cs typeface="Calibri"/>
              </a:rPr>
              <a:t>  </a:t>
            </a:r>
            <a:r>
              <a:rPr sz="1800" dirty="0">
                <a:latin typeface="Calibri"/>
                <a:cs typeface="Calibri"/>
              </a:rPr>
              <a:t>develop</a:t>
            </a:r>
            <a:r>
              <a:rPr sz="1800" spc="180" dirty="0">
                <a:latin typeface="Calibri"/>
                <a:cs typeface="Calibri"/>
              </a:rPr>
              <a:t>  </a:t>
            </a:r>
            <a:r>
              <a:rPr sz="1800" dirty="0">
                <a:latin typeface="Calibri"/>
                <a:cs typeface="Calibri"/>
              </a:rPr>
              <a:t>and</a:t>
            </a:r>
            <a:r>
              <a:rPr sz="1800" spc="180" dirty="0">
                <a:latin typeface="Calibri"/>
                <a:cs typeface="Calibri"/>
              </a:rPr>
              <a:t>  </a:t>
            </a:r>
            <a:r>
              <a:rPr sz="1800" dirty="0">
                <a:latin typeface="Calibri"/>
                <a:cs typeface="Calibri"/>
              </a:rPr>
              <a:t>the</a:t>
            </a:r>
            <a:r>
              <a:rPr sz="1800" spc="185" dirty="0">
                <a:latin typeface="Calibri"/>
                <a:cs typeface="Calibri"/>
              </a:rPr>
              <a:t>  </a:t>
            </a:r>
            <a:r>
              <a:rPr sz="1800" dirty="0">
                <a:latin typeface="Calibri"/>
                <a:cs typeface="Calibri"/>
              </a:rPr>
              <a:t>group</a:t>
            </a:r>
            <a:r>
              <a:rPr sz="1800" spc="180" dirty="0">
                <a:latin typeface="Calibri"/>
                <a:cs typeface="Calibri"/>
              </a:rPr>
              <a:t>  </a:t>
            </a:r>
            <a:r>
              <a:rPr sz="1800" spc="-10" dirty="0">
                <a:latin typeface="Calibri"/>
                <a:cs typeface="Calibri"/>
              </a:rPr>
              <a:t>demonstrates </a:t>
            </a:r>
            <a:r>
              <a:rPr sz="1800" dirty="0">
                <a:latin typeface="Calibri"/>
                <a:cs typeface="Calibri"/>
              </a:rPr>
              <a:t>cohesiveness.</a:t>
            </a:r>
            <a:r>
              <a:rPr sz="1800" spc="180" dirty="0">
                <a:latin typeface="Calibri"/>
                <a:cs typeface="Calibri"/>
              </a:rPr>
              <a:t>  </a:t>
            </a:r>
            <a:r>
              <a:rPr sz="1800" dirty="0">
                <a:latin typeface="Calibri"/>
                <a:cs typeface="Calibri"/>
              </a:rPr>
              <a:t>Feelings</a:t>
            </a:r>
            <a:r>
              <a:rPr sz="1800" spc="185" dirty="0">
                <a:latin typeface="Calibri"/>
                <a:cs typeface="Calibri"/>
              </a:rPr>
              <a:t>  </a:t>
            </a:r>
            <a:r>
              <a:rPr sz="1800" dirty="0">
                <a:latin typeface="Calibri"/>
                <a:cs typeface="Calibri"/>
              </a:rPr>
              <a:t>of</a:t>
            </a:r>
            <a:r>
              <a:rPr sz="1800" spc="185" dirty="0">
                <a:latin typeface="Calibri"/>
                <a:cs typeface="Calibri"/>
              </a:rPr>
              <a:t>  </a:t>
            </a:r>
            <a:r>
              <a:rPr sz="1800" dirty="0">
                <a:latin typeface="Calibri"/>
                <a:cs typeface="Calibri"/>
              </a:rPr>
              <a:t>shared</a:t>
            </a:r>
            <a:r>
              <a:rPr sz="1800" spc="190" dirty="0">
                <a:latin typeface="Calibri"/>
                <a:cs typeface="Calibri"/>
              </a:rPr>
              <a:t>  </a:t>
            </a:r>
            <a:r>
              <a:rPr sz="1800" dirty="0">
                <a:latin typeface="Calibri"/>
                <a:cs typeface="Calibri"/>
              </a:rPr>
              <a:t>responsibility</a:t>
            </a:r>
            <a:r>
              <a:rPr sz="1800" spc="185" dirty="0">
                <a:latin typeface="Calibri"/>
                <a:cs typeface="Calibri"/>
              </a:rPr>
              <a:t>  </a:t>
            </a:r>
            <a:r>
              <a:rPr sz="1800" dirty="0">
                <a:latin typeface="Calibri"/>
                <a:cs typeface="Calibri"/>
              </a:rPr>
              <a:t>for</a:t>
            </a:r>
            <a:r>
              <a:rPr sz="1800" spc="185" dirty="0">
                <a:latin typeface="Calibri"/>
                <a:cs typeface="Calibri"/>
              </a:rPr>
              <a:t>  </a:t>
            </a:r>
            <a:r>
              <a:rPr sz="1800" dirty="0">
                <a:latin typeface="Calibri"/>
                <a:cs typeface="Calibri"/>
              </a:rPr>
              <a:t>the</a:t>
            </a:r>
            <a:r>
              <a:rPr sz="1800" spc="185" dirty="0">
                <a:latin typeface="Calibri"/>
                <a:cs typeface="Calibri"/>
              </a:rPr>
              <a:t>  </a:t>
            </a:r>
            <a:r>
              <a:rPr sz="1800" dirty="0">
                <a:latin typeface="Calibri"/>
                <a:cs typeface="Calibri"/>
              </a:rPr>
              <a:t>project</a:t>
            </a:r>
            <a:r>
              <a:rPr sz="1800" spc="185" dirty="0">
                <a:latin typeface="Calibri"/>
                <a:cs typeface="Calibri"/>
              </a:rPr>
              <a:t>  </a:t>
            </a:r>
            <a:r>
              <a:rPr sz="1800" spc="-25" dirty="0">
                <a:latin typeface="Calibri"/>
                <a:cs typeface="Calibri"/>
              </a:rPr>
              <a:t>are </a:t>
            </a:r>
            <a:r>
              <a:rPr sz="1800" dirty="0">
                <a:latin typeface="Calibri"/>
                <a:cs typeface="Calibri"/>
              </a:rPr>
              <a:t>heightened.</a:t>
            </a:r>
            <a:r>
              <a:rPr sz="1800" spc="130" dirty="0">
                <a:latin typeface="Calibri"/>
                <a:cs typeface="Calibri"/>
              </a:rPr>
              <a:t> </a:t>
            </a:r>
            <a:r>
              <a:rPr sz="1800" dirty="0">
                <a:latin typeface="Calibri"/>
                <a:cs typeface="Calibri"/>
              </a:rPr>
              <a:t>It</a:t>
            </a:r>
            <a:r>
              <a:rPr sz="1800" spc="135" dirty="0">
                <a:latin typeface="Calibri"/>
                <a:cs typeface="Calibri"/>
              </a:rPr>
              <a:t> </a:t>
            </a:r>
            <a:r>
              <a:rPr sz="1800" dirty="0">
                <a:latin typeface="Calibri"/>
                <a:cs typeface="Calibri"/>
              </a:rPr>
              <a:t>is</a:t>
            </a:r>
            <a:r>
              <a:rPr sz="1800" spc="130" dirty="0">
                <a:latin typeface="Calibri"/>
                <a:cs typeface="Calibri"/>
              </a:rPr>
              <a:t> </a:t>
            </a:r>
            <a:r>
              <a:rPr sz="1800" dirty="0">
                <a:latin typeface="Calibri"/>
                <a:cs typeface="Calibri"/>
              </a:rPr>
              <a:t>complete</a:t>
            </a:r>
            <a:r>
              <a:rPr sz="1800" spc="145" dirty="0">
                <a:latin typeface="Calibri"/>
                <a:cs typeface="Calibri"/>
              </a:rPr>
              <a:t> </a:t>
            </a:r>
            <a:r>
              <a:rPr sz="1800" dirty="0">
                <a:latin typeface="Calibri"/>
                <a:cs typeface="Calibri"/>
              </a:rPr>
              <a:t>when</a:t>
            </a:r>
            <a:r>
              <a:rPr sz="1800" spc="140" dirty="0">
                <a:latin typeface="Calibri"/>
                <a:cs typeface="Calibri"/>
              </a:rPr>
              <a:t> </a:t>
            </a:r>
            <a:r>
              <a:rPr sz="1800" dirty="0">
                <a:latin typeface="Calibri"/>
                <a:cs typeface="Calibri"/>
              </a:rPr>
              <a:t>the</a:t>
            </a:r>
            <a:r>
              <a:rPr sz="1800" spc="145" dirty="0">
                <a:latin typeface="Calibri"/>
                <a:cs typeface="Calibri"/>
              </a:rPr>
              <a:t> </a:t>
            </a:r>
            <a:r>
              <a:rPr sz="1800" dirty="0">
                <a:latin typeface="Calibri"/>
                <a:cs typeface="Calibri"/>
              </a:rPr>
              <a:t>group</a:t>
            </a:r>
            <a:r>
              <a:rPr sz="1800" spc="135" dirty="0">
                <a:latin typeface="Calibri"/>
                <a:cs typeface="Calibri"/>
              </a:rPr>
              <a:t> </a:t>
            </a:r>
            <a:r>
              <a:rPr sz="1800" dirty="0">
                <a:latin typeface="Calibri"/>
                <a:cs typeface="Calibri"/>
              </a:rPr>
              <a:t>establishes</a:t>
            </a:r>
            <a:r>
              <a:rPr sz="1800" spc="135"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common</a:t>
            </a:r>
            <a:r>
              <a:rPr sz="1800" spc="140" dirty="0">
                <a:latin typeface="Calibri"/>
                <a:cs typeface="Calibri"/>
              </a:rPr>
              <a:t> </a:t>
            </a:r>
            <a:r>
              <a:rPr sz="1800" dirty="0">
                <a:latin typeface="Calibri"/>
                <a:cs typeface="Calibri"/>
              </a:rPr>
              <a:t>set</a:t>
            </a:r>
            <a:r>
              <a:rPr sz="1800" spc="135" dirty="0">
                <a:latin typeface="Calibri"/>
                <a:cs typeface="Calibri"/>
              </a:rPr>
              <a:t> </a:t>
            </a:r>
            <a:r>
              <a:rPr sz="1800" spc="-25" dirty="0">
                <a:latin typeface="Calibri"/>
                <a:cs typeface="Calibri"/>
              </a:rPr>
              <a:t>of </a:t>
            </a:r>
            <a:r>
              <a:rPr sz="1800" spc="-10" dirty="0">
                <a:latin typeface="Calibri"/>
                <a:cs typeface="Calibri"/>
              </a:rPr>
              <a:t>expectations</a:t>
            </a:r>
            <a:r>
              <a:rPr sz="1800" spc="-50" dirty="0">
                <a:latin typeface="Calibri"/>
                <a:cs typeface="Calibri"/>
              </a:rPr>
              <a:t> </a:t>
            </a:r>
            <a:r>
              <a:rPr sz="1800" dirty="0">
                <a:latin typeface="Calibri"/>
                <a:cs typeface="Calibri"/>
              </a:rPr>
              <a:t>about</a:t>
            </a:r>
            <a:r>
              <a:rPr sz="1800" spc="-50" dirty="0">
                <a:latin typeface="Calibri"/>
                <a:cs typeface="Calibri"/>
              </a:rPr>
              <a:t> </a:t>
            </a:r>
            <a:r>
              <a:rPr sz="1800" dirty="0">
                <a:latin typeface="Calibri"/>
                <a:cs typeface="Calibri"/>
              </a:rPr>
              <a:t>how</a:t>
            </a:r>
            <a:r>
              <a:rPr sz="1800" spc="-45" dirty="0">
                <a:latin typeface="Calibri"/>
                <a:cs typeface="Calibri"/>
              </a:rPr>
              <a:t> </a:t>
            </a:r>
            <a:r>
              <a:rPr sz="1800" dirty="0">
                <a:latin typeface="Calibri"/>
                <a:cs typeface="Calibri"/>
              </a:rPr>
              <a:t>members</a:t>
            </a:r>
            <a:r>
              <a:rPr sz="1800" spc="-50" dirty="0">
                <a:latin typeface="Calibri"/>
                <a:cs typeface="Calibri"/>
              </a:rPr>
              <a:t> </a:t>
            </a:r>
            <a:r>
              <a:rPr sz="1800" dirty="0">
                <a:latin typeface="Calibri"/>
                <a:cs typeface="Calibri"/>
              </a:rPr>
              <a:t>should</a:t>
            </a:r>
            <a:r>
              <a:rPr sz="1800" spc="-40" dirty="0">
                <a:latin typeface="Calibri"/>
                <a:cs typeface="Calibri"/>
              </a:rPr>
              <a:t> </a:t>
            </a:r>
            <a:r>
              <a:rPr sz="1800" dirty="0">
                <a:latin typeface="Calibri"/>
                <a:cs typeface="Calibri"/>
              </a:rPr>
              <a:t>work</a:t>
            </a:r>
            <a:r>
              <a:rPr sz="1800" spc="-50" dirty="0">
                <a:latin typeface="Calibri"/>
                <a:cs typeface="Calibri"/>
              </a:rPr>
              <a:t> </a:t>
            </a:r>
            <a:r>
              <a:rPr sz="1800" spc="-10" dirty="0">
                <a:latin typeface="Calibri"/>
                <a:cs typeface="Calibri"/>
              </a:rPr>
              <a:t>together.</a:t>
            </a:r>
            <a:endParaRPr sz="1800" dirty="0">
              <a:latin typeface="Calibri"/>
              <a:cs typeface="Calibri"/>
            </a:endParaRPr>
          </a:p>
          <a:p>
            <a:pPr marL="328295" indent="-206375" algn="just">
              <a:lnSpc>
                <a:spcPts val="2090"/>
              </a:lnSpc>
              <a:buAutoNum type="arabicPeriod"/>
              <a:tabLst>
                <a:tab pos="328295" algn="l"/>
              </a:tabLst>
            </a:pPr>
            <a:r>
              <a:rPr sz="1800" b="1" dirty="0">
                <a:solidFill>
                  <a:srgbClr val="C00000"/>
                </a:solidFill>
                <a:latin typeface="Calibri"/>
                <a:cs typeface="Calibri"/>
              </a:rPr>
              <a:t>Performing.</a:t>
            </a:r>
            <a:r>
              <a:rPr sz="1800" b="1" spc="95" dirty="0">
                <a:solidFill>
                  <a:srgbClr val="C00000"/>
                </a:solidFill>
                <a:latin typeface="Calibri"/>
                <a:cs typeface="Calibri"/>
              </a:rPr>
              <a:t> </a:t>
            </a:r>
            <a:r>
              <a:rPr sz="1800" dirty="0">
                <a:latin typeface="Calibri"/>
                <a:cs typeface="Calibri"/>
              </a:rPr>
              <a:t>The</a:t>
            </a:r>
            <a:r>
              <a:rPr sz="1800" spc="110" dirty="0">
                <a:latin typeface="Calibri"/>
                <a:cs typeface="Calibri"/>
              </a:rPr>
              <a:t> </a:t>
            </a:r>
            <a:r>
              <a:rPr sz="1800" dirty="0">
                <a:latin typeface="Calibri"/>
                <a:cs typeface="Calibri"/>
              </a:rPr>
              <a:t>team</a:t>
            </a:r>
            <a:r>
              <a:rPr sz="1800" spc="105" dirty="0">
                <a:latin typeface="Calibri"/>
                <a:cs typeface="Calibri"/>
              </a:rPr>
              <a:t> </a:t>
            </a:r>
            <a:r>
              <a:rPr sz="1800" dirty="0">
                <a:latin typeface="Calibri"/>
                <a:cs typeface="Calibri"/>
              </a:rPr>
              <a:t>operating</a:t>
            </a:r>
            <a:r>
              <a:rPr sz="1800" spc="110" dirty="0">
                <a:latin typeface="Calibri"/>
                <a:cs typeface="Calibri"/>
              </a:rPr>
              <a:t> </a:t>
            </a:r>
            <a:r>
              <a:rPr sz="1800" dirty="0">
                <a:latin typeface="Calibri"/>
                <a:cs typeface="Calibri"/>
              </a:rPr>
              <a:t>structure</a:t>
            </a:r>
            <a:r>
              <a:rPr sz="1800" spc="110" dirty="0">
                <a:latin typeface="Calibri"/>
                <a:cs typeface="Calibri"/>
              </a:rPr>
              <a:t> </a:t>
            </a:r>
            <a:r>
              <a:rPr sz="1800" dirty="0">
                <a:latin typeface="Calibri"/>
                <a:cs typeface="Calibri"/>
              </a:rPr>
              <a:t>at</a:t>
            </a:r>
            <a:r>
              <a:rPr sz="1800" spc="105" dirty="0">
                <a:latin typeface="Calibri"/>
                <a:cs typeface="Calibri"/>
              </a:rPr>
              <a:t> </a:t>
            </a:r>
            <a:r>
              <a:rPr sz="1800" dirty="0">
                <a:latin typeface="Calibri"/>
                <a:cs typeface="Calibri"/>
              </a:rPr>
              <a:t>this</a:t>
            </a:r>
            <a:r>
              <a:rPr sz="1800" spc="100" dirty="0">
                <a:latin typeface="Calibri"/>
                <a:cs typeface="Calibri"/>
              </a:rPr>
              <a:t> </a:t>
            </a:r>
            <a:r>
              <a:rPr sz="1800" dirty="0">
                <a:latin typeface="Calibri"/>
                <a:cs typeface="Calibri"/>
              </a:rPr>
              <a:t>point</a:t>
            </a:r>
            <a:r>
              <a:rPr sz="1800" spc="105" dirty="0">
                <a:latin typeface="Calibri"/>
                <a:cs typeface="Calibri"/>
              </a:rPr>
              <a:t> </a:t>
            </a:r>
            <a:r>
              <a:rPr sz="1800" dirty="0">
                <a:latin typeface="Calibri"/>
                <a:cs typeface="Calibri"/>
              </a:rPr>
              <a:t>is</a:t>
            </a:r>
            <a:r>
              <a:rPr sz="1800" spc="105" dirty="0">
                <a:latin typeface="Calibri"/>
                <a:cs typeface="Calibri"/>
              </a:rPr>
              <a:t> </a:t>
            </a:r>
            <a:r>
              <a:rPr sz="1800" dirty="0">
                <a:latin typeface="Calibri"/>
                <a:cs typeface="Calibri"/>
              </a:rPr>
              <a:t>fully</a:t>
            </a:r>
            <a:r>
              <a:rPr sz="1800" spc="100" dirty="0">
                <a:latin typeface="Calibri"/>
                <a:cs typeface="Calibri"/>
              </a:rPr>
              <a:t> </a:t>
            </a:r>
            <a:r>
              <a:rPr sz="1800" spc="-10" dirty="0">
                <a:latin typeface="Calibri"/>
                <a:cs typeface="Calibri"/>
              </a:rPr>
              <a:t>functional</a:t>
            </a:r>
            <a:endParaRPr sz="1800" dirty="0">
              <a:latin typeface="Calibri"/>
              <a:cs typeface="Calibri"/>
            </a:endParaRPr>
          </a:p>
          <a:p>
            <a:pPr marL="328295" marR="4789805" algn="just">
              <a:lnSpc>
                <a:spcPct val="101099"/>
              </a:lnSpc>
              <a:spcBef>
                <a:spcPts val="25"/>
              </a:spcBef>
            </a:pPr>
            <a:r>
              <a:rPr sz="1800" dirty="0">
                <a:latin typeface="Calibri"/>
                <a:cs typeface="Calibri"/>
              </a:rPr>
              <a:t>and</a:t>
            </a:r>
            <a:r>
              <a:rPr sz="1800" spc="45" dirty="0">
                <a:latin typeface="Calibri"/>
                <a:cs typeface="Calibri"/>
              </a:rPr>
              <a:t> </a:t>
            </a:r>
            <a:r>
              <a:rPr sz="1800" dirty="0">
                <a:latin typeface="Calibri"/>
                <a:cs typeface="Calibri"/>
              </a:rPr>
              <a:t>accepted.</a:t>
            </a:r>
            <a:r>
              <a:rPr sz="1800" spc="45" dirty="0">
                <a:latin typeface="Calibri"/>
                <a:cs typeface="Calibri"/>
              </a:rPr>
              <a:t> </a:t>
            </a:r>
            <a:r>
              <a:rPr sz="1800" dirty="0">
                <a:latin typeface="Calibri"/>
                <a:cs typeface="Calibri"/>
              </a:rPr>
              <a:t>Group</a:t>
            </a:r>
            <a:r>
              <a:rPr sz="1800" spc="50" dirty="0">
                <a:latin typeface="Calibri"/>
                <a:cs typeface="Calibri"/>
              </a:rPr>
              <a:t> </a:t>
            </a:r>
            <a:r>
              <a:rPr sz="1800" dirty="0">
                <a:latin typeface="Calibri"/>
                <a:cs typeface="Calibri"/>
              </a:rPr>
              <a:t>energy</a:t>
            </a:r>
            <a:r>
              <a:rPr sz="1800" spc="45" dirty="0">
                <a:latin typeface="Calibri"/>
                <a:cs typeface="Calibri"/>
              </a:rPr>
              <a:t> </a:t>
            </a:r>
            <a:r>
              <a:rPr sz="1800" dirty="0">
                <a:latin typeface="Calibri"/>
                <a:cs typeface="Calibri"/>
              </a:rPr>
              <a:t>has</a:t>
            </a:r>
            <a:r>
              <a:rPr sz="1800" spc="45" dirty="0">
                <a:latin typeface="Calibri"/>
                <a:cs typeface="Calibri"/>
              </a:rPr>
              <a:t> </a:t>
            </a:r>
            <a:r>
              <a:rPr sz="1800" dirty="0">
                <a:latin typeface="Calibri"/>
                <a:cs typeface="Calibri"/>
              </a:rPr>
              <a:t>moved</a:t>
            </a:r>
            <a:r>
              <a:rPr sz="1800" spc="50" dirty="0">
                <a:latin typeface="Calibri"/>
                <a:cs typeface="Calibri"/>
              </a:rPr>
              <a:t> </a:t>
            </a:r>
            <a:r>
              <a:rPr sz="1800" dirty="0">
                <a:latin typeface="Calibri"/>
                <a:cs typeface="Calibri"/>
              </a:rPr>
              <a:t>from</a:t>
            </a:r>
            <a:r>
              <a:rPr sz="1800" spc="45" dirty="0">
                <a:latin typeface="Calibri"/>
                <a:cs typeface="Calibri"/>
              </a:rPr>
              <a:t> </a:t>
            </a:r>
            <a:r>
              <a:rPr sz="1800" dirty="0">
                <a:latin typeface="Calibri"/>
                <a:cs typeface="Calibri"/>
              </a:rPr>
              <a:t>getting</a:t>
            </a:r>
            <a:r>
              <a:rPr sz="1800" spc="45" dirty="0">
                <a:latin typeface="Calibri"/>
                <a:cs typeface="Calibri"/>
              </a:rPr>
              <a:t> </a:t>
            </a:r>
            <a:r>
              <a:rPr sz="1800" dirty="0">
                <a:latin typeface="Calibri"/>
                <a:cs typeface="Calibri"/>
              </a:rPr>
              <a:t>to</a:t>
            </a:r>
            <a:r>
              <a:rPr sz="1800" spc="50" dirty="0">
                <a:latin typeface="Calibri"/>
                <a:cs typeface="Calibri"/>
              </a:rPr>
              <a:t> </a:t>
            </a:r>
            <a:r>
              <a:rPr sz="1800" dirty="0">
                <a:latin typeface="Calibri"/>
                <a:cs typeface="Calibri"/>
              </a:rPr>
              <a:t>know</a:t>
            </a:r>
            <a:r>
              <a:rPr sz="1800" spc="50" dirty="0">
                <a:latin typeface="Calibri"/>
                <a:cs typeface="Calibri"/>
              </a:rPr>
              <a:t> </a:t>
            </a:r>
            <a:r>
              <a:rPr sz="1800" dirty="0">
                <a:latin typeface="Calibri"/>
                <a:cs typeface="Calibri"/>
              </a:rPr>
              <a:t>each</a:t>
            </a:r>
            <a:r>
              <a:rPr sz="1800" spc="50" dirty="0">
                <a:latin typeface="Calibri"/>
                <a:cs typeface="Calibri"/>
              </a:rPr>
              <a:t> </a:t>
            </a:r>
            <a:r>
              <a:rPr sz="1800" spc="-10" dirty="0">
                <a:latin typeface="Calibri"/>
                <a:cs typeface="Calibri"/>
              </a:rPr>
              <a:t>other </a:t>
            </a:r>
            <a:r>
              <a:rPr sz="1800" dirty="0">
                <a:latin typeface="Calibri"/>
                <a:cs typeface="Calibri"/>
              </a:rPr>
              <a:t>and</a:t>
            </a:r>
            <a:r>
              <a:rPr sz="1800" spc="-45" dirty="0">
                <a:latin typeface="Calibri"/>
                <a:cs typeface="Calibri"/>
              </a:rPr>
              <a:t> </a:t>
            </a:r>
            <a:r>
              <a:rPr sz="1800" dirty="0">
                <a:latin typeface="Calibri"/>
                <a:cs typeface="Calibri"/>
              </a:rPr>
              <a:t>how</a:t>
            </a:r>
            <a:r>
              <a:rPr sz="1800" spc="-4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group</a:t>
            </a:r>
            <a:r>
              <a:rPr sz="1800" spc="-45" dirty="0">
                <a:latin typeface="Calibri"/>
                <a:cs typeface="Calibri"/>
              </a:rPr>
              <a:t> </a:t>
            </a:r>
            <a:r>
              <a:rPr sz="1800" dirty="0">
                <a:latin typeface="Calibri"/>
                <a:cs typeface="Calibri"/>
              </a:rPr>
              <a:t>will</a:t>
            </a:r>
            <a:r>
              <a:rPr sz="1800" spc="-40" dirty="0">
                <a:latin typeface="Calibri"/>
                <a:cs typeface="Calibri"/>
              </a:rPr>
              <a:t> </a:t>
            </a:r>
            <a:r>
              <a:rPr sz="1800" dirty="0">
                <a:latin typeface="Calibri"/>
                <a:cs typeface="Calibri"/>
              </a:rPr>
              <a:t>work</a:t>
            </a:r>
            <a:r>
              <a:rPr sz="1800" spc="-50" dirty="0">
                <a:latin typeface="Calibri"/>
                <a:cs typeface="Calibri"/>
              </a:rPr>
              <a:t> </a:t>
            </a:r>
            <a:r>
              <a:rPr sz="1800" dirty="0">
                <a:latin typeface="Calibri"/>
                <a:cs typeface="Calibri"/>
              </a:rPr>
              <a:t>together</a:t>
            </a:r>
            <a:r>
              <a:rPr sz="1800" spc="-45"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accomplishing</a:t>
            </a:r>
            <a:r>
              <a:rPr sz="1800" spc="-4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project</a:t>
            </a:r>
            <a:r>
              <a:rPr sz="1800" spc="-50" dirty="0">
                <a:latin typeface="Calibri"/>
                <a:cs typeface="Calibri"/>
              </a:rPr>
              <a:t> </a:t>
            </a:r>
            <a:r>
              <a:rPr sz="1800" spc="-10" dirty="0">
                <a:latin typeface="Calibri"/>
                <a:cs typeface="Calibri"/>
              </a:rPr>
              <a:t>goals.</a:t>
            </a:r>
            <a:endParaRPr sz="1800" dirty="0">
              <a:latin typeface="Calibri"/>
              <a:cs typeface="Calibri"/>
            </a:endParaRPr>
          </a:p>
          <a:p>
            <a:pPr marL="292100" marR="31115" indent="-254000" algn="just">
              <a:lnSpc>
                <a:spcPts val="2090"/>
              </a:lnSpc>
              <a:spcBef>
                <a:spcPts val="100"/>
              </a:spcBef>
              <a:buAutoNum type="arabicPeriod" startAt="5"/>
              <a:tabLst>
                <a:tab pos="292100" algn="l"/>
              </a:tabLst>
            </a:pPr>
            <a:r>
              <a:rPr sz="1800" b="1" dirty="0">
                <a:solidFill>
                  <a:srgbClr val="C00000"/>
                </a:solidFill>
                <a:latin typeface="Calibri"/>
                <a:cs typeface="Calibri"/>
              </a:rPr>
              <a:t>Adjourning.</a:t>
            </a:r>
            <a:r>
              <a:rPr sz="1800" b="1" spc="140" dirty="0">
                <a:solidFill>
                  <a:srgbClr val="C00000"/>
                </a:solidFill>
                <a:latin typeface="Calibri"/>
                <a:cs typeface="Calibri"/>
              </a:rPr>
              <a:t> </a:t>
            </a:r>
            <a:r>
              <a:rPr sz="1800" dirty="0">
                <a:latin typeface="Calibri"/>
                <a:cs typeface="Calibri"/>
              </a:rPr>
              <a:t>For</a:t>
            </a:r>
            <a:r>
              <a:rPr sz="1800" spc="140" dirty="0">
                <a:latin typeface="Calibri"/>
                <a:cs typeface="Calibri"/>
              </a:rPr>
              <a:t> </a:t>
            </a:r>
            <a:r>
              <a:rPr sz="1800" dirty="0">
                <a:latin typeface="Calibri"/>
                <a:cs typeface="Calibri"/>
              </a:rPr>
              <a:t>conventional</a:t>
            </a:r>
            <a:r>
              <a:rPr sz="1800" spc="140" dirty="0">
                <a:latin typeface="Calibri"/>
                <a:cs typeface="Calibri"/>
              </a:rPr>
              <a:t> </a:t>
            </a:r>
            <a:r>
              <a:rPr sz="1800" dirty="0">
                <a:latin typeface="Calibri"/>
                <a:cs typeface="Calibri"/>
              </a:rPr>
              <a:t>work</a:t>
            </a:r>
            <a:r>
              <a:rPr sz="1800" spc="140" dirty="0">
                <a:latin typeface="Calibri"/>
                <a:cs typeface="Calibri"/>
              </a:rPr>
              <a:t> </a:t>
            </a:r>
            <a:r>
              <a:rPr sz="1800" dirty="0">
                <a:latin typeface="Calibri"/>
                <a:cs typeface="Calibri"/>
              </a:rPr>
              <a:t>groups,</a:t>
            </a:r>
            <a:r>
              <a:rPr sz="1800" spc="145" dirty="0">
                <a:latin typeface="Calibri"/>
                <a:cs typeface="Calibri"/>
              </a:rPr>
              <a:t> </a:t>
            </a:r>
            <a:r>
              <a:rPr sz="1800" dirty="0">
                <a:latin typeface="Calibri"/>
                <a:cs typeface="Calibri"/>
              </a:rPr>
              <a:t>performing</a:t>
            </a:r>
            <a:r>
              <a:rPr sz="1800" spc="145" dirty="0">
                <a:latin typeface="Calibri"/>
                <a:cs typeface="Calibri"/>
              </a:rPr>
              <a:t> </a:t>
            </a:r>
            <a:r>
              <a:rPr sz="1800" dirty="0">
                <a:latin typeface="Calibri"/>
                <a:cs typeface="Calibri"/>
              </a:rPr>
              <a:t>is</a:t>
            </a:r>
            <a:r>
              <a:rPr sz="1800" spc="140" dirty="0">
                <a:latin typeface="Calibri"/>
                <a:cs typeface="Calibri"/>
              </a:rPr>
              <a:t> </a:t>
            </a:r>
            <a:r>
              <a:rPr sz="1800" dirty="0">
                <a:latin typeface="Calibri"/>
                <a:cs typeface="Calibri"/>
              </a:rPr>
              <a:t>the</a:t>
            </a:r>
            <a:r>
              <a:rPr sz="1800" spc="150" dirty="0">
                <a:latin typeface="Calibri"/>
                <a:cs typeface="Calibri"/>
              </a:rPr>
              <a:t> </a:t>
            </a:r>
            <a:r>
              <a:rPr sz="1800" dirty="0">
                <a:latin typeface="Calibri"/>
                <a:cs typeface="Calibri"/>
              </a:rPr>
              <a:t>last</a:t>
            </a:r>
            <a:r>
              <a:rPr sz="1800" spc="140" dirty="0">
                <a:latin typeface="Calibri"/>
                <a:cs typeface="Calibri"/>
              </a:rPr>
              <a:t> </a:t>
            </a:r>
            <a:r>
              <a:rPr sz="1800" dirty="0">
                <a:latin typeface="Calibri"/>
                <a:cs typeface="Calibri"/>
              </a:rPr>
              <a:t>stage</a:t>
            </a:r>
            <a:r>
              <a:rPr sz="1800" spc="150" dirty="0">
                <a:latin typeface="Calibri"/>
                <a:cs typeface="Calibri"/>
              </a:rPr>
              <a:t> </a:t>
            </a:r>
            <a:r>
              <a:rPr sz="1800" dirty="0">
                <a:latin typeface="Calibri"/>
                <a:cs typeface="Calibri"/>
              </a:rPr>
              <a:t>of</a:t>
            </a:r>
            <a:r>
              <a:rPr sz="1800" spc="145" dirty="0">
                <a:latin typeface="Calibri"/>
                <a:cs typeface="Calibri"/>
              </a:rPr>
              <a:t> </a:t>
            </a:r>
            <a:r>
              <a:rPr sz="1800" dirty="0">
                <a:latin typeface="Calibri"/>
                <a:cs typeface="Calibri"/>
              </a:rPr>
              <a:t>their</a:t>
            </a:r>
            <a:r>
              <a:rPr sz="1800" spc="140" dirty="0">
                <a:latin typeface="Calibri"/>
                <a:cs typeface="Calibri"/>
              </a:rPr>
              <a:t> </a:t>
            </a:r>
            <a:r>
              <a:rPr sz="1800" dirty="0">
                <a:latin typeface="Calibri"/>
                <a:cs typeface="Calibri"/>
              </a:rPr>
              <a:t>development.</a:t>
            </a:r>
            <a:r>
              <a:rPr sz="1800" spc="145" dirty="0">
                <a:latin typeface="Calibri"/>
                <a:cs typeface="Calibri"/>
              </a:rPr>
              <a:t> </a:t>
            </a:r>
            <a:r>
              <a:rPr sz="1800" dirty="0">
                <a:latin typeface="Calibri"/>
                <a:cs typeface="Calibri"/>
              </a:rPr>
              <a:t>However,</a:t>
            </a:r>
            <a:r>
              <a:rPr sz="1800" spc="145" dirty="0">
                <a:latin typeface="Calibri"/>
                <a:cs typeface="Calibri"/>
              </a:rPr>
              <a:t> </a:t>
            </a:r>
            <a:r>
              <a:rPr sz="1800" dirty="0">
                <a:latin typeface="Calibri"/>
                <a:cs typeface="Calibri"/>
              </a:rPr>
              <a:t>for</a:t>
            </a:r>
            <a:r>
              <a:rPr sz="1800" spc="145" dirty="0">
                <a:latin typeface="Calibri"/>
                <a:cs typeface="Calibri"/>
              </a:rPr>
              <a:t> </a:t>
            </a:r>
            <a:r>
              <a:rPr sz="1800" dirty="0">
                <a:latin typeface="Calibri"/>
                <a:cs typeface="Calibri"/>
              </a:rPr>
              <a:t>project</a:t>
            </a:r>
            <a:r>
              <a:rPr sz="1800" spc="140" dirty="0">
                <a:latin typeface="Calibri"/>
                <a:cs typeface="Calibri"/>
              </a:rPr>
              <a:t> </a:t>
            </a:r>
            <a:r>
              <a:rPr sz="1800" spc="-10" dirty="0">
                <a:latin typeface="Calibri"/>
                <a:cs typeface="Calibri"/>
              </a:rPr>
              <a:t>teams, </a:t>
            </a:r>
            <a:r>
              <a:rPr sz="1800" dirty="0">
                <a:latin typeface="Calibri"/>
                <a:cs typeface="Calibri"/>
              </a:rPr>
              <a:t>there</a:t>
            </a:r>
            <a:r>
              <a:rPr sz="1800" spc="45"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completion</a:t>
            </a:r>
            <a:r>
              <a:rPr sz="1800" spc="45" dirty="0">
                <a:latin typeface="Calibri"/>
                <a:cs typeface="Calibri"/>
              </a:rPr>
              <a:t> </a:t>
            </a:r>
            <a:r>
              <a:rPr sz="1800" dirty="0">
                <a:latin typeface="Calibri"/>
                <a:cs typeface="Calibri"/>
              </a:rPr>
              <a:t>phase.</a:t>
            </a:r>
            <a:r>
              <a:rPr sz="1800" spc="35" dirty="0">
                <a:latin typeface="Calibri"/>
                <a:cs typeface="Calibri"/>
              </a:rPr>
              <a:t> </a:t>
            </a:r>
            <a:r>
              <a:rPr sz="1800" dirty="0">
                <a:latin typeface="Calibri"/>
                <a:cs typeface="Calibri"/>
              </a:rPr>
              <a:t>During</a:t>
            </a:r>
            <a:r>
              <a:rPr sz="1800" spc="40" dirty="0">
                <a:latin typeface="Calibri"/>
                <a:cs typeface="Calibri"/>
              </a:rPr>
              <a:t> </a:t>
            </a:r>
            <a:r>
              <a:rPr sz="1800" dirty="0">
                <a:latin typeface="Calibri"/>
                <a:cs typeface="Calibri"/>
              </a:rPr>
              <a:t>this</a:t>
            </a:r>
            <a:r>
              <a:rPr sz="1800" spc="40" dirty="0">
                <a:latin typeface="Calibri"/>
                <a:cs typeface="Calibri"/>
              </a:rPr>
              <a:t> </a:t>
            </a:r>
            <a:r>
              <a:rPr sz="1800" dirty="0">
                <a:latin typeface="Calibri"/>
                <a:cs typeface="Calibri"/>
              </a:rPr>
              <a:t>stage,</a:t>
            </a:r>
            <a:r>
              <a:rPr sz="1800" spc="4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team</a:t>
            </a:r>
            <a:r>
              <a:rPr sz="1800" spc="40" dirty="0">
                <a:latin typeface="Calibri"/>
                <a:cs typeface="Calibri"/>
              </a:rPr>
              <a:t> </a:t>
            </a:r>
            <a:r>
              <a:rPr sz="1800" dirty="0">
                <a:latin typeface="Calibri"/>
                <a:cs typeface="Calibri"/>
              </a:rPr>
              <a:t>prepares</a:t>
            </a:r>
            <a:r>
              <a:rPr sz="1800" spc="40"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its</a:t>
            </a:r>
            <a:r>
              <a:rPr sz="1800" spc="40" dirty="0">
                <a:latin typeface="Calibri"/>
                <a:cs typeface="Calibri"/>
              </a:rPr>
              <a:t> </a:t>
            </a:r>
            <a:r>
              <a:rPr sz="1800" dirty="0">
                <a:latin typeface="Calibri"/>
                <a:cs typeface="Calibri"/>
              </a:rPr>
              <a:t>own</a:t>
            </a:r>
            <a:r>
              <a:rPr sz="1800" spc="45" dirty="0">
                <a:latin typeface="Calibri"/>
                <a:cs typeface="Calibri"/>
              </a:rPr>
              <a:t> </a:t>
            </a:r>
            <a:r>
              <a:rPr sz="1800" dirty="0">
                <a:latin typeface="Calibri"/>
                <a:cs typeface="Calibri"/>
              </a:rPr>
              <a:t>disbandment.</a:t>
            </a:r>
            <a:r>
              <a:rPr sz="1800" spc="40" dirty="0">
                <a:latin typeface="Calibri"/>
                <a:cs typeface="Calibri"/>
              </a:rPr>
              <a:t> </a:t>
            </a:r>
            <a:r>
              <a:rPr sz="1800" dirty="0">
                <a:latin typeface="Calibri"/>
                <a:cs typeface="Calibri"/>
              </a:rPr>
              <a:t>High</a:t>
            </a:r>
            <a:r>
              <a:rPr sz="1800" spc="50" dirty="0">
                <a:latin typeface="Calibri"/>
                <a:cs typeface="Calibri"/>
              </a:rPr>
              <a:t> </a:t>
            </a:r>
            <a:r>
              <a:rPr sz="1800" dirty="0">
                <a:latin typeface="Calibri"/>
                <a:cs typeface="Calibri"/>
              </a:rPr>
              <a:t>performance</a:t>
            </a:r>
            <a:r>
              <a:rPr sz="1800" spc="45"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no</a:t>
            </a:r>
            <a:r>
              <a:rPr sz="1800" spc="45" dirty="0">
                <a:latin typeface="Calibri"/>
                <a:cs typeface="Calibri"/>
              </a:rPr>
              <a:t> </a:t>
            </a:r>
            <a:r>
              <a:rPr sz="1800" dirty="0">
                <a:latin typeface="Calibri"/>
                <a:cs typeface="Calibri"/>
              </a:rPr>
              <a:t>longer</a:t>
            </a:r>
            <a:r>
              <a:rPr sz="1800" spc="35" dirty="0">
                <a:latin typeface="Calibri"/>
                <a:cs typeface="Calibri"/>
              </a:rPr>
              <a:t> </a:t>
            </a:r>
            <a:r>
              <a:rPr sz="1800" spc="-50" dirty="0">
                <a:latin typeface="Calibri"/>
                <a:cs typeface="Calibri"/>
              </a:rPr>
              <a:t>a</a:t>
            </a:r>
            <a:endParaRPr sz="1800" dirty="0">
              <a:latin typeface="Calibri"/>
              <a:cs typeface="Calibri"/>
            </a:endParaRPr>
          </a:p>
          <a:p>
            <a:pPr marL="292100" marR="30480" algn="just">
              <a:lnSpc>
                <a:spcPct val="99400"/>
              </a:lnSpc>
              <a:spcBef>
                <a:spcPts val="5"/>
              </a:spcBef>
            </a:pPr>
            <a:r>
              <a:rPr sz="1800" dirty="0">
                <a:latin typeface="Calibri"/>
                <a:cs typeface="Calibri"/>
              </a:rPr>
              <a:t>top</a:t>
            </a:r>
            <a:r>
              <a:rPr sz="1800" spc="320" dirty="0">
                <a:latin typeface="Calibri"/>
                <a:cs typeface="Calibri"/>
              </a:rPr>
              <a:t> </a:t>
            </a:r>
            <a:r>
              <a:rPr sz="1800" dirty="0">
                <a:latin typeface="Calibri"/>
                <a:cs typeface="Calibri"/>
              </a:rPr>
              <a:t>priority.</a:t>
            </a:r>
            <a:r>
              <a:rPr sz="1800" spc="310" dirty="0">
                <a:latin typeface="Calibri"/>
                <a:cs typeface="Calibri"/>
              </a:rPr>
              <a:t> </a:t>
            </a:r>
            <a:r>
              <a:rPr sz="1800" dirty="0">
                <a:latin typeface="Calibri"/>
                <a:cs typeface="Calibri"/>
              </a:rPr>
              <a:t>Instead,</a:t>
            </a:r>
            <a:r>
              <a:rPr sz="1800" spc="320" dirty="0">
                <a:latin typeface="Calibri"/>
                <a:cs typeface="Calibri"/>
              </a:rPr>
              <a:t> </a:t>
            </a:r>
            <a:r>
              <a:rPr sz="1800" dirty="0">
                <a:latin typeface="Calibri"/>
                <a:cs typeface="Calibri"/>
              </a:rPr>
              <a:t>attention</a:t>
            </a:r>
            <a:r>
              <a:rPr sz="1800" spc="320" dirty="0">
                <a:latin typeface="Calibri"/>
                <a:cs typeface="Calibri"/>
              </a:rPr>
              <a:t> </a:t>
            </a:r>
            <a:r>
              <a:rPr sz="1800" dirty="0">
                <a:latin typeface="Calibri"/>
                <a:cs typeface="Calibri"/>
              </a:rPr>
              <a:t>is</a:t>
            </a:r>
            <a:r>
              <a:rPr sz="1800" spc="315" dirty="0">
                <a:latin typeface="Calibri"/>
                <a:cs typeface="Calibri"/>
              </a:rPr>
              <a:t> </a:t>
            </a:r>
            <a:r>
              <a:rPr sz="1800" dirty="0">
                <a:latin typeface="Calibri"/>
                <a:cs typeface="Calibri"/>
              </a:rPr>
              <a:t>devoted</a:t>
            </a:r>
            <a:r>
              <a:rPr sz="1800" spc="320" dirty="0">
                <a:latin typeface="Calibri"/>
                <a:cs typeface="Calibri"/>
              </a:rPr>
              <a:t> </a:t>
            </a:r>
            <a:r>
              <a:rPr sz="1800" dirty="0">
                <a:latin typeface="Calibri"/>
                <a:cs typeface="Calibri"/>
              </a:rPr>
              <a:t>to</a:t>
            </a:r>
            <a:r>
              <a:rPr sz="1800" spc="315" dirty="0">
                <a:latin typeface="Calibri"/>
                <a:cs typeface="Calibri"/>
              </a:rPr>
              <a:t> </a:t>
            </a:r>
            <a:r>
              <a:rPr sz="1800" dirty="0">
                <a:latin typeface="Calibri"/>
                <a:cs typeface="Calibri"/>
              </a:rPr>
              <a:t>wrapping</a:t>
            </a:r>
            <a:r>
              <a:rPr sz="1800" spc="320" dirty="0">
                <a:latin typeface="Calibri"/>
                <a:cs typeface="Calibri"/>
              </a:rPr>
              <a:t> </a:t>
            </a:r>
            <a:r>
              <a:rPr sz="1800" dirty="0">
                <a:latin typeface="Calibri"/>
                <a:cs typeface="Calibri"/>
              </a:rPr>
              <a:t>up</a:t>
            </a:r>
            <a:r>
              <a:rPr sz="1800" spc="320" dirty="0">
                <a:latin typeface="Calibri"/>
                <a:cs typeface="Calibri"/>
              </a:rPr>
              <a:t> </a:t>
            </a:r>
            <a:r>
              <a:rPr sz="1800" dirty="0">
                <a:latin typeface="Calibri"/>
                <a:cs typeface="Calibri"/>
              </a:rPr>
              <a:t>the</a:t>
            </a:r>
            <a:r>
              <a:rPr sz="1800" spc="320" dirty="0">
                <a:latin typeface="Calibri"/>
                <a:cs typeface="Calibri"/>
              </a:rPr>
              <a:t> </a:t>
            </a:r>
            <a:r>
              <a:rPr sz="1800" dirty="0">
                <a:latin typeface="Calibri"/>
                <a:cs typeface="Calibri"/>
              </a:rPr>
              <a:t>project.</a:t>
            </a:r>
            <a:r>
              <a:rPr sz="1800" spc="315" dirty="0">
                <a:latin typeface="Calibri"/>
                <a:cs typeface="Calibri"/>
              </a:rPr>
              <a:t> </a:t>
            </a:r>
            <a:r>
              <a:rPr sz="1800" dirty="0">
                <a:latin typeface="Calibri"/>
                <a:cs typeface="Calibri"/>
              </a:rPr>
              <a:t>Responses</a:t>
            </a:r>
            <a:r>
              <a:rPr sz="1800" spc="305" dirty="0">
                <a:latin typeface="Calibri"/>
                <a:cs typeface="Calibri"/>
              </a:rPr>
              <a:t> </a:t>
            </a:r>
            <a:r>
              <a:rPr sz="1800" dirty="0">
                <a:latin typeface="Calibri"/>
                <a:cs typeface="Calibri"/>
              </a:rPr>
              <a:t>of</a:t>
            </a:r>
            <a:r>
              <a:rPr sz="1800" spc="320" dirty="0">
                <a:latin typeface="Calibri"/>
                <a:cs typeface="Calibri"/>
              </a:rPr>
              <a:t> </a:t>
            </a:r>
            <a:r>
              <a:rPr sz="1800" dirty="0">
                <a:latin typeface="Calibri"/>
                <a:cs typeface="Calibri"/>
              </a:rPr>
              <a:t>members</a:t>
            </a:r>
            <a:r>
              <a:rPr sz="1800" spc="315" dirty="0">
                <a:latin typeface="Calibri"/>
                <a:cs typeface="Calibri"/>
              </a:rPr>
              <a:t> </a:t>
            </a:r>
            <a:r>
              <a:rPr sz="1800" dirty="0">
                <a:latin typeface="Calibri"/>
                <a:cs typeface="Calibri"/>
              </a:rPr>
              <a:t>vary</a:t>
            </a:r>
            <a:r>
              <a:rPr sz="1800" spc="315" dirty="0">
                <a:latin typeface="Calibri"/>
                <a:cs typeface="Calibri"/>
              </a:rPr>
              <a:t> </a:t>
            </a:r>
            <a:r>
              <a:rPr sz="1800" dirty="0">
                <a:latin typeface="Calibri"/>
                <a:cs typeface="Calibri"/>
              </a:rPr>
              <a:t>in</a:t>
            </a:r>
            <a:r>
              <a:rPr sz="1800" spc="320" dirty="0">
                <a:latin typeface="Calibri"/>
                <a:cs typeface="Calibri"/>
              </a:rPr>
              <a:t> </a:t>
            </a:r>
            <a:r>
              <a:rPr sz="1800" dirty="0">
                <a:latin typeface="Calibri"/>
                <a:cs typeface="Calibri"/>
              </a:rPr>
              <a:t>this</a:t>
            </a:r>
            <a:r>
              <a:rPr sz="1800" spc="310" dirty="0">
                <a:latin typeface="Calibri"/>
                <a:cs typeface="Calibri"/>
              </a:rPr>
              <a:t> </a:t>
            </a:r>
            <a:r>
              <a:rPr sz="1800" dirty="0">
                <a:latin typeface="Calibri"/>
                <a:cs typeface="Calibri"/>
              </a:rPr>
              <a:t>stage.</a:t>
            </a:r>
            <a:r>
              <a:rPr sz="1800" spc="315" dirty="0">
                <a:latin typeface="Calibri"/>
                <a:cs typeface="Calibri"/>
              </a:rPr>
              <a:t> </a:t>
            </a:r>
            <a:r>
              <a:rPr sz="1800" spc="-20" dirty="0">
                <a:latin typeface="Calibri"/>
                <a:cs typeface="Calibri"/>
              </a:rPr>
              <a:t>Some </a:t>
            </a:r>
            <a:r>
              <a:rPr sz="1800" dirty="0">
                <a:latin typeface="Calibri"/>
                <a:cs typeface="Calibri"/>
              </a:rPr>
              <a:t>members</a:t>
            </a:r>
            <a:r>
              <a:rPr sz="1800" spc="254" dirty="0">
                <a:latin typeface="Calibri"/>
                <a:cs typeface="Calibri"/>
              </a:rPr>
              <a:t> </a:t>
            </a:r>
            <a:r>
              <a:rPr sz="1800" dirty="0">
                <a:latin typeface="Calibri"/>
                <a:cs typeface="Calibri"/>
              </a:rPr>
              <a:t>are</a:t>
            </a:r>
            <a:r>
              <a:rPr sz="1800" spc="260" dirty="0">
                <a:latin typeface="Calibri"/>
                <a:cs typeface="Calibri"/>
              </a:rPr>
              <a:t> </a:t>
            </a:r>
            <a:r>
              <a:rPr sz="1800" dirty="0">
                <a:latin typeface="Calibri"/>
                <a:cs typeface="Calibri"/>
              </a:rPr>
              <a:t>upbeat,</a:t>
            </a:r>
            <a:r>
              <a:rPr sz="1800" spc="254" dirty="0">
                <a:latin typeface="Calibri"/>
                <a:cs typeface="Calibri"/>
              </a:rPr>
              <a:t> </a:t>
            </a:r>
            <a:r>
              <a:rPr sz="1800" dirty="0">
                <a:latin typeface="Calibri"/>
                <a:cs typeface="Calibri"/>
              </a:rPr>
              <a:t>basking</a:t>
            </a:r>
            <a:r>
              <a:rPr sz="1800" spc="254" dirty="0">
                <a:latin typeface="Calibri"/>
                <a:cs typeface="Calibri"/>
              </a:rPr>
              <a:t> </a:t>
            </a:r>
            <a:r>
              <a:rPr sz="1800" dirty="0">
                <a:latin typeface="Calibri"/>
                <a:cs typeface="Calibri"/>
              </a:rPr>
              <a:t>in</a:t>
            </a:r>
            <a:r>
              <a:rPr sz="1800" spc="260" dirty="0">
                <a:latin typeface="Calibri"/>
                <a:cs typeface="Calibri"/>
              </a:rPr>
              <a:t> </a:t>
            </a:r>
            <a:r>
              <a:rPr sz="1800" dirty="0">
                <a:latin typeface="Calibri"/>
                <a:cs typeface="Calibri"/>
              </a:rPr>
              <a:t>the</a:t>
            </a:r>
            <a:r>
              <a:rPr sz="1800" spc="260" dirty="0">
                <a:latin typeface="Calibri"/>
                <a:cs typeface="Calibri"/>
              </a:rPr>
              <a:t> </a:t>
            </a:r>
            <a:r>
              <a:rPr sz="1800" dirty="0">
                <a:latin typeface="Calibri"/>
                <a:cs typeface="Calibri"/>
              </a:rPr>
              <a:t>project</a:t>
            </a:r>
            <a:r>
              <a:rPr sz="1800" spc="250" dirty="0">
                <a:latin typeface="Calibri"/>
                <a:cs typeface="Calibri"/>
              </a:rPr>
              <a:t> </a:t>
            </a:r>
            <a:r>
              <a:rPr sz="1800" dirty="0">
                <a:latin typeface="Calibri"/>
                <a:cs typeface="Calibri"/>
              </a:rPr>
              <a:t>team’s</a:t>
            </a:r>
            <a:r>
              <a:rPr sz="1800" spc="250" dirty="0">
                <a:latin typeface="Calibri"/>
                <a:cs typeface="Calibri"/>
              </a:rPr>
              <a:t> </a:t>
            </a:r>
            <a:r>
              <a:rPr sz="1800" dirty="0">
                <a:latin typeface="Calibri"/>
                <a:cs typeface="Calibri"/>
              </a:rPr>
              <a:t>accomplishments.</a:t>
            </a:r>
            <a:r>
              <a:rPr sz="1800" spc="254" dirty="0">
                <a:latin typeface="Calibri"/>
                <a:cs typeface="Calibri"/>
              </a:rPr>
              <a:t> </a:t>
            </a:r>
            <a:r>
              <a:rPr sz="1800" dirty="0">
                <a:latin typeface="Calibri"/>
                <a:cs typeface="Calibri"/>
              </a:rPr>
              <a:t>Others</a:t>
            </a:r>
            <a:r>
              <a:rPr sz="1800" spc="250" dirty="0">
                <a:latin typeface="Calibri"/>
                <a:cs typeface="Calibri"/>
              </a:rPr>
              <a:t> </a:t>
            </a:r>
            <a:r>
              <a:rPr sz="1800" dirty="0">
                <a:latin typeface="Calibri"/>
                <a:cs typeface="Calibri"/>
              </a:rPr>
              <a:t>may</a:t>
            </a:r>
            <a:r>
              <a:rPr sz="1800" spc="254" dirty="0">
                <a:latin typeface="Calibri"/>
                <a:cs typeface="Calibri"/>
              </a:rPr>
              <a:t> </a:t>
            </a:r>
            <a:r>
              <a:rPr sz="1800" dirty="0">
                <a:latin typeface="Calibri"/>
                <a:cs typeface="Calibri"/>
              </a:rPr>
              <a:t>be</a:t>
            </a:r>
            <a:r>
              <a:rPr sz="1800" spc="260" dirty="0">
                <a:latin typeface="Calibri"/>
                <a:cs typeface="Calibri"/>
              </a:rPr>
              <a:t> </a:t>
            </a:r>
            <a:r>
              <a:rPr sz="1800" dirty="0">
                <a:latin typeface="Calibri"/>
                <a:cs typeface="Calibri"/>
              </a:rPr>
              <a:t>depressed</a:t>
            </a:r>
            <a:r>
              <a:rPr sz="1800" spc="260" dirty="0">
                <a:latin typeface="Calibri"/>
                <a:cs typeface="Calibri"/>
              </a:rPr>
              <a:t> </a:t>
            </a:r>
            <a:r>
              <a:rPr sz="1800" dirty="0">
                <a:latin typeface="Calibri"/>
                <a:cs typeface="Calibri"/>
              </a:rPr>
              <a:t>over</a:t>
            </a:r>
            <a:r>
              <a:rPr sz="1800" spc="250" dirty="0">
                <a:latin typeface="Calibri"/>
                <a:cs typeface="Calibri"/>
              </a:rPr>
              <a:t> </a:t>
            </a:r>
            <a:r>
              <a:rPr sz="1800" dirty="0">
                <a:latin typeface="Calibri"/>
                <a:cs typeface="Calibri"/>
              </a:rPr>
              <a:t>loss</a:t>
            </a:r>
            <a:r>
              <a:rPr sz="1800" spc="250" dirty="0">
                <a:latin typeface="Calibri"/>
                <a:cs typeface="Calibri"/>
              </a:rPr>
              <a:t> </a:t>
            </a:r>
            <a:r>
              <a:rPr sz="1800" dirty="0">
                <a:latin typeface="Calibri"/>
                <a:cs typeface="Calibri"/>
              </a:rPr>
              <a:t>of</a:t>
            </a:r>
            <a:r>
              <a:rPr sz="1800" spc="254" dirty="0">
                <a:latin typeface="Calibri"/>
                <a:cs typeface="Calibri"/>
              </a:rPr>
              <a:t> </a:t>
            </a:r>
            <a:r>
              <a:rPr sz="1800" spc="-65" dirty="0">
                <a:latin typeface="Calibri"/>
                <a:cs typeface="Calibri"/>
              </a:rPr>
              <a:t>friendsh</a:t>
            </a:r>
            <a:r>
              <a:rPr sz="1800" b="1" spc="-97" baseline="-27777" dirty="0">
                <a:solidFill>
                  <a:srgbClr val="898989"/>
                </a:solidFill>
                <a:latin typeface="Calibri"/>
                <a:cs typeface="Calibri"/>
              </a:rPr>
              <a:t>1</a:t>
            </a:r>
            <a:r>
              <a:rPr sz="1800" spc="-65" dirty="0">
                <a:latin typeface="Calibri"/>
                <a:cs typeface="Calibri"/>
              </a:rPr>
              <a:t>i</a:t>
            </a:r>
            <a:r>
              <a:rPr sz="1800" b="1" spc="-97" baseline="-27777" dirty="0">
                <a:solidFill>
                  <a:srgbClr val="898989"/>
                </a:solidFill>
                <a:latin typeface="Calibri"/>
                <a:cs typeface="Calibri"/>
              </a:rPr>
              <a:t>7</a:t>
            </a:r>
            <a:r>
              <a:rPr sz="1800" spc="-65" dirty="0">
                <a:latin typeface="Calibri"/>
                <a:cs typeface="Calibri"/>
              </a:rPr>
              <a:t>ps </a:t>
            </a:r>
            <a:r>
              <a:rPr sz="1800" dirty="0">
                <a:latin typeface="Calibri"/>
                <a:cs typeface="Calibri"/>
              </a:rPr>
              <a:t>gained</a:t>
            </a:r>
            <a:r>
              <a:rPr sz="1800" spc="-45" dirty="0">
                <a:latin typeface="Calibri"/>
                <a:cs typeface="Calibri"/>
              </a:rPr>
              <a:t> </a:t>
            </a:r>
            <a:r>
              <a:rPr sz="1800" dirty="0">
                <a:latin typeface="Calibri"/>
                <a:cs typeface="Calibri"/>
              </a:rPr>
              <a:t>during</a:t>
            </a:r>
            <a:r>
              <a:rPr sz="1800" spc="-45" dirty="0">
                <a:latin typeface="Calibri"/>
                <a:cs typeface="Calibri"/>
              </a:rPr>
              <a:t> </a:t>
            </a:r>
            <a:r>
              <a:rPr sz="1800" dirty="0">
                <a:latin typeface="Calibri"/>
                <a:cs typeface="Calibri"/>
              </a:rPr>
              <a:t>the</a:t>
            </a:r>
            <a:r>
              <a:rPr sz="1800" spc="-40" dirty="0">
                <a:latin typeface="Calibri"/>
                <a:cs typeface="Calibri"/>
              </a:rPr>
              <a:t> </a:t>
            </a:r>
            <a:r>
              <a:rPr sz="1800" spc="-10" dirty="0">
                <a:latin typeface="Calibri"/>
                <a:cs typeface="Calibri"/>
              </a:rPr>
              <a:t>project’s</a:t>
            </a:r>
            <a:r>
              <a:rPr sz="1800" spc="-45" dirty="0">
                <a:latin typeface="Calibri"/>
                <a:cs typeface="Calibri"/>
              </a:rPr>
              <a:t> </a:t>
            </a:r>
            <a:r>
              <a:rPr sz="1800" spc="-20" dirty="0">
                <a:latin typeface="Calibri"/>
                <a:cs typeface="Calibri"/>
              </a:rPr>
              <a:t>life.</a:t>
            </a:r>
            <a:endParaRPr sz="1800" dirty="0">
              <a:latin typeface="Calibri"/>
              <a:cs typeface="Calibri"/>
            </a:endParaRPr>
          </a:p>
        </p:txBody>
      </p:sp>
      <p:pic>
        <p:nvPicPr>
          <p:cNvPr id="5" name="Picture 4">
            <a:extLst>
              <a:ext uri="{FF2B5EF4-FFF2-40B4-BE49-F238E27FC236}">
                <a16:creationId xmlns:a16="http://schemas.microsoft.com/office/drawing/2014/main" id="{23D6D1E0-F3C0-A626-0E56-49CE3AC953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Situational</a:t>
            </a:r>
            <a:r>
              <a:rPr spc="160" dirty="0"/>
              <a:t> </a:t>
            </a:r>
            <a:r>
              <a:rPr spc="70" dirty="0"/>
              <a:t>Factors</a:t>
            </a:r>
            <a:r>
              <a:rPr spc="155" dirty="0"/>
              <a:t> </a:t>
            </a:r>
            <a:r>
              <a:rPr spc="85" dirty="0"/>
              <a:t>Affecting</a:t>
            </a:r>
            <a:r>
              <a:rPr spc="160" dirty="0"/>
              <a:t> </a:t>
            </a:r>
            <a:r>
              <a:rPr dirty="0"/>
              <a:t>Team</a:t>
            </a:r>
            <a:r>
              <a:rPr spc="150" dirty="0"/>
              <a:t> </a:t>
            </a:r>
            <a:r>
              <a:rPr spc="100" dirty="0"/>
              <a:t>Development</a:t>
            </a:r>
          </a:p>
        </p:txBody>
      </p:sp>
      <p:sp>
        <p:nvSpPr>
          <p:cNvPr id="3" name="object 3"/>
          <p:cNvSpPr txBox="1"/>
          <p:nvPr/>
        </p:nvSpPr>
        <p:spPr>
          <a:xfrm>
            <a:off x="916939" y="1637284"/>
            <a:ext cx="10356215" cy="4183379"/>
          </a:xfrm>
          <a:prstGeom prst="rect">
            <a:avLst/>
          </a:prstGeom>
        </p:spPr>
        <p:txBody>
          <a:bodyPr vert="horz" wrap="square" lIns="0" tIns="82550" rIns="0" bIns="0" rtlCol="0">
            <a:spAutoFit/>
          </a:bodyPr>
          <a:lstStyle/>
          <a:p>
            <a:pPr marL="12700" marR="5080">
              <a:lnSpc>
                <a:spcPct val="79100"/>
              </a:lnSpc>
              <a:spcBef>
                <a:spcPts val="650"/>
              </a:spcBef>
            </a:pPr>
            <a:r>
              <a:rPr sz="2200" dirty="0">
                <a:latin typeface="Calibri"/>
                <a:cs typeface="Calibri"/>
              </a:rPr>
              <a:t>Experience</a:t>
            </a:r>
            <a:r>
              <a:rPr sz="2200" spc="370" dirty="0">
                <a:latin typeface="Calibri"/>
                <a:cs typeface="Calibri"/>
              </a:rPr>
              <a:t> </a:t>
            </a:r>
            <a:r>
              <a:rPr sz="2200" dirty="0">
                <a:latin typeface="Calibri"/>
                <a:cs typeface="Calibri"/>
              </a:rPr>
              <a:t>and</a:t>
            </a:r>
            <a:r>
              <a:rPr sz="2200" spc="360" dirty="0">
                <a:latin typeface="Calibri"/>
                <a:cs typeface="Calibri"/>
              </a:rPr>
              <a:t> </a:t>
            </a:r>
            <a:r>
              <a:rPr sz="2200" dirty="0">
                <a:latin typeface="Calibri"/>
                <a:cs typeface="Calibri"/>
              </a:rPr>
              <a:t>research</a:t>
            </a:r>
            <a:r>
              <a:rPr sz="2200" spc="355" dirty="0">
                <a:latin typeface="Calibri"/>
                <a:cs typeface="Calibri"/>
              </a:rPr>
              <a:t> </a:t>
            </a:r>
            <a:r>
              <a:rPr sz="2200" dirty="0">
                <a:latin typeface="Calibri"/>
                <a:cs typeface="Calibri"/>
              </a:rPr>
              <a:t>indicate</a:t>
            </a:r>
            <a:r>
              <a:rPr sz="2200" spc="370" dirty="0">
                <a:latin typeface="Calibri"/>
                <a:cs typeface="Calibri"/>
              </a:rPr>
              <a:t> </a:t>
            </a:r>
            <a:r>
              <a:rPr sz="2200" dirty="0">
                <a:latin typeface="Calibri"/>
                <a:cs typeface="Calibri"/>
              </a:rPr>
              <a:t>that</a:t>
            </a:r>
            <a:r>
              <a:rPr sz="2200" spc="365" dirty="0">
                <a:latin typeface="Calibri"/>
                <a:cs typeface="Calibri"/>
              </a:rPr>
              <a:t> </a:t>
            </a:r>
            <a:r>
              <a:rPr sz="2200" spc="-10" dirty="0">
                <a:latin typeface="Calibri"/>
                <a:cs typeface="Calibri"/>
              </a:rPr>
              <a:t>high-</a:t>
            </a:r>
            <a:r>
              <a:rPr sz="2200" dirty="0">
                <a:latin typeface="Calibri"/>
                <a:cs typeface="Calibri"/>
              </a:rPr>
              <a:t>performance</a:t>
            </a:r>
            <a:r>
              <a:rPr sz="2200" spc="365" dirty="0">
                <a:latin typeface="Calibri"/>
                <a:cs typeface="Calibri"/>
              </a:rPr>
              <a:t> </a:t>
            </a:r>
            <a:r>
              <a:rPr sz="2200" dirty="0">
                <a:latin typeface="Calibri"/>
                <a:cs typeface="Calibri"/>
              </a:rPr>
              <a:t>project</a:t>
            </a:r>
            <a:r>
              <a:rPr sz="2200" spc="365" dirty="0">
                <a:latin typeface="Calibri"/>
                <a:cs typeface="Calibri"/>
              </a:rPr>
              <a:t> </a:t>
            </a:r>
            <a:r>
              <a:rPr sz="2200" dirty="0">
                <a:latin typeface="Calibri"/>
                <a:cs typeface="Calibri"/>
              </a:rPr>
              <a:t>teams</a:t>
            </a:r>
            <a:r>
              <a:rPr sz="2200" spc="365" dirty="0">
                <a:latin typeface="Calibri"/>
                <a:cs typeface="Calibri"/>
              </a:rPr>
              <a:t> </a:t>
            </a:r>
            <a:r>
              <a:rPr sz="2200" dirty="0">
                <a:latin typeface="Calibri"/>
                <a:cs typeface="Calibri"/>
              </a:rPr>
              <a:t>are</a:t>
            </a:r>
            <a:r>
              <a:rPr sz="2200" spc="370" dirty="0">
                <a:latin typeface="Calibri"/>
                <a:cs typeface="Calibri"/>
              </a:rPr>
              <a:t> </a:t>
            </a:r>
            <a:r>
              <a:rPr sz="2200" dirty="0">
                <a:latin typeface="Calibri"/>
                <a:cs typeface="Calibri"/>
              </a:rPr>
              <a:t>much</a:t>
            </a:r>
            <a:r>
              <a:rPr sz="2200" spc="365" dirty="0">
                <a:latin typeface="Calibri"/>
                <a:cs typeface="Calibri"/>
              </a:rPr>
              <a:t> </a:t>
            </a:r>
            <a:r>
              <a:rPr sz="2200" spc="-20" dirty="0">
                <a:latin typeface="Calibri"/>
                <a:cs typeface="Calibri"/>
              </a:rPr>
              <a:t>more </a:t>
            </a:r>
            <a:r>
              <a:rPr sz="2200" dirty="0">
                <a:latin typeface="Calibri"/>
                <a:cs typeface="Calibri"/>
              </a:rPr>
              <a:t>likely</a:t>
            </a:r>
            <a:r>
              <a:rPr sz="2200" spc="-55"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develop</a:t>
            </a:r>
            <a:r>
              <a:rPr sz="2200" spc="-55" dirty="0">
                <a:latin typeface="Calibri"/>
                <a:cs typeface="Calibri"/>
              </a:rPr>
              <a:t> </a:t>
            </a:r>
            <a:r>
              <a:rPr sz="2200" dirty="0">
                <a:latin typeface="Calibri"/>
                <a:cs typeface="Calibri"/>
              </a:rPr>
              <a:t>under</a:t>
            </a:r>
            <a:r>
              <a:rPr sz="2200" spc="-60" dirty="0">
                <a:latin typeface="Calibri"/>
                <a:cs typeface="Calibri"/>
              </a:rPr>
              <a:t> </a:t>
            </a:r>
            <a:r>
              <a:rPr sz="2200" dirty="0">
                <a:latin typeface="Calibri"/>
                <a:cs typeface="Calibri"/>
              </a:rPr>
              <a:t>the</a:t>
            </a:r>
            <a:r>
              <a:rPr sz="2200" spc="-45" dirty="0">
                <a:latin typeface="Calibri"/>
                <a:cs typeface="Calibri"/>
              </a:rPr>
              <a:t> </a:t>
            </a:r>
            <a:r>
              <a:rPr sz="2200" spc="-10" dirty="0">
                <a:latin typeface="Calibri"/>
                <a:cs typeface="Calibri"/>
              </a:rPr>
              <a:t>following</a:t>
            </a:r>
            <a:r>
              <a:rPr sz="2200" spc="-45" dirty="0">
                <a:latin typeface="Calibri"/>
                <a:cs typeface="Calibri"/>
              </a:rPr>
              <a:t> </a:t>
            </a:r>
            <a:r>
              <a:rPr sz="2200" spc="-10" dirty="0">
                <a:latin typeface="Calibri"/>
                <a:cs typeface="Calibri"/>
              </a:rPr>
              <a:t>conditions:</a:t>
            </a:r>
            <a:endParaRPr sz="2200" dirty="0">
              <a:latin typeface="Calibri"/>
              <a:cs typeface="Calibri"/>
            </a:endParaRPr>
          </a:p>
          <a:p>
            <a:pPr marL="459105" indent="-217804">
              <a:lnSpc>
                <a:spcPct val="100000"/>
              </a:lnSpc>
              <a:spcBef>
                <a:spcPts val="455"/>
              </a:spcBef>
              <a:buFont typeface="Arial MT"/>
              <a:buChar char="•"/>
              <a:tabLst>
                <a:tab pos="459105" algn="l"/>
              </a:tabLst>
            </a:pPr>
            <a:r>
              <a:rPr sz="2200" dirty="0">
                <a:latin typeface="Calibri"/>
                <a:cs typeface="Calibri"/>
              </a:rPr>
              <a:t>There</a:t>
            </a:r>
            <a:r>
              <a:rPr sz="2200" spc="-45" dirty="0">
                <a:latin typeface="Calibri"/>
                <a:cs typeface="Calibri"/>
              </a:rPr>
              <a:t> </a:t>
            </a:r>
            <a:r>
              <a:rPr sz="2200" dirty="0">
                <a:latin typeface="Calibri"/>
                <a:cs typeface="Calibri"/>
              </a:rPr>
              <a:t>are</a:t>
            </a:r>
            <a:r>
              <a:rPr sz="2200" spc="-45" dirty="0">
                <a:latin typeface="Calibri"/>
                <a:cs typeface="Calibri"/>
              </a:rPr>
              <a:t> </a:t>
            </a:r>
            <a:r>
              <a:rPr sz="2200" dirty="0">
                <a:latin typeface="Calibri"/>
                <a:cs typeface="Calibri"/>
              </a:rPr>
              <a:t>10</a:t>
            </a:r>
            <a:r>
              <a:rPr sz="2200" spc="-50" dirty="0">
                <a:latin typeface="Calibri"/>
                <a:cs typeface="Calibri"/>
              </a:rPr>
              <a:t> </a:t>
            </a:r>
            <a:r>
              <a:rPr sz="2200" dirty="0">
                <a:latin typeface="Calibri"/>
                <a:cs typeface="Calibri"/>
              </a:rPr>
              <a:t>or</a:t>
            </a:r>
            <a:r>
              <a:rPr sz="2200" spc="-55" dirty="0">
                <a:latin typeface="Calibri"/>
                <a:cs typeface="Calibri"/>
              </a:rPr>
              <a:t> </a:t>
            </a:r>
            <a:r>
              <a:rPr sz="2200" spc="-10" dirty="0">
                <a:latin typeface="Calibri"/>
                <a:cs typeface="Calibri"/>
              </a:rPr>
              <a:t>fewer</a:t>
            </a:r>
            <a:r>
              <a:rPr sz="2200" spc="-55" dirty="0">
                <a:latin typeface="Calibri"/>
                <a:cs typeface="Calibri"/>
              </a:rPr>
              <a:t> </a:t>
            </a:r>
            <a:r>
              <a:rPr sz="2200" dirty="0">
                <a:latin typeface="Calibri"/>
                <a:cs typeface="Calibri"/>
              </a:rPr>
              <a:t>members</a:t>
            </a:r>
            <a:r>
              <a:rPr sz="2200" spc="-45" dirty="0">
                <a:latin typeface="Calibri"/>
                <a:cs typeface="Calibri"/>
              </a:rPr>
              <a:t> </a:t>
            </a:r>
            <a:r>
              <a:rPr sz="2200" dirty="0">
                <a:latin typeface="Calibri"/>
                <a:cs typeface="Calibri"/>
              </a:rPr>
              <a:t>per</a:t>
            </a:r>
            <a:r>
              <a:rPr sz="2200" spc="-55" dirty="0">
                <a:latin typeface="Calibri"/>
                <a:cs typeface="Calibri"/>
              </a:rPr>
              <a:t> </a:t>
            </a:r>
            <a:r>
              <a:rPr sz="2200" spc="-10" dirty="0">
                <a:latin typeface="Calibri"/>
                <a:cs typeface="Calibri"/>
              </a:rPr>
              <a:t>team.</a:t>
            </a:r>
            <a:endParaRPr sz="2200" dirty="0">
              <a:latin typeface="Calibri"/>
              <a:cs typeface="Calibri"/>
            </a:endParaRPr>
          </a:p>
          <a:p>
            <a:pPr marL="459105" indent="-217804">
              <a:lnSpc>
                <a:spcPct val="100000"/>
              </a:lnSpc>
              <a:spcBef>
                <a:spcPts val="455"/>
              </a:spcBef>
              <a:buFont typeface="Arial MT"/>
              <a:buChar char="•"/>
              <a:tabLst>
                <a:tab pos="459105" algn="l"/>
              </a:tabLst>
            </a:pPr>
            <a:r>
              <a:rPr sz="2200" dirty="0">
                <a:solidFill>
                  <a:srgbClr val="262EA4"/>
                </a:solidFill>
                <a:latin typeface="Calibri"/>
                <a:cs typeface="Calibri"/>
              </a:rPr>
              <a:t>Members</a:t>
            </a:r>
            <a:r>
              <a:rPr sz="2200" spc="-55" dirty="0">
                <a:solidFill>
                  <a:srgbClr val="262EA4"/>
                </a:solidFill>
                <a:latin typeface="Calibri"/>
                <a:cs typeface="Calibri"/>
              </a:rPr>
              <a:t> </a:t>
            </a:r>
            <a:r>
              <a:rPr sz="2200" dirty="0">
                <a:solidFill>
                  <a:srgbClr val="262EA4"/>
                </a:solidFill>
                <a:latin typeface="Calibri"/>
                <a:cs typeface="Calibri"/>
              </a:rPr>
              <a:t>volunteer</a:t>
            </a:r>
            <a:r>
              <a:rPr sz="2200" spc="-60" dirty="0">
                <a:solidFill>
                  <a:srgbClr val="262EA4"/>
                </a:solidFill>
                <a:latin typeface="Calibri"/>
                <a:cs typeface="Calibri"/>
              </a:rPr>
              <a:t> </a:t>
            </a:r>
            <a:r>
              <a:rPr sz="2200" dirty="0">
                <a:solidFill>
                  <a:srgbClr val="262EA4"/>
                </a:solidFill>
                <a:latin typeface="Calibri"/>
                <a:cs typeface="Calibri"/>
              </a:rPr>
              <a:t>to</a:t>
            </a:r>
            <a:r>
              <a:rPr sz="2200" spc="-45" dirty="0">
                <a:solidFill>
                  <a:srgbClr val="262EA4"/>
                </a:solidFill>
                <a:latin typeface="Calibri"/>
                <a:cs typeface="Calibri"/>
              </a:rPr>
              <a:t> </a:t>
            </a:r>
            <a:r>
              <a:rPr sz="2200" dirty="0">
                <a:solidFill>
                  <a:srgbClr val="262EA4"/>
                </a:solidFill>
                <a:latin typeface="Calibri"/>
                <a:cs typeface="Calibri"/>
              </a:rPr>
              <a:t>serve</a:t>
            </a:r>
            <a:r>
              <a:rPr sz="2200" spc="-50" dirty="0">
                <a:solidFill>
                  <a:srgbClr val="262EA4"/>
                </a:solidFill>
                <a:latin typeface="Calibri"/>
                <a:cs typeface="Calibri"/>
              </a:rPr>
              <a:t> </a:t>
            </a:r>
            <a:r>
              <a:rPr sz="2200" dirty="0">
                <a:solidFill>
                  <a:srgbClr val="262EA4"/>
                </a:solidFill>
                <a:latin typeface="Calibri"/>
                <a:cs typeface="Calibri"/>
              </a:rPr>
              <a:t>on</a:t>
            </a:r>
            <a:r>
              <a:rPr sz="2200" spc="-60" dirty="0">
                <a:solidFill>
                  <a:srgbClr val="262EA4"/>
                </a:solidFill>
                <a:latin typeface="Calibri"/>
                <a:cs typeface="Calibri"/>
              </a:rPr>
              <a:t> </a:t>
            </a:r>
            <a:r>
              <a:rPr sz="2200" dirty="0">
                <a:solidFill>
                  <a:srgbClr val="262EA4"/>
                </a:solidFill>
                <a:latin typeface="Calibri"/>
                <a:cs typeface="Calibri"/>
              </a:rPr>
              <a:t>the</a:t>
            </a:r>
            <a:r>
              <a:rPr sz="2200" spc="-45" dirty="0">
                <a:solidFill>
                  <a:srgbClr val="262EA4"/>
                </a:solidFill>
                <a:latin typeface="Calibri"/>
                <a:cs typeface="Calibri"/>
              </a:rPr>
              <a:t> </a:t>
            </a:r>
            <a:r>
              <a:rPr sz="2200" dirty="0">
                <a:solidFill>
                  <a:srgbClr val="262EA4"/>
                </a:solidFill>
                <a:latin typeface="Calibri"/>
                <a:cs typeface="Calibri"/>
              </a:rPr>
              <a:t>project</a:t>
            </a:r>
            <a:r>
              <a:rPr sz="2200" spc="-50" dirty="0">
                <a:solidFill>
                  <a:srgbClr val="262EA4"/>
                </a:solidFill>
                <a:latin typeface="Calibri"/>
                <a:cs typeface="Calibri"/>
              </a:rPr>
              <a:t> </a:t>
            </a:r>
            <a:r>
              <a:rPr sz="2200" spc="-10" dirty="0">
                <a:solidFill>
                  <a:srgbClr val="262EA4"/>
                </a:solidFill>
                <a:latin typeface="Calibri"/>
                <a:cs typeface="Calibri"/>
              </a:rPr>
              <a:t>team.</a:t>
            </a:r>
            <a:endParaRPr sz="2200" dirty="0">
              <a:latin typeface="Calibri"/>
              <a:cs typeface="Calibri"/>
            </a:endParaRPr>
          </a:p>
          <a:p>
            <a:pPr marL="459105" indent="-217804">
              <a:lnSpc>
                <a:spcPct val="100000"/>
              </a:lnSpc>
              <a:spcBef>
                <a:spcPts val="480"/>
              </a:spcBef>
              <a:buFont typeface="Arial MT"/>
              <a:buChar char="•"/>
              <a:tabLst>
                <a:tab pos="459105" algn="l"/>
              </a:tabLst>
            </a:pPr>
            <a:r>
              <a:rPr sz="2200" dirty="0">
                <a:latin typeface="Calibri"/>
                <a:cs typeface="Calibri"/>
              </a:rPr>
              <a:t>Members</a:t>
            </a:r>
            <a:r>
              <a:rPr sz="2200" spc="-50" dirty="0">
                <a:latin typeface="Calibri"/>
                <a:cs typeface="Calibri"/>
              </a:rPr>
              <a:t> </a:t>
            </a:r>
            <a:r>
              <a:rPr sz="2200" dirty="0">
                <a:latin typeface="Calibri"/>
                <a:cs typeface="Calibri"/>
              </a:rPr>
              <a:t>serve</a:t>
            </a:r>
            <a:r>
              <a:rPr sz="2200" spc="-40" dirty="0">
                <a:latin typeface="Calibri"/>
                <a:cs typeface="Calibri"/>
              </a:rPr>
              <a:t> </a:t>
            </a:r>
            <a:r>
              <a:rPr sz="2200" dirty="0">
                <a:latin typeface="Calibri"/>
                <a:cs typeface="Calibri"/>
              </a:rPr>
              <a:t>on</a:t>
            </a:r>
            <a:r>
              <a:rPr sz="2200" spc="-50"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project</a:t>
            </a:r>
            <a:r>
              <a:rPr sz="2200" spc="-45" dirty="0">
                <a:latin typeface="Calibri"/>
                <a:cs typeface="Calibri"/>
              </a:rPr>
              <a:t> </a:t>
            </a:r>
            <a:r>
              <a:rPr sz="2200" dirty="0">
                <a:latin typeface="Calibri"/>
                <a:cs typeface="Calibri"/>
              </a:rPr>
              <a:t>from</a:t>
            </a:r>
            <a:r>
              <a:rPr sz="2200" spc="-50" dirty="0">
                <a:latin typeface="Calibri"/>
                <a:cs typeface="Calibri"/>
              </a:rPr>
              <a:t> </a:t>
            </a:r>
            <a:r>
              <a:rPr sz="2200" dirty="0">
                <a:latin typeface="Calibri"/>
                <a:cs typeface="Calibri"/>
              </a:rPr>
              <a:t>beginning</a:t>
            </a:r>
            <a:r>
              <a:rPr sz="2200" spc="-45" dirty="0">
                <a:latin typeface="Calibri"/>
                <a:cs typeface="Calibri"/>
              </a:rPr>
              <a:t> </a:t>
            </a:r>
            <a:r>
              <a:rPr sz="2200" dirty="0">
                <a:latin typeface="Calibri"/>
                <a:cs typeface="Calibri"/>
              </a:rPr>
              <a:t>to</a:t>
            </a:r>
            <a:r>
              <a:rPr sz="2200" spc="-40" dirty="0">
                <a:latin typeface="Calibri"/>
                <a:cs typeface="Calibri"/>
              </a:rPr>
              <a:t> </a:t>
            </a:r>
            <a:r>
              <a:rPr sz="2200" spc="-20" dirty="0">
                <a:latin typeface="Calibri"/>
                <a:cs typeface="Calibri"/>
              </a:rPr>
              <a:t>end.</a:t>
            </a:r>
            <a:endParaRPr sz="2200" dirty="0">
              <a:latin typeface="Calibri"/>
              <a:cs typeface="Calibri"/>
            </a:endParaRPr>
          </a:p>
          <a:p>
            <a:pPr marL="459105" indent="-217804">
              <a:lnSpc>
                <a:spcPct val="100000"/>
              </a:lnSpc>
              <a:spcBef>
                <a:spcPts val="459"/>
              </a:spcBef>
              <a:buFont typeface="Arial MT"/>
              <a:buChar char="•"/>
              <a:tabLst>
                <a:tab pos="459105" algn="l"/>
              </a:tabLst>
            </a:pPr>
            <a:r>
              <a:rPr sz="2200" dirty="0">
                <a:solidFill>
                  <a:srgbClr val="262EA4"/>
                </a:solidFill>
                <a:latin typeface="Calibri"/>
                <a:cs typeface="Calibri"/>
              </a:rPr>
              <a:t>Members</a:t>
            </a:r>
            <a:r>
              <a:rPr sz="2200" spc="-50" dirty="0">
                <a:solidFill>
                  <a:srgbClr val="262EA4"/>
                </a:solidFill>
                <a:latin typeface="Calibri"/>
                <a:cs typeface="Calibri"/>
              </a:rPr>
              <a:t> </a:t>
            </a:r>
            <a:r>
              <a:rPr sz="2200" dirty="0">
                <a:solidFill>
                  <a:srgbClr val="262EA4"/>
                </a:solidFill>
                <a:latin typeface="Calibri"/>
                <a:cs typeface="Calibri"/>
              </a:rPr>
              <a:t>are</a:t>
            </a:r>
            <a:r>
              <a:rPr sz="2200" spc="-40" dirty="0">
                <a:solidFill>
                  <a:srgbClr val="262EA4"/>
                </a:solidFill>
                <a:latin typeface="Calibri"/>
                <a:cs typeface="Calibri"/>
              </a:rPr>
              <a:t> </a:t>
            </a:r>
            <a:r>
              <a:rPr sz="2200" dirty="0">
                <a:solidFill>
                  <a:srgbClr val="262EA4"/>
                </a:solidFill>
                <a:latin typeface="Calibri"/>
                <a:cs typeface="Calibri"/>
              </a:rPr>
              <a:t>assigned</a:t>
            </a:r>
            <a:r>
              <a:rPr sz="2200" spc="-50" dirty="0">
                <a:solidFill>
                  <a:srgbClr val="262EA4"/>
                </a:solidFill>
                <a:latin typeface="Calibri"/>
                <a:cs typeface="Calibri"/>
              </a:rPr>
              <a:t> </a:t>
            </a:r>
            <a:r>
              <a:rPr sz="2200" dirty="0">
                <a:solidFill>
                  <a:srgbClr val="262EA4"/>
                </a:solidFill>
                <a:latin typeface="Calibri"/>
                <a:cs typeface="Calibri"/>
              </a:rPr>
              <a:t>to</a:t>
            </a:r>
            <a:r>
              <a:rPr sz="2200" spc="-40" dirty="0">
                <a:solidFill>
                  <a:srgbClr val="262EA4"/>
                </a:solidFill>
                <a:latin typeface="Calibri"/>
                <a:cs typeface="Calibri"/>
              </a:rPr>
              <a:t> </a:t>
            </a:r>
            <a:r>
              <a:rPr sz="2200" dirty="0">
                <a:solidFill>
                  <a:srgbClr val="262EA4"/>
                </a:solidFill>
                <a:latin typeface="Calibri"/>
                <a:cs typeface="Calibri"/>
              </a:rPr>
              <a:t>the</a:t>
            </a:r>
            <a:r>
              <a:rPr sz="2200" spc="-35" dirty="0">
                <a:solidFill>
                  <a:srgbClr val="262EA4"/>
                </a:solidFill>
                <a:latin typeface="Calibri"/>
                <a:cs typeface="Calibri"/>
              </a:rPr>
              <a:t> </a:t>
            </a:r>
            <a:r>
              <a:rPr sz="2200" dirty="0">
                <a:solidFill>
                  <a:srgbClr val="262EA4"/>
                </a:solidFill>
                <a:latin typeface="Calibri"/>
                <a:cs typeface="Calibri"/>
              </a:rPr>
              <a:t>project</a:t>
            </a:r>
            <a:r>
              <a:rPr sz="2200" spc="-45" dirty="0">
                <a:solidFill>
                  <a:srgbClr val="262EA4"/>
                </a:solidFill>
                <a:latin typeface="Calibri"/>
                <a:cs typeface="Calibri"/>
              </a:rPr>
              <a:t> </a:t>
            </a:r>
            <a:r>
              <a:rPr sz="2200" dirty="0">
                <a:solidFill>
                  <a:srgbClr val="262EA4"/>
                </a:solidFill>
                <a:latin typeface="Calibri"/>
                <a:cs typeface="Calibri"/>
              </a:rPr>
              <a:t>full</a:t>
            </a:r>
            <a:r>
              <a:rPr sz="2200" spc="-50" dirty="0">
                <a:solidFill>
                  <a:srgbClr val="262EA4"/>
                </a:solidFill>
                <a:latin typeface="Calibri"/>
                <a:cs typeface="Calibri"/>
              </a:rPr>
              <a:t> </a:t>
            </a:r>
            <a:r>
              <a:rPr sz="2200" spc="-10" dirty="0">
                <a:solidFill>
                  <a:srgbClr val="262EA4"/>
                </a:solidFill>
                <a:latin typeface="Calibri"/>
                <a:cs typeface="Calibri"/>
              </a:rPr>
              <a:t>time.</a:t>
            </a:r>
            <a:endParaRPr sz="2200" dirty="0">
              <a:latin typeface="Calibri"/>
              <a:cs typeface="Calibri"/>
            </a:endParaRPr>
          </a:p>
          <a:p>
            <a:pPr marL="459105" indent="-217804">
              <a:lnSpc>
                <a:spcPct val="100000"/>
              </a:lnSpc>
              <a:spcBef>
                <a:spcPts val="550"/>
              </a:spcBef>
              <a:buFont typeface="Arial MT"/>
              <a:buChar char="•"/>
              <a:tabLst>
                <a:tab pos="459105" algn="l"/>
              </a:tabLst>
            </a:pPr>
            <a:r>
              <a:rPr sz="2200" dirty="0">
                <a:latin typeface="Calibri"/>
                <a:cs typeface="Calibri"/>
              </a:rPr>
              <a:t>Members</a:t>
            </a:r>
            <a:r>
              <a:rPr sz="2200" spc="-50" dirty="0">
                <a:latin typeface="Calibri"/>
                <a:cs typeface="Calibri"/>
              </a:rPr>
              <a:t> </a:t>
            </a:r>
            <a:r>
              <a:rPr sz="2200" dirty="0">
                <a:latin typeface="Calibri"/>
                <a:cs typeface="Calibri"/>
              </a:rPr>
              <a:t>are</a:t>
            </a:r>
            <a:r>
              <a:rPr sz="2200" spc="-40" dirty="0">
                <a:latin typeface="Calibri"/>
                <a:cs typeface="Calibri"/>
              </a:rPr>
              <a:t> </a:t>
            </a:r>
            <a:r>
              <a:rPr sz="2200" dirty="0">
                <a:latin typeface="Calibri"/>
                <a:cs typeface="Calibri"/>
              </a:rPr>
              <a:t>part</a:t>
            </a:r>
            <a:r>
              <a:rPr sz="2200" spc="-5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an</a:t>
            </a:r>
            <a:r>
              <a:rPr sz="2200" spc="-55" dirty="0">
                <a:latin typeface="Calibri"/>
                <a:cs typeface="Calibri"/>
              </a:rPr>
              <a:t> </a:t>
            </a:r>
            <a:r>
              <a:rPr sz="2200" spc="-10" dirty="0">
                <a:latin typeface="Calibri"/>
                <a:cs typeface="Calibri"/>
              </a:rPr>
              <a:t>organization</a:t>
            </a:r>
            <a:r>
              <a:rPr sz="2200" spc="-55" dirty="0">
                <a:latin typeface="Calibri"/>
                <a:cs typeface="Calibri"/>
              </a:rPr>
              <a:t> </a:t>
            </a:r>
            <a:r>
              <a:rPr sz="2200" dirty="0">
                <a:latin typeface="Calibri"/>
                <a:cs typeface="Calibri"/>
              </a:rPr>
              <a:t>culture</a:t>
            </a:r>
            <a:r>
              <a:rPr sz="2200" spc="-40" dirty="0">
                <a:latin typeface="Calibri"/>
                <a:cs typeface="Calibri"/>
              </a:rPr>
              <a:t> </a:t>
            </a:r>
            <a:r>
              <a:rPr sz="2200" dirty="0">
                <a:latin typeface="Calibri"/>
                <a:cs typeface="Calibri"/>
              </a:rPr>
              <a:t>that</a:t>
            </a:r>
            <a:r>
              <a:rPr sz="2200" spc="-50" dirty="0">
                <a:latin typeface="Calibri"/>
                <a:cs typeface="Calibri"/>
              </a:rPr>
              <a:t> </a:t>
            </a:r>
            <a:r>
              <a:rPr sz="2200" spc="-10" dirty="0">
                <a:latin typeface="Calibri"/>
                <a:cs typeface="Calibri"/>
              </a:rPr>
              <a:t>fosters</a:t>
            </a:r>
            <a:r>
              <a:rPr sz="2200" spc="-45" dirty="0">
                <a:latin typeface="Calibri"/>
                <a:cs typeface="Calibri"/>
              </a:rPr>
              <a:t> </a:t>
            </a:r>
            <a:r>
              <a:rPr sz="2200" spc="-10" dirty="0">
                <a:latin typeface="Calibri"/>
                <a:cs typeface="Calibri"/>
              </a:rPr>
              <a:t>cooperation</a:t>
            </a:r>
            <a:r>
              <a:rPr sz="2200" spc="-50" dirty="0">
                <a:latin typeface="Calibri"/>
                <a:cs typeface="Calibri"/>
              </a:rPr>
              <a:t> </a:t>
            </a:r>
            <a:r>
              <a:rPr sz="2200" dirty="0">
                <a:latin typeface="Calibri"/>
                <a:cs typeface="Calibri"/>
              </a:rPr>
              <a:t>and</a:t>
            </a:r>
            <a:r>
              <a:rPr sz="2200" spc="-50" dirty="0">
                <a:latin typeface="Calibri"/>
                <a:cs typeface="Calibri"/>
              </a:rPr>
              <a:t> </a:t>
            </a:r>
            <a:r>
              <a:rPr sz="2200" spc="-10" dirty="0">
                <a:latin typeface="Calibri"/>
                <a:cs typeface="Calibri"/>
              </a:rPr>
              <a:t>trust.</a:t>
            </a:r>
            <a:endParaRPr sz="2200">
              <a:latin typeface="Calibri"/>
              <a:cs typeface="Calibri"/>
            </a:endParaRPr>
          </a:p>
          <a:p>
            <a:pPr marL="459105" indent="-217804">
              <a:lnSpc>
                <a:spcPct val="100000"/>
              </a:lnSpc>
              <a:spcBef>
                <a:spcPts val="455"/>
              </a:spcBef>
              <a:buFont typeface="Arial MT"/>
              <a:buChar char="•"/>
              <a:tabLst>
                <a:tab pos="459105" algn="l"/>
              </a:tabLst>
            </a:pPr>
            <a:r>
              <a:rPr sz="2200" dirty="0">
                <a:solidFill>
                  <a:srgbClr val="262EA4"/>
                </a:solidFill>
                <a:latin typeface="Calibri"/>
                <a:cs typeface="Calibri"/>
              </a:rPr>
              <a:t>Members</a:t>
            </a:r>
            <a:r>
              <a:rPr sz="2200" spc="-55" dirty="0">
                <a:solidFill>
                  <a:srgbClr val="262EA4"/>
                </a:solidFill>
                <a:latin typeface="Calibri"/>
                <a:cs typeface="Calibri"/>
              </a:rPr>
              <a:t> </a:t>
            </a:r>
            <a:r>
              <a:rPr sz="2200" dirty="0">
                <a:solidFill>
                  <a:srgbClr val="262EA4"/>
                </a:solidFill>
                <a:latin typeface="Calibri"/>
                <a:cs typeface="Calibri"/>
              </a:rPr>
              <a:t>report</a:t>
            </a:r>
            <a:r>
              <a:rPr sz="2200" spc="-55" dirty="0">
                <a:solidFill>
                  <a:srgbClr val="262EA4"/>
                </a:solidFill>
                <a:latin typeface="Calibri"/>
                <a:cs typeface="Calibri"/>
              </a:rPr>
              <a:t> </a:t>
            </a:r>
            <a:r>
              <a:rPr sz="2200" dirty="0">
                <a:solidFill>
                  <a:srgbClr val="262EA4"/>
                </a:solidFill>
                <a:latin typeface="Calibri"/>
                <a:cs typeface="Calibri"/>
              </a:rPr>
              <a:t>solely</a:t>
            </a:r>
            <a:r>
              <a:rPr sz="2200" spc="-50" dirty="0">
                <a:solidFill>
                  <a:srgbClr val="262EA4"/>
                </a:solidFill>
                <a:latin typeface="Calibri"/>
                <a:cs typeface="Calibri"/>
              </a:rPr>
              <a:t> </a:t>
            </a:r>
            <a:r>
              <a:rPr sz="2200" dirty="0">
                <a:solidFill>
                  <a:srgbClr val="262EA4"/>
                </a:solidFill>
                <a:latin typeface="Calibri"/>
                <a:cs typeface="Calibri"/>
              </a:rPr>
              <a:t>to</a:t>
            </a:r>
            <a:r>
              <a:rPr sz="2200" spc="-50" dirty="0">
                <a:solidFill>
                  <a:srgbClr val="262EA4"/>
                </a:solidFill>
                <a:latin typeface="Calibri"/>
                <a:cs typeface="Calibri"/>
              </a:rPr>
              <a:t> </a:t>
            </a:r>
            <a:r>
              <a:rPr sz="2200" dirty="0">
                <a:solidFill>
                  <a:srgbClr val="262EA4"/>
                </a:solidFill>
                <a:latin typeface="Calibri"/>
                <a:cs typeface="Calibri"/>
              </a:rPr>
              <a:t>the</a:t>
            </a:r>
            <a:r>
              <a:rPr sz="2200" spc="-45" dirty="0">
                <a:solidFill>
                  <a:srgbClr val="262EA4"/>
                </a:solidFill>
                <a:latin typeface="Calibri"/>
                <a:cs typeface="Calibri"/>
              </a:rPr>
              <a:t> </a:t>
            </a:r>
            <a:r>
              <a:rPr sz="2200" dirty="0">
                <a:solidFill>
                  <a:srgbClr val="262EA4"/>
                </a:solidFill>
                <a:latin typeface="Calibri"/>
                <a:cs typeface="Calibri"/>
              </a:rPr>
              <a:t>project</a:t>
            </a:r>
            <a:r>
              <a:rPr sz="2200" spc="-55" dirty="0">
                <a:solidFill>
                  <a:srgbClr val="262EA4"/>
                </a:solidFill>
                <a:latin typeface="Calibri"/>
                <a:cs typeface="Calibri"/>
              </a:rPr>
              <a:t> </a:t>
            </a:r>
            <a:r>
              <a:rPr sz="2200" spc="-10" dirty="0">
                <a:solidFill>
                  <a:srgbClr val="262EA4"/>
                </a:solidFill>
                <a:latin typeface="Calibri"/>
                <a:cs typeface="Calibri"/>
              </a:rPr>
              <a:t>manager.</a:t>
            </a:r>
            <a:endParaRPr sz="2200" dirty="0">
              <a:latin typeface="Calibri"/>
              <a:cs typeface="Calibri"/>
            </a:endParaRPr>
          </a:p>
          <a:p>
            <a:pPr marL="459105" indent="-217804">
              <a:lnSpc>
                <a:spcPct val="100000"/>
              </a:lnSpc>
              <a:spcBef>
                <a:spcPts val="455"/>
              </a:spcBef>
              <a:buFont typeface="Arial MT"/>
              <a:buChar char="•"/>
              <a:tabLst>
                <a:tab pos="459105" algn="l"/>
              </a:tabLst>
            </a:pPr>
            <a:r>
              <a:rPr sz="2200" dirty="0">
                <a:latin typeface="Calibri"/>
                <a:cs typeface="Calibri"/>
              </a:rPr>
              <a:t>All</a:t>
            </a:r>
            <a:r>
              <a:rPr sz="2200" spc="-50" dirty="0">
                <a:latin typeface="Calibri"/>
                <a:cs typeface="Calibri"/>
              </a:rPr>
              <a:t> </a:t>
            </a:r>
            <a:r>
              <a:rPr sz="2200" spc="-10" dirty="0">
                <a:latin typeface="Calibri"/>
                <a:cs typeface="Calibri"/>
              </a:rPr>
              <a:t>relevant</a:t>
            </a:r>
            <a:r>
              <a:rPr sz="2200" spc="-45" dirty="0">
                <a:latin typeface="Calibri"/>
                <a:cs typeface="Calibri"/>
              </a:rPr>
              <a:t> </a:t>
            </a:r>
            <a:r>
              <a:rPr sz="2200" dirty="0">
                <a:latin typeface="Calibri"/>
                <a:cs typeface="Calibri"/>
              </a:rPr>
              <a:t>functional</a:t>
            </a:r>
            <a:r>
              <a:rPr sz="2200" spc="-45" dirty="0">
                <a:latin typeface="Calibri"/>
                <a:cs typeface="Calibri"/>
              </a:rPr>
              <a:t> </a:t>
            </a:r>
            <a:r>
              <a:rPr sz="2200" dirty="0">
                <a:latin typeface="Calibri"/>
                <a:cs typeface="Calibri"/>
              </a:rPr>
              <a:t>areas</a:t>
            </a:r>
            <a:r>
              <a:rPr sz="2200" spc="-45" dirty="0">
                <a:latin typeface="Calibri"/>
                <a:cs typeface="Calibri"/>
              </a:rPr>
              <a:t> </a:t>
            </a:r>
            <a:r>
              <a:rPr sz="2200" dirty="0">
                <a:latin typeface="Calibri"/>
                <a:cs typeface="Calibri"/>
              </a:rPr>
              <a:t>are</a:t>
            </a:r>
            <a:r>
              <a:rPr sz="2200" spc="-40" dirty="0">
                <a:latin typeface="Calibri"/>
                <a:cs typeface="Calibri"/>
              </a:rPr>
              <a:t> </a:t>
            </a:r>
            <a:r>
              <a:rPr sz="2200" spc="-10" dirty="0">
                <a:latin typeface="Calibri"/>
                <a:cs typeface="Calibri"/>
              </a:rPr>
              <a:t>represented</a:t>
            </a:r>
            <a:r>
              <a:rPr sz="2200" spc="-55" dirty="0">
                <a:latin typeface="Calibri"/>
                <a:cs typeface="Calibri"/>
              </a:rPr>
              <a:t> </a:t>
            </a:r>
            <a:r>
              <a:rPr sz="2200" dirty="0">
                <a:latin typeface="Calibri"/>
                <a:cs typeface="Calibri"/>
              </a:rPr>
              <a:t>on</a:t>
            </a:r>
            <a:r>
              <a:rPr sz="2200" spc="-45" dirty="0">
                <a:latin typeface="Calibri"/>
                <a:cs typeface="Calibri"/>
              </a:rPr>
              <a:t> </a:t>
            </a:r>
            <a:r>
              <a:rPr sz="2200" dirty="0">
                <a:latin typeface="Calibri"/>
                <a:cs typeface="Calibri"/>
              </a:rPr>
              <a:t>the</a:t>
            </a:r>
            <a:r>
              <a:rPr sz="2200" spc="-35" dirty="0">
                <a:latin typeface="Calibri"/>
                <a:cs typeface="Calibri"/>
              </a:rPr>
              <a:t> </a:t>
            </a:r>
            <a:r>
              <a:rPr sz="2200" spc="-10" dirty="0">
                <a:latin typeface="Calibri"/>
                <a:cs typeface="Calibri"/>
              </a:rPr>
              <a:t>team.</a:t>
            </a:r>
            <a:endParaRPr sz="2200" dirty="0">
              <a:latin typeface="Calibri"/>
              <a:cs typeface="Calibri"/>
            </a:endParaRPr>
          </a:p>
          <a:p>
            <a:pPr marL="459105" indent="-217804">
              <a:lnSpc>
                <a:spcPct val="100000"/>
              </a:lnSpc>
              <a:spcBef>
                <a:spcPts val="480"/>
              </a:spcBef>
              <a:buFont typeface="Arial MT"/>
              <a:buChar char="•"/>
              <a:tabLst>
                <a:tab pos="459105" algn="l"/>
              </a:tabLst>
            </a:pPr>
            <a:r>
              <a:rPr sz="2200" dirty="0">
                <a:solidFill>
                  <a:srgbClr val="262EA4"/>
                </a:solidFill>
                <a:latin typeface="Calibri"/>
                <a:cs typeface="Calibri"/>
              </a:rPr>
              <a:t>The</a:t>
            </a:r>
            <a:r>
              <a:rPr sz="2200" spc="-50" dirty="0">
                <a:solidFill>
                  <a:srgbClr val="262EA4"/>
                </a:solidFill>
                <a:latin typeface="Calibri"/>
                <a:cs typeface="Calibri"/>
              </a:rPr>
              <a:t> </a:t>
            </a:r>
            <a:r>
              <a:rPr sz="2200" dirty="0">
                <a:solidFill>
                  <a:srgbClr val="262EA4"/>
                </a:solidFill>
                <a:latin typeface="Calibri"/>
                <a:cs typeface="Calibri"/>
              </a:rPr>
              <a:t>project</a:t>
            </a:r>
            <a:r>
              <a:rPr sz="2200" spc="-55" dirty="0">
                <a:solidFill>
                  <a:srgbClr val="262EA4"/>
                </a:solidFill>
                <a:latin typeface="Calibri"/>
                <a:cs typeface="Calibri"/>
              </a:rPr>
              <a:t> </a:t>
            </a:r>
            <a:r>
              <a:rPr sz="2200" spc="-10" dirty="0">
                <a:solidFill>
                  <a:srgbClr val="262EA4"/>
                </a:solidFill>
                <a:latin typeface="Calibri"/>
                <a:cs typeface="Calibri"/>
              </a:rPr>
              <a:t>involves</a:t>
            </a:r>
            <a:r>
              <a:rPr sz="2200" spc="-55" dirty="0">
                <a:solidFill>
                  <a:srgbClr val="262EA4"/>
                </a:solidFill>
                <a:latin typeface="Calibri"/>
                <a:cs typeface="Calibri"/>
              </a:rPr>
              <a:t> </a:t>
            </a:r>
            <a:r>
              <a:rPr sz="2200" dirty="0">
                <a:solidFill>
                  <a:srgbClr val="262EA4"/>
                </a:solidFill>
                <a:latin typeface="Calibri"/>
                <a:cs typeface="Calibri"/>
              </a:rPr>
              <a:t>a</a:t>
            </a:r>
            <a:r>
              <a:rPr sz="2200" spc="-55" dirty="0">
                <a:solidFill>
                  <a:srgbClr val="262EA4"/>
                </a:solidFill>
                <a:latin typeface="Calibri"/>
                <a:cs typeface="Calibri"/>
              </a:rPr>
              <a:t> </a:t>
            </a:r>
            <a:r>
              <a:rPr sz="2200" dirty="0">
                <a:solidFill>
                  <a:srgbClr val="262EA4"/>
                </a:solidFill>
                <a:latin typeface="Calibri"/>
                <a:cs typeface="Calibri"/>
              </a:rPr>
              <a:t>compelling</a:t>
            </a:r>
            <a:r>
              <a:rPr sz="2200" spc="-50" dirty="0">
                <a:solidFill>
                  <a:srgbClr val="262EA4"/>
                </a:solidFill>
                <a:latin typeface="Calibri"/>
                <a:cs typeface="Calibri"/>
              </a:rPr>
              <a:t> </a:t>
            </a:r>
            <a:r>
              <a:rPr sz="2200" spc="-10" dirty="0">
                <a:solidFill>
                  <a:srgbClr val="262EA4"/>
                </a:solidFill>
                <a:latin typeface="Calibri"/>
                <a:cs typeface="Calibri"/>
              </a:rPr>
              <a:t>objective.</a:t>
            </a:r>
            <a:endParaRPr sz="2200" dirty="0">
              <a:latin typeface="Calibri"/>
              <a:cs typeface="Calibri"/>
            </a:endParaRPr>
          </a:p>
          <a:p>
            <a:pPr marL="459105" indent="-217804">
              <a:lnSpc>
                <a:spcPct val="100000"/>
              </a:lnSpc>
              <a:spcBef>
                <a:spcPts val="459"/>
              </a:spcBef>
              <a:buFont typeface="Arial MT"/>
              <a:buChar char="•"/>
              <a:tabLst>
                <a:tab pos="459105" algn="l"/>
              </a:tabLst>
            </a:pPr>
            <a:r>
              <a:rPr sz="2200" dirty="0">
                <a:latin typeface="Calibri"/>
                <a:cs typeface="Calibri"/>
              </a:rPr>
              <a:t>Members</a:t>
            </a:r>
            <a:r>
              <a:rPr sz="2200" spc="-65" dirty="0">
                <a:latin typeface="Calibri"/>
                <a:cs typeface="Calibri"/>
              </a:rPr>
              <a:t> </a:t>
            </a:r>
            <a:r>
              <a:rPr sz="2200" dirty="0">
                <a:latin typeface="Calibri"/>
                <a:cs typeface="Calibri"/>
              </a:rPr>
              <a:t>are</a:t>
            </a:r>
            <a:r>
              <a:rPr sz="2200" spc="-55" dirty="0">
                <a:latin typeface="Calibri"/>
                <a:cs typeface="Calibri"/>
              </a:rPr>
              <a:t> </a:t>
            </a:r>
            <a:r>
              <a:rPr sz="2200" dirty="0">
                <a:latin typeface="Calibri"/>
                <a:cs typeface="Calibri"/>
              </a:rPr>
              <a:t>located</a:t>
            </a:r>
            <a:r>
              <a:rPr sz="2200" spc="-65" dirty="0">
                <a:latin typeface="Calibri"/>
                <a:cs typeface="Calibri"/>
              </a:rPr>
              <a:t> </a:t>
            </a:r>
            <a:r>
              <a:rPr sz="2200" dirty="0">
                <a:latin typeface="Calibri"/>
                <a:cs typeface="Calibri"/>
              </a:rPr>
              <a:t>within</a:t>
            </a:r>
            <a:r>
              <a:rPr sz="2200" spc="-65" dirty="0">
                <a:latin typeface="Calibri"/>
                <a:cs typeface="Calibri"/>
              </a:rPr>
              <a:t> </a:t>
            </a:r>
            <a:r>
              <a:rPr sz="2200" spc="-10" dirty="0">
                <a:latin typeface="Calibri"/>
                <a:cs typeface="Calibri"/>
              </a:rPr>
              <a:t>conversational</a:t>
            </a:r>
            <a:r>
              <a:rPr sz="2200" spc="-60" dirty="0">
                <a:latin typeface="Calibri"/>
                <a:cs typeface="Calibri"/>
              </a:rPr>
              <a:t> </a:t>
            </a:r>
            <a:r>
              <a:rPr sz="2200" dirty="0">
                <a:latin typeface="Calibri"/>
                <a:cs typeface="Calibri"/>
              </a:rPr>
              <a:t>distance</a:t>
            </a:r>
            <a:r>
              <a:rPr sz="2200" spc="-60" dirty="0">
                <a:latin typeface="Calibri"/>
                <a:cs typeface="Calibri"/>
              </a:rPr>
              <a:t> </a:t>
            </a:r>
            <a:r>
              <a:rPr sz="2200" dirty="0">
                <a:latin typeface="Calibri"/>
                <a:cs typeface="Calibri"/>
              </a:rPr>
              <a:t>of</a:t>
            </a:r>
            <a:r>
              <a:rPr sz="2200" spc="-55" dirty="0">
                <a:latin typeface="Calibri"/>
                <a:cs typeface="Calibri"/>
              </a:rPr>
              <a:t> </a:t>
            </a:r>
            <a:r>
              <a:rPr sz="2200" dirty="0">
                <a:latin typeface="Calibri"/>
                <a:cs typeface="Calibri"/>
              </a:rPr>
              <a:t>each</a:t>
            </a:r>
            <a:r>
              <a:rPr sz="2200" spc="-70" dirty="0">
                <a:latin typeface="Calibri"/>
                <a:cs typeface="Calibri"/>
              </a:rPr>
              <a:t> </a:t>
            </a:r>
            <a:r>
              <a:rPr sz="2200" spc="-10" dirty="0">
                <a:latin typeface="Calibri"/>
                <a:cs typeface="Calibri"/>
              </a:rPr>
              <a:t>other.</a:t>
            </a:r>
            <a:endParaRPr sz="2200" dirty="0">
              <a:latin typeface="Calibri"/>
              <a:cs typeface="Calibri"/>
            </a:endParaRPr>
          </a:p>
        </p:txBody>
      </p:sp>
      <p:sp>
        <p:nvSpPr>
          <p:cNvPr id="4" name="object 4"/>
          <p:cNvSpPr txBox="1"/>
          <p:nvPr/>
        </p:nvSpPr>
        <p:spPr>
          <a:xfrm>
            <a:off x="2567177" y="6245859"/>
            <a:ext cx="706882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00000"/>
                </a:solidFill>
                <a:latin typeface="Calibri"/>
                <a:cs typeface="Calibri"/>
              </a:rPr>
              <a:t>In</a:t>
            </a:r>
            <a:r>
              <a:rPr sz="2200" spc="-50" dirty="0">
                <a:solidFill>
                  <a:srgbClr val="C00000"/>
                </a:solidFill>
                <a:latin typeface="Calibri"/>
                <a:cs typeface="Calibri"/>
              </a:rPr>
              <a:t> </a:t>
            </a:r>
            <a:r>
              <a:rPr sz="2200" dirty="0">
                <a:solidFill>
                  <a:srgbClr val="C00000"/>
                </a:solidFill>
                <a:latin typeface="Calibri"/>
                <a:cs typeface="Calibri"/>
              </a:rPr>
              <a:t>real</a:t>
            </a:r>
            <a:r>
              <a:rPr sz="2200" spc="-45" dirty="0">
                <a:solidFill>
                  <a:srgbClr val="C00000"/>
                </a:solidFill>
                <a:latin typeface="Calibri"/>
                <a:cs typeface="Calibri"/>
              </a:rPr>
              <a:t> </a:t>
            </a:r>
            <a:r>
              <a:rPr sz="2200" dirty="0">
                <a:solidFill>
                  <a:srgbClr val="C00000"/>
                </a:solidFill>
                <a:latin typeface="Calibri"/>
                <a:cs typeface="Calibri"/>
              </a:rPr>
              <a:t>life,</a:t>
            </a:r>
            <a:r>
              <a:rPr sz="2200" spc="-45" dirty="0">
                <a:solidFill>
                  <a:srgbClr val="C00000"/>
                </a:solidFill>
                <a:latin typeface="Calibri"/>
                <a:cs typeface="Calibri"/>
              </a:rPr>
              <a:t> </a:t>
            </a:r>
            <a:r>
              <a:rPr sz="2200" dirty="0">
                <a:solidFill>
                  <a:srgbClr val="C00000"/>
                </a:solidFill>
                <a:latin typeface="Calibri"/>
                <a:cs typeface="Calibri"/>
              </a:rPr>
              <a:t>it</a:t>
            </a:r>
            <a:r>
              <a:rPr sz="2200" spc="-40" dirty="0">
                <a:solidFill>
                  <a:srgbClr val="C00000"/>
                </a:solidFill>
                <a:latin typeface="Calibri"/>
                <a:cs typeface="Calibri"/>
              </a:rPr>
              <a:t> </a:t>
            </a:r>
            <a:r>
              <a:rPr sz="2200" dirty="0">
                <a:solidFill>
                  <a:srgbClr val="C00000"/>
                </a:solidFill>
                <a:latin typeface="Calibri"/>
                <a:cs typeface="Calibri"/>
              </a:rPr>
              <a:t>is</a:t>
            </a:r>
            <a:r>
              <a:rPr sz="2200" spc="-45" dirty="0">
                <a:solidFill>
                  <a:srgbClr val="C00000"/>
                </a:solidFill>
                <a:latin typeface="Calibri"/>
                <a:cs typeface="Calibri"/>
              </a:rPr>
              <a:t> </a:t>
            </a:r>
            <a:r>
              <a:rPr sz="2200" dirty="0">
                <a:solidFill>
                  <a:srgbClr val="C00000"/>
                </a:solidFill>
                <a:latin typeface="Calibri"/>
                <a:cs typeface="Calibri"/>
              </a:rPr>
              <a:t>almost</a:t>
            </a:r>
            <a:r>
              <a:rPr sz="2200" spc="-40" dirty="0">
                <a:solidFill>
                  <a:srgbClr val="C00000"/>
                </a:solidFill>
                <a:latin typeface="Calibri"/>
                <a:cs typeface="Calibri"/>
              </a:rPr>
              <a:t> </a:t>
            </a:r>
            <a:r>
              <a:rPr sz="2200" dirty="0">
                <a:solidFill>
                  <a:srgbClr val="C00000"/>
                </a:solidFill>
                <a:latin typeface="Calibri"/>
                <a:cs typeface="Calibri"/>
              </a:rPr>
              <a:t>impossible</a:t>
            </a:r>
            <a:r>
              <a:rPr sz="2200" spc="-40" dirty="0">
                <a:solidFill>
                  <a:srgbClr val="C00000"/>
                </a:solidFill>
                <a:latin typeface="Calibri"/>
                <a:cs typeface="Calibri"/>
              </a:rPr>
              <a:t> </a:t>
            </a:r>
            <a:r>
              <a:rPr sz="2200" dirty="0">
                <a:solidFill>
                  <a:srgbClr val="C00000"/>
                </a:solidFill>
                <a:latin typeface="Calibri"/>
                <a:cs typeface="Calibri"/>
              </a:rPr>
              <a:t>to</a:t>
            </a:r>
            <a:r>
              <a:rPr sz="2200" spc="-35" dirty="0">
                <a:solidFill>
                  <a:srgbClr val="C00000"/>
                </a:solidFill>
                <a:latin typeface="Calibri"/>
                <a:cs typeface="Calibri"/>
              </a:rPr>
              <a:t> </a:t>
            </a:r>
            <a:r>
              <a:rPr sz="2200" dirty="0">
                <a:solidFill>
                  <a:srgbClr val="C00000"/>
                </a:solidFill>
                <a:latin typeface="Calibri"/>
                <a:cs typeface="Calibri"/>
              </a:rPr>
              <a:t>meet</a:t>
            </a:r>
            <a:r>
              <a:rPr sz="2200" spc="-45" dirty="0">
                <a:solidFill>
                  <a:srgbClr val="C00000"/>
                </a:solidFill>
                <a:latin typeface="Calibri"/>
                <a:cs typeface="Calibri"/>
              </a:rPr>
              <a:t> </a:t>
            </a:r>
            <a:r>
              <a:rPr sz="2200" dirty="0">
                <a:solidFill>
                  <a:srgbClr val="C00000"/>
                </a:solidFill>
                <a:latin typeface="Calibri"/>
                <a:cs typeface="Calibri"/>
              </a:rPr>
              <a:t>all</a:t>
            </a:r>
            <a:r>
              <a:rPr sz="2200" spc="-45" dirty="0">
                <a:solidFill>
                  <a:srgbClr val="C00000"/>
                </a:solidFill>
                <a:latin typeface="Calibri"/>
                <a:cs typeface="Calibri"/>
              </a:rPr>
              <a:t> </a:t>
            </a:r>
            <a:r>
              <a:rPr sz="2200" dirty="0">
                <a:solidFill>
                  <a:srgbClr val="C00000"/>
                </a:solidFill>
                <a:latin typeface="Calibri"/>
                <a:cs typeface="Calibri"/>
              </a:rPr>
              <a:t>these</a:t>
            </a:r>
            <a:r>
              <a:rPr sz="2200" spc="-40" dirty="0">
                <a:solidFill>
                  <a:srgbClr val="C00000"/>
                </a:solidFill>
                <a:latin typeface="Calibri"/>
                <a:cs typeface="Calibri"/>
              </a:rPr>
              <a:t> </a:t>
            </a:r>
            <a:r>
              <a:rPr sz="2200" spc="-10" dirty="0">
                <a:solidFill>
                  <a:srgbClr val="C00000"/>
                </a:solidFill>
                <a:latin typeface="Calibri"/>
                <a:cs typeface="Calibri"/>
              </a:rPr>
              <a:t>conditions.</a:t>
            </a:r>
            <a:endParaRPr sz="2200">
              <a:latin typeface="Calibri"/>
              <a:cs typeface="Calibri"/>
            </a:endParaRPr>
          </a:p>
        </p:txBody>
      </p:sp>
      <p:sp>
        <p:nvSpPr>
          <p:cNvPr id="5" name="object 5"/>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18</a:t>
            </a:r>
            <a:endParaRPr sz="1200">
              <a:latin typeface="Calibri"/>
              <a:cs typeface="Calibri"/>
            </a:endParaRPr>
          </a:p>
        </p:txBody>
      </p:sp>
      <p:pic>
        <p:nvPicPr>
          <p:cNvPr id="6" name="Picture 5">
            <a:extLst>
              <a:ext uri="{FF2B5EF4-FFF2-40B4-BE49-F238E27FC236}">
                <a16:creationId xmlns:a16="http://schemas.microsoft.com/office/drawing/2014/main" id="{B8DBD1EC-4749-8FE0-67BD-DF15CAC067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76400" cy="76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0325">
              <a:lnSpc>
                <a:spcPct val="100000"/>
              </a:lnSpc>
              <a:spcBef>
                <a:spcPts val="110"/>
              </a:spcBef>
            </a:pPr>
            <a:r>
              <a:rPr spc="110" dirty="0"/>
              <a:t>Assignement</a:t>
            </a:r>
            <a:r>
              <a:rPr spc="150" dirty="0"/>
              <a:t> </a:t>
            </a:r>
            <a:r>
              <a:rPr spc="-50" dirty="0"/>
              <a:t>8</a:t>
            </a:r>
          </a:p>
        </p:txBody>
      </p:sp>
      <p:sp>
        <p:nvSpPr>
          <p:cNvPr id="3" name="object 3"/>
          <p:cNvSpPr txBox="1"/>
          <p:nvPr/>
        </p:nvSpPr>
        <p:spPr>
          <a:xfrm>
            <a:off x="893644" y="1631188"/>
            <a:ext cx="10346690" cy="4752975"/>
          </a:xfrm>
          <a:prstGeom prst="rect">
            <a:avLst/>
          </a:prstGeom>
        </p:spPr>
        <p:txBody>
          <a:bodyPr vert="horz" wrap="square" lIns="0" tIns="94615" rIns="0" bIns="0" rtlCol="0">
            <a:spAutoFit/>
          </a:bodyPr>
          <a:lstStyle/>
          <a:p>
            <a:pPr marL="358140" indent="-345440">
              <a:lnSpc>
                <a:spcPct val="100000"/>
              </a:lnSpc>
              <a:spcBef>
                <a:spcPts val="745"/>
              </a:spcBef>
              <a:buAutoNum type="arabicPeriod"/>
              <a:tabLst>
                <a:tab pos="358140" algn="l"/>
              </a:tabLst>
            </a:pPr>
            <a:r>
              <a:rPr sz="2800" dirty="0">
                <a:latin typeface="Calibri"/>
                <a:cs typeface="Calibri"/>
              </a:rPr>
              <a:t>What</a:t>
            </a:r>
            <a:r>
              <a:rPr sz="2800" spc="-40" dirty="0">
                <a:latin typeface="Calibri"/>
                <a:cs typeface="Calibri"/>
              </a:rPr>
              <a:t> </a:t>
            </a:r>
            <a:r>
              <a:rPr sz="2800" dirty="0">
                <a:latin typeface="Calibri"/>
                <a:cs typeface="Calibri"/>
              </a:rPr>
              <a:t>is</a:t>
            </a:r>
            <a:r>
              <a:rPr sz="2800" spc="-35" dirty="0">
                <a:latin typeface="Calibri"/>
                <a:cs typeface="Calibri"/>
              </a:rPr>
              <a:t> </a:t>
            </a:r>
            <a:r>
              <a:rPr sz="2800" dirty="0">
                <a:latin typeface="Calibri"/>
                <a:cs typeface="Calibri"/>
              </a:rPr>
              <a:t>the</a:t>
            </a:r>
            <a:r>
              <a:rPr sz="2800" spc="-40" dirty="0">
                <a:latin typeface="Calibri"/>
                <a:cs typeface="Calibri"/>
              </a:rPr>
              <a:t> </a:t>
            </a:r>
            <a:r>
              <a:rPr sz="2800" spc="-10" dirty="0">
                <a:latin typeface="Calibri"/>
                <a:cs typeface="Calibri"/>
              </a:rPr>
              <a:t>difference</a:t>
            </a:r>
            <a:r>
              <a:rPr sz="2800" spc="-45" dirty="0">
                <a:latin typeface="Calibri"/>
                <a:cs typeface="Calibri"/>
              </a:rPr>
              <a:t> </a:t>
            </a:r>
            <a:r>
              <a:rPr sz="2800" dirty="0">
                <a:latin typeface="Calibri"/>
                <a:cs typeface="Calibri"/>
              </a:rPr>
              <a:t>between</a:t>
            </a:r>
            <a:r>
              <a:rPr sz="2800" spc="-40" dirty="0">
                <a:latin typeface="Calibri"/>
                <a:cs typeface="Calibri"/>
              </a:rPr>
              <a:t> </a:t>
            </a:r>
            <a:r>
              <a:rPr sz="2800" dirty="0">
                <a:latin typeface="Calibri"/>
                <a:cs typeface="Calibri"/>
              </a:rPr>
              <a:t>leading</a:t>
            </a:r>
            <a:r>
              <a:rPr sz="2800" spc="-45" dirty="0">
                <a:latin typeface="Calibri"/>
                <a:cs typeface="Calibri"/>
              </a:rPr>
              <a:t> </a:t>
            </a:r>
            <a:r>
              <a:rPr sz="2800" dirty="0">
                <a:latin typeface="Calibri"/>
                <a:cs typeface="Calibri"/>
              </a:rPr>
              <a:t>and</a:t>
            </a:r>
            <a:r>
              <a:rPr sz="2800" spc="-35" dirty="0">
                <a:latin typeface="Calibri"/>
                <a:cs typeface="Calibri"/>
              </a:rPr>
              <a:t> </a:t>
            </a:r>
            <a:r>
              <a:rPr sz="2800" dirty="0">
                <a:latin typeface="Calibri"/>
                <a:cs typeface="Calibri"/>
              </a:rPr>
              <a:t>managing</a:t>
            </a:r>
            <a:r>
              <a:rPr sz="2800" spc="-50" dirty="0">
                <a:latin typeface="Calibri"/>
                <a:cs typeface="Calibri"/>
              </a:rPr>
              <a:t> </a:t>
            </a:r>
            <a:r>
              <a:rPr sz="2800" dirty="0">
                <a:latin typeface="Calibri"/>
                <a:cs typeface="Calibri"/>
              </a:rPr>
              <a:t>a</a:t>
            </a:r>
            <a:r>
              <a:rPr sz="2800" spc="-40" dirty="0">
                <a:latin typeface="Calibri"/>
                <a:cs typeface="Calibri"/>
              </a:rPr>
              <a:t> </a:t>
            </a:r>
            <a:r>
              <a:rPr sz="2800" spc="-10" dirty="0">
                <a:latin typeface="Calibri"/>
                <a:cs typeface="Calibri"/>
              </a:rPr>
              <a:t>project?</a:t>
            </a:r>
            <a:endParaRPr sz="2800" dirty="0">
              <a:latin typeface="Calibri"/>
              <a:cs typeface="Calibri"/>
            </a:endParaRPr>
          </a:p>
          <a:p>
            <a:pPr marL="358140" indent="-345440">
              <a:lnSpc>
                <a:spcPct val="100000"/>
              </a:lnSpc>
              <a:spcBef>
                <a:spcPts val="650"/>
              </a:spcBef>
              <a:buAutoNum type="arabicPeriod"/>
              <a:tabLst>
                <a:tab pos="358140" algn="l"/>
              </a:tabLst>
            </a:pPr>
            <a:r>
              <a:rPr sz="2800" dirty="0">
                <a:latin typeface="Calibri"/>
                <a:cs typeface="Calibri"/>
              </a:rPr>
              <a:t>Why</a:t>
            </a:r>
            <a:r>
              <a:rPr sz="2800" spc="-60" dirty="0">
                <a:latin typeface="Calibri"/>
                <a:cs typeface="Calibri"/>
              </a:rPr>
              <a:t> </a:t>
            </a:r>
            <a:r>
              <a:rPr sz="2800" dirty="0">
                <a:latin typeface="Calibri"/>
                <a:cs typeface="Calibri"/>
              </a:rPr>
              <a:t>is</a:t>
            </a:r>
            <a:r>
              <a:rPr sz="2800" spc="-55" dirty="0">
                <a:latin typeface="Calibri"/>
                <a:cs typeface="Calibri"/>
              </a:rPr>
              <a:t> </a:t>
            </a:r>
            <a:r>
              <a:rPr sz="2800" dirty="0">
                <a:latin typeface="Calibri"/>
                <a:cs typeface="Calibri"/>
              </a:rPr>
              <a:t>it</a:t>
            </a:r>
            <a:r>
              <a:rPr sz="2800" spc="-60" dirty="0">
                <a:latin typeface="Calibri"/>
                <a:cs typeface="Calibri"/>
              </a:rPr>
              <a:t> </a:t>
            </a:r>
            <a:r>
              <a:rPr sz="2800" dirty="0">
                <a:latin typeface="Calibri"/>
                <a:cs typeface="Calibri"/>
              </a:rPr>
              <a:t>important</a:t>
            </a:r>
            <a:r>
              <a:rPr sz="2800" spc="-60" dirty="0">
                <a:latin typeface="Calibri"/>
                <a:cs typeface="Calibri"/>
              </a:rPr>
              <a:t> </a:t>
            </a:r>
            <a:r>
              <a:rPr sz="2800" dirty="0">
                <a:latin typeface="Calibri"/>
                <a:cs typeface="Calibri"/>
              </a:rPr>
              <a:t>to</a:t>
            </a:r>
            <a:r>
              <a:rPr sz="2800" spc="-60" dirty="0">
                <a:latin typeface="Calibri"/>
                <a:cs typeface="Calibri"/>
              </a:rPr>
              <a:t> </a:t>
            </a:r>
            <a:r>
              <a:rPr sz="2800" dirty="0">
                <a:latin typeface="Calibri"/>
                <a:cs typeface="Calibri"/>
              </a:rPr>
              <a:t>build</a:t>
            </a:r>
            <a:r>
              <a:rPr sz="2800" spc="-55" dirty="0">
                <a:latin typeface="Calibri"/>
                <a:cs typeface="Calibri"/>
              </a:rPr>
              <a:t> </a:t>
            </a:r>
            <a:r>
              <a:rPr sz="2800" dirty="0">
                <a:latin typeface="Calibri"/>
                <a:cs typeface="Calibri"/>
              </a:rPr>
              <a:t>a</a:t>
            </a:r>
            <a:r>
              <a:rPr sz="2800" spc="-60" dirty="0">
                <a:latin typeface="Calibri"/>
                <a:cs typeface="Calibri"/>
              </a:rPr>
              <a:t> </a:t>
            </a:r>
            <a:r>
              <a:rPr sz="2800" dirty="0">
                <a:latin typeface="Calibri"/>
                <a:cs typeface="Calibri"/>
              </a:rPr>
              <a:t>relationship</a:t>
            </a:r>
            <a:r>
              <a:rPr sz="2800" spc="-60" dirty="0">
                <a:latin typeface="Calibri"/>
                <a:cs typeface="Calibri"/>
              </a:rPr>
              <a:t> </a:t>
            </a:r>
            <a:r>
              <a:rPr sz="2800" dirty="0">
                <a:latin typeface="Calibri"/>
                <a:cs typeface="Calibri"/>
              </a:rPr>
              <a:t>before</a:t>
            </a:r>
            <a:r>
              <a:rPr sz="2800" spc="-60" dirty="0">
                <a:latin typeface="Calibri"/>
                <a:cs typeface="Calibri"/>
              </a:rPr>
              <a:t> </a:t>
            </a:r>
            <a:r>
              <a:rPr sz="2800" dirty="0">
                <a:latin typeface="Calibri"/>
                <a:cs typeface="Calibri"/>
              </a:rPr>
              <a:t>you</a:t>
            </a:r>
            <a:r>
              <a:rPr sz="2800" spc="-55" dirty="0">
                <a:latin typeface="Calibri"/>
                <a:cs typeface="Calibri"/>
              </a:rPr>
              <a:t> </a:t>
            </a:r>
            <a:r>
              <a:rPr sz="2800" dirty="0">
                <a:latin typeface="Calibri"/>
                <a:cs typeface="Calibri"/>
              </a:rPr>
              <a:t>need</a:t>
            </a:r>
            <a:r>
              <a:rPr sz="2800" spc="-60" dirty="0">
                <a:latin typeface="Calibri"/>
                <a:cs typeface="Calibri"/>
              </a:rPr>
              <a:t> </a:t>
            </a:r>
            <a:r>
              <a:rPr sz="2800" spc="-25" dirty="0">
                <a:latin typeface="Calibri"/>
                <a:cs typeface="Calibri"/>
              </a:rPr>
              <a:t>it?</a:t>
            </a:r>
            <a:endParaRPr sz="2800" dirty="0">
              <a:latin typeface="Calibri"/>
              <a:cs typeface="Calibri"/>
            </a:endParaRPr>
          </a:p>
          <a:p>
            <a:pPr marL="358140" indent="-345440">
              <a:lnSpc>
                <a:spcPct val="100000"/>
              </a:lnSpc>
              <a:spcBef>
                <a:spcPts val="645"/>
              </a:spcBef>
              <a:buAutoNum type="arabicPeriod"/>
              <a:tabLst>
                <a:tab pos="358140" algn="l"/>
              </a:tabLst>
            </a:pPr>
            <a:r>
              <a:rPr sz="2800" dirty="0">
                <a:latin typeface="Calibri"/>
                <a:cs typeface="Calibri"/>
              </a:rPr>
              <a:t>Why</a:t>
            </a:r>
            <a:r>
              <a:rPr sz="2800" spc="-60" dirty="0">
                <a:latin typeface="Calibri"/>
                <a:cs typeface="Calibri"/>
              </a:rPr>
              <a:t> </a:t>
            </a:r>
            <a:r>
              <a:rPr sz="2800" dirty="0">
                <a:latin typeface="Calibri"/>
                <a:cs typeface="Calibri"/>
              </a:rPr>
              <a:t>is</a:t>
            </a:r>
            <a:r>
              <a:rPr sz="2800" spc="-50" dirty="0">
                <a:latin typeface="Calibri"/>
                <a:cs typeface="Calibri"/>
              </a:rPr>
              <a:t> </a:t>
            </a:r>
            <a:r>
              <a:rPr sz="2800" dirty="0">
                <a:latin typeface="Calibri"/>
                <a:cs typeface="Calibri"/>
              </a:rPr>
              <a:t>it</a:t>
            </a:r>
            <a:r>
              <a:rPr sz="2800" spc="-55" dirty="0">
                <a:latin typeface="Calibri"/>
                <a:cs typeface="Calibri"/>
              </a:rPr>
              <a:t> </a:t>
            </a:r>
            <a:r>
              <a:rPr sz="2800" dirty="0">
                <a:latin typeface="Calibri"/>
                <a:cs typeface="Calibri"/>
              </a:rPr>
              <a:t>critical</a:t>
            </a:r>
            <a:r>
              <a:rPr sz="2800" spc="-65" dirty="0">
                <a:latin typeface="Calibri"/>
                <a:cs typeface="Calibri"/>
              </a:rPr>
              <a:t> </a:t>
            </a:r>
            <a:r>
              <a:rPr sz="2800" dirty="0">
                <a:latin typeface="Calibri"/>
                <a:cs typeface="Calibri"/>
              </a:rPr>
              <a:t>to</a:t>
            </a:r>
            <a:r>
              <a:rPr sz="2800" spc="-55" dirty="0">
                <a:latin typeface="Calibri"/>
                <a:cs typeface="Calibri"/>
              </a:rPr>
              <a:t> </a:t>
            </a:r>
            <a:r>
              <a:rPr sz="2800" dirty="0">
                <a:latin typeface="Calibri"/>
                <a:cs typeface="Calibri"/>
              </a:rPr>
              <a:t>keep</a:t>
            </a:r>
            <a:r>
              <a:rPr sz="2800" spc="-50"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project</a:t>
            </a:r>
            <a:r>
              <a:rPr sz="2800" spc="-55" dirty="0">
                <a:latin typeface="Calibri"/>
                <a:cs typeface="Calibri"/>
              </a:rPr>
              <a:t> </a:t>
            </a:r>
            <a:r>
              <a:rPr sz="2800" dirty="0">
                <a:latin typeface="Calibri"/>
                <a:cs typeface="Calibri"/>
              </a:rPr>
              <a:t>sponsor</a:t>
            </a:r>
            <a:r>
              <a:rPr sz="2800" spc="-55" dirty="0">
                <a:latin typeface="Calibri"/>
                <a:cs typeface="Calibri"/>
              </a:rPr>
              <a:t> </a:t>
            </a:r>
            <a:r>
              <a:rPr sz="2800" spc="-10" dirty="0">
                <a:latin typeface="Calibri"/>
                <a:cs typeface="Calibri"/>
              </a:rPr>
              <a:t>informed?</a:t>
            </a:r>
            <a:endParaRPr sz="2800" dirty="0">
              <a:latin typeface="Calibri"/>
              <a:cs typeface="Calibri"/>
            </a:endParaRPr>
          </a:p>
          <a:p>
            <a:pPr marL="358775" marR="5080" indent="-346075">
              <a:lnSpc>
                <a:spcPts val="3000"/>
              </a:lnSpc>
              <a:spcBef>
                <a:spcPts val="1120"/>
              </a:spcBef>
              <a:buAutoNum type="arabicPeriod"/>
              <a:tabLst>
                <a:tab pos="358775" algn="l"/>
                <a:tab pos="1592580" algn="l"/>
                <a:tab pos="2275840" algn="l"/>
                <a:tab pos="2872740" algn="l"/>
                <a:tab pos="3757929" algn="l"/>
                <a:tab pos="5471795" algn="l"/>
                <a:tab pos="6313805" algn="l"/>
                <a:tab pos="7312659" algn="l"/>
                <a:tab pos="7870825" algn="l"/>
                <a:tab pos="9307830" algn="l"/>
              </a:tabLst>
            </a:pPr>
            <a:r>
              <a:rPr sz="2800" spc="-10" dirty="0">
                <a:latin typeface="Calibri"/>
                <a:cs typeface="Calibri"/>
              </a:rPr>
              <a:t>Explain</a:t>
            </a:r>
            <a:r>
              <a:rPr sz="2800" dirty="0">
                <a:latin typeface="Calibri"/>
                <a:cs typeface="Calibri"/>
              </a:rPr>
              <a:t>	</a:t>
            </a:r>
            <a:r>
              <a:rPr sz="2800" spc="-25" dirty="0">
                <a:latin typeface="Calibri"/>
                <a:cs typeface="Calibri"/>
              </a:rPr>
              <a:t>the</a:t>
            </a:r>
            <a:r>
              <a:rPr sz="2800" dirty="0">
                <a:latin typeface="Calibri"/>
                <a:cs typeface="Calibri"/>
              </a:rPr>
              <a:t>	</a:t>
            </a:r>
            <a:r>
              <a:rPr sz="2800" spc="-25" dirty="0">
                <a:latin typeface="Calibri"/>
                <a:cs typeface="Calibri"/>
              </a:rPr>
              <a:t>(8)</a:t>
            </a:r>
            <a:r>
              <a:rPr sz="2800" dirty="0">
                <a:latin typeface="Calibri"/>
                <a:cs typeface="Calibri"/>
              </a:rPr>
              <a:t>	</a:t>
            </a:r>
            <a:r>
              <a:rPr sz="2800" spc="-10" dirty="0">
                <a:latin typeface="Calibri"/>
                <a:cs typeface="Calibri"/>
              </a:rPr>
              <a:t>skills</a:t>
            </a:r>
            <a:r>
              <a:rPr sz="2800" dirty="0">
                <a:latin typeface="Calibri"/>
                <a:cs typeface="Calibri"/>
              </a:rPr>
              <a:t>	</a:t>
            </a:r>
            <a:r>
              <a:rPr sz="2800" spc="-10" dirty="0">
                <a:latin typeface="Calibri"/>
                <a:cs typeface="Calibri"/>
              </a:rPr>
              <a:t>associated</a:t>
            </a:r>
            <a:r>
              <a:rPr sz="2800" dirty="0">
                <a:latin typeface="Calibri"/>
                <a:cs typeface="Calibri"/>
              </a:rPr>
              <a:t>	</a:t>
            </a:r>
            <a:r>
              <a:rPr sz="2800" spc="-20" dirty="0">
                <a:latin typeface="Calibri"/>
                <a:cs typeface="Calibri"/>
              </a:rPr>
              <a:t>with</a:t>
            </a:r>
            <a:r>
              <a:rPr sz="2800" dirty="0">
                <a:latin typeface="Calibri"/>
                <a:cs typeface="Calibri"/>
              </a:rPr>
              <a:t>	</a:t>
            </a:r>
            <a:r>
              <a:rPr sz="2800" spc="-10" dirty="0">
                <a:latin typeface="Calibri"/>
                <a:cs typeface="Calibri"/>
              </a:rPr>
              <a:t>being</a:t>
            </a:r>
            <a:r>
              <a:rPr sz="2800" dirty="0">
                <a:latin typeface="Calibri"/>
                <a:cs typeface="Calibri"/>
              </a:rPr>
              <a:t>	</a:t>
            </a:r>
            <a:r>
              <a:rPr sz="2800" spc="-25" dirty="0">
                <a:latin typeface="Calibri"/>
                <a:cs typeface="Calibri"/>
              </a:rPr>
              <a:t>an</a:t>
            </a:r>
            <a:r>
              <a:rPr sz="2800" dirty="0">
                <a:latin typeface="Calibri"/>
                <a:cs typeface="Calibri"/>
              </a:rPr>
              <a:t>	</a:t>
            </a:r>
            <a:r>
              <a:rPr sz="2800" spc="-10" dirty="0">
                <a:latin typeface="Calibri"/>
                <a:cs typeface="Calibri"/>
              </a:rPr>
              <a:t>effective</a:t>
            </a:r>
            <a:r>
              <a:rPr sz="2800" dirty="0">
                <a:latin typeface="Calibri"/>
                <a:cs typeface="Calibri"/>
              </a:rPr>
              <a:t>	</a:t>
            </a:r>
            <a:r>
              <a:rPr sz="2800" spc="-20" dirty="0">
                <a:latin typeface="Calibri"/>
                <a:cs typeface="Calibri"/>
              </a:rPr>
              <a:t>project </a:t>
            </a:r>
            <a:r>
              <a:rPr sz="2800" spc="-10" dirty="0">
                <a:latin typeface="Calibri"/>
                <a:cs typeface="Calibri"/>
              </a:rPr>
              <a:t>manager</a:t>
            </a:r>
            <a:endParaRPr sz="2800" dirty="0">
              <a:latin typeface="Calibri"/>
              <a:cs typeface="Calibri"/>
            </a:endParaRPr>
          </a:p>
          <a:p>
            <a:pPr marL="358140" indent="-345440">
              <a:lnSpc>
                <a:spcPct val="100000"/>
              </a:lnSpc>
              <a:spcBef>
                <a:spcPts val="610"/>
              </a:spcBef>
              <a:buAutoNum type="arabicPeriod"/>
              <a:tabLst>
                <a:tab pos="358140" algn="l"/>
              </a:tabLst>
            </a:pPr>
            <a:r>
              <a:rPr sz="2800" dirty="0">
                <a:latin typeface="Calibri"/>
                <a:cs typeface="Calibri"/>
              </a:rPr>
              <a:t>Explain</a:t>
            </a:r>
            <a:r>
              <a:rPr sz="2800" spc="-50" dirty="0">
                <a:latin typeface="Calibri"/>
                <a:cs typeface="Calibri"/>
              </a:rPr>
              <a:t> </a:t>
            </a:r>
            <a:r>
              <a:rPr sz="2800" dirty="0">
                <a:latin typeface="Calibri"/>
                <a:cs typeface="Calibri"/>
              </a:rPr>
              <a:t>the</a:t>
            </a:r>
            <a:r>
              <a:rPr sz="2800" spc="-55" dirty="0">
                <a:latin typeface="Calibri"/>
                <a:cs typeface="Calibri"/>
              </a:rPr>
              <a:t> </a:t>
            </a:r>
            <a:r>
              <a:rPr sz="2800" spc="-20" dirty="0">
                <a:latin typeface="Calibri"/>
                <a:cs typeface="Calibri"/>
              </a:rPr>
              <a:t>five-</a:t>
            </a:r>
            <a:r>
              <a:rPr sz="2800" dirty="0">
                <a:latin typeface="Calibri"/>
                <a:cs typeface="Calibri"/>
              </a:rPr>
              <a:t>stage</a:t>
            </a:r>
            <a:r>
              <a:rPr sz="2800" spc="-55" dirty="0">
                <a:latin typeface="Calibri"/>
                <a:cs typeface="Calibri"/>
              </a:rPr>
              <a:t> </a:t>
            </a:r>
            <a:r>
              <a:rPr sz="2800" dirty="0">
                <a:latin typeface="Calibri"/>
                <a:cs typeface="Calibri"/>
              </a:rPr>
              <a:t>model</a:t>
            </a:r>
            <a:r>
              <a:rPr sz="2800" spc="-55" dirty="0">
                <a:latin typeface="Calibri"/>
                <a:cs typeface="Calibri"/>
              </a:rPr>
              <a:t> </a:t>
            </a:r>
            <a:r>
              <a:rPr sz="2800" dirty="0">
                <a:latin typeface="Calibri"/>
                <a:cs typeface="Calibri"/>
              </a:rPr>
              <a:t>of</a:t>
            </a:r>
            <a:r>
              <a:rPr sz="2800" spc="-60" dirty="0">
                <a:latin typeface="Calibri"/>
                <a:cs typeface="Calibri"/>
              </a:rPr>
              <a:t> </a:t>
            </a:r>
            <a:r>
              <a:rPr sz="2800" dirty="0">
                <a:latin typeface="Calibri"/>
                <a:cs typeface="Calibri"/>
              </a:rPr>
              <a:t>team</a:t>
            </a:r>
            <a:r>
              <a:rPr sz="2800" spc="-50" dirty="0">
                <a:latin typeface="Calibri"/>
                <a:cs typeface="Calibri"/>
              </a:rPr>
              <a:t> </a:t>
            </a:r>
            <a:r>
              <a:rPr sz="2800" spc="-10" dirty="0">
                <a:latin typeface="Calibri"/>
                <a:cs typeface="Calibri"/>
              </a:rPr>
              <a:t>development</a:t>
            </a:r>
            <a:endParaRPr sz="2800" dirty="0">
              <a:latin typeface="Calibri"/>
              <a:cs typeface="Calibri"/>
            </a:endParaRPr>
          </a:p>
          <a:p>
            <a:pPr marL="358775" marR="6350" indent="-346075">
              <a:lnSpc>
                <a:spcPts val="3100"/>
              </a:lnSpc>
              <a:spcBef>
                <a:spcPts val="970"/>
              </a:spcBef>
              <a:buAutoNum type="arabicPeriod"/>
              <a:tabLst>
                <a:tab pos="358775" algn="l"/>
                <a:tab pos="1449070" algn="l"/>
                <a:tab pos="2216785" algn="l"/>
                <a:tab pos="3001010" algn="l"/>
                <a:tab pos="4581525" algn="l"/>
                <a:tab pos="6950709" algn="l"/>
                <a:tab pos="8766810" algn="l"/>
                <a:tab pos="9709785" algn="l"/>
              </a:tabLst>
            </a:pPr>
            <a:r>
              <a:rPr sz="2800" spc="-20" dirty="0">
                <a:latin typeface="Calibri"/>
                <a:cs typeface="Calibri"/>
              </a:rPr>
              <a:t>What</a:t>
            </a:r>
            <a:r>
              <a:rPr sz="2800" dirty="0">
                <a:latin typeface="Calibri"/>
                <a:cs typeface="Calibri"/>
              </a:rPr>
              <a:t>	</a:t>
            </a:r>
            <a:r>
              <a:rPr sz="2800" spc="-25" dirty="0">
                <a:latin typeface="Calibri"/>
                <a:cs typeface="Calibri"/>
              </a:rPr>
              <a:t>are</a:t>
            </a:r>
            <a:r>
              <a:rPr sz="2800" dirty="0">
                <a:latin typeface="Calibri"/>
                <a:cs typeface="Calibri"/>
              </a:rPr>
              <a:t>	</a:t>
            </a:r>
            <a:r>
              <a:rPr sz="2800" spc="-25" dirty="0">
                <a:latin typeface="Calibri"/>
                <a:cs typeface="Calibri"/>
              </a:rPr>
              <a:t>the</a:t>
            </a:r>
            <a:r>
              <a:rPr sz="2800" dirty="0">
                <a:latin typeface="Calibri"/>
                <a:cs typeface="Calibri"/>
              </a:rPr>
              <a:t>	</a:t>
            </a:r>
            <a:r>
              <a:rPr sz="2800" spc="-10" dirty="0">
                <a:latin typeface="Calibri"/>
                <a:cs typeface="Calibri"/>
              </a:rPr>
              <a:t>common</a:t>
            </a:r>
            <a:r>
              <a:rPr sz="2800" dirty="0">
                <a:latin typeface="Calibri"/>
                <a:cs typeface="Calibri"/>
              </a:rPr>
              <a:t>	</a:t>
            </a:r>
            <a:r>
              <a:rPr sz="2800" spc="-10" dirty="0">
                <a:latin typeface="Calibri"/>
                <a:cs typeface="Calibri"/>
              </a:rPr>
              <a:t>characteristics</a:t>
            </a:r>
            <a:r>
              <a:rPr sz="2800" dirty="0">
                <a:latin typeface="Calibri"/>
                <a:cs typeface="Calibri"/>
              </a:rPr>
              <a:t>	</a:t>
            </a:r>
            <a:r>
              <a:rPr sz="2800" spc="-10" dirty="0">
                <a:latin typeface="Calibri"/>
                <a:cs typeface="Calibri"/>
              </a:rPr>
              <a:t>associated</a:t>
            </a:r>
            <a:r>
              <a:rPr sz="2800" dirty="0">
                <a:latin typeface="Calibri"/>
                <a:cs typeface="Calibri"/>
              </a:rPr>
              <a:t>	</a:t>
            </a:r>
            <a:r>
              <a:rPr sz="2800" spc="-20" dirty="0">
                <a:latin typeface="Calibri"/>
                <a:cs typeface="Calibri"/>
              </a:rPr>
              <a:t>with</a:t>
            </a:r>
            <a:r>
              <a:rPr sz="2800" dirty="0">
                <a:latin typeface="Calibri"/>
                <a:cs typeface="Calibri"/>
              </a:rPr>
              <a:t>	</a:t>
            </a:r>
            <a:r>
              <a:rPr sz="2800" spc="-20" dirty="0">
                <a:latin typeface="Calibri"/>
                <a:cs typeface="Calibri"/>
              </a:rPr>
              <a:t>high </a:t>
            </a:r>
            <a:r>
              <a:rPr sz="2800" dirty="0">
                <a:latin typeface="Calibri"/>
                <a:cs typeface="Calibri"/>
              </a:rPr>
              <a:t>performing</a:t>
            </a:r>
            <a:r>
              <a:rPr sz="2800" spc="-114" dirty="0">
                <a:latin typeface="Calibri"/>
                <a:cs typeface="Calibri"/>
              </a:rPr>
              <a:t> </a:t>
            </a:r>
            <a:r>
              <a:rPr sz="2800" spc="-10" dirty="0">
                <a:latin typeface="Calibri"/>
                <a:cs typeface="Calibri"/>
              </a:rPr>
              <a:t>teams?</a:t>
            </a:r>
            <a:endParaRPr sz="2800" dirty="0">
              <a:latin typeface="Calibri"/>
              <a:cs typeface="Calibri"/>
            </a:endParaRPr>
          </a:p>
          <a:p>
            <a:pPr marL="358775" marR="5080" indent="-346075">
              <a:lnSpc>
                <a:spcPts val="3000"/>
              </a:lnSpc>
              <a:spcBef>
                <a:spcPts val="980"/>
              </a:spcBef>
              <a:buAutoNum type="arabicPeriod"/>
              <a:tabLst>
                <a:tab pos="358775" algn="l"/>
                <a:tab pos="1310640" algn="l"/>
                <a:tab pos="1939925" algn="l"/>
                <a:tab pos="2586355" algn="l"/>
                <a:tab pos="3368040" algn="l"/>
                <a:tab pos="5036820" algn="l"/>
                <a:tab pos="6062980" algn="l"/>
                <a:tab pos="7086600" algn="l"/>
                <a:tab pos="7733030" algn="l"/>
              </a:tabLst>
            </a:pPr>
            <a:r>
              <a:rPr sz="2800" spc="-20" dirty="0">
                <a:latin typeface="Calibri"/>
                <a:cs typeface="Calibri"/>
              </a:rPr>
              <a:t>What</a:t>
            </a:r>
            <a:r>
              <a:rPr sz="2800" dirty="0">
                <a:latin typeface="Calibri"/>
                <a:cs typeface="Calibri"/>
              </a:rPr>
              <a:t>	</a:t>
            </a:r>
            <a:r>
              <a:rPr sz="2800" spc="-25" dirty="0">
                <a:latin typeface="Calibri"/>
                <a:cs typeface="Calibri"/>
              </a:rPr>
              <a:t>are</a:t>
            </a:r>
            <a:r>
              <a:rPr sz="2800" dirty="0">
                <a:latin typeface="Calibri"/>
                <a:cs typeface="Calibri"/>
              </a:rPr>
              <a:t>	</a:t>
            </a:r>
            <a:r>
              <a:rPr sz="2800" spc="-25" dirty="0">
                <a:latin typeface="Calibri"/>
                <a:cs typeface="Calibri"/>
              </a:rPr>
              <a:t>the</a:t>
            </a:r>
            <a:r>
              <a:rPr sz="2800" dirty="0">
                <a:latin typeface="Calibri"/>
                <a:cs typeface="Calibri"/>
              </a:rPr>
              <a:t>	</a:t>
            </a:r>
            <a:r>
              <a:rPr sz="2800" spc="-20" dirty="0">
                <a:latin typeface="Calibri"/>
                <a:cs typeface="Calibri"/>
              </a:rPr>
              <a:t>best</a:t>
            </a:r>
            <a:r>
              <a:rPr sz="2800" dirty="0">
                <a:latin typeface="Calibri"/>
                <a:cs typeface="Calibri"/>
              </a:rPr>
              <a:t>	</a:t>
            </a:r>
            <a:r>
              <a:rPr sz="2800" spc="-10" dirty="0">
                <a:latin typeface="Calibri"/>
                <a:cs typeface="Calibri"/>
              </a:rPr>
              <a:t>conditions</a:t>
            </a:r>
            <a:r>
              <a:rPr sz="2800" dirty="0">
                <a:latin typeface="Calibri"/>
                <a:cs typeface="Calibri"/>
              </a:rPr>
              <a:t>	</a:t>
            </a:r>
            <a:r>
              <a:rPr sz="2800" spc="-10" dirty="0">
                <a:latin typeface="Calibri"/>
                <a:cs typeface="Calibri"/>
              </a:rPr>
              <a:t>under</a:t>
            </a:r>
            <a:r>
              <a:rPr sz="2800" dirty="0">
                <a:latin typeface="Calibri"/>
                <a:cs typeface="Calibri"/>
              </a:rPr>
              <a:t>	</a:t>
            </a:r>
            <a:r>
              <a:rPr sz="2800" spc="-10" dirty="0">
                <a:latin typeface="Calibri"/>
                <a:cs typeface="Calibri"/>
              </a:rPr>
              <a:t>which</a:t>
            </a:r>
            <a:r>
              <a:rPr sz="2800" dirty="0">
                <a:latin typeface="Calibri"/>
                <a:cs typeface="Calibri"/>
              </a:rPr>
              <a:t>	</a:t>
            </a:r>
            <a:r>
              <a:rPr sz="2800" spc="-25" dirty="0">
                <a:latin typeface="Calibri"/>
                <a:cs typeface="Calibri"/>
              </a:rPr>
              <a:t>the</a:t>
            </a:r>
            <a:r>
              <a:rPr sz="2800" dirty="0">
                <a:latin typeface="Calibri"/>
                <a:cs typeface="Calibri"/>
              </a:rPr>
              <a:t>	</a:t>
            </a:r>
            <a:r>
              <a:rPr sz="2800" spc="-10" dirty="0">
                <a:latin typeface="Calibri"/>
                <a:cs typeface="Calibri"/>
              </a:rPr>
              <a:t>high-performance </a:t>
            </a:r>
            <a:r>
              <a:rPr sz="2800" dirty="0">
                <a:latin typeface="Calibri"/>
                <a:cs typeface="Calibri"/>
              </a:rPr>
              <a:t>project</a:t>
            </a:r>
            <a:r>
              <a:rPr sz="2800" spc="-80" dirty="0">
                <a:latin typeface="Calibri"/>
                <a:cs typeface="Calibri"/>
              </a:rPr>
              <a:t> </a:t>
            </a:r>
            <a:r>
              <a:rPr sz="2800" dirty="0">
                <a:latin typeface="Calibri"/>
                <a:cs typeface="Calibri"/>
              </a:rPr>
              <a:t>teams</a:t>
            </a:r>
            <a:r>
              <a:rPr sz="2800" spc="-75" dirty="0">
                <a:latin typeface="Calibri"/>
                <a:cs typeface="Calibri"/>
              </a:rPr>
              <a:t> </a:t>
            </a:r>
            <a:r>
              <a:rPr sz="2800" dirty="0">
                <a:latin typeface="Calibri"/>
                <a:cs typeface="Calibri"/>
              </a:rPr>
              <a:t>likely</a:t>
            </a:r>
            <a:r>
              <a:rPr sz="2800" spc="-85" dirty="0">
                <a:latin typeface="Calibri"/>
                <a:cs typeface="Calibri"/>
              </a:rPr>
              <a:t> </a:t>
            </a:r>
            <a:r>
              <a:rPr sz="2800" dirty="0">
                <a:latin typeface="Calibri"/>
                <a:cs typeface="Calibri"/>
              </a:rPr>
              <a:t>to</a:t>
            </a:r>
            <a:r>
              <a:rPr sz="2800" spc="-75" dirty="0">
                <a:latin typeface="Calibri"/>
                <a:cs typeface="Calibri"/>
              </a:rPr>
              <a:t> </a:t>
            </a:r>
            <a:r>
              <a:rPr sz="2800" spc="-10" dirty="0">
                <a:latin typeface="Calibri"/>
                <a:cs typeface="Calibri"/>
              </a:rPr>
              <a:t>develop?</a:t>
            </a:r>
            <a:endParaRPr sz="28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19</a:t>
            </a:r>
            <a:endParaRPr sz="1200">
              <a:latin typeface="Calibri"/>
              <a:cs typeface="Calibri"/>
            </a:endParaRPr>
          </a:p>
        </p:txBody>
      </p:sp>
      <p:pic>
        <p:nvPicPr>
          <p:cNvPr id="5" name="Picture 4">
            <a:extLst>
              <a:ext uri="{FF2B5EF4-FFF2-40B4-BE49-F238E27FC236}">
                <a16:creationId xmlns:a16="http://schemas.microsoft.com/office/drawing/2014/main" id="{219F7BA9-5D8C-04CB-F6F9-9F644B0E53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217</TotalTime>
  <Words>3131</Words>
  <Application>Microsoft Office PowerPoint</Application>
  <PresentationFormat>Widescreen</PresentationFormat>
  <Paragraphs>166</Paragraphs>
  <Slides>19</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Arial MT</vt:lpstr>
      <vt:lpstr>Calibri</vt:lpstr>
      <vt:lpstr>Calibri Light</vt:lpstr>
      <vt:lpstr>Courier New</vt:lpstr>
      <vt:lpstr>Georgia</vt:lpstr>
      <vt:lpstr>Times New Roman</vt:lpstr>
      <vt:lpstr>Wingdings</vt:lpstr>
      <vt:lpstr>Office Theme</vt:lpstr>
      <vt:lpstr>Being an Effective Project Manager</vt:lpstr>
      <vt:lpstr>Managing versus Leading a Project (1/2)</vt:lpstr>
      <vt:lpstr>Managing versus Leading a Project (2/2)</vt:lpstr>
      <vt:lpstr>Managing Project Stakeholders (1/6)</vt:lpstr>
      <vt:lpstr>Managing Project Stakeholders (2/6)</vt:lpstr>
      <vt:lpstr>Managing Project Stakeholders (3/6)</vt:lpstr>
      <vt:lpstr>Managing Project Stakeholders (4/6)</vt:lpstr>
      <vt:lpstr>Managing Project Stakeholders (5/6)</vt:lpstr>
      <vt:lpstr>Managing Project Stakeholders (6/6)</vt:lpstr>
      <vt:lpstr>Social Network Building (1/2)</vt:lpstr>
      <vt:lpstr>Social Network Building (2/2)</vt:lpstr>
      <vt:lpstr>Qualities of an Effective Project Manager (1/2)</vt:lpstr>
      <vt:lpstr>Qualities of an Effective Project Manager (2/2)</vt:lpstr>
      <vt:lpstr>Characteristics commonly associated with high-performing teams</vt:lpstr>
      <vt:lpstr>Characteristics commonly associated with high-performing teams</vt:lpstr>
      <vt:lpstr>Building High-Performance Project Teams</vt:lpstr>
      <vt:lpstr>Five-Stage Team Development Model</vt:lpstr>
      <vt:lpstr>Situational Factors Affecting Team Development</vt:lpstr>
      <vt:lpstr>Assignement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Zahraa.Ismail</cp:lastModifiedBy>
  <cp:revision>3</cp:revision>
  <dcterms:created xsi:type="dcterms:W3CDTF">2025-07-31T08:03:36Z</dcterms:created>
  <dcterms:modified xsi:type="dcterms:W3CDTF">2025-11-26T12:28:17Z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2024-04-22T00:00:00Z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